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74787c0379426f" /><Relationship Type="http://schemas.openxmlformats.org/officeDocument/2006/relationships/extended-properties" Target="/docProps/app.xml" Id="Rfb490602626b4ec5" /><Relationship Type="http://schemas.openxmlformats.org/officeDocument/2006/relationships/officeDocument" Target="/ppt/presentation.xml" Id="R0c11bae7c265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f0923db7842b1"/>
  </p:sldMasterIdLst>
  <p:notesMasterIdLst>
    <p:notesMasterId xmlns:r="http://schemas.openxmlformats.org/officeDocument/2006/relationships" r:id="R03c8c7c6b4f048ee"/>
  </p:notesMasterIdLst>
  <p:sldIdLst>
    <p:sldId xmlns:r="http://schemas.openxmlformats.org/officeDocument/2006/relationships" id="256" r:id="Rdbfa46c3686b4779"/>
    <p:sldId xmlns:r="http://schemas.openxmlformats.org/officeDocument/2006/relationships" id="257" r:id="R206d5072d43b4814"/>
    <p:sldId xmlns:r="http://schemas.openxmlformats.org/officeDocument/2006/relationships" id="258" r:id="R1c8a5103eb2e4258"/>
    <p:sldId xmlns:r="http://schemas.openxmlformats.org/officeDocument/2006/relationships" id="259" r:id="Ra7c512f379ac4c73"/>
    <p:sldId xmlns:r="http://schemas.openxmlformats.org/officeDocument/2006/relationships" id="260" r:id="R579cc56710c04d0b"/>
    <p:sldId xmlns:r="http://schemas.openxmlformats.org/officeDocument/2006/relationships" id="261" r:id="Rc6113f0d5c354fea"/>
    <p:sldId xmlns:r="http://schemas.openxmlformats.org/officeDocument/2006/relationships" id="262" r:id="R9bd4f7c391e14600"/>
    <p:sldId xmlns:r="http://schemas.openxmlformats.org/officeDocument/2006/relationships" id="263" r:id="R269536d814724c84"/>
    <p:sldId xmlns:r="http://schemas.openxmlformats.org/officeDocument/2006/relationships" id="264" r:id="R8b12e817ad5c4bb2"/>
    <p:sldId xmlns:r="http://schemas.openxmlformats.org/officeDocument/2006/relationships" id="265" r:id="R849f2ae177ab4f1d"/>
    <p:sldId xmlns:r="http://schemas.openxmlformats.org/officeDocument/2006/relationships" id="266" r:id="R46fb1cb1408c4cee"/>
    <p:sldId xmlns:r="http://schemas.openxmlformats.org/officeDocument/2006/relationships" id="267" r:id="R148468cca1594935"/>
    <p:sldId xmlns:r="http://schemas.openxmlformats.org/officeDocument/2006/relationships" id="268" r:id="Rcadb25722dcf46c7"/>
    <p:sldId xmlns:r="http://schemas.openxmlformats.org/officeDocument/2006/relationships" id="269" r:id="R9a49157aa3094ce1"/>
    <p:sldId xmlns:r="http://schemas.openxmlformats.org/officeDocument/2006/relationships" id="270" r:id="Re5b1206350344d04"/>
    <p:sldId xmlns:r="http://schemas.openxmlformats.org/officeDocument/2006/relationships" id="271" r:id="R1f27efd134314fd9"/>
    <p:sldId xmlns:r="http://schemas.openxmlformats.org/officeDocument/2006/relationships" id="272" r:id="R0c8a211bef5149e9"/>
    <p:sldId xmlns:r="http://schemas.openxmlformats.org/officeDocument/2006/relationships" id="273" r:id="Rb97d6ece5bd54980"/>
    <p:sldId xmlns:r="http://schemas.openxmlformats.org/officeDocument/2006/relationships" id="274" r:id="R3abd2cbb9b4f4796"/>
    <p:sldId xmlns:r="http://schemas.openxmlformats.org/officeDocument/2006/relationships" id="275" r:id="R994758564fb54501"/>
    <p:sldId xmlns:r="http://schemas.openxmlformats.org/officeDocument/2006/relationships" id="276" r:id="R36a43d7dba1541b2"/>
    <p:sldId xmlns:r="http://schemas.openxmlformats.org/officeDocument/2006/relationships" id="277" r:id="R422360b7a403464e"/>
    <p:sldId xmlns:r="http://schemas.openxmlformats.org/officeDocument/2006/relationships" id="278" r:id="R1d1be03ae4914d97"/>
    <p:sldId xmlns:r="http://schemas.openxmlformats.org/officeDocument/2006/relationships" id="279" r:id="Ra873450bfd3f48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bad61d70f40b3" /><Relationship Type="http://schemas.openxmlformats.org/officeDocument/2006/relationships/slideMaster" Target="/ppt/slideMasters/slideMaster1.xml" Id="R1edf0923db7842b1" /><Relationship Type="http://schemas.openxmlformats.org/officeDocument/2006/relationships/notesMaster" Target="/ppt/notesMasters/notesMaster1.xml" Id="R03c8c7c6b4f048ee" /><Relationship Type="http://schemas.openxmlformats.org/officeDocument/2006/relationships/presProps" Target="/ppt/presProps.xml" Id="R7c0db078f49c40fb" /><Relationship Type="http://schemas.openxmlformats.org/officeDocument/2006/relationships/tableStyles" Target="/ppt/tableStyles.xml" Id="R1caa6c8631664995" /><Relationship Type="http://schemas.openxmlformats.org/officeDocument/2006/relationships/slide" Target="/ppt/slides/slide1.xml" Id="Rdbfa46c3686b4779" /><Relationship Type="http://schemas.openxmlformats.org/officeDocument/2006/relationships/slide" Target="/ppt/slides/slide2.xml" Id="R206d5072d43b4814" /><Relationship Type="http://schemas.openxmlformats.org/officeDocument/2006/relationships/slide" Target="/ppt/slides/slide3.xml" Id="R1c8a5103eb2e4258" /><Relationship Type="http://schemas.openxmlformats.org/officeDocument/2006/relationships/slide" Target="/ppt/slides/slide4.xml" Id="Ra7c512f379ac4c73" /><Relationship Type="http://schemas.openxmlformats.org/officeDocument/2006/relationships/slide" Target="/ppt/slides/slide5.xml" Id="R579cc56710c04d0b" /><Relationship Type="http://schemas.openxmlformats.org/officeDocument/2006/relationships/slide" Target="/ppt/slides/slide6.xml" Id="Rc6113f0d5c354fea" /><Relationship Type="http://schemas.openxmlformats.org/officeDocument/2006/relationships/slide" Target="/ppt/slides/slide7.xml" Id="R9bd4f7c391e14600" /><Relationship Type="http://schemas.openxmlformats.org/officeDocument/2006/relationships/slide" Target="/ppt/slides/slide8.xml" Id="R269536d814724c84" /><Relationship Type="http://schemas.openxmlformats.org/officeDocument/2006/relationships/slide" Target="/ppt/slides/slide9.xml" Id="R8b12e817ad5c4bb2" /><Relationship Type="http://schemas.openxmlformats.org/officeDocument/2006/relationships/slide" Target="/ppt/slides/slide10.xml" Id="R849f2ae177ab4f1d" /><Relationship Type="http://schemas.openxmlformats.org/officeDocument/2006/relationships/slide" Target="/ppt/slides/slide11.xml" Id="R46fb1cb1408c4cee" /><Relationship Type="http://schemas.openxmlformats.org/officeDocument/2006/relationships/slide" Target="/ppt/slides/slide12.xml" Id="R148468cca1594935" /><Relationship Type="http://schemas.openxmlformats.org/officeDocument/2006/relationships/slide" Target="/ppt/slides/slide13.xml" Id="Rcadb25722dcf46c7" /><Relationship Type="http://schemas.openxmlformats.org/officeDocument/2006/relationships/slide" Target="/ppt/slides/slide14.xml" Id="R9a49157aa3094ce1" /><Relationship Type="http://schemas.openxmlformats.org/officeDocument/2006/relationships/slide" Target="/ppt/slides/slide15.xml" Id="Re5b1206350344d04" /><Relationship Type="http://schemas.openxmlformats.org/officeDocument/2006/relationships/slide" Target="/ppt/slides/slide16.xml" Id="R1f27efd134314fd9" /><Relationship Type="http://schemas.openxmlformats.org/officeDocument/2006/relationships/slide" Target="/ppt/slides/slide17.xml" Id="R0c8a211bef5149e9" /><Relationship Type="http://schemas.openxmlformats.org/officeDocument/2006/relationships/slide" Target="/ppt/slides/slide18.xml" Id="Rb97d6ece5bd54980" /><Relationship Type="http://schemas.openxmlformats.org/officeDocument/2006/relationships/slide" Target="/ppt/slides/slide19.xml" Id="R3abd2cbb9b4f4796" /><Relationship Type="http://schemas.openxmlformats.org/officeDocument/2006/relationships/slide" Target="/ppt/slides/slide20.xml" Id="R994758564fb54501" /><Relationship Type="http://schemas.openxmlformats.org/officeDocument/2006/relationships/slide" Target="/ppt/slides/slide21.xml" Id="R36a43d7dba1541b2" /><Relationship Type="http://schemas.openxmlformats.org/officeDocument/2006/relationships/slide" Target="/ppt/slides/slide22.xml" Id="R422360b7a403464e" /><Relationship Type="http://schemas.openxmlformats.org/officeDocument/2006/relationships/slide" Target="/ppt/slides/slide23.xml" Id="R1d1be03ae4914d97" /><Relationship Type="http://schemas.openxmlformats.org/officeDocument/2006/relationships/slide" Target="/ppt/slides/slide24.xml" Id="Ra873450bfd3f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c60d42f68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4430d00114a78" /><Relationship Type="http://schemas.openxmlformats.org/officeDocument/2006/relationships/notesMaster" Target="/ppt/notesMasters/notesMaster1.xml" Id="Rc7b6a331d486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d52c620fa41fc" /><Relationship Type="http://schemas.openxmlformats.org/officeDocument/2006/relationships/notesMaster" Target="/ppt/notesMasters/notesMaster1.xml" Id="R33aa182ec6d146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cbf589afa4aec" /><Relationship Type="http://schemas.openxmlformats.org/officeDocument/2006/relationships/notesMaster" Target="/ppt/notesMasters/notesMaster1.xml" Id="Ra208fc00abc7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9e19799064f42" /><Relationship Type="http://schemas.openxmlformats.org/officeDocument/2006/relationships/notesMaster" Target="/ppt/notesMasters/notesMaster1.xml" Id="R75141d7e70fa4f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eb398f541a432b" /><Relationship Type="http://schemas.openxmlformats.org/officeDocument/2006/relationships/notesMaster" Target="/ppt/notesMasters/notesMaster1.xml" Id="Rd66627d713b7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11040ec0e424c" /><Relationship Type="http://schemas.openxmlformats.org/officeDocument/2006/relationships/notesMaster" Target="/ppt/notesMasters/notesMaster1.xml" Id="R078d7b52e2aa48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3e91a7a2f4836" /><Relationship Type="http://schemas.openxmlformats.org/officeDocument/2006/relationships/notesMaster" Target="/ppt/notesMasters/notesMaster1.xml" Id="R5b52bf510fd44d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29a605c39340f9" /><Relationship Type="http://schemas.openxmlformats.org/officeDocument/2006/relationships/notesMaster" Target="/ppt/notesMasters/notesMaster1.xml" Id="R2ac62e2126c849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d72afaba0846a2" /><Relationship Type="http://schemas.openxmlformats.org/officeDocument/2006/relationships/notesMaster" Target="/ppt/notesMasters/notesMaster1.xml" Id="Rc0122b6ee9d244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81ca8b34fc4bf0" /><Relationship Type="http://schemas.openxmlformats.org/officeDocument/2006/relationships/notesMaster" Target="/ppt/notesMasters/notesMaster1.xml" Id="Recded2a7b9024b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0c24e7012f4300" /><Relationship Type="http://schemas.openxmlformats.org/officeDocument/2006/relationships/notesMaster" Target="/ppt/notesMasters/notesMaster1.xml" Id="R915609c6221a4a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b51762b4504024" /><Relationship Type="http://schemas.openxmlformats.org/officeDocument/2006/relationships/notesMaster" Target="/ppt/notesMasters/notesMaster1.xml" Id="Rf75fb5727cec49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ecf91f59774723" /><Relationship Type="http://schemas.openxmlformats.org/officeDocument/2006/relationships/notesMaster" Target="/ppt/notesMasters/notesMaster1.xml" Id="R4a5328c7202643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b6bc0d40d6474a" /><Relationship Type="http://schemas.openxmlformats.org/officeDocument/2006/relationships/notesMaster" Target="/ppt/notesMasters/notesMaster1.xml" Id="Rbbdbb977101049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9d142137a34b52" /><Relationship Type="http://schemas.openxmlformats.org/officeDocument/2006/relationships/notesMaster" Target="/ppt/notesMasters/notesMaster1.xml" Id="R5c34cbd5864d41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35c175d4e44813" /><Relationship Type="http://schemas.openxmlformats.org/officeDocument/2006/relationships/notesMaster" Target="/ppt/notesMasters/notesMaster1.xml" Id="R309b15afda8946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e3c92a15d24aea" /><Relationship Type="http://schemas.openxmlformats.org/officeDocument/2006/relationships/notesMaster" Target="/ppt/notesMasters/notesMaster1.xml" Id="Ra76d79c5559b45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5df0551c6b4127" /><Relationship Type="http://schemas.openxmlformats.org/officeDocument/2006/relationships/notesMaster" Target="/ppt/notesMasters/notesMaster1.xml" Id="Rd40beab68ff14d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f3b7d5154949c2" /><Relationship Type="http://schemas.openxmlformats.org/officeDocument/2006/relationships/notesMaster" Target="/ppt/notesMasters/notesMaster1.xml" Id="Rb91f00bda3544c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aa2922c8634475" /><Relationship Type="http://schemas.openxmlformats.org/officeDocument/2006/relationships/notesMaster" Target="/ppt/notesMasters/notesMaster1.xml" Id="R5c3ae552fcc847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a65b82b73c4f49" /><Relationship Type="http://schemas.openxmlformats.org/officeDocument/2006/relationships/notesMaster" Target="/ppt/notesMasters/notesMaster1.xml" Id="R33392827cf6744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a34156bc804bb7" /><Relationship Type="http://schemas.openxmlformats.org/officeDocument/2006/relationships/notesMaster" Target="/ppt/notesMasters/notesMaster1.xml" Id="R40ed9a42085e47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47bd87806045af" /><Relationship Type="http://schemas.openxmlformats.org/officeDocument/2006/relationships/notesMaster" Target="/ppt/notesMasters/notesMaster1.xml" Id="Rc69ff52e8bab4c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2adf8b76604037" /><Relationship Type="http://schemas.openxmlformats.org/officeDocument/2006/relationships/notesMaster" Target="/ppt/notesMasters/notesMaster1.xml" Id="R5decaca927ea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调研想了解，基金公司目前怎样使用LLM，以及哪些经验可以用于我们的本地部署项目。我会先介绍同业的整体情况，再展开四个应用方向，最后讨论合规要求和后续选择。材料以中国公募基金2026年的公开披露为主，海外机构与研究框架作为方法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判断来自同业已经披露的具体应用。它们并不都具有同样的成熟度，也不能据公开资料比较各家公司真实投资收益，但已经足以说明这是一项值得实际尝试的能力。我们需要通过自己的任务了解模型、数据和工具怎样配合，单纯阅读模型介绍很难形成这部分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接下来先说明调研覆盖哪些公司，以及这些材料集中在哪些应用上。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调研以同一季度末的非货公募规模前20家公司为核心，另保留大成的补充案例。财联社提供了可比规模口径。我们没有用规模给技术能力排序。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材料同时包含公司案例、媒体采访、历史采购和联合研究，不能将它们都当作生产系统。整体看，应用已经从一般问答延伸到资料整理、数据查询、审核和量化研究。接下来用几个有具体内容的案例说明。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恒生电子2023可持续发展报告</a:t>
            </a:r>
          </a:p>
          <a:p xmlns:a="http://schemas.openxmlformats.org/drawingml/2006/main">
            <a:r>
              <a:t>2023报告期；历史合作证据</a:t>
            </a:r>
          </a:p>
          <a:p xmlns:a="http://schemas.openxmlformats.org/drawingml/2006/main">
            <a:r>
              <a:t>恒生电子可持续发展报告；FundGPT相关合作方</a:t>
            </a:r>
          </a:p>
          <a:p xmlns:a="http://schemas.openxmlformats.org/drawingml/2006/main">
            <a:r>
              <a:t>https://static.cninfo.com.cn/finalpage/2024-03-25/1219392176.PDF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报告保留这四个方向。它们都利用模型理解和生成语言，但交给研究员的结果不同。前两个方向重点是研究准备和查数，知识与合规需要找到适用依据，量化则要继续检验信息是否形成有用信号。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先看披露相对具体的富国和天弘。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把本地模型接入研究系统。针对投资标的，先判断研报相关性，筛选后形成小结，再综合输出。公司研究系统积累约30万份研报，所报告的时间变化来自相关整体流程，不能理解为模型一次读取所有研报的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天弘的例子围绕消费企业净利润展开，从收入、成本、费用进一步拆到销量、单价、原材料和渠道。我认为可借鉴的是先把资料和分析结构准备出来，研究员再进入增长质量和可持续性的判断。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这个债券问题用于解释南方公开机制，并非南方展示过的真实查询。模型要先理解业务需求，然后才能选表和形成查询。比如截至6月末的内部评级，不能用当前评级或外部评级直接替代。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南方公开了选表、SQL生成、权限与执行检查的衔接，也介绍了角色、终端和网络条件限制。公司报告整合5个以上系统、20个以上流程，日均操作时间减少40%，但没有给出单独自然语言查询的准确率和耗时。我们验证时要把答案正确和整体效率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两种方式都让模型理解研究员的表达，区别在于允许模型自由决定多少数据操作。固定接口把一部分操作提前定义好，容易限定范围。受限SQL更灵活，也更依赖清晰的数据字典与权限。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Index-Hub的固定版本有部分子包缺少配置，服务授权和端到端质量仍需确认。对我们的实习项目，我倾向根据现有数据基础选择实现方式，而不是先决定必须采用哪一种Agent框架。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AI Skills 帮助文档</a:t>
            </a:r>
          </a:p>
          <a:p xmlns:a="http://schemas.openxmlformats.org/drawingml/2006/main">
            <a:r>
              <a:t>无日期帮助文档；2026-09-09归档</a:t>
            </a:r>
          </a:p>
          <a:p xmlns:a="http://schemas.openxmlformats.org/drawingml/2006/main">
            <a:r>
              <a:t>PDF第8–10页查询示例；非服务端代码</a:t>
            </a:r>
          </a:p>
          <a:p xmlns:a="http://schemas.openxmlformats.org/drawingml/2006/main">
            <a:r>
              <a:t>https://cdn.efunds.com.cn/eda/h5/itcenter/pd/ai-skills-doc/help.pdf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鹏华的材料说明系统已在实际审核中使用。它把7类、71项规则与大模型结合，覆盖风险提示、基金信息、业绩真实性和禁止性宣传等问题。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使用数量和建议采纳能够说明应用已经产生结果，但审核质量还需要漏检和误报数据。尤其不能把91%的采纳率直接解读成准确率。对合规应用，我们要同时观察覆盖到什么问题、哪些问题漏掉，以及复核总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知识问答先处理、切分和检索资料，再让模型据此回答。汇添富则把托管风险邮件和投资条款查询与风险管理平台连接起来。两家公司说明模型可以参与非结构化内容处理，但整个规则平台的效果不能全部归到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知识问答和审核共用部分资料基础，验收方式却不同。问答主要核对答案与依据，审核还需要一套违规样本来确认漏检。内部制度查询和对外营销审核的责任也需要分别安排。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国内基金的相关披露以文本处理和辅助研究比较明确。富国提到政策敏感度因子，但相邻的神经网络因子生成和整体轮动业绩不能都算作LLM贡献。广发和华泰柏瑞则来自有明确公司归属的媒体材料。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量化部分我会沿三个问题展开：怎样把文本转成变量，怎样生成和修改因子，怎样让研究工具检验模型输出。完整方法还需要参考海外资管与公开研究。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华泰柏瑞量化团队：“人机协同”迈入深水区，AI投研构筑长期护城河</a:t>
            </a:r>
          </a:p>
          <a:p xmlns:a="http://schemas.openxmlformats.org/drawingml/2006/main">
            <a:r>
              <a:t>2026-09-03</a:t>
            </a:r>
          </a:p>
          <a:p xmlns:a="http://schemas.openxmlformats.org/drawingml/2006/main">
            <a:r>
              <a:t>中国证券报原刊；文本处理实践与Agent展望分开</a:t>
            </a:r>
          </a:p>
          <a:p xmlns:a="http://schemas.openxmlformats.org/drawingml/2006/main">
            <a:r>
              <a:t>https://mp.weixin.qq.com/s?__biz=MjM5MzMwNjM0MA%3D%3D&amp;idx=2&amp;mid=2651361688&amp;sn=465ee3d543763b18d8ee971802cc5fcb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这是报告中的说明性例子，没有运行模型或回测。模型先提取实体、事件、数字、单位、时间和状态，程序再计算、匹配和去重。关键是保留“计划”和“待审批”，避免把未来安排变成已经实现的产量变化。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我们可以先检验这些字段是否正确，再研究它是否带来新增信息。即使最终没有选股增量，准确的事件信息也可能用于风险监控。易方达参与的NLPCC 2026任务提供了新闻与行情加载、决策和回测基线，但它是有数据条件的学术任务。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NLPCC 2026 Shared Task 4: Investment Agent Starter</a:t>
            </a:r>
          </a:p>
          <a:p xmlns:a="http://schemas.openxmlformats.org/drawingml/2006/main">
            <a:r>
              <a:t>NLPCC 2026共享任务；仓库快照</a:t>
            </a:r>
          </a:p>
          <a:p xmlns:a="http://schemas.openxmlformats.org/drawingml/2006/main">
            <a:r>
              <a:t>固定提交4744a77；研究基线、Prompt、数据及回测客户端</a:t>
            </a:r>
          </a:p>
          <a:p xmlns:a="http://schemas.openxmlformats.org/drawingml/2006/main">
            <a:r>
              <a:t>https://github.com/splash-li/NLPCC2026-Shared-Task-4/tree/4744a772fda59ef886c525cf3d4b4ac3c992710f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故意从既有突破信号中移除提高反应速度的机制，再看AlphaTrend能否重新发现改进。该组方案的Sharpe集中在约1.05，简化基准约0.95。局部峰谷方案中心约0.80，几乎都落后，说明系统能够输出负面结果。开放想法分布约0.70至1.00，中心约0.85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柱形展示的是原文描述的约略中心或集中位置，不是精确均值，也没有展示全部分布。原文图注截至2015年，但正文提及2012至2016年的部分表现，时间口径未完全一致。这里借鉴的是研究检验方法，不能解释为2026实盘收益。原作者还指出多重试验和人类判断的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aAlpha保存从假设、表达式和代码到回测结果的研究记录，后续可以修改或组合研究步骤。附录C生成的子因子计算20日价量变动相关性，乘以5日日内收益均值，再作横截面排名。原式的变动分母使用当日价格和成交量，复现时需要照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子因子Rank IC为0.0311，高于父记录的0.0216和0.0246，但信息比率略降、最大回撤扩大，系统给出拒绝直接采用及修改建议。表达式没有机构持仓、社交热度或基本面数据，也未实现假设中提出的波动权重。我认为这里最有启发的是检查经济解释与实际实现能否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附录的轮次、换手及成本记录与总体设置并不完全一致，因此将该例用于解释研究动作，不把它的收益与总体表格合并。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QuantaAlpha官方研究实现（固定版本）</a:t>
            </a:r>
          </a:p>
          <a:p xmlns:a="http://schemas.openxmlformats.org/drawingml/2006/main">
            <a:r>
              <a:t>固定提交 b7ceb27b1001</a:t>
            </a:r>
          </a:p>
          <a:p xmlns:a="http://schemas.openxmlformats.org/drawingml/2006/main">
            <a:r>
              <a:t>方法实现；代码固定版本见原始链接；未执行复现</a:t>
            </a:r>
          </a:p>
          <a:p xmlns:a="http://schemas.openxmlformats.org/drawingml/2006/main">
            <a:r>
              <a:t>https://github.com/QuantaAlpha/QuantaAlpha/tree/b7ceb27b1001261d7a95b209a963664ae1f8ab23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这里取论文表1中同一基础模型下的框架比较。IC衡量预测值与后续收益的相关性，QuantaAlpha在这组对照中为0.0472。其收益和回撤来自约150个因子与相同下游LightGBM组成的评价流程，不是单个生成因子的独立收益。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训练期2016至2020年，验证期2021年，测试期2022年初至2025年12月26日。组合每日选50只等权股票，每次替换5只，次日开盘成交，买入费率0.05%、卖出0.15%。三种框架的超额收益最大回撤分别为16.76%、13.89%、11.80%。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论文的部分传统或深度学习方法在某些组合指标上更好，不能从此表推论LLM全面优于现有量化方法。消融实验使用DeepSeek-V3.2，移除修改环节后IC从0.0461降到0.0382，也为迭代作用提供了作者实验依据。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QuantaAlpha报告一次主要运行约20小时、180万tokens，采用托管模型API与CPU回测。这个例子说明框架怎样连接任务和工具，与本地模型需要多少GPU是不同的问题。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可以先研究接口与评价方式，再测试本地模型能否完成相同工作。模型服务留在内部，也不自动意味着全部数据处理都在内部，文字识别、检索向量、日志和远程运维还需要一起确认。接下来讨论这些合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QuantaAlpha官方研究实现（固定版本）</a:t>
            </a:r>
          </a:p>
          <a:p xmlns:a="http://schemas.openxmlformats.org/drawingml/2006/main">
            <a:r>
              <a:t>固定提交 b7ceb27b1001</a:t>
            </a:r>
          </a:p>
          <a:p xmlns:a="http://schemas.openxmlformats.org/drawingml/2006/main">
            <a:r>
              <a:t>方法实现；代码固定版本见原始链接；未执行复现</a:t>
            </a:r>
          </a:p>
          <a:p xmlns:a="http://schemas.openxmlformats.org/drawingml/2006/main">
            <a:r>
              <a:t>https://github.com/QuantaAlpha/QuantaAlpha/tree/b7ceb27b1001261d7a95b209a963664ae1f8ab23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网络数据安全管理条例</a:t>
            </a:r>
          </a:p>
          <a:p xmlns:a="http://schemas.openxmlformats.org/drawingml/2006/main">
            <a:r>
              <a:t>令文日期 2024-09-24； 网信办发布 2024-09-30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https://www.cac.gov.cn/2024-09/30/c_1729384452307680.htm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促进和规范数据跨境流动规定</a:t>
            </a:r>
          </a:p>
          <a:p xmlns:a="http://schemas.openxmlformats.org/drawingml/2006/main">
            <a:r>
              <a:t>2024-03-22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https://www.cac.gov.cn/2024-03/22/c_1712776611775634.htm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考虑到我们对合规的要求，我同时梳理了数据保护、生成式AI服务和证券基金信息技术管理文件。需要把法律、监管规定、团体标准和内部政策分开理解。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个人信息保护法涉及合法基础、委托处理和特定影响评估。数据安全法覆盖个人信息以外的数据。证券基金信息技术管理办法要求机构保留自身责任，并对重要系统外部独立运维设限，包含法定例外。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AMAC 2026大模型应用规范为团体标准，提供场景评测和权限参考，具体采用依据仍需确认。美国SR26-2是银行监督指引，配套定义排除生成式和Agentic AI，不能代替机构内部政策。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中华人民共和国个人信息保护法</a:t>
            </a:r>
          </a:p>
          <a:p xmlns:a="http://schemas.openxmlformats.org/drawingml/2006/main">
            <a:r>
              <a:t>2021-08-20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https://www.cac.gov.cn/2021-08/20/c_1631050028355286.htm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中华人民共和国数据安全法</a:t>
            </a:r>
          </a:p>
          <a:p xmlns:a="http://schemas.openxmlformats.org/drawingml/2006/main">
            <a:r>
              <a:t>2021-06-10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https://www.cac.gov.cn/2021-06/11/c_1624994566919140.htm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证券基金经营机构信息技术管理办法</a:t>
            </a:r>
          </a:p>
          <a:p xmlns:a="http://schemas.openxmlformats.org/drawingml/2006/main">
            <a:r>
              <a:t>2018-12-19； 修订 2021-01-15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https://www.csrc.gov.cn/csrc/c106256/c1653896/content.shtml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关于发布《基金经营机构大模型技术应用规范》团体标准的公告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https://www.amac.org.cn/xwfb/xhyw/202604/t20260403_27458.html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基金经营机构大模型技术应用规范 — T/AMAC 0004-2026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https://www.amac.org.cn/xwfb/xhyw/202604/P020260429638714694502.pdf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中华人民共和国标准化法（2017年修订）</a:t>
            </a:r>
          </a:p>
          <a:p xmlns:a="http://schemas.openxmlformats.org/drawingml/2006/main">
            <a:r>
              <a:t>修订 2017-11-04； 国家知识产权局转载 2019-07-29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https://www.cnipa.gov.cn/art/2019/7/29/art_104_67809.html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 26-2: Revised Guidance on Model Risk Management</a:t>
            </a:r>
          </a:p>
          <a:p xmlns:a="http://schemas.openxmlformats.org/drawingml/2006/main">
            <a:r>
              <a:t>2026-04-17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https://www.federalreserve.gov/supervisionreg/srletters/SR2602.htm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Supervisory Guidance on Model Risk Management</a:t>
            </a:r>
          </a:p>
          <a:p xmlns:a="http://schemas.openxmlformats.org/drawingml/2006/main">
            <a:r>
              <a:t>2026-04-17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https://www.federalreserve.gov/frrs/guidance/supervisory-guidance-on-model-risk-management.htm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生成式人工智能服务管理暂行办法第2条以向境内公众提供服务为适用条件，并排除未向公众提供此类服务的组织研发和应用。内部工具仍需要遵守相应的数据、安全和金融机构管理要求。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模型可能调用外部识别、向量或日志服务，API也不必然代表出境，需要核查实际位置和数据流。原型只要涉及外部处理或运维，就应确认相应条件，不能等到生产接入才考虑。重要系统和外包职责按照证券基金信息技术管理办法第43至45条等核查，对外发布还需考虑生成内容标识和金融业务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生成式人工智能服务管理暂行办法</a:t>
            </a:r>
          </a:p>
          <a:p xmlns:a="http://schemas.openxmlformats.org/drawingml/2006/main">
            <a:r>
              <a:t>2023-07-13； 签署 2023-07-10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https://www.cac.gov.cn/2023-07/13/c_1690898327029107.htm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中华人民共和国个人信息保护法</a:t>
            </a:r>
          </a:p>
          <a:p xmlns:a="http://schemas.openxmlformats.org/drawingml/2006/main">
            <a:r>
              <a:t>2021-08-20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https://www.cac.gov.cn/2021-08/20/c_1631050028355286.htm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证券基金经营机构信息技术管理办法</a:t>
            </a:r>
          </a:p>
          <a:p xmlns:a="http://schemas.openxmlformats.org/drawingml/2006/main">
            <a:r>
              <a:t>2018-12-19； 修订 2021-01-15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https://www.csrc.gov.cn/csrc/c106256/c1653896/content.shtml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网络数据安全管理条例</a:t>
            </a:r>
          </a:p>
          <a:p xmlns:a="http://schemas.openxmlformats.org/drawingml/2006/main">
            <a:r>
              <a:t>令文日期 2024-09-24； 网信办发布 2024-09-30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https://www.cac.gov.cn/2024-09/30/c_1729384452307680.htm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证券期货业网络和信息安全管理办法</a:t>
            </a:r>
          </a:p>
          <a:p xmlns:a="http://schemas.openxmlformats.org/drawingml/2006/main">
            <a:r>
              <a:t>令文日期 2023-02-27； 发布 2023-03-03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https://www.csrc.gov.cn/csrc/c101953/c7202800/7202800/files/%E9%99%84%E4%BB%B61%EF%BC%9A%E8%AF%81%E5%88%B8%E6%9C%9F%E8%B4%A7%E4%B8%9A%E7%BD%91%E7%BB%9C%E5%92%8C%E4%BF%A1%E6%81%AF%E5%AE%89%E5%85%A8%E7%AE%A1%E7%90%86%E5%8A%9E%E6%B3%95.pdf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促进和规范数据跨境流动规定</a:t>
            </a:r>
          </a:p>
          <a:p xmlns:a="http://schemas.openxmlformats.org/drawingml/2006/main">
            <a:r>
              <a:t>2024-03-22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https://www.cac.gov.cn/2024-03/22/c_1712776611775634.htm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基金经营机构大模型技术应用规范 — T/AMAC 0004-2026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https://www.amac.org.cn/xwfb/xhyw/202604/P020260429638714694502.pdf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人工智能生成合成内容标识办法</a:t>
            </a:r>
          </a:p>
          <a:p xmlns:a="http://schemas.openxmlformats.org/drawingml/2006/main">
            <a:r>
              <a:t>2025-03-07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https://www.cac.gov.cn/2025-03/14/c_1743654684782215.htm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这次行业调研提供了可以借鉴的方向。结合实习范围，我倾向从公告事件提取或只读查询中选择一个，具体选择取决于数据和系统条件。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项目计划，下一阶段比较5至8个开放模型，在本地GPU部署一个模型完成金融文本任务。使用一致的资料、任务和检验方式，记录质量、时延、资源和人工复核时间。以后再根据实际使用量和运行要求比较三年TC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这里希望讨论的是，部门是否已有适合的小型数据任务，以及哪些数据、系统和内部管理条件可以先确认。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易方达：指数研究和基金查询。指数平台、公开查询客户端。有高校联合研究。</a:t>
            </a:r>
          </a:p>
          <a:p xmlns:a="http://schemas.openxmlformats.org/drawingml/2006/main">
            <a:r>
              <a:t>华夏：模型接入安全。2025年安全网关采购。北京世纪东凌中标。</a:t>
            </a:r>
          </a:p>
          <a:p xmlns:a="http://schemas.openxmlformats.org/drawingml/2006/main">
            <a:r>
              <a:t>广发：智能理财与文本因子。协议提及DeepSeek、Qwen。实施分工未详述。</a:t>
            </a:r>
          </a:p>
          <a:p xmlns:a="http://schemas.openxmlformats.org/drawingml/2006/main">
            <a:r>
              <a:t>富国：市场观点、知识与文本因子。本地模型、检索与计算平台。公司介绍为自研。</a:t>
            </a:r>
          </a:p>
          <a:p xmlns:a="http://schemas.openxmlformats.org/drawingml/2006/main">
            <a:r>
              <a:t>南方：交易助理与数据查询。选表、SQL及权限检查。模型和实施方未详述。</a:t>
            </a:r>
          </a:p>
          <a:p xmlns:a="http://schemas.openxmlformats.org/drawingml/2006/main">
            <a:r>
              <a:t>汇添富：风险邮件和条款问答。LLM与已有规则平台配合。外部分工未详述。</a:t>
            </a:r>
          </a:p>
          <a:p xmlns:a="http://schemas.openxmlformats.org/drawingml/2006/main">
            <a:r>
              <a:t>景顺长城：本地文档处理与检索。报道提到模型和检索组件。媒体未披露实施方。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『基金行业金融科技获奖成果宣传活动』易方达基金：基于数智赋能的指数业务一体化平台</a:t>
            </a:r>
          </a:p>
          <a:p xmlns:a="http://schemas.openxmlformats.org/drawingml/2006/main">
            <a:r>
              <a:t>2026年1月协会案例；PDF未注明修订日期</a:t>
            </a:r>
          </a:p>
          <a:p xmlns:a="http://schemas.openxmlformats.org/drawingml/2006/main">
            <a:r>
              <a:t>指数业务一体化平台；平台指标与LLM效果须分开</a:t>
            </a:r>
          </a:p>
          <a:p xmlns:a="http://schemas.openxmlformats.org/drawingml/2006/main">
            <a:r>
              <a:t>https://www.amac.org.cn/xwfb/hydt/202601/P020260202337819827722.pdf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关于华夏基金管理有限公司采购结果的公告</a:t>
            </a:r>
          </a:p>
          <a:p xmlns:a="http://schemas.openxmlformats.org/drawingml/2006/main">
            <a:r>
              <a:t>2025-12-31；历史采购证据</a:t>
            </a:r>
          </a:p>
          <a:p xmlns:a="http://schemas.openxmlformats.org/drawingml/2006/main">
            <a:r>
              <a:t>采购公告；不证明验收或完整LLM部署</a:t>
            </a:r>
          </a:p>
          <a:p xmlns:a="http://schemas.openxmlformats.org/drawingml/2006/main">
            <a:r>
              <a:t>https://www.chinaamc.com/upload/resources/file/2025/12/31/442744.pdf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广发基金智能理财助理服务协议</a:t>
            </a:r>
          </a:p>
          <a:p xmlns:a="http://schemas.openxmlformats.org/drawingml/2006/main">
            <a:r>
              <a:t>协议未注明发布日期</a:t>
            </a:r>
          </a:p>
          <a:p xmlns:a="http://schemas.openxmlformats.org/drawingml/2006/main">
            <a:r>
              <a:t>大模型技术名称与服务协议；不据URL月份认定发布日期</a:t>
            </a:r>
          </a:p>
          <a:p xmlns:a="http://schemas.openxmlformats.org/drawingml/2006/main">
            <a:r>
              <a:t>https://cdnwww.gffunds.com.cn/gfjjnew/jjgg/lsgg/202603/W020260327646002876113.pdf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嘉实：ESG数据与研究。报告披露AI和文本处理。LLM具体范围待核。</a:t>
            </a:r>
          </a:p>
          <a:p xmlns:a="http://schemas.openxmlformats.org/drawingml/2006/main">
            <a:r>
              <a:t>博时：数据和研究工具协作。内部模型、隔离运行与审计。报道未详述外部分工。</a:t>
            </a:r>
          </a:p>
          <a:p xmlns:a="http://schemas.openxmlformats.org/drawingml/2006/main">
            <a:r>
              <a:t>鹏华：知识问答与营销审核。私有模型、提示词和规则。未说明外部实施方。</a:t>
            </a:r>
          </a:p>
          <a:p xmlns:a="http://schemas.openxmlformats.org/drawingml/2006/main">
            <a:r>
              <a:t>招商：个股分析与财报点评。多个工作流及信息提取。媒体未披露实施方。</a:t>
            </a:r>
          </a:p>
          <a:p xmlns:a="http://schemas.openxmlformats.org/drawingml/2006/main">
            <a:r>
              <a:t>国泰：组合平台检索问答。昇腾与DeepSeek</a:t>
            </a:r>
          </a:p>
          <a:p xmlns:a="http://schemas.openxmlformats.org/drawingml/2006/main">
            <a:r>
              <a:t>另有传统文本处理。外部分工未详述。</a:t>
            </a:r>
          </a:p>
          <a:p xmlns:a="http://schemas.openxmlformats.org/drawingml/2006/main">
            <a:r>
              <a:t>永赢：邮件反钓鱼。安全GPT邮件处理。未说明外部实施方。</a:t>
            </a:r>
          </a:p>
          <a:p xmlns:a="http://schemas.openxmlformats.org/drawingml/2006/main">
            <a:r>
              <a:t>工银瑞信：养老金运营</a:t>
            </a:r>
          </a:p>
          <a:p xmlns:a="http://schemas.openxmlformats.org/drawingml/2006/main">
            <a:r>
              <a:t>FundGPT研究服务。大模型平台及历史合作。恒生聚源</a:t>
            </a:r>
          </a:p>
          <a:p xmlns:a="http://schemas.openxmlformats.org/drawingml/2006/main">
            <a:r>
              <a:t>工银科技、智谱AI。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嘉实基金2025可持续投资报告</a:t>
            </a:r>
          </a:p>
          <a:p xmlns:a="http://schemas.openxmlformats.org/drawingml/2006/main">
            <a:r>
              <a:t>2025报告期；发布日期未独立确认</a:t>
            </a:r>
          </a:p>
          <a:p xmlns:a="http://schemas.openxmlformats.org/drawingml/2006/main">
            <a:r>
              <a:t>嘉实可持续投资报告；AI/NLP不自动等于LLM</a:t>
            </a:r>
          </a:p>
          <a:p xmlns:a="http://schemas.openxmlformats.org/drawingml/2006/main">
            <a:r>
              <a:t>https://www.jsfund.cn/ueditor/jsp/upload/file/20260331/1774939300245008932.pdf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智启金融新范式，博时前瞻布局企业级“龙虾”生态，赋能资管全链条</a:t>
            </a:r>
          </a:p>
          <a:p xmlns:a="http://schemas.openxmlformats.org/drawingml/2006/main">
            <a:r>
              <a:t>2026-04-30</a:t>
            </a:r>
          </a:p>
          <a:p xmlns:a="http://schemas.openxmlformats.org/drawingml/2006/main">
            <a:r>
              <a:t>博时BSBox报道；工具与运行环境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『基金行业金融科技获奖成果宣传活动』国泰基金：基金组合管理平台建设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国泰组合平台；DeepSeek与传统NER模块分开</a:t>
            </a:r>
          </a:p>
          <a:p xmlns:a="http://schemas.openxmlformats.org/drawingml/2006/main">
            <a:r>
              <a:t>https://www.amac.org.cn/xwfb/hydt/202601/P020260202337808791393.pdf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AI筑牢邮件安全防线 永赢基金以大模型守护金融数字资产</a:t>
            </a:r>
          </a:p>
          <a:p xmlns:a="http://schemas.openxmlformats.org/drawingml/2006/main">
            <a:r>
              <a:t>2026-07-01协会目录；PDF未注明日期</a:t>
            </a:r>
          </a:p>
          <a:p xmlns:a="http://schemas.openxmlformats.org/drawingml/2006/main">
            <a:r>
              <a:t>永赢安全GPT邮件反钓鱼；非投研量化系统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『基金行业金融科技获奖成果宣传活动』工银瑞信基金：基于人工智能的一站式养老金投资运营管理平台</a:t>
            </a:r>
          </a:p>
          <a:p xmlns:a="http://schemas.openxmlformats.org/drawingml/2006/main">
            <a:r>
              <a:t>2026-01-21协会目录；PDF未注明日期</a:t>
            </a:r>
          </a:p>
          <a:p xmlns:a="http://schemas.openxmlformats.org/drawingml/2006/main">
            <a:r>
              <a:t>工银瑞信养老金运营管理平台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恒生电子2023可持续发展报告</a:t>
            </a:r>
          </a:p>
          <a:p xmlns:a="http://schemas.openxmlformats.org/drawingml/2006/main">
            <a:r>
              <a:t>2023报告期；历史合作证据</a:t>
            </a:r>
          </a:p>
          <a:p xmlns:a="http://schemas.openxmlformats.org/drawingml/2006/main">
            <a:r>
              <a:t>恒生电子可持续发展报告；FundGPT相关合作方</a:t>
            </a:r>
          </a:p>
          <a:p xmlns:a="http://schemas.openxmlformats.org/drawingml/2006/main">
            <a:r>
              <a:t>https://static.cninfo.com.cn/finalpage/2024-03-25/1219392176.PDF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天弘：财务分析与工具调用。模型服务、检索及金融数据。Wind与同花顺工具。</a:t>
            </a:r>
          </a:p>
          <a:p xmlns:a="http://schemas.openxmlformats.org/drawingml/2006/main">
            <a:r>
              <a:t>中欧：取数、建模与写作。报道提到100余项Skills。公众号转载媒体报道。</a:t>
            </a:r>
          </a:p>
          <a:p xmlns:a="http://schemas.openxmlformats.org/drawingml/2006/main">
            <a:r>
              <a:t>华安：灵思知识与研究平台。2025案例，本地与API配合。外部分工未详述。</a:t>
            </a:r>
          </a:p>
          <a:p xmlns:a="http://schemas.openxmlformats.org/drawingml/2006/main">
            <a:r>
              <a:t>华泰柏瑞：文本与量化信号结合。结构化处理和组合诊断。中国证券报采访材料。</a:t>
            </a:r>
          </a:p>
          <a:p xmlns:a="http://schemas.openxmlformats.org/drawingml/2006/main">
            <a:r>
              <a:t>兴证全球：固收交易信息处理。文本提取与交易工具衔接。LLM具体范围待核。</a:t>
            </a:r>
          </a:p>
          <a:p xmlns:a="http://schemas.openxmlformats.org/drawingml/2006/main">
            <a:r>
              <a:t>平安：AI青蚨研究资料整理。报道介绍检索与溯源。实施分工未详述。</a:t>
            </a:r>
          </a:p>
          <a:p xmlns:a="http://schemas.openxmlformats.org/drawingml/2006/main">
            <a:r>
              <a:t>大成：固收交易要素提取。Qwen2.5与交易系统衔接。未说明外部实施方。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中欧基金窦玉明：AI赋能时代，「三化」协同夯实长期业绩根基</a:t>
            </a:r>
          </a:p>
          <a:p xmlns:a="http://schemas.openxmlformats.org/drawingml/2006/main">
            <a:r>
              <a:t>2026-06-01</a:t>
            </a:r>
          </a:p>
          <a:p xmlns:a="http://schemas.openxmlformats.org/drawingml/2006/main">
            <a:r>
              <a:t>中欧公众号转载中国基金报；Skills与投研协作</a:t>
            </a:r>
          </a:p>
          <a:p xmlns:a="http://schemas.openxmlformats.org/drawingml/2006/main">
            <a:r>
              <a:t>https://mp.weixin.qq.com/s/rgMRw8HbZUhiu9PkUBM7vA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 CCF企业数字化发展推荐案例集 — 华安基金管理有限公司——华安“灵思”AI智能创新平台</a:t>
            </a:r>
          </a:p>
          <a:p xmlns:a="http://schemas.openxmlformats.org/drawingml/2006/main">
            <a:r>
              <a:t>2025版案例集；历史补充</a:t>
            </a:r>
          </a:p>
          <a:p xmlns:a="http://schemas.openxmlformats.org/drawingml/2006/main">
            <a:r>
              <a:t>华安“灵思”；本地与API混合平台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华泰柏瑞量化团队：“人机协同”迈入深水区，AI投研构筑长期护城河</a:t>
            </a:r>
          </a:p>
          <a:p xmlns:a="http://schemas.openxmlformats.org/drawingml/2006/main">
            <a:r>
              <a:t>2026-09-03</a:t>
            </a:r>
          </a:p>
          <a:p xmlns:a="http://schemas.openxmlformats.org/drawingml/2006/main">
            <a:r>
              <a:t>中国证券报原刊；文本处理实践与Agent展望分开</a:t>
            </a:r>
          </a:p>
          <a:p xmlns:a="http://schemas.openxmlformats.org/drawingml/2006/main">
            <a:r>
              <a:t>https://mp.weixin.qq.com/s?__biz=MjM5MzMwNjM0MA%3D%3D&amp;idx=2&amp;mid=2651361688&amp;sn=465ee3d543763b18d8ee971802cc5fcb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『基金行业金融科技获奖成果宣传活动』兴证全球基金：千询固收智能交易平台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千询固收交易平台；NLP与基础LLM需区分</a:t>
            </a:r>
          </a:p>
          <a:p xmlns:a="http://schemas.openxmlformats.org/drawingml/2006/main">
            <a:r>
              <a:t>https://www.amac.org.cn/xwfb/hydt/202601/P020260202337841539992.pdf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平安基金发布“AI青蚨”：破解数据“沉睡”困局 构建智能投研新范式</a:t>
            </a:r>
          </a:p>
          <a:p xmlns:a="http://schemas.openxmlformats.org/drawingml/2006/main">
            <a:r>
              <a:t>2026-02-06</a:t>
            </a:r>
          </a:p>
          <a:p xmlns:a="http://schemas.openxmlformats.org/drawingml/2006/main">
            <a:r>
              <a:t>中国证券报；平安AI青蚨报道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『基金行业金融科技获奖成果宣传活动』大成基金：固收全链路数智一体化平台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固收平台中的Qwen2.5交易要素提取</a:t>
            </a:r>
          </a:p>
          <a:p xmlns:a="http://schemas.openxmlformats.org/drawingml/2006/main">
            <a:r>
              <a:t>https://www.amac.org.cn/xwfb/hydt/202601/P020260202337853082516.pdf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MENTOR先预测下周热点，再进行行业排序。实际结果出现后，教师角色分析偏差，系统修改下一周使用的文字策略，未在每周重新训练模型权重。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本样本覆盖2023至2024年，包括160,190篇中文KOL帖子和72,108篇英文财经新闻，行情来自Wind和Bloomberg。表3显示O1在A股排序相关性上更高，但前3命中率低于DeepSeek版本和动量。这说明需要先确定评价目标，也应与简单金融基线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这是2025年联合论文，非2026年新增生产项目。完整版权数据未公开，正文与补充材料部分数据描述对应不清，不能直接把结果解释为基金实盘收益。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MENTOR: a multi-agent framework for event and narrative trend prediction with optimized reasoning</a:t>
            </a:r>
          </a:p>
          <a:p xmlns:a="http://schemas.openxmlformats.org/drawingml/2006/main">
            <a:r>
              <a:t>2025，26(10):1847–1861</a:t>
            </a:r>
          </a:p>
          <a:p xmlns:a="http://schemas.openxmlformats.org/drawingml/2006/main">
            <a:r>
              <a:t>PDF第8–11页及表3；方法与行业排序结果</a:t>
            </a:r>
          </a:p>
          <a:p xmlns:a="http://schemas.openxmlformats.org/drawingml/2006/main">
            <a:r>
              <a:t>https://doi.org/10.1631/FITEE.2500608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MENTOR supplementary materials</a:t>
            </a:r>
          </a:p>
          <a:p xmlns:a="http://schemas.openxmlformats.org/drawingml/2006/main">
            <a:r>
              <a:t>2025；MENTOR官方补充材料</a:t>
            </a:r>
          </a:p>
          <a:p xmlns:a="http://schemas.openxmlformats.org/drawingml/2006/main">
            <a:r>
              <a:t>PDF第1–5页，尤其第2–3页Prompt</a:t>
            </a:r>
          </a:p>
          <a:p xmlns:a="http://schemas.openxmlformats.org/drawingml/2006/main">
            <a:r>
              <a:t>https://jzus.zju.edu.cn/downloadesm.php?filepath=.%2Fdownload%2FESM%2FFITEE%2FESM2500608.pdf&amp;filetype=pdf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显示从研究想法、方案生成、实现、回测、基准分析到综合结论的连续过程。市场数据和基准分析由工具提供，LLM参与研究方案与解释。图中是Man原文公开流程，并不意味着各节点的完整提示词、专有工具和数据已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图像出处与原始文章一致。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这里的指标是Verified Accuracy，要求运行、时序因果、功能和结构四类检查全部通过。它不是只看向量化，也不是交易策略成功率。93.7%和81.9%是论文所测模型中的结果，不作为当前模型市场排名。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前视检查先用完整样本计算，再选一个较早时点截断重算，比较相同历史时点的结果。通过这一检查仍不能保证原始资料发布时间正确，或经济解释与实现相符。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AlphaQT-Bench：量化因子代码评价基准</a:t>
            </a:r>
          </a:p>
          <a:p xmlns:a="http://schemas.openxmlformats.org/drawingml/2006/main">
            <a:r>
              <a:t>ACL 2026 Findings</a:t>
            </a:r>
          </a:p>
          <a:p xmlns:a="http://schemas.openxmlformats.org/drawingml/2006/main">
            <a:r>
              <a:t>16页论文；第16页Prompt及执行、因果、语义、结构评价</a:t>
            </a:r>
          </a:p>
          <a:p xmlns:a="http://schemas.openxmlformats.org/drawingml/2006/main">
            <a:r>
              <a:t>https://aclanthology.org/2026.findings-acl.138/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36e36de3149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a4c749ad44431" /><Relationship Type="http://schemas.openxmlformats.org/officeDocument/2006/relationships/slideLayout" Target="/ppt/slideLayouts/slideLayout1.xml" Id="R01a13e4032af42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13e4032af42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82861c04b40eb" /><Relationship Type="http://schemas.openxmlformats.org/officeDocument/2006/relationships/notesSlide" Target="/ppt/notesSlides/notesSlide1.xml" Id="R6bb9425cfcb547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4657699f64e11" /><Relationship Type="http://schemas.openxmlformats.org/officeDocument/2006/relationships/notesSlide" Target="/ppt/notesSlides/notesSlide2.xml" Id="R0d1c50d25c4947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423afc6b644c2" /><Relationship Type="http://schemas.openxmlformats.org/officeDocument/2006/relationships/notesSlide" Target="/ppt/notesSlides/notesSlide3.xml" Id="Ra4a2880ca1904b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ab8cafb0040ea" /><Relationship Type="http://schemas.openxmlformats.org/officeDocument/2006/relationships/notesSlide" Target="/ppt/notesSlides/notesSlide4.xml" Id="Rcc3b8a8b92db4a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ef359d3fc4068" /><Relationship Type="http://schemas.openxmlformats.org/officeDocument/2006/relationships/notesSlide" Target="/ppt/notesSlides/notesSlide5.xml" Id="R06be4b133df343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66d8b79934721" /><Relationship Type="http://schemas.openxmlformats.org/officeDocument/2006/relationships/notesSlide" Target="/ppt/notesSlides/notesSlide6.xml" Id="R50bc108005a449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d9cd5ddc48ea" /><Relationship Type="http://schemas.openxmlformats.org/officeDocument/2006/relationships/notesSlide" Target="/ppt/notesSlides/notesSlide7.xml" Id="R7f94219de9ca4e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b7c2ddec54c7b" /><Relationship Type="http://schemas.openxmlformats.org/officeDocument/2006/relationships/notesSlide" Target="/ppt/notesSlides/notesSlide8.xml" Id="Rf4e73983c8eb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6a10dd8648be" /><Relationship Type="http://schemas.openxmlformats.org/officeDocument/2006/relationships/notesSlide" Target="/ppt/notesSlides/notesSlide9.xml" Id="R130d4f9cb3c343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6aaa1ee7e4c9b" /><Relationship Type="http://schemas.openxmlformats.org/officeDocument/2006/relationships/notesSlide" Target="/ppt/notesSlides/notesSlide10.xml" Id="Rf5d522f2d48042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12ee4b354a14" /><Relationship Type="http://schemas.openxmlformats.org/officeDocument/2006/relationships/notesSlide" Target="/ppt/notesSlides/notesSlide11.xml" Id="Ra203566dbd0041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1672495844e97" /><Relationship Type="http://schemas.openxmlformats.org/officeDocument/2006/relationships/chart" Target="/ppt/slides/charts/chart1.xml" Id="Rf550f1e76d504501" /><Relationship Type="http://schemas.openxmlformats.org/officeDocument/2006/relationships/notesSlide" Target="/ppt/notesSlides/notesSlide12.xml" Id="Ra9ac7debe18643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4b6be91f34201" /><Relationship Type="http://schemas.openxmlformats.org/officeDocument/2006/relationships/notesSlide" Target="/ppt/notesSlides/notesSlide13.xml" Id="R2592059da33646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fb7b4af14669" /><Relationship Type="http://schemas.openxmlformats.org/officeDocument/2006/relationships/chart" Target="/ppt/slides/charts/chart2.xml" Id="R6579275dbdae4211" /><Relationship Type="http://schemas.openxmlformats.org/officeDocument/2006/relationships/notesSlide" Target="/ppt/notesSlides/notesSlide14.xml" Id="R74ad7456011f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489b8ad954b0e" /><Relationship Type="http://schemas.openxmlformats.org/officeDocument/2006/relationships/notesSlide" Target="/ppt/notesSlides/notesSlide15.xml" Id="R0becda8370e945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b5f09c5f54c27" /><Relationship Type="http://schemas.openxmlformats.org/officeDocument/2006/relationships/notesSlide" Target="/ppt/notesSlides/notesSlide16.xml" Id="Rcacc6478e75049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6aab2c7ea47c3" /><Relationship Type="http://schemas.openxmlformats.org/officeDocument/2006/relationships/notesSlide" Target="/ppt/notesSlides/notesSlide17.xml" Id="R8311b315b8394e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ed04d7880473b" /><Relationship Type="http://schemas.openxmlformats.org/officeDocument/2006/relationships/notesSlide" Target="/ppt/notesSlides/notesSlide18.xml" Id="Rce43533cff664d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ea54cc7604369" /><Relationship Type="http://schemas.openxmlformats.org/officeDocument/2006/relationships/notesSlide" Target="/ppt/notesSlides/notesSlide19.xml" Id="R18d3414592074a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f7bcdda4a47ef" /><Relationship Type="http://schemas.openxmlformats.org/officeDocument/2006/relationships/notesSlide" Target="/ppt/notesSlides/notesSlide20.xml" Id="R9e5af1a95fb748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679b506894b85" /><Relationship Type="http://schemas.openxmlformats.org/officeDocument/2006/relationships/notesSlide" Target="/ppt/notesSlides/notesSlide21.xml" Id="R344eeea88ffa45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8d974d0c74fdf" /><Relationship Type="http://schemas.openxmlformats.org/officeDocument/2006/relationships/notesSlide" Target="/ppt/notesSlides/notesSlide22.xml" Id="Rc0d09278a55a4d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b78cc17a243f0" /><Relationship Type="http://schemas.openxmlformats.org/officeDocument/2006/relationships/image" Target="/ppt/media/image.png" Id="Rbd4e3dcbf3e1456d" /><Relationship Type="http://schemas.openxmlformats.org/officeDocument/2006/relationships/notesSlide" Target="/ppt/notesSlides/notesSlide23.xml" Id="R0273a94f5d1546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e7fac5fad4e57" /><Relationship Type="http://schemas.openxmlformats.org/officeDocument/2006/relationships/notesSlide" Target="/ppt/notesSlides/notesSlide24.xml" Id="R115550adb1834969" 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方案集中或中心位置</c:v>
          </c:tx>
          <c:spPr>
            <a:solidFill xmlns:a="http://schemas.openxmlformats.org/drawingml/2006/main">
              <a:srgbClr val="008C83"/>
            </a:solidFill>
          </c:spPr>
          <c:cat>
            <c:strRef>
              <c:f>'Chart Data'!$A$2:$A$4</c:f>
              <c:strCache>
                <c:ptCount val="3"/>
                <c:pt idx="0">
                  <c:v>恢复反应机制</c:v>
                </c:pt>
                <c:pt idx="1">
                  <c:v>局部峰谷信号</c:v>
                </c:pt>
                <c:pt idx="2">
                  <c:v>开放探索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1.05</c:v>
                </c:pt>
                <c:pt idx="1">
                  <c:v>0.8</c:v>
                </c:pt>
                <c:pt idx="2">
                  <c:v>0.85</c:v>
                </c:pt>
              </c:numCache>
            </c:numRef>
          </c:val>
        </c:ser>
        <c:ser>
          <c:idx val="1"/>
          <c:order val="1"/>
          <c:tx>
            <c:v>简化后的基准</c:v>
          </c:tx>
          <c:spPr>
            <a:solidFill xmlns:a="http://schemas.openxmlformats.org/drawingml/2006/main">
              <a:srgbClr val="B3C0C8"/>
            </a:solidFill>
          </c:spPr>
          <c:cat>
            <c:strRef>
              <c:f>'Chart Data'!$C$2:$C$4</c:f>
              <c:strCache>
                <c:ptCount val="3"/>
                <c:pt idx="0">
                  <c:v>恢复反应机制</c:v>
                </c:pt>
                <c:pt idx="1">
                  <c:v>局部峰谷信号</c:v>
                </c:pt>
                <c:pt idx="2">
                  <c:v>开放探索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53C4A"/>
                  </a:solidFill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3C4A"/>
              </a:solidFill>
              <a:latin typeface="Heiti SC"/>
              <a:ea typeface="Heiti SC"/>
              <a:cs typeface="Heiti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IC</c:v>
          </c:tx>
          <c:spPr>
            <a:solidFill xmlns:a="http://schemas.openxmlformats.org/drawingml/2006/main">
              <a:srgbClr val="008C83"/>
            </a:solidFill>
          </c:spPr>
          <c:cat>
            <c:strRef>
              <c:f>'Chart Data'!$A$2:$A$4</c:f>
              <c:strCache>
                <c:ptCount val="3"/>
                <c:pt idx="0">
                  <c:v>RD-Agent</c:v>
                </c:pt>
                <c:pt idx="1">
                  <c:v>AlphaAgent</c:v>
                </c:pt>
                <c:pt idx="2">
                  <c:v>QuantaAlpha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0.0286</c:v>
                </c:pt>
                <c:pt idx="1">
                  <c:v>0.0347</c:v>
                </c:pt>
                <c:pt idx="2">
                  <c:v>0.0472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53C4A"/>
                  </a:solidFill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0.0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7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iuov6-基金公司LLM应用调研">
            <a:extLst xmlns:a="http://schemas.openxmlformats.org/drawingml/2006/main">
              <a:ext uri="{FF2B5EF4-FFF2-40B4-BE49-F238E27FC236}">
                <a16:creationId xmlns:a16="http://schemas.microsoft.com/office/drawing/2014/main" id="{B7F14952-238B-416C-8716-C66B329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8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基金公司LLM应用调研</a:t>
            </a:r>
          </a:p>
        </p:txBody>
      </p:sp>
      <p:sp>
        <p:nvSpPr>
          <p:cNvPr id="2" name="text-4iuov6-行业案例与本地部署探索">
            <a:extLst xmlns:a="http://schemas.openxmlformats.org/drawingml/2006/main">
              <a:ext uri="{FF2B5EF4-FFF2-40B4-BE49-F238E27FC236}">
                <a16:creationId xmlns:a16="http://schemas.microsoft.com/office/drawing/2014/main" id="{28CC31AA-5D42-4B69-94FD-4282EDB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B7DDDA"/>
                </a:solidFill>
                <a:latin typeface="Heiti SC"/>
                <a:ea typeface="Heiti SC"/>
                <a:cs typeface="Heiti SC"/>
              </a:defRPr>
            </a:pPr>
            <a:r>
              <a:rPr sz="2550" b="0">
                <a:solidFill>
                  <a:srgbClr val="B7DDDA"/>
                </a:solidFill>
                <a:latin typeface="Heiti SC"/>
                <a:ea typeface="Heiti SC"/>
                <a:cs typeface="Heiti SC"/>
              </a:rPr>
              <a:t>行业案例与本地部署探索</a:t>
            </a:r>
          </a:p>
        </p:txBody>
      </p:sp>
      <p:sp>
        <p:nvSpPr>
          <p:cNvPr id="3" name="text-4iuov6-Intern 实习项目">
            <a:extLst xmlns:a="http://schemas.openxmlformats.org/drawingml/2006/main">
              <a:ext uri="{FF2B5EF4-FFF2-40B4-BE49-F238E27FC236}">
                <a16:creationId xmlns:a16="http://schemas.microsoft.com/office/drawing/2014/main" id="{5BFB0230-67C4-4CE3-ABC7-ED3B362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Intern</a:t>
            </a:r>
            <a:r>
              <a:rPr sz="18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 实习项目</a:t>
            </a:r>
          </a:p>
        </p:txBody>
      </p:sp>
      <p:sp>
        <p:nvSpPr>
          <p:cNvPr id="4" name="text-4iuov6-2026年9月    资料截至2">
            <a:extLst xmlns:a="http://schemas.openxmlformats.org/drawingml/2006/main">
              <a:ext uri="{FF2B5EF4-FFF2-40B4-BE49-F238E27FC236}">
                <a16:creationId xmlns:a16="http://schemas.microsoft.com/office/drawing/2014/main" id="{880A575D-687E-4BA0-9BAE-69E4DF38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7D5DD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C7D5DD"/>
                </a:solidFill>
                <a:latin typeface="Heiti SC"/>
                <a:ea typeface="Heiti SC"/>
                <a:cs typeface="Heiti SC"/>
              </a:rPr>
              <a:t>2026年9月    资料截至2026年9月9日</a:t>
            </a:r>
          </a:p>
        </p:txBody>
      </p:sp>
    </p:spTree>
    <p:extLst>
      <p:ext uri="{BB962C8B-B14F-4D97-AF65-F5344CB8AC3E}">
        <p14:creationId xmlns:p14="http://schemas.microsoft.com/office/powerpoint/2010/main" val="180718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a177gc-为什么值得开展本地实践">
            <a:extLst xmlns:a="http://schemas.openxmlformats.org/drawingml/2006/main">
              <a:ext uri="{FF2B5EF4-FFF2-40B4-BE49-F238E27FC236}">
                <a16:creationId xmlns:a16="http://schemas.microsoft.com/office/drawing/2014/main" id="{9D004DAB-3CD4-4938-8ACF-6ED6BEA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为什么值得开展本地实践</a:t>
            </a:r>
          </a:p>
        </p:txBody>
      </p:sp>
      <p:sp>
        <p:nvSpPr>
          <p:cNvPr id="2" name="text-a177gc-02">
            <a:extLst xmlns:a="http://schemas.openxmlformats.org/drawingml/2006/main">
              <a:ext uri="{FF2B5EF4-FFF2-40B4-BE49-F238E27FC236}">
                <a16:creationId xmlns:a16="http://schemas.microsoft.com/office/drawing/2014/main" id="{2B645B1A-26A4-4395-A096-68418C31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3" name="text-a177gc-同业已经把LLM接入具体工作">
            <a:extLst xmlns:a="http://schemas.openxmlformats.org/drawingml/2006/main">
              <a:ext uri="{FF2B5EF4-FFF2-40B4-BE49-F238E27FC236}">
                <a16:creationId xmlns:a16="http://schemas.microsoft.com/office/drawing/2014/main" id="{22644C71-678C-4EAA-A37A-F4FEF2B4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同业已经把LLM接入具体工作</a:t>
            </a:r>
          </a:p>
        </p:txBody>
      </p:sp>
      <p:sp>
        <p:nvSpPr>
          <p:cNvPr id="4" name="text-a177gc-富国和天弘用于投研准备，南方用于">
            <a:extLst xmlns:a="http://schemas.openxmlformats.org/drawingml/2006/main">
              <a:ext uri="{FF2B5EF4-FFF2-40B4-BE49-F238E27FC236}">
                <a16:creationId xmlns:a16="http://schemas.microsoft.com/office/drawing/2014/main" id="{DC71A499-D15E-4B9D-A7E4-155734F9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富国和天弘用于投研准备，南方用于数据查询，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鹏华用于知识和材料审核。量化研究也已有相关案例。</a:t>
            </a:r>
          </a:p>
        </p:txBody>
      </p:sp>
      <p:sp>
        <p:nvSpPr>
          <p:cNvPr id="5" name="text-a177gc-我的判断是，我们有必要开始积累实">
            <a:extLst xmlns:a="http://schemas.openxmlformats.org/drawingml/2006/main">
              <a:ext uri="{FF2B5EF4-FFF2-40B4-BE49-F238E27FC236}">
                <a16:creationId xmlns:a16="http://schemas.microsoft.com/office/drawing/2014/main" id="{C9CFEAE9-7317-4A2C-961D-0BE2999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我的判断是，我们有必要开始积累实际应用经验。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长期不开展实践，可能逐渐形成效率和工具使用经验的差距。</a:t>
            </a:r>
          </a:p>
        </p:txBody>
      </p:sp>
    </p:spTree>
    <p:extLst>
      <p:ext uri="{BB962C8B-B14F-4D97-AF65-F5344CB8AC3E}">
        <p14:creationId xmlns:p14="http://schemas.microsoft.com/office/powerpoint/2010/main" val="73880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rebxe0-调研范围与行业概览">
            <a:extLst xmlns:a="http://schemas.openxmlformats.org/drawingml/2006/main">
              <a:ext uri="{FF2B5EF4-FFF2-40B4-BE49-F238E27FC236}">
                <a16:creationId xmlns:a16="http://schemas.microsoft.com/office/drawing/2014/main" id="{594B2E2A-6930-4969-B6B4-046EE62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调研范围与行业概览</a:t>
            </a:r>
          </a:p>
        </p:txBody>
      </p:sp>
      <p:sp>
        <p:nvSpPr>
          <p:cNvPr id="2" name="text-rebxe0-规模口径为2026年二季度末非货">
            <a:extLst xmlns:a="http://schemas.openxmlformats.org/drawingml/2006/main">
              <a:ext uri="{FF2B5EF4-FFF2-40B4-BE49-F238E27FC236}">
                <a16:creationId xmlns:a16="http://schemas.microsoft.com/office/drawing/2014/main" id="{FF3CB279-87A5-41AF-B4B7-4A08C27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规模口径为2026年二季度末非货公募规模，剔除ETF联接基金。完整公司表见附录。</a:t>
            </a:r>
          </a:p>
        </p:txBody>
      </p:sp>
      <p:sp>
        <p:nvSpPr>
          <p:cNvPr id="3" name="text-rebxe0-03">
            <a:extLst xmlns:a="http://schemas.openxmlformats.org/drawingml/2006/main">
              <a:ext uri="{FF2B5EF4-FFF2-40B4-BE49-F238E27FC236}">
                <a16:creationId xmlns:a16="http://schemas.microsoft.com/office/drawing/2014/main" id="{4058D6D5-9100-4A22-B692-02EA34A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4" name="text-rebxe0-20家主要样本，加大成补充案例">
            <a:extLst xmlns:a="http://schemas.openxmlformats.org/drawingml/2006/main">
              <a:ext uri="{FF2B5EF4-FFF2-40B4-BE49-F238E27FC236}">
                <a16:creationId xmlns:a16="http://schemas.microsoft.com/office/drawing/2014/main" id="{5476A43F-8316-40FC-B164-576792D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20家主要样本，加大成补充案例</a:t>
            </a:r>
          </a:p>
        </p:txBody>
      </p:sp>
      <p:sp>
        <p:nvSpPr>
          <p:cNvPr id="5" name="text-rebxe0-样本规模约为3,448亿元至1.">
            <a:extLst xmlns:a="http://schemas.openxmlformats.org/drawingml/2006/main">
              <a:ext uri="{FF2B5EF4-FFF2-40B4-BE49-F238E27FC236}">
                <a16:creationId xmlns:a16="http://schemas.microsoft.com/office/drawing/2014/main" id="{0217E3EA-6DC9-4EA3-A4D0-31AFC771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样本规模约为3,448亿元至1.70万亿元。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易方达、华夏和广发超过1万亿元。</a:t>
            </a:r>
          </a:p>
        </p:txBody>
      </p:sp>
      <p:sp>
        <p:nvSpPr>
          <p:cNvPr id="6" name="text-rebxe0-公开应用覆盖多个研究与业务环节，">
            <a:extLst xmlns:a="http://schemas.openxmlformats.org/drawingml/2006/main">
              <a:ext uri="{FF2B5EF4-FFF2-40B4-BE49-F238E27FC236}">
                <a16:creationId xmlns:a16="http://schemas.microsoft.com/office/drawing/2014/main" id="{6FFB40E5-8E46-4154-A66E-9B3F181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062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公开应用覆盖多个研究与业务环节，披露深度差异较大。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技术名称较容易找到，实施和运维分工通常介绍得较少。</a:t>
            </a:r>
          </a:p>
        </p:txBody>
      </p:sp>
      <p:sp>
        <p:nvSpPr>
          <p:cNvPr id="7" name="text-rebxe0-规模用于确定调研对象。案例能说明">
            <a:extLst xmlns:a="http://schemas.openxmlformats.org/drawingml/2006/main">
              <a:ext uri="{FF2B5EF4-FFF2-40B4-BE49-F238E27FC236}">
                <a16:creationId xmlns:a16="http://schemas.microsoft.com/office/drawing/2014/main" id="{352B8CEB-403A-41CE-8C80-D62C89CE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规模用于确定调研对象。案例能说明公开进展，不能代表全行业采用率。</a:t>
            </a:r>
          </a:p>
        </p:txBody>
      </p:sp>
    </p:spTree>
    <p:extLst>
      <p:ext uri="{BB962C8B-B14F-4D97-AF65-F5344CB8AC3E}">
        <p14:creationId xmlns:p14="http://schemas.microsoft.com/office/powerpoint/2010/main" val="805130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yx8e83-四个应用方向与代表案例">
            <a:extLst xmlns:a="http://schemas.openxmlformats.org/drawingml/2006/main">
              <a:ext uri="{FF2B5EF4-FFF2-40B4-BE49-F238E27FC236}">
                <a16:creationId xmlns:a16="http://schemas.microsoft.com/office/drawing/2014/main" id="{2A9AE9CF-CC7F-4DB1-8C31-558EA98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四个应用方向与代表案例</a:t>
            </a:r>
          </a:p>
        </p:txBody>
      </p:sp>
      <p:sp>
        <p:nvSpPr>
          <p:cNvPr id="2" name="text-yx8e83-国内公司实践、海外资管方法与公开">
            <a:extLst xmlns:a="http://schemas.openxmlformats.org/drawingml/2006/main">
              <a:ext uri="{FF2B5EF4-FFF2-40B4-BE49-F238E27FC236}">
                <a16:creationId xmlns:a16="http://schemas.microsoft.com/office/drawing/2014/main" id="{AA519D03-CABA-48CF-B8F9-297942B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国内公司实践、海外资管方法与公开研究框架分别注明。</a:t>
            </a:r>
          </a:p>
        </p:txBody>
      </p:sp>
      <p:sp>
        <p:nvSpPr>
          <p:cNvPr id="3" name="text-yx8e83-04">
            <a:extLst xmlns:a="http://schemas.openxmlformats.org/drawingml/2006/main">
              <a:ext uri="{FF2B5EF4-FFF2-40B4-BE49-F238E27FC236}">
                <a16:creationId xmlns:a16="http://schemas.microsoft.com/office/drawing/2014/main" id="{B75836E9-6378-4676-90BA-A6D6D444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905125"/>
                <a:gridCol w="6257925"/>
              </a:tblGrid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方向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代表材料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研究员可以用它做什么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投研分析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富国、天弘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筛选研报，整理观点，拆解财务问题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数据查询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南方、易方达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理解查询需求，调用数据接口或生成受限SQL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知识与合规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鹏华、汇添富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检索依据，提取风险信息，辅助材料审核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LLM辅助量化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国内文本案例、Man、QuantaAlpha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提取事件变量，生成和检验因子，调用研究工具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835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w5g2o-富国与天弘的投研准备工作">
            <a:extLst xmlns:a="http://schemas.openxmlformats.org/drawingml/2006/main">
              <a:ext uri="{FF2B5EF4-FFF2-40B4-BE49-F238E27FC236}">
                <a16:creationId xmlns:a16="http://schemas.microsoft.com/office/drawing/2014/main" id="{F7B38A44-1096-4759-9066-1D235DD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富国与天弘的投研准备工作</a:t>
            </a:r>
          </a:p>
        </p:txBody>
      </p:sp>
      <p:sp>
        <p:nvSpPr>
          <p:cNvPr id="2" name="text-6w5g2o-时间为公司自报的整体流程效果，原">
            <a:extLst xmlns:a="http://schemas.openxmlformats.org/drawingml/2006/main">
              <a:ext uri="{FF2B5EF4-FFF2-40B4-BE49-F238E27FC236}">
                <a16:creationId xmlns:a16="http://schemas.microsoft.com/office/drawing/2014/main" id="{6278BF5D-F27A-4704-AAF7-F8E00167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时间为公司自报的整体流程效果，原文未给出统一任务对照与人工复核工时。</a:t>
            </a:r>
          </a:p>
        </p:txBody>
      </p:sp>
      <p:sp>
        <p:nvSpPr>
          <p:cNvPr id="3" name="text-6w5g2o-05">
            <a:extLst xmlns:a="http://schemas.openxmlformats.org/drawingml/2006/main">
              <a:ext uri="{FF2B5EF4-FFF2-40B4-BE49-F238E27FC236}">
                <a16:creationId xmlns:a16="http://schemas.microsoft.com/office/drawing/2014/main" id="{3BD742F7-1DBA-427F-9D3C-36CEDA3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71625"/>
                <a:gridCol w="5667375"/>
                <a:gridCol w="3733800"/>
              </a:tblGrid>
              <a:tr h="9048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具体处理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公司报告的时间变化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筛选相关研报，分项归纳后形成市场观点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一周以上缩短至3小时以内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天弘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拆解消费企业利润增长，</a:t>
                      </a:r>
                    </a:p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分析销量、价格和原材料等因素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数日缩短至分钟级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w5g2o-两家公司都把模型放进了研究准备的">
            <a:extLst xmlns:a="http://schemas.openxmlformats.org/drawingml/2006/main">
              <a:ext uri="{FF2B5EF4-FFF2-40B4-BE49-F238E27FC236}">
                <a16:creationId xmlns:a16="http://schemas.microsoft.com/office/drawing/2014/main" id="{FE677E98-6E04-40E7-B70C-7DBE033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两家公司都把模型放进了研究准备的具体步骤。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整理后的结果仍需核对数字、来源和关键假设。</a:t>
            </a:r>
          </a:p>
        </p:txBody>
      </p:sp>
    </p:spTree>
    <p:extLst>
      <p:ext uri="{BB962C8B-B14F-4D97-AF65-F5344CB8AC3E}">
        <p14:creationId xmlns:p14="http://schemas.microsoft.com/office/powerpoint/2010/main" val="186547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duilk5-南方怎样处理自然语言查询">
            <a:extLst xmlns:a="http://schemas.openxmlformats.org/drawingml/2006/main">
              <a:ext uri="{FF2B5EF4-FFF2-40B4-BE49-F238E27FC236}">
                <a16:creationId xmlns:a16="http://schemas.microsoft.com/office/drawing/2014/main" id="{EC884946-1A64-4529-A5BE-BD1D6AC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南方怎样处理自然语言查询</a:t>
            </a:r>
          </a:p>
        </p:txBody>
      </p:sp>
      <p:sp>
        <p:nvSpPr>
          <p:cNvPr id="2" name="text-duilk5-说明性问题：截至6月末，按行业汇">
            <a:extLst xmlns:a="http://schemas.openxmlformats.org/drawingml/2006/main">
              <a:ext uri="{FF2B5EF4-FFF2-40B4-BE49-F238E27FC236}">
                <a16:creationId xmlns:a16="http://schemas.microsoft.com/office/drawing/2014/main" id="{5EDA169C-7935-46C7-96B9-9F6062C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说明性问题：截至6月末，按行业汇总指定评级和期限信用债的存续余额</a:t>
            </a:r>
          </a:p>
        </p:txBody>
      </p:sp>
      <p:sp>
        <p:nvSpPr>
          <p:cNvPr id="3" name="text-duilk5-小喃整套交易助理自报日均操作耗时">
            <a:extLst xmlns:a="http://schemas.openxmlformats.org/drawingml/2006/main">
              <a:ext uri="{FF2B5EF4-FFF2-40B4-BE49-F238E27FC236}">
                <a16:creationId xmlns:a16="http://schemas.microsoft.com/office/drawing/2014/main" id="{3E56D239-554E-4CF7-B894-CD94136E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小喃整套交易助理自报日均操作耗时降低约40%，查询子流程的单独效果未披露。</a:t>
            </a:r>
          </a:p>
        </p:txBody>
      </p:sp>
      <p:sp>
        <p:nvSpPr>
          <p:cNvPr id="4" name="text-duilk5-06">
            <a:extLst xmlns:a="http://schemas.openxmlformats.org/drawingml/2006/main">
              <a:ext uri="{FF2B5EF4-FFF2-40B4-BE49-F238E27FC236}">
                <a16:creationId xmlns:a16="http://schemas.microsoft.com/office/drawing/2014/main" id="{A9859138-27F8-4BF7-AD70-72BE3A5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52650"/>
                <a:gridCol w="88201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环节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需要完成的工作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理解问题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识别统计日、评级口径、剩余期限和汇总方式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形成查询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选择获准的数据表，按模板生成SQL查询语句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程序检查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核对权限、语法和执行计划，再由数据库返回结果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研究员复核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检查统计口径、缺失和重复记录，与人工答案比较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537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ns0jga-数据查询的两种实现">
            <a:extLst xmlns:a="http://schemas.openxmlformats.org/drawingml/2006/main">
              <a:ext uri="{FF2B5EF4-FFF2-40B4-BE49-F238E27FC236}">
                <a16:creationId xmlns:a16="http://schemas.microsoft.com/office/drawing/2014/main" id="{F0C96F7D-D92C-4CED-9C91-5FF2BCB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数据查询的两种实现</a:t>
            </a:r>
          </a:p>
        </p:txBody>
      </p:sp>
      <p:sp>
        <p:nvSpPr>
          <p:cNvPr id="2" name="text-ns0jga-Index-Hub公开的是客户端">
            <a:extLst xmlns:a="http://schemas.openxmlformats.org/drawingml/2006/main">
              <a:ext uri="{FF2B5EF4-FFF2-40B4-BE49-F238E27FC236}">
                <a16:creationId xmlns:a16="http://schemas.microsoft.com/office/drawing/2014/main" id="{FF1E894F-19C6-4604-A23D-BE6A075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Index-Hub公开的是客户端。内部模型、数据服务端和生产配置没有完整公开。</a:t>
            </a:r>
          </a:p>
        </p:txBody>
      </p:sp>
      <p:sp>
        <p:nvSpPr>
          <p:cNvPr id="3" name="text-ns0jga-07">
            <a:extLst xmlns:a="http://schemas.openxmlformats.org/drawingml/2006/main">
              <a:ext uri="{FF2B5EF4-FFF2-40B4-BE49-F238E27FC236}">
                <a16:creationId xmlns:a16="http://schemas.microsoft.com/office/drawing/2014/main" id="{69A0A96E-1CA7-48B0-97C4-86E42CB7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4533900"/>
                <a:gridCol w="453390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南方的受限SQL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易方达Index-Hub接口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模型的工作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选表并生成关联、筛选和汇总语句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选择已有接口并填写参数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适合的问题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需要灵活组合字段与统计口径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少量固定接口能覆盖的高频问题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主要准备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数据字典、只读权限和标准答案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接口说明、访问授权、字段单位和错误处理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ns0jga-已有稳定接口时，可以先验证少量高">
            <a:extLst xmlns:a="http://schemas.openxmlformats.org/drawingml/2006/main">
              <a:ext uri="{FF2B5EF4-FFF2-40B4-BE49-F238E27FC236}">
                <a16:creationId xmlns:a16="http://schemas.microsoft.com/office/drawing/2014/main" id="{088F8F0B-FD20-46E9-B589-4FB8C0E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已有稳定接口时，可以先验证少量高频问题。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确需灵活统计时，再考虑受限SQL。</a:t>
            </a:r>
          </a:p>
        </p:txBody>
      </p:sp>
    </p:spTree>
    <p:extLst>
      <p:ext uri="{BB962C8B-B14F-4D97-AF65-F5344CB8AC3E}">
        <p14:creationId xmlns:p14="http://schemas.microsoft.com/office/powerpoint/2010/main" val="1007965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bqdc0-鹏华的营销材料审核">
            <a:extLst xmlns:a="http://schemas.openxmlformats.org/drawingml/2006/main">
              <a:ext uri="{FF2B5EF4-FFF2-40B4-BE49-F238E27FC236}">
                <a16:creationId xmlns:a16="http://schemas.microsoft.com/office/drawing/2014/main" id="{A829FBDD-8769-4D5B-81E2-F05F9F5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鹏华的营销材料审核</a:t>
            </a:r>
          </a:p>
        </p:txBody>
      </p:sp>
      <p:sp>
        <p:nvSpPr>
          <p:cNvPr id="2" name="text-3bqdc0-91%衡量修改建议的采纳。原文未">
            <a:extLst xmlns:a="http://schemas.openxmlformats.org/drawingml/2006/main">
              <a:ext uri="{FF2B5EF4-FFF2-40B4-BE49-F238E27FC236}">
                <a16:creationId xmlns:a16="http://schemas.microsoft.com/office/drawing/2014/main" id="{2983F0D2-5E34-40A8-A6B9-D92A483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91%衡量修改建议的采纳。原文未披露完整违规标注集和漏检统计。</a:t>
            </a:r>
          </a:p>
        </p:txBody>
      </p:sp>
      <p:sp>
        <p:nvSpPr>
          <p:cNvPr id="3" name="text-3bqdc0-08">
            <a:extLst xmlns:a="http://schemas.openxmlformats.org/drawingml/2006/main">
              <a:ext uri="{FF2B5EF4-FFF2-40B4-BE49-F238E27FC236}">
                <a16:creationId xmlns:a16="http://schemas.microsoft.com/office/drawing/2014/main" id="{CAAC49FE-F3FB-4B57-B7F0-1390B6B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sp>
        <p:nvSpPr>
          <p:cNvPr id="4" name="text-3bqdc0-7类、71项规则与大模型共同检查">
            <a:extLst xmlns:a="http://schemas.openxmlformats.org/drawingml/2006/main">
              <a:ext uri="{FF2B5EF4-FFF2-40B4-BE49-F238E27FC236}">
                <a16:creationId xmlns:a16="http://schemas.microsoft.com/office/drawing/2014/main" id="{F221C787-FFE3-4CD4-B708-9951EC2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7类、71项规则与大模型共同检查材料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505075"/>
          <a:ext xmlns:a="http://schemas.openxmlformats.org/drawingml/2006/main" cx="676275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2238375"/>
              </a:tblGrid>
              <a:tr h="62293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公司披露的使用记录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数量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累计审核文件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1,266篇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执行信息审核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近6万项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提出有效修改建议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989条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最新建议采纳率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91%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3bqdc0-检查风险提示、产品事实、&#10;业绩宣">
            <a:extLst xmlns:a="http://schemas.openxmlformats.org/drawingml/2006/main">
              <a:ext uri="{FF2B5EF4-FFF2-40B4-BE49-F238E27FC236}">
                <a16:creationId xmlns:a16="http://schemas.microsoft.com/office/drawing/2014/main" id="{1C5FA883-7336-438B-B762-778436A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3562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检查风险提示、产品事实、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业绩宣传和禁止性表达。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合规人员复核疑点，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并作出发布决定。</a:t>
            </a:r>
          </a:p>
        </p:txBody>
      </p:sp>
    </p:spTree>
    <p:extLst>
      <p:ext uri="{BB962C8B-B14F-4D97-AF65-F5344CB8AC3E}">
        <p14:creationId xmlns:p14="http://schemas.microsoft.com/office/powerpoint/2010/main" val="499923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qclqnp-知识问答和审核需要不同的检验">
            <a:extLst xmlns:a="http://schemas.openxmlformats.org/drawingml/2006/main">
              <a:ext uri="{FF2B5EF4-FFF2-40B4-BE49-F238E27FC236}">
                <a16:creationId xmlns:a16="http://schemas.microsoft.com/office/drawing/2014/main" id="{B85B45AF-9CA5-4FC3-9C00-929BB33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知识问答和审核需要不同的检验</a:t>
            </a:r>
          </a:p>
        </p:txBody>
      </p:sp>
      <p:sp>
        <p:nvSpPr>
          <p:cNvPr id="2" name="text-qclqnp-汇添富将风险邮件提取、投资条款问">
            <a:extLst xmlns:a="http://schemas.openxmlformats.org/drawingml/2006/main">
              <a:ext uri="{FF2B5EF4-FFF2-40B4-BE49-F238E27FC236}">
                <a16:creationId xmlns:a16="http://schemas.microsoft.com/office/drawing/2014/main" id="{0B8E91D6-4784-4FB2-B930-F30E967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汇添富将风险邮件提取、投资条款问答接入已有风险管理平台</a:t>
            </a:r>
          </a:p>
        </p:txBody>
      </p:sp>
      <p:sp>
        <p:nvSpPr>
          <p:cNvPr id="3" name="text-qclqnp-09">
            <a:extLst xmlns:a="http://schemas.openxmlformats.org/drawingml/2006/main">
              <a:ext uri="{FF2B5EF4-FFF2-40B4-BE49-F238E27FC236}">
                <a16:creationId xmlns:a16="http://schemas.microsoft.com/office/drawing/2014/main" id="{3D6BEC54-53FC-4BB1-9D1A-4283E6C5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57375"/>
                <a:gridCol w="4552950"/>
                <a:gridCol w="4562475"/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知识问答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材料审核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需要的输出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答案与适用原文，保留资料版本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疑点位置、相关规则和修改建议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常见问题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遗漏例外、使用旧资料，或回答超出原文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漏过隐含承诺，也可能误报正常表达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怎样看效果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引用支持情况与获得答案的耗时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漏检、误报、复核与返工耗时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qclqnp-模型处理文字，已有数据与规则系统">
            <a:extLst xmlns:a="http://schemas.openxmlformats.org/drawingml/2006/main">
              <a:ext uri="{FF2B5EF4-FFF2-40B4-BE49-F238E27FC236}">
                <a16:creationId xmlns:a16="http://schemas.microsoft.com/office/drawing/2014/main" id="{0262707A-28FE-4D74-888E-7314CEB0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模型处理文字，已有数据与规则系统继续承担计算和控制。</a:t>
            </a:r>
          </a:p>
        </p:txBody>
      </p:sp>
    </p:spTree>
    <p:extLst>
      <p:ext uri="{BB962C8B-B14F-4D97-AF65-F5344CB8AC3E}">
        <p14:creationId xmlns:p14="http://schemas.microsoft.com/office/powerpoint/2010/main" val="1112825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urddp5-国内基金的LLM量化披露">
            <a:extLst xmlns:a="http://schemas.openxmlformats.org/drawingml/2006/main">
              <a:ext uri="{FF2B5EF4-FFF2-40B4-BE49-F238E27FC236}">
                <a16:creationId xmlns:a16="http://schemas.microsoft.com/office/drawing/2014/main" id="{717BB4D8-4EFE-46A8-82C0-C953E65A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国内基金的LLM量化披露</a:t>
            </a:r>
          </a:p>
        </p:txBody>
      </p:sp>
      <p:sp>
        <p:nvSpPr>
          <p:cNvPr id="2" name="text-urddp5-这些资料定位了LLM参与的环节，">
            <a:extLst xmlns:a="http://schemas.openxmlformats.org/drawingml/2006/main">
              <a:ext uri="{FF2B5EF4-FFF2-40B4-BE49-F238E27FC236}">
                <a16:creationId xmlns:a16="http://schemas.microsoft.com/office/drawing/2014/main" id="{FD950589-340C-4B2D-8EE9-AB56B5B1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这些资料定位了LLM参与的环节，尚不足以恢复完整策略或比较实盘业绩。</a:t>
            </a:r>
          </a:p>
        </p:txBody>
      </p:sp>
      <p:sp>
        <p:nvSpPr>
          <p:cNvPr id="3" name="text-urddp5-10">
            <a:extLst xmlns:a="http://schemas.openxmlformats.org/drawingml/2006/main">
              <a:ext uri="{FF2B5EF4-FFF2-40B4-BE49-F238E27FC236}">
                <a16:creationId xmlns:a16="http://schemas.microsoft.com/office/drawing/2014/main" id="{2EBC1E87-1C9B-4832-8740-C1775272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953000"/>
                <a:gridCol w="4400550"/>
              </a:tblGrid>
              <a:tr h="909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已经介绍的工作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尚缺的关键细节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从舆情提取政策敏感度因子，辅助评价既有因子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因子定义、时间对齐和独立贡献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广发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从非结构化数据中挖掘另类因子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文本处理规则、模型与完整回测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华泰柏瑞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结构化公告、纪要与舆情，结合量化信号做组合诊断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模型与具体因子。自主回测Agent仍是展望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24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sqo3n5-公告事件怎样形成研究变量">
            <a:extLst xmlns:a="http://schemas.openxmlformats.org/drawingml/2006/main">
              <a:ext uri="{FF2B5EF4-FFF2-40B4-BE49-F238E27FC236}">
                <a16:creationId xmlns:a16="http://schemas.microsoft.com/office/drawing/2014/main" id="{3C38ECA6-7309-4209-9DF3-AD8DE984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公告事件怎样形成研究变量</a:t>
            </a:r>
          </a:p>
        </p:txBody>
      </p:sp>
      <p:sp>
        <p:nvSpPr>
          <p:cNvPr id="2" name="text-sqo3n5-说明性例子：T日收盘后发布扩产计">
            <a:extLst xmlns:a="http://schemas.openxmlformats.org/drawingml/2006/main">
              <a:ext uri="{FF2B5EF4-FFF2-40B4-BE49-F238E27FC236}">
                <a16:creationId xmlns:a16="http://schemas.microsoft.com/office/drawing/2014/main" id="{673B83B9-0BE0-4323-8FEA-2E2D1E9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说明性例子：T日收盘后发布扩产计划，年产能拟由10万吨增至15万吨</a:t>
            </a:r>
          </a:p>
        </p:txBody>
      </p:sp>
      <p:sp>
        <p:nvSpPr>
          <p:cNvPr id="3" name="text-sqo3n5-11">
            <a:extLst xmlns:a="http://schemas.openxmlformats.org/drawingml/2006/main">
              <a:ext uri="{FF2B5EF4-FFF2-40B4-BE49-F238E27FC236}">
                <a16:creationId xmlns:a16="http://schemas.microsoft.com/office/drawing/2014/main" id="{12261C52-CE3F-4A04-B9D0-2681861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3242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829550"/>
              </a:tblGrid>
              <a:tr h="66484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从原文保留的信息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如何进入研究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事件与状态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记录为“拟扩产、待审批”，与实际投产分开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产能与单位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保留10万吨和15万吨，程序计算计划增幅50%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原文与发布时间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匹配证券并去重，记录首次可得时间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后续检验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比较未来收益、风险或盈利预期变化，控制已有暴露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sqo3n5-T日收盘后的消息不能用于当天收盘">
            <a:extLst xmlns:a="http://schemas.openxmlformats.org/drawingml/2006/main">
              <a:ext uri="{FF2B5EF4-FFF2-40B4-BE49-F238E27FC236}">
                <a16:creationId xmlns:a16="http://schemas.microsoft.com/office/drawing/2014/main" id="{8974A564-6B74-4645-BCCE-C1E4B18C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T日收盘后的消息不能用于当天收盘前的决策。</a:t>
            </a:r>
          </a:p>
        </p:txBody>
      </p:sp>
    </p:spTree>
    <p:extLst>
      <p:ext uri="{BB962C8B-B14F-4D97-AF65-F5344CB8AC3E}">
        <p14:creationId xmlns:p14="http://schemas.microsoft.com/office/powerpoint/2010/main" val="1038109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z7ugyr-AlphaTrend的三类研究实">
            <a:extLst xmlns:a="http://schemas.openxmlformats.org/drawingml/2006/main">
              <a:ext uri="{FF2B5EF4-FFF2-40B4-BE49-F238E27FC236}">
                <a16:creationId xmlns:a16="http://schemas.microsoft.com/office/drawing/2014/main" id="{FDFCD71A-655A-41DB-818A-19FF8F9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AlphaTrend的三类研究实验</a:t>
            </a:r>
          </a:p>
        </p:txBody>
      </p:sp>
      <p:sp>
        <p:nvSpPr>
          <p:cNvPr id="2" name="text-z7ugyr-Man AHL用预期有效、较差和">
            <a:extLst xmlns:a="http://schemas.openxmlformats.org/drawingml/2006/main">
              <a:ext uri="{FF2B5EF4-FFF2-40B4-BE49-F238E27FC236}">
                <a16:creationId xmlns:a16="http://schemas.microsoft.com/office/drawing/2014/main" id="{6371CD9D-7784-4D8E-A63E-E776592F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Man AHL用预期有效、较差和不确定的想法检验同一个研究流程</a:t>
            </a:r>
          </a:p>
        </p:txBody>
      </p:sp>
      <p:sp>
        <p:nvSpPr>
          <p:cNvPr id="3" name="text-z7ugyr-Sharpe为原文所述约值。作者">
            <a:extLst xmlns:a="http://schemas.openxmlformats.org/drawingml/2006/main">
              <a:ext uri="{FF2B5EF4-FFF2-40B4-BE49-F238E27FC236}">
                <a16:creationId xmlns:a16="http://schemas.microsoft.com/office/drawing/2014/main" id="{BE318DA2-64BA-4E2E-B2FC-52723FB0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Sharpe为原文所述约值。作者模拟展示，基准经过有意简化。</a:t>
            </a:r>
          </a:p>
        </p:txBody>
      </p:sp>
      <p:sp>
        <p:nvSpPr>
          <p:cNvPr id="4" name="text-z7ugyr-12">
            <a:extLst xmlns:a="http://schemas.openxmlformats.org/drawingml/2006/main">
              <a:ext uri="{FF2B5EF4-FFF2-40B4-BE49-F238E27FC236}">
                <a16:creationId xmlns:a16="http://schemas.microsoft.com/office/drawing/2014/main" id="{9BAD4823-9C5E-4DC5-9C30-C47C84D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50f1e76d504501"/>
          </a:graphicData>
        </a:graphic>
      </p:graphicFrame>
      <p:sp>
        <p:nvSpPr>
          <p:cNvPr id="6" name="text-z7ugyr-恢复机制改善表现。&#10;峰谷方案落后">
            <a:extLst xmlns:a="http://schemas.openxmlformats.org/drawingml/2006/main">
              <a:ext uri="{FF2B5EF4-FFF2-40B4-BE49-F238E27FC236}">
                <a16:creationId xmlns:a16="http://schemas.microsoft.com/office/drawing/2014/main" id="{C57A179A-5BBC-4829-9B30-99AB2FC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05075"/>
            <a:ext cx="2724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恢复机制改善表现。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峰谷方案落后。</a:t>
            </a:r>
          </a:p>
        </p:txBody>
      </p:sp>
      <p:sp>
        <p:nvSpPr>
          <p:cNvPr id="7" name="text-z7ugyr-开放探索约为&#10;0.70至1.00">
            <a:extLst xmlns:a="http://schemas.openxmlformats.org/drawingml/2006/main">
              <a:ext uri="{FF2B5EF4-FFF2-40B4-BE49-F238E27FC236}">
                <a16:creationId xmlns:a16="http://schemas.microsoft.com/office/drawing/2014/main" id="{57324B61-978A-4BAD-8F0C-B2371A2F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38625"/>
            <a:ext cx="272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开放探索约为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0.70至1.00，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表现随时期变化。</a:t>
            </a:r>
          </a:p>
        </p:txBody>
      </p:sp>
    </p:spTree>
    <p:extLst>
      <p:ext uri="{BB962C8B-B14F-4D97-AF65-F5344CB8AC3E}">
        <p14:creationId xmlns:p14="http://schemas.microsoft.com/office/powerpoint/2010/main" val="104433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872z8-QuantaAlpha的因子修改">
            <a:extLst xmlns:a="http://schemas.openxmlformats.org/drawingml/2006/main">
              <a:ext uri="{FF2B5EF4-FFF2-40B4-BE49-F238E27FC236}">
                <a16:creationId xmlns:a16="http://schemas.microsoft.com/office/drawing/2014/main" id="{CC278143-4E54-45F4-A72A-BDF6D92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QuantaAlpha的因子修改案例</a:t>
            </a:r>
          </a:p>
        </p:txBody>
      </p:sp>
      <p:sp>
        <p:nvSpPr>
          <p:cNvPr id="2" name="text-v872z8-原作者附录C：价量因子的相关性改">
            <a:extLst xmlns:a="http://schemas.openxmlformats.org/drawingml/2006/main">
              <a:ext uri="{FF2B5EF4-FFF2-40B4-BE49-F238E27FC236}">
                <a16:creationId xmlns:a16="http://schemas.microsoft.com/office/drawing/2014/main" id="{57068B06-7FCA-4A6C-A5B4-C0F87B2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原作者附录C：价量因子的相关性改善，组合风险却上升</a:t>
            </a:r>
          </a:p>
        </p:txBody>
      </p:sp>
      <p:sp>
        <p:nvSpPr>
          <p:cNvPr id="3" name="text-v872z8-案例未报告下一次修改完成后的结果">
            <a:extLst xmlns:a="http://schemas.openxmlformats.org/drawingml/2006/main">
              <a:ext uri="{FF2B5EF4-FFF2-40B4-BE49-F238E27FC236}">
                <a16:creationId xmlns:a16="http://schemas.microsoft.com/office/drawing/2014/main" id="{09E455DA-27AE-4A02-B383-49B87E3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案例未报告下一次修改完成后的结果。它与总体实验的轮次、换手和成本口径也有差异。</a:t>
            </a:r>
          </a:p>
        </p:txBody>
      </p:sp>
      <p:sp>
        <p:nvSpPr>
          <p:cNvPr id="4" name="text-v872z8-13">
            <a:extLst xmlns:a="http://schemas.openxmlformats.org/drawingml/2006/main">
              <a:ext uri="{FF2B5EF4-FFF2-40B4-BE49-F238E27FC236}">
                <a16:creationId xmlns:a16="http://schemas.microsoft.com/office/drawing/2014/main" id="{089EE00D-7D4A-4876-96E7-8CF3C4D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sp>
        <p:nvSpPr>
          <p:cNvPr id="5" name="text-v872z8-系统提出两类动量互补的假设，实际">
            <a:extLst xmlns:a="http://schemas.openxmlformats.org/drawingml/2006/main">
              <a:ext uri="{FF2B5EF4-FFF2-40B4-BE49-F238E27FC236}">
                <a16:creationId xmlns:a16="http://schemas.microsoft.com/office/drawing/2014/main" id="{28DFED90-1326-43E0-9D32-AE862F0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系统提出两类动量互补的假设，实际生成价量因子，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再根据回测反馈提出修改。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09925"/>
          <a:ext xmlns:a="http://schemas.openxmlformats.org/drawingml/2006/main" cx="10972800" cy="1914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3057525"/>
                <a:gridCol w="3057525"/>
              </a:tblGrid>
              <a:tr h="6381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案例基准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子因子结果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信息比率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0.973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0.963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超额收益最大回撤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约7.30%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11.37%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v872z8-反馈拒绝直接采用，并建议补入波动">
            <a:extLst xmlns:a="http://schemas.openxmlformats.org/drawingml/2006/main">
              <a:ext uri="{FF2B5EF4-FFF2-40B4-BE49-F238E27FC236}">
                <a16:creationId xmlns:a16="http://schemas.microsoft.com/office/drawing/2014/main" id="{9C1F8275-D125-4121-87DF-FEFD8EF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反馈拒绝直接采用，并建议补入波动状态后重新检验。</a:t>
            </a:r>
          </a:p>
        </p:txBody>
      </p:sp>
    </p:spTree>
    <p:extLst>
      <p:ext uri="{BB962C8B-B14F-4D97-AF65-F5344CB8AC3E}">
        <p14:creationId xmlns:p14="http://schemas.microsoft.com/office/powerpoint/2010/main" val="758103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zmvacm-QuantaAlpha的总体实验">
            <a:extLst xmlns:a="http://schemas.openxmlformats.org/drawingml/2006/main">
              <a:ext uri="{FF2B5EF4-FFF2-40B4-BE49-F238E27FC236}">
                <a16:creationId xmlns:a16="http://schemas.microsoft.com/office/drawing/2014/main" id="{F0596DD2-8AA0-43C0-AA7F-0D26F4C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QuantaAlpha的总体实验</a:t>
            </a:r>
          </a:p>
        </p:txBody>
      </p:sp>
      <p:sp>
        <p:nvSpPr>
          <p:cNvPr id="2" name="text-zmvacm-同用GPT-5.2，比较三个LL">
            <a:extLst xmlns:a="http://schemas.openxmlformats.org/drawingml/2006/main">
              <a:ext uri="{FF2B5EF4-FFF2-40B4-BE49-F238E27FC236}">
                <a16:creationId xmlns:a16="http://schemas.microsoft.com/office/drawing/2014/main" id="{300D9CC5-2078-4C6F-9E73-C54FD30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同用GPT-5.2，比较三个LLM因子框架的IC</a:t>
            </a:r>
          </a:p>
        </p:txBody>
      </p:sp>
      <p:sp>
        <p:nvSpPr>
          <p:cNvPr id="3" name="text-zmvacm-原作者结果，尚未独立复现。沪深3">
            <a:extLst xmlns:a="http://schemas.openxmlformats.org/drawingml/2006/main">
              <a:ext uri="{FF2B5EF4-FFF2-40B4-BE49-F238E27FC236}">
                <a16:creationId xmlns:a16="http://schemas.microsoft.com/office/drawing/2014/main" id="{2B9B0153-FE1B-4230-B551-A9907AE5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原作者结果，尚未独立复现。沪深300，2022年至2025年12月26日。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约150个因子由同一LightGBM模型评价。</a:t>
            </a:r>
          </a:p>
        </p:txBody>
      </p:sp>
      <p:sp>
        <p:nvSpPr>
          <p:cNvPr id="4" name="text-zmvacm-14">
            <a:extLst xmlns:a="http://schemas.openxmlformats.org/drawingml/2006/main">
              <a:ext uri="{FF2B5EF4-FFF2-40B4-BE49-F238E27FC236}">
                <a16:creationId xmlns:a16="http://schemas.microsoft.com/office/drawing/2014/main" id="{2DBAE5A5-06A8-477E-B596-90D4BCE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1628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79275dbdae4211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8172450" y="2362200"/>
          <a:ext xmlns:a="http://schemas.openxmlformats.org/drawingml/2006/main" cx="337185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1419225"/>
              </a:tblGrid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框架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年化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超额收益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RD-Agent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3.58%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AlphaAgent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1.11%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QuantaAlpha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4.68%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8654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sp3os-模型服务与研究框架可以分别验证">
            <a:extLst xmlns:a="http://schemas.openxmlformats.org/drawingml/2006/main">
              <a:ext uri="{FF2B5EF4-FFF2-40B4-BE49-F238E27FC236}">
                <a16:creationId xmlns:a16="http://schemas.microsoft.com/office/drawing/2014/main" id="{A5EAB78D-0D09-42F9-AFD7-F5F37C4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模型服务与研究框架可以分别验证</a:t>
            </a:r>
          </a:p>
        </p:txBody>
      </p:sp>
      <p:sp>
        <p:nvSpPr>
          <p:cNvPr id="2" name="text-7sp3os-15">
            <a:extLst xmlns:a="http://schemas.openxmlformats.org/drawingml/2006/main">
              <a:ext uri="{FF2B5EF4-FFF2-40B4-BE49-F238E27FC236}">
                <a16:creationId xmlns:a16="http://schemas.microsoft.com/office/drawing/2014/main" id="{BD1CA79B-B155-4049-BCF4-EB13141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276725"/>
                <a:gridCol w="4267200"/>
              </a:tblGrid>
              <a:tr h="8620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比较对象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保持一致的部分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需要观察的差异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本地与API模型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相同资料、任务、提示词和工具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答案质量、工具调用、响应时间与资源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研究工作流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固定的数据读取、代码检查和回测规则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失败步骤和人工修正工作量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持续使用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明确版本与结果记录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更新后标签、代码和结论是否改变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sp3os-API案例中的任务设计可以借鉴，">
            <a:extLst xmlns:a="http://schemas.openxmlformats.org/drawingml/2006/main">
              <a:ext uri="{FF2B5EF4-FFF2-40B4-BE49-F238E27FC236}">
                <a16:creationId xmlns:a16="http://schemas.microsoft.com/office/drawing/2014/main" id="{BF00E24C-473D-4FE9-9DD6-75A954D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API案例中的任务设计可以借鉴，本地替换后的效果需要实测。</a:t>
            </a:r>
          </a:p>
        </p:txBody>
      </p:sp>
    </p:spTree>
    <p:extLst>
      <p:ext uri="{BB962C8B-B14F-4D97-AF65-F5344CB8AC3E}">
        <p14:creationId xmlns:p14="http://schemas.microsoft.com/office/powerpoint/2010/main" val="2091665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pmketg-合规要求对应用设计的影响">
            <a:extLst xmlns:a="http://schemas.openxmlformats.org/drawingml/2006/main">
              <a:ext uri="{FF2B5EF4-FFF2-40B4-BE49-F238E27FC236}">
                <a16:creationId xmlns:a16="http://schemas.microsoft.com/office/drawing/2014/main" id="{2B24C1EB-489C-4C76-BE24-6960488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合规要求对应用设计的影响</a:t>
            </a:r>
          </a:p>
        </p:txBody>
      </p:sp>
      <p:sp>
        <p:nvSpPr>
          <p:cNvPr id="2" name="text-pmketg-公开文件提供研究依据。机构内">
            <a:extLst xmlns:a="http://schemas.openxmlformats.org/drawingml/2006/main">
              <a:ext uri="{FF2B5EF4-FFF2-40B4-BE49-F238E27FC236}">
                <a16:creationId xmlns:a16="http://schemas.microsoft.com/office/drawing/2014/main" id="{3C97F5AB-3856-4A09-B0EE-F1795A3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公开文件提供研究依据。</a:t>
            </a: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机构</a:t>
            </a: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内部制度、COD条件和具体用例分类仍需确认。</a:t>
            </a:r>
          </a:p>
        </p:txBody>
      </p:sp>
      <p:sp>
        <p:nvSpPr>
          <p:cNvPr id="3" name="text-pmketg-16">
            <a:extLst xmlns:a="http://schemas.openxmlformats.org/drawingml/2006/main">
              <a:ext uri="{FF2B5EF4-FFF2-40B4-BE49-F238E27FC236}">
                <a16:creationId xmlns:a16="http://schemas.microsoft.com/office/drawing/2014/main" id="{3F263113-949A-4E84-B79C-89005A8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714750"/>
                <a:gridCol w="4495800"/>
              </a:tblGrid>
              <a:tr h="8739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关注的问题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相关依据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对实施的影响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哪些资料可以使用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个人信息保护法、数据安全法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确认使用依据、资料权限、保存与外部处理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输出将用于什么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内部MRM制度</a:t>
                      </a:r>
                    </a:p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行业评测参考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记录用途、负责人、检验方法和版本变化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谁承担运行责任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证券基金信息技术管理办法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核对系统重要性、供应商职责和替换安排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2824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gmnx8m-数据和服务范围需要在原型阶段明确">
            <a:extLst xmlns:a="http://schemas.openxmlformats.org/drawingml/2006/main">
              <a:ext uri="{FF2B5EF4-FFF2-40B4-BE49-F238E27FC236}">
                <a16:creationId xmlns:a16="http://schemas.microsoft.com/office/drawing/2014/main" id="{1D10B7E3-5CA3-41FB-A4C2-FB4B1BD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数据和服务范围需要在原型阶段明确</a:t>
            </a:r>
          </a:p>
        </p:txBody>
      </p:sp>
      <p:sp>
        <p:nvSpPr>
          <p:cNvPr id="2" name="text-gmnx8m-17">
            <a:extLst xmlns:a="http://schemas.openxmlformats.org/drawingml/2006/main">
              <a:ext uri="{FF2B5EF4-FFF2-40B4-BE49-F238E27FC236}">
                <a16:creationId xmlns:a16="http://schemas.microsoft.com/office/drawing/2014/main" id="{798E3B17-AE6E-47BD-97A3-F941E9A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05275"/>
                <a:gridCol w="6867525"/>
              </a:tblGrid>
              <a:tr h="80200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准备开展的工作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实施前需要确认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仅供内部研究的资料处理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服务对象、数据使用权与内部制度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接入内部研报和数据库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员工权限、有效版本、缓存与结果导出的范围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使用外部模型或辅助服务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处理地点、保存删除、供应商角色及可能的数据出境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面向客户或对外发布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重新判断服务与内容责任，并落实审核与发布安排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180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lo24fx-后续本地验证的初步选择">
            <a:extLst xmlns:a="http://schemas.openxmlformats.org/drawingml/2006/main">
              <a:ext uri="{FF2B5EF4-FFF2-40B4-BE49-F238E27FC236}">
                <a16:creationId xmlns:a16="http://schemas.microsoft.com/office/drawing/2014/main" id="{90731AF9-B5BA-4C8A-AF5C-0D9C0C5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后续本地验证的初步选择</a:t>
            </a:r>
          </a:p>
        </p:txBody>
      </p:sp>
      <p:sp>
        <p:nvSpPr>
          <p:cNvPr id="2" name="text-lo24fx-18">
            <a:extLst xmlns:a="http://schemas.openxmlformats.org/drawingml/2006/main">
              <a:ext uri="{FF2B5EF4-FFF2-40B4-BE49-F238E27FC236}">
                <a16:creationId xmlns:a16="http://schemas.microsoft.com/office/drawing/2014/main" id="{F875169C-C465-4FC5-89CB-2EC3B48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28900"/>
                <a:gridCol w="4095750"/>
                <a:gridCol w="42481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候选任务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适合启动的条件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先检验什么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公告事件提取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可以使用的公告样本与人工标注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字段、状态、时间和原文依据是否准确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只读数据查询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已有数据字典、稳定接口和访问权限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答案与统计口径是否正确，是否减少总查数时间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lo24fx-我倾向先选一个具体任务，取得可以">
            <a:extLst xmlns:a="http://schemas.openxmlformats.org/drawingml/2006/main">
              <a:ext uri="{FF2B5EF4-FFF2-40B4-BE49-F238E27FC236}">
                <a16:creationId xmlns:a16="http://schemas.microsoft.com/office/drawing/2014/main" id="{3CE36BC8-1CBD-4B85-A49D-89DA095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我倾向先选一个具体任务，取得可以自己复核的结果。</a:t>
            </a:r>
          </a:p>
        </p:txBody>
      </p:sp>
      <p:sp>
        <p:nvSpPr>
          <p:cNvPr id="5" name="text-lo24fx-按项目计划比较模型并完成本地部署">
            <a:extLst xmlns:a="http://schemas.openxmlformats.org/drawingml/2006/main">
              <a:ext uri="{FF2B5EF4-FFF2-40B4-BE49-F238E27FC236}">
                <a16:creationId xmlns:a16="http://schemas.microsoft.com/office/drawing/2014/main" id="{34D71BFF-32C1-454F-B0C1-753E5D97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按项目计划比较模型并完成本地部署，再决定下一步投入。</a:t>
            </a:r>
          </a:p>
        </p:txBody>
      </p:sp>
    </p:spTree>
    <p:extLst>
      <p:ext uri="{BB962C8B-B14F-4D97-AF65-F5344CB8AC3E}">
        <p14:creationId xmlns:p14="http://schemas.microsoft.com/office/powerpoint/2010/main" val="530862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yq8j03-附录A  公司调研汇总（1/3）">
            <a:extLst xmlns:a="http://schemas.openxmlformats.org/drawingml/2006/main">
              <a:ext uri="{FF2B5EF4-FFF2-40B4-BE49-F238E27FC236}">
                <a16:creationId xmlns:a16="http://schemas.microsoft.com/office/drawing/2014/main" id="{5965EA7C-00CF-4954-B10A-2C80F24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公司调研汇总（1/3）</a:t>
            </a:r>
          </a:p>
        </p:txBody>
      </p:sp>
      <p:sp>
        <p:nvSpPr>
          <p:cNvPr id="2" name="text-yq8j03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FB63AD57-8CB8-4C45-8174-7E74901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yq8j03-19">
            <a:extLst xmlns:a="http://schemas.openxmlformats.org/drawingml/2006/main">
              <a:ext uri="{FF2B5EF4-FFF2-40B4-BE49-F238E27FC236}">
                <a16:creationId xmlns:a16="http://schemas.microsoft.com/office/drawing/2014/main" id="{174A0CC6-BF43-4058-81CF-4BFD03C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易方达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17,029.86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指数研究和基金查询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指数平台、公开查询客户端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有高校联合研究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华夏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11,987.79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模型接入安全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2025年安全网关采购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北京世纪东凌中标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广发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10,355.25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智能理财与文本因子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协议提及DeepSeek、Qwen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实施分工未详述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9,889.56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市场观点、知识与文本因子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本地模型、检索与计算平台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公司介绍为自研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南方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7,856.35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交易助理与数据查询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选表、SQL及权限检查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模型和实施方未详述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汇添富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7,719.67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风险邮件和条款问答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LLM与已有规则平台配合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景顺长城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7,465.45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本地文档处理与检索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报道提到模型和检索组件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媒体未披露实施方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557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pejxaa-附录A  公司调研汇总（2/3）">
            <a:extLst xmlns:a="http://schemas.openxmlformats.org/drawingml/2006/main">
              <a:ext uri="{FF2B5EF4-FFF2-40B4-BE49-F238E27FC236}">
                <a16:creationId xmlns:a16="http://schemas.microsoft.com/office/drawing/2014/main" id="{D974E579-5820-485E-909E-00CA894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公司调研汇总（2/3）</a:t>
            </a:r>
          </a:p>
        </p:txBody>
      </p:sp>
      <p:sp>
        <p:nvSpPr>
          <p:cNvPr id="2" name="text-pejxaa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009FC90F-3BF2-4BA4-9019-DB36181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pejxaa-20">
            <a:extLst xmlns:a="http://schemas.openxmlformats.org/drawingml/2006/main">
              <a:ext uri="{FF2B5EF4-FFF2-40B4-BE49-F238E27FC236}">
                <a16:creationId xmlns:a16="http://schemas.microsoft.com/office/drawing/2014/main" id="{B37DFD2E-8FCB-4C2F-9376-47C4604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嘉实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6,911.96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ESG数据与研究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报告披露AI和文本处理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LLM具体范围待核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博时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6,386.18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数据和研究工具协作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内部模型、隔离运行与审计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报道未详述外部分工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鹏华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6,366.21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知识问答与营销审核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私有模型、提示词和规则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招商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6,276.62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个股分析与财报点评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多个工作流及信息提取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媒体未披露实施方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国泰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6,238.11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组合平台检索问答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昇腾与DeepSeek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另有传统文本处理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永赢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5,332.53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邮件反钓鱼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安全GPT邮件处理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工银瑞信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5,006.18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养老金运营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FundGPT研究服务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大模型平台及历史合作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恒生聚源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工银科技、智谱AI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9689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h2yy0x-附录A  公司调研汇总（3/3）">
            <a:extLst xmlns:a="http://schemas.openxmlformats.org/drawingml/2006/main">
              <a:ext uri="{FF2B5EF4-FFF2-40B4-BE49-F238E27FC236}">
                <a16:creationId xmlns:a16="http://schemas.microsoft.com/office/drawing/2014/main" id="{467E6198-8FB6-4817-9D94-476253EA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公司调研汇总（3/3）</a:t>
            </a:r>
          </a:p>
        </p:txBody>
      </p:sp>
      <p:sp>
        <p:nvSpPr>
          <p:cNvPr id="2" name="text-h2yy0x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491AF4AB-45B3-4869-A7ED-A0E7EDC6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h2yy0x-21">
            <a:extLst xmlns:a="http://schemas.openxmlformats.org/drawingml/2006/main">
              <a:ext uri="{FF2B5EF4-FFF2-40B4-BE49-F238E27FC236}">
                <a16:creationId xmlns:a16="http://schemas.microsoft.com/office/drawing/2014/main" id="{11B830D4-EE2C-4176-8BC0-D2F519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天弘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4,824.03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财务分析与工具调用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模型服务、检索及金融数据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Wind与同花顺工具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中欧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4,687.70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取数、建模与写作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报道提到100余项Skills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公众号转载媒体报道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华安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4,632.07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灵思知识与研究平台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2025案例，本地与API配合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华泰柏瑞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4,459.62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文本与量化信号结合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结构化处理和组合诊断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中国证券报采访材料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兴证全球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3,751.87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固收交易信息处理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文本提取与交易工具衔接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LLM具体范围待核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平安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3,447.69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AI青蚨研究资料整理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报道介绍检索与溯源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实施分工未详述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大成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补充案例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固收交易要素提取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Qwen2.5与交易系统衔接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7332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dqqb2h-附录B  MENTOR的行业排序">
            <a:extLst xmlns:a="http://schemas.openxmlformats.org/drawingml/2006/main">
              <a:ext uri="{FF2B5EF4-FFF2-40B4-BE49-F238E27FC236}">
                <a16:creationId xmlns:a16="http://schemas.microsoft.com/office/drawing/2014/main" id="{8115CCAF-26BD-4065-806D-0B90EAF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附录B  MENTOR的行业排序实验</a:t>
            </a:r>
          </a:p>
        </p:txBody>
      </p:sp>
      <p:sp>
        <p:nvSpPr>
          <p:cNvPr id="2" name="text-dqqb2h-易方达与高校共同作者的2025年">
            <a:extLst xmlns:a="http://schemas.openxmlformats.org/drawingml/2006/main">
              <a:ext uri="{FF2B5EF4-FFF2-40B4-BE49-F238E27FC236}">
                <a16:creationId xmlns:a16="http://schemas.microsoft.com/office/drawing/2014/main" id="{04B021E2-4786-4F8D-A70B-FDC22D9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易方达与高校共同作者的2025年研究，作为方法补充</a:t>
            </a:r>
          </a:p>
        </p:txBody>
      </p:sp>
      <p:sp>
        <p:nvSpPr>
          <p:cNvPr id="3" name="text-dqqb2h-Spearman衡量排序一致程度">
            <a:extLst xmlns:a="http://schemas.openxmlformats.org/drawingml/2006/main">
              <a:ext uri="{FF2B5EF4-FFF2-40B4-BE49-F238E27FC236}">
                <a16:creationId xmlns:a16="http://schemas.microsoft.com/office/drawing/2014/main" id="{81BEB9F7-A510-482A-ACE0-E036B69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Spearman衡量排序一致程度。原作者结果，完整版权数据与样本映射仍有复现条件。</a:t>
            </a:r>
          </a:p>
        </p:txBody>
      </p:sp>
      <p:sp>
        <p:nvSpPr>
          <p:cNvPr id="4" name="text-dqqb2h-22">
            <a:extLst xmlns:a="http://schemas.openxmlformats.org/drawingml/2006/main">
              <a:ext uri="{FF2B5EF4-FFF2-40B4-BE49-F238E27FC236}">
                <a16:creationId xmlns:a16="http://schemas.microsoft.com/office/drawing/2014/main" id="{9E0CF3A8-9B84-40A5-864E-C6A91C1B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48125"/>
                <a:gridCol w="2333625"/>
                <a:gridCol w="2333625"/>
                <a:gridCol w="2257425"/>
              </a:tblGrid>
              <a:tr h="64008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方法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美股11行业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Spearman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A股9行业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Spearman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A股前3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命中率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动量基线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0.159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0.444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SEP + DeepSeek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0.078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0.118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0.472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MENTOR + DeepSeek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0.220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0.141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0.488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MENTOR + O1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0.221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0.173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0.439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dqqb2h-排序相关性提高，并不保证最领先行">
            <a:extLst xmlns:a="http://schemas.openxmlformats.org/drawingml/2006/main">
              <a:ext uri="{FF2B5EF4-FFF2-40B4-BE49-F238E27FC236}">
                <a16:creationId xmlns:a16="http://schemas.microsoft.com/office/drawing/2014/main" id="{D0FF1564-E6CD-4C39-84BB-E2AED8E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排序相关性提高，并不保证最领先行业的命中率同步提高。</a:t>
            </a:r>
          </a:p>
        </p:txBody>
      </p:sp>
    </p:spTree>
    <p:extLst>
      <p:ext uri="{BB962C8B-B14F-4D97-AF65-F5344CB8AC3E}">
        <p14:creationId xmlns:p14="http://schemas.microsoft.com/office/powerpoint/2010/main" val="305183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w3spxa-附录C  AlphaTrend原">
            <a:extLst xmlns:a="http://schemas.openxmlformats.org/drawingml/2006/main">
              <a:ext uri="{FF2B5EF4-FFF2-40B4-BE49-F238E27FC236}">
                <a16:creationId xmlns:a16="http://schemas.microsoft.com/office/drawing/2014/main" id="{1A370421-4B51-4724-8227-83555DF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附录C  AlphaTrend原文研究流程</a:t>
            </a:r>
          </a:p>
        </p:txBody>
      </p:sp>
      <p:sp>
        <p:nvSpPr>
          <p:cNvPr id="2" name="text-w3spxa-来源：Man AHL，2026年">
            <a:extLst xmlns:a="http://schemas.openxmlformats.org/drawingml/2006/main">
              <a:ext uri="{FF2B5EF4-FFF2-40B4-BE49-F238E27FC236}">
                <a16:creationId xmlns:a16="http://schemas.microsoft.com/office/drawing/2014/main" id="{10863295-A926-40BD-A5DE-FDEE27B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来源：Man AHL，2026年2月11日。原始流程图按原比例展示。</a:t>
            </a:r>
          </a:p>
        </p:txBody>
      </p:sp>
      <p:sp>
        <p:nvSpPr>
          <p:cNvPr id="3" name="text-w3spxa-23">
            <a:extLst xmlns:a="http://schemas.openxmlformats.org/drawingml/2006/main">
              <a:ext uri="{FF2B5EF4-FFF2-40B4-BE49-F238E27FC236}">
                <a16:creationId xmlns:a16="http://schemas.microsoft.com/office/drawing/2014/main" id="{6F19ACD8-975C-440E-976F-4C54EF2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e3dcbf3e1456d"/>
          <a:stretch xmlns:a="http://schemas.openxmlformats.org/drawingml/2006/main"/>
        </p:blipFill>
        <p:spPr>
          <a:xfrm xmlns:a="http://schemas.openxmlformats.org/drawingml/2006/main">
            <a:off x="1880306" y="1333500"/>
            <a:ext cx="8431389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167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cmcpi-附录D  量化代码的验证">
            <a:extLst xmlns:a="http://schemas.openxmlformats.org/drawingml/2006/main">
              <a:ext uri="{FF2B5EF4-FFF2-40B4-BE49-F238E27FC236}">
                <a16:creationId xmlns:a16="http://schemas.microsoft.com/office/drawing/2014/main" id="{58A8C21B-D47B-4163-ACC8-949041B1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附录D  量化代码的验证</a:t>
            </a:r>
          </a:p>
        </p:txBody>
      </p:sp>
      <p:sp>
        <p:nvSpPr>
          <p:cNvPr id="2" name="text-8cmcpi-AlphaQT-Bench为AC">
            <a:extLst xmlns:a="http://schemas.openxmlformats.org/drawingml/2006/main">
              <a:ext uri="{FF2B5EF4-FFF2-40B4-BE49-F238E27FC236}">
                <a16:creationId xmlns:a16="http://schemas.microsoft.com/office/drawing/2014/main" id="{F7793F77-D97A-46B5-92A7-87F56B6B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AlphaQT-Bench为ACL 2026论文。比例仅对应论文中的270项任务和12个模型。</a:t>
            </a:r>
          </a:p>
        </p:txBody>
      </p:sp>
      <p:sp>
        <p:nvSpPr>
          <p:cNvPr id="3" name="text-8cmcpi-24">
            <a:extLst xmlns:a="http://schemas.openxmlformats.org/drawingml/2006/main">
              <a:ext uri="{FF2B5EF4-FFF2-40B4-BE49-F238E27FC236}">
                <a16:creationId xmlns:a16="http://schemas.microsoft.com/office/drawing/2014/main" id="{064511EB-54AB-4192-ACD7-6FD4E78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7258050"/>
              </a:tblGrid>
              <a:tr h="68389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检查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回答的问题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能否执行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代码能否运行，并返回要求的结果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是否存在前视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截断未来数据后，历史因子值是否变化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功能是否正确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结果是否符合任务定义和专家代码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计算结构是否符合要求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是否满足批量数组计算等约束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8cmcpi-四项同时通过的平均正确率：93.">
            <a:extLst xmlns:a="http://schemas.openxmlformats.org/drawingml/2006/main">
              <a:ext uri="{FF2B5EF4-FFF2-40B4-BE49-F238E27FC236}">
                <a16:creationId xmlns:a16="http://schemas.microsoft.com/office/drawing/2014/main" id="{90F545FD-B4FE-42E9-8BAC-0F8F87C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四项同时通过的平均正确率：93.7%（Gemini-2.5-Pro）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开放权重模型中最高为81.9%（DeepSeek-V3）。</a:t>
            </a:r>
          </a:p>
        </p:txBody>
      </p:sp>
    </p:spTree>
    <p:extLst>
      <p:ext uri="{BB962C8B-B14F-4D97-AF65-F5344CB8AC3E}">
        <p14:creationId xmlns:p14="http://schemas.microsoft.com/office/powerpoint/2010/main" val="178038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2026-09-21T06:19:32.6530000Z</dcterms:created>
  <dcterms:modified xsi:type="dcterms:W3CDTF">2026-09-21T06:19:32.6530000Z</dcterms:modified>
</coreProperties>
</file>