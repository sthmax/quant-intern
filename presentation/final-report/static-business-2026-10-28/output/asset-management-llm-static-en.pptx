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r="http://schemas.openxmlformats.org/officeDocument/2006/relationships" id="256" r:id="R390636d39d7347d7"/>
    <p:sldId xmlns:r="http://schemas.openxmlformats.org/officeDocument/2006/relationships" id="257" r:id="R7b57c72efeb1497a"/>
    <p:sldId xmlns:r="http://schemas.openxmlformats.org/officeDocument/2006/relationships" id="258" r:id="Rcd4319cf7eb84535"/>
    <p:sldId xmlns:r="http://schemas.openxmlformats.org/officeDocument/2006/relationships" id="259" r:id="R07d0532394894932"/>
    <p:sldId xmlns:r="http://schemas.openxmlformats.org/officeDocument/2006/relationships" id="260" r:id="R820e715e6f194792"/>
    <p:sldId xmlns:r="http://schemas.openxmlformats.org/officeDocument/2006/relationships" id="261" r:id="Rb8cd7f2ed53f4e1b"/>
    <p:sldId xmlns:r="http://schemas.openxmlformats.org/officeDocument/2006/relationships" id="262" r:id="R474c0bf37edb4cea"/>
    <p:sldId xmlns:r="http://schemas.openxmlformats.org/officeDocument/2006/relationships" id="263" r:id="Rd5b7b06329bf4113"/>
    <p:sldId xmlns:r="http://schemas.openxmlformats.org/officeDocument/2006/relationships" id="264" r:id="R30f62b1981a84933"/>
    <p:sldId xmlns:r="http://schemas.openxmlformats.org/officeDocument/2006/relationships" id="265" r:id="R4699d77233174d36"/>
    <p:sldId xmlns:r="http://schemas.openxmlformats.org/officeDocument/2006/relationships" id="266" r:id="R31df87a8ac1346d0"/>
    <p:sldId xmlns:r="http://schemas.openxmlformats.org/officeDocument/2006/relationships" id="267" r:id="R9dfc38af7c1d45b8"/>
    <p:sldId xmlns:r="http://schemas.openxmlformats.org/officeDocument/2006/relationships" id="268" r:id="R795d7ff9988647cc"/>
    <p:sldId xmlns:r="http://schemas.openxmlformats.org/officeDocument/2006/relationships" id="269" r:id="Rcd259ea95bf14c96"/>
    <p:sldId xmlns:r="http://schemas.openxmlformats.org/officeDocument/2006/relationships" id="270" r:id="R1d7e6e39ec884ede"/>
    <p:sldId xmlns:r="http://schemas.openxmlformats.org/officeDocument/2006/relationships" id="271" r:id="R34a91606121040e0"/>
    <p:sldId xmlns:r="http://schemas.openxmlformats.org/officeDocument/2006/relationships" id="272" r:id="R33be6cf8668a4f60"/>
    <p:sldId xmlns:r="http://schemas.openxmlformats.org/officeDocument/2006/relationships" id="273" r:id="R15f9f4f2e7c94f74"/>
    <p:sldId xmlns:r="http://schemas.openxmlformats.org/officeDocument/2006/relationships" id="274" r:id="Raba3dadce42b4a2a"/>
    <p:sldId xmlns:r="http://schemas.openxmlformats.org/officeDocument/2006/relationships" id="275" r:id="R1510c5db4da84232"/>
    <p:sldId xmlns:r="http://schemas.openxmlformats.org/officeDocument/2006/relationships" id="276" r:id="R62bbc882b7d744a6"/>
    <p:sldId xmlns:r="http://schemas.openxmlformats.org/officeDocument/2006/relationships" id="277" r:id="R0284ad737b7e404e"/>
    <p:sldId xmlns:r="http://schemas.openxmlformats.org/officeDocument/2006/relationships" id="278" r:id="R0fe18bf047c8408c"/>
    <p:sldId xmlns:r="http://schemas.openxmlformats.org/officeDocument/2006/relationships" id="279" r:id="R1326405c89d34aca"/>
    <p:sldId xmlns:r="http://schemas.openxmlformats.org/officeDocument/2006/relationships" id="280" r:id="R97c87c600b474f37"/>
    <p:sldId xmlns:r="http://schemas.openxmlformats.org/officeDocument/2006/relationships" id="281" r:id="R9cf89a85407a4621"/>
    <p:sldId xmlns:r="http://schemas.openxmlformats.org/officeDocument/2006/relationships" id="282" r:id="Rff138eb52d014a01"/>
    <p:sldId xmlns:r="http://schemas.openxmlformats.org/officeDocument/2006/relationships" id="283" r:id="R7449c02aed4e4d1b"/>
    <p:sldId xmlns:r="http://schemas.openxmlformats.org/officeDocument/2006/relationships" id="284" r:id="Rcd365684a5e24dc5"/>
    <p:sldId xmlns:r="http://schemas.openxmlformats.org/officeDocument/2006/relationships" id="285" r:id="R480194aec177473a"/>
    <p:sldId xmlns:r="http://schemas.openxmlformats.org/officeDocument/2006/relationships" id="286" r:id="R4bd97497d5ad4616"/>
    <p:sldId xmlns:r="http://schemas.openxmlformats.org/officeDocument/2006/relationships" id="287" r:id="R69b30f86db62496c"/>
    <p:sldId xmlns:r="http://schemas.openxmlformats.org/officeDocument/2006/relationships" id="288" r:id="R755a343b797b4b9b"/>
  </p:sldIdLst>
  <p:sldSz cx="9144000" cy="514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c88309ce4449" /><Relationship Type="http://schemas.openxmlformats.org/officeDocument/2006/relationships/slideMaster" Target="/ppt/slideMasters/slideMaster1.xml" Id="R0e15fbe9e6a84748" /><Relationship Type="http://schemas.openxmlformats.org/officeDocument/2006/relationships/notesMaster" Target="/ppt/notesMasters/notesMaster1.xml" Id="R6e122c12f9644f44" /><Relationship Type="http://schemas.openxmlformats.org/officeDocument/2006/relationships/presProps" Target="/ppt/presProps.xml" Id="R13e92d9c7e2f420e" /><Relationship Type="http://schemas.openxmlformats.org/officeDocument/2006/relationships/tableStyles" Target="/ppt/tableStyles.xml" Id="Reab0ce6b86a24159" /><Relationship Type="http://schemas.openxmlformats.org/officeDocument/2006/relationships/slide" Target="/ppt/slides/slide1.xml" Id="R390636d39d7347d7" /><Relationship Type="http://schemas.openxmlformats.org/officeDocument/2006/relationships/slide" Target="/ppt/slides/slide2.xml" Id="R7b57c72efeb1497a" /><Relationship Type="http://schemas.openxmlformats.org/officeDocument/2006/relationships/slide" Target="/ppt/slides/slide3.xml" Id="Rcd4319cf7eb84535" /><Relationship Type="http://schemas.openxmlformats.org/officeDocument/2006/relationships/slide" Target="/ppt/slides/slide4.xml" Id="R07d0532394894932" /><Relationship Type="http://schemas.openxmlformats.org/officeDocument/2006/relationships/slide" Target="/ppt/slides/slide5.xml" Id="R820e715e6f194792" /><Relationship Type="http://schemas.openxmlformats.org/officeDocument/2006/relationships/slide" Target="/ppt/slides/slide6.xml" Id="Rb8cd7f2ed53f4e1b" /><Relationship Type="http://schemas.openxmlformats.org/officeDocument/2006/relationships/slide" Target="/ppt/slides/slide7.xml" Id="R474c0bf37edb4cea" /><Relationship Type="http://schemas.openxmlformats.org/officeDocument/2006/relationships/slide" Target="/ppt/slides/slide8.xml" Id="Rd5b7b06329bf4113" /><Relationship Type="http://schemas.openxmlformats.org/officeDocument/2006/relationships/slide" Target="/ppt/slides/slide9.xml" Id="R30f62b1981a84933" /><Relationship Type="http://schemas.openxmlformats.org/officeDocument/2006/relationships/slide" Target="/ppt/slides/slide10.xml" Id="R4699d77233174d36" /><Relationship Type="http://schemas.openxmlformats.org/officeDocument/2006/relationships/slide" Target="/ppt/slides/slide11.xml" Id="R31df87a8ac1346d0" /><Relationship Type="http://schemas.openxmlformats.org/officeDocument/2006/relationships/slide" Target="/ppt/slides/slide12.xml" Id="R9dfc38af7c1d45b8" /><Relationship Type="http://schemas.openxmlformats.org/officeDocument/2006/relationships/slide" Target="/ppt/slides/slide13.xml" Id="R795d7ff9988647cc" /><Relationship Type="http://schemas.openxmlformats.org/officeDocument/2006/relationships/slide" Target="/ppt/slides/slide14.xml" Id="Rcd259ea95bf14c96" /><Relationship Type="http://schemas.openxmlformats.org/officeDocument/2006/relationships/slide" Target="/ppt/slides/slide15.xml" Id="R1d7e6e39ec884ede" /><Relationship Type="http://schemas.openxmlformats.org/officeDocument/2006/relationships/slide" Target="/ppt/slides/slide16.xml" Id="R34a91606121040e0" /><Relationship Type="http://schemas.openxmlformats.org/officeDocument/2006/relationships/slide" Target="/ppt/slides/slide17.xml" Id="R33be6cf8668a4f60" /><Relationship Type="http://schemas.openxmlformats.org/officeDocument/2006/relationships/slide" Target="/ppt/slides/slide18.xml" Id="R15f9f4f2e7c94f74" /><Relationship Type="http://schemas.openxmlformats.org/officeDocument/2006/relationships/slide" Target="/ppt/slides/slide19.xml" Id="Raba3dadce42b4a2a" /><Relationship Type="http://schemas.openxmlformats.org/officeDocument/2006/relationships/slide" Target="/ppt/slides/slide20.xml" Id="R1510c5db4da84232" /><Relationship Type="http://schemas.openxmlformats.org/officeDocument/2006/relationships/slide" Target="/ppt/slides/slide21.xml" Id="R62bbc882b7d744a6" /><Relationship Type="http://schemas.openxmlformats.org/officeDocument/2006/relationships/slide" Target="/ppt/slides/slide22.xml" Id="R0284ad737b7e404e" /><Relationship Type="http://schemas.openxmlformats.org/officeDocument/2006/relationships/slide" Target="/ppt/slides/slide23.xml" Id="R0fe18bf047c8408c" /><Relationship Type="http://schemas.openxmlformats.org/officeDocument/2006/relationships/slide" Target="/ppt/slides/slide24.xml" Id="R1326405c89d34aca" /><Relationship Type="http://schemas.openxmlformats.org/officeDocument/2006/relationships/slide" Target="/ppt/slides/slide25.xml" Id="R97c87c600b474f37" /><Relationship Type="http://schemas.openxmlformats.org/officeDocument/2006/relationships/slide" Target="/ppt/slides/slide26.xml" Id="R9cf89a85407a4621" /><Relationship Type="http://schemas.openxmlformats.org/officeDocument/2006/relationships/slide" Target="/ppt/slides/slide27.xml" Id="Rff138eb52d014a01" /><Relationship Type="http://schemas.openxmlformats.org/officeDocument/2006/relationships/slide" Target="/ppt/slides/slide28.xml" Id="R7449c02aed4e4d1b" /><Relationship Type="http://schemas.openxmlformats.org/officeDocument/2006/relationships/slide" Target="/ppt/slides/slide29.xml" Id="Rcd365684a5e24dc5" /><Relationship Type="http://schemas.openxmlformats.org/officeDocument/2006/relationships/slide" Target="/ppt/slides/slide30.xml" Id="R480194aec177473a" /><Relationship Type="http://schemas.openxmlformats.org/officeDocument/2006/relationships/slide" Target="/ppt/slides/slide31.xml" Id="R4bd97497d5ad4616" /><Relationship Type="http://schemas.openxmlformats.org/officeDocument/2006/relationships/slide" Target="/ppt/slides/slide32.xml" Id="R69b30f86db62496c" /><Relationship Type="http://schemas.openxmlformats.org/officeDocument/2006/relationships/slide" Target="/ppt/slides/slide33.xml" Id="R755a343b797b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e8c43a76964bba" /><Relationship Type="http://schemas.openxmlformats.org/officeDocument/2006/relationships/notesMaster" Target="/ppt/notesMasters/notesMaster1.xml" Id="R1267af05228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590d33bd54b6e" /><Relationship Type="http://schemas.openxmlformats.org/officeDocument/2006/relationships/notesMaster" Target="/ppt/notesMasters/notesMaster1.xml" Id="Ra8076cb9326441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e4fc8b9754270" /><Relationship Type="http://schemas.openxmlformats.org/officeDocument/2006/relationships/notesMaster" Target="/ppt/notesMasters/notesMaster1.xml" Id="R8a87eaa4155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4b80231341410a" /><Relationship Type="http://schemas.openxmlformats.org/officeDocument/2006/relationships/notesMaster" Target="/ppt/notesMasters/notesMaster1.xml" Id="Rff768ed1077f43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44a968c6418e" /><Relationship Type="http://schemas.openxmlformats.org/officeDocument/2006/relationships/notesMaster" Target="/ppt/notesMasters/notesMaster1.xml" Id="R34e6eb2626db47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04232609e48fa" /><Relationship Type="http://schemas.openxmlformats.org/officeDocument/2006/relationships/notesMaster" Target="/ppt/notesMasters/notesMaster1.xml" Id="R8543c600a099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68b2eb84cae" /><Relationship Type="http://schemas.openxmlformats.org/officeDocument/2006/relationships/notesMaster" Target="/ppt/notesMasters/notesMaster1.xml" Id="R3cca0745d0af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28552aa6a44a86" /><Relationship Type="http://schemas.openxmlformats.org/officeDocument/2006/relationships/notesMaster" Target="/ppt/notesMasters/notesMaster1.xml" Id="Rd4936733361f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11690eb294ccb" /><Relationship Type="http://schemas.openxmlformats.org/officeDocument/2006/relationships/notesMaster" Target="/ppt/notesMasters/notesMaster1.xml" Id="R30bb608570ec44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36d0eb8a342bd" /><Relationship Type="http://schemas.openxmlformats.org/officeDocument/2006/relationships/notesMaster" Target="/ppt/notesMasters/notesMaster1.xml" Id="R50e4b7b1591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a762bb0d7e40c4" /><Relationship Type="http://schemas.openxmlformats.org/officeDocument/2006/relationships/notesMaster" Target="/ppt/notesMasters/notesMaster1.xml" Id="R5aaa1151ed65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c91a22259f4476" /><Relationship Type="http://schemas.openxmlformats.org/officeDocument/2006/relationships/notesMaster" Target="/ppt/notesMasters/notesMaster1.xml" Id="R4ba7ef46d4e748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1fc75d0fb41b8" /><Relationship Type="http://schemas.openxmlformats.org/officeDocument/2006/relationships/notesMaster" Target="/ppt/notesMasters/notesMaster1.xml" Id="R8a1b86c8a08946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4b87e938224b4a" /><Relationship Type="http://schemas.openxmlformats.org/officeDocument/2006/relationships/notesMaster" Target="/ppt/notesMasters/notesMaster1.xml" Id="R7c22e128f685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245d6a674ba8" /><Relationship Type="http://schemas.openxmlformats.org/officeDocument/2006/relationships/notesMaster" Target="/ppt/notesMasters/notesMaster1.xml" Id="Rbfded3aa3841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5a3f02b7684e62" /><Relationship Type="http://schemas.openxmlformats.org/officeDocument/2006/relationships/notesMaster" Target="/ppt/notesMasters/notesMaster1.xml" Id="R1b1b72ca127c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c59df0a159401e" /><Relationship Type="http://schemas.openxmlformats.org/officeDocument/2006/relationships/notesMaster" Target="/ppt/notesMasters/notesMaster1.xml" Id="R9bf09e1198db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8fa3945f294c79" /><Relationship Type="http://schemas.openxmlformats.org/officeDocument/2006/relationships/notesMaster" Target="/ppt/notesMasters/notesMaster1.xml" Id="Rc0190028b506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f99c1e30f466c" /><Relationship Type="http://schemas.openxmlformats.org/officeDocument/2006/relationships/notesMaster" Target="/ppt/notesMasters/notesMaster1.xml" Id="Rb857b6ffd364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0ad63929c45d5" /><Relationship Type="http://schemas.openxmlformats.org/officeDocument/2006/relationships/notesMaster" Target="/ppt/notesMasters/notesMaster1.xml" Id="R51fa0d9cd7a2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542187faf845f5" /><Relationship Type="http://schemas.openxmlformats.org/officeDocument/2006/relationships/notesMaster" Target="/ppt/notesMasters/notesMaster1.xml" Id="R90174c870449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bac1cfbaf541cd" /><Relationship Type="http://schemas.openxmlformats.org/officeDocument/2006/relationships/notesMaster" Target="/ppt/notesMasters/notesMaster1.xml" Id="Raf1a66534fc949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01a58377e4ce8" /><Relationship Type="http://schemas.openxmlformats.org/officeDocument/2006/relationships/notesMaster" Target="/ppt/notesMasters/notesMaster1.xml" Id="Rf19c1d8ccad3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e21a42b4c47f0" /><Relationship Type="http://schemas.openxmlformats.org/officeDocument/2006/relationships/notesMaster" Target="/ppt/notesMasters/notesMaster1.xml" Id="R11925fbe7f2a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744cba2cdd4ab0" /><Relationship Type="http://schemas.openxmlformats.org/officeDocument/2006/relationships/notesMaster" Target="/ppt/notesMasters/notesMaster1.xml" Id="R33d2d83d2d5640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1a163df44741b8" /><Relationship Type="http://schemas.openxmlformats.org/officeDocument/2006/relationships/notesMaster" Target="/ppt/notesMasters/notesMaster1.xml" Id="R2d8522b8d7ef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b34a60e34a4e50" /><Relationship Type="http://schemas.openxmlformats.org/officeDocument/2006/relationships/notesMaster" Target="/ppt/notesMasters/notesMaster1.xml" Id="Rd573492231c14c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148a440a4f4964" /><Relationship Type="http://schemas.openxmlformats.org/officeDocument/2006/relationships/notesMaster" Target="/ppt/notesMasters/notesMaster1.xml" Id="R6a69c372c8c049b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cbc7c5ed8a4d79" /><Relationship Type="http://schemas.openxmlformats.org/officeDocument/2006/relationships/notesMaster" Target="/ppt/notesMasters/notesMaster1.xml" Id="R59ab481a89954e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7fa5624e4c4b00" /><Relationship Type="http://schemas.openxmlformats.org/officeDocument/2006/relationships/notesMaster" Target="/ppt/notesMasters/notesMaster1.xml" Id="R5c136095bce142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27abb529f74fef" /><Relationship Type="http://schemas.openxmlformats.org/officeDocument/2006/relationships/notesMaster" Target="/ppt/notesMasters/notesMaster1.xml" Id="R9e9b2132482743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f99aa2b4d45cc" /><Relationship Type="http://schemas.openxmlformats.org/officeDocument/2006/relationships/notesMaster" Target="/ppt/notesMasters/notesMaster1.xml" Id="Raa1fd34283c9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afb0bd4074782" /><Relationship Type="http://schemas.openxmlformats.org/officeDocument/2006/relationships/notesMaster" Target="/ppt/notesMasters/notesMaster1.xml" Id="Red418545e974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examines how large language models (LLMs) can support the day-to-day work of an asset manager. Each topic covers the current workflow, relevant industry examples and a proposed application for the firm. The discussion follows front-, middle- and back-office work, using Company A and a quarterly client update as recurring examples. Cover image: an AI-generated research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inputs are documents, data, messages and business requests. LLMs interpret questions, read and compare material, organize explanations, and draft text or code. Connected tools perform queries, calculations and other operations. Employees check the results and use them to complete research, trading preparation, client communications, review and development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covers seven application areas. Each topic begins with the work employees do and the repetitive preparation it involves, then looks at industry examples and a proposed application for the firm. Company A links research, quote preparation and risk monitoring. The quarterly client update links drafting, review and document maintenance. The task names locate the seven application areas across the 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needs to explain why Company A’s revenue grew and whether that growth can continue. The preparation involves locating comparable revenue and volume data, reading the explanation in meeting notes and comparing two research reports. In this illustrative scenario, prior-quarter and current-quarter revenue are RMB 100m and RMB 110m, while sales volume is 1.0m and 1.1m units. Repeated searches, extraction, calculations and rereading are the work required before the analyst can assess the business. The next three slides show industry approaches to earnings analysis, research synthesis and template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Tianhong’s FinAgent breaks a net-profit question into revenue, cost of sales and expenses, then explores drivers such as volume, selling price, raw materials and distribution. The LLM organizes the questions and calls data and calculation tools. Those tools return the figures and calculations. The model connects them to operating and industry information, while the analyst assesses the quality and persistence of growth. Tianhong reported that the time required for manual data preparation and calculations fell from days to minutes.</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Fullgoal first uses the model to assess each report’s relevance to the investment target. It then summarizes the reports against the analyst’s research interests, synthesizes the summaries, adjusts the wording and checks the result. In the Company A example, Report A links higher volumes to a lasting demand recovery. Report B emphasizes channel restocking and questions whether it will persist. The LLM makes the common ground and competing explanations easy to compare. The analyst can investigate the disagreement with the original reports at hand.</a:t>
            </a:r>
          </a:p>
          <a:p xmlns:a="http://schemas.openxmlformats.org/drawingml/2006/main">
            <a:r>
              <a:t/>
            </a:r>
          </a:p>
          <a:p xmlns:a="http://schemas.openxmlformats.org/drawingml/2006/main">
            <a:r>
              <a:t>Sources:</a:t>
            </a:r>
          </a:p>
          <a:p xmlns:a="http://schemas.openxmlformats.org/drawingml/2006/main">
            <a:r>
              <a:t>FUND-007, pp. 8–9</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Zhong Ou’s assistant connects internal research information and external sources, separates collection, analysis and synthesis, and populates a research template. The example maps financials and calculations to operating changes, meeting notes to business drivers, and research reports to open questions. These example fields illustrate the method. Analysts check the entries and sources and add their own assessment. Zhong Ou reported an approximately 50% improvement in overall preparation efficiency, with data as of May 2026.</a:t>
            </a:r>
          </a:p>
          <a:p xmlns:a="http://schemas.openxmlformats.org/drawingml/2006/main">
            <a:r>
              <a:t/>
            </a:r>
          </a:p>
          <a:p xmlns:a="http://schemas.openxmlformats.org/drawingml/2006/main">
            <a:r>
              <a:t>Sources:</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FUND-356, Research template; data as of May 2026</a:t>
            </a:r>
          </a:p>
          <a:p xmlns:a="http://schemas.openxmlformats.org/drawingml/2006/main">
            <a:r>
              <a:t>https://mp.weixin.qq.com/s/rgMRw8HbZUhiu9PkUBM7vA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workflow brings together Tianhong’s earnings-driver analysis, Fullgoal’s comparison of research views and Zhong Ou’s research-template preparation. The analyst provides a question and the relevant financials, meeting notes and research reports. Prior-quarter and current-quarter revenue are RMB 100m and RMB 110m; volume is 1.0m and 1.1m units. The LLM requests the revenue and volume growth calculations. The tools return 10% growth in each and an unchanged average selling price. The LLM then links channel restocking in the meeting notes to the reported numbers and preserves the disagreement over persistence. The analyst checks the references, tests the restocking thesis and forms a view. The figures and source excerpts are illustrative.</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a:p xmlns:a="http://schemas.openxmlformats.org/drawingml/2006/main">
            <a:r>
              <a:t>FUND-007, pp. 8–9</a:t>
            </a:r>
          </a:p>
          <a:p xmlns:a="http://schemas.openxmlformats.org/drawingml/2006/main">
            <a:r>
              <a:t>https://www.amac.org.cn/xwfb/hydt/202601/P020260202337808067241.pdf</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FUND-011, pp. 5–7</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for quote (RFQ) asks counterparties for offer prices and available size. The task is to prepare candidate bonds, current holdings and offer quotes for a potential purchase of Company A bonds maturing within two years. The portfolio manager sets the request. The trader queries market and holdings systems and records the data timestamp, then contacts counterparties with the bond names and buying interest, asks for price and available size, and receives quotes. The trader brings the information together for discussion with the portfolio manager. Systems supply data and counterparties supply quotes. Repeated filters, system switching and copying messages are the preparation steps the proposed application can improve.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Southern’s Xiaonan assistant interprets a natural-language request, identifies parameters, breaks the work into tasks and calls database or business-system interfaces. Its applications include bond screening, market queries, trading instructions and notifications. Users review the results and confirm relevant actions. Aegon-Industrial’s Qianxun platform also captures trade information from Qtrade records, extracting bond, direction, price and size. It matches that information with the portfolio manager’s quote request and routes it to the trading system, where the portfolio manager submits the instruction. These are two distinct industry examples: connecting language to system queries and reducing repeated entry of trade information.</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manager wants to buy Company A bonds maturing within two years, check current holdings and collect offer quotes. The LLM extracts the issuer, maturity condition and requested data, then calls the business query. Systems return the candidates, maturities and holdings. The trader first requests quotes from counterparties, then provides the received quote messages or quote records. The LLM extracts the bond, clean price and available face value from the supplied records, then combines these details with the system results. In the example, the Company A bond has 1.2 years to maturity, the current holding is RMB 20m face value, the offer clean price is RMB 100.20 per RMB 100 face value, and RMB 20m face value is available. The trader checks the record’s source, time and amounts. The portfolio manager uses the summary to discuss next steps. The approach draws on Southern’s natural-language queries and Aegon-Industrial’s parsing of trading records.</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client relationship manager first establishes what the client wants to understand. Preparing a quarterly update then means finding the relevant portfolio managers’ investment views, checking product documents and the reporting period, and adapting the wording for the client’s questions. The same material is repeatedly reused in updates, product Q&amp;A and institutional request for proposal (RFP) responses. The next slides show Tianhong’s view summaries, ICBCUBS’s RFP support and a proposed quarterly-update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 brings together recent manager presentations, market comments and periodic reports for a named portfolio manager or product. The LLM finds the relevant views, removes duplication and writes a concise explanation for client-facing teams. The example turns a view on Company A’s volume growth and raw-material costs into a client summary. Employees check and use that summary in their communication. Tianhong also turns market information into weekly sector views and daily commentary.</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ICBCUBS FundGPT supports knowledge-base maintenance, question analysis, review and RFP response generation. The example client asks how the research process is organized. The model finds the internal process description, identifies the responsibilities of analysts and portfolio managers, and drafts the relevant answer with a source reference. The business team checks the answer against the source and addresses the client’s specific requirements. The question and answer on the slide are illustrative.</a:t>
            </a:r>
          </a:p>
          <a:p xmlns:a="http://schemas.openxmlformats.org/drawingml/2006/main">
            <a:r>
              <a:t/>
            </a:r>
          </a:p>
          <a:p xmlns:a="http://schemas.openxmlformats.org/drawingml/2006/main">
            <a:r>
              <a:t>Sources:</a:t>
            </a:r>
          </a:p>
          <a:p xmlns:a="http://schemas.openxmlformats.org/drawingml/2006/main">
            <a:r>
              <a:t>FUND-312, pp. 7, 9</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team supplies a question, existing portfolio manager views and product information. The LLM selects the relevant content and organizes a quarterly client update. In the example, the existing view says volume growth drove Company A’s revenue and that raw-material costs should be monitored. V1 is the initial draft, prepared from the supplied Q2 product information. The client team checks the investment view and submits V1 for review. The following section compares it with the fuller current presentation and Q3 product documents.</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a:p xmlns:a="http://schemas.openxmlformats.org/drawingml/2006/main">
            <a:r>
              <a:t>FUND-312, pp. 7, 9</a:t>
            </a:r>
          </a:p>
          <a:p xmlns:a="http://schemas.openxmlformats.org/drawingml/2006/main">
            <a:r>
              <a:t>https://www.amac.org.cn/xwfb/hydt/202601/P020260202337848496316.pdf</a:t>
            </a:r>
          </a:p>
          <a:p xmlns:a="http://schemas.openxmlformats.org/drawingml/2006/main">
            <a:r>
              <a:t>FUND-351, Digital finance applications</a:t>
            </a:r>
          </a:p>
          <a:p xmlns:a="http://schemas.openxmlformats.org/drawingml/2006/main">
            <a:r>
              <a:t>https://fund.10jqka.com.cn/20251111/c672391490.shtml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reviewer compares V1 with the current portfolio manager presentation. V1 links revenue growth to volumes; the fuller source explains that channel restocking supported volumes and that its persistence needs monitoring. The reviewer must assess whether the update explains the driver and preserves the factors to monitor, alongside checks on the fund name, reporting period and risk disclosure. Finding the relevant passages, comparing their meaning and explaining proposed edits are tasks an LLM can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Penghua’s marketing-material review system applies 71 rules across seven categories and produces suggested edits. The rules cover risk disclosures, fund information, performance claims and prohibited marketing statements. Penghua reported a 91% acceptance rate for suggested edits. Yingmi, a fund distributor, accepts text or files, identifies issues and reasons, suggests changes and supports rechecking after revision. The illustrative client update shows the model checking the full fund name and current reporting period, recognizing the missing restocking explanation and uncertainty over continued restocking, and making the risk wording more specific.</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a:p xmlns:a="http://schemas.openxmlformats.org/drawingml/2006/main">
            <a:r>
              <a:t>NAV means net asset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application brings V1, current product information and the full portfolio manager presentation into the same review task. Document tools match names, reporting periods and source passages. The LLM reads the wording in context, explains the missing business driver and factor to monitor, and suggests a concrete revision. V2 identifies channel restocking as the sales volume driver and retains uncertainty over whether restocking continues, updates the formal fund name and source version, and uses the product’s specific risk wording. The author approves the edits. The reviewer checks the source, rationale and revised document.</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analyst receives an alert: Company A’s credit rating is on watch. Operating cash flow is under pressure. The next questions are which funds hold the issuer’s bonds, which monitoring requirements apply, and what existing research needs updating. Answering them means querying holdings, locating contract or internal-policy clauses and reviewing issuer research. The alert and scenario are illustrative. Peer practices on the next slide show how models can help with alert extraction, rule explanations and event assessments.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Universal’s platform uses an LLM to extract risk information from custodian alerts and route it to the risk team’s workspace. It also links system rules to regulations, internal controls and contract wording so that a model can explain the basis for a rule trigger. Tianhong’s event assistant brings together event details, historical parallels, industry relationships and market sentiment to develop an impact explanation. Investment and risk teams use the material to discuss the event and determine their response.</a:t>
            </a:r>
          </a:p>
          <a:p xmlns:a="http://schemas.openxmlformats.org/drawingml/2006/main">
            <a:r>
              <a:t/>
            </a:r>
          </a:p>
          <a:p xmlns:a="http://schemas.openxmlformats.org/drawingml/2006/main">
            <a:r>
              <a:t>Sources:</a:t>
            </a:r>
          </a:p>
          <a:p xmlns:a="http://schemas.openxmlformats.org/drawingml/2006/main">
            <a:r>
              <a:t>FUND-220, pp. 5</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team provides the alert. A holdings query returns that Product A holds Company A bonds with RMB 20m face value. The applicable example monitoring requirement calls for an issuer-research update following a credit event. The LLM identifies the issuer, maps the exposure to Product A and brings the requirement and existing research into an assessment. Cash-flow pressure affects the issuer’s capacity to service debt. The credit assessment and cash-flow trends require further review. Risk staff check holdings and clauses, analysts update their assessment, and portfolio managers discuss the response. The event, requirement, fund and amounts are illustrative.</a:t>
            </a:r>
          </a:p>
          <a:p xmlns:a="http://schemas.openxmlformats.org/drawingml/2006/main">
            <a:r>
              <a:t/>
            </a:r>
          </a:p>
          <a:p xmlns:a="http://schemas.openxmlformats.org/drawingml/2006/main">
            <a:r>
              <a:t>Sources:</a:t>
            </a:r>
          </a:p>
          <a:p xmlns:a="http://schemas.openxmlformats.org/drawingml/2006/main">
            <a:r>
              <a:t>FUND-220, pp. 5, 10</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teams transcribe and check fields from faxes and scans, compare client-update versions paragraph by paragraph, and repeat common edits across related files. These tasks require both moving information between formats and reading enough context to understand each change. The peer examples cover automated data entry and document comparison. The proposed application then shows how a model can explain what a change means for the client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HuaAn’s platform recognizes information in faxes and forms handled by its direct-sales counter and uses it to populate client-service records. HuaAn reported that more than 80% of these faxes were processed using automated data entry. ICBCUBS FundGPT supports content recognition and comparison across PDF, Word and scanned documents, with visual differences, typo detection and export. The client-update example highlights the added wording on channel restocking and its persistence. The next slide builds on the identified text changes by explaining their business meaning.</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supplies V1 and V2 of the same quarterly client update. Document tools align the passages and locate wording changes. The LLM reads them in context, distinguishes additions from retained information and explains the implications: channel restocking has been added as a driver, and its persistence has been added to the factors to monitor while raw-material cost monitoring remains. The change summary also identifies related client updates and product Q&amp;A that need the same revision. Operations checks the explanation, retains it with V2 and updates the related material. Bosera’s bulk document-revision work provides a reference for extending the approach.</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a:p xmlns:a="http://schemas.openxmlformats.org/drawingml/2006/main">
            <a:r>
              <a:t>FUND-215, Bulk document revision</a:t>
            </a:r>
          </a:p>
          <a:p xmlns:a="http://schemas.openxmlformats.org/drawingml/2006/main">
            <a:r>
              <a:t>https://finance.sina.com.cn/money/fund/jjh/2026-04-30/doc-inhwfyep1330822.shtml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team wants to know what changed between two reports, excluding changes to repeated page headers. Developers turn the request into testable requirements, write code to read the files, match paragraphs and report changes, then investigate issues caused by line breaks, page breaks and repeated headers. The work moves repeatedly between the requirement, code and actual execution results. The next slides show how an LLM can support that development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Fund has introduced LLMs into development and testing within its integrated development platform. Invesco Great Wall’s quantitative team uses locally deployed models for coding support. The report-comparison example illustrates the collaboration: the developer supplies examples and expected results, the LLM drafts processing code and test cases, and the developer runs the code, checks the result and provides errors for revision. Generated code and tests are working material for the developer to use and improve.</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FUND-103, Intelligent service platform</a:t>
            </a:r>
          </a:p>
          <a:p xmlns:a="http://schemas.openxmlformats.org/drawingml/2006/main">
            <a:r>
              <a:t>https://gifts.szu.edu.cn/info/1023/1364.htm</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 is to compare reports, ignore repeated page headers and identify changes in the body text. The developer supplies two client-update versions and expected differences. The LLM drafts the code and tests. Execution finds the body-text changes but incorrectly flags header changes. The developer explains that headers should be ignored while genuine content changes must remain. The LLM revises the header filter and adds a regression test. The developer reviews the code, reruns the tests and supplies the tool with a user guide. The test result is illustrative and shows how specific execution feedback helps the model support development.</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Merchants Fund and Ping An Fund use internal knowledge to answer policy, process and operational questions. LLMs retrieve and explain the relevant material. Maxwealth uses models to assess email context and intent and call detection tools for security response. A published China Universal patent proposes using an LLM to identify the fund, period and metric in a business question, with systems retrieving data and algorithms quantifying contributions to the selected metric; the model then writes the analysis. In each case, the model interprets content while tools perform specific operations.</a:t>
            </a:r>
          </a:p>
          <a:p xmlns:a="http://schemas.openxmlformats.org/drawingml/2006/main">
            <a:r>
              <a:t/>
            </a:r>
          </a:p>
          <a:p xmlns:a="http://schemas.openxmlformats.org/drawingml/2006/main">
            <a:r>
              <a:t>Sources:</a:t>
            </a:r>
          </a:p>
          <a:p xmlns:a="http://schemas.openxmlformats.org/drawingml/2006/main">
            <a:r>
              <a:t>FUND-351, Digital finance applications</a:t>
            </a:r>
          </a:p>
          <a:p xmlns:a="http://schemas.openxmlformats.org/drawingml/2006/main">
            <a:r>
              <a:t>https://fund.10jqka.com.cn/20251111/c672391490.shtml</a:t>
            </a:r>
          </a:p>
          <a:p xmlns:a="http://schemas.openxmlformats.org/drawingml/2006/main">
            <a:r>
              <a:t>FUND-160, Internal knowledge services</a:t>
            </a:r>
          </a:p>
          <a:p xmlns:a="http://schemas.openxmlformats.org/drawingml/2006/main">
            <a:r>
              <a:t>https://www.cs.com.cn/ssgs/gsxl/202602/t20260206_6537131.html</a:t>
            </a:r>
          </a:p>
          <a:p xmlns:a="http://schemas.openxmlformats.org/drawingml/2006/main">
            <a:r>
              <a:t>FUND-352, pp. 1–2</a:t>
            </a:r>
          </a:p>
          <a:p xmlns:a="http://schemas.openxmlformats.org/drawingml/2006/main">
            <a:r>
              <a:t>https://www.amac.org.cn/xwfb/hydt/202607/P020260701319545695145.pdf</a:t>
            </a:r>
          </a:p>
          <a:p xmlns:a="http://schemas.openxmlformats.org/drawingml/2006/main">
            <a:r>
              <a:t>FUND-227 / CN121958380A, Example 1, steps S1–S4 and report generation</a:t>
            </a:r>
          </a:p>
          <a:p xmlns:a="http://schemas.openxmlformats.org/drawingml/2006/main">
            <a:r>
              <a:t>https://patents.google.com/patent/CN121958380A/zh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proposals give each user a concrete result: research summaries with source references, a bond and quote summary, a client update, review comments with reasons, a risk assessment and follow-up, a document change summary, or code and tests. Research and client communications provide an initial focus. Queries and document workflows can then connect the applications to additional teams and tasks.</a:t>
            </a:r>
          </a:p>
          <a:p xmlns:a="http://schemas.openxmlformats.org/drawingml/2006/main">
            <a:r>
              <a:t/>
            </a:r>
          </a:p>
          <a:p xmlns:a="http://schemas.openxmlformats.org/drawingml/2006/main">
            <a:r>
              <a:t>Sources:</a:t>
            </a:r>
          </a:p>
          <a:p xmlns:a="http://schemas.openxmlformats.org/drawingml/2006/main">
            <a:r>
              <a:t>FUND-300, Source text</a:t>
            </a:r>
          </a:p>
          <a:p xmlns:a="http://schemas.openxmlformats.org/drawingml/2006/main">
            <a:r>
              <a:t>https://www.amac.org.cn/xwfb/hydt/202601/P020260202337562370809.pdf</a:t>
            </a:r>
          </a:p>
          <a:p xmlns:a="http://schemas.openxmlformats.org/drawingml/2006/main">
            <a:r>
              <a:t>FUND-200, Source text</a:t>
            </a:r>
          </a:p>
          <a:p xmlns:a="http://schemas.openxmlformats.org/drawingml/2006/main">
            <a:r>
              <a:t>https://www.amac.org.cn/xwfb/hydt/202601/P020260202337849876845.pdf</a:t>
            </a:r>
          </a:p>
          <a:p xmlns:a="http://schemas.openxmlformats.org/drawingml/2006/main">
            <a:r>
              <a:t>FUND-308, Source text</a:t>
            </a:r>
          </a:p>
          <a:p xmlns:a="http://schemas.openxmlformats.org/drawingml/2006/main">
            <a:r>
              <a:t>https://www.amac.org.cn/xwfb/hydt/202601/P020260202337850951100.pdf</a:t>
            </a:r>
          </a:p>
          <a:p xmlns:a="http://schemas.openxmlformats.org/drawingml/2006/main">
            <a:r>
              <a:t>FUND-220, Source text</a:t>
            </a:r>
          </a:p>
          <a:p xmlns:a="http://schemas.openxmlformats.org/drawingml/2006/main">
            <a:r>
              <a:t>https://www.amac.org.cn/xwfb/hydt/202601/P020260202337837900594.pdf</a:t>
            </a:r>
          </a:p>
          <a:p xmlns:a="http://schemas.openxmlformats.org/drawingml/2006/main">
            <a:r>
              <a:t>FUND-312, Source text</a:t>
            </a:r>
          </a:p>
          <a:p xmlns:a="http://schemas.openxmlformats.org/drawingml/2006/main">
            <a:r>
              <a:t>https://www.amac.org.cn/xwfb/hydt/202601/P020260202337848496316.pdf</a:t>
            </a:r>
          </a:p>
          <a:p xmlns:a="http://schemas.openxmlformats.org/drawingml/2006/main">
            <a:r>
              <a:t>FUND-101, Source text</a:t>
            </a:r>
          </a:p>
          <a:p xmlns:a="http://schemas.openxmlformats.org/drawingml/2006/main">
            <a:r>
              <a:t>https://www.amac.org.cn/xwfb/hydt/202601/P020260202337815959196.pdf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information flow follows Company A. The front office prepares research and bond and quote summaries, the middle office monitors events and related exposures, and the back office maintains the associated documents. The second follows the quarterly client update. The front office drafts V1 from existing views. The author revises it using review findings, and the reviewer checks V2. The back office explains the differences and updates related documents. The links show information reuse and collaboration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provide a business question and relevant material. Applications combine LLMs with the tools required for the task. The LLM interprets questions, reads sources, compares explanations and generates text or code. Tools perform queries, calculations and file operations, and execute programs and tests. Shared documents, knowledge bases and business data retain their access rights, references and versions. Qwen and DeepSeek are possible model services to evaluate against the firm’s actual tasks.</a:t>
            </a:r>
          </a:p>
          <a:p xmlns:a="http://schemas.openxmlformats.org/drawingml/2006/main">
            <a:r>
              <a:t/>
            </a:r>
          </a:p>
          <a:p xmlns:a="http://schemas.openxmlformats.org/drawingml/2006/main">
            <a:r>
              <a:t>Sources:</a:t>
            </a:r>
          </a:p>
          <a:p xmlns:a="http://schemas.openxmlformats.org/drawingml/2006/main">
            <a:r>
              <a:t>FUND-300, pp. 5</a:t>
            </a:r>
          </a:p>
          <a:p xmlns:a="http://schemas.openxmlformats.org/drawingml/2006/main">
            <a:r>
              <a:t>https://www.amac.org.cn/xwfb/hydt/202601/P020260202337562370809.pdf</a:t>
            </a:r>
          </a:p>
          <a:p xmlns:a="http://schemas.openxmlformats.org/drawingml/2006/main">
            <a:r>
              <a:t>FUND-200, pp. 4–7</a:t>
            </a:r>
          </a:p>
          <a:p xmlns:a="http://schemas.openxmlformats.org/drawingml/2006/main">
            <a:r>
              <a:t>https://www.amac.org.cn/xwfb/hydt/202601/P020260202337849876845.pdf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sales, compliance and IT can first assemble task examples and source material for research and client-communication applications. Trading, operations and IT can then connect queries and document processing so that the information prepared by the model can be used in subsequent work. Development support and internal services can follow, with clear ownership for maintenance and source updates. Each phase builds on how employees actually use the preceding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focus: research and client communications. Compare similar tasks before and after application use, tracking elapsed task completion time, use of outputs, rework and repeat usage. Use the findings to identify whether the issue is missing information, an unsuitable model explanation or an awkward query or file-handling step. Continued use and reduced preparation work provide a practical basis for deciding what to improve and extend.</a:t>
            </a:r>
          </a:p>
          <a:p xmlns:a="http://schemas.openxmlformats.org/drawingml/2006/main">
            <a:r>
              <a:t>Task completion time is the elapsed time from starting the task to completing the output. Repeat usage means whether employees continue to use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ppt/notesSlides/notesSlide1.xml" Id="R9ac16d97ce854a9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ppt/notesSlides/notesSlide2.xml" Id="Rd0077cd79ca64c3a"/></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ppt/notesSlides/notesSlide3.xml" Id="Rcce2cef2f943400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ppt/notesSlides/notesSlide4.xml" Id="R8ac2a7c4baef477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ppt/notesSlides/notesSlide5.xml" Id="R5dd1d781eed7404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ppt/notesSlides/notesSlide6.xml" Id="R4d39fe890d4044b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ppt/notesSlides/notesSlide7.xml" Id="Rb90c125dd68c44e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ppt/notesSlides/notesSlide8.xml" Id="R224d7db8d8824f1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ppt/notesSlides/notesSlide9.xml" Id="Rb7ed4b85560b4dd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ppt/notesSlides/notesSlide10.xml" Id="Re70d6e70f15a4cc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ppt/notesSlides/notesSlide11.xml" Id="R5930b64dce294e5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ppt/notesSlides/notesSlide12.xml" Id="Raa3242d8ae77458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ppt/notesSlides/notesSlide13.xml" Id="R25f1c7c8428d4b8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ppt/notesSlides/notesSlide14.xml" Id="R193f4190a03b4ea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f3208d926ea4706"/><Relationship Type="http://schemas.openxmlformats.org/officeDocument/2006/relationships/notesSlide" Target="/ppt/notesSlides/notesSlide15.xml" Id="R23824575497e4e5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f71cae05eb430a"/><Relationship Type="http://schemas.openxmlformats.org/officeDocument/2006/relationships/notesSlide" Target="/ppt/notesSlides/notesSlide16.xml" Id="R8ed82f0f6d0a488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7210c0a2e1a4f81"/><Relationship Type="http://schemas.openxmlformats.org/officeDocument/2006/relationships/notesSlide" Target="/ppt/notesSlides/notesSlide17.xml" Id="Rf79f4d1cf0b340a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ppt/notesSlides/notesSlide18.xml" Id="R2d852cee189f48f6"/></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ppt/notesSlides/notesSlide19.xml" Id="R1e9a460c87d8495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ppt/notesSlides/notesSlide20.xml" Id="R0d71924c13174774"/></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ppt/notesSlides/notesSlide21.xml" Id="R0e0878aa8ed24f88"/></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ppt/notesSlides/notesSlide22.xml" Id="R1374e923b0134a82"/></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ppt/notesSlides/notesSlide23.xml" Id="R4a511323866148b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338b0999d85f4863"/><Relationship Type="http://schemas.openxmlformats.org/officeDocument/2006/relationships/notesSlide" Target="/ppt/notesSlides/notesSlide24.xml" Id="R71173a456563404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ppt/notesSlides/notesSlide25.xml" Id="Rb35669d9efaa4f29"/></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ppt/notesSlides/notesSlide26.xml" Id="Rb7ee1265b5cf464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ppt/notesSlides/notesSlide27.xml" Id="R6ea6b6b85ed34a9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ppt/notesSlides/notesSlide28.xml" Id="R3501c9cbe3c54793"/></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ppt/notesSlides/notesSlide29.xml" Id="R888b1c60126140c2"/></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ppt/notesSlides/notesSlide30.xml" Id="R7fb49fbaa1914544"/></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0ca87d761764146"/><Relationship Type="http://schemas.openxmlformats.org/officeDocument/2006/relationships/notesSlide" Target="/ppt/notesSlides/notesSlide31.xml" Id="Rb9ad0b5e390f415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ppt/notesSlides/notesSlide32.xml" Id="R71d82c28da8b4fe7"/></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ppt/notesSlides/notesSlide33.xml" Id="R2415b65a7d5e495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cover.title"/>
          <p:cNvSpPr/>
          <p:nvPr/>
        </p:nvSpPr>
        <p:spPr>
          <ns0:xfrm xmlns:ns0="http://schemas.openxmlformats.org/drawingml/2006/main">
            <ns0:off x="457200" y="720000"/>
            <ns0:ext cx="8229600" cy="3384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200" b="1">
                <ns6:solidFill>
                  <ns6:srgbClr val="20262C"/>
                </ns6:solidFill>
                <ns6:latin typeface="Arial"/>
                <ns6:ea typeface="Arial"/>
                <ns6:cs typeface="Arial"/>
              </ns6:defRPr>
            </ns6:pPr>
            <ns6:r>
              <ns6:rPr sz="2200" b="1">
                <ns6:solidFill>
                  <ns6:srgbClr val="20262C"/>
                </ns6:solidFill>
                <ns6:latin typeface="Arial"/>
                <ns6:ea typeface="Arial"/>
                <ns6:cs typeface="Arial"/>
              </ns6:rPr>
              <ns6:t>LLMs in Asset Management</ns6:t>
            </ns6:r>
          </ns6:p>
        </p:txBody>
      </p:sp>
      <p:sp>
        <p:nvSpPr>
          <p:cNvPr id="102" name="!!cover.kicker"/>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Industry examples and proposed applications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pic>
        <p:nvPicPr>
          <p:cNvPr id="104" name="cover.artwork">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tretch xmlns:a="http://schemas.openxmlformats.org/drawingml/2006/main">
            <a:fillRect l="0" t="0" r="0" b="0"/>
          </a:stretch>
        </p:blipFill>
        <p:spPr>
          <a:xfrm xmlns:a="http://schemas.openxmlformats.org/drawingml/2006/main">
            <a:off x="4572000" y="1476000"/>
            <a:ext cx="4114800" cy="2743200"/>
          </a:xfrm>
          <a:prstGeom xmlns:a="http://schemas.openxmlformats.org/drawingml/2006/main" prst="rect">
            <a:avLst/>
          </a:prstGeom>
        </p:spPr>
      </p:pic>
      <p:sp>
        <p:nvSpPr>
          <p:cNvPr id="105" name="cover.scope"/>
          <p:cNvSpPr/>
          <p:nvPr/>
        </p:nvSpPr>
        <p:spPr>
          <ns17:xfrm xmlns:ns17="http://schemas.openxmlformats.org/drawingml/2006/main">
            <ns17:off x="457200" y="1602000"/>
            <ns17:ext cx="3744000" cy="2880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1600" b="0">
                <ns23:solidFill>
                  <ns23:srgbClr val="005A9C"/>
                </ns23:solidFill>
                <ns23:latin typeface="Arial"/>
                <ns23:ea typeface="Arial"/>
                <ns23:cs typeface="Arial"/>
              </ns23:defRPr>
            </ns23:pPr>
            <ns23:r>
              <ns23:rPr sz="1600" b="0">
                <ns23:solidFill>
                  <ns23:srgbClr val="005A9C"/>
                </ns23:solidFill>
                <ns23:latin typeface="Arial"/>
                <ns23:ea typeface="Arial"/>
                <ns23:cs typeface="Arial"/>
              </ns23:rPr>
              <ns23:t>Mainland asset management</ns23:t>
            </ns23:r>
          </ns23:p>
        </p:txBody>
      </p:sp>
      <p:cxnSp>
        <p:nvCxnSpPr>
          <p:cNvPr id="106" name="cover.rule"/>
          <p:cNvCxnSpPr/>
          <p:nvPr/>
        </p:nvCxnSpPr>
        <p:spPr>
          <ns24:xfrm xmlns:ns24="http://schemas.openxmlformats.org/drawingml/2006/main">
            <ns24:off x="457200" y="3700800"/>
            <ns24:ext cx="3430800" cy="1"/>
          </ns24:xfrm>
          <ns25:prstGeom xmlns:ns25="http://schemas.openxmlformats.org/drawingml/2006/main" prst="line">
            <ns25:avLst/>
          </ns25:prstGeom>
          <ns26:ln xmlns:ns26="http://schemas.openxmlformats.org/drawingml/2006/main" w="12700">
            <ns26:solidFill>
              <ns26:srgbClr val="005A9C"/>
            </ns26:solidFill>
          </ns26:ln>
        </p:spPr>
      </p:cxnSp>
      <p:sp>
        <p:nvSpPr>
          <p:cNvPr id="107" name="!!cover.date"/>
          <p:cNvSpPr/>
          <p:nvPr/>
        </p:nvSpPr>
        <p:spPr>
          <ns27:xfrm xmlns:ns27="http://schemas.openxmlformats.org/drawingml/2006/main">
            <ns27:off x="457200" y="3880800"/>
            <ns27:ext cx="3744000" cy="216000"/>
          </ns27:xfrm>
          <ns28:prstGeom xmlns:ns28="http://schemas.openxmlformats.org/drawingml/2006/main" prst="rect">
            <ns28:avLst/>
          </ns28:prstGeom>
          <ns29:noFill xmlns:ns29="http://schemas.openxmlformats.org/drawingml/2006/main"/>
          <ns30:ln xmlns:ns30="http://schemas.openxmlformats.org/drawingml/2006/main" w="0">
            <ns30:noFill/>
          </ns30:ln>
        </p:spPr>
        <p:txBody>
          <ns31:bodyPr xmlns:ns31="http://schemas.openxmlformats.org/drawingml/2006/main" wrap="square" lIns="0" rIns="0" tIns="0" bIns="0" anchor="t">
            <ns31:noAutofit/>
          </ns31:bodyPr>
          <ns32:lstStyle xmlns:ns32="http://schemas.openxmlformats.org/drawingml/2006/main"/>
          <ns33:p xmlns:ns33="http://schemas.openxmlformats.org/drawingml/2006/main">
            <ns33:pPr algn="l">
              <ns33:lnSpc>
                <ns33:spcPct val="108000"/>
              </ns33:lnSpc>
              <ns33:defRPr sz="1250" b="0">
                <ns33:solidFill>
                  <ns33:srgbClr val="687782"/>
                </ns33:solidFill>
                <ns33:latin typeface="Arial"/>
                <ns33:ea typeface="Arial"/>
                <ns33:cs typeface="Arial"/>
              </ns33:defRPr>
            </ns33:pPr>
            <ns33:r>
              <ns33:rPr sz="1250" b="0">
                <ns33:solidFill>
                  <ns33:srgbClr val="687782"/>
                </ns33:solidFill>
                <ns33:latin typeface="Arial"/>
                <ns33:ea typeface="Arial"/>
                <ns33:cs typeface="Arial"/>
              </ns33:rPr>
              <ns33:t>October 2026</ns33:t>
            </ns33:r>
          </ns33:p>
        </p:txBody>
      </p:sp>
    </p:spTree>
    <p:extLst>
      <p:ext uri="{BB962C8B-B14F-4D97-AF65-F5344CB8AC3E}">
        <p14:creationId xmlns:p14="http://schemas.microsoft.com/office/powerpoint/2010/main" val="15433753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Scope of proposed LLM applications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Application overview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cope.head0"/>
          <p:cNvSpPr/>
          <p:nvPr/>
        </p:nvSpPr>
        <p:spPr>
          <ns17:xfrm xmlns:ns17="http://schemas.openxmlformats.org/drawingml/2006/main">
            <ns17:off x="457200" y="1548000"/>
            <ns17:ext cx="1785600" cy="2232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1350" b="1">
                <ns23:solidFill>
                  <ns23:srgbClr val="005A9C"/>
                </ns23:solidFill>
                <ns23:latin typeface="Arial"/>
                <ns23:ea typeface="Arial"/>
                <ns23:cs typeface="Arial"/>
              </ns23:defRPr>
            </ns23:pPr>
            <ns23:r>
              <ns23:rPr sz="1350" b="1">
                <ns23:solidFill>
                  <ns23:srgbClr val="005A9C"/>
                </ns23:solidFill>
                <ns23:latin typeface="Arial"/>
                <ns23:ea typeface="Arial"/>
                <ns23:cs typeface="Arial"/>
              </ns23:rPr>
              <ns23:t>Inputs</ns23:t>
            </ns23:r>
          </ns23:p>
        </p:txBody>
      </p:sp>
      <p:cxnSp>
        <p:nvCxnSpPr>
          <p:cNvPr id="105" name="scope.head0.rule"/>
          <p:cNvCxnSpPr/>
          <p:nvPr/>
        </p:nvCxnSpPr>
        <p:spPr>
          <ns24:xfrm xmlns:ns24="http://schemas.openxmlformats.org/drawingml/2006/main">
            <ns24:off x="457200" y="1807200"/>
            <ns24:ext cx="1785600" cy="1"/>
          </ns24:xfrm>
          <ns25:prstGeom xmlns:ns25="http://schemas.openxmlformats.org/drawingml/2006/main" prst="line">
            <ns25:avLst/>
          </ns25:prstGeom>
          <ns26:ln xmlns:ns26="http://schemas.openxmlformats.org/drawingml/2006/main" w="12700">
            <ns26:solidFill>
              <ns26:srgbClr val="005A9C"/>
            </ns26:solidFill>
          </ns26:ln>
        </p:spPr>
      </p:cxnSp>
      <p:sp>
        <p:nvSpPr>
          <p:cNvPr id="106" name="!!scope.head1"/>
          <p:cNvSpPr/>
          <p:nvPr/>
        </p:nvSpPr>
        <p:spPr>
          <ns27:xfrm xmlns:ns27="http://schemas.openxmlformats.org/drawingml/2006/main">
            <ns27:off x="2541600" y="1548000"/>
            <ns27:ext cx="3661200" cy="223200"/>
          </ns27:xfrm>
          <ns28:prstGeom xmlns:ns28="http://schemas.openxmlformats.org/drawingml/2006/main" prst="rect">
            <ns28:avLst/>
          </ns28:prstGeom>
          <ns29:noFill xmlns:ns29="http://schemas.openxmlformats.org/drawingml/2006/main"/>
          <ns30:ln xmlns:ns30="http://schemas.openxmlformats.org/drawingml/2006/main" w="0">
            <ns30:noFill/>
          </ns30:ln>
        </p:spPr>
        <p:txBody>
          <ns31:bodyPr xmlns:ns31="http://schemas.openxmlformats.org/drawingml/2006/main" wrap="square" lIns="0" rIns="0" tIns="0" bIns="0" anchor="t">
            <ns31:noAutofit/>
          </ns31:bodyPr>
          <ns32:lstStyle xmlns:ns32="http://schemas.openxmlformats.org/drawingml/2006/main"/>
          <ns33:p xmlns:ns33="http://schemas.openxmlformats.org/drawingml/2006/main">
            <ns33:pPr algn="l">
              <ns33:lnSpc>
                <ns33:spcPct val="108000"/>
              </ns33:lnSpc>
              <ns33:defRPr sz="1350" b="1">
                <ns33:solidFill>
                  <ns33:srgbClr val="005A9C"/>
                </ns33:solidFill>
                <ns33:latin typeface="Arial"/>
                <ns33:ea typeface="Arial"/>
                <ns33:cs typeface="Arial"/>
              </ns33:defRPr>
            </ns33:pPr>
            <ns33:r>
              <ns33:rPr sz="1350" b="1">
                <ns33:solidFill>
                  <ns33:srgbClr val="005A9C"/>
                </ns33:solidFill>
                <ns33:latin typeface="Arial"/>
                <ns33:ea typeface="Arial"/>
                <ns33:cs typeface="Arial"/>
              </ns33:rPr>
              <ns33:t>Work supported by LLMs</ns33:t>
            </ns33:r>
          </ns33:p>
        </p:txBody>
      </p:sp>
      <p:cxnSp>
        <p:nvCxnSpPr>
          <p:cNvPr id="107" name="scope.head1.rule"/>
          <p:cNvCxnSpPr/>
          <p:nvPr/>
        </p:nvCxnSpPr>
        <p:spPr>
          <ns34:xfrm xmlns:ns34="http://schemas.openxmlformats.org/drawingml/2006/main">
            <ns34:off x="2541600" y="1807200"/>
            <ns34:ext cx="3661200" cy="1"/>
          </ns34:xfrm>
          <ns35:prstGeom xmlns:ns35="http://schemas.openxmlformats.org/drawingml/2006/main" prst="line">
            <ns35:avLst/>
          </ns35:prstGeom>
          <ns36:ln xmlns:ns36="http://schemas.openxmlformats.org/drawingml/2006/main" w="12700">
            <ns36:solidFill>
              <ns36:srgbClr val="005A9C"/>
            </ns36:solidFill>
          </ns36:ln>
        </p:spPr>
      </p:cxnSp>
      <p:sp>
        <p:nvSpPr>
          <p:cNvPr id="108" name="!!scope.head2"/>
          <p:cNvSpPr/>
          <p:nvPr/>
        </p:nvSpPr>
        <p:spPr>
          <ns37:xfrm xmlns:ns37="http://schemas.openxmlformats.org/drawingml/2006/main">
            <ns37:off x="6580800" y="1548000"/>
            <ns37:ext cx="2106000" cy="223200"/>
          </ns37:xfrm>
          <ns38:prstGeom xmlns:ns38="http://schemas.openxmlformats.org/drawingml/2006/main" prst="rect">
            <ns38:avLst/>
          </ns38:prstGeom>
          <ns39:noFill xmlns:ns39="http://schemas.openxmlformats.org/drawingml/2006/main"/>
          <ns40:ln xmlns:ns40="http://schemas.openxmlformats.org/drawingml/2006/main" w="0">
            <ns40:noFill/>
          </ns40:ln>
        </p:spPr>
        <p:txBody>
          <ns41:bodyPr xmlns:ns41="http://schemas.openxmlformats.org/drawingml/2006/main" wrap="square" lIns="0" rIns="0" tIns="0" bIns="0" anchor="t">
            <ns41:noAutofit/>
          </ns41:bodyPr>
          <ns42:lstStyle xmlns:ns42="http://schemas.openxmlformats.org/drawingml/2006/main"/>
          <ns43:p xmlns:ns43="http://schemas.openxmlformats.org/drawingml/2006/main">
            <ns43:pPr algn="l">
              <ns43:lnSpc>
                <ns43:spcPct val="108000"/>
              </ns43:lnSpc>
              <ns43:defRPr sz="1350" b="1">
                <ns43:solidFill>
                  <ns43:srgbClr val="005A9C"/>
                </ns43:solidFill>
                <ns43:latin typeface="Arial"/>
                <ns43:ea typeface="Arial"/>
                <ns43:cs typeface="Arial"/>
              </ns43:defRPr>
            </ns43:pPr>
            <ns43:r>
              <ns43:rPr sz="1350" b="1">
                <ns43:solidFill>
                  <ns43:srgbClr val="005A9C"/>
                </ns43:solidFill>
                <ns43:latin typeface="Arial"/>
                <ns43:ea typeface="Arial"/>
                <ns43:cs typeface="Arial"/>
              </ns43:rPr>
              <ns43:t>Outputs</ns43:t>
            </ns43:r>
          </ns43:p>
        </p:txBody>
      </p:sp>
      <p:cxnSp>
        <p:nvCxnSpPr>
          <p:cNvPr id="109" name="scope.head2.rule"/>
          <p:cNvCxnSpPr/>
          <p:nvPr/>
        </p:nvCxnSpPr>
        <p:spPr>
          <ns44:xfrm xmlns:ns44="http://schemas.openxmlformats.org/drawingml/2006/main">
            <ns44:off x="6580800" y="1807200"/>
            <ns44:ext cx="2106000" cy="1"/>
          </ns44:xfrm>
          <ns45:prstGeom xmlns:ns45="http://schemas.openxmlformats.org/drawingml/2006/main" prst="line">
            <ns45:avLst/>
          </ns45:prstGeom>
          <ns46:ln xmlns:ns46="http://schemas.openxmlformats.org/drawingml/2006/main" w="12700">
            <ns46:solidFill>
              <ns46:srgbClr val="005A9C"/>
            </ns46:solidFill>
          </ns46:ln>
        </p:spPr>
      </p:cxnSp>
      <p:sp>
        <p:nvSpPr>
          <p:cNvPr id="110" name="!!scope.input0"/>
          <p:cNvSpPr/>
          <p:nvPr/>
        </p:nvSpPr>
        <p:spPr>
          <ns47:xfrm xmlns:ns47="http://schemas.openxmlformats.org/drawingml/2006/main">
            <ns47:off x="457200" y="2062800"/>
            <ns47:ext cx="1785600" cy="338400"/>
          </ns47:xfrm>
          <ns48:prstGeom xmlns:ns48="http://schemas.openxmlformats.org/drawingml/2006/main" prst="rect">
            <ns48:avLst/>
          </ns48:prstGeom>
          <ns49:noFill xmlns:ns49="http://schemas.openxmlformats.org/drawingml/2006/main"/>
          <ns50:ln xmlns:ns50="http://schemas.openxmlformats.org/drawingml/2006/main" w="0">
            <ns50:noFill/>
          </ns50:ln>
        </p:spPr>
        <p:txBody>
          <ns51:bodyPr xmlns:ns51="http://schemas.openxmlformats.org/drawingml/2006/main" wrap="square" lIns="0" rIns="0" tIns="0" bIns="0" anchor="t">
            <ns51:noAutofit/>
          </ns51:bodyPr>
          <ns52:lstStyle xmlns:ns52="http://schemas.openxmlformats.org/drawingml/2006/main"/>
          <ns53:p xmlns:ns53="http://schemas.openxmlformats.org/drawingml/2006/main">
            <ns53:pPr algn="l">
              <ns53:lnSpc>
                <ns53:spcPct val="108000"/>
              </ns53:lnSpc>
              <ns53:defRPr sz="1250" b="0">
                <ns53:solidFill>
                  <ns53:srgbClr val="20262C"/>
                </ns53:solidFill>
                <ns53:latin typeface="Arial"/>
                <ns53:ea typeface="Arial"/>
                <ns53:cs typeface="Arial"/>
              </ns53:defRPr>
            </ns53:pPr>
            <ns53:r>
              <ns53:rPr sz="1250" b="0">
                <ns53:solidFill>
                  <ns53:srgbClr val="20262C"/>
                </ns53:solidFill>
                <ns53:latin typeface="Arial"/>
                <ns53:ea typeface="Arial"/>
                <ns53:cs typeface="Arial"/>
              </ns53:rPr>
              <ns53:t>Documents</ns53:t>
            </ns53:r>
          </ns53:p>
        </p:txBody>
      </p:sp>
      <p:sp>
        <p:nvSpPr>
          <p:cNvPr id="111" name="!!scope.work0"/>
          <p:cNvSpPr/>
          <p:nvPr/>
        </p:nvSpPr>
        <p:spPr>
          <ns54:xfrm xmlns:ns54="http://schemas.openxmlformats.org/drawingml/2006/main">
            <ns54:off x="2541600" y="2030400"/>
            <ns54:ext cx="3661200" cy="367200"/>
          </ns54:xfrm>
          <ns55:prstGeom xmlns:ns55="http://schemas.openxmlformats.org/drawingml/2006/main" prst="rect">
            <ns55:avLst/>
          </ns55:prstGeom>
          <ns56:solidFill xmlns:ns56="http://schemas.openxmlformats.org/drawingml/2006/main">
            <ns56:srgbClr val="F3F7FA"/>
          </ns56:solidFill>
          <ns57:ln xmlns:ns57="http://schemas.openxmlformats.org/drawingml/2006/main" w="0">
            <ns57:noFill/>
          </ns57:ln>
        </p:spPr>
        <p:txBody>
          <ns58:bodyPr xmlns:ns58="http://schemas.openxmlformats.org/drawingml/2006/main" wrap="square" lIns="57600" rIns="57600" tIns="57600" bIns="57600" anchor="t">
            <ns58:noAutofit/>
          </ns58:bodyPr>
          <ns59:lstStyle xmlns:ns59="http://schemas.openxmlformats.org/drawingml/2006/main"/>
          <ns60:p xmlns:ns60="http://schemas.openxmlformats.org/drawingml/2006/main">
            <ns60:pPr algn="l">
              <ns60:lnSpc>
                <ns60:spcPct val="108000"/>
              </ns60:lnSpc>
              <ns60:defRPr sz="1300" b="1">
                <ns60:solidFill>
                  <ns60:srgbClr val="005A9C"/>
                </ns60:solidFill>
                <ns60:latin typeface="Arial"/>
                <ns60:ea typeface="Arial"/>
                <ns60:cs typeface="Arial"/>
              </ns60:defRPr>
            </ns60:pPr>
            <ns60:r>
              <ns60:rPr sz="1300" b="1">
                <ns60:solidFill>
                  <ns60:srgbClr val="005A9C"/>
                </ns60:solidFill>
                <ns60:latin typeface="Arial"/>
                <ns60:ea typeface="Arial"/>
                <ns60:cs typeface="Arial"/>
              </ns60:rPr>
              <ns60:t>Retrieve and organize</ns60:t>
            </ns60:r>
          </ns60:p>
        </p:txBody>
      </p:sp>
      <p:sp>
        <p:nvSpPr>
          <p:cNvPr id="112" name="!!scope.output0"/>
          <p:cNvSpPr/>
          <p:nvPr/>
        </p:nvSpPr>
        <p:spPr>
          <ns61:xfrm xmlns:ns61="http://schemas.openxmlformats.org/drawingml/2006/main">
            <ns61:off x="6580800" y="2062800"/>
            <ns61:ext cx="2106000" cy="367200"/>
          </ns61:xfrm>
          <ns62:prstGeom xmlns:ns62="http://schemas.openxmlformats.org/drawingml/2006/main" prst="rect">
            <ns62:avLst/>
          </ns62:prstGeom>
          <ns63:noFill xmlns:ns63="http://schemas.openxmlformats.org/drawingml/2006/main"/>
          <ns64:ln xmlns:ns64="http://schemas.openxmlformats.org/drawingml/2006/main" w="0">
            <ns64:noFill/>
          </ns64:ln>
        </p:spPr>
        <p:txBody>
          <ns65:bodyPr xmlns:ns65="http://schemas.openxmlformats.org/drawingml/2006/main" wrap="square" lIns="0" rIns="0" tIns="0" bIns="0" anchor="t">
            <ns65:noAutofit/>
          </ns65:bodyPr>
          <ns66:lstStyle xmlns:ns66="http://schemas.openxmlformats.org/drawingml/2006/main"/>
          <ns67:p xmlns:ns67="http://schemas.openxmlformats.org/drawingml/2006/main">
            <ns67:pPr algn="l">
              <ns67:lnSpc>
                <ns67:spcPct val="108000"/>
              </ns67:lnSpc>
              <ns67:defRPr sz="1250" b="0">
                <ns67:solidFill>
                  <ns67:srgbClr val="20262C"/>
                </ns67:solidFill>
                <ns67:latin typeface="Arial"/>
                <ns67:ea typeface="Arial"/>
                <ns67:cs typeface="Arial"/>
              </ns67:defRPr>
            </ns67:pPr>
            <ns67:r>
              <ns67:rPr sz="1250" b="0">
                <ns67:solidFill>
                  <ns67:srgbClr val="20262C"/>
                </ns67:solidFill>
                <ns67:latin typeface="Arial"/>
                <ns67:ea typeface="Arial"/>
                <ns67:cs typeface="Arial"/>
              </ns67:rPr>
              <ns67:t>Company analysis</ns67:t>
            </ns67:r>
          </ns67:p>
        </p:txBody>
      </p:sp>
      <p:sp>
        <p:nvSpPr>
          <p:cNvPr id="113" name="!!scope.input1"/>
          <p:cNvSpPr/>
          <p:nvPr/>
        </p:nvSpPr>
        <p:spPr>
          <ns68:xfrm xmlns:ns68="http://schemas.openxmlformats.org/drawingml/2006/main">
            <ns68:off x="457200" y="2527200"/>
            <ns68:ext cx="1785600" cy="338400"/>
          </ns68:xfrm>
          <ns69:prstGeom xmlns:ns69="http://schemas.openxmlformats.org/drawingml/2006/main" prst="rect">
            <ns69:avLst/>
          </ns69:prstGeom>
          <ns70:noFill xmlns:ns70="http://schemas.openxmlformats.org/drawingml/2006/main"/>
          <ns71:ln xmlns:ns71="http://schemas.openxmlformats.org/drawingml/2006/main" w="0">
            <ns71:noFill/>
          </ns71:ln>
        </p:spPr>
        <p:txBody>
          <ns72:bodyPr xmlns:ns72="http://schemas.openxmlformats.org/drawingml/2006/main" wrap="square" lIns="0" rIns="0" tIns="0" bIns="0" anchor="t">
            <ns72:noAutofit/>
          </ns72:bodyPr>
          <ns73:lstStyle xmlns:ns73="http://schemas.openxmlformats.org/drawingml/2006/main"/>
          <ns74:p xmlns:ns74="http://schemas.openxmlformats.org/drawingml/2006/main">
            <ns74:pPr algn="l">
              <ns74:lnSpc>
                <ns74:spcPct val="108000"/>
              </ns74:lnSpc>
              <ns74:defRPr sz="1250" b="0">
                <ns74:solidFill>
                  <ns74:srgbClr val="20262C"/>
                </ns74:solidFill>
                <ns74:latin typeface="Arial"/>
                <ns74:ea typeface="Arial"/>
                <ns74:cs typeface="Arial"/>
              </ns74:defRPr>
            </ns74:pPr>
            <ns74:r>
              <ns74:rPr sz="1250" b="0">
                <ns74:solidFill>
                  <ns74:srgbClr val="20262C"/>
                </ns74:solidFill>
                <ns74:latin typeface="Arial"/>
                <ns74:ea typeface="Arial"/>
                <ns74:cs typeface="Arial"/>
              </ns74:rPr>
              <ns74:t>Data</ns74:t>
            </ns74:r>
          </ns74:p>
        </p:txBody>
      </p:sp>
      <p:sp>
        <p:nvSpPr>
          <p:cNvPr id="114" name="!!scope.work1"/>
          <p:cNvSpPr/>
          <p:nvPr/>
        </p:nvSpPr>
        <p:spPr>
          <ns75:xfrm xmlns:ns75="http://schemas.openxmlformats.org/drawingml/2006/main">
            <ns75:off x="2541600" y="2494800"/>
            <ns75:ext cx="3661200" cy="367200"/>
          </ns75:xfrm>
          <ns76:prstGeom xmlns:ns76="http://schemas.openxmlformats.org/drawingml/2006/main" prst="rect">
            <ns76:avLst/>
          </ns76:prstGeom>
          <ns77:solidFill xmlns:ns77="http://schemas.openxmlformats.org/drawingml/2006/main">
            <ns77:srgbClr val="F3F7FA"/>
          </ns77:solidFill>
          <ns78:ln xmlns:ns78="http://schemas.openxmlformats.org/drawingml/2006/main" w="0">
            <ns78:noFill/>
          </ns78:ln>
        </p:spPr>
        <p:txBody>
          <ns79:bodyPr xmlns:ns79="http://schemas.openxmlformats.org/drawingml/2006/main" wrap="square" lIns="57600" rIns="57600" tIns="57600" bIns="57600" anchor="t">
            <ns79:noAutofit/>
          </ns79:bodyPr>
          <ns80:lstStyle xmlns:ns80="http://schemas.openxmlformats.org/drawingml/2006/main"/>
          <ns81:p xmlns:ns81="http://schemas.openxmlformats.org/drawingml/2006/main">
            <ns81:pPr algn="l">
              <ns81:lnSpc>
                <ns81:spcPct val="108000"/>
              </ns81:lnSpc>
              <ns81:defRPr sz="1300" b="1">
                <ns81:solidFill>
                  <ns81:srgbClr val="005A9C"/>
                </ns81:solidFill>
                <ns81:latin typeface="Arial"/>
                <ns81:ea typeface="Arial"/>
                <ns81:cs typeface="Arial"/>
              </ns81:defRPr>
            </ns81:pPr>
            <ns81:r>
              <ns81:rPr sz="1300" b="1">
                <ns81:solidFill>
                  <ns81:srgbClr val="005A9C"/>
                </ns81:solidFill>
                <ns81:latin typeface="Arial"/>
                <ns81:ea typeface="Arial"/>
                <ns81:cs typeface="Arial"/>
              </ns81:rPr>
              <ns81:t>Calculate and explain</ns81:t>
            </ns81:r>
          </ns81:p>
        </p:txBody>
      </p:sp>
      <p:sp>
        <p:nvSpPr>
          <p:cNvPr id="115" name="!!scope.output1"/>
          <p:cNvSpPr/>
          <p:nvPr/>
        </p:nvSpPr>
        <p:spPr>
          <ns82:xfrm xmlns:ns82="http://schemas.openxmlformats.org/drawingml/2006/main">
            <ns82:off x="6580800" y="2527200"/>
            <ns82:ext cx="2106000" cy="3672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8000"/>
              </ns88:lnSpc>
              <ns88:defRPr sz="1250" b="0">
                <ns88:solidFill>
                  <ns88:srgbClr val="20262C"/>
                </ns88:solidFill>
                <ns88:latin typeface="Arial"/>
                <ns88:ea typeface="Arial"/>
                <ns88:cs typeface="Arial"/>
              </ns88:defRPr>
            </ns88:pPr>
            <ns88:r>
              <ns88:rPr sz="1250" b="0">
                <ns88:solidFill>
                  <ns88:srgbClr val="20262C"/>
                </ns88:solidFill>
                <ns88:latin typeface="Arial"/>
                <ns88:ea typeface="Arial"/>
                <ns88:cs typeface="Arial"/>
              </ns88:rPr>
              <ns88:t>Quote requests and comparisons</ns88:t>
            </ns88:r>
          </ns88:p>
        </p:txBody>
      </p:sp>
      <p:sp>
        <p:nvSpPr>
          <p:cNvPr id="116" name="!!scope.input2"/>
          <p:cNvSpPr/>
          <p:nvPr/>
        </p:nvSpPr>
        <p:spPr>
          <ns89:xfrm xmlns:ns89="http://schemas.openxmlformats.org/drawingml/2006/main">
            <ns89:off x="457200" y="2991600"/>
            <ns89:ext cx="1785600" cy="3384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250" b="0">
                <ns95:solidFill>
                  <ns95:srgbClr val="20262C"/>
                </ns95:solidFill>
                <ns95:latin typeface="Arial"/>
                <ns95:ea typeface="Arial"/>
                <ns95:cs typeface="Arial"/>
              </ns95:defRPr>
            </ns95:pPr>
            <ns95:r>
              <ns95:rPr sz="1250" b="0">
                <ns95:solidFill>
                  <ns95:srgbClr val="20262C"/>
                </ns95:solidFill>
                <ns95:latin typeface="Arial"/>
                <ns95:ea typeface="Arial"/>
                <ns95:cs typeface="Arial"/>
              </ns95:rPr>
              <ns95:t>Messages</ns95:t>
            </ns95:r>
          </ns95:p>
        </p:txBody>
      </p:sp>
      <p:sp>
        <p:nvSpPr>
          <p:cNvPr id="117" name="!!scope.work2"/>
          <p:cNvSpPr/>
          <p:nvPr/>
        </p:nvSpPr>
        <p:spPr>
          <ns96:xfrm xmlns:ns96="http://schemas.openxmlformats.org/drawingml/2006/main">
            <ns96:off x="2541600" y="2959200"/>
            <ns96:ext cx="3661200" cy="367200"/>
          </ns96:xfrm>
          <ns97:prstGeom xmlns:ns97="http://schemas.openxmlformats.org/drawingml/2006/main" prst="rect">
            <ns97:avLst/>
          </ns97:prstGeom>
          <ns98:solidFill xmlns:ns98="http://schemas.openxmlformats.org/drawingml/2006/main">
            <ns98:srgbClr val="F3F7FA"/>
          </ns98:solidFill>
          <ns99:ln xmlns:ns99="http://schemas.openxmlformats.org/drawingml/2006/main" w="0">
            <ns99:noFill/>
          </ns99:ln>
        </p:spPr>
        <p:txBody>
          <ns100:bodyPr xmlns:ns100="http://schemas.openxmlformats.org/drawingml/2006/main" wrap="square" lIns="57600" rIns="57600" tIns="57600" bIns="57600" anchor="t">
            <ns100:noAutofit/>
          </ns100:bodyPr>
          <ns101:lstStyle xmlns:ns101="http://schemas.openxmlformats.org/drawingml/2006/main"/>
          <ns102:p xmlns:ns102="http://schemas.openxmlformats.org/drawingml/2006/main">
            <ns102:pPr algn="l">
              <ns102:lnSpc>
                <ns102:spcPct val="108000"/>
              </ns102:lnSpc>
              <ns102:defRPr sz="1300" b="1">
                <ns102:solidFill>
                  <ns102:srgbClr val="005A9C"/>
                </ns102:solidFill>
                <ns102:latin typeface="Arial"/>
                <ns102:ea typeface="Arial"/>
                <ns102:cs typeface="Arial"/>
              </ns102:defRPr>
            </ns102:pPr>
            <ns102:r>
              <ns102:rPr sz="1300" b="1">
                <ns102:solidFill>
                  <ns102:srgbClr val="005A9C"/>
                </ns102:solidFill>
                <ns102:latin typeface="Arial"/>
                <ns102:ea typeface="Arial"/>
                <ns102:cs typeface="Arial"/>
              </ns102:rPr>
              <ns102:t>Query systems and run tasks</ns102:t>
            </ns102:r>
          </ns102:p>
        </p:txBody>
      </p:sp>
      <p:sp>
        <p:nvSpPr>
          <p:cNvPr id="118" name="!!scope.output2"/>
          <p:cNvSpPr/>
          <p:nvPr/>
        </p:nvSpPr>
        <p:spPr>
          <ns103:xfrm xmlns:ns103="http://schemas.openxmlformats.org/drawingml/2006/main">
            <ns103:off x="6580800" y="2991600"/>
            <ns103:ext cx="2106000" cy="3672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8000"/>
              </ns109:lnSpc>
              <ns109:defRPr sz="1250" b="0">
                <ns109:solidFill>
                  <ns109:srgbClr val="20262C"/>
                </ns109:solidFill>
                <ns109:latin typeface="Arial"/>
                <ns109:ea typeface="Arial"/>
                <ns109:cs typeface="Arial"/>
              </ns109:defRPr>
            </ns109:pPr>
            <ns109:r>
              <ns109:rPr sz="1250" b="0">
                <ns109:solidFill>
                  <ns109:srgbClr val="20262C"/>
                </ns109:solidFill>
                <ns109:latin typeface="Arial"/>
                <ns109:ea typeface="Arial"/>
                <ns109:cs typeface="Arial"/>
              </ns109:rPr>
              <ns109:t>Client materials</ns109:t>
            </ns109:r>
          </ns109:p>
        </p:txBody>
      </p:sp>
      <p:sp>
        <p:nvSpPr>
          <p:cNvPr id="119" name="!!scope.input3"/>
          <p:cNvSpPr/>
          <p:nvPr/>
        </p:nvSpPr>
        <p:spPr>
          <ns110:xfrm xmlns:ns110="http://schemas.openxmlformats.org/drawingml/2006/main">
            <ns110:off x="457200" y="3456000"/>
            <ns110:ext cx="1785600" cy="3384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8000"/>
              </ns116:lnSpc>
              <ns116:defRPr sz="1250" b="0">
                <ns116:solidFill>
                  <ns116:srgbClr val="20262C"/>
                </ns116:solidFill>
                <ns116:latin typeface="Arial"/>
                <ns116:ea typeface="Arial"/>
                <ns116:cs typeface="Arial"/>
              </ns116:defRPr>
            </ns116:pPr>
            <ns116:r>
              <ns116:rPr sz="1250" b="0">
                <ns116:solidFill>
                  <ns116:srgbClr val="20262C"/>
                </ns116:solidFill>
                <ns116:latin typeface="Arial"/>
                <ns116:ea typeface="Arial"/>
                <ns116:cs typeface="Arial"/>
              </ns116:rPr>
              <ns116:t>Business requests</ns116:t>
            </ns116:r>
          </ns116:p>
        </p:txBody>
      </p:sp>
      <p:sp>
        <p:nvSpPr>
          <p:cNvPr id="120" name="!!scope.work3"/>
          <p:cNvSpPr/>
          <p:nvPr/>
        </p:nvSpPr>
        <p:spPr>
          <ns117:xfrm xmlns:ns117="http://schemas.openxmlformats.org/drawingml/2006/main">
            <ns117:off x="2541600" y="3423600"/>
            <ns117:ext cx="3661200" cy="367200"/>
          </ns117:xfrm>
          <ns118:prstGeom xmlns:ns118="http://schemas.openxmlformats.org/drawingml/2006/main" prst="rect">
            <ns118:avLst/>
          </ns118:prstGeom>
          <ns119:solidFill xmlns:ns119="http://schemas.openxmlformats.org/drawingml/2006/main">
            <ns119:srgbClr val="F3F7FA"/>
          </ns119:solidFill>
          <ns120:ln xmlns:ns120="http://schemas.openxmlformats.org/drawingml/2006/main" w="0">
            <ns120:noFill/>
          </ns120:ln>
        </p:spPr>
        <p:txBody>
          <ns121:bodyPr xmlns:ns121="http://schemas.openxmlformats.org/drawingml/2006/main" wrap="square" lIns="57600" rIns="57600" tIns="57600" bIns="57600" anchor="t">
            <ns121:noAutofit/>
          </ns121:bodyPr>
          <ns122:lstStyle xmlns:ns122="http://schemas.openxmlformats.org/drawingml/2006/main"/>
          <ns123:p xmlns:ns123="http://schemas.openxmlformats.org/drawingml/2006/main">
            <ns123:pPr algn="l">
              <ns123:lnSpc>
                <ns123:spcPct val="108000"/>
              </ns123:lnSpc>
              <ns123:defRPr sz="1300" b="1">
                <ns123:solidFill>
                  <ns123:srgbClr val="005A9C"/>
                </ns123:solidFill>
                <ns123:latin typeface="Arial"/>
                <ns123:ea typeface="Arial"/>
                <ns123:cs typeface="Arial"/>
              </ns123:defRPr>
            </ns123:pPr>
            <ns123:r>
              <ns123:rPr sz="1300" b="1">
                <ns123:solidFill>
                  <ns123:srgbClr val="005A9C"/>
                </ns123:solidFill>
                <ns123:latin typeface="Arial"/>
                <ns123:ea typeface="Arial"/>
                <ns123:cs typeface="Arial"/>
              </ns123:rPr>
              <ns123:t>Draft documents and code</ns123:t>
            </ns123:r>
          </ns123:p>
        </p:txBody>
      </p:sp>
      <p:sp>
        <p:nvSpPr>
          <p:cNvPr id="121" name="!!scope.output3"/>
          <p:cNvSpPr/>
          <p:nvPr/>
        </p:nvSpPr>
        <p:spPr>
          <ns124:xfrm xmlns:ns124="http://schemas.openxmlformats.org/drawingml/2006/main">
            <ns124:off x="6580800" y="3456000"/>
            <ns124:ext cx="2106000" cy="3672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250" b="0">
                <ns130:solidFill>
                  <ns130:srgbClr val="20262C"/>
                </ns130:solidFill>
                <ns130:latin typeface="Arial"/>
                <ns130:ea typeface="Arial"/>
                <ns130:cs typeface="Arial"/>
              </ns130:defRPr>
            </ns130:pPr>
            <ns130:r>
              <ns130:rPr sz="1250" b="0">
                <ns130:solidFill>
                  <ns130:srgbClr val="20262C"/>
                </ns130:solidFill>
                <ns130:latin typeface="Arial"/>
                <ns130:ea typeface="Arial"/>
                <ns130:cs typeface="Arial"/>
              </ns130:rPr>
              <ns130:t>Business tools</ns130:t>
            </ns130:r>
          </ns130:p>
        </p:txBody>
      </p:sp>
      <p:cxnSp>
        <p:nvCxnSpPr>
          <p:cNvPr id="122" name="scope.input.work"/>
          <p:cNvCxnSpPr/>
          <p:nvPr/>
        </p:nvCxnSpPr>
        <p:spPr>
          <ns131:xfrm xmlns:ns131="http://schemas.openxmlformats.org/drawingml/2006/main">
            <ns131:off x="2289600" y="2934000"/>
            <ns131:ext cx="205200" cy="1"/>
          </ns131:xfrm>
          <ns132:prstGeom xmlns:ns132="http://schemas.openxmlformats.org/drawingml/2006/main" prst="line">
            <ns132:avLst/>
          </ns132:prstGeom>
          <ns133:ln xmlns:ns133="http://schemas.openxmlformats.org/drawingml/2006/main" w="12700">
            <ns133:solidFill>
              <ns133:srgbClr val="005A9C"/>
            </ns133:solidFill>
            <ns133:tailEnd type="triangle" w="sm" len="sm"/>
          </ns133:ln>
        </p:spPr>
      </p:cxnSp>
      <p:cxnSp>
        <p:nvCxnSpPr>
          <p:cNvPr id="123" name="scope.work.output"/>
          <p:cNvCxnSpPr/>
          <p:nvPr/>
        </p:nvCxnSpPr>
        <p:spPr>
          <ns134:xfrm xmlns:ns134="http://schemas.openxmlformats.org/drawingml/2006/main">
            <ns134:off x="6256800" y="2934000"/>
            <ns134:ext cx="270000" cy="1"/>
          </ns134:xfrm>
          <ns135:prstGeom xmlns:ns135="http://schemas.openxmlformats.org/drawingml/2006/main" prst="line">
            <ns135:avLst/>
          </ns135:prstGeom>
          <ns136:ln xmlns:ns136="http://schemas.openxmlformats.org/drawingml/2006/main" w="12700">
            <ns136:solidFill>
              <ns136:srgbClr val="005A9C"/>
            </ns136:solidFill>
            <ns136:tailEnd type="triangle" w="sm" len="sm"/>
          </ns136:ln>
        </p:spPr>
      </p:cxnSp>
      <p:sp>
        <p:nvSpPr>
          <p:cNvPr id="124" name="!!scope.result"/>
          <p:cNvSpPr/>
          <p:nvPr/>
        </p:nvSpPr>
        <p:spPr>
          <ns137:xfrm xmlns:ns137="http://schemas.openxmlformats.org/drawingml/2006/main">
            <ns137:off x="457200" y="4104000"/>
            <ns137:ext cx="8229600" cy="2520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8000"/>
              </ns143:lnSpc>
              <ns143:defRPr sz="1400" b="1">
                <ns143:solidFill>
                  <ns143:srgbClr val="005A9C"/>
                </ns143:solidFill>
                <ns143:latin typeface="Arial"/>
                <ns143:ea typeface="Arial"/>
                <ns143:cs typeface="Arial"/>
              </ns143:defRPr>
            </ns143:pPr>
            <ns143:r>
              <ns143:rPr sz="1400" b="1">
                <ns143:solidFill>
                  <ns143:srgbClr val="005A9C"/>
                </ns143:solidFill>
                <ns143:latin typeface="Arial"/>
                <ns143:ea typeface="Arial"/>
                <ns143:cs typeface="Arial"/>
              </ns143:rPr>
              <ns143:t>Proposed applications address specific employee tasks</ns143:t>
            </ns143:r>
          </ns143:p>
        </p:txBody>
      </p:sp>
    </p:spTree>
    <p:extLst>
      <p:ext uri="{BB962C8B-B14F-4D97-AF65-F5344CB8AC3E}">
        <p14:creationId xmlns:p14="http://schemas.microsoft.com/office/powerpoint/2010/main" val="136616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Seven application areas across the firm</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Application overview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map.office.front"/>
          <p:cNvSpPr/>
          <p:nvPr/>
        </p:nvSpPr>
        <p:spPr>
          <ns17:xfrm xmlns:ns17="http://schemas.openxmlformats.org/drawingml/2006/main">
            <ns17:off x="457200" y="1537200"/>
            <ns17:ext cx="2559600" cy="2700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1600" b="1">
                <ns23:solidFill>
                  <ns23:srgbClr val="005A9C"/>
                </ns23:solidFill>
                <ns23:latin typeface="Arial"/>
                <ns23:ea typeface="Arial"/>
                <ns23:cs typeface="Arial"/>
              </ns23:defRPr>
            </ns23:pPr>
            <ns23:r>
              <ns23:rPr sz="1600" b="1">
                <ns23:solidFill>
                  <ns23:srgbClr val="005A9C"/>
                </ns23:solidFill>
                <ns23:latin typeface="Arial"/>
                <ns23:ea typeface="Arial"/>
                <ns23:cs typeface="Arial"/>
              </ns23:rPr>
              <ns23:t>Front office</ns23:t>
            </ns23:r>
          </ns23:p>
        </p:txBody>
      </p:sp>
      <p:cxnSp>
        <p:nvCxnSpPr>
          <p:cNvPr id="105" name="map.office.rule.front"/>
          <p:cNvCxnSpPr/>
          <p:nvPr/>
        </p:nvCxnSpPr>
        <p:spPr>
          <ns24:xfrm xmlns:ns24="http://schemas.openxmlformats.org/drawingml/2006/main">
            <ns24:off x="457200" y="1872000"/>
            <ns24:ext cx="2559600" cy="1"/>
          </ns24:xfrm>
          <ns25:prstGeom xmlns:ns25="http://schemas.openxmlformats.org/drawingml/2006/main" prst="line">
            <ns25:avLst/>
          </ns25:prstGeom>
          <ns26:ln xmlns:ns26="http://schemas.openxmlformats.org/drawingml/2006/main" w="12700">
            <ns26:solidFill>
              <ns26:srgbClr val="005A9C"/>
            </ns26:solidFill>
          </ns26:ln>
        </p:spPr>
      </p:cxnSp>
      <p:sp>
        <p:nvSpPr>
          <p:cNvPr id="106" name="!!task.research"/>
          <p:cNvSpPr/>
          <p:nvPr/>
        </p:nvSpPr>
        <p:spPr>
          <ns27:xfrm xmlns:ns27="http://schemas.openxmlformats.org/drawingml/2006/main">
            <ns27:off x="457200" y="2008800"/>
            <ns27:ext cx="2559600" cy="241200"/>
          </ns27:xfrm>
          <ns28:prstGeom xmlns:ns28="http://schemas.openxmlformats.org/drawingml/2006/main" prst="rect">
            <ns28:avLst/>
          </ns28:prstGeom>
          <ns29:noFill xmlns:ns29="http://schemas.openxmlformats.org/drawingml/2006/main"/>
          <ns30:ln xmlns:ns30="http://schemas.openxmlformats.org/drawingml/2006/main" w="0">
            <ns30:noFill/>
          </ns30:ln>
        </p:spPr>
        <p:txBody>
          <ns31:bodyPr xmlns:ns31="http://schemas.openxmlformats.org/drawingml/2006/main" wrap="square" lIns="0" rIns="0" tIns="0" bIns="0" anchor="t">
            <ns31:noAutofit/>
          </ns31:bodyPr>
          <ns32:lstStyle xmlns:ns32="http://schemas.openxmlformats.org/drawingml/2006/main"/>
          <ns33:p xmlns:ns33="http://schemas.openxmlformats.org/drawingml/2006/main">
            <ns33:pPr algn="l">
              <ns33:lnSpc>
                <ns33:spcPct val="108000"/>
              </ns33:lnSpc>
              <ns33:defRPr sz="1250" b="1">
                <ns33:solidFill>
                  <ns33:srgbClr val="005A9C"/>
                </ns33:solidFill>
                <ns33:latin typeface="Arial"/>
                <ns33:ea typeface="Arial"/>
                <ns33:cs typeface="Arial"/>
              </ns33:defRPr>
            </ns33:pPr>
            <ns33:r>
              <ns33:rPr sz="1250" b="1">
                <ns33:solidFill>
                  <ns33:srgbClr val="005A9C"/>
                </ns33:solidFill>
                <ns33:latin typeface="Arial"/>
                <ns33:ea typeface="Arial"/>
                <ns33:cs typeface="Arial"/>
              </ns33:rPr>
              <ns33:t>1  Research</ns33:t>
            </ns33:r>
          </ns33:p>
        </p:txBody>
      </p:sp>
      <p:sp>
        <p:nvSpPr>
          <p:cNvPr id="107" name="!!task.research.outcome"/>
          <p:cNvSpPr/>
          <p:nvPr/>
        </p:nvSpPr>
        <p:spPr>
          <ns34:xfrm xmlns:ns34="http://schemas.openxmlformats.org/drawingml/2006/main">
            <ns34:off x="457200" y="2278800"/>
            <ns34:ext cx="2559600" cy="338400"/>
          </ns34:xfrm>
          <ns35:prstGeom xmlns:ns35="http://schemas.openxmlformats.org/drawingml/2006/main" prst="rect">
            <ns35:avLst/>
          </ns35:prstGeom>
          <ns36:noFill xmlns:ns36="http://schemas.openxmlformats.org/drawingml/2006/main"/>
          <ns37:ln xmlns:ns37="http://schemas.openxmlformats.org/drawingml/2006/main" w="0">
            <ns37:noFill/>
          </ns37:ln>
        </p:spPr>
        <p:txBody>
          <ns38:bodyPr xmlns:ns38="http://schemas.openxmlformats.org/drawingml/2006/main" wrap="square" lIns="0" rIns="0" tIns="0" bIns="0" anchor="t">
            <ns38:noAutofit/>
          </ns38:bodyPr>
          <ns39:lstStyle xmlns:ns39="http://schemas.openxmlformats.org/drawingml/2006/main"/>
          <ns40:p xmlns:ns40="http://schemas.openxmlformats.org/drawingml/2006/main">
            <ns40:pPr algn="l">
              <ns40:lnSpc>
                <ns40:spcPct val="108000"/>
              </ns40:lnSpc>
              <ns40:defRPr sz="1100" b="0">
                <ns40:solidFill>
                  <ns40:srgbClr val="20262C"/>
                </ns40:solidFill>
                <ns40:latin typeface="Arial"/>
                <ns40:ea typeface="Arial"/>
                <ns40:cs typeface="Arial"/>
              </ns40:defRPr>
            </ns40:pPr>
            <ns40:r>
              <ns40:rPr sz="1100" b="0">
                <ns40:solidFill>
                  <ns40:srgbClr val="20262C"/>
                </ns40:solidFill>
                <ns40:latin typeface="Arial"/>
                <ns40:ea typeface="Arial"/>
                <ns40:cs typeface="Arial"/>
              </ns40:rPr>
              <ns40:t>Analyze company information</ns40:t>
            </ns40:r>
          </ns40:p>
        </p:txBody>
      </p:sp>
      <p:sp>
        <p:nvSpPr>
          <p:cNvPr id="108" name="!!task.trade"/>
          <p:cNvSpPr/>
          <p:nvPr/>
        </p:nvSpPr>
        <p:spPr>
          <ns41:xfrm xmlns:ns41="http://schemas.openxmlformats.org/drawingml/2006/main">
            <ns41:off x="457200" y="2649600"/>
            <ns41:ext cx="2559600" cy="241200"/>
          </ns41:xfrm>
          <ns42:prstGeom xmlns:ns42="http://schemas.openxmlformats.org/drawingml/2006/main" prst="rect">
            <ns42:avLst/>
          </ns42:prstGeom>
          <ns43:noFill xmlns:ns43="http://schemas.openxmlformats.org/drawingml/2006/main"/>
          <ns44:ln xmlns:ns44="http://schemas.openxmlformats.org/drawingml/2006/main" w="0">
            <ns44:noFill/>
          </ns44:ln>
        </p:spPr>
        <p:txBody>
          <ns45:bodyPr xmlns:ns45="http://schemas.openxmlformats.org/drawingml/2006/main" wrap="square" lIns="0" rIns="0" tIns="0" bIns="0" anchor="t">
            <ns45:noAutofit/>
          </ns45:bodyPr>
          <ns46:lstStyle xmlns:ns46="http://schemas.openxmlformats.org/drawingml/2006/main"/>
          <ns47:p xmlns:ns47="http://schemas.openxmlformats.org/drawingml/2006/main">
            <ns47:pPr algn="l">
              <ns47:lnSpc>
                <ns47:spcPct val="108000"/>
              </ns47:lnSpc>
              <ns47:defRPr sz="1250" b="1">
                <ns47:solidFill>
                  <ns47:srgbClr val="005A9C"/>
                </ns47:solidFill>
                <ns47:latin typeface="Arial"/>
                <ns47:ea typeface="Arial"/>
                <ns47:cs typeface="Arial"/>
              </ns47:defRPr>
            </ns47:pPr>
            <ns47:r>
              <ns47:rPr sz="1250" b="1">
                <ns47:solidFill>
                  <ns47:srgbClr val="005A9C"/>
                </ns47:solidFill>
                <ns47:latin typeface="Arial"/>
                <ns47:ea typeface="Arial"/>
                <ns47:cs typeface="Arial"/>
              </ns47:rPr>
              <ns47:t>2  Trading support</ns47:t>
            </ns47:r>
          </ns47:p>
        </p:txBody>
      </p:sp>
      <p:sp>
        <p:nvSpPr>
          <p:cNvPr id="109" name="!!task.trade.outcome"/>
          <p:cNvSpPr/>
          <p:nvPr/>
        </p:nvSpPr>
        <p:spPr>
          <ns48:xfrm xmlns:ns48="http://schemas.openxmlformats.org/drawingml/2006/main">
            <ns48:off x="457200" y="2919600"/>
            <ns48:ext cx="2559600" cy="338400"/>
          </ns48:xfrm>
          <ns49:prstGeom xmlns:ns49="http://schemas.openxmlformats.org/drawingml/2006/main" prst="rect">
            <ns49:avLst/>
          </ns49:prstGeom>
          <ns50:noFill xmlns:ns50="http://schemas.openxmlformats.org/drawingml/2006/main"/>
          <ns51:ln xmlns:ns51="http://schemas.openxmlformats.org/drawingml/2006/main" w="0">
            <ns51:noFill/>
          </ns51:ln>
        </p:spPr>
        <p:txBody>
          <ns52:bodyPr xmlns:ns52="http://schemas.openxmlformats.org/drawingml/2006/main" wrap="square" lIns="0" rIns="0" tIns="0" bIns="0" anchor="t">
            <ns52:noAutofit/>
          </ns52:bodyPr>
          <ns53:lstStyle xmlns:ns53="http://schemas.openxmlformats.org/drawingml/2006/main"/>
          <ns54:p xmlns:ns54="http://schemas.openxmlformats.org/drawingml/2006/main">
            <ns54:pPr algn="l">
              <ns54:lnSpc>
                <ns54:spcPct val="108000"/>
              </ns54:lnSpc>
              <ns54:defRPr sz="1100" b="0">
                <ns54:solidFill>
                  <ns54:srgbClr val="20262C"/>
                </ns54:solidFill>
                <ns54:latin typeface="Arial"/>
                <ns54:ea typeface="Arial"/>
                <ns54:cs typeface="Arial"/>
              </ns54:defRPr>
            </ns54:pPr>
            <ns54:r>
              <ns54:rPr sz="1100" b="0">
                <ns54:solidFill>
                  <ns54:srgbClr val="20262C"/>
                </ns54:solidFill>
                <ns54:latin typeface="Arial"/>
                <ns54:ea typeface="Arial"/>
                <ns54:cs typeface="Arial"/>
              </ns54:rPr>
              <ns54:t>Prepare quote requests</ns54:t>
            </ns54:r>
          </ns54:p>
        </p:txBody>
      </p:sp>
      <p:sp>
        <p:nvSpPr>
          <p:cNvPr id="110" name="!!task.client"/>
          <p:cNvSpPr/>
          <p:nvPr/>
        </p:nvSpPr>
        <p:spPr>
          <ns55:xfrm xmlns:ns55="http://schemas.openxmlformats.org/drawingml/2006/main">
            <ns55:off x="457200" y="3290400"/>
            <ns55:ext cx="2559600" cy="2412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250" b="1">
                <ns61:solidFill>
                  <ns61:srgbClr val="005A9C"/>
                </ns61:solidFill>
                <ns61:latin typeface="Arial"/>
                <ns61:ea typeface="Arial"/>
                <ns61:cs typeface="Arial"/>
              </ns61:defRPr>
            </ns61:pPr>
            <ns61:r>
              <ns61:rPr sz="1250" b="1">
                <ns61:solidFill>
                  <ns61:srgbClr val="005A9C"/>
                </ns61:solidFill>
                <ns61:latin typeface="Arial"/>
                <ns61:ea typeface="Arial"/>
                <ns61:cs typeface="Arial"/>
              </ns61:rPr>
              <ns61:t>3  Client materials</ns61:t>
            </ns61:r>
          </ns61:p>
        </p:txBody>
      </p:sp>
      <p:sp>
        <p:nvSpPr>
          <p:cNvPr id="111" name="!!task.client.outcome"/>
          <p:cNvSpPr/>
          <p:nvPr/>
        </p:nvSpPr>
        <p:spPr>
          <ns62:xfrm xmlns:ns62="http://schemas.openxmlformats.org/drawingml/2006/main">
            <ns62:off x="457200" y="3560400"/>
            <ns62:ext cx="2559600" cy="3384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00" b="0">
                <ns68:solidFill>
                  <ns68:srgbClr val="20262C"/>
                </ns68:solidFill>
                <ns68:latin typeface="Arial"/>
                <ns68:ea typeface="Arial"/>
                <ns68:cs typeface="Arial"/>
              </ns68:defRPr>
            </ns68:pPr>
            <ns68:r>
              <ns68:rPr sz="1100" b="0">
                <ns68:solidFill>
                  <ns68:srgbClr val="20262C"/>
                </ns68:solidFill>
                <ns68:latin typeface="Arial"/>
                <ns68:ea typeface="Arial"/>
                <ns68:cs typeface="Arial"/>
              </ns68:rPr>
              <ns68:t>Draft client communications</ns68:t>
            </ns68:r>
          </ns68:p>
        </p:txBody>
      </p:sp>
      <p:sp>
        <p:nvSpPr>
          <p:cNvPr id="112" name="map.office.middle"/>
          <p:cNvSpPr/>
          <p:nvPr/>
        </p:nvSpPr>
        <p:spPr>
          <ns69:xfrm xmlns:ns69="http://schemas.openxmlformats.org/drawingml/2006/main">
            <ns69:off x="3294000" y="1537200"/>
            <ns69:ext cx="2556000" cy="27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600" b="1">
                <ns75:solidFill>
                  <ns75:srgbClr val="005A9C"/>
                </ns75:solidFill>
                <ns75:latin typeface="Arial"/>
                <ns75:ea typeface="Arial"/>
                <ns75:cs typeface="Arial"/>
              </ns75:defRPr>
            </ns75:pPr>
            <ns75:r>
              <ns75:rPr sz="1600" b="1">
                <ns75:solidFill>
                  <ns75:srgbClr val="005A9C"/>
                </ns75:solidFill>
                <ns75:latin typeface="Arial"/>
                <ns75:ea typeface="Arial"/>
                <ns75:cs typeface="Arial"/>
              </ns75:rPr>
              <ns75:t>Middle office</ns75:t>
            </ns75:r>
          </ns75:p>
        </p:txBody>
      </p:sp>
      <p:cxnSp>
        <p:nvCxnSpPr>
          <p:cNvPr id="113" name="map.office.rule.middle"/>
          <p:cNvCxnSpPr/>
          <p:nvPr/>
        </p:nvCxnSpPr>
        <p:spPr>
          <ns76:xfrm xmlns:ns76="http://schemas.openxmlformats.org/drawingml/2006/main">
            <ns76:off x="3294000" y="1872000"/>
            <ns76:ext cx="2556000" cy="1"/>
          </ns76:xfrm>
          <ns77:prstGeom xmlns:ns77="http://schemas.openxmlformats.org/drawingml/2006/main" prst="line">
            <ns77:avLst/>
          </ns77:prstGeom>
          <ns78:ln xmlns:ns78="http://schemas.openxmlformats.org/drawingml/2006/main" w="12700">
            <ns78:solidFill>
              <ns78:srgbClr val="005A9C"/>
            </ns78:solidFill>
          </ns78:ln>
        </p:spPr>
      </p:cxnSp>
      <p:sp>
        <p:nvSpPr>
          <p:cNvPr id="114" name="!!task.review"/>
          <p:cNvSpPr/>
          <p:nvPr/>
        </p:nvSpPr>
        <p:spPr>
          <ns79:xfrm xmlns:ns79="http://schemas.openxmlformats.org/drawingml/2006/main">
            <ns79:off x="3294000" y="2008800"/>
            <ns79:ext cx="2556000" cy="2412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8000"/>
              </ns85:lnSpc>
              <ns85:defRPr sz="1250" b="1">
                <ns85:solidFill>
                  <ns85:srgbClr val="005A9C"/>
                </ns85:solidFill>
                <ns85:latin typeface="Arial"/>
                <ns85:ea typeface="Arial"/>
                <ns85:cs typeface="Arial"/>
              </ns85:defRPr>
            </ns85:pPr>
            <ns85:r>
              <ns85:rPr sz="1250" b="1">
                <ns85:solidFill>
                  <ns85:srgbClr val="005A9C"/>
                </ns85:solidFill>
                <ns85:latin typeface="Arial"/>
                <ns85:ea typeface="Arial"/>
                <ns85:cs typeface="Arial"/>
              </ns85:rPr>
              <ns85:t>4  Content review</ns85:t>
            </ns85:r>
          </ns85:p>
        </p:txBody>
      </p:sp>
      <p:sp>
        <p:nvSpPr>
          <p:cNvPr id="115" name="!!task.review.outcome"/>
          <p:cNvSpPr/>
          <p:nvPr/>
        </p:nvSpPr>
        <p:spPr>
          <ns86:xfrm xmlns:ns86="http://schemas.openxmlformats.org/drawingml/2006/main">
            <ns86:off x="3294000" y="2278800"/>
            <ns86:ext cx="2556000" cy="3384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8000"/>
              </ns92:lnSpc>
              <ns92:defRPr sz="1100" b="0">
                <ns92:solidFill>
                  <ns92:srgbClr val="20262C"/>
                </ns92:solidFill>
                <ns92:latin typeface="Arial"/>
                <ns92:ea typeface="Arial"/>
                <ns92:cs typeface="Arial"/>
              </ns92:defRPr>
            </ns92:pPr>
            <ns92:r>
              <ns92:rPr sz="1100" b="0">
                <ns92:solidFill>
                  <ns92:srgbClr val="20262C"/>
                </ns92:solidFill>
                <ns92:latin typeface="Arial"/>
                <ns92:ea typeface="Arial"/>
                <ns92:cs typeface="Arial"/>
              </ns92:rPr>
              <ns92:t>Check claims against source material</ns92:t>
            </ns92:r>
          </ns92:p>
        </p:txBody>
      </p:sp>
      <p:sp>
        <p:nvSpPr>
          <p:cNvPr id="116" name="!!task.risk"/>
          <p:cNvSpPr/>
          <p:nvPr/>
        </p:nvSpPr>
        <p:spPr>
          <ns93:xfrm xmlns:ns93="http://schemas.openxmlformats.org/drawingml/2006/main">
            <ns93:off x="3294000" y="2649600"/>
            <ns93:ext cx="2556000" cy="241200"/>
          </ns93:xfrm>
          <ns94:prstGeom xmlns:ns94="http://schemas.openxmlformats.org/drawingml/2006/main" prst="rect">
            <ns94:avLst/>
          </ns94:prstGeom>
          <ns95:noFill xmlns:ns95="http://schemas.openxmlformats.org/drawingml/2006/main"/>
          <ns96:ln xmlns:ns96="http://schemas.openxmlformats.org/drawingml/2006/main" w="0">
            <ns96:noFill/>
          </ns96:ln>
        </p:spPr>
        <p:txBody>
          <ns97:bodyPr xmlns:ns97="http://schemas.openxmlformats.org/drawingml/2006/main" wrap="square" lIns="0" rIns="0" tIns="0" bIns="0" anchor="t">
            <ns97:noAutofit/>
          </ns97:bodyPr>
          <ns98:lstStyle xmlns:ns98="http://schemas.openxmlformats.org/drawingml/2006/main"/>
          <ns99:p xmlns:ns99="http://schemas.openxmlformats.org/drawingml/2006/main">
            <ns99:pPr algn="l">
              <ns99:lnSpc>
                <ns99:spcPct val="108000"/>
              </ns99:lnSpc>
              <ns99:defRPr sz="1250" b="1">
                <ns99:solidFill>
                  <ns99:srgbClr val="005A9C"/>
                </ns99:solidFill>
                <ns99:latin typeface="Arial"/>
                <ns99:ea typeface="Arial"/>
                <ns99:cs typeface="Arial"/>
              </ns99:defRPr>
            </ns99:pPr>
            <ns99:r>
              <ns99:rPr sz="1250" b="1">
                <ns99:solidFill>
                  <ns99:srgbClr val="005A9C"/>
                </ns99:solidFill>
                <ns99:latin typeface="Arial"/>
                <ns99:ea typeface="Arial"/>
                <ns99:cs typeface="Arial"/>
              </ns99:rPr>
              <ns99:t>5  Risk analysis</ns99:t>
            </ns99:r>
          </ns99:p>
        </p:txBody>
      </p:sp>
      <p:sp>
        <p:nvSpPr>
          <p:cNvPr id="117" name="!!task.risk.outcome"/>
          <p:cNvSpPr/>
          <p:nvPr/>
        </p:nvSpPr>
        <p:spPr>
          <ns100:xfrm xmlns:ns100="http://schemas.openxmlformats.org/drawingml/2006/main">
            <ns100:off x="3294000" y="2919600"/>
            <ns100:ext cx="2556000" cy="3384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100" b="0">
                <ns106:solidFill>
                  <ns106:srgbClr val="20262C"/>
                </ns106:solidFill>
                <ns106:latin typeface="Arial"/>
                <ns106:ea typeface="Arial"/>
                <ns106:cs typeface="Arial"/>
              </ns106:defRPr>
            </ns106:pPr>
            <ns106:r>
              <ns106:rPr sz="1100" b="0">
                <ns106:solidFill>
                  <ns106:srgbClr val="20262C"/>
                </ns106:solidFill>
                <ns106:latin typeface="Arial"/>
                <ns106:ea typeface="Arial"/>
                <ns106:cs typeface="Arial"/>
              </ns106:rPr>
              <ns106:t>Link events to exposure</ns106:t>
            </ns106:r>
          </ns106:p>
        </p:txBody>
      </p:sp>
      <p:sp>
        <p:nvSpPr>
          <p:cNvPr id="118" name="map.office.back"/>
          <p:cNvSpPr/>
          <p:nvPr/>
        </p:nvSpPr>
        <p:spPr>
          <ns107:xfrm xmlns:ns107="http://schemas.openxmlformats.org/drawingml/2006/main">
            <ns107:off x="6127200" y="1537200"/>
            <ns107:ext cx="2559600" cy="2700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8000"/>
              </ns113:lnSpc>
              <ns113:defRPr sz="1600" b="1">
                <ns113:solidFill>
                  <ns113:srgbClr val="005A9C"/>
                </ns113:solidFill>
                <ns113:latin typeface="Arial"/>
                <ns113:ea typeface="Arial"/>
                <ns113:cs typeface="Arial"/>
              </ns113:defRPr>
            </ns113:pPr>
            <ns113:r>
              <ns113:rPr sz="1600" b="1">
                <ns113:solidFill>
                  <ns113:srgbClr val="005A9C"/>
                </ns113:solidFill>
                <ns113:latin typeface="Arial"/>
                <ns113:ea typeface="Arial"/>
                <ns113:cs typeface="Arial"/>
              </ns113:rPr>
              <ns113:t>Back office</ns113:t>
            </ns113:r>
          </ns113:p>
        </p:txBody>
      </p:sp>
      <p:cxnSp>
        <p:nvCxnSpPr>
          <p:cNvPr id="119" name="map.office.rule.back"/>
          <p:cNvCxnSpPr/>
          <p:nvPr/>
        </p:nvCxnSpPr>
        <p:spPr>
          <ns114:xfrm xmlns:ns114="http://schemas.openxmlformats.org/drawingml/2006/main">
            <ns114:off x="6127200" y="1872000"/>
            <ns114:ext cx="2559600" cy="1"/>
          </ns114:xfrm>
          <ns115:prstGeom xmlns:ns115="http://schemas.openxmlformats.org/drawingml/2006/main" prst="line">
            <ns115:avLst/>
          </ns115:prstGeom>
          <ns116:ln xmlns:ns116="http://schemas.openxmlformats.org/drawingml/2006/main" w="12700">
            <ns116:solidFill>
              <ns116:srgbClr val="005A9C"/>
            </ns116:solidFill>
          </ns116:ln>
        </p:spPr>
      </p:cxnSp>
      <p:sp>
        <p:nvSpPr>
          <p:cNvPr id="120" name="!!task.files"/>
          <p:cNvSpPr/>
          <p:nvPr/>
        </p:nvSpPr>
        <p:spPr>
          <ns117:xfrm xmlns:ns117="http://schemas.openxmlformats.org/drawingml/2006/main">
            <ns117:off x="6127200" y="2008800"/>
            <ns117:ext cx="2559600" cy="2412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8000"/>
              </ns123:lnSpc>
              <ns123:defRPr sz="1250" b="1">
                <ns123:solidFill>
                  <ns123:srgbClr val="005A9C"/>
                </ns123:solidFill>
                <ns123:latin typeface="Arial"/>
                <ns123:ea typeface="Arial"/>
                <ns123:cs typeface="Arial"/>
              </ns123:defRPr>
            </ns123:pPr>
            <ns123:r>
              <ns123:rPr sz="1250" b="1">
                <ns123:solidFill>
                  <ns123:srgbClr val="005A9C"/>
                </ns123:solidFill>
                <ns123:latin typeface="Arial"/>
                <ns123:ea typeface="Arial"/>
                <ns123:cs typeface="Arial"/>
              </ns123:rPr>
              <ns123:t>6  Document processing</ns123:t>
            </ns123:r>
          </ns123:p>
        </p:txBody>
      </p:sp>
      <p:sp>
        <p:nvSpPr>
          <p:cNvPr id="121" name="!!task.files.outcome"/>
          <p:cNvSpPr/>
          <p:nvPr/>
        </p:nvSpPr>
        <p:spPr>
          <ns124:xfrm xmlns:ns124="http://schemas.openxmlformats.org/drawingml/2006/main">
            <ns124:off x="6127200" y="2278800"/>
            <ns124:ext cx="2559600" cy="3384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Extract and maintain document records</ns130:t>
            </ns130:r>
          </ns130:p>
        </p:txBody>
      </p:sp>
      <p:sp>
        <p:nvSpPr>
          <p:cNvPr id="122" name="!!task.dev"/>
          <p:cNvSpPr/>
          <p:nvPr/>
        </p:nvSpPr>
        <p:spPr>
          <ns131:xfrm xmlns:ns131="http://schemas.openxmlformats.org/drawingml/2006/main">
            <ns131:off x="6127200" y="2649600"/>
            <ns131:ext cx="2559600" cy="2412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8000"/>
              </ns137:lnSpc>
              <ns137:defRPr sz="1250" b="1">
                <ns137:solidFill>
                  <ns137:srgbClr val="005A9C"/>
                </ns137:solidFill>
                <ns137:latin typeface="Arial"/>
                <ns137:ea typeface="Arial"/>
                <ns137:cs typeface="Arial"/>
              </ns137:defRPr>
            </ns137:pPr>
            <ns137:r>
              <ns137:rPr sz="1250" b="1">
                <ns137:solidFill>
                  <ns137:srgbClr val="005A9C"/>
                </ns137:solidFill>
                <ns137:latin typeface="Arial"/>
                <ns137:ea typeface="Arial"/>
                <ns137:cs typeface="Arial"/>
              </ns137:rPr>
              <ns137:t>7  Tool development</ns137:t>
            </ns137:r>
          </ns137:p>
        </p:txBody>
      </p:sp>
      <p:sp>
        <p:nvSpPr>
          <p:cNvPr id="123" name="!!task.dev.outcome"/>
          <p:cNvSpPr/>
          <p:nvPr/>
        </p:nvSpPr>
        <p:spPr>
          <ns138:xfrm xmlns:ns138="http://schemas.openxmlformats.org/drawingml/2006/main">
            <ns138:off x="6127200" y="2919600"/>
            <ns138:ext cx="2559600" cy="3384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8000"/>
              </ns144:lnSpc>
              <ns144:defRPr sz="1100" b="0">
                <ns144:solidFill>
                  <ns144:srgbClr val="20262C"/>
                </ns144:solidFill>
                <ns144:latin typeface="Arial"/>
                <ns144:ea typeface="Arial"/>
                <ns144:cs typeface="Arial"/>
              </ns144:defRPr>
            </ns144:pPr>
            <ns144:r>
              <ns144:rPr sz="1100" b="0">
                <ns144:solidFill>
                  <ns144:srgbClr val="20262C"/>
                </ns144:solidFill>
                <ns144:latin typeface="Arial"/>
                <ns144:ea typeface="Arial"/>
                <ns144:cs typeface="Arial"/>
              </ns144:rPr>
              <ns144:t>Develop internal business tools</ns144:t>
            </ns144:r>
          </ns144:p>
        </p:txBody>
      </p:sp>
      <p:sp>
        <p:nvSpPr>
          <p:cNvPr id="124" name="!!map.route.title"/>
          <p:cNvSpPr/>
          <p:nvPr/>
        </p:nvSpPr>
        <p:spPr>
          <ns145:xfrm xmlns:ns145="http://schemas.openxmlformats.org/drawingml/2006/main">
            <ns145:off x="457200" y="4068000"/>
            <ns145:ext cx="1296000" cy="3312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8000"/>
              </ns151:lnSpc>
              <ns151:defRPr sz="1050" b="1">
                <ns151:solidFill>
                  <ns151:srgbClr val="687782"/>
                </ns151:solidFill>
                <ns151:latin typeface="Arial"/>
                <ns151:ea typeface="Arial"/>
                <ns151:cs typeface="Arial"/>
              </ns151:defRPr>
            </ns151:pPr>
            <ns151:r>
              <ns151:rPr sz="1050" b="1">
                <ns151:solidFill>
                  <ns151:srgbClr val="687782"/>
                </ns151:solidFill>
                <ns151:latin typeface="Arial"/>
                <ns151:ea typeface="Arial"/>
                <ns151:cs typeface="Arial"/>
              </ns151:rPr>
              <ns151:t>Two running examples</ns151:t>
            </ns151:r>
          </ns151:p>
        </p:txBody>
      </p:sp>
      <p:sp>
        <p:nvSpPr>
          <p:cNvPr id="125" name="!!map.route1.text"/>
          <p:cNvSpPr/>
          <p:nvPr/>
        </p:nvSpPr>
        <p:spPr>
          <ns152:xfrm xmlns:ns152="http://schemas.openxmlformats.org/drawingml/2006/main">
            <ns152:off x="1836000" y="4068000"/>
            <ns152:ext cx="6850800" cy="198000"/>
          </ns152:xfrm>
          <ns153:prstGeom xmlns:ns153="http://schemas.openxmlformats.org/drawingml/2006/main" prst="rect">
            <ns153:avLst/>
          </ns153:prstGeom>
          <ns154:noFill xmlns:ns154="http://schemas.openxmlformats.org/drawingml/2006/main"/>
          <ns155:ln xmlns:ns155="http://schemas.openxmlformats.org/drawingml/2006/main" w="0">
            <ns155:noFill/>
          </ns155:ln>
        </p:spPr>
        <p:txBody>
          <ns156:bodyPr xmlns:ns156="http://schemas.openxmlformats.org/drawingml/2006/main" wrap="square" lIns="0" rIns="0" tIns="0" bIns="0" anchor="t">
            <ns156:noAutofit/>
          </ns156:bodyPr>
          <ns157:lstStyle xmlns:ns157="http://schemas.openxmlformats.org/drawingml/2006/main"/>
          <ns158:p xmlns:ns158="http://schemas.openxmlformats.org/drawingml/2006/main">
            <ns158:pPr algn="l">
              <ns158:lnSpc>
                <ns158:spcPct val="108000"/>
              </ns158:lnSpc>
              <ns158:defRPr sz="1050" b="0">
                <ns158:solidFill>
                  <ns158:srgbClr val="317F7B"/>
                </ns158:solidFill>
                <ns158:latin typeface="Arial"/>
                <ns158:ea typeface="Arial"/>
                <ns158:cs typeface="Arial"/>
              </ns158:defRPr>
            </ns158:pPr>
            <ns158:r>
              <ns158:rPr sz="1050" b="0">
                <ns158:solidFill>
                  <ns158:srgbClr val="317F7B"/>
                </ns158:solidFill>
                <ns158:latin typeface="Arial"/>
                <ns158:ea typeface="Arial"/>
                <ns158:cs typeface="Arial"/>
              </ns158:rPr>
              <ns158:t>Company A: research, trading, risk and operations</ns158:t>
            </ns158:r>
          </ns158:p>
        </p:txBody>
      </p:sp>
      <p:sp>
        <p:nvSpPr>
          <p:cNvPr id="126" name="!!map.route2.text"/>
          <p:cNvSpPr/>
          <p:nvPr/>
        </p:nvSpPr>
        <p:spPr>
          <ns159:xfrm xmlns:ns159="http://schemas.openxmlformats.org/drawingml/2006/main">
            <ns159:off x="1836000" y="4276800"/>
            <ns159:ext cx="6850800" cy="1980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8000"/>
              </ns165:lnSpc>
              <ns165:defRPr sz="1050" b="0">
                <ns165:solidFill>
                  <ns165:srgbClr val="7363A6"/>
                </ns165:solidFill>
                <ns165:latin typeface="Arial"/>
                <ns165:ea typeface="Arial"/>
                <ns165:cs typeface="Arial"/>
              </ns165:defRPr>
            </ns165:pPr>
            <ns165:r>
              <ns165:rPr sz="1050" b="0">
                <ns165:solidFill>
                  <ns165:srgbClr val="7363A6"/>
                </ns165:solidFill>
                <ns165:latin typeface="Arial"/>
                <ns165:ea typeface="Arial"/>
                <ns165:cs typeface="Arial"/>
              </ns165:rPr>
              <ns165:t>Quarterly client update: drafting, review and change tracking</ns165:t>
            </ns165:r>
          </ns165:p>
        </p:txBody>
      </p:sp>
    </p:spTree>
    <p:extLst>
      <p:ext uri="{BB962C8B-B14F-4D97-AF65-F5344CB8AC3E}">
        <p14:creationId xmlns:p14="http://schemas.microsoft.com/office/powerpoint/2010/main" val="1693129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Company research: assessing revenue growth</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Investment research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1">
                <ns23:solidFill>
                  <ns23:srgbClr val="005A9C"/>
                </ns23:solidFill>
                <ns23:latin typeface="Arial"/>
                <ns23:ea typeface="Arial"/>
                <ns23:cs typeface="Arial"/>
              </ns23:defRPr>
            </ns23:pPr>
            <ns23:r>
              <ns23:rPr sz="800" b="1">
                <ns23:solidFill>
                  <ns23:srgbClr val="005A9C"/>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research.question"/>
          <p:cNvSpPr/>
          <p:nvPr/>
        </p:nvSpPr>
        <p:spPr>
          <ns38:xfrm xmlns:ns38="http://schemas.openxmlformats.org/drawingml/2006/main">
            <ns38:off x="457200" y="1458000"/>
            <ns38:ext cx="8229600" cy="273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400" b="1">
                <ns44:solidFill>
                  <ns44:srgbClr val="005A9C"/>
                </ns44:solidFill>
                <ns44:latin typeface="Arial"/>
                <ns44:ea typeface="Arial"/>
                <ns44:cs typeface="Arial"/>
              </ns44:defRPr>
            </ns44:pPr>
            <ns44:r>
              <ns44:rPr sz="1400" b="1">
                <ns44:solidFill>
                  <ns44:srgbClr val="005A9C"/>
                </ns44:solidFill>
                <ns44:latin typeface="Arial"/>
                <ns44:ea typeface="Arial"/>
                <ns44:cs typeface="Arial"/>
              </ns44:rPr>
              <ns44:t>What drove revenue growth, and is it sustainable?</ns44:t>
            </ns44:r>
          </ns44:p>
        </p:txBody>
      </p:sp>
      <p:sp>
        <p:nvSpPr>
          <p:cNvPr id="108" name="!!research.evidence.1.label"/>
          <p:cNvSpPr/>
          <p:nvPr/>
        </p:nvSpPr>
        <p:spPr>
          <ns45:xfrm xmlns:ns45="http://schemas.openxmlformats.org/drawingml/2006/main">
            <ns45:off x="457200" y="1908000"/>
            <ns45:ext cx="2559600" cy="216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150" b="1">
                <ns51:solidFill>
                  <ns51:srgbClr val="317F7B"/>
                </ns51:solidFill>
                <ns51:latin typeface="Arial"/>
                <ns51:ea typeface="Arial"/>
                <ns51:cs typeface="Arial"/>
              </ns51:defRPr>
            </ns51:pPr>
            <ns51:r>
              <ns51:rPr sz="1150" b="1">
                <ns51:solidFill>
                  <ns51:srgbClr val="317F7B"/>
                </ns51:solidFill>
                <ns51:latin typeface="Arial"/>
                <ns51:ea typeface="Arial"/>
                <ns51:cs typeface="Arial"/>
              </ns51:rPr>
              <ns51:t>[1] Prior / current quarter</ns51:t>
            </ns51:r>
          </ns51:p>
        </p:txBody>
      </p:sp>
      <p:sp>
        <p:nvSpPr>
          <p:cNvPr id="109" name="!!research.evidence.1.text"/>
          <p:cNvSpPr/>
          <p:nvPr/>
        </p:nvSpPr>
        <p:spPr>
          <ns52:xfrm xmlns:ns52="http://schemas.openxmlformats.org/drawingml/2006/main">
            <ns52:off x="457200" y="2174400"/>
            <ns52:ext cx="2559600" cy="72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200" b="0">
                <ns58:solidFill>
                  <ns58:srgbClr val="20262C"/>
                </ns58:solidFill>
                <ns58:latin typeface="Arial"/>
                <ns58:ea typeface="Arial"/>
                <ns58:cs typeface="Arial"/>
              </ns58:defRPr>
            </ns58:pPr>
            <ns58:r>
              <ns58:rPr sz="1200" b="0">
                <ns58:solidFill>
                  <ns58:srgbClr val="20262C"/>
                </ns58:solidFill>
                <ns58:latin typeface="Arial"/>
                <ns58:ea typeface="Arial"/>
                <ns58:cs typeface="Arial"/>
              </ns58:rPr>
              <ns58:t>Revenue (RMB m): 100 / 110</ns58:t>
            </ns58:r>
          </ns58:p>
          <ns59:p xmlns:ns59="http://schemas.openxmlformats.org/drawingml/2006/main">
            <ns59:pPr algn="l">
              <ns59:lnSpc>
                <ns59:spcPct val="108000"/>
              </ns59:lnSpc>
              <ns59:defRPr sz="1200" b="0">
                <ns59:solidFill>
                  <ns59:srgbClr val="20262C"/>
                </ns59:solidFill>
                <ns59:latin typeface="Arial"/>
                <ns59:ea typeface="Arial"/>
                <ns59:cs typeface="Arial"/>
              </ns59:defRPr>
            </ns59:pPr>
            <ns59:r>
              <ns59:rPr sz="1200" b="0">
                <ns59:solidFill>
                  <ns59:srgbClr val="20262C"/>
                </ns59:solidFill>
                <ns59:latin typeface="Arial"/>
                <ns59:ea typeface="Arial"/>
                <ns59:cs typeface="Arial"/>
              </ns59:rPr>
              <ns59:t>Sales volume (m units): 1.0 / 1.1</ns59:t>
            </ns59:r>
          </ns59:p>
        </p:txBody>
      </p:sp>
      <p:sp>
        <p:nvSpPr>
          <p:cNvPr id="110" name="!!research.evidence.2.label"/>
          <p:cNvSpPr/>
          <p:nvPr/>
        </p:nvSpPr>
        <p:spPr>
          <ns60:xfrm xmlns:ns60="http://schemas.openxmlformats.org/drawingml/2006/main">
            <ns60:off x="3294000" y="1908000"/>
            <ns60:ext cx="2556000" cy="216000"/>
          </ns60:xfrm>
          <ns61:prstGeom xmlns:ns61="http://schemas.openxmlformats.org/drawingml/2006/main" prst="rect">
            <ns61:avLst/>
          </ns61:prstGeom>
          <ns62:noFill xmlns:ns62="http://schemas.openxmlformats.org/drawingml/2006/main"/>
          <ns63:ln xmlns:ns63="http://schemas.openxmlformats.org/drawingml/2006/main" w="0">
            <ns63:noFill/>
          </ns63:ln>
        </p:spPr>
        <p:txBody>
          <ns64:bodyPr xmlns:ns64="http://schemas.openxmlformats.org/drawingml/2006/main" wrap="square" lIns="0" rIns="0" tIns="0" bIns="0" anchor="t">
            <ns64:noAutofit/>
          </ns64:bodyPr>
          <ns65:lstStyle xmlns:ns65="http://schemas.openxmlformats.org/drawingml/2006/main"/>
          <ns66:p xmlns:ns66="http://schemas.openxmlformats.org/drawingml/2006/main">
            <ns66:pPr algn="l">
              <ns66:lnSpc>
                <ns66:spcPct val="108000"/>
              </ns66:lnSpc>
              <ns66:defRPr sz="1150" b="1">
                <ns66:solidFill>
                  <ns66:srgbClr val="317F7B"/>
                </ns66:solidFill>
                <ns66:latin typeface="Arial"/>
                <ns66:ea typeface="Arial"/>
                <ns66:cs typeface="Arial"/>
              </ns66:defRPr>
            </ns66:pPr>
            <ns66:r>
              <ns66:rPr sz="1150" b="1">
                <ns66:solidFill>
                  <ns66:srgbClr val="317F7B"/>
                </ns66:solidFill>
                <ns66:latin typeface="Arial"/>
                <ns66:ea typeface="Arial"/>
                <ns66:cs typeface="Arial"/>
              </ns66:rPr>
              <ns66:t>[2] Meeting notes</ns66:t>
            </ns66:r>
          </ns66:p>
        </p:txBody>
      </p:sp>
      <p:sp>
        <p:nvSpPr>
          <p:cNvPr id="111" name="!!research.evidence.2.text"/>
          <p:cNvSpPr/>
          <p:nvPr/>
        </p:nvSpPr>
        <p:spPr>
          <ns67:xfrm xmlns:ns67="http://schemas.openxmlformats.org/drawingml/2006/main">
            <ns67:off x="3294000" y="2174400"/>
            <ns67:ext cx="2556000" cy="720000"/>
          </ns67:xfrm>
          <ns68:prstGeom xmlns:ns68="http://schemas.openxmlformats.org/drawingml/2006/main" prst="rect">
            <ns68:avLst/>
          </ns68:prstGeom>
          <ns69:noFill xmlns:ns69="http://schemas.openxmlformats.org/drawingml/2006/main"/>
          <ns70:ln xmlns:ns70="http://schemas.openxmlformats.org/drawingml/2006/main" w="0">
            <ns70:noFill/>
          </ns70:ln>
        </p:spPr>
        <p:txBody>
          <ns71:bodyPr xmlns:ns71="http://schemas.openxmlformats.org/drawingml/2006/main" wrap="square" lIns="0" rIns="0" tIns="0" bIns="0" anchor="t">
            <ns71:noAutofit/>
          </ns71:bodyPr>
          <ns72:lstStyle xmlns:ns72="http://schemas.openxmlformats.org/drawingml/2006/main"/>
          <ns73:p xmlns:ns73="http://schemas.openxmlformats.org/drawingml/2006/main">
            <ns73:pPr algn="l">
              <ns73:lnSpc>
                <ns73:spcPct val="108000"/>
              </ns73:lnSpc>
              <ns73:defRPr sz="1200" b="0">
                <ns73:solidFill>
                  <ns73:srgbClr val="20262C"/>
                </ns73:solidFill>
                <ns73:latin typeface="Arial"/>
                <ns73:ea typeface="Arial"/>
                <ns73:cs typeface="Arial"/>
              </ns73:defRPr>
            </ns73:pPr>
            <ns73:r>
              <ns73:rPr sz="1200" b="0">
                <ns73:solidFill>
                  <ns73:srgbClr val="20262C"/>
                </ns73:solidFill>
                <ns73:latin typeface="Arial"/>
                <ns73:ea typeface="Arial"/>
                <ns73:cs typeface="Arial"/>
              </ns73:rPr>
              <ns73:t>Restocking lifted shipments. Assess whether it will continue.</ns73:t>
            </ns73:r>
          </ns73:p>
        </p:txBody>
      </p:sp>
      <p:sp>
        <p:nvSpPr>
          <p:cNvPr id="112" name="!!research.evidence.3.label"/>
          <p:cNvSpPr/>
          <p:nvPr/>
        </p:nvSpPr>
        <p:spPr>
          <ns74:xfrm xmlns:ns74="http://schemas.openxmlformats.org/drawingml/2006/main">
            <ns74:off x="6127200" y="1908000"/>
            <ns74:ext cx="2559600" cy="216000"/>
          </ns74:xfrm>
          <ns75:prstGeom xmlns:ns75="http://schemas.openxmlformats.org/drawingml/2006/main" prst="rect">
            <ns75:avLst/>
          </ns75:prstGeom>
          <ns76:noFill xmlns:ns76="http://schemas.openxmlformats.org/drawingml/2006/main"/>
          <ns77:ln xmlns:ns77="http://schemas.openxmlformats.org/drawingml/2006/main" w="0">
            <ns77:noFill/>
          </ns77:ln>
        </p:spPr>
        <p:txBody>
          <ns78:bodyPr xmlns:ns78="http://schemas.openxmlformats.org/drawingml/2006/main" wrap="square" lIns="0" rIns="0" tIns="0" bIns="0" anchor="t">
            <ns78:noAutofit/>
          </ns78:bodyPr>
          <ns79:lstStyle xmlns:ns79="http://schemas.openxmlformats.org/drawingml/2006/main"/>
          <ns80:p xmlns:ns80="http://schemas.openxmlformats.org/drawingml/2006/main">
            <ns80:pPr algn="l">
              <ns80:lnSpc>
                <ns80:spcPct val="108000"/>
              </ns80:lnSpc>
              <ns80:defRPr sz="1150" b="1">
                <ns80:solidFill>
                  <ns80:srgbClr val="317F7B"/>
                </ns80:solidFill>
                <ns80:latin typeface="Arial"/>
                <ns80:ea typeface="Arial"/>
                <ns80:cs typeface="Arial"/>
              </ns80:defRPr>
            </ns80:pPr>
            <ns80:r>
              <ns80:rPr sz="1150" b="1">
                <ns80:solidFill>
                  <ns80:srgbClr val="317F7B"/>
                </ns80:solidFill>
                <ns80:latin typeface="Arial"/>
                <ns80:ea typeface="Arial"/>
                <ns80:cs typeface="Arial"/>
              </ns80:rPr>
              <ns80:t>[3] Two research reports</ns80:t>
            </ns80:r>
          </ns80:p>
        </p:txBody>
      </p:sp>
      <p:sp>
        <p:nvSpPr>
          <p:cNvPr id="113" name="!!research.evidence.3.text"/>
          <p:cNvSpPr/>
          <p:nvPr/>
        </p:nvSpPr>
        <p:spPr>
          <ns81:xfrm xmlns:ns81="http://schemas.openxmlformats.org/drawingml/2006/main">
            <ns81:off x="6127200" y="2174400"/>
            <ns81:ext cx="2559600" cy="720000"/>
          </ns81:xfrm>
          <ns82:prstGeom xmlns:ns82="http://schemas.openxmlformats.org/drawingml/2006/main" prst="rect">
            <ns82:avLst/>
          </ns82:prstGeom>
          <ns83:noFill xmlns:ns83="http://schemas.openxmlformats.org/drawingml/2006/main"/>
          <ns84:ln xmlns:ns84="http://schemas.openxmlformats.org/drawingml/2006/main" w="0">
            <ns84:noFill/>
          </ns84:ln>
        </p:spPr>
        <p:txBody>
          <ns85:bodyPr xmlns:ns85="http://schemas.openxmlformats.org/drawingml/2006/main" wrap="square" lIns="0" rIns="0" tIns="0" bIns="0" anchor="t">
            <ns85:noAutofit/>
          </ns85:bodyPr>
          <ns86:lstStyle xmlns:ns86="http://schemas.openxmlformats.org/drawingml/2006/main"/>
          <ns87:p xmlns:ns87="http://schemas.openxmlformats.org/drawingml/2006/main">
            <ns87:pPr algn="l">
              <ns87:lnSpc>
                <ns87:spcPct val="108000"/>
              </ns87:lnSpc>
              <ns87:defRPr sz="1200" b="0">
                <ns87:solidFill>
                  <ns87:srgbClr val="20262C"/>
                </ns87:solidFill>
                <ns87:latin typeface="Arial"/>
                <ns87:ea typeface="Arial"/>
                <ns87:cs typeface="Arial"/>
              </ns87:defRPr>
            </ns87:pPr>
            <ns87:r>
              <ns87:rPr sz="1200" b="0">
                <ns87:solidFill>
                  <ns87:srgbClr val="20262C"/>
                </ns87:solidFill>
                <ns87:latin typeface="Arial"/>
                <ns87:ea typeface="Arial"/>
                <ns87:cs typeface="Arial"/>
              </ns87:rPr>
              <ns87:t>Report A: demand recovery can sustain growth.</ns87:t>
            </ns87:r>
          </ns87:p>
          <ns88:p xmlns:ns88="http://schemas.openxmlformats.org/drawingml/2006/main">
            <ns88:pPr algn="l">
              <ns88:lnSpc>
                <ns88:spcPct val="108000"/>
              </ns88:lnSpc>
              <ns88:defRPr sz="1200" b="0">
                <ns88:solidFill>
                  <ns88:srgbClr val="20262C"/>
                </ns88:solidFill>
                <ns88:latin typeface="Arial"/>
                <ns88:ea typeface="Arial"/>
                <ns88:cs typeface="Arial"/>
              </ns88:defRPr>
            </ns88:pPr>
            <ns88:r>
              <ns88:rPr sz="1200" b="0">
                <ns88:solidFill>
                  <ns88:srgbClr val="20262C"/>
                </ns88:solidFill>
                <ns88:latin typeface="Arial"/>
                <ns88:ea typeface="Arial"/>
                <ns88:cs typeface="Arial"/>
              </ns88:rPr>
              <ns88:t>Report B: continued restocking is uncertain.</ns88:t>
            </ns88:r>
          </ns88:p>
        </p:txBody>
      </p:sp>
      <p:sp>
        <p:nvSpPr>
          <p:cNvPr id="114" name="!!research.manual.title"/>
          <p:cNvSpPr/>
          <p:nvPr/>
        </p:nvSpPr>
        <p:spPr>
          <ns89:xfrm xmlns:ns89="http://schemas.openxmlformats.org/drawingml/2006/main">
            <ns89:off x="457200" y="3070800"/>
            <ns89:ext cx="8229600" cy="2160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300" b="1">
                <ns95:solidFill>
                  <ns95:srgbClr val="005A9C"/>
                </ns95:solidFill>
                <ns95:latin typeface="Arial"/>
                <ns95:ea typeface="Arial"/>
                <ns95:cs typeface="Arial"/>
              </ns95:defRPr>
            </ns95:pPr>
            <ns95:r>
              <ns95:rPr sz="1300" b="1">
                <ns95:solidFill>
                  <ns95:srgbClr val="005A9C"/>
                </ns95:solidFill>
                <ns95:latin typeface="Arial"/>
                <ns95:ea typeface="Arial"/>
                <ns95:cs typeface="Arial"/>
              </ns95:rPr>
              <ns95:t>The analyst’s preparation work</ns95:t>
            </ns95:r>
          </ns95:p>
        </p:txBody>
      </p:sp>
      <p:sp>
        <p:nvSpPr>
          <p:cNvPr id="115" name="!!research.manual.0"/>
          <p:cNvSpPr/>
          <p:nvPr/>
        </p:nvSpPr>
        <p:spPr>
          <ns96:xfrm xmlns:ns96="http://schemas.openxmlformats.org/drawingml/2006/main">
            <ns96:off x="457200" y="3434400"/>
            <ns96:ext cx="1879200" cy="414000"/>
          </ns96:xfrm>
          <ns97:prstGeom xmlns:ns97="http://schemas.openxmlformats.org/drawingml/2006/main" prst="rect">
            <ns97:avLst/>
          </ns97:prstGeom>
          <ns98:noFill xmlns:ns98="http://schemas.openxmlformats.org/drawingml/2006/main"/>
          <ns99:ln xmlns:ns99="http://schemas.openxmlformats.org/drawingml/2006/main" w="0">
            <ns99:noFill/>
          </ns99:ln>
        </p:spPr>
        <p:txBody>
          <ns100:bodyPr xmlns:ns100="http://schemas.openxmlformats.org/drawingml/2006/main" wrap="square" lIns="0" rIns="0" tIns="0" bIns="0" anchor="t">
            <ns100:noAutofit/>
          </ns100:bodyPr>
          <ns101:lstStyle xmlns:ns101="http://schemas.openxmlformats.org/drawingml/2006/main"/>
          <ns102:p xmlns:ns102="http://schemas.openxmlformats.org/drawingml/2006/main">
            <ns102:pPr algn="l">
              <ns102:lnSpc>
                <ns102:spcPct val="108000"/>
              </ns102:lnSpc>
              <ns102:defRPr sz="1250" b="1">
                <ns102:solidFill>
                  <ns102:srgbClr val="20262C"/>
                </ns102:solidFill>
                <ns102:latin typeface="Arial"/>
                <ns102:ea typeface="Arial"/>
                <ns102:cs typeface="Arial"/>
              </ns102:defRPr>
            </ns102:pPr>
            <ns102:r>
              <ns102:rPr sz="1250" b="1">
                <ns102:solidFill>
                  <ns102:srgbClr val="20262C"/>
                </ns102:solidFill>
                <ns102:latin typeface="Arial"/>
                <ns102:ea typeface="Arial"/>
                <ns102:cs typeface="Arial"/>
              </ns102:rPr>
              <ns102:t>Find relevant sources</ns102:t>
            </ns102:r>
          </ns102:p>
        </p:txBody>
      </p:sp>
      <p:cxnSp>
        <p:nvCxnSpPr>
          <p:cNvPr id="116" name="research.preparation.0"/>
          <p:cNvCxnSpPr/>
          <p:nvPr/>
        </p:nvCxnSpPr>
        <p:spPr>
          <ns103:xfrm xmlns:ns103="http://schemas.openxmlformats.org/drawingml/2006/main">
            <ns103:off x="2383200" y="3600000"/>
            <ns103:ext cx="136800" cy="1"/>
          </ns103:xfrm>
          <ns104:prstGeom xmlns:ns104="http://schemas.openxmlformats.org/drawingml/2006/main" prst="line">
            <ns104:avLst/>
          </ns104:prstGeom>
          <ns105:ln xmlns:ns105="http://schemas.openxmlformats.org/drawingml/2006/main" w="12700">
            <ns105:solidFill>
              <ns105:srgbClr val="005A9C"/>
            </ns105:solidFill>
            <ns105:tailEnd type="triangle" w="sm" len="sm"/>
          </ns105:ln>
        </p:spPr>
      </p:cxnSp>
      <p:sp>
        <p:nvSpPr>
          <p:cNvPr id="117" name="!!research.manual.1"/>
          <p:cNvSpPr/>
          <p:nvPr/>
        </p:nvSpPr>
        <p:spPr>
          <ns106:xfrm xmlns:ns106="http://schemas.openxmlformats.org/drawingml/2006/main">
            <ns106:off x="2574000" y="3434400"/>
            <ns106:ext cx="1879200" cy="414000"/>
          </ns106:xfrm>
          <ns107:prstGeom xmlns:ns107="http://schemas.openxmlformats.org/drawingml/2006/main" prst="rect">
            <ns107:avLst/>
          </ns107:prstGeom>
          <ns108:noFill xmlns:ns108="http://schemas.openxmlformats.org/drawingml/2006/main"/>
          <ns109:ln xmlns:ns109="http://schemas.openxmlformats.org/drawingml/2006/main" w="0">
            <ns109:noFill/>
          </ns109:ln>
        </p:spPr>
        <p:txBody>
          <ns110:bodyPr xmlns:ns110="http://schemas.openxmlformats.org/drawingml/2006/main" wrap="square" lIns="0" rIns="0" tIns="0" bIns="0" anchor="t">
            <ns110:noAutofit/>
          </ns110:bodyPr>
          <ns111:lstStyle xmlns:ns111="http://schemas.openxmlformats.org/drawingml/2006/main"/>
          <ns112:p xmlns:ns112="http://schemas.openxmlformats.org/drawingml/2006/main">
            <ns112:pPr algn="l">
              <ns112:lnSpc>
                <ns112:spcPct val="108000"/>
              </ns112:lnSpc>
              <ns112:defRPr sz="1250" b="1">
                <ns112:solidFill>
                  <ns112:srgbClr val="20262C"/>
                </ns112:solidFill>
                <ns112:latin typeface="Arial"/>
                <ns112:ea typeface="Arial"/>
                <ns112:cs typeface="Arial"/>
              </ns112:defRPr>
            </ns112:pPr>
            <ns112:r>
              <ns112:rPr sz="1250" b="1">
                <ns112:solidFill>
                  <ns112:srgbClr val="20262C"/>
                </ns112:solidFill>
                <ns112:latin typeface="Arial"/>
                <ns112:ea typeface="Arial"/>
                <ns112:cs typeface="Arial"/>
              </ns112:rPr>
              <ns112:t>Extract data and calculate changes</ns112:t>
            </ns112:r>
          </ns112:p>
        </p:txBody>
      </p:sp>
      <p:cxnSp>
        <p:nvCxnSpPr>
          <p:cNvPr id="118" name="research.preparation.1"/>
          <p:cNvCxnSpPr/>
          <p:nvPr/>
        </p:nvCxnSpPr>
        <p:spPr>
          <ns113:xfrm xmlns:ns113="http://schemas.openxmlformats.org/drawingml/2006/main">
            <ns113:off x="4500000" y="3600000"/>
            <ns113:ext cx="136800" cy="1"/>
          </ns113:xfrm>
          <ns114:prstGeom xmlns:ns114="http://schemas.openxmlformats.org/drawingml/2006/main" prst="line">
            <ns114:avLst/>
          </ns114:prstGeom>
          <ns115:ln xmlns:ns115="http://schemas.openxmlformats.org/drawingml/2006/main" w="12700">
            <ns115:solidFill>
              <ns115:srgbClr val="005A9C"/>
            </ns115:solidFill>
            <ns115:tailEnd type="triangle" w="sm" len="sm"/>
          </ns115:ln>
        </p:spPr>
      </p:cxnSp>
      <p:sp>
        <p:nvSpPr>
          <p:cNvPr id="119" name="!!research.manual.2"/>
          <p:cNvSpPr/>
          <p:nvPr/>
        </p:nvSpPr>
        <p:spPr>
          <ns116:xfrm xmlns:ns116="http://schemas.openxmlformats.org/drawingml/2006/main">
            <ns116:off x="4690800" y="3434400"/>
            <ns116:ext cx="1879200" cy="4140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250" b="1">
                <ns122:solidFill>
                  <ns122:srgbClr val="20262C"/>
                </ns122:solidFill>
                <ns122:latin typeface="Arial"/>
                <ns122:ea typeface="Arial"/>
                <ns122:cs typeface="Arial"/>
              </ns122:defRPr>
            </ns122:pPr>
            <ns122:r>
              <ns122:rPr sz="1250" b="1">
                <ns122:solidFill>
                  <ns122:srgbClr val="20262C"/>
                </ns122:solidFill>
                <ns122:latin typeface="Arial"/>
                <ns122:ea typeface="Arial"/>
                <ns122:cs typeface="Arial"/>
              </ns122:rPr>
              <ns122:t>Compare research views</ns122:t>
            </ns122:r>
          </ns122:p>
        </p:txBody>
      </p:sp>
      <p:cxnSp>
        <p:nvCxnSpPr>
          <p:cNvPr id="120" name="research.preparation.2"/>
          <p:cNvCxnSpPr/>
          <p:nvPr/>
        </p:nvCxnSpPr>
        <p:spPr>
          <ns123:xfrm xmlns:ns123="http://schemas.openxmlformats.org/drawingml/2006/main">
            <ns123:off x="6616800" y="3600000"/>
            <ns123:ext cx="136800" cy="1"/>
          </ns123:xfrm>
          <ns124:prstGeom xmlns:ns124="http://schemas.openxmlformats.org/drawingml/2006/main" prst="line">
            <ns124:avLst/>
          </ns124:prstGeom>
          <ns125:ln xmlns:ns125="http://schemas.openxmlformats.org/drawingml/2006/main" w="12700">
            <ns125:solidFill>
              <ns125:srgbClr val="005A9C"/>
            </ns125:solidFill>
            <ns125:tailEnd type="triangle" w="sm" len="sm"/>
          </ns125:ln>
        </p:spPr>
      </p:cxnSp>
      <p:sp>
        <p:nvSpPr>
          <p:cNvPr id="121" name="!!research.manual.3"/>
          <p:cNvSpPr/>
          <p:nvPr/>
        </p:nvSpPr>
        <p:spPr>
          <ns126:xfrm xmlns:ns126="http://schemas.openxmlformats.org/drawingml/2006/main">
            <ns126:off x="6807600" y="3434400"/>
            <ns126:ext cx="1879200" cy="4140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1250" b="1">
                <ns132:solidFill>
                  <ns132:srgbClr val="20262C"/>
                </ns132:solidFill>
                <ns132:latin typeface="Arial"/>
                <ns132:ea typeface="Arial"/>
                <ns132:cs typeface="Arial"/>
              </ns132:defRPr>
            </ns132:pPr>
            <ns132:r>
              <ns132:rPr sz="1250" b="1">
                <ns132:solidFill>
                  <ns132:srgbClr val="20262C"/>
                </ns132:solidFill>
                <ns132:latin typeface="Arial"/>
                <ns132:ea typeface="Arial"/>
                <ns132:cs typeface="Arial"/>
              </ns132:rPr>
              <ns132:t>Document the reasoning</ns132:t>
            </ns132:r>
          </ns132:p>
        </p:txBody>
      </p:sp>
      <p:sp>
        <p:nvSpPr>
          <p:cNvPr id="122" name="!!research.repetition"/>
          <p:cNvSpPr/>
          <p:nvPr/>
        </p:nvSpPr>
        <p:spPr>
          <ns133:xfrm xmlns:ns133="http://schemas.openxmlformats.org/drawingml/2006/main">
            <ns133:off x="457200" y="4201200"/>
            <ns133:ext cx="8229600" cy="1872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8000"/>
              </ns139:lnSpc>
              <ns139:defRPr sz="1150" b="0">
                <ns139:solidFill>
                  <ns139:srgbClr val="20262C"/>
                </ns139:solidFill>
                <ns139:latin typeface="Arial"/>
                <ns139:ea typeface="Arial"/>
                <ns139:cs typeface="Arial"/>
              </ns139:defRPr>
            </ns139:pPr>
            <ns139:r>
              <ns139:rPr sz="1150" b="0">
                <ns139:solidFill>
                  <ns139:srgbClr val="20262C"/>
                </ns139:solidFill>
                <ns139:latin typeface="Arial"/>
                <ns139:ea typeface="Arial"/>
                <ns139:cs typeface="Arial"/>
              </ns139:rPr>
              <ns139:t>Repeated searching, extraction and checking take time away from analysis</ns139:t>
            </ns139:r>
          </ns139:p>
        </p:txBody>
      </p:sp>
    </p:spTree>
    <p:extLst>
      <p:ext uri="{BB962C8B-B14F-4D97-AF65-F5344CB8AC3E}">
        <p14:creationId xmlns:p14="http://schemas.microsoft.com/office/powerpoint/2010/main" val="236805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Tianhong: analyzing earnings drivers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Investment research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driver.llm.title"/>
          <p:cNvSpPr/>
          <p:nvPr/>
        </p:nvSpPr>
        <p:spPr>
          <ns45:xfrm xmlns:ns45="http://schemas.openxmlformats.org/drawingml/2006/main">
            <ns45:off x="457200" y="1458000"/>
            <ns45:ext cx="8229600" cy="396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The LLM structures the earnings analysis. Tools retrieve data and perform calculations</ns51:t>
            </ns51:r>
          </ns51:p>
        </p:txBody>
      </p:sp>
      <p:sp>
        <p:nvSpPr>
          <p:cNvPr id="109" name="!!driver.root"/>
          <p:cNvSpPr/>
          <p:nvPr/>
        </p:nvSpPr>
        <p:spPr>
          <ns52:xfrm xmlns:ns52="http://schemas.openxmlformats.org/drawingml/2006/main">
            <ns52:off x="457200" y="2484000"/>
            <ns52:ext cx="1530000" cy="612000"/>
          </ns52:xfrm>
          <ns53:prstGeom xmlns:ns53="http://schemas.openxmlformats.org/drawingml/2006/main" prst="rect">
            <ns53:avLst/>
          </ns53:prstGeom>
          <ns54:solidFill xmlns:ns54="http://schemas.openxmlformats.org/drawingml/2006/main">
            <ns54:srgbClr val="005A9C"/>
          </ns54:solidFill>
          <ns55:ln xmlns:ns55="http://schemas.openxmlformats.org/drawingml/2006/main" w="0">
            <ns55:noFill/>
          </ns55:ln>
        </p:spPr>
        <p:txBody>
          <ns56:bodyPr xmlns:ns56="http://schemas.openxmlformats.org/drawingml/2006/main" wrap="square" lIns="79200" rIns="79200" tIns="79200" bIns="79200" anchor="ctr">
            <ns56:noAutofit/>
          </ns56:bodyPr>
          <ns57:lstStyle xmlns:ns57="http://schemas.openxmlformats.org/drawingml/2006/main"/>
          <ns58:p xmlns:ns58="http://schemas.openxmlformats.org/drawingml/2006/main">
            <ns58:pPr algn="l">
              <ns58:lnSpc>
                <ns58:spcPct val="108000"/>
              </ns58:lnSpc>
              <ns58:defRPr sz="1500" b="1">
                <ns58:solidFill>
                  <ns58:srgbClr val="FFFFFF"/>
                </ns58:solidFill>
                <ns58:latin typeface="Arial"/>
                <ns58:ea typeface="Arial"/>
                <ns58:cs typeface="Arial"/>
              </ns58:defRPr>
            </ns58:pPr>
            <ns58:r>
              <ns58:rPr sz="1500" b="1">
                <ns58:solidFill>
                  <ns58:srgbClr val="FFFFFF"/>
                </ns58:solidFill>
                <ns58:latin typeface="Arial"/>
                <ns58:ea typeface="Arial"/>
                <ns58:cs typeface="Arial"/>
              </ns58:rPr>
              <ns58:t>Change in net profit</ns58:t>
            </ns58:r>
          </ns58:p>
        </p:txBody>
      </p:sp>
      <p:cxnSp>
        <p:nvCxnSpPr>
          <p:cNvPr id="110" name="driver.branch"/>
          <p:cNvCxnSpPr/>
          <p:nvPr/>
        </p:nvCxnSpPr>
        <p:spPr>
          <ns59:xfrm xmlns:ns59="http://schemas.openxmlformats.org/drawingml/2006/main">
            <ns59:off x="2232000" y="2088000"/>
            <ns59:ext cx="1" cy="1620000"/>
          </ns59:xfrm>
          <ns60:prstGeom xmlns:ns60="http://schemas.openxmlformats.org/drawingml/2006/main" prst="line">
            <ns60:avLst/>
          </ns60:prstGeom>
          <ns61:ln xmlns:ns61="http://schemas.openxmlformats.org/drawingml/2006/main" w="12700">
            <ns61:solidFill>
              <ns61:srgbClr val="005A9C"/>
            </ns61:solidFill>
          </ns61:ln>
        </p:spPr>
      </p:cxnSp>
      <p:cxnSp>
        <p:nvCxnSpPr>
          <p:cNvPr id="111" name="driver.root.branch"/>
          <p:cNvCxnSpPr/>
          <p:nvPr/>
        </p:nvCxnSpPr>
        <p:spPr>
          <ns62:xfrm xmlns:ns62="http://schemas.openxmlformats.org/drawingml/2006/main">
            <ns62:off x="1998000" y="2790000"/>
            <ns62:ext cx="234000" cy="1"/>
          </ns62:xfrm>
          <ns63:prstGeom xmlns:ns63="http://schemas.openxmlformats.org/drawingml/2006/main" prst="line">
            <ns63:avLst/>
          </ns63:prstGeom>
          <ns64:ln xmlns:ns64="http://schemas.openxmlformats.org/drawingml/2006/main" w="12700">
            <ns64:solidFill>
              <ns64:srgbClr val="005A9C"/>
            </ns64:solidFill>
          </ns64:ln>
        </p:spPr>
      </p:cxnSp>
      <p:cxnSp>
        <p:nvCxnSpPr>
          <p:cNvPr id="112" name="driver.branch.revenue"/>
          <p:cNvCxnSpPr/>
          <p:nvPr/>
        </p:nvCxnSpPr>
        <p:spPr>
          <ns65:xfrm xmlns:ns65="http://schemas.openxmlformats.org/drawingml/2006/main">
            <ns65:off x="2232000" y="2113200"/>
            <ns65:ext cx="237600" cy="1"/>
          </ns65:xfrm>
          <ns66:prstGeom xmlns:ns66="http://schemas.openxmlformats.org/drawingml/2006/main" prst="line">
            <ns66:avLst/>
          </ns66:prstGeom>
          <ns67:ln xmlns:ns67="http://schemas.openxmlformats.org/drawingml/2006/main" w="12700">
            <ns67:solidFill>
              <ns67:srgbClr val="005A9C"/>
            </ns67:solidFill>
            <ns67:tailEnd type="triangle" w="sm" len="sm"/>
          </ns67:ln>
        </p:spPr>
      </p:cxnSp>
      <p:sp>
        <p:nvSpPr>
          <p:cNvPr id="113" name="!!driver.revenue.node"/>
          <p:cNvSpPr/>
          <p:nvPr/>
        </p:nvSpPr>
        <p:spPr>
          <ns68:xfrm xmlns:ns68="http://schemas.openxmlformats.org/drawingml/2006/main">
            <ns68:off x="2527200" y="1915200"/>
            <ns68:ext cx="1252800" cy="396000"/>
          </ns68:xfrm>
          <ns69:prstGeom xmlns:ns69="http://schemas.openxmlformats.org/drawingml/2006/main" prst="rect">
            <ns69:avLst/>
          </ns69:prstGeom>
          <ns70:noFill xmlns:ns70="http://schemas.openxmlformats.org/drawingml/2006/main"/>
          <ns71:ln xmlns:ns71="http://schemas.openxmlformats.org/drawingml/2006/main" w="0">
            <ns71:noFill/>
          </ns71:ln>
        </p:spPr>
        <p:txBody>
          <ns72:bodyPr xmlns:ns72="http://schemas.openxmlformats.org/drawingml/2006/main" wrap="square" lIns="0" rIns="0" tIns="0" bIns="0" anchor="t">
            <ns72:noAutofit/>
          </ns72:bodyPr>
          <ns73:lstStyle xmlns:ns73="http://schemas.openxmlformats.org/drawingml/2006/main"/>
          <ns74:p xmlns:ns74="http://schemas.openxmlformats.org/drawingml/2006/main">
            <ns74:pPr algn="l">
              <ns74:lnSpc>
                <ns74:spcPct val="108000"/>
              </ns74:lnSpc>
              <ns74:defRPr sz="1300" b="1">
                <ns74:solidFill>
                  <ns74:srgbClr val="005A9C"/>
                </ns74:solidFill>
                <ns74:latin typeface="Arial"/>
                <ns74:ea typeface="Arial"/>
                <ns74:cs typeface="Arial"/>
              </ns74:defRPr>
            </ns74:pPr>
            <ns74:r>
              <ns74:rPr sz="1300" b="1">
                <ns74:solidFill>
                  <ns74:srgbClr val="005A9C"/>
                </ns74:solidFill>
                <ns74:latin typeface="Arial"/>
                <ns74:ea typeface="Arial"/>
                <ns74:cs typeface="Arial"/>
              </ns74:rPr>
              <ns74:t>Revenue</ns74:t>
            </ns74:r>
          </ns74:p>
        </p:txBody>
      </p:sp>
      <p:cxnSp>
        <p:nvCxnSpPr>
          <p:cNvPr id="114" name="driver.factor.revenue"/>
          <p:cNvCxnSpPr/>
          <p:nvPr/>
        </p:nvCxnSpPr>
        <p:spPr>
          <ns75:xfrm xmlns:ns75="http://schemas.openxmlformats.org/drawingml/2006/main">
            <ns75:off x="3805200" y="2113200"/>
            <ns75:ext cx="230400" cy="1"/>
          </ns75:xfrm>
          <ns76:prstGeom xmlns:ns76="http://schemas.openxmlformats.org/drawingml/2006/main" prst="line">
            <ns76:avLst/>
          </ns76:prstGeom>
          <ns77:ln xmlns:ns77="http://schemas.openxmlformats.org/drawingml/2006/main" w="12700">
            <ns77:solidFill>
              <ns77:srgbClr val="005A9C"/>
            </ns77:solidFill>
            <ns77:tailEnd type="triangle" w="sm" len="sm"/>
          </ns77:ln>
        </p:spPr>
      </p:cxnSp>
      <p:sp>
        <p:nvSpPr>
          <p:cNvPr id="115" name="!!driver.revenue.factor"/>
          <p:cNvSpPr/>
          <p:nvPr/>
        </p:nvSpPr>
        <p:spPr>
          <ns78:xfrm xmlns:ns78="http://schemas.openxmlformats.org/drawingml/2006/main">
            <ns78:off x="4114800" y="1915200"/>
            <ns78:ext cx="2880000" cy="3960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8000"/>
              </ns84:lnSpc>
              <ns84:defRPr sz="1250" b="0">
                <ns84:solidFill>
                  <ns84:srgbClr val="20262C"/>
                </ns84:solidFill>
                <ns84:latin typeface="Arial"/>
                <ns84:ea typeface="Arial"/>
                <ns84:cs typeface="Arial"/>
              </ns84:defRPr>
            </ns84:pPr>
            <ns84:r>
              <ns84:rPr sz="1250" b="0">
                <ns84:solidFill>
                  <ns84:srgbClr val="20262C"/>
                </ns84:solidFill>
                <ns84:latin typeface="Arial"/>
                <ns84:ea typeface="Arial"/>
                <ns84:cs typeface="Arial"/>
              </ns84:rPr>
              <ns84:t>Sales volume and selling price</ns84:t>
            </ns84:r>
          </ns84:p>
        </p:txBody>
      </p:sp>
      <p:cxnSp>
        <p:nvCxnSpPr>
          <p:cNvPr id="116" name="driver.branch.cost"/>
          <p:cNvCxnSpPr/>
          <p:nvPr/>
        </p:nvCxnSpPr>
        <p:spPr>
          <ns85:xfrm xmlns:ns85="http://schemas.openxmlformats.org/drawingml/2006/main">
            <ns85:off x="2232000" y="2847600"/>
            <ns85:ext cx="237600" cy="1"/>
          </ns85:xfrm>
          <ns86:prstGeom xmlns:ns86="http://schemas.openxmlformats.org/drawingml/2006/main" prst="line">
            <ns86:avLst/>
          </ns86:prstGeom>
          <ns87:ln xmlns:ns87="http://schemas.openxmlformats.org/drawingml/2006/main" w="12700">
            <ns87:solidFill>
              <ns87:srgbClr val="005A9C"/>
            </ns87:solidFill>
            <ns87:tailEnd type="triangle" w="sm" len="sm"/>
          </ns87:ln>
        </p:spPr>
      </p:cxnSp>
      <p:sp>
        <p:nvSpPr>
          <p:cNvPr id="117" name="!!driver.cost.node"/>
          <p:cNvSpPr/>
          <p:nvPr/>
        </p:nvSpPr>
        <p:spPr>
          <ns88:xfrm xmlns:ns88="http://schemas.openxmlformats.org/drawingml/2006/main">
            <ns88:off x="2527200" y="2649600"/>
            <ns88:ext cx="1252800" cy="396000"/>
          </ns88:xfrm>
          <ns89:prstGeom xmlns:ns89="http://schemas.openxmlformats.org/drawingml/2006/main" prst="rect">
            <ns89:avLst/>
          </ns89:prstGeom>
          <ns90:noFill xmlns:ns90="http://schemas.openxmlformats.org/drawingml/2006/main"/>
          <ns91:ln xmlns:ns91="http://schemas.openxmlformats.org/drawingml/2006/main" w="0">
            <ns91:noFill/>
          </ns91:ln>
        </p:spPr>
        <p:txBody>
          <ns92:bodyPr xmlns:ns92="http://schemas.openxmlformats.org/drawingml/2006/main" wrap="square" lIns="0" rIns="0" tIns="0" bIns="0" anchor="t">
            <ns92:noAutofit/>
          </ns92:bodyPr>
          <ns93:lstStyle xmlns:ns93="http://schemas.openxmlformats.org/drawingml/2006/main"/>
          <ns94:p xmlns:ns94="http://schemas.openxmlformats.org/drawingml/2006/main">
            <ns94:pPr algn="l">
              <ns94:lnSpc>
                <ns94:spcPct val="108000"/>
              </ns94:lnSpc>
              <ns94:defRPr sz="1300" b="1">
                <ns94:solidFill>
                  <ns94:srgbClr val="005A9C"/>
                </ns94:solidFill>
                <ns94:latin typeface="Arial"/>
                <ns94:ea typeface="Arial"/>
                <ns94:cs typeface="Arial"/>
              </ns94:defRPr>
            </ns94:pPr>
            <ns94:r>
              <ns94:rPr sz="1300" b="1">
                <ns94:solidFill>
                  <ns94:srgbClr val="005A9C"/>
                </ns94:solidFill>
                <ns94:latin typeface="Arial"/>
                <ns94:ea typeface="Arial"/>
                <ns94:cs typeface="Arial"/>
              </ns94:rPr>
              <ns94:t>Cost of sales</ns94:t>
            </ns94:r>
          </ns94:p>
        </p:txBody>
      </p:sp>
      <p:cxnSp>
        <p:nvCxnSpPr>
          <p:cNvPr id="118" name="driver.factor.cost"/>
          <p:cNvCxnSpPr/>
          <p:nvPr/>
        </p:nvCxnSpPr>
        <p:spPr>
          <ns95:xfrm xmlns:ns95="http://schemas.openxmlformats.org/drawingml/2006/main">
            <ns95:off x="3805200" y="2847600"/>
            <ns95:ext cx="230400" cy="1"/>
          </ns95:xfrm>
          <ns96:prstGeom xmlns:ns96="http://schemas.openxmlformats.org/drawingml/2006/main" prst="line">
            <ns96:avLst/>
          </ns96:prstGeom>
          <ns97:ln xmlns:ns97="http://schemas.openxmlformats.org/drawingml/2006/main" w="12700">
            <ns97:solidFill>
              <ns97:srgbClr val="005A9C"/>
            </ns97:solidFill>
            <ns97:tailEnd type="triangle" w="sm" len="sm"/>
          </ns97:ln>
        </p:spPr>
      </p:cxnSp>
      <p:sp>
        <p:nvSpPr>
          <p:cNvPr id="119" name="!!driver.cost.factor"/>
          <p:cNvSpPr/>
          <p:nvPr/>
        </p:nvSpPr>
        <p:spPr>
          <ns98:xfrm xmlns:ns98="http://schemas.openxmlformats.org/drawingml/2006/main">
            <ns98:off x="4114800" y="2649600"/>
            <ns98:ext cx="2880000" cy="396000"/>
          </ns98:xfrm>
          <ns99:prstGeom xmlns:ns99="http://schemas.openxmlformats.org/drawingml/2006/main" prst="rect">
            <ns99:avLst/>
          </ns99:prstGeom>
          <ns100:noFill xmlns:ns100="http://schemas.openxmlformats.org/drawingml/2006/main"/>
          <ns101:ln xmlns:ns101="http://schemas.openxmlformats.org/drawingml/2006/main" w="0">
            <ns101:noFill/>
          </ns101:ln>
        </p:spPr>
        <p:txBody>
          <ns102:bodyPr xmlns:ns102="http://schemas.openxmlformats.org/drawingml/2006/main" wrap="square" lIns="0" rIns="0" tIns="0" bIns="0" anchor="t">
            <ns102:noAutofit/>
          </ns102:bodyPr>
          <ns103:lstStyle xmlns:ns103="http://schemas.openxmlformats.org/drawingml/2006/main"/>
          <ns104:p xmlns:ns104="http://schemas.openxmlformats.org/drawingml/2006/main">
            <ns104:pPr algn="l">
              <ns104:lnSpc>
                <ns104:spcPct val="108000"/>
              </ns104:lnSpc>
              <ns104:defRPr sz="1250" b="0">
                <ns104:solidFill>
                  <ns104:srgbClr val="20262C"/>
                </ns104:solidFill>
                <ns104:latin typeface="Arial"/>
                <ns104:ea typeface="Arial"/>
                <ns104:cs typeface="Arial"/>
              </ns104:defRPr>
            </ns104:pPr>
            <ns104:r>
              <ns104:rPr sz="1250" b="0">
                <ns104:solidFill>
                  <ns104:srgbClr val="20262C"/>
                </ns104:solidFill>
                <ns104:latin typeface="Arial"/>
                <ns104:ea typeface="Arial"/>
                <ns104:cs typeface="Arial"/>
              </ns104:rPr>
              <ns104:t>Materials and production costs</ns104:t>
            </ns104:r>
          </ns104:p>
        </p:txBody>
      </p:sp>
      <p:cxnSp>
        <p:nvCxnSpPr>
          <p:cNvPr id="120" name="driver.branch.expense"/>
          <p:cNvCxnSpPr/>
          <p:nvPr/>
        </p:nvCxnSpPr>
        <p:spPr>
          <ns105:xfrm xmlns:ns105="http://schemas.openxmlformats.org/drawingml/2006/main">
            <ns105:off x="2232000" y="3582000"/>
            <ns105:ext cx="237600" cy="1"/>
          </ns105:xfrm>
          <ns106:prstGeom xmlns:ns106="http://schemas.openxmlformats.org/drawingml/2006/main" prst="line">
            <ns106:avLst/>
          </ns106:prstGeom>
          <ns107:ln xmlns:ns107="http://schemas.openxmlformats.org/drawingml/2006/main" w="12700">
            <ns107:solidFill>
              <ns107:srgbClr val="005A9C"/>
            </ns107:solidFill>
            <ns107:tailEnd type="triangle" w="sm" len="sm"/>
          </ns107:ln>
        </p:spPr>
      </p:cxnSp>
      <p:sp>
        <p:nvSpPr>
          <p:cNvPr id="121" name="!!driver.expense.node"/>
          <p:cNvSpPr/>
          <p:nvPr/>
        </p:nvSpPr>
        <p:spPr>
          <ns108:xfrm xmlns:ns108="http://schemas.openxmlformats.org/drawingml/2006/main">
            <ns108:off x="2527200" y="3384000"/>
            <ns108:ext cx="1252800" cy="396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8000"/>
              </ns114:lnSpc>
              <ns114:defRPr sz="1300" b="1">
                <ns114:solidFill>
                  <ns114:srgbClr val="005A9C"/>
                </ns114:solidFill>
                <ns114:latin typeface="Arial"/>
                <ns114:ea typeface="Arial"/>
                <ns114:cs typeface="Arial"/>
              </ns114:defRPr>
            </ns114:pPr>
            <ns114:r>
              <ns114:rPr sz="1300" b="1">
                <ns114:solidFill>
                  <ns114:srgbClr val="005A9C"/>
                </ns114:solidFill>
                <ns114:latin typeface="Arial"/>
                <ns114:ea typeface="Arial"/>
                <ns114:cs typeface="Arial"/>
              </ns114:rPr>
              <ns114:t>Expenses</ns114:t>
            </ns114:r>
          </ns114:p>
        </p:txBody>
      </p:sp>
      <p:cxnSp>
        <p:nvCxnSpPr>
          <p:cNvPr id="122" name="driver.factor.expense"/>
          <p:cNvCxnSpPr/>
          <p:nvPr/>
        </p:nvCxnSpPr>
        <p:spPr>
          <ns115:xfrm xmlns:ns115="http://schemas.openxmlformats.org/drawingml/2006/main">
            <ns115:off x="3805200" y="3582000"/>
            <ns115:ext cx="230400" cy="1"/>
          </ns115:xfrm>
          <ns116:prstGeom xmlns:ns116="http://schemas.openxmlformats.org/drawingml/2006/main" prst="line">
            <ns116:avLst/>
          </ns116:prstGeom>
          <ns117:ln xmlns:ns117="http://schemas.openxmlformats.org/drawingml/2006/main" w="12700">
            <ns117:solidFill>
              <ns117:srgbClr val="005A9C"/>
            </ns117:solidFill>
            <ns117:tailEnd type="triangle" w="sm" len="sm"/>
          </ns117:ln>
        </p:spPr>
      </p:cxnSp>
      <p:sp>
        <p:nvSpPr>
          <p:cNvPr id="123" name="!!driver.expense.factor"/>
          <p:cNvSpPr/>
          <p:nvPr/>
        </p:nvSpPr>
        <p:spPr>
          <ns118:xfrm xmlns:ns118="http://schemas.openxmlformats.org/drawingml/2006/main">
            <ns118:off x="4114800" y="3384000"/>
            <ns118:ext cx="2880000" cy="396000"/>
          </ns118:xfrm>
          <ns119:prstGeom xmlns:ns119="http://schemas.openxmlformats.org/drawingml/2006/main" prst="rect">
            <ns119:avLst/>
          </ns119:prstGeom>
          <ns120:noFill xmlns:ns120="http://schemas.openxmlformats.org/drawingml/2006/main"/>
          <ns121:ln xmlns:ns121="http://schemas.openxmlformats.org/drawingml/2006/main" w="0">
            <ns121:noFill/>
          </ns121:ln>
        </p:spPr>
        <p:txBody>
          <ns122:bodyPr xmlns:ns122="http://schemas.openxmlformats.org/drawingml/2006/main" wrap="square" lIns="0" rIns="0" tIns="0" bIns="0" anchor="t">
            <ns122:noAutofit/>
          </ns122:bodyPr>
          <ns123:lstStyle xmlns:ns123="http://schemas.openxmlformats.org/drawingml/2006/main"/>
          <ns124:p xmlns:ns124="http://schemas.openxmlformats.org/drawingml/2006/main">
            <ns124:pPr algn="l">
              <ns124:lnSpc>
                <ns124:spcPct val="108000"/>
              </ns124:lnSpc>
              <ns124:defRPr sz="1250" b="0">
                <ns124:solidFill>
                  <ns124:srgbClr val="20262C"/>
                </ns124:solidFill>
                <ns124:latin typeface="Arial"/>
                <ns124:ea typeface="Arial"/>
                <ns124:cs typeface="Arial"/>
              </ns124:defRPr>
            </ns124:pPr>
            <ns124:r>
              <ns124:rPr sz="1250" b="0">
                <ns124:solidFill>
                  <ns124:srgbClr val="20262C"/>
                </ns124:solidFill>
                <ns124:latin typeface="Arial"/>
                <ns124:ea typeface="Arial"/>
                <ns124:cs typeface="Arial"/>
              </ns124:rPr>
              <ns124:t>Distribution and selling expenses</ns124:t>
            </ns124:r>
          </ns124:p>
        </p:txBody>
      </p:sp>
      <p:sp>
        <p:nvSpPr>
          <p:cNvPr id="124" name="!!driver.tools"/>
          <p:cNvSpPr/>
          <p:nvPr/>
        </p:nvSpPr>
        <p:spPr>
          <ns125:xfrm xmlns:ns125="http://schemas.openxmlformats.org/drawingml/2006/main">
            <ns125:off x="7380000" y="1908000"/>
            <ns125:ext cx="1306800" cy="1875600"/>
          </ns125:xfrm>
          <ns126:prstGeom xmlns:ns126="http://schemas.openxmlformats.org/drawingml/2006/main" prst="rect">
            <ns126:avLst/>
          </ns126:prstGeom>
          <ns127:solidFill xmlns:ns127="http://schemas.openxmlformats.org/drawingml/2006/main">
            <ns127:srgbClr val="F3F7FA"/>
          </ns127:solidFill>
          <ns128:ln xmlns:ns128="http://schemas.openxmlformats.org/drawingml/2006/main" w="0">
            <ns128:noFill/>
          </ns128:ln>
        </p:spPr>
        <p:txBody>
          <ns129:bodyPr xmlns:ns129="http://schemas.openxmlformats.org/drawingml/2006/main" wrap="square" lIns="90000" rIns="90000" tIns="90000" bIns="90000" anchor="ctr">
            <ns129:noAutofit/>
          </ns129:bodyPr>
          <ns130:lstStyle xmlns:ns130="http://schemas.openxmlformats.org/drawingml/2006/main"/>
          <ns131:p xmlns:ns131="http://schemas.openxmlformats.org/drawingml/2006/main">
            <ns131:pPr algn="l">
              <ns131:lnSpc>
                <ns131:spcPct val="108000"/>
              </ns131:lnSpc>
              <ns131:defRPr sz="1200" b="1">
                <ns131:solidFill>
                  <ns131:srgbClr val="20262C"/>
                </ns131:solidFill>
                <ns131:latin typeface="Arial"/>
                <ns131:ea typeface="Arial"/>
                <ns131:cs typeface="Arial"/>
              </ns131:defRPr>
            </ns131:pPr>
            <ns131:r>
              <ns131:rPr sz="1200" b="1">
                <ns131:solidFill>
                  <ns131:srgbClr val="20262C"/>
                </ns131:solidFill>
                <ns131:latin typeface="Arial"/>
                <ns131:ea typeface="Arial"/>
                <ns131:cs typeface="Arial"/>
              </ns131:rPr>
              <ns131:t>Data feeds and calculation tools</ns131:t>
            </ns131:r>
          </ns131:p>
        </p:txBody>
      </p:sp>
      <p:sp>
        <p:nvSpPr>
          <p:cNvPr id="125" name="!!driver.result"/>
          <p:cNvSpPr/>
          <p:nvPr/>
        </p:nvSpPr>
        <p:spPr>
          <ns132:xfrm xmlns:ns132="http://schemas.openxmlformats.org/drawingml/2006/main">
            <ns132:off x="457200" y="4194000"/>
            <ns132:ext cx="8229600" cy="187200"/>
          </ns132:xfrm>
          <ns133:prstGeom xmlns:ns133="http://schemas.openxmlformats.org/drawingml/2006/main" prst="rect">
            <ns133:avLst/>
          </ns133:prstGeom>
          <ns134:noFill xmlns:ns134="http://schemas.openxmlformats.org/drawingml/2006/main"/>
          <ns135:ln xmlns:ns135="http://schemas.openxmlformats.org/drawingml/2006/main" w="0">
            <ns135:noFill/>
          </ns135:ln>
        </p:spPr>
        <p:txBody>
          <ns136:bodyPr xmlns:ns136="http://schemas.openxmlformats.org/drawingml/2006/main" wrap="square" lIns="0" rIns="0" tIns="0" bIns="0" anchor="t">
            <ns136:noAutofit/>
          </ns136:bodyPr>
          <ns137:lstStyle xmlns:ns137="http://schemas.openxmlformats.org/drawingml/2006/main"/>
          <ns138:p xmlns:ns138="http://schemas.openxmlformats.org/drawingml/2006/main">
            <ns138:pPr algn="l">
              <ns138:lnSpc>
                <ns138:spcPct val="108000"/>
              </ns138:lnSpc>
              <ns138:defRPr sz="1100" b="0">
                <ns138:solidFill>
                  <ns138:srgbClr val="20262C"/>
                </ns138:solidFill>
                <ns138:latin typeface="Arial"/>
                <ns138:ea typeface="Arial"/>
                <ns138:cs typeface="Arial"/>
              </ns138:defRPr>
            </ns138:pPr>
            <ns138:r>
              <ns138:rPr sz="1100" b="0">
                <ns138:solidFill>
                  <ns138:srgbClr val="20262C"/>
                </ns138:solidFill>
                <ns138:latin typeface="Arial"/>
                <ns138:ea typeface="Arial"/>
                <ns138:cs typeface="Arial"/>
              </ns138:rPr>
              <ns138:t>The LLM links operating drivers to earnings changes. Analysts assess the quality of growth.</ns138:t>
            </ns138:r>
          </ns138:p>
        </p:txBody>
      </p:sp>
    </p:spTree>
    <p:extLst>
      <p:ext uri="{BB962C8B-B14F-4D97-AF65-F5344CB8AC3E}">
        <p14:creationId xmlns:p14="http://schemas.microsoft.com/office/powerpoint/2010/main" val="111288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Fullgoal: comparing research views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Investment research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Fullgoal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views.llm.title"/>
          <p:cNvSpPr/>
          <p:nvPr/>
        </p:nvSpPr>
        <p:spPr>
          <ns45:xfrm xmlns:ns45="http://schemas.openxmlformats.org/drawingml/2006/main">
            <ns45:off x="457200" y="1458000"/>
            <ns45:ext cx="8229600" cy="288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50" b="1">
                <ns51:solidFill>
                  <ns51:srgbClr val="005A9C"/>
                </ns51:solidFill>
                <ns51:latin typeface="Arial"/>
                <ns51:ea typeface="Arial"/>
                <ns51:cs typeface="Arial"/>
              </ns51:defRPr>
            </ns51:pPr>
            <ns51:r>
              <ns51:rPr sz="1350" b="1">
                <ns51:solidFill>
                  <ns51:srgbClr val="005A9C"/>
                </ns51:solidFill>
                <ns51:latin typeface="Arial"/>
                <ns51:ea typeface="Arial"/>
                <ns51:cs typeface="Arial"/>
              </ns51:rPr>
              <ns51:t>The LLM compares reports on a common research question</ns51:t>
            </ns51:r>
          </ns51:p>
        </p:txBody>
      </p:sp>
      <p:sp>
        <p:nvSpPr>
          <p:cNvPr id="109" name="!!views.reportA.label"/>
          <p:cNvSpPr/>
          <p:nvPr/>
        </p:nvSpPr>
        <p:spPr>
          <ns52:xfrm xmlns:ns52="http://schemas.openxmlformats.org/drawingml/2006/main">
            <ns52:off x="457200" y="1908000"/>
            <ns52:ext cx="2559600" cy="223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250" b="1">
                <ns58:solidFill>
                  <ns58:srgbClr val="317F7B"/>
                </ns58:solidFill>
                <ns58:latin typeface="Arial"/>
                <ns58:ea typeface="Arial"/>
                <ns58:cs typeface="Arial"/>
              </ns58:defRPr>
            </ns58:pPr>
            <ns58:r>
              <ns58:rPr sz="1250" b="1">
                <ns58:solidFill>
                  <ns58:srgbClr val="317F7B"/>
                </ns58:solidFill>
                <ns58:latin typeface="Arial"/>
                <ns58:ea typeface="Arial"/>
                <ns58:cs typeface="Arial"/>
              </ns58:rPr>
              <ns58:t>Report A</ns58:t>
            </ns58:r>
          </ns58:p>
        </p:txBody>
      </p:sp>
      <p:cxnSp>
        <p:nvCxnSpPr>
          <p:cNvPr id="110" name="views.reportA.label.rule"/>
          <p:cNvCxnSpPr/>
          <p:nvPr/>
        </p:nvCxnSpPr>
        <p:spPr>
          <ns59:xfrm xmlns:ns59="http://schemas.openxmlformats.org/drawingml/2006/main">
            <ns59:off x="457200" y="2167200"/>
            <ns59:ext cx="2559600" cy="1"/>
          </ns59:xfrm>
          <ns60:prstGeom xmlns:ns60="http://schemas.openxmlformats.org/drawingml/2006/main" prst="line">
            <ns60:avLst/>
          </ns60:prstGeom>
          <ns61:ln xmlns:ns61="http://schemas.openxmlformats.org/drawingml/2006/main" w="12700">
            <ns61:solidFill>
              <ns61:srgbClr val="317F7B"/>
            </ns61:solidFill>
          </ns61:ln>
        </p:spPr>
      </p:cxnSp>
      <p:sp>
        <p:nvSpPr>
          <p:cNvPr id="111" name="!!views.reportA.text"/>
          <p:cNvSpPr/>
          <p:nvPr/>
        </p:nvSpPr>
        <p:spPr>
          <ns62:xfrm xmlns:ns62="http://schemas.openxmlformats.org/drawingml/2006/main">
            <ns62:off x="457200" y="2286000"/>
            <ns62:ext cx="2559600" cy="8460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250" b="0">
                <ns68:solidFill>
                  <ns68:srgbClr val="20262C"/>
                </ns68:solidFill>
                <ns68:latin typeface="Arial"/>
                <ns68:ea typeface="Arial"/>
                <ns68:cs typeface="Arial"/>
              </ns68:defRPr>
            </ns68:pPr>
            <ns68:r>
              <ns68:rPr sz="1250" b="0">
                <ns68:solidFill>
                  <ns68:srgbClr val="20262C"/>
                </ns68:solidFill>
                <ns68:latin typeface="Arial"/>
                <ns68:ea typeface="Arial"/>
                <ns68:cs typeface="Arial"/>
              </ns68:rPr>
              <ns68:t>Higher volumes lifted revenue.</ns68:t>
            </ns68:r>
          </ns68:p>
          <ns69:p xmlns:ns69="http://schemas.openxmlformats.org/drawingml/2006/main">
            <ns69:pPr algn="l">
              <ns69:lnSpc>
                <ns69:spcPct val="108000"/>
              </ns69:lnSpc>
              <ns69:defRPr sz="1250" b="0">
                <ns69:solidFill>
                  <ns69:srgbClr val="20262C"/>
                </ns69:solidFill>
                <ns69:latin typeface="Arial"/>
                <ns69:ea typeface="Arial"/>
                <ns69:cs typeface="Arial"/>
              </ns69:defRPr>
            </ns69:pPr>
            <ns69:r>
              <ns69:rPr sz="1250" b="0">
                <ns69:solidFill>
                  <ns69:srgbClr val="20262C"/>
                </ns69:solidFill>
                <ns69:latin typeface="Arial"/>
                <ns69:ea typeface="Arial"/>
                <ns69:cs typeface="Arial"/>
              </ns69:rPr>
              <ns69:t>Demand recovery can sustain growth.</ns69:t>
            </ns69:r>
          </ns69:p>
        </p:txBody>
      </p:sp>
      <p:sp>
        <p:nvSpPr>
          <p:cNvPr id="112" name="!!views.reportB.label"/>
          <p:cNvSpPr/>
          <p:nvPr/>
        </p:nvSpPr>
        <p:spPr>
          <ns70:xfrm xmlns:ns70="http://schemas.openxmlformats.org/drawingml/2006/main">
            <ns70:off x="3294000" y="1908000"/>
            <ns70:ext cx="2556000" cy="2232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1250" b="1">
                <ns76:solidFill>
                  <ns76:srgbClr val="317F7B"/>
                </ns76:solidFill>
                <ns76:latin typeface="Arial"/>
                <ns76:ea typeface="Arial"/>
                <ns76:cs typeface="Arial"/>
              </ns76:defRPr>
            </ns76:pPr>
            <ns76:r>
              <ns76:rPr sz="1250" b="1">
                <ns76:solidFill>
                  <ns76:srgbClr val="317F7B"/>
                </ns76:solidFill>
                <ns76:latin typeface="Arial"/>
                <ns76:ea typeface="Arial"/>
                <ns76:cs typeface="Arial"/>
              </ns76:rPr>
              <ns76:t>Report B</ns76:t>
            </ns76:r>
          </ns76:p>
        </p:txBody>
      </p:sp>
      <p:cxnSp>
        <p:nvCxnSpPr>
          <p:cNvPr id="113" name="views.reportB.label.rule"/>
          <p:cNvCxnSpPr/>
          <p:nvPr/>
        </p:nvCxnSpPr>
        <p:spPr>
          <ns77:xfrm xmlns:ns77="http://schemas.openxmlformats.org/drawingml/2006/main">
            <ns77:off x="3294000" y="2167200"/>
            <ns77:ext cx="2556000" cy="1"/>
          </ns77:xfrm>
          <ns78:prstGeom xmlns:ns78="http://schemas.openxmlformats.org/drawingml/2006/main" prst="line">
            <ns78:avLst/>
          </ns78:prstGeom>
          <ns79:ln xmlns:ns79="http://schemas.openxmlformats.org/drawingml/2006/main" w="12700">
            <ns79:solidFill>
              <ns79:srgbClr val="317F7B"/>
            </ns79:solidFill>
          </ns79:ln>
        </p:spPr>
      </p:cxnSp>
      <p:sp>
        <p:nvSpPr>
          <p:cNvPr id="114" name="!!views.reportB.text"/>
          <p:cNvSpPr/>
          <p:nvPr/>
        </p:nvSpPr>
        <p:spPr>
          <ns80:xfrm xmlns:ns80="http://schemas.openxmlformats.org/drawingml/2006/main">
            <ns80:off x="3294000" y="2286000"/>
            <ns80:ext cx="2556000" cy="846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250" b="0">
                <ns86:solidFill>
                  <ns86:srgbClr val="20262C"/>
                </ns86:solidFill>
                <ns86:latin typeface="Arial"/>
                <ns86:ea typeface="Arial"/>
                <ns86:cs typeface="Arial"/>
              </ns86:defRPr>
            </ns86:pPr>
            <ns86:r>
              <ns86:rPr sz="1250" b="0">
                <ns86:solidFill>
                  <ns86:srgbClr val="20262C"/>
                </ns86:solidFill>
                <ns86:latin typeface="Arial"/>
                <ns86:ea typeface="Arial"/>
                <ns86:cs typeface="Arial"/>
              </ns86:rPr>
              <ns86:t>Channel restocking lifted shipments. Continued restocking remains uncertain.</ns86:t>
            </ns86:r>
          </ns86:p>
        </p:txBody>
      </p:sp>
      <p:sp>
        <p:nvSpPr>
          <p:cNvPr id="115" name="!!views.method.role"/>
          <p:cNvSpPr/>
          <p:nvPr/>
        </p:nvSpPr>
        <p:spPr>
          <ns87:xfrm xmlns:ns87="http://schemas.openxmlformats.org/drawingml/2006/main">
            <ns87:off x="6127200" y="1908000"/>
            <ns87:ext cx="2559600" cy="2232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250" b="1">
                <ns93:solidFill>
                  <ns93:srgbClr val="005A9C"/>
                </ns93:solidFill>
                <ns93:latin typeface="Arial"/>
                <ns93:ea typeface="Arial"/>
                <ns93:cs typeface="Arial"/>
              </ns93:defRPr>
            </ns93:pPr>
            <ns93:r>
              <ns93:rPr sz="1250" b="1">
                <ns93:solidFill>
                  <ns93:srgbClr val="005A9C"/>
                </ns93:solidFill>
                <ns93:latin typeface="Arial"/>
                <ns93:ea typeface="Arial"/>
                <ns93:cs typeface="Arial"/>
              </ns93:rPr>
              <ns93:t>Fullgoal’s LLM workflow</ns93:t>
            </ns93:r>
          </ns93:p>
        </p:txBody>
      </p:sp>
      <p:cxnSp>
        <p:nvCxnSpPr>
          <p:cNvPr id="116" name="views.method.role.rule"/>
          <p:cNvCxnSpPr/>
          <p:nvPr/>
        </p:nvCxnSpPr>
        <p:spPr>
          <ns94:xfrm xmlns:ns94="http://schemas.openxmlformats.org/drawingml/2006/main">
            <ns94:off x="6127200" y="2167200"/>
            <ns94:ext cx="2559600" cy="1"/>
          </ns94:xfrm>
          <ns95:prstGeom xmlns:ns95="http://schemas.openxmlformats.org/drawingml/2006/main" prst="line">
            <ns95:avLst/>
          </ns95:prstGeom>
          <ns96:ln xmlns:ns96="http://schemas.openxmlformats.org/drawingml/2006/main" w="12700">
            <ns96:solidFill>
              <ns96:srgbClr val="005A9C"/>
            </ns96:solidFill>
          </ns96:ln>
        </p:spPr>
      </p:cxnSp>
      <p:sp>
        <p:nvSpPr>
          <p:cNvPr id="117" name="!!views.method.body"/>
          <p:cNvSpPr/>
          <p:nvPr/>
        </p:nvSpPr>
        <p:spPr>
          <ns97:xfrm xmlns:ns97="http://schemas.openxmlformats.org/drawingml/2006/main">
            <ns97:off x="6127200" y="2286000"/>
            <ns97:ext cx="2559600" cy="846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150" b="0">
                <ns103:solidFill>
                  <ns103:srgbClr val="20262C"/>
                </ns103:solidFill>
                <ns103:latin typeface="Arial"/>
                <ns103:ea typeface="Arial"/>
                <ns103:cs typeface="Arial"/>
              </ns103:defRPr>
            </ns103:pPr>
            <ns103:r>
              <ns103:rPr sz="1150" b="0">
                <ns103:solidFill>
                  <ns103:srgbClr val="20262C"/>
                </ns103:solidFill>
                <ns103:latin typeface="Arial"/>
                <ns103:ea typeface="Arial"/>
                <ns103:cs typeface="Arial"/>
              </ns103:rPr>
              <ns103:t>Select relevant reports</ns103:t>
            </ns103:r>
          </ns103:p>
          <ns104:p xmlns:ns104="http://schemas.openxmlformats.org/drawingml/2006/main">
            <ns104:pPr algn="l">
              <ns104:lnSpc>
                <ns104:spcPct val="108000"/>
              </ns104:lnSpc>
              <ns104:defRPr sz="1150" b="0">
                <ns104:solidFill>
                  <ns104:srgbClr val="20262C"/>
                </ns104:solidFill>
                <ns104:latin typeface="Arial"/>
                <ns104:ea typeface="Arial"/>
                <ns104:cs typeface="Arial"/>
              </ns104:defRPr>
            </ns104:pPr>
            <ns104:r>
              <ns104:rPr sz="1150" b="0">
                <ns104:solidFill>
                  <ns104:srgbClr val="20262C"/>
                </ns104:solidFill>
                <ns104:latin typeface="Arial"/>
                <ns104:ea typeface="Arial"/>
                <ns104:cs typeface="Arial"/>
              </ns104:rPr>
              <ns104:t>Summarize by topic</ns104:t>
            </ns104:r>
          </ns104:p>
          <ns105:p xmlns:ns105="http://schemas.openxmlformats.org/drawingml/2006/main">
            <ns105:pPr algn="l">
              <ns105:lnSpc>
                <ns105:spcPct val="108000"/>
              </ns105:lnSpc>
              <ns105:defRPr sz="1150" b="0">
                <ns105:solidFill>
                  <ns105:srgbClr val="20262C"/>
                </ns105:solidFill>
                <ns105:latin typeface="Arial"/>
                <ns105:ea typeface="Arial"/>
                <ns105:cs typeface="Arial"/>
              </ns105:defRPr>
            </ns105:pPr>
            <ns105:r>
              <ns105:rPr sz="1150" b="0">
                <ns105:solidFill>
                  <ns105:srgbClr val="20262C"/>
                </ns105:solidFill>
                <ns105:latin typeface="Arial"/>
                <ns105:ea typeface="Arial"/>
                <ns105:cs typeface="Arial"/>
              </ns105:rPr>
              <ns105:t>Consolidate and review summaries</ns105:t>
            </ns105:r>
          </ns105:p>
        </p:txBody>
      </p:sp>
      <p:sp>
        <p:nvSpPr>
          <p:cNvPr id="118" name="!!views.consensus.title"/>
          <p:cNvSpPr/>
          <p:nvPr/>
        </p:nvSpPr>
        <p:spPr>
          <ns106:xfrm xmlns:ns106="http://schemas.openxmlformats.org/drawingml/2006/main">
            <ns106:off x="457200" y="3366000"/>
            <ns106:ext cx="3934800" cy="201600"/>
          </ns106:xfrm>
          <ns107:prstGeom xmlns:ns107="http://schemas.openxmlformats.org/drawingml/2006/main" prst="rect">
            <ns107:avLst/>
          </ns107:prstGeom>
          <ns108:noFill xmlns:ns108="http://schemas.openxmlformats.org/drawingml/2006/main"/>
          <ns109:ln xmlns:ns109="http://schemas.openxmlformats.org/drawingml/2006/main" w="0">
            <ns109:noFill/>
          </ns109:ln>
        </p:spPr>
        <p:txBody>
          <ns110:bodyPr xmlns:ns110="http://schemas.openxmlformats.org/drawingml/2006/main" wrap="square" lIns="0" rIns="0" tIns="0" bIns="0" anchor="t">
            <ns110:noAutofit/>
          </ns110:bodyPr>
          <ns111:lstStyle xmlns:ns111="http://schemas.openxmlformats.org/drawingml/2006/main"/>
          <ns112:p xmlns:ns112="http://schemas.openxmlformats.org/drawingml/2006/main">
            <ns112:pPr algn="l">
              <ns112:lnSpc>
                <ns112:spcPct val="108000"/>
              </ns112:lnSpc>
              <ns112:defRPr sz="1300" b="1">
                <ns112:solidFill>
                  <ns112:srgbClr val="317F7B"/>
                </ns112:solidFill>
                <ns112:latin typeface="Arial"/>
                <ns112:ea typeface="Arial"/>
                <ns112:cs typeface="Arial"/>
              </ns112:defRPr>
            </ns112:pPr>
            <ns112:r>
              <ns112:rPr sz="1300" b="1">
                <ns112:solidFill>
                  <ns112:srgbClr val="317F7B"/>
                </ns112:solidFill>
                <ns112:latin typeface="Arial"/>
                <ns112:ea typeface="Arial"/>
                <ns112:cs typeface="Arial"/>
              </ns112:rPr>
              <ns112:t>Shared finding</ns112:t>
            </ns112:r>
          </ns112:p>
        </p:txBody>
      </p:sp>
      <p:sp>
        <p:nvSpPr>
          <p:cNvPr id="119" name="!!views.consensus.body"/>
          <p:cNvSpPr/>
          <p:nvPr/>
        </p:nvSpPr>
        <p:spPr>
          <ns113:xfrm xmlns:ns113="http://schemas.openxmlformats.org/drawingml/2006/main">
            <ns113:off x="457200" y="3643200"/>
            <ns113:ext cx="3934800" cy="352800"/>
          </ns113:xfrm>
          <ns114:prstGeom xmlns:ns114="http://schemas.openxmlformats.org/drawingml/2006/main" prst="rect">
            <ns114:avLst/>
          </ns114:prstGeom>
          <ns115:noFill xmlns:ns115="http://schemas.openxmlformats.org/drawingml/2006/main"/>
          <ns116:ln xmlns:ns116="http://schemas.openxmlformats.org/drawingml/2006/main" w="0">
            <ns116:noFill/>
          </ns116:ln>
        </p:spPr>
        <p:txBody>
          <ns117:bodyPr xmlns:ns117="http://schemas.openxmlformats.org/drawingml/2006/main" wrap="square" lIns="0" rIns="0" tIns="0" bIns="0" anchor="t">
            <ns117:noAutofit/>
          </ns117:bodyPr>
          <ns118:lstStyle xmlns:ns118="http://schemas.openxmlformats.org/drawingml/2006/main"/>
          <ns119:p xmlns:ns119="http://schemas.openxmlformats.org/drawingml/2006/main">
            <ns119:pPr algn="l">
              <ns119:lnSpc>
                <ns119:spcPct val="108000"/>
              </ns119:lnSpc>
              <ns119:defRPr sz="1300" b="0">
                <ns119:solidFill>
                  <ns119:srgbClr val="20262C"/>
                </ns119:solidFill>
                <ns119:latin typeface="Arial"/>
                <ns119:ea typeface="Arial"/>
                <ns119:cs typeface="Arial"/>
              </ns119:defRPr>
            </ns119:pPr>
            <ns119:r>
              <ns119:rPr sz="1300" b="0">
                <ns119:solidFill>
                  <ns119:srgbClr val="20262C"/>
                </ns119:solidFill>
                <ns119:latin typeface="Arial"/>
                <ns119:ea typeface="Arial"/>
                <ns119:cs typeface="Arial"/>
              </ns119:rPr>
              <ns119:t>Higher volumes supported revenue</ns119:t>
            </ns119:r>
          </ns119:p>
        </p:txBody>
      </p:sp>
      <p:sp>
        <p:nvSpPr>
          <p:cNvPr id="120" name="!!views.difference.title"/>
          <p:cNvSpPr/>
          <p:nvPr/>
        </p:nvSpPr>
        <p:spPr>
          <ns120:xfrm xmlns:ns120="http://schemas.openxmlformats.org/drawingml/2006/main">
            <ns120:off x="4752000" y="3366000"/>
            <ns120:ext cx="3934800" cy="201600"/>
          </ns120:xfrm>
          <ns121:prstGeom xmlns:ns121="http://schemas.openxmlformats.org/drawingml/2006/main" prst="rect">
            <ns121:avLst/>
          </ns121:prstGeom>
          <ns122:noFill xmlns:ns122="http://schemas.openxmlformats.org/drawingml/2006/main"/>
          <ns123:ln xmlns:ns123="http://schemas.openxmlformats.org/drawingml/2006/main" w="0">
            <ns123:noFill/>
          </ns123:ln>
        </p:spPr>
        <p:txBody>
          <ns124:bodyPr xmlns:ns124="http://schemas.openxmlformats.org/drawingml/2006/main" wrap="square" lIns="0" rIns="0" tIns="0" bIns="0" anchor="t">
            <ns124:noAutofit/>
          </ns124:bodyPr>
          <ns125:lstStyle xmlns:ns125="http://schemas.openxmlformats.org/drawingml/2006/main"/>
          <ns126:p xmlns:ns126="http://schemas.openxmlformats.org/drawingml/2006/main">
            <ns126:pPr algn="l">
              <ns126:lnSpc>
                <ns126:spcPct val="108000"/>
              </ns126:lnSpc>
              <ns126:defRPr sz="1300" b="1">
                <ns126:solidFill>
                  <ns126:srgbClr val="005A9C"/>
                </ns126:solidFill>
                <ns126:latin typeface="Arial"/>
                <ns126:ea typeface="Arial"/>
                <ns126:cs typeface="Arial"/>
              </ns126:defRPr>
            </ns126:pPr>
            <ns126:r>
              <ns126:rPr sz="1300" b="1">
                <ns126:solidFill>
                  <ns126:srgbClr val="005A9C"/>
                </ns126:solidFill>
                <ns126:latin typeface="Arial"/>
                <ns126:ea typeface="Arial"/>
                <ns126:cs typeface="Arial"/>
              </ns126:rPr>
              <ns126:t>Unresolved question</ns126:t>
            </ns126:r>
          </ns126:p>
        </p:txBody>
      </p:sp>
      <p:sp>
        <p:nvSpPr>
          <p:cNvPr id="121" name="!!views.difference.body"/>
          <p:cNvSpPr/>
          <p:nvPr/>
        </p:nvSpPr>
        <p:spPr>
          <ns127:xfrm xmlns:ns127="http://schemas.openxmlformats.org/drawingml/2006/main">
            <ns127:off x="4752000" y="3643200"/>
            <ns127:ext cx="3934800" cy="352800"/>
          </ns127:xfrm>
          <ns128:prstGeom xmlns:ns128="http://schemas.openxmlformats.org/drawingml/2006/main" prst="rect">
            <ns128:avLst/>
          </ns128:prstGeom>
          <ns129:noFill xmlns:ns129="http://schemas.openxmlformats.org/drawingml/2006/main"/>
          <ns130:ln xmlns:ns130="http://schemas.openxmlformats.org/drawingml/2006/main" w="0">
            <ns130:noFill/>
          </ns130:ln>
        </p:spPr>
        <p:txBody>
          <ns131:bodyPr xmlns:ns131="http://schemas.openxmlformats.org/drawingml/2006/main" wrap="square" lIns="0" rIns="0" tIns="0" bIns="0" anchor="t">
            <ns131:noAutofit/>
          </ns131:bodyPr>
          <ns132:lstStyle xmlns:ns132="http://schemas.openxmlformats.org/drawingml/2006/main"/>
          <ns133:p xmlns:ns133="http://schemas.openxmlformats.org/drawingml/2006/main">
            <ns133:pPr algn="l">
              <ns133:lnSpc>
                <ns133:spcPct val="108000"/>
              </ns133:lnSpc>
              <ns133:defRPr sz="1300" b="0">
                <ns133:solidFill>
                  <ns133:srgbClr val="20262C"/>
                </ns133:solidFill>
                <ns133:latin typeface="Arial"/>
                <ns133:ea typeface="Arial"/>
                <ns133:cs typeface="Arial"/>
              </ns133:defRPr>
            </ns133:pPr>
            <ns133:r>
              <ns133:rPr sz="1300" b="0">
                <ns133:solidFill>
                  <ns133:srgbClr val="20262C"/>
                </ns133:solidFill>
                <ns133:latin typeface="Arial"/>
                <ns133:ea typeface="Arial"/>
                <ns133:cs typeface="Arial"/>
              </ns133:rPr>
              <ns133:t>Is volume growth sustainable?</ns133:t>
            </ns133:r>
          </ns133:p>
        </p:txBody>
      </p:sp>
      <p:cxnSp>
        <p:nvCxnSpPr>
          <p:cNvPr id="122" name="synthesis.rule"/>
          <p:cNvCxnSpPr/>
          <p:nvPr/>
        </p:nvCxnSpPr>
        <p:spPr>
          <ns134:xfrm xmlns:ns134="http://schemas.openxmlformats.org/drawingml/2006/main">
            <ns134:off x="457200" y="3232800"/>
            <ns134:ext cx="8229600" cy="1"/>
          </ns134:xfrm>
          <ns135:prstGeom xmlns:ns135="http://schemas.openxmlformats.org/drawingml/2006/main" prst="line">
            <ns135:avLst/>
          </ns135:prstGeom>
          <ns136:ln xmlns:ns136="http://schemas.openxmlformats.org/drawingml/2006/main" w="9525">
            <ns136:solidFill>
              <ns136:srgbClr val="317F7B"/>
            </ns136:solidFill>
          </ns136:ln>
        </p:spPr>
      </p:cxnSp>
      <p:sp>
        <p:nvSpPr>
          <p:cNvPr id="123" name="!!views.user"/>
          <p:cNvSpPr/>
          <p:nvPr/>
        </p:nvSpPr>
        <p:spPr>
          <ns137:xfrm xmlns:ns137="http://schemas.openxmlformats.org/drawingml/2006/main">
            <ns137:off x="457200" y="4230000"/>
            <ns137:ext cx="8229600" cy="1872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8000"/>
              </ns143:lnSpc>
              <ns143:defRPr sz="1100" b="0">
                <ns143:solidFill>
                  <ns143:srgbClr val="20262C"/>
                </ns143:solidFill>
                <ns143:latin typeface="Arial"/>
                <ns143:ea typeface="Arial"/>
                <ns143:cs typeface="Arial"/>
              </ns143:defRPr>
            </ns143:pPr>
            <ns143:r>
              <ns143:rPr sz="1100" b="0">
                <ns143:solidFill>
                  <ns143:srgbClr val="20262C"/>
                </ns143:solidFill>
                <ns143:latin typeface="Arial"/>
                <ns143:ea typeface="Arial"/>
                <ns143:cs typeface="Arial"/>
              </ns143:rPr>
              <ns143:t>Analysts investigate the disagreement, with links back to the underlying reports</ns143:t>
            </ns143:r>
          </ns143:p>
        </p:txBody>
      </p:sp>
    </p:spTree>
    <p:extLst>
      <p:ext uri="{BB962C8B-B14F-4D97-AF65-F5344CB8AC3E}">
        <p14:creationId xmlns:p14="http://schemas.microsoft.com/office/powerpoint/2010/main" val="702526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Zhong Ou: populating research templates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Investment research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Zhong Ou / Nanfang Plus and forum coverage</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elements.head"/>
          <p:cNvSpPr/>
          <p:nvPr/>
        </p:nvSpPr>
        <p:spPr>
          <ns45:xfrm xmlns:ns45="http://schemas.openxmlformats.org/drawingml/2006/main">
            <ns45:off x="457200" y="1458000"/>
            <ns45:ext cx="8229600" cy="2592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50" b="1">
                <ns51:solidFill>
                  <ns51:srgbClr val="005A9C"/>
                </ns51:solidFill>
                <ns51:latin typeface="Arial"/>
                <ns51:ea typeface="Arial"/>
                <ns51:cs typeface="Arial"/>
              </ns51:defRPr>
            </ns51:pPr>
            <ns51:r>
              <ns51:rPr sz="1350" b="1">
                <ns51:solidFill>
                  <ns51:srgbClr val="005A9C"/>
                </ns51:solidFill>
                <ns51:latin typeface="Arial"/>
                <ns51:ea typeface="Arial"/>
                <ns51:cs typeface="Arial"/>
              </ns51:rPr>
              <ns51:t>The LLM populates research templates from source material.</ns51:t>
            </ns51:r>
          </ns51:p>
        </p:txBody>
      </p:sp>
      <p:sp>
        <p:nvSpPr>
          <p:cNvPr id="109" name="!!elements.left"/>
          <p:cNvSpPr/>
          <p:nvPr/>
        </p:nvSpPr>
        <p:spPr>
          <ns52:xfrm xmlns:ns52="http://schemas.openxmlformats.org/drawingml/2006/main">
            <ns52:off x="457200" y="1879200"/>
            <ns52:ext cx="2304000" cy="223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250" b="1">
                <ns58:solidFill>
                  <ns58:srgbClr val="005A9C"/>
                </ns58:solidFill>
                <ns58:latin typeface="Arial"/>
                <ns58:ea typeface="Arial"/>
                <ns58:cs typeface="Arial"/>
              </ns58:defRPr>
            </ns58:pPr>
            <ns58:r>
              <ns58:rPr sz="1250" b="1">
                <ns58:solidFill>
                  <ns58:srgbClr val="005A9C"/>
                </ns58:solidFill>
                <ns58:latin typeface="Arial"/>
                <ns58:ea typeface="Arial"/>
                <ns58:cs typeface="Arial"/>
              </ns58:rPr>
              <ns58:t>Source materials</ns58:t>
            </ns58:r>
          </ns58:p>
        </p:txBody>
      </p:sp>
      <p:cxnSp>
        <p:nvCxnSpPr>
          <p:cNvPr id="110" name="elements.left.rule"/>
          <p:cNvCxnSpPr/>
          <p:nvPr/>
        </p:nvCxnSpPr>
        <p:spPr>
          <ns59:xfrm xmlns:ns59="http://schemas.openxmlformats.org/drawingml/2006/main">
            <ns59:off x="457200" y="2138400"/>
            <ns59:ext cx="2304000" cy="1"/>
          </ns59:xfrm>
          <ns60:prstGeom xmlns:ns60="http://schemas.openxmlformats.org/drawingml/2006/main" prst="line">
            <ns60:avLst/>
          </ns60:prstGeom>
          <ns61:ln xmlns:ns61="http://schemas.openxmlformats.org/drawingml/2006/main" w="12700">
            <ns61:solidFill>
              <ns61:srgbClr val="005A9C"/>
            </ns61:solidFill>
          </ns61:ln>
        </p:spPr>
      </p:cxnSp>
      <p:sp>
        <p:nvSpPr>
          <p:cNvPr id="111" name="!!elements.right"/>
          <p:cNvSpPr/>
          <p:nvPr/>
        </p:nvSpPr>
        <p:spPr>
          <ns62:xfrm xmlns:ns62="http://schemas.openxmlformats.org/drawingml/2006/main">
            <ns62:off x="3294000" y="1879200"/>
            <ns62:ext cx="5392800" cy="2232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250" b="1">
                <ns68:solidFill>
                  <ns68:srgbClr val="005A9C"/>
                </ns68:solidFill>
                <ns68:latin typeface="Arial"/>
                <ns68:ea typeface="Arial"/>
                <ns68:cs typeface="Arial"/>
              </ns68:defRPr>
            </ns68:pPr>
            <ns68:r>
              <ns68:rPr sz="1250" b="1">
                <ns68:solidFill>
                  <ns68:srgbClr val="005A9C"/>
                </ns68:solidFill>
                <ns68:latin typeface="Arial"/>
                <ns68:ea typeface="Arial"/>
                <ns68:cs typeface="Arial"/>
              </ns68:rPr>
              <ns68:t>Illustrative research template</ns68:t>
            </ns68:r>
          </ns68:p>
        </p:txBody>
      </p:sp>
      <p:cxnSp>
        <p:nvCxnSpPr>
          <p:cNvPr id="112" name="elements.right.rule"/>
          <p:cNvCxnSpPr/>
          <p:nvPr/>
        </p:nvCxnSpPr>
        <p:spPr>
          <ns69:xfrm xmlns:ns69="http://schemas.openxmlformats.org/drawingml/2006/main">
            <ns69:off x="3294000" y="2138400"/>
            <ns69:ext cx="5392800" cy="1"/>
          </ns69:xfrm>
          <ns70:prstGeom xmlns:ns70="http://schemas.openxmlformats.org/drawingml/2006/main" prst="line">
            <ns70:avLst/>
          </ns70:prstGeom>
          <ns71:ln xmlns:ns71="http://schemas.openxmlformats.org/drawingml/2006/main" w="12700">
            <ns71:solidFill>
              <ns71:srgbClr val="005A9C"/>
            </ns71:solidFill>
          </ns71:ln>
        </p:spPr>
      </p:cxnSp>
      <p:sp>
        <p:nvSpPr>
          <p:cNvPr id="113" name="!!element.0.source"/>
          <p:cNvSpPr/>
          <p:nvPr/>
        </p:nvSpPr>
        <p:spPr>
          <ns72:xfrm xmlns:ns72="http://schemas.openxmlformats.org/drawingml/2006/main">
            <ns72:off x="457200" y="2340000"/>
            <ns72:ext cx="2304000" cy="367200"/>
          </ns72:xfrm>
          <ns73:prstGeom xmlns:ns73="http://schemas.openxmlformats.org/drawingml/2006/main" prst="rect">
            <ns73:avLst/>
          </ns73:prstGeom>
          <ns74:noFill xmlns:ns74="http://schemas.openxmlformats.org/drawingml/2006/main"/>
          <ns75:ln xmlns:ns75="http://schemas.openxmlformats.org/drawingml/2006/main" w="0">
            <ns75:noFill/>
          </ns75:ln>
        </p:spPr>
        <p:txBody>
          <ns76:bodyPr xmlns:ns76="http://schemas.openxmlformats.org/drawingml/2006/main" wrap="square" lIns="0" rIns="0" tIns="0" bIns="0" anchor="t">
            <ns76:noAutofit/>
          </ns76:bodyPr>
          <ns77:lstStyle xmlns:ns77="http://schemas.openxmlformats.org/drawingml/2006/main"/>
          <ns78:p xmlns:ns78="http://schemas.openxmlformats.org/drawingml/2006/main">
            <ns78:pPr algn="l">
              <ns78:lnSpc>
                <ns78:spcPct val="108000"/>
              </ns78:lnSpc>
              <ns78:defRPr sz="1200" b="0">
                <ns78:solidFill>
                  <ns78:srgbClr val="20262C"/>
                </ns78:solidFill>
                <ns78:latin typeface="Arial"/>
                <ns78:ea typeface="Arial"/>
                <ns78:cs typeface="Arial"/>
              </ns78:defRPr>
            </ns78:pPr>
            <ns78:r>
              <ns78:rPr sz="1200" b="0">
                <ns78:solidFill>
                  <ns78:srgbClr val="20262C"/>
                </ns78:solidFill>
                <ns78:latin typeface="Arial"/>
                <ns78:ea typeface="Arial"/>
                <ns78:cs typeface="Arial"/>
              </ns78:rPr>
              <ns78:t>Financials and calculations</ns78:t>
            </ns78:r>
          </ns78:p>
        </p:txBody>
      </p:sp>
      <p:cxnSp>
        <p:nvCxnSpPr>
          <p:cNvPr id="114" name="template.map.0"/>
          <p:cNvCxnSpPr/>
          <p:nvPr/>
        </p:nvCxnSpPr>
        <p:spPr>
          <ns79:xfrm xmlns:ns79="http://schemas.openxmlformats.org/drawingml/2006/main">
            <ns79:off x="2847600" y="2484000"/>
            <ns79:ext cx="352800" cy="1"/>
          </ns79:xfrm>
          <ns80:prstGeom xmlns:ns80="http://schemas.openxmlformats.org/drawingml/2006/main" prst="line">
            <ns80:avLst/>
          </ns80:prstGeom>
          <ns81:ln xmlns:ns81="http://schemas.openxmlformats.org/drawingml/2006/main" w="12700">
            <ns81:solidFill>
              <ns81:srgbClr val="005A9C"/>
            </ns81:solidFill>
            <ns81:tailEnd type="triangle" w="sm" len="sm"/>
          </ns81:ln>
        </p:spPr>
      </p:cxnSp>
      <p:sp>
        <p:nvSpPr>
          <p:cNvPr id="115" name="!!element.0.label"/>
          <p:cNvSpPr/>
          <p:nvPr/>
        </p:nvSpPr>
        <p:spPr>
          <ns82:xfrm xmlns:ns82="http://schemas.openxmlformats.org/drawingml/2006/main">
            <ns82:off x="3294000" y="2340000"/>
            <ns82:ext cx="1656000" cy="3672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8000"/>
              </ns88:lnSpc>
              <ns88:defRPr sz="1150" b="1">
                <ns88:solidFill>
                  <ns88:srgbClr val="005A9C"/>
                </ns88:solidFill>
                <ns88:latin typeface="Arial"/>
                <ns88:ea typeface="Arial"/>
                <ns88:cs typeface="Arial"/>
              </ns88:defRPr>
            </ns88:pPr>
            <ns88:r>
              <ns88:rPr sz="1150" b="1">
                <ns88:solidFill>
                  <ns88:srgbClr val="005A9C"/>
                </ns88:solidFill>
                <ns88:latin typeface="Arial"/>
                <ns88:ea typeface="Arial"/>
                <ns88:cs typeface="Arial"/>
              </ns88:rPr>
              <ns88:t>Operating performance</ns88:t>
            </ns88:r>
          </ns88:p>
        </p:txBody>
      </p:sp>
      <p:sp>
        <p:nvSpPr>
          <p:cNvPr id="116" name="!!element.0.value"/>
          <p:cNvSpPr/>
          <p:nvPr/>
        </p:nvSpPr>
        <p:spPr>
          <ns89:xfrm xmlns:ns89="http://schemas.openxmlformats.org/drawingml/2006/main">
            <ns89:off x="5083200" y="2340000"/>
            <ns89:ext cx="3603600" cy="3672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250" b="0">
                <ns95:solidFill>
                  <ns95:srgbClr val="20262C"/>
                </ns95:solidFill>
                <ns95:latin typeface="Arial"/>
                <ns95:ea typeface="Arial"/>
                <ns95:cs typeface="Arial"/>
              </ns95:defRPr>
            </ns95:pPr>
            <ns95:r>
              <ns95:rPr sz="1250" b="0">
                <ns95:solidFill>
                  <ns95:srgbClr val="20262C"/>
                </ns95:solidFill>
                <ns95:latin typeface="Arial"/>
                <ns95:ea typeface="Arial"/>
                <ns95:cs typeface="Arial"/>
              </ns95:rPr>
              <ns95:t>Sales volume up 10%</ns95:t>
            </ns95:r>
          </ns95:p>
        </p:txBody>
      </p:sp>
      <p:cxnSp>
        <p:nvCxnSpPr>
          <p:cNvPr id="117" name="template.row.0"/>
          <p:cNvCxnSpPr/>
          <p:nvPr/>
        </p:nvCxnSpPr>
        <p:spPr>
          <ns96:xfrm xmlns:ns96="http://schemas.openxmlformats.org/drawingml/2006/main">
            <ns96:off x="3294000" y="2732400"/>
            <ns96:ext cx="5392800" cy="1"/>
          </ns96:xfrm>
          <ns97:prstGeom xmlns:ns97="http://schemas.openxmlformats.org/drawingml/2006/main" prst="line">
            <ns97:avLst/>
          </ns97:prstGeom>
          <ns98:ln xmlns:ns98="http://schemas.openxmlformats.org/drawingml/2006/main" w="6350">
            <ns98:solidFill>
              <ns98:srgbClr val="CCD5DA"/>
            </ns98:solidFill>
          </ns98:ln>
        </p:spPr>
      </p:cxnSp>
      <p:sp>
        <p:nvSpPr>
          <p:cNvPr id="118" name="!!element.1.source"/>
          <p:cNvSpPr/>
          <p:nvPr/>
        </p:nvSpPr>
        <p:spPr>
          <ns99:xfrm xmlns:ns99="http://schemas.openxmlformats.org/drawingml/2006/main">
            <ns99:off x="457200" y="2833200"/>
            <ns99:ext cx="2304000" cy="367200"/>
          </ns99:xfrm>
          <ns100:prstGeom xmlns:ns100="http://schemas.openxmlformats.org/drawingml/2006/main" prst="rect">
            <ns100:avLst/>
          </ns100:prstGeom>
          <ns101:noFill xmlns:ns101="http://schemas.openxmlformats.org/drawingml/2006/main"/>
          <ns102:ln xmlns:ns102="http://schemas.openxmlformats.org/drawingml/2006/main" w="0">
            <ns102:noFill/>
          </ns102:ln>
        </p:spPr>
        <p:txBody>
          <ns103:bodyPr xmlns:ns103="http://schemas.openxmlformats.org/drawingml/2006/main" wrap="square" lIns="0" rIns="0" tIns="0" bIns="0" anchor="t">
            <ns103:noAutofit/>
          </ns103:bodyPr>
          <ns104:lstStyle xmlns:ns104="http://schemas.openxmlformats.org/drawingml/2006/main"/>
          <ns105:p xmlns:ns105="http://schemas.openxmlformats.org/drawingml/2006/main">
            <ns105:pPr algn="l">
              <ns105:lnSpc>
                <ns105:spcPct val="108000"/>
              </ns105:lnSpc>
              <ns105:defRPr sz="1200" b="0">
                <ns105:solidFill>
                  <ns105:srgbClr val="20262C"/>
                </ns105:solidFill>
                <ns105:latin typeface="Arial"/>
                <ns105:ea typeface="Arial"/>
                <ns105:cs typeface="Arial"/>
              </ns105:defRPr>
            </ns105:pPr>
            <ns105:r>
              <ns105:rPr sz="1200" b="0">
                <ns105:solidFill>
                  <ns105:srgbClr val="20262C"/>
                </ns105:solidFill>
                <ns105:latin typeface="Arial"/>
                <ns105:ea typeface="Arial"/>
                <ns105:cs typeface="Arial"/>
              </ns105:rPr>
              <ns105:t>Meeting notes</ns105:t>
            </ns105:r>
          </ns105:p>
        </p:txBody>
      </p:sp>
      <p:cxnSp>
        <p:nvCxnSpPr>
          <p:cNvPr id="119" name="template.map.1"/>
          <p:cNvCxnSpPr/>
          <p:nvPr/>
        </p:nvCxnSpPr>
        <p:spPr>
          <ns106:xfrm xmlns:ns106="http://schemas.openxmlformats.org/drawingml/2006/main">
            <ns106:off x="2847600" y="2977200"/>
            <ns106:ext cx="352800" cy="1"/>
          </ns106:xfrm>
          <ns107:prstGeom xmlns:ns107="http://schemas.openxmlformats.org/drawingml/2006/main" prst="line">
            <ns107:avLst/>
          </ns107:prstGeom>
          <ns108:ln xmlns:ns108="http://schemas.openxmlformats.org/drawingml/2006/main" w="12700">
            <ns108:solidFill>
              <ns108:srgbClr val="005A9C"/>
            </ns108:solidFill>
            <ns108:tailEnd type="triangle" w="sm" len="sm"/>
          </ns108:ln>
        </p:spPr>
      </p:cxnSp>
      <p:sp>
        <p:nvSpPr>
          <p:cNvPr id="120" name="!!element.1.label"/>
          <p:cNvSpPr/>
          <p:nvPr/>
        </p:nvSpPr>
        <p:spPr>
          <ns109:xfrm xmlns:ns109="http://schemas.openxmlformats.org/drawingml/2006/main">
            <ns109:off x="3294000" y="2833200"/>
            <ns109:ext cx="1656000" cy="3672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150" b="1">
                <ns115:solidFill>
                  <ns115:srgbClr val="005A9C"/>
                </ns115:solidFill>
                <ns115:latin typeface="Arial"/>
                <ns115:ea typeface="Arial"/>
                <ns115:cs typeface="Arial"/>
              </ns115:defRPr>
            </ns115:pPr>
            <ns115:r>
              <ns115:rPr sz="1150" b="1">
                <ns115:solidFill>
                  <ns115:srgbClr val="005A9C"/>
                </ns115:solidFill>
                <ns115:latin typeface="Arial"/>
                <ns115:ea typeface="Arial"/>
                <ns115:cs typeface="Arial"/>
              </ns115:rPr>
              <ns115:t>Business driver</ns115:t>
            </ns115:r>
          </ns115:p>
        </p:txBody>
      </p:sp>
      <p:sp>
        <p:nvSpPr>
          <p:cNvPr id="121" name="!!element.1.value"/>
          <p:cNvSpPr/>
          <p:nvPr/>
        </p:nvSpPr>
        <p:spPr>
          <ns116:xfrm xmlns:ns116="http://schemas.openxmlformats.org/drawingml/2006/main">
            <ns116:off x="5083200" y="2833200"/>
            <ns116:ext cx="3603600" cy="3672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250" b="0">
                <ns122:solidFill>
                  <ns122:srgbClr val="20262C"/>
                </ns122:solidFill>
                <ns122:latin typeface="Arial"/>
                <ns122:ea typeface="Arial"/>
                <ns122:cs typeface="Arial"/>
              </ns122:defRPr>
            </ns122:pPr>
            <ns122:r>
              <ns122:rPr sz="1250" b="0">
                <ns122:solidFill>
                  <ns122:srgbClr val="20262C"/>
                </ns122:solidFill>
                <ns122:latin typeface="Arial"/>
                <ns122:ea typeface="Arial"/>
                <ns122:cs typeface="Arial"/>
              </ns122:rPr>
              <ns122:t>Restocking lifted shipments</ns122:t>
            </ns122:r>
          </ns122:p>
        </p:txBody>
      </p:sp>
      <p:cxnSp>
        <p:nvCxnSpPr>
          <p:cNvPr id="122" name="template.row.1"/>
          <p:cNvCxnSpPr/>
          <p:nvPr/>
        </p:nvCxnSpPr>
        <p:spPr>
          <ns123:xfrm xmlns:ns123="http://schemas.openxmlformats.org/drawingml/2006/main">
            <ns123:off x="3294000" y="3225600"/>
            <ns123:ext cx="5392800" cy="1"/>
          </ns123:xfrm>
          <ns124:prstGeom xmlns:ns124="http://schemas.openxmlformats.org/drawingml/2006/main" prst="line">
            <ns124:avLst/>
          </ns124:prstGeom>
          <ns125:ln xmlns:ns125="http://schemas.openxmlformats.org/drawingml/2006/main" w="6350">
            <ns125:solidFill>
              <ns125:srgbClr val="CCD5DA"/>
            </ns125:solidFill>
          </ns125:ln>
        </p:spPr>
      </p:cxnSp>
      <p:sp>
        <p:nvSpPr>
          <p:cNvPr id="123" name="!!element.2.source"/>
          <p:cNvSpPr/>
          <p:nvPr/>
        </p:nvSpPr>
        <p:spPr>
          <ns126:xfrm xmlns:ns126="http://schemas.openxmlformats.org/drawingml/2006/main">
            <ns126:off x="457200" y="3326400"/>
            <ns126:ext cx="2304000" cy="3672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1200" b="0">
                <ns132:solidFill>
                  <ns132:srgbClr val="20262C"/>
                </ns132:solidFill>
                <ns132:latin typeface="Arial"/>
                <ns132:ea typeface="Arial"/>
                <ns132:cs typeface="Arial"/>
              </ns132:defRPr>
            </ns132:pPr>
            <ns132:r>
              <ns132:rPr sz="1200" b="0">
                <ns132:solidFill>
                  <ns132:srgbClr val="20262C"/>
                </ns132:solidFill>
                <ns132:latin typeface="Arial"/>
                <ns132:ea typeface="Arial"/>
                <ns132:cs typeface="Arial"/>
              </ns132:rPr>
              <ns132:t>Research reports</ns132:t>
            </ns132:r>
          </ns132:p>
        </p:txBody>
      </p:sp>
      <p:cxnSp>
        <p:nvCxnSpPr>
          <p:cNvPr id="124" name="template.map.2"/>
          <p:cNvCxnSpPr/>
          <p:nvPr/>
        </p:nvCxnSpPr>
        <p:spPr>
          <ns133:xfrm xmlns:ns133="http://schemas.openxmlformats.org/drawingml/2006/main">
            <ns133:off x="2847600" y="3470400"/>
            <ns133:ext cx="352800" cy="1"/>
          </ns133:xfrm>
          <ns134:prstGeom xmlns:ns134="http://schemas.openxmlformats.org/drawingml/2006/main" prst="line">
            <ns134:avLst/>
          </ns134:prstGeom>
          <ns135:ln xmlns:ns135="http://schemas.openxmlformats.org/drawingml/2006/main" w="12700">
            <ns135:solidFill>
              <ns135:srgbClr val="005A9C"/>
            </ns135:solidFill>
            <ns135:tailEnd type="triangle" w="sm" len="sm"/>
          </ns135:ln>
        </p:spPr>
      </p:cxnSp>
      <p:sp>
        <p:nvSpPr>
          <p:cNvPr id="125" name="!!element.2.label"/>
          <p:cNvSpPr/>
          <p:nvPr/>
        </p:nvSpPr>
        <p:spPr>
          <ns136:xfrm xmlns:ns136="http://schemas.openxmlformats.org/drawingml/2006/main">
            <ns136:off x="3294000" y="3326400"/>
            <ns136:ext cx="1656000" cy="3672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8000"/>
              </ns142:lnSpc>
              <ns142:defRPr sz="1150" b="1">
                <ns142:solidFill>
                  <ns142:srgbClr val="005A9C"/>
                </ns142:solidFill>
                <ns142:latin typeface="Arial"/>
                <ns142:ea typeface="Arial"/>
                <ns142:cs typeface="Arial"/>
              </ns142:defRPr>
            </ns142:pPr>
            <ns142:r>
              <ns142:rPr sz="1150" b="1">
                <ns142:solidFill>
                  <ns142:srgbClr val="005A9C"/>
                </ns142:solidFill>
                <ns142:latin typeface="Arial"/>
                <ns142:ea typeface="Arial"/>
                <ns142:cs typeface="Arial"/>
              </ns142:rPr>
              <ns142:t>Open question</ns142:t>
            </ns142:r>
          </ns142:p>
        </p:txBody>
      </p:sp>
      <p:sp>
        <p:nvSpPr>
          <p:cNvPr id="126" name="!!element.2.value"/>
          <p:cNvSpPr/>
          <p:nvPr/>
        </p:nvSpPr>
        <p:spPr>
          <ns143:xfrm xmlns:ns143="http://schemas.openxmlformats.org/drawingml/2006/main">
            <ns143:off x="5083200" y="3326400"/>
            <ns143:ext cx="3603600" cy="3672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8000"/>
              </ns149:lnSpc>
              <ns149:defRPr sz="1250" b="0">
                <ns149:solidFill>
                  <ns149:srgbClr val="20262C"/>
                </ns149:solidFill>
                <ns149:latin typeface="Arial"/>
                <ns149:ea typeface="Arial"/>
                <ns149:cs typeface="Arial"/>
              </ns149:defRPr>
            </ns149:pPr>
            <ns149:r>
              <ns149:rPr sz="1250" b="0">
                <ns149:solidFill>
                  <ns149:srgbClr val="20262C"/>
                </ns149:solidFill>
                <ns149:latin typeface="Arial"/>
                <ns149:ea typeface="Arial"/>
                <ns149:cs typeface="Arial"/>
              </ns149:rPr>
              <ns149:t>Will restocking continue?</ns149:t>
            </ns149:r>
          </ns149:p>
        </p:txBody>
      </p:sp>
      <p:cxnSp>
        <p:nvCxnSpPr>
          <p:cNvPr id="127" name="template.row.2"/>
          <p:cNvCxnSpPr/>
          <p:nvPr/>
        </p:nvCxnSpPr>
        <p:spPr>
          <ns150:xfrm xmlns:ns150="http://schemas.openxmlformats.org/drawingml/2006/main">
            <ns150:off x="3294000" y="3718800"/>
            <ns150:ext cx="5392800" cy="1"/>
          </ns150:xfrm>
          <ns151:prstGeom xmlns:ns151="http://schemas.openxmlformats.org/drawingml/2006/main" prst="line">
            <ns151:avLst/>
          </ns151:prstGeom>
          <ns152:ln xmlns:ns152="http://schemas.openxmlformats.org/drawingml/2006/main" w="6350">
            <ns152:solidFill>
              <ns152:srgbClr val="CCD5DA"/>
            </ns152:solidFill>
          </ns152:ln>
        </p:spPr>
      </p:cxnSp>
      <p:sp>
        <p:nvSpPr>
          <p:cNvPr id="128" name="!!elements.stat"/>
          <p:cNvSpPr/>
          <p:nvPr/>
        </p:nvSpPr>
        <p:spPr>
          <ns153:xfrm xmlns:ns153="http://schemas.openxmlformats.org/drawingml/2006/main">
            <ns153:off x="457200" y="3906000"/>
            <ns153:ext cx="8229600" cy="3600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8000"/>
              </ns159:lnSpc>
              <ns159:defRPr sz="1150" b="1">
                <ns159:solidFill>
                  <ns159:srgbClr val="005A9C"/>
                </ns159:solidFill>
                <ns159:latin typeface="Arial"/>
                <ns159:ea typeface="Arial"/>
                <ns159:cs typeface="Arial"/>
              </ns159:defRPr>
            </ns159:pPr>
            <ns159:r>
              <ns159:rPr sz="1150" b="1">
                <ns159:solidFill>
                  <ns159:srgbClr val="005A9C"/>
                </ns159:solidFill>
                <ns159:latin typeface="Arial"/>
                <ns159:ea typeface="Arial"/>
                <ns159:cs typeface="Arial"/>
              </ns159:rPr>
              <ns159:t>Research preparation efficiency: approximately 50% higher</ns159:t>
            </ns159:r>
          </ns159:p>
          <ns160:p xmlns:ns160="http://schemas.openxmlformats.org/drawingml/2006/main">
            <ns160:pPr algn="l">
              <ns160:lnSpc>
                <ns160:spcPct val="108000"/>
              </ns160:lnSpc>
              <ns160:defRPr sz="1150" b="1">
                <ns160:solidFill>
                  <ns160:srgbClr val="005A9C"/>
                </ns160:solidFill>
                <ns160:latin typeface="Arial"/>
                <ns160:ea typeface="Arial"/>
                <ns160:cs typeface="Arial"/>
              </ns160:defRPr>
            </ns160:pPr>
            <ns160:r>
              <ns160:rPr sz="1150" b="1">
                <ns160:solidFill>
                  <ns160:srgbClr val="005A9C"/>
                </ns160:solidFill>
                <ns160:latin typeface="Arial"/>
                <ns160:ea typeface="Arial"/>
                <ns160:cs typeface="Arial"/>
              </ns160:rPr>
              <ns160:t>Reported by Zhong Ou, as of May 2026</ns160:t>
            </ns160:r>
          </ns160:p>
        </p:txBody>
      </p:sp>
      <p:sp>
        <p:nvSpPr>
          <p:cNvPr id="129" name="!!elements.user"/>
          <p:cNvSpPr/>
          <p:nvPr/>
        </p:nvSpPr>
        <p:spPr>
          <ns161:xfrm xmlns:ns161="http://schemas.openxmlformats.org/drawingml/2006/main">
            <ns161:off x="457200" y="4262400"/>
            <ns161:ext cx="8229600" cy="1872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8000"/>
              </ns167:lnSpc>
              <ns167:defRPr sz="1050" b="0">
                <ns167:solidFill>
                  <ns167:srgbClr val="20262C"/>
                </ns167:solidFill>
                <ns167:latin typeface="Arial"/>
                <ns167:ea typeface="Arial"/>
                <ns167:cs typeface="Arial"/>
              </ns167:defRPr>
            </ns167:pPr>
            <ns167:r>
              <ns167:rPr sz="1050" b="0">
                <ns167:solidFill>
                  <ns167:srgbClr val="20262C"/>
                </ns167:solidFill>
                <ns167:latin typeface="Arial"/>
                <ns167:ea typeface="Arial"/>
                <ns167:cs typeface="Arial"/>
              </ns167:rPr>
              <ns167:t>Analysts check the entries and sources, then add their own assessment</ns167:t>
            </ns167:r>
          </ns167:p>
        </p:txBody>
      </p:sp>
    </p:spTree>
    <p:extLst>
      <p:ext uri="{BB962C8B-B14F-4D97-AF65-F5344CB8AC3E}">
        <p14:creationId xmlns:p14="http://schemas.microsoft.com/office/powerpoint/2010/main" val="5840056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company research</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Investment research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Fullgoal; Zhong Ou; Aegon-Industrial</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research.question"/>
          <p:cNvSpPr/>
          <p:nvPr/>
        </p:nvSpPr>
        <p:spPr>
          <ns45:xfrm xmlns:ns45="http://schemas.openxmlformats.org/drawingml/2006/main">
            <ns45:off x="457200" y="1454400"/>
            <ns45:ext cx="8229600" cy="237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400" b="1">
                <ns51:solidFill>
                  <ns51:srgbClr val="005A9C"/>
                </ns51:solidFill>
                <ns51:latin typeface="Arial"/>
                <ns51:ea typeface="Arial"/>
                <ns51:cs typeface="Arial"/>
              </ns51:defRPr>
            </ns51:pPr>
            <ns51:r>
              <ns51:rPr sz="1400" b="1">
                <ns51:solidFill>
                  <ns51:srgbClr val="005A9C"/>
                </ns51:solidFill>
                <ns51:latin typeface="Arial"/>
                <ns51:ea typeface="Arial"/>
                <ns51:cs typeface="Arial"/>
              </ns51:rPr>
              <ns51:t>What drove revenue growth this quarter, and is it sustainable?</ns51:t>
            </ns51:r>
          </ns51:p>
        </p:txBody>
      </p:sp>
      <p:sp>
        <p:nvSpPr>
          <p:cNvPr id="109" name="!!research.evidence.1.label"/>
          <p:cNvSpPr/>
          <p:nvPr/>
        </p:nvSpPr>
        <p:spPr>
          <ns52:xfrm xmlns:ns52="http://schemas.openxmlformats.org/drawingml/2006/main">
            <ns52:off x="457200" y="1854000"/>
            <ns52:ext cx="2559600" cy="1656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1">
                <ns58:solidFill>
                  <ns58:srgbClr val="317F7B"/>
                </ns58:solidFill>
                <ns58:latin typeface="Arial"/>
                <ns58:ea typeface="Arial"/>
                <ns58:cs typeface="Arial"/>
              </ns58:defRPr>
            </ns58:pPr>
            <ns58:r>
              <ns58:rPr sz="1150" b="1">
                <ns58:solidFill>
                  <ns58:srgbClr val="317F7B"/>
                </ns58:solidFill>
                <ns58:latin typeface="Arial"/>
                <ns58:ea typeface="Arial"/>
                <ns58:cs typeface="Arial"/>
              </ns58:rPr>
              <ns58:t>[1] Prior / current quarter</ns58:t>
            </ns58:r>
          </ns58:p>
        </p:txBody>
      </p:sp>
      <p:sp>
        <p:nvSpPr>
          <p:cNvPr id="110" name="!!research.evidence.1.text"/>
          <p:cNvSpPr/>
          <p:nvPr/>
        </p:nvSpPr>
        <p:spPr>
          <ns59:xfrm xmlns:ns59="http://schemas.openxmlformats.org/drawingml/2006/main">
            <ns59:off x="457200" y="2052000"/>
            <ns59:ext cx="2559600" cy="3708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8000"/>
              </ns65:lnSpc>
              <ns65:defRPr sz="1100" b="0">
                <ns65:solidFill>
                  <ns65:srgbClr val="20262C"/>
                </ns65:solidFill>
                <ns65:latin typeface="Arial"/>
                <ns65:ea typeface="Arial"/>
                <ns65:cs typeface="Arial"/>
              </ns65:defRPr>
            </ns65:pPr>
            <ns65:r>
              <ns65:rPr sz="1100" b="0">
                <ns65:solidFill>
                  <ns65:srgbClr val="20262C"/>
                </ns65:solidFill>
                <ns65:latin typeface="Arial"/>
                <ns65:ea typeface="Arial"/>
                <ns65:cs typeface="Arial"/>
              </ns65:rPr>
              <ns65:t>Revenue (RMB m): 100 / 110</ns65:t>
            </ns65:r>
          </ns65:p>
          <ns66:p xmlns:ns66="http://schemas.openxmlformats.org/drawingml/2006/main">
            <ns66:pPr algn="l">
              <ns66:lnSpc>
                <ns66:spcPct val="108000"/>
              </ns66:lnSpc>
              <ns66:defRPr sz="1100" b="0">
                <ns66:solidFill>
                  <ns66:srgbClr val="20262C"/>
                </ns66:solidFill>
                <ns66:latin typeface="Arial"/>
                <ns66:ea typeface="Arial"/>
                <ns66:cs typeface="Arial"/>
              </ns66:defRPr>
            </ns66:pPr>
            <ns66:r>
              <ns66:rPr sz="1100" b="0">
                <ns66:solidFill>
                  <ns66:srgbClr val="20262C"/>
                </ns66:solidFill>
                <ns66:latin typeface="Arial"/>
                <ns66:ea typeface="Arial"/>
                <ns66:cs typeface="Arial"/>
              </ns66:rPr>
              <ns66:t>Sales volume (m units): 1.0 / 1.1</ns66:t>
            </ns66:r>
          </ns66:p>
        </p:txBody>
      </p:sp>
      <p:cxnSp>
        <p:nvCxnSpPr>
          <p:cNvPr id="111" name="evidence.1.rule"/>
          <p:cNvCxnSpPr/>
          <p:nvPr/>
        </p:nvCxnSpPr>
        <p:spPr>
          <ns67:xfrm xmlns:ns67="http://schemas.openxmlformats.org/drawingml/2006/main">
            <ns67:off x="457200" y="2473200"/>
            <ns67:ext cx="2559600" cy="1"/>
          </ns67:xfrm>
          <ns68:prstGeom xmlns:ns68="http://schemas.openxmlformats.org/drawingml/2006/main" prst="line">
            <ns68:avLst/>
          </ns68:prstGeom>
          <ns69:ln xmlns:ns69="http://schemas.openxmlformats.org/drawingml/2006/main" w="6350">
            <ns69:solidFill>
              <ns69:srgbClr val="CCD5DA"/>
            </ns69:solidFill>
          </ns69:ln>
        </p:spPr>
      </p:cxnSp>
      <p:sp>
        <p:nvSpPr>
          <p:cNvPr id="112" name="!!research.evidence.2.label"/>
          <p:cNvSpPr/>
          <p:nvPr/>
        </p:nvSpPr>
        <p:spPr>
          <ns70:xfrm xmlns:ns70="http://schemas.openxmlformats.org/drawingml/2006/main">
            <ns70:off x="457200" y="2512800"/>
            <ns70:ext cx="2559600" cy="1656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1150" b="1">
                <ns76:solidFill>
                  <ns76:srgbClr val="317F7B"/>
                </ns76:solidFill>
                <ns76:latin typeface="Arial"/>
                <ns76:ea typeface="Arial"/>
                <ns76:cs typeface="Arial"/>
              </ns76:defRPr>
            </ns76:pPr>
            <ns76:r>
              <ns76:rPr sz="1150" b="1">
                <ns76:solidFill>
                  <ns76:srgbClr val="317F7B"/>
                </ns76:solidFill>
                <ns76:latin typeface="Arial"/>
                <ns76:ea typeface="Arial"/>
                <ns76:cs typeface="Arial"/>
              </ns76:rPr>
              <ns76:t>[2] Meeting notes</ns76:t>
            </ns76:r>
          </ns76:p>
        </p:txBody>
      </p:sp>
      <p:sp>
        <p:nvSpPr>
          <p:cNvPr id="113" name="!!research.evidence.2.text"/>
          <p:cNvSpPr/>
          <p:nvPr/>
        </p:nvSpPr>
        <p:spPr>
          <ns77:xfrm xmlns:ns77="http://schemas.openxmlformats.org/drawingml/2006/main">
            <ns77:off x="457200" y="2700000"/>
            <ns77:ext cx="2559600" cy="216000"/>
          </ns77:xfrm>
          <ns78:prstGeom xmlns:ns78="http://schemas.openxmlformats.org/drawingml/2006/main" prst="rect">
            <ns78:avLst/>
          </ns78:prstGeom>
          <ns79:noFill xmlns:ns79="http://schemas.openxmlformats.org/drawingml/2006/main"/>
          <ns80:ln xmlns:ns80="http://schemas.openxmlformats.org/drawingml/2006/main" w="0">
            <ns80:noFill/>
          </ns80:ln>
        </p:spPr>
        <p:txBody>
          <ns81:bodyPr xmlns:ns81="http://schemas.openxmlformats.org/drawingml/2006/main" wrap="square" lIns="0" rIns="0" tIns="0" bIns="0" anchor="t">
            <ns81:noAutofit/>
          </ns81:bodyPr>
          <ns82:lstStyle xmlns:ns82="http://schemas.openxmlformats.org/drawingml/2006/main"/>
          <ns83:p xmlns:ns83="http://schemas.openxmlformats.org/drawingml/2006/main">
            <ns83:pPr algn="l">
              <ns83:lnSpc>
                <ns83:spcPct val="108000"/>
              </ns83:lnSpc>
              <ns83:defRPr sz="1100" b="0">
                <ns83:solidFill>
                  <ns83:srgbClr val="20262C"/>
                </ns83:solidFill>
                <ns83:latin typeface="Arial"/>
                <ns83:ea typeface="Arial"/>
                <ns83:cs typeface="Arial"/>
              </ns83:defRPr>
            </ns83:pPr>
            <ns83:r>
              <ns83:rPr sz="1100" b="0">
                <ns83:solidFill>
                  <ns83:srgbClr val="20262C"/>
                </ns83:solidFill>
                <ns83:latin typeface="Arial"/>
                <ns83:ea typeface="Arial"/>
                <ns83:cs typeface="Arial"/>
              </ns83:rPr>
              <ns83:t>Restocking lifted shipments</ns83:t>
            </ns83:r>
          </ns83:p>
        </p:txBody>
      </p:sp>
      <p:cxnSp>
        <p:nvCxnSpPr>
          <p:cNvPr id="114" name="evidence.2.rule"/>
          <p:cNvCxnSpPr/>
          <p:nvPr/>
        </p:nvCxnSpPr>
        <p:spPr>
          <ns84:xfrm xmlns:ns84="http://schemas.openxmlformats.org/drawingml/2006/main">
            <ns84:off x="457200" y="2966400"/>
            <ns84:ext cx="2559600" cy="1"/>
          </ns84:xfrm>
          <ns85:prstGeom xmlns:ns85="http://schemas.openxmlformats.org/drawingml/2006/main" prst="line">
            <ns85:avLst/>
          </ns85:prstGeom>
          <ns86:ln xmlns:ns86="http://schemas.openxmlformats.org/drawingml/2006/main" w="6350">
            <ns86:solidFill>
              <ns86:srgbClr val="CCD5DA"/>
            </ns86:solidFill>
          </ns86:ln>
        </p:spPr>
      </p:cxnSp>
      <p:sp>
        <p:nvSpPr>
          <p:cNvPr id="115" name="!!research.evidence.3.label"/>
          <p:cNvSpPr/>
          <p:nvPr/>
        </p:nvSpPr>
        <p:spPr>
          <ns87:xfrm xmlns:ns87="http://schemas.openxmlformats.org/drawingml/2006/main">
            <ns87:off x="457200" y="2988000"/>
            <ns87:ext cx="2559600" cy="1656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150" b="1">
                <ns93:solidFill>
                  <ns93:srgbClr val="317F7B"/>
                </ns93:solidFill>
                <ns93:latin typeface="Arial"/>
                <ns93:ea typeface="Arial"/>
                <ns93:cs typeface="Arial"/>
              </ns93:defRPr>
            </ns93:pPr>
            <ns93:r>
              <ns93:rPr sz="1150" b="1">
                <ns93:solidFill>
                  <ns93:srgbClr val="317F7B"/>
                </ns93:solidFill>
                <ns93:latin typeface="Arial"/>
                <ns93:ea typeface="Arial"/>
                <ns93:cs typeface="Arial"/>
              </ns93:rPr>
              <ns93:t>[3] Research reports</ns93:t>
            </ns93:r>
          </ns93:p>
        </p:txBody>
      </p:sp>
      <p:sp>
        <p:nvSpPr>
          <p:cNvPr id="116" name="!!research.evidence.3.text"/>
          <p:cNvSpPr/>
          <p:nvPr/>
        </p:nvSpPr>
        <p:spPr>
          <ns94:xfrm xmlns:ns94="http://schemas.openxmlformats.org/drawingml/2006/main">
            <ns94:off x="457200" y="3178800"/>
            <ns94:ext cx="2559600" cy="4896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8000"/>
              </ns100:lnSpc>
              <ns100:defRPr sz="1100" b="0">
                <ns100:solidFill>
                  <ns100:srgbClr val="20262C"/>
                </ns100:solidFill>
                <ns100:latin typeface="Arial"/>
                <ns100:ea typeface="Arial"/>
                <ns100:cs typeface="Arial"/>
              </ns100:defRPr>
            </ns100:pPr>
            <ns100:r>
              <ns100:rPr sz="1100" b="0">
                <ns100:solidFill>
                  <ns100:srgbClr val="20262C"/>
                </ns100:solidFill>
                <ns100:latin typeface="Arial"/>
                <ns100:ea typeface="Arial"/>
                <ns100:cs typeface="Arial"/>
              </ns100:rPr>
              <ns100:t>A: demand recovery can sustain growth</ns100:t>
            </ns100:r>
          </ns100:p>
          <ns101:p xmlns:ns101="http://schemas.openxmlformats.org/drawingml/2006/main">
            <ns101:pPr algn="l">
              <ns101:lnSpc>
                <ns101:spcPct val="108000"/>
              </ns101:lnSpc>
              <ns101:defRPr sz="1100" b="0">
                <ns101:solidFill>
                  <ns101:srgbClr val="20262C"/>
                </ns101:solidFill>
                <ns101:latin typeface="Arial"/>
                <ns101:ea typeface="Arial"/>
                <ns101:cs typeface="Arial"/>
              </ns101:defRPr>
            </ns101:pPr>
            <ns101:r>
              <ns101:rPr sz="1100" b="0">
                <ns101:solidFill>
                  <ns101:srgbClr val="20262C"/>
                </ns101:solidFill>
                <ns101:latin typeface="Arial"/>
                <ns101:ea typeface="Arial"/>
                <ns101:cs typeface="Arial"/>
              </ns101:rPr>
              <ns101:t>B: continued restocking is uncertain</ns101:t>
            </ns101:r>
          </ns101:p>
        </p:txBody>
      </p:sp>
      <p:sp>
        <p:nvSpPr>
          <p:cNvPr id="117" name="!!research.llm.role"/>
          <p:cNvSpPr/>
          <p:nvPr/>
        </p:nvSpPr>
        <p:spPr>
          <ns102:xfrm xmlns:ns102="http://schemas.openxmlformats.org/drawingml/2006/main">
            <ns102:off x="3294000" y="1854000"/>
            <ns102:ext cx="2556000" cy="223200"/>
          </ns102:xfrm>
          <ns103:prstGeom xmlns:ns103="http://schemas.openxmlformats.org/drawingml/2006/main" prst="rect">
            <ns103:avLst/>
          </ns103:prstGeom>
          <ns104:noFill xmlns:ns104="http://schemas.openxmlformats.org/drawingml/2006/main"/>
          <ns105:ln xmlns:ns105="http://schemas.openxmlformats.org/drawingml/2006/main" w="0">
            <ns105:noFill/>
          </ns105:ln>
        </p:spPr>
        <p:txBody>
          <ns106:bodyPr xmlns:ns106="http://schemas.openxmlformats.org/drawingml/2006/main" wrap="square" lIns="0" rIns="0" tIns="0" bIns="0" anchor="t">
            <ns106:noAutofit/>
          </ns106:bodyPr>
          <ns107:lstStyle xmlns:ns107="http://schemas.openxmlformats.org/drawingml/2006/main"/>
          <ns108:p xmlns:ns108="http://schemas.openxmlformats.org/drawingml/2006/main">
            <ns108:pPr algn="l">
              <ns108:lnSpc>
                <ns108:spcPct val="108000"/>
              </ns108:lnSpc>
              <ns108:defRPr sz="1300" b="1">
                <ns108:solidFill>
                  <ns108:srgbClr val="005A9C"/>
                </ns108:solidFill>
                <ns108:latin typeface="Arial"/>
                <ns108:ea typeface="Arial"/>
                <ns108:cs typeface="Arial"/>
              </ns108:defRPr>
            </ns108:pPr>
            <ns108:r>
              <ns108:rPr sz="1300" b="1">
                <ns108:solidFill>
                  <ns108:srgbClr val="005A9C"/>
                </ns108:solidFill>
                <ns108:latin typeface="Arial"/>
                <ns108:ea typeface="Arial"/>
                <ns108:cs typeface="Arial"/>
              </ns108:rPr>
              <ns108:t>LLM analyzes the sources</ns108:t>
            </ns108:r>
          </ns108:p>
        </p:txBody>
      </p:sp>
      <p:cxnSp>
        <p:nvCxnSpPr>
          <p:cNvPr id="118" name="research.llm.role.rule"/>
          <p:cNvCxnSpPr/>
          <p:nvPr/>
        </p:nvCxnSpPr>
        <p:spPr>
          <ns109:xfrm xmlns:ns109="http://schemas.openxmlformats.org/drawingml/2006/main">
            <ns109:off x="3294000" y="2113200"/>
            <ns109:ext cx="2556000" cy="1"/>
          </ns109:xfrm>
          <ns110:prstGeom xmlns:ns110="http://schemas.openxmlformats.org/drawingml/2006/main" prst="line">
            <ns110:avLst/>
          </ns110:prstGeom>
          <ns111:ln xmlns:ns111="http://schemas.openxmlformats.org/drawingml/2006/main" w="12700">
            <ns111:solidFill>
              <ns111:srgbClr val="005A9C"/>
            </ns111:solidFill>
          </ns111:ln>
        </p:spPr>
      </p:cxnSp>
      <p:sp>
        <p:nvSpPr>
          <p:cNvPr id="119" name="!!research.llm.body"/>
          <p:cNvSpPr/>
          <p:nvPr/>
        </p:nvSpPr>
        <p:spPr>
          <ns112:xfrm xmlns:ns112="http://schemas.openxmlformats.org/drawingml/2006/main">
            <ns112:off x="3294000" y="2221200"/>
            <ns112:ext cx="2556000" cy="1224000"/>
          </ns112:xfrm>
          <ns113:prstGeom xmlns:ns113="http://schemas.openxmlformats.org/drawingml/2006/main" prst="rect">
            <ns113:avLst/>
          </ns113:prstGeom>
          <ns114:noFill xmlns:ns114="http://schemas.openxmlformats.org/drawingml/2006/main"/>
          <ns115:ln xmlns:ns115="http://schemas.openxmlformats.org/drawingml/2006/main" w="0">
            <ns115:noFill/>
          </ns115:ln>
        </p:spPr>
        <p:txBody>
          <ns116:bodyPr xmlns:ns116="http://schemas.openxmlformats.org/drawingml/2006/main" wrap="square" lIns="0" rIns="0" tIns="0" bIns="0" anchor="t">
            <ns116:noAutofit/>
          </ns116:bodyPr>
          <ns117:lstStyle xmlns:ns117="http://schemas.openxmlformats.org/drawingml/2006/main"/>
          <ns118:p xmlns:ns118="http://schemas.openxmlformats.org/drawingml/2006/main">
            <ns118:pPr algn="l">
              <ns118:lnSpc>
                <ns118:spcPct val="108000"/>
              </ns118:lnSpc>
              <ns118:defRPr sz="1200" b="0">
                <ns118:solidFill>
                  <ns118:srgbClr val="20262C"/>
                </ns118:solidFill>
                <ns118:latin typeface="Arial"/>
                <ns118:ea typeface="Arial"/>
                <ns118:cs typeface="Arial"/>
              </ns118:defRPr>
            </ns118:pPr>
            <ns118:r>
              <ns118:rPr sz="1200" b="0">
                <ns118:solidFill>
                  <ns118:srgbClr val="20262C"/>
                </ns118:solidFill>
                <ns118:latin typeface="Arial"/>
                <ns118:ea typeface="Arial"/>
                <ns118:cs typeface="Arial"/>
              </ns118:rPr>
              <ns118:t>Compare revenue and volume</ns118:t>
            </ns118:r>
          </ns118:p>
          <ns119:p xmlns:ns119="http://schemas.openxmlformats.org/drawingml/2006/main">
            <ns119:pPr algn="l">
              <ns119:lnSpc>
                <ns119:spcPct val="108000"/>
              </ns119:lnSpc>
              <ns119:defRPr sz="1200" b="0">
                <ns119:solidFill>
                  <ns119:srgbClr val="20262C"/>
                </ns119:solidFill>
                <ns119:latin typeface="Arial"/>
                <ns119:ea typeface="Arial"/>
                <ns119:cs typeface="Arial"/>
              </ns119:defRPr>
            </ns119:pPr>
            <ns119:r>
              <ns119:rPr sz="1200" b="0">
                <ns119:solidFill>
                  <ns119:srgbClr val="20262C"/>
                </ns119:solidFill>
                <ns119:latin typeface="Arial"/>
                <ns119:ea typeface="Arial"/>
                <ns119:cs typeface="Arial"/>
              </ns119:rPr>
              <ns119:t>Link operating drivers to results</ns119:t>
            </ns119:r>
          </ns119:p>
          <ns120:p xmlns:ns120="http://schemas.openxmlformats.org/drawingml/2006/main">
            <ns120:pPr algn="l">
              <ns120:lnSpc>
                <ns120:spcPct val="108000"/>
              </ns120:lnSpc>
              <ns120:defRPr sz="1200" b="0">
                <ns120:solidFill>
                  <ns120:srgbClr val="20262C"/>
                </ns120:solidFill>
                <ns120:latin typeface="Arial"/>
                <ns120:ea typeface="Arial"/>
                <ns120:cs typeface="Arial"/>
              </ns120:defRPr>
            </ns120:pPr>
            <ns120:r>
              <ns120:rPr sz="1200" b="0">
                <ns120:solidFill>
                  <ns120:srgbClr val="20262C"/>
                </ns120:solidFill>
                <ns120:latin typeface="Arial"/>
                <ns120:ea typeface="Arial"/>
                <ns120:cs typeface="Arial"/>
              </ns120:rPr>
              <ns120:t>Compare the research views</ns120:t>
            </ns120:r>
          </ns120:p>
        </p:txBody>
      </p:sp>
      <p:sp>
        <p:nvSpPr>
          <p:cNvPr id="120" name="calculation.background"/>
          <p:cNvSpPr/>
          <p:nvPr/>
        </p:nvSpPr>
        <p:spPr>
          <ns121:xfrm xmlns:ns121="http://schemas.openxmlformats.org/drawingml/2006/main">
            <ns121:off x="6127200" y="1821600"/>
            <ns121:ext cx="2559600" cy="1699200"/>
          </ns121:xfrm>
          <ns122:prstGeom xmlns:ns122="http://schemas.openxmlformats.org/drawingml/2006/main" prst="rect">
            <ns122:avLst/>
          </ns122:prstGeom>
          <ns123:solidFill xmlns:ns123="http://schemas.openxmlformats.org/drawingml/2006/main">
            <ns123:srgbClr val="F3F7FA"/>
          </ns123:solidFill>
          <ns124:ln xmlns:ns124="http://schemas.openxmlformats.org/drawingml/2006/main" w="0">
            <ns124:noFill/>
          </ns124:ln>
        </p:spPr>
      </p:sp>
      <p:sp>
        <p:nvSpPr>
          <p:cNvPr id="121" name="!!research.tool.role"/>
          <p:cNvSpPr/>
          <p:nvPr/>
        </p:nvSpPr>
        <p:spPr>
          <ns125:xfrm xmlns:ns125="http://schemas.openxmlformats.org/drawingml/2006/main">
            <ns125:off x="6235200" y="1886400"/>
            <ns125:ext cx="2343600" cy="252000"/>
          </ns125:xfrm>
          <ns126:prstGeom xmlns:ns126="http://schemas.openxmlformats.org/drawingml/2006/main" prst="rect">
            <ns126:avLst/>
          </ns126:prstGeom>
          <ns127:noFill xmlns:ns127="http://schemas.openxmlformats.org/drawingml/2006/main"/>
          <ns128:ln xmlns:ns128="http://schemas.openxmlformats.org/drawingml/2006/main" w="0">
            <ns128:noFill/>
          </ns128:ln>
        </p:spPr>
        <p:txBody>
          <ns129:bodyPr xmlns:ns129="http://schemas.openxmlformats.org/drawingml/2006/main" wrap="square" lIns="0" rIns="0" tIns="0" bIns="0" anchor="t">
            <ns129:noAutofit/>
          </ns129:bodyPr>
          <ns130:lstStyle xmlns:ns130="http://schemas.openxmlformats.org/drawingml/2006/main"/>
          <ns131:p xmlns:ns131="http://schemas.openxmlformats.org/drawingml/2006/main">
            <ns131:pPr algn="l">
              <ns131:lnSpc>
                <ns131:spcPct val="108000"/>
              </ns131:lnSpc>
              <ns131:defRPr sz="1250" b="1">
                <ns131:solidFill>
                  <ns131:srgbClr val="20262C"/>
                </ns131:solidFill>
                <ns131:latin typeface="Arial"/>
                <ns131:ea typeface="Arial"/>
                <ns131:cs typeface="Arial"/>
              </ns131:defRPr>
            </ns131:pPr>
            <ns131:r>
              <ns131:rPr sz="1250" b="1">
                <ns131:solidFill>
                  <ns131:srgbClr val="20262C"/>
                </ns131:solidFill>
                <ns131:latin typeface="Arial"/>
                <ns131:ea typeface="Arial"/>
                <ns131:cs typeface="Arial"/>
              </ns131:rPr>
              <ns131:t>Calculation tools return</ns131:t>
            </ns131:r>
          </ns131:p>
        </p:txBody>
      </p:sp>
      <p:sp>
        <p:nvSpPr>
          <p:cNvPr id="122" name="!!research.tool.body"/>
          <p:cNvSpPr/>
          <p:nvPr/>
        </p:nvSpPr>
        <p:spPr>
          <ns132:xfrm xmlns:ns132="http://schemas.openxmlformats.org/drawingml/2006/main">
            <ns132:off x="6235200" y="2304000"/>
            <ns132:ext cx="2343600" cy="1062000"/>
          </ns132:xfrm>
          <ns133:prstGeom xmlns:ns133="http://schemas.openxmlformats.org/drawingml/2006/main" prst="rect">
            <ns133:avLst/>
          </ns133:prstGeom>
          <ns134:noFill xmlns:ns134="http://schemas.openxmlformats.org/drawingml/2006/main"/>
          <ns135:ln xmlns:ns135="http://schemas.openxmlformats.org/drawingml/2006/main" w="0">
            <ns135:noFill/>
          </ns135:ln>
        </p:spPr>
        <p:txBody>
          <ns136:bodyPr xmlns:ns136="http://schemas.openxmlformats.org/drawingml/2006/main" wrap="square" lIns="0" rIns="0" tIns="0" bIns="0" anchor="t">
            <ns136:noAutofit/>
          </ns136:bodyPr>
          <ns137:lstStyle xmlns:ns137="http://schemas.openxmlformats.org/drawingml/2006/main"/>
          <ns138:p xmlns:ns138="http://schemas.openxmlformats.org/drawingml/2006/main">
            <ns138:pPr algn="l">
              <ns138:lnSpc>
                <ns138:spcPct val="108000"/>
              </ns138:lnSpc>
              <ns138:defRPr sz="1300" b="0">
                <ns138:solidFill>
                  <ns138:srgbClr val="317F7B"/>
                </ns138:solidFill>
                <ns138:latin typeface="Arial"/>
                <ns138:ea typeface="Arial"/>
                <ns138:cs typeface="Arial"/>
              </ns138:defRPr>
            </ns138:pPr>
            <ns138:r>
              <ns138:rPr sz="1300" b="0">
                <ns138:solidFill>
                  <ns138:srgbClr val="317F7B"/>
                </ns138:solidFill>
                <ns138:latin typeface="Arial"/>
                <ns138:ea typeface="Arial"/>
                <ns138:cs typeface="Arial"/>
              </ns138:rPr>
              <ns138:t>Revenue: +10%</ns138:t>
            </ns138:r>
          </ns138:p>
          <ns139:p xmlns:ns139="http://schemas.openxmlformats.org/drawingml/2006/main">
            <ns139:pPr algn="l">
              <ns139:lnSpc>
                <ns139:spcPct val="108000"/>
              </ns139:lnSpc>
              <ns139:defRPr sz="1300" b="0">
                <ns139:solidFill>
                  <ns139:srgbClr val="317F7B"/>
                </ns139:solidFill>
                <ns139:latin typeface="Arial"/>
                <ns139:ea typeface="Arial"/>
                <ns139:cs typeface="Arial"/>
              </ns139:defRPr>
            </ns139:pPr>
            <ns139:r>
              <ns139:rPr sz="1300" b="0">
                <ns139:solidFill>
                  <ns139:srgbClr val="317F7B"/>
                </ns139:solidFill>
                <ns139:latin typeface="Arial"/>
                <ns139:ea typeface="Arial"/>
                <ns139:cs typeface="Arial"/>
              </ns139:rPr>
              <ns139:t>Sales volume: +10%</ns139:t>
            </ns139:r>
          </ns139:p>
          <ns140:p xmlns:ns140="http://schemas.openxmlformats.org/drawingml/2006/main">
            <ns140:pPr algn="l">
              <ns140:lnSpc>
                <ns140:spcPct val="108000"/>
              </ns140:lnSpc>
              <ns140:defRPr sz="1300" b="0">
                <ns140:solidFill>
                  <ns140:srgbClr val="317F7B"/>
                </ns140:solidFill>
                <ns140:latin typeface="Arial"/>
                <ns140:ea typeface="Arial"/>
                <ns140:cs typeface="Arial"/>
              </ns140:defRPr>
            </ns140:pPr>
            <ns140:r>
              <ns140:rPr sz="1300" b="0">
                <ns140:solidFill>
                  <ns140:srgbClr val="317F7B"/>
                </ns140:solidFill>
                <ns140:latin typeface="Arial"/>
                <ns140:ea typeface="Arial"/>
                <ns140:cs typeface="Arial"/>
              </ns140:rPr>
              <ns140:t>Average selling price: unchanged</ns140:t>
            </ns140:r>
          </ns140:p>
        </p:txBody>
      </p:sp>
      <p:cxnSp>
        <p:nvCxnSpPr>
          <p:cNvPr id="123" name="analysis.calculation"/>
          <p:cNvCxnSpPr/>
          <p:nvPr/>
        </p:nvCxnSpPr>
        <p:spPr>
          <ns141:xfrm xmlns:ns141="http://schemas.openxmlformats.org/drawingml/2006/main">
            <ns141:off x="5904000" y="2584800"/>
            <ns141:ext cx="180000" cy="1"/>
          </ns141:xfrm>
          <ns142:prstGeom xmlns:ns142="http://schemas.openxmlformats.org/drawingml/2006/main" prst="line">
            <ns142:avLst/>
          </ns142:prstGeom>
          <ns143:ln xmlns:ns143="http://schemas.openxmlformats.org/drawingml/2006/main" w="12700">
            <ns143:solidFill>
              <ns143:srgbClr val="005A9C"/>
            </ns143:solidFill>
            <ns143:tailEnd type="triangle" w="sm" len="sm"/>
          </ns143:ln>
        </p:spPr>
      </p:cxnSp>
      <p:cxnSp>
        <p:nvCxnSpPr>
          <p:cNvPr id="124" name="calculation.analysis"/>
          <p:cNvCxnSpPr/>
          <p:nvPr/>
        </p:nvCxnSpPr>
        <p:spPr>
          <ns144:xfrm xmlns:ns144="http://schemas.openxmlformats.org/drawingml/2006/main" flipH="1">
            <ns144:off x="5904000" y="3024000"/>
            <ns144:ext cx="180000" cy="1"/>
          </ns144:xfrm>
          <ns145:prstGeom xmlns:ns145="http://schemas.openxmlformats.org/drawingml/2006/main" prst="line">
            <ns145:avLst/>
          </ns145:prstGeom>
          <ns146:ln xmlns:ns146="http://schemas.openxmlformats.org/drawingml/2006/main" w="12700">
            <ns146:solidFill>
              <ns146:srgbClr val="005A9C"/>
            </ns146:solidFill>
            <ns146:tailEnd type="triangle" w="sm" len="sm"/>
          </ns146:ln>
        </p:spPr>
      </p:cxnSp>
      <p:cxnSp>
        <p:nvCxnSpPr>
          <p:cNvPr id="125" name="evidence.analysis"/>
          <p:cNvCxnSpPr/>
          <p:nvPr/>
        </p:nvCxnSpPr>
        <p:spPr>
          <ns147:xfrm xmlns:ns147="http://schemas.openxmlformats.org/drawingml/2006/main">
            <ns147:off x="3060000" y="2584800"/>
            <ns147:ext cx="190800" cy="1"/>
          </ns147:xfrm>
          <ns148:prstGeom xmlns:ns148="http://schemas.openxmlformats.org/drawingml/2006/main" prst="line">
            <ns148:avLst/>
          </ns148:prstGeom>
          <ns149:ln xmlns:ns149="http://schemas.openxmlformats.org/drawingml/2006/main" w="12700">
            <ns149:solidFill>
              <ns149:srgbClr val="317F7B"/>
            </ns149:solidFill>
            <ns149:tailEnd type="triangle" w="sm" len="sm"/>
          </ns149:ln>
        </p:spPr>
      </p:cxnSp>
      <p:cxnSp>
        <p:nvCxnSpPr>
          <p:cNvPr id="126" name="analysis.summary"/>
          <p:cNvCxnSpPr/>
          <p:nvPr/>
        </p:nvCxnSpPr>
        <p:spPr>
          <ns150:xfrm xmlns:ns150="http://schemas.openxmlformats.org/drawingml/2006/main">
            <ns150:off x="4572000" y="3510000"/>
            <ns150:ext cx="1" cy="187200"/>
          </ns150:xfrm>
          <ns151:prstGeom xmlns:ns151="http://schemas.openxmlformats.org/drawingml/2006/main" prst="line">
            <ns151:avLst/>
          </ns151:prstGeom>
          <ns152:ln xmlns:ns152="http://schemas.openxmlformats.org/drawingml/2006/main" w="12700">
            <ns152:solidFill>
              <ns152:srgbClr val="005A9C"/>
            </ns152:solidFill>
            <ns152:tailEnd type="triangle" w="sm" len="sm"/>
          </ns152:ln>
        </p:spPr>
      </p:cxnSp>
      <p:sp>
        <p:nvSpPr>
          <p:cNvPr id="127" name="research.output"/>
          <p:cNvSpPr/>
          <p:nvPr/>
        </p:nvSpPr>
        <p:spPr>
          <ns153:xfrm xmlns:ns153="http://schemas.openxmlformats.org/drawingml/2006/main">
            <ns153:off x="457200" y="3762000"/>
            <ns153:ext cx="8229600" cy="468000"/>
          </ns153:xfrm>
          <ns154:prstGeom xmlns:ns154="http://schemas.openxmlformats.org/drawingml/2006/main" prst="rect">
            <ns154:avLst/>
          </ns154:prstGeom>
          <ns155:solidFill xmlns:ns155="http://schemas.openxmlformats.org/drawingml/2006/main">
            <ns155:srgbClr val="EFF6F4"/>
          </ns155:solidFill>
          <ns156:ln xmlns:ns156="http://schemas.openxmlformats.org/drawingml/2006/main" w="0">
            <ns156:noFill/>
          </ns156:ln>
        </p:spPr>
      </p:sp>
      <p:sp>
        <p:nvSpPr>
          <p:cNvPr id="128" name="!!research.result.title"/>
          <p:cNvSpPr/>
          <p:nvPr/>
        </p:nvSpPr>
        <p:spPr>
          <ns157:xfrm xmlns:ns157="http://schemas.openxmlformats.org/drawingml/2006/main">
            <ns157:off x="558000" y="3823200"/>
            <ns157:ext cx="1692000" cy="378000"/>
          </ns157:xfrm>
          <ns158:prstGeom xmlns:ns158="http://schemas.openxmlformats.org/drawingml/2006/main" prst="rect">
            <ns158:avLst/>
          </ns158:prstGeom>
          <ns159:noFill xmlns:ns159="http://schemas.openxmlformats.org/drawingml/2006/main"/>
          <ns160:ln xmlns:ns160="http://schemas.openxmlformats.org/drawingml/2006/main" w="0">
            <ns160:noFill/>
          </ns160:ln>
        </p:spPr>
        <p:txBody>
          <ns161:bodyPr xmlns:ns161="http://schemas.openxmlformats.org/drawingml/2006/main" wrap="square" lIns="0" rIns="0" tIns="0" bIns="0" anchor="t">
            <ns161:noAutofit/>
          </ns161:bodyPr>
          <ns162:lstStyle xmlns:ns162="http://schemas.openxmlformats.org/drawingml/2006/main"/>
          <ns163:p xmlns:ns163="http://schemas.openxmlformats.org/drawingml/2006/main">
            <ns163:pPr algn="l">
              <ns163:lnSpc>
                <ns163:spcPct val="108000"/>
              </ns163:lnSpc>
              <ns163:defRPr sz="1200" b="1">
                <ns163:solidFill>
                  <ns163:srgbClr val="317F7B"/>
                </ns163:solidFill>
                <ns163:latin typeface="Arial"/>
                <ns163:ea typeface="Arial"/>
                <ns163:cs typeface="Arial"/>
              </ns163:defRPr>
            </ns163:pPr>
            <ns163:r>
              <ns163:rPr sz="1200" b="1">
                <ns163:solidFill>
                  <ns163:srgbClr val="317F7B"/>
                </ns163:solidFill>
                <ns163:latin typeface="Arial"/>
                <ns163:ea typeface="Arial"/>
                <ns163:cs typeface="Arial"/>
              </ns163:rPr>
              <ns163:t>Draft research summary</ns163:t>
            </ns163:r>
          </ns163:p>
        </p:txBody>
      </p:sp>
      <p:sp>
        <p:nvSpPr>
          <p:cNvPr id="129" name="!!research.result.text"/>
          <p:cNvSpPr/>
          <p:nvPr/>
        </p:nvSpPr>
        <p:spPr>
          <ns164:xfrm xmlns:ns164="http://schemas.openxmlformats.org/drawingml/2006/main">
            <ns164:off x="2394000" y="3826800"/>
            <ns164:ext cx="6174000" cy="367200"/>
          </ns164:xfrm>
          <ns165:prstGeom xmlns:ns165="http://schemas.openxmlformats.org/drawingml/2006/main" prst="rect">
            <ns165:avLst/>
          </ns165:prstGeom>
          <ns166:noFill xmlns:ns166="http://schemas.openxmlformats.org/drawingml/2006/main"/>
          <ns167:ln xmlns:ns167="http://schemas.openxmlformats.org/drawingml/2006/main" w="0">
            <ns167:noFill/>
          </ns167:ln>
        </p:spPr>
        <p:txBody>
          <ns168:bodyPr xmlns:ns168="http://schemas.openxmlformats.org/drawingml/2006/main" wrap="square" lIns="0" rIns="0" tIns="0" bIns="0" anchor="t">
            <ns168:noAutofit/>
          </ns168:bodyPr>
          <ns169:lstStyle xmlns:ns169="http://schemas.openxmlformats.org/drawingml/2006/main"/>
          <ns170:p xmlns:ns170="http://schemas.openxmlformats.org/drawingml/2006/main">
            <ns170:pPr algn="l">
              <ns170:lnSpc>
                <ns170:spcPct val="108000"/>
              </ns170:lnSpc>
              <ns170:defRPr sz="1100" b="0">
                <ns170:solidFill>
                  <ns170:srgbClr val="20262C"/>
                </ns170:solidFill>
                <ns170:latin typeface="Arial"/>
                <ns170:ea typeface="Arial"/>
                <ns170:cs typeface="Arial"/>
              </ns170:defRPr>
            </ns170:pPr>
            <ns170:r>
              <ns170:rPr sz="1100" b="0">
                <ns170:solidFill>
                  <ns170:srgbClr val="20262C"/>
                </ns170:solidFill>
                <ns170:latin typeface="Arial"/>
                <ns170:ea typeface="Arial"/>
                <ns170:cs typeface="Arial"/>
              </ns170:rPr>
              <ns170:t>Sales volume drove revenue growth [1]. Restocking supported shipments [2], but research views differ on the sustainability of growth [3]. Monitor demand and input costs.</ns170:t>
            </ns170:r>
          </ns170:p>
        </p:txBody>
      </p:sp>
      <p:sp>
        <p:nvSpPr>
          <p:cNvPr id="130" name="!!research.user"/>
          <p:cNvSpPr/>
          <p:nvPr/>
        </p:nvSpPr>
        <p:spPr>
          <ns171:xfrm xmlns:ns171="http://schemas.openxmlformats.org/drawingml/2006/main">
            <ns171:off x="457200" y="4262400"/>
            <ns171:ext cx="8229600" cy="187200"/>
          </ns171:xfrm>
          <ns172:prstGeom xmlns:ns172="http://schemas.openxmlformats.org/drawingml/2006/main" prst="rect">
            <ns172:avLst/>
          </ns172:prstGeom>
          <ns173:noFill xmlns:ns173="http://schemas.openxmlformats.org/drawingml/2006/main"/>
          <ns174:ln xmlns:ns174="http://schemas.openxmlformats.org/drawingml/2006/main" w="0">
            <ns174:noFill/>
          </ns174:ln>
        </p:spPr>
        <p:txBody>
          <ns175:bodyPr xmlns:ns175="http://schemas.openxmlformats.org/drawingml/2006/main" wrap="square" lIns="0" rIns="0" tIns="0" bIns="0" anchor="t">
            <ns175:noAutofit/>
          </ns175:bodyPr>
          <ns176:lstStyle xmlns:ns176="http://schemas.openxmlformats.org/drawingml/2006/main"/>
          <ns177:p xmlns:ns177="http://schemas.openxmlformats.org/drawingml/2006/main">
            <ns177:pPr algn="l">
              <ns177:lnSpc>
                <ns177:spcPct val="108000"/>
              </ns177:lnSpc>
              <ns177:defRPr sz="1050" b="0">
                <ns177:solidFill>
                  <ns177:srgbClr val="20262C"/>
                </ns177:solidFill>
                <ns177:latin typeface="Arial"/>
                <ns177:ea typeface="Arial"/>
                <ns177:cs typeface="Arial"/>
              </ns177:defRPr>
            </ns177:pPr>
            <ns177:r>
              <ns177:rPr sz="1050" b="0">
                <ns177:solidFill>
                  <ns177:srgbClr val="20262C"/>
                </ns177:solidFill>
                <ns177:latin typeface="Arial"/>
                <ns177:ea typeface="Arial"/>
                <ns177:cs typeface="Arial"/>
              </ns177:rPr>
              <ns177:t>The analyst checks the sources, tests the restocking thesis and forms a view</ns177:t>
            </ns177:r>
          </ns177:p>
        </p:txBody>
      </p:sp>
    </p:spTree>
    <p:extLst>
      <p:ext uri="{BB962C8B-B14F-4D97-AF65-F5344CB8AC3E}">
        <p14:creationId xmlns:p14="http://schemas.microsoft.com/office/powerpoint/2010/main" val="9517909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Preparing a bond quote request</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Trading support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1">
                <ns23:solidFill>
                  <ns23:srgbClr val="005A9C"/>
                </ns23:solidFill>
                <ns23:latin typeface="Arial"/>
                <ns23:ea typeface="Arial"/>
                <ns23:cs typeface="Arial"/>
              </ns23:defRPr>
            </ns23:pPr>
            <ns23:r>
              <ns23:rPr sz="800" b="1">
                <ns23:solidFill>
                  <ns23:srgbClr val="005A9C"/>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trade.task"/>
          <p:cNvSpPr/>
          <p:nvPr/>
        </p:nvSpPr>
        <p:spPr>
          <ns38:xfrm xmlns:ns38="http://schemas.openxmlformats.org/drawingml/2006/main">
            <ns38:off x="457200" y="1458000"/>
            <ns38:ext cx="8229600" cy="273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350" b="1">
                <ns44:solidFill>
                  <ns44:srgbClr val="005A9C"/>
                </ns44:solidFill>
                <ns44:latin typeface="Arial"/>
                <ns44:ea typeface="Arial"/>
                <ns44:cs typeface="Arial"/>
              </ns44:defRPr>
            </ns44:pPr>
            <ns44:r>
              <ns44:rPr sz="1350" b="1">
                <ns44:solidFill>
                  <ns44:srgbClr val="005A9C"/>
                </ns44:solidFill>
                <ns44:latin typeface="Arial"/>
                <ns44:ea typeface="Arial"/>
                <ns44:cs typeface="Arial"/>
              </ns44:rPr>
              <ns44:t>Task: request offers for Company A bonds maturing within two years</ns44:t>
            </ns44:r>
          </ns44:p>
        </p:txBody>
      </p:sp>
      <p:sp>
        <p:nvSpPr>
          <p:cNvPr id="108" name="!!trade.intent.role"/>
          <p:cNvSpPr/>
          <p:nvPr/>
        </p:nvSpPr>
        <p:spPr>
          <ns45:xfrm xmlns:ns45="http://schemas.openxmlformats.org/drawingml/2006/main">
            <ns45:off x="457200" y="1890000"/>
            <ns45:ext cx="1879200" cy="3708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200" b="1">
                <ns51:solidFill>
                  <ns51:srgbClr val="005A9C"/>
                </ns51:solidFill>
                <ns51:latin typeface="Arial"/>
                <ns51:ea typeface="Arial"/>
                <ns51:cs typeface="Arial"/>
              </ns51:defRPr>
            </ns51:pPr>
            <ns51:r>
              <ns51:rPr sz="1200" b="1">
                <ns51:solidFill>
                  <ns51:srgbClr val="005A9C"/>
                </ns51:solidFill>
                <ns51:latin typeface="Arial"/>
                <ns51:ea typeface="Arial"/>
                <ns51:cs typeface="Arial"/>
              </ns51:rPr>
              <ns51:t>1 Define the request</ns51:t>
            </ns51:r>
          </ns51:p>
        </p:txBody>
      </p:sp>
      <p:cxnSp>
        <p:nvCxnSpPr>
          <p:cNvPr id="109" name="trade.intent.role.rule"/>
          <p:cNvCxnSpPr/>
          <p:nvPr/>
        </p:nvCxnSpPr>
        <p:spPr>
          <ns52:xfrm xmlns:ns52="http://schemas.openxmlformats.org/drawingml/2006/main">
            <ns52:off x="457200" y="2296800"/>
            <ns52:ext cx="1879200" cy="1"/>
          </ns52:xfrm>
          <ns53:prstGeom xmlns:ns53="http://schemas.openxmlformats.org/drawingml/2006/main" prst="line">
            <ns53:avLst/>
          </ns53:prstGeom>
          <ns54:ln xmlns:ns54="http://schemas.openxmlformats.org/drawingml/2006/main" w="12700">
            <ns54:solidFill>
              <ns54:srgbClr val="005A9C"/>
            </ns54:solidFill>
          </ns54:ln>
        </p:spPr>
      </p:cxnSp>
      <p:sp>
        <p:nvSpPr>
          <p:cNvPr id="110" name="!!trade.intent.body"/>
          <p:cNvSpPr/>
          <p:nvPr/>
        </p:nvSpPr>
        <p:spPr>
          <ns55:xfrm xmlns:ns55="http://schemas.openxmlformats.org/drawingml/2006/main">
            <ns55:off x="457200" y="2397600"/>
            <ns55:ext cx="1879200" cy="11268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100" b="0">
                <ns61:solidFill>
                  <ns61:srgbClr val="20262C"/>
                </ns61:solidFill>
                <ns61:latin typeface="Arial"/>
                <ns61:ea typeface="Arial"/>
                <ns61:cs typeface="Arial"/>
              </ns61:defRPr>
            </ns61:pPr>
            <ns61:r>
              <ns61:rPr sz="1100" b="0">
                <ns61:solidFill>
                  <ns61:srgbClr val="20262C"/>
                </ns61:solidFill>
                <ns61:latin typeface="Arial"/>
                <ns61:ea typeface="Arial"/>
                <ns61:cs typeface="Arial"/>
              </ns61:rPr>
              <ns61:t>Portfolio manager</ns61:t>
            </ns61:r>
          </ns61:p>
          <ns62:p xmlns:ns62="http://schemas.openxmlformats.org/drawingml/2006/main">
            <ns62:pPr algn="l">
              <ns62:lnSpc>
                <ns62:spcPct val="108000"/>
              </ns62:lnSpc>
              <ns62:defRPr sz="1100" b="0">
                <ns62:solidFill>
                  <ns62:srgbClr val="20262C"/>
                </ns62:solidFill>
                <ns62:latin typeface="Arial"/>
                <ns62:ea typeface="Arial"/>
                <ns62:cs typeface="Arial"/>
              </ns62:defRPr>
            </ns62:pPr>
            <ns62:r>
              <ns62:rPr sz="1100" b="0">
                <ns62:solidFill>
                  <ns62:srgbClr val="20262C"/>
                </ns62:solidFill>
                <ns62:latin typeface="Arial"/>
                <ns62:ea typeface="Arial"/>
                <ns62:cs typeface="Arial"/>
              </ns62:rPr>
              <ns62:t>Company A bonds</ns62:t>
            </ns62:r>
          </ns62:p>
          <ns63:p xmlns:ns63="http://schemas.openxmlformats.org/drawingml/2006/main">
            <ns63:pPr algn="l">
              <ns63:lnSpc>
                <ns63:spcPct val="108000"/>
              </ns63:lnSpc>
              <ns63:defRPr sz="1100" b="0">
                <ns63:solidFill>
                  <ns63:srgbClr val="20262C"/>
                </ns63:solidFill>
                <ns63:latin typeface="Arial"/>
                <ns63:ea typeface="Arial"/>
                <ns63:cs typeface="Arial"/>
              </ns63:defRPr>
            </ns63:pPr>
            <ns63:r>
              <ns63:rPr sz="1100" b="0">
                <ns63:solidFill>
                  <ns63:srgbClr val="20262C"/>
                </ns63:solidFill>
                <ns63:latin typeface="Arial"/>
                <ns63:ea typeface="Arial"/>
                <ns63:cs typeface="Arial"/>
              </ns63:rPr>
              <ns63:t>Maturing within two years</ns63:t>
            </ns63:r>
          </ns63:p>
          <ns64:p xmlns:ns64="http://schemas.openxmlformats.org/drawingml/2006/main">
            <ns64:pPr algn="l">
              <ns64:lnSpc>
                <ns64:spcPct val="108000"/>
              </ns64:lnSpc>
              <ns64:defRPr sz="1100" b="0">
                <ns64:solidFill>
                  <ns64:srgbClr val="20262C"/>
                </ns64:solidFill>
                <ns64:latin typeface="Arial"/>
                <ns64:ea typeface="Arial"/>
                <ns64:cs typeface="Arial"/>
              </ns64:defRPr>
            </ns64:pPr>
            <ns64:r>
              <ns64:rPr sz="1100" b="0">
                <ns64:solidFill>
                  <ns64:srgbClr val="20262C"/>
                </ns64:solidFill>
                <ns64:latin typeface="Arial"/>
                <ns64:ea typeface="Arial"/>
                <ns64:cs typeface="Arial"/>
              </ns64:rPr>
              <ns64:t>Check holdings</ns64:t>
            </ns64:r>
          </ns64:p>
          <ns65:p xmlns:ns65="http://schemas.openxmlformats.org/drawingml/2006/main">
            <ns65:pPr algn="l">
              <ns65:lnSpc>
                <ns65:spcPct val="108000"/>
              </ns65:lnSpc>
              <ns65:defRPr sz="1100" b="0">
                <ns65:solidFill>
                  <ns65:srgbClr val="20262C"/>
                </ns65:solidFill>
                <ns65:latin typeface="Arial"/>
                <ns65:ea typeface="Arial"/>
                <ns65:cs typeface="Arial"/>
              </ns65:defRPr>
            </ns65:pPr>
            <ns65:r>
              <ns65:rPr sz="1100" b="0">
                <ns65:solidFill>
                  <ns65:srgbClr val="20262C"/>
                </ns65:solidFill>
                <ns65:latin typeface="Arial"/>
                <ns65:ea typeface="Arial"/>
                <ns65:cs typeface="Arial"/>
              </ns65:rPr>
              <ns65:t>Collect offer quotes</ns65:t>
            </ns65:r>
          </ns65:p>
        </p:txBody>
      </p:sp>
      <p:cxnSp>
        <p:nvCxnSpPr>
          <p:cNvPr id="111" name="trade.stage.0"/>
          <p:cNvCxnSpPr/>
          <p:nvPr/>
        </p:nvCxnSpPr>
        <p:spPr>
          <ns66:xfrm xmlns:ns66="http://schemas.openxmlformats.org/drawingml/2006/main">
            <ns66:off x="2383200" y="2815200"/>
            <ns66:ext cx="136800" cy="1"/>
          </ns66:xfrm>
          <ns67:prstGeom xmlns:ns67="http://schemas.openxmlformats.org/drawingml/2006/main" prst="line">
            <ns67:avLst/>
          </ns67:prstGeom>
          <ns68:ln xmlns:ns68="http://schemas.openxmlformats.org/drawingml/2006/main" w="12700">
            <ns68:solidFill>
              <ns68:srgbClr val="005A9C"/>
            </ns68:solidFill>
            <ns68:tailEnd type="triangle" w="sm" len="sm"/>
          </ns68:ln>
        </p:spPr>
      </p:cxnSp>
      <p:sp>
        <p:nvSpPr>
          <p:cNvPr id="112" name="!!trade.query.role"/>
          <p:cNvSpPr/>
          <p:nvPr/>
        </p:nvSpPr>
        <p:spPr>
          <ns69:xfrm xmlns:ns69="http://schemas.openxmlformats.org/drawingml/2006/main">
            <ns69:off x="2574000" y="1890000"/>
            <ns69:ext cx="1879200" cy="3708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200" b="1">
                <ns75:solidFill>
                  <ns75:srgbClr val="005A9C"/>
                </ns75:solidFill>
                <ns75:latin typeface="Arial"/>
                <ns75:ea typeface="Arial"/>
                <ns75:cs typeface="Arial"/>
              </ns75:defRPr>
            </ns75:pPr>
            <ns75:r>
              <ns75:rPr sz="1200" b="1">
                <ns75:solidFill>
                  <ns75:srgbClr val="005A9C"/>
                </ns75:solidFill>
                <ns75:latin typeface="Arial"/>
                <ns75:ea typeface="Arial"/>
                <ns75:cs typeface="Arial"/>
              </ns75:rPr>
              <ns75:t>2 Screen bonds and check holdings</ns75:t>
            </ns75:r>
          </ns75:p>
        </p:txBody>
      </p:sp>
      <p:cxnSp>
        <p:nvCxnSpPr>
          <p:cNvPr id="113" name="trade.query.role.rule"/>
          <p:cNvCxnSpPr/>
          <p:nvPr/>
        </p:nvCxnSpPr>
        <p:spPr>
          <ns76:xfrm xmlns:ns76="http://schemas.openxmlformats.org/drawingml/2006/main">
            <ns76:off x="2574000" y="2296800"/>
            <ns76:ext cx="1879200" cy="1"/>
          </ns76:xfrm>
          <ns77:prstGeom xmlns:ns77="http://schemas.openxmlformats.org/drawingml/2006/main" prst="line">
            <ns77:avLst/>
          </ns77:prstGeom>
          <ns78:ln xmlns:ns78="http://schemas.openxmlformats.org/drawingml/2006/main" w="12700">
            <ns78:solidFill>
              <ns78:srgbClr val="005A9C"/>
            </ns78:solidFill>
          </ns78:ln>
        </p:spPr>
      </p:cxnSp>
      <p:sp>
        <p:nvSpPr>
          <p:cNvPr id="114" name="!!trade.query.body"/>
          <p:cNvSpPr/>
          <p:nvPr/>
        </p:nvSpPr>
        <p:spPr>
          <ns79:xfrm xmlns:ns79="http://schemas.openxmlformats.org/drawingml/2006/main">
            <ns79:off x="2574000" y="2397600"/>
            <ns79:ext cx="1879200" cy="11268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8000"/>
              </ns85:lnSpc>
              <ns85:defRPr sz="1100" b="0">
                <ns85:solidFill>
                  <ns85:srgbClr val="20262C"/>
                </ns85:solidFill>
                <ns85:latin typeface="Arial"/>
                <ns85:ea typeface="Arial"/>
                <ns85:cs typeface="Arial"/>
              </ns85:defRPr>
            </ns85:pPr>
            <ns85:r>
              <ns85:rPr sz="1100" b="0">
                <ns85:solidFill>
                  <ns85:srgbClr val="20262C"/>
                </ns85:solidFill>
                <ns85:latin typeface="Arial"/>
                <ns85:ea typeface="Arial"/>
                <ns85:cs typeface="Arial"/>
              </ns85:rPr>
              <ns85:t>Trader</ns85:t>
            </ns85:r>
          </ns85:p>
          <ns86:p xmlns:ns86="http://schemas.openxmlformats.org/drawingml/2006/main">
            <ns86:pPr algn="l">
              <ns86:lnSpc>
                <ns86:spcPct val="108000"/>
              </ns86:lnSpc>
              <ns86:defRPr sz="1100" b="0">
                <ns86:solidFill>
                  <ns86:srgbClr val="20262C"/>
                </ns86:solidFill>
                <ns86:latin typeface="Arial"/>
                <ns86:ea typeface="Arial"/>
                <ns86:cs typeface="Arial"/>
              </ns86:defRPr>
            </ns86:pPr>
            <ns86:r>
              <ns86:rPr sz="1100" b="0">
                <ns86:solidFill>
                  <ns86:srgbClr val="20262C"/>
                </ns86:solidFill>
                <ns86:latin typeface="Arial"/>
                <ns86:ea typeface="Arial"/>
                <ns86:cs typeface="Arial"/>
              </ns86:rPr>
              <ns86:t>Find bonds and holdings</ns86:t>
            </ns86:r>
          </ns86:p>
          <ns87:p xmlns:ns87="http://schemas.openxmlformats.org/drawingml/2006/main">
            <ns87:pPr algn="l">
              <ns87:lnSpc>
                <ns87:spcPct val="108000"/>
              </ns87:lnSpc>
              <ns87:defRPr sz="1100" b="0">
                <ns87:solidFill>
                  <ns87:srgbClr val="20262C"/>
                </ns87:solidFill>
                <ns87:latin typeface="Arial"/>
                <ns87:ea typeface="Arial"/>
                <ns87:cs typeface="Arial"/>
              </ns87:defRPr>
            </ns87:pPr>
            <ns87:r>
              <ns87:rPr sz="1100" b="0">
                <ns87:solidFill>
                  <ns87:srgbClr val="20262C"/>
                </ns87:solidFill>
                <ns87:latin typeface="Arial"/>
                <ns87:ea typeface="Arial"/>
                <ns87:cs typeface="Arial"/>
              </ns87:rPr>
              <ns87:t>Record the data timestamp</ns87:t>
            </ns87:r>
          </ns87:p>
        </p:txBody>
      </p:sp>
      <p:cxnSp>
        <p:nvCxnSpPr>
          <p:cNvPr id="115" name="trade.stage.1"/>
          <p:cNvCxnSpPr/>
          <p:nvPr/>
        </p:nvCxnSpPr>
        <p:spPr>
          <ns88:xfrm xmlns:ns88="http://schemas.openxmlformats.org/drawingml/2006/main">
            <ns88:off x="4500000" y="2815200"/>
            <ns88:ext cx="136800" cy="1"/>
          </ns88:xfrm>
          <ns89:prstGeom xmlns:ns89="http://schemas.openxmlformats.org/drawingml/2006/main" prst="line">
            <ns89:avLst/>
          </ns89:prstGeom>
          <ns90:ln xmlns:ns90="http://schemas.openxmlformats.org/drawingml/2006/main" w="12700">
            <ns90:solidFill>
              <ns90:srgbClr val="005A9C"/>
            </ns90:solidFill>
            <ns90:tailEnd type="triangle" w="sm" len="sm"/>
          </ns90:ln>
        </p:spPr>
      </p:cxnSp>
      <p:sp>
        <p:nvSpPr>
          <p:cNvPr id="116" name="!!trade.inquire.role"/>
          <p:cNvSpPr/>
          <p:nvPr/>
        </p:nvSpPr>
        <p:spPr>
          <ns91:xfrm xmlns:ns91="http://schemas.openxmlformats.org/drawingml/2006/main">
            <ns91:off x="4690800" y="1890000"/>
            <ns91:ext cx="1879200" cy="370800"/>
          </ns91:xfrm>
          <ns92:prstGeom xmlns:ns92="http://schemas.openxmlformats.org/drawingml/2006/main" prst="rect">
            <ns92:avLst/>
          </ns92:prstGeom>
          <ns93:noFill xmlns:ns93="http://schemas.openxmlformats.org/drawingml/2006/main"/>
          <ns94:ln xmlns:ns94="http://schemas.openxmlformats.org/drawingml/2006/main" w="0">
            <ns94:noFill/>
          </ns94:ln>
        </p:spPr>
        <p:txBody>
          <ns95:bodyPr xmlns:ns95="http://schemas.openxmlformats.org/drawingml/2006/main" wrap="square" lIns="0" rIns="0" tIns="0" bIns="0" anchor="t">
            <ns95:noAutofit/>
          </ns95:bodyPr>
          <ns96:lstStyle xmlns:ns96="http://schemas.openxmlformats.org/drawingml/2006/main"/>
          <ns97:p xmlns:ns97="http://schemas.openxmlformats.org/drawingml/2006/main">
            <ns97:pPr algn="l">
              <ns97:lnSpc>
                <ns97:spcPct val="108000"/>
              </ns97:lnSpc>
              <ns97:defRPr sz="1200" b="1">
                <ns97:solidFill>
                  <ns97:srgbClr val="005A9C"/>
                </ns97:solidFill>
                <ns97:latin typeface="Arial"/>
                <ns97:ea typeface="Arial"/>
                <ns97:cs typeface="Arial"/>
              </ns97:defRPr>
            </ns97:pPr>
            <ns97:r>
              <ns97:rPr sz="1200" b="1">
                <ns97:solidFill>
                  <ns97:srgbClr val="005A9C"/>
                </ns97:solidFill>
                <ns97:latin typeface="Arial"/>
                <ns97:ea typeface="Arial"/>
                <ns97:cs typeface="Arial"/>
              </ns97:rPr>
              <ns97:t>3 Request quotes</ns97:t>
            </ns97:r>
          </ns97:p>
        </p:txBody>
      </p:sp>
      <p:cxnSp>
        <p:nvCxnSpPr>
          <p:cNvPr id="117" name="trade.inquire.role.rule"/>
          <p:cNvCxnSpPr/>
          <p:nvPr/>
        </p:nvCxnSpPr>
        <p:spPr>
          <ns98:xfrm xmlns:ns98="http://schemas.openxmlformats.org/drawingml/2006/main">
            <ns98:off x="4690800" y="2296800"/>
            <ns98:ext cx="1879200" cy="1"/>
          </ns98:xfrm>
          <ns99:prstGeom xmlns:ns99="http://schemas.openxmlformats.org/drawingml/2006/main" prst="line">
            <ns99:avLst/>
          </ns99:prstGeom>
          <ns100:ln xmlns:ns100="http://schemas.openxmlformats.org/drawingml/2006/main" w="12700">
            <ns100:solidFill>
              <ns100:srgbClr val="005A9C"/>
            </ns100:solidFill>
          </ns100:ln>
        </p:spPr>
      </p:cxnSp>
      <p:sp>
        <p:nvSpPr>
          <p:cNvPr id="118" name="!!trade.inquire.body"/>
          <p:cNvSpPr/>
          <p:nvPr/>
        </p:nvSpPr>
        <p:spPr>
          <ns101:xfrm xmlns:ns101="http://schemas.openxmlformats.org/drawingml/2006/main">
            <ns101:off x="4690800" y="2397600"/>
            <ns101:ext cx="1879200" cy="1126800"/>
          </ns101:xfrm>
          <ns102:prstGeom xmlns:ns102="http://schemas.openxmlformats.org/drawingml/2006/main" prst="rect">
            <ns102:avLst/>
          </ns102:prstGeom>
          <ns103:noFill xmlns:ns103="http://schemas.openxmlformats.org/drawingml/2006/main"/>
          <ns104:ln xmlns:ns104="http://schemas.openxmlformats.org/drawingml/2006/main" w="0">
            <ns104:noFill/>
          </ns104:ln>
        </p:spPr>
        <p:txBody>
          <ns105:bodyPr xmlns:ns105="http://schemas.openxmlformats.org/drawingml/2006/main" wrap="square" lIns="0" rIns="0" tIns="0" bIns="0" anchor="t">
            <ns105:noAutofit/>
          </ns105:bodyPr>
          <ns106:lstStyle xmlns:ns106="http://schemas.openxmlformats.org/drawingml/2006/main"/>
          <ns107:p xmlns:ns107="http://schemas.openxmlformats.org/drawingml/2006/main">
            <ns107:pPr algn="l">
              <ns107:lnSpc>
                <ns107:spcPct val="108000"/>
              </ns107:lnSpc>
              <ns107:defRPr sz="1100" b="0">
                <ns107:solidFill>
                  <ns107:srgbClr val="20262C"/>
                </ns107:solidFill>
                <ns107:latin typeface="Arial"/>
                <ns107:ea typeface="Arial"/>
                <ns107:cs typeface="Arial"/>
              </ns107:defRPr>
            </ns107:pPr>
            <ns107:r>
              <ns107:rPr sz="1100" b="0">
                <ns107:solidFill>
                  <ns107:srgbClr val="20262C"/>
                </ns107:solidFill>
                <ns107:latin typeface="Arial"/>
                <ns107:ea typeface="Arial"/>
                <ns107:cs typeface="Arial"/>
              </ns107:rPr>
              <ns107:t>Trader</ns107:t>
            </ns107:r>
          </ns107:p>
          <ns108:p xmlns:ns108="http://schemas.openxmlformats.org/drawingml/2006/main">
            <ns108:pPr algn="l">
              <ns108:lnSpc>
                <ns108:spcPct val="108000"/>
              </ns108:lnSpc>
              <ns108:defRPr sz="1100" b="0">
                <ns108:solidFill>
                  <ns108:srgbClr val="20262C"/>
                </ns108:solidFill>
                <ns108:latin typeface="Arial"/>
                <ns108:ea typeface="Arial"/>
                <ns108:cs typeface="Arial"/>
              </ns108:defRPr>
            </ns108:pPr>
            <ns108:r>
              <ns108:rPr sz="1100" b="0">
                <ns108:solidFill>
                  <ns108:srgbClr val="20262C"/>
                </ns108:solidFill>
                <ns108:latin typeface="Arial"/>
                <ns108:ea typeface="Arial"/>
                <ns108:cs typeface="Arial"/>
              </ns108:rPr>
              <ns108:t>Specify bonds and buying interest</ns108:t>
            </ns108:r>
          </ns108:p>
          <ns109:p xmlns:ns109="http://schemas.openxmlformats.org/drawingml/2006/main">
            <ns109:pPr algn="l">
              <ns109:lnSpc>
                <ns109:spcPct val="108000"/>
              </ns109:lnSpc>
              <ns109:defRPr sz="1100" b="0">
                <ns109:solidFill>
                  <ns109:srgbClr val="20262C"/>
                </ns109:solidFill>
                <ns109:latin typeface="Arial"/>
                <ns109:ea typeface="Arial"/>
                <ns109:cs typeface="Arial"/>
              </ns109:defRPr>
            </ns109:pPr>
            <ns109:r>
              <ns109:rPr sz="1100" b="0">
                <ns109:solidFill>
                  <ns109:srgbClr val="20262C"/>
                </ns109:solidFill>
                <ns109:latin typeface="Arial"/>
                <ns109:ea typeface="Arial"/>
                <ns109:cs typeface="Arial"/>
              </ns109:rPr>
              <ns109:t>Request offer prices and available size</ns109:t>
            </ns109:r>
          </ns109:p>
          <ns110:p xmlns:ns110="http://schemas.openxmlformats.org/drawingml/2006/main">
            <ns110:pPr algn="l">
              <ns110:lnSpc>
                <ns110:spcPct val="108000"/>
              </ns110:lnSpc>
              <ns110:defRPr sz="1100" b="0">
                <ns110:solidFill>
                  <ns110:srgbClr val="20262C"/>
                </ns110:solidFill>
                <ns110:latin typeface="Arial"/>
                <ns110:ea typeface="Arial"/>
                <ns110:cs typeface="Arial"/>
              </ns110:defRPr>
            </ns110:pPr>
            <ns110:r>
              <ns110:rPr sz="1100" b="0">
                <ns110:solidFill>
                  <ns110:srgbClr val="20262C"/>
                </ns110:solidFill>
                <ns110:latin typeface="Arial"/>
                <ns110:ea typeface="Arial"/>
                <ns110:cs typeface="Arial"/>
              </ns110:rPr>
              <ns110:t>Receive quotes</ns110:t>
            </ns110:r>
          </ns110:p>
        </p:txBody>
      </p:sp>
      <p:cxnSp>
        <p:nvCxnSpPr>
          <p:cNvPr id="119" name="trade.stage.2"/>
          <p:cNvCxnSpPr/>
          <p:nvPr/>
        </p:nvCxnSpPr>
        <p:spPr>
          <ns111:xfrm xmlns:ns111="http://schemas.openxmlformats.org/drawingml/2006/main">
            <ns111:off x="6616800" y="2815200"/>
            <ns111:ext cx="136800" cy="1"/>
          </ns111:xfrm>
          <ns112:prstGeom xmlns:ns112="http://schemas.openxmlformats.org/drawingml/2006/main" prst="line">
            <ns112:avLst/>
          </ns112:prstGeom>
          <ns113:ln xmlns:ns113="http://schemas.openxmlformats.org/drawingml/2006/main" w="12700">
            <ns113:solidFill>
              <ns113:srgbClr val="005A9C"/>
            </ns113:solidFill>
            <ns113:tailEnd type="triangle" w="sm" len="sm"/>
          </ns113:ln>
        </p:spPr>
      </p:cxnSp>
      <p:sp>
        <p:nvSpPr>
          <p:cNvPr id="120" name="!!trade.compare.role"/>
          <p:cNvSpPr/>
          <p:nvPr/>
        </p:nvSpPr>
        <p:spPr>
          <ns114:xfrm xmlns:ns114="http://schemas.openxmlformats.org/drawingml/2006/main">
            <ns114:off x="6807600" y="1890000"/>
            <ns114:ext cx="1879200" cy="370800"/>
          </ns114:xfrm>
          <ns115:prstGeom xmlns:ns115="http://schemas.openxmlformats.org/drawingml/2006/main" prst="rect">
            <ns115:avLst/>
          </ns115:prstGeom>
          <ns116:noFill xmlns:ns116="http://schemas.openxmlformats.org/drawingml/2006/main"/>
          <ns117:ln xmlns:ns117="http://schemas.openxmlformats.org/drawingml/2006/main" w="0">
            <ns117:noFill/>
          </ns117:ln>
        </p:spPr>
        <p:txBody>
          <ns118:bodyPr xmlns:ns118="http://schemas.openxmlformats.org/drawingml/2006/main" wrap="square" lIns="0" rIns="0" tIns="0" bIns="0" anchor="t">
            <ns118:noAutofit/>
          </ns118:bodyPr>
          <ns119:lstStyle xmlns:ns119="http://schemas.openxmlformats.org/drawingml/2006/main"/>
          <ns120:p xmlns:ns120="http://schemas.openxmlformats.org/drawingml/2006/main">
            <ns120:pPr algn="l">
              <ns120:lnSpc>
                <ns120:spcPct val="108000"/>
              </ns120:lnSpc>
              <ns120:defRPr sz="1200" b="1">
                <ns120:solidFill>
                  <ns120:srgbClr val="005A9C"/>
                </ns120:solidFill>
                <ns120:latin typeface="Arial"/>
                <ns120:ea typeface="Arial"/>
                <ns120:cs typeface="Arial"/>
              </ns120:defRPr>
            </ns120:pPr>
            <ns120:r>
              <ns120:rPr sz="1200" b="1">
                <ns120:solidFill>
                  <ns120:srgbClr val="005A9C"/>
                </ns120:solidFill>
                <ns120:latin typeface="Arial"/>
                <ns120:ea typeface="Arial"/>
                <ns120:cs typeface="Arial"/>
              </ns120:rPr>
              <ns120:t>4 Summarize quotes</ns120:t>
            </ns120:r>
          </ns120:p>
        </p:txBody>
      </p:sp>
      <p:cxnSp>
        <p:nvCxnSpPr>
          <p:cNvPr id="121" name="trade.compare.role.rule"/>
          <p:cNvCxnSpPr/>
          <p:nvPr/>
        </p:nvCxnSpPr>
        <p:spPr>
          <ns121:xfrm xmlns:ns121="http://schemas.openxmlformats.org/drawingml/2006/main">
            <ns121:off x="6807600" y="2296800"/>
            <ns121:ext cx="1879200" cy="1"/>
          </ns121:xfrm>
          <ns122:prstGeom xmlns:ns122="http://schemas.openxmlformats.org/drawingml/2006/main" prst="line">
            <ns122:avLst/>
          </ns122:prstGeom>
          <ns123:ln xmlns:ns123="http://schemas.openxmlformats.org/drawingml/2006/main" w="12700">
            <ns123:solidFill>
              <ns123:srgbClr val="005A9C"/>
            </ns123:solidFill>
          </ns123:ln>
        </p:spPr>
      </p:cxnSp>
      <p:sp>
        <p:nvSpPr>
          <p:cNvPr id="122" name="!!trade.compare.body"/>
          <p:cNvSpPr/>
          <p:nvPr/>
        </p:nvSpPr>
        <p:spPr>
          <ns124:xfrm xmlns:ns124="http://schemas.openxmlformats.org/drawingml/2006/main">
            <ns124:off x="6807600" y="2397600"/>
            <ns124:ext cx="1879200" cy="11268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Trader</ns130:t>
            </ns130:r>
          </ns130:p>
          <ns131:p xmlns:ns131="http://schemas.openxmlformats.org/drawingml/2006/main">
            <ns131:pPr algn="l">
              <ns131:lnSpc>
                <ns131:spcPct val="108000"/>
              </ns131:lnSpc>
              <ns131:defRPr sz="1100" b="0">
                <ns131:solidFill>
                  <ns131:srgbClr val="20262C"/>
                </ns131:solidFill>
                <ns131:latin typeface="Arial"/>
                <ns131:ea typeface="Arial"/>
                <ns131:cs typeface="Arial"/>
              </ns131:defRPr>
            </ns131:pPr>
            <ns131:r>
              <ns131:rPr sz="1100" b="0">
                <ns131:solidFill>
                  <ns131:srgbClr val="20262C"/>
                </ns131:solidFill>
                <ns131:latin typeface="Arial"/>
                <ns131:ea typeface="Arial"/>
                <ns131:cs typeface="Arial"/>
              </ns131:rPr>
              <ns131:t>Summarize bonds and quotes</ns131:t>
            </ns131:r>
          </ns131:p>
          <ns132:p xmlns:ns132="http://schemas.openxmlformats.org/drawingml/2006/main">
            <ns132:pPr algn="l">
              <ns132:lnSpc>
                <ns132:spcPct val="108000"/>
              </ns132:lnSpc>
              <ns132:defRPr sz="1100" b="0">
                <ns132:solidFill>
                  <ns132:srgbClr val="20262C"/>
                </ns132:solidFill>
                <ns132:latin typeface="Arial"/>
                <ns132:ea typeface="Arial"/>
                <ns132:cs typeface="Arial"/>
              </ns132:defRPr>
            </ns132:pPr>
            <ns132:r>
              <ns132:rPr sz="1100" b="0">
                <ns132:solidFill>
                  <ns132:srgbClr val="20262C"/>
                </ns132:solidFill>
                <ns132:latin typeface="Arial"/>
                <ns132:ea typeface="Arial"/>
                <ns132:cs typeface="Arial"/>
              </ns132:rPr>
              <ns132:t>Discuss next steps with</ns132:t>
            </ns132:r>
          </ns132:p>
          <ns133:p xmlns:ns133="http://schemas.openxmlformats.org/drawingml/2006/main">
            <ns133:pPr algn="l">
              <ns133:lnSpc>
                <ns133:spcPct val="108000"/>
              </ns133:lnSpc>
              <ns133:defRPr sz="1100" b="0">
                <ns133:solidFill>
                  <ns133:srgbClr val="20262C"/>
                </ns133:solidFill>
                <ns133:latin typeface="Arial"/>
                <ns133:ea typeface="Arial"/>
                <ns133:cs typeface="Arial"/>
              </ns133:defRPr>
            </ns133:pPr>
            <ns133:r>
              <ns133:rPr sz="1100" b="0">
                <ns133:solidFill>
                  <ns133:srgbClr val="20262C"/>
                </ns133:solidFill>
                <ns133:latin typeface="Arial"/>
                <ns133:ea typeface="Arial"/>
                <ns133:cs typeface="Arial"/>
              </ns133:rPr>
              <ns133:t>the portfolio manager</ns133:t>
            </ns133:r>
          </ns133:p>
        </p:txBody>
      </p:sp>
      <p:cxnSp>
        <p:nvCxnSpPr>
          <p:cNvPr id="123" name="trade.support.rule"/>
          <p:cNvCxnSpPr/>
          <p:nvPr/>
        </p:nvCxnSpPr>
        <p:spPr>
          <ns134:xfrm xmlns:ns134="http://schemas.openxmlformats.org/drawingml/2006/main">
            <ns134:off x="457200" y="3646800"/>
            <ns134:ext cx="8229600" cy="1"/>
          </ns134:xfrm>
          <ns135:prstGeom xmlns:ns135="http://schemas.openxmlformats.org/drawingml/2006/main" prst="line">
            <ns135:avLst/>
          </ns135:prstGeom>
          <ns136:ln xmlns:ns136="http://schemas.openxmlformats.org/drawingml/2006/main" w="6350">
            <ns136:solidFill>
              <ns136:srgbClr val="CCD5DA"/>
            </ns136:solidFill>
          </ns136:ln>
        </p:spPr>
      </p:cxnSp>
      <p:sp>
        <p:nvSpPr>
          <p:cNvPr id="124" name="trade.system.support"/>
          <p:cNvSpPr/>
          <p:nvPr/>
        </p:nvSpPr>
        <p:spPr>
          <ns137:xfrm xmlns:ns137="http://schemas.openxmlformats.org/drawingml/2006/main">
            <ns137:off x="457200" y="3798000"/>
            <ns137:ext cx="3934800" cy="3168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8000"/>
              </ns143:lnSpc>
              <ns143:defRPr sz="1150" b="0">
                <ns143:solidFill>
                  <ns143:srgbClr val="687782"/>
                </ns143:solidFill>
                <ns143:latin typeface="Arial"/>
                <ns143:ea typeface="Arial"/>
                <ns143:cs typeface="Arial"/>
              </ns143:defRPr>
            </ns143:pPr>
            <ns143:r>
              <ns143:rPr sz="1150" b="0">
                <ns143:solidFill>
                  <ns143:srgbClr val="687782"/>
                </ns143:solidFill>
                <ns143:latin typeface="Arial"/>
                <ns143:ea typeface="Arial"/>
                <ns143:cs typeface="Arial"/>
              </ns143:rPr>
              <ns143:t>Market and holdings systems: Query results</ns143:t>
            </ns143:r>
          </ns143:p>
        </p:txBody>
      </p:sp>
      <p:sp>
        <p:nvSpPr>
          <p:cNvPr id="125" name="trade.counterparty.support"/>
          <p:cNvSpPr/>
          <p:nvPr/>
        </p:nvSpPr>
        <p:spPr>
          <ns144:xfrm xmlns:ns144="http://schemas.openxmlformats.org/drawingml/2006/main">
            <ns144:off x="4752000" y="3798000"/>
            <ns144:ext cx="3934800" cy="316800"/>
          </ns144:xfrm>
          <ns145:prstGeom xmlns:ns145="http://schemas.openxmlformats.org/drawingml/2006/main" prst="rect">
            <ns145:avLst/>
          </ns145:prstGeom>
          <ns146:noFill xmlns:ns146="http://schemas.openxmlformats.org/drawingml/2006/main"/>
          <ns147:ln xmlns:ns147="http://schemas.openxmlformats.org/drawingml/2006/main" w="0">
            <ns147:noFill/>
          </ns147:ln>
        </p:spPr>
        <p:txBody>
          <ns148:bodyPr xmlns:ns148="http://schemas.openxmlformats.org/drawingml/2006/main" wrap="square" lIns="0" rIns="0" tIns="0" bIns="0" anchor="t">
            <ns148:noAutofit/>
          </ns148:bodyPr>
          <ns149:lstStyle xmlns:ns149="http://schemas.openxmlformats.org/drawingml/2006/main"/>
          <ns150:p xmlns:ns150="http://schemas.openxmlformats.org/drawingml/2006/main">
            <ns150:pPr algn="l">
              <ns150:lnSpc>
                <ns150:spcPct val="108000"/>
              </ns150:lnSpc>
              <ns150:defRPr sz="1150" b="0">
                <ns150:solidFill>
                  <ns150:srgbClr val="687782"/>
                </ns150:solidFill>
                <ns150:latin typeface="Arial"/>
                <ns150:ea typeface="Arial"/>
                <ns150:cs typeface="Arial"/>
              </ns150:defRPr>
            </ns150:pPr>
            <ns150:r>
              <ns150:rPr sz="1150" b="0">
                <ns150:solidFill>
                  <ns150:srgbClr val="687782"/>
                </ns150:solidFill>
                <ns150:latin typeface="Arial"/>
                <ns150:ea typeface="Arial"/>
                <ns150:cs typeface="Arial"/>
              </ns150:rPr>
              <ns150:t>Counterparty: Returns quotes</ns150:t>
            </ns150:r>
          </ns150:p>
        </p:txBody>
      </p:sp>
      <p:sp>
        <p:nvSpPr>
          <p:cNvPr id="126" name="!!trade.repetition"/>
          <p:cNvSpPr/>
          <p:nvPr/>
        </p:nvSpPr>
        <p:spPr>
          <ns151:xfrm xmlns:ns151="http://schemas.openxmlformats.org/drawingml/2006/main">
            <ns151:off x="457200" y="4230000"/>
            <ns151:ext cx="8229600" cy="1872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8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Repeated work: entering filters, switching systems and copying quote messages</ns157:t>
            </ns157:r>
          </ns157:p>
        </p:txBody>
      </p:sp>
    </p:spTree>
    <p:extLst>
      <p:ext uri="{BB962C8B-B14F-4D97-AF65-F5344CB8AC3E}">
        <p14:creationId xmlns:p14="http://schemas.microsoft.com/office/powerpoint/2010/main" val="10937266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Trading support at Southern and Aegon-Industrial</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Trading support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Southern Asset Management; Aegon-Industrial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trade.southern"/>
          <p:cNvSpPr/>
          <p:nvPr/>
        </p:nvSpPr>
        <p:spPr>
          <ns45:xfrm xmlns:ns45="http://schemas.openxmlformats.org/drawingml/2006/main">
            <ns45:off x="457200" y="1465200"/>
            <ns45:ext cx="8229600" cy="2412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Southern Asset Management: Xiaonan trading assistant</ns51:t>
            </ns51:r>
          </ns51:p>
        </p:txBody>
      </p:sp>
      <p:sp>
        <p:nvSpPr>
          <p:cNvPr id="109" name="!!trade.case1.0.role"/>
          <p:cNvSpPr/>
          <p:nvPr/>
        </p:nvSpPr>
        <p:spPr>
          <ns52:xfrm xmlns:ns52="http://schemas.openxmlformats.org/drawingml/2006/main">
            <ns52:off x="457200" y="1843200"/>
            <ns52:ext cx="1879200" cy="288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1">
                <ns58:solidFill>
                  <ns58:srgbClr val="005A9C"/>
                </ns58:solidFill>
                <ns58:latin typeface="Arial"/>
                <ns58:ea typeface="Arial"/>
                <ns58:cs typeface="Arial"/>
              </ns58:defRPr>
            </ns58:pPr>
            <ns58:r>
              <ns58:rPr sz="1150" b="1">
                <ns58:solidFill>
                  <ns58:srgbClr val="005A9C"/>
                </ns58:solidFill>
                <ns58:latin typeface="Arial"/>
                <ns58:ea typeface="Arial"/>
                <ns58:cs typeface="Arial"/>
              </ns58:rPr>
              <ns58:t>User request</ns58:t>
            </ns58:r>
          </ns58:p>
        </p:txBody>
      </p:sp>
      <p:sp>
        <p:nvSpPr>
          <p:cNvPr id="110" name="!!trade.case1.0.body"/>
          <p:cNvSpPr/>
          <p:nvPr/>
        </p:nvSpPr>
        <p:spPr>
          <ns59:xfrm xmlns:ns59="http://schemas.openxmlformats.org/drawingml/2006/main">
            <ns59:off x="457200" y="2174400"/>
            <ns59:ext cx="1879200" cy="6012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8000"/>
              </ns65:lnSpc>
              <ns65:defRPr sz="1100" b="0">
                <ns65:solidFill>
                  <ns65:srgbClr val="20262C"/>
                </ns65:solidFill>
                <ns65:latin typeface="Arial"/>
                <ns65:ea typeface="Arial"/>
                <ns65:cs typeface="Arial"/>
              </ns65:defRPr>
            </ns65:pPr>
            <ns65:r>
              <ns65:rPr sz="1100" b="0">
                <ns65:solidFill>
                  <ns65:srgbClr val="20262C"/>
                </ns65:solidFill>
                <ns65:latin typeface="Arial"/>
                <ns65:ea typeface="Arial"/>
                <ns65:cs typeface="Arial"/>
              </ns65:rPr>
              <ns65:t>Specify bond criteria, a query or an instruction.</ns65:t>
            </ns65:r>
          </ns65:p>
        </p:txBody>
      </p:sp>
      <p:cxnSp>
        <p:nvCxnSpPr>
          <p:cNvPr id="111" name="peer.1.flow.0"/>
          <p:cNvCxnSpPr/>
          <p:nvPr/>
        </p:nvCxnSpPr>
        <p:spPr>
          <ns66:xfrm xmlns:ns66="http://schemas.openxmlformats.org/drawingml/2006/main">
            <ns66:off x="2376000" y="2347200"/>
            <ns66:ext cx="144000" cy="1"/>
          </ns66:xfrm>
          <ns67:prstGeom xmlns:ns67="http://schemas.openxmlformats.org/drawingml/2006/main" prst="line">
            <ns67:avLst/>
          </ns67:prstGeom>
          <ns68:ln xmlns:ns68="http://schemas.openxmlformats.org/drawingml/2006/main" w="9525">
            <ns68:solidFill>
              <ns68:srgbClr val="005A9C"/>
            </ns68:solidFill>
            <ns68:tailEnd type="triangle" w="sm" len="sm"/>
          </ns68:ln>
        </p:spPr>
      </p:cxnSp>
      <p:sp>
        <p:nvSpPr>
          <p:cNvPr id="112" name="!!trade.case1.1.role"/>
          <p:cNvSpPr/>
          <p:nvPr/>
        </p:nvSpPr>
        <p:spPr>
          <ns69:xfrm xmlns:ns69="http://schemas.openxmlformats.org/drawingml/2006/main">
            <ns69:off x="2574000" y="1843200"/>
            <ns69:ext cx="1879200" cy="288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150" b="1">
                <ns75:solidFill>
                  <ns75:srgbClr val="005A9C"/>
                </ns75:solidFill>
                <ns75:latin typeface="Arial"/>
                <ns75:ea typeface="Arial"/>
                <ns75:cs typeface="Arial"/>
              </ns75:defRPr>
            </ns75:pPr>
            <ns75:r>
              <ns75:rPr sz="1150" b="1">
                <ns75:solidFill>
                  <ns75:srgbClr val="005A9C"/>
                </ns75:solidFill>
                <ns75:latin typeface="Arial"/>
                <ns75:ea typeface="Arial"/>
                <ns75:cs typeface="Arial"/>
              </ns75:rPr>
              <ns75:t>LLM interprets</ns75:t>
            </ns75:r>
          </ns75:p>
        </p:txBody>
      </p:sp>
      <p:sp>
        <p:nvSpPr>
          <p:cNvPr id="113" name="!!trade.case1.1.body"/>
          <p:cNvSpPr/>
          <p:nvPr/>
        </p:nvSpPr>
        <p:spPr>
          <ns76:xfrm xmlns:ns76="http://schemas.openxmlformats.org/drawingml/2006/main">
            <ns76:off x="2574000" y="2174400"/>
            <ns76:ext cx="1879200" cy="6012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100" b="0">
                <ns82:solidFill>
                  <ns82:srgbClr val="20262C"/>
                </ns82:solidFill>
                <ns82:latin typeface="Arial"/>
                <ns82:ea typeface="Arial"/>
                <ns82:cs typeface="Arial"/>
              </ns82:defRPr>
            </ns82:pPr>
            <ns82:r>
              <ns82:rPr sz="1100" b="0">
                <ns82:solidFill>
                  <ns82:srgbClr val="20262C"/>
                </ns82:solidFill>
                <ns82:latin typeface="Arial"/>
                <ns82:ea typeface="Arial"/>
                <ns82:cs typeface="Arial"/>
              </ns82:rPr>
              <ns82:t>Interpret the request</ns82:t>
            </ns82:r>
          </ns82:p>
          <ns83:p xmlns:ns83="http://schemas.openxmlformats.org/drawingml/2006/main">
            <ns83:pPr algn="l">
              <ns83:lnSpc>
                <ns83:spcPct val="108000"/>
              </ns83:lnSpc>
              <ns83:defRPr sz="1100" b="0">
                <ns83:solidFill>
                  <ns83:srgbClr val="20262C"/>
                </ns83:solidFill>
                <ns83:latin typeface="Arial"/>
                <ns83:ea typeface="Arial"/>
                <ns83:cs typeface="Arial"/>
              </ns83:defRPr>
            </ns83:pPr>
            <ns83:r>
              <ns83:rPr sz="1100" b="0">
                <ns83:solidFill>
                  <ns83:srgbClr val="20262C"/>
                </ns83:solidFill>
                <ns83:latin typeface="Arial"/>
                <ns83:ea typeface="Arial"/>
                <ns83:cs typeface="Arial"/>
              </ns83:rPr>
              <ns83:t>Select required tools</ns83:t>
            </ns83:r>
          </ns83:p>
        </p:txBody>
      </p:sp>
      <p:cxnSp>
        <p:nvCxnSpPr>
          <p:cNvPr id="114" name="peer.1.flow.1"/>
          <p:cNvCxnSpPr/>
          <p:nvPr/>
        </p:nvCxnSpPr>
        <p:spPr>
          <ns84:xfrm xmlns:ns84="http://schemas.openxmlformats.org/drawingml/2006/main">
            <ns84:off x="4492800" y="2347200"/>
            <ns84:ext cx="144000" cy="1"/>
          </ns84:xfrm>
          <ns85:prstGeom xmlns:ns85="http://schemas.openxmlformats.org/drawingml/2006/main" prst="line">
            <ns85:avLst/>
          </ns85:prstGeom>
          <ns86:ln xmlns:ns86="http://schemas.openxmlformats.org/drawingml/2006/main" w="9525">
            <ns86:solidFill>
              <ns86:srgbClr val="005A9C"/>
            </ns86:solidFill>
            <ns86:tailEnd type="triangle" w="sm" len="sm"/>
          </ns86:ln>
        </p:spPr>
      </p:cxnSp>
      <p:sp>
        <p:nvSpPr>
          <p:cNvPr id="115" name="!!trade.case1.2.role"/>
          <p:cNvSpPr/>
          <p:nvPr/>
        </p:nvSpPr>
        <p:spPr>
          <ns87:xfrm xmlns:ns87="http://schemas.openxmlformats.org/drawingml/2006/main">
            <ns87:off x="4690800" y="1843200"/>
            <ns87:ext cx="1879200" cy="2880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150" b="1">
                <ns93:solidFill>
                  <ns93:srgbClr val="005A9C"/>
                </ns93:solidFill>
                <ns93:latin typeface="Arial"/>
                <ns93:ea typeface="Arial"/>
                <ns93:cs typeface="Arial"/>
              </ns93:defRPr>
            </ns93:pPr>
            <ns93:r>
              <ns93:rPr sz="1150" b="1">
                <ns93:solidFill>
                  <ns93:srgbClr val="005A9C"/>
                </ns93:solidFill>
                <ns93:latin typeface="Arial"/>
                <ns93:ea typeface="Arial"/>
                <ns93:cs typeface="Arial"/>
              </ns93:rPr>
              <ns93:t>Systems execute</ns93:t>
            </ns93:r>
          </ns93:p>
        </p:txBody>
      </p:sp>
      <p:sp>
        <p:nvSpPr>
          <p:cNvPr id="116" name="!!trade.case1.2.body"/>
          <p:cNvSpPr/>
          <p:nvPr/>
        </p:nvSpPr>
        <p:spPr>
          <ns94:xfrm xmlns:ns94="http://schemas.openxmlformats.org/drawingml/2006/main">
            <ns94:off x="4690800" y="2174400"/>
            <ns94:ext cx="1879200" cy="6012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8000"/>
              </ns100:lnSpc>
              <ns100:defRPr sz="1100" b="0">
                <ns100:solidFill>
                  <ns100:srgbClr val="20262C"/>
                </ns100:solidFill>
                <ns100:latin typeface="Arial"/>
                <ns100:ea typeface="Arial"/>
                <ns100:cs typeface="Arial"/>
              </ns100:defRPr>
            </ns100:pPr>
            <ns100:r>
              <ns100:rPr sz="1100" b="0">
                <ns100:solidFill>
                  <ns100:srgbClr val="20262C"/>
                </ns100:solidFill>
                <ns100:latin typeface="Arial"/>
                <ns100:ea typeface="Arial"/>
                <ns100:cs typeface="Arial"/>
              </ns100:rPr>
              <ns100:t>Run the task</ns100:t>
            </ns100:r>
          </ns100:p>
          <ns101:p xmlns:ns101="http://schemas.openxmlformats.org/drawingml/2006/main">
            <ns101:pPr algn="l">
              <ns101:lnSpc>
                <ns101:spcPct val="108000"/>
              </ns101:lnSpc>
              <ns101:defRPr sz="1100" b="0">
                <ns101:solidFill>
                  <ns101:srgbClr val="20262C"/>
                </ns101:solidFill>
                <ns101:latin typeface="Arial"/>
                <ns101:ea typeface="Arial"/>
                <ns101:cs typeface="Arial"/>
              </ns101:defRPr>
            </ns101:pPr>
            <ns101:r>
              <ns101:rPr sz="1100" b="0">
                <ns101:solidFill>
                  <ns101:srgbClr val="20262C"/>
                </ns101:solidFill>
                <ns101:latin typeface="Arial"/>
                <ns101:ea typeface="Arial"/>
                <ns101:cs typeface="Arial"/>
              </ns101:rPr>
              <ns101:t>Return the result</ns101:t>
            </ns101:r>
          </ns101:p>
        </p:txBody>
      </p:sp>
      <p:cxnSp>
        <p:nvCxnSpPr>
          <p:cNvPr id="117" name="peer.1.flow.2"/>
          <p:cNvCxnSpPr/>
          <p:nvPr/>
        </p:nvCxnSpPr>
        <p:spPr>
          <ns102:xfrm xmlns:ns102="http://schemas.openxmlformats.org/drawingml/2006/main">
            <ns102:off x="6609600" y="2347200"/>
            <ns102:ext cx="144000" cy="1"/>
          </ns102:xfrm>
          <ns103:prstGeom xmlns:ns103="http://schemas.openxmlformats.org/drawingml/2006/main" prst="line">
            <ns103:avLst/>
          </ns103:prstGeom>
          <ns104:ln xmlns:ns104="http://schemas.openxmlformats.org/drawingml/2006/main" w="9525">
            <ns104:solidFill>
              <ns104:srgbClr val="005A9C"/>
            </ns104:solidFill>
            <ns104:tailEnd type="triangle" w="sm" len="sm"/>
          </ns104:ln>
        </p:spPr>
      </p:cxnSp>
      <p:sp>
        <p:nvSpPr>
          <p:cNvPr id="118" name="!!trade.case1.3.role"/>
          <p:cNvSpPr/>
          <p:nvPr/>
        </p:nvSpPr>
        <p:spPr>
          <ns105:xfrm xmlns:ns105="http://schemas.openxmlformats.org/drawingml/2006/main">
            <ns105:off x="6807600" y="1843200"/>
            <ns105:ext cx="1879200" cy="288000"/>
          </ns105:xfrm>
          <ns106:prstGeom xmlns:ns106="http://schemas.openxmlformats.org/drawingml/2006/main" prst="rect">
            <ns106:avLst/>
          </ns106:prstGeom>
          <ns107:noFill xmlns:ns107="http://schemas.openxmlformats.org/drawingml/2006/main"/>
          <ns108:ln xmlns:ns108="http://schemas.openxmlformats.org/drawingml/2006/main" w="0">
            <ns108:noFill/>
          </ns108:ln>
        </p:spPr>
        <p:txBody>
          <ns109:bodyPr xmlns:ns109="http://schemas.openxmlformats.org/drawingml/2006/main" wrap="square" lIns="0" rIns="0" tIns="0" bIns="0" anchor="t">
            <ns109:noAutofit/>
          </ns109:bodyPr>
          <ns110:lstStyle xmlns:ns110="http://schemas.openxmlformats.org/drawingml/2006/main"/>
          <ns111:p xmlns:ns111="http://schemas.openxmlformats.org/drawingml/2006/main">
            <ns111:pPr algn="l">
              <ns111:lnSpc>
                <ns111:spcPct val="108000"/>
              </ns111:lnSpc>
              <ns111:defRPr sz="1150" b="1">
                <ns111:solidFill>
                  <ns111:srgbClr val="005A9C"/>
                </ns111:solidFill>
                <ns111:latin typeface="Arial"/>
                <ns111:ea typeface="Arial"/>
                <ns111:cs typeface="Arial"/>
              </ns111:defRPr>
            </ns111:pPr>
            <ns111:r>
              <ns111:rPr sz="1150" b="1">
                <ns111:solidFill>
                  <ns111:srgbClr val="005A9C"/>
                </ns111:solidFill>
                <ns111:latin typeface="Arial"/>
                <ns111:ea typeface="Arial"/>
                <ns111:cs typeface="Arial"/>
              </ns111:rPr>
              <ns111:t>User reviews results</ns111:t>
            </ns111:r>
          </ns111:p>
        </p:txBody>
      </p:sp>
      <p:sp>
        <p:nvSpPr>
          <p:cNvPr id="119" name="!!trade.case1.3.body"/>
          <p:cNvSpPr/>
          <p:nvPr/>
        </p:nvSpPr>
        <p:spPr>
          <ns112:xfrm xmlns:ns112="http://schemas.openxmlformats.org/drawingml/2006/main">
            <ns112:off x="6807600" y="2174400"/>
            <ns112:ext cx="1879200" cy="601200"/>
          </ns112:xfrm>
          <ns113:prstGeom xmlns:ns113="http://schemas.openxmlformats.org/drawingml/2006/main" prst="rect">
            <ns113:avLst/>
          </ns113:prstGeom>
          <ns114:noFill xmlns:ns114="http://schemas.openxmlformats.org/drawingml/2006/main"/>
          <ns115:ln xmlns:ns115="http://schemas.openxmlformats.org/drawingml/2006/main" w="0">
            <ns115:noFill/>
          </ns115:ln>
        </p:spPr>
        <p:txBody>
          <ns116:bodyPr xmlns:ns116="http://schemas.openxmlformats.org/drawingml/2006/main" wrap="square" lIns="0" rIns="0" tIns="0" bIns="0" anchor="t">
            <ns116:noAutofit/>
          </ns116:bodyPr>
          <ns117:lstStyle xmlns:ns117="http://schemas.openxmlformats.org/drawingml/2006/main"/>
          <ns118:p xmlns:ns118="http://schemas.openxmlformats.org/drawingml/2006/main">
            <ns118:pPr algn="l">
              <ns118:lnSpc>
                <ns118:spcPct val="108000"/>
              </ns118:lnSpc>
              <ns118:defRPr sz="1100" b="0">
                <ns118:solidFill>
                  <ns118:srgbClr val="20262C"/>
                </ns118:solidFill>
                <ns118:latin typeface="Arial"/>
                <ns118:ea typeface="Arial"/>
                <ns118:cs typeface="Arial"/>
              </ns118:defRPr>
            </ns118:pPr>
            <ns118:r>
              <ns118:rPr sz="1100" b="0">
                <ns118:solidFill>
                  <ns118:srgbClr val="20262C"/>
                </ns118:solidFill>
                <ns118:latin typeface="Arial"/>
                <ns118:ea typeface="Arial"/>
                <ns118:cs typeface="Arial"/>
              </ns118:rPr>
              <ns118:t>Review the data</ns118:t>
            </ns118:r>
          </ns118:p>
          <ns119:p xmlns:ns119="http://schemas.openxmlformats.org/drawingml/2006/main">
            <ns119:pPr algn="l">
              <ns119:lnSpc>
                <ns119:spcPct val="108000"/>
              </ns119:lnSpc>
              <ns119:defRPr sz="1100" b="0">
                <ns119:solidFill>
                  <ns119:srgbClr val="20262C"/>
                </ns119:solidFill>
                <ns119:latin typeface="Arial"/>
                <ns119:ea typeface="Arial"/>
                <ns119:cs typeface="Arial"/>
              </ns119:defRPr>
            </ns119:pPr>
            <ns119:r>
              <ns119:rPr sz="1100" b="0">
                <ns119:solidFill>
                  <ns119:srgbClr val="20262C"/>
                </ns119:solidFill>
                <ns119:latin typeface="Arial"/>
                <ns119:ea typeface="Arial"/>
                <ns119:cs typeface="Arial"/>
              </ns119:rPr>
              <ns119:t>Confirm next steps</ns119:t>
            </ns119:r>
          </ns119:p>
        </p:txBody>
      </p:sp>
      <p:sp>
        <p:nvSpPr>
          <p:cNvPr id="120" name="!!trade.xq"/>
          <p:cNvSpPr/>
          <p:nvPr/>
        </p:nvSpPr>
        <p:spPr>
          <ns120:xfrm xmlns:ns120="http://schemas.openxmlformats.org/drawingml/2006/main">
            <ns120:off x="457200" y="3067200"/>
            <ns120:ext cx="8229600" cy="241200"/>
          </ns120:xfrm>
          <ns121:prstGeom xmlns:ns121="http://schemas.openxmlformats.org/drawingml/2006/main" prst="rect">
            <ns121:avLst/>
          </ns121:prstGeom>
          <ns122:noFill xmlns:ns122="http://schemas.openxmlformats.org/drawingml/2006/main"/>
          <ns123:ln xmlns:ns123="http://schemas.openxmlformats.org/drawingml/2006/main" w="0">
            <ns123:noFill/>
          </ns123:ln>
        </p:spPr>
        <p:txBody>
          <ns124:bodyPr xmlns:ns124="http://schemas.openxmlformats.org/drawingml/2006/main" wrap="square" lIns="0" rIns="0" tIns="0" bIns="0" anchor="t">
            <ns124:noAutofit/>
          </ns124:bodyPr>
          <ns125:lstStyle xmlns:ns125="http://schemas.openxmlformats.org/drawingml/2006/main"/>
          <ns126:p xmlns:ns126="http://schemas.openxmlformats.org/drawingml/2006/main">
            <ns126:pPr algn="l">
              <ns126:lnSpc>
                <ns126:spcPct val="108000"/>
              </ns126:lnSpc>
              <ns126:defRPr sz="1300" b="1">
                <ns126:solidFill>
                  <ns126:srgbClr val="005A9C"/>
                </ns126:solidFill>
                <ns126:latin typeface="Arial"/>
                <ns126:ea typeface="Arial"/>
                <ns126:cs typeface="Arial"/>
              </ns126:defRPr>
            </ns126:pPr>
            <ns126:r>
              <ns126:rPr sz="1300" b="1">
                <ns126:solidFill>
                  <ns126:srgbClr val="005A9C"/>
                </ns126:solidFill>
                <ns126:latin typeface="Arial"/>
                <ns126:ea typeface="Arial"/>
                <ns126:cs typeface="Arial"/>
              </ns126:rPr>
              <ns126:t>Aegon-Industrial: capturing trade details from Qtrade records</ns126:t>
            </ns126:r>
          </ns126:p>
        </p:txBody>
      </p:sp>
      <p:sp>
        <p:nvSpPr>
          <p:cNvPr id="121" name="!!trade.case2.0.role"/>
          <p:cNvSpPr/>
          <p:nvPr/>
        </p:nvSpPr>
        <p:spPr>
          <ns127:xfrm xmlns:ns127="http://schemas.openxmlformats.org/drawingml/2006/main">
            <ns127:off x="457200" y="3445200"/>
            <ns127:ext cx="1879200" cy="288000"/>
          </ns127:xfrm>
          <ns128:prstGeom xmlns:ns128="http://schemas.openxmlformats.org/drawingml/2006/main" prst="rect">
            <ns128:avLst/>
          </ns128:prstGeom>
          <ns129:noFill xmlns:ns129="http://schemas.openxmlformats.org/drawingml/2006/main"/>
          <ns130:ln xmlns:ns130="http://schemas.openxmlformats.org/drawingml/2006/main" w="0">
            <ns130:noFill/>
          </ns130:ln>
        </p:spPr>
        <p:txBody>
          <ns131:bodyPr xmlns:ns131="http://schemas.openxmlformats.org/drawingml/2006/main" wrap="square" lIns="0" rIns="0" tIns="0" bIns="0" anchor="t">
            <ns131:noAutofit/>
          </ns131:bodyPr>
          <ns132:lstStyle xmlns:ns132="http://schemas.openxmlformats.org/drawingml/2006/main"/>
          <ns133:p xmlns:ns133="http://schemas.openxmlformats.org/drawingml/2006/main">
            <ns133:pPr algn="l">
              <ns133:lnSpc>
                <ns133:spcPct val="108000"/>
              </ns133:lnSpc>
              <ns133:defRPr sz="1150" b="1">
                <ns133:solidFill>
                  <ns133:srgbClr val="005A9C"/>
                </ns133:solidFill>
                <ns133:latin typeface="Arial"/>
                <ns133:ea typeface="Arial"/>
                <ns133:cs typeface="Arial"/>
              </ns133:defRPr>
            </ns133:pPr>
            <ns133:r>
              <ns133:rPr sz="1150" b="1">
                <ns133:solidFill>
                  <ns133:srgbClr val="005A9C"/>
                </ns133:solidFill>
                <ns133:latin typeface="Arial"/>
                <ns133:ea typeface="Arial"/>
                <ns133:cs typeface="Arial"/>
              </ns133:rPr>
              <ns133:t>Qtrade records</ns133:t>
            </ns133:r>
          </ns133:p>
        </p:txBody>
      </p:sp>
      <p:sp>
        <p:nvSpPr>
          <p:cNvPr id="122" name="!!trade.case2.0.body"/>
          <p:cNvSpPr/>
          <p:nvPr/>
        </p:nvSpPr>
        <p:spPr>
          <ns134:xfrm xmlns:ns134="http://schemas.openxmlformats.org/drawingml/2006/main">
            <ns134:off x="457200" y="3776400"/>
            <ns134:ext cx="1879200" cy="6012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8000"/>
              </ns140:lnSpc>
              <ns140:defRPr sz="1100" b="0">
                <ns140:solidFill>
                  <ns140:srgbClr val="20262C"/>
                </ns140:solidFill>
                <ns140:latin typeface="Arial"/>
                <ns140:ea typeface="Arial"/>
                <ns140:cs typeface="Arial"/>
              </ns140:defRPr>
            </ns140:pPr>
            <ns140:r>
              <ns140:rPr sz="1100" b="0">
                <ns140:solidFill>
                  <ns140:srgbClr val="20262C"/>
                </ns140:solidFill>
                <ns140:latin typeface="Arial"/>
                <ns140:ea typeface="Arial"/>
                <ns140:cs typeface="Arial"/>
              </ns140:rPr>
              <ns140:t>Bond, side,</ns140:t>
            </ns140:r>
          </ns140:p>
          <ns141:p xmlns:ns141="http://schemas.openxmlformats.org/drawingml/2006/main">
            <ns141:pPr algn="l">
              <ns141:lnSpc>
                <ns141:spcPct val="108000"/>
              </ns141:lnSpc>
              <ns141:defRPr sz="1100" b="0">
                <ns141:solidFill>
                  <ns141:srgbClr val="20262C"/>
                </ns141:solidFill>
                <ns141:latin typeface="Arial"/>
                <ns141:ea typeface="Arial"/>
                <ns141:cs typeface="Arial"/>
              </ns141:defRPr>
            </ns141:pPr>
            <ns141:r>
              <ns141:rPr sz="1100" b="0">
                <ns141:solidFill>
                  <ns141:srgbClr val="20262C"/>
                </ns141:solidFill>
                <ns141:latin typeface="Arial"/>
                <ns141:ea typeface="Arial"/>
                <ns141:cs typeface="Arial"/>
              </ns141:rPr>
              <ns141:t>price and size</ns141:t>
            </ns141:r>
          </ns141:p>
        </p:txBody>
      </p:sp>
      <p:cxnSp>
        <p:nvCxnSpPr>
          <p:cNvPr id="123" name="peer.2.flow.0"/>
          <p:cNvCxnSpPr/>
          <p:nvPr/>
        </p:nvCxnSpPr>
        <p:spPr>
          <ns142:xfrm xmlns:ns142="http://schemas.openxmlformats.org/drawingml/2006/main">
            <ns142:off x="2376000" y="3949200"/>
            <ns142:ext cx="144000" cy="1"/>
          </ns142:xfrm>
          <ns143:prstGeom xmlns:ns143="http://schemas.openxmlformats.org/drawingml/2006/main" prst="line">
            <ns143:avLst/>
          </ns143:prstGeom>
          <ns144:ln xmlns:ns144="http://schemas.openxmlformats.org/drawingml/2006/main" w="9525">
            <ns144:solidFill>
              <ns144:srgbClr val="005A9C"/>
            </ns144:solidFill>
            <ns144:tailEnd type="triangle" w="sm" len="sm"/>
          </ns144:ln>
        </p:spPr>
      </p:cxnSp>
      <p:sp>
        <p:nvSpPr>
          <p:cNvPr id="124" name="!!trade.case2.1.role"/>
          <p:cNvSpPr/>
          <p:nvPr/>
        </p:nvSpPr>
        <p:spPr>
          <ns145:xfrm xmlns:ns145="http://schemas.openxmlformats.org/drawingml/2006/main">
            <ns145:off x="2574000" y="3445200"/>
            <ns145:ext cx="1879200" cy="2880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8000"/>
              </ns151:lnSpc>
              <ns151:defRPr sz="1150" b="1">
                <ns151:solidFill>
                  <ns151:srgbClr val="005A9C"/>
                </ns151:solidFill>
                <ns151:latin typeface="Arial"/>
                <ns151:ea typeface="Arial"/>
                <ns151:cs typeface="Arial"/>
              </ns151:defRPr>
            </ns151:pPr>
            <ns151:r>
              <ns151:rPr sz="1150" b="1">
                <ns151:solidFill>
                  <ns151:srgbClr val="005A9C"/>
                </ns151:solidFill>
                <ns151:latin typeface="Arial"/>
                <ns151:ea typeface="Arial"/>
                <ns151:cs typeface="Arial"/>
              </ns151:rPr>
              <ns151:t>AI extracts details</ns151:t>
            </ns151:r>
          </ns151:p>
        </p:txBody>
      </p:sp>
      <p:sp>
        <p:nvSpPr>
          <p:cNvPr id="125" name="!!trade.case2.1.body"/>
          <p:cNvSpPr/>
          <p:nvPr/>
        </p:nvSpPr>
        <p:spPr>
          <ns152:xfrm xmlns:ns152="http://schemas.openxmlformats.org/drawingml/2006/main">
            <ns152:off x="2574000" y="3776400"/>
            <ns152:ext cx="1879200" cy="601200"/>
          </ns152:xfrm>
          <ns153:prstGeom xmlns:ns153="http://schemas.openxmlformats.org/drawingml/2006/main" prst="rect">
            <ns153:avLst/>
          </ns153:prstGeom>
          <ns154:noFill xmlns:ns154="http://schemas.openxmlformats.org/drawingml/2006/main"/>
          <ns155:ln xmlns:ns155="http://schemas.openxmlformats.org/drawingml/2006/main" w="0">
            <ns155:noFill/>
          </ns155:ln>
        </p:spPr>
        <p:txBody>
          <ns156:bodyPr xmlns:ns156="http://schemas.openxmlformats.org/drawingml/2006/main" wrap="square" lIns="0" rIns="0" tIns="0" bIns="0" anchor="t">
            <ns156:noAutofit/>
          </ns156:bodyPr>
          <ns157:lstStyle xmlns:ns157="http://schemas.openxmlformats.org/drawingml/2006/main"/>
          <ns158:p xmlns:ns158="http://schemas.openxmlformats.org/drawingml/2006/main">
            <ns158:pPr algn="l">
              <ns158:lnSpc>
                <ns158:spcPct val="108000"/>
              </ns158:lnSpc>
              <ns158:defRPr sz="1100" b="0">
                <ns158:solidFill>
                  <ns158:srgbClr val="20262C"/>
                </ns158:solidFill>
                <ns158:latin typeface="Arial"/>
                <ns158:ea typeface="Arial"/>
                <ns158:cs typeface="Arial"/>
              </ns158:defRPr>
            </ns158:pPr>
            <ns158:r>
              <ns158:rPr sz="1100" b="0">
                <ns158:solidFill>
                  <ns158:srgbClr val="20262C"/>
                </ns158:solidFill>
                <ns158:latin typeface="Arial"/>
                <ns158:ea typeface="Arial"/>
                <ns158:cs typeface="Arial"/>
              </ns158:rPr>
              <ns158:t>Extract bond, side,</ns158:t>
            </ns158:r>
          </ns158:p>
          <ns159:p xmlns:ns159="http://schemas.openxmlformats.org/drawingml/2006/main">
            <ns159:pPr algn="l">
              <ns159:lnSpc>
                <ns159:spcPct val="108000"/>
              </ns159:lnSpc>
              <ns159:defRPr sz="1100" b="0">
                <ns159:solidFill>
                  <ns159:srgbClr val="20262C"/>
                </ns159:solidFill>
                <ns159:latin typeface="Arial"/>
                <ns159:ea typeface="Arial"/>
                <ns159:cs typeface="Arial"/>
              </ns159:defRPr>
            </ns159:pPr>
            <ns159:r>
              <ns159:rPr sz="1100" b="0">
                <ns159:solidFill>
                  <ns159:srgbClr val="20262C"/>
                </ns159:solidFill>
                <ns159:latin typeface="Arial"/>
                <ns159:ea typeface="Arial"/>
                <ns159:cs typeface="Arial"/>
              </ns159:rPr>
              <ns159:t>price and size</ns159:t>
            </ns159:r>
          </ns159:p>
        </p:txBody>
      </p:sp>
      <p:cxnSp>
        <p:nvCxnSpPr>
          <p:cNvPr id="126" name="peer.2.flow.1"/>
          <p:cNvCxnSpPr/>
          <p:nvPr/>
        </p:nvCxnSpPr>
        <p:spPr>
          <ns160:xfrm xmlns:ns160="http://schemas.openxmlformats.org/drawingml/2006/main">
            <ns160:off x="4492800" y="3949200"/>
            <ns160:ext cx="144000" cy="1"/>
          </ns160:xfrm>
          <ns161:prstGeom xmlns:ns161="http://schemas.openxmlformats.org/drawingml/2006/main" prst="line">
            <ns161:avLst/>
          </ns161:prstGeom>
          <ns162:ln xmlns:ns162="http://schemas.openxmlformats.org/drawingml/2006/main" w="9525">
            <ns162:solidFill>
              <ns162:srgbClr val="005A9C"/>
            </ns162:solidFill>
            <ns162:tailEnd type="triangle" w="sm" len="sm"/>
          </ns162:ln>
        </p:spPr>
      </p:cxnSp>
      <p:sp>
        <p:nvSpPr>
          <p:cNvPr id="127" name="!!trade.case2.2.role"/>
          <p:cNvSpPr/>
          <p:nvPr/>
        </p:nvSpPr>
        <p:spPr>
          <ns163:xfrm xmlns:ns163="http://schemas.openxmlformats.org/drawingml/2006/main">
            <ns163:off x="4690800" y="3445200"/>
            <ns163:ext cx="1879200" cy="288000"/>
          </ns163:xfrm>
          <ns164:prstGeom xmlns:ns164="http://schemas.openxmlformats.org/drawingml/2006/main" prst="rect">
            <ns164:avLst/>
          </ns164:prstGeom>
          <ns165:noFill xmlns:ns165="http://schemas.openxmlformats.org/drawingml/2006/main"/>
          <ns166:ln xmlns:ns166="http://schemas.openxmlformats.org/drawingml/2006/main" w="0">
            <ns166:noFill/>
          </ns166:ln>
        </p:spPr>
        <p:txBody>
          <ns167:bodyPr xmlns:ns167="http://schemas.openxmlformats.org/drawingml/2006/main" wrap="square" lIns="0" rIns="0" tIns="0" bIns="0" anchor="t">
            <ns167:noAutofit/>
          </ns167:bodyPr>
          <ns168:lstStyle xmlns:ns168="http://schemas.openxmlformats.org/drawingml/2006/main"/>
          <ns169:p xmlns:ns169="http://schemas.openxmlformats.org/drawingml/2006/main">
            <ns169:pPr algn="l">
              <ns169:lnSpc>
                <ns169:spcPct val="108000"/>
              </ns169:lnSpc>
              <ns169:defRPr sz="1150" b="1">
                <ns169:solidFill>
                  <ns169:srgbClr val="005A9C"/>
                </ns169:solidFill>
                <ns169:latin typeface="Arial"/>
                <ns169:ea typeface="Arial"/>
                <ns169:cs typeface="Arial"/>
              </ns169:defRPr>
            </ns169:pPr>
            <ns169:r>
              <ns169:rPr sz="1150" b="1">
                <ns169:solidFill>
                  <ns169:srgbClr val="005A9C"/>
                </ns169:solidFill>
                <ns169:latin typeface="Arial"/>
                <ns169:ea typeface="Arial"/>
                <ns169:cs typeface="Arial"/>
              </ns169:rPr>
              <ns169:t>Match and route</ns169:t>
            </ns169:r>
          </ns169:p>
        </p:txBody>
      </p:sp>
      <p:sp>
        <p:nvSpPr>
          <p:cNvPr id="128" name="!!trade.case2.2.body"/>
          <p:cNvSpPr/>
          <p:nvPr/>
        </p:nvSpPr>
        <p:spPr>
          <ns170:xfrm xmlns:ns170="http://schemas.openxmlformats.org/drawingml/2006/main">
            <ns170:off x="4690800" y="3776400"/>
            <ns170:ext cx="1879200" cy="601200"/>
          </ns170:xfrm>
          <ns171:prstGeom xmlns:ns171="http://schemas.openxmlformats.org/drawingml/2006/main" prst="rect">
            <ns171:avLst/>
          </ns171:prstGeom>
          <ns172:noFill xmlns:ns172="http://schemas.openxmlformats.org/drawingml/2006/main"/>
          <ns173:ln xmlns:ns173="http://schemas.openxmlformats.org/drawingml/2006/main" w="0">
            <ns173:noFill/>
          </ns173:ln>
        </p:spPr>
        <p:txBody>
          <ns174:bodyPr xmlns:ns174="http://schemas.openxmlformats.org/drawingml/2006/main" wrap="square" lIns="0" rIns="0" tIns="0" bIns="0" anchor="t">
            <ns174:noAutofit/>
          </ns174:bodyPr>
          <ns175:lstStyle xmlns:ns175="http://schemas.openxmlformats.org/drawingml/2006/main"/>
          <ns176:p xmlns:ns176="http://schemas.openxmlformats.org/drawingml/2006/main">
            <ns176:pPr algn="l">
              <ns176:lnSpc>
                <ns176:spcPct val="108000"/>
              </ns176:lnSpc>
              <ns176:defRPr sz="1100" b="0">
                <ns176:solidFill>
                  <ns176:srgbClr val="20262C"/>
                </ns176:solidFill>
                <ns176:latin typeface="Arial"/>
                <ns176:ea typeface="Arial"/>
                <ns176:cs typeface="Arial"/>
              </ns176:defRPr>
            </ns176:pPr>
            <ns176:r>
              <ns176:rPr sz="1100" b="0">
                <ns176:solidFill>
                  <ns176:srgbClr val="20262C"/>
                </ns176:solidFill>
                <ns176:latin typeface="Arial"/>
                <ns176:ea typeface="Arial"/>
                <ns176:cs typeface="Arial"/>
              </ns176:rPr>
              <ns176:t>Match the quote request</ns176:t>
            </ns176:r>
          </ns176:p>
          <ns177:p xmlns:ns177="http://schemas.openxmlformats.org/drawingml/2006/main">
            <ns177:pPr algn="l">
              <ns177:lnSpc>
                <ns177:spcPct val="108000"/>
              </ns177:lnSpc>
              <ns177:defRPr sz="1100" b="0">
                <ns177:solidFill>
                  <ns177:srgbClr val="20262C"/>
                </ns177:solidFill>
                <ns177:latin typeface="Arial"/>
                <ns177:ea typeface="Arial"/>
                <ns177:cs typeface="Arial"/>
              </ns177:defRPr>
            </ns177:pPr>
            <ns177:r>
              <ns177:rPr sz="1100" b="0">
                <ns177:solidFill>
                  <ns177:srgbClr val="20262C"/>
                </ns177:solidFill>
                <ns177:latin typeface="Arial"/>
                <ns177:ea typeface="Arial"/>
                <ns177:cs typeface="Arial"/>
              </ns177:rPr>
              <ns177:t>Send details to the</ns177:t>
            </ns177:r>
          </ns177:p>
          <ns178:p xmlns:ns178="http://schemas.openxmlformats.org/drawingml/2006/main">
            <ns178:pPr algn="l">
              <ns178:lnSpc>
                <ns178:spcPct val="108000"/>
              </ns178:lnSpc>
              <ns178:defRPr sz="1100" b="0">
                <ns178:solidFill>
                  <ns178:srgbClr val="20262C"/>
                </ns178:solidFill>
                <ns178:latin typeface="Arial"/>
                <ns178:ea typeface="Arial"/>
                <ns178:cs typeface="Arial"/>
              </ns178:defRPr>
            </ns178:pPr>
            <ns178:r>
              <ns178:rPr sz="1100" b="0">
                <ns178:solidFill>
                  <ns178:srgbClr val="20262C"/>
                </ns178:solidFill>
                <ns178:latin typeface="Arial"/>
                <ns178:ea typeface="Arial"/>
                <ns178:cs typeface="Arial"/>
              </ns178:rPr>
              <ns178:t>trading system</ns178:t>
            </ns178:r>
          </ns178:p>
        </p:txBody>
      </p:sp>
      <p:cxnSp>
        <p:nvCxnSpPr>
          <p:cNvPr id="129" name="peer.2.flow.2"/>
          <p:cNvCxnSpPr/>
          <p:nvPr/>
        </p:nvCxnSpPr>
        <p:spPr>
          <ns179:xfrm xmlns:ns179="http://schemas.openxmlformats.org/drawingml/2006/main">
            <ns179:off x="6609600" y="3949200"/>
            <ns179:ext cx="144000" cy="1"/>
          </ns179:xfrm>
          <ns180:prstGeom xmlns:ns180="http://schemas.openxmlformats.org/drawingml/2006/main" prst="line">
            <ns180:avLst/>
          </ns180:prstGeom>
          <ns181:ln xmlns:ns181="http://schemas.openxmlformats.org/drawingml/2006/main" w="9525">
            <ns181:solidFill>
              <ns181:srgbClr val="005A9C"/>
            </ns181:solidFill>
            <ns181:tailEnd type="triangle" w="sm" len="sm"/>
          </ns181:ln>
        </p:spPr>
      </p:cxnSp>
      <p:sp>
        <p:nvSpPr>
          <p:cNvPr id="130" name="!!trade.case2.3.role"/>
          <p:cNvSpPr/>
          <p:nvPr/>
        </p:nvSpPr>
        <p:spPr>
          <ns182:xfrm xmlns:ns182="http://schemas.openxmlformats.org/drawingml/2006/main">
            <ns182:off x="6807600" y="3445200"/>
            <ns182:ext cx="1879200" cy="288000"/>
          </ns182:xfrm>
          <ns183:prstGeom xmlns:ns183="http://schemas.openxmlformats.org/drawingml/2006/main" prst="rect">
            <ns183:avLst/>
          </ns183:prstGeom>
          <ns184:noFill xmlns:ns184="http://schemas.openxmlformats.org/drawingml/2006/main"/>
          <ns185:ln xmlns:ns185="http://schemas.openxmlformats.org/drawingml/2006/main" w="0">
            <ns185:noFill/>
          </ns185:ln>
        </p:spPr>
        <p:txBody>
          <ns186:bodyPr xmlns:ns186="http://schemas.openxmlformats.org/drawingml/2006/main" wrap="square" lIns="0" rIns="0" tIns="0" bIns="0" anchor="t">
            <ns186:noAutofit/>
          </ns186:bodyPr>
          <ns187:lstStyle xmlns:ns187="http://schemas.openxmlformats.org/drawingml/2006/main"/>
          <ns188:p xmlns:ns188="http://schemas.openxmlformats.org/drawingml/2006/main">
            <ns188:pPr algn="l">
              <ns188:lnSpc>
                <ns188:spcPct val="108000"/>
              </ns188:lnSpc>
              <ns188:defRPr sz="1150" b="1">
                <ns188:solidFill>
                  <ns188:srgbClr val="005A9C"/>
                </ns188:solidFill>
                <ns188:latin typeface="Arial"/>
                <ns188:ea typeface="Arial"/>
                <ns188:cs typeface="Arial"/>
              </ns188:defRPr>
            </ns188:pPr>
            <ns188:r>
              <ns188:rPr sz="1150" b="1">
                <ns188:solidFill>
                  <ns188:srgbClr val="005A9C"/>
                </ns188:solidFill>
                <ns188:latin typeface="Arial"/>
                <ns188:ea typeface="Arial"/>
                <ns188:cs typeface="Arial"/>
              </ns188:rPr>
              <ns188:t>Portfolio manager</ns188:t>
            </ns188:r>
          </ns188:p>
        </p:txBody>
      </p:sp>
      <p:sp>
        <p:nvSpPr>
          <p:cNvPr id="131" name="!!trade.case2.3.body"/>
          <p:cNvSpPr/>
          <p:nvPr/>
        </p:nvSpPr>
        <p:spPr>
          <ns189:xfrm xmlns:ns189="http://schemas.openxmlformats.org/drawingml/2006/main">
            <ns189:off x="6807600" y="3776400"/>
            <ns189:ext cx="1879200" cy="6012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8000"/>
              </ns195:lnSpc>
              <ns195:defRPr sz="1100" b="0">
                <ns195:solidFill>
                  <ns195:srgbClr val="20262C"/>
                </ns195:solidFill>
                <ns195:latin typeface="Arial"/>
                <ns195:ea typeface="Arial"/>
                <ns195:cs typeface="Arial"/>
              </ns195:defRPr>
            </ns195:pPr>
            <ns195:r>
              <ns195:rPr sz="1100" b="0">
                <ns195:solidFill>
                  <ns195:srgbClr val="20262C"/>
                </ns195:solidFill>
                <ns195:latin typeface="Arial"/>
                <ns195:ea typeface="Arial"/>
                <ns195:cs typeface="Arial"/>
              </ns195:rPr>
              <ns195:t>Submits the</ns195:t>
            </ns195:r>
          </ns195:p>
          <ns196:p xmlns:ns196="http://schemas.openxmlformats.org/drawingml/2006/main">
            <ns196:pPr algn="l">
              <ns196:lnSpc>
                <ns196:spcPct val="108000"/>
              </ns196:lnSpc>
              <ns196:defRPr sz="1100" b="0">
                <ns196:solidFill>
                  <ns196:srgbClr val="20262C"/>
                </ns196:solidFill>
                <ns196:latin typeface="Arial"/>
                <ns196:ea typeface="Arial"/>
                <ns196:cs typeface="Arial"/>
              </ns196:defRPr>
            </ns196:pPr>
            <ns196:r>
              <ns196:rPr sz="1100" b="0">
                <ns196:solidFill>
                  <ns196:srgbClr val="20262C"/>
                </ns196:solidFill>
                <ns196:latin typeface="Arial"/>
                <ns196:ea typeface="Arial"/>
                <ns196:cs typeface="Arial"/>
              </ns196:rPr>
              <ns196:t>instruction</ns196:t>
            </ns196:r>
          </ns196:p>
        </p:txBody>
      </p:sp>
      <p:sp>
        <p:nvSpPr>
          <p:cNvPr id="132" name="!!trade.case1.scope"/>
          <p:cNvSpPr/>
          <p:nvPr/>
        </p:nvSpPr>
        <p:spPr>
          <ns197:xfrm xmlns:ns197="http://schemas.openxmlformats.org/drawingml/2006/main">
            <ns197:off x="457200" y="2764800"/>
            <ns197:ext cx="8229600" cy="201600"/>
          </ns197:xfrm>
          <ns198:prstGeom xmlns:ns198="http://schemas.openxmlformats.org/drawingml/2006/main" prst="rect">
            <ns198:avLst/>
          </ns198:prstGeom>
          <ns199:noFill xmlns:ns199="http://schemas.openxmlformats.org/drawingml/2006/main"/>
          <ns200:ln xmlns:ns200="http://schemas.openxmlformats.org/drawingml/2006/main" w="0">
            <ns200:noFill/>
          </ns200:ln>
        </p:spPr>
        <p:txBody>
          <ns201:bodyPr xmlns:ns201="http://schemas.openxmlformats.org/drawingml/2006/main" wrap="square" lIns="0" rIns="0" tIns="0" bIns="0" anchor="t">
            <ns201:noAutofit/>
          </ns201:bodyPr>
          <ns202:lstStyle xmlns:ns202="http://schemas.openxmlformats.org/drawingml/2006/main"/>
          <ns203:p xmlns:ns203="http://schemas.openxmlformats.org/drawingml/2006/main">
            <ns203:pPr algn="l">
              <ns203:lnSpc>
                <ns203:spcPct val="108000"/>
              </ns203:lnSpc>
              <ns203:defRPr sz="1050" b="1">
                <ns203:solidFill>
                  <ns203:srgbClr val="005A9C"/>
                </ns203:solidFill>
                <ns203:latin typeface="Arial"/>
                <ns203:ea typeface="Arial"/>
                <ns203:cs typeface="Arial"/>
              </ns203:defRPr>
            </ns203:pPr>
            <ns203:r>
              <ns203:rPr sz="1050" b="1">
                <ns203:solidFill>
                  <ns203:srgbClr val="005A9C"/>
                </ns203:solidFill>
                <ns203:latin typeface="Arial"/>
                <ns203:ea typeface="Arial"/>
                <ns203:cs typeface="Arial"/>
              </ns203:rPr>
              <ns203:t>Xiaonan supports queries, bond screening, trading instructions and notifications</ns203:t>
            </ns203:r>
          </ns203:p>
        </p:txBody>
      </p:sp>
    </p:spTree>
    <p:extLst>
      <p:ext uri="{BB962C8B-B14F-4D97-AF65-F5344CB8AC3E}">
        <p14:creationId xmlns:p14="http://schemas.microsoft.com/office/powerpoint/2010/main" val="12882049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bond quote preparation</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Trading support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Southern Asset Management; Aegon-Industrial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trade.intent"/>
          <p:cNvSpPr/>
          <p:nvPr/>
        </p:nvSpPr>
        <p:spPr>
          <ns45:xfrm xmlns:ns45="http://schemas.openxmlformats.org/drawingml/2006/main">
            <ns45:off x="457200" y="1458000"/>
            <ns45:ext cx="8229600" cy="3024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Portfolio manager: check holdings and collect offers for Company A bonds maturing within two years</ns51:t>
            </ns51:r>
          </ns51:p>
        </p:txBody>
      </p:sp>
      <p:sp>
        <p:nvSpPr>
          <p:cNvPr id="109" name="!!trade.llm.query.role"/>
          <p:cNvSpPr/>
          <p:nvPr/>
        </p:nvSpPr>
        <p:spPr>
          <ns52:xfrm xmlns:ns52="http://schemas.openxmlformats.org/drawingml/2006/main">
            <ns52:off x="457200" y="1890000"/>
            <ns52:ext cx="2559600" cy="396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250" b="1">
                <ns58:solidFill>
                  <ns58:srgbClr val="005A9C"/>
                </ns58:solidFill>
                <ns58:latin typeface="Arial"/>
                <ns58:ea typeface="Arial"/>
                <ns58:cs typeface="Arial"/>
              </ns58:defRPr>
            </ns58:pPr>
            <ns58:r>
              <ns58:rPr sz="1250" b="1">
                <ns58:solidFill>
                  <ns58:srgbClr val="005A9C"/>
                </ns58:solidFill>
                <ns58:latin typeface="Arial"/>
                <ns58:ea typeface="Arial"/>
                <ns58:cs typeface="Arial"/>
              </ns58:rPr>
              <ns58:t>LLM identifies query criteria</ns58:t>
            </ns58:r>
          </ns58:p>
        </p:txBody>
      </p:sp>
      <p:cxnSp>
        <p:nvCxnSpPr>
          <p:cNvPr id="110" name="trade.llm.query.role.rule"/>
          <p:cNvCxnSpPr/>
          <p:nvPr/>
        </p:nvCxnSpPr>
        <p:spPr>
          <ns59:xfrm xmlns:ns59="http://schemas.openxmlformats.org/drawingml/2006/main">
            <ns59:off x="457200" y="2322000"/>
            <ns59:ext cx="2559600" cy="1"/>
          </ns59:xfrm>
          <ns60:prstGeom xmlns:ns60="http://schemas.openxmlformats.org/drawingml/2006/main" prst="line">
            <ns60:avLst/>
          </ns60:prstGeom>
          <ns61:ln xmlns:ns61="http://schemas.openxmlformats.org/drawingml/2006/main" w="12700">
            <ns61:solidFill>
              <ns61:srgbClr val="005A9C"/>
            </ns61:solidFill>
          </ns61:ln>
        </p:spPr>
      </p:cxnSp>
      <p:sp>
        <p:nvSpPr>
          <p:cNvPr id="111" name="!!trade.llm.query.body"/>
          <p:cNvSpPr/>
          <p:nvPr/>
        </p:nvSpPr>
        <p:spPr>
          <ns62:xfrm xmlns:ns62="http://schemas.openxmlformats.org/drawingml/2006/main">
            <ns62:off x="457200" y="2358000"/>
            <ns62:ext cx="2559600" cy="7560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50" b="0">
                <ns68:solidFill>
                  <ns68:srgbClr val="20262C"/>
                </ns68:solidFill>
                <ns68:latin typeface="Arial"/>
                <ns68:ea typeface="Arial"/>
                <ns68:cs typeface="Arial"/>
              </ns68:defRPr>
            </ns68:pPr>
            <ns68:r>
              <ns68:rPr sz="1150" b="0">
                <ns68:solidFill>
                  <ns68:srgbClr val="20262C"/>
                </ns68:solidFill>
                <ns68:latin typeface="Arial"/>
                <ns68:ea typeface="Arial"/>
                <ns68:cs typeface="Arial"/>
              </ns68:rPr>
              <ns68:t>Issuer: Company A</ns68:t>
            </ns68:r>
          </ns68:p>
          <ns69:p xmlns:ns69="http://schemas.openxmlformats.org/drawingml/2006/main">
            <ns69:pPr algn="l">
              <ns69:lnSpc>
                <ns69:spcPct val="108000"/>
              </ns69:lnSpc>
              <ns69:defRPr sz="1150" b="0">
                <ns69:solidFill>
                  <ns69:srgbClr val="20262C"/>
                </ns69:solidFill>
                <ns69:latin typeface="Arial"/>
                <ns69:ea typeface="Arial"/>
                <ns69:cs typeface="Arial"/>
              </ns69:defRPr>
            </ns69:pPr>
            <ns69:r>
              <ns69:rPr sz="1150" b="0">
                <ns69:solidFill>
                  <ns69:srgbClr val="20262C"/>
                </ns69:solidFill>
                <ns69:latin typeface="Arial"/>
                <ns69:ea typeface="Arial"/>
                <ns69:cs typeface="Arial"/>
              </ns69:rPr>
              <ns69:t>Side: buy</ns69:t>
            </ns69:r>
          </ns69:p>
          <ns70:p xmlns:ns70="http://schemas.openxmlformats.org/drawingml/2006/main">
            <ns70:pPr algn="l">
              <ns70:lnSpc>
                <ns70:spcPct val="108000"/>
              </ns70:lnSpc>
              <ns70:defRPr sz="1150" b="0">
                <ns70:solidFill>
                  <ns70:srgbClr val="20262C"/>
                </ns70:solidFill>
                <ns70:latin typeface="Arial"/>
                <ns70:ea typeface="Arial"/>
                <ns70:cs typeface="Arial"/>
              </ns70:defRPr>
            </ns70:pPr>
            <ns70:r>
              <ns70:rPr sz="1150" b="0">
                <ns70:solidFill>
                  <ns70:srgbClr val="20262C"/>
                </ns70:solidFill>
                <ns70:latin typeface="Arial"/>
                <ns70:ea typeface="Arial"/>
                <ns70:cs typeface="Arial"/>
              </ns70:rPr>
              <ns70:t>Maturity: within two years</ns70:t>
            </ns70:r>
          </ns70:p>
          <ns71:p xmlns:ns71="http://schemas.openxmlformats.org/drawingml/2006/main">
            <ns71:pPr algn="l">
              <ns71:lnSpc>
                <ns71:spcPct val="108000"/>
              </ns71:lnSpc>
              <ns71:defRPr sz="1150" b="0">
                <ns71:solidFill>
                  <ns71:srgbClr val="20262C"/>
                </ns71:solidFill>
                <ns71:latin typeface="Arial"/>
                <ns71:ea typeface="Arial"/>
                <ns71:cs typeface="Arial"/>
              </ns71:defRPr>
            </ns71:pPr>
            <ns71:r>
              <ns71:rPr sz="1150" b="0">
                <ns71:solidFill>
                  <ns71:srgbClr val="20262C"/>
                </ns71:solidFill>
                <ns71:latin typeface="Arial"/>
                <ns71:ea typeface="Arial"/>
                <ns71:cs typeface="Arial"/>
              </ns71:rPr>
              <ns71:t>Query: bonds and holdings</ns71:t>
            </ns71:r>
          </ns71:p>
        </p:txBody>
      </p:sp>
      <p:sp>
        <p:nvSpPr>
          <p:cNvPr id="112" name="!!trade.system.role"/>
          <p:cNvSpPr/>
          <p:nvPr/>
        </p:nvSpPr>
        <p:spPr>
          <ns72:xfrm xmlns:ns72="http://schemas.openxmlformats.org/drawingml/2006/main">
            <ns72:off x="3294000" y="1890000"/>
            <ns72:ext cx="2556000" cy="396000"/>
          </ns72:xfrm>
          <ns73:prstGeom xmlns:ns73="http://schemas.openxmlformats.org/drawingml/2006/main" prst="rect">
            <ns73:avLst/>
          </ns73:prstGeom>
          <ns74:noFill xmlns:ns74="http://schemas.openxmlformats.org/drawingml/2006/main"/>
          <ns75:ln xmlns:ns75="http://schemas.openxmlformats.org/drawingml/2006/main" w="0">
            <ns75:noFill/>
          </ns75:ln>
        </p:spPr>
        <p:txBody>
          <ns76:bodyPr xmlns:ns76="http://schemas.openxmlformats.org/drawingml/2006/main" wrap="square" lIns="0" rIns="0" tIns="0" bIns="0" anchor="t">
            <ns76:noAutofit/>
          </ns76:bodyPr>
          <ns77:lstStyle xmlns:ns77="http://schemas.openxmlformats.org/drawingml/2006/main"/>
          <ns78:p xmlns:ns78="http://schemas.openxmlformats.org/drawingml/2006/main">
            <ns78:pPr algn="l">
              <ns78:lnSpc>
                <ns78:spcPct val="108000"/>
              </ns78:lnSpc>
              <ns78:defRPr sz="1250" b="1">
                <ns78:solidFill>
                  <ns78:srgbClr val="005A9C"/>
                </ns78:solidFill>
                <ns78:latin typeface="Arial"/>
                <ns78:ea typeface="Arial"/>
                <ns78:cs typeface="Arial"/>
              </ns78:defRPr>
            </ns78:pPr>
            <ns78:r>
              <ns78:rPr sz="1250" b="1">
                <ns78:solidFill>
                  <ns78:srgbClr val="005A9C"/>
                </ns78:solidFill>
                <ns78:latin typeface="Arial"/>
                <ns78:ea typeface="Arial"/>
                <ns78:cs typeface="Arial"/>
              </ns78:rPr>
              <ns78:t>Systems run the query</ns78:t>
            </ns78:r>
          </ns78:p>
        </p:txBody>
      </p:sp>
      <p:cxnSp>
        <p:nvCxnSpPr>
          <p:cNvPr id="113" name="trade.system.role.rule"/>
          <p:cNvCxnSpPr/>
          <p:nvPr/>
        </p:nvCxnSpPr>
        <p:spPr>
          <ns79:xfrm xmlns:ns79="http://schemas.openxmlformats.org/drawingml/2006/main">
            <ns79:off x="3294000" y="2322000"/>
            <ns79:ext cx="2556000" cy="1"/>
          </ns79:xfrm>
          <ns80:prstGeom xmlns:ns80="http://schemas.openxmlformats.org/drawingml/2006/main" prst="line">
            <ns80:avLst/>
          </ns80:prstGeom>
          <ns81:ln xmlns:ns81="http://schemas.openxmlformats.org/drawingml/2006/main" w="12700">
            <ns81:solidFill>
              <ns81:srgbClr val="005A9C"/>
            </ns81:solidFill>
          </ns81:ln>
        </p:spPr>
      </p:cxnSp>
      <p:sp>
        <p:nvSpPr>
          <p:cNvPr id="114" name="!!trade.system.body"/>
          <p:cNvSpPr/>
          <p:nvPr/>
        </p:nvSpPr>
        <p:spPr>
          <ns82:xfrm xmlns:ns82="http://schemas.openxmlformats.org/drawingml/2006/main">
            <ns82:off x="3294000" y="2358000"/>
            <ns82:ext cx="2556000" cy="7560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8000"/>
              </ns88:lnSpc>
              <ns88:defRPr sz="1150" b="0">
                <ns88:solidFill>
                  <ns88:srgbClr val="317F7B"/>
                </ns88:solidFill>
                <ns88:latin typeface="Arial"/>
                <ns88:ea typeface="Arial"/>
                <ns88:cs typeface="Arial"/>
              </ns88:defRPr>
            </ns88:pPr>
            <ns88:r>
              <ns88:rPr sz="1150" b="0">
                <ns88:solidFill>
                  <ns88:srgbClr val="317F7B"/>
                </ns88:solidFill>
                <ns88:latin typeface="Arial"/>
                <ns88:ea typeface="Arial"/>
                <ns88:cs typeface="Arial"/>
              </ns88:rPr>
              <ns88:t>Bond A (Company A)</ns88:t>
            </ns88:r>
          </ns88:p>
          <ns89:p xmlns:ns89="http://schemas.openxmlformats.org/drawingml/2006/main">
            <ns89:pPr algn="l">
              <ns89:lnSpc>
                <ns89:spcPct val="108000"/>
              </ns89:lnSpc>
              <ns89:defRPr sz="1150" b="0">
                <ns89:solidFill>
                  <ns89:srgbClr val="317F7B"/>
                </ns89:solidFill>
                <ns89:latin typeface="Arial"/>
                <ns89:ea typeface="Arial"/>
                <ns89:cs typeface="Arial"/>
              </ns89:defRPr>
            </ns89:pPr>
            <ns89:r>
              <ns89:rPr sz="1150" b="0">
                <ns89:solidFill>
                  <ns89:srgbClr val="317F7B"/>
                </ns89:solidFill>
                <ns89:latin typeface="Arial"/>
                <ns89:ea typeface="Arial"/>
                <ns89:cs typeface="Arial"/>
              </ns89:rPr>
              <ns89:t>Time to maturity: 1.2 years</ns89:t>
            </ns89:r>
          </ns89:p>
          <ns90:p xmlns:ns90="http://schemas.openxmlformats.org/drawingml/2006/main">
            <ns90:pPr algn="l">
              <ns90:lnSpc>
                <ns90:spcPct val="108000"/>
              </ns90:lnSpc>
              <ns90:defRPr sz="1150" b="0">
                <ns90:solidFill>
                  <ns90:srgbClr val="317F7B"/>
                </ns90:solidFill>
                <ns90:latin typeface="Arial"/>
                <ns90:ea typeface="Arial"/>
                <ns90:cs typeface="Arial"/>
              </ns90:defRPr>
            </ns90:pPr>
            <ns90:r>
              <ns90:rPr sz="1150" b="0">
                <ns90:solidFill>
                  <ns90:srgbClr val="317F7B"/>
                </ns90:solidFill>
                <ns90:latin typeface="Arial"/>
                <ns90:ea typeface="Arial"/>
                <ns90:cs typeface="Arial"/>
              </ns90:rPr>
              <ns90:t>Current holding:</ns90:t>
            </ns90:r>
          </ns90:p>
          <ns91:p xmlns:ns91="http://schemas.openxmlformats.org/drawingml/2006/main">
            <ns91:pPr algn="l">
              <ns91:lnSpc>
                <ns91:spcPct val="108000"/>
              </ns91:lnSpc>
              <ns91:defRPr sz="1150" b="0">
                <ns91:solidFill>
                  <ns91:srgbClr val="317F7B"/>
                </ns91:solidFill>
                <ns91:latin typeface="Arial"/>
                <ns91:ea typeface="Arial"/>
                <ns91:cs typeface="Arial"/>
              </ns91:defRPr>
            </ns91:pPr>
            <ns91:r>
              <ns91:rPr sz="1150" b="0">
                <ns91:solidFill>
                  <ns91:srgbClr val="317F7B"/>
                </ns91:solidFill>
                <ns91:latin typeface="Arial"/>
                <ns91:ea typeface="Arial"/>
                <ns91:cs typeface="Arial"/>
              </ns91:rPr>
              <ns91:t>RMB 20m face value</ns91:t>
            </ns91:r>
          </ns91:p>
        </p:txBody>
      </p:sp>
      <p:sp>
        <p:nvSpPr>
          <p:cNvPr id="115" name="!!trade.llm.quote.role"/>
          <p:cNvSpPr/>
          <p:nvPr/>
        </p:nvSpPr>
        <p:spPr>
          <ns92:xfrm xmlns:ns92="http://schemas.openxmlformats.org/drawingml/2006/main">
            <ns92:off x="6127200" y="1890000"/>
            <ns92:ext cx="2559600" cy="396000"/>
          </ns92:xfrm>
          <ns93:prstGeom xmlns:ns93="http://schemas.openxmlformats.org/drawingml/2006/main" prst="rect">
            <ns93:avLst/>
          </ns93:prstGeom>
          <ns94:noFill xmlns:ns94="http://schemas.openxmlformats.org/drawingml/2006/main"/>
          <ns95:ln xmlns:ns95="http://schemas.openxmlformats.org/drawingml/2006/main" w="0">
            <ns95:noFill/>
          </ns95:ln>
        </p:spPr>
        <p:txBody>
          <ns96:bodyPr xmlns:ns96="http://schemas.openxmlformats.org/drawingml/2006/main" wrap="square" lIns="0" rIns="0" tIns="0" bIns="0" anchor="t">
            <ns96:noAutofit/>
          </ns96:bodyPr>
          <ns97:lstStyle xmlns:ns97="http://schemas.openxmlformats.org/drawingml/2006/main"/>
          <ns98:p xmlns:ns98="http://schemas.openxmlformats.org/drawingml/2006/main">
            <ns98:pPr algn="l">
              <ns98:lnSpc>
                <ns98:spcPct val="108000"/>
              </ns98:lnSpc>
              <ns98:defRPr sz="1250" b="1">
                <ns98:solidFill>
                  <ns98:srgbClr val="005A9C"/>
                </ns98:solidFill>
                <ns98:latin typeface="Arial"/>
                <ns98:ea typeface="Arial"/>
                <ns98:cs typeface="Arial"/>
              </ns98:defRPr>
            </ns98:pPr>
            <ns98:r>
              <ns98:rPr sz="1250" b="1">
                <ns98:solidFill>
                  <ns98:srgbClr val="005A9C"/>
                </ns98:solidFill>
                <ns98:latin typeface="Arial"/>
                <ns98:ea typeface="Arial"/>
                <ns98:cs typeface="Arial"/>
              </ns98:rPr>
              <ns98:t>LLM extracts supplied quote details</ns98:t>
            </ns98:r>
          </ns98:p>
        </p:txBody>
      </p:sp>
      <p:cxnSp>
        <p:nvCxnSpPr>
          <p:cNvPr id="116" name="trade.llm.quote.role.rule"/>
          <p:cNvCxnSpPr/>
          <p:nvPr/>
        </p:nvCxnSpPr>
        <p:spPr>
          <ns99:xfrm xmlns:ns99="http://schemas.openxmlformats.org/drawingml/2006/main">
            <ns99:off x="6127200" y="2322000"/>
            <ns99:ext cx="2559600" cy="1"/>
          </ns99:xfrm>
          <ns100:prstGeom xmlns:ns100="http://schemas.openxmlformats.org/drawingml/2006/main" prst="line">
            <ns100:avLst/>
          </ns100:prstGeom>
          <ns101:ln xmlns:ns101="http://schemas.openxmlformats.org/drawingml/2006/main" w="12700">
            <ns101:solidFill>
              <ns101:srgbClr val="005A9C"/>
            </ns101:solidFill>
          </ns101:ln>
        </p:spPr>
      </p:cxnSp>
      <p:sp>
        <p:nvSpPr>
          <p:cNvPr id="117" name="!!trade.llm.quote.body"/>
          <p:cNvSpPr/>
          <p:nvPr/>
        </p:nvSpPr>
        <p:spPr>
          <ns102:xfrm xmlns:ns102="http://schemas.openxmlformats.org/drawingml/2006/main">
            <ns102:off x="6127200" y="2358000"/>
            <ns102:ext cx="2559600" cy="756000"/>
          </ns102:xfrm>
          <ns103:prstGeom xmlns:ns103="http://schemas.openxmlformats.org/drawingml/2006/main" prst="rect">
            <ns103:avLst/>
          </ns103:prstGeom>
          <ns104:noFill xmlns:ns104="http://schemas.openxmlformats.org/drawingml/2006/main"/>
          <ns105:ln xmlns:ns105="http://schemas.openxmlformats.org/drawingml/2006/main" w="0">
            <ns105:noFill/>
          </ns105:ln>
        </p:spPr>
        <p:txBody>
          <ns106:bodyPr xmlns:ns106="http://schemas.openxmlformats.org/drawingml/2006/main" wrap="square" lIns="0" rIns="0" tIns="0" bIns="0" anchor="t">
            <ns106:noAutofit/>
          </ns106:bodyPr>
          <ns107:lstStyle xmlns:ns107="http://schemas.openxmlformats.org/drawingml/2006/main"/>
          <ns108:p xmlns:ns108="http://schemas.openxmlformats.org/drawingml/2006/main">
            <ns108:pPr algn="l">
              <ns108:lnSpc>
                <ns108:spcPct val="108000"/>
              </ns108:lnSpc>
              <ns108:defRPr sz="1150" b="0">
                <ns108:solidFill>
                  <ns108:srgbClr val="20262C"/>
                </ns108:solidFill>
                <ns108:latin typeface="Arial"/>
                <ns108:ea typeface="Arial"/>
                <ns108:cs typeface="Arial"/>
              </ns108:defRPr>
            </ns108:pPr>
            <ns108:r>
              <ns108:rPr sz="1150" b="0">
                <ns108:solidFill>
                  <ns108:srgbClr val="20262C"/>
                </ns108:solidFill>
                <ns108:latin typeface="Arial"/>
                <ns108:ea typeface="Arial"/>
                <ns108:cs typeface="Arial"/>
              </ns108:rPr>
              <ns108:t>The trader provides this quote:</ns108:t>
            </ns108:r>
          </ns108:p>
          <ns109:p xmlns:ns109="http://schemas.openxmlformats.org/drawingml/2006/main">
            <ns109:pPr algn="l">
              <ns109:lnSpc>
                <ns109:spcPct val="108000"/>
              </ns109:lnSpc>
              <ns109:defRPr sz="1150" b="0">
                <ns109:solidFill>
                  <ns109:srgbClr val="20262C"/>
                </ns109:solidFill>
                <ns109:latin typeface="Arial"/>
                <ns109:ea typeface="Arial"/>
                <ns109:cs typeface="Arial"/>
              </ns109:defRPr>
            </ns109:pPr>
            <ns109:r>
              <ns109:rPr sz="1150" b="0">
                <ns109:solidFill>
                  <ns109:srgbClr val="20262C"/>
                </ns109:solidFill>
                <ns109:latin typeface="Arial"/>
                <ns109:ea typeface="Arial"/>
                <ns109:cs typeface="Arial"/>
              </ns109:rPr>
              <ns109:t>Bond A: clean price 100.20</ns109:t>
            </ns109:r>
          </ns109:p>
          <ns110:p xmlns:ns110="http://schemas.openxmlformats.org/drawingml/2006/main">
            <ns110:pPr algn="l">
              <ns110:lnSpc>
                <ns110:spcPct val="108000"/>
              </ns110:lnSpc>
              <ns110:defRPr sz="1150" b="0">
                <ns110:solidFill>
                  <ns110:srgbClr val="20262C"/>
                </ns110:solidFill>
                <ns110:latin typeface="Arial"/>
                <ns110:ea typeface="Arial"/>
                <ns110:cs typeface="Arial"/>
              </ns110:defRPr>
            </ns110:pPr>
            <ns110:r>
              <ns110:rPr sz="1150" b="0">
                <ns110:solidFill>
                  <ns110:srgbClr val="20262C"/>
                </ns110:solidFill>
                <ns110:latin typeface="Arial"/>
                <ns110:ea typeface="Arial"/>
                <ns110:cs typeface="Arial"/>
              </ns110:rPr>
              <ns110:t>RMB 20m face value available</ns110:t>
            </ns110:r>
          </ns110:p>
          <ns111:p xmlns:ns111="http://schemas.openxmlformats.org/drawingml/2006/main">
            <ns111:pPr algn="l">
              <ns111:lnSpc>
                <ns111:spcPct val="108000"/>
              </ns111:lnSpc>
              <ns111:defRPr sz="1150" b="0">
                <ns111:solidFill>
                  <ns111:srgbClr val="20262C"/>
                </ns111:solidFill>
                <ns111:latin typeface="Arial"/>
                <ns111:ea typeface="Arial"/>
                <ns111:cs typeface="Arial"/>
              </ns111:defRPr>
            </ns111:pPr>
            <ns111:r>
              <ns111:rPr sz="1150" b="0">
                <ns111:solidFill>
                  <ns111:srgbClr val="20262C"/>
                </ns111:solidFill>
                <ns111:latin typeface="Arial"/>
                <ns111:ea typeface="Arial"/>
                <ns111:cs typeface="Arial"/>
              </ns111:rPr>
              <ns111:t>Extract bond, price, face value</ns111:t>
            </ns111:r>
          </ns111:p>
        </p:txBody>
      </p:sp>
      <p:cxnSp>
        <p:nvCxnSpPr>
          <p:cNvPr id="118" name="query.execution"/>
          <p:cNvCxnSpPr/>
          <p:nvPr/>
        </p:nvCxnSpPr>
        <p:spPr>
          <ns112:xfrm xmlns:ns112="http://schemas.openxmlformats.org/drawingml/2006/main">
            <ns112:off x="3060000" y="2556000"/>
            <ns112:ext cx="190800" cy="1"/>
          </ns112:xfrm>
          <ns113:prstGeom xmlns:ns113="http://schemas.openxmlformats.org/drawingml/2006/main" prst="line">
            <ns113:avLst/>
          </ns113:prstGeom>
          <ns114:ln xmlns:ns114="http://schemas.openxmlformats.org/drawingml/2006/main" w="12700">
            <ns114:solidFill>
              <ns114:srgbClr val="005A9C"/>
            </ns114:solidFill>
            <ns114:tailEnd type="triangle" w="sm" len="sm"/>
          </ns114:ln>
        </p:spPr>
      </p:cxnSp>
      <p:cxnSp>
        <p:nvCxnSpPr>
          <p:cNvPr id="119" name="data.summary.12.7"/>
          <p:cNvCxnSpPr/>
          <p:nvPr/>
        </p:nvCxnSpPr>
        <p:spPr>
          <ns115:xfrm xmlns:ns115="http://schemas.openxmlformats.org/drawingml/2006/main">
            <ns115:off x="4572000" y="3168000"/>
            <ns115:ext cx="1" cy="82800"/>
          </ns115:xfrm>
          <ns116:prstGeom xmlns:ns116="http://schemas.openxmlformats.org/drawingml/2006/main" prst="line">
            <ns116:avLst/>
          </ns116:prstGeom>
          <ns117:ln xmlns:ns117="http://schemas.openxmlformats.org/drawingml/2006/main" w="12700">
            <ns117:solidFill>
              <ns117:srgbClr val="005A9C"/>
            </ns117:solidFill>
            <ns117:tailEnd type="triangle" w="sm" len="sm"/>
          </ns117:ln>
        </p:spPr>
      </p:cxnSp>
      <p:cxnSp>
        <p:nvCxnSpPr>
          <p:cNvPr id="120" name="data.summary.20.575"/>
          <p:cNvCxnSpPr/>
          <p:nvPr/>
        </p:nvCxnSpPr>
        <p:spPr>
          <ns118:xfrm xmlns:ns118="http://schemas.openxmlformats.org/drawingml/2006/main">
            <ns118:off x="7407000" y="3168000"/>
            <ns118:ext cx="1" cy="82800"/>
          </ns118:xfrm>
          <ns119:prstGeom xmlns:ns119="http://schemas.openxmlformats.org/drawingml/2006/main" prst="line">
            <ns119:avLst/>
          </ns119:prstGeom>
          <ns120:ln xmlns:ns120="http://schemas.openxmlformats.org/drawingml/2006/main" w="12700">
            <ns120:solidFill>
              <ns120:srgbClr val="005A9C"/>
            </ns120:solidFill>
            <ns120:tailEnd type="triangle" w="sm" len="sm"/>
          </ns120:ln>
        </p:spPr>
      </p:cxnSp>
      <p:sp>
        <p:nvSpPr>
          <p:cNvPr id="121" name="!!trade.result.title"/>
          <p:cNvSpPr/>
          <p:nvPr/>
        </p:nvSpPr>
        <p:spPr>
          <ns121:xfrm xmlns:ns121="http://schemas.openxmlformats.org/drawingml/2006/main">
            <ns121:off x="457200" y="3225600"/>
            <ns121:ext cx="8229600" cy="2088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8000"/>
              </ns127:lnSpc>
              <ns127:defRPr sz="1400" b="1">
                <ns127:solidFill>
                  <ns127:srgbClr val="005A9C"/>
                </ns127:solidFill>
                <ns127:latin typeface="Arial"/>
                <ns127:ea typeface="Arial"/>
                <ns127:cs typeface="Arial"/>
              </ns127:defRPr>
            </ns127:pPr>
            <ns127:r>
              <ns127:rPr sz="1400" b="1">
                <ns127:solidFill>
                  <ns127:srgbClr val="005A9C"/>
                </ns127:solidFill>
                <ns127:latin typeface="Arial"/>
                <ns127:ea typeface="Arial"/>
                <ns127:cs typeface="Arial"/>
              </ns127:rPr>
              <ns127:t>LLM prepares a bond and quote summary</ns127:t>
            </ns127:r>
          </ns127:p>
        </p:txBody>
      </p:sp>
      <p:graphicFrame>
        <p:nvGraphicFramePr>
          <p:cNvPr id="122" name="table.bond.summary">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457200" y="3477600"/>
          <a:ext xmlns:a="http://schemas.openxmlformats.org/drawingml/2006/main" cx="8229600" cy="648000"/>
        </p:xfrm>
        <a:graphic xmlns:a="http://schemas.openxmlformats.org/drawingml/2006/main">
          <a:graphicData uri="http://schemas.openxmlformats.org/drawingml/2006/table">
            <a:tbl>
              <a:tblPr/>
              <a:tblGrid>
                <a:gridCol w="1800000"/>
                <a:gridCol w="1998000"/>
                <a:gridCol w="2160000"/>
                <a:gridCol w="2271600"/>
              </a:tblGrid>
              <a:tr h="403200">
                <a:tc>
                  <a:txBody>
                    <a:bodyPr/>
                    <a:lstStyle/>
                    <a:p>
                      <a:r>
                        <a:rPr sz="1100" b="1">
                          <a:solidFill>
                            <a:srgbClr val="FFFFFF"/>
                          </a:solidFill>
                          <a:latin typeface="Arial"/>
                          <a:ea typeface="Arial"/>
                          <a:cs typeface="Arial"/>
                        </a:rPr>
                        <a:t>Bond / time to maturity</a:t>
                      </a:r>
                    </a:p>
                  </a:txBody>
                  <a:tcPr marL="50400" marR="50400" marT="28800" marB="28800" anchor="ctr">
                    <a:lnL w="6350">
                      <a:solidFill>
                        <a:srgbClr val="BCC6CF"/>
                      </a:solidFill>
                      <a:prstDash val="solid"/>
                    </a:lnL>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100" b="1">
                          <a:solidFill>
                            <a:srgbClr val="FFFFFF"/>
                          </a:solidFill>
                          <a:latin typeface="Arial"/>
                          <a:ea typeface="Arial"/>
                          <a:cs typeface="Arial"/>
                        </a:rPr>
                        <a:t>Current holding</a:t>
                      </a:r>
                    </a:p>
                    <a:p>
                      <a:r>
                        <a:rPr sz="1100" b="1">
                          <a:solidFill>
                            <a:srgbClr val="FFFFFF"/>
                          </a:solidFill>
                          <a:latin typeface="Arial"/>
                          <a:ea typeface="Arial"/>
                          <a:cs typeface="Arial"/>
                        </a:rPr>
                        <a:t>(RMB m face value)</a:t>
                      </a:r>
                    </a:p>
                  </a:txBody>
                  <a:tcPr marL="50400" marR="504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100" b="1">
                          <a:solidFill>
                            <a:srgbClr val="FFFFFF"/>
                          </a:solidFill>
                          <a:latin typeface="Arial"/>
                          <a:ea typeface="Arial"/>
                          <a:cs typeface="Arial"/>
                        </a:rPr>
                        <a:t>Clean price</a:t>
                      </a:r>
                    </a:p>
                    <a:p>
                      <a:r>
                        <a:rPr sz="1100" b="1">
                          <a:solidFill>
                            <a:srgbClr val="FFFFFF"/>
                          </a:solidFill>
                          <a:latin typeface="Arial"/>
                          <a:ea typeface="Arial"/>
                          <a:cs typeface="Arial"/>
                        </a:rPr>
                        <a:t>per RMB 100 face value</a:t>
                      </a:r>
                    </a:p>
                  </a:txBody>
                  <a:tcPr marL="50400" marR="504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100" b="1">
                          <a:solidFill>
                            <a:srgbClr val="FFFFFF"/>
                          </a:solidFill>
                          <a:latin typeface="Arial"/>
                          <a:ea typeface="Arial"/>
                          <a:cs typeface="Arial"/>
                        </a:rPr>
                        <a:t>Available size</a:t>
                      </a:r>
                    </a:p>
                    <a:p>
                      <a:r>
                        <a:rPr sz="1100" b="1">
                          <a:solidFill>
                            <a:srgbClr val="FFFFFF"/>
                          </a:solidFill>
                          <a:latin typeface="Arial"/>
                          <a:ea typeface="Arial"/>
                          <a:cs typeface="Arial"/>
                        </a:rPr>
                        <a:t>(RMB m face value)</a:t>
                      </a:r>
                    </a:p>
                  </a:txBody>
                  <a:tcPr marL="50400" marR="504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r>
              <a:tr h="244800">
                <a:tc>
                  <a:txBody>
                    <a:bodyPr/>
                    <a:lstStyle/>
                    <a:p>
                      <a:r>
                        <a:rPr sz="1150">
                          <a:solidFill>
                            <a:srgbClr val="20262C"/>
                          </a:solidFill>
                          <a:latin typeface="Arial"/>
                          <a:ea typeface="Arial"/>
                          <a:cs typeface="Arial"/>
                        </a:rPr>
                        <a:t>Bond A / 1.2 years</a:t>
                      </a:r>
                    </a:p>
                  </a:txBody>
                  <a:tcPr marL="50400" marR="50400" marT="28800" marB="28800" anchor="ctr">
                    <a:lnL w="6350">
                      <a:solidFill>
                        <a:srgbClr val="BCC6CF"/>
                      </a:solidFill>
                      <a:prstDash val="solid"/>
                    </a:lnL>
                    <a:lnR w="6350">
                      <a:solidFill>
                        <a:srgbClr val="BCC6CF"/>
                      </a:solidFill>
                      <a:prstDash val="solid"/>
                    </a:lnR>
                    <a:lnB w="6350">
                      <a:solidFill>
                        <a:srgbClr val="BCC6CF"/>
                      </a:solidFill>
                      <a:prstDash val="solid"/>
                    </a:lnB>
                    <a:solidFill>
                      <a:srgbClr val="FFFFFF"/>
                    </a:solidFill>
                  </a:tcPr>
                </a:tc>
                <a:tc>
                  <a:txBody>
                    <a:bodyPr/>
                    <a:lstStyle/>
                    <a:p>
                      <a:r>
                        <a:rPr sz="1150">
                          <a:solidFill>
                            <a:srgbClr val="20262C"/>
                          </a:solidFill>
                          <a:latin typeface="Arial"/>
                          <a:ea typeface="Arial"/>
                          <a:cs typeface="Arial"/>
                        </a:rPr>
                        <a:t>20</a:t>
                      </a:r>
                    </a:p>
                  </a:txBody>
                  <a:tcPr marL="50400" marR="504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150">
                          <a:solidFill>
                            <a:srgbClr val="20262C"/>
                          </a:solidFill>
                          <a:latin typeface="Arial"/>
                          <a:ea typeface="Arial"/>
                          <a:cs typeface="Arial"/>
                        </a:rPr>
                        <a:t>100.20</a:t>
                      </a:r>
                    </a:p>
                  </a:txBody>
                  <a:tcPr marL="50400" marR="504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150">
                          <a:solidFill>
                            <a:srgbClr val="20262C"/>
                          </a:solidFill>
                          <a:latin typeface="Arial"/>
                          <a:ea typeface="Arial"/>
                          <a:cs typeface="Arial"/>
                        </a:rPr>
                        <a:t>20</a:t>
                      </a:r>
                    </a:p>
                  </a:txBody>
                  <a:tcPr marL="50400" marR="50400" marT="28800" marB="28800" anchor="ctr">
                    <a:lnR w="6350">
                      <a:solidFill>
                        <a:srgbClr val="BCC6CF"/>
                      </a:solidFill>
                      <a:prstDash val="solid"/>
                    </a:lnR>
                    <a:lnB w="6350">
                      <a:solidFill>
                        <a:srgbClr val="BCC6CF"/>
                      </a:solidFill>
                      <a:prstDash val="solid"/>
                    </a:lnB>
                    <a:solidFill>
                      <a:srgbClr val="FFFFFF"/>
                    </a:solidFill>
                  </a:tcPr>
                </a:tc>
              </a:tr>
            </a:tbl>
          </a:graphicData>
        </a:graphic>
      </p:graphicFrame>
      <p:sp>
        <p:nvSpPr>
          <p:cNvPr id="123" name="!!trade.user"/>
          <p:cNvSpPr/>
          <p:nvPr/>
        </p:nvSpPr>
        <p:spPr>
          <ns128:xfrm xmlns:ns128="http://schemas.openxmlformats.org/drawingml/2006/main">
            <ns128:off x="457200" y="4208400"/>
            <ns128:ext cx="8229600" cy="1872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8000"/>
              </ns134:lnSpc>
              <ns134:defRPr sz="1050" b="0">
                <ns134:solidFill>
                  <ns134:srgbClr val="20262C"/>
                </ns134:solidFill>
                <ns134:latin typeface="Arial"/>
                <ns134:ea typeface="Arial"/>
                <ns134:cs typeface="Arial"/>
              </ns134:defRPr>
            </ns134:pPr>
            <ns134:r>
              <ns134:rPr sz="1050" b="0">
                <ns134:solidFill>
                  <ns134:srgbClr val="20262C"/>
                </ns134:solidFill>
                <ns134:latin typeface="Arial"/>
                <ns134:ea typeface="Arial"/>
                <ns134:cs typeface="Arial"/>
              </ns134:rPr>
              <ns134:t>The trader verifies quote sources, timestamps and amounts. The portfolio manager reviews the summary with the trader.</ns134:t>
            </ns134:r>
          </ns134:p>
        </p:txBody>
      </p:sp>
    </p:spTree>
    <p:extLst>
      <p:ext uri="{BB962C8B-B14F-4D97-AF65-F5344CB8AC3E}">
        <p14:creationId xmlns:p14="http://schemas.microsoft.com/office/powerpoint/2010/main" val="3544095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Preparing a quarterly client update</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Client communications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1">
                <ns23:solidFill>
                  <ns23:srgbClr val="005A9C"/>
                </ns23:solidFill>
                <ns23:latin typeface="Arial"/>
                <ns23:ea typeface="Arial"/>
                <ns23:cs typeface="Arial"/>
              </ns23:defRPr>
            </ns23:pPr>
            <ns23:r>
              <ns23:rPr sz="800" b="1">
                <ns23:solidFill>
                  <ns23:srgbClr val="005A9C"/>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client.task"/>
          <p:cNvSpPr/>
          <p:nvPr/>
        </p:nvSpPr>
        <p:spPr>
          <ns38:xfrm xmlns:ns38="http://schemas.openxmlformats.org/drawingml/2006/main">
            <ns38:off x="457200" y="1458000"/>
            <ns38:ext cx="8229600" cy="273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350" b="1">
                <ns44:solidFill>
                  <ns44:srgbClr val="005A9C"/>
                </ns44:solidFill>
                <ns44:latin typeface="Arial"/>
                <ns44:ea typeface="Arial"/>
                <ns44:cs typeface="Arial"/>
              </ns44:defRPr>
            </ns44:pPr>
            <ns44:r>
              <ns44:rPr sz="1350" b="1">
                <ns44:solidFill>
                  <ns44:srgbClr val="005A9C"/>
                </ns44:solidFill>
                <ns44:latin typeface="Arial"/>
                <ns44:ea typeface="Arial"/>
                <ns44:cs typeface="Arial"/>
              </ns44:rPr>
              <ns44:t>A client relationship manager prepares a quarterly update</ns44:t>
            </ns44:r>
          </ns44:p>
        </p:txBody>
      </p:sp>
      <p:sp>
        <p:nvSpPr>
          <p:cNvPr id="108" name="!!client.question.label"/>
          <p:cNvSpPr/>
          <p:nvPr/>
        </p:nvSpPr>
        <p:spPr>
          <ns45:xfrm xmlns:ns45="http://schemas.openxmlformats.org/drawingml/2006/main">
            <ns45:off x="457200" y="1926000"/>
            <ns45:ext cx="3934800" cy="1872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100" b="1">
                <ns51:solidFill>
                  <ns51:srgbClr val="687782"/>
                </ns51:solidFill>
                <ns51:latin typeface="Arial"/>
                <ns51:ea typeface="Arial"/>
                <ns51:cs typeface="Arial"/>
              </ns51:defRPr>
            </ns51:pPr>
            <ns51:r>
              <ns51:rPr sz="1100" b="1">
                <ns51:solidFill>
                  <ns51:srgbClr val="687782"/>
                </ns51:solidFill>
                <ns51:latin typeface="Arial"/>
                <ns51:ea typeface="Arial"/>
                <ns51:cs typeface="Arial"/>
              </ns51:rPr>
              <ns51:t>The client’s questions</ns51:t>
            </ns51:r>
          </ns51:p>
        </p:txBody>
      </p:sp>
      <p:sp>
        <p:nvSpPr>
          <p:cNvPr id="109" name="!!client.question.text"/>
          <p:cNvSpPr/>
          <p:nvPr/>
        </p:nvSpPr>
        <p:spPr>
          <ns52:xfrm xmlns:ns52="http://schemas.openxmlformats.org/drawingml/2006/main">
            <ns52:off x="457200" y="2185200"/>
            <ns52:ext cx="3934800" cy="774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400" b="0">
                <ns58:solidFill>
                  <ns58:srgbClr val="20262C"/>
                </ns58:solidFill>
                <ns58:latin typeface="Arial"/>
                <ns58:ea typeface="Arial"/>
                <ns58:cs typeface="Arial"/>
              </ns58:defRPr>
            </ns58:pPr>
            <ns58:r>
              <ns58:rPr sz="1400" b="0">
                <ns58:solidFill>
                  <ns58:srgbClr val="20262C"/>
                </ns58:solidFill>
                <ns58:latin typeface="Arial"/>
                <ns58:ea typeface="Arial"/>
                <ns58:cs typeface="Arial"/>
              </ns58:rPr>
              <ns58:t>What changed in Company A’s business this quarter?</ns58:t>
            </ns58:r>
          </ns58:p>
          <ns59:p xmlns:ns59="http://schemas.openxmlformats.org/drawingml/2006/main">
            <ns59:pPr algn="l">
              <ns59:lnSpc>
                <ns59:spcPct val="108000"/>
              </ns59:lnSpc>
              <ns59:defRPr sz="1400" b="0">
                <ns59:solidFill>
                  <ns59:srgbClr val="20262C"/>
                </ns59:solidFill>
                <ns59:latin typeface="Arial"/>
                <ns59:ea typeface="Arial"/>
                <ns59:cs typeface="Arial"/>
              </ns59:defRPr>
            </ns59:pPr>
            <ns59:r>
              <ns59:rPr sz="1400" b="0">
                <ns59:solidFill>
                  <ns59:srgbClr val="20262C"/>
                </ns59:solidFill>
                <ns59:latin typeface="Arial"/>
                <ns59:ea typeface="Arial"/>
                <ns59:cs typeface="Arial"/>
              </ns59:rPr>
              <ns59:t>What should we watch next?</ns59:t>
            </ns59:r>
          </ns59:p>
        </p:txBody>
      </p:sp>
      <p:sp>
        <p:nvSpPr>
          <p:cNvPr id="110" name="!!client.material0"/>
          <p:cNvSpPr/>
          <p:nvPr/>
        </p:nvSpPr>
        <p:spPr>
          <ns60:xfrm xmlns:ns60="http://schemas.openxmlformats.org/drawingml/2006/main">
            <ns60:off x="4752000" y="1926000"/>
            <ns60:ext cx="3934800" cy="352800"/>
          </ns60:xfrm>
          <ns61:prstGeom xmlns:ns61="http://schemas.openxmlformats.org/drawingml/2006/main" prst="rect">
            <ns61:avLst/>
          </ns61:prstGeom>
          <ns62:noFill xmlns:ns62="http://schemas.openxmlformats.org/drawingml/2006/main"/>
          <ns63:ln xmlns:ns63="http://schemas.openxmlformats.org/drawingml/2006/main" w="0">
            <ns63:noFill/>
          </ns63:ln>
        </p:spPr>
        <p:txBody>
          <ns64:bodyPr xmlns:ns64="http://schemas.openxmlformats.org/drawingml/2006/main" wrap="square" lIns="0" rIns="0" tIns="0" bIns="0" anchor="t">
            <ns64:noAutofit/>
          </ns64:bodyPr>
          <ns65:lstStyle xmlns:ns65="http://schemas.openxmlformats.org/drawingml/2006/main"/>
          <ns66:p xmlns:ns66="http://schemas.openxmlformats.org/drawingml/2006/main">
            <ns66:pPr algn="l">
              <ns66:lnSpc>
                <ns66:spcPct val="108000"/>
              </ns66:lnSpc>
              <ns66:defRPr sz="1250" b="0">
                <ns66:solidFill>
                  <ns66:srgbClr val="7363A6"/>
                </ns66:solidFill>
                <ns66:latin typeface="Arial"/>
                <ns66:ea typeface="Arial"/>
                <ns66:cs typeface="Arial"/>
              </ns66:defRPr>
            </ns66:pPr>
            <ns66:r>
              <ns66:rPr sz="1250" b="0">
                <ns66:solidFill>
                  <ns66:srgbClr val="7363A6"/>
                </ns66:solidFill>
                <ns66:latin typeface="Arial"/>
                <ns66:ea typeface="Arial"/>
                <ns66:cs typeface="Arial"/>
              </ns66:rPr>
              <ns66:t>Portfolio managers’ investment views</ns66:t>
            </ns66:r>
          </ns66:p>
        </p:txBody>
      </p:sp>
      <p:cxnSp>
        <p:nvCxnSpPr>
          <p:cNvPr id="111" name="client.material.rule.0"/>
          <p:cNvCxnSpPr/>
          <p:nvPr/>
        </p:nvCxnSpPr>
        <p:spPr>
          <ns67:xfrm xmlns:ns67="http://schemas.openxmlformats.org/drawingml/2006/main">
            <ns67:off x="4752000" y="2293200"/>
            <ns67:ext cx="3934800" cy="1"/>
          </ns67:xfrm>
          <ns68:prstGeom xmlns:ns68="http://schemas.openxmlformats.org/drawingml/2006/main" prst="line">
            <ns68:avLst/>
          </ns68:prstGeom>
          <ns69:ln xmlns:ns69="http://schemas.openxmlformats.org/drawingml/2006/main" w="6350">
            <ns69:solidFill>
              <ns69:srgbClr val="CCD5DA"/>
            </ns69:solidFill>
          </ns69:ln>
        </p:spPr>
      </p:cxnSp>
      <p:sp>
        <p:nvSpPr>
          <p:cNvPr id="112" name="!!client.material1"/>
          <p:cNvSpPr/>
          <p:nvPr/>
        </p:nvSpPr>
        <p:spPr>
          <ns70:xfrm xmlns:ns70="http://schemas.openxmlformats.org/drawingml/2006/main">
            <ns70:off x="4752000" y="2394000"/>
            <ns70:ext cx="3934800" cy="3528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1250" b="0">
                <ns76:solidFill>
                  <ns76:srgbClr val="7363A6"/>
                </ns76:solidFill>
                <ns76:latin typeface="Arial"/>
                <ns76:ea typeface="Arial"/>
                <ns76:cs typeface="Arial"/>
              </ns76:defRPr>
            </ns76:pPr>
            <ns76:r>
              <ns76:rPr sz="1250" b="0">
                <ns76:solidFill>
                  <ns76:srgbClr val="7363A6"/>
                </ns76:solidFill>
                <ns76:latin typeface="Arial"/>
                <ns76:ea typeface="Arial"/>
                <ns76:cs typeface="Arial"/>
              </ns76:rPr>
              <ns76:t>Product documentation</ns76:t>
            </ns76:r>
          </ns76:p>
        </p:txBody>
      </p:sp>
      <p:cxnSp>
        <p:nvCxnSpPr>
          <p:cNvPr id="113" name="client.material.rule.1"/>
          <p:cNvCxnSpPr/>
          <p:nvPr/>
        </p:nvCxnSpPr>
        <p:spPr>
          <ns77:xfrm xmlns:ns77="http://schemas.openxmlformats.org/drawingml/2006/main">
            <ns77:off x="4752000" y="2761200"/>
            <ns77:ext cx="3934800" cy="1"/>
          </ns77:xfrm>
          <ns78:prstGeom xmlns:ns78="http://schemas.openxmlformats.org/drawingml/2006/main" prst="line">
            <ns78:avLst/>
          </ns78:prstGeom>
          <ns79:ln xmlns:ns79="http://schemas.openxmlformats.org/drawingml/2006/main" w="6350">
            <ns79:solidFill>
              <ns79:srgbClr val="CCD5DA"/>
            </ns79:solidFill>
          </ns79:ln>
        </p:spPr>
      </p:cxnSp>
      <p:sp>
        <p:nvSpPr>
          <p:cNvPr id="114" name="!!client.material2"/>
          <p:cNvSpPr/>
          <p:nvPr/>
        </p:nvSpPr>
        <p:spPr>
          <ns80:xfrm xmlns:ns80="http://schemas.openxmlformats.org/drawingml/2006/main">
            <ns80:off x="4752000" y="2862000"/>
            <ns80:ext cx="3934800" cy="3528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250" b="0">
                <ns86:solidFill>
                  <ns86:srgbClr val="7363A6"/>
                </ns86:solidFill>
                <ns86:latin typeface="Arial"/>
                <ns86:ea typeface="Arial"/>
                <ns86:cs typeface="Arial"/>
              </ns86:defRPr>
            </ns86:pPr>
            <ns86:r>
              <ns86:rPr sz="1250" b="0">
                <ns86:solidFill>
                  <ns86:srgbClr val="7363A6"/>
                </ns86:solidFill>
                <ns86:latin typeface="Arial"/>
                <ns86:ea typeface="Arial"/>
                <ns86:cs typeface="Arial"/>
              </ns86:rPr>
              <ns86:t>Previous client communications</ns86:t>
            </ns86:r>
          </ns86:p>
        </p:txBody>
      </p:sp>
      <p:cxnSp>
        <p:nvCxnSpPr>
          <p:cNvPr id="115" name="client.material.rule.2"/>
          <p:cNvCxnSpPr/>
          <p:nvPr/>
        </p:nvCxnSpPr>
        <p:spPr>
          <ns87:xfrm xmlns:ns87="http://schemas.openxmlformats.org/drawingml/2006/main">
            <ns87:off x="4752000" y="3229200"/>
            <ns87:ext cx="3934800" cy="1"/>
          </ns87:xfrm>
          <ns88:prstGeom xmlns:ns88="http://schemas.openxmlformats.org/drawingml/2006/main" prst="line">
            <ns88:avLst/>
          </ns88:prstGeom>
          <ns89:ln xmlns:ns89="http://schemas.openxmlformats.org/drawingml/2006/main" w="6350">
            <ns89:solidFill>
              <ns89:srgbClr val="CCD5DA"/>
            </ns89:solidFill>
          </ns89:ln>
        </p:spPr>
      </p:cxnSp>
      <p:sp>
        <p:nvSpPr>
          <p:cNvPr id="116" name="!!client.manual.title"/>
          <p:cNvSpPr/>
          <p:nvPr/>
        </p:nvSpPr>
        <p:spPr>
          <ns90:xfrm xmlns:ns90="http://schemas.openxmlformats.org/drawingml/2006/main">
            <ns90:off x="457200" y="3340800"/>
            <ns90:ext cx="8229600" cy="2160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8000"/>
              </ns96:lnSpc>
              <ns96:defRPr sz="1250" b="1">
                <ns96:solidFill>
                  <ns96:srgbClr val="005A9C"/>
                </ns96:solidFill>
                <ns96:latin typeface="Arial"/>
                <ns96:ea typeface="Arial"/>
                <ns96:cs typeface="Arial"/>
              </ns96:defRPr>
            </ns96:pPr>
            <ns96:r>
              <ns96:rPr sz="1250" b="1">
                <ns96:solidFill>
                  <ns96:srgbClr val="005A9C"/>
                </ns96:solidFill>
                <ns96:latin typeface="Arial"/>
                <ns96:ea typeface="Arial"/>
                <ns96:cs typeface="Arial"/>
              </ns96:rPr>
              <ns96:t>Work repeated for each update</ns96:t>
            </ns96:r>
          </ns96:p>
        </p:txBody>
      </p:sp>
      <p:sp>
        <p:nvSpPr>
          <p:cNvPr id="117" name="!!client.manual.0"/>
          <p:cNvSpPr/>
          <p:nvPr/>
        </p:nvSpPr>
        <p:spPr>
          <ns97:xfrm xmlns:ns97="http://schemas.openxmlformats.org/drawingml/2006/main">
            <ns97:off x="457200" y="3690000"/>
            <ns97:ext cx="2559600" cy="378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200" b="1">
                <ns103:solidFill>
                  <ns103:srgbClr val="20262C"/>
                </ns103:solidFill>
                <ns103:latin typeface="Arial"/>
                <ns103:ea typeface="Arial"/>
                <ns103:cs typeface="Arial"/>
              </ns103:defRPr>
            </ns103:pPr>
            <ns103:r>
              <ns103:rPr sz="1200" b="1">
                <ns103:solidFill>
                  <ns103:srgbClr val="20262C"/>
                </ns103:solidFill>
                <ns103:latin typeface="Arial"/>
                <ns103:ea typeface="Arial"/>
                <ns103:cs typeface="Arial"/>
              </ns103:rPr>
              <ns103:t>Find the relevant views</ns103:t>
            </ns103:r>
          </ns103:p>
        </p:txBody>
      </p:sp>
      <p:cxnSp>
        <p:nvCxnSpPr>
          <p:cNvPr id="118" name="client.manual.flow.0"/>
          <p:cNvCxnSpPr/>
          <p:nvPr/>
        </p:nvCxnSpPr>
        <p:spPr>
          <ns104:xfrm xmlns:ns104="http://schemas.openxmlformats.org/drawingml/2006/main">
            <ns104:off x="3060000" y="3848400"/>
            <ns104:ext cx="190800" cy="1"/>
          </ns104:xfrm>
          <ns105:prstGeom xmlns:ns105="http://schemas.openxmlformats.org/drawingml/2006/main" prst="line">
            <ns105:avLst/>
          </ns105:prstGeom>
          <ns106:ln xmlns:ns106="http://schemas.openxmlformats.org/drawingml/2006/main" w="9525">
            <ns106:solidFill>
              <ns106:srgbClr val="005A9C"/>
            </ns106:solidFill>
            <ns106:tailEnd type="triangle" w="sm" len="sm"/>
          </ns106:ln>
        </p:spPr>
      </p:cxnSp>
      <p:sp>
        <p:nvSpPr>
          <p:cNvPr id="119" name="!!client.manual.1"/>
          <p:cNvSpPr/>
          <p:nvPr/>
        </p:nvSpPr>
        <p:spPr>
          <ns107:xfrm xmlns:ns107="http://schemas.openxmlformats.org/drawingml/2006/main">
            <ns107:off x="3294000" y="3690000"/>
            <ns107:ext cx="2556000" cy="3780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8000"/>
              </ns113:lnSpc>
              <ns113:defRPr sz="1200" b="1">
                <ns113:solidFill>
                  <ns113:srgbClr val="20262C"/>
                </ns113:solidFill>
                <ns113:latin typeface="Arial"/>
                <ns113:ea typeface="Arial"/>
                <ns113:cs typeface="Arial"/>
              </ns113:defRPr>
            </ns113:pPr>
            <ns113:r>
              <ns113:rPr sz="1200" b="1">
                <ns113:solidFill>
                  <ns113:srgbClr val="20262C"/>
                </ns113:solidFill>
                <ns113:latin typeface="Arial"/>
                <ns113:ea typeface="Arial"/>
                <ns113:cs typeface="Arial"/>
              </ns113:rPr>
              <ns113:t>Confirm the fund and reporting period</ns113:t>
            </ns113:r>
          </ns113:p>
        </p:txBody>
      </p:sp>
      <p:cxnSp>
        <p:nvCxnSpPr>
          <p:cNvPr id="120" name="client.manual.flow.1"/>
          <p:cNvCxnSpPr/>
          <p:nvPr/>
        </p:nvCxnSpPr>
        <p:spPr>
          <ns114:xfrm xmlns:ns114="http://schemas.openxmlformats.org/drawingml/2006/main">
            <ns114:off x="5893200" y="3848400"/>
            <ns114:ext cx="190800" cy="1"/>
          </ns114:xfrm>
          <ns115:prstGeom xmlns:ns115="http://schemas.openxmlformats.org/drawingml/2006/main" prst="line">
            <ns115:avLst/>
          </ns115:prstGeom>
          <ns116:ln xmlns:ns116="http://schemas.openxmlformats.org/drawingml/2006/main" w="9525">
            <ns116:solidFill>
              <ns116:srgbClr val="005A9C"/>
            </ns116:solidFill>
            <ns116:tailEnd type="triangle" w="sm" len="sm"/>
          </ns116:ln>
        </p:spPr>
      </p:cxnSp>
      <p:sp>
        <p:nvSpPr>
          <p:cNvPr id="121" name="!!client.manual.2"/>
          <p:cNvSpPr/>
          <p:nvPr/>
        </p:nvSpPr>
        <p:spPr>
          <ns117:xfrm xmlns:ns117="http://schemas.openxmlformats.org/drawingml/2006/main">
            <ns117:off x="6127200" y="3690000"/>
            <ns117:ext cx="2559600" cy="3780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8000"/>
              </ns123:lnSpc>
              <ns123:defRPr sz="1200" b="1">
                <ns123:solidFill>
                  <ns123:srgbClr val="20262C"/>
                </ns123:solidFill>
                <ns123:latin typeface="Arial"/>
                <ns123:ea typeface="Arial"/>
                <ns123:cs typeface="Arial"/>
              </ns123:defRPr>
            </ns123:pPr>
            <ns123:r>
              <ns123:rPr sz="1200" b="1">
                <ns123:solidFill>
                  <ns123:srgbClr val="20262C"/>
                </ns123:solidFill>
                <ns123:latin typeface="Arial"/>
                <ns123:ea typeface="Arial"/>
                <ns123:cs typeface="Arial"/>
              </ns123:rPr>
              <ns123:t>Adapt the content to the client’s questions</ns123:t>
            </ns123:r>
          </ns123:p>
        </p:txBody>
      </p:sp>
      <p:sp>
        <p:nvSpPr>
          <p:cNvPr id="122" name="!!client.repetition"/>
          <p:cNvSpPr/>
          <p:nvPr/>
        </p:nvSpPr>
        <p:spPr>
          <ns124:xfrm xmlns:ns124="http://schemas.openxmlformats.org/drawingml/2006/main">
            <ns124:off x="457200" y="4230000"/>
            <ns124:ext cx="8229600" cy="1872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050" b="0">
                <ns130:solidFill>
                  <ns130:srgbClr val="20262C"/>
                </ns130:solidFill>
                <ns130:latin typeface="Arial"/>
                <ns130:ea typeface="Arial"/>
                <ns130:cs typeface="Arial"/>
              </ns130:defRPr>
            </ns130:pPr>
            <ns130:r>
              <ns130:rPr sz="1050" b="0">
                <ns130:solidFill>
                  <ns130:srgbClr val="20262C"/>
                </ns130:solidFill>
                <ns130:latin typeface="Arial"/>
                <ns130:ea typeface="Arial"/>
                <ns130:cs typeface="Arial"/>
              </ns130:rPr>
              <ns130:t>The same source material supports client updates, product Q&amp;A and RFP responses.</ns130:t>
            </ns130:r>
          </ns130:p>
        </p:txBody>
      </p:sp>
    </p:spTree>
    <p:extLst>
      <p:ext uri="{BB962C8B-B14F-4D97-AF65-F5344CB8AC3E}">
        <p14:creationId xmlns:p14="http://schemas.microsoft.com/office/powerpoint/2010/main" val="13401618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Tianhong: investment views and market commentary</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Client communications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client.views.head"/>
          <p:cNvSpPr/>
          <p:nvPr/>
        </p:nvSpPr>
        <p:spPr>
          <ns45:xfrm xmlns:ns45="http://schemas.openxmlformats.org/drawingml/2006/main">
            <ns45:off x="457200" y="1458000"/>
            <ns45:ext cx="8229600" cy="378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Tianhong uses LLMs to consolidate recent investment views by portfolio manager or product.</ns51:t>
            </ns51:r>
          </ns51:p>
        </p:txBody>
      </p:sp>
      <p:sp>
        <p:nvSpPr>
          <p:cNvPr id="109" name="!!client.views.source.label"/>
          <p:cNvSpPr/>
          <p:nvPr/>
        </p:nvSpPr>
        <p:spPr>
          <ns52:xfrm xmlns:ns52="http://schemas.openxmlformats.org/drawingml/2006/main">
            <ns52:off x="457200" y="2034000"/>
            <ns52:ext cx="3934800" cy="306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00" b="1">
                <ns58:solidFill>
                  <ns58:srgbClr val="687782"/>
                </ns58:solidFill>
                <ns58:latin typeface="Arial"/>
                <ns58:ea typeface="Arial"/>
                <ns58:cs typeface="Arial"/>
              </ns58:defRPr>
            </ns58:pPr>
            <ns58:r>
              <ns58:rPr sz="1100" b="1">
                <ns58:solidFill>
                  <ns58:srgbClr val="687782"/>
                </ns58:solidFill>
                <ns58:latin typeface="Arial"/>
                <ns58:ea typeface="Arial"/>
                <ns58:cs typeface="Arial"/>
              </ns58:rPr>
              <ns58:t>Presentations, commentary and reports</ns58:t>
            </ns58:r>
          </ns58:p>
        </p:txBody>
      </p:sp>
      <p:sp>
        <p:nvSpPr>
          <p:cNvPr id="110" name="!!client.views.source.text"/>
          <p:cNvSpPr/>
          <p:nvPr/>
        </p:nvSpPr>
        <p:spPr>
          <ns59:xfrm xmlns:ns59="http://schemas.openxmlformats.org/drawingml/2006/main">
            <ns59:off x="457200" y="2394000"/>
            <ns59:ext cx="3934800" cy="7020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8000"/>
              </ns65:lnSpc>
              <ns65:defRPr sz="1250" b="0">
                <ns65:solidFill>
                  <ns65:srgbClr val="20262C"/>
                </ns65:solidFill>
                <ns65:latin typeface="Arial"/>
                <ns65:ea typeface="Arial"/>
                <ns65:cs typeface="Arial"/>
              </ns65:defRPr>
            </ns65:pPr>
            <ns65:r>
              <ns65:rPr sz="1250" b="0">
                <ns65:solidFill>
                  <ns65:srgbClr val="20262C"/>
                </ns65:solidFill>
                <ns65:latin typeface="Arial"/>
                <ns65:ea typeface="Arial"/>
                <ns65:cs typeface="Arial"/>
              </ns65:rPr>
              <ns65:t>“Company A’s revenue rose as sales volumes increased.</ns65:t>
            </ns65:r>
          </ns65:p>
          <ns66:p xmlns:ns66="http://schemas.openxmlformats.org/drawingml/2006/main">
            <ns66:pPr algn="l">
              <ns66:lnSpc>
                <ns66:spcPct val="108000"/>
              </ns66:lnSpc>
              <ns66:defRPr sz="1250" b="0">
                <ns66:solidFill>
                  <ns66:srgbClr val="20262C"/>
                </ns66:solidFill>
                <ns66:latin typeface="Arial"/>
                <ns66:ea typeface="Arial"/>
                <ns66:cs typeface="Arial"/>
              </ns66:defRPr>
            </ns66:pPr>
            <ns66:r>
              <ns66:rPr sz="1250" b="0">
                <ns66:solidFill>
                  <ns66:srgbClr val="20262C"/>
                </ns66:solidFill>
                <ns66:latin typeface="Arial"/>
                <ns66:ea typeface="Arial"/>
                <ns66:cs typeface="Arial"/>
              </ns66:rPr>
              <ns66:t>We are watching raw-material costs.”</ns66:t>
            </ns66:r>
          </ns66:p>
        </p:txBody>
      </p:sp>
      <p:sp>
        <p:nvSpPr>
          <p:cNvPr id="111" name="!!client.views.llm.role"/>
          <p:cNvSpPr/>
          <p:nvPr/>
        </p:nvSpPr>
        <p:spPr>
          <ns67:xfrm xmlns:ns67="http://schemas.openxmlformats.org/drawingml/2006/main">
            <ns67:off x="4752000" y="2034000"/>
            <ns67:ext cx="3934800" cy="223200"/>
          </ns67:xfrm>
          <ns68:prstGeom xmlns:ns68="http://schemas.openxmlformats.org/drawingml/2006/main" prst="rect">
            <ns68:avLst/>
          </ns68:prstGeom>
          <ns69:noFill xmlns:ns69="http://schemas.openxmlformats.org/drawingml/2006/main"/>
          <ns70:ln xmlns:ns70="http://schemas.openxmlformats.org/drawingml/2006/main" w="0">
            <ns70:noFill/>
          </ns70:ln>
        </p:spPr>
        <p:txBody>
          <ns71:bodyPr xmlns:ns71="http://schemas.openxmlformats.org/drawingml/2006/main" wrap="square" lIns="0" rIns="0" tIns="0" bIns="0" anchor="t">
            <ns71:noAutofit/>
          </ns71:bodyPr>
          <ns72:lstStyle xmlns:ns72="http://schemas.openxmlformats.org/drawingml/2006/main"/>
          <ns73:p xmlns:ns73="http://schemas.openxmlformats.org/drawingml/2006/main">
            <ns73:pPr algn="l">
              <ns73:lnSpc>
                <ns73:spcPct val="108000"/>
              </ns73:lnSpc>
              <ns73:defRPr sz="1300" b="1">
                <ns73:solidFill>
                  <ns73:srgbClr val="005A9C"/>
                </ns73:solidFill>
                <ns73:latin typeface="Arial"/>
                <ns73:ea typeface="Arial"/>
                <ns73:cs typeface="Arial"/>
              </ns73:defRPr>
            </ns73:pPr>
            <ns73:r>
              <ns73:rPr sz="1300" b="1">
                <ns73:solidFill>
                  <ns73:srgbClr val="005A9C"/>
                </ns73:solidFill>
                <ns73:latin typeface="Arial"/>
                <ns73:ea typeface="Arial"/>
                <ns73:cs typeface="Arial"/>
              </ns73:rPr>
              <ns73:t>LLM prepares a summary</ns73:t>
            </ns73:r>
          </ns73:p>
        </p:txBody>
      </p:sp>
      <p:cxnSp>
        <p:nvCxnSpPr>
          <p:cNvPr id="112" name="client.views.llm.role.rule"/>
          <p:cNvCxnSpPr/>
          <p:nvPr/>
        </p:nvCxnSpPr>
        <p:spPr>
          <ns74:xfrm xmlns:ns74="http://schemas.openxmlformats.org/drawingml/2006/main">
            <ns74:off x="4752000" y="2293200"/>
            <ns74:ext cx="3934800" cy="1"/>
          </ns74:xfrm>
          <ns75:prstGeom xmlns:ns75="http://schemas.openxmlformats.org/drawingml/2006/main" prst="line">
            <ns75:avLst/>
          </ns75:prstGeom>
          <ns76:ln xmlns:ns76="http://schemas.openxmlformats.org/drawingml/2006/main" w="12700">
            <ns76:solidFill>
              <ns76:srgbClr val="005A9C"/>
            </ns76:solidFill>
          </ns76:ln>
        </p:spPr>
      </p:cxnSp>
      <p:sp>
        <p:nvSpPr>
          <p:cNvPr id="113" name="!!client.views.llm.body"/>
          <p:cNvSpPr/>
          <p:nvPr/>
        </p:nvSpPr>
        <p:spPr>
          <ns77:xfrm xmlns:ns77="http://schemas.openxmlformats.org/drawingml/2006/main">
            <ns77:off x="4752000" y="2433600"/>
            <ns77:ext cx="3934800" cy="666000"/>
          </ns77:xfrm>
          <ns78:prstGeom xmlns:ns78="http://schemas.openxmlformats.org/drawingml/2006/main" prst="rect">
            <ns78:avLst/>
          </ns78:prstGeom>
          <ns79:noFill xmlns:ns79="http://schemas.openxmlformats.org/drawingml/2006/main"/>
          <ns80:ln xmlns:ns80="http://schemas.openxmlformats.org/drawingml/2006/main" w="0">
            <ns80:noFill/>
          </ns80:ln>
        </p:spPr>
        <p:txBody>
          <ns81:bodyPr xmlns:ns81="http://schemas.openxmlformats.org/drawingml/2006/main" wrap="square" lIns="0" rIns="0" tIns="0" bIns="0" anchor="t">
            <ns81:noAutofit/>
          </ns81:bodyPr>
          <ns82:lstStyle xmlns:ns82="http://schemas.openxmlformats.org/drawingml/2006/main"/>
          <ns83:p xmlns:ns83="http://schemas.openxmlformats.org/drawingml/2006/main">
            <ns83:pPr algn="l">
              <ns83:lnSpc>
                <ns83:spcPct val="108000"/>
              </ns83:lnSpc>
              <ns83:defRPr sz="1200" b="0">
                <ns83:solidFill>
                  <ns83:srgbClr val="20262C"/>
                </ns83:solidFill>
                <ns83:latin typeface="Arial"/>
                <ns83:ea typeface="Arial"/>
                <ns83:cs typeface="Arial"/>
              </ns83:defRPr>
            </ns83:pPr>
            <ns83:r>
              <ns83:rPr sz="1200" b="0">
                <ns83:solidFill>
                  <ns83:srgbClr val="20262C"/>
                </ns83:solidFill>
                <ns83:latin typeface="Arial"/>
                <ns83:ea typeface="Arial"/>
                <ns83:cs typeface="Arial"/>
              </ns83:rPr>
              <ns83:t>Find the relevant views</ns83:t>
            </ns83:r>
          </ns83:p>
          <ns84:p xmlns:ns84="http://schemas.openxmlformats.org/drawingml/2006/main">
            <ns84:pPr algn="l">
              <ns84:lnSpc>
                <ns84:spcPct val="108000"/>
              </ns84:lnSpc>
              <ns84:defRPr sz="1200" b="0">
                <ns84:solidFill>
                  <ns84:srgbClr val="20262C"/>
                </ns84:solidFill>
                <ns84:latin typeface="Arial"/>
                <ns84:ea typeface="Arial"/>
                <ns84:cs typeface="Arial"/>
              </ns84:defRPr>
            </ns84:pPr>
            <ns84:r>
              <ns84:rPr sz="1200" b="0">
                <ns84:solidFill>
                  <ns84:srgbClr val="20262C"/>
                </ns84:solidFill>
                <ns84:latin typeface="Arial"/>
                <ns84:ea typeface="Arial"/>
                <ns84:cs typeface="Arial"/>
              </ns84:rPr>
              <ns84:t>Remove duplication</ns84:t>
            </ns84:r>
          </ns84:p>
          <ns85:p xmlns:ns85="http://schemas.openxmlformats.org/drawingml/2006/main">
            <ns85:pPr algn="l">
              <ns85:lnSpc>
                <ns85:spcPct val="108000"/>
              </ns85:lnSpc>
              <ns85:defRPr sz="1200" b="0">
                <ns85:solidFill>
                  <ns85:srgbClr val="20262C"/>
                </ns85:solidFill>
                <ns85:latin typeface="Arial"/>
                <ns85:ea typeface="Arial"/>
                <ns85:cs typeface="Arial"/>
              </ns85:defRPr>
            </ns85:pPr>
            <ns85:r>
              <ns85:rPr sz="1200" b="0">
                <ns85:solidFill>
                  <ns85:srgbClr val="20262C"/>
                </ns85:solidFill>
                <ns85:latin typeface="Arial"/>
                <ns85:ea typeface="Arial"/>
                <ns85:cs typeface="Arial"/>
              </ns85:rPr>
              <ns85:t>Write a clear client explanation</ns85:t>
            </ns85:r>
          </ns85:p>
        </p:txBody>
      </p:sp>
      <p:sp>
        <p:nvSpPr>
          <p:cNvPr id="114" name="client.summary.output"/>
          <p:cNvSpPr/>
          <p:nvPr/>
        </p:nvSpPr>
        <p:spPr>
          <ns86:xfrm xmlns:ns86="http://schemas.openxmlformats.org/drawingml/2006/main">
            <ns86:off x="457200" y="3420000"/>
            <ns86:ext cx="8229600" cy="640800"/>
          </ns86:xfrm>
          <ns87:prstGeom xmlns:ns87="http://schemas.openxmlformats.org/drawingml/2006/main" prst="rect">
            <ns87:avLst/>
          </ns87:prstGeom>
          <ns88:solidFill xmlns:ns88="http://schemas.openxmlformats.org/drawingml/2006/main">
            <ns88:srgbClr val="F3F0F8"/>
          </ns88:solidFill>
          <ns89:ln xmlns:ns89="http://schemas.openxmlformats.org/drawingml/2006/main" w="0">
            <ns89:noFill/>
          </ns89:ln>
        </p:spPr>
      </p:sp>
      <p:sp>
        <p:nvSpPr>
          <p:cNvPr id="115" name="!!client.views.result.title"/>
          <p:cNvSpPr/>
          <p:nvPr/>
        </p:nvSpPr>
        <p:spPr>
          <ns90:xfrm xmlns:ns90="http://schemas.openxmlformats.org/drawingml/2006/main">
            <ns90:off x="561600" y="3517200"/>
            <ns90:ext cx="2419200" cy="4032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8000"/>
              </ns96:lnSpc>
              <ns96:defRPr sz="1250" b="1">
                <ns96:solidFill>
                  <ns96:srgbClr val="7363A6"/>
                </ns96:solidFill>
                <ns96:latin typeface="Arial"/>
                <ns96:ea typeface="Arial"/>
                <ns96:cs typeface="Arial"/>
              </ns96:defRPr>
            </ns96:pPr>
            <ns96:r>
              <ns96:rPr sz="1250" b="1">
                <ns96:solidFill>
                  <ns96:srgbClr val="7363A6"/>
                </ns96:solidFill>
                <ns96:latin typeface="Arial"/>
                <ns96:ea typeface="Arial"/>
                <ns96:cs typeface="Arial"/>
              </ns96:rPr>
              <ns96:t>Summary for client-facing teams</ns96:t>
            </ns96:r>
          </ns96:p>
        </p:txBody>
      </p:sp>
      <p:sp>
        <p:nvSpPr>
          <p:cNvPr id="116" name="!!client.views.result.text"/>
          <p:cNvSpPr/>
          <p:nvPr/>
        </p:nvSpPr>
        <p:spPr>
          <ns97:xfrm xmlns:ns97="http://schemas.openxmlformats.org/drawingml/2006/main">
            <ns97:off x="3182400" y="3524400"/>
            <ns97:ext cx="5374800" cy="417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200" b="0">
                <ns103:solidFill>
                  <ns103:srgbClr val="20262C"/>
                </ns103:solidFill>
                <ns103:latin typeface="Arial"/>
                <ns103:ea typeface="Arial"/>
                <ns103:cs typeface="Arial"/>
              </ns103:defRPr>
            </ns103:pPr>
            <ns103:r>
              <ns103:rPr sz="1200" b="0">
                <ns103:solidFill>
                  <ns103:srgbClr val="20262C"/>
                </ns103:solidFill>
                <ns103:latin typeface="Arial"/>
                <ns103:ea typeface="Arial"/>
                <ns103:cs typeface="Arial"/>
              </ns103:rPr>
              <ns103:t>Higher sales volume supported revenue growth.</ns103:t>
            </ns103:r>
          </ns103:p>
          <ns104:p xmlns:ns104="http://schemas.openxmlformats.org/drawingml/2006/main">
            <ns104:pPr algn="l">
              <ns104:lnSpc>
                <ns104:spcPct val="108000"/>
              </ns104:lnSpc>
              <ns104:defRPr sz="1200" b="0">
                <ns104:solidFill>
                  <ns104:srgbClr val="20262C"/>
                </ns104:solidFill>
                <ns104:latin typeface="Arial"/>
                <ns104:ea typeface="Arial"/>
                <ns104:cs typeface="Arial"/>
              </ns104:defRPr>
            </ns104:pPr>
            <ns104:r>
              <ns104:rPr sz="1200" b="0">
                <ns104:solidFill>
                  <ns104:srgbClr val="20262C"/>
                </ns104:solidFill>
                <ns104:latin typeface="Arial"/>
                <ns104:ea typeface="Arial"/>
                <ns104:cs typeface="Arial"/>
              </ns104:rPr>
              <ns104:t>Raw-material costs remain a focus.</ns104:t>
            </ns104:r>
          </ns104:p>
        </p:txBody>
      </p:sp>
      <p:sp>
        <p:nvSpPr>
          <p:cNvPr id="117" name="!!client.views.user"/>
          <p:cNvSpPr/>
          <p:nvPr/>
        </p:nvSpPr>
        <p:spPr>
          <ns105:xfrm xmlns:ns105="http://schemas.openxmlformats.org/drawingml/2006/main">
            <ns105:off x="457200" y="4212000"/>
            <ns105:ext cx="8229600" cy="187200"/>
          </ns105:xfrm>
          <ns106:prstGeom xmlns:ns106="http://schemas.openxmlformats.org/drawingml/2006/main" prst="rect">
            <ns106:avLst/>
          </ns106:prstGeom>
          <ns107:noFill xmlns:ns107="http://schemas.openxmlformats.org/drawingml/2006/main"/>
          <ns108:ln xmlns:ns108="http://schemas.openxmlformats.org/drawingml/2006/main" w="0">
            <ns108:noFill/>
          </ns108:ln>
        </p:spPr>
        <p:txBody>
          <ns109:bodyPr xmlns:ns109="http://schemas.openxmlformats.org/drawingml/2006/main" wrap="square" lIns="0" rIns="0" tIns="0" bIns="0" anchor="t">
            <ns109:noAutofit/>
          </ns109:bodyPr>
          <ns110:lstStyle xmlns:ns110="http://schemas.openxmlformats.org/drawingml/2006/main"/>
          <ns111:p xmlns:ns111="http://schemas.openxmlformats.org/drawingml/2006/main">
            <ns111:pPr algn="l">
              <ns111:lnSpc>
                <ns111:spcPct val="108000"/>
              </ns111:lnSpc>
              <ns111:defRPr sz="1100" b="0">
                <ns111:solidFill>
                  <ns111:srgbClr val="20262C"/>
                </ns111:solidFill>
                <ns111:latin typeface="Arial"/>
                <ns111:ea typeface="Arial"/>
                <ns111:cs typeface="Arial"/>
              </ns111:defRPr>
            </ns111:pPr>
            <ns111:r>
              <ns111:rPr sz="1100" b="0">
                <ns111:solidFill>
                  <ns111:srgbClr val="20262C"/>
                </ns111:solidFill>
                <ns111:latin typeface="Arial"/>
                <ns111:ea typeface="Arial"/>
                <ns111:cs typeface="Arial"/>
              </ns111:rPr>
              <ns111:t>Tianhong also produces weekly sector views and daily market commentary</ns111:t>
            </ns111:r>
          </ns111:p>
        </p:txBody>
      </p:sp>
    </p:spTree>
    <p:extLst>
      <p:ext uri="{BB962C8B-B14F-4D97-AF65-F5344CB8AC3E}">
        <p14:creationId xmlns:p14="http://schemas.microsoft.com/office/powerpoint/2010/main" val="2058932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ICBCUBS: drafting institutional RFP responses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Client communications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ICBCUBS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tender.question"/>
          <p:cNvSpPr/>
          <p:nvPr/>
        </p:nvSpPr>
        <p:spPr>
          <ns45:xfrm xmlns:ns45="http://schemas.openxmlformats.org/drawingml/2006/main">
            <ns45:off x="457200" y="1458000"/>
            <ns45:ext cx="8229600" cy="306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Institutional client: how is your investment research process organized?</ns51:t>
            </ns51:r>
          </ns51:p>
        </p:txBody>
      </p:sp>
      <p:sp>
        <p:nvSpPr>
          <p:cNvPr id="109" name="!!tender.source.label"/>
          <p:cNvSpPr/>
          <p:nvPr/>
        </p:nvSpPr>
        <p:spPr>
          <ns52:xfrm xmlns:ns52="http://schemas.openxmlformats.org/drawingml/2006/main">
            <ns52:off x="457200" y="1962000"/>
            <ns52:ext cx="2480400" cy="367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200" b="1">
                <ns58:solidFill>
                  <ns58:srgbClr val="005A9C"/>
                </ns58:solidFill>
                <ns58:latin typeface="Arial"/>
                <ns58:ea typeface="Arial"/>
                <ns58:cs typeface="Arial"/>
              </ns58:defRPr>
            </ns58:pPr>
            <ns58:r>
              <ns58:rPr sz="1200" b="1">
                <ns58:solidFill>
                  <ns58:srgbClr val="005A9C"/>
                </ns58:solidFill>
                <ns58:latin typeface="Arial"/>
                <ns58:ea typeface="Arial"/>
                <ns58:cs typeface="Arial"/>
              </ns58:rPr>
              <ns58:t>Internal reference material</ns58:t>
            </ns58:r>
          </ns58:p>
        </p:txBody>
      </p:sp>
      <p:cxnSp>
        <p:nvCxnSpPr>
          <p:cNvPr id="110" name="tender.source.label.rule"/>
          <p:cNvCxnSpPr/>
          <p:nvPr/>
        </p:nvCxnSpPr>
        <p:spPr>
          <ns59:xfrm xmlns:ns59="http://schemas.openxmlformats.org/drawingml/2006/main">
            <ns59:off x="457200" y="2365200"/>
            <ns59:ext cx="2480400" cy="1"/>
          </ns59:xfrm>
          <ns60:prstGeom xmlns:ns60="http://schemas.openxmlformats.org/drawingml/2006/main" prst="line">
            <ns60:avLst/>
          </ns60:prstGeom>
          <ns61:ln xmlns:ns61="http://schemas.openxmlformats.org/drawingml/2006/main" w="12700">
            <ns61:solidFill>
              <ns61:srgbClr val="005A9C"/>
            </ns61:solidFill>
          </ns61:ln>
        </p:spPr>
      </p:cxnSp>
      <p:sp>
        <p:nvSpPr>
          <p:cNvPr id="111" name="!!tender.source.text"/>
          <p:cNvSpPr/>
          <p:nvPr/>
        </p:nvSpPr>
        <p:spPr>
          <ns62:xfrm xmlns:ns62="http://schemas.openxmlformats.org/drawingml/2006/main">
            <ns62:off x="457200" y="2458800"/>
            <ns62:ext cx="2480400" cy="1281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50" b="0">
                <ns68:solidFill>
                  <ns68:srgbClr val="20262C"/>
                </ns68:solidFill>
                <ns68:latin typeface="Arial"/>
                <ns68:ea typeface="Arial"/>
                <ns68:cs typeface="Arial"/>
              </ns68:defRPr>
            </ns68:pPr>
            <ns68:r>
              <ns68:rPr sz="1150" b="0">
                <ns68:solidFill>
                  <ns68:srgbClr val="20262C"/>
                </ns68:solidFill>
                <ns68:latin typeface="Arial"/>
                <ns68:ea typeface="Arial"/>
                <ns68:cs typeface="Arial"/>
              </ns68:rPr>
              <ns68:t>Research process description:</ns68:t>
            </ns68:r>
          </ns68:p>
          <ns69:p xmlns:ns69="http://schemas.openxmlformats.org/drawingml/2006/main">
            <ns69:pPr algn="l">
              <ns69:lnSpc>
                <ns69:spcPct val="108000"/>
              </ns69:lnSpc>
              <ns69:defRPr sz="1150" b="0">
                <ns69:solidFill>
                  <ns69:srgbClr val="20262C"/>
                </ns69:solidFill>
                <ns69:latin typeface="Arial"/>
                <ns69:ea typeface="Arial"/>
                <ns69:cs typeface="Arial"/>
              </ns69:defRPr>
            </ns69:pPr>
            <ns69:r>
              <ns69:rPr sz="1150" b="0">
                <ns69:solidFill>
                  <ns69:srgbClr val="20262C"/>
                </ns69:solidFill>
                <ns69:latin typeface="Arial"/>
                <ns69:ea typeface="Arial"/>
                <ns69:cs typeface="Arial"/>
              </ns69:rPr>
              <ns69:t>Analysts prepare company research.</ns69:t>
            </ns69:r>
          </ns69:p>
          <ns70:p xmlns:ns70="http://schemas.openxmlformats.org/drawingml/2006/main">
            <ns70:pPr algn="l">
              <ns70:lnSpc>
                <ns70:spcPct val="108000"/>
              </ns70:lnSpc>
              <ns70:defRPr sz="1150" b="0">
                <ns70:solidFill>
                  <ns70:srgbClr val="20262C"/>
                </ns70:solidFill>
                <ns70:latin typeface="Arial"/>
                <ns70:ea typeface="Arial"/>
                <ns70:cs typeface="Arial"/>
              </ns70:defRPr>
            </ns70:pPr>
            <ns70:r>
              <ns70:rPr sz="1150" b="0">
                <ns70:solidFill>
                  <ns70:srgbClr val="20262C"/>
                </ns70:solidFill>
                <ns70:latin typeface="Arial"/>
                <ns70:ea typeface="Arial"/>
                <ns70:cs typeface="Arial"/>
              </ns70:rPr>
              <ns70:t>Portfolio managers discuss the view.</ns70:t>
            </ns70:r>
          </ns70:p>
        </p:txBody>
      </p:sp>
      <p:cxnSp>
        <p:nvCxnSpPr>
          <p:cNvPr id="112" name="rfp.flow.0"/>
          <p:cNvCxnSpPr/>
          <p:nvPr/>
        </p:nvCxnSpPr>
        <p:spPr>
          <ns71:xfrm xmlns:ns71="http://schemas.openxmlformats.org/drawingml/2006/main">
            <ns71:off x="3052800" y="2880000"/>
            <ns71:ext cx="198000" cy="1"/>
          </ns71:xfrm>
          <ns72:prstGeom xmlns:ns72="http://schemas.openxmlformats.org/drawingml/2006/main" prst="line">
            <ns72:avLst/>
          </ns72:prstGeom>
          <ns73:ln xmlns:ns73="http://schemas.openxmlformats.org/drawingml/2006/main" w="9525">
            <ns73:solidFill>
              <ns73:srgbClr val="005A9C"/>
            </ns73:solidFill>
            <ns73:tailEnd type="triangle" w="sm" len="sm"/>
          </ns73:ln>
        </p:spPr>
      </p:cxnSp>
      <p:sp>
        <p:nvSpPr>
          <p:cNvPr id="113" name="!!tender.llm.role"/>
          <p:cNvSpPr/>
          <p:nvPr/>
        </p:nvSpPr>
        <p:spPr>
          <ns74:xfrm xmlns:ns74="http://schemas.openxmlformats.org/drawingml/2006/main">
            <ns74:off x="3294000" y="1962000"/>
            <ns74:ext cx="2476800" cy="367200"/>
          </ns74:xfrm>
          <ns75:prstGeom xmlns:ns75="http://schemas.openxmlformats.org/drawingml/2006/main" prst="rect">
            <ns75:avLst/>
          </ns75:prstGeom>
          <ns76:noFill xmlns:ns76="http://schemas.openxmlformats.org/drawingml/2006/main"/>
          <ns77:ln xmlns:ns77="http://schemas.openxmlformats.org/drawingml/2006/main" w="0">
            <ns77:noFill/>
          </ns77:ln>
        </p:spPr>
        <p:txBody>
          <ns78:bodyPr xmlns:ns78="http://schemas.openxmlformats.org/drawingml/2006/main" wrap="square" lIns="0" rIns="0" tIns="0" bIns="0" anchor="t">
            <ns78:noAutofit/>
          </ns78:bodyPr>
          <ns79:lstStyle xmlns:ns79="http://schemas.openxmlformats.org/drawingml/2006/main"/>
          <ns80:p xmlns:ns80="http://schemas.openxmlformats.org/drawingml/2006/main">
            <ns80:pPr algn="l">
              <ns80:lnSpc>
                <ns80:spcPct val="108000"/>
              </ns80:lnSpc>
              <ns80:defRPr sz="1200" b="1">
                <ns80:solidFill>
                  <ns80:srgbClr val="005A9C"/>
                </ns80:solidFill>
                <ns80:latin typeface="Arial"/>
                <ns80:ea typeface="Arial"/>
                <ns80:cs typeface="Arial"/>
              </ns80:defRPr>
            </ns80:pPr>
            <ns80:r>
              <ns80:rPr sz="1200" b="1">
                <ns80:solidFill>
                  <ns80:srgbClr val="005A9C"/>
                </ns80:solidFill>
                <ns80:latin typeface="Arial"/>
                <ns80:ea typeface="Arial"/>
                <ns80:cs typeface="Arial"/>
              </ns80:rPr>
              <ns80:t>LLM retrieves sources and drafts responses</ns80:t>
            </ns80:r>
          </ns80:p>
        </p:txBody>
      </p:sp>
      <p:cxnSp>
        <p:nvCxnSpPr>
          <p:cNvPr id="114" name="tender.llm.role.rule"/>
          <p:cNvCxnSpPr/>
          <p:nvPr/>
        </p:nvCxnSpPr>
        <p:spPr>
          <ns81:xfrm xmlns:ns81="http://schemas.openxmlformats.org/drawingml/2006/main">
            <ns81:off x="3294000" y="2365200"/>
            <ns81:ext cx="2476800" cy="1"/>
          </ns81:xfrm>
          <ns82:prstGeom xmlns:ns82="http://schemas.openxmlformats.org/drawingml/2006/main" prst="line">
            <ns82:avLst/>
          </ns82:prstGeom>
          <ns83:ln xmlns:ns83="http://schemas.openxmlformats.org/drawingml/2006/main" w="12700">
            <ns83:solidFill>
              <ns83:srgbClr val="005A9C"/>
            </ns83:solidFill>
          </ns83:ln>
        </p:spPr>
      </p:cxnSp>
      <p:sp>
        <p:nvSpPr>
          <p:cNvPr id="115" name="!!tender.llm.body"/>
          <p:cNvSpPr/>
          <p:nvPr/>
        </p:nvSpPr>
        <p:spPr>
          <ns84:xfrm xmlns:ns84="http://schemas.openxmlformats.org/drawingml/2006/main">
            <ns84:off x="3294000" y="2458800"/>
            <ns84:ext cx="2476800" cy="1281600"/>
          </ns84:xfrm>
          <ns85:prstGeom xmlns:ns85="http://schemas.openxmlformats.org/drawingml/2006/main" prst="rect">
            <ns85:avLst/>
          </ns85:prstGeom>
          <ns86:noFill xmlns:ns86="http://schemas.openxmlformats.org/drawingml/2006/main"/>
          <ns87:ln xmlns:ns87="http://schemas.openxmlformats.org/drawingml/2006/main" w="0">
            <ns87:noFill/>
          </ns87:ln>
        </p:spPr>
        <p:txBody>
          <ns88:bodyPr xmlns:ns88="http://schemas.openxmlformats.org/drawingml/2006/main" wrap="square" lIns="0" rIns="0" tIns="0" bIns="0" anchor="t">
            <ns88:noAutofit/>
          </ns88:bodyPr>
          <ns89:lstStyle xmlns:ns89="http://schemas.openxmlformats.org/drawingml/2006/main"/>
          <ns90:p xmlns:ns90="http://schemas.openxmlformats.org/drawingml/2006/main">
            <ns90:pPr algn="l">
              <ns90:lnSpc>
                <ns90:spcPct val="108000"/>
              </ns90:lnSpc>
              <ns90:defRPr sz="1150" b="0">
                <ns90:solidFill>
                  <ns90:srgbClr val="20262C"/>
                </ns90:solidFill>
                <ns90:latin typeface="Arial"/>
                <ns90:ea typeface="Arial"/>
                <ns90:cs typeface="Arial"/>
              </ns90:defRPr>
            </ns90:pPr>
            <ns90:r>
              <ns90:rPr sz="1150" b="0">
                <ns90:solidFill>
                  <ns90:srgbClr val="20262C"/>
                </ns90:solidFill>
                <ns90:latin typeface="Arial"/>
                <ns90:ea typeface="Arial"/>
                <ns90:cs typeface="Arial"/>
              </ns90:rPr>
              <ns90:t>Retrieve the process description</ns90:t>
            </ns90:r>
          </ns90:p>
          <ns91:p xmlns:ns91="http://schemas.openxmlformats.org/drawingml/2006/main">
            <ns91:pPr algn="l">
              <ns91:lnSpc>
                <ns91:spcPct val="108000"/>
              </ns91:lnSpc>
              <ns91:defRPr sz="1150" b="0">
                <ns91:solidFill>
                  <ns91:srgbClr val="20262C"/>
                </ns91:solidFill>
                <ns91:latin typeface="Arial"/>
                <ns91:ea typeface="Arial"/>
                <ns91:cs typeface="Arial"/>
              </ns91:defRPr>
            </ns91:pPr>
            <ns91:r>
              <ns91:rPr sz="1150" b="0">
                <ns91:solidFill>
                  <ns91:srgbClr val="20262C"/>
                </ns91:solidFill>
                <ns91:latin typeface="Arial"/>
                <ns91:ea typeface="Arial"/>
                <ns91:cs typeface="Arial"/>
              </ns91:rPr>
              <ns91:t>Identify responsibilities</ns91:t>
            </ns91:r>
          </ns91:p>
          <ns92:p xmlns:ns92="http://schemas.openxmlformats.org/drawingml/2006/main">
            <ns92:pPr algn="l">
              <ns92:lnSpc>
                <ns92:spcPct val="108000"/>
              </ns92:lnSpc>
              <ns92:defRPr sz="1150" b="0">
                <ns92:solidFill>
                  <ns92:srgbClr val="20262C"/>
                </ns92:solidFill>
                <ns92:latin typeface="Arial"/>
                <ns92:ea typeface="Arial"/>
                <ns92:cs typeface="Arial"/>
              </ns92:defRPr>
            </ns92:pPr>
            <ns92:r>
              <ns92:rPr sz="1150" b="0">
                <ns92:solidFill>
                  <ns92:srgbClr val="20262C"/>
                </ns92:solidFill>
                <ns92:latin typeface="Arial"/>
                <ns92:ea typeface="Arial"/>
                <ns92:cs typeface="Arial"/>
              </ns92:rPr>
              <ns92:t>Draft the response</ns92:t>
            </ns92:r>
          </ns92:p>
        </p:txBody>
      </p:sp>
      <p:cxnSp>
        <p:nvCxnSpPr>
          <p:cNvPr id="116" name="rfp.flow.1"/>
          <p:cNvCxnSpPr/>
          <p:nvPr/>
        </p:nvCxnSpPr>
        <p:spPr>
          <ns93:xfrm xmlns:ns93="http://schemas.openxmlformats.org/drawingml/2006/main">
            <ns93:off x="5886000" y="2880000"/>
            <ns93:ext cx="118800" cy="1"/>
          </ns93:xfrm>
          <ns94:prstGeom xmlns:ns94="http://schemas.openxmlformats.org/drawingml/2006/main" prst="line">
            <ns94:avLst/>
          </ns94:prstGeom>
          <ns95:ln xmlns:ns95="http://schemas.openxmlformats.org/drawingml/2006/main" w="9525">
            <ns95:solidFill>
              <ns95:srgbClr val="005A9C"/>
            </ns95:solidFill>
            <ns95:tailEnd type="triangle" w="sm" len="sm"/>
          </ns95:ln>
        </p:spPr>
      </p:cxnSp>
      <p:sp>
        <p:nvSpPr>
          <p:cNvPr id="117" name="rfp.document"/>
          <p:cNvSpPr/>
          <p:nvPr/>
        </p:nvSpPr>
        <p:spPr>
          <ns96:xfrm xmlns:ns96="http://schemas.openxmlformats.org/drawingml/2006/main">
            <ns96:off x="6048000" y="1875600"/>
            <ns96:ext cx="2638800" cy="1987200"/>
          </ns96:xfrm>
          <ns97:prstGeom xmlns:ns97="http://schemas.openxmlformats.org/drawingml/2006/main" prst="rect">
            <ns97:avLst/>
          </ns97:prstGeom>
          <ns98:solidFill xmlns:ns98="http://schemas.openxmlformats.org/drawingml/2006/main">
            <ns98:srgbClr val="FFFFFF"/>
          </ns98:solidFill>
          <ns99:ln xmlns:ns99="http://schemas.openxmlformats.org/drawingml/2006/main" w="9525">
            <ns99:solidFill>
              <ns99:srgbClr val="7363A6"/>
            </ns99:solidFill>
          </ns99:ln>
        </p:spPr>
      </p:sp>
      <p:sp>
        <p:nvSpPr>
          <p:cNvPr id="118" name="!!tender.answer.role"/>
          <p:cNvSpPr/>
          <p:nvPr/>
        </p:nvSpPr>
        <p:spPr>
          <ns100:xfrm xmlns:ns100="http://schemas.openxmlformats.org/drawingml/2006/main">
            <ns100:off x="6127200" y="1962000"/>
            <ns100:ext cx="2480400" cy="3672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200" b="1">
                <ns106:solidFill>
                  <ns106:srgbClr val="7363A6"/>
                </ns106:solidFill>
                <ns106:latin typeface="Arial"/>
                <ns106:ea typeface="Arial"/>
                <ns106:cs typeface="Arial"/>
              </ns106:defRPr>
            </ns106:pPr>
            <ns106:r>
              <ns106:rPr sz="1200" b="1">
                <ns106:solidFill>
                  <ns106:srgbClr val="7363A6"/>
                </ns106:solidFill>
                <ns106:latin typeface="Arial"/>
                <ns106:ea typeface="Arial"/>
                <ns106:cs typeface="Arial"/>
              </ns106:rPr>
              <ns106:t>Draft RFP response</ns106:t>
            </ns106:r>
          </ns106:p>
        </p:txBody>
      </p:sp>
      <p:cxnSp>
        <p:nvCxnSpPr>
          <p:cNvPr id="119" name="tender.answer.role.rule"/>
          <p:cNvCxnSpPr/>
          <p:nvPr/>
        </p:nvCxnSpPr>
        <p:spPr>
          <ns107:xfrm xmlns:ns107="http://schemas.openxmlformats.org/drawingml/2006/main">
            <ns107:off x="6127200" y="2365200"/>
            <ns107:ext cx="2480400" cy="1"/>
          </ns107:xfrm>
          <ns108:prstGeom xmlns:ns108="http://schemas.openxmlformats.org/drawingml/2006/main" prst="line">
            <ns108:avLst/>
          </ns108:prstGeom>
          <ns109:ln xmlns:ns109="http://schemas.openxmlformats.org/drawingml/2006/main" w="12700">
            <ns109:solidFill>
              <ns109:srgbClr val="7363A6"/>
            </ns109:solidFill>
          </ns109:ln>
        </p:spPr>
      </p:cxnSp>
      <p:sp>
        <p:nvSpPr>
          <p:cNvPr id="120" name="!!tender.answer.body"/>
          <p:cNvSpPr/>
          <p:nvPr/>
        </p:nvSpPr>
        <p:spPr>
          <ns110:xfrm xmlns:ns110="http://schemas.openxmlformats.org/drawingml/2006/main">
            <ns110:off x="6127200" y="2458800"/>
            <ns110:ext cx="2480400" cy="12816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8000"/>
              </ns116:lnSpc>
              <ns116:defRPr sz="1150" b="0">
                <ns116:solidFill>
                  <ns116:srgbClr val="20262C"/>
                </ns116:solidFill>
                <ns116:latin typeface="Arial"/>
                <ns116:ea typeface="Arial"/>
                <ns116:cs typeface="Arial"/>
              </ns116:defRPr>
            </ns116:pPr>
            <ns116:r>
              <ns116:rPr sz="1150" b="0">
                <ns116:solidFill>
                  <ns116:srgbClr val="20262C"/>
                </ns116:solidFill>
                <ns116:latin typeface="Arial"/>
                <ns116:ea typeface="Arial"/>
                <ns116:cs typeface="Arial"/>
              </ns116:rPr>
              <ns116:t>Analysts conduct company research.</ns116:t>
            </ns116:r>
          </ns116:p>
          <ns117:p xmlns:ns117="http://schemas.openxmlformats.org/drawingml/2006/main">
            <ns117:pPr algn="l">
              <ns117:lnSpc>
                <ns117:spcPct val="108000"/>
              </ns117:lnSpc>
              <ns117:defRPr sz="1150" b="0">
                <ns117:solidFill>
                  <ns117:srgbClr val="20262C"/>
                </ns117:solidFill>
                <ns117:latin typeface="Arial"/>
                <ns117:ea typeface="Arial"/>
                <ns117:cs typeface="Arial"/>
              </ns117:defRPr>
            </ns117:pPr>
            <ns117:r>
              <ns117:rPr sz="1150" b="0">
                <ns117:solidFill>
                  <ns117:srgbClr val="20262C"/>
                </ns117:solidFill>
                <ns117:latin typeface="Arial"/>
                <ns117:ea typeface="Arial"/>
                <ns117:cs typeface="Arial"/>
              </ns117:rPr>
              <ns117:t>Portfolio managers discuss the resulting investment views.</ns117:t>
            </ns117:r>
          </ns117:p>
          <ns118:p xmlns:ns118="http://schemas.openxmlformats.org/drawingml/2006/main">
            <ns118:pPr algn="l">
              <ns118:lnSpc>
                <ns118:spcPct val="108000"/>
              </ns118:lnSpc>
              <ns118:defRPr sz="1150" b="0">
                <ns118:solidFill>
                  <ns118:srgbClr val="20262C"/>
                </ns118:solidFill>
                <ns118:latin typeface="Arial"/>
                <ns118:ea typeface="Arial"/>
                <ns118:cs typeface="Arial"/>
              </ns118:defRPr>
            </ns118:pPr>
            <ns118:r>
              <ns118:rPr sz="1150" b="0">
                <ns118:solidFill>
                  <ns118:srgbClr val="20262C"/>
                </ns118:solidFill>
                <ns118:latin typeface="Arial"/>
                <ns118:ea typeface="Arial"/>
                <ns118:cs typeface="Arial"/>
              </ns118:rPr>
              <ns118:t>Source: internal research process description.</ns118:t>
            </ns118:r>
          </ns118:p>
        </p:txBody>
      </p:sp>
      <p:sp>
        <p:nvSpPr>
          <p:cNvPr id="121" name="!!tender.user"/>
          <p:cNvSpPr/>
          <p:nvPr/>
        </p:nvSpPr>
        <p:spPr>
          <ns119:xfrm xmlns:ns119="http://schemas.openxmlformats.org/drawingml/2006/main">
            <ns119:off x="457200" y="4010400"/>
            <ns119:ext cx="8229600" cy="1872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8000"/>
              </ns125:lnSpc>
              <ns125:defRPr sz="1050" b="0">
                <ns125:solidFill>
                  <ns125:srgbClr val="20262C"/>
                </ns125:solidFill>
                <ns125:latin typeface="Arial"/>
                <ns125:ea typeface="Arial"/>
                <ns125:cs typeface="Arial"/>
              </ns125:defRPr>
            </ns125:pPr>
            <ns125:r>
              <ns125:rPr sz="1050" b="0">
                <ns125:solidFill>
                  <ns125:srgbClr val="20262C"/>
                </ns125:solidFill>
                <ns125:latin typeface="Arial"/>
                <ns125:ea typeface="Arial"/>
                <ns125:cs typeface="Arial"/>
              </ns125:rPr>
              <ns125:t>The business team checks the answer and source, then addresses the client’s specific requirements</ns125:t>
            </ns125:r>
          </ns125:p>
        </p:txBody>
      </p:sp>
      <p:sp>
        <p:nvSpPr>
          <p:cNvPr id="122" name="!!tender.case"/>
          <p:cNvSpPr/>
          <p:nvPr/>
        </p:nvSpPr>
        <p:spPr>
          <ns126:xfrm xmlns:ns126="http://schemas.openxmlformats.org/drawingml/2006/main">
            <ns126:off x="457200" y="4248000"/>
            <ns126:ext cx="8229600" cy="1800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1050" b="1">
                <ns132:solidFill>
                  <ns132:srgbClr val="005A9C"/>
                </ns132:solidFill>
                <ns132:latin typeface="Arial"/>
                <ns132:ea typeface="Arial"/>
                <ns132:cs typeface="Arial"/>
              </ns132:defRPr>
            </ns132:pPr>
            <ns132:r>
              <ns132:rPr sz="1050" b="1">
                <ns132:solidFill>
                  <ns132:srgbClr val="005A9C"/>
                </ns132:solidFill>
                <ns132:latin typeface="Arial"/>
                <ns132:ea typeface="Arial"/>
                <ns132:cs typeface="Arial"/>
              </ns132:rPr>
              <ns132:t>ICBCUBS FundGPT supports knowledge-base maintenance, question analysis, review and RFP drafting.</ns132:t>
            </ns132:r>
          </ns132:p>
        </p:txBody>
      </p:sp>
    </p:spTree>
    <p:extLst>
      <p:ext uri="{BB962C8B-B14F-4D97-AF65-F5344CB8AC3E}">
        <p14:creationId xmlns:p14="http://schemas.microsoft.com/office/powerpoint/2010/main" val="12856268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drafting client updates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Front office / Client communications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ICBCUBS; China Merchants Fund</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client.document"/>
          <p:cNvSpPr/>
          <p:nvPr/>
        </p:nvSpPr>
        <p:spPr>
          <ns45:xfrm xmlns:ns45="http://schemas.openxmlformats.org/drawingml/2006/main">
            <ns45:off x="4122000" y="1483200"/>
            <ns45:ext cx="4564800" cy="2592000"/>
          </ns45:xfrm>
          <ns46:prstGeom xmlns:ns46="http://schemas.openxmlformats.org/drawingml/2006/main" prst="rect">
            <ns46:avLst/>
          </ns46:prstGeom>
          <ns47:solidFill xmlns:ns47="http://schemas.openxmlformats.org/drawingml/2006/main">
            <ns47:srgbClr val="FFFFFF"/>
          </ns47:solidFill>
          <ns48:ln xmlns:ns48="http://schemas.openxmlformats.org/drawingml/2006/main" w="9525">
            <ns48:solidFill>
              <ns48:srgbClr val="7363A6"/>
            </ns48:solidFill>
          </ns48:ln>
        </p:spPr>
      </p:sp>
      <p:cxnSp>
        <p:nvCxnSpPr>
          <p:cNvPr id="109" name="client.document.accent"/>
          <p:cNvCxnSpPr/>
          <p:nvPr/>
        </p:nvCxnSpPr>
        <p:spPr>
          <ns49:xfrm xmlns:ns49="http://schemas.openxmlformats.org/drawingml/2006/main">
            <ns49:off x="4122000" y="1483200"/>
            <ns49:ext cx="1" cy="2592000"/>
          </ns49:xfrm>
          <ns50:prstGeom xmlns:ns50="http://schemas.openxmlformats.org/drawingml/2006/main" prst="line">
            <ns50:avLst/>
          </ns50:prstGeom>
          <ns51:ln xmlns:ns51="http://schemas.openxmlformats.org/drawingml/2006/main" w="25400">
            <ns51:solidFill>
              <ns51:srgbClr val="7363A6"/>
            </ns51:solidFill>
          </ns51:ln>
        </p:spPr>
      </p:cxnSp>
      <p:sp>
        <p:nvSpPr>
          <p:cNvPr id="110" name="!!clientDoc.title"/>
          <p:cNvSpPr/>
          <p:nvPr/>
        </p:nvSpPr>
        <p:spPr>
          <ns52:xfrm xmlns:ns52="http://schemas.openxmlformats.org/drawingml/2006/main">
            <ns52:off x="4222800" y="1562400"/>
            <ns52:ext cx="4096800" cy="216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400" b="1">
                <ns58:solidFill>
                  <ns58:srgbClr val="7363A6"/>
                </ns58:solidFill>
                <ns58:latin typeface="Arial"/>
                <ns58:ea typeface="Arial"/>
                <ns58:cs typeface="Arial"/>
              </ns58:defRPr>
            </ns58:pPr>
            <ns58:r>
              <ns58:rPr sz="1400" b="1">
                <ns58:solidFill>
                  <ns58:srgbClr val="7363A6"/>
                </ns58:solidFill>
                <ns58:latin typeface="Arial"/>
                <ns58:ea typeface="Arial"/>
                <ns58:cs typeface="Arial"/>
              </ns58:rPr>
              <ns58:t>Quarterly client update</ns58:t>
            </ns58:r>
          </ns58:p>
        </p:txBody>
      </p:sp>
      <p:sp>
        <p:nvSpPr>
          <p:cNvPr id="111" name="!!clientDoc.version"/>
          <p:cNvSpPr/>
          <p:nvPr/>
        </p:nvSpPr>
        <p:spPr>
          <ns59:xfrm xmlns:ns59="http://schemas.openxmlformats.org/drawingml/2006/main">
            <ns59:off x="8398800" y="1569600"/>
            <ns59:ext cx="180000" cy="1440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r">
              <ns65:lnSpc>
                <ns65:spcPct val="108000"/>
              </ns65:lnSpc>
              <ns65:defRPr sz="1100" b="1">
                <ns65:solidFill>
                  <ns65:srgbClr val="7363A6"/>
                </ns65:solidFill>
                <ns65:latin typeface="Arial"/>
                <ns65:ea typeface="Arial"/>
                <ns65:cs typeface="Arial"/>
              </ns65:defRPr>
            </ns65:pPr>
            <ns65:r>
              <ns65:rPr sz="1100" b="1">
                <ns65:solidFill>
                  <ns65:srgbClr val="7363A6"/>
                </ns65:solidFill>
                <ns65:latin typeface="Arial"/>
                <ns65:ea typeface="Arial"/>
                <ns65:cs typeface="Arial"/>
              </ns65:rPr>
              <ns65:t>V1</ns65:t>
            </ns65:r>
          </ns65:p>
        </p:txBody>
      </p:sp>
      <p:cxnSp>
        <p:nvCxnSpPr>
          <p:cNvPr id="112" name="client.document.rule"/>
          <p:cNvCxnSpPr/>
          <p:nvPr/>
        </p:nvCxnSpPr>
        <p:spPr>
          <ns66:xfrm xmlns:ns66="http://schemas.openxmlformats.org/drawingml/2006/main">
            <ns66:off x="4222800" y="1821600"/>
            <ns66:ext cx="4363200" cy="1"/>
          </ns66:xfrm>
          <ns67:prstGeom xmlns:ns67="http://schemas.openxmlformats.org/drawingml/2006/main" prst="line">
            <ns67:avLst/>
          </ns67:prstGeom>
          <ns68:ln xmlns:ns68="http://schemas.openxmlformats.org/drawingml/2006/main" w="6350">
            <ns68:solidFill>
              <ns68:srgbClr val="7363A6"/>
            </ns68:solidFill>
          </ns68:ln>
        </p:spPr>
      </p:cxnSp>
      <p:sp>
        <p:nvSpPr>
          <p:cNvPr id="113" name="!!clientDoc.label.product"/>
          <p:cNvSpPr/>
          <p:nvPr/>
        </p:nvSpPr>
        <p:spPr>
          <ns69:xfrm xmlns:ns69="http://schemas.openxmlformats.org/drawingml/2006/main">
            <ns69:off x="4251600" y="1933200"/>
            <ns69:ext cx="1044000" cy="2088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050" b="1">
                <ns75:solidFill>
                  <ns75:srgbClr val="687782"/>
                </ns75:solidFill>
                <ns75:latin typeface="Arial"/>
                <ns75:ea typeface="Arial"/>
                <ns75:cs typeface="Arial"/>
              </ns75:defRPr>
            </ns75:pPr>
            <ns75:r>
              <ns75:rPr sz="1050" b="1">
                <ns75:solidFill>
                  <ns75:srgbClr val="687782"/>
                </ns75:solidFill>
                <ns75:latin typeface="Arial"/>
                <ns75:ea typeface="Arial"/>
                <ns75:cs typeface="Arial"/>
              </ns75:rPr>
              <ns75:t>Fund name</ns75:t>
            </ns75:r>
          </ns75:p>
        </p:txBody>
      </p:sp>
      <p:sp>
        <p:nvSpPr>
          <p:cNvPr id="114" name="!!clientDoc.value.product"/>
          <p:cNvSpPr/>
          <p:nvPr/>
        </p:nvSpPr>
        <p:spPr>
          <ns76:xfrm xmlns:ns76="http://schemas.openxmlformats.org/drawingml/2006/main">
            <ns76:off x="5364000" y="1933200"/>
            <ns76:ext cx="3186000" cy="252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150" b="0">
                <ns82:solidFill>
                  <ns82:srgbClr val="20262C"/>
                </ns82:solidFill>
                <ns82:latin typeface="Arial"/>
                <ns82:ea typeface="Arial"/>
                <ns82:cs typeface="Arial"/>
              </ns82:defRPr>
            </ns82:pPr>
            <ns82:r>
              <ns82:rPr sz="1150" b="0">
                <ns82:solidFill>
                  <ns82:srgbClr val="20262C"/>
                </ns82:solidFill>
                <ns82:latin typeface="Arial"/>
                <ns82:ea typeface="Arial"/>
                <ns82:cs typeface="Arial"/>
              </ns82:rPr>
              <ns82:t>Product A Select</ns82:t>
            </ns82:r>
          </ns82:p>
        </p:txBody>
      </p:sp>
      <p:sp>
        <p:nvSpPr>
          <p:cNvPr id="115" name="!!clientDoc.label.period"/>
          <p:cNvSpPr/>
          <p:nvPr/>
        </p:nvSpPr>
        <p:spPr>
          <ns83:xfrm xmlns:ns83="http://schemas.openxmlformats.org/drawingml/2006/main">
            <ns83:off x="4251600" y="2250000"/>
            <ns83:ext cx="1044000" cy="2088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8000"/>
              </ns89:lnSpc>
              <ns89:defRPr sz="1050" b="1">
                <ns89:solidFill>
                  <ns89:srgbClr val="687782"/>
                </ns89:solidFill>
                <ns89:latin typeface="Arial"/>
                <ns89:ea typeface="Arial"/>
                <ns89:cs typeface="Arial"/>
              </ns89:defRPr>
            </ns89:pPr>
            <ns89:r>
              <ns89:rPr sz="1050" b="1">
                <ns89:solidFill>
                  <ns89:srgbClr val="687782"/>
                </ns89:solidFill>
                <ns89:latin typeface="Arial"/>
                <ns89:ea typeface="Arial"/>
                <ns89:cs typeface="Arial"/>
              </ns89:rPr>
              <ns89:t>Source version</ns89:t>
            </ns89:r>
          </ns89:p>
        </p:txBody>
      </p:sp>
      <p:sp>
        <p:nvSpPr>
          <p:cNvPr id="116" name="!!clientDoc.value.period"/>
          <p:cNvSpPr/>
          <p:nvPr/>
        </p:nvSpPr>
        <p:spPr>
          <ns90:xfrm xmlns:ns90="http://schemas.openxmlformats.org/drawingml/2006/main">
            <ns90:off x="5364000" y="2250000"/>
            <ns90:ext cx="3186000" cy="2520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8000"/>
              </ns96:lnSpc>
              <ns96:defRPr sz="1150" b="0">
                <ns96:solidFill>
                  <ns96:srgbClr val="20262C"/>
                </ns96:solidFill>
                <ns96:latin typeface="Arial"/>
                <ns96:ea typeface="Arial"/>
                <ns96:cs typeface="Arial"/>
              </ns96:defRPr>
            </ns96:pPr>
            <ns96:r>
              <ns96:rPr sz="1150" b="0">
                <ns96:solidFill>
                  <ns96:srgbClr val="20262C"/>
                </ns96:solidFill>
                <ns96:latin typeface="Arial"/>
                <ns96:ea typeface="Arial"/>
                <ns96:cs typeface="Arial"/>
              </ns96:rPr>
              <ns96:t>Q2 2026 product information, V1</ns96:t>
            </ns96:r>
          </ns96:p>
        </p:txBody>
      </p:sp>
      <p:sp>
        <p:nvSpPr>
          <p:cNvPr id="117" name="!!clientDoc.label.view"/>
          <p:cNvSpPr/>
          <p:nvPr/>
        </p:nvSpPr>
        <p:spPr>
          <ns97:xfrm xmlns:ns97="http://schemas.openxmlformats.org/drawingml/2006/main">
            <ns97:off x="4251600" y="2577600"/>
            <ns97:ext cx="43056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050" b="1">
                <ns103:solidFill>
                  <ns103:srgbClr val="20262C"/>
                </ns103:solidFill>
                <ns103:latin typeface="Arial"/>
                <ns103:ea typeface="Arial"/>
                <ns103:cs typeface="Arial"/>
              </ns103:defRPr>
            </ns103:pPr>
            <ns103:r>
              <ns103:rPr sz="1050" b="1">
                <ns103:solidFill>
                  <ns103:srgbClr val="20262C"/>
                </ns103:solidFill>
                <ns103:latin typeface="Arial"/>
                <ns103:ea typeface="Arial"/>
                <ns103:cs typeface="Arial"/>
              </ns103:rPr>
              <ns103:t>Investment view</ns103:t>
            </ns103:r>
          </ns103:p>
        </p:txBody>
      </p:sp>
      <p:sp>
        <p:nvSpPr>
          <p:cNvPr id="118" name="!!clientDoc.value.view"/>
          <p:cNvSpPr/>
          <p:nvPr/>
        </p:nvSpPr>
        <p:spPr>
          <ns104:xfrm xmlns:ns104="http://schemas.openxmlformats.org/drawingml/2006/main">
            <ns104:off x="4251600" y="2757600"/>
            <ns104:ext cx="4305600" cy="576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8000"/>
              </ns110:lnSpc>
              <ns110:defRPr sz="1150" b="0">
                <ns110:solidFill>
                  <ns110:srgbClr val="20262C"/>
                </ns110:solidFill>
                <ns110:latin typeface="Arial"/>
                <ns110:ea typeface="Arial"/>
                <ns110:cs typeface="Arial"/>
              </ns110:defRPr>
            </ns110:pPr>
            <ns110:r>
              <ns110:rPr sz="1150" b="0">
                <ns110:solidFill>
                  <ns110:srgbClr val="20262C"/>
                </ns110:solidFill>
                <ns110:latin typeface="Arial"/>
                <ns110:ea typeface="Arial"/>
                <ns110:cs typeface="Arial"/>
              </ns110:rPr>
              <ns110:t>Higher sales volumes drove Company A’s revenue growth.</ns110:t>
            </ns110:r>
          </ns110:p>
          <ns111:p xmlns:ns111="http://schemas.openxmlformats.org/drawingml/2006/main">
            <ns111:pPr algn="l">
              <ns111:lnSpc>
                <ns111:spcPct val="108000"/>
              </ns111:lnSpc>
              <ns111:defRPr sz="1150" b="0">
                <ns111:solidFill>
                  <ns111:srgbClr val="20262C"/>
                </ns111:solidFill>
                <ns111:latin typeface="Arial"/>
                <ns111:ea typeface="Arial"/>
                <ns111:cs typeface="Arial"/>
              </ns111:defRPr>
            </ns111:pPr>
            <ns111:r>
              <ns111:rPr sz="1150" b="0">
                <ns111:solidFill>
                  <ns111:srgbClr val="20262C"/>
                </ns111:solidFill>
                <ns111:latin typeface="Arial"/>
                <ns111:ea typeface="Arial"/>
                <ns111:cs typeface="Arial"/>
              </ns111:rPr>
              <ns111:t>We are monitoring raw-material costs.</ns111:t>
            </ns111:r>
          </ns111:p>
        </p:txBody>
      </p:sp>
      <p:sp>
        <p:nvSpPr>
          <p:cNvPr id="119" name="!!clientDoc.label.risk"/>
          <p:cNvSpPr/>
          <p:nvPr/>
        </p:nvSpPr>
        <p:spPr>
          <ns112:xfrm xmlns:ns112="http://schemas.openxmlformats.org/drawingml/2006/main">
            <ns112:off x="4251600" y="3434400"/>
            <ns112:ext cx="4305600" cy="162000"/>
          </ns112:xfrm>
          <ns113:prstGeom xmlns:ns113="http://schemas.openxmlformats.org/drawingml/2006/main" prst="rect">
            <ns113:avLst/>
          </ns113:prstGeom>
          <ns114:noFill xmlns:ns114="http://schemas.openxmlformats.org/drawingml/2006/main"/>
          <ns115:ln xmlns:ns115="http://schemas.openxmlformats.org/drawingml/2006/main" w="0">
            <ns115:noFill/>
          </ns115:ln>
        </p:spPr>
        <p:txBody>
          <ns116:bodyPr xmlns:ns116="http://schemas.openxmlformats.org/drawingml/2006/main" wrap="square" lIns="0" rIns="0" tIns="0" bIns="0" anchor="t">
            <ns116:noAutofit/>
          </ns116:bodyPr>
          <ns117:lstStyle xmlns:ns117="http://schemas.openxmlformats.org/drawingml/2006/main"/>
          <ns118:p xmlns:ns118="http://schemas.openxmlformats.org/drawingml/2006/main">
            <ns118:pPr algn="l">
              <ns118:lnSpc>
                <ns118:spcPct val="108000"/>
              </ns118:lnSpc>
              <ns118:defRPr sz="1050" b="1">
                <ns118:solidFill>
                  <ns118:srgbClr val="20262C"/>
                </ns118:solidFill>
                <ns118:latin typeface="Arial"/>
                <ns118:ea typeface="Arial"/>
                <ns118:cs typeface="Arial"/>
              </ns118:defRPr>
            </ns118:pPr>
            <ns118:r>
              <ns118:rPr sz="1050" b="1">
                <ns118:solidFill>
                  <ns118:srgbClr val="20262C"/>
                </ns118:solidFill>
                <ns118:latin typeface="Arial"/>
                <ns118:ea typeface="Arial"/>
                <ns118:cs typeface="Arial"/>
              </ns118:rPr>
              <ns118:t>Risk disclosure</ns118:t>
            </ns118:r>
          </ns118:p>
        </p:txBody>
      </p:sp>
      <p:sp>
        <p:nvSpPr>
          <p:cNvPr id="120" name="!!clientDoc.value.risk"/>
          <p:cNvSpPr/>
          <p:nvPr/>
        </p:nvSpPr>
        <p:spPr>
          <ns119:xfrm xmlns:ns119="http://schemas.openxmlformats.org/drawingml/2006/main">
            <ns119:off x="4251600" y="3614400"/>
            <ns119:ext cx="4305600" cy="2844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8000"/>
              </ns125:lnSpc>
              <ns125:defRPr sz="1150" b="0">
                <ns125:solidFill>
                  <ns125:srgbClr val="20262C"/>
                </ns125:solidFill>
                <ns125:latin typeface="Arial"/>
                <ns125:ea typeface="Arial"/>
                <ns125:cs typeface="Arial"/>
              </ns125:defRPr>
            </ns125:pPr>
            <ns125:r>
              <ns125:rPr sz="1150" b="0">
                <ns125:solidFill>
                  <ns125:srgbClr val="20262C"/>
                </ns125:solidFill>
                <ns125:latin typeface="Arial"/>
                <ns125:ea typeface="Arial"/>
                <ns125:cs typeface="Arial"/>
              </ns125:rPr>
              <ns125:t>Investing involves risk.</ns125:t>
            </ns125:r>
          </ns125:p>
        </p:txBody>
      </p:sp>
      <p:sp>
        <p:nvSpPr>
          <p:cNvPr id="121" name="client.input.customer.label"/>
          <p:cNvSpPr/>
          <p:nvPr/>
        </p:nvSpPr>
        <p:spPr>
          <ns126:xfrm xmlns:ns126="http://schemas.openxmlformats.org/drawingml/2006/main">
            <ns126:off x="457200" y="1530000"/>
            <ns126:ext cx="3258000" cy="1620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1050" b="1">
                <ns132:solidFill>
                  <ns132:srgbClr val="687782"/>
                </ns132:solidFill>
                <ns132:latin typeface="Arial"/>
                <ns132:ea typeface="Arial"/>
                <ns132:cs typeface="Arial"/>
              </ns132:defRPr>
            </ns132:pPr>
            <ns132:r>
              <ns132:rPr sz="1050" b="1">
                <ns132:solidFill>
                  <ns132:srgbClr val="687782"/>
                </ns132:solidFill>
                <ns132:latin typeface="Arial"/>
                <ns132:ea typeface="Arial"/>
                <ns132:cs typeface="Arial"/>
              </ns132:rPr>
              <ns132:t>Client question</ns132:t>
            </ns132:r>
          </ns132:p>
        </p:txBody>
      </p:sp>
      <p:sp>
        <p:nvSpPr>
          <p:cNvPr id="122" name="client.input.customer.value"/>
          <p:cNvSpPr/>
          <p:nvPr/>
        </p:nvSpPr>
        <p:spPr>
          <ns133:xfrm xmlns:ns133="http://schemas.openxmlformats.org/drawingml/2006/main">
            <ns133:off x="457200" y="1746000"/>
            <ns133:ext cx="3258000" cy="3060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8000"/>
              </ns139:lnSpc>
              <ns139:defRPr sz="1300" b="0">
                <ns139:solidFill>
                  <ns139:srgbClr val="20262C"/>
                </ns139:solidFill>
                <ns139:latin typeface="Arial"/>
                <ns139:ea typeface="Arial"/>
                <ns139:cs typeface="Arial"/>
              </ns139:defRPr>
            </ns139:pPr>
            <ns139:r>
              <ns139:rPr sz="1300" b="0">
                <ns139:solidFill>
                  <ns139:srgbClr val="20262C"/>
                </ns139:solidFill>
                <ns139:latin typeface="Arial"/>
                <ns139:ea typeface="Arial"/>
                <ns139:cs typeface="Arial"/>
              </ns139:rPr>
              <ns139:t>What matters this quarter?</ns139:t>
            </ns139:r>
          </ns139:p>
        </p:txBody>
      </p:sp>
      <p:cxnSp>
        <p:nvCxnSpPr>
          <p:cNvPr id="123" name="client.input.customer.rule"/>
          <p:cNvCxnSpPr/>
          <p:nvPr/>
        </p:nvCxnSpPr>
        <p:spPr>
          <ns140:xfrm xmlns:ns140="http://schemas.openxmlformats.org/drawingml/2006/main">
            <ns140:off x="457200" y="2052000"/>
            <ns140:ext cx="3258000" cy="1"/>
          </ns140:xfrm>
          <ns141:prstGeom xmlns:ns141="http://schemas.openxmlformats.org/drawingml/2006/main" prst="line">
            <ns141:avLst/>
          </ns141:prstGeom>
          <ns142:ln xmlns:ns142="http://schemas.openxmlformats.org/drawingml/2006/main" w="6350">
            <ns142:solidFill>
              <ns142:srgbClr val="CCD5DA"/>
            </ns142:solidFill>
          </ns142:ln>
        </p:spPr>
      </p:cxnSp>
      <p:sp>
        <p:nvSpPr>
          <p:cNvPr id="124" name="client.input.manager.label"/>
          <p:cNvSpPr/>
          <p:nvPr/>
        </p:nvSpPr>
        <p:spPr>
          <ns143:xfrm xmlns:ns143="http://schemas.openxmlformats.org/drawingml/2006/main">
            <ns143:off x="457200" y="2134800"/>
            <ns143:ext cx="3258000" cy="1620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8000"/>
              </ns149:lnSpc>
              <ns149:defRPr sz="1050" b="1">
                <ns149:solidFill>
                  <ns149:srgbClr val="687782"/>
                </ns149:solidFill>
                <ns149:latin typeface="Arial"/>
                <ns149:ea typeface="Arial"/>
                <ns149:cs typeface="Arial"/>
              </ns149:defRPr>
            </ns149:pPr>
            <ns149:r>
              <ns149:rPr sz="1050" b="1">
                <ns149:solidFill>
                  <ns149:srgbClr val="687782"/>
                </ns149:solidFill>
                <ns149:latin typeface="Arial"/>
                <ns149:ea typeface="Arial"/>
                <ns149:cs typeface="Arial"/>
              </ns149:rPr>
              <ns149:t>Existing investment view</ns149:t>
            </ns149:r>
          </ns149:p>
        </p:txBody>
      </p:sp>
      <p:sp>
        <p:nvSpPr>
          <p:cNvPr id="125" name="client.input.manager.value"/>
          <p:cNvSpPr/>
          <p:nvPr/>
        </p:nvSpPr>
        <p:spPr>
          <ns150:xfrm xmlns:ns150="http://schemas.openxmlformats.org/drawingml/2006/main">
            <ns150:off x="457200" y="2350800"/>
            <ns150:ext cx="3258000" cy="306000"/>
          </ns150:xfrm>
          <ns151:prstGeom xmlns:ns151="http://schemas.openxmlformats.org/drawingml/2006/main" prst="rect">
            <ns151:avLst/>
          </ns151:prstGeom>
          <ns152:noFill xmlns:ns152="http://schemas.openxmlformats.org/drawingml/2006/main"/>
          <ns153:ln xmlns:ns153="http://schemas.openxmlformats.org/drawingml/2006/main" w="0">
            <ns153:noFill/>
          </ns153:ln>
        </p:spPr>
        <p:txBody>
          <ns154:bodyPr xmlns:ns154="http://schemas.openxmlformats.org/drawingml/2006/main" wrap="square" lIns="0" rIns="0" tIns="0" bIns="0" anchor="t">
            <ns154:noAutofit/>
          </ns154:bodyPr>
          <ns155:lstStyle xmlns:ns155="http://schemas.openxmlformats.org/drawingml/2006/main"/>
          <ns156:p xmlns:ns156="http://schemas.openxmlformats.org/drawingml/2006/main">
            <ns156:pPr algn="l">
              <ns156:lnSpc>
                <ns156:spcPct val="108000"/>
              </ns156:lnSpc>
              <ns156:defRPr sz="1300" b="0">
                <ns156:solidFill>
                  <ns156:srgbClr val="20262C"/>
                </ns156:solidFill>
                <ns156:latin typeface="Arial"/>
                <ns156:ea typeface="Arial"/>
                <ns156:cs typeface="Arial"/>
              </ns156:defRPr>
            </ns156:pPr>
            <ns156:r>
              <ns156:rPr sz="1300" b="0">
                <ns156:solidFill>
                  <ns156:srgbClr val="20262C"/>
                </ns156:solidFill>
                <ns156:latin typeface="Arial"/>
                <ns156:ea typeface="Arial"/>
                <ns156:cs typeface="Arial"/>
              </ns156:rPr>
              <ns156:t>Sales volume and input costs</ns156:t>
            </ns156:r>
          </ns156:p>
        </p:txBody>
      </p:sp>
      <p:cxnSp>
        <p:nvCxnSpPr>
          <p:cNvPr id="126" name="client.input.manager.rule"/>
          <p:cNvCxnSpPr/>
          <p:nvPr/>
        </p:nvCxnSpPr>
        <p:spPr>
          <ns157:xfrm xmlns:ns157="http://schemas.openxmlformats.org/drawingml/2006/main">
            <ns157:off x="457200" y="2656800"/>
            <ns157:ext cx="3258000" cy="1"/>
          </ns157:xfrm>
          <ns158:prstGeom xmlns:ns158="http://schemas.openxmlformats.org/drawingml/2006/main" prst="line">
            <ns158:avLst/>
          </ns158:prstGeom>
          <ns159:ln xmlns:ns159="http://schemas.openxmlformats.org/drawingml/2006/main" w="6350">
            <ns159:solidFill>
              <ns159:srgbClr val="CCD5DA"/>
            </ns159:solidFill>
          </ns159:ln>
        </p:spPr>
      </p:cxnSp>
      <p:sp>
        <p:nvSpPr>
          <p:cNvPr id="127" name="client.input.product.label"/>
          <p:cNvSpPr/>
          <p:nvPr/>
        </p:nvSpPr>
        <p:spPr>
          <ns160:xfrm xmlns:ns160="http://schemas.openxmlformats.org/drawingml/2006/main">
            <ns160:off x="457200" y="2739600"/>
            <ns160:ext cx="3258000" cy="162000"/>
          </ns160:xfrm>
          <ns161:prstGeom xmlns:ns161="http://schemas.openxmlformats.org/drawingml/2006/main" prst="rect">
            <ns161:avLst/>
          </ns161:prstGeom>
          <ns162:noFill xmlns:ns162="http://schemas.openxmlformats.org/drawingml/2006/main"/>
          <ns163:ln xmlns:ns163="http://schemas.openxmlformats.org/drawingml/2006/main" w="0">
            <ns163:noFill/>
          </ns163:ln>
        </p:spPr>
        <p:txBody>
          <ns164:bodyPr xmlns:ns164="http://schemas.openxmlformats.org/drawingml/2006/main" wrap="square" lIns="0" rIns="0" tIns="0" bIns="0" anchor="t">
            <ns164:noAutofit/>
          </ns164:bodyPr>
          <ns165:lstStyle xmlns:ns165="http://schemas.openxmlformats.org/drawingml/2006/main"/>
          <ns166:p xmlns:ns166="http://schemas.openxmlformats.org/drawingml/2006/main">
            <ns166:pPr algn="l">
              <ns166:lnSpc>
                <ns166:spcPct val="108000"/>
              </ns166:lnSpc>
              <ns166:defRPr sz="1050" b="1">
                <ns166:solidFill>
                  <ns166:srgbClr val="687782"/>
                </ns166:solidFill>
                <ns166:latin typeface="Arial"/>
                <ns166:ea typeface="Arial"/>
                <ns166:cs typeface="Arial"/>
              </ns166:defRPr>
            </ns166:pPr>
            <ns166:r>
              <ns166:rPr sz="1050" b="1">
                <ns166:solidFill>
                  <ns166:srgbClr val="687782"/>
                </ns166:solidFill>
                <ns166:latin typeface="Arial"/>
                <ns166:ea typeface="Arial"/>
                <ns166:cs typeface="Arial"/>
              </ns166:rPr>
              <ns166:t>Product information</ns166:t>
            </ns166:r>
          </ns166:p>
        </p:txBody>
      </p:sp>
      <p:sp>
        <p:nvSpPr>
          <p:cNvPr id="128" name="client.input.product.value"/>
          <p:cNvSpPr/>
          <p:nvPr/>
        </p:nvSpPr>
        <p:spPr>
          <ns167:xfrm xmlns:ns167="http://schemas.openxmlformats.org/drawingml/2006/main">
            <ns167:off x="457200" y="2955600"/>
            <ns167:ext cx="3258000" cy="306000"/>
          </ns167:xfrm>
          <ns168:prstGeom xmlns:ns168="http://schemas.openxmlformats.org/drawingml/2006/main" prst="rect">
            <ns168:avLst/>
          </ns168:prstGeom>
          <ns169:noFill xmlns:ns169="http://schemas.openxmlformats.org/drawingml/2006/main"/>
          <ns170:ln xmlns:ns170="http://schemas.openxmlformats.org/drawingml/2006/main" w="0">
            <ns170:noFill/>
          </ns170:ln>
        </p:spPr>
        <p:txBody>
          <ns171:bodyPr xmlns:ns171="http://schemas.openxmlformats.org/drawingml/2006/main" wrap="square" lIns="0" rIns="0" tIns="0" bIns="0" anchor="t">
            <ns171:noAutofit/>
          </ns171:bodyPr>
          <ns172:lstStyle xmlns:ns172="http://schemas.openxmlformats.org/drawingml/2006/main"/>
          <ns173:p xmlns:ns173="http://schemas.openxmlformats.org/drawingml/2006/main">
            <ns173:pPr algn="l">
              <ns173:lnSpc>
                <ns173:spcPct val="108000"/>
              </ns173:lnSpc>
              <ns173:defRPr sz="1300" b="0">
                <ns173:solidFill>
                  <ns173:srgbClr val="20262C"/>
                </ns173:solidFill>
                <ns173:latin typeface="Arial"/>
                <ns173:ea typeface="Arial"/>
                <ns173:cs typeface="Arial"/>
              </ns173:defRPr>
            </ns173:pPr>
            <ns173:r>
              <ns173:rPr sz="1300" b="0">
                <ns173:solidFill>
                  <ns173:srgbClr val="20262C"/>
                </ns173:solidFill>
                <ns173:latin typeface="Arial"/>
                <ns173:ea typeface="Arial"/>
                <ns173:cs typeface="Arial"/>
              </ns173:rPr>
              <ns173:t>Q2 2026, V1</ns173:t>
            </ns173:r>
          </ns173:p>
        </p:txBody>
      </p:sp>
      <p:cxnSp>
        <p:nvCxnSpPr>
          <p:cNvPr id="129" name="client.input.product.rule"/>
          <p:cNvCxnSpPr/>
          <p:nvPr/>
        </p:nvCxnSpPr>
        <p:spPr>
          <ns174:xfrm xmlns:ns174="http://schemas.openxmlformats.org/drawingml/2006/main">
            <ns174:off x="457200" y="3261600"/>
            <ns174:ext cx="3258000" cy="1"/>
          </ns174:xfrm>
          <ns175:prstGeom xmlns:ns175="http://schemas.openxmlformats.org/drawingml/2006/main" prst="line">
            <ns175:avLst/>
          </ns175:prstGeom>
          <ns176:ln xmlns:ns176="http://schemas.openxmlformats.org/drawingml/2006/main" w="6350">
            <ns176:solidFill>
              <ns176:srgbClr val="CCD5DA"/>
            </ns176:solidFill>
          </ns176:ln>
        </p:spPr>
      </p:cxnSp>
      <p:sp>
        <p:nvSpPr>
          <p:cNvPr id="130" name="!!client.llm.role"/>
          <p:cNvSpPr/>
          <p:nvPr/>
        </p:nvSpPr>
        <p:spPr>
          <ns177:xfrm xmlns:ns177="http://schemas.openxmlformats.org/drawingml/2006/main">
            <ns177:off x="457200" y="3409200"/>
            <ns177:ext cx="3258000" cy="223200"/>
          </ns177:xfrm>
          <ns178:prstGeom xmlns:ns178="http://schemas.openxmlformats.org/drawingml/2006/main" prst="rect">
            <ns178:avLst/>
          </ns178:prstGeom>
          <ns179:noFill xmlns:ns179="http://schemas.openxmlformats.org/drawingml/2006/main"/>
          <ns180:ln xmlns:ns180="http://schemas.openxmlformats.org/drawingml/2006/main" w="0">
            <ns180:noFill/>
          </ns180:ln>
        </p:spPr>
        <p:txBody>
          <ns181:bodyPr xmlns:ns181="http://schemas.openxmlformats.org/drawingml/2006/main" wrap="square" lIns="0" rIns="0" tIns="0" bIns="0" anchor="t">
            <ns181:noAutofit/>
          </ns181:bodyPr>
          <ns182:lstStyle xmlns:ns182="http://schemas.openxmlformats.org/drawingml/2006/main"/>
          <ns183:p xmlns:ns183="http://schemas.openxmlformats.org/drawingml/2006/main">
            <ns183:pPr algn="l">
              <ns183:lnSpc>
                <ns183:spcPct val="108000"/>
              </ns183:lnSpc>
              <ns183:defRPr sz="1300" b="1">
                <ns183:solidFill>
                  <ns183:srgbClr val="005A9C"/>
                </ns183:solidFill>
                <ns183:latin typeface="Arial"/>
                <ns183:ea typeface="Arial"/>
                <ns183:cs typeface="Arial"/>
              </ns183:defRPr>
            </ns183:pPr>
            <ns183:r>
              <ns183:rPr sz="1300" b="1">
                <ns183:solidFill>
                  <ns183:srgbClr val="005A9C"/>
                </ns183:solidFill>
                <ns183:latin typeface="Arial"/>
                <ns183:ea typeface="Arial"/>
                <ns183:cs typeface="Arial"/>
              </ns183:rPr>
              <ns183:t>LLM drafts</ns183:t>
            </ns183:r>
          </ns183:p>
        </p:txBody>
      </p:sp>
      <p:cxnSp>
        <p:nvCxnSpPr>
          <p:cNvPr id="131" name="client.llm.role.rule"/>
          <p:cNvCxnSpPr/>
          <p:nvPr/>
        </p:nvCxnSpPr>
        <p:spPr>
          <ns184:xfrm xmlns:ns184="http://schemas.openxmlformats.org/drawingml/2006/main">
            <ns184:off x="457200" y="3668400"/>
            <ns184:ext cx="3258000" cy="1"/>
          </ns184:xfrm>
          <ns185:prstGeom xmlns:ns185="http://schemas.openxmlformats.org/drawingml/2006/main" prst="line">
            <ns185:avLst/>
          </ns185:prstGeom>
          <ns186:ln xmlns:ns186="http://schemas.openxmlformats.org/drawingml/2006/main" w="12700">
            <ns186:solidFill>
              <ns186:srgbClr val="005A9C"/>
            </ns186:solidFill>
          </ns186:ln>
        </p:spPr>
      </p:cxnSp>
      <p:sp>
        <p:nvSpPr>
          <p:cNvPr id="132" name="!!client.llm.body"/>
          <p:cNvSpPr/>
          <p:nvPr/>
        </p:nvSpPr>
        <p:spPr>
          <ns187:xfrm xmlns:ns187="http://schemas.openxmlformats.org/drawingml/2006/main">
            <ns187:off x="457200" y="3772800"/>
            <ns187:ext cx="3258000" cy="403200"/>
          </ns187:xfrm>
          <ns188:prstGeom xmlns:ns188="http://schemas.openxmlformats.org/drawingml/2006/main" prst="rect">
            <ns188:avLst/>
          </ns188:prstGeom>
          <ns189:noFill xmlns:ns189="http://schemas.openxmlformats.org/drawingml/2006/main"/>
          <ns190:ln xmlns:ns190="http://schemas.openxmlformats.org/drawingml/2006/main" w="0">
            <ns190:noFill/>
          </ns190:ln>
        </p:spPr>
        <p:txBody>
          <ns191:bodyPr xmlns:ns191="http://schemas.openxmlformats.org/drawingml/2006/main" wrap="square" lIns="0" rIns="0" tIns="0" bIns="0" anchor="t">
            <ns191:noAutofit/>
          </ns191:bodyPr>
          <ns192:lstStyle xmlns:ns192="http://schemas.openxmlformats.org/drawingml/2006/main"/>
          <ns193:p xmlns:ns193="http://schemas.openxmlformats.org/drawingml/2006/main">
            <ns193:pPr algn="l">
              <ns193:lnSpc>
                <ns193:spcPct val="108000"/>
              </ns193:lnSpc>
              <ns193:defRPr sz="1150" b="0">
                <ns193:solidFill>
                  <ns193:srgbClr val="20262C"/>
                </ns193:solidFill>
                <ns193:latin typeface="Arial"/>
                <ns193:ea typeface="Arial"/>
                <ns193:cs typeface="Arial"/>
              </ns193:defRPr>
            </ns193:pPr>
            <ns193:r>
              <ns193:rPr sz="1150" b="0">
                <ns193:solidFill>
                  <ns193:srgbClr val="20262C"/>
                </ns193:solidFill>
                <ns193:latin typeface="Arial"/>
                <ns193:ea typeface="Arial"/>
                <ns193:cs typeface="Arial"/>
              </ns193:rPr>
              <ns193:t>Select relevant source content</ns193:t>
            </ns193:r>
          </ns193:p>
          <ns194:p xmlns:ns194="http://schemas.openxmlformats.org/drawingml/2006/main">
            <ns194:pPr algn="l">
              <ns194:lnSpc>
                <ns194:spcPct val="108000"/>
              </ns194:lnSpc>
              <ns194:defRPr sz="1150" b="0">
                <ns194:solidFill>
                  <ns194:srgbClr val="20262C"/>
                </ns194:solidFill>
                <ns194:latin typeface="Arial"/>
                <ns194:ea typeface="Arial"/>
                <ns194:cs typeface="Arial"/>
              </ns194:defRPr>
            </ns194:pPr>
            <ns194:r>
              <ns194:rPr sz="1150" b="0">
                <ns194:solidFill>
                  <ns194:srgbClr val="20262C"/>
                </ns194:solidFill>
                <ns194:latin typeface="Arial"/>
                <ns194:ea typeface="Arial"/>
                <ns194:cs typeface="Arial"/>
              </ns194:rPr>
              <ns194:t>Draft the client update</ns194:t>
            </ns194:r>
          </ns194:p>
        </p:txBody>
      </p:sp>
      <p:cxnSp>
        <p:nvCxnSpPr>
          <p:cNvPr id="133" name="draft.client.document"/>
          <p:cNvCxnSpPr/>
          <p:nvPr/>
        </p:nvCxnSpPr>
        <p:spPr>
          <ns195:xfrm xmlns:ns195="http://schemas.openxmlformats.org/drawingml/2006/main">
            <ns195:off x="3776400" y="3852000"/>
            <ns195:ext cx="273600" cy="1"/>
          </ns195:xfrm>
          <ns196:prstGeom xmlns:ns196="http://schemas.openxmlformats.org/drawingml/2006/main" prst="line">
            <ns196:avLst/>
          </ns196:prstGeom>
          <ns197:ln xmlns:ns197="http://schemas.openxmlformats.org/drawingml/2006/main" w="12700">
            <ns197:solidFill>
              <ns197:srgbClr val="005A9C"/>
            </ns197:solidFill>
            <ns197:tailEnd type="triangle" w="sm" len="sm"/>
          </ns197:ln>
        </p:spPr>
      </p:cxnSp>
      <p:sp>
        <p:nvSpPr>
          <p:cNvPr id="134" name="!!client.user"/>
          <p:cNvSpPr/>
          <p:nvPr/>
        </p:nvSpPr>
        <p:spPr>
          <ns198:xfrm xmlns:ns198="http://schemas.openxmlformats.org/drawingml/2006/main">
            <ns198:off x="457200" y="4262400"/>
            <ns198:ext cx="8229600" cy="187200"/>
          </ns198:xfrm>
          <ns199:prstGeom xmlns:ns199="http://schemas.openxmlformats.org/drawingml/2006/main" prst="rect">
            <ns199:avLst/>
          </ns199:prstGeom>
          <ns200:noFill xmlns:ns200="http://schemas.openxmlformats.org/drawingml/2006/main"/>
          <ns201:ln xmlns:ns201="http://schemas.openxmlformats.org/drawingml/2006/main" w="0">
            <ns201:noFill/>
          </ns201:ln>
        </p:spPr>
        <p:txBody>
          <ns202:bodyPr xmlns:ns202="http://schemas.openxmlformats.org/drawingml/2006/main" wrap="square" lIns="0" rIns="0" tIns="0" bIns="0" anchor="t">
            <ns202:noAutofit/>
          </ns202:bodyPr>
          <ns203:lstStyle xmlns:ns203="http://schemas.openxmlformats.org/drawingml/2006/main"/>
          <ns204:p xmlns:ns204="http://schemas.openxmlformats.org/drawingml/2006/main">
            <ns204:pPr algn="l">
              <ns204:lnSpc>
                <ns204:spcPct val="108000"/>
              </ns204:lnSpc>
              <ns204:defRPr sz="1050" b="0">
                <ns204:solidFill>
                  <ns204:srgbClr val="20262C"/>
                </ns204:solidFill>
                <ns204:latin typeface="Arial"/>
                <ns204:ea typeface="Arial"/>
                <ns204:cs typeface="Arial"/>
              </ns204:defRPr>
            </ns204:pPr>
            <ns204:r>
              <ns204:rPr sz="1050" b="0">
                <ns204:solidFill>
                  <ns204:srgbClr val="20262C"/>
                </ns204:solidFill>
                <ns204:latin typeface="Arial"/>
                <ns204:ea typeface="Arial"/>
                <ns204:cs typeface="Arial"/>
              </ns204:rPr>
              <ns204:t>The client team checks the investment view and submits V1 for review.</ns204:t>
            </ns204:r>
          </ns204:p>
        </p:txBody>
      </p:sp>
    </p:spTree>
    <p:extLst>
      <p:ext uri="{BB962C8B-B14F-4D97-AF65-F5344CB8AC3E}">
        <p14:creationId xmlns:p14="http://schemas.microsoft.com/office/powerpoint/2010/main" val="11856962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Reviewing client communications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Client-material review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client.document"/>
          <p:cNvSpPr/>
          <p:nvPr/>
        </p:nvSpPr>
        <p:spPr>
          <ns38:xfrm xmlns:ns38="http://schemas.openxmlformats.org/drawingml/2006/main">
            <ns38:off x="457200" y="1483200"/>
            <ns38:ext cx="4788000" cy="2592000"/>
          </ns38:xfrm>
          <ns39:prstGeom xmlns:ns39="http://schemas.openxmlformats.org/drawingml/2006/main" prst="rect">
            <ns39:avLst/>
          </ns39:prstGeom>
          <ns40:solidFill xmlns:ns40="http://schemas.openxmlformats.org/drawingml/2006/main">
            <ns40:srgbClr val="FFFFFF"/>
          </ns40:solidFill>
          <ns41:ln xmlns:ns41="http://schemas.openxmlformats.org/drawingml/2006/main" w="9525">
            <ns41:solidFill>
              <ns41:srgbClr val="7363A6"/>
            </ns41:solidFill>
          </ns41:ln>
        </p:spPr>
      </p:sp>
      <p:cxnSp>
        <p:nvCxnSpPr>
          <p:cNvPr id="108" name="client.document.accent"/>
          <p:cNvCxnSpPr/>
          <p:nvPr/>
        </p:nvCxnSpPr>
        <p:spPr>
          <ns42:xfrm xmlns:ns42="http://schemas.openxmlformats.org/drawingml/2006/main">
            <ns42:off x="457200" y="1483200"/>
            <ns42:ext cx="1" cy="2592000"/>
          </ns42:xfrm>
          <ns43:prstGeom xmlns:ns43="http://schemas.openxmlformats.org/drawingml/2006/main" prst="line">
            <ns43:avLst/>
          </ns43:prstGeom>
          <ns44:ln xmlns:ns44="http://schemas.openxmlformats.org/drawingml/2006/main" w="25400">
            <ns44:solidFill>
              <ns44:srgbClr val="7363A6"/>
            </ns44:solidFill>
          </ns44:ln>
        </p:spPr>
      </p:cxnSp>
      <p:sp>
        <p:nvSpPr>
          <p:cNvPr id="109" name="!!clientDoc.title"/>
          <p:cNvSpPr/>
          <p:nvPr/>
        </p:nvSpPr>
        <p:spPr>
          <ns45:xfrm xmlns:ns45="http://schemas.openxmlformats.org/drawingml/2006/main">
            <ns45:off x="558000" y="1562400"/>
            <ns45:ext cx="4320000" cy="216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400" b="1">
                <ns51:solidFill>
                  <ns51:srgbClr val="7363A6"/>
                </ns51:solidFill>
                <ns51:latin typeface="Arial"/>
                <ns51:ea typeface="Arial"/>
                <ns51:cs typeface="Arial"/>
              </ns51:defRPr>
            </ns51:pPr>
            <ns51:r>
              <ns51:rPr sz="1400" b="1">
                <ns51:solidFill>
                  <ns51:srgbClr val="7363A6"/>
                </ns51:solidFill>
                <ns51:latin typeface="Arial"/>
                <ns51:ea typeface="Arial"/>
                <ns51:cs typeface="Arial"/>
              </ns51:rPr>
              <ns51:t>Quarterly client update</ns51:t>
            </ns51:r>
          </ns51:p>
        </p:txBody>
      </p:sp>
      <p:sp>
        <p:nvSpPr>
          <p:cNvPr id="110" name="!!clientDoc.version"/>
          <p:cNvSpPr/>
          <p:nvPr/>
        </p:nvSpPr>
        <p:spPr>
          <ns52:xfrm xmlns:ns52="http://schemas.openxmlformats.org/drawingml/2006/main">
            <ns52:off x="4957200" y="1569600"/>
            <ns52:ext cx="180000" cy="144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r">
              <ns58:lnSpc>
                <ns58:spcPct val="108000"/>
              </ns58:lnSpc>
              <ns58:defRPr sz="1100" b="1">
                <ns58:solidFill>
                  <ns58:srgbClr val="7363A6"/>
                </ns58:solidFill>
                <ns58:latin typeface="Arial"/>
                <ns58:ea typeface="Arial"/>
                <ns58:cs typeface="Arial"/>
              </ns58:defRPr>
            </ns58:pPr>
            <ns58:r>
              <ns58:rPr sz="1100" b="1">
                <ns58:solidFill>
                  <ns58:srgbClr val="7363A6"/>
                </ns58:solidFill>
                <ns58:latin typeface="Arial"/>
                <ns58:ea typeface="Arial"/>
                <ns58:cs typeface="Arial"/>
              </ns58:rPr>
              <ns58:t>V1</ns58:t>
            </ns58:r>
          </ns58:p>
        </p:txBody>
      </p:sp>
      <p:cxnSp>
        <p:nvCxnSpPr>
          <p:cNvPr id="111" name="client.document.rule"/>
          <p:cNvCxnSpPr/>
          <p:nvPr/>
        </p:nvCxnSpPr>
        <p:spPr>
          <ns59:xfrm xmlns:ns59="http://schemas.openxmlformats.org/drawingml/2006/main">
            <ns59:off x="558000" y="1821600"/>
            <ns59:ext cx="4586400" cy="1"/>
          </ns59:xfrm>
          <ns60:prstGeom xmlns:ns60="http://schemas.openxmlformats.org/drawingml/2006/main" prst="line">
            <ns60:avLst/>
          </ns60:prstGeom>
          <ns61:ln xmlns:ns61="http://schemas.openxmlformats.org/drawingml/2006/main" w="6350">
            <ns61:solidFill>
              <ns61:srgbClr val="7363A6"/>
            </ns61:solidFill>
          </ns61:ln>
        </p:spPr>
      </p:cxnSp>
      <p:sp>
        <p:nvSpPr>
          <p:cNvPr id="112" name="!!clientDoc.label.product"/>
          <p:cNvSpPr/>
          <p:nvPr/>
        </p:nvSpPr>
        <p:spPr>
          <ns62:xfrm xmlns:ns62="http://schemas.openxmlformats.org/drawingml/2006/main">
            <ns62:off x="586800" y="1933200"/>
            <ns62:ext cx="1044000" cy="2088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050" b="1">
                <ns68:solidFill>
                  <ns68:srgbClr val="687782"/>
                </ns68:solidFill>
                <ns68:latin typeface="Arial"/>
                <ns68:ea typeface="Arial"/>
                <ns68:cs typeface="Arial"/>
              </ns68:defRPr>
            </ns68:pPr>
            <ns68:r>
              <ns68:rPr sz="1050" b="1">
                <ns68:solidFill>
                  <ns68:srgbClr val="687782"/>
                </ns68:solidFill>
                <ns68:latin typeface="Arial"/>
                <ns68:ea typeface="Arial"/>
                <ns68:cs typeface="Arial"/>
              </ns68:rPr>
              <ns68:t>Fund name</ns68:t>
            </ns68:r>
          </ns68:p>
        </p:txBody>
      </p:sp>
      <p:sp>
        <p:nvSpPr>
          <p:cNvPr id="113" name="!!clientDoc.value.product"/>
          <p:cNvSpPr/>
          <p:nvPr/>
        </p:nvSpPr>
        <p:spPr>
          <ns69:xfrm xmlns:ns69="http://schemas.openxmlformats.org/drawingml/2006/main">
            <ns69:off x="1699200" y="1933200"/>
            <ns69:ext cx="3409200" cy="252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150" b="0">
                <ns75:solidFill>
                  <ns75:srgbClr val="20262C"/>
                </ns75:solidFill>
                <ns75:latin typeface="Arial"/>
                <ns75:ea typeface="Arial"/>
                <ns75:cs typeface="Arial"/>
              </ns75:defRPr>
            </ns75:pPr>
            <ns75:r>
              <ns75:rPr sz="1150" b="0">
                <ns75:solidFill>
                  <ns75:srgbClr val="20262C"/>
                </ns75:solidFill>
                <ns75:latin typeface="Arial"/>
                <ns75:ea typeface="Arial"/>
                <ns75:cs typeface="Arial"/>
              </ns75:rPr>
              <ns75:t>Product A Select</ns75:t>
            </ns75:r>
          </ns75:p>
        </p:txBody>
      </p:sp>
      <p:sp>
        <p:nvSpPr>
          <p:cNvPr id="114" name="!!clientDoc.label.period"/>
          <p:cNvSpPr/>
          <p:nvPr/>
        </p:nvSpPr>
        <p:spPr>
          <ns76:xfrm xmlns:ns76="http://schemas.openxmlformats.org/drawingml/2006/main">
            <ns76:off x="586800" y="2250000"/>
            <ns76:ext cx="1044000" cy="2088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050" b="1">
                <ns82:solidFill>
                  <ns82:srgbClr val="687782"/>
                </ns82:solidFill>
                <ns82:latin typeface="Arial"/>
                <ns82:ea typeface="Arial"/>
                <ns82:cs typeface="Arial"/>
              </ns82:defRPr>
            </ns82:pPr>
            <ns82:r>
              <ns82:rPr sz="1050" b="1">
                <ns82:solidFill>
                  <ns82:srgbClr val="687782"/>
                </ns82:solidFill>
                <ns82:latin typeface="Arial"/>
                <ns82:ea typeface="Arial"/>
                <ns82:cs typeface="Arial"/>
              </ns82:rPr>
              <ns82:t>Source version</ns82:t>
            </ns82:r>
          </ns82:p>
        </p:txBody>
      </p:sp>
      <p:sp>
        <p:nvSpPr>
          <p:cNvPr id="115" name="!!clientDoc.value.period"/>
          <p:cNvSpPr/>
          <p:nvPr/>
        </p:nvSpPr>
        <p:spPr>
          <ns83:xfrm xmlns:ns83="http://schemas.openxmlformats.org/drawingml/2006/main">
            <ns83:off x="1699200" y="2250000"/>
            <ns83:ext cx="3409200" cy="2520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8000"/>
              </ns89:lnSpc>
              <ns89:defRPr sz="1150" b="0">
                <ns89:solidFill>
                  <ns89:srgbClr val="20262C"/>
                </ns89:solidFill>
                <ns89:latin typeface="Arial"/>
                <ns89:ea typeface="Arial"/>
                <ns89:cs typeface="Arial"/>
              </ns89:defRPr>
            </ns89:pPr>
            <ns89:r>
              <ns89:rPr sz="1150" b="0">
                <ns89:solidFill>
                  <ns89:srgbClr val="20262C"/>
                </ns89:solidFill>
                <ns89:latin typeface="Arial"/>
                <ns89:ea typeface="Arial"/>
                <ns89:cs typeface="Arial"/>
              </ns89:rPr>
              <ns89:t>Q2 2026 product information, V1</ns89:t>
            </ns89:r>
          </ns89:p>
        </p:txBody>
      </p:sp>
      <p:sp>
        <p:nvSpPr>
          <p:cNvPr id="116" name="client.highlight.view"/>
          <p:cNvSpPr/>
          <p:nvPr/>
        </p:nvSpPr>
        <p:spPr>
          <ns90:xfrm xmlns:ns90="http://schemas.openxmlformats.org/drawingml/2006/main">
            <ns90:off x="536400" y="2548800"/>
            <ns90:ext cx="4629600" cy="766800"/>
          </ns90:xfrm>
          <ns91:prstGeom xmlns:ns91="http://schemas.openxmlformats.org/drawingml/2006/main" prst="rect">
            <ns91:avLst/>
          </ns91:prstGeom>
          <ns92:solidFill xmlns:ns92="http://schemas.openxmlformats.org/drawingml/2006/main">
            <ns92:srgbClr val="FFF0BE"/>
          </ns92:solidFill>
          <ns93:ln xmlns:ns93="http://schemas.openxmlformats.org/drawingml/2006/main" w="0">
            <ns93:noFill/>
          </ns93:ln>
        </p:spPr>
      </p:sp>
      <p:sp>
        <p:nvSpPr>
          <p:cNvPr id="117" name="!!clientDoc.label.view"/>
          <p:cNvSpPr/>
          <p:nvPr/>
        </p:nvSpPr>
        <p:spPr>
          <ns94:xfrm xmlns:ns94="http://schemas.openxmlformats.org/drawingml/2006/main">
            <ns94:off x="586800" y="2577600"/>
            <ns94:ext cx="4528800" cy="1620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8000"/>
              </ns100:lnSpc>
              <ns100:defRPr sz="1050" b="1">
                <ns100:solidFill>
                  <ns100:srgbClr val="20262C"/>
                </ns100:solidFill>
                <ns100:latin typeface="Arial"/>
                <ns100:ea typeface="Arial"/>
                <ns100:cs typeface="Arial"/>
              </ns100:defRPr>
            </ns100:pPr>
            <ns100:r>
              <ns100:rPr sz="1050" b="1">
                <ns100:solidFill>
                  <ns100:srgbClr val="20262C"/>
                </ns100:solidFill>
                <ns100:latin typeface="Arial"/>
                <ns100:ea typeface="Arial"/>
                <ns100:cs typeface="Arial"/>
              </ns100:rPr>
              <ns100:t>Investment view</ns100:t>
            </ns100:r>
          </ns100:p>
        </p:txBody>
      </p:sp>
      <p:sp>
        <p:nvSpPr>
          <p:cNvPr id="118" name="!!clientDoc.value.view"/>
          <p:cNvSpPr/>
          <p:nvPr/>
        </p:nvSpPr>
        <p:spPr>
          <ns101:xfrm xmlns:ns101="http://schemas.openxmlformats.org/drawingml/2006/main">
            <ns101:off x="586800" y="2757600"/>
            <ns101:ext cx="4528800" cy="576000"/>
          </ns101:xfrm>
          <ns102:prstGeom xmlns:ns102="http://schemas.openxmlformats.org/drawingml/2006/main" prst="rect">
            <ns102:avLst/>
          </ns102:prstGeom>
          <ns103:noFill xmlns:ns103="http://schemas.openxmlformats.org/drawingml/2006/main"/>
          <ns104:ln xmlns:ns104="http://schemas.openxmlformats.org/drawingml/2006/main" w="0">
            <ns104:noFill/>
          </ns104:ln>
        </p:spPr>
        <p:txBody>
          <ns105:bodyPr xmlns:ns105="http://schemas.openxmlformats.org/drawingml/2006/main" wrap="square" lIns="0" rIns="0" tIns="0" bIns="0" anchor="t">
            <ns105:noAutofit/>
          </ns105:bodyPr>
          <ns106:lstStyle xmlns:ns106="http://schemas.openxmlformats.org/drawingml/2006/main"/>
          <ns107:p xmlns:ns107="http://schemas.openxmlformats.org/drawingml/2006/main">
            <ns107:pPr algn="l">
              <ns107:lnSpc>
                <ns107:spcPct val="108000"/>
              </ns107:lnSpc>
              <ns107:defRPr sz="1150" b="0">
                <ns107:solidFill>
                  <ns107:srgbClr val="20262C"/>
                </ns107:solidFill>
                <ns107:latin typeface="Arial"/>
                <ns107:ea typeface="Arial"/>
                <ns107:cs typeface="Arial"/>
              </ns107:defRPr>
            </ns107:pPr>
            <ns107:r>
              <ns107:rPr sz="1150" b="0">
                <ns107:solidFill>
                  <ns107:srgbClr val="20262C"/>
                </ns107:solidFill>
                <ns107:latin typeface="Arial"/>
                <ns107:ea typeface="Arial"/>
                <ns107:cs typeface="Arial"/>
              </ns107:rPr>
              <ns107:t>Higher sales volumes drove Company A’s revenue growth.</ns107:t>
            </ns107:r>
          </ns107:p>
          <ns108:p xmlns:ns108="http://schemas.openxmlformats.org/drawingml/2006/main">
            <ns108:pPr algn="l">
              <ns108:lnSpc>
                <ns108:spcPct val="108000"/>
              </ns108:lnSpc>
              <ns108:defRPr sz="1150" b="0">
                <ns108:solidFill>
                  <ns108:srgbClr val="20262C"/>
                </ns108:solidFill>
                <ns108:latin typeface="Arial"/>
                <ns108:ea typeface="Arial"/>
                <ns108:cs typeface="Arial"/>
              </ns108:defRPr>
            </ns108:pPr>
            <ns108:r>
              <ns108:rPr sz="1150" b="0">
                <ns108:solidFill>
                  <ns108:srgbClr val="20262C"/>
                </ns108:solidFill>
                <ns108:latin typeface="Arial"/>
                <ns108:ea typeface="Arial"/>
                <ns108:cs typeface="Arial"/>
              </ns108:rPr>
              <ns108:t>We are monitoring raw-material costs.</ns108:t>
            </ns108:r>
          </ns108:p>
        </p:txBody>
      </p:sp>
      <p:sp>
        <p:nvSpPr>
          <p:cNvPr id="119" name="!!clientDoc.label.risk"/>
          <p:cNvSpPr/>
          <p:nvPr/>
        </p:nvSpPr>
        <p:spPr>
          <ns109:xfrm xmlns:ns109="http://schemas.openxmlformats.org/drawingml/2006/main">
            <ns109:off x="586800" y="3434400"/>
            <ns109:ext cx="4528800" cy="1620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050" b="1">
                <ns115:solidFill>
                  <ns115:srgbClr val="20262C"/>
                </ns115:solidFill>
                <ns115:latin typeface="Arial"/>
                <ns115:ea typeface="Arial"/>
                <ns115:cs typeface="Arial"/>
              </ns115:defRPr>
            </ns115:pPr>
            <ns115:r>
              <ns115:rPr sz="1050" b="1">
                <ns115:solidFill>
                  <ns115:srgbClr val="20262C"/>
                </ns115:solidFill>
                <ns115:latin typeface="Arial"/>
                <ns115:ea typeface="Arial"/>
                <ns115:cs typeface="Arial"/>
              </ns115:rPr>
              <ns115:t>Risk disclosure</ns115:t>
            </ns115:r>
          </ns115:p>
        </p:txBody>
      </p:sp>
      <p:sp>
        <p:nvSpPr>
          <p:cNvPr id="120" name="!!clientDoc.value.risk"/>
          <p:cNvSpPr/>
          <p:nvPr/>
        </p:nvSpPr>
        <p:spPr>
          <ns116:xfrm xmlns:ns116="http://schemas.openxmlformats.org/drawingml/2006/main">
            <ns116:off x="586800" y="3614400"/>
            <ns116:ext cx="4528800" cy="2844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Investing involves risk.</ns122:t>
            </ns122:r>
          </ns122:p>
        </p:txBody>
      </p:sp>
      <p:sp>
        <p:nvSpPr>
          <p:cNvPr id="121" name="!!review.reference.label"/>
          <p:cNvSpPr/>
          <p:nvPr/>
        </p:nvSpPr>
        <p:spPr>
          <ns123:xfrm xmlns:ns123="http://schemas.openxmlformats.org/drawingml/2006/main">
            <ns123:off x="5598000" y="1519200"/>
            <ns123:ext cx="3088800" cy="345600"/>
          </ns123:xfrm>
          <ns124:prstGeom xmlns:ns124="http://schemas.openxmlformats.org/drawingml/2006/main" prst="rect">
            <ns124:avLst/>
          </ns124:prstGeom>
          <ns125:noFill xmlns:ns125="http://schemas.openxmlformats.org/drawingml/2006/main"/>
          <ns126:ln xmlns:ns126="http://schemas.openxmlformats.org/drawingml/2006/main" w="0">
            <ns126:noFill/>
          </ns126:ln>
        </p:spPr>
        <p:txBody>
          <ns127:bodyPr xmlns:ns127="http://schemas.openxmlformats.org/drawingml/2006/main" wrap="square" lIns="0" rIns="0" tIns="0" bIns="0" anchor="t">
            <ns127:noAutofit/>
          </ns127:bodyPr>
          <ns128:lstStyle xmlns:ns128="http://schemas.openxmlformats.org/drawingml/2006/main"/>
          <ns129:p xmlns:ns129="http://schemas.openxmlformats.org/drawingml/2006/main">
            <ns129:pPr algn="l">
              <ns129:lnSpc>
                <ns129:spcPct val="108000"/>
              </ns129:lnSpc>
              <ns129:defRPr sz="1200" b="1">
                <ns129:solidFill>
                  <ns129:srgbClr val="005A9C"/>
                </ns129:solidFill>
                <ns129:latin typeface="Arial"/>
                <ns129:ea typeface="Arial"/>
                <ns129:cs typeface="Arial"/>
              </ns129:defRPr>
            </ns129:pPr>
            <ns129:r>
              <ns129:rPr sz="1200" b="1">
                <ns129:solidFill>
                  <ns129:srgbClr val="005A9C"/>
                </ns129:solidFill>
                <ns129:latin typeface="Arial"/>
                <ns129:ea typeface="Arial"/>
                <ns129:cs typeface="Arial"/>
              </ns129:rPr>
              <ns129:t>Current portfolio manager presentation</ns129:t>
            </ns129:r>
          </ns129:p>
        </p:txBody>
      </p:sp>
      <p:sp>
        <p:nvSpPr>
          <p:cNvPr id="122" name="!!review.reference.text"/>
          <p:cNvSpPr/>
          <p:nvPr/>
        </p:nvSpPr>
        <p:spPr>
          <ns130:xfrm xmlns:ns130="http://schemas.openxmlformats.org/drawingml/2006/main">
            <ns130:off x="5598000" y="1954800"/>
            <ns130:ext cx="3088800" cy="756000"/>
          </ns130:xfrm>
          <ns131:prstGeom xmlns:ns131="http://schemas.openxmlformats.org/drawingml/2006/main" prst="rect">
            <ns131:avLst/>
          </ns131:prstGeom>
          <ns132:noFill xmlns:ns132="http://schemas.openxmlformats.org/drawingml/2006/main"/>
          <ns133:ln xmlns:ns133="http://schemas.openxmlformats.org/drawingml/2006/main" w="0">
            <ns133:noFill/>
          </ns133:ln>
        </p:spPr>
        <p:txBody>
          <ns134:bodyPr xmlns:ns134="http://schemas.openxmlformats.org/drawingml/2006/main" wrap="square" lIns="0" rIns="0" tIns="0" bIns="0" anchor="t">
            <ns134:noAutofit/>
          </ns134:bodyPr>
          <ns135:lstStyle xmlns:ns135="http://schemas.openxmlformats.org/drawingml/2006/main"/>
          <ns136:p xmlns:ns136="http://schemas.openxmlformats.org/drawingml/2006/main">
            <ns136:pPr algn="l">
              <ns136:lnSpc>
                <ns136:spcPct val="108000"/>
              </ns136:lnSpc>
              <ns136:defRPr sz="1200" b="0">
                <ns136:solidFill>
                  <ns136:srgbClr val="20262C"/>
                </ns136:solidFill>
                <ns136:latin typeface="Arial"/>
                <ns136:ea typeface="Arial"/>
                <ns136:cs typeface="Arial"/>
              </ns136:defRPr>
            </ns136:pPr>
            <ns136:r>
              <ns136:rPr sz="1200" b="0">
                <ns136:solidFill>
                  <ns136:srgbClr val="20262C"/>
                </ns136:solidFill>
                <ns136:latin typeface="Arial"/>
                <ns136:ea typeface="Arial"/>
                <ns136:cs typeface="Arial"/>
              </ns136:rPr>
              <ns136:t>“Channel restocking lifted sales volumes.</ns136:t>
            </ns136:r>
          </ns136:p>
          <ns137:p xmlns:ns137="http://schemas.openxmlformats.org/drawingml/2006/main">
            <ns137:pPr algn="l">
              <ns137:lnSpc>
                <ns137:spcPct val="108000"/>
              </ns137:lnSpc>
              <ns137:defRPr sz="1200" b="0">
                <ns137:solidFill>
                  <ns137:srgbClr val="20262C"/>
                </ns137:solidFill>
                <ns137:latin typeface="Arial"/>
                <ns137:ea typeface="Arial"/>
                <ns137:cs typeface="Arial"/>
              </ns137:defRPr>
            </ns137:pPr>
            <ns137:r>
              <ns137:rPr sz="1200" b="0">
                <ns137:solidFill>
                  <ns137:srgbClr val="20262C"/>
                </ns137:solidFill>
                <ns137:latin typeface="Arial"/>
                <ns137:ea typeface="Arial"/>
                <ns137:cs typeface="Arial"/>
              </ns137:rPr>
              <ns137:t>We are monitoring whether it will continue.”</ns137:t>
            </ns137:r>
          </ns137:p>
        </p:txBody>
      </p:sp>
      <p:sp>
        <p:nvSpPr>
          <p:cNvPr id="123" name="!!review.questions.title"/>
          <p:cNvSpPr/>
          <p:nvPr/>
        </p:nvSpPr>
        <p:spPr>
          <ns138:xfrm xmlns:ns138="http://schemas.openxmlformats.org/drawingml/2006/main">
            <ns138:off x="5598000" y="2880000"/>
            <ns138:ext cx="3088800" cy="2232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8000"/>
              </ns144:lnSpc>
              <ns144:defRPr sz="1300" b="1">
                <ns144:solidFill>
                  <ns144:srgbClr val="005A9C"/>
                </ns144:solidFill>
                <ns144:latin typeface="Arial"/>
                <ns144:ea typeface="Arial"/>
                <ns144:cs typeface="Arial"/>
              </ns144:defRPr>
            </ns144:pPr>
            <ns144:r>
              <ns144:rPr sz="1300" b="1">
                <ns144:solidFill>
                  <ns144:srgbClr val="005A9C"/>
                </ns144:solidFill>
                <ns144:latin typeface="Arial"/>
                <ns144:ea typeface="Arial"/>
                <ns144:cs typeface="Arial"/>
              </ns144:rPr>
              <ns144:t>Review criteria</ns144:t>
            </ns144:r>
          </ns144:p>
        </p:txBody>
      </p:sp>
      <p:cxnSp>
        <p:nvCxnSpPr>
          <p:cNvPr id="124" name="review.questions.title.rule"/>
          <p:cNvCxnSpPr/>
          <p:nvPr/>
        </p:nvCxnSpPr>
        <p:spPr>
          <ns145:xfrm xmlns:ns145="http://schemas.openxmlformats.org/drawingml/2006/main">
            <ns145:off x="5598000" y="3139200"/>
            <ns145:ext cx="3088800" cy="1"/>
          </ns145:xfrm>
          <ns146:prstGeom xmlns:ns146="http://schemas.openxmlformats.org/drawingml/2006/main" prst="line">
            <ns146:avLst/>
          </ns146:prstGeom>
          <ns147:ln xmlns:ns147="http://schemas.openxmlformats.org/drawingml/2006/main" w="12700">
            <ns147:solidFill>
              <ns147:srgbClr val="005A9C"/>
            </ns147:solidFill>
          </ns147:ln>
        </p:spPr>
      </p:cxnSp>
      <p:sp>
        <p:nvSpPr>
          <p:cNvPr id="125" name="!!review.questions"/>
          <p:cNvSpPr/>
          <p:nvPr/>
        </p:nvSpPr>
        <p:spPr>
          <ns148:xfrm xmlns:ns148="http://schemas.openxmlformats.org/drawingml/2006/main">
            <ns148:off x="5598000" y="3283200"/>
            <ns148:ext cx="3088800" cy="784800"/>
          </ns148:xfrm>
          <ns149:prstGeom xmlns:ns149="http://schemas.openxmlformats.org/drawingml/2006/main" prst="rect">
            <ns149:avLst/>
          </ns149:prstGeom>
          <ns150:noFill xmlns:ns150="http://schemas.openxmlformats.org/drawingml/2006/main"/>
          <ns151:ln xmlns:ns151="http://schemas.openxmlformats.org/drawingml/2006/main" w="0">
            <ns151:noFill/>
          </ns151:ln>
        </p:spPr>
        <p:txBody>
          <ns152:bodyPr xmlns:ns152="http://schemas.openxmlformats.org/drawingml/2006/main" wrap="square" lIns="0" rIns="0" tIns="0" bIns="0" anchor="t">
            <ns152:noAutofit/>
          </ns152:bodyPr>
          <ns153:lstStyle xmlns:ns153="http://schemas.openxmlformats.org/drawingml/2006/main"/>
          <ns154:p xmlns:ns154="http://schemas.openxmlformats.org/drawingml/2006/main">
            <ns154:pPr algn="l">
              <ns154:lnSpc>
                <ns154:spcPct val="108000"/>
              </ns154:lnSpc>
              <ns154:defRPr sz="1200" b="0">
                <ns154:solidFill>
                  <ns154:srgbClr val="20262C"/>
                </ns154:solidFill>
                <ns154:latin typeface="Arial"/>
                <ns154:ea typeface="Arial"/>
                <ns154:cs typeface="Arial"/>
              </ns154:defRPr>
            </ns154:pPr>
            <ns154:r>
              <ns154:rPr sz="1200" b="0">
                <ns154:solidFill>
                  <ns154:srgbClr val="20262C"/>
                </ns154:solidFill>
                <ns154:latin typeface="Arial"/>
                <ns154:ea typeface="Arial"/>
                <ns154:cs typeface="Arial"/>
              </ns154:rPr>
              <ns154:t>Does the draft explain the growth driver?</ns154:t>
            </ns154:r>
          </ns154:p>
          <ns155:p xmlns:ns155="http://schemas.openxmlformats.org/drawingml/2006/main">
            <ns155:pPr algn="l">
              <ns155:lnSpc>
                <ns155:spcPct val="108000"/>
              </ns155:lnSpc>
              <ns155:defRPr sz="1200" b="0">
                <ns155:solidFill>
                  <ns155:srgbClr val="20262C"/>
                </ns155:solidFill>
                <ns155:latin typeface="Arial"/>
                <ns155:ea typeface="Arial"/>
                <ns155:cs typeface="Arial"/>
              </ns155:defRPr>
            </ns155:pPr>
            <ns155:r>
              <ns155:rPr sz="1200" b="0">
                <ns155:solidFill>
                  <ns155:srgbClr val="20262C"/>
                </ns155:solidFill>
                <ns155:latin typeface="Arial"/>
                <ns155:ea typeface="Arial"/>
                <ns155:cs typeface="Arial"/>
              </ns155:rPr>
              <ns155:t>Does it preserve the source’s uncertainty?</ns155:t>
            </ns155:r>
          </ns155:p>
        </p:txBody>
      </p:sp>
      <p:sp>
        <p:nvSpPr>
          <p:cNvPr id="126" name="!!review.manual"/>
          <p:cNvSpPr/>
          <p:nvPr/>
        </p:nvSpPr>
        <p:spPr>
          <ns156:xfrm xmlns:ns156="http://schemas.openxmlformats.org/drawingml/2006/main">
            <ns156:off x="457200" y="4230000"/>
            <ns156:ext cx="8229600" cy="187200"/>
          </ns156:xfrm>
          <ns157:prstGeom xmlns:ns157="http://schemas.openxmlformats.org/drawingml/2006/main" prst="rect">
            <ns157:avLst/>
          </ns157:prstGeom>
          <ns158:noFill xmlns:ns158="http://schemas.openxmlformats.org/drawingml/2006/main"/>
          <ns159:ln xmlns:ns159="http://schemas.openxmlformats.org/drawingml/2006/main" w="0">
            <ns159:noFill/>
          </ns159:ln>
        </p:spPr>
        <p:txBody>
          <ns160:bodyPr xmlns:ns160="http://schemas.openxmlformats.org/drawingml/2006/main" wrap="square" lIns="0" rIns="0" tIns="0" bIns="0" anchor="t">
            <ns160:noAutofit/>
          </ns160:bodyPr>
          <ns161:lstStyle xmlns:ns161="http://schemas.openxmlformats.org/drawingml/2006/main"/>
          <ns162:p xmlns:ns162="http://schemas.openxmlformats.org/drawingml/2006/main">
            <ns162:pPr algn="l">
              <ns162:lnSpc>
                <ns162:spcPct val="108000"/>
              </ns162:lnSpc>
              <ns162:defRPr sz="1050" b="0">
                <ns162:solidFill>
                  <ns162:srgbClr val="20262C"/>
                </ns162:solidFill>
                <ns162:latin typeface="Arial"/>
                <ns162:ea typeface="Arial"/>
                <ns162:cs typeface="Arial"/>
              </ns162:defRPr>
            </ns162:pPr>
            <ns162:r>
              <ns162:rPr sz="1050" b="0">
                <ns162:solidFill>
                  <ns162:srgbClr val="20262C"/>
                </ns162:solidFill>
                <ns162:latin typeface="Arial"/>
                <ns162:ea typeface="Arial"/>
                <ns162:cs typeface="Arial"/>
              </ns162:rPr>
              <ns162:t>Check the investment view, fund details and risk disclosure against current sources.</ns162:t>
            </ns162:r>
          </ns162:p>
        </p:txBody>
      </p:sp>
    </p:spTree>
    <p:extLst>
      <p:ext uri="{BB962C8B-B14F-4D97-AF65-F5344CB8AC3E}">
        <p14:creationId xmlns:p14="http://schemas.microsoft.com/office/powerpoint/2010/main" val="5430286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Penghua and Yingmi: reviewing client materials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Client-material review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Penghua / AMAC; Yingmi</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client.document"/>
          <p:cNvSpPr/>
          <p:nvPr/>
        </p:nvSpPr>
        <p:spPr>
          <ns45:xfrm xmlns:ns45="http://schemas.openxmlformats.org/drawingml/2006/main">
            <ns45:off x="457200" y="1483200"/>
            <ns45:ext cx="4788000" cy="2592000"/>
          </ns45:xfrm>
          <ns46:prstGeom xmlns:ns46="http://schemas.openxmlformats.org/drawingml/2006/main" prst="rect">
            <ns46:avLst/>
          </ns46:prstGeom>
          <ns47:solidFill xmlns:ns47="http://schemas.openxmlformats.org/drawingml/2006/main">
            <ns47:srgbClr val="FFFFFF"/>
          </ns47:solidFill>
          <ns48:ln xmlns:ns48="http://schemas.openxmlformats.org/drawingml/2006/main" w="9525">
            <ns48:solidFill>
              <ns48:srgbClr val="7363A6"/>
            </ns48:solidFill>
          </ns48:ln>
        </p:spPr>
      </p:sp>
      <p:cxnSp>
        <p:nvCxnSpPr>
          <p:cNvPr id="109" name="client.document.accent"/>
          <p:cNvCxnSpPr/>
          <p:nvPr/>
        </p:nvCxnSpPr>
        <p:spPr>
          <ns49:xfrm xmlns:ns49="http://schemas.openxmlformats.org/drawingml/2006/main">
            <ns49:off x="457200" y="1483200"/>
            <ns49:ext cx="1" cy="2592000"/>
          </ns49:xfrm>
          <ns50:prstGeom xmlns:ns50="http://schemas.openxmlformats.org/drawingml/2006/main" prst="line">
            <ns50:avLst/>
          </ns50:prstGeom>
          <ns51:ln xmlns:ns51="http://schemas.openxmlformats.org/drawingml/2006/main" w="25400">
            <ns51:solidFill>
              <ns51:srgbClr val="7363A6"/>
            </ns51:solidFill>
          </ns51:ln>
        </p:spPr>
      </p:cxnSp>
      <p:sp>
        <p:nvSpPr>
          <p:cNvPr id="110" name="!!clientDoc.title"/>
          <p:cNvSpPr/>
          <p:nvPr/>
        </p:nvSpPr>
        <p:spPr>
          <ns52:xfrm xmlns:ns52="http://schemas.openxmlformats.org/drawingml/2006/main">
            <ns52:off x="558000" y="1562400"/>
            <ns52:ext cx="4320000" cy="216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400" b="1">
                <ns58:solidFill>
                  <ns58:srgbClr val="7363A6"/>
                </ns58:solidFill>
                <ns58:latin typeface="Arial"/>
                <ns58:ea typeface="Arial"/>
                <ns58:cs typeface="Arial"/>
              </ns58:defRPr>
            </ns58:pPr>
            <ns58:r>
              <ns58:rPr sz="1400" b="1">
                <ns58:solidFill>
                  <ns58:srgbClr val="7363A6"/>
                </ns58:solidFill>
                <ns58:latin typeface="Arial"/>
                <ns58:ea typeface="Arial"/>
                <ns58:cs typeface="Arial"/>
              </ns58:rPr>
              <ns58:t>Quarterly client update</ns58:t>
            </ns58:r>
          </ns58:p>
        </p:txBody>
      </p:sp>
      <p:sp>
        <p:nvSpPr>
          <p:cNvPr id="111" name="!!clientDoc.version"/>
          <p:cNvSpPr/>
          <p:nvPr/>
        </p:nvSpPr>
        <p:spPr>
          <ns59:xfrm xmlns:ns59="http://schemas.openxmlformats.org/drawingml/2006/main">
            <ns59:off x="4957200" y="1569600"/>
            <ns59:ext cx="180000" cy="1440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r">
              <ns65:lnSpc>
                <ns65:spcPct val="108000"/>
              </ns65:lnSpc>
              <ns65:defRPr sz="1100" b="1">
                <ns65:solidFill>
                  <ns65:srgbClr val="7363A6"/>
                </ns65:solidFill>
                <ns65:latin typeface="Arial"/>
                <ns65:ea typeface="Arial"/>
                <ns65:cs typeface="Arial"/>
              </ns65:defRPr>
            </ns65:pPr>
            <ns65:r>
              <ns65:rPr sz="1100" b="1">
                <ns65:solidFill>
                  <ns65:srgbClr val="7363A6"/>
                </ns65:solidFill>
                <ns65:latin typeface="Arial"/>
                <ns65:ea typeface="Arial"/>
                <ns65:cs typeface="Arial"/>
              </ns65:rPr>
              <ns65:t>V1</ns65:t>
            </ns65:r>
          </ns65:p>
        </p:txBody>
      </p:sp>
      <p:cxnSp>
        <p:nvCxnSpPr>
          <p:cNvPr id="112" name="client.document.rule"/>
          <p:cNvCxnSpPr/>
          <p:nvPr/>
        </p:nvCxnSpPr>
        <p:spPr>
          <ns66:xfrm xmlns:ns66="http://schemas.openxmlformats.org/drawingml/2006/main">
            <ns66:off x="558000" y="1821600"/>
            <ns66:ext cx="4586400" cy="1"/>
          </ns66:xfrm>
          <ns67:prstGeom xmlns:ns67="http://schemas.openxmlformats.org/drawingml/2006/main" prst="line">
            <ns67:avLst/>
          </ns67:prstGeom>
          <ns68:ln xmlns:ns68="http://schemas.openxmlformats.org/drawingml/2006/main" w="6350">
            <ns68:solidFill>
              <ns68:srgbClr val="7363A6"/>
            </ns68:solidFill>
          </ns68:ln>
        </p:spPr>
      </p:cxnSp>
      <p:sp>
        <p:nvSpPr>
          <p:cNvPr id="113" name="client.highlight.product"/>
          <p:cNvSpPr/>
          <p:nvPr/>
        </p:nvSpPr>
        <p:spPr>
          <ns69:xfrm xmlns:ns69="http://schemas.openxmlformats.org/drawingml/2006/main">
            <ns69:off x="536400" y="1904400"/>
            <ns69:ext cx="4629600" cy="280800"/>
          </ns69:xfrm>
          <ns70:prstGeom xmlns:ns70="http://schemas.openxmlformats.org/drawingml/2006/main" prst="rect">
            <ns70:avLst/>
          </ns70:prstGeom>
          <ns71:solidFill xmlns:ns71="http://schemas.openxmlformats.org/drawingml/2006/main">
            <ns71:srgbClr val="FFF0BE"/>
          </ns71:solidFill>
          <ns72:ln xmlns:ns72="http://schemas.openxmlformats.org/drawingml/2006/main" w="0">
            <ns72:noFill/>
          </ns72:ln>
        </p:spPr>
      </p:sp>
      <p:sp>
        <p:nvSpPr>
          <p:cNvPr id="114" name="!!clientDoc.label.product"/>
          <p:cNvSpPr/>
          <p:nvPr/>
        </p:nvSpPr>
        <p:spPr>
          <ns73:xfrm xmlns:ns73="http://schemas.openxmlformats.org/drawingml/2006/main">
            <ns73:off x="586800" y="1933200"/>
            <ns73:ext cx="1044000" cy="2088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8000"/>
              </ns79:lnSpc>
              <ns79:defRPr sz="1050" b="1">
                <ns79:solidFill>
                  <ns79:srgbClr val="687782"/>
                </ns79:solidFill>
                <ns79:latin typeface="Arial"/>
                <ns79:ea typeface="Arial"/>
                <ns79:cs typeface="Arial"/>
              </ns79:defRPr>
            </ns79:pPr>
            <ns79:r>
              <ns79:rPr sz="1050" b="1">
                <ns79:solidFill>
                  <ns79:srgbClr val="687782"/>
                </ns79:solidFill>
                <ns79:latin typeface="Arial"/>
                <ns79:ea typeface="Arial"/>
                <ns79:cs typeface="Arial"/>
              </ns79:rPr>
              <ns79:t>Fund name</ns79:t>
            </ns79:r>
          </ns79:p>
        </p:txBody>
      </p:sp>
      <p:sp>
        <p:nvSpPr>
          <p:cNvPr id="115" name="!!clientDoc.value.product"/>
          <p:cNvSpPr/>
          <p:nvPr/>
        </p:nvSpPr>
        <p:spPr>
          <ns80:xfrm xmlns:ns80="http://schemas.openxmlformats.org/drawingml/2006/main">
            <ns80:off x="1699200" y="1933200"/>
            <ns80:ext cx="3409200" cy="252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150" b="0">
                <ns86:solidFill>
                  <ns86:srgbClr val="20262C"/>
                </ns86:solidFill>
                <ns86:latin typeface="Arial"/>
                <ns86:ea typeface="Arial"/>
                <ns86:cs typeface="Arial"/>
              </ns86:defRPr>
            </ns86:pPr>
            <ns86:r>
              <ns86:rPr sz="1150" b="0">
                <ns86:solidFill>
                  <ns86:srgbClr val="20262C"/>
                </ns86:solidFill>
                <ns86:latin typeface="Arial"/>
                <ns86:ea typeface="Arial"/>
                <ns86:cs typeface="Arial"/>
              </ns86:rPr>
              <ns86:t>Product A Select</ns86:t>
            </ns86:r>
          </ns86:p>
        </p:txBody>
      </p:sp>
      <p:sp>
        <p:nvSpPr>
          <p:cNvPr id="116" name="client.highlight.period"/>
          <p:cNvSpPr/>
          <p:nvPr/>
        </p:nvSpPr>
        <p:spPr>
          <ns87:xfrm xmlns:ns87="http://schemas.openxmlformats.org/drawingml/2006/main">
            <ns87:off x="536400" y="2221200"/>
            <ns87:ext cx="4629600" cy="280800"/>
          </ns87:xfrm>
          <ns88:prstGeom xmlns:ns88="http://schemas.openxmlformats.org/drawingml/2006/main" prst="rect">
            <ns88:avLst/>
          </ns88:prstGeom>
          <ns89:solidFill xmlns:ns89="http://schemas.openxmlformats.org/drawingml/2006/main">
            <ns89:srgbClr val="FFF0BE"/>
          </ns89:solidFill>
          <ns90:ln xmlns:ns90="http://schemas.openxmlformats.org/drawingml/2006/main" w="0">
            <ns90:noFill/>
          </ns90:ln>
        </p:spPr>
      </p:sp>
      <p:sp>
        <p:nvSpPr>
          <p:cNvPr id="117" name="!!clientDoc.label.period"/>
          <p:cNvSpPr/>
          <p:nvPr/>
        </p:nvSpPr>
        <p:spPr>
          <ns91:xfrm xmlns:ns91="http://schemas.openxmlformats.org/drawingml/2006/main">
            <ns91:off x="586800" y="2250000"/>
            <ns91:ext cx="1044000" cy="208800"/>
          </ns91:xfrm>
          <ns92:prstGeom xmlns:ns92="http://schemas.openxmlformats.org/drawingml/2006/main" prst="rect">
            <ns92:avLst/>
          </ns92:prstGeom>
          <ns93:noFill xmlns:ns93="http://schemas.openxmlformats.org/drawingml/2006/main"/>
          <ns94:ln xmlns:ns94="http://schemas.openxmlformats.org/drawingml/2006/main" w="0">
            <ns94:noFill/>
          </ns94:ln>
        </p:spPr>
        <p:txBody>
          <ns95:bodyPr xmlns:ns95="http://schemas.openxmlformats.org/drawingml/2006/main" wrap="square" lIns="0" rIns="0" tIns="0" bIns="0" anchor="t">
            <ns95:noAutofit/>
          </ns95:bodyPr>
          <ns96:lstStyle xmlns:ns96="http://schemas.openxmlformats.org/drawingml/2006/main"/>
          <ns97:p xmlns:ns97="http://schemas.openxmlformats.org/drawingml/2006/main">
            <ns97:pPr algn="l">
              <ns97:lnSpc>
                <ns97:spcPct val="108000"/>
              </ns97:lnSpc>
              <ns97:defRPr sz="1050" b="1">
                <ns97:solidFill>
                  <ns97:srgbClr val="687782"/>
                </ns97:solidFill>
                <ns97:latin typeface="Arial"/>
                <ns97:ea typeface="Arial"/>
                <ns97:cs typeface="Arial"/>
              </ns97:defRPr>
            </ns97:pPr>
            <ns97:r>
              <ns97:rPr sz="1050" b="1">
                <ns97:solidFill>
                  <ns97:srgbClr val="687782"/>
                </ns97:solidFill>
                <ns97:latin typeface="Arial"/>
                <ns97:ea typeface="Arial"/>
                <ns97:cs typeface="Arial"/>
              </ns97:rPr>
              <ns97:t>Source version</ns97:t>
            </ns97:r>
          </ns97:p>
        </p:txBody>
      </p:sp>
      <p:sp>
        <p:nvSpPr>
          <p:cNvPr id="118" name="!!clientDoc.value.period"/>
          <p:cNvSpPr/>
          <p:nvPr/>
        </p:nvSpPr>
        <p:spPr>
          <ns98:xfrm xmlns:ns98="http://schemas.openxmlformats.org/drawingml/2006/main">
            <ns98:off x="1699200" y="2250000"/>
            <ns98:ext cx="3409200" cy="252000"/>
          </ns98:xfrm>
          <ns99:prstGeom xmlns:ns99="http://schemas.openxmlformats.org/drawingml/2006/main" prst="rect">
            <ns99:avLst/>
          </ns99:prstGeom>
          <ns100:noFill xmlns:ns100="http://schemas.openxmlformats.org/drawingml/2006/main"/>
          <ns101:ln xmlns:ns101="http://schemas.openxmlformats.org/drawingml/2006/main" w="0">
            <ns101:noFill/>
          </ns101:ln>
        </p:spPr>
        <p:txBody>
          <ns102:bodyPr xmlns:ns102="http://schemas.openxmlformats.org/drawingml/2006/main" wrap="square" lIns="0" rIns="0" tIns="0" bIns="0" anchor="t">
            <ns102:noAutofit/>
          </ns102:bodyPr>
          <ns103:lstStyle xmlns:ns103="http://schemas.openxmlformats.org/drawingml/2006/main"/>
          <ns104:p xmlns:ns104="http://schemas.openxmlformats.org/drawingml/2006/main">
            <ns104:pPr algn="l">
              <ns104:lnSpc>
                <ns104:spcPct val="108000"/>
              </ns104:lnSpc>
              <ns104:defRPr sz="1150" b="0">
                <ns104:solidFill>
                  <ns104:srgbClr val="20262C"/>
                </ns104:solidFill>
                <ns104:latin typeface="Arial"/>
                <ns104:ea typeface="Arial"/>
                <ns104:cs typeface="Arial"/>
              </ns104:defRPr>
            </ns104:pPr>
            <ns104:r>
              <ns104:rPr sz="1150" b="0">
                <ns104:solidFill>
                  <ns104:srgbClr val="20262C"/>
                </ns104:solidFill>
                <ns104:latin typeface="Arial"/>
                <ns104:ea typeface="Arial"/>
                <ns104:cs typeface="Arial"/>
              </ns104:rPr>
              <ns104:t>Q2 2026 product information, V1</ns104:t>
            </ns104:r>
          </ns104:p>
        </p:txBody>
      </p:sp>
      <p:sp>
        <p:nvSpPr>
          <p:cNvPr id="119" name="client.highlight.view"/>
          <p:cNvSpPr/>
          <p:nvPr/>
        </p:nvSpPr>
        <p:spPr>
          <ns105:xfrm xmlns:ns105="http://schemas.openxmlformats.org/drawingml/2006/main">
            <ns105:off x="536400" y="2548800"/>
            <ns105:ext cx="4629600" cy="766800"/>
          </ns105:xfrm>
          <ns106:prstGeom xmlns:ns106="http://schemas.openxmlformats.org/drawingml/2006/main" prst="rect">
            <ns106:avLst/>
          </ns106:prstGeom>
          <ns107:solidFill xmlns:ns107="http://schemas.openxmlformats.org/drawingml/2006/main">
            <ns107:srgbClr val="FFF0BE"/>
          </ns107:solidFill>
          <ns108:ln xmlns:ns108="http://schemas.openxmlformats.org/drawingml/2006/main" w="0">
            <ns108:noFill/>
          </ns108:ln>
        </p:spPr>
      </p:sp>
      <p:sp>
        <p:nvSpPr>
          <p:cNvPr id="120" name="!!clientDoc.label.view"/>
          <p:cNvSpPr/>
          <p:nvPr/>
        </p:nvSpPr>
        <p:spPr>
          <ns109:xfrm xmlns:ns109="http://schemas.openxmlformats.org/drawingml/2006/main">
            <ns109:off x="586800" y="2577600"/>
            <ns109:ext cx="4528800" cy="1620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050" b="1">
                <ns115:solidFill>
                  <ns115:srgbClr val="20262C"/>
                </ns115:solidFill>
                <ns115:latin typeface="Arial"/>
                <ns115:ea typeface="Arial"/>
                <ns115:cs typeface="Arial"/>
              </ns115:defRPr>
            </ns115:pPr>
            <ns115:r>
              <ns115:rPr sz="1050" b="1">
                <ns115:solidFill>
                  <ns115:srgbClr val="20262C"/>
                </ns115:solidFill>
                <ns115:latin typeface="Arial"/>
                <ns115:ea typeface="Arial"/>
                <ns115:cs typeface="Arial"/>
              </ns115:rPr>
              <ns115:t>Investment view</ns115:t>
            </ns115:r>
          </ns115:p>
        </p:txBody>
      </p:sp>
      <p:sp>
        <p:nvSpPr>
          <p:cNvPr id="121" name="!!clientDoc.value.view"/>
          <p:cNvSpPr/>
          <p:nvPr/>
        </p:nvSpPr>
        <p:spPr>
          <ns116:xfrm xmlns:ns116="http://schemas.openxmlformats.org/drawingml/2006/main">
            <ns116:off x="586800" y="2757600"/>
            <ns116:ext cx="4528800" cy="5760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Higher sales volumes drove Company A’s revenue growth.</ns122:t>
            </ns122:r>
          </ns122:p>
          <ns123:p xmlns:ns123="http://schemas.openxmlformats.org/drawingml/2006/main">
            <ns123:pPr algn="l">
              <ns123:lnSpc>
                <ns123:spcPct val="108000"/>
              </ns123:lnSpc>
              <ns123:defRPr sz="1150" b="0">
                <ns123:solidFill>
                  <ns123:srgbClr val="20262C"/>
                </ns123:solidFill>
                <ns123:latin typeface="Arial"/>
                <ns123:ea typeface="Arial"/>
                <ns123:cs typeface="Arial"/>
              </ns123:defRPr>
            </ns123:pPr>
            <ns123:r>
              <ns123:rPr sz="1150" b="0">
                <ns123:solidFill>
                  <ns123:srgbClr val="20262C"/>
                </ns123:solidFill>
                <ns123:latin typeface="Arial"/>
                <ns123:ea typeface="Arial"/>
                <ns123:cs typeface="Arial"/>
              </ns123:rPr>
              <ns123:t>We are monitoring raw-material costs.</ns123:t>
            </ns123:r>
          </ns123:p>
        </p:txBody>
      </p:sp>
      <p:sp>
        <p:nvSpPr>
          <p:cNvPr id="122" name="client.highlight.risk"/>
          <p:cNvSpPr/>
          <p:nvPr/>
        </p:nvSpPr>
        <p:spPr>
          <ns124:xfrm xmlns:ns124="http://schemas.openxmlformats.org/drawingml/2006/main">
            <ns124:off x="536400" y="3405600"/>
            <ns124:ext cx="4629600" cy="475200"/>
          </ns124:xfrm>
          <ns125:prstGeom xmlns:ns125="http://schemas.openxmlformats.org/drawingml/2006/main" prst="rect">
            <ns125:avLst/>
          </ns125:prstGeom>
          <ns126:solidFill xmlns:ns126="http://schemas.openxmlformats.org/drawingml/2006/main">
            <ns126:srgbClr val="FFF0BE"/>
          </ns126:solidFill>
          <ns127:ln xmlns:ns127="http://schemas.openxmlformats.org/drawingml/2006/main" w="0">
            <ns127:noFill/>
          </ns127:ln>
        </p:spPr>
      </p:sp>
      <p:sp>
        <p:nvSpPr>
          <p:cNvPr id="123" name="!!clientDoc.label.risk"/>
          <p:cNvSpPr/>
          <p:nvPr/>
        </p:nvSpPr>
        <p:spPr>
          <ns128:xfrm xmlns:ns128="http://schemas.openxmlformats.org/drawingml/2006/main">
            <ns128:off x="586800" y="3434400"/>
            <ns128:ext cx="4528800" cy="1620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8000"/>
              </ns134:lnSpc>
              <ns134:defRPr sz="1050" b="1">
                <ns134:solidFill>
                  <ns134:srgbClr val="20262C"/>
                </ns134:solidFill>
                <ns134:latin typeface="Arial"/>
                <ns134:ea typeface="Arial"/>
                <ns134:cs typeface="Arial"/>
              </ns134:defRPr>
            </ns134:pPr>
            <ns134:r>
              <ns134:rPr sz="1050" b="1">
                <ns134:solidFill>
                  <ns134:srgbClr val="20262C"/>
                </ns134:solidFill>
                <ns134:latin typeface="Arial"/>
                <ns134:ea typeface="Arial"/>
                <ns134:cs typeface="Arial"/>
              </ns134:rPr>
              <ns134:t>Risk disclosure</ns134:t>
            </ns134:r>
          </ns134:p>
        </p:txBody>
      </p:sp>
      <p:sp>
        <p:nvSpPr>
          <p:cNvPr id="124" name="!!clientDoc.value.risk"/>
          <p:cNvSpPr/>
          <p:nvPr/>
        </p:nvSpPr>
        <p:spPr>
          <ns135:xfrm xmlns:ns135="http://schemas.openxmlformats.org/drawingml/2006/main">
            <ns135:off x="586800" y="3614400"/>
            <ns135:ext cx="4528800" cy="284400"/>
          </ns135:xfrm>
          <ns136:prstGeom xmlns:ns136="http://schemas.openxmlformats.org/drawingml/2006/main" prst="rect">
            <ns136:avLst/>
          </ns136:prstGeom>
          <ns137:noFill xmlns:ns137="http://schemas.openxmlformats.org/drawingml/2006/main"/>
          <ns138:ln xmlns:ns138="http://schemas.openxmlformats.org/drawingml/2006/main" w="0">
            <ns138:noFill/>
          </ns138:ln>
        </p:spPr>
        <p:txBody>
          <ns139:bodyPr xmlns:ns139="http://schemas.openxmlformats.org/drawingml/2006/main" wrap="square" lIns="0" rIns="0" tIns="0" bIns="0" anchor="t">
            <ns139:noAutofit/>
          </ns139:bodyPr>
          <ns140:lstStyle xmlns:ns140="http://schemas.openxmlformats.org/drawingml/2006/main"/>
          <ns141:p xmlns:ns141="http://schemas.openxmlformats.org/drawingml/2006/main">
            <ns141:pPr algn="l">
              <ns141:lnSpc>
                <ns141:spcPct val="108000"/>
              </ns141:lnSpc>
              <ns141:defRPr sz="1150" b="0">
                <ns141:solidFill>
                  <ns141:srgbClr val="20262C"/>
                </ns141:solidFill>
                <ns141:latin typeface="Arial"/>
                <ns141:ea typeface="Arial"/>
                <ns141:cs typeface="Arial"/>
              </ns141:defRPr>
            </ns141:pPr>
            <ns141:r>
              <ns141:rPr sz="1150" b="0">
                <ns141:solidFill>
                  <ns141:srgbClr val="20262C"/>
                </ns141:solidFill>
                <ns141:latin typeface="Arial"/>
                <ns141:ea typeface="Arial"/>
                <ns141:cs typeface="Arial"/>
              </ns141:rPr>
              <ns141:t>Investing involves risk.</ns141:t>
            </ns141:r>
          </ns141:p>
        </p:txBody>
      </p:sp>
      <p:sp>
        <p:nvSpPr>
          <p:cNvPr id="125" name="!!business.review.umbrella"/>
          <p:cNvSpPr/>
          <p:nvPr/>
        </p:nvSpPr>
        <p:spPr>
          <ns142:xfrm xmlns:ns142="http://schemas.openxmlformats.org/drawingml/2006/main">
            <ns142:off x="5598000" y="1483200"/>
            <ns142:ext cx="3088800" cy="216000"/>
          </ns142:xfrm>
          <ns143:prstGeom xmlns:ns143="http://schemas.openxmlformats.org/drawingml/2006/main" prst="rect">
            <ns143:avLst/>
          </ns143:prstGeom>
          <ns144:noFill xmlns:ns144="http://schemas.openxmlformats.org/drawingml/2006/main"/>
          <ns145:ln xmlns:ns145="http://schemas.openxmlformats.org/drawingml/2006/main" w="0">
            <ns145:noFill/>
          </ns145:ln>
        </p:spPr>
        <p:txBody>
          <ns146:bodyPr xmlns:ns146="http://schemas.openxmlformats.org/drawingml/2006/main" wrap="square" lIns="0" rIns="0" tIns="0" bIns="0" anchor="t">
            <ns146:noAutofit/>
          </ns146:bodyPr>
          <ns147:lstStyle xmlns:ns147="http://schemas.openxmlformats.org/drawingml/2006/main"/>
          <ns148:p xmlns:ns148="http://schemas.openxmlformats.org/drawingml/2006/main">
            <ns148:pPr algn="l">
              <ns148:lnSpc>
                <ns148:spcPct val="108000"/>
              </ns148:lnSpc>
              <ns148:defRPr sz="1400" b="1">
                <ns148:solidFill>
                  <ns148:srgbClr val="005A9C"/>
                </ns148:solidFill>
                <ns148:latin typeface="Arial"/>
                <ns148:ea typeface="Arial"/>
                <ns148:cs typeface="Arial"/>
              </ns148:defRPr>
            </ns148:pPr>
            <ns148:r>
              <ns148:rPr sz="1400" b="1">
                <ns148:solidFill>
                  <ns148:srgbClr val="005A9C"/>
                </ns148:solidFill>
                <ns148:latin typeface="Arial"/>
                <ns148:ea typeface="Arial"/>
                <ns148:cs typeface="Arial"/>
              </ns148:rPr>
              <ns148:t>LLM-assisted review</ns148:t>
            </ns148:r>
          </ns148:p>
        </p:txBody>
      </p:sp>
      <p:sp>
        <p:nvSpPr>
          <p:cNvPr id="126" name="!!comment.meta.role"/>
          <p:cNvSpPr/>
          <p:nvPr/>
        </p:nvSpPr>
        <p:spPr>
          <ns149:xfrm xmlns:ns149="http://schemas.openxmlformats.org/drawingml/2006/main">
            <ns149:off x="5706000" y="1836000"/>
            <ns149:ext cx="2872800" cy="162000"/>
          </ns149:xfrm>
          <ns150:prstGeom xmlns:ns150="http://schemas.openxmlformats.org/drawingml/2006/main" prst="rect">
            <ns150:avLst/>
          </ns150:prstGeom>
          <ns151:noFill xmlns:ns151="http://schemas.openxmlformats.org/drawingml/2006/main"/>
          <ns152:ln xmlns:ns152="http://schemas.openxmlformats.org/drawingml/2006/main" w="0">
            <ns152:noFill/>
          </ns152:ln>
        </p:spPr>
        <p:txBody>
          <ns153:bodyPr xmlns:ns153="http://schemas.openxmlformats.org/drawingml/2006/main" wrap="square" lIns="0" rIns="0" tIns="0" bIns="0" anchor="t">
            <ns153:noAutofit/>
          </ns153:bodyPr>
          <ns154:lstStyle xmlns:ns154="http://schemas.openxmlformats.org/drawingml/2006/main"/>
          <ns155:p xmlns:ns155="http://schemas.openxmlformats.org/drawingml/2006/main">
            <ns155:pPr algn="l">
              <ns155:lnSpc>
                <ns155:spcPct val="108000"/>
              </ns155:lnSpc>
              <ns155:defRPr sz="1200" b="1">
                <ns155:solidFill>
                  <ns155:srgbClr val="20262C"/>
                </ns155:solidFill>
                <ns155:latin typeface="Arial"/>
                <ns155:ea typeface="Arial"/>
                <ns155:cs typeface="Arial"/>
              </ns155:defRPr>
            </ns155:pPr>
            <ns155:r>
              <ns155:rPr sz="1200" b="1">
                <ns155:solidFill>
                  <ns155:srgbClr val="20262C"/>
                </ns155:solidFill>
                <ns155:latin typeface="Arial"/>
                <ns155:ea typeface="Arial"/>
                <ns155:cs typeface="Arial"/>
              </ns155:rPr>
              <ns155:t>Fund details</ns155:t>
            </ns155:r>
          </ns155:p>
        </p:txBody>
      </p:sp>
      <p:sp>
        <p:nvSpPr>
          <p:cNvPr id="127" name="!!comment.meta.body"/>
          <p:cNvSpPr/>
          <p:nvPr/>
        </p:nvSpPr>
        <p:spPr>
          <ns156:xfrm xmlns:ns156="http://schemas.openxmlformats.org/drawingml/2006/main">
            <ns156:off x="5706000" y="2044800"/>
            <ns156:ext cx="2872800" cy="396000"/>
          </ns156:xfrm>
          <ns157:prstGeom xmlns:ns157="http://schemas.openxmlformats.org/drawingml/2006/main" prst="rect">
            <ns157:avLst/>
          </ns157:prstGeom>
          <ns158:noFill xmlns:ns158="http://schemas.openxmlformats.org/drawingml/2006/main"/>
          <ns159:ln xmlns:ns159="http://schemas.openxmlformats.org/drawingml/2006/main" w="0">
            <ns159:noFill/>
          </ns159:ln>
        </p:spPr>
        <p:txBody>
          <ns160:bodyPr xmlns:ns160="http://schemas.openxmlformats.org/drawingml/2006/main" wrap="square" lIns="0" rIns="0" tIns="0" bIns="0" anchor="t">
            <ns160:noAutofit/>
          </ns160:bodyPr>
          <ns161:lstStyle xmlns:ns161="http://schemas.openxmlformats.org/drawingml/2006/main"/>
          <ns162:p xmlns:ns162="http://schemas.openxmlformats.org/drawingml/2006/main">
            <ns162:pPr algn="l">
              <ns162:lnSpc>
                <ns162:spcPct val="108000"/>
              </ns162:lnSpc>
              <ns162:defRPr sz="1150" b="0">
                <ns162:solidFill>
                  <ns162:srgbClr val="20262C"/>
                </ns162:solidFill>
                <ns162:latin typeface="Arial"/>
                <ns162:ea typeface="Arial"/>
                <ns162:cs typeface="Arial"/>
              </ns162:defRPr>
            </ns162:pPr>
            <ns162:r>
              <ns162:rPr sz="1150" b="0">
                <ns162:solidFill>
                  <ns162:srgbClr val="20262C"/>
                </ns162:solidFill>
                <ns162:latin typeface="Arial"/>
                <ns162:ea typeface="Arial"/>
                <ns162:cs typeface="Arial"/>
              </ns162:rPr>
              <ns162:t>Use the full fund name and current reporting period.</ns162:t>
            </ns162:r>
          </ns162:p>
        </p:txBody>
      </p:sp>
      <p:cxnSp>
        <p:nvCxnSpPr>
          <p:cNvPr id="128" name="comment.meta.rule"/>
          <p:cNvCxnSpPr/>
          <p:nvPr/>
        </p:nvCxnSpPr>
        <p:spPr>
          <ns163:xfrm xmlns:ns163="http://schemas.openxmlformats.org/drawingml/2006/main">
            <ns163:off x="5598000" y="1800000"/>
            <ns163:ext cx="3088800" cy="1"/>
          </ns163:xfrm>
          <ns164:prstGeom xmlns:ns164="http://schemas.openxmlformats.org/drawingml/2006/main" prst="line">
            <ns164:avLst/>
          </ns164:prstGeom>
          <ns165:ln xmlns:ns165="http://schemas.openxmlformats.org/drawingml/2006/main" w="6350">
            <ns165:solidFill>
              <ns165:srgbClr val="CCD5DA"/>
            </ns165:solidFill>
          </ns165:ln>
        </p:spPr>
      </p:cxnSp>
      <p:cxnSp>
        <p:nvCxnSpPr>
          <p:cNvPr id="129" name="document.comment.meta"/>
          <p:cNvCxnSpPr/>
          <p:nvPr/>
        </p:nvCxnSpPr>
        <p:spPr>
          <ns166:xfrm xmlns:ns166="http://schemas.openxmlformats.org/drawingml/2006/main">
            <ns166:off x="5292000" y="2052000"/>
            <ns166:ext cx="252000" cy="1"/>
          </ns166:xfrm>
          <ns167:prstGeom xmlns:ns167="http://schemas.openxmlformats.org/drawingml/2006/main" prst="line">
            <ns167:avLst/>
          </ns167:prstGeom>
          <ns168:ln xmlns:ns168="http://schemas.openxmlformats.org/drawingml/2006/main" w="9525">
            <ns168:solidFill>
              <ns168:srgbClr val="005A9C"/>
            </ns168:solidFill>
            <ns168:tailEnd type="triangle" w="sm" len="sm"/>
          </ns168:ln>
        </p:spPr>
      </p:cxnSp>
      <p:sp>
        <p:nvSpPr>
          <p:cNvPr id="130" name="!!comment.view.role"/>
          <p:cNvSpPr/>
          <p:nvPr/>
        </p:nvSpPr>
        <p:spPr>
          <ns169:xfrm xmlns:ns169="http://schemas.openxmlformats.org/drawingml/2006/main">
            <ns169:off x="5706000" y="2545200"/>
            <ns169:ext cx="2872800" cy="1620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8000"/>
              </ns175:lnSpc>
              <ns175:defRPr sz="1200" b="1">
                <ns175:solidFill>
                  <ns175:srgbClr val="20262C"/>
                </ns175:solidFill>
                <ns175:latin typeface="Arial"/>
                <ns175:ea typeface="Arial"/>
                <ns175:cs typeface="Arial"/>
              </ns175:defRPr>
            </ns175:pPr>
            <ns175:r>
              <ns175:rPr sz="1200" b="1">
                <ns175:solidFill>
                  <ns175:srgbClr val="20262C"/>
                </ns175:solidFill>
                <ns175:latin typeface="Arial"/>
                <ns175:ea typeface="Arial"/>
                <ns175:cs typeface="Arial"/>
              </ns175:rPr>
              <ns175:t>Investment rationale</ns175:t>
            </ns175:r>
          </ns175:p>
        </p:txBody>
      </p:sp>
      <p:sp>
        <p:nvSpPr>
          <p:cNvPr id="131" name="!!comment.view.body"/>
          <p:cNvSpPr/>
          <p:nvPr/>
        </p:nvSpPr>
        <p:spPr>
          <ns176:xfrm xmlns:ns176="http://schemas.openxmlformats.org/drawingml/2006/main">
            <ns176:off x="5706000" y="2754000"/>
            <ns176:ext cx="2872800" cy="522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8000"/>
              </ns182:lnSpc>
              <ns182:defRPr sz="1150" b="0">
                <ns182:solidFill>
                  <ns182:srgbClr val="20262C"/>
                </ns182:solidFill>
                <ns182:latin typeface="Arial"/>
                <ns182:ea typeface="Arial"/>
                <ns182:cs typeface="Arial"/>
              </ns182:defRPr>
            </ns182:pPr>
            <ns182:r>
              <ns182:rPr sz="1150" b="0">
                <ns182:solidFill>
                  <ns182:srgbClr val="20262C"/>
                </ns182:solidFill>
                <ns182:latin typeface="Arial"/>
                <ns182:ea typeface="Arial"/>
                <ns182:cs typeface="Arial"/>
              </ns182:rPr>
              <ns182:t>Identify channel restocking as the sales volume driver. Retain uncertainty over its continuation.</ns182:t>
            </ns182:r>
          </ns182:p>
        </p:txBody>
      </p:sp>
      <p:cxnSp>
        <p:nvCxnSpPr>
          <p:cNvPr id="132" name="comment.view.rule"/>
          <p:cNvCxnSpPr/>
          <p:nvPr/>
        </p:nvCxnSpPr>
        <p:spPr>
          <ns183:xfrm xmlns:ns183="http://schemas.openxmlformats.org/drawingml/2006/main">
            <ns183:off x="5598000" y="2509200"/>
            <ns183:ext cx="3088800" cy="1"/>
          </ns183:xfrm>
          <ns184:prstGeom xmlns:ns184="http://schemas.openxmlformats.org/drawingml/2006/main" prst="line">
            <ns184:avLst/>
          </ns184:prstGeom>
          <ns185:ln xmlns:ns185="http://schemas.openxmlformats.org/drawingml/2006/main" w="6350">
            <ns185:solidFill>
              <ns185:srgbClr val="CCD5DA"/>
            </ns185:solidFill>
          </ns185:ln>
        </p:spPr>
      </p:cxnSp>
      <p:cxnSp>
        <p:nvCxnSpPr>
          <p:cNvPr id="133" name="document.comment.view"/>
          <p:cNvCxnSpPr/>
          <p:nvPr/>
        </p:nvCxnSpPr>
        <p:spPr>
          <ns186:xfrm xmlns:ns186="http://schemas.openxmlformats.org/drawingml/2006/main">
            <ns186:off x="5292000" y="2761200"/>
            <ns186:ext cx="252000" cy="1"/>
          </ns186:xfrm>
          <ns187:prstGeom xmlns:ns187="http://schemas.openxmlformats.org/drawingml/2006/main" prst="line">
            <ns187:avLst/>
          </ns187:prstGeom>
          <ns188:ln xmlns:ns188="http://schemas.openxmlformats.org/drawingml/2006/main" w="9525">
            <ns188:solidFill>
              <ns188:srgbClr val="005A9C"/>
            </ns188:solidFill>
            <ns188:tailEnd type="triangle" w="sm" len="sm"/>
          </ns188:ln>
        </p:spPr>
      </p:cxnSp>
      <p:sp>
        <p:nvSpPr>
          <p:cNvPr id="134" name="!!comment.risk.role"/>
          <p:cNvSpPr/>
          <p:nvPr/>
        </p:nvSpPr>
        <p:spPr>
          <ns189:xfrm xmlns:ns189="http://schemas.openxmlformats.org/drawingml/2006/main">
            <ns189:off x="5706000" y="3402000"/>
            <ns189:ext cx="2872800" cy="1620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8000"/>
              </ns195:lnSpc>
              <ns195:defRPr sz="1200" b="1">
                <ns195:solidFill>
                  <ns195:srgbClr val="20262C"/>
                </ns195:solidFill>
                <ns195:latin typeface="Arial"/>
                <ns195:ea typeface="Arial"/>
                <ns195:cs typeface="Arial"/>
              </ns195:defRPr>
            </ns195:pPr>
            <ns195:r>
              <ns195:rPr sz="1200" b="1">
                <ns195:solidFill>
                  <ns195:srgbClr val="20262C"/>
                </ns195:solidFill>
                <ns195:latin typeface="Arial"/>
                <ns195:ea typeface="Arial"/>
                <ns195:cs typeface="Arial"/>
              </ns195:rPr>
              <ns195:t>Risk disclosure</ns195:t>
            </ns195:r>
          </ns195:p>
        </p:txBody>
      </p:sp>
      <p:sp>
        <p:nvSpPr>
          <p:cNvPr id="135" name="!!comment.risk.body"/>
          <p:cNvSpPr/>
          <p:nvPr/>
        </p:nvSpPr>
        <p:spPr>
          <ns196:xfrm xmlns:ns196="http://schemas.openxmlformats.org/drawingml/2006/main">
            <ns196:off x="5706000" y="3610800"/>
            <ns196:ext cx="2872800" cy="511200"/>
          </ns196:xfrm>
          <ns197:prstGeom xmlns:ns197="http://schemas.openxmlformats.org/drawingml/2006/main" prst="rect">
            <ns197:avLst/>
          </ns197:prstGeom>
          <ns198:noFill xmlns:ns198="http://schemas.openxmlformats.org/drawingml/2006/main"/>
          <ns199:ln xmlns:ns199="http://schemas.openxmlformats.org/drawingml/2006/main" w="0">
            <ns199:noFill/>
          </ns199:ln>
        </p:spPr>
        <p:txBody>
          <ns200:bodyPr xmlns:ns200="http://schemas.openxmlformats.org/drawingml/2006/main" wrap="square" lIns="0" rIns="0" tIns="0" bIns="0" anchor="t">
            <ns200:noAutofit/>
          </ns200:bodyPr>
          <ns201:lstStyle xmlns:ns201="http://schemas.openxmlformats.org/drawingml/2006/main"/>
          <ns202:p xmlns:ns202="http://schemas.openxmlformats.org/drawingml/2006/main">
            <ns202:pPr algn="l">
              <ns202:lnSpc>
                <ns202:spcPct val="108000"/>
              </ns202:lnSpc>
              <ns202:defRPr sz="1150" b="0">
                <ns202:solidFill>
                  <ns202:srgbClr val="20262C"/>
                </ns202:solidFill>
                <ns202:latin typeface="Arial"/>
                <ns202:ea typeface="Arial"/>
                <ns202:cs typeface="Arial"/>
              </ns202:defRPr>
            </ns202:pPr>
            <ns202:r>
              <ns202:rPr sz="1150" b="0">
                <ns202:solidFill>
                  <ns202:srgbClr val="20262C"/>
                </ns202:solidFill>
                <ns202:latin typeface="Arial"/>
                <ns202:ea typeface="Arial"/>
                <ns202:cs typeface="Arial"/>
              </ns202:rPr>
              <ns202:t>State that the fund’s NAV can fluctuate and investors may lose capital.</ns202:t>
            </ns202:r>
          </ns202:p>
        </p:txBody>
      </p:sp>
      <p:cxnSp>
        <p:nvCxnSpPr>
          <p:cNvPr id="136" name="comment.risk.rule"/>
          <p:cNvCxnSpPr/>
          <p:nvPr/>
        </p:nvCxnSpPr>
        <p:spPr>
          <ns203:xfrm xmlns:ns203="http://schemas.openxmlformats.org/drawingml/2006/main">
            <ns203:off x="5598000" y="3366000"/>
            <ns203:ext cx="3088800" cy="1"/>
          </ns203:xfrm>
          <ns204:prstGeom xmlns:ns204="http://schemas.openxmlformats.org/drawingml/2006/main" prst="line">
            <ns204:avLst/>
          </ns204:prstGeom>
          <ns205:ln xmlns:ns205="http://schemas.openxmlformats.org/drawingml/2006/main" w="6350">
            <ns205:solidFill>
              <ns205:srgbClr val="CCD5DA"/>
            </ns205:solidFill>
          </ns205:ln>
        </p:spPr>
      </p:cxnSp>
      <p:cxnSp>
        <p:nvCxnSpPr>
          <p:cNvPr id="137" name="document.comment.risk"/>
          <p:cNvCxnSpPr/>
          <p:nvPr/>
        </p:nvCxnSpPr>
        <p:spPr>
          <ns206:xfrm xmlns:ns206="http://schemas.openxmlformats.org/drawingml/2006/main">
            <ns206:off x="5292000" y="3618000"/>
            <ns206:ext cx="252000" cy="1"/>
          </ns206:xfrm>
          <ns207:prstGeom xmlns:ns207="http://schemas.openxmlformats.org/drawingml/2006/main" prst="line">
            <ns207:avLst/>
          </ns207:prstGeom>
          <ns208:ln xmlns:ns208="http://schemas.openxmlformats.org/drawingml/2006/main" w="9525">
            <ns208:solidFill>
              <ns208:srgbClr val="005A9C"/>
            </ns208:solidFill>
            <ns208:tailEnd type="triangle" w="sm" len="sm"/>
          </ns208:ln>
        </p:spPr>
      </p:cxnSp>
      <p:sp>
        <p:nvSpPr>
          <p:cNvPr id="138" name="!!review.case"/>
          <p:cNvSpPr/>
          <p:nvPr/>
        </p:nvSpPr>
        <p:spPr>
          <ns209:xfrm xmlns:ns209="http://schemas.openxmlformats.org/drawingml/2006/main">
            <ns209:off x="457200" y="4212000"/>
            <ns209:ext cx="8229600" cy="187200"/>
          </ns209:xfrm>
          <ns210:prstGeom xmlns:ns210="http://schemas.openxmlformats.org/drawingml/2006/main" prst="rect">
            <ns210:avLst/>
          </ns210:prstGeom>
          <ns211:noFill xmlns:ns211="http://schemas.openxmlformats.org/drawingml/2006/main"/>
          <ns212:ln xmlns:ns212="http://schemas.openxmlformats.org/drawingml/2006/main" w="0">
            <ns212:noFill/>
          </ns212:ln>
        </p:spPr>
        <p:txBody>
          <ns213:bodyPr xmlns:ns213="http://schemas.openxmlformats.org/drawingml/2006/main" wrap="square" lIns="0" rIns="0" tIns="0" bIns="0" anchor="t">
            <ns213:noAutofit/>
          </ns213:bodyPr>
          <ns214:lstStyle xmlns:ns214="http://schemas.openxmlformats.org/drawingml/2006/main"/>
          <ns215:p xmlns:ns215="http://schemas.openxmlformats.org/drawingml/2006/main">
            <ns215:pPr algn="l">
              <ns215:lnSpc>
                <ns215:spcPct val="108000"/>
              </ns215:lnSpc>
              <ns215:defRPr sz="1050" b="0">
                <ns215:solidFill>
                  <ns215:srgbClr val="20262C"/>
                </ns215:solidFill>
                <ns215:latin typeface="Arial"/>
                <ns215:ea typeface="Arial"/>
                <ns215:cs typeface="Arial"/>
              </ns215:defRPr>
            </ns215:pPr>
            <ns215:r>
              <ns215:rPr sz="1050" b="0">
                <ns215:solidFill>
                  <ns215:srgbClr val="20262C"/>
                </ns215:solidFill>
                <ns215:latin typeface="Arial"/>
                <ns215:ea typeface="Arial"/>
                <ns215:cs typeface="Arial"/>
              </ns215:rPr>
              <ns215:t>Penghua suggests edits based on review rules. Yingmi supports initial checks, revision and repeat review.</ns215:t>
            </ns215:r>
          </ns215:p>
        </p:txBody>
      </p:sp>
    </p:spTree>
    <p:extLst>
      <p:ext uri="{BB962C8B-B14F-4D97-AF65-F5344CB8AC3E}">
        <p14:creationId xmlns:p14="http://schemas.microsoft.com/office/powerpoint/2010/main" val="9102692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reviewing client updates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Client-material review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Penghua / AMAC; Yingmi</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client.document"/>
          <p:cNvSpPr/>
          <p:nvPr/>
        </p:nvSpPr>
        <p:spPr>
          <ns45:xfrm xmlns:ns45="http://schemas.openxmlformats.org/drawingml/2006/main">
            <ns45:off x="4122000" y="1483200"/>
            <ns45:ext cx="4564800" cy="2757600"/>
          </ns45:xfrm>
          <ns46:prstGeom xmlns:ns46="http://schemas.openxmlformats.org/drawingml/2006/main" prst="rect">
            <ns46:avLst/>
          </ns46:prstGeom>
          <ns47:solidFill xmlns:ns47="http://schemas.openxmlformats.org/drawingml/2006/main">
            <ns47:srgbClr val="FFFFFF"/>
          </ns47:solidFill>
          <ns48:ln xmlns:ns48="http://schemas.openxmlformats.org/drawingml/2006/main" w="9525">
            <ns48:solidFill>
              <ns48:srgbClr val="7363A6"/>
            </ns48:solidFill>
          </ns48:ln>
        </p:spPr>
      </p:sp>
      <p:cxnSp>
        <p:nvCxnSpPr>
          <p:cNvPr id="109" name="client.document.accent"/>
          <p:cNvCxnSpPr/>
          <p:nvPr/>
        </p:nvCxnSpPr>
        <p:spPr>
          <ns49:xfrm xmlns:ns49="http://schemas.openxmlformats.org/drawingml/2006/main">
            <ns49:off x="4122000" y="1483200"/>
            <ns49:ext cx="1" cy="2757600"/>
          </ns49:xfrm>
          <ns50:prstGeom xmlns:ns50="http://schemas.openxmlformats.org/drawingml/2006/main" prst="line">
            <ns50:avLst/>
          </ns50:prstGeom>
          <ns51:ln xmlns:ns51="http://schemas.openxmlformats.org/drawingml/2006/main" w="25400">
            <ns51:solidFill>
              <ns51:srgbClr val="7363A6"/>
            </ns51:solidFill>
          </ns51:ln>
        </p:spPr>
      </p:cxnSp>
      <p:sp>
        <p:nvSpPr>
          <p:cNvPr id="110" name="!!clientDoc.title"/>
          <p:cNvSpPr/>
          <p:nvPr/>
        </p:nvSpPr>
        <p:spPr>
          <ns52:xfrm xmlns:ns52="http://schemas.openxmlformats.org/drawingml/2006/main">
            <ns52:off x="4222800" y="1562400"/>
            <ns52:ext cx="4096800" cy="216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400" b="1">
                <ns58:solidFill>
                  <ns58:srgbClr val="7363A6"/>
                </ns58:solidFill>
                <ns58:latin typeface="Arial"/>
                <ns58:ea typeface="Arial"/>
                <ns58:cs typeface="Arial"/>
              </ns58:defRPr>
            </ns58:pPr>
            <ns58:r>
              <ns58:rPr sz="1400" b="1">
                <ns58:solidFill>
                  <ns58:srgbClr val="7363A6"/>
                </ns58:solidFill>
                <ns58:latin typeface="Arial"/>
                <ns58:ea typeface="Arial"/>
                <ns58:cs typeface="Arial"/>
              </ns58:rPr>
              <ns58:t>Quarterly client update</ns58:t>
            </ns58:r>
          </ns58:p>
        </p:txBody>
      </p:sp>
      <p:sp>
        <p:nvSpPr>
          <p:cNvPr id="111" name="!!clientDoc.version"/>
          <p:cNvSpPr/>
          <p:nvPr/>
        </p:nvSpPr>
        <p:spPr>
          <ns59:xfrm xmlns:ns59="http://schemas.openxmlformats.org/drawingml/2006/main">
            <ns59:off x="8398800" y="1569600"/>
            <ns59:ext cx="180000" cy="1440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r">
              <ns65:lnSpc>
                <ns65:spcPct val="108000"/>
              </ns65:lnSpc>
              <ns65:defRPr sz="1100" b="1">
                <ns65:solidFill>
                  <ns65:srgbClr val="7363A6"/>
                </ns65:solidFill>
                <ns65:latin typeface="Arial"/>
                <ns65:ea typeface="Arial"/>
                <ns65:cs typeface="Arial"/>
              </ns65:defRPr>
            </ns65:pPr>
            <ns65:r>
              <ns65:rPr sz="1100" b="1">
                <ns65:solidFill>
                  <ns65:srgbClr val="7363A6"/>
                </ns65:solidFill>
                <ns65:latin typeface="Arial"/>
                <ns65:ea typeface="Arial"/>
                <ns65:cs typeface="Arial"/>
              </ns65:rPr>
              <ns65:t>V2</ns65:t>
            </ns65:r>
          </ns65:p>
        </p:txBody>
      </p:sp>
      <p:cxnSp>
        <p:nvCxnSpPr>
          <p:cNvPr id="112" name="client.document.rule"/>
          <p:cNvCxnSpPr/>
          <p:nvPr/>
        </p:nvCxnSpPr>
        <p:spPr>
          <ns66:xfrm xmlns:ns66="http://schemas.openxmlformats.org/drawingml/2006/main">
            <ns66:off x="4222800" y="1821600"/>
            <ns66:ext cx="4363200" cy="1"/>
          </ns66:xfrm>
          <ns67:prstGeom xmlns:ns67="http://schemas.openxmlformats.org/drawingml/2006/main" prst="line">
            <ns67:avLst/>
          </ns67:prstGeom>
          <ns68:ln xmlns:ns68="http://schemas.openxmlformats.org/drawingml/2006/main" w="6350">
            <ns68:solidFill>
              <ns68:srgbClr val="7363A6"/>
            </ns68:solidFill>
          </ns68:ln>
        </p:spPr>
      </p:cxnSp>
      <p:sp>
        <p:nvSpPr>
          <p:cNvPr id="113" name="client.highlight.product"/>
          <p:cNvSpPr/>
          <p:nvPr/>
        </p:nvSpPr>
        <p:spPr>
          <ns69:xfrm xmlns:ns69="http://schemas.openxmlformats.org/drawingml/2006/main">
            <ns69:off x="4201200" y="1904400"/>
            <ns69:ext cx="4406400" cy="280800"/>
          </ns69:xfrm>
          <ns70:prstGeom xmlns:ns70="http://schemas.openxmlformats.org/drawingml/2006/main" prst="rect">
            <ns70:avLst/>
          </ns70:prstGeom>
          <ns71:solidFill xmlns:ns71="http://schemas.openxmlformats.org/drawingml/2006/main">
            <ns71:srgbClr val="FFF0BE"/>
          </ns71:solidFill>
          <ns72:ln xmlns:ns72="http://schemas.openxmlformats.org/drawingml/2006/main" w="0">
            <ns72:noFill/>
          </ns72:ln>
        </p:spPr>
      </p:sp>
      <p:sp>
        <p:nvSpPr>
          <p:cNvPr id="114" name="!!clientDoc.label.product"/>
          <p:cNvSpPr/>
          <p:nvPr/>
        </p:nvSpPr>
        <p:spPr>
          <ns73:xfrm xmlns:ns73="http://schemas.openxmlformats.org/drawingml/2006/main">
            <ns73:off x="4251600" y="1933200"/>
            <ns73:ext cx="1044000" cy="2088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8000"/>
              </ns79:lnSpc>
              <ns79:defRPr sz="1050" b="1">
                <ns79:solidFill>
                  <ns79:srgbClr val="687782"/>
                </ns79:solidFill>
                <ns79:latin typeface="Arial"/>
                <ns79:ea typeface="Arial"/>
                <ns79:cs typeface="Arial"/>
              </ns79:defRPr>
            </ns79:pPr>
            <ns79:r>
              <ns79:rPr sz="1050" b="1">
                <ns79:solidFill>
                  <ns79:srgbClr val="687782"/>
                </ns79:solidFill>
                <ns79:latin typeface="Arial"/>
                <ns79:ea typeface="Arial"/>
                <ns79:cs typeface="Arial"/>
              </ns79:rPr>
              <ns79:t>Fund name</ns79:t>
            </ns79:r>
          </ns79:p>
        </p:txBody>
      </p:sp>
      <p:sp>
        <p:nvSpPr>
          <p:cNvPr id="115" name="!!clientDoc.value.product"/>
          <p:cNvSpPr/>
          <p:nvPr/>
        </p:nvSpPr>
        <p:spPr>
          <ns80:xfrm xmlns:ns80="http://schemas.openxmlformats.org/drawingml/2006/main">
            <ns80:off x="5364000" y="1933200"/>
            <ns80:ext cx="3186000" cy="252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150" b="0">
                <ns86:solidFill>
                  <ns86:srgbClr val="20262C"/>
                </ns86:solidFill>
                <ns86:latin typeface="Arial"/>
                <ns86:ea typeface="Arial"/>
                <ns86:cs typeface="Arial"/>
              </ns86:defRPr>
            </ns86:pPr>
            <ns86:r>
              <ns86:rPr sz="1150" b="0">
                <ns86:solidFill>
                  <ns86:srgbClr val="20262C"/>
                </ns86:solidFill>
                <ns86:latin typeface="Arial"/>
                <ns86:ea typeface="Arial"/>
                <ns86:cs typeface="Arial"/>
              </ns86:rPr>
              <ns86:t>Product A Select Mixed-Asset Fund</ns86:t>
            </ns86:r>
          </ns86:p>
        </p:txBody>
      </p:sp>
      <p:sp>
        <p:nvSpPr>
          <p:cNvPr id="116" name="client.highlight.period"/>
          <p:cNvSpPr/>
          <p:nvPr/>
        </p:nvSpPr>
        <p:spPr>
          <ns87:xfrm xmlns:ns87="http://schemas.openxmlformats.org/drawingml/2006/main">
            <ns87:off x="4201200" y="2221200"/>
            <ns87:ext cx="4406400" cy="280800"/>
          </ns87:xfrm>
          <ns88:prstGeom xmlns:ns88="http://schemas.openxmlformats.org/drawingml/2006/main" prst="rect">
            <ns88:avLst/>
          </ns88:prstGeom>
          <ns89:solidFill xmlns:ns89="http://schemas.openxmlformats.org/drawingml/2006/main">
            <ns89:srgbClr val="FFF0BE"/>
          </ns89:solidFill>
          <ns90:ln xmlns:ns90="http://schemas.openxmlformats.org/drawingml/2006/main" w="0">
            <ns90:noFill/>
          </ns90:ln>
        </p:spPr>
      </p:sp>
      <p:sp>
        <p:nvSpPr>
          <p:cNvPr id="117" name="!!clientDoc.label.period"/>
          <p:cNvSpPr/>
          <p:nvPr/>
        </p:nvSpPr>
        <p:spPr>
          <ns91:xfrm xmlns:ns91="http://schemas.openxmlformats.org/drawingml/2006/main">
            <ns91:off x="4251600" y="2250000"/>
            <ns91:ext cx="1044000" cy="208800"/>
          </ns91:xfrm>
          <ns92:prstGeom xmlns:ns92="http://schemas.openxmlformats.org/drawingml/2006/main" prst="rect">
            <ns92:avLst/>
          </ns92:prstGeom>
          <ns93:noFill xmlns:ns93="http://schemas.openxmlformats.org/drawingml/2006/main"/>
          <ns94:ln xmlns:ns94="http://schemas.openxmlformats.org/drawingml/2006/main" w="0">
            <ns94:noFill/>
          </ns94:ln>
        </p:spPr>
        <p:txBody>
          <ns95:bodyPr xmlns:ns95="http://schemas.openxmlformats.org/drawingml/2006/main" wrap="square" lIns="0" rIns="0" tIns="0" bIns="0" anchor="t">
            <ns95:noAutofit/>
          </ns95:bodyPr>
          <ns96:lstStyle xmlns:ns96="http://schemas.openxmlformats.org/drawingml/2006/main"/>
          <ns97:p xmlns:ns97="http://schemas.openxmlformats.org/drawingml/2006/main">
            <ns97:pPr algn="l">
              <ns97:lnSpc>
                <ns97:spcPct val="108000"/>
              </ns97:lnSpc>
              <ns97:defRPr sz="1050" b="1">
                <ns97:solidFill>
                  <ns97:srgbClr val="687782"/>
                </ns97:solidFill>
                <ns97:latin typeface="Arial"/>
                <ns97:ea typeface="Arial"/>
                <ns97:cs typeface="Arial"/>
              </ns97:defRPr>
            </ns97:pPr>
            <ns97:r>
              <ns97:rPr sz="1050" b="1">
                <ns97:solidFill>
                  <ns97:srgbClr val="687782"/>
                </ns97:solidFill>
                <ns97:latin typeface="Arial"/>
                <ns97:ea typeface="Arial"/>
                <ns97:cs typeface="Arial"/>
              </ns97:rPr>
              <ns97:t>Source version</ns97:t>
            </ns97:r>
          </ns97:p>
        </p:txBody>
      </p:sp>
      <p:sp>
        <p:nvSpPr>
          <p:cNvPr id="118" name="!!clientDoc.value.period"/>
          <p:cNvSpPr/>
          <p:nvPr/>
        </p:nvSpPr>
        <p:spPr>
          <ns98:xfrm xmlns:ns98="http://schemas.openxmlformats.org/drawingml/2006/main">
            <ns98:off x="5364000" y="2250000"/>
            <ns98:ext cx="3186000" cy="252000"/>
          </ns98:xfrm>
          <ns99:prstGeom xmlns:ns99="http://schemas.openxmlformats.org/drawingml/2006/main" prst="rect">
            <ns99:avLst/>
          </ns99:prstGeom>
          <ns100:noFill xmlns:ns100="http://schemas.openxmlformats.org/drawingml/2006/main"/>
          <ns101:ln xmlns:ns101="http://schemas.openxmlformats.org/drawingml/2006/main" w="0">
            <ns101:noFill/>
          </ns101:ln>
        </p:spPr>
        <p:txBody>
          <ns102:bodyPr xmlns:ns102="http://schemas.openxmlformats.org/drawingml/2006/main" wrap="square" lIns="0" rIns="0" tIns="0" bIns="0" anchor="t">
            <ns102:noAutofit/>
          </ns102:bodyPr>
          <ns103:lstStyle xmlns:ns103="http://schemas.openxmlformats.org/drawingml/2006/main"/>
          <ns104:p xmlns:ns104="http://schemas.openxmlformats.org/drawingml/2006/main">
            <ns104:pPr algn="l">
              <ns104:lnSpc>
                <ns104:spcPct val="108000"/>
              </ns104:lnSpc>
              <ns104:defRPr sz="1150" b="0">
                <ns104:solidFill>
                  <ns104:srgbClr val="20262C"/>
                </ns104:solidFill>
                <ns104:latin typeface="Arial"/>
                <ns104:ea typeface="Arial"/>
                <ns104:cs typeface="Arial"/>
              </ns104:defRPr>
            </ns104:pPr>
            <ns104:r>
              <ns104:rPr sz="1150" b="0">
                <ns104:solidFill>
                  <ns104:srgbClr val="20262C"/>
                </ns104:solidFill>
                <ns104:latin typeface="Arial"/>
                <ns104:ea typeface="Arial"/>
                <ns104:cs typeface="Arial"/>
              </ns104:rPr>
              <ns104:t>Q3 2026 product information, V2</ns104:t>
            </ns104:r>
          </ns104:p>
        </p:txBody>
      </p:sp>
      <p:sp>
        <p:nvSpPr>
          <p:cNvPr id="119" name="client.highlight.view"/>
          <p:cNvSpPr/>
          <p:nvPr/>
        </p:nvSpPr>
        <p:spPr>
          <ns105:xfrm xmlns:ns105="http://schemas.openxmlformats.org/drawingml/2006/main">
            <ns105:off x="4201200" y="2548800"/>
            <ns105:ext cx="4406400" cy="784800"/>
          </ns105:xfrm>
          <ns106:prstGeom xmlns:ns106="http://schemas.openxmlformats.org/drawingml/2006/main" prst="rect">
            <ns106:avLst/>
          </ns106:prstGeom>
          <ns107:solidFill xmlns:ns107="http://schemas.openxmlformats.org/drawingml/2006/main">
            <ns107:srgbClr val="FFF0BE"/>
          </ns107:solidFill>
          <ns108:ln xmlns:ns108="http://schemas.openxmlformats.org/drawingml/2006/main" w="0">
            <ns108:noFill/>
          </ns108:ln>
        </p:spPr>
      </p:sp>
      <p:sp>
        <p:nvSpPr>
          <p:cNvPr id="120" name="!!clientDoc.label.view"/>
          <p:cNvSpPr/>
          <p:nvPr/>
        </p:nvSpPr>
        <p:spPr>
          <ns109:xfrm xmlns:ns109="http://schemas.openxmlformats.org/drawingml/2006/main">
            <ns109:off x="4251600" y="2577600"/>
            <ns109:ext cx="4305600" cy="1620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050" b="1">
                <ns115:solidFill>
                  <ns115:srgbClr val="20262C"/>
                </ns115:solidFill>
                <ns115:latin typeface="Arial"/>
                <ns115:ea typeface="Arial"/>
                <ns115:cs typeface="Arial"/>
              </ns115:defRPr>
            </ns115:pPr>
            <ns115:r>
              <ns115:rPr sz="1050" b="1">
                <ns115:solidFill>
                  <ns115:srgbClr val="20262C"/>
                </ns115:solidFill>
                <ns115:latin typeface="Arial"/>
                <ns115:ea typeface="Arial"/>
                <ns115:cs typeface="Arial"/>
              </ns115:rPr>
              <ns115:t>Investment view</ns115:t>
            </ns115:r>
          </ns115:p>
        </p:txBody>
      </p:sp>
      <p:sp>
        <p:nvSpPr>
          <p:cNvPr id="121" name="!!clientDoc.value.view"/>
          <p:cNvSpPr/>
          <p:nvPr/>
        </p:nvSpPr>
        <p:spPr>
          <ns116:xfrm xmlns:ns116="http://schemas.openxmlformats.org/drawingml/2006/main">
            <ns116:off x="4251600" y="2757600"/>
            <ns116:ext cx="4305600" cy="5940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Channel restocking supported Company A’s sales volume growth.</ns122:t>
            </ns122:r>
          </ns122:p>
          <ns123:p xmlns:ns123="http://schemas.openxmlformats.org/drawingml/2006/main">
            <ns123:pPr algn="l">
              <ns123:lnSpc>
                <ns123:spcPct val="108000"/>
              </ns123:lnSpc>
              <ns123:defRPr sz="1150" b="0">
                <ns123:solidFill>
                  <ns123:srgbClr val="20262C"/>
                </ns123:solidFill>
                <ns123:latin typeface="Arial"/>
                <ns123:ea typeface="Arial"/>
                <ns123:cs typeface="Arial"/>
              </ns123:defRPr>
            </ns123:pPr>
            <ns123:r>
              <ns123:rPr sz="1150" b="0">
                <ns123:solidFill>
                  <ns123:srgbClr val="20262C"/>
                </ns123:solidFill>
                <ns123:latin typeface="Arial"/>
                <ns123:ea typeface="Arial"/>
                <ns123:cs typeface="Arial"/>
              </ns123:rPr>
              <ns123:t>We are monitoring whether restocking continues, alongside raw-material costs.</ns123:t>
            </ns123:r>
          </ns123:p>
        </p:txBody>
      </p:sp>
      <p:sp>
        <p:nvSpPr>
          <p:cNvPr id="122" name="client.highlight.risk"/>
          <p:cNvSpPr/>
          <p:nvPr/>
        </p:nvSpPr>
        <p:spPr>
          <ns124:xfrm xmlns:ns124="http://schemas.openxmlformats.org/drawingml/2006/main">
            <ns124:off x="4201200" y="3434400"/>
            <ns124:ext cx="4406400" cy="597600"/>
          </ns124:xfrm>
          <ns125:prstGeom xmlns:ns125="http://schemas.openxmlformats.org/drawingml/2006/main" prst="rect">
            <ns125:avLst/>
          </ns125:prstGeom>
          <ns126:solidFill xmlns:ns126="http://schemas.openxmlformats.org/drawingml/2006/main">
            <ns126:srgbClr val="FFF0BE"/>
          </ns126:solidFill>
          <ns127:ln xmlns:ns127="http://schemas.openxmlformats.org/drawingml/2006/main" w="0">
            <ns127:noFill/>
          </ns127:ln>
        </p:spPr>
      </p:sp>
      <p:sp>
        <p:nvSpPr>
          <p:cNvPr id="123" name="!!clientDoc.label.risk"/>
          <p:cNvSpPr/>
          <p:nvPr/>
        </p:nvSpPr>
        <p:spPr>
          <ns128:xfrm xmlns:ns128="http://schemas.openxmlformats.org/drawingml/2006/main">
            <ns128:off x="4251600" y="3463200"/>
            <ns128:ext cx="4305600" cy="1620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8000"/>
              </ns134:lnSpc>
              <ns134:defRPr sz="1050" b="1">
                <ns134:solidFill>
                  <ns134:srgbClr val="20262C"/>
                </ns134:solidFill>
                <ns134:latin typeface="Arial"/>
                <ns134:ea typeface="Arial"/>
                <ns134:cs typeface="Arial"/>
              </ns134:defRPr>
            </ns134:pPr>
            <ns134:r>
              <ns134:rPr sz="1050" b="1">
                <ns134:solidFill>
                  <ns134:srgbClr val="20262C"/>
                </ns134:solidFill>
                <ns134:latin typeface="Arial"/>
                <ns134:ea typeface="Arial"/>
                <ns134:cs typeface="Arial"/>
              </ns134:rPr>
              <ns134:t>Risk disclosure</ns134:t>
            </ns134:r>
          </ns134:p>
        </p:txBody>
      </p:sp>
      <p:sp>
        <p:nvSpPr>
          <p:cNvPr id="124" name="!!clientDoc.value.risk"/>
          <p:cNvSpPr/>
          <p:nvPr/>
        </p:nvSpPr>
        <p:spPr>
          <ns135:xfrm xmlns:ns135="http://schemas.openxmlformats.org/drawingml/2006/main">
            <ns135:off x="4251600" y="3643200"/>
            <ns135:ext cx="4305600" cy="406800"/>
          </ns135:xfrm>
          <ns136:prstGeom xmlns:ns136="http://schemas.openxmlformats.org/drawingml/2006/main" prst="rect">
            <ns136:avLst/>
          </ns136:prstGeom>
          <ns137:noFill xmlns:ns137="http://schemas.openxmlformats.org/drawingml/2006/main"/>
          <ns138:ln xmlns:ns138="http://schemas.openxmlformats.org/drawingml/2006/main" w="0">
            <ns138:noFill/>
          </ns138:ln>
        </p:spPr>
        <p:txBody>
          <ns139:bodyPr xmlns:ns139="http://schemas.openxmlformats.org/drawingml/2006/main" wrap="square" lIns="0" rIns="0" tIns="0" bIns="0" anchor="t">
            <ns139:noAutofit/>
          </ns139:bodyPr>
          <ns140:lstStyle xmlns:ns140="http://schemas.openxmlformats.org/drawingml/2006/main"/>
          <ns141:p xmlns:ns141="http://schemas.openxmlformats.org/drawingml/2006/main">
            <ns141:pPr algn="l">
              <ns141:lnSpc>
                <ns141:spcPct val="108000"/>
              </ns141:lnSpc>
              <ns141:defRPr sz="1150" b="0">
                <ns141:solidFill>
                  <ns141:srgbClr val="20262C"/>
                </ns141:solidFill>
                <ns141:latin typeface="Arial"/>
                <ns141:ea typeface="Arial"/>
                <ns141:cs typeface="Arial"/>
              </ns141:defRPr>
            </ns141:pPr>
            <ns141:r>
              <ns141:rPr sz="1150" b="0">
                <ns141:solidFill>
                  <ns141:srgbClr val="20262C"/>
                </ns141:solidFill>
                <ns141:latin typeface="Arial"/>
                <ns141:ea typeface="Arial"/>
                <ns141:cs typeface="Arial"/>
              </ns141:rPr>
              <ns141:t>The fund’s NAV fluctuates with market conditions.</ns141:t>
            </ns141:r>
          </ns141:p>
          <ns142:p xmlns:ns142="http://schemas.openxmlformats.org/drawingml/2006/main">
            <ns142:pPr algn="l">
              <ns142:lnSpc>
                <ns142:spcPct val="108000"/>
              </ns142:lnSpc>
              <ns142:defRPr sz="1150" b="0">
                <ns142:solidFill>
                  <ns142:srgbClr val="20262C"/>
                </ns142:solidFill>
                <ns142:latin typeface="Arial"/>
                <ns142:ea typeface="Arial"/>
                <ns142:cs typeface="Arial"/>
              </ns142:defRPr>
            </ns142:pPr>
            <ns142:r>
              <ns142:rPr sz="1150" b="0">
                <ns142:solidFill>
                  <ns142:srgbClr val="20262C"/>
                </ns142:solidFill>
                <ns142:latin typeface="Arial"/>
                <ns142:ea typeface="Arial"/>
                <ns142:cs typeface="Arial"/>
              </ns142:rPr>
              <ns142:t>Capital is at risk.</ns142:t>
            </ns142:r>
          </ns142:p>
        </p:txBody>
      </p:sp>
      <p:sp>
        <p:nvSpPr>
          <p:cNvPr id="125" name="!!review.inputs.role"/>
          <p:cNvSpPr/>
          <p:nvPr/>
        </p:nvSpPr>
        <p:spPr>
          <ns143:xfrm xmlns:ns143="http://schemas.openxmlformats.org/drawingml/2006/main">
            <ns143:off x="457200" y="1512000"/>
            <ns143:ext cx="3258000" cy="2448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8000"/>
              </ns149:lnSpc>
              <ns149:defRPr sz="1200" b="1">
                <ns149:solidFill>
                  <ns149:srgbClr val="20262C"/>
                </ns149:solidFill>
                <ns149:latin typeface="Arial"/>
                <ns149:ea typeface="Arial"/>
                <ns149:cs typeface="Arial"/>
              </ns149:defRPr>
            </ns149:pPr>
            <ns149:r>
              <ns149:rPr sz="1200" b="1">
                <ns149:solidFill>
                  <ns149:srgbClr val="20262C"/>
                </ns149:solidFill>
                <ns149:latin typeface="Arial"/>
                <ns149:ea typeface="Arial"/>
                <ns149:cs typeface="Arial"/>
              </ns149:rPr>
              <ns149:t>Author supplies current sources</ns149:t>
            </ns149:r>
          </ns149:p>
        </p:txBody>
      </p:sp>
      <p:sp>
        <p:nvSpPr>
          <p:cNvPr id="126" name="!!review.inputs.body"/>
          <p:cNvSpPr/>
          <p:nvPr/>
        </p:nvSpPr>
        <p:spPr>
          <ns150:xfrm xmlns:ns150="http://schemas.openxmlformats.org/drawingml/2006/main">
            <ns150:off x="457200" y="1807200"/>
            <ns150:ext cx="3258000" cy="684000"/>
          </ns150:xfrm>
          <ns151:prstGeom xmlns:ns151="http://schemas.openxmlformats.org/drawingml/2006/main" prst="rect">
            <ns151:avLst/>
          </ns151:prstGeom>
          <ns152:noFill xmlns:ns152="http://schemas.openxmlformats.org/drawingml/2006/main"/>
          <ns153:ln xmlns:ns153="http://schemas.openxmlformats.org/drawingml/2006/main" w="0">
            <ns153:noFill/>
          </ns153:ln>
        </p:spPr>
        <p:txBody>
          <ns154:bodyPr xmlns:ns154="http://schemas.openxmlformats.org/drawingml/2006/main" wrap="square" lIns="0" rIns="0" tIns="0" bIns="0" anchor="t">
            <ns154:noAutofit/>
          </ns154:bodyPr>
          <ns155:lstStyle xmlns:ns155="http://schemas.openxmlformats.org/drawingml/2006/main"/>
          <ns156:p xmlns:ns156="http://schemas.openxmlformats.org/drawingml/2006/main">
            <ns156:pPr algn="l">
              <ns156:lnSpc>
                <ns156:spcPct val="108000"/>
              </ns156:lnSpc>
              <ns156:defRPr sz="1050" b="0">
                <ns156:solidFill>
                  <ns156:srgbClr val="20262C"/>
                </ns156:solidFill>
                <ns156:latin typeface="Arial"/>
                <ns156:ea typeface="Arial"/>
                <ns156:cs typeface="Arial"/>
              </ns156:defRPr>
            </ns156:pPr>
            <ns156:r>
              <ns156:rPr sz="1050" b="0">
                <ns156:solidFill>
                  <ns156:srgbClr val="20262C"/>
                </ns156:solidFill>
                <ns156:latin typeface="Arial"/>
                <ns156:ea typeface="Arial"/>
                <ns156:cs typeface="Arial"/>
              </ns156:rPr>
              <ns156:t>Client update V1 and current product sources</ns156:t>
            </ns156:r>
          </ns156:p>
          <ns157:p xmlns:ns157="http://schemas.openxmlformats.org/drawingml/2006/main">
            <ns157:pPr algn="l">
              <ns157:lnSpc>
                <ns157:spcPct val="108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Presentation: restocking supported sales volume growth.</ns157:t>
            </ns157:r>
          </ns157:p>
          <ns158:p xmlns:ns158="http://schemas.openxmlformats.org/drawingml/2006/main">
            <ns158:pPr algn="l">
              <ns158:lnSpc>
                <ns158:spcPct val="108000"/>
              </ns158:lnSpc>
              <ns158:defRPr sz="1050" b="0">
                <ns158:solidFill>
                  <ns158:srgbClr val="20262C"/>
                </ns158:solidFill>
                <ns158:latin typeface="Arial"/>
                <ns158:ea typeface="Arial"/>
                <ns158:cs typeface="Arial"/>
              </ns158:defRPr>
            </ns158:pPr>
            <ns158:r>
              <ns158:rPr sz="1050" b="0">
                <ns158:solidFill>
                  <ns158:srgbClr val="20262C"/>
                </ns158:solidFill>
                <ns158:latin typeface="Arial"/>
                <ns158:ea typeface="Arial"/>
                <ns158:cs typeface="Arial"/>
              </ns158:rPr>
              <ns158:t>Continued restocking remains uncertain.</ns158:t>
            </ns158:r>
          </ns158:p>
        </p:txBody>
      </p:sp>
      <p:cxnSp>
        <p:nvCxnSpPr>
          <p:cNvPr id="127" name="review.inputs.rule"/>
          <p:cNvCxnSpPr/>
          <p:nvPr/>
        </p:nvCxnSpPr>
        <p:spPr>
          <ns159:xfrm xmlns:ns159="http://schemas.openxmlformats.org/drawingml/2006/main">
            <ns159:off x="457200" y="2520000"/>
            <ns159:ext cx="3258000" cy="1"/>
          </ns159:xfrm>
          <ns160:prstGeom xmlns:ns160="http://schemas.openxmlformats.org/drawingml/2006/main" prst="line">
            <ns160:avLst/>
          </ns160:prstGeom>
          <ns161:ln xmlns:ns161="http://schemas.openxmlformats.org/drawingml/2006/main" w="6350">
            <ns161:solidFill>
              <ns161:srgbClr val="CCD5DA"/>
            </ns161:solidFill>
          </ns161:ln>
        </p:spPr>
      </p:cxnSp>
      <p:sp>
        <p:nvSpPr>
          <p:cNvPr id="128" name="!!review.tool.role"/>
          <p:cNvSpPr/>
          <p:nvPr/>
        </p:nvSpPr>
        <p:spPr>
          <ns162:xfrm xmlns:ns162="http://schemas.openxmlformats.org/drawingml/2006/main">
            <ns162:off x="457200" y="2527200"/>
            <ns162:ext cx="3258000" cy="2448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8000"/>
              </ns168:lnSpc>
              <ns168:defRPr sz="1200" b="1">
                <ns168:solidFill>
                  <ns168:srgbClr val="20262C"/>
                </ns168:solidFill>
                <ns168:latin typeface="Arial"/>
                <ns168:ea typeface="Arial"/>
                <ns168:cs typeface="Arial"/>
              </ns168:defRPr>
            </ns168:pPr>
            <ns168:r>
              <ns168:rPr sz="1200" b="1">
                <ns168:solidFill>
                  <ns168:srgbClr val="20262C"/>
                </ns168:solidFill>
                <ns168:latin typeface="Arial"/>
                <ns168:ea typeface="Arial"/>
                <ns168:cs typeface="Arial"/>
              </ns168:rPr>
              <ns168:t>Document tools locate relevant information</ns168:t>
            </ns168:r>
          </ns168:p>
        </p:txBody>
      </p:sp>
      <p:sp>
        <p:nvSpPr>
          <p:cNvPr id="129" name="!!review.tool.body"/>
          <p:cNvSpPr/>
          <p:nvPr/>
        </p:nvSpPr>
        <p:spPr>
          <ns169:xfrm xmlns:ns169="http://schemas.openxmlformats.org/drawingml/2006/main">
            <ns169:off x="457200" y="2822400"/>
            <ns169:ext cx="3258000" cy="3528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8000"/>
              </ns175:lnSpc>
              <ns175:defRPr sz="1150" b="0">
                <ns175:solidFill>
                  <ns175:srgbClr val="20262C"/>
                </ns175:solidFill>
                <ns175:latin typeface="Arial"/>
                <ns175:ea typeface="Arial"/>
                <ns175:cs typeface="Arial"/>
              </ns175:defRPr>
            </ns175:pPr>
            <ns175:r>
              <ns175:rPr sz="1150" b="0">
                <ns175:solidFill>
                  <ns175:srgbClr val="20262C"/>
                </ns175:solidFill>
                <ns175:latin typeface="Arial"/>
                <ns175:ea typeface="Arial"/>
                <ns175:cs typeface="Arial"/>
              </ns175:rPr>
              <ns175:t>Match fund names, reporting periods</ns175:t>
            </ns175:r>
          </ns175:p>
          <ns176:p xmlns:ns176="http://schemas.openxmlformats.org/drawingml/2006/main">
            <ns176:pPr algn="l">
              <ns176:lnSpc>
                <ns176:spcPct val="108000"/>
              </ns176:lnSpc>
              <ns176:defRPr sz="1150" b="0">
                <ns176:solidFill>
                  <ns176:srgbClr val="20262C"/>
                </ns176:solidFill>
                <ns176:latin typeface="Arial"/>
                <ns176:ea typeface="Arial"/>
                <ns176:cs typeface="Arial"/>
              </ns176:defRPr>
            </ns176:pPr>
            <ns176:r>
              <ns176:rPr sz="1150" b="0">
                <ns176:solidFill>
                  <ns176:srgbClr val="20262C"/>
                </ns176:solidFill>
                <ns176:latin typeface="Arial"/>
                <ns176:ea typeface="Arial"/>
                <ns176:cs typeface="Arial"/>
              </ns176:rPr>
              <ns176:t>and source passages</ns176:t>
            </ns176:r>
          </ns176:p>
        </p:txBody>
      </p:sp>
      <p:cxnSp>
        <p:nvCxnSpPr>
          <p:cNvPr id="130" name="review.tool.rule"/>
          <p:cNvCxnSpPr/>
          <p:nvPr/>
        </p:nvCxnSpPr>
        <p:spPr>
          <ns177:xfrm xmlns:ns177="http://schemas.openxmlformats.org/drawingml/2006/main">
            <ns177:off x="457200" y="3240000"/>
            <ns177:ext cx="3258000" cy="1"/>
          </ns177:xfrm>
          <ns178:prstGeom xmlns:ns178="http://schemas.openxmlformats.org/drawingml/2006/main" prst="line">
            <ns178:avLst/>
          </ns178:prstGeom>
          <ns179:ln xmlns:ns179="http://schemas.openxmlformats.org/drawingml/2006/main" w="6350">
            <ns179:solidFill>
              <ns179:srgbClr val="CCD5DA"/>
            </ns179:solidFill>
          </ns179:ln>
        </p:spPr>
      </p:cxnSp>
      <p:sp>
        <p:nvSpPr>
          <p:cNvPr id="131" name="!!review.llm.role"/>
          <p:cNvSpPr/>
          <p:nvPr/>
        </p:nvSpPr>
        <p:spPr>
          <ns180:xfrm xmlns:ns180="http://schemas.openxmlformats.org/drawingml/2006/main">
            <ns180:off x="457200" y="3268800"/>
            <ns180:ext cx="3258000" cy="244800"/>
          </ns180:xfrm>
          <ns181:prstGeom xmlns:ns181="http://schemas.openxmlformats.org/drawingml/2006/main" prst="rect">
            <ns181:avLst/>
          </ns181:prstGeom>
          <ns182:noFill xmlns:ns182="http://schemas.openxmlformats.org/drawingml/2006/main"/>
          <ns183:ln xmlns:ns183="http://schemas.openxmlformats.org/drawingml/2006/main" w="0">
            <ns183:noFill/>
          </ns183:ln>
        </p:spPr>
        <p:txBody>
          <ns184:bodyPr xmlns:ns184="http://schemas.openxmlformats.org/drawingml/2006/main" wrap="square" lIns="0" rIns="0" tIns="0" bIns="0" anchor="t">
            <ns184:noAutofit/>
          </ns184:bodyPr>
          <ns185:lstStyle xmlns:ns185="http://schemas.openxmlformats.org/drawingml/2006/main"/>
          <ns186:p xmlns:ns186="http://schemas.openxmlformats.org/drawingml/2006/main">
            <ns186:pPr algn="l">
              <ns186:lnSpc>
                <ns186:spcPct val="108000"/>
              </ns186:lnSpc>
              <ns186:defRPr sz="1200" b="1">
                <ns186:solidFill>
                  <ns186:srgbClr val="005A9C"/>
                </ns186:solidFill>
                <ns186:latin typeface="Arial"/>
                <ns186:ea typeface="Arial"/>
                <ns186:cs typeface="Arial"/>
              </ns186:defRPr>
            </ns186:pPr>
            <ns186:r>
              <ns186:rPr sz="1200" b="1">
                <ns186:solidFill>
                  <ns186:srgbClr val="005A9C"/>
                </ns186:solidFill>
                <ns186:latin typeface="Arial"/>
                <ns186:ea typeface="Arial"/>
                <ns186:cs typeface="Arial"/>
              </ns186:rPr>
              <ns186:t>LLM explains issues and proposes revisions</ns186:t>
            </ns186:r>
          </ns186:p>
        </p:txBody>
      </p:sp>
      <p:sp>
        <p:nvSpPr>
          <p:cNvPr id="132" name="!!review.llm.body"/>
          <p:cNvSpPr/>
          <p:nvPr/>
        </p:nvSpPr>
        <p:spPr>
          <ns187:xfrm xmlns:ns187="http://schemas.openxmlformats.org/drawingml/2006/main">
            <ns187:off x="457200" y="3564000"/>
            <ns187:ext cx="3258000" cy="648000"/>
          </ns187:xfrm>
          <ns188:prstGeom xmlns:ns188="http://schemas.openxmlformats.org/drawingml/2006/main" prst="rect">
            <ns188:avLst/>
          </ns188:prstGeom>
          <ns189:noFill xmlns:ns189="http://schemas.openxmlformats.org/drawingml/2006/main"/>
          <ns190:ln xmlns:ns190="http://schemas.openxmlformats.org/drawingml/2006/main" w="0">
            <ns190:noFill/>
          </ns190:ln>
        </p:spPr>
        <p:txBody>
          <ns191:bodyPr xmlns:ns191="http://schemas.openxmlformats.org/drawingml/2006/main" wrap="square" lIns="0" rIns="0" tIns="0" bIns="0" anchor="t">
            <ns191:noAutofit/>
          </ns191:bodyPr>
          <ns192:lstStyle xmlns:ns192="http://schemas.openxmlformats.org/drawingml/2006/main"/>
          <ns193:p xmlns:ns193="http://schemas.openxmlformats.org/drawingml/2006/main">
            <ns193:pPr algn="l">
              <ns193:lnSpc>
                <ns193:spcPct val="108000"/>
              </ns193:lnSpc>
              <ns193:defRPr sz="1150" b="0">
                <ns193:solidFill>
                  <ns193:srgbClr val="20262C"/>
                </ns193:solidFill>
                <ns193:latin typeface="Arial"/>
                <ns193:ea typeface="Arial"/>
                <ns193:cs typeface="Arial"/>
              </ns193:defRPr>
            </ns193:pPr>
            <ns193:r>
              <ns193:rPr sz="1150" b="0">
                <ns193:solidFill>
                  <ns193:srgbClr val="20262C"/>
                </ns193:solidFill>
                <ns193:latin typeface="Arial"/>
                <ns193:ea typeface="Arial"/>
                <ns193:cs typeface="Arial"/>
              </ns193:rPr>
              <ns193:t>Add the sales volume driver: channel restocking</ns193:t>
            </ns193:r>
          </ns193:p>
          <ns194:p xmlns:ns194="http://schemas.openxmlformats.org/drawingml/2006/main">
            <ns194:pPr algn="l">
              <ns194:lnSpc>
                <ns194:spcPct val="108000"/>
              </ns194:lnSpc>
              <ns194:defRPr sz="1150" b="0">
                <ns194:solidFill>
                  <ns194:srgbClr val="20262C"/>
                </ns194:solidFill>
                <ns194:latin typeface="Arial"/>
                <ns194:ea typeface="Arial"/>
                <ns194:cs typeface="Arial"/>
              </ns194:defRPr>
            </ns194:pPr>
            <ns194:r>
              <ns194:rPr sz="1150" b="0">
                <ns194:solidFill>
                  <ns194:srgbClr val="20262C"/>
                </ns194:solidFill>
                <ns194:latin typeface="Arial"/>
                <ns194:ea typeface="Arial"/>
                <ns194:cs typeface="Arial"/>
              </ns194:rPr>
              <ns194:t>Retain uncertainty over continued restocking</ns194:t>
            </ns194:r>
          </ns194:p>
          <ns195:p xmlns:ns195="http://schemas.openxmlformats.org/drawingml/2006/main">
            <ns195:pPr algn="l">
              <ns195:lnSpc>
                <ns195:spcPct val="108000"/>
              </ns195:lnSpc>
              <ns195:defRPr sz="1150" b="0">
                <ns195:solidFill>
                  <ns195:srgbClr val="20262C"/>
                </ns195:solidFill>
                <ns195:latin typeface="Arial"/>
                <ns195:ea typeface="Arial"/>
                <ns195:cs typeface="Arial"/>
              </ns195:defRPr>
            </ns195:pPr>
            <ns195:r>
              <ns195:rPr sz="1150" b="0">
                <ns195:solidFill>
                  <ns195:srgbClr val="20262C"/>
                </ns195:solidFill>
                <ns195:latin typeface="Arial"/>
                <ns195:ea typeface="Arial"/>
                <ns195:cs typeface="Arial"/>
              </ns195:rPr>
              <ns195:t>Use the product’s specific risk wording</ns195:t>
            </ns195:r>
          </ns195:p>
        </p:txBody>
      </p:sp>
      <p:cxnSp>
        <p:nvCxnSpPr>
          <p:cNvPr id="133" name="review.document"/>
          <p:cNvCxnSpPr/>
          <p:nvPr/>
        </p:nvCxnSpPr>
        <p:spPr>
          <ns196:xfrm xmlns:ns196="http://schemas.openxmlformats.org/drawingml/2006/main">
            <ns196:off x="3769200" y="3646800"/>
            <ns196:ext cx="280800" cy="1"/>
          </ns196:xfrm>
          <ns197:prstGeom xmlns:ns197="http://schemas.openxmlformats.org/drawingml/2006/main" prst="line">
            <ns197:avLst/>
          </ns197:prstGeom>
          <ns198:ln xmlns:ns198="http://schemas.openxmlformats.org/drawingml/2006/main" w="12700">
            <ns198:solidFill>
              <ns198:srgbClr val="005A9C"/>
            </ns198:solidFill>
            <ns198:tailEnd type="triangle" w="sm" len="sm"/>
          </ns198:ln>
        </p:spPr>
      </p:cxnSp>
      <p:sp>
        <p:nvSpPr>
          <p:cNvPr id="134" name="!!review.user"/>
          <p:cNvSpPr/>
          <p:nvPr/>
        </p:nvSpPr>
        <p:spPr>
          <ns199:xfrm xmlns:ns199="http://schemas.openxmlformats.org/drawingml/2006/main">
            <ns199:off x="457200" y="4262400"/>
            <ns199:ext cx="8229600" cy="187200"/>
          </ns199:xfrm>
          <ns200:prstGeom xmlns:ns200="http://schemas.openxmlformats.org/drawingml/2006/main" prst="rect">
            <ns200:avLst/>
          </ns200:prstGeom>
          <ns201:noFill xmlns:ns201="http://schemas.openxmlformats.org/drawingml/2006/main"/>
          <ns202:ln xmlns:ns202="http://schemas.openxmlformats.org/drawingml/2006/main" w="0">
            <ns202:noFill/>
          </ns202:ln>
        </p:spPr>
        <p:txBody>
          <ns203:bodyPr xmlns:ns203="http://schemas.openxmlformats.org/drawingml/2006/main" wrap="square" lIns="0" rIns="0" tIns="0" bIns="0" anchor="t">
            <ns203:noAutofit/>
          </ns203:bodyPr>
          <ns204:lstStyle xmlns:ns204="http://schemas.openxmlformats.org/drawingml/2006/main"/>
          <ns205:p xmlns:ns205="http://schemas.openxmlformats.org/drawingml/2006/main">
            <ns205:pPr algn="l">
              <ns205:lnSpc>
                <ns205:spcPct val="108000"/>
              </ns205:lnSpc>
              <ns205:defRPr sz="1000" b="0">
                <ns205:solidFill>
                  <ns205:srgbClr val="20262C"/>
                </ns205:solidFill>
                <ns205:latin typeface="Arial"/>
                <ns205:ea typeface="Arial"/>
                <ns205:cs typeface="Arial"/>
              </ns205:defRPr>
            </ns205:pPr>
            <ns205:r>
              <ns205:rPr sz="1000" b="0">
                <ns205:solidFill>
                  <ns205:srgbClr val="20262C"/>
                </ns205:solidFill>
                <ns205:latin typeface="Arial"/>
                <ns205:ea typeface="Arial"/>
                <ns205:cs typeface="Arial"/>
              </ns205:rPr>
              <ns205:t>The author approves the edits. The reviewer checks the sources, rationale and revised update.</ns205:t>
            </ns205:r>
          </ns205:p>
        </p:txBody>
      </p:sp>
    </p:spTree>
    <p:extLst>
      <p:ext uri="{BB962C8B-B14F-4D97-AF65-F5344CB8AC3E}">
        <p14:creationId xmlns:p14="http://schemas.microsoft.com/office/powerpoint/2010/main" val="17261152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Investigating a risk alert</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Risk analysis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1">
                <ns30:solidFill>
                  <ns30:srgbClr val="005A9C"/>
                </ns30:solidFill>
                <ns30:latin typeface="Arial"/>
                <ns30:ea typeface="Arial"/>
                <ns30:cs typeface="Arial"/>
              </ns30:defRPr>
            </ns30:pPr>
            <ns30:r>
              <ns30:rPr sz="800" b="1">
                <ns30:solidFill>
                  <ns30:srgbClr val="005A9C"/>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risk.mail.label"/>
          <p:cNvSpPr/>
          <p:nvPr/>
        </p:nvSpPr>
        <p:spPr>
          <ns38:xfrm xmlns:ns38="http://schemas.openxmlformats.org/drawingml/2006/main">
            <ns38:off x="457200" y="1504800"/>
            <ns38:ext cx="8229600" cy="1872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100" b="1">
                <ns44:solidFill>
                  <ns44:srgbClr val="317F7B"/>
                </ns44:solidFill>
                <ns44:latin typeface="Arial"/>
                <ns44:ea typeface="Arial"/>
                <ns44:cs typeface="Arial"/>
              </ns44:defRPr>
            </ns44:pPr>
            <ns44:r>
              <ns44:rPr sz="1100" b="1">
                <ns44:solidFill>
                  <ns44:srgbClr val="317F7B"/>
                </ns44:solidFill>
                <ns44:latin typeface="Arial"/>
                <ns44:ea typeface="Arial"/>
                <ns44:cs typeface="Arial"/>
              </ns44:rPr>
              <ns44:t>A risk analyst receives an alert</ns44:t>
            </ns44:r>
          </ns44:p>
        </p:txBody>
      </p:sp>
      <p:sp>
        <p:nvSpPr>
          <p:cNvPr id="108" name="!!risk.mail.text"/>
          <p:cNvSpPr/>
          <p:nvPr/>
        </p:nvSpPr>
        <p:spPr>
          <ns45:xfrm xmlns:ns45="http://schemas.openxmlformats.org/drawingml/2006/main">
            <ns45:off x="457200" y="1785600"/>
            <ns45:ext cx="8229600" cy="4824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600" b="0">
                <ns51:solidFill>
                  <ns51:srgbClr val="317F7B"/>
                </ns51:solidFill>
                <ns51:latin typeface="Arial"/>
                <ns51:ea typeface="Arial"/>
                <ns51:cs typeface="Arial"/>
              </ns51:defRPr>
            </ns51:pPr>
            <ns51:r>
              <ns51:rPr sz="1600" b="0">
                <ns51:solidFill>
                  <ns51:srgbClr val="317F7B"/>
                </ns51:solidFill>
                <ns51:latin typeface="Arial"/>
                <ns51:ea typeface="Arial"/>
                <ns51:cs typeface="Arial"/>
              </ns51:rPr>
              <ns51:t>Company A’s credit rating is on watch.</ns51:t>
            </ns51:r>
          </ns51:p>
          <ns52:p xmlns:ns52="http://schemas.openxmlformats.org/drawingml/2006/main">
            <ns52:pPr algn="l">
              <ns52:lnSpc>
                <ns52:spcPct val="108000"/>
              </ns52:lnSpc>
              <ns52:defRPr sz="1600" b="0">
                <ns52:solidFill>
                  <ns52:srgbClr val="317F7B"/>
                </ns52:solidFill>
                <ns52:latin typeface="Arial"/>
                <ns52:ea typeface="Arial"/>
                <ns52:cs typeface="Arial"/>
              </ns52:defRPr>
            </ns52:pPr>
            <ns52:r>
              <ns52:rPr sz="1600" b="0">
                <ns52:solidFill>
                  <ns52:srgbClr val="317F7B"/>
                </ns52:solidFill>
                <ns52:latin typeface="Arial"/>
                <ns52:ea typeface="Arial"/>
                <ns52:cs typeface="Arial"/>
              </ns52:rPr>
              <ns52:t>Operating cash flow is under pressure.</ns52:t>
            </ns52:r>
          </ns52:p>
        </p:txBody>
      </p:sp>
      <p:sp>
        <p:nvSpPr>
          <p:cNvPr id="109" name="!!risk.manual.title"/>
          <p:cNvSpPr/>
          <p:nvPr/>
        </p:nvSpPr>
        <p:spPr>
          <ns53:xfrm xmlns:ns53="http://schemas.openxmlformats.org/drawingml/2006/main">
            <ns53:off x="457200" y="2530800"/>
            <ns53:ext cx="8229600" cy="234000"/>
          </ns53:xfrm>
          <ns54:prstGeom xmlns:ns54="http://schemas.openxmlformats.org/drawingml/2006/main" prst="rect">
            <ns54:avLst/>
          </ns54:prstGeom>
          <ns55:noFill xmlns:ns55="http://schemas.openxmlformats.org/drawingml/2006/main"/>
          <ns56:ln xmlns:ns56="http://schemas.openxmlformats.org/drawingml/2006/main" w="0">
            <ns56:noFill/>
          </ns56:ln>
        </p:spPr>
        <p:txBody>
          <ns57:bodyPr xmlns:ns57="http://schemas.openxmlformats.org/drawingml/2006/main" wrap="square" lIns="0" rIns="0" tIns="0" bIns="0" anchor="t">
            <ns57:noAutofit/>
          </ns57:bodyPr>
          <ns58:lstStyle xmlns:ns58="http://schemas.openxmlformats.org/drawingml/2006/main"/>
          <ns59:p xmlns:ns59="http://schemas.openxmlformats.org/drawingml/2006/main">
            <ns59:pPr algn="l">
              <ns59:lnSpc>
                <ns59:spcPct val="108000"/>
              </ns59:lnSpc>
              <ns59:defRPr sz="1300" b="1">
                <ns59:solidFill>
                  <ns59:srgbClr val="005A9C"/>
                </ns59:solidFill>
                <ns59:latin typeface="Arial"/>
                <ns59:ea typeface="Arial"/>
                <ns59:cs typeface="Arial"/>
              </ns59:defRPr>
            </ns59:pPr>
            <ns59:r>
              <ns59:rPr sz="1300" b="1">
                <ns59:solidFill>
                  <ns59:srgbClr val="005A9C"/>
                </ns59:solidFill>
                <ns59:latin typeface="Arial"/>
                <ns59:ea typeface="Arial"/>
                <ns59:cs typeface="Arial"/>
              </ns59:rPr>
              <ns59:t>The risk team needs to establish</ns59:t>
            </ns59:r>
          </ns59:p>
        </p:txBody>
      </p:sp>
      <p:sp>
        <p:nvSpPr>
          <p:cNvPr id="110" name="!!risk.question.0.role"/>
          <p:cNvSpPr/>
          <p:nvPr/>
        </p:nvSpPr>
        <p:spPr>
          <ns60:xfrm xmlns:ns60="http://schemas.openxmlformats.org/drawingml/2006/main">
            <ns60:off x="457200" y="2926800"/>
            <ns60:ext cx="2559600" cy="223200"/>
          </ns60:xfrm>
          <ns61:prstGeom xmlns:ns61="http://schemas.openxmlformats.org/drawingml/2006/main" prst="rect">
            <ns61:avLst/>
          </ns61:prstGeom>
          <ns62:noFill xmlns:ns62="http://schemas.openxmlformats.org/drawingml/2006/main"/>
          <ns63:ln xmlns:ns63="http://schemas.openxmlformats.org/drawingml/2006/main" w="0">
            <ns63:noFill/>
          </ns63:ln>
        </p:spPr>
        <p:txBody>
          <ns64:bodyPr xmlns:ns64="http://schemas.openxmlformats.org/drawingml/2006/main" wrap="square" lIns="0" rIns="0" tIns="0" bIns="0" anchor="t">
            <ns64:noAutofit/>
          </ns64:bodyPr>
          <ns65:lstStyle xmlns:ns65="http://schemas.openxmlformats.org/drawingml/2006/main"/>
          <ns66:p xmlns:ns66="http://schemas.openxmlformats.org/drawingml/2006/main">
            <ns66:pPr algn="l">
              <ns66:lnSpc>
                <ns66:spcPct val="108000"/>
              </ns66:lnSpc>
              <ns66:defRPr sz="1300" b="1">
                <ns66:solidFill>
                  <ns66:srgbClr val="005A9C"/>
                </ns66:solidFill>
                <ns66:latin typeface="Arial"/>
                <ns66:ea typeface="Arial"/>
                <ns66:cs typeface="Arial"/>
              </ns66:defRPr>
            </ns66:pPr>
            <ns66:r>
              <ns66:rPr sz="1300" b="1">
                <ns66:solidFill>
                  <ns66:srgbClr val="005A9C"/>
                </ns66:solidFill>
                <ns66:latin typeface="Arial"/>
                <ns66:ea typeface="Arial"/>
                <ns66:cs typeface="Arial"/>
              </ns66:rPr>
              <ns66:t>Which funds are exposed?</ns66:t>
            </ns66:r>
          </ns66:p>
        </p:txBody>
      </p:sp>
      <p:cxnSp>
        <p:nvCxnSpPr>
          <p:cNvPr id="111" name="risk.question.0.role.rule"/>
          <p:cNvCxnSpPr/>
          <p:nvPr/>
        </p:nvCxnSpPr>
        <p:spPr>
          <ns67:xfrm xmlns:ns67="http://schemas.openxmlformats.org/drawingml/2006/main">
            <ns67:off x="457200" y="3186000"/>
            <ns67:ext cx="2559600" cy="1"/>
          </ns67:xfrm>
          <ns68:prstGeom xmlns:ns68="http://schemas.openxmlformats.org/drawingml/2006/main" prst="line">
            <ns68:avLst/>
          </ns68:prstGeom>
          <ns69:ln xmlns:ns69="http://schemas.openxmlformats.org/drawingml/2006/main" w="12700">
            <ns69:solidFill>
              <ns69:srgbClr val="005A9C"/>
            </ns69:solidFill>
          </ns69:ln>
        </p:spPr>
      </p:cxnSp>
      <p:sp>
        <p:nvSpPr>
          <p:cNvPr id="112" name="!!risk.question.0.body"/>
          <p:cNvSpPr/>
          <p:nvPr/>
        </p:nvSpPr>
        <p:spPr>
          <ns70:xfrm xmlns:ns70="http://schemas.openxmlformats.org/drawingml/2006/main">
            <ns70:off x="457200" y="3326400"/>
            <ns70:ext cx="2559600" cy="6408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1200" b="0">
                <ns76:solidFill>
                  <ns76:srgbClr val="20262C"/>
                </ns76:solidFill>
                <ns76:latin typeface="Arial"/>
                <ns76:ea typeface="Arial"/>
                <ns76:cs typeface="Arial"/>
              </ns76:defRPr>
            </ns76:pPr>
            <ns76:r>
              <ns76:rPr sz="1200" b="0">
                <ns76:solidFill>
                  <ns76:srgbClr val="20262C"/>
                </ns76:solidFill>
                <ns76:latin typeface="Arial"/>
                <ns76:ea typeface="Arial"/>
                <ns76:cs typeface="Arial"/>
              </ns76:rPr>
              <ns76:t>Query holdings</ns76:t>
            </ns76:r>
          </ns76:p>
          <ns77:p xmlns:ns77="http://schemas.openxmlformats.org/drawingml/2006/main">
            <ns77:pPr algn="l">
              <ns77:lnSpc>
                <ns77:spcPct val="108000"/>
              </ns77:lnSpc>
              <ns77:defRPr sz="1200" b="0">
                <ns77:solidFill>
                  <ns77:srgbClr val="20262C"/>
                </ns77:solidFill>
                <ns77:latin typeface="Arial"/>
                <ns77:ea typeface="Arial"/>
                <ns77:cs typeface="Arial"/>
              </ns77:defRPr>
            </ns77:pPr>
            <ns77:r>
              <ns77:rPr sz="1200" b="0">
                <ns77:solidFill>
                  <ns77:srgbClr val="20262C"/>
                </ns77:solidFill>
                <ns77:latin typeface="Arial"/>
                <ns77:ea typeface="Arial"/>
                <ns77:cs typeface="Arial"/>
              </ns77:rPr>
              <ns77:t>Identify exposed funds</ns77:t>
            </ns77:r>
          </ns77:p>
          <ns78:p xmlns:ns78="http://schemas.openxmlformats.org/drawingml/2006/main">
            <ns78:pPr algn="l">
              <ns78:lnSpc>
                <ns78:spcPct val="108000"/>
              </ns78:lnSpc>
              <ns78:defRPr sz="1200" b="0">
                <ns78:solidFill>
                  <ns78:srgbClr val="20262C"/>
                </ns78:solidFill>
                <ns78:latin typeface="Arial"/>
                <ns78:ea typeface="Arial"/>
                <ns78:cs typeface="Arial"/>
              </ns78:defRPr>
            </ns78:pPr>
            <ns78:r>
              <ns78:rPr sz="1200" b="0">
                <ns78:solidFill>
                  <ns78:srgbClr val="20262C"/>
                </ns78:solidFill>
                <ns78:latin typeface="Arial"/>
                <ns78:ea typeface="Arial"/>
                <ns78:cs typeface="Arial"/>
              </ns78:rPr>
              <ns78:t>and holding amounts</ns78:t>
            </ns78:r>
          </ns78:p>
        </p:txBody>
      </p:sp>
      <p:sp>
        <p:nvSpPr>
          <p:cNvPr id="113" name="!!risk.question.1.role"/>
          <p:cNvSpPr/>
          <p:nvPr/>
        </p:nvSpPr>
        <p:spPr>
          <ns79:xfrm xmlns:ns79="http://schemas.openxmlformats.org/drawingml/2006/main">
            <ns79:off x="3294000" y="2926800"/>
            <ns79:ext cx="2556000" cy="2232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8000"/>
              </ns85:lnSpc>
              <ns85:defRPr sz="1300" b="1">
                <ns85:solidFill>
                  <ns85:srgbClr val="005A9C"/>
                </ns85:solidFill>
                <ns85:latin typeface="Arial"/>
                <ns85:ea typeface="Arial"/>
                <ns85:cs typeface="Arial"/>
              </ns85:defRPr>
            </ns85:pPr>
            <ns85:r>
              <ns85:rPr sz="1300" b="1">
                <ns85:solidFill>
                  <ns85:srgbClr val="005A9C"/>
                </ns85:solidFill>
                <ns85:latin typeface="Arial"/>
                <ns85:ea typeface="Arial"/>
                <ns85:cs typeface="Arial"/>
              </ns85:rPr>
              <ns85:t>Which rules apply?</ns85:t>
            </ns85:r>
          </ns85:p>
        </p:txBody>
      </p:sp>
      <p:cxnSp>
        <p:nvCxnSpPr>
          <p:cNvPr id="114" name="risk.question.1.role.rule"/>
          <p:cNvCxnSpPr/>
          <p:nvPr/>
        </p:nvCxnSpPr>
        <p:spPr>
          <ns86:xfrm xmlns:ns86="http://schemas.openxmlformats.org/drawingml/2006/main">
            <ns86:off x="3294000" y="3186000"/>
            <ns86:ext cx="2556000" cy="1"/>
          </ns86:xfrm>
          <ns87:prstGeom xmlns:ns87="http://schemas.openxmlformats.org/drawingml/2006/main" prst="line">
            <ns87:avLst/>
          </ns87:prstGeom>
          <ns88:ln xmlns:ns88="http://schemas.openxmlformats.org/drawingml/2006/main" w="12700">
            <ns88:solidFill>
              <ns88:srgbClr val="005A9C"/>
            </ns88:solidFill>
          </ns88:ln>
        </p:spPr>
      </p:cxnSp>
      <p:sp>
        <p:nvSpPr>
          <p:cNvPr id="115" name="!!risk.question.1.body"/>
          <p:cNvSpPr/>
          <p:nvPr/>
        </p:nvSpPr>
        <p:spPr>
          <ns89:xfrm xmlns:ns89="http://schemas.openxmlformats.org/drawingml/2006/main">
            <ns89:off x="3294000" y="3326400"/>
            <ns89:ext cx="2556000" cy="6408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200" b="0">
                <ns95:solidFill>
                  <ns95:srgbClr val="20262C"/>
                </ns95:solidFill>
                <ns95:latin typeface="Arial"/>
                <ns95:ea typeface="Arial"/>
                <ns95:cs typeface="Arial"/>
              </ns95:defRPr>
            </ns95:pPr>
            <ns95:r>
              <ns95:rPr sz="1200" b="0">
                <ns95:solidFill>
                  <ns95:srgbClr val="20262C"/>
                </ns95:solidFill>
                <ns95:latin typeface="Arial"/>
                <ns95:ea typeface="Arial"/>
                <ns95:cs typeface="Arial"/>
              </ns95:rPr>
              <ns95:t>Review contracts and internal policies</ns95:t>
            </ns95:r>
          </ns95:p>
          <ns96:p xmlns:ns96="http://schemas.openxmlformats.org/drawingml/2006/main">
            <ns96:pPr algn="l">
              <ns96:lnSpc>
                <ns96:spcPct val="108000"/>
              </ns96:lnSpc>
              <ns96:defRPr sz="1200" b="0">
                <ns96:solidFill>
                  <ns96:srgbClr val="20262C"/>
                </ns96:solidFill>
                <ns96:latin typeface="Arial"/>
                <ns96:ea typeface="Arial"/>
                <ns96:cs typeface="Arial"/>
              </ns96:defRPr>
            </ns96:pPr>
            <ns96:r>
              <ns96:rPr sz="1200" b="0">
                <ns96:solidFill>
                  <ns96:srgbClr val="20262C"/>
                </ns96:solidFill>
                <ns96:latin typeface="Arial"/>
                <ns96:ea typeface="Arial"/>
                <ns96:cs typeface="Arial"/>
              </ns96:rPr>
              <ns96:t>Identify applicable clauses</ns96:t>
            </ns96:r>
          </ns96:p>
        </p:txBody>
      </p:sp>
      <p:sp>
        <p:nvSpPr>
          <p:cNvPr id="116" name="!!risk.question.2.role"/>
          <p:cNvSpPr/>
          <p:nvPr/>
        </p:nvSpPr>
        <p:spPr>
          <ns97:xfrm xmlns:ns97="http://schemas.openxmlformats.org/drawingml/2006/main">
            <ns97:off x="6127200" y="2926800"/>
            <ns97:ext cx="2559600" cy="2232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300" b="1">
                <ns103:solidFill>
                  <ns103:srgbClr val="005A9C"/>
                </ns103:solidFill>
                <ns103:latin typeface="Arial"/>
                <ns103:ea typeface="Arial"/>
                <ns103:cs typeface="Arial"/>
              </ns103:defRPr>
            </ns103:pPr>
            <ns103:r>
              <ns103:rPr sz="1300" b="1">
                <ns103:solidFill>
                  <ns103:srgbClr val="005A9C"/>
                </ns103:solidFill>
                <ns103:latin typeface="Arial"/>
                <ns103:ea typeface="Arial"/>
                <ns103:cs typeface="Arial"/>
              </ns103:rPr>
              <ns103:t>What is the impact?</ns103:t>
            </ns103:r>
          </ns103:p>
        </p:txBody>
      </p:sp>
      <p:cxnSp>
        <p:nvCxnSpPr>
          <p:cNvPr id="117" name="risk.question.2.role.rule"/>
          <p:cNvCxnSpPr/>
          <p:nvPr/>
        </p:nvCxnSpPr>
        <p:spPr>
          <ns104:xfrm xmlns:ns104="http://schemas.openxmlformats.org/drawingml/2006/main">
            <ns104:off x="6127200" y="3186000"/>
            <ns104:ext cx="2559600" cy="1"/>
          </ns104:xfrm>
          <ns105:prstGeom xmlns:ns105="http://schemas.openxmlformats.org/drawingml/2006/main" prst="line">
            <ns105:avLst/>
          </ns105:prstGeom>
          <ns106:ln xmlns:ns106="http://schemas.openxmlformats.org/drawingml/2006/main" w="12700">
            <ns106:solidFill>
              <ns106:srgbClr val="005A9C"/>
            </ns106:solidFill>
          </ns106:ln>
        </p:spPr>
      </p:cxnSp>
      <p:sp>
        <p:nvSpPr>
          <p:cNvPr id="118" name="!!risk.question.2.body"/>
          <p:cNvSpPr/>
          <p:nvPr/>
        </p:nvSpPr>
        <p:spPr>
          <ns107:xfrm xmlns:ns107="http://schemas.openxmlformats.org/drawingml/2006/main">
            <ns107:off x="6127200" y="3326400"/>
            <ns107:ext cx="2559600" cy="6408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8000"/>
              </ns113:lnSpc>
              <ns113:defRPr sz="1200" b="0">
                <ns113:solidFill>
                  <ns113:srgbClr val="20262C"/>
                </ns113:solidFill>
                <ns113:latin typeface="Arial"/>
                <ns113:ea typeface="Arial"/>
                <ns113:cs typeface="Arial"/>
              </ns113:defRPr>
            </ns113:pPr>
            <ns113:r>
              <ns113:rPr sz="1200" b="0">
                <ns113:solidFill>
                  <ns113:srgbClr val="20262C"/>
                </ns113:solidFill>
                <ns113:latin typeface="Arial"/>
                <ns113:ea typeface="Arial"/>
                <ns113:cs typeface="Arial"/>
              </ns113:rPr>
              <ns113:t>Review issuer research</ns113:t>
            </ns113:r>
          </ns113:p>
          <ns114:p xmlns:ns114="http://schemas.openxmlformats.org/drawingml/2006/main">
            <ns114:pPr algn="l">
              <ns114:lnSpc>
                <ns114:spcPct val="108000"/>
              </ns114:lnSpc>
              <ns114:defRPr sz="1200" b="0">
                <ns114:solidFill>
                  <ns114:srgbClr val="20262C"/>
                </ns114:solidFill>
                <ns114:latin typeface="Arial"/>
                <ns114:ea typeface="Arial"/>
                <ns114:cs typeface="Arial"/>
              </ns114:defRPr>
            </ns114:pPr>
            <ns114:r>
              <ns114:rPr sz="1200" b="0">
                <ns114:solidFill>
                  <ns114:srgbClr val="20262C"/>
                </ns114:solidFill>
                <ns114:latin typeface="Arial"/>
                <ns114:ea typeface="Arial"/>
                <ns114:cs typeface="Arial"/>
              </ns114:rPr>
              <ns114:t>Prepare an event assessment</ns114:t>
            </ns114:r>
          </ns114:p>
        </p:txBody>
      </p:sp>
      <p:sp>
        <p:nvSpPr>
          <p:cNvPr id="119" name="!!risk.repetition"/>
          <p:cNvSpPr/>
          <p:nvPr/>
        </p:nvSpPr>
        <p:spPr>
          <ns115:xfrm xmlns:ns115="http://schemas.openxmlformats.org/drawingml/2006/main">
            <ns115:off x="457200" y="4230000"/>
            <ns115:ext cx="8229600" cy="1872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8000"/>
              </ns121:lnSpc>
              <ns121:defRPr sz="1100" b="0">
                <ns121:solidFill>
                  <ns121:srgbClr val="20262C"/>
                </ns121:solidFill>
                <ns121:latin typeface="Arial"/>
                <ns121:ea typeface="Arial"/>
                <ns121:cs typeface="Arial"/>
              </ns121:defRPr>
            </ns121:pPr>
            <ns121:r>
              <ns121:rPr sz="1100" b="0">
                <ns121:solidFill>
                  <ns121:srgbClr val="20262C"/>
                </ns121:solidFill>
                <ns121:latin typeface="Arial"/>
                <ns121:ea typeface="Arial"/>
                <ns121:cs typeface="Arial"/>
              </ns121:rPr>
              <ns121:t>Each alert requires searches across systems and documents for the same issuer.</ns121:t>
            </ns121:r>
          </ns121:p>
        </p:txBody>
      </p:sp>
    </p:spTree>
    <p:extLst>
      <p:ext uri="{BB962C8B-B14F-4D97-AF65-F5344CB8AC3E}">
        <p14:creationId xmlns:p14="http://schemas.microsoft.com/office/powerpoint/2010/main" val="3894480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Risk analysis at China Universal and Tianhong</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Risk analysis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China Universal; Tianhong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risk.htf"/>
          <p:cNvSpPr/>
          <p:nvPr/>
        </p:nvSpPr>
        <p:spPr>
          <ns45:xfrm xmlns:ns45="http://schemas.openxmlformats.org/drawingml/2006/main">
            <ns45:off x="457200" y="1494000"/>
            <ns45:ext cx="3934800" cy="2232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500" b="1">
                <ns51:solidFill>
                  <ns51:srgbClr val="005A9C"/>
                </ns51:solidFill>
                <ns51:latin typeface="Arial"/>
                <ns51:ea typeface="Arial"/>
                <ns51:cs typeface="Arial"/>
              </ns51:defRPr>
            </ns51:pPr>
            <ns51:r>
              <ns51:rPr sz="1500" b="1">
                <ns51:solidFill>
                  <ns51:srgbClr val="005A9C"/>
                </ns51:solidFill>
                <ns51:latin typeface="Arial"/>
                <ns51:ea typeface="Arial"/>
                <ns51:cs typeface="Arial"/>
              </ns51:rPr>
              <ns51:t>China Universal</ns51:t>
            </ns51:r>
          </ns51:p>
        </p:txBody>
      </p:sp>
      <p:cxnSp>
        <p:nvCxnSpPr>
          <p:cNvPr id="109" name="risk.htf.rule"/>
          <p:cNvCxnSpPr/>
          <p:nvPr/>
        </p:nvCxnSpPr>
        <p:spPr>
          <ns52:xfrm xmlns:ns52="http://schemas.openxmlformats.org/drawingml/2006/main">
            <ns52:off x="457200" y="1753200"/>
            <ns52:ext cx="3934800" cy="1"/>
          </ns52:xfrm>
          <ns53:prstGeom xmlns:ns53="http://schemas.openxmlformats.org/drawingml/2006/main" prst="line">
            <ns53:avLst/>
          </ns53:prstGeom>
          <ns54:ln xmlns:ns54="http://schemas.openxmlformats.org/drawingml/2006/main" w="12700">
            <ns54:solidFill>
              <ns54:srgbClr val="005A9C"/>
            </ns54:solidFill>
          </ns54:ln>
        </p:spPr>
      </p:cxnSp>
      <p:sp>
        <p:nvSpPr>
          <p:cNvPr id="110" name="!!risk.th"/>
          <p:cNvSpPr/>
          <p:nvPr/>
        </p:nvSpPr>
        <p:spPr>
          <ns55:xfrm xmlns:ns55="http://schemas.openxmlformats.org/drawingml/2006/main">
            <ns55:off x="4752000" y="1494000"/>
            <ns55:ext cx="3934800" cy="2232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500" b="1">
                <ns61:solidFill>
                  <ns61:srgbClr val="005A9C"/>
                </ns61:solidFill>
                <ns61:latin typeface="Arial"/>
                <ns61:ea typeface="Arial"/>
                <ns61:cs typeface="Arial"/>
              </ns61:defRPr>
            </ns61:pPr>
            <ns61:r>
              <ns61:rPr sz="1500" b="1">
                <ns61:solidFill>
                  <ns61:srgbClr val="005A9C"/>
                </ns61:solidFill>
                <ns61:latin typeface="Arial"/>
                <ns61:ea typeface="Arial"/>
                <ns61:cs typeface="Arial"/>
              </ns61:rPr>
              <ns61:t>Tianhong</ns61:t>
            </ns61:r>
          </ns61:p>
        </p:txBody>
      </p:sp>
      <p:cxnSp>
        <p:nvCxnSpPr>
          <p:cNvPr id="111" name="risk.th.rule"/>
          <p:cNvCxnSpPr/>
          <p:nvPr/>
        </p:nvCxnSpPr>
        <p:spPr>
          <ns62:xfrm xmlns:ns62="http://schemas.openxmlformats.org/drawingml/2006/main">
            <ns62:off x="4752000" y="1753200"/>
            <ns62:ext cx="3934800" cy="1"/>
          </ns62:xfrm>
          <ns63:prstGeom xmlns:ns63="http://schemas.openxmlformats.org/drawingml/2006/main" prst="line">
            <ns63:avLst/>
          </ns63:prstGeom>
          <ns64:ln xmlns:ns64="http://schemas.openxmlformats.org/drawingml/2006/main" w="12700">
            <ns64:solidFill>
              <ns64:srgbClr val="005A9C"/>
            </ns64:solidFill>
          </ns64:ln>
        </p:spPr>
      </p:cxnSp>
      <p:sp>
        <p:nvSpPr>
          <p:cNvPr id="112" name="!!risk.mail.extract.role"/>
          <p:cNvSpPr/>
          <p:nvPr/>
        </p:nvSpPr>
        <p:spPr>
          <ns65:xfrm xmlns:ns65="http://schemas.openxmlformats.org/drawingml/2006/main">
            <ns65:off x="457200" y="1976400"/>
            <ns65:ext cx="3934800" cy="342000"/>
          </ns65:xfrm>
          <ns66:prstGeom xmlns:ns66="http://schemas.openxmlformats.org/drawingml/2006/main" prst="rect">
            <ns66:avLst/>
          </ns66:prstGeom>
          <ns67:noFill xmlns:ns67="http://schemas.openxmlformats.org/drawingml/2006/main"/>
          <ns68:ln xmlns:ns68="http://schemas.openxmlformats.org/drawingml/2006/main" w="0">
            <ns68:noFill/>
          </ns68:ln>
        </p:spPr>
        <p:txBody>
          <ns69:bodyPr xmlns:ns69="http://schemas.openxmlformats.org/drawingml/2006/main" wrap="square" lIns="0" rIns="0" tIns="0" bIns="0" anchor="t">
            <ns69:noAutofit/>
          </ns69:bodyPr>
          <ns70:lstStyle xmlns:ns70="http://schemas.openxmlformats.org/drawingml/2006/main"/>
          <ns71:p xmlns:ns71="http://schemas.openxmlformats.org/drawingml/2006/main">
            <ns71:pPr algn="l">
              <ns71:lnSpc>
                <ns71:spcPct val="108000"/>
              </ns71:lnSpc>
              <ns71:defRPr sz="1250" b="1">
                <ns71:solidFill>
                  <ns71:srgbClr val="20262C"/>
                </ns71:solidFill>
                <ns71:latin typeface="Arial"/>
                <ns71:ea typeface="Arial"/>
                <ns71:cs typeface="Arial"/>
              </ns71:defRPr>
            </ns71:pPr>
            <ns71:r>
              <ns71:rPr sz="1250" b="1">
                <ns71:solidFill>
                  <ns71:srgbClr val="20262C"/>
                </ns71:solidFill>
                <ns71:latin typeface="Arial"/>
                <ns71:ea typeface="Arial"/>
                <ns71:cs typeface="Arial"/>
              </ns71:rPr>
              <ns71:t>LLM reads custodian risk alerts</ns71:t>
            </ns71:r>
          </ns71:p>
        </p:txBody>
      </p:sp>
      <p:sp>
        <p:nvSpPr>
          <p:cNvPr id="113" name="!!risk.mail.extract.body"/>
          <p:cNvSpPr/>
          <p:nvPr/>
        </p:nvSpPr>
        <p:spPr>
          <ns72:xfrm xmlns:ns72="http://schemas.openxmlformats.org/drawingml/2006/main">
            <ns72:off x="457200" y="2394000"/>
            <ns72:ext cx="3934800" cy="432000"/>
          </ns72:xfrm>
          <ns73:prstGeom xmlns:ns73="http://schemas.openxmlformats.org/drawingml/2006/main" prst="rect">
            <ns73:avLst/>
          </ns73:prstGeom>
          <ns74:noFill xmlns:ns74="http://schemas.openxmlformats.org/drawingml/2006/main"/>
          <ns75:ln xmlns:ns75="http://schemas.openxmlformats.org/drawingml/2006/main" w="0">
            <ns75:noFill/>
          </ns75:ln>
        </p:spPr>
        <p:txBody>
          <ns76:bodyPr xmlns:ns76="http://schemas.openxmlformats.org/drawingml/2006/main" wrap="square" lIns="0" rIns="0" tIns="0" bIns="0" anchor="t">
            <ns76:noAutofit/>
          </ns76:bodyPr>
          <ns77:lstStyle xmlns:ns77="http://schemas.openxmlformats.org/drawingml/2006/main"/>
          <ns78:p xmlns:ns78="http://schemas.openxmlformats.org/drawingml/2006/main">
            <ns78:pPr algn="l">
              <ns78:lnSpc>
                <ns78:spcPct val="108000"/>
              </ns78:lnSpc>
              <ns78:defRPr sz="1200" b="0">
                <ns78:solidFill>
                  <ns78:srgbClr val="20262C"/>
                </ns78:solidFill>
                <ns78:latin typeface="Arial"/>
                <ns78:ea typeface="Arial"/>
                <ns78:cs typeface="Arial"/>
              </ns78:defRPr>
            </ns78:pPr>
            <ns78:r>
              <ns78:rPr sz="1200" b="0">
                <ns78:solidFill>
                  <ns78:srgbClr val="20262C"/>
                </ns78:solidFill>
                <ns78:latin typeface="Arial"/>
                <ns78:ea typeface="Arial"/>
                <ns78:cs typeface="Arial"/>
              </ns78:rPr>
              <ns78:t>Extract the relevant risk information</ns78:t>
            </ns78:r>
          </ns78:p>
          <ns79:p xmlns:ns79="http://schemas.openxmlformats.org/drawingml/2006/main">
            <ns79:pPr algn="l">
              <ns79:lnSpc>
                <ns79:spcPct val="108000"/>
              </ns79:lnSpc>
              <ns79:defRPr sz="1200" b="0">
                <ns79:solidFill>
                  <ns79:srgbClr val="20262C"/>
                </ns79:solidFill>
                <ns79:latin typeface="Arial"/>
                <ns79:ea typeface="Arial"/>
                <ns79:cs typeface="Arial"/>
              </ns79:defRPr>
            </ns79:pPr>
            <ns79:r>
              <ns79:rPr sz="1200" b="0">
                <ns79:solidFill>
                  <ns79:srgbClr val="20262C"/>
                </ns79:solidFill>
                <ns79:latin typeface="Arial"/>
                <ns79:ea typeface="Arial"/>
                <ns79:cs typeface="Arial"/>
              </ns79:rPr>
              <ns79:t>Route it to the risk team’s workspace</ns79:t>
            </ns79:r>
          </ns79:p>
        </p:txBody>
      </p:sp>
      <p:sp>
        <p:nvSpPr>
          <p:cNvPr id="114" name="!!risk.rules.tool.role"/>
          <p:cNvSpPr/>
          <p:nvPr/>
        </p:nvSpPr>
        <p:spPr>
          <ns80:xfrm xmlns:ns80="http://schemas.openxmlformats.org/drawingml/2006/main">
            <ns80:off x="457200" y="2944800"/>
            <ns80:ext cx="3934800" cy="342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250" b="1">
                <ns86:solidFill>
                  <ns86:srgbClr val="20262C"/>
                </ns86:solidFill>
                <ns86:latin typeface="Arial"/>
                <ns86:ea typeface="Arial"/>
                <ns86:cs typeface="Arial"/>
              </ns86:defRPr>
            </ns86:pPr>
            <ns86:r>
              <ns86:rPr sz="1250" b="1">
                <ns86:solidFill>
                  <ns86:srgbClr val="20262C"/>
                </ns86:solidFill>
                <ns86:latin typeface="Arial"/>
                <ns86:ea typeface="Arial"/>
                <ns86:cs typeface="Arial"/>
              </ns86:rPr>
              <ns86:t>System links monitoring rules to source documents</ns86:t>
            </ns86:r>
          </ns86:p>
        </p:txBody>
      </p:sp>
      <p:sp>
        <p:nvSpPr>
          <p:cNvPr id="115" name="!!risk.rules.tool.body"/>
          <p:cNvSpPr/>
          <p:nvPr/>
        </p:nvSpPr>
        <p:spPr>
          <ns87:xfrm xmlns:ns87="http://schemas.openxmlformats.org/drawingml/2006/main">
            <ns87:off x="457200" y="3362400"/>
            <ns87:ext cx="3934800" cy="4320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200" b="0">
                <ns93:solidFill>
                  <ns93:srgbClr val="20262C"/>
                </ns93:solidFill>
                <ns93:latin typeface="Arial"/>
                <ns93:ea typeface="Arial"/>
                <ns93:cs typeface="Arial"/>
              </ns93:defRPr>
            </ns93:pPr>
            <ns93:r>
              <ns93:rPr sz="1200" b="0">
                <ns93:solidFill>
                  <ns93:srgbClr val="20262C"/>
                </ns93:solidFill>
                <ns93:latin typeface="Arial"/>
                <ns93:ea typeface="Arial"/>
                <ns93:cs typeface="Arial"/>
              </ns93:rPr>
              <ns93:t>Map risk rules to regulations,</ns93:t>
            </ns93:r>
          </ns93:p>
          <ns94:p xmlns:ns94="http://schemas.openxmlformats.org/drawingml/2006/main">
            <ns94:pPr algn="l">
              <ns94:lnSpc>
                <ns94:spcPct val="108000"/>
              </ns94:lnSpc>
              <ns94:defRPr sz="1200" b="0">
                <ns94:solidFill>
                  <ns94:srgbClr val="20262C"/>
                </ns94:solidFill>
                <ns94:latin typeface="Arial"/>
                <ns94:ea typeface="Arial"/>
                <ns94:cs typeface="Arial"/>
              </ns94:defRPr>
            </ns94:pPr>
            <ns94:r>
              <ns94:rPr sz="1200" b="0">
                <ns94:solidFill>
                  <ns94:srgbClr val="20262C"/>
                </ns94:solidFill>
                <ns94:latin typeface="Arial"/>
                <ns94:ea typeface="Arial"/>
                <ns94:cs typeface="Arial"/>
              </ns94:rPr>
              <ns94:t>internal controls and contract terms</ns94:t>
            </ns94:r>
          </ns94:p>
        </p:txBody>
      </p:sp>
      <p:sp>
        <p:nvSpPr>
          <p:cNvPr id="116" name="!!risk.rules.explain"/>
          <p:cNvSpPr/>
          <p:nvPr/>
        </p:nvSpPr>
        <p:spPr>
          <ns95:xfrm xmlns:ns95="http://schemas.openxmlformats.org/drawingml/2006/main">
            <ns95:off x="457200" y="4032000"/>
            <ns95:ext cx="3934800" cy="352800"/>
          </ns95:xfrm>
          <ns96:prstGeom xmlns:ns96="http://schemas.openxmlformats.org/drawingml/2006/main" prst="rect">
            <ns96:avLst/>
          </ns96:prstGeom>
          <ns97:noFill xmlns:ns97="http://schemas.openxmlformats.org/drawingml/2006/main"/>
          <ns98:ln xmlns:ns98="http://schemas.openxmlformats.org/drawingml/2006/main" w="0">
            <ns98:noFill/>
          </ns98:ln>
        </p:spPr>
        <p:txBody>
          <ns99:bodyPr xmlns:ns99="http://schemas.openxmlformats.org/drawingml/2006/main" wrap="square" lIns="0" rIns="0" tIns="0" bIns="0" anchor="t">
            <ns99:noAutofit/>
          </ns99:bodyPr>
          <ns100:lstStyle xmlns:ns100="http://schemas.openxmlformats.org/drawingml/2006/main"/>
          <ns101:p xmlns:ns101="http://schemas.openxmlformats.org/drawingml/2006/main">
            <ns101:pPr algn="l">
              <ns101:lnSpc>
                <ns101:spcPct val="108000"/>
              </ns101:lnSpc>
              <ns101:defRPr sz="1050" b="1">
                <ns101:solidFill>
                  <ns101:srgbClr val="005A9C"/>
                </ns101:solidFill>
                <ns101:latin typeface="Arial"/>
                <ns101:ea typeface="Arial"/>
                <ns101:cs typeface="Arial"/>
              </ns101:defRPr>
            </ns101:pPr>
            <ns101:r>
              <ns101:rPr sz="1050" b="1">
                <ns101:solidFill>
                  <ns101:srgbClr val="005A9C"/>
                </ns101:solidFill>
                <ns101:latin typeface="Arial"/>
                <ns101:ea typeface="Arial"/>
                <ns101:cs typeface="Arial"/>
              </ns101:rPr>
              <ns101:t>The LLM explains the basis for a rule trigger using the source text.</ns101:t>
            </ns101:r>
          </ns101:p>
        </p:txBody>
      </p:sp>
      <p:sp>
        <p:nvSpPr>
          <p:cNvPr id="117" name="!!risk.event.input.label"/>
          <p:cNvSpPr/>
          <p:nvPr/>
        </p:nvSpPr>
        <p:spPr>
          <ns102:xfrm xmlns:ns102="http://schemas.openxmlformats.org/drawingml/2006/main">
            <ns102:off x="4752000" y="1976400"/>
            <ns102:ext cx="3934800" cy="187200"/>
          </ns102:xfrm>
          <ns103:prstGeom xmlns:ns103="http://schemas.openxmlformats.org/drawingml/2006/main" prst="rect">
            <ns103:avLst/>
          </ns103:prstGeom>
          <ns104:noFill xmlns:ns104="http://schemas.openxmlformats.org/drawingml/2006/main"/>
          <ns105:ln xmlns:ns105="http://schemas.openxmlformats.org/drawingml/2006/main" w="0">
            <ns105:noFill/>
          </ns105:ln>
        </p:spPr>
        <p:txBody>
          <ns106:bodyPr xmlns:ns106="http://schemas.openxmlformats.org/drawingml/2006/main" wrap="square" lIns="0" rIns="0" tIns="0" bIns="0" anchor="t">
            <ns106:noAutofit/>
          </ns106:bodyPr>
          <ns107:lstStyle xmlns:ns107="http://schemas.openxmlformats.org/drawingml/2006/main"/>
          <ns108:p xmlns:ns108="http://schemas.openxmlformats.org/drawingml/2006/main">
            <ns108:pPr algn="l">
              <ns108:lnSpc>
                <ns108:spcPct val="108000"/>
              </ns108:lnSpc>
              <ns108:defRPr sz="1100" b="1">
                <ns108:solidFill>
                  <ns108:srgbClr val="687782"/>
                </ns108:solidFill>
                <ns108:latin typeface="Arial"/>
                <ns108:ea typeface="Arial"/>
                <ns108:cs typeface="Arial"/>
              </ns108:defRPr>
            </ns108:pPr>
            <ns108:r>
              <ns108:rPr sz="1100" b="1">
                <ns108:solidFill>
                  <ns108:srgbClr val="687782"/>
                </ns108:solidFill>
                <ns108:latin typeface="Arial"/>
                <ns108:ea typeface="Arial"/>
                <ns108:cs typeface="Arial"/>
              </ns108:rPr>
              <ns108:t>Event information</ns108:t>
            </ns108:r>
          </ns108:p>
        </p:txBody>
      </p:sp>
      <p:sp>
        <p:nvSpPr>
          <p:cNvPr id="118" name="!!risk.event.input.text"/>
          <p:cNvSpPr/>
          <p:nvPr/>
        </p:nvSpPr>
        <p:spPr>
          <ns109:xfrm xmlns:ns109="http://schemas.openxmlformats.org/drawingml/2006/main">
            <ns109:off x="4752000" y="2260800"/>
            <ns109:ext cx="3934800" cy="4788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200" b="0">
                <ns115:solidFill>
                  <ns115:srgbClr val="20262C"/>
                </ns115:solidFill>
                <ns115:latin typeface="Arial"/>
                <ns115:ea typeface="Arial"/>
                <ns115:cs typeface="Arial"/>
              </ns115:defRPr>
            </ns115:pPr>
            <ns115:r>
              <ns115:rPr sz="1200" b="0">
                <ns115:solidFill>
                  <ns115:srgbClr val="20262C"/>
                </ns115:solidFill>
                <ns115:latin typeface="Arial"/>
                <ns115:ea typeface="Arial"/>
                <ns115:cs typeface="Arial"/>
              </ns115:rPr>
              <ns115:t>Event details, comparable past events,</ns115:t>
            </ns115:r>
          </ns115:p>
          <ns116:p xmlns:ns116="http://schemas.openxmlformats.org/drawingml/2006/main">
            <ns116:pPr algn="l">
              <ns116:lnSpc>
                <ns116:spcPct val="108000"/>
              </ns116:lnSpc>
              <ns116:defRPr sz="1200" b="0">
                <ns116:solidFill>
                  <ns116:srgbClr val="20262C"/>
                </ns116:solidFill>
                <ns116:latin typeface="Arial"/>
                <ns116:ea typeface="Arial"/>
                <ns116:cs typeface="Arial"/>
              </ns116:defRPr>
            </ns116:pPr>
            <ns116:r>
              <ns116:rPr sz="1200" b="0">
                <ns116:solidFill>
                  <ns116:srgbClr val="20262C"/>
                </ns116:solidFill>
                <ns116:latin typeface="Arial"/>
                <ns116:ea typeface="Arial"/>
                <ns116:cs typeface="Arial"/>
              </ns116:rPr>
              <ns116:t>industry relationships and market sentiment</ns116:t>
            </ns116:r>
          </ns116:p>
        </p:txBody>
      </p:sp>
      <p:sp>
        <p:nvSpPr>
          <p:cNvPr id="119" name="!!risk.event.llm.role"/>
          <p:cNvSpPr/>
          <p:nvPr/>
        </p:nvSpPr>
        <p:spPr>
          <ns117:xfrm xmlns:ns117="http://schemas.openxmlformats.org/drawingml/2006/main">
            <ns117:off x="4752000" y="2944800"/>
            <ns117:ext cx="3934800" cy="3420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8000"/>
              </ns123:lnSpc>
              <ns123:defRPr sz="1250" b="1">
                <ns123:solidFill>
                  <ns123:srgbClr val="005A9C"/>
                </ns123:solidFill>
                <ns123:latin typeface="Arial"/>
                <ns123:ea typeface="Arial"/>
                <ns123:cs typeface="Arial"/>
              </ns123:defRPr>
            </ns123:pPr>
            <ns123:r>
              <ns123:rPr sz="1250" b="1">
                <ns123:solidFill>
                  <ns123:srgbClr val="005A9C"/>
                </ns123:solidFill>
                <ns123:latin typeface="Arial"/>
                <ns123:ea typeface="Arial"/>
                <ns123:cs typeface="Arial"/>
              </ns123:rPr>
              <ns123:t>LLM drafts an event assessment</ns123:t>
            </ns123:r>
          </ns123:p>
        </p:txBody>
      </p:sp>
      <p:sp>
        <p:nvSpPr>
          <p:cNvPr id="120" name="!!risk.event.llm.body"/>
          <p:cNvSpPr/>
          <p:nvPr/>
        </p:nvSpPr>
        <p:spPr>
          <ns124:xfrm xmlns:ns124="http://schemas.openxmlformats.org/drawingml/2006/main">
            <ns124:off x="4752000" y="3362400"/>
            <ns124:ext cx="3934800" cy="4896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200" b="0">
                <ns130:solidFill>
                  <ns130:srgbClr val="20262C"/>
                </ns130:solidFill>
                <ns130:latin typeface="Arial"/>
                <ns130:ea typeface="Arial"/>
                <ns130:cs typeface="Arial"/>
              </ns130:defRPr>
            </ns130:pPr>
            <ns130:r>
              <ns130:rPr sz="1200" b="0">
                <ns130:solidFill>
                  <ns130:srgbClr val="20262C"/>
                </ns130:solidFill>
                <ns130:latin typeface="Arial"/>
                <ns130:ea typeface="Arial"/>
                <ns130:cs typeface="Arial"/>
              </ns130:rPr>
              <ns130:t>Compare the event with past cases</ns130:t>
            </ns130:r>
          </ns130:p>
          <ns131:p xmlns:ns131="http://schemas.openxmlformats.org/drawingml/2006/main">
            <ns131:pPr algn="l">
              <ns131:lnSpc>
                <ns131:spcPct val="108000"/>
              </ns131:lnSpc>
              <ns131:defRPr sz="1200" b="0">
                <ns131:solidFill>
                  <ns131:srgbClr val="20262C"/>
                </ns131:solidFill>
                <ns131:latin typeface="Arial"/>
                <ns131:ea typeface="Arial"/>
                <ns131:cs typeface="Arial"/>
              </ns131:defRPr>
            </ns131:pPr>
            <ns131:r>
              <ns131:rPr sz="1200" b="0">
                <ns131:solidFill>
                  <ns131:srgbClr val="20262C"/>
                </ns131:solidFill>
                <ns131:latin typeface="Arial"/>
                <ns131:ea typeface="Arial"/>
                <ns131:cs typeface="Arial"/>
              </ns131:rPr>
              <ns131:t>Outline potential impacts and follow-up actions</ns131:t>
            </ns131:r>
          </ns131:p>
        </p:txBody>
      </p:sp>
      <p:sp>
        <p:nvSpPr>
          <p:cNvPr id="121" name="!!risk.event.user"/>
          <p:cNvSpPr/>
          <p:nvPr/>
        </p:nvSpPr>
        <p:spPr>
          <ns132:xfrm xmlns:ns132="http://schemas.openxmlformats.org/drawingml/2006/main">
            <ns132:off x="4752000" y="4032000"/>
            <ns132:ext cx="3934800" cy="352800"/>
          </ns132:xfrm>
          <ns133:prstGeom xmlns:ns133="http://schemas.openxmlformats.org/drawingml/2006/main" prst="rect">
            <ns133:avLst/>
          </ns133:prstGeom>
          <ns134:noFill xmlns:ns134="http://schemas.openxmlformats.org/drawingml/2006/main"/>
          <ns135:ln xmlns:ns135="http://schemas.openxmlformats.org/drawingml/2006/main" w="0">
            <ns135:noFill/>
          </ns135:ln>
        </p:spPr>
        <p:txBody>
          <ns136:bodyPr xmlns:ns136="http://schemas.openxmlformats.org/drawingml/2006/main" wrap="square" lIns="0" rIns="0" tIns="0" bIns="0" anchor="t">
            <ns136:noAutofit/>
          </ns136:bodyPr>
          <ns137:lstStyle xmlns:ns137="http://schemas.openxmlformats.org/drawingml/2006/main"/>
          <ns138:p xmlns:ns138="http://schemas.openxmlformats.org/drawingml/2006/main">
            <ns138:pPr algn="l">
              <ns138:lnSpc>
                <ns138:spcPct val="108000"/>
              </ns138:lnSpc>
              <ns138:defRPr sz="1050" b="0">
                <ns138:solidFill>
                  <ns138:srgbClr val="20262C"/>
                </ns138:solidFill>
                <ns138:latin typeface="Arial"/>
                <ns138:ea typeface="Arial"/>
                <ns138:cs typeface="Arial"/>
              </ns138:defRPr>
            </ns138:pPr>
            <ns138:r>
              <ns138:rPr sz="1050" b="0">
                <ns138:solidFill>
                  <ns138:srgbClr val="20262C"/>
                </ns138:solidFill>
                <ns138:latin typeface="Arial"/>
                <ns138:ea typeface="Arial"/>
                <ns138:cs typeface="Arial"/>
              </ns138:rPr>
              <ns138:t>Investment and risk teams discuss the implications</ns138:t>
            </ns138:r>
          </ns138:p>
        </p:txBody>
      </p:sp>
    </p:spTree>
    <p:extLst>
      <p:ext uri="{BB962C8B-B14F-4D97-AF65-F5344CB8AC3E}">
        <p14:creationId xmlns:p14="http://schemas.microsoft.com/office/powerpoint/2010/main" val="76617004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credit-risk assessment</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Middle office / Risk analysis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China Universal; Tianhong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risk.evidence.mail.label"/>
          <p:cNvSpPr/>
          <p:nvPr/>
        </p:nvSpPr>
        <p:spPr>
          <ns45:xfrm xmlns:ns45="http://schemas.openxmlformats.org/drawingml/2006/main">
            <ns45:off x="457200" y="1530000"/>
            <ns45:ext cx="2559600" cy="198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150" b="1">
                <ns51:solidFill>
                  <ns51:srgbClr val="317F7B"/>
                </ns51:solidFill>
                <ns51:latin typeface="Arial"/>
                <ns51:ea typeface="Arial"/>
                <ns51:cs typeface="Arial"/>
              </ns51:defRPr>
            </ns51:pPr>
            <ns51:r>
              <ns51:rPr sz="1150" b="1">
                <ns51:solidFill>
                  <ns51:srgbClr val="317F7B"/>
                </ns51:solidFill>
                <ns51:latin typeface="Arial"/>
                <ns51:ea typeface="Arial"/>
                <ns51:cs typeface="Arial"/>
              </ns51:rPr>
              <ns51:t>Original alert</ns51:t>
            </ns51:r>
          </ns51:p>
        </p:txBody>
      </p:sp>
      <p:sp>
        <p:nvSpPr>
          <p:cNvPr id="109" name="!!risk.evidence.mail.text"/>
          <p:cNvSpPr/>
          <p:nvPr/>
        </p:nvSpPr>
        <p:spPr>
          <ns52:xfrm xmlns:ns52="http://schemas.openxmlformats.org/drawingml/2006/main">
            <ns52:off x="457200" y="1792800"/>
            <ns52:ext cx="2559600" cy="558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0">
                <ns58:solidFill>
                  <ns58:srgbClr val="20262C"/>
                </ns58:solidFill>
                <ns58:latin typeface="Arial"/>
                <ns58:ea typeface="Arial"/>
                <ns58:cs typeface="Arial"/>
              </ns58:defRPr>
            </ns58:pPr>
            <ns58:r>
              <ns58:rPr sz="1150" b="0">
                <ns58:solidFill>
                  <ns58:srgbClr val="20262C"/>
                </ns58:solidFill>
                <ns58:latin typeface="Arial"/>
                <ns58:ea typeface="Arial"/>
                <ns58:cs typeface="Arial"/>
              </ns58:rPr>
              <ns58:t>Company A: credit rating on watch.</ns58:t>
            </ns58:r>
          </ns58:p>
          <ns59:p xmlns:ns59="http://schemas.openxmlformats.org/drawingml/2006/main">
            <ns59:pPr algn="l">
              <ns59:lnSpc>
                <ns59:spcPct val="108000"/>
              </ns59:lnSpc>
              <ns59:defRPr sz="1150" b="0">
                <ns59:solidFill>
                  <ns59:srgbClr val="20262C"/>
                </ns59:solidFill>
                <ns59:latin typeface="Arial"/>
                <ns59:ea typeface="Arial"/>
                <ns59:cs typeface="Arial"/>
              </ns59:defRPr>
            </ns59:pPr>
            <ns59:r>
              <ns59:rPr sz="1150" b="0">
                <ns59:solidFill>
                  <ns59:srgbClr val="20262C"/>
                </ns59:solidFill>
                <ns59:latin typeface="Arial"/>
                <ns59:ea typeface="Arial"/>
                <ns59:cs typeface="Arial"/>
              </ns59:rPr>
              <ns59:t>Operating cash flow is under pressure.</ns59:t>
            </ns59:r>
          </ns59:p>
        </p:txBody>
      </p:sp>
      <p:sp>
        <p:nvSpPr>
          <p:cNvPr id="110" name="!!risk.evidence.system.role"/>
          <p:cNvSpPr/>
          <p:nvPr/>
        </p:nvSpPr>
        <p:spPr>
          <ns60:xfrm xmlns:ns60="http://schemas.openxmlformats.org/drawingml/2006/main">
            <ns60:off x="457200" y="2448000"/>
            <ns60:ext cx="2559600" cy="198000"/>
          </ns60:xfrm>
          <ns61:prstGeom xmlns:ns61="http://schemas.openxmlformats.org/drawingml/2006/main" prst="rect">
            <ns61:avLst/>
          </ns61:prstGeom>
          <ns62:noFill xmlns:ns62="http://schemas.openxmlformats.org/drawingml/2006/main"/>
          <ns63:ln xmlns:ns63="http://schemas.openxmlformats.org/drawingml/2006/main" w="0">
            <ns63:noFill/>
          </ns63:ln>
        </p:spPr>
        <p:txBody>
          <ns64:bodyPr xmlns:ns64="http://schemas.openxmlformats.org/drawingml/2006/main" wrap="square" lIns="0" rIns="0" tIns="0" bIns="0" anchor="t">
            <ns64:noAutofit/>
          </ns64:bodyPr>
          <ns65:lstStyle xmlns:ns65="http://schemas.openxmlformats.org/drawingml/2006/main"/>
          <ns66:p xmlns:ns66="http://schemas.openxmlformats.org/drawingml/2006/main">
            <ns66:pPr algn="l">
              <ns66:lnSpc>
                <ns66:spcPct val="108000"/>
              </ns66:lnSpc>
              <ns66:defRPr sz="1150" b="1">
                <ns66:solidFill>
                  <ns66:srgbClr val="317F7B"/>
                </ns66:solidFill>
                <ns66:latin typeface="Arial"/>
                <ns66:ea typeface="Arial"/>
                <ns66:cs typeface="Arial"/>
              </ns66:defRPr>
            </ns66:pPr>
            <ns66:r>
              <ns66:rPr sz="1150" b="1">
                <ns66:solidFill>
                  <ns66:srgbClr val="317F7B"/>
                </ns66:solidFill>
                <ns66:latin typeface="Arial"/>
                <ns66:ea typeface="Arial"/>
                <ns66:cs typeface="Arial"/>
              </ns66:rPr>
              <ns66:t>Current holdings</ns66:t>
            </ns66:r>
          </ns66:p>
        </p:txBody>
      </p:sp>
      <p:sp>
        <p:nvSpPr>
          <p:cNvPr id="111" name="!!risk.evidence.system.body"/>
          <p:cNvSpPr/>
          <p:nvPr/>
        </p:nvSpPr>
        <p:spPr>
          <ns67:xfrm xmlns:ns67="http://schemas.openxmlformats.org/drawingml/2006/main">
            <ns67:off x="457200" y="2710800"/>
            <ns67:ext cx="2559600" cy="648000"/>
          </ns67:xfrm>
          <ns68:prstGeom xmlns:ns68="http://schemas.openxmlformats.org/drawingml/2006/main" prst="rect">
            <ns68:avLst/>
          </ns68:prstGeom>
          <ns69:noFill xmlns:ns69="http://schemas.openxmlformats.org/drawingml/2006/main"/>
          <ns70:ln xmlns:ns70="http://schemas.openxmlformats.org/drawingml/2006/main" w="0">
            <ns70:noFill/>
          </ns70:ln>
        </p:spPr>
        <p:txBody>
          <ns71:bodyPr xmlns:ns71="http://schemas.openxmlformats.org/drawingml/2006/main" wrap="square" lIns="0" rIns="0" tIns="0" bIns="0" anchor="t">
            <ns71:noAutofit/>
          </ns71:bodyPr>
          <ns72:lstStyle xmlns:ns72="http://schemas.openxmlformats.org/drawingml/2006/main"/>
          <ns73:p xmlns:ns73="http://schemas.openxmlformats.org/drawingml/2006/main">
            <ns73:pPr algn="l">
              <ns73:lnSpc>
                <ns73:spcPct val="108000"/>
              </ns73:lnSpc>
              <ns73:defRPr sz="1150" b="0">
                <ns73:solidFill>
                  <ns73:srgbClr val="20262C"/>
                </ns73:solidFill>
                <ns73:latin typeface="Arial"/>
                <ns73:ea typeface="Arial"/>
                <ns73:cs typeface="Arial"/>
              </ns73:defRPr>
            </ns73:pPr>
            <ns73:r>
              <ns73:rPr sz="1150" b="0">
                <ns73:solidFill>
                  <ns73:srgbClr val="20262C"/>
                </ns73:solidFill>
                <ns73:latin typeface="Arial"/>
                <ns73:ea typeface="Arial"/>
                <ns73:cs typeface="Arial"/>
              </ns73:rPr>
              <ns73:t>Product A holds</ns73:t>
            </ns73:r>
          </ns73:p>
          <ns74:p xmlns:ns74="http://schemas.openxmlformats.org/drawingml/2006/main">
            <ns74:pPr algn="l">
              <ns74:lnSpc>
                <ns74:spcPct val="108000"/>
              </ns74:lnSpc>
              <ns74:defRPr sz="1150" b="0">
                <ns74:solidFill>
                  <ns74:srgbClr val="20262C"/>
                </ns74:solidFill>
                <ns74:latin typeface="Arial"/>
                <ns74:ea typeface="Arial"/>
                <ns74:cs typeface="Arial"/>
              </ns74:defRPr>
            </ns74:pPr>
            <ns74:r>
              <ns74:rPr sz="1150" b="0">
                <ns74:solidFill>
                  <ns74:srgbClr val="20262C"/>
                </ns74:solidFill>
                <ns74:latin typeface="Arial"/>
                <ns74:ea typeface="Arial"/>
                <ns74:cs typeface="Arial"/>
              </ns74:rPr>
              <ns74:t>Company A bonds</ns74:t>
            </ns74:r>
          </ns74:p>
          <ns75:p xmlns:ns75="http://schemas.openxmlformats.org/drawingml/2006/main">
            <ns75:pPr algn="l">
              <ns75:lnSpc>
                <ns75:spcPct val="108000"/>
              </ns75:lnSpc>
              <ns75:defRPr sz="1150" b="0">
                <ns75:solidFill>
                  <ns75:srgbClr val="20262C"/>
                </ns75:solidFill>
                <ns75:latin typeface="Arial"/>
                <ns75:ea typeface="Arial"/>
                <ns75:cs typeface="Arial"/>
              </ns75:defRPr>
            </ns75:pPr>
            <ns75:r>
              <ns75:rPr sz="1150" b="0">
                <ns75:solidFill>
                  <ns75:srgbClr val="20262C"/>
                </ns75:solidFill>
                <ns75:latin typeface="Arial"/>
                <ns75:ea typeface="Arial"/>
                <ns75:cs typeface="Arial"/>
              </ns75:rPr>
              <ns75:t>Face value: RMB 20m</ns75:t>
            </ns75:r>
          </ns75:p>
        </p:txBody>
      </p:sp>
      <p:sp>
        <p:nvSpPr>
          <p:cNvPr id="112" name="!!risk.evidence.rule.label"/>
          <p:cNvSpPr/>
          <p:nvPr/>
        </p:nvSpPr>
        <p:spPr>
          <ns76:xfrm xmlns:ns76="http://schemas.openxmlformats.org/drawingml/2006/main">
            <ns76:off x="457200" y="3420000"/>
            <ns76:ext cx="2559600" cy="198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150" b="1">
                <ns82:solidFill>
                  <ns82:srgbClr val="317F7B"/>
                </ns82:solidFill>
                <ns82:latin typeface="Arial"/>
                <ns82:ea typeface="Arial"/>
                <ns82:cs typeface="Arial"/>
              </ns82:defRPr>
            </ns82:pPr>
            <ns82:r>
              <ns82:rPr sz="1150" b="1">
                <ns82:solidFill>
                  <ns82:srgbClr val="317F7B"/>
                </ns82:solidFill>
                <ns82:latin typeface="Arial"/>
                <ns82:ea typeface="Arial"/>
                <ns82:cs typeface="Arial"/>
              </ns82:rPr>
              <ns82:t>Monitoring requirement</ns82:t>
            </ns82:r>
          </ns82:p>
        </p:txBody>
      </p:sp>
      <p:sp>
        <p:nvSpPr>
          <p:cNvPr id="113" name="!!risk.evidence.rule.text"/>
          <p:cNvSpPr/>
          <p:nvPr/>
        </p:nvSpPr>
        <p:spPr>
          <ns83:xfrm xmlns:ns83="http://schemas.openxmlformats.org/drawingml/2006/main">
            <ns83:off x="457200" y="3682800"/>
            <ns83:ext cx="2559600" cy="5400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8000"/>
              </ns89:lnSpc>
              <ns89:defRPr sz="1150" b="0">
                <ns89:solidFill>
                  <ns89:srgbClr val="20262C"/>
                </ns89:solidFill>
                <ns89:latin typeface="Arial"/>
                <ns89:ea typeface="Arial"/>
                <ns89:cs typeface="Arial"/>
              </ns89:defRPr>
            </ns89:pPr>
            <ns89:r>
              <ns89:rPr sz="1150" b="0">
                <ns89:solidFill>
                  <ns89:srgbClr val="20262C"/>
                </ns89:solidFill>
                <ns89:latin typeface="Arial"/>
                <ns89:ea typeface="Arial"/>
                <ns89:cs typeface="Arial"/>
              </ns89:rPr>
              <ns89:t>Update issuer research following a credit event.</ns89:t>
            </ns89:r>
          </ns89:p>
        </p:txBody>
      </p:sp>
      <p:sp>
        <p:nvSpPr>
          <p:cNvPr id="114" name="!!risk.llm.role"/>
          <p:cNvSpPr/>
          <p:nvPr/>
        </p:nvSpPr>
        <p:spPr>
          <ns90:xfrm xmlns:ns90="http://schemas.openxmlformats.org/drawingml/2006/main">
            <ns90:off x="3294000" y="1864800"/>
            <ns90:ext cx="2556000" cy="2232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8000"/>
              </ns96:lnSpc>
              <ns96:defRPr sz="1300" b="1">
                <ns96:solidFill>
                  <ns96:srgbClr val="005A9C"/>
                </ns96:solidFill>
                <ns96:latin typeface="Arial"/>
                <ns96:ea typeface="Arial"/>
                <ns96:cs typeface="Arial"/>
              </ns96:defRPr>
            </ns96:pPr>
            <ns96:r>
              <ns96:rPr sz="1300" b="1">
                <ns96:solidFill>
                  <ns96:srgbClr val="005A9C"/>
                </ns96:solidFill>
                <ns96:latin typeface="Arial"/>
                <ns96:ea typeface="Arial"/>
                <ns96:cs typeface="Arial"/>
              </ns96:rPr>
              <ns96:t>LLM links the evidence</ns96:t>
            </ns96:r>
          </ns96:p>
        </p:txBody>
      </p:sp>
      <p:cxnSp>
        <p:nvCxnSpPr>
          <p:cNvPr id="115" name="risk.llm.role.rule"/>
          <p:cNvCxnSpPr/>
          <p:nvPr/>
        </p:nvCxnSpPr>
        <p:spPr>
          <ns97:xfrm xmlns:ns97="http://schemas.openxmlformats.org/drawingml/2006/main">
            <ns97:off x="3294000" y="2124000"/>
            <ns97:ext cx="2556000" cy="1"/>
          </ns97:xfrm>
          <ns98:prstGeom xmlns:ns98="http://schemas.openxmlformats.org/drawingml/2006/main" prst="line">
            <ns98:avLst/>
          </ns98:prstGeom>
          <ns99:ln xmlns:ns99="http://schemas.openxmlformats.org/drawingml/2006/main" w="12700">
            <ns99:solidFill>
              <ns99:srgbClr val="005A9C"/>
            </ns99:solidFill>
          </ns99:ln>
        </p:spPr>
      </p:cxnSp>
      <p:sp>
        <p:nvSpPr>
          <p:cNvPr id="116" name="!!risk.llm.body"/>
          <p:cNvSpPr/>
          <p:nvPr/>
        </p:nvSpPr>
        <p:spPr>
          <ns100:xfrm xmlns:ns100="http://schemas.openxmlformats.org/drawingml/2006/main">
            <ns100:off x="3294000" y="2296800"/>
            <ns100:ext cx="2556000" cy="13320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200" b="0">
                <ns106:solidFill>
                  <ns106:srgbClr val="20262C"/>
                </ns106:solidFill>
                <ns106:latin typeface="Arial"/>
                <ns106:ea typeface="Arial"/>
                <ns106:cs typeface="Arial"/>
              </ns106:defRPr>
            </ns106:pPr>
            <ns106:r>
              <ns106:rPr sz="1200" b="0">
                <ns106:solidFill>
                  <ns106:srgbClr val="20262C"/>
                </ns106:solidFill>
                <ns106:latin typeface="Arial"/>
                <ns106:ea typeface="Arial"/>
                <ns106:cs typeface="Arial"/>
              </ns106:rPr>
              <ns106:t>Identify the issuer</ns106:t>
            </ns106:r>
          </ns106:p>
          <ns107:p xmlns:ns107="http://schemas.openxmlformats.org/drawingml/2006/main">
            <ns107:pPr algn="l">
              <ns107:lnSpc>
                <ns107:spcPct val="108000"/>
              </ns107:lnSpc>
              <ns107:defRPr sz="1200" b="0">
                <ns107:solidFill>
                  <ns107:srgbClr val="20262C"/>
                </ns107:solidFill>
                <ns107:latin typeface="Arial"/>
                <ns107:ea typeface="Arial"/>
                <ns107:cs typeface="Arial"/>
              </ns107:defRPr>
            </ns107:pPr>
            <ns107:r>
              <ns107:rPr sz="1200" b="0">
                <ns107:solidFill>
                  <ns107:srgbClr val="20262C"/>
                </ns107:solidFill>
                <ns107:latin typeface="Arial"/>
                <ns107:ea typeface="Arial"/>
                <ns107:cs typeface="Arial"/>
              </ns107:rPr>
              <ns107:t>Map fund exposures</ns107:t>
            </ns107:r>
          </ns107:p>
          <ns108:p xmlns:ns108="http://schemas.openxmlformats.org/drawingml/2006/main">
            <ns108:pPr algn="l">
              <ns108:lnSpc>
                <ns108:spcPct val="108000"/>
              </ns108:lnSpc>
              <ns108:defRPr sz="1200" b="0">
                <ns108:solidFill>
                  <ns108:srgbClr val="20262C"/>
                </ns108:solidFill>
                <ns108:latin typeface="Arial"/>
                <ns108:ea typeface="Arial"/>
                <ns108:cs typeface="Arial"/>
              </ns108:defRPr>
            </ns108:pPr>
            <ns108:r>
              <ns108:rPr sz="1200" b="0">
                <ns108:solidFill>
                  <ns108:srgbClr val="20262C"/>
                </ns108:solidFill>
                <ns108:latin typeface="Arial"/>
                <ns108:ea typeface="Arial"/>
                <ns108:cs typeface="Arial"/>
              </ns108:rPr>
              <ns108:t>Review clauses and issuer research</ns108:t>
            </ns108:r>
          </ns108:p>
          <ns109:p xmlns:ns109="http://schemas.openxmlformats.org/drawingml/2006/main">
            <ns109:pPr algn="l">
              <ns109:lnSpc>
                <ns109:spcPct val="108000"/>
              </ns109:lnSpc>
              <ns109:defRPr sz="1200" b="0">
                <ns109:solidFill>
                  <ns109:srgbClr val="20262C"/>
                </ns109:solidFill>
                <ns109:latin typeface="Arial"/>
                <ns109:ea typeface="Arial"/>
                <ns109:cs typeface="Arial"/>
              </ns109:defRPr>
            </ns109:pPr>
            <ns109:r>
              <ns109:rPr sz="1200" b="0">
                <ns109:solidFill>
                  <ns109:srgbClr val="20262C"/>
                </ns109:solidFill>
                <ns109:latin typeface="Arial"/>
                <ns109:ea typeface="Arial"/>
                <ns109:cs typeface="Arial"/>
              </ns109:rPr>
              <ns109:t>Draft the assessment</ns109:t>
            </ns109:r>
          </ns109:p>
        </p:txBody>
      </p:sp>
      <p:sp>
        <p:nvSpPr>
          <p:cNvPr id="117" name="risk.assessment.document"/>
          <p:cNvSpPr/>
          <p:nvPr/>
        </p:nvSpPr>
        <p:spPr>
          <ns110:xfrm xmlns:ns110="http://schemas.openxmlformats.org/drawingml/2006/main">
            <ns110:off x="6127200" y="1483200"/>
            <ns110:ext cx="2559600" cy="2664000"/>
          </ns110:xfrm>
          <ns111:prstGeom xmlns:ns111="http://schemas.openxmlformats.org/drawingml/2006/main" prst="rect">
            <ns111:avLst/>
          </ns111:prstGeom>
          <ns112:solidFill xmlns:ns112="http://schemas.openxmlformats.org/drawingml/2006/main">
            <ns112:srgbClr val="FFFFFF"/>
          </ns112:solidFill>
          <ns113:ln xmlns:ns113="http://schemas.openxmlformats.org/drawingml/2006/main" w="9525">
            <ns113:solidFill>
              <ns113:srgbClr val="317F7B"/>
            </ns113:solidFill>
          </ns113:ln>
        </p:spPr>
      </p:sp>
      <p:sp>
        <p:nvSpPr>
          <p:cNvPr id="118" name="!!risk.result.role"/>
          <p:cNvSpPr/>
          <p:nvPr/>
        </p:nvSpPr>
        <p:spPr>
          <ns114:xfrm xmlns:ns114="http://schemas.openxmlformats.org/drawingml/2006/main">
            <ns114:off x="6235200" y="1584000"/>
            <ns114:ext cx="2343600" cy="342000"/>
          </ns114:xfrm>
          <ns115:prstGeom xmlns:ns115="http://schemas.openxmlformats.org/drawingml/2006/main" prst="rect">
            <ns115:avLst/>
          </ns115:prstGeom>
          <ns116:noFill xmlns:ns116="http://schemas.openxmlformats.org/drawingml/2006/main"/>
          <ns117:ln xmlns:ns117="http://schemas.openxmlformats.org/drawingml/2006/main" w="0">
            <ns117:noFill/>
          </ns117:ln>
        </p:spPr>
        <p:txBody>
          <ns118:bodyPr xmlns:ns118="http://schemas.openxmlformats.org/drawingml/2006/main" wrap="square" lIns="0" rIns="0" tIns="0" bIns="0" anchor="t">
            <ns118:noAutofit/>
          </ns118:bodyPr>
          <ns119:lstStyle xmlns:ns119="http://schemas.openxmlformats.org/drawingml/2006/main"/>
          <ns120:p xmlns:ns120="http://schemas.openxmlformats.org/drawingml/2006/main">
            <ns120:pPr algn="l">
              <ns120:lnSpc>
                <ns120:spcPct val="108000"/>
              </ns120:lnSpc>
              <ns120:defRPr sz="1300" b="1">
                <ns120:solidFill>
                  <ns120:srgbClr val="317F7B"/>
                </ns120:solidFill>
                <ns120:latin typeface="Arial"/>
                <ns120:ea typeface="Arial"/>
                <ns120:cs typeface="Arial"/>
              </ns120:defRPr>
            </ns120:pPr>
            <ns120:r>
              <ns120:rPr sz="1300" b="1">
                <ns120:solidFill>
                  <ns120:srgbClr val="317F7B"/>
                </ns120:solidFill>
                <ns120:latin typeface="Arial"/>
                <ns120:ea typeface="Arial"/>
                <ns120:cs typeface="Arial"/>
              </ns120:rPr>
              <ns120:t>Assessment and follow-up</ns120:t>
            </ns120:r>
          </ns120:p>
        </p:txBody>
      </p:sp>
      <p:sp>
        <p:nvSpPr>
          <p:cNvPr id="119" name="!!risk.result.body"/>
          <p:cNvSpPr/>
          <p:nvPr/>
        </p:nvSpPr>
        <p:spPr>
          <ns121:xfrm xmlns:ns121="http://schemas.openxmlformats.org/drawingml/2006/main">
            <ns121:off x="6235200" y="2059200"/>
            <ns121:ext cx="2343600" cy="19188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8000"/>
              </ns127:lnSpc>
              <ns127:defRPr sz="1150" b="0">
                <ns127:solidFill>
                  <ns127:srgbClr val="20262C"/>
                </ns127:solidFill>
                <ns127:latin typeface="Arial"/>
                <ns127:ea typeface="Arial"/>
                <ns127:cs typeface="Arial"/>
              </ns127:defRPr>
            </ns127:pPr>
            <ns127:r>
              <ns127:rPr sz="1150" b="0">
                <ns127:solidFill>
                  <ns127:srgbClr val="20262C"/>
                </ns127:solidFill>
                <ns127:latin typeface="Arial"/>
                <ns127:ea typeface="Arial"/>
                <ns127:cs typeface="Arial"/>
              </ns127:rPr>
              <ns127:t>Cash-flow pressure affects the issuer’s capacity to service debt.</ns127:t>
            </ns127:r>
          </ns127:p>
          <ns128:p xmlns:ns128="http://schemas.openxmlformats.org/drawingml/2006/main">
            <ns128:pPr algn="l">
              <ns128:lnSpc>
                <ns128:spcPct val="108000"/>
              </ns128:lnSpc>
              <ns128:defRPr sz="1150" b="0">
                <ns128:solidFill>
                  <ns128:srgbClr val="20262C"/>
                </ns128:solidFill>
                <ns128:latin typeface="Arial"/>
                <ns128:ea typeface="Arial"/>
                <ns128:cs typeface="Arial"/>
              </ns128:defRPr>
            </ns128:pPr>
            <ns128:r>
              <ns128:rPr sz="1150" b="0">
                <ns128:solidFill>
                  <ns128:srgbClr val="20262C"/>
                </ns128:solidFill>
                <ns128:latin typeface="Arial"/>
                <ns128:ea typeface="Arial"/>
                <ns128:cs typeface="Arial"/>
              </ns128:rPr>
              <ns128:t>Review the credit assessment.</ns128:t>
            </ns128:r>
          </ns128:p>
          <ns129:p xmlns:ns129="http://schemas.openxmlformats.org/drawingml/2006/main">
            <ns129:pPr algn="l">
              <ns129:lnSpc>
                <ns129:spcPct val="108000"/>
              </ns129:lnSpc>
              <ns129:defRPr sz="1150" b="0">
                <ns129:solidFill>
                  <ns129:srgbClr val="20262C"/>
                </ns129:solidFill>
                <ns129:latin typeface="Arial"/>
                <ns129:ea typeface="Arial"/>
                <ns129:cs typeface="Arial"/>
              </ns129:defRPr>
            </ns129:pPr>
            <ns129:r>
              <ns129:rPr sz="1150" b="0">
                <ns129:solidFill>
                  <ns129:srgbClr val="20262C"/>
                </ns129:solidFill>
                <ns129:latin typeface="Arial"/>
                <ns129:ea typeface="Arial"/>
                <ns129:cs typeface="Arial"/>
              </ns129:rPr>
              <ns129:t>Affected fund: Product A</ns129:t>
            </ns129:r>
          </ns129:p>
          <ns130:p xmlns:ns130="http://schemas.openxmlformats.org/drawingml/2006/main">
            <ns130:pPr algn="l">
              <ns130:lnSpc>
                <ns130:spcPct val="108000"/>
              </ns130:lnSpc>
              <ns130:defRPr sz="1150" b="0">
                <ns130:solidFill>
                  <ns130:srgbClr val="20262C"/>
                </ns130:solidFill>
                <ns130:latin typeface="Arial"/>
                <ns130:ea typeface="Arial"/>
                <ns130:cs typeface="Arial"/>
              </ns130:defRPr>
            </ns130:pPr>
            <ns130:r>
              <ns130:rPr sz="1150" b="0">
                <ns130:solidFill>
                  <ns130:srgbClr val="20262C"/>
                </ns130:solidFill>
                <ns130:latin typeface="Arial"/>
                <ns130:ea typeface="Arial"/>
                <ns130:cs typeface="Arial"/>
              </ns130:rPr>
              <ns130:t>Research follow-up: assess cash-flow trends</ns130:t>
            </ns130:r>
          </ns130:p>
        </p:txBody>
      </p:sp>
      <p:cxnSp>
        <p:nvCxnSpPr>
          <p:cNvPr id="120" name="risk.evidence.llm"/>
          <p:cNvCxnSpPr/>
          <p:nvPr/>
        </p:nvCxnSpPr>
        <p:spPr>
          <ns131:xfrm xmlns:ns131="http://schemas.openxmlformats.org/drawingml/2006/main">
            <ns131:off x="3060000" y="2638800"/>
            <ns131:ext cx="190800" cy="1"/>
          </ns131:xfrm>
          <ns132:prstGeom xmlns:ns132="http://schemas.openxmlformats.org/drawingml/2006/main" prst="line">
            <ns132:avLst/>
          </ns132:prstGeom>
          <ns133:ln xmlns:ns133="http://schemas.openxmlformats.org/drawingml/2006/main" w="12700">
            <ns133:solidFill>
              <ns133:srgbClr val="317F7B"/>
            </ns133:solidFill>
            <ns133:tailEnd type="triangle" w="sm" len="sm"/>
          </ns133:ln>
        </p:spPr>
      </p:cxnSp>
      <p:cxnSp>
        <p:nvCxnSpPr>
          <p:cNvPr id="121" name="risk.llm.assessment"/>
          <p:cNvCxnSpPr/>
          <p:nvPr/>
        </p:nvCxnSpPr>
        <p:spPr>
          <ns134:xfrm xmlns:ns134="http://schemas.openxmlformats.org/drawingml/2006/main">
            <ns134:off x="5904000" y="2638800"/>
            <ns134:ext cx="180000" cy="1"/>
          </ns134:xfrm>
          <ns135:prstGeom xmlns:ns135="http://schemas.openxmlformats.org/drawingml/2006/main" prst="line">
            <ns135:avLst/>
          </ns135:prstGeom>
          <ns136:ln xmlns:ns136="http://schemas.openxmlformats.org/drawingml/2006/main" w="12700">
            <ns136:solidFill>
              <ns136:srgbClr val="005A9C"/>
            </ns136:solidFill>
            <ns136:tailEnd type="triangle" w="sm" len="sm"/>
          </ns136:ln>
        </p:spPr>
      </p:cxnSp>
      <p:sp>
        <p:nvSpPr>
          <p:cNvPr id="122" name="!!risk.user"/>
          <p:cNvSpPr/>
          <p:nvPr/>
        </p:nvSpPr>
        <p:spPr>
          <ns137:xfrm xmlns:ns137="http://schemas.openxmlformats.org/drawingml/2006/main">
            <ns137:off x="457200" y="4262400"/>
            <ns137:ext cx="8229600" cy="1872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8000"/>
              </ns143:lnSpc>
              <ns143:defRPr sz="1000" b="0">
                <ns143:solidFill>
                  <ns143:srgbClr val="20262C"/>
                </ns143:solidFill>
                <ns143:latin typeface="Arial"/>
                <ns143:ea typeface="Arial"/>
                <ns143:cs typeface="Arial"/>
              </ns143:defRPr>
            </ns143:pPr>
            <ns143:r>
              <ns143:rPr sz="1000" b="0">
                <ns143:solidFill>
                  <ns143:srgbClr val="20262C"/>
                </ns143:solidFill>
                <ns143:latin typeface="Arial"/>
                <ns143:ea typeface="Arial"/>
                <ns143:cs typeface="Arial"/>
              </ns143:rPr>
              <ns143:t>Risk staff verify exposures and requirements. Analysts update the credit assessment. Portfolio managers discuss the response.</ns143:t>
            </ns143:r>
          </ns143:p>
        </p:txBody>
      </p:sp>
    </p:spTree>
    <p:extLst>
      <p:ext uri="{BB962C8B-B14F-4D97-AF65-F5344CB8AC3E}">
        <p14:creationId xmlns:p14="http://schemas.microsoft.com/office/powerpoint/2010/main" val="20765208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Processing operational documents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Document processing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Back office</ns37:t>
            </ns37:r>
          </ns37:p>
        </p:txBody>
      </p:sp>
      <p:sp>
        <p:nvSpPr>
          <p:cNvPr id="107" name="!!ops.head0"/>
          <p:cNvSpPr/>
          <p:nvPr/>
        </p:nvSpPr>
        <p:spPr>
          <ns38:xfrm xmlns:ns38="http://schemas.openxmlformats.org/drawingml/2006/main">
            <ns38:off x="457200" y="1530000"/>
            <ns38:ext cx="2559600" cy="2232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400" b="1">
                <ns44:solidFill>
                  <ns44:srgbClr val="005A9C"/>
                </ns44:solidFill>
                <ns44:latin typeface="Arial"/>
                <ns44:ea typeface="Arial"/>
                <ns44:cs typeface="Arial"/>
              </ns44:defRPr>
            </ns44:pPr>
            <ns44:r>
              <ns44:rPr sz="1400" b="1">
                <ns44:solidFill>
                  <ns44:srgbClr val="005A9C"/>
                </ns44:solidFill>
                <ns44:latin typeface="Arial"/>
                <ns44:ea typeface="Arial"/>
                <ns44:cs typeface="Arial"/>
              </ns44:rPr>
              <ns44:t>Input documents</ns44:t>
            </ns44:r>
          </ns44:p>
        </p:txBody>
      </p:sp>
      <p:cxnSp>
        <p:nvCxnSpPr>
          <p:cNvPr id="108" name="ops.head0.rule"/>
          <p:cNvCxnSpPr/>
          <p:nvPr/>
        </p:nvCxnSpPr>
        <p:spPr>
          <ns45:xfrm xmlns:ns45="http://schemas.openxmlformats.org/drawingml/2006/main">
            <ns45:off x="457200" y="1789200"/>
            <ns45:ext cx="2559600" cy="1"/>
          </ns45:xfrm>
          <ns46:prstGeom xmlns:ns46="http://schemas.openxmlformats.org/drawingml/2006/main" prst="line">
            <ns46:avLst/>
          </ns46:prstGeom>
          <ns47:ln xmlns:ns47="http://schemas.openxmlformats.org/drawingml/2006/main" w="12700">
            <ns47:solidFill>
              <ns47:srgbClr val="005A9C"/>
            </ns47:solidFill>
          </ns47:ln>
        </p:spPr>
      </p:cxnSp>
      <p:sp>
        <p:nvSpPr>
          <p:cNvPr id="109" name="!!ops.head1"/>
          <p:cNvSpPr/>
          <p:nvPr/>
        </p:nvSpPr>
        <p:spPr>
          <ns48:xfrm xmlns:ns48="http://schemas.openxmlformats.org/drawingml/2006/main">
            <ns48:off x="3294000" y="1530000"/>
            <ns48:ext cx="2556000" cy="223200"/>
          </ns48:xfrm>
          <ns49:prstGeom xmlns:ns49="http://schemas.openxmlformats.org/drawingml/2006/main" prst="rect">
            <ns49:avLst/>
          </ns49:prstGeom>
          <ns50:noFill xmlns:ns50="http://schemas.openxmlformats.org/drawingml/2006/main"/>
          <ns51:ln xmlns:ns51="http://schemas.openxmlformats.org/drawingml/2006/main" w="0">
            <ns51:noFill/>
          </ns51:ln>
        </p:spPr>
        <p:txBody>
          <ns52:bodyPr xmlns:ns52="http://schemas.openxmlformats.org/drawingml/2006/main" wrap="square" lIns="0" rIns="0" tIns="0" bIns="0" anchor="t">
            <ns52:noAutofit/>
          </ns52:bodyPr>
          <ns53:lstStyle xmlns:ns53="http://schemas.openxmlformats.org/drawingml/2006/main"/>
          <ns54:p xmlns:ns54="http://schemas.openxmlformats.org/drawingml/2006/main">
            <ns54:pPr algn="l">
              <ns54:lnSpc>
                <ns54:spcPct val="108000"/>
              </ns54:lnSpc>
              <ns54:defRPr sz="1400" b="1">
                <ns54:solidFill>
                  <ns54:srgbClr val="005A9C"/>
                </ns54:solidFill>
                <ns54:latin typeface="Arial"/>
                <ns54:ea typeface="Arial"/>
                <ns54:cs typeface="Arial"/>
              </ns54:defRPr>
            </ns54:pPr>
            <ns54:r>
              <ns54:rPr sz="1400" b="1">
                <ns54:solidFill>
                  <ns54:srgbClr val="005A9C"/>
                </ns54:solidFill>
                <ns54:latin typeface="Arial"/>
                <ns54:ea typeface="Arial"/>
                <ns54:cs typeface="Arial"/>
              </ns54:rPr>
              <ns54:t>Processing tasks</ns54:t>
            </ns54:r>
          </ns54:p>
        </p:txBody>
      </p:sp>
      <p:cxnSp>
        <p:nvCxnSpPr>
          <p:cNvPr id="110" name="ops.head1.rule"/>
          <p:cNvCxnSpPr/>
          <p:nvPr/>
        </p:nvCxnSpPr>
        <p:spPr>
          <ns55:xfrm xmlns:ns55="http://schemas.openxmlformats.org/drawingml/2006/main">
            <ns55:off x="3294000" y="1789200"/>
            <ns55:ext cx="2556000" cy="1"/>
          </ns55:xfrm>
          <ns56:prstGeom xmlns:ns56="http://schemas.openxmlformats.org/drawingml/2006/main" prst="line">
            <ns56:avLst/>
          </ns56:prstGeom>
          <ns57:ln xmlns:ns57="http://schemas.openxmlformats.org/drawingml/2006/main" w="12700">
            <ns57:solidFill>
              <ns57:srgbClr val="005A9C"/>
            </ns57:solidFill>
          </ns57:ln>
        </p:spPr>
      </p:cxnSp>
      <p:sp>
        <p:nvSpPr>
          <p:cNvPr id="111" name="!!ops.head2"/>
          <p:cNvSpPr/>
          <p:nvPr/>
        </p:nvSpPr>
        <p:spPr>
          <ns58:xfrm xmlns:ns58="http://schemas.openxmlformats.org/drawingml/2006/main">
            <ns58:off x="6127200" y="1530000"/>
            <ns58:ext cx="2559600" cy="223200"/>
          </ns58:xfrm>
          <ns59:prstGeom xmlns:ns59="http://schemas.openxmlformats.org/drawingml/2006/main" prst="rect">
            <ns59:avLst/>
          </ns59:prstGeom>
          <ns60:noFill xmlns:ns60="http://schemas.openxmlformats.org/drawingml/2006/main"/>
          <ns61:ln xmlns:ns61="http://schemas.openxmlformats.org/drawingml/2006/main" w="0">
            <ns61:noFill/>
          </ns61:ln>
        </p:spPr>
        <p:txBody>
          <ns62:bodyPr xmlns:ns62="http://schemas.openxmlformats.org/drawingml/2006/main" wrap="square" lIns="0" rIns="0" tIns="0" bIns="0" anchor="t">
            <ns62:noAutofit/>
          </ns62:bodyPr>
          <ns63:lstStyle xmlns:ns63="http://schemas.openxmlformats.org/drawingml/2006/main"/>
          <ns64:p xmlns:ns64="http://schemas.openxmlformats.org/drawingml/2006/main">
            <ns64:pPr algn="l">
              <ns64:lnSpc>
                <ns64:spcPct val="108000"/>
              </ns64:lnSpc>
              <ns64:defRPr sz="1400" b="1">
                <ns64:solidFill>
                  <ns64:srgbClr val="005A9C"/>
                </ns64:solidFill>
                <ns64:latin typeface="Arial"/>
                <ns64:ea typeface="Arial"/>
                <ns64:cs typeface="Arial"/>
              </ns64:defRPr>
            </ns64:pPr>
            <ns64:r>
              <ns64:rPr sz="1400" b="1">
                <ns64:solidFill>
                  <ns64:srgbClr val="005A9C"/>
                </ns64:solidFill>
                <ns64:latin typeface="Arial"/>
                <ns64:ea typeface="Arial"/>
                <ns64:cs typeface="Arial"/>
              </ns64:rPr>
              <ns64:t>Outputs</ns64:t>
            </ns64:r>
          </ns64:p>
        </p:txBody>
      </p:sp>
      <p:cxnSp>
        <p:nvCxnSpPr>
          <p:cNvPr id="112" name="ops.head2.rule"/>
          <p:cNvCxnSpPr/>
          <p:nvPr/>
        </p:nvCxnSpPr>
        <p:spPr>
          <ns65:xfrm xmlns:ns65="http://schemas.openxmlformats.org/drawingml/2006/main">
            <ns65:off x="6127200" y="1789200"/>
            <ns65:ext cx="2559600" cy="1"/>
          </ns65:xfrm>
          <ns66:prstGeom xmlns:ns66="http://schemas.openxmlformats.org/drawingml/2006/main" prst="line">
            <ns66:avLst/>
          </ns66:prstGeom>
          <ns67:ln xmlns:ns67="http://schemas.openxmlformats.org/drawingml/2006/main" w="12700">
            <ns67:solidFill>
              <ns67:srgbClr val="005A9C"/>
            </ns67:solidFill>
          </ns67:ln>
        </p:spPr>
      </p:cxnSp>
      <p:sp>
        <p:nvSpPr>
          <p:cNvPr id="113" name="!!ops.row0.0"/>
          <p:cNvSpPr/>
          <p:nvPr/>
        </p:nvSpPr>
        <p:spPr>
          <ns68:xfrm xmlns:ns68="http://schemas.openxmlformats.org/drawingml/2006/main">
            <ns68:off x="514800" y="2059200"/>
            <ns68:ext cx="2444400" cy="378000"/>
          </ns68:xfrm>
          <ns69:prstGeom xmlns:ns69="http://schemas.openxmlformats.org/drawingml/2006/main" prst="rect">
            <ns69:avLst/>
          </ns69:prstGeom>
          <ns70:noFill xmlns:ns70="http://schemas.openxmlformats.org/drawingml/2006/main"/>
          <ns71:ln xmlns:ns71="http://schemas.openxmlformats.org/drawingml/2006/main" w="0">
            <ns71:noFill/>
          </ns71:ln>
        </p:spPr>
        <p:txBody>
          <ns72:bodyPr xmlns:ns72="http://schemas.openxmlformats.org/drawingml/2006/main" wrap="square" lIns="0" rIns="0" tIns="0" bIns="0" anchor="t">
            <ns72:noAutofit/>
          </ns72:bodyPr>
          <ns73:lstStyle xmlns:ns73="http://schemas.openxmlformats.org/drawingml/2006/main"/>
          <ns74:p xmlns:ns74="http://schemas.openxmlformats.org/drawingml/2006/main">
            <ns74:pPr algn="l">
              <ns74:lnSpc>
                <ns74:spcPct val="108000"/>
              </ns74:lnSpc>
              <ns74:defRPr sz="1300" b="0">
                <ns74:solidFill>
                  <ns74:srgbClr val="20262C"/>
                </ns74:solidFill>
                <ns74:latin typeface="Arial"/>
                <ns74:ea typeface="Arial"/>
                <ns74:cs typeface="Arial"/>
              </ns74:defRPr>
            </ns74:pPr>
            <ns74:r>
              <ns74:rPr sz="1300" b="0">
                <ns74:solidFill>
                  <ns74:srgbClr val="20262C"/>
                </ns74:solidFill>
                <ns74:latin typeface="Arial"/>
                <ns74:ea typeface="Arial"/>
                <ns74:cs typeface="Arial"/>
              </ns74:rPr>
              <ns74:t>Faxes and scans</ns74:t>
            </ns74:r>
          </ns74:p>
        </p:txBody>
      </p:sp>
      <p:sp>
        <p:nvSpPr>
          <p:cNvPr id="114" name="!!ops.row0.1"/>
          <p:cNvSpPr/>
          <p:nvPr/>
        </p:nvSpPr>
        <p:spPr>
          <ns75:xfrm xmlns:ns75="http://schemas.openxmlformats.org/drawingml/2006/main">
            <ns75:off x="3351600" y="2059200"/>
            <ns75:ext cx="2440800" cy="378000"/>
          </ns75:xfrm>
          <ns76:prstGeom xmlns:ns76="http://schemas.openxmlformats.org/drawingml/2006/main" prst="rect">
            <ns76:avLst/>
          </ns76:prstGeom>
          <ns77:noFill xmlns:ns77="http://schemas.openxmlformats.org/drawingml/2006/main"/>
          <ns78:ln xmlns:ns78="http://schemas.openxmlformats.org/drawingml/2006/main" w="0">
            <ns78:noFill/>
          </ns78:ln>
        </p:spPr>
        <p:txBody>
          <ns79:bodyPr xmlns:ns79="http://schemas.openxmlformats.org/drawingml/2006/main" wrap="square" lIns="0" rIns="0" tIns="0" bIns="0" anchor="t">
            <ns79:noAutofit/>
          </ns79:bodyPr>
          <ns80:lstStyle xmlns:ns80="http://schemas.openxmlformats.org/drawingml/2006/main"/>
          <ns81:p xmlns:ns81="http://schemas.openxmlformats.org/drawingml/2006/main">
            <ns81:pPr algn="l">
              <ns81:lnSpc>
                <ns81:spcPct val="108000"/>
              </ns81:lnSpc>
              <ns81:defRPr sz="1300" b="0">
                <ns81:solidFill>
                  <ns81:srgbClr val="20262C"/>
                </ns81:solidFill>
                <ns81:latin typeface="Arial"/>
                <ns81:ea typeface="Arial"/>
                <ns81:cs typeface="Arial"/>
              </ns81:defRPr>
            </ns81:pPr>
            <ns81:r>
              <ns81:rPr sz="1300" b="0">
                <ns81:solidFill>
                  <ns81:srgbClr val="20262C"/>
                </ns81:solidFill>
                <ns81:latin typeface="Arial"/>
                <ns81:ea typeface="Arial"/>
                <ns81:cs typeface="Arial"/>
              </ns81:rPr>
              <ns81:t>Enter and validate data</ns81:t>
            </ns81:r>
          </ns81:p>
        </p:txBody>
      </p:sp>
      <p:sp>
        <p:nvSpPr>
          <p:cNvPr id="115" name="!!ops.row0.2"/>
          <p:cNvSpPr/>
          <p:nvPr/>
        </p:nvSpPr>
        <p:spPr>
          <ns82:xfrm xmlns:ns82="http://schemas.openxmlformats.org/drawingml/2006/main">
            <ns82:off x="6184800" y="2059200"/>
            <ns82:ext cx="2444400" cy="3780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8000"/>
              </ns88:lnSpc>
              <ns88:defRPr sz="1300" b="1">
                <ns88:solidFill>
                  <ns88:srgbClr val="20262C"/>
                </ns88:solidFill>
                <ns88:latin typeface="Arial"/>
                <ns88:ea typeface="Arial"/>
                <ns88:cs typeface="Arial"/>
              </ns88:defRPr>
            </ns88:pPr>
            <ns88:r>
              <ns88:rPr sz="1300" b="1">
                <ns88:solidFill>
                  <ns88:srgbClr val="20262C"/>
                </ns88:solidFill>
                <ns88:latin typeface="Arial"/>
                <ns88:ea typeface="Arial"/>
                <ns88:cs typeface="Arial"/>
              </ns88:rPr>
              <ns88:t>Business records</ns88:t>
            </ns88:r>
          </ns88:p>
        </p:txBody>
      </p:sp>
      <p:cxnSp>
        <p:nvCxnSpPr>
          <p:cNvPr id="116" name="operations.flow.0.8.49"/>
          <p:cNvCxnSpPr/>
          <p:nvPr/>
        </p:nvCxnSpPr>
        <p:spPr>
          <ns89:xfrm xmlns:ns89="http://schemas.openxmlformats.org/drawingml/2006/main">
            <ns89:off x="3056400" y="2217600"/>
            <ns89:ext cx="176400" cy="1"/>
          </ns89:xfrm>
          <ns90:prstGeom xmlns:ns90="http://schemas.openxmlformats.org/drawingml/2006/main" prst="line">
            <ns90:avLst/>
          </ns90:prstGeom>
          <ns91:ln xmlns:ns91="http://schemas.openxmlformats.org/drawingml/2006/main" w="12700">
            <ns91:solidFill>
              <ns91:srgbClr val="005A9C"/>
            </ns91:solidFill>
            <ns91:tailEnd type="triangle" w="sm" len="sm"/>
          </ns91:ln>
        </p:spPr>
      </p:cxnSp>
      <p:cxnSp>
        <p:nvCxnSpPr>
          <p:cNvPr id="117" name="operations.flow.0.16.37"/>
          <p:cNvCxnSpPr/>
          <p:nvPr/>
        </p:nvCxnSpPr>
        <p:spPr>
          <ns92:xfrm xmlns:ns92="http://schemas.openxmlformats.org/drawingml/2006/main">
            <ns92:off x="5893200" y="2217600"/>
            <ns92:ext cx="176400" cy="1"/>
          </ns92:xfrm>
          <ns93:prstGeom xmlns:ns93="http://schemas.openxmlformats.org/drawingml/2006/main" prst="line">
            <ns93:avLst/>
          </ns93:prstGeom>
          <ns94:ln xmlns:ns94="http://schemas.openxmlformats.org/drawingml/2006/main" w="12700">
            <ns94:solidFill>
              <ns94:srgbClr val="005A9C"/>
            </ns94:solidFill>
            <ns94:tailEnd type="triangle" w="sm" len="sm"/>
          </ns94:ln>
        </p:spPr>
      </p:cxnSp>
      <p:cxnSp>
        <p:nvCxnSpPr>
          <p:cNvPr id="118" name="operations.row.0"/>
          <p:cNvCxnSpPr/>
          <p:nvPr/>
        </p:nvCxnSpPr>
        <p:spPr>
          <ns95:xfrm xmlns:ns95="http://schemas.openxmlformats.org/drawingml/2006/main">
            <ns95:off x="457200" y="2556000"/>
            <ns95:ext cx="8229600" cy="1"/>
          </ns95:xfrm>
          <ns96:prstGeom xmlns:ns96="http://schemas.openxmlformats.org/drawingml/2006/main" prst="line">
            <ns96:avLst/>
          </ns96:prstGeom>
          <ns97:ln xmlns:ns97="http://schemas.openxmlformats.org/drawingml/2006/main" w="6350">
            <ns97:solidFill>
              <ns97:srgbClr val="CCD5DA"/>
            </ns97:solidFill>
          </ns97:ln>
        </p:spPr>
      </p:cxnSp>
      <p:sp>
        <p:nvSpPr>
          <p:cNvPr id="119" name="operations.client.version.row"/>
          <p:cNvSpPr/>
          <p:nvPr/>
        </p:nvSpPr>
        <p:spPr>
          <ns98:xfrm xmlns:ns98="http://schemas.openxmlformats.org/drawingml/2006/main">
            <ns98:off x="457200" y="2710800"/>
            <ns98:ext cx="8229600" cy="486000"/>
          </ns98:xfrm>
          <ns99:prstGeom xmlns:ns99="http://schemas.openxmlformats.org/drawingml/2006/main" prst="rect">
            <ns99:avLst/>
          </ns99:prstGeom>
          <ns100:solidFill xmlns:ns100="http://schemas.openxmlformats.org/drawingml/2006/main">
            <ns100:srgbClr val="F3F0F8"/>
          </ns100:solidFill>
          <ns101:ln xmlns:ns101="http://schemas.openxmlformats.org/drawingml/2006/main" w="0">
            <ns101:noFill/>
          </ns101:ln>
        </p:spPr>
      </p:sp>
      <p:sp>
        <p:nvSpPr>
          <p:cNvPr id="120" name="!!ops.row1.0"/>
          <p:cNvSpPr/>
          <p:nvPr/>
        </p:nvSpPr>
        <p:spPr>
          <ns102:xfrm xmlns:ns102="http://schemas.openxmlformats.org/drawingml/2006/main">
            <ns102:off x="514800" y="2764800"/>
            <ns102:ext cx="2444400" cy="378000"/>
          </ns102:xfrm>
          <ns103:prstGeom xmlns:ns103="http://schemas.openxmlformats.org/drawingml/2006/main" prst="rect">
            <ns103:avLst/>
          </ns103:prstGeom>
          <ns104:noFill xmlns:ns104="http://schemas.openxmlformats.org/drawingml/2006/main"/>
          <ns105:ln xmlns:ns105="http://schemas.openxmlformats.org/drawingml/2006/main" w="0">
            <ns105:noFill/>
          </ns105:ln>
        </p:spPr>
        <p:txBody>
          <ns106:bodyPr xmlns:ns106="http://schemas.openxmlformats.org/drawingml/2006/main" wrap="square" lIns="0" rIns="0" tIns="0" bIns="0" anchor="t">
            <ns106:noAutofit/>
          </ns106:bodyPr>
          <ns107:lstStyle xmlns:ns107="http://schemas.openxmlformats.org/drawingml/2006/main"/>
          <ns108:p xmlns:ns108="http://schemas.openxmlformats.org/drawingml/2006/main">
            <ns108:pPr algn="l">
              <ns108:lnSpc>
                <ns108:spcPct val="108000"/>
              </ns108:lnSpc>
              <ns108:defRPr sz="1300" b="0">
                <ns108:solidFill>
                  <ns108:srgbClr val="7363A6"/>
                </ns108:solidFill>
                <ns108:latin typeface="Arial"/>
                <ns108:ea typeface="Arial"/>
                <ns108:cs typeface="Arial"/>
              </ns108:defRPr>
            </ns108:pPr>
            <ns108:r>
              <ns108:rPr sz="1300" b="0">
                <ns108:solidFill>
                  <ns108:srgbClr val="7363A6"/>
                </ns108:solidFill>
                <ns108:latin typeface="Arial"/>
                <ns108:ea typeface="Arial"/>
                <ns108:cs typeface="Arial"/>
              </ns108:rPr>
              <ns108:t>Client update V1 / V2</ns108:t>
            </ns108:r>
          </ns108:p>
        </p:txBody>
      </p:sp>
      <p:sp>
        <p:nvSpPr>
          <p:cNvPr id="121" name="!!ops.row1.1"/>
          <p:cNvSpPr/>
          <p:nvPr/>
        </p:nvSpPr>
        <p:spPr>
          <ns109:xfrm xmlns:ns109="http://schemas.openxmlformats.org/drawingml/2006/main">
            <ns109:off x="3351600" y="2764800"/>
            <ns109:ext cx="2440800" cy="3780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300" b="0">
                <ns115:solidFill>
                  <ns115:srgbClr val="7363A6"/>
                </ns115:solidFill>
                <ns115:latin typeface="Arial"/>
                <ns115:ea typeface="Arial"/>
                <ns115:cs typeface="Arial"/>
              </ns115:defRPr>
            </ns115:pPr>
            <ns115:r>
              <ns115:rPr sz="1300" b="0">
                <ns115:solidFill>
                  <ns115:srgbClr val="7363A6"/>
                </ns115:solidFill>
                <ns115:latin typeface="Arial"/>
                <ns115:ea typeface="Arial"/>
                <ns115:cs typeface="Arial"/>
              </ns115:rPr>
              <ns115:t>Find and interpret changes</ns115:t>
            </ns115:r>
          </ns115:p>
        </p:txBody>
      </p:sp>
      <p:sp>
        <p:nvSpPr>
          <p:cNvPr id="122" name="!!ops.row1.2"/>
          <p:cNvSpPr/>
          <p:nvPr/>
        </p:nvSpPr>
        <p:spPr>
          <ns116:xfrm xmlns:ns116="http://schemas.openxmlformats.org/drawingml/2006/main">
            <ns116:off x="6184800" y="2764800"/>
            <ns116:ext cx="2444400" cy="3780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300" b="1">
                <ns122:solidFill>
                  <ns122:srgbClr val="7363A6"/>
                </ns122:solidFill>
                <ns122:latin typeface="Arial"/>
                <ns122:ea typeface="Arial"/>
                <ns122:cs typeface="Arial"/>
              </ns122:defRPr>
            </ns122:pPr>
            <ns122:r>
              <ns122:rPr sz="1300" b="1">
                <ns122:solidFill>
                  <ns122:srgbClr val="7363A6"/>
                </ns122:solidFill>
                <ns122:latin typeface="Arial"/>
                <ns122:ea typeface="Arial"/>
                <ns122:cs typeface="Arial"/>
              </ns122:rPr>
              <ns122:t>Change summary</ns122:t>
            </ns122:r>
          </ns122:p>
        </p:txBody>
      </p:sp>
      <p:cxnSp>
        <p:nvCxnSpPr>
          <p:cNvPr id="123" name="operations.flow.1.8.49"/>
          <p:cNvCxnSpPr/>
          <p:nvPr/>
        </p:nvCxnSpPr>
        <p:spPr>
          <ns123:xfrm xmlns:ns123="http://schemas.openxmlformats.org/drawingml/2006/main">
            <ns123:off x="3056400" y="2923200"/>
            <ns123:ext cx="176400" cy="1"/>
          </ns123:xfrm>
          <ns124:prstGeom xmlns:ns124="http://schemas.openxmlformats.org/drawingml/2006/main" prst="line">
            <ns124:avLst/>
          </ns124:prstGeom>
          <ns125:ln xmlns:ns125="http://schemas.openxmlformats.org/drawingml/2006/main" w="12700">
            <ns125:solidFill>
              <ns125:srgbClr val="005A9C"/>
            </ns125:solidFill>
            <ns125:tailEnd type="triangle" w="sm" len="sm"/>
          </ns125:ln>
        </p:spPr>
      </p:cxnSp>
      <p:cxnSp>
        <p:nvCxnSpPr>
          <p:cNvPr id="124" name="operations.flow.1.16.37"/>
          <p:cNvCxnSpPr/>
          <p:nvPr/>
        </p:nvCxnSpPr>
        <p:spPr>
          <ns126:xfrm xmlns:ns126="http://schemas.openxmlformats.org/drawingml/2006/main">
            <ns126:off x="5893200" y="2923200"/>
            <ns126:ext cx="176400" cy="1"/>
          </ns126:xfrm>
          <ns127:prstGeom xmlns:ns127="http://schemas.openxmlformats.org/drawingml/2006/main" prst="line">
            <ns127:avLst/>
          </ns127:prstGeom>
          <ns128:ln xmlns:ns128="http://schemas.openxmlformats.org/drawingml/2006/main" w="12700">
            <ns128:solidFill>
              <ns128:srgbClr val="005A9C"/>
            </ns128:solidFill>
            <ns128:tailEnd type="triangle" w="sm" len="sm"/>
          </ns128:ln>
        </p:spPr>
      </p:cxnSp>
      <p:cxnSp>
        <p:nvCxnSpPr>
          <p:cNvPr id="125" name="operations.row.1"/>
          <p:cNvCxnSpPr/>
          <p:nvPr/>
        </p:nvCxnSpPr>
        <p:spPr>
          <ns129:xfrm xmlns:ns129="http://schemas.openxmlformats.org/drawingml/2006/main">
            <ns129:off x="457200" y="3261600"/>
            <ns129:ext cx="8229600" cy="1"/>
          </ns129:xfrm>
          <ns130:prstGeom xmlns:ns130="http://schemas.openxmlformats.org/drawingml/2006/main" prst="line">
            <ns130:avLst/>
          </ns130:prstGeom>
          <ns131:ln xmlns:ns131="http://schemas.openxmlformats.org/drawingml/2006/main" w="6350">
            <ns131:solidFill>
              <ns131:srgbClr val="CCD5DA"/>
            </ns131:solidFill>
          </ns131:ln>
        </p:spPr>
      </p:cxnSp>
      <p:sp>
        <p:nvSpPr>
          <p:cNvPr id="126" name="!!ops.row2.0"/>
          <p:cNvSpPr/>
          <p:nvPr/>
        </p:nvSpPr>
        <p:spPr>
          <ns132:xfrm xmlns:ns132="http://schemas.openxmlformats.org/drawingml/2006/main">
            <ns132:off x="514800" y="3470400"/>
            <ns132:ext cx="2444400" cy="378000"/>
          </ns132:xfrm>
          <ns133:prstGeom xmlns:ns133="http://schemas.openxmlformats.org/drawingml/2006/main" prst="rect">
            <ns133:avLst/>
          </ns133:prstGeom>
          <ns134:noFill xmlns:ns134="http://schemas.openxmlformats.org/drawingml/2006/main"/>
          <ns135:ln xmlns:ns135="http://schemas.openxmlformats.org/drawingml/2006/main" w="0">
            <ns135:noFill/>
          </ns135:ln>
        </p:spPr>
        <p:txBody>
          <ns136:bodyPr xmlns:ns136="http://schemas.openxmlformats.org/drawingml/2006/main" wrap="square" lIns="0" rIns="0" tIns="0" bIns="0" anchor="t">
            <ns136:noAutofit/>
          </ns136:bodyPr>
          <ns137:lstStyle xmlns:ns137="http://schemas.openxmlformats.org/drawingml/2006/main"/>
          <ns138:p xmlns:ns138="http://schemas.openxmlformats.org/drawingml/2006/main">
            <ns138:pPr algn="l">
              <ns138:lnSpc>
                <ns138:spcPct val="108000"/>
              </ns138:lnSpc>
              <ns138:defRPr sz="1300" b="0">
                <ns138:solidFill>
                  <ns138:srgbClr val="20262C"/>
                </ns138:solidFill>
                <ns138:latin typeface="Arial"/>
                <ns138:ea typeface="Arial"/>
                <ns138:cs typeface="Arial"/>
              </ns138:defRPr>
            </ns138:pPr>
            <ns138:r>
              <ns138:rPr sz="1300" b="0">
                <ns138:solidFill>
                  <ns138:srgbClr val="20262C"/>
                </ns138:solidFill>
                <ns138:latin typeface="Arial"/>
                <ns138:ea typeface="Arial"/>
                <ns138:cs typeface="Arial"/>
              </ns138:rPr>
              <ns138:t>Related documents</ns138:t>
            </ns138:r>
          </ns138:p>
        </p:txBody>
      </p:sp>
      <p:sp>
        <p:nvSpPr>
          <p:cNvPr id="127" name="!!ops.row2.1"/>
          <p:cNvSpPr/>
          <p:nvPr/>
        </p:nvSpPr>
        <p:spPr>
          <ns139:xfrm xmlns:ns139="http://schemas.openxmlformats.org/drawingml/2006/main">
            <ns139:off x="3351600" y="3470400"/>
            <ns139:ext cx="2440800" cy="378000"/>
          </ns139:xfrm>
          <ns140:prstGeom xmlns:ns140="http://schemas.openxmlformats.org/drawingml/2006/main" prst="rect">
            <ns140:avLst/>
          </ns140:prstGeom>
          <ns141:noFill xmlns:ns141="http://schemas.openxmlformats.org/drawingml/2006/main"/>
          <ns142:ln xmlns:ns142="http://schemas.openxmlformats.org/drawingml/2006/main" w="0">
            <ns142:noFill/>
          </ns142:ln>
        </p:spPr>
        <p:txBody>
          <ns143:bodyPr xmlns:ns143="http://schemas.openxmlformats.org/drawingml/2006/main" wrap="square" lIns="0" rIns="0" tIns="0" bIns="0" anchor="t">
            <ns143:noAutofit/>
          </ns143:bodyPr>
          <ns144:lstStyle xmlns:ns144="http://schemas.openxmlformats.org/drawingml/2006/main"/>
          <ns145:p xmlns:ns145="http://schemas.openxmlformats.org/drawingml/2006/main">
            <ns145:pPr algn="l">
              <ns145:lnSpc>
                <ns145:spcPct val="108000"/>
              </ns145:lnSpc>
              <ns145:defRPr sz="1300" b="0">
                <ns145:solidFill>
                  <ns145:srgbClr val="20262C"/>
                </ns145:solidFill>
                <ns145:latin typeface="Arial"/>
                <ns145:ea typeface="Arial"/>
                <ns145:cs typeface="Arial"/>
              </ns145:defRPr>
            </ns145:pPr>
            <ns145:r>
              <ns145:rPr sz="1300" b="0">
                <ns145:solidFill>
                  <ns145:srgbClr val="20262C"/>
                </ns145:solidFill>
                <ns145:latin typeface="Arial"/>
                <ns145:ea typeface="Arial"/>
                <ns145:cs typeface="Arial"/>
              </ns145:rPr>
              <ns145:t>Apply the same revision</ns145:t>
            </ns145:r>
          </ns145:p>
        </p:txBody>
      </p:sp>
      <p:sp>
        <p:nvSpPr>
          <p:cNvPr id="128" name="!!ops.row2.2"/>
          <p:cNvSpPr/>
          <p:nvPr/>
        </p:nvSpPr>
        <p:spPr>
          <ns146:xfrm xmlns:ns146="http://schemas.openxmlformats.org/drawingml/2006/main">
            <ns146:off x="6184800" y="3470400"/>
            <ns146:ext cx="2444400" cy="378000"/>
          </ns146:xfrm>
          <ns147:prstGeom xmlns:ns147="http://schemas.openxmlformats.org/drawingml/2006/main" prst="rect">
            <ns147:avLst/>
          </ns147:prstGeom>
          <ns148:noFill xmlns:ns148="http://schemas.openxmlformats.org/drawingml/2006/main"/>
          <ns149:ln xmlns:ns149="http://schemas.openxmlformats.org/drawingml/2006/main" w="0">
            <ns149:noFill/>
          </ns149:ln>
        </p:spPr>
        <p:txBody>
          <ns150:bodyPr xmlns:ns150="http://schemas.openxmlformats.org/drawingml/2006/main" wrap="square" lIns="0" rIns="0" tIns="0" bIns="0" anchor="t">
            <ns150:noAutofit/>
          </ns150:bodyPr>
          <ns151:lstStyle xmlns:ns151="http://schemas.openxmlformats.org/drawingml/2006/main"/>
          <ns152:p xmlns:ns152="http://schemas.openxmlformats.org/drawingml/2006/main">
            <ns152:pPr algn="l">
              <ns152:lnSpc>
                <ns152:spcPct val="108000"/>
              </ns152:lnSpc>
              <ns152:defRPr sz="1300" b="1">
                <ns152:solidFill>
                  <ns152:srgbClr val="20262C"/>
                </ns152:solidFill>
                <ns152:latin typeface="Arial"/>
                <ns152:ea typeface="Arial"/>
                <ns152:cs typeface="Arial"/>
              </ns152:defRPr>
            </ns152:pPr>
            <ns152:r>
              <ns152:rPr sz="1300" b="1">
                <ns152:solidFill>
                  <ns152:srgbClr val="20262C"/>
                </ns152:solidFill>
                <ns152:latin typeface="Arial"/>
                <ns152:ea typeface="Arial"/>
                <ns152:cs typeface="Arial"/>
              </ns152:rPr>
              <ns152:t>Updated documents</ns152:t>
            </ns152:r>
          </ns152:p>
        </p:txBody>
      </p:sp>
      <p:cxnSp>
        <p:nvCxnSpPr>
          <p:cNvPr id="129" name="operations.flow.2.8.49"/>
          <p:cNvCxnSpPr/>
          <p:nvPr/>
        </p:nvCxnSpPr>
        <p:spPr>
          <ns153:xfrm xmlns:ns153="http://schemas.openxmlformats.org/drawingml/2006/main">
            <ns153:off x="3056400" y="3628800"/>
            <ns153:ext cx="176400" cy="1"/>
          </ns153:xfrm>
          <ns154:prstGeom xmlns:ns154="http://schemas.openxmlformats.org/drawingml/2006/main" prst="line">
            <ns154:avLst/>
          </ns154:prstGeom>
          <ns155:ln xmlns:ns155="http://schemas.openxmlformats.org/drawingml/2006/main" w="12700">
            <ns155:solidFill>
              <ns155:srgbClr val="005A9C"/>
            </ns155:solidFill>
            <ns155:tailEnd type="triangle" w="sm" len="sm"/>
          </ns155:ln>
        </p:spPr>
      </p:cxnSp>
      <p:cxnSp>
        <p:nvCxnSpPr>
          <p:cNvPr id="130" name="operations.flow.2.16.37"/>
          <p:cNvCxnSpPr/>
          <p:nvPr/>
        </p:nvCxnSpPr>
        <p:spPr>
          <ns156:xfrm xmlns:ns156="http://schemas.openxmlformats.org/drawingml/2006/main">
            <ns156:off x="5893200" y="3628800"/>
            <ns156:ext cx="176400" cy="1"/>
          </ns156:xfrm>
          <ns157:prstGeom xmlns:ns157="http://schemas.openxmlformats.org/drawingml/2006/main" prst="line">
            <ns157:avLst/>
          </ns157:prstGeom>
          <ns158:ln xmlns:ns158="http://schemas.openxmlformats.org/drawingml/2006/main" w="12700">
            <ns158:solidFill>
              <ns158:srgbClr val="005A9C"/>
            </ns158:solidFill>
            <ns158:tailEnd type="triangle" w="sm" len="sm"/>
          </ns158:ln>
        </p:spPr>
      </p:cxnSp>
      <p:sp>
        <p:nvSpPr>
          <p:cNvPr id="131" name="!!ops.repetition"/>
          <p:cNvSpPr/>
          <p:nvPr/>
        </p:nvSpPr>
        <p:spPr>
          <ns159:xfrm xmlns:ns159="http://schemas.openxmlformats.org/drawingml/2006/main">
            <ns159:off x="457200" y="4230000"/>
            <ns159:ext cx="8229600" cy="1872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8000"/>
              </ns165:lnSpc>
              <ns165:defRPr sz="1150" b="0">
                <ns165:solidFill>
                  <ns165:srgbClr val="20262C"/>
                </ns165:solidFill>
                <ns165:latin typeface="Arial"/>
                <ns165:ea typeface="Arial"/>
                <ns165:cs typeface="Arial"/>
              </ns165:defRPr>
            </ns165:pPr>
            <ns165:r>
              <ns165:rPr sz="1150" b="0">
                <ns165:solidFill>
                  <ns165:srgbClr val="20262C"/>
                </ns165:solidFill>
                <ns165:latin typeface="Arial"/>
                <ns165:ea typeface="Arial"/>
                <ns165:cs typeface="Arial"/>
              </ns165:rPr>
              <ns165:t>Staff spend time rekeying data and interpreting document changes.</ns165:t>
            </ns165:r>
          </ns165:p>
        </p:txBody>
      </p:sp>
    </p:spTree>
    <p:extLst>
      <p:ext uri="{BB962C8B-B14F-4D97-AF65-F5344CB8AC3E}">
        <p14:creationId xmlns:p14="http://schemas.microsoft.com/office/powerpoint/2010/main" val="12141000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HuaAn and ICBCUBS: document processing</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Document processing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HuaAn / CCF; ICBCUBS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1">
                <ns44:solidFill>
                  <ns44:srgbClr val="005A9C"/>
                </ns44:solidFill>
                <ns44:latin typeface="Arial"/>
                <ns44:ea typeface="Arial"/>
                <ns44:cs typeface="Arial"/>
              </ns44:defRPr>
            </ns44:pPr>
            <ns44:r>
              <ns44:rPr sz="800" b="1">
                <ns44:solidFill>
                  <ns44:srgbClr val="005A9C"/>
                </ns44:solidFill>
                <ns44:latin typeface="Arial"/>
                <ns44:ea typeface="Arial"/>
                <ns44:cs typeface="Arial"/>
              </ns44:rPr>
              <ns44:t>Back office</ns44:t>
            </ns44:r>
          </ns44:p>
        </p:txBody>
      </p:sp>
      <p:sp>
        <p:nvSpPr>
          <p:cNvPr id="108" name="!!ops.huaan"/>
          <p:cNvSpPr/>
          <p:nvPr/>
        </p:nvSpPr>
        <p:spPr>
          <ns45:xfrm xmlns:ns45="http://schemas.openxmlformats.org/drawingml/2006/main">
            <ns45:off x="457200" y="1486800"/>
            <ns45:ext cx="2559600" cy="2232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HuaAn: automated data entry</ns51:t>
            </ns51:r>
          </ns51:p>
        </p:txBody>
      </p:sp>
      <p:cxnSp>
        <p:nvCxnSpPr>
          <p:cNvPr id="109" name="ops.huaan.rule"/>
          <p:cNvCxnSpPr/>
          <p:nvPr/>
        </p:nvCxnSpPr>
        <p:spPr>
          <ns52:xfrm xmlns:ns52="http://schemas.openxmlformats.org/drawingml/2006/main">
            <ns52:off x="457200" y="1746000"/>
            <ns52:ext cx="2559600" cy="1"/>
          </ns52:xfrm>
          <ns53:prstGeom xmlns:ns53="http://schemas.openxmlformats.org/drawingml/2006/main" prst="line">
            <ns53:avLst/>
          </ns53:prstGeom>
          <ns54:ln xmlns:ns54="http://schemas.openxmlformats.org/drawingml/2006/main" w="12700">
            <ns54:solidFill>
              <ns54:srgbClr val="005A9C"/>
            </ns54:solidFill>
          </ns54:ln>
        </p:spPr>
      </p:cxnSp>
      <p:sp>
        <p:nvSpPr>
          <p:cNvPr id="110" name="!!ops.form.role"/>
          <p:cNvSpPr/>
          <p:nvPr/>
        </p:nvSpPr>
        <p:spPr>
          <ns55:xfrm xmlns:ns55="http://schemas.openxmlformats.org/drawingml/2006/main">
            <ns55:off x="457200" y="1976400"/>
            <ns55:ext cx="2559600" cy="2160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200" b="1">
                <ns61:solidFill>
                  <ns61:srgbClr val="20262C"/>
                </ns61:solidFill>
                <ns61:latin typeface="Arial"/>
                <ns61:ea typeface="Arial"/>
                <ns61:cs typeface="Arial"/>
              </ns61:defRPr>
            </ns61:pPr>
            <ns61:r>
              <ns61:rPr sz="1200" b="1">
                <ns61:solidFill>
                  <ns61:srgbClr val="20262C"/>
                </ns61:solidFill>
                <ns61:latin typeface="Arial"/>
                <ns61:ea typeface="Arial"/>
                <ns61:cs typeface="Arial"/>
              </ns61:rPr>
              <ns61:t>Read faxes and forms</ns61:t>
            </ns61:r>
          </ns61:p>
        </p:txBody>
      </p:sp>
      <p:sp>
        <p:nvSpPr>
          <p:cNvPr id="111" name="!!ops.form.body"/>
          <p:cNvSpPr/>
          <p:nvPr/>
        </p:nvSpPr>
        <p:spPr>
          <ns62:xfrm xmlns:ns62="http://schemas.openxmlformats.org/drawingml/2006/main">
            <ns62:off x="457200" y="2300400"/>
            <ns62:ext cx="2559600" cy="8244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50" b="0">
                <ns68:solidFill>
                  <ns68:srgbClr val="20262C"/>
                </ns68:solidFill>
                <ns68:latin typeface="Arial"/>
                <ns68:ea typeface="Arial"/>
                <ns68:cs typeface="Arial"/>
              </ns68:defRPr>
            </ns68:pPr>
            <ns68:r>
              <ns68:rPr sz="1150" b="0">
                <ns68:solidFill>
                  <ns68:srgbClr val="20262C"/>
                </ns68:solidFill>
                <ns68:latin typeface="Arial"/>
                <ns68:ea typeface="Arial"/>
                <ns68:cs typeface="Arial"/>
              </ns68:rPr>
              <ns68:t>Read document content</ns68:t>
            </ns68:r>
          </ns68:p>
          <ns69:p xmlns:ns69="http://schemas.openxmlformats.org/drawingml/2006/main">
            <ns69:pPr algn="l">
              <ns69:lnSpc>
                <ns69:spcPct val="108000"/>
              </ns69:lnSpc>
              <ns69:defRPr sz="1150" b="0">
                <ns69:solidFill>
                  <ns69:srgbClr val="20262C"/>
                </ns69:solidFill>
                <ns69:latin typeface="Arial"/>
                <ns69:ea typeface="Arial"/>
                <ns69:cs typeface="Arial"/>
              </ns69:defRPr>
            </ns69:pPr>
            <ns69:r>
              <ns69:rPr sz="1150" b="0">
                <ns69:solidFill>
                  <ns69:srgbClr val="20262C"/>
                </ns69:solidFill>
                <ns69:latin typeface="Arial"/>
                <ns69:ea typeface="Arial"/>
                <ns69:cs typeface="Arial"/>
              </ns69:rPr>
              <ns69:t>Extract required data</ns69:t>
            </ns69:r>
          </ns69:p>
          <ns70:p xmlns:ns70="http://schemas.openxmlformats.org/drawingml/2006/main">
            <ns70:pPr algn="l">
              <ns70:lnSpc>
                <ns70:spcPct val="108000"/>
              </ns70:lnSpc>
              <ns70:defRPr sz="1150" b="0">
                <ns70:solidFill>
                  <ns70:srgbClr val="20262C"/>
                </ns70:solidFill>
                <ns70:latin typeface="Arial"/>
                <ns70:ea typeface="Arial"/>
                <ns70:cs typeface="Arial"/>
              </ns70:defRPr>
            </ns70:pPr>
            <ns70:r>
              <ns70:rPr sz="1150" b="0">
                <ns70:solidFill>
                  <ns70:srgbClr val="20262C"/>
                </ns70:solidFill>
                <ns70:latin typeface="Arial"/>
                <ns70:ea typeface="Arial"/>
                <ns70:cs typeface="Arial"/>
              </ns70:rPr>
              <ns70:t>Populate client-service records</ns70:t>
            </ns70:r>
          </ns70:p>
          <ns71:p xmlns:ns71="http://schemas.openxmlformats.org/drawingml/2006/main">
            <ns71:pPr algn="l">
              <ns71:lnSpc>
                <ns71:spcPct val="108000"/>
              </ns71:lnSpc>
              <ns71:defRPr sz="1150" b="0">
                <ns71:solidFill>
                  <ns71:srgbClr val="20262C"/>
                </ns71:solidFill>
                <ns71:latin typeface="Arial"/>
                <ns71:ea typeface="Arial"/>
                <ns71:cs typeface="Arial"/>
              </ns71:defRPr>
            </ns71:pPr>
            <ns71:r>
              <ns71:rPr sz="1150" b="0">
                <ns71:solidFill>
                  <ns71:srgbClr val="20262C"/>
                </ns71:solidFill>
                <ns71:latin typeface="Arial"/>
                <ns71:ea typeface="Arial"/>
                <ns71:cs typeface="Arial"/>
              </ns71:rPr>
              <ns71:t>from faxes and forms</ns71:t>
            </ns71:r>
          </ns71:p>
        </p:txBody>
      </p:sp>
      <p:sp>
        <p:nvSpPr>
          <p:cNvPr id="112" name="!!ops.stat"/>
          <p:cNvSpPr/>
          <p:nvPr/>
        </p:nvSpPr>
        <p:spPr>
          <ns72:xfrm xmlns:ns72="http://schemas.openxmlformats.org/drawingml/2006/main">
            <ns72:off x="457200" y="3348000"/>
            <ns72:ext cx="2559600" cy="864000"/>
          </ns72:xfrm>
          <ns73:prstGeom xmlns:ns73="http://schemas.openxmlformats.org/drawingml/2006/main" prst="rect">
            <ns73:avLst/>
          </ns73:prstGeom>
          <ns74:noFill xmlns:ns74="http://schemas.openxmlformats.org/drawingml/2006/main"/>
          <ns75:ln xmlns:ns75="http://schemas.openxmlformats.org/drawingml/2006/main" w="0">
            <ns75:noFill/>
          </ns75:ln>
        </p:spPr>
        <p:txBody>
          <ns76:bodyPr xmlns:ns76="http://schemas.openxmlformats.org/drawingml/2006/main" wrap="square" lIns="0" rIns="0" tIns="0" bIns="0" anchor="t">
            <ns76:noAutofit/>
          </ns76:bodyPr>
          <ns77:lstStyle xmlns:ns77="http://schemas.openxmlformats.org/drawingml/2006/main"/>
          <ns78:p xmlns:ns78="http://schemas.openxmlformats.org/drawingml/2006/main">
            <ns78:pPr algn="l">
              <ns78:lnSpc>
                <ns78:spcPct val="108000"/>
              </ns78:lnSpc>
              <ns78:defRPr sz="1100" b="1">
                <ns78:solidFill>
                  <ns78:srgbClr val="005A9C"/>
                </ns78:solidFill>
                <ns78:latin typeface="Arial"/>
                <ns78:ea typeface="Arial"/>
                <ns78:cs typeface="Arial"/>
              </ns78:defRPr>
            </ns78:pPr>
            <ns78:r>
              <ns78:rPr sz="1100" b="1">
                <ns78:solidFill>
                  <ns78:srgbClr val="005A9C"/>
                </ns78:solidFill>
                <ns78:latin typeface="Arial"/>
                <ns78:ea typeface="Arial"/>
                <ns78:cs typeface="Arial"/>
              </ns78:rPr>
              <ns78:t>HuaAn reports automated data entry for more than 80% of faxes handled by its direct-sales counter.</ns78:t>
            </ns78:r>
          </ns78:p>
        </p:txBody>
      </p:sp>
      <p:sp>
        <p:nvSpPr>
          <p:cNvPr id="113" name="!!ops.icbc"/>
          <p:cNvSpPr/>
          <p:nvPr/>
        </p:nvSpPr>
        <p:spPr>
          <ns79:xfrm xmlns:ns79="http://schemas.openxmlformats.org/drawingml/2006/main">
            <ns79:off x="3294000" y="1486800"/>
            <ns79:ext cx="5392800" cy="2232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8000"/>
              </ns85:lnSpc>
              <ns85:defRPr sz="1300" b="1">
                <ns85:solidFill>
                  <ns85:srgbClr val="005A9C"/>
                </ns85:solidFill>
                <ns85:latin typeface="Arial"/>
                <ns85:ea typeface="Arial"/>
                <ns85:cs typeface="Arial"/>
              </ns85:defRPr>
            </ns85:pPr>
            <ns85:r>
              <ns85:rPr sz="1300" b="1">
                <ns85:solidFill>
                  <ns85:srgbClr val="005A9C"/>
                </ns85:solidFill>
                <ns85:latin typeface="Arial"/>
                <ns85:ea typeface="Arial"/>
                <ns85:cs typeface="Arial"/>
              </ns85:rPr>
              <ns85:t>ICBCUBS: document comparison</ns85:t>
            </ns85:r>
          </ns85:p>
        </p:txBody>
      </p:sp>
      <p:cxnSp>
        <p:nvCxnSpPr>
          <p:cNvPr id="114" name="ops.icbc.rule"/>
          <p:cNvCxnSpPr/>
          <p:nvPr/>
        </p:nvCxnSpPr>
        <p:spPr>
          <ns86:xfrm xmlns:ns86="http://schemas.openxmlformats.org/drawingml/2006/main">
            <ns86:off x="3294000" y="1746000"/>
            <ns86:ext cx="5392800" cy="1"/>
          </ns86:xfrm>
          <ns87:prstGeom xmlns:ns87="http://schemas.openxmlformats.org/drawingml/2006/main" prst="line">
            <ns87:avLst/>
          </ns87:prstGeom>
          <ns88:ln xmlns:ns88="http://schemas.openxmlformats.org/drawingml/2006/main" w="12700">
            <ns88:solidFill>
              <ns88:srgbClr val="005A9C"/>
            </ns88:solidFill>
          </ns88:ln>
        </p:spPr>
      </p:cxnSp>
      <p:sp>
        <p:nvSpPr>
          <p:cNvPr id="115" name="!!ops.formats"/>
          <p:cNvSpPr/>
          <p:nvPr/>
        </p:nvSpPr>
        <p:spPr>
          <ns89:xfrm xmlns:ns89="http://schemas.openxmlformats.org/drawingml/2006/main">
            <ns89:off x="3294000" y="1843200"/>
            <ns89:ext cx="5392800" cy="1584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050" b="0">
                <ns95:solidFill>
                  <ns95:srgbClr val="687782"/>
                </ns95:solidFill>
                <ns95:latin typeface="Arial"/>
                <ns95:ea typeface="Arial"/>
                <ns95:cs typeface="Arial"/>
              </ns95:defRPr>
            </ns95:pPr>
            <ns95:r>
              <ns95:rPr sz="1050" b="0">
                <ns95:solidFill>
                  <ns95:srgbClr val="687782"/>
                </ns95:solidFill>
                <ns95:latin typeface="Arial"/>
                <ns95:ea typeface="Arial"/>
                <ns95:cs typeface="Arial"/>
              </ns95:rPr>
              <ns95:t>PDF, Word and scanned documents</ns95:t>
            </ns95:r>
          </ns95:p>
        </p:txBody>
      </p:sp>
      <p:sp>
        <p:nvSpPr>
          <p:cNvPr id="116" name="!!ops.compare.read"/>
          <p:cNvSpPr/>
          <p:nvPr/>
        </p:nvSpPr>
        <p:spPr>
          <ns96:xfrm xmlns:ns96="http://schemas.openxmlformats.org/drawingml/2006/main">
            <ns96:off x="3294000" y="2077200"/>
            <ns96:ext cx="5392800" cy="234000"/>
          </ns96:xfrm>
          <ns97:prstGeom xmlns:ns97="http://schemas.openxmlformats.org/drawingml/2006/main" prst="rect">
            <ns97:avLst/>
          </ns97:prstGeom>
          <ns98:noFill xmlns:ns98="http://schemas.openxmlformats.org/drawingml/2006/main"/>
          <ns99:ln xmlns:ns99="http://schemas.openxmlformats.org/drawingml/2006/main" w="0">
            <ns99:noFill/>
          </ns99:ln>
        </p:spPr>
        <p:txBody>
          <ns100:bodyPr xmlns:ns100="http://schemas.openxmlformats.org/drawingml/2006/main" wrap="square" lIns="0" rIns="0" tIns="0" bIns="0" anchor="t">
            <ns100:noAutofit/>
          </ns100:bodyPr>
          <ns101:lstStyle xmlns:ns101="http://schemas.openxmlformats.org/drawingml/2006/main"/>
          <ns102:p xmlns:ns102="http://schemas.openxmlformats.org/drawingml/2006/main">
            <ns102:pPr algn="l">
              <ns102:lnSpc>
                <ns102:spcPct val="108000"/>
              </ns102:lnSpc>
              <ns102:defRPr sz="1250" b="1">
                <ns102:solidFill>
                  <ns102:srgbClr val="20262C"/>
                </ns102:solidFill>
                <ns102:latin typeface="Arial"/>
                <ns102:ea typeface="Arial"/>
                <ns102:cs typeface="Arial"/>
              </ns102:defRPr>
            </ns102:pPr>
            <ns102:r>
              <ns102:rPr sz="1250" b="1">
                <ns102:solidFill>
                  <ns102:srgbClr val="20262C"/>
                </ns102:solidFill>
                <ns102:latin typeface="Arial"/>
                <ns102:ea typeface="Arial"/>
                <ns102:cs typeface="Arial"/>
              </ns102:rPr>
              <ns102:t>The model reads the content and compares versions</ns102:t>
            </ns102:r>
          </ns102:p>
        </p:txBody>
      </p:sp>
      <p:sp>
        <p:nvSpPr>
          <p:cNvPr id="117" name="!!ops.compare.old.label"/>
          <p:cNvSpPr/>
          <p:nvPr/>
        </p:nvSpPr>
        <p:spPr>
          <ns103:xfrm xmlns:ns103="http://schemas.openxmlformats.org/drawingml/2006/main">
            <ns103:off x="3294000" y="2376000"/>
            <ns103:ext cx="5392800" cy="1800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8000"/>
              </ns109:lnSpc>
              <ns109:defRPr sz="1150" b="1">
                <ns109:solidFill>
                  <ns109:srgbClr val="7363A6"/>
                </ns109:solidFill>
                <ns109:latin typeface="Arial"/>
                <ns109:ea typeface="Arial"/>
                <ns109:cs typeface="Arial"/>
              </ns109:defRPr>
            </ns109:pPr>
            <ns109:r>
              <ns109:rPr sz="1150" b="1">
                <ns109:solidFill>
                  <ns109:srgbClr val="7363A6"/>
                </ns109:solidFill>
                <ns109:latin typeface="Arial"/>
                <ns109:ea typeface="Arial"/>
                <ns109:cs typeface="Arial"/>
              </ns109:rPr>
              <ns109:t>V1 investment view</ns109:t>
            </ns109:r>
          </ns109:p>
        </p:txBody>
      </p:sp>
      <p:sp>
        <p:nvSpPr>
          <p:cNvPr id="118" name="!!ops.compare.old.text"/>
          <p:cNvSpPr/>
          <p:nvPr/>
        </p:nvSpPr>
        <p:spPr>
          <ns110:xfrm xmlns:ns110="http://schemas.openxmlformats.org/drawingml/2006/main">
            <ns110:off x="3294000" y="2602800"/>
            <ns110:ext cx="5392800" cy="4104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8000"/>
              </ns116:lnSpc>
              <ns116:defRPr sz="1150" b="0">
                <ns116:solidFill>
                  <ns116:srgbClr val="20262C"/>
                </ns116:solidFill>
                <ns116:latin typeface="Arial"/>
                <ns116:ea typeface="Arial"/>
                <ns116:cs typeface="Arial"/>
              </ns116:defRPr>
            </ns116:pPr>
            <ns116:r>
              <ns116:rPr sz="1150" b="0">
                <ns116:solidFill>
                  <ns116:srgbClr val="20262C"/>
                </ns116:solidFill>
                <ns116:latin typeface="Arial"/>
                <ns116:ea typeface="Arial"/>
                <ns116:cs typeface="Arial"/>
              </ns116:rPr>
              <ns116:t>Higher sales volumes drove Company A’s revenue growth.</ns116:t>
            </ns116:r>
          </ns116:p>
          <ns117:p xmlns:ns117="http://schemas.openxmlformats.org/drawingml/2006/main">
            <ns117:pPr algn="l">
              <ns117:lnSpc>
                <ns117:spcPct val="108000"/>
              </ns117:lnSpc>
              <ns117:defRPr sz="1150" b="0">
                <ns117:solidFill>
                  <ns117:srgbClr val="20262C"/>
                </ns117:solidFill>
                <ns117:latin typeface="Arial"/>
                <ns117:ea typeface="Arial"/>
                <ns117:cs typeface="Arial"/>
              </ns117:defRPr>
            </ns117:pPr>
            <ns117:r>
              <ns117:rPr sz="1150" b="0">
                <ns117:solidFill>
                  <ns117:srgbClr val="20262C"/>
                </ns117:solidFill>
                <ns117:latin typeface="Arial"/>
                <ns117:ea typeface="Arial"/>
                <ns117:cs typeface="Arial"/>
              </ns117:rPr>
              <ns117:t>We are monitoring raw-material costs.</ns117:t>
            </ns117:r>
          </ns117:p>
        </p:txBody>
      </p:sp>
      <p:sp>
        <p:nvSpPr>
          <p:cNvPr id="119" name="!!ops.compare.new.label"/>
          <p:cNvSpPr/>
          <p:nvPr/>
        </p:nvSpPr>
        <p:spPr>
          <ns118:xfrm xmlns:ns118="http://schemas.openxmlformats.org/drawingml/2006/main">
            <ns118:off x="3294000" y="3139200"/>
            <ns118:ext cx="5392800" cy="187200"/>
          </ns118:xfrm>
          <ns119:prstGeom xmlns:ns119="http://schemas.openxmlformats.org/drawingml/2006/main" prst="rect">
            <ns119:avLst/>
          </ns119:prstGeom>
          <ns120:noFill xmlns:ns120="http://schemas.openxmlformats.org/drawingml/2006/main"/>
          <ns121:ln xmlns:ns121="http://schemas.openxmlformats.org/drawingml/2006/main" w="0">
            <ns121:noFill/>
          </ns121:ln>
        </p:spPr>
        <p:txBody>
          <ns122:bodyPr xmlns:ns122="http://schemas.openxmlformats.org/drawingml/2006/main" wrap="square" lIns="0" rIns="0" tIns="0" bIns="0" anchor="t">
            <ns122:noAutofit/>
          </ns122:bodyPr>
          <ns123:lstStyle xmlns:ns123="http://schemas.openxmlformats.org/drawingml/2006/main"/>
          <ns124:p xmlns:ns124="http://schemas.openxmlformats.org/drawingml/2006/main">
            <ns124:pPr algn="l">
              <ns124:lnSpc>
                <ns124:spcPct val="108000"/>
              </ns124:lnSpc>
              <ns124:defRPr sz="1150" b="1">
                <ns124:solidFill>
                  <ns124:srgbClr val="7363A6"/>
                </ns124:solidFill>
                <ns124:latin typeface="Arial"/>
                <ns124:ea typeface="Arial"/>
                <ns124:cs typeface="Arial"/>
              </ns124:defRPr>
            </ns124:pPr>
            <ns124:r>
              <ns124:rPr sz="1150" b="1">
                <ns124:solidFill>
                  <ns124:srgbClr val="7363A6"/>
                </ns124:solidFill>
                <ns124:latin typeface="Arial"/>
                <ns124:ea typeface="Arial"/>
                <ns124:cs typeface="Arial"/>
              </ns124:rPr>
              <ns124:t>V2 investment view: additions highlighted</ns124:t>
            </ns124:r>
          </ns124:p>
        </p:txBody>
      </p:sp>
      <p:sp>
        <p:nvSpPr>
          <p:cNvPr id="120" name="version.highlight.driver"/>
          <p:cNvSpPr/>
          <p:nvPr/>
        </p:nvSpPr>
        <p:spPr>
          <ns125:xfrm xmlns:ns125="http://schemas.openxmlformats.org/drawingml/2006/main">
            <ns125:off x="3294000" y="3420000"/>
            <ns125:ext cx="1250156" cy="172800"/>
          </ns125:xfrm>
          <ns126:prstGeom xmlns:ns126="http://schemas.openxmlformats.org/drawingml/2006/main" prst="rect">
            <ns126:avLst/>
          </ns126:prstGeom>
          <ns127:solidFill xmlns:ns127="http://schemas.openxmlformats.org/drawingml/2006/main">
            <ns127:srgbClr val="FFF0BE"/>
          </ns127:solidFill>
          <ns128:ln xmlns:ns128="http://schemas.openxmlformats.org/drawingml/2006/main" w="0">
            <ns128:noFill/>
          </ns128:ln>
        </p:spPr>
      </p:sp>
      <p:sp>
        <p:nvSpPr>
          <p:cNvPr id="121" name="version.highlight.monitoring"/>
          <p:cNvSpPr/>
          <p:nvPr/>
        </p:nvSpPr>
        <p:spPr>
          <ns129:xfrm xmlns:ns129="http://schemas.openxmlformats.org/drawingml/2006/main">
            <ns129:off x="4525069" y="3715200"/>
            <ns129:ext cx="1890712" cy="172800"/>
          </ns129:xfrm>
          <ns130:prstGeom xmlns:ns130="http://schemas.openxmlformats.org/drawingml/2006/main" prst="rect">
            <ns130:avLst/>
          </ns130:prstGeom>
          <ns131:solidFill xmlns:ns131="http://schemas.openxmlformats.org/drawingml/2006/main">
            <ns131:srgbClr val="FFF0BE"/>
          </ns131:solidFill>
          <ns132:ln xmlns:ns132="http://schemas.openxmlformats.org/drawingml/2006/main" w="0">
            <ns132:noFill/>
          </ns132:ln>
        </p:spPr>
      </p:sp>
      <p:sp>
        <p:nvSpPr>
          <p:cNvPr id="122" name="!!ops.compare.new.line1"/>
          <p:cNvSpPr/>
          <p:nvPr/>
        </p:nvSpPr>
        <p:spPr>
          <ns133:xfrm xmlns:ns133="http://schemas.openxmlformats.org/drawingml/2006/main">
            <ns133:off x="3294000" y="3376800"/>
            <ns133:ext cx="5392800" cy="2772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8000"/>
              </ns139:lnSpc>
              <ns139:defRPr sz="1150" b="0">
                <ns139:solidFill>
                  <ns139:srgbClr val="20262C"/>
                </ns139:solidFill>
                <ns139:latin typeface="Arial"/>
                <ns139:ea typeface="Arial"/>
                <ns139:cs typeface="Arial"/>
              </ns139:defRPr>
            </ns139:pPr>
            <ns139:r>
              <ns139:rPr sz="1150" b="0">
                <ns139:solidFill>
                  <ns139:srgbClr val="20262C"/>
                </ns139:solidFill>
                <ns139:latin typeface="Arial"/>
                <ns139:ea typeface="Arial"/>
                <ns139:cs typeface="Arial"/>
              </ns139:rPr>
              <ns139:t>Channel restocking supported Company A’s sales volume growth.</ns139:t>
            </ns139:r>
          </ns139:p>
        </p:txBody>
      </p:sp>
      <p:sp>
        <p:nvSpPr>
          <p:cNvPr id="123" name="!!ops.compare.new.line2"/>
          <p:cNvSpPr/>
          <p:nvPr/>
        </p:nvSpPr>
        <p:spPr>
          <ns140:xfrm xmlns:ns140="http://schemas.openxmlformats.org/drawingml/2006/main">
            <ns140:off x="3294000" y="3672000"/>
            <ns140:ext cx="5392800" cy="4140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8000"/>
              </ns146:lnSpc>
              <ns146:defRPr sz="1150" b="0">
                <ns146:solidFill>
                  <ns146:srgbClr val="20262C"/>
                </ns146:solidFill>
                <ns146:latin typeface="Arial"/>
                <ns146:ea typeface="Arial"/>
                <ns146:cs typeface="Arial"/>
              </ns146:defRPr>
            </ns146:pPr>
            <ns146:r>
              <ns146:rPr sz="1150" b="0">
                <ns146:solidFill>
                  <ns146:srgbClr val="20262C"/>
                </ns146:solidFill>
                <ns146:latin typeface="Arial"/>
                <ns146:ea typeface="Arial"/>
                <ns146:cs typeface="Arial"/>
              </ns146:rPr>
              <ns146:t>We are monitoring whether restocking continues, alongside raw-material costs.</ns146:t>
            </ns146:r>
          </ns146:p>
        </p:txBody>
      </p:sp>
      <p:sp>
        <p:nvSpPr>
          <p:cNvPr id="124" name="!!ops.compare.functions"/>
          <p:cNvSpPr/>
          <p:nvPr/>
        </p:nvSpPr>
        <p:spPr>
          <ns147:xfrm xmlns:ns147="http://schemas.openxmlformats.org/drawingml/2006/main">
            <ns147:off x="3294000" y="4212000"/>
            <ns147:ext cx="5392800" cy="180000"/>
          </ns147:xfrm>
          <ns148:prstGeom xmlns:ns148="http://schemas.openxmlformats.org/drawingml/2006/main" prst="rect">
            <ns148:avLst/>
          </ns148:prstGeom>
          <ns149:noFill xmlns:ns149="http://schemas.openxmlformats.org/drawingml/2006/main"/>
          <ns150:ln xmlns:ns150="http://schemas.openxmlformats.org/drawingml/2006/main" w="0">
            <ns150:noFill/>
          </ns150:ln>
        </p:spPr>
        <p:txBody>
          <ns151:bodyPr xmlns:ns151="http://schemas.openxmlformats.org/drawingml/2006/main" wrap="square" lIns="0" rIns="0" tIns="0" bIns="0" anchor="t">
            <ns151:noAutofit/>
          </ns151:bodyPr>
          <ns152:lstStyle xmlns:ns152="http://schemas.openxmlformats.org/drawingml/2006/main"/>
          <ns153:p xmlns:ns153="http://schemas.openxmlformats.org/drawingml/2006/main">
            <ns153:pPr algn="l">
              <ns153:lnSpc>
                <ns153:spcPct val="108000"/>
              </ns153:lnSpc>
              <ns153:defRPr sz="1050" b="1">
                <ns153:solidFill>
                  <ns153:srgbClr val="005A9C"/>
                </ns153:solidFill>
                <ns153:latin typeface="Arial"/>
                <ns153:ea typeface="Arial"/>
                <ns153:cs typeface="Arial"/>
              </ns153:defRPr>
            </ns153:pPr>
            <ns153:r>
              <ns153:rPr sz="1050" b="1">
                <ns153:solidFill>
                  <ns153:srgbClr val="005A9C"/>
                </ns153:solidFill>
                <ns153:latin typeface="Arial"/>
                <ns153:ea typeface="Arial"/>
                <ns153:cs typeface="Arial"/>
              </ns153:rPr>
              <ns153:t>Highlight changes, identify typos and export results</ns153:t>
            </ns153:r>
          </ns153:p>
        </p:txBody>
      </p:sp>
    </p:spTree>
    <p:extLst>
      <p:ext uri="{BB962C8B-B14F-4D97-AF65-F5344CB8AC3E}">
        <p14:creationId xmlns:p14="http://schemas.microsoft.com/office/powerpoint/2010/main" val="1578717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document change analysis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Document processing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HuaAn; ICBCUBS; Bosera</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1">
                <ns44:solidFill>
                  <ns44:srgbClr val="005A9C"/>
                </ns44:solidFill>
                <ns44:latin typeface="Arial"/>
                <ns44:ea typeface="Arial"/>
                <ns44:cs typeface="Arial"/>
              </ns44:defRPr>
            </ns44:pPr>
            <ns44:r>
              <ns44:rPr sz="800" b="1">
                <ns44:solidFill>
                  <ns44:srgbClr val="005A9C"/>
                </ns44:solidFill>
                <ns44:latin typeface="Arial"/>
                <ns44:ea typeface="Arial"/>
                <ns44:cs typeface="Arial"/>
              </ns44:rPr>
              <ns44:t>Back office</ns44:t>
            </ns44:r>
          </ns44:p>
        </p:txBody>
      </p:sp>
      <p:sp>
        <p:nvSpPr>
          <p:cNvPr id="108" name="!!ops.inputs.role"/>
          <p:cNvSpPr/>
          <p:nvPr/>
        </p:nvSpPr>
        <p:spPr>
          <ns45:xfrm xmlns:ns45="http://schemas.openxmlformats.org/drawingml/2006/main">
            <ns45:off x="457200" y="1512000"/>
            <ns45:ext cx="3258000" cy="2448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200" b="1">
                <ns51:solidFill>
                  <ns51:srgbClr val="20262C"/>
                </ns51:solidFill>
                <ns51:latin typeface="Arial"/>
                <ns51:ea typeface="Arial"/>
                <ns51:cs typeface="Arial"/>
              </ns51:defRPr>
            </ns51:pPr>
            <ns51:r>
              <ns51:rPr sz="1200" b="1">
                <ns51:solidFill>
                  <ns51:srgbClr val="20262C"/>
                </ns51:solidFill>
                <ns51:latin typeface="Arial"/>
                <ns51:ea typeface="Arial"/>
                <ns51:cs typeface="Arial"/>
              </ns51:rPr>
              <ns51:t>Operations supplies both versions</ns51:t>
            </ns51:r>
          </ns51:p>
        </p:txBody>
      </p:sp>
      <p:sp>
        <p:nvSpPr>
          <p:cNvPr id="109" name="!!ops.inputs.body"/>
          <p:cNvSpPr/>
          <p:nvPr/>
        </p:nvSpPr>
        <p:spPr>
          <ns52:xfrm xmlns:ns52="http://schemas.openxmlformats.org/drawingml/2006/main">
            <ns52:off x="457200" y="1825200"/>
            <ns52:ext cx="3258000" cy="241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0">
                <ns58:solidFill>
                  <ns58:srgbClr val="20262C"/>
                </ns58:solidFill>
                <ns58:latin typeface="Arial"/>
                <ns58:ea typeface="Arial"/>
                <ns58:cs typeface="Arial"/>
              </ns58:defRPr>
            </ns58:pPr>
            <ns58:r>
              <ns58:rPr sz="1150" b="0">
                <ns58:solidFill>
                  <ns58:srgbClr val="20262C"/>
                </ns58:solidFill>
                <ns58:latin typeface="Arial"/>
                <ns58:ea typeface="Arial"/>
                <ns58:cs typeface="Arial"/>
              </ns58:rPr>
              <ns58:t>Quarterly client update V1 / V2</ns58:t>
            </ns58:r>
          </ns58:p>
        </p:txBody>
      </p:sp>
      <p:cxnSp>
        <p:nvCxnSpPr>
          <p:cNvPr id="110" name="ops.inputs.rule"/>
          <p:cNvCxnSpPr/>
          <p:nvPr/>
        </p:nvCxnSpPr>
        <p:spPr>
          <ns59:xfrm xmlns:ns59="http://schemas.openxmlformats.org/drawingml/2006/main">
            <ns59:off x="457200" y="2102400"/>
            <ns59:ext cx="3258000" cy="1"/>
          </ns59:xfrm>
          <ns60:prstGeom xmlns:ns60="http://schemas.openxmlformats.org/drawingml/2006/main" prst="line">
            <ns60:avLst/>
          </ns60:prstGeom>
          <ns61:ln xmlns:ns61="http://schemas.openxmlformats.org/drawingml/2006/main" w="6350">
            <ns61:solidFill>
              <ns61:srgbClr val="CCD5DA"/>
            </ns61:solidFill>
          </ns61:ln>
        </p:spPr>
      </p:cxnSp>
      <p:sp>
        <p:nvSpPr>
          <p:cNvPr id="111" name="!!ops.tool.role"/>
          <p:cNvSpPr/>
          <p:nvPr/>
        </p:nvSpPr>
        <p:spPr>
          <ns62:xfrm xmlns:ns62="http://schemas.openxmlformats.org/drawingml/2006/main">
            <ns62:off x="457200" y="2232000"/>
            <ns62:ext cx="3258000" cy="2448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200" b="1">
                <ns68:solidFill>
                  <ns68:srgbClr val="20262C"/>
                </ns68:solidFill>
                <ns68:latin typeface="Arial"/>
                <ns68:ea typeface="Arial"/>
                <ns68:cs typeface="Arial"/>
              </ns68:defRPr>
            </ns68:pPr>
            <ns68:r>
              <ns68:rPr sz="1200" b="1">
                <ns68:solidFill>
                  <ns68:srgbClr val="20262C"/>
                </ns68:solidFill>
                <ns68:latin typeface="Arial"/>
                <ns68:ea typeface="Arial"/>
                <ns68:cs typeface="Arial"/>
              </ns68:rPr>
              <ns68:t>Document tools match passages</ns68:t>
            </ns68:r>
          </ns68:p>
        </p:txBody>
      </p:sp>
      <p:sp>
        <p:nvSpPr>
          <p:cNvPr id="112" name="!!ops.tool.body"/>
          <p:cNvSpPr/>
          <p:nvPr/>
        </p:nvSpPr>
        <p:spPr>
          <ns69:xfrm xmlns:ns69="http://schemas.openxmlformats.org/drawingml/2006/main">
            <ns69:off x="457200" y="2545200"/>
            <ns69:ext cx="3258000" cy="396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150" b="0">
                <ns75:solidFill>
                  <ns75:srgbClr val="20262C"/>
                </ns75:solidFill>
                <ns75:latin typeface="Arial"/>
                <ns75:ea typeface="Arial"/>
                <ns75:cs typeface="Arial"/>
              </ns75:defRPr>
            </ns75:pPr>
            <ns75:r>
              <ns75:rPr sz="1150" b="0">
                <ns75:solidFill>
                  <ns75:srgbClr val="20262C"/>
                </ns75:solidFill>
                <ns75:latin typeface="Arial"/>
                <ns75:ea typeface="Arial"/>
                <ns75:cs typeface="Arial"/>
              </ns75:rPr>
              <ns75:t>Identify changes to the fund name,</ns75:t>
            </ns75:r>
          </ns75:p>
          <ns76:p xmlns:ns76="http://schemas.openxmlformats.org/drawingml/2006/main">
            <ns76:pPr algn="l">
              <ns76:lnSpc>
                <ns76:spcPct val="108000"/>
              </ns76:lnSpc>
              <ns76:defRPr sz="1150" b="0">
                <ns76:solidFill>
                  <ns76:srgbClr val="20262C"/>
                </ns76:solidFill>
                <ns76:latin typeface="Arial"/>
                <ns76:ea typeface="Arial"/>
                <ns76:cs typeface="Arial"/>
              </ns76:defRPr>
            </ns76:pPr>
            <ns76:r>
              <ns76:rPr sz="1150" b="0">
                <ns76:solidFill>
                  <ns76:srgbClr val="20262C"/>
                </ns76:solidFill>
                <ns76:latin typeface="Arial"/>
                <ns76:ea typeface="Arial"/>
                <ns76:cs typeface="Arial"/>
              </ns76:rPr>
              <ns76:t>reporting period and wording</ns76:t>
            </ns76:r>
          </ns76:p>
        </p:txBody>
      </p:sp>
      <p:cxnSp>
        <p:nvCxnSpPr>
          <p:cNvPr id="113" name="ops.tool.rule"/>
          <p:cNvCxnSpPr/>
          <p:nvPr/>
        </p:nvCxnSpPr>
        <p:spPr>
          <ns77:xfrm xmlns:ns77="http://schemas.openxmlformats.org/drawingml/2006/main">
            <ns77:off x="457200" y="2977200"/>
            <ns77:ext cx="3258000" cy="1"/>
          </ns77:xfrm>
          <ns78:prstGeom xmlns:ns78="http://schemas.openxmlformats.org/drawingml/2006/main" prst="line">
            <ns78:avLst/>
          </ns78:prstGeom>
          <ns79:ln xmlns:ns79="http://schemas.openxmlformats.org/drawingml/2006/main" w="6350">
            <ns79:solidFill>
              <ns79:srgbClr val="CCD5DA"/>
            </ns79:solidFill>
          </ns79:ln>
        </p:spPr>
      </p:cxnSp>
      <p:sp>
        <p:nvSpPr>
          <p:cNvPr id="114" name="!!ops.llm.role"/>
          <p:cNvSpPr/>
          <p:nvPr/>
        </p:nvSpPr>
        <p:spPr>
          <ns80:xfrm xmlns:ns80="http://schemas.openxmlformats.org/drawingml/2006/main">
            <ns80:off x="457200" y="3096000"/>
            <ns80:ext cx="3258000" cy="2448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200" b="1">
                <ns86:solidFill>
                  <ns86:srgbClr val="005A9C"/>
                </ns86:solidFill>
                <ns86:latin typeface="Arial"/>
                <ns86:ea typeface="Arial"/>
                <ns86:cs typeface="Arial"/>
              </ns86:defRPr>
            </ns86:pPr>
            <ns86:r>
              <ns86:rPr sz="1200" b="1">
                <ns86:solidFill>
                  <ns86:srgbClr val="005A9C"/>
                </ns86:solidFill>
                <ns86:latin typeface="Arial"/>
                <ns86:ea typeface="Arial"/>
                <ns86:cs typeface="Arial"/>
              </ns86:rPr>
              <ns86:t>LLM explains what changed</ns86:t>
            </ns86:r>
          </ns86:p>
        </p:txBody>
      </p:sp>
      <p:sp>
        <p:nvSpPr>
          <p:cNvPr id="115" name="!!ops.llm.body"/>
          <p:cNvSpPr/>
          <p:nvPr/>
        </p:nvSpPr>
        <p:spPr>
          <ns87:xfrm xmlns:ns87="http://schemas.openxmlformats.org/drawingml/2006/main">
            <ns87:off x="457200" y="3409200"/>
            <ns87:ext cx="3258000" cy="6480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150" b="0">
                <ns93:solidFill>
                  <ns93:srgbClr val="20262C"/>
                </ns93:solidFill>
                <ns93:latin typeface="Arial"/>
                <ns93:ea typeface="Arial"/>
                <ns93:cs typeface="Arial"/>
              </ns93:defRPr>
            </ns93:pPr>
            <ns93:r>
              <ns93:rPr sz="1150" b="0">
                <ns93:solidFill>
                  <ns93:srgbClr val="20262C"/>
                </ns93:solidFill>
                <ns93:latin typeface="Arial"/>
                <ns93:ea typeface="Arial"/>
                <ns93:cs typeface="Arial"/>
              </ns93:rPr>
              <ns93:t>Separate new and retained information</ns93:t>
            </ns93:r>
          </ns93:p>
          <ns94:p xmlns:ns94="http://schemas.openxmlformats.org/drawingml/2006/main">
            <ns94:pPr algn="l">
              <ns94:lnSpc>
                <ns94:spcPct val="108000"/>
              </ns94:lnSpc>
              <ns94:defRPr sz="1150" b="0">
                <ns94:solidFill>
                  <ns94:srgbClr val="20262C"/>
                </ns94:solidFill>
                <ns94:latin typeface="Arial"/>
                <ns94:ea typeface="Arial"/>
                <ns94:cs typeface="Arial"/>
              </ns94:defRPr>
            </ns94:pPr>
            <ns94:r>
              <ns94:rPr sz="1150" b="0">
                <ns94:solidFill>
                  <ns94:srgbClr val="20262C"/>
                </ns94:solidFill>
                <ns94:latin typeface="Arial"/>
                <ns94:ea typeface="Arial"/>
                <ns94:cs typeface="Arial"/>
              </ns94:rPr>
              <ns94:t>Explain the change in meaning</ns94:t>
            </ns94:r>
          </ns94:p>
          <ns95:p xmlns:ns95="http://schemas.openxmlformats.org/drawingml/2006/main">
            <ns95:pPr algn="l">
              <ns95:lnSpc>
                <ns95:spcPct val="108000"/>
              </ns95:lnSpc>
              <ns95:defRPr sz="1150" b="0">
                <ns95:solidFill>
                  <ns95:srgbClr val="20262C"/>
                </ns95:solidFill>
                <ns95:latin typeface="Arial"/>
                <ns95:ea typeface="Arial"/>
                <ns95:cs typeface="Arial"/>
              </ns95:defRPr>
            </ns95:pPr>
            <ns95:r>
              <ns95:rPr sz="1150" b="0">
                <ns95:solidFill>
                  <ns95:srgbClr val="20262C"/>
                </ns95:solidFill>
                <ns95:latin typeface="Arial"/>
                <ns95:ea typeface="Arial"/>
                <ns95:cs typeface="Arial"/>
              </ns95:rPr>
              <ns95:t>Identify related materials to update</ns95:t>
            </ns95:r>
          </ns95:p>
        </p:txBody>
      </p:sp>
      <p:sp>
        <p:nvSpPr>
          <p:cNvPr id="116" name="change.summary.document"/>
          <p:cNvSpPr/>
          <p:nvPr/>
        </p:nvSpPr>
        <p:spPr>
          <ns96:xfrm xmlns:ns96="http://schemas.openxmlformats.org/drawingml/2006/main">
            <ns96:off x="4122000" y="1483200"/>
            <ns96:ext cx="4564800" cy="2757600"/>
          </ns96:xfrm>
          <ns97:prstGeom xmlns:ns97="http://schemas.openxmlformats.org/drawingml/2006/main" prst="rect">
            <ns97:avLst/>
          </ns97:prstGeom>
          <ns98:solidFill xmlns:ns98="http://schemas.openxmlformats.org/drawingml/2006/main">
            <ns98:srgbClr val="FFFFFF"/>
          </ns98:solidFill>
          <ns99:ln xmlns:ns99="http://schemas.openxmlformats.org/drawingml/2006/main" w="9525">
            <ns99:solidFill>
              <ns99:srgbClr val="7363A6"/>
            </ns99:solidFill>
          </ns99:ln>
        </p:spPr>
      </p:sp>
      <p:sp>
        <p:nvSpPr>
          <p:cNvPr id="117" name="!!changeLog.title"/>
          <p:cNvSpPr/>
          <p:nvPr/>
        </p:nvSpPr>
        <p:spPr>
          <ns100:xfrm xmlns:ns100="http://schemas.openxmlformats.org/drawingml/2006/main">
            <ns100:off x="4244400" y="1573200"/>
            <ns100:ext cx="4316400" cy="2304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400" b="1">
                <ns106:solidFill>
                  <ns106:srgbClr val="7363A6"/>
                </ns106:solidFill>
                <ns106:latin typeface="Arial"/>
                <ns106:ea typeface="Arial"/>
                <ns106:cs typeface="Arial"/>
              </ns106:defRPr>
            </ns106:pPr>
            <ns106:r>
              <ns106:rPr sz="1400" b="1">
                <ns106:solidFill>
                  <ns106:srgbClr val="7363A6"/>
                </ns106:solidFill>
                <ns106:latin typeface="Arial"/>
                <ns106:ea typeface="Arial"/>
                <ns106:cs typeface="Arial"/>
              </ns106:rPr>
              <ns106:t>Client update: change summary</ns106:t>
            </ns106:r>
          </ns106:p>
        </p:txBody>
      </p:sp>
      <p:sp>
        <p:nvSpPr>
          <p:cNvPr id="118" name="!!changeLog.object"/>
          <p:cNvSpPr/>
          <p:nvPr/>
        </p:nvSpPr>
        <p:spPr>
          <ns107:xfrm xmlns:ns107="http://schemas.openxmlformats.org/drawingml/2006/main">
            <ns107:off x="4244400" y="1857600"/>
            <ns107:ext cx="4316400" cy="1800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8000"/>
              </ns113:lnSpc>
              <ns113:defRPr sz="1050" b="0">
                <ns113:solidFill>
                  <ns113:srgbClr val="687782"/>
                </ns113:solidFill>
                <ns113:latin typeface="Arial"/>
                <ns113:ea typeface="Arial"/>
                <ns113:cs typeface="Arial"/>
              </ns113:defRPr>
            </ns113:pPr>
            <ns113:r>
              <ns113:rPr sz="1050" b="0">
                <ns113:solidFill>
                  <ns113:srgbClr val="687782"/>
                </ns113:solidFill>
                <ns113:latin typeface="Arial"/>
                <ns113:ea typeface="Arial"/>
                <ns113:cs typeface="Arial"/>
              </ns113:rPr>
              <ns113:t>Quarterly client update V1 / V2</ns113:t>
            </ns113:r>
          </ns113:p>
        </p:txBody>
      </p:sp>
      <p:cxnSp>
        <p:nvCxnSpPr>
          <p:cNvPr id="119" name="change.summary.rule"/>
          <p:cNvCxnSpPr/>
          <p:nvPr/>
        </p:nvCxnSpPr>
        <p:spPr>
          <ns114:xfrm xmlns:ns114="http://schemas.openxmlformats.org/drawingml/2006/main">
            <ns114:off x="4244400" y="2080800"/>
            <ns114:ext cx="4320000" cy="1"/>
          </ns114:xfrm>
          <ns115:prstGeom xmlns:ns115="http://schemas.openxmlformats.org/drawingml/2006/main" prst="line">
            <ns115:avLst/>
          </ns115:prstGeom>
          <ns116:ln xmlns:ns116="http://schemas.openxmlformats.org/drawingml/2006/main" w="6350">
            <ns116:solidFill>
              <ns116:srgbClr val="7363A6"/>
            </ns116:solidFill>
          </ns116:ln>
        </p:spPr>
      </p:cxnSp>
      <p:sp>
        <p:nvSpPr>
          <p:cNvPr id="120" name="!!changeLog.driver.label"/>
          <p:cNvSpPr/>
          <p:nvPr/>
        </p:nvSpPr>
        <p:spPr>
          <ns117:xfrm xmlns:ns117="http://schemas.openxmlformats.org/drawingml/2006/main">
            <ns117:off x="4244400" y="2178000"/>
            <ns117:ext cx="4316400" cy="2016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8000"/>
              </ns123:lnSpc>
              <ns123:defRPr sz="1200" b="1">
                <ns123:solidFill>
                  <ns123:srgbClr val="005A9C"/>
                </ns123:solidFill>
                <ns123:latin typeface="Arial"/>
                <ns123:ea typeface="Arial"/>
                <ns123:cs typeface="Arial"/>
              </ns123:defRPr>
            </ns123:pPr>
            <ns123:r>
              <ns123:rPr sz="1200" b="1">
                <ns123:solidFill>
                  <ns123:srgbClr val="005A9C"/>
                </ns123:solidFill>
                <ns123:latin typeface="Arial"/>
                <ns123:ea typeface="Arial"/>
                <ns123:cs typeface="Arial"/>
              </ns123:rPr>
              <ns123:t>Added growth driver</ns123:t>
            </ns123:r>
          </ns123:p>
        </p:txBody>
      </p:sp>
      <p:sp>
        <p:nvSpPr>
          <p:cNvPr id="121" name="!!changeLog.driver.body"/>
          <p:cNvSpPr/>
          <p:nvPr/>
        </p:nvSpPr>
        <p:spPr>
          <ns124:xfrm xmlns:ns124="http://schemas.openxmlformats.org/drawingml/2006/main">
            <ns124:off x="4244400" y="2440800"/>
            <ns124:ext cx="4316400" cy="3420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150" b="0">
                <ns130:solidFill>
                  <ns130:srgbClr val="20262C"/>
                </ns130:solidFill>
                <ns130:latin typeface="Arial"/>
                <ns130:ea typeface="Arial"/>
                <ns130:cs typeface="Arial"/>
              </ns130:defRPr>
            </ns130:pPr>
            <ns130:r>
              <ns130:rPr sz="1150" b="0">
                <ns130:solidFill>
                  <ns130:srgbClr val="20262C"/>
                </ns130:solidFill>
                <ns130:latin typeface="Arial"/>
                <ns130:ea typeface="Arial"/>
                <ns130:cs typeface="Arial"/>
              </ns130:rPr>
              <ns130:t>Channel restocking supported sales volume growth</ns130:t>
            </ns130:r>
          </ns130:p>
        </p:txBody>
      </p:sp>
      <p:sp>
        <p:nvSpPr>
          <p:cNvPr id="122" name="!!changeLog.watch.label"/>
          <p:cNvSpPr/>
          <p:nvPr/>
        </p:nvSpPr>
        <p:spPr>
          <ns131:xfrm xmlns:ns131="http://schemas.openxmlformats.org/drawingml/2006/main">
            <ns131:off x="4244400" y="2844000"/>
            <ns131:ext cx="4316400" cy="2016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8000"/>
              </ns137:lnSpc>
              <ns137:defRPr sz="1200" b="1">
                <ns137:solidFill>
                  <ns137:srgbClr val="005A9C"/>
                </ns137:solidFill>
                <ns137:latin typeface="Arial"/>
                <ns137:ea typeface="Arial"/>
                <ns137:cs typeface="Arial"/>
              </ns137:defRPr>
            </ns137:pPr>
            <ns137:r>
              <ns137:rPr sz="1200" b="1">
                <ns137:solidFill>
                  <ns137:srgbClr val="005A9C"/>
                </ns137:solidFill>
                <ns137:latin typeface="Arial"/>
                <ns137:ea typeface="Arial"/>
                <ns137:cs typeface="Arial"/>
              </ns137:rPr>
              <ns137:t>Monitoring changes</ns137:t>
            </ns137:r>
          </ns137:p>
        </p:txBody>
      </p:sp>
      <p:sp>
        <p:nvSpPr>
          <p:cNvPr id="123" name="!!changeLog.watch.body"/>
          <p:cNvSpPr/>
          <p:nvPr/>
        </p:nvSpPr>
        <p:spPr>
          <ns138:xfrm xmlns:ns138="http://schemas.openxmlformats.org/drawingml/2006/main">
            <ns138:off x="4244400" y="3106800"/>
            <ns138:ext cx="4316400" cy="3888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8000"/>
              </ns144:lnSpc>
              <ns144:defRPr sz="1150" b="0">
                <ns144:solidFill>
                  <ns144:srgbClr val="20262C"/>
                </ns144:solidFill>
                <ns144:latin typeface="Arial"/>
                <ns144:ea typeface="Arial"/>
                <ns144:cs typeface="Arial"/>
              </ns144:defRPr>
            </ns144:pPr>
            <ns144:r>
              <ns144:rPr sz="1150" b="0">
                <ns144:solidFill>
                  <ns144:srgbClr val="20262C"/>
                </ns144:solidFill>
                <ns144:latin typeface="Arial"/>
                <ns144:ea typeface="Arial"/>
                <ns144:cs typeface="Arial"/>
              </ns144:rPr>
              <ns144:t>Added: whether restocking continues.</ns144:t>
            </ns144:r>
          </ns144:p>
          <ns145:p xmlns:ns145="http://schemas.openxmlformats.org/drawingml/2006/main">
            <ns145:pPr algn="l">
              <ns145:lnSpc>
                <ns145:spcPct val="108000"/>
              </ns145:lnSpc>
              <ns145:defRPr sz="1150" b="0">
                <ns145:solidFill>
                  <ns145:srgbClr val="20262C"/>
                </ns145:solidFill>
                <ns145:latin typeface="Arial"/>
                <ns145:ea typeface="Arial"/>
                <ns145:cs typeface="Arial"/>
              </ns145:defRPr>
            </ns145:pPr>
            <ns145:r>
              <ns145:rPr sz="1150" b="0">
                <ns145:solidFill>
                  <ns145:srgbClr val="20262C"/>
                </ns145:solidFill>
                <ns145:latin typeface="Arial"/>
                <ns145:ea typeface="Arial"/>
                <ns145:cs typeface="Arial"/>
              </ns145:rPr>
              <ns145:t>Retained: raw-material cost monitoring.</ns145:t>
            </ns145:r>
          </ns145:p>
        </p:txBody>
      </p:sp>
      <p:sp>
        <p:nvSpPr>
          <p:cNvPr id="124" name="!!changeLog.sync.label"/>
          <p:cNvSpPr/>
          <p:nvPr/>
        </p:nvSpPr>
        <p:spPr>
          <ns146:xfrm xmlns:ns146="http://schemas.openxmlformats.org/drawingml/2006/main">
            <ns146:off x="4244400" y="3517200"/>
            <ns146:ext cx="4316400" cy="201600"/>
          </ns146:xfrm>
          <ns147:prstGeom xmlns:ns147="http://schemas.openxmlformats.org/drawingml/2006/main" prst="rect">
            <ns147:avLst/>
          </ns147:prstGeom>
          <ns148:noFill xmlns:ns148="http://schemas.openxmlformats.org/drawingml/2006/main"/>
          <ns149:ln xmlns:ns149="http://schemas.openxmlformats.org/drawingml/2006/main" w="0">
            <ns149:noFill/>
          </ns149:ln>
        </p:spPr>
        <p:txBody>
          <ns150:bodyPr xmlns:ns150="http://schemas.openxmlformats.org/drawingml/2006/main" wrap="square" lIns="0" rIns="0" tIns="0" bIns="0" anchor="t">
            <ns150:noAutofit/>
          </ns150:bodyPr>
          <ns151:lstStyle xmlns:ns151="http://schemas.openxmlformats.org/drawingml/2006/main"/>
          <ns152:p xmlns:ns152="http://schemas.openxmlformats.org/drawingml/2006/main">
            <ns152:pPr algn="l">
              <ns152:lnSpc>
                <ns152:spcPct val="108000"/>
              </ns152:lnSpc>
              <ns152:defRPr sz="1200" b="1">
                <ns152:solidFill>
                  <ns152:srgbClr val="005A9C"/>
                </ns152:solidFill>
                <ns152:latin typeface="Arial"/>
                <ns152:ea typeface="Arial"/>
                <ns152:cs typeface="Arial"/>
              </ns152:defRPr>
            </ns152:pPr>
            <ns152:r>
              <ns152:rPr sz="1200" b="1">
                <ns152:solidFill>
                  <ns152:srgbClr val="005A9C"/>
                </ns152:solidFill>
                <ns152:latin typeface="Arial"/>
                <ns152:ea typeface="Arial"/>
                <ns152:cs typeface="Arial"/>
              </ns152:rPr>
              <ns152:t>Related materials</ns152:t>
            </ns152:r>
          </ns152:p>
        </p:txBody>
      </p:sp>
      <p:sp>
        <p:nvSpPr>
          <p:cNvPr id="125" name="!!changeLog.sync.body"/>
          <p:cNvSpPr/>
          <p:nvPr/>
        </p:nvSpPr>
        <p:spPr>
          <ns153:xfrm xmlns:ns153="http://schemas.openxmlformats.org/drawingml/2006/main">
            <ns153:off x="4244400" y="3780000"/>
            <ns153:ext cx="4316400" cy="3600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8000"/>
              </ns159:lnSpc>
              <ns159:defRPr sz="1150" b="0">
                <ns159:solidFill>
                  <ns159:srgbClr val="20262C"/>
                </ns159:solidFill>
                <ns159:latin typeface="Arial"/>
                <ns159:ea typeface="Arial"/>
                <ns159:cs typeface="Arial"/>
              </ns159:defRPr>
            </ns159:pPr>
            <ns159:r>
              <ns159:rPr sz="1150" b="0">
                <ns159:solidFill>
                  <ns159:srgbClr val="20262C"/>
                </ns159:solidFill>
                <ns159:latin typeface="Arial"/>
                <ns159:ea typeface="Arial"/>
                <ns159:cs typeface="Arial"/>
              </ns159:rPr>
              <ns159:t>Other client updates and product Q&amp;A</ns159:t>
            </ns159:r>
          </ns159:p>
          <ns160:p xmlns:ns160="http://schemas.openxmlformats.org/drawingml/2006/main">
            <ns160:pPr algn="l">
              <ns160:lnSpc>
                <ns160:spcPct val="108000"/>
              </ns160:lnSpc>
              <ns160:defRPr sz="1150" b="0">
                <ns160:solidFill>
                  <ns160:srgbClr val="20262C"/>
                </ns160:solidFill>
                <ns160:latin typeface="Arial"/>
                <ns160:ea typeface="Arial"/>
                <ns160:cs typeface="Arial"/>
              </ns160:defRPr>
            </ns160:pPr>
            <ns160:r>
              <ns160:rPr sz="1150" b="0">
                <ns160:solidFill>
                  <ns160:srgbClr val="20262C"/>
                </ns160:solidFill>
                <ns160:latin typeface="Arial"/>
                <ns160:ea typeface="Arial"/>
                <ns160:cs typeface="Arial"/>
              </ns160:rPr>
              <ns160:t>using this investment view</ns160:t>
            </ns160:r>
          </ns160:p>
        </p:txBody>
      </p:sp>
      <p:cxnSp>
        <p:nvCxnSpPr>
          <p:cNvPr id="126" name="analysis.change.summary"/>
          <p:cNvCxnSpPr/>
          <p:nvPr/>
        </p:nvCxnSpPr>
        <p:spPr>
          <ns161:xfrm xmlns:ns161="http://schemas.openxmlformats.org/drawingml/2006/main">
            <ns161:off x="3772800" y="3636000"/>
            <ns161:ext cx="273600" cy="1"/>
          </ns161:xfrm>
          <ns162:prstGeom xmlns:ns162="http://schemas.openxmlformats.org/drawingml/2006/main" prst="line">
            <ns162:avLst/>
          </ns162:prstGeom>
          <ns163:ln xmlns:ns163="http://schemas.openxmlformats.org/drawingml/2006/main" w="12700">
            <ns163:solidFill>
              <ns163:srgbClr val="005A9C"/>
            </ns163:solidFill>
            <ns163:tailEnd type="triangle" w="sm" len="sm"/>
          </ns163:ln>
        </p:spPr>
      </p:cxnSp>
      <p:sp>
        <p:nvSpPr>
          <p:cNvPr id="127" name="!!ops.user"/>
          <p:cNvSpPr/>
          <p:nvPr/>
        </p:nvSpPr>
        <p:spPr>
          <ns164:xfrm xmlns:ns164="http://schemas.openxmlformats.org/drawingml/2006/main">
            <ns164:off x="457200" y="4262400"/>
            <ns164:ext cx="8229600" cy="187200"/>
          </ns164:xfrm>
          <ns165:prstGeom xmlns:ns165="http://schemas.openxmlformats.org/drawingml/2006/main" prst="rect">
            <ns165:avLst/>
          </ns165:prstGeom>
          <ns166:noFill xmlns:ns166="http://schemas.openxmlformats.org/drawingml/2006/main"/>
          <ns167:ln xmlns:ns167="http://schemas.openxmlformats.org/drawingml/2006/main" w="0">
            <ns167:noFill/>
          </ns167:ln>
        </p:spPr>
        <p:txBody>
          <ns168:bodyPr xmlns:ns168="http://schemas.openxmlformats.org/drawingml/2006/main" wrap="square" lIns="0" rIns="0" tIns="0" bIns="0" anchor="t">
            <ns168:noAutofit/>
          </ns168:bodyPr>
          <ns169:lstStyle xmlns:ns169="http://schemas.openxmlformats.org/drawingml/2006/main"/>
          <ns170:p xmlns:ns170="http://schemas.openxmlformats.org/drawingml/2006/main">
            <ns170:pPr algn="l">
              <ns170:lnSpc>
                <ns170:spcPct val="108000"/>
              </ns170:lnSpc>
              <ns170:defRPr sz="1050" b="0">
                <ns170:solidFill>
                  <ns170:srgbClr val="20262C"/>
                </ns170:solidFill>
                <ns170:latin typeface="Arial"/>
                <ns170:ea typeface="Arial"/>
                <ns170:cs typeface="Arial"/>
              </ns170:defRPr>
            </ns170:pPr>
            <ns170:r>
              <ns170:rPr sz="1050" b="0">
                <ns170:solidFill>
                  <ns170:srgbClr val="20262C"/>
                </ns170:solidFill>
                <ns170:latin typeface="Arial"/>
                <ns170:ea typeface="Arial"/>
                <ns170:cs typeface="Arial"/>
              </ns170:rPr>
              <ns170:t>Operations checks the change summary, files it with V2 and updates related materials.</ns170:t>
            </ns170:r>
          </ns170:p>
        </p:txBody>
      </p:sp>
    </p:spTree>
    <p:extLst>
      <p:ext uri="{BB962C8B-B14F-4D97-AF65-F5344CB8AC3E}">
        <p14:creationId xmlns:p14="http://schemas.microsoft.com/office/powerpoint/2010/main" val="20519257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Developing a document comparison tool</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Internal tool development / Current workflow</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1">
                <ns37:solidFill>
                  <ns37:srgbClr val="005A9C"/>
                </ns37:solidFill>
                <ns37:latin typeface="Arial"/>
                <ns37:ea typeface="Arial"/>
                <ns37:cs typeface="Arial"/>
              </ns37:defRPr>
            </ns37:pPr>
            <ns37:r>
              <ns37:rPr sz="800" b="1">
                <ns37:solidFill>
                  <ns37:srgbClr val="005A9C"/>
                </ns37:solidFill>
                <ns37:latin typeface="Arial"/>
                <ns37:ea typeface="Arial"/>
                <ns37:cs typeface="Arial"/>
              </ns37:rPr>
              <ns37:t>Back office</ns37:t>
            </ns37:r>
          </ns37:p>
        </p:txBody>
      </p:sp>
      <p:sp>
        <p:nvSpPr>
          <p:cNvPr id="107" name="!!dev.request"/>
          <p:cNvSpPr/>
          <p:nvPr/>
        </p:nvSpPr>
        <p:spPr>
          <ns38:xfrm xmlns:ns38="http://schemas.openxmlformats.org/drawingml/2006/main">
            <ns38:off x="457200" y="1454400"/>
            <ns38:ext cx="8229600" cy="4464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300" b="1">
                <ns44:solidFill>
                  <ns44:srgbClr val="005A9C"/>
                </ns44:solidFill>
                <ns44:latin typeface="Arial"/>
                <ns44:ea typeface="Arial"/>
                <ns44:cs typeface="Arial"/>
              </ns44:defRPr>
            </ns44:pPr>
            <ns44:r>
              <ns44:rPr sz="1300" b="1">
                <ns44:solidFill>
                  <ns44:srgbClr val="005A9C"/>
                </ns44:solidFill>
                <ns44:latin typeface="Arial"/>
                <ns44:ea typeface="Arial"/>
                <ns44:cs typeface="Arial"/>
              </ns44:rPr>
              <ns44:t>Developer workflow</ns44:t>
            </ns44:r>
          </ns44:p>
          <ns45:p xmlns:ns45="http://schemas.openxmlformats.org/drawingml/2006/main">
            <ns45:pPr algn="l">
              <ns45:lnSpc>
                <ns45:spcPct val="108000"/>
              </ns45:lnSpc>
              <ns45:defRPr sz="1300" b="1">
                <ns45:solidFill>
                  <ns45:srgbClr val="005A9C"/>
                </ns45:solidFill>
                <ns45:latin typeface="Arial"/>
                <ns45:ea typeface="Arial"/>
                <ns45:cs typeface="Arial"/>
              </ns45:defRPr>
            </ns45:pPr>
            <ns45:r>
              <ns45:rPr sz="1300" b="1">
                <ns45:solidFill>
                  <ns45:srgbClr val="005A9C"/>
                </ns45:solidFill>
                <ns45:latin typeface="Arial"/>
                <ns45:ea typeface="Arial"/>
                <ns45:cs typeface="Arial"/>
              </ns45:rPr>
              <ns45:t>Business request: identify changes between the two report versions, excluding repeated page headers.</ns45:t>
            </ns45:r>
          </ns45:p>
        </p:txBody>
      </p:sp>
      <p:sp>
        <p:nvSpPr>
          <p:cNvPr id="108" name="!!story.client.development.sample.name"/>
          <p:cNvSpPr/>
          <p:nvPr/>
        </p:nvSpPr>
        <p:spPr>
          <ns46:xfrm xmlns:ns46="http://schemas.openxmlformats.org/drawingml/2006/main">
            <ns46:off x="457200" y="2120400"/>
            <ns46:ext cx="8229600" cy="169200"/>
          </ns46:xfrm>
          <ns47:prstGeom xmlns:ns47="http://schemas.openxmlformats.org/drawingml/2006/main" prst="rect">
            <ns47:avLst/>
          </ns47:prstGeom>
          <ns48:noFill xmlns:ns48="http://schemas.openxmlformats.org/drawingml/2006/main"/>
          <ns49:ln xmlns:ns49="http://schemas.openxmlformats.org/drawingml/2006/main" w="0">
            <ns49:noFill/>
          </ns49:ln>
        </p:spPr>
        <p:txBody>
          <ns50:bodyPr xmlns:ns50="http://schemas.openxmlformats.org/drawingml/2006/main" wrap="square" lIns="0" rIns="0" tIns="0" bIns="0" anchor="t">
            <ns50:noAutofit/>
          </ns50:bodyPr>
          <ns51:lstStyle xmlns:ns51="http://schemas.openxmlformats.org/drawingml/2006/main"/>
          <ns52:p xmlns:ns52="http://schemas.openxmlformats.org/drawingml/2006/main">
            <ns52:pPr algn="l">
              <ns52:lnSpc>
                <ns52:spcPct val="108000"/>
              </ns52:lnSpc>
              <ns52:defRPr sz="1050" b="1">
                <ns52:solidFill>
                  <ns52:srgbClr val="7363A6"/>
                </ns52:solidFill>
                <ns52:latin typeface="Arial"/>
                <ns52:ea typeface="Arial"/>
                <ns52:cs typeface="Arial"/>
              </ns52:defRPr>
            </ns52:pPr>
            <ns52:r>
              <ns52:rPr sz="1050" b="1">
                <ns52:solidFill>
                  <ns52:srgbClr val="7363A6"/>
                </ns52:solidFill>
                <ns52:latin typeface="Arial"/>
                <ns52:ea typeface="Arial"/>
                <ns52:cs typeface="Arial"/>
              </ns52:rPr>
              <ns52:t>Client update V1 / V2</ns52:t>
            </ns52:r>
          </ns52:p>
        </p:txBody>
      </p:sp>
      <p:sp>
        <p:nvSpPr>
          <p:cNvPr id="109" name="!!dev.requirements.role"/>
          <p:cNvSpPr/>
          <p:nvPr/>
        </p:nvSpPr>
        <p:spPr>
          <ns53:xfrm xmlns:ns53="http://schemas.openxmlformats.org/drawingml/2006/main">
            <ns53:off x="457200" y="2386800"/>
            <ns53:ext cx="2559600" cy="360000"/>
          </ns53:xfrm>
          <ns54:prstGeom xmlns:ns54="http://schemas.openxmlformats.org/drawingml/2006/main" prst="rect">
            <ns54:avLst/>
          </ns54:prstGeom>
          <ns55:noFill xmlns:ns55="http://schemas.openxmlformats.org/drawingml/2006/main"/>
          <ns56:ln xmlns:ns56="http://schemas.openxmlformats.org/drawingml/2006/main" w="0">
            <ns56:noFill/>
          </ns56:ln>
        </p:spPr>
        <p:txBody>
          <ns57:bodyPr xmlns:ns57="http://schemas.openxmlformats.org/drawingml/2006/main" wrap="square" lIns="0" rIns="0" tIns="0" bIns="0" anchor="t">
            <ns57:noAutofit/>
          </ns57:bodyPr>
          <ns58:lstStyle xmlns:ns58="http://schemas.openxmlformats.org/drawingml/2006/main"/>
          <ns59:p xmlns:ns59="http://schemas.openxmlformats.org/drawingml/2006/main">
            <ns59:pPr algn="l">
              <ns59:lnSpc>
                <ns59:spcPct val="108000"/>
              </ns59:lnSpc>
              <ns59:defRPr sz="1250" b="1">
                <ns59:solidFill>
                  <ns59:srgbClr val="005A9C"/>
                </ns59:solidFill>
                <ns59:latin typeface="Arial"/>
                <ns59:ea typeface="Arial"/>
                <ns59:cs typeface="Arial"/>
              </ns59:defRPr>
            </ns59:pPr>
            <ns59:r>
              <ns59:rPr sz="1250" b="1">
                <ns59:solidFill>
                  <ns59:srgbClr val="005A9C"/>
                </ns59:solidFill>
                <ns59:latin typeface="Arial"/>
                <ns59:ea typeface="Arial"/>
                <ns59:cs typeface="Arial"/>
              </ns59:rPr>
              <ns59:t>Define requirements</ns59:t>
            </ns59:r>
          </ns59:p>
        </p:txBody>
      </p:sp>
      <p:cxnSp>
        <p:nvCxnSpPr>
          <p:cNvPr id="110" name="dev.requirements.role.rule"/>
          <p:cNvCxnSpPr/>
          <p:nvPr/>
        </p:nvCxnSpPr>
        <p:spPr>
          <ns60:xfrm xmlns:ns60="http://schemas.openxmlformats.org/drawingml/2006/main">
            <ns60:off x="457200" y="2782800"/>
            <ns60:ext cx="2559600" cy="1"/>
          </ns60:xfrm>
          <ns61:prstGeom xmlns:ns61="http://schemas.openxmlformats.org/drawingml/2006/main" prst="line">
            <ns61:avLst/>
          </ns61:prstGeom>
          <ns62:ln xmlns:ns62="http://schemas.openxmlformats.org/drawingml/2006/main" w="12700">
            <ns62:solidFill>
              <ns62:srgbClr val="005A9C"/>
            </ns62:solidFill>
          </ns62:ln>
        </p:spPr>
      </p:cxnSp>
      <p:sp>
        <p:nvSpPr>
          <p:cNvPr id="111" name="!!dev.requirements.body"/>
          <p:cNvSpPr/>
          <p:nvPr/>
        </p:nvSpPr>
        <p:spPr>
          <ns63:xfrm xmlns:ns63="http://schemas.openxmlformats.org/drawingml/2006/main">
            <ns63:off x="457200" y="2890800"/>
            <ns63:ext cx="2559600" cy="878400"/>
          </ns63:xfrm>
          <ns64:prstGeom xmlns:ns64="http://schemas.openxmlformats.org/drawingml/2006/main" prst="rect">
            <ns64:avLst/>
          </ns64:prstGeom>
          <ns65:noFill xmlns:ns65="http://schemas.openxmlformats.org/drawingml/2006/main"/>
          <ns66:ln xmlns:ns66="http://schemas.openxmlformats.org/drawingml/2006/main" w="0">
            <ns66:noFill/>
          </ns66:ln>
        </p:spPr>
        <p:txBody>
          <ns67:bodyPr xmlns:ns67="http://schemas.openxmlformats.org/drawingml/2006/main" wrap="square" lIns="0" rIns="0" tIns="0" bIns="0" anchor="t">
            <ns67:noAutofit/>
          </ns67:bodyPr>
          <ns68:lstStyle xmlns:ns68="http://schemas.openxmlformats.org/drawingml/2006/main"/>
          <ns69:p xmlns:ns69="http://schemas.openxmlformats.org/drawingml/2006/main">
            <ns69:pPr algn="l">
              <ns69:lnSpc>
                <ns69:spcPct val="108000"/>
              </ns69:lnSpc>
              <ns69:defRPr sz="1200" b="0">
                <ns69:solidFill>
                  <ns69:srgbClr val="20262C"/>
                </ns69:solidFill>
                <ns69:latin typeface="Arial"/>
                <ns69:ea typeface="Arial"/>
                <ns69:cs typeface="Arial"/>
              </ns69:defRPr>
            </ns69:pPr>
            <ns69:r>
              <ns69:rPr sz="1200" b="0">
                <ns69:solidFill>
                  <ns69:srgbClr val="20262C"/>
                </ns69:solidFill>
                <ns69:latin typeface="Arial"/>
                <ns69:ea typeface="Arial"/>
                <ns69:cs typeface="Arial"/>
              </ns69:rPr>
              <ns69:t>Flag additions, deletions and edits</ns69:t>
            </ns69:r>
          </ns69:p>
          <ns70:p xmlns:ns70="http://schemas.openxmlformats.org/drawingml/2006/main">
            <ns70:pPr algn="l">
              <ns70:lnSpc>
                <ns70:spcPct val="108000"/>
              </ns70:lnSpc>
              <ns70:defRPr sz="1200" b="0">
                <ns70:solidFill>
                  <ns70:srgbClr val="20262C"/>
                </ns70:solidFill>
                <ns70:latin typeface="Arial"/>
                <ns70:ea typeface="Arial"/>
                <ns70:cs typeface="Arial"/>
              </ns70:defRPr>
            </ns70:pPr>
            <ns70:r>
              <ns70:rPr sz="1200" b="0">
                <ns70:solidFill>
                  <ns70:srgbClr val="20262C"/>
                </ns70:solidFill>
                <ns70:latin typeface="Arial"/>
                <ns70:ea typeface="Arial"/>
                <ns70:cs typeface="Arial"/>
              </ns70:rPr>
              <ns70:t>Ignore repeated page headers</ns70:t>
            </ns70:r>
          </ns70:p>
        </p:txBody>
      </p:sp>
      <p:cxnSp>
        <p:nvCxnSpPr>
          <p:cNvPr id="112" name="development.flow.0"/>
          <p:cNvCxnSpPr/>
          <p:nvPr/>
        </p:nvCxnSpPr>
        <p:spPr>
          <ns71:xfrm xmlns:ns71="http://schemas.openxmlformats.org/drawingml/2006/main">
            <ns71:off x="3060000" y="3240000"/>
            <ns71:ext cx="190800" cy="1"/>
          </ns71:xfrm>
          <ns72:prstGeom xmlns:ns72="http://schemas.openxmlformats.org/drawingml/2006/main" prst="line">
            <ns72:avLst/>
          </ns72:prstGeom>
          <ns73:ln xmlns:ns73="http://schemas.openxmlformats.org/drawingml/2006/main" w="12700">
            <ns73:solidFill>
              <ns73:srgbClr val="005A9C"/>
            </ns73:solidFill>
            <ns73:tailEnd type="triangle" w="sm" len="sm"/>
          </ns73:ln>
        </p:spPr>
      </p:cxnSp>
      <p:sp>
        <p:nvSpPr>
          <p:cNvPr id="113" name="!!dev.code.role"/>
          <p:cNvSpPr/>
          <p:nvPr/>
        </p:nvSpPr>
        <p:spPr>
          <ns74:xfrm xmlns:ns74="http://schemas.openxmlformats.org/drawingml/2006/main">
            <ns74:off x="3294000" y="2386800"/>
            <ns74:ext cx="2556000" cy="360000"/>
          </ns74:xfrm>
          <ns75:prstGeom xmlns:ns75="http://schemas.openxmlformats.org/drawingml/2006/main" prst="rect">
            <ns75:avLst/>
          </ns75:prstGeom>
          <ns76:noFill xmlns:ns76="http://schemas.openxmlformats.org/drawingml/2006/main"/>
          <ns77:ln xmlns:ns77="http://schemas.openxmlformats.org/drawingml/2006/main" w="0">
            <ns77:noFill/>
          </ns77:ln>
        </p:spPr>
        <p:txBody>
          <ns78:bodyPr xmlns:ns78="http://schemas.openxmlformats.org/drawingml/2006/main" wrap="square" lIns="0" rIns="0" tIns="0" bIns="0" anchor="t">
            <ns78:noAutofit/>
          </ns78:bodyPr>
          <ns79:lstStyle xmlns:ns79="http://schemas.openxmlformats.org/drawingml/2006/main"/>
          <ns80:p xmlns:ns80="http://schemas.openxmlformats.org/drawingml/2006/main">
            <ns80:pPr algn="l">
              <ns80:lnSpc>
                <ns80:spcPct val="108000"/>
              </ns80:lnSpc>
              <ns80:defRPr sz="1250" b="1">
                <ns80:solidFill>
                  <ns80:srgbClr val="005A9C"/>
                </ns80:solidFill>
                <ns80:latin typeface="Arial"/>
                <ns80:ea typeface="Arial"/>
                <ns80:cs typeface="Arial"/>
              </ns80:defRPr>
            </ns80:pPr>
            <ns80:r>
              <ns80:rPr sz="1250" b="1">
                <ns80:solidFill>
                  <ns80:srgbClr val="005A9C"/>
                </ns80:solidFill>
                <ns80:latin typeface="Arial"/>
                <ns80:ea typeface="Arial"/>
                <ns80:cs typeface="Arial"/>
              </ns80:rPr>
              <ns80:t>Write code</ns80:t>
            </ns80:r>
          </ns80:p>
        </p:txBody>
      </p:sp>
      <p:cxnSp>
        <p:nvCxnSpPr>
          <p:cNvPr id="114" name="dev.code.role.rule"/>
          <p:cNvCxnSpPr/>
          <p:nvPr/>
        </p:nvCxnSpPr>
        <p:spPr>
          <ns81:xfrm xmlns:ns81="http://schemas.openxmlformats.org/drawingml/2006/main">
            <ns81:off x="3294000" y="2782800"/>
            <ns81:ext cx="2556000" cy="1"/>
          </ns81:xfrm>
          <ns82:prstGeom xmlns:ns82="http://schemas.openxmlformats.org/drawingml/2006/main" prst="line">
            <ns82:avLst/>
          </ns82:prstGeom>
          <ns83:ln xmlns:ns83="http://schemas.openxmlformats.org/drawingml/2006/main" w="12700">
            <ns83:solidFill>
              <ns83:srgbClr val="005A9C"/>
            </ns83:solidFill>
          </ns83:ln>
        </p:spPr>
      </p:cxnSp>
      <p:sp>
        <p:nvSpPr>
          <p:cNvPr id="115" name="!!dev.code.body"/>
          <p:cNvSpPr/>
          <p:nvPr/>
        </p:nvSpPr>
        <p:spPr>
          <ns84:xfrm xmlns:ns84="http://schemas.openxmlformats.org/drawingml/2006/main">
            <ns84:off x="3294000" y="2890800"/>
            <ns84:ext cx="2556000" cy="878400"/>
          </ns84:xfrm>
          <ns85:prstGeom xmlns:ns85="http://schemas.openxmlformats.org/drawingml/2006/main" prst="rect">
            <ns85:avLst/>
          </ns85:prstGeom>
          <ns86:noFill xmlns:ns86="http://schemas.openxmlformats.org/drawingml/2006/main"/>
          <ns87:ln xmlns:ns87="http://schemas.openxmlformats.org/drawingml/2006/main" w="0">
            <ns87:noFill/>
          </ns87:ln>
        </p:spPr>
        <p:txBody>
          <ns88:bodyPr xmlns:ns88="http://schemas.openxmlformats.org/drawingml/2006/main" wrap="square" lIns="0" rIns="0" tIns="0" bIns="0" anchor="t">
            <ns88:noAutofit/>
          </ns88:bodyPr>
          <ns89:lstStyle xmlns:ns89="http://schemas.openxmlformats.org/drawingml/2006/main"/>
          <ns90:p xmlns:ns90="http://schemas.openxmlformats.org/drawingml/2006/main">
            <ns90:pPr algn="l">
              <ns90:lnSpc>
                <ns90:spcPct val="108000"/>
              </ns90:lnSpc>
              <ns90:defRPr sz="1200" b="0">
                <ns90:solidFill>
                  <ns90:srgbClr val="20262C"/>
                </ns90:solidFill>
                <ns90:latin typeface="Arial"/>
                <ns90:ea typeface="Arial"/>
                <ns90:cs typeface="Arial"/>
              </ns90:defRPr>
            </ns90:pPr>
            <ns90:r>
              <ns90:rPr sz="1200" b="0">
                <ns90:solidFill>
                  <ns90:srgbClr val="20262C"/>
                </ns90:solidFill>
                <ns90:latin typeface="Arial"/>
                <ns90:ea typeface="Arial"/>
                <ns90:cs typeface="Arial"/>
              </ns90:rPr>
              <ns90:t>Read files and match paragraphs</ns90:t>
            </ns90:r>
          </ns90:p>
          <ns91:p xmlns:ns91="http://schemas.openxmlformats.org/drawingml/2006/main">
            <ns91:pPr algn="l">
              <ns91:lnSpc>
                <ns91:spcPct val="108000"/>
              </ns91:lnSpc>
              <ns91:defRPr sz="1200" b="0">
                <ns91:solidFill>
                  <ns91:srgbClr val="20262C"/>
                </ns91:solidFill>
                <ns91:latin typeface="Arial"/>
                <ns91:ea typeface="Arial"/>
                <ns91:cs typeface="Arial"/>
              </ns91:defRPr>
            </ns91:pPr>
            <ns91:r>
              <ns91:rPr sz="1200" b="0">
                <ns91:solidFill>
                  <ns91:srgbClr val="20262C"/>
                </ns91:solidFill>
                <ns91:latin typeface="Arial"/>
                <ns91:ea typeface="Arial"/>
                <ns91:cs typeface="Arial"/>
              </ns91:rPr>
              <ns91:t>Identify changes and their locations</ns91:t>
            </ns91:r>
          </ns91:p>
        </p:txBody>
      </p:sp>
      <p:cxnSp>
        <p:nvCxnSpPr>
          <p:cNvPr id="116" name="development.flow.1"/>
          <p:cNvCxnSpPr/>
          <p:nvPr/>
        </p:nvCxnSpPr>
        <p:spPr>
          <ns92:xfrm xmlns:ns92="http://schemas.openxmlformats.org/drawingml/2006/main">
            <ns92:off x="5893200" y="3240000"/>
            <ns92:ext cx="190800" cy="1"/>
          </ns92:xfrm>
          <ns93:prstGeom xmlns:ns93="http://schemas.openxmlformats.org/drawingml/2006/main" prst="line">
            <ns93:avLst/>
          </ns93:prstGeom>
          <ns94:ln xmlns:ns94="http://schemas.openxmlformats.org/drawingml/2006/main" w="12700">
            <ns94:solidFill>
              <ns94:srgbClr val="005A9C"/>
            </ns94:solidFill>
            <ns94:tailEnd type="triangle" w="sm" len="sm"/>
          </ns94:ln>
        </p:spPr>
      </p:cxnSp>
      <p:sp>
        <p:nvSpPr>
          <p:cNvPr id="117" name="!!dev.debug.role"/>
          <p:cNvSpPr/>
          <p:nvPr/>
        </p:nvSpPr>
        <p:spPr>
          <ns95:xfrm xmlns:ns95="http://schemas.openxmlformats.org/drawingml/2006/main">
            <ns95:off x="6127200" y="2386800"/>
            <ns95:ext cx="2559600" cy="360000"/>
          </ns95:xfrm>
          <ns96:prstGeom xmlns:ns96="http://schemas.openxmlformats.org/drawingml/2006/main" prst="rect">
            <ns96:avLst/>
          </ns96:prstGeom>
          <ns97:noFill xmlns:ns97="http://schemas.openxmlformats.org/drawingml/2006/main"/>
          <ns98:ln xmlns:ns98="http://schemas.openxmlformats.org/drawingml/2006/main" w="0">
            <ns98:noFill/>
          </ns98:ln>
        </p:spPr>
        <p:txBody>
          <ns99:bodyPr xmlns:ns99="http://schemas.openxmlformats.org/drawingml/2006/main" wrap="square" lIns="0" rIns="0" tIns="0" bIns="0" anchor="t">
            <ns99:noAutofit/>
          </ns99:bodyPr>
          <ns100:lstStyle xmlns:ns100="http://schemas.openxmlformats.org/drawingml/2006/main"/>
          <ns101:p xmlns:ns101="http://schemas.openxmlformats.org/drawingml/2006/main">
            <ns101:pPr algn="l">
              <ns101:lnSpc>
                <ns101:spcPct val="108000"/>
              </ns101:lnSpc>
              <ns101:defRPr sz="1250" b="1">
                <ns101:solidFill>
                  <ns101:srgbClr val="005A9C"/>
                </ns101:solidFill>
                <ns101:latin typeface="Arial"/>
                <ns101:ea typeface="Arial"/>
                <ns101:cs typeface="Arial"/>
              </ns101:defRPr>
            </ns101:pPr>
            <ns101:r>
              <ns101:rPr sz="1250" b="1">
                <ns101:solidFill>
                  <ns101:srgbClr val="005A9C"/>
                </ns101:solidFill>
                <ns101:latin typeface="Arial"/>
                <ns101:ea typeface="Arial"/>
                <ns101:cs typeface="Arial"/>
              </ns101:rPr>
              <ns101:t>Test the tool</ns101:t>
            </ns101:r>
          </ns101:p>
        </p:txBody>
      </p:sp>
      <p:cxnSp>
        <p:nvCxnSpPr>
          <p:cNvPr id="118" name="dev.debug.role.rule"/>
          <p:cNvCxnSpPr/>
          <p:nvPr/>
        </p:nvCxnSpPr>
        <p:spPr>
          <ns102:xfrm xmlns:ns102="http://schemas.openxmlformats.org/drawingml/2006/main">
            <ns102:off x="6127200" y="2782800"/>
            <ns102:ext cx="2559600" cy="1"/>
          </ns102:xfrm>
          <ns103:prstGeom xmlns:ns103="http://schemas.openxmlformats.org/drawingml/2006/main" prst="line">
            <ns103:avLst/>
          </ns103:prstGeom>
          <ns104:ln xmlns:ns104="http://schemas.openxmlformats.org/drawingml/2006/main" w="12700">
            <ns104:solidFill>
              <ns104:srgbClr val="005A9C"/>
            </ns104:solidFill>
          </ns104:ln>
        </p:spPr>
      </p:cxnSp>
      <p:sp>
        <p:nvSpPr>
          <p:cNvPr id="119" name="!!dev.debug.body"/>
          <p:cNvSpPr/>
          <p:nvPr/>
        </p:nvSpPr>
        <p:spPr>
          <ns105:xfrm xmlns:ns105="http://schemas.openxmlformats.org/drawingml/2006/main">
            <ns105:off x="6127200" y="2890800"/>
            <ns105:ext cx="2559600" cy="878400"/>
          </ns105:xfrm>
          <ns106:prstGeom xmlns:ns106="http://schemas.openxmlformats.org/drawingml/2006/main" prst="rect">
            <ns106:avLst/>
          </ns106:prstGeom>
          <ns107:noFill xmlns:ns107="http://schemas.openxmlformats.org/drawingml/2006/main"/>
          <ns108:ln xmlns:ns108="http://schemas.openxmlformats.org/drawingml/2006/main" w="0">
            <ns108:noFill/>
          </ns108:ln>
        </p:spPr>
        <p:txBody>
          <ns109:bodyPr xmlns:ns109="http://schemas.openxmlformats.org/drawingml/2006/main" wrap="square" lIns="0" rIns="0" tIns="0" bIns="0" anchor="t">
            <ns109:noAutofit/>
          </ns109:bodyPr>
          <ns110:lstStyle xmlns:ns110="http://schemas.openxmlformats.org/drawingml/2006/main"/>
          <ns111:p xmlns:ns111="http://schemas.openxmlformats.org/drawingml/2006/main">
            <ns111:pPr algn="l">
              <ns111:lnSpc>
                <ns111:spcPct val="108000"/>
              </ns111:lnSpc>
              <ns111:defRPr sz="1200" b="0">
                <ns111:solidFill>
                  <ns111:srgbClr val="20262C"/>
                </ns111:solidFill>
                <ns111:latin typeface="Arial"/>
                <ns111:ea typeface="Arial"/>
                <ns111:cs typeface="Arial"/>
              </ns111:defRPr>
            </ns111:pPr>
            <ns111:r>
              <ns111:rPr sz="1200" b="0">
                <ns111:solidFill>
                  <ns111:srgbClr val="20262C"/>
                </ns111:solidFill>
                <ns111:latin typeface="Arial"/>
                <ns111:ea typeface="Arial"/>
                <ns111:cs typeface="Arial"/>
              </ns111:rPr>
              <ns111:t>Line and page breaks disrupt matching</ns111:t>
            </ns111:r>
          </ns111:p>
          <ns112:p xmlns:ns112="http://schemas.openxmlformats.org/drawingml/2006/main">
            <ns112:pPr algn="l">
              <ns112:lnSpc>
                <ns112:spcPct val="108000"/>
              </ns112:lnSpc>
              <ns112:defRPr sz="1200" b="0">
                <ns112:solidFill>
                  <ns112:srgbClr val="20262C"/>
                </ns112:solidFill>
                <ns112:latin typeface="Arial"/>
                <ns112:ea typeface="Arial"/>
                <ns112:cs typeface="Arial"/>
              </ns112:defRPr>
            </ns112:pPr>
            <ns112:r>
              <ns112:rPr sz="1200" b="0">
                <ns112:solidFill>
                  <ns112:srgbClr val="20262C"/>
                </ns112:solidFill>
                <ns112:latin typeface="Arial"/>
                <ns112:ea typeface="Arial"/>
                <ns112:cs typeface="Arial"/>
              </ns112:rPr>
              <ns112:t>Header changes can trigger false positives</ns112:t>
            </ns112:r>
          </ns112:p>
        </p:txBody>
      </p:sp>
      <p:sp>
        <p:nvSpPr>
          <p:cNvPr id="120" name="!!dev.workload"/>
          <p:cNvSpPr/>
          <p:nvPr/>
        </p:nvSpPr>
        <p:spPr>
          <ns113:xfrm xmlns:ns113="http://schemas.openxmlformats.org/drawingml/2006/main">
            <ns113:off x="457200" y="4150800"/>
            <ns113:ext cx="8229600" cy="187200"/>
          </ns113:xfrm>
          <ns114:prstGeom xmlns:ns114="http://schemas.openxmlformats.org/drawingml/2006/main" prst="rect">
            <ns114:avLst/>
          </ns114:prstGeom>
          <ns115:noFill xmlns:ns115="http://schemas.openxmlformats.org/drawingml/2006/main"/>
          <ns116:ln xmlns:ns116="http://schemas.openxmlformats.org/drawingml/2006/main" w="0">
            <ns116:noFill/>
          </ns116:ln>
        </p:spPr>
        <p:txBody>
          <ns117:bodyPr xmlns:ns117="http://schemas.openxmlformats.org/drawingml/2006/main" wrap="square" lIns="0" rIns="0" tIns="0" bIns="0" anchor="t">
            <ns117:noAutofit/>
          </ns117:bodyPr>
          <ns118:lstStyle xmlns:ns118="http://schemas.openxmlformats.org/drawingml/2006/main"/>
          <ns119:p xmlns:ns119="http://schemas.openxmlformats.org/drawingml/2006/main">
            <ns119:pPr algn="l">
              <ns119:lnSpc>
                <ns119:spcPct val="108000"/>
              </ns119:lnSpc>
              <ns119:defRPr sz="1150" b="0">
                <ns119:solidFill>
                  <ns119:srgbClr val="20262C"/>
                </ns119:solidFill>
                <ns119:latin typeface="Arial"/>
                <ns119:ea typeface="Arial"/>
                <ns119:cs typeface="Arial"/>
              </ns119:defRPr>
            </ns119:pPr>
            <ns119:r>
              <ns119:rPr sz="1150" b="0">
                <ns119:solidFill>
                  <ns119:srgbClr val="20262C"/>
                </ns119:solidFill>
                <ns119:latin typeface="Arial"/>
                <ns119:ea typeface="Arial"/>
                <ns119:cs typeface="Arial"/>
              </ns119:rPr>
              <ns119:t>Development requires implementation, testing and repeated debugging.</ns119:t>
            </ns119:r>
          </ns119:p>
        </p:txBody>
      </p:sp>
    </p:spTree>
    <p:extLst>
      <p:ext uri="{BB962C8B-B14F-4D97-AF65-F5344CB8AC3E}">
        <p14:creationId xmlns:p14="http://schemas.microsoft.com/office/powerpoint/2010/main" val="18908983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E Fund and Invesco Great Wall: development support</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Internal tool development / Industry examples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E Fund; Invesco Great Wall</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1">
                <ns44:solidFill>
                  <ns44:srgbClr val="005A9C"/>
                </ns44:solidFill>
                <ns44:latin typeface="Arial"/>
                <ns44:ea typeface="Arial"/>
                <ns44:cs typeface="Arial"/>
              </ns44:defRPr>
            </ns44:pPr>
            <ns44:r>
              <ns44:rPr sz="800" b="1">
                <ns44:solidFill>
                  <ns44:srgbClr val="005A9C"/>
                </ns44:solidFill>
                <ns44:latin typeface="Arial"/>
                <ns44:ea typeface="Arial"/>
                <ns44:cs typeface="Arial"/>
              </ns44:rPr>
              <ns44:t>Back office</ns44:t>
            </ns44:r>
          </ns44:p>
        </p:txBody>
      </p:sp>
      <p:sp>
        <p:nvSpPr>
          <p:cNvPr id="108" name="!!dev.case1"/>
          <p:cNvSpPr/>
          <p:nvPr/>
        </p:nvSpPr>
        <p:spPr>
          <ns45:xfrm xmlns:ns45="http://schemas.openxmlformats.org/drawingml/2006/main">
            <ns45:off x="457200" y="1454400"/>
            <ns45:ext cx="8229600" cy="2268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50" b="1">
                <ns51:solidFill>
                  <ns51:srgbClr val="005A9C"/>
                </ns51:solidFill>
                <ns51:latin typeface="Arial"/>
                <ns51:ea typeface="Arial"/>
                <ns51:cs typeface="Arial"/>
              </ns51:defRPr>
            </ns51:pPr>
            <ns51:r>
              <ns51:rPr sz="1350" b="1">
                <ns51:solidFill>
                  <ns51:srgbClr val="005A9C"/>
                </ns51:solidFill>
                <ns51:latin typeface="Arial"/>
                <ns51:ea typeface="Arial"/>
                <ns51:cs typeface="Arial"/>
              </ns51:rPr>
              <ns51:t>E Fund uses LLMs in development and testing</ns51:t>
            </ns51:r>
          </ns51:p>
        </p:txBody>
      </p:sp>
      <p:sp>
        <p:nvSpPr>
          <p:cNvPr id="109" name="!!dev.case2"/>
          <p:cNvSpPr/>
          <p:nvPr/>
        </p:nvSpPr>
        <p:spPr>
          <ns52:xfrm xmlns:ns52="http://schemas.openxmlformats.org/drawingml/2006/main">
            <ns52:off x="457200" y="1767600"/>
            <ns52:ext cx="8229600" cy="331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0">
                <ns58:solidFill>
                  <ns58:srgbClr val="687782"/>
                </ns58:solidFill>
                <ns58:latin typeface="Arial"/>
                <ns58:ea typeface="Arial"/>
                <ns58:cs typeface="Arial"/>
              </ns58:defRPr>
            </ns58:pPr>
            <ns58:r>
              <ns58:rPr sz="1150" b="0">
                <ns58:solidFill>
                  <ns58:srgbClr val="687782"/>
                </ns58:solidFill>
                <ns58:latin typeface="Arial"/>
                <ns58:ea typeface="Arial"/>
                <ns58:cs typeface="Arial"/>
              </ns58:rPr>
              <ns58:t>Invesco Great Wall’s quantitative team uses locally deployed models for coding support.</ns58:t>
            </ns58:r>
          </ns58:p>
        </p:txBody>
      </p:sp>
      <p:sp>
        <p:nvSpPr>
          <p:cNvPr id="110" name="!!story.client.development.sample.name"/>
          <p:cNvSpPr/>
          <p:nvPr/>
        </p:nvSpPr>
        <p:spPr>
          <ns59:xfrm xmlns:ns59="http://schemas.openxmlformats.org/drawingml/2006/main">
            <ns59:off x="457200" y="2120400"/>
            <ns59:ext cx="8229600" cy="1692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8000"/>
              </ns65:lnSpc>
              <ns65:defRPr sz="1050" b="1">
                <ns65:solidFill>
                  <ns65:srgbClr val="7363A6"/>
                </ns65:solidFill>
                <ns65:latin typeface="Arial"/>
                <ns65:ea typeface="Arial"/>
                <ns65:cs typeface="Arial"/>
              </ns65:defRPr>
            </ns65:pPr>
            <ns65:r>
              <ns65:rPr sz="1050" b="1">
                <ns65:solidFill>
                  <ns65:srgbClr val="7363A6"/>
                </ns65:solidFill>
                <ns65:latin typeface="Arial"/>
                <ns65:ea typeface="Arial"/>
                <ns65:cs typeface="Arial"/>
              </ns65:rPr>
              <ns65:t>Client update V1 / V2</ns65:t>
            </ns65:r>
          </ns65:p>
        </p:txBody>
      </p:sp>
      <p:sp>
        <p:nvSpPr>
          <p:cNvPr id="111" name="!!dev.requirements.role"/>
          <p:cNvSpPr/>
          <p:nvPr/>
        </p:nvSpPr>
        <p:spPr>
          <ns66:xfrm xmlns:ns66="http://schemas.openxmlformats.org/drawingml/2006/main">
            <ns66:off x="457200" y="2386800"/>
            <ns66:ext cx="2559600" cy="3600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8000"/>
              </ns72:lnSpc>
              <ns72:defRPr sz="1250" b="1">
                <ns72:solidFill>
                  <ns72:srgbClr val="005A9C"/>
                </ns72:solidFill>
                <ns72:latin typeface="Arial"/>
                <ns72:ea typeface="Arial"/>
                <ns72:cs typeface="Arial"/>
              </ns72:defRPr>
            </ns72:pPr>
            <ns72:r>
              <ns72:rPr sz="1250" b="1">
                <ns72:solidFill>
                  <ns72:srgbClr val="005A9C"/>
                </ns72:solidFill>
                <ns72:latin typeface="Arial"/>
                <ns72:ea typeface="Arial"/>
                <ns72:cs typeface="Arial"/>
              </ns72:rPr>
              <ns72:t>Developer defines the task</ns72:t>
            </ns72:r>
          </ns72:p>
        </p:txBody>
      </p:sp>
      <p:cxnSp>
        <p:nvCxnSpPr>
          <p:cNvPr id="112" name="dev.requirements.role.rule"/>
          <p:cNvCxnSpPr/>
          <p:nvPr/>
        </p:nvCxnSpPr>
        <p:spPr>
          <ns73:xfrm xmlns:ns73="http://schemas.openxmlformats.org/drawingml/2006/main">
            <ns73:off x="457200" y="2782800"/>
            <ns73:ext cx="2559600" cy="1"/>
          </ns73:xfrm>
          <ns74:prstGeom xmlns:ns74="http://schemas.openxmlformats.org/drawingml/2006/main" prst="line">
            <ns74:avLst/>
          </ns74:prstGeom>
          <ns75:ln xmlns:ns75="http://schemas.openxmlformats.org/drawingml/2006/main" w="12700">
            <ns75:solidFill>
              <ns75:srgbClr val="005A9C"/>
            </ns75:solidFill>
          </ns75:ln>
        </p:spPr>
      </p:cxnSp>
      <p:sp>
        <p:nvSpPr>
          <p:cNvPr id="113" name="!!dev.requirements.body"/>
          <p:cNvSpPr/>
          <p:nvPr/>
        </p:nvSpPr>
        <p:spPr>
          <ns76:xfrm xmlns:ns76="http://schemas.openxmlformats.org/drawingml/2006/main">
            <ns76:off x="457200" y="2890800"/>
            <ns76:ext cx="2559600" cy="8784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200" b="0">
                <ns82:solidFill>
                  <ns82:srgbClr val="20262C"/>
                </ns82:solidFill>
                <ns82:latin typeface="Arial"/>
                <ns82:ea typeface="Arial"/>
                <ns82:cs typeface="Arial"/>
              </ns82:defRPr>
            </ns82:pPr>
            <ns82:r>
              <ns82:rPr sz="1200" b="0">
                <ns82:solidFill>
                  <ns82:srgbClr val="20262C"/>
                </ns82:solidFill>
                <ns82:latin typeface="Arial"/>
                <ns82:ea typeface="Arial"/>
                <ns82:cs typeface="Arial"/>
              </ns82:rPr>
              <ns82:t>Supply examples and expected results</ns82:t>
            </ns82:r>
          </ns82:p>
          <ns83:p xmlns:ns83="http://schemas.openxmlformats.org/drawingml/2006/main">
            <ns83:pPr algn="l">
              <ns83:lnSpc>
                <ns83:spcPct val="108000"/>
              </ns83:lnSpc>
              <ns83:defRPr sz="1200" b="0">
                <ns83:solidFill>
                  <ns83:srgbClr val="20262C"/>
                </ns83:solidFill>
                <ns83:latin typeface="Arial"/>
                <ns83:ea typeface="Arial"/>
                <ns83:cs typeface="Arial"/>
              </ns83:defRPr>
            </ns83:pPr>
            <ns83:r>
              <ns83:rPr sz="1200" b="0">
                <ns83:solidFill>
                  <ns83:srgbClr val="20262C"/>
                </ns83:solidFill>
                <ns83:latin typeface="Arial"/>
                <ns83:ea typeface="Arial"/>
                <ns83:cs typeface="Arial"/>
              </ns83:rPr>
              <ns83:t>Specify the required behavior</ns83:t>
            </ns83:r>
          </ns83:p>
        </p:txBody>
      </p:sp>
      <p:cxnSp>
        <p:nvCxnSpPr>
          <p:cNvPr id="114" name="development.flow.0"/>
          <p:cNvCxnSpPr/>
          <p:nvPr/>
        </p:nvCxnSpPr>
        <p:spPr>
          <ns84:xfrm xmlns:ns84="http://schemas.openxmlformats.org/drawingml/2006/main">
            <ns84:off x="3060000" y="3240000"/>
            <ns84:ext cx="190800" cy="1"/>
          </ns84:xfrm>
          <ns85:prstGeom xmlns:ns85="http://schemas.openxmlformats.org/drawingml/2006/main" prst="line">
            <ns85:avLst/>
          </ns85:prstGeom>
          <ns86:ln xmlns:ns86="http://schemas.openxmlformats.org/drawingml/2006/main" w="12700">
            <ns86:solidFill>
              <ns86:srgbClr val="005A9C"/>
            </ns86:solidFill>
            <ns86:tailEnd type="triangle" w="sm" len="sm"/>
          </ns86:ln>
        </p:spPr>
      </p:cxnSp>
      <p:sp>
        <p:nvSpPr>
          <p:cNvPr id="115" name="!!dev.code.role"/>
          <p:cNvSpPr/>
          <p:nvPr/>
        </p:nvSpPr>
        <p:spPr>
          <ns87:xfrm xmlns:ns87="http://schemas.openxmlformats.org/drawingml/2006/main">
            <ns87:off x="3294000" y="2386800"/>
            <ns87:ext cx="2556000" cy="3600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8000"/>
              </ns93:lnSpc>
              <ns93:defRPr sz="1250" b="1">
                <ns93:solidFill>
                  <ns93:srgbClr val="005A9C"/>
                </ns93:solidFill>
                <ns93:latin typeface="Arial"/>
                <ns93:ea typeface="Arial"/>
                <ns93:cs typeface="Arial"/>
              </ns93:defRPr>
            </ns93:pPr>
            <ns93:r>
              <ns93:rPr sz="1250" b="1">
                <ns93:solidFill>
                  <ns93:srgbClr val="005A9C"/>
                </ns93:solidFill>
                <ns93:latin typeface="Arial"/>
                <ns93:ea typeface="Arial"/>
                <ns93:cs typeface="Arial"/>
              </ns93:rPr>
              <ns93:t>LLM drafts code and tests</ns93:t>
            </ns93:r>
          </ns93:p>
        </p:txBody>
      </p:sp>
      <p:cxnSp>
        <p:nvCxnSpPr>
          <p:cNvPr id="116" name="dev.code.role.rule"/>
          <p:cNvCxnSpPr/>
          <p:nvPr/>
        </p:nvCxnSpPr>
        <p:spPr>
          <ns94:xfrm xmlns:ns94="http://schemas.openxmlformats.org/drawingml/2006/main">
            <ns94:off x="3294000" y="2782800"/>
            <ns94:ext cx="2556000" cy="1"/>
          </ns94:xfrm>
          <ns95:prstGeom xmlns:ns95="http://schemas.openxmlformats.org/drawingml/2006/main" prst="line">
            <ns95:avLst/>
          </ns95:prstGeom>
          <ns96:ln xmlns:ns96="http://schemas.openxmlformats.org/drawingml/2006/main" w="12700">
            <ns96:solidFill>
              <ns96:srgbClr val="005A9C"/>
            </ns96:solidFill>
          </ns96:ln>
        </p:spPr>
      </p:cxnSp>
      <p:sp>
        <p:nvSpPr>
          <p:cNvPr id="117" name="!!dev.code.body"/>
          <p:cNvSpPr/>
          <p:nvPr/>
        </p:nvSpPr>
        <p:spPr>
          <ns97:xfrm xmlns:ns97="http://schemas.openxmlformats.org/drawingml/2006/main">
            <ns97:off x="3294000" y="2890800"/>
            <ns97:ext cx="2556000" cy="8784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200" b="0">
                <ns103:solidFill>
                  <ns103:srgbClr val="20262C"/>
                </ns103:solidFill>
                <ns103:latin typeface="Arial"/>
                <ns103:ea typeface="Arial"/>
                <ns103:cs typeface="Arial"/>
              </ns103:defRPr>
            </ns103:pPr>
            <ns103:r>
              <ns103:rPr sz="1200" b="0">
                <ns103:solidFill>
                  <ns103:srgbClr val="20262C"/>
                </ns103:solidFill>
                <ns103:latin typeface="Arial"/>
                <ns103:ea typeface="Arial"/>
                <ns103:cs typeface="Arial"/>
              </ns103:rPr>
              <ns103:t>Write code to process files</ns103:t>
            </ns103:r>
          </ns103:p>
          <ns104:p xmlns:ns104="http://schemas.openxmlformats.org/drawingml/2006/main">
            <ns104:pPr algn="l">
              <ns104:lnSpc>
                <ns104:spcPct val="108000"/>
              </ns104:lnSpc>
              <ns104:defRPr sz="1200" b="0">
                <ns104:solidFill>
                  <ns104:srgbClr val="20262C"/>
                </ns104:solidFill>
                <ns104:latin typeface="Arial"/>
                <ns104:ea typeface="Arial"/>
                <ns104:cs typeface="Arial"/>
              </ns104:defRPr>
            </ns104:pPr>
            <ns104:r>
              <ns104:rPr sz="1200" b="0">
                <ns104:solidFill>
                  <ns104:srgbClr val="20262C"/>
                </ns104:solidFill>
                <ns104:latin typeface="Arial"/>
                <ns104:ea typeface="Arial"/>
                <ns104:cs typeface="Arial"/>
              </ns104:rPr>
              <ns104:t>List test cases and expected results</ns104:t>
            </ns104:r>
          </ns104:p>
        </p:txBody>
      </p:sp>
      <p:cxnSp>
        <p:nvCxnSpPr>
          <p:cNvPr id="118" name="development.flow.1"/>
          <p:cNvCxnSpPr/>
          <p:nvPr/>
        </p:nvCxnSpPr>
        <p:spPr>
          <ns105:xfrm xmlns:ns105="http://schemas.openxmlformats.org/drawingml/2006/main">
            <ns105:off x="5893200" y="3240000"/>
            <ns105:ext cx="190800" cy="1"/>
          </ns105:xfrm>
          <ns106:prstGeom xmlns:ns106="http://schemas.openxmlformats.org/drawingml/2006/main" prst="line">
            <ns106:avLst/>
          </ns106:prstGeom>
          <ns107:ln xmlns:ns107="http://schemas.openxmlformats.org/drawingml/2006/main" w="12700">
            <ns107:solidFill>
              <ns107:srgbClr val="005A9C"/>
            </ns107:solidFill>
            <ns107:tailEnd type="triangle" w="sm" len="sm"/>
          </ns107:ln>
        </p:spPr>
      </p:cxnSp>
      <p:sp>
        <p:nvSpPr>
          <p:cNvPr id="119" name="!!dev.test.role"/>
          <p:cNvSpPr/>
          <p:nvPr/>
        </p:nvSpPr>
        <p:spPr>
          <ns108:xfrm xmlns:ns108="http://schemas.openxmlformats.org/drawingml/2006/main">
            <ns108:off x="6127200" y="2386800"/>
            <ns108:ext cx="2559600" cy="360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8000"/>
              </ns114:lnSpc>
              <ns114:defRPr sz="1250" b="1">
                <ns114:solidFill>
                  <ns114:srgbClr val="005A9C"/>
                </ns114:solidFill>
                <ns114:latin typeface="Arial"/>
                <ns114:ea typeface="Arial"/>
                <ns114:cs typeface="Arial"/>
              </ns114:defRPr>
            </ns114:pPr>
            <ns114:r>
              <ns114:rPr sz="1250" b="1">
                <ns114:solidFill>
                  <ns114:srgbClr val="005A9C"/>
                </ns114:solidFill>
                <ns114:latin typeface="Arial"/>
                <ns114:ea typeface="Arial"/>
                <ns114:cs typeface="Arial"/>
              </ns114:rPr>
              <ns114:t>Developer tests the code</ns114:t>
            </ns114:r>
          </ns114:p>
        </p:txBody>
      </p:sp>
      <p:cxnSp>
        <p:nvCxnSpPr>
          <p:cNvPr id="120" name="dev.test.role.rule"/>
          <p:cNvCxnSpPr/>
          <p:nvPr/>
        </p:nvCxnSpPr>
        <p:spPr>
          <ns115:xfrm xmlns:ns115="http://schemas.openxmlformats.org/drawingml/2006/main">
            <ns115:off x="6127200" y="2782800"/>
            <ns115:ext cx="2559600" cy="1"/>
          </ns115:xfrm>
          <ns116:prstGeom xmlns:ns116="http://schemas.openxmlformats.org/drawingml/2006/main" prst="line">
            <ns116:avLst/>
          </ns116:prstGeom>
          <ns117:ln xmlns:ns117="http://schemas.openxmlformats.org/drawingml/2006/main" w="12700">
            <ns117:solidFill>
              <ns117:srgbClr val="005A9C"/>
            </ns117:solidFill>
          </ns117:ln>
        </p:spPr>
      </p:cxnSp>
      <p:sp>
        <p:nvSpPr>
          <p:cNvPr id="121" name="!!dev.test.body"/>
          <p:cNvSpPr/>
          <p:nvPr/>
        </p:nvSpPr>
        <p:spPr>
          <ns118:xfrm xmlns:ns118="http://schemas.openxmlformats.org/drawingml/2006/main">
            <ns118:off x="6127200" y="2890800"/>
            <ns118:ext cx="2559600" cy="878400"/>
          </ns118:xfrm>
          <ns119:prstGeom xmlns:ns119="http://schemas.openxmlformats.org/drawingml/2006/main" prst="rect">
            <ns119:avLst/>
          </ns119:prstGeom>
          <ns120:noFill xmlns:ns120="http://schemas.openxmlformats.org/drawingml/2006/main"/>
          <ns121:ln xmlns:ns121="http://schemas.openxmlformats.org/drawingml/2006/main" w="0">
            <ns121:noFill/>
          </ns121:ln>
        </p:spPr>
        <p:txBody>
          <ns122:bodyPr xmlns:ns122="http://schemas.openxmlformats.org/drawingml/2006/main" wrap="square" lIns="0" rIns="0" tIns="0" bIns="0" anchor="t">
            <ns122:noAutofit/>
          </ns122:bodyPr>
          <ns123:lstStyle xmlns:ns123="http://schemas.openxmlformats.org/drawingml/2006/main"/>
          <ns124:p xmlns:ns124="http://schemas.openxmlformats.org/drawingml/2006/main">
            <ns124:pPr algn="l">
              <ns124:lnSpc>
                <ns124:spcPct val="108000"/>
              </ns124:lnSpc>
              <ns124:defRPr sz="1200" b="0">
                <ns124:solidFill>
                  <ns124:srgbClr val="20262C"/>
                </ns124:solidFill>
                <ns124:latin typeface="Arial"/>
                <ns124:ea typeface="Arial"/>
                <ns124:cs typeface="Arial"/>
              </ns124:defRPr>
            </ns124:pPr>
            <ns124:r>
              <ns124:rPr sz="1200" b="0">
                <ns124:solidFill>
                  <ns124:srgbClr val="20262C"/>
                </ns124:solidFill>
                <ns124:latin typeface="Arial"/>
                <ns124:ea typeface="Arial"/>
                <ns124:cs typeface="Arial"/>
              </ns124:rPr>
              <ns124:t>Run the code and check the output</ns124:t>
            </ns124:r>
          </ns124:p>
          <ns125:p xmlns:ns125="http://schemas.openxmlformats.org/drawingml/2006/main">
            <ns125:pPr algn="l">
              <ns125:lnSpc>
                <ns125:spcPct val="108000"/>
              </ns125:lnSpc>
              <ns125:defRPr sz="1200" b="0">
                <ns125:solidFill>
                  <ns125:srgbClr val="20262C"/>
                </ns125:solidFill>
                <ns125:latin typeface="Arial"/>
                <ns125:ea typeface="Arial"/>
                <ns125:cs typeface="Arial"/>
              </ns125:defRPr>
            </ns125:pPr>
            <ns125:r>
              <ns125:rPr sz="1200" b="0">
                <ns125:solidFill>
                  <ns125:srgbClr val="20262C"/>
                </ns125:solidFill>
                <ns125:latin typeface="Arial"/>
                <ns125:ea typeface="Arial"/>
                <ns125:cs typeface="Arial"/>
              </ns125:rPr>
              <ns125:t>Provide error details to the LLM</ns125:t>
            </ns125:r>
          </ns125:p>
        </p:txBody>
      </p:sp>
      <p:sp>
        <p:nvSpPr>
          <p:cNvPr id="122" name="!!dev.case.result"/>
          <p:cNvSpPr/>
          <p:nvPr/>
        </p:nvSpPr>
        <p:spPr>
          <ns126:xfrm xmlns:ns126="http://schemas.openxmlformats.org/drawingml/2006/main">
            <ns126:off x="457200" y="4150800"/>
            <ns126:ext cx="8229600" cy="1872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1150" b="0">
                <ns132:solidFill>
                  <ns132:srgbClr val="20262C"/>
                </ns132:solidFill>
                <ns132:latin typeface="Arial"/>
                <ns132:ea typeface="Arial"/>
                <ns132:cs typeface="Arial"/>
              </ns132:defRPr>
            </ns132:pPr>
            <ns132:r>
              <ns132:rPr sz="1150" b="0">
                <ns132:solidFill>
                  <ns132:srgbClr val="20262C"/>
                </ns132:solidFill>
                <ns132:latin typeface="Arial"/>
                <ns132:ea typeface="Arial"/>
                <ns132:cs typeface="Arial"/>
              </ns132:rPr>
              <ns132:t>Developers test and refine generated code against the stated requirements.</ns132:t>
            </ns132:r>
          </ns132:p>
        </p:txBody>
      </p:sp>
    </p:spTree>
    <p:extLst>
      <p:ext uri="{BB962C8B-B14F-4D97-AF65-F5344CB8AC3E}">
        <p14:creationId xmlns:p14="http://schemas.microsoft.com/office/powerpoint/2010/main" val="21184242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application: software development support</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Internal tool development / Proposed application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E Fund; Invesco Great Wall</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1">
                <ns44:solidFill>
                  <ns44:srgbClr val="005A9C"/>
                </ns44:solidFill>
                <ns44:latin typeface="Arial"/>
                <ns44:ea typeface="Arial"/>
                <ns44:cs typeface="Arial"/>
              </ns44:defRPr>
            </ns44:pPr>
            <ns44:r>
              <ns44:rPr sz="800" b="1">
                <ns44:solidFill>
                  <ns44:srgbClr val="005A9C"/>
                </ns44:solidFill>
                <ns44:latin typeface="Arial"/>
                <ns44:ea typeface="Arial"/>
                <ns44:cs typeface="Arial"/>
              </ns44:rPr>
              <ns44:t>Back office</ns44:t>
            </ns44:r>
          </ns44:p>
        </p:txBody>
      </p:sp>
      <p:sp>
        <p:nvSpPr>
          <p:cNvPr id="108" name="!!dev.request"/>
          <p:cNvSpPr/>
          <p:nvPr/>
        </p:nvSpPr>
        <p:spPr>
          <ns45:xfrm xmlns:ns45="http://schemas.openxmlformats.org/drawingml/2006/main">
            <ns45:off x="457200" y="1454400"/>
            <ns45:ext cx="8229600" cy="324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00" b="1">
                <ns51:solidFill>
                  <ns51:srgbClr val="005A9C"/>
                </ns51:solidFill>
                <ns51:latin typeface="Arial"/>
                <ns51:ea typeface="Arial"/>
                <ns51:cs typeface="Arial"/>
              </ns51:defRPr>
            </ns51:pPr>
            <ns51:r>
              <ns51:rPr sz="1300" b="1">
                <ns51:solidFill>
                  <ns51:srgbClr val="005A9C"/>
                </ns51:solidFill>
                <ns51:latin typeface="Arial"/>
                <ns51:ea typeface="Arial"/>
                <ns51:cs typeface="Arial"/>
              </ns51:rPr>
              <ns51:t>Requirement: compare two reports, ignore repeated headers and flag changes to the body text</ns51:t>
            </ns51:r>
          </ns51:p>
        </p:txBody>
      </p:sp>
      <p:sp>
        <p:nvSpPr>
          <p:cNvPr id="109" name="!!dev.samples.role"/>
          <p:cNvSpPr/>
          <p:nvPr/>
        </p:nvSpPr>
        <p:spPr>
          <ns52:xfrm xmlns:ns52="http://schemas.openxmlformats.org/drawingml/2006/main">
            <ns52:off x="457200" y="1944000"/>
            <ns52:ext cx="2559600" cy="2952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1150" b="1">
                <ns58:solidFill>
                  <ns58:srgbClr val="005A9C"/>
                </ns58:solidFill>
                <ns58:latin typeface="Arial"/>
                <ns58:ea typeface="Arial"/>
                <ns58:cs typeface="Arial"/>
              </ns58:defRPr>
            </ns58:pPr>
            <ns58:r>
              <ns58:rPr sz="1150" b="1">
                <ns58:solidFill>
                  <ns58:srgbClr val="005A9C"/>
                </ns58:solidFill>
                <ns58:latin typeface="Arial"/>
                <ns58:ea typeface="Arial"/>
                <ns58:cs typeface="Arial"/>
              </ns58:rPr>
              <ns58:t>1 Developer defines examples</ns58:t>
            </ns58:r>
          </ns58:p>
        </p:txBody>
      </p:sp>
      <p:cxnSp>
        <p:nvCxnSpPr>
          <p:cNvPr id="110" name="dev.samples.role.rule"/>
          <p:cNvCxnSpPr/>
          <p:nvPr/>
        </p:nvCxnSpPr>
        <p:spPr>
          <ns59:xfrm xmlns:ns59="http://schemas.openxmlformats.org/drawingml/2006/main">
            <ns59:off x="457200" y="2275200"/>
            <ns59:ext cx="2559600" cy="1"/>
          </ns59:xfrm>
          <ns60:prstGeom xmlns:ns60="http://schemas.openxmlformats.org/drawingml/2006/main" prst="line">
            <ns60:avLst/>
          </ns60:prstGeom>
          <ns61:ln xmlns:ns61="http://schemas.openxmlformats.org/drawingml/2006/main" w="12700">
            <ns61:solidFill>
              <ns61:srgbClr val="005A9C"/>
            </ns61:solidFill>
          </ns61:ln>
        </p:spPr>
      </p:cxnSp>
      <p:sp>
        <p:nvSpPr>
          <p:cNvPr id="111" name="!!dev.samples.body"/>
          <p:cNvSpPr/>
          <p:nvPr/>
        </p:nvSpPr>
        <p:spPr>
          <ns62:xfrm xmlns:ns62="http://schemas.openxmlformats.org/drawingml/2006/main">
            <ns62:off x="457200" y="2361600"/>
            <ns62:ext cx="2559600" cy="6192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00" b="0">
                <ns68:solidFill>
                  <ns68:srgbClr val="7363A6"/>
                </ns68:solidFill>
                <ns68:latin typeface="Arial"/>
                <ns68:ea typeface="Arial"/>
                <ns68:cs typeface="Arial"/>
              </ns68:defRPr>
            </ns68:pPr>
            <ns68:r>
              <ns68:rPr sz="1100" b="0">
                <ns68:solidFill>
                  <ns68:srgbClr val="7363A6"/>
                </ns68:solidFill>
                <ns68:latin typeface="Arial"/>
                <ns68:ea typeface="Arial"/>
                <ns68:cs typeface="Arial"/>
              </ns68:rPr>
              <ns68:t>Client update V1 and V2</ns68:t>
            </ns68:r>
          </ns68:p>
          <ns69:p xmlns:ns69="http://schemas.openxmlformats.org/drawingml/2006/main">
            <ns69:pPr algn="l">
              <ns69:lnSpc>
                <ns69:spcPct val="108000"/>
              </ns69:lnSpc>
              <ns69:defRPr sz="1100" b="0">
                <ns69:solidFill>
                  <ns69:srgbClr val="7363A6"/>
                </ns69:solidFill>
                <ns69:latin typeface="Arial"/>
                <ns69:ea typeface="Arial"/>
                <ns69:cs typeface="Arial"/>
              </ns69:defRPr>
            </ns69:pPr>
            <ns69:r>
              <ns69:rPr sz="1100" b="0">
                <ns69:solidFill>
                  <ns69:srgbClr val="7363A6"/>
                </ns69:solidFill>
                <ns69:latin typeface="Arial"/>
                <ns69:ea typeface="Arial"/>
                <ns69:cs typeface="Arial"/>
              </ns69:rPr>
              <ns69:t>Expected differences marked</ns69:t>
            </ns69:r>
          </ns69:p>
        </p:txBody>
      </p:sp>
      <p:sp>
        <p:nvSpPr>
          <p:cNvPr id="112" name="!!dev.generate.role"/>
          <p:cNvSpPr/>
          <p:nvPr/>
        </p:nvSpPr>
        <p:spPr>
          <ns70:xfrm xmlns:ns70="http://schemas.openxmlformats.org/drawingml/2006/main">
            <ns70:off x="3294000" y="1944000"/>
            <ns70:ext cx="2556000" cy="2952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1150" b="1">
                <ns76:solidFill>
                  <ns76:srgbClr val="005A9C"/>
                </ns76:solidFill>
                <ns76:latin typeface="Arial"/>
                <ns76:ea typeface="Arial"/>
                <ns76:cs typeface="Arial"/>
              </ns76:defRPr>
            </ns76:pPr>
            <ns76:r>
              <ns76:rPr sz="1150" b="1">
                <ns76:solidFill>
                  <ns76:srgbClr val="005A9C"/>
                </ns76:solidFill>
                <ns76:latin typeface="Arial"/>
                <ns76:ea typeface="Arial"/>
                <ns76:cs typeface="Arial"/>
              </ns76:rPr>
              <ns76:t>2 LLM drafts code and tests</ns76:t>
            </ns76:r>
          </ns76:p>
        </p:txBody>
      </p:sp>
      <p:cxnSp>
        <p:nvCxnSpPr>
          <p:cNvPr id="113" name="dev.generate.role.rule"/>
          <p:cNvCxnSpPr/>
          <p:nvPr/>
        </p:nvCxnSpPr>
        <p:spPr>
          <ns77:xfrm xmlns:ns77="http://schemas.openxmlformats.org/drawingml/2006/main">
            <ns77:off x="3294000" y="2275200"/>
            <ns77:ext cx="2556000" cy="1"/>
          </ns77:xfrm>
          <ns78:prstGeom xmlns:ns78="http://schemas.openxmlformats.org/drawingml/2006/main" prst="line">
            <ns78:avLst/>
          </ns78:prstGeom>
          <ns79:ln xmlns:ns79="http://schemas.openxmlformats.org/drawingml/2006/main" w="12700">
            <ns79:solidFill>
              <ns79:srgbClr val="005A9C"/>
            </ns79:solidFill>
          </ns79:ln>
        </p:spPr>
      </p:cxnSp>
      <p:sp>
        <p:nvSpPr>
          <p:cNvPr id="114" name="!!dev.generate.body"/>
          <p:cNvSpPr/>
          <p:nvPr/>
        </p:nvSpPr>
        <p:spPr>
          <ns80:xfrm xmlns:ns80="http://schemas.openxmlformats.org/drawingml/2006/main">
            <ns80:off x="3294000" y="2361600"/>
            <ns80:ext cx="2556000" cy="6192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100" b="0">
                <ns86:solidFill>
                  <ns86:srgbClr val="20262C"/>
                </ns86:solidFill>
                <ns86:latin typeface="Arial"/>
                <ns86:ea typeface="Arial"/>
                <ns86:cs typeface="Arial"/>
              </ns86:defRPr>
            </ns86:pPr>
            <ns86:r>
              <ns86:rPr sz="1100" b="0">
                <ns86:solidFill>
                  <ns86:srgbClr val="20262C"/>
                </ns86:solidFill>
                <ns86:latin typeface="Arial"/>
                <ns86:ea typeface="Arial"/>
                <ns86:cs typeface="Arial"/>
              </ns86:rPr>
              <ns86:t>Match body-text paragraphs</ns86:t>
            </ns86:r>
          </ns86:p>
          <ns87:p xmlns:ns87="http://schemas.openxmlformats.org/drawingml/2006/main">
            <ns87:pPr algn="l">
              <ns87:lnSpc>
                <ns87:spcPct val="108000"/>
              </ns87:lnSpc>
              <ns87:defRPr sz="1100" b="0">
                <ns87:solidFill>
                  <ns87:srgbClr val="20262C"/>
                </ns87:solidFill>
                <ns87:latin typeface="Arial"/>
                <ns87:ea typeface="Arial"/>
                <ns87:cs typeface="Arial"/>
              </ns87:defRPr>
            </ns87:pPr>
            <ns87:r>
              <ns87:rPr sz="1100" b="0">
                <ns87:solidFill>
                  <ns87:srgbClr val="20262C"/>
                </ns87:solidFill>
                <ns87:latin typeface="Arial"/>
                <ns87:ea typeface="Arial"/>
                <ns87:cs typeface="Arial"/>
              </ns87:rPr>
              <ns87:t>Generate code and tests</ns87:t>
            </ns87:r>
          </ns87:p>
        </p:txBody>
      </p:sp>
      <p:sp>
        <p:nvSpPr>
          <p:cNvPr id="115" name="!!dev.test.role"/>
          <p:cNvSpPr/>
          <p:nvPr/>
        </p:nvSpPr>
        <p:spPr>
          <ns88:xfrm xmlns:ns88="http://schemas.openxmlformats.org/drawingml/2006/main">
            <ns88:off x="6127200" y="1944000"/>
            <ns88:ext cx="2559600" cy="295200"/>
          </ns88:xfrm>
          <ns89:prstGeom xmlns:ns89="http://schemas.openxmlformats.org/drawingml/2006/main" prst="rect">
            <ns89:avLst/>
          </ns89:prstGeom>
          <ns90:noFill xmlns:ns90="http://schemas.openxmlformats.org/drawingml/2006/main"/>
          <ns91:ln xmlns:ns91="http://schemas.openxmlformats.org/drawingml/2006/main" w="0">
            <ns91:noFill/>
          </ns91:ln>
        </p:spPr>
        <p:txBody>
          <ns92:bodyPr xmlns:ns92="http://schemas.openxmlformats.org/drawingml/2006/main" wrap="square" lIns="0" rIns="0" tIns="0" bIns="0" anchor="t">
            <ns92:noAutofit/>
          </ns92:bodyPr>
          <ns93:lstStyle xmlns:ns93="http://schemas.openxmlformats.org/drawingml/2006/main"/>
          <ns94:p xmlns:ns94="http://schemas.openxmlformats.org/drawingml/2006/main">
            <ns94:pPr algn="l">
              <ns94:lnSpc>
                <ns94:spcPct val="108000"/>
              </ns94:lnSpc>
              <ns94:defRPr sz="1150" b="1">
                <ns94:solidFill>
                  <ns94:srgbClr val="005A9C"/>
                </ns94:solidFill>
                <ns94:latin typeface="Arial"/>
                <ns94:ea typeface="Arial"/>
                <ns94:cs typeface="Arial"/>
              </ns94:defRPr>
            </ns94:pPr>
            <ns94:r>
              <ns94:rPr sz="1150" b="1">
                <ns94:solidFill>
                  <ns94:srgbClr val="005A9C"/>
                </ns94:solidFill>
                <ns94:latin typeface="Arial"/>
                <ns94:ea typeface="Arial"/>
                <ns94:cs typeface="Arial"/>
              </ns94:rPr>
              <ns94:t>3 Test runner runs tests</ns94:t>
            </ns94:r>
          </ns94:p>
        </p:txBody>
      </p:sp>
      <p:cxnSp>
        <p:nvCxnSpPr>
          <p:cNvPr id="116" name="dev.test.role.rule"/>
          <p:cNvCxnSpPr/>
          <p:nvPr/>
        </p:nvCxnSpPr>
        <p:spPr>
          <ns95:xfrm xmlns:ns95="http://schemas.openxmlformats.org/drawingml/2006/main">
            <ns95:off x="6127200" y="2275200"/>
            <ns95:ext cx="2559600" cy="1"/>
          </ns95:xfrm>
          <ns96:prstGeom xmlns:ns96="http://schemas.openxmlformats.org/drawingml/2006/main" prst="line">
            <ns96:avLst/>
          </ns96:prstGeom>
          <ns97:ln xmlns:ns97="http://schemas.openxmlformats.org/drawingml/2006/main" w="12700">
            <ns97:solidFill>
              <ns97:srgbClr val="005A9C"/>
            </ns97:solidFill>
          </ns97:ln>
        </p:spPr>
      </p:cxnSp>
      <p:sp>
        <p:nvSpPr>
          <p:cNvPr id="117" name="!!dev.test.body"/>
          <p:cNvSpPr/>
          <p:nvPr/>
        </p:nvSpPr>
        <p:spPr>
          <ns98:xfrm xmlns:ns98="http://schemas.openxmlformats.org/drawingml/2006/main">
            <ns98:off x="6127200" y="2361600"/>
            <ns98:ext cx="2559600" cy="619200"/>
          </ns98:xfrm>
          <ns99:prstGeom xmlns:ns99="http://schemas.openxmlformats.org/drawingml/2006/main" prst="rect">
            <ns99:avLst/>
          </ns99:prstGeom>
          <ns100:noFill xmlns:ns100="http://schemas.openxmlformats.org/drawingml/2006/main"/>
          <ns101:ln xmlns:ns101="http://schemas.openxmlformats.org/drawingml/2006/main" w="0">
            <ns101:noFill/>
          </ns101:ln>
        </p:spPr>
        <p:txBody>
          <ns102:bodyPr xmlns:ns102="http://schemas.openxmlformats.org/drawingml/2006/main" wrap="square" lIns="0" rIns="0" tIns="0" bIns="0" anchor="t">
            <ns102:noAutofit/>
          </ns102:bodyPr>
          <ns103:lstStyle xmlns:ns103="http://schemas.openxmlformats.org/drawingml/2006/main"/>
          <ns104:p xmlns:ns104="http://schemas.openxmlformats.org/drawingml/2006/main">
            <ns104:pPr algn="l">
              <ns104:lnSpc>
                <ns104:spcPct val="108000"/>
              </ns104:lnSpc>
              <ns104:defRPr sz="1100" b="0">
                <ns104:solidFill>
                  <ns104:srgbClr val="20262C"/>
                </ns104:solidFill>
                <ns104:latin typeface="Arial"/>
                <ns104:ea typeface="Arial"/>
                <ns104:cs typeface="Arial"/>
              </ns104:defRPr>
            </ns104:pPr>
            <ns104:r>
              <ns104:rPr sz="1100" b="0">
                <ns104:solidFill>
                  <ns104:srgbClr val="20262C"/>
                </ns104:solidFill>
                <ns104:latin typeface="Arial"/>
                <ns104:ea typeface="Arial"/>
                <ns104:cs typeface="Arial"/>
              </ns104:rPr>
              <ns104:t>Body-text changes detected</ns104:t>
            </ns104:r>
          </ns104:p>
          <ns105:p xmlns:ns105="http://schemas.openxmlformats.org/drawingml/2006/main">
            <ns105:pPr algn="l">
              <ns105:lnSpc>
                <ns105:spcPct val="108000"/>
              </ns105:lnSpc>
              <ns105:defRPr sz="1100" b="0">
                <ns105:solidFill>
                  <ns105:srgbClr val="20262C"/>
                </ns105:solidFill>
                <ns105:latin typeface="Arial"/>
                <ns105:ea typeface="Arial"/>
                <ns105:cs typeface="Arial"/>
              </ns105:defRPr>
            </ns105:pPr>
            <ns105:r>
              <ns105:rPr sz="1100" b="0">
                <ns105:solidFill>
                  <ns105:srgbClr val="20262C"/>
                </ns105:solidFill>
                <ns105:latin typeface="Arial"/>
                <ns105:ea typeface="Arial"/>
                <ns105:cs typeface="Arial"/>
              </ns105:rPr>
              <ns105:t>Header changes incorrectly flagged</ns105:t>
            </ns105:r>
          </ns105:p>
        </p:txBody>
      </p:sp>
      <p:sp>
        <p:nvSpPr>
          <p:cNvPr id="118" name="!!dev.deliver.role"/>
          <p:cNvSpPr/>
          <p:nvPr/>
        </p:nvSpPr>
        <p:spPr>
          <ns106:xfrm xmlns:ns106="http://schemas.openxmlformats.org/drawingml/2006/main">
            <ns106:off x="457200" y="3283200"/>
            <ns106:ext cx="2559600" cy="295200"/>
          </ns106:xfrm>
          <ns107:prstGeom xmlns:ns107="http://schemas.openxmlformats.org/drawingml/2006/main" prst="rect">
            <ns107:avLst/>
          </ns107:prstGeom>
          <ns108:noFill xmlns:ns108="http://schemas.openxmlformats.org/drawingml/2006/main"/>
          <ns109:ln xmlns:ns109="http://schemas.openxmlformats.org/drawingml/2006/main" w="0">
            <ns109:noFill/>
          </ns109:ln>
        </p:spPr>
        <p:txBody>
          <ns110:bodyPr xmlns:ns110="http://schemas.openxmlformats.org/drawingml/2006/main" wrap="square" lIns="0" rIns="0" tIns="0" bIns="0" anchor="t">
            <ns110:noAutofit/>
          </ns110:bodyPr>
          <ns111:lstStyle xmlns:ns111="http://schemas.openxmlformats.org/drawingml/2006/main"/>
          <ns112:p xmlns:ns112="http://schemas.openxmlformats.org/drawingml/2006/main">
            <ns112:pPr algn="l">
              <ns112:lnSpc>
                <ns112:spcPct val="108000"/>
              </ns112:lnSpc>
              <ns112:defRPr sz="1150" b="1">
                <ns112:solidFill>
                  <ns112:srgbClr val="005A9C"/>
                </ns112:solidFill>
                <ns112:latin typeface="Arial"/>
                <ns112:ea typeface="Arial"/>
                <ns112:cs typeface="Arial"/>
              </ns112:defRPr>
            </ns112:pPr>
            <ns112:r>
              <ns112:rPr sz="1150" b="1">
                <ns112:solidFill>
                  <ns112:srgbClr val="005A9C"/>
                </ns112:solidFill>
                <ns112:latin typeface="Arial"/>
                <ns112:ea typeface="Arial"/>
                <ns112:cs typeface="Arial"/>
              </ns112:rPr>
              <ns112:t>6 Developer retests</ns112:t>
            </ns112:r>
          </ns112:p>
        </p:txBody>
      </p:sp>
      <p:cxnSp>
        <p:nvCxnSpPr>
          <p:cNvPr id="119" name="dev.deliver.role.rule"/>
          <p:cNvCxnSpPr/>
          <p:nvPr/>
        </p:nvCxnSpPr>
        <p:spPr>
          <ns113:xfrm xmlns:ns113="http://schemas.openxmlformats.org/drawingml/2006/main">
            <ns113:off x="457200" y="3614400"/>
            <ns113:ext cx="2559600" cy="1"/>
          </ns113:xfrm>
          <ns114:prstGeom xmlns:ns114="http://schemas.openxmlformats.org/drawingml/2006/main" prst="line">
            <ns114:avLst/>
          </ns114:prstGeom>
          <ns115:ln xmlns:ns115="http://schemas.openxmlformats.org/drawingml/2006/main" w="12700">
            <ns115:solidFill>
              <ns115:srgbClr val="005A9C"/>
            </ns115:solidFill>
          </ns115:ln>
        </p:spPr>
      </p:cxnSp>
      <p:sp>
        <p:nvSpPr>
          <p:cNvPr id="120" name="!!dev.deliver.body"/>
          <p:cNvSpPr/>
          <p:nvPr/>
        </p:nvSpPr>
        <p:spPr>
          <ns116:xfrm xmlns:ns116="http://schemas.openxmlformats.org/drawingml/2006/main">
            <ns116:off x="457200" y="3700800"/>
            <ns116:ext cx="2559600" cy="6192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100" b="0">
                <ns122:solidFill>
                  <ns122:srgbClr val="20262C"/>
                </ns122:solidFill>
                <ns122:latin typeface="Arial"/>
                <ns122:ea typeface="Arial"/>
                <ns122:cs typeface="Arial"/>
              </ns122:defRPr>
            </ns122:pPr>
            <ns122:r>
              <ns122:rPr sz="1100" b="0">
                <ns122:solidFill>
                  <ns122:srgbClr val="20262C"/>
                </ns122:solidFill>
                <ns122:latin typeface="Arial"/>
                <ns122:ea typeface="Arial"/>
                <ns122:cs typeface="Arial"/>
              </ns122:rPr>
              <ns122:t>Review code and rerun tests</ns122:t>
            </ns122:r>
          </ns122:p>
          <ns123:p xmlns:ns123="http://schemas.openxmlformats.org/drawingml/2006/main">
            <ns123:pPr algn="l">
              <ns123:lnSpc>
                <ns123:spcPct val="108000"/>
              </ns123:lnSpc>
              <ns123:defRPr sz="1100" b="0">
                <ns123:solidFill>
                  <ns123:srgbClr val="20262C"/>
                </ns123:solidFill>
                <ns123:latin typeface="Arial"/>
                <ns123:ea typeface="Arial"/>
                <ns123:cs typeface="Arial"/>
              </ns123:defRPr>
            </ns123:pPr>
            <ns123:r>
              <ns123:rPr sz="1100" b="0">
                <ns123:solidFill>
                  <ns123:srgbClr val="20262C"/>
                </ns123:solidFill>
                <ns123:latin typeface="Arial"/>
                <ns123:ea typeface="Arial"/>
                <ns123:cs typeface="Arial"/>
              </ns123:rPr>
              <ns123:t>Deliver the tool and user guide</ns123:t>
            </ns123:r>
          </ns123:p>
        </p:txBody>
      </p:sp>
      <p:sp>
        <p:nvSpPr>
          <p:cNvPr id="121" name="!!dev.revise.role"/>
          <p:cNvSpPr/>
          <p:nvPr/>
        </p:nvSpPr>
        <p:spPr>
          <ns124:xfrm xmlns:ns124="http://schemas.openxmlformats.org/drawingml/2006/main">
            <ns124:off x="3294000" y="3283200"/>
            <ns124:ext cx="2556000" cy="2952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150" b="1">
                <ns130:solidFill>
                  <ns130:srgbClr val="005A9C"/>
                </ns130:solidFill>
                <ns130:latin typeface="Arial"/>
                <ns130:ea typeface="Arial"/>
                <ns130:cs typeface="Arial"/>
              </ns130:defRPr>
            </ns130:pPr>
            <ns130:r>
              <ns130:rPr sz="1150" b="1">
                <ns130:solidFill>
                  <ns130:srgbClr val="005A9C"/>
                </ns130:solidFill>
                <ns130:latin typeface="Arial"/>
                <ns130:ea typeface="Arial"/>
                <ns130:cs typeface="Arial"/>
              </ns130:rPr>
              <ns130:t>5 LLM revises code</ns130:t>
            </ns130:r>
          </ns130:p>
        </p:txBody>
      </p:sp>
      <p:cxnSp>
        <p:nvCxnSpPr>
          <p:cNvPr id="122" name="dev.revise.role.rule"/>
          <p:cNvCxnSpPr/>
          <p:nvPr/>
        </p:nvCxnSpPr>
        <p:spPr>
          <ns131:xfrm xmlns:ns131="http://schemas.openxmlformats.org/drawingml/2006/main">
            <ns131:off x="3294000" y="3614400"/>
            <ns131:ext cx="2556000" cy="1"/>
          </ns131:xfrm>
          <ns132:prstGeom xmlns:ns132="http://schemas.openxmlformats.org/drawingml/2006/main" prst="line">
            <ns132:avLst/>
          </ns132:prstGeom>
          <ns133:ln xmlns:ns133="http://schemas.openxmlformats.org/drawingml/2006/main" w="12700">
            <ns133:solidFill>
              <ns133:srgbClr val="005A9C"/>
            </ns133:solidFill>
          </ns133:ln>
        </p:spPr>
      </p:cxnSp>
      <p:sp>
        <p:nvSpPr>
          <p:cNvPr id="123" name="!!dev.revise.body"/>
          <p:cNvSpPr/>
          <p:nvPr/>
        </p:nvSpPr>
        <p:spPr>
          <ns134:xfrm xmlns:ns134="http://schemas.openxmlformats.org/drawingml/2006/main">
            <ns134:off x="3294000" y="3700800"/>
            <ns134:ext cx="2556000" cy="6192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8000"/>
              </ns140:lnSpc>
              <ns140:defRPr sz="1100" b="0">
                <ns140:solidFill>
                  <ns140:srgbClr val="20262C"/>
                </ns140:solidFill>
                <ns140:latin typeface="Arial"/>
                <ns140:ea typeface="Arial"/>
                <ns140:cs typeface="Arial"/>
              </ns140:defRPr>
            </ns140:pPr>
            <ns140:r>
              <ns140:rPr sz="1100" b="0">
                <ns140:solidFill>
                  <ns140:srgbClr val="20262C"/>
                </ns140:solidFill>
                <ns140:latin typeface="Arial"/>
                <ns140:ea typeface="Arial"/>
                <ns140:cs typeface="Arial"/>
              </ns140:rPr>
              <ns140:t>Fix the repeated-header filter</ns140:t>
            </ns140:r>
          </ns140:p>
          <ns141:p xmlns:ns141="http://schemas.openxmlformats.org/drawingml/2006/main">
            <ns141:pPr algn="l">
              <ns141:lnSpc>
                <ns141:spcPct val="108000"/>
              </ns141:lnSpc>
              <ns141:defRPr sz="1100" b="0">
                <ns141:solidFill>
                  <ns141:srgbClr val="20262C"/>
                </ns141:solidFill>
                <ns141:latin typeface="Arial"/>
                <ns141:ea typeface="Arial"/>
                <ns141:cs typeface="Arial"/>
              </ns141:defRPr>
            </ns141:pPr>
            <ns141:r>
              <ns141:rPr sz="1100" b="0">
                <ns141:solidFill>
                  <ns141:srgbClr val="20262C"/>
                </ns141:solidFill>
                <ns141:latin typeface="Arial"/>
                <ns141:ea typeface="Arial"/>
                <ns141:cs typeface="Arial"/>
              </ns141:rPr>
              <ns141:t>Add a regression test for header changes</ns141:t>
            </ns141:r>
          </ns141:p>
        </p:txBody>
      </p:sp>
      <p:sp>
        <p:nvSpPr>
          <p:cNvPr id="124" name="!!dev.feedback.role"/>
          <p:cNvSpPr/>
          <p:nvPr/>
        </p:nvSpPr>
        <p:spPr>
          <ns142:xfrm xmlns:ns142="http://schemas.openxmlformats.org/drawingml/2006/main">
            <ns142:off x="6127200" y="3283200"/>
            <ns142:ext cx="2559600" cy="295200"/>
          </ns142:xfrm>
          <ns143:prstGeom xmlns:ns143="http://schemas.openxmlformats.org/drawingml/2006/main" prst="rect">
            <ns143:avLst/>
          </ns143:prstGeom>
          <ns144:noFill xmlns:ns144="http://schemas.openxmlformats.org/drawingml/2006/main"/>
          <ns145:ln xmlns:ns145="http://schemas.openxmlformats.org/drawingml/2006/main" w="0">
            <ns145:noFill/>
          </ns145:ln>
        </p:spPr>
        <p:txBody>
          <ns146:bodyPr xmlns:ns146="http://schemas.openxmlformats.org/drawingml/2006/main" wrap="square" lIns="0" rIns="0" tIns="0" bIns="0" anchor="t">
            <ns146:noAutofit/>
          </ns146:bodyPr>
          <ns147:lstStyle xmlns:ns147="http://schemas.openxmlformats.org/drawingml/2006/main"/>
          <ns148:p xmlns:ns148="http://schemas.openxmlformats.org/drawingml/2006/main">
            <ns148:pPr algn="l">
              <ns148:lnSpc>
                <ns148:spcPct val="108000"/>
              </ns148:lnSpc>
              <ns148:defRPr sz="1150" b="1">
                <ns148:solidFill>
                  <ns148:srgbClr val="005A9C"/>
                </ns148:solidFill>
                <ns148:latin typeface="Arial"/>
                <ns148:ea typeface="Arial"/>
                <ns148:cs typeface="Arial"/>
              </ns148:defRPr>
            </ns148:pPr>
            <ns148:r>
              <ns148:rPr sz="1150" b="1">
                <ns148:solidFill>
                  <ns148:srgbClr val="005A9C"/>
                </ns148:solidFill>
                <ns148:latin typeface="Arial"/>
                <ns148:ea typeface="Arial"/>
                <ns148:cs typeface="Arial"/>
              </ns148:rPr>
              <ns148:t>4 Developer explains failures</ns148:t>
            </ns148:r>
          </ns148:p>
        </p:txBody>
      </p:sp>
      <p:cxnSp>
        <p:nvCxnSpPr>
          <p:cNvPr id="125" name="dev.feedback.role.rule"/>
          <p:cNvCxnSpPr/>
          <p:nvPr/>
        </p:nvCxnSpPr>
        <p:spPr>
          <ns149:xfrm xmlns:ns149="http://schemas.openxmlformats.org/drawingml/2006/main">
            <ns149:off x="6127200" y="3614400"/>
            <ns149:ext cx="2559600" cy="1"/>
          </ns149:xfrm>
          <ns150:prstGeom xmlns:ns150="http://schemas.openxmlformats.org/drawingml/2006/main" prst="line">
            <ns150:avLst/>
          </ns150:prstGeom>
          <ns151:ln xmlns:ns151="http://schemas.openxmlformats.org/drawingml/2006/main" w="12700">
            <ns151:solidFill>
              <ns151:srgbClr val="005A9C"/>
            </ns151:solidFill>
          </ns151:ln>
        </p:spPr>
      </p:cxnSp>
      <p:sp>
        <p:nvSpPr>
          <p:cNvPr id="126" name="!!dev.feedback.body"/>
          <p:cNvSpPr/>
          <p:nvPr/>
        </p:nvSpPr>
        <p:spPr>
          <ns152:xfrm xmlns:ns152="http://schemas.openxmlformats.org/drawingml/2006/main">
            <ns152:off x="6127200" y="3700800"/>
            <ns152:ext cx="2559600" cy="619200"/>
          </ns152:xfrm>
          <ns153:prstGeom xmlns:ns153="http://schemas.openxmlformats.org/drawingml/2006/main" prst="rect">
            <ns153:avLst/>
          </ns153:prstGeom>
          <ns154:noFill xmlns:ns154="http://schemas.openxmlformats.org/drawingml/2006/main"/>
          <ns155:ln xmlns:ns155="http://schemas.openxmlformats.org/drawingml/2006/main" w="0">
            <ns155:noFill/>
          </ns155:ln>
        </p:spPr>
        <p:txBody>
          <ns156:bodyPr xmlns:ns156="http://schemas.openxmlformats.org/drawingml/2006/main" wrap="square" lIns="0" rIns="0" tIns="0" bIns="0" anchor="t">
            <ns156:noAutofit/>
          </ns156:bodyPr>
          <ns157:lstStyle xmlns:ns157="http://schemas.openxmlformats.org/drawingml/2006/main"/>
          <ns158:p xmlns:ns158="http://schemas.openxmlformats.org/drawingml/2006/main">
            <ns158:pPr algn="l">
              <ns158:lnSpc>
                <ns158:spcPct val="108000"/>
              </ns158:lnSpc>
              <ns158:defRPr sz="1100" b="0">
                <ns158:solidFill>
                  <ns158:srgbClr val="20262C"/>
                </ns158:solidFill>
                <ns158:latin typeface="Arial"/>
                <ns158:ea typeface="Arial"/>
                <ns158:cs typeface="Arial"/>
              </ns158:defRPr>
            </ns158:pPr>
            <ns158:r>
              <ns158:rPr sz="1100" b="0">
                <ns158:solidFill>
                  <ns158:srgbClr val="20262C"/>
                </ns158:solidFill>
                <ns158:latin typeface="Arial"/>
                <ns158:ea typeface="Arial"/>
                <ns158:cs typeface="Arial"/>
              </ns158:rPr>
              <ns158:t>Exclude repeated page headers</ns158:t>
            </ns158:r>
          </ns158:p>
          <ns159:p xmlns:ns159="http://schemas.openxmlformats.org/drawingml/2006/main">
            <ns159:pPr algn="l">
              <ns159:lnSpc>
                <ns159:spcPct val="108000"/>
              </ns159:lnSpc>
              <ns159:defRPr sz="1100" b="0">
                <ns159:solidFill>
                  <ns159:srgbClr val="20262C"/>
                </ns159:solidFill>
                <ns159:latin typeface="Arial"/>
                <ns159:ea typeface="Arial"/>
                <ns159:cs typeface="Arial"/>
              </ns159:defRPr>
            </ns159:pPr>
            <ns159:r>
              <ns159:rPr sz="1100" b="0">
                <ns159:solidFill>
                  <ns159:srgbClr val="20262C"/>
                </ns159:solidFill>
                <ns159:latin typeface="Arial"/>
                <ns159:ea typeface="Arial"/>
                <ns159:cs typeface="Arial"/>
              </ns159:rPr>
              <ns159:t>Retain genuine body-text changes</ns159:t>
            </ns159:r>
          </ns159:p>
        </p:txBody>
      </p:sp>
      <p:cxnSp>
        <p:nvCxnSpPr>
          <p:cNvPr id="127" name="development.loop.7.35.8.5"/>
          <p:cNvCxnSpPr/>
          <p:nvPr/>
        </p:nvCxnSpPr>
        <p:spPr>
          <ns160:xfrm xmlns:ns160="http://schemas.openxmlformats.org/drawingml/2006/main">
            <ns160:off x="3060000" y="2646000"/>
            <ns160:ext cx="190800" cy="1"/>
          </ns160:xfrm>
          <ns161:prstGeom xmlns:ns161="http://schemas.openxmlformats.org/drawingml/2006/main" prst="line">
            <ns161:avLst/>
          </ns161:prstGeom>
          <ns162:ln xmlns:ns162="http://schemas.openxmlformats.org/drawingml/2006/main" w="12700">
            <ns162:solidFill>
              <ns162:srgbClr val="005A9C"/>
            </ns162:solidFill>
            <ns162:tailEnd type="triangle" w="sm" len="sm"/>
          </ns162:ln>
        </p:spPr>
      </p:cxnSp>
      <p:cxnSp>
        <p:nvCxnSpPr>
          <p:cNvPr id="128" name="development.loop.7.35.16.4"/>
          <p:cNvCxnSpPr/>
          <p:nvPr/>
        </p:nvCxnSpPr>
        <p:spPr>
          <ns163:xfrm xmlns:ns163="http://schemas.openxmlformats.org/drawingml/2006/main">
            <ns163:off x="5904000" y="2646000"/>
            <ns163:ext cx="180000" cy="1"/>
          </ns163:xfrm>
          <ns164:prstGeom xmlns:ns164="http://schemas.openxmlformats.org/drawingml/2006/main" prst="line">
            <ns164:avLst/>
          </ns164:prstGeom>
          <ns165:ln xmlns:ns165="http://schemas.openxmlformats.org/drawingml/2006/main" w="12700">
            <ns165:solidFill>
              <ns165:srgbClr val="005A9C"/>
            </ns165:solidFill>
            <ns165:tailEnd type="triangle" w="sm" len="sm"/>
          </ns165:ln>
        </p:spPr>
      </p:cxnSp>
      <p:cxnSp>
        <p:nvCxnSpPr>
          <p:cNvPr id="129" name="development.loop.11.08.8.5"/>
          <p:cNvCxnSpPr/>
          <p:nvPr/>
        </p:nvCxnSpPr>
        <p:spPr>
          <ns166:xfrm xmlns:ns166="http://schemas.openxmlformats.org/drawingml/2006/main" flipH="1">
            <ns166:off x="3060000" y="3988800"/>
            <ns166:ext cx="190800" cy="1"/>
          </ns166:xfrm>
          <ns167:prstGeom xmlns:ns167="http://schemas.openxmlformats.org/drawingml/2006/main" prst="line">
            <ns167:avLst/>
          </ns167:prstGeom>
          <ns168:ln xmlns:ns168="http://schemas.openxmlformats.org/drawingml/2006/main" w="12700">
            <ns168:solidFill>
              <ns168:srgbClr val="005A9C"/>
            </ns168:solidFill>
            <ns168:tailEnd type="triangle" w="sm" len="sm"/>
          </ns168:ln>
        </p:spPr>
      </p:cxnSp>
      <p:cxnSp>
        <p:nvCxnSpPr>
          <p:cNvPr id="130" name="development.loop.11.08.16.4"/>
          <p:cNvCxnSpPr/>
          <p:nvPr/>
        </p:nvCxnSpPr>
        <p:spPr>
          <ns169:xfrm xmlns:ns169="http://schemas.openxmlformats.org/drawingml/2006/main" flipH="1">
            <ns169:off x="5904000" y="3988800"/>
            <ns169:ext cx="180000" cy="1"/>
          </ns169:xfrm>
          <ns170:prstGeom xmlns:ns170="http://schemas.openxmlformats.org/drawingml/2006/main" prst="line">
            <ns170:avLst/>
          </ns170:prstGeom>
          <ns171:ln xmlns:ns171="http://schemas.openxmlformats.org/drawingml/2006/main" w="12700">
            <ns171:solidFill>
              <ns171:srgbClr val="005A9C"/>
            </ns171:solidFill>
            <ns171:tailEnd type="triangle" w="sm" len="sm"/>
          </ns171:ln>
        </p:spPr>
      </p:cxnSp>
      <p:cxnSp>
        <p:nvCxnSpPr>
          <p:cNvPr id="131" name="development.test.feedback"/>
          <p:cNvCxnSpPr/>
          <p:nvPr/>
        </p:nvCxnSpPr>
        <p:spPr>
          <ns172:xfrm xmlns:ns172="http://schemas.openxmlformats.org/drawingml/2006/main">
            <ns172:off x="7405200" y="3006000"/>
            <ns172:ext cx="1" cy="198000"/>
          </ns172:xfrm>
          <ns173:prstGeom xmlns:ns173="http://schemas.openxmlformats.org/drawingml/2006/main" prst="line">
            <ns173:avLst/>
          </ns173:prstGeom>
          <ns174:ln xmlns:ns174="http://schemas.openxmlformats.org/drawingml/2006/main" w="12700">
            <ns174:solidFill>
              <ns174:srgbClr val="005A9C"/>
            </ns174:solidFill>
            <ns174:tailEnd type="triangle" w="sm" len="sm"/>
          </ns174:ln>
        </p:spPr>
      </p:cxnSp>
      <p:sp>
        <p:nvSpPr>
          <p:cNvPr id="132" name="!!dev.testFeedback.label"/>
          <p:cNvSpPr/>
          <p:nvPr/>
        </p:nvSpPr>
        <p:spPr>
          <ns175:xfrm xmlns:ns175="http://schemas.openxmlformats.org/drawingml/2006/main">
            <ns175:off x="7560000" y="3031200"/>
            <ns175:ext cx="1126800" cy="144000"/>
          </ns175:xfrm>
          <ns176:prstGeom xmlns:ns176="http://schemas.openxmlformats.org/drawingml/2006/main" prst="rect">
            <ns176:avLst/>
          </ns176:prstGeom>
          <ns177:noFill xmlns:ns177="http://schemas.openxmlformats.org/drawingml/2006/main"/>
          <ns178:ln xmlns:ns178="http://schemas.openxmlformats.org/drawingml/2006/main" w="0">
            <ns178:noFill/>
          </ns178:ln>
        </p:spPr>
        <p:txBody>
          <ns179:bodyPr xmlns:ns179="http://schemas.openxmlformats.org/drawingml/2006/main" wrap="square" lIns="0" rIns="0" tIns="0" bIns="0" anchor="t">
            <ns179:noAutofit/>
          </ns179:bodyPr>
          <ns180:lstStyle xmlns:ns180="http://schemas.openxmlformats.org/drawingml/2006/main"/>
          <ns181:p xmlns:ns181="http://schemas.openxmlformats.org/drawingml/2006/main">
            <ns181:pPr algn="l">
              <ns181:lnSpc>
                <ns181:spcPct val="108000"/>
              </ns181:lnSpc>
              <ns181:defRPr sz="850" b="0">
                <ns181:solidFill>
                  <ns181:srgbClr val="687782"/>
                </ns181:solidFill>
                <ns181:latin typeface="Arial"/>
                <ns181:ea typeface="Arial"/>
                <ns181:cs typeface="Arial"/>
              </ns181:defRPr>
            </ns181:pPr>
            <ns181:r>
              <ns181:rPr sz="850" b="0">
                <ns181:solidFill>
                  <ns181:srgbClr val="687782"/>
                </ns181:solidFill>
                <ns181:latin typeface="Arial"/>
                <ns181:ea typeface="Arial"/>
                <ns181:cs typeface="Arial"/>
              </ns181:rPr>
              <ns181:t>Test results</ns181:t>
            </ns181:r>
          </ns181:p>
        </p:txBody>
      </p:sp>
    </p:spTree>
    <p:extLst>
      <p:ext uri="{BB962C8B-B14F-4D97-AF65-F5344CB8AC3E}">
        <p14:creationId xmlns:p14="http://schemas.microsoft.com/office/powerpoint/2010/main" val="5656359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Other back-office applications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Back office / Other applications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China Merchants Fund; Ping An Fund; Maxwealth Fund; China Universal patent CN121958380A</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1">
                <ns44:solidFill>
                  <ns44:srgbClr val="005A9C"/>
                </ns44:solidFill>
                <ns44:latin typeface="Arial"/>
                <ns44:ea typeface="Arial"/>
                <ns44:cs typeface="Arial"/>
              </ns44:defRPr>
            </ns44:pPr>
            <ns44:r>
              <ns44:rPr sz="800" b="1">
                <ns44:solidFill>
                  <ns44:srgbClr val="005A9C"/>
                </ns44:solidFill>
                <ns44:latin typeface="Arial"/>
                <ns44:ea typeface="Arial"/>
                <ns44:cs typeface="Arial"/>
              </ns44:rPr>
              <ns44:t>Back office</ns44:t>
            </ns44:r>
          </ns44:p>
        </p:txBody>
      </p:sp>
      <p:sp>
        <p:nvSpPr>
          <p:cNvPr id="108" name="!!other.0.title"/>
          <p:cNvSpPr/>
          <p:nvPr/>
        </p:nvSpPr>
        <p:spPr>
          <ns45:xfrm xmlns:ns45="http://schemas.openxmlformats.org/drawingml/2006/main">
            <ns45:off x="457200" y="1476000"/>
            <ns45:ext cx="3934800" cy="2304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250" b="1">
                <ns51:solidFill>
                  <ns51:srgbClr val="005A9C"/>
                </ns51:solidFill>
                <ns51:latin typeface="Arial"/>
                <ns51:ea typeface="Arial"/>
                <ns51:cs typeface="Arial"/>
              </ns51:defRPr>
            </ns51:pPr>
            <ns51:r>
              <ns51:rPr sz="1250" b="1">
                <ns51:solidFill>
                  <ns51:srgbClr val="005A9C"/>
                </ns51:solidFill>
                <ns51:latin typeface="Arial"/>
                <ns51:ea typeface="Arial"/>
                <ns51:cs typeface="Arial"/>
              </ns51:rPr>
              <ns51:t>Employee information support</ns51:t>
            </ns51:r>
          </ns51:p>
        </p:txBody>
      </p:sp>
      <p:sp>
        <p:nvSpPr>
          <p:cNvPr id="109" name="!!other.0.company"/>
          <p:cNvSpPr/>
          <p:nvPr/>
        </p:nvSpPr>
        <p:spPr>
          <ns52:xfrm xmlns:ns52="http://schemas.openxmlformats.org/drawingml/2006/main">
            <ns52:off x="4752000" y="1501200"/>
            <ns52:ext cx="39348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8000"/>
              </ns58:lnSpc>
              <ns58:defRPr sz="950" b="0">
                <ns58:solidFill>
                  <ns58:srgbClr val="687782"/>
                </ns58:solidFill>
                <ns58:latin typeface="Arial"/>
                <ns58:ea typeface="Arial"/>
                <ns58:cs typeface="Arial"/>
              </ns58:defRPr>
            </ns58:pPr>
            <ns58:r>
              <ns58:rPr sz="950" b="0">
                <ns58:solidFill>
                  <ns58:srgbClr val="687782"/>
                </ns58:solidFill>
                <ns58:latin typeface="Arial"/>
                <ns58:ea typeface="Arial"/>
                <ns58:cs typeface="Arial"/>
              </ns58:rPr>
              <ns58:t>China Merchants Fund, Ping An Fund</ns58:t>
            </ns58:r>
          </ns58:p>
        </p:txBody>
      </p:sp>
      <p:sp>
        <p:nvSpPr>
          <p:cNvPr id="110" name="!!other.0.flow.0"/>
          <p:cNvSpPr/>
          <p:nvPr/>
        </p:nvSpPr>
        <p:spPr>
          <ns59:xfrm xmlns:ns59="http://schemas.openxmlformats.org/drawingml/2006/main">
            <ns59:off x="457200" y="1800000"/>
            <ns59:ext cx="2559600" cy="597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8000"/>
              </ns65:lnSpc>
              <ns65:defRPr sz="1150" b="0">
                <ns65:solidFill>
                  <ns65:srgbClr val="20262C"/>
                </ns65:solidFill>
                <ns65:latin typeface="Arial"/>
                <ns65:ea typeface="Arial"/>
                <ns65:cs typeface="Arial"/>
              </ns65:defRPr>
            </ns65:pPr>
            <ns65:r>
              <ns65:rPr sz="1150" b="0">
                <ns65:solidFill>
                  <ns65:srgbClr val="20262C"/>
                </ns65:solidFill>
                <ns65:latin typeface="Arial"/>
                <ns65:ea typeface="Arial"/>
                <ns65:cs typeface="Arial"/>
              </ns65:rPr>
              <ns65:t>Policy and process questions</ns65:t>
            </ns65:r>
          </ns65:p>
        </p:txBody>
      </p:sp>
      <p:cxnSp>
        <p:nvCxnSpPr>
          <p:cNvPr id="111" name="application.flow.0.0"/>
          <p:cNvCxnSpPr/>
          <p:nvPr/>
        </p:nvCxnSpPr>
        <p:spPr>
          <ns66:xfrm xmlns:ns66="http://schemas.openxmlformats.org/drawingml/2006/main">
            <ns66:off x="3052800" y="2088000"/>
            <ns66:ext cx="198000" cy="1"/>
          </ns66:xfrm>
          <ns67:prstGeom xmlns:ns67="http://schemas.openxmlformats.org/drawingml/2006/main" prst="line">
            <ns67:avLst/>
          </ns67:prstGeom>
          <ns68:ln xmlns:ns68="http://schemas.openxmlformats.org/drawingml/2006/main" w="9525">
            <ns68:solidFill>
              <ns68:srgbClr val="005A9C"/>
            </ns68:solidFill>
            <ns68:tailEnd type="triangle" w="sm" len="sm"/>
          </ns68:ln>
        </p:spPr>
      </p:cxnSp>
      <p:sp>
        <p:nvSpPr>
          <p:cNvPr id="112" name="!!other.0.flow.1"/>
          <p:cNvSpPr/>
          <p:nvPr/>
        </p:nvSpPr>
        <p:spPr>
          <ns69:xfrm xmlns:ns69="http://schemas.openxmlformats.org/drawingml/2006/main">
            <ns69:off x="3294000" y="1800000"/>
            <ns69:ext cx="2556000" cy="597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100" b="0">
                <ns75:solidFill>
                  <ns75:srgbClr val="005A9C"/>
                </ns75:solidFill>
                <ns75:latin typeface="Arial"/>
                <ns75:ea typeface="Arial"/>
                <ns75:cs typeface="Arial"/>
              </ns75:defRPr>
            </ns75:pPr>
            <ns75:r>
              <ns75:rPr sz="1100" b="0">
                <ns75:solidFill>
                  <ns75:srgbClr val="005A9C"/>
                </ns75:solidFill>
                <ns75:latin typeface="Arial"/>
                <ns75:ea typeface="Arial"/>
                <ns75:cs typeface="Arial"/>
              </ns75:rPr>
              <ns75:t>LLM retrieves and explains relevant guidance</ns75:t>
            </ns75:r>
          </ns75:p>
        </p:txBody>
      </p:sp>
      <p:cxnSp>
        <p:nvCxnSpPr>
          <p:cNvPr id="113" name="application.flow.0.1"/>
          <p:cNvCxnSpPr/>
          <p:nvPr/>
        </p:nvCxnSpPr>
        <p:spPr>
          <ns76:xfrm xmlns:ns76="http://schemas.openxmlformats.org/drawingml/2006/main">
            <ns76:off x="5886000" y="2088000"/>
            <ns76:ext cx="198000" cy="1"/>
          </ns76:xfrm>
          <ns77:prstGeom xmlns:ns77="http://schemas.openxmlformats.org/drawingml/2006/main" prst="line">
            <ns77:avLst/>
          </ns77:prstGeom>
          <ns78:ln xmlns:ns78="http://schemas.openxmlformats.org/drawingml/2006/main" w="9525">
            <ns78:solidFill>
              <ns78:srgbClr val="005A9C"/>
            </ns78:solidFill>
            <ns78:tailEnd type="triangle" w="sm" len="sm"/>
          </ns78:ln>
        </p:spPr>
      </p:cxnSp>
      <p:sp>
        <p:nvSpPr>
          <p:cNvPr id="114" name="!!other.0.flow.2"/>
          <p:cNvSpPr/>
          <p:nvPr/>
        </p:nvSpPr>
        <p:spPr>
          <ns79:xfrm xmlns:ns79="http://schemas.openxmlformats.org/drawingml/2006/main">
            <ns79:off x="6127200" y="1800000"/>
            <ns79:ext cx="2559600" cy="5976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8000"/>
              </ns85:lnSpc>
              <ns85:defRPr sz="1150" b="1">
                <ns85:solidFill>
                  <ns85:srgbClr val="20262C"/>
                </ns85:solidFill>
                <ns85:latin typeface="Arial"/>
                <ns85:ea typeface="Arial"/>
                <ns85:cs typeface="Arial"/>
              </ns85:defRPr>
            </ns85:pPr>
            <ns85:r>
              <ns85:rPr sz="1150" b="1">
                <ns85:solidFill>
                  <ns85:srgbClr val="20262C"/>
                </ns85:solidFill>
                <ns85:latin typeface="Arial"/>
                <ns85:ea typeface="Arial"/>
                <ns85:cs typeface="Arial"/>
              </ns85:rPr>
              <ns85:t>Guidance for employees</ns85:t>
            </ns85:r>
          </ns85:p>
        </p:txBody>
      </p:sp>
      <p:sp>
        <p:nvSpPr>
          <p:cNvPr id="115" name="!!other.1.title"/>
          <p:cNvSpPr/>
          <p:nvPr/>
        </p:nvSpPr>
        <p:spPr>
          <ns86:xfrm xmlns:ns86="http://schemas.openxmlformats.org/drawingml/2006/main">
            <ns86:off x="457200" y="2419200"/>
            <ns86:ext cx="3934800" cy="2304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8000"/>
              </ns92:lnSpc>
              <ns92:defRPr sz="1250" b="1">
                <ns92:solidFill>
                  <ns92:srgbClr val="005A9C"/>
                </ns92:solidFill>
                <ns92:latin typeface="Arial"/>
                <ns92:ea typeface="Arial"/>
                <ns92:cs typeface="Arial"/>
              </ns92:defRPr>
            </ns92:pPr>
            <ns92:r>
              <ns92:rPr sz="1250" b="1">
                <ns92:solidFill>
                  <ns92:srgbClr val="005A9C"/>
                </ns92:solidFill>
                <ns92:latin typeface="Arial"/>
                <ns92:ea typeface="Arial"/>
                <ns92:cs typeface="Arial"/>
              </ns92:rPr>
              <ns92:t>Email security</ns92:t>
            </ns92:r>
          </ns92:p>
        </p:txBody>
      </p:sp>
      <p:sp>
        <p:nvSpPr>
          <p:cNvPr id="116" name="!!other.1.company"/>
          <p:cNvSpPr/>
          <p:nvPr/>
        </p:nvSpPr>
        <p:spPr>
          <ns93:xfrm xmlns:ns93="http://schemas.openxmlformats.org/drawingml/2006/main">
            <ns93:off x="4752000" y="2444400"/>
            <ns93:ext cx="3934800" cy="180000"/>
          </ns93:xfrm>
          <ns94:prstGeom xmlns:ns94="http://schemas.openxmlformats.org/drawingml/2006/main" prst="rect">
            <ns94:avLst/>
          </ns94:prstGeom>
          <ns95:noFill xmlns:ns95="http://schemas.openxmlformats.org/drawingml/2006/main"/>
          <ns96:ln xmlns:ns96="http://schemas.openxmlformats.org/drawingml/2006/main" w="0">
            <ns96:noFill/>
          </ns96:ln>
        </p:spPr>
        <p:txBody>
          <ns97:bodyPr xmlns:ns97="http://schemas.openxmlformats.org/drawingml/2006/main" wrap="square" lIns="0" rIns="0" tIns="0" bIns="0" anchor="t">
            <ns97:noAutofit/>
          </ns97:bodyPr>
          <ns98:lstStyle xmlns:ns98="http://schemas.openxmlformats.org/drawingml/2006/main"/>
          <ns99:p xmlns:ns99="http://schemas.openxmlformats.org/drawingml/2006/main">
            <ns99:pPr algn="l">
              <ns99:lnSpc>
                <ns99:spcPct val="108000"/>
              </ns99:lnSpc>
              <ns99:defRPr sz="950" b="0">
                <ns99:solidFill>
                  <ns99:srgbClr val="687782"/>
                </ns99:solidFill>
                <ns99:latin typeface="Arial"/>
                <ns99:ea typeface="Arial"/>
                <ns99:cs typeface="Arial"/>
              </ns99:defRPr>
            </ns99:pPr>
            <ns99:r>
              <ns99:rPr sz="950" b="0">
                <ns99:solidFill>
                  <ns99:srgbClr val="687782"/>
                </ns99:solidFill>
                <ns99:latin typeface="Arial"/>
                <ns99:ea typeface="Arial"/>
                <ns99:cs typeface="Arial"/>
              </ns99:rPr>
              <ns99:t>Maxwealth Fund</ns99:t>
            </ns99:r>
          </ns99:p>
        </p:txBody>
      </p:sp>
      <p:sp>
        <p:nvSpPr>
          <p:cNvPr id="117" name="!!other.1.flow.0"/>
          <p:cNvSpPr/>
          <p:nvPr/>
        </p:nvSpPr>
        <p:spPr>
          <ns100:xfrm xmlns:ns100="http://schemas.openxmlformats.org/drawingml/2006/main">
            <ns100:off x="457200" y="2743200"/>
            <ns100:ext cx="2559600" cy="5976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150" b="0">
                <ns106:solidFill>
                  <ns106:srgbClr val="20262C"/>
                </ns106:solidFill>
                <ns106:latin typeface="Arial"/>
                <ns106:ea typeface="Arial"/>
                <ns106:cs typeface="Arial"/>
              </ns106:defRPr>
            </ns106:pPr>
            <ns106:r>
              <ns106:rPr sz="1150" b="0">
                <ns106:solidFill>
                  <ns106:srgbClr val="20262C"/>
                </ns106:solidFill>
                <ns106:latin typeface="Arial"/>
                <ns106:ea typeface="Arial"/>
                <ns106:cs typeface="Arial"/>
              </ns106:rPr>
              <ns106:t>Email, attachments and links</ns106:t>
            </ns106:r>
          </ns106:p>
        </p:txBody>
      </p:sp>
      <p:cxnSp>
        <p:nvCxnSpPr>
          <p:cNvPr id="118" name="application.flow.1.0"/>
          <p:cNvCxnSpPr/>
          <p:nvPr/>
        </p:nvCxnSpPr>
        <p:spPr>
          <ns107:xfrm xmlns:ns107="http://schemas.openxmlformats.org/drawingml/2006/main">
            <ns107:off x="3052800" y="3031200"/>
            <ns107:ext cx="198000" cy="1"/>
          </ns107:xfrm>
          <ns108:prstGeom xmlns:ns108="http://schemas.openxmlformats.org/drawingml/2006/main" prst="line">
            <ns108:avLst/>
          </ns108:prstGeom>
          <ns109:ln xmlns:ns109="http://schemas.openxmlformats.org/drawingml/2006/main" w="9525">
            <ns109:solidFill>
              <ns109:srgbClr val="005A9C"/>
            </ns109:solidFill>
            <ns109:tailEnd type="triangle" w="sm" len="sm"/>
          </ns109:ln>
        </p:spPr>
      </p:cxnSp>
      <p:sp>
        <p:nvSpPr>
          <p:cNvPr id="119" name="!!other.1.flow.1"/>
          <p:cNvSpPr/>
          <p:nvPr/>
        </p:nvSpPr>
        <p:spPr>
          <ns110:xfrm xmlns:ns110="http://schemas.openxmlformats.org/drawingml/2006/main">
            <ns110:off x="3294000" y="2743200"/>
            <ns110:ext cx="2556000" cy="5976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8000"/>
              </ns116:lnSpc>
              <ns116:defRPr sz="1100" b="0">
                <ns116:solidFill>
                  <ns116:srgbClr val="005A9C"/>
                </ns116:solidFill>
                <ns116:latin typeface="Arial"/>
                <ns116:ea typeface="Arial"/>
                <ns116:cs typeface="Arial"/>
              </ns116:defRPr>
            </ns116:pPr>
            <ns116:r>
              <ns116:rPr sz="1100" b="0">
                <ns116:solidFill>
                  <ns116:srgbClr val="005A9C"/>
                </ns116:solidFill>
                <ns116:latin typeface="Arial"/>
                <ns116:ea typeface="Arial"/>
                <ns116:cs typeface="Arial"/>
              </ns116:rPr>
              <ns116:t>LLM assesses email context and intent,</ns116:t>
            </ns116:r>
          </ns116:p>
          <ns117:p xmlns:ns117="http://schemas.openxmlformats.org/drawingml/2006/main">
            <ns117:pPr algn="l">
              <ns117:lnSpc>
                <ns117:spcPct val="108000"/>
              </ns117:lnSpc>
              <ns117:defRPr sz="1100" b="0">
                <ns117:solidFill>
                  <ns117:srgbClr val="005A9C"/>
                </ns117:solidFill>
                <ns117:latin typeface="Arial"/>
                <ns117:ea typeface="Arial"/>
                <ns117:cs typeface="Arial"/>
              </ns117:defRPr>
            </ns117:pPr>
            <ns117:r>
              <ns117:rPr sz="1100" b="0">
                <ns117:solidFill>
                  <ns117:srgbClr val="005A9C"/>
                </ns117:solidFill>
                <ns117:latin typeface="Arial"/>
                <ns117:ea typeface="Arial"/>
                <ns117:cs typeface="Arial"/>
              </ns117:rPr>
              <ns117:t>then invokes detection tools</ns117:t>
            </ns117:r>
          </ns117:p>
        </p:txBody>
      </p:sp>
      <p:cxnSp>
        <p:nvCxnSpPr>
          <p:cNvPr id="120" name="application.flow.1.1"/>
          <p:cNvCxnSpPr/>
          <p:nvPr/>
        </p:nvCxnSpPr>
        <p:spPr>
          <ns118:xfrm xmlns:ns118="http://schemas.openxmlformats.org/drawingml/2006/main">
            <ns118:off x="5886000" y="3031200"/>
            <ns118:ext cx="198000" cy="1"/>
          </ns118:xfrm>
          <ns119:prstGeom xmlns:ns119="http://schemas.openxmlformats.org/drawingml/2006/main" prst="line">
            <ns119:avLst/>
          </ns119:prstGeom>
          <ns120:ln xmlns:ns120="http://schemas.openxmlformats.org/drawingml/2006/main" w="9525">
            <ns120:solidFill>
              <ns120:srgbClr val="005A9C"/>
            </ns120:solidFill>
            <ns120:tailEnd type="triangle" w="sm" len="sm"/>
          </ns120:ln>
        </p:spPr>
      </p:cxnSp>
      <p:sp>
        <p:nvSpPr>
          <p:cNvPr id="121" name="!!other.1.flow.2"/>
          <p:cNvSpPr/>
          <p:nvPr/>
        </p:nvSpPr>
        <p:spPr>
          <ns121:xfrm xmlns:ns121="http://schemas.openxmlformats.org/drawingml/2006/main">
            <ns121:off x="6127200" y="2743200"/>
            <ns121:ext cx="2559600" cy="5976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8000"/>
              </ns127:lnSpc>
              <ns127:defRPr sz="1150" b="1">
                <ns127:solidFill>
                  <ns127:srgbClr val="20262C"/>
                </ns127:solidFill>
                <ns127:latin typeface="Arial"/>
                <ns127:ea typeface="Arial"/>
                <ns127:cs typeface="Arial"/>
              </ns127:defRPr>
            </ns127:pPr>
            <ns127:r>
              <ns127:rPr sz="1150" b="1">
                <ns127:solidFill>
                  <ns127:srgbClr val="20262C"/>
                </ns127:solidFill>
                <ns127:latin typeface="Arial"/>
                <ns127:ea typeface="Arial"/>
                <ns127:cs typeface="Arial"/>
              </ns127:rPr>
              <ns127:t>Security response</ns127:t>
            </ns127:r>
          </ns127:p>
        </p:txBody>
      </p:sp>
      <p:sp>
        <p:nvSpPr>
          <p:cNvPr id="122" name="!!other.2.title"/>
          <p:cNvSpPr/>
          <p:nvPr/>
        </p:nvSpPr>
        <p:spPr>
          <ns128:xfrm xmlns:ns128="http://schemas.openxmlformats.org/drawingml/2006/main">
            <ns128:off x="457200" y="3362400"/>
            <ns128:ext cx="3934800" cy="2304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8000"/>
              </ns134:lnSpc>
              <ns134:defRPr sz="1250" b="1">
                <ns134:solidFill>
                  <ns134:srgbClr val="005A9C"/>
                </ns134:solidFill>
                <ns134:latin typeface="Arial"/>
                <ns134:ea typeface="Arial"/>
                <ns134:cs typeface="Arial"/>
              </ns134:defRPr>
            </ns134:pPr>
            <ns134:r>
              <ns134:rPr sz="1250" b="1">
                <ns134:solidFill>
                  <ns134:srgbClr val="005A9C"/>
                </ns134:solidFill>
                <ns134:latin typeface="Arial"/>
                <ns134:ea typeface="Arial"/>
                <ns134:cs typeface="Arial"/>
              </ns134:rPr>
              <ns134:t>Business analytics</ns134:t>
            </ns134:r>
          </ns134:p>
        </p:txBody>
      </p:sp>
      <p:sp>
        <p:nvSpPr>
          <p:cNvPr id="123" name="!!other.2.company"/>
          <p:cNvSpPr/>
          <p:nvPr/>
        </p:nvSpPr>
        <p:spPr>
          <ns135:xfrm xmlns:ns135="http://schemas.openxmlformats.org/drawingml/2006/main">
            <ns135:off x="4752000" y="3387600"/>
            <ns135:ext cx="3934800" cy="180000"/>
          </ns135:xfrm>
          <ns136:prstGeom xmlns:ns136="http://schemas.openxmlformats.org/drawingml/2006/main" prst="rect">
            <ns136:avLst/>
          </ns136:prstGeom>
          <ns137:noFill xmlns:ns137="http://schemas.openxmlformats.org/drawingml/2006/main"/>
          <ns138:ln xmlns:ns138="http://schemas.openxmlformats.org/drawingml/2006/main" w="0">
            <ns138:noFill/>
          </ns138:ln>
        </p:spPr>
        <p:txBody>
          <ns139:bodyPr xmlns:ns139="http://schemas.openxmlformats.org/drawingml/2006/main" wrap="square" lIns="0" rIns="0" tIns="0" bIns="0" anchor="t">
            <ns139:noAutofit/>
          </ns139:bodyPr>
          <ns140:lstStyle xmlns:ns140="http://schemas.openxmlformats.org/drawingml/2006/main"/>
          <ns141:p xmlns:ns141="http://schemas.openxmlformats.org/drawingml/2006/main">
            <ns141:pPr algn="l">
              <ns141:lnSpc>
                <ns141:spcPct val="108000"/>
              </ns141:lnSpc>
              <ns141:defRPr sz="950" b="0">
                <ns141:solidFill>
                  <ns141:srgbClr val="687782"/>
                </ns141:solidFill>
                <ns141:latin typeface="Arial"/>
                <ns141:ea typeface="Arial"/>
                <ns141:cs typeface="Arial"/>
              </ns141:defRPr>
            </ns141:pPr>
            <ns141:r>
              <ns141:rPr sz="950" b="0">
                <ns141:solidFill>
                  <ns141:srgbClr val="687782"/>
                </ns141:solidFill>
                <ns141:latin typeface="Arial"/>
                <ns141:ea typeface="Arial"/>
                <ns141:cs typeface="Arial"/>
              </ns141:rPr>
              <ns141:t>Method proposed in a China Universal patent</ns141:t>
            </ns141:r>
          </ns141:p>
        </p:txBody>
      </p:sp>
      <p:sp>
        <p:nvSpPr>
          <p:cNvPr id="124" name="!!other.2.flow.0"/>
          <p:cNvSpPr/>
          <p:nvPr/>
        </p:nvSpPr>
        <p:spPr>
          <ns142:xfrm xmlns:ns142="http://schemas.openxmlformats.org/drawingml/2006/main">
            <ns142:off x="457200" y="3686400"/>
            <ns142:ext cx="2559600" cy="597600"/>
          </ns142:xfrm>
          <ns143:prstGeom xmlns:ns143="http://schemas.openxmlformats.org/drawingml/2006/main" prst="rect">
            <ns143:avLst/>
          </ns143:prstGeom>
          <ns144:noFill xmlns:ns144="http://schemas.openxmlformats.org/drawingml/2006/main"/>
          <ns145:ln xmlns:ns145="http://schemas.openxmlformats.org/drawingml/2006/main" w="0">
            <ns145:noFill/>
          </ns145:ln>
        </p:spPr>
        <p:txBody>
          <ns146:bodyPr xmlns:ns146="http://schemas.openxmlformats.org/drawingml/2006/main" wrap="square" lIns="0" rIns="0" tIns="0" bIns="0" anchor="t">
            <ns146:noAutofit/>
          </ns146:bodyPr>
          <ns147:lstStyle xmlns:ns147="http://schemas.openxmlformats.org/drawingml/2006/main"/>
          <ns148:p xmlns:ns148="http://schemas.openxmlformats.org/drawingml/2006/main">
            <ns148:pPr algn="l">
              <ns148:lnSpc>
                <ns148:spcPct val="108000"/>
              </ns148:lnSpc>
              <ns148:defRPr sz="1150" b="0">
                <ns148:solidFill>
                  <ns148:srgbClr val="20262C"/>
                </ns148:solidFill>
                <ns148:latin typeface="Arial"/>
                <ns148:ea typeface="Arial"/>
                <ns148:cs typeface="Arial"/>
              </ns148:defRPr>
            </ns148:pPr>
            <ns148:r>
              <ns148:rPr sz="1150" b="0">
                <ns148:solidFill>
                  <ns148:srgbClr val="20262C"/>
                </ns148:solidFill>
                <ns148:latin typeface="Arial"/>
                <ns148:ea typeface="Arial"/>
                <ns148:cs typeface="Arial"/>
              </ns148:rPr>
              <ns148:t>Fund, period and metric</ns148:t>
            </ns148:r>
          </ns148:p>
        </p:txBody>
      </p:sp>
      <p:cxnSp>
        <p:nvCxnSpPr>
          <p:cNvPr id="125" name="application.flow.2.0"/>
          <p:cNvCxnSpPr/>
          <p:nvPr/>
        </p:nvCxnSpPr>
        <p:spPr>
          <ns149:xfrm xmlns:ns149="http://schemas.openxmlformats.org/drawingml/2006/main">
            <ns149:off x="3052800" y="3974400"/>
            <ns149:ext cx="198000" cy="1"/>
          </ns149:xfrm>
          <ns150:prstGeom xmlns:ns150="http://schemas.openxmlformats.org/drawingml/2006/main" prst="line">
            <ns150:avLst/>
          </ns150:prstGeom>
          <ns151:ln xmlns:ns151="http://schemas.openxmlformats.org/drawingml/2006/main" w="9525">
            <ns151:solidFill>
              <ns151:srgbClr val="005A9C"/>
            </ns151:solidFill>
            <ns151:tailEnd type="triangle" w="sm" len="sm"/>
          </ns151:ln>
        </p:spPr>
      </p:cxnSp>
      <p:sp>
        <p:nvSpPr>
          <p:cNvPr id="126" name="!!other.2.flow.1"/>
          <p:cNvSpPr/>
          <p:nvPr/>
        </p:nvSpPr>
        <p:spPr>
          <ns152:xfrm xmlns:ns152="http://schemas.openxmlformats.org/drawingml/2006/main">
            <ns152:off x="3294000" y="3686400"/>
            <ns152:ext cx="2556000" cy="597600"/>
          </ns152:xfrm>
          <ns153:prstGeom xmlns:ns153="http://schemas.openxmlformats.org/drawingml/2006/main" prst="rect">
            <ns153:avLst/>
          </ns153:prstGeom>
          <ns154:noFill xmlns:ns154="http://schemas.openxmlformats.org/drawingml/2006/main"/>
          <ns155:ln xmlns:ns155="http://schemas.openxmlformats.org/drawingml/2006/main" w="0">
            <ns155:noFill/>
          </ns155:ln>
        </p:spPr>
        <p:txBody>
          <ns156:bodyPr xmlns:ns156="http://schemas.openxmlformats.org/drawingml/2006/main" wrap="square" lIns="0" rIns="0" tIns="0" bIns="0" anchor="t">
            <ns156:noAutofit/>
          </ns156:bodyPr>
          <ns157:lstStyle xmlns:ns157="http://schemas.openxmlformats.org/drawingml/2006/main"/>
          <ns158:p xmlns:ns158="http://schemas.openxmlformats.org/drawingml/2006/main">
            <ns158:pPr algn="l">
              <ns158:lnSpc>
                <ns158:spcPct val="108000"/>
              </ns158:lnSpc>
              <ns158:defRPr sz="1100" b="0">
                <ns158:solidFill>
                  <ns158:srgbClr val="005A9C"/>
                </ns158:solidFill>
                <ns158:latin typeface="Arial"/>
                <ns158:ea typeface="Arial"/>
                <ns158:cs typeface="Arial"/>
              </ns158:defRPr>
            </ns158:pPr>
            <ns158:r>
              <ns158:rPr sz="1100" b="0">
                <ns158:solidFill>
                  <ns158:srgbClr val="005A9C"/>
                </ns158:solidFill>
                <ns158:latin typeface="Arial"/>
                <ns158:ea typeface="Arial"/>
                <ns158:cs typeface="Arial"/>
              </ns158:rPr>
              <ns158:t>LLM interprets the question</ns158:t>
            </ns158:r>
          </ns158:p>
          <ns159:p xmlns:ns159="http://schemas.openxmlformats.org/drawingml/2006/main">
            <ns159:pPr algn="l">
              <ns159:lnSpc>
                <ns159:spcPct val="108000"/>
              </ns159:lnSpc>
              <ns159:defRPr sz="1100" b="0">
                <ns159:solidFill>
                  <ns159:srgbClr val="005A9C"/>
                </ns159:solidFill>
                <ns159:latin typeface="Arial"/>
                <ns159:ea typeface="Arial"/>
                <ns159:cs typeface="Arial"/>
              </ns159:defRPr>
            </ns159:pPr>
            <ns159:r>
              <ns159:rPr sz="1100" b="0">
                <ns159:solidFill>
                  <ns159:srgbClr val="005A9C"/>
                </ns159:solidFill>
                <ns159:latin typeface="Arial"/>
                <ns159:ea typeface="Arial"/>
                <ns159:cs typeface="Arial"/>
              </ns159:rPr>
              <ns159:t>Algorithms quantify contributions to the selected metric</ns159:t>
            </ns159:r>
          </ns159:p>
        </p:txBody>
      </p:sp>
      <p:cxnSp>
        <p:nvCxnSpPr>
          <p:cNvPr id="127" name="application.flow.2.1"/>
          <p:cNvCxnSpPr/>
          <p:nvPr/>
        </p:nvCxnSpPr>
        <p:spPr>
          <ns160:xfrm xmlns:ns160="http://schemas.openxmlformats.org/drawingml/2006/main">
            <ns160:off x="5886000" y="3974400"/>
            <ns160:ext cx="198000" cy="1"/>
          </ns160:xfrm>
          <ns161:prstGeom xmlns:ns161="http://schemas.openxmlformats.org/drawingml/2006/main" prst="line">
            <ns161:avLst/>
          </ns161:prstGeom>
          <ns162:ln xmlns:ns162="http://schemas.openxmlformats.org/drawingml/2006/main" w="9525">
            <ns162:solidFill>
              <ns162:srgbClr val="005A9C"/>
            </ns162:solidFill>
            <ns162:tailEnd type="triangle" w="sm" len="sm"/>
          </ns162:ln>
        </p:spPr>
      </p:cxnSp>
      <p:sp>
        <p:nvSpPr>
          <p:cNvPr id="128" name="!!other.2.flow.2"/>
          <p:cNvSpPr/>
          <p:nvPr/>
        </p:nvSpPr>
        <p:spPr>
          <ns163:xfrm xmlns:ns163="http://schemas.openxmlformats.org/drawingml/2006/main">
            <ns163:off x="6127200" y="3686400"/>
            <ns163:ext cx="2559600" cy="597600"/>
          </ns163:xfrm>
          <ns164:prstGeom xmlns:ns164="http://schemas.openxmlformats.org/drawingml/2006/main" prst="rect">
            <ns164:avLst/>
          </ns164:prstGeom>
          <ns165:noFill xmlns:ns165="http://schemas.openxmlformats.org/drawingml/2006/main"/>
          <ns166:ln xmlns:ns166="http://schemas.openxmlformats.org/drawingml/2006/main" w="0">
            <ns166:noFill/>
          </ns166:ln>
        </p:spPr>
        <p:txBody>
          <ns167:bodyPr xmlns:ns167="http://schemas.openxmlformats.org/drawingml/2006/main" wrap="square" lIns="0" rIns="0" tIns="0" bIns="0" anchor="t">
            <ns167:noAutofit/>
          </ns167:bodyPr>
          <ns168:lstStyle xmlns:ns168="http://schemas.openxmlformats.org/drawingml/2006/main"/>
          <ns169:p xmlns:ns169="http://schemas.openxmlformats.org/drawingml/2006/main">
            <ns169:pPr algn="l">
              <ns169:lnSpc>
                <ns169:spcPct val="108000"/>
              </ns169:lnSpc>
              <ns169:defRPr sz="1150" b="1">
                <ns169:solidFill>
                  <ns169:srgbClr val="20262C"/>
                </ns169:solidFill>
                <ns169:latin typeface="Arial"/>
                <ns169:ea typeface="Arial"/>
                <ns169:cs typeface="Arial"/>
              </ns169:defRPr>
            </ns169:pPr>
            <ns169:r>
              <ns169:rPr sz="1150" b="1">
                <ns169:solidFill>
                  <ns169:srgbClr val="20262C"/>
                </ns169:solidFill>
                <ns169:latin typeface="Arial"/>
                <ns169:ea typeface="Arial"/>
                <ns169:cs typeface="Arial"/>
              </ns169:rPr>
              <ns169:t>LLM drafts the analytical summary</ns169:t>
            </ns169:r>
          </ns169:p>
        </p:txBody>
      </p:sp>
    </p:spTree>
    <p:extLst>
      <p:ext uri="{BB962C8B-B14F-4D97-AF65-F5344CB8AC3E}">
        <p14:creationId xmlns:p14="http://schemas.microsoft.com/office/powerpoint/2010/main" val="16083970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Seven proposed applications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Proposed applications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Southern; Penghua; China Universal; ICBCUBS; E Fund</ns23:t>
            </ns23:r>
          </ns23:p>
        </p:txBody>
      </p:sp>
      <p:sp>
        <p:nvSpPr>
          <p:cNvPr id="105" name="map.office.front"/>
          <p:cNvSpPr/>
          <p:nvPr/>
        </p:nvSpPr>
        <p:spPr>
          <ns24:xfrm xmlns:ns24="http://schemas.openxmlformats.org/drawingml/2006/main">
            <ns24:off x="457200" y="1537200"/>
            <ns24:ext cx="2559600" cy="2700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1600" b="1">
                <ns30:solidFill>
                  <ns30:srgbClr val="005A9C"/>
                </ns30:solidFill>
                <ns30:latin typeface="Arial"/>
                <ns30:ea typeface="Arial"/>
                <ns30:cs typeface="Arial"/>
              </ns30:defRPr>
            </ns30:pPr>
            <ns30:r>
              <ns30:rPr sz="1600" b="1">
                <ns30:solidFill>
                  <ns30:srgbClr val="005A9C"/>
                </ns30:solidFill>
                <ns30:latin typeface="Arial"/>
                <ns30:ea typeface="Arial"/>
                <ns30:cs typeface="Arial"/>
              </ns30:rPr>
              <ns30:t>Front office</ns30:t>
            </ns30:r>
          </ns30:p>
        </p:txBody>
      </p:sp>
      <p:cxnSp>
        <p:nvCxnSpPr>
          <p:cNvPr id="106" name="map.office.rule.front"/>
          <p:cNvCxnSpPr/>
          <p:nvPr/>
        </p:nvCxnSpPr>
        <p:spPr>
          <ns31:xfrm xmlns:ns31="http://schemas.openxmlformats.org/drawingml/2006/main">
            <ns31:off x="457200" y="1872000"/>
            <ns31:ext cx="2559600" cy="1"/>
          </ns31:xfrm>
          <ns32:prstGeom xmlns:ns32="http://schemas.openxmlformats.org/drawingml/2006/main" prst="line">
            <ns32:avLst/>
          </ns32:prstGeom>
          <ns33:ln xmlns:ns33="http://schemas.openxmlformats.org/drawingml/2006/main" w="12700">
            <ns33:solidFill>
              <ns33:srgbClr val="005A9C"/>
            </ns33:solidFill>
          </ns33:ln>
        </p:spPr>
      </p:cxnSp>
      <p:sp>
        <p:nvSpPr>
          <p:cNvPr id="107" name="!!task.research"/>
          <p:cNvSpPr/>
          <p:nvPr/>
        </p:nvSpPr>
        <p:spPr>
          <ns34:xfrm xmlns:ns34="http://schemas.openxmlformats.org/drawingml/2006/main">
            <ns34:off x="457200" y="2008800"/>
            <ns34:ext cx="2559600" cy="241200"/>
          </ns34:xfrm>
          <ns35:prstGeom xmlns:ns35="http://schemas.openxmlformats.org/drawingml/2006/main" prst="rect">
            <ns35:avLst/>
          </ns35:prstGeom>
          <ns36:noFill xmlns:ns36="http://schemas.openxmlformats.org/drawingml/2006/main"/>
          <ns37:ln xmlns:ns37="http://schemas.openxmlformats.org/drawingml/2006/main" w="0">
            <ns37:noFill/>
          </ns37:ln>
        </p:spPr>
        <p:txBody>
          <ns38:bodyPr xmlns:ns38="http://schemas.openxmlformats.org/drawingml/2006/main" wrap="square" lIns="0" rIns="0" tIns="0" bIns="0" anchor="t">
            <ns38:noAutofit/>
          </ns38:bodyPr>
          <ns39:lstStyle xmlns:ns39="http://schemas.openxmlformats.org/drawingml/2006/main"/>
          <ns40:p xmlns:ns40="http://schemas.openxmlformats.org/drawingml/2006/main">
            <ns40:pPr algn="l">
              <ns40:lnSpc>
                <ns40:spcPct val="108000"/>
              </ns40:lnSpc>
              <ns40:defRPr sz="1250" b="1">
                <ns40:solidFill>
                  <ns40:srgbClr val="005A9C"/>
                </ns40:solidFill>
                <ns40:latin typeface="Arial"/>
                <ns40:ea typeface="Arial"/>
                <ns40:cs typeface="Arial"/>
              </ns40:defRPr>
            </ns40:pPr>
            <ns40:r>
              <ns40:rPr sz="1250" b="1">
                <ns40:solidFill>
                  <ns40:srgbClr val="005A9C"/>
                </ns40:solidFill>
                <ns40:latin typeface="Arial"/>
                <ns40:ea typeface="Arial"/>
                <ns40:cs typeface="Arial"/>
              </ns40:rPr>
              <ns40:t>1  Research</ns40:t>
            </ns40:r>
          </ns40:p>
        </p:txBody>
      </p:sp>
      <p:sp>
        <p:nvSpPr>
          <p:cNvPr id="108" name="!!task.research.outcome"/>
          <p:cNvSpPr/>
          <p:nvPr/>
        </p:nvSpPr>
        <p:spPr>
          <ns41:xfrm xmlns:ns41="http://schemas.openxmlformats.org/drawingml/2006/main">
            <ns41:off x="457200" y="2278800"/>
            <ns41:ext cx="2559600" cy="338400"/>
          </ns41:xfrm>
          <ns42:prstGeom xmlns:ns42="http://schemas.openxmlformats.org/drawingml/2006/main" prst="rect">
            <ns42:avLst/>
          </ns42:prstGeom>
          <ns43:noFill xmlns:ns43="http://schemas.openxmlformats.org/drawingml/2006/main"/>
          <ns44:ln xmlns:ns44="http://schemas.openxmlformats.org/drawingml/2006/main" w="0">
            <ns44:noFill/>
          </ns44:ln>
        </p:spPr>
        <p:txBody>
          <ns45:bodyPr xmlns:ns45="http://schemas.openxmlformats.org/drawingml/2006/main" wrap="square" lIns="0" rIns="0" tIns="0" bIns="0" anchor="t">
            <ns45:noAutofit/>
          </ns45:bodyPr>
          <ns46:lstStyle xmlns:ns46="http://schemas.openxmlformats.org/drawingml/2006/main"/>
          <ns47:p xmlns:ns47="http://schemas.openxmlformats.org/drawingml/2006/main">
            <ns47:pPr algn="l">
              <ns47:lnSpc>
                <ns47:spcPct val="108000"/>
              </ns47:lnSpc>
              <ns47:defRPr sz="1100" b="0">
                <ns47:solidFill>
                  <ns47:srgbClr val="20262C"/>
                </ns47:solidFill>
                <ns47:latin typeface="Arial"/>
                <ns47:ea typeface="Arial"/>
                <ns47:cs typeface="Arial"/>
              </ns47:defRPr>
            </ns47:pPr>
            <ns47:r>
              <ns47:rPr sz="1100" b="0">
                <ns47:solidFill>
                  <ns47:srgbClr val="20262C"/>
                </ns47:solidFill>
                <ns47:latin typeface="Arial"/>
                <ns47:ea typeface="Arial"/>
                <ns47:cs typeface="Arial"/>
              </ns47:rPr>
              <ns47:t>Analysts: research summaries with source references</ns47:t>
            </ns47:r>
          </ns47:p>
        </p:txBody>
      </p:sp>
      <p:sp>
        <p:nvSpPr>
          <p:cNvPr id="109" name="!!task.trade"/>
          <p:cNvSpPr/>
          <p:nvPr/>
        </p:nvSpPr>
        <p:spPr>
          <ns48:xfrm xmlns:ns48="http://schemas.openxmlformats.org/drawingml/2006/main">
            <ns48:off x="457200" y="2649600"/>
            <ns48:ext cx="2559600" cy="241200"/>
          </ns48:xfrm>
          <ns49:prstGeom xmlns:ns49="http://schemas.openxmlformats.org/drawingml/2006/main" prst="rect">
            <ns49:avLst/>
          </ns49:prstGeom>
          <ns50:noFill xmlns:ns50="http://schemas.openxmlformats.org/drawingml/2006/main"/>
          <ns51:ln xmlns:ns51="http://schemas.openxmlformats.org/drawingml/2006/main" w="0">
            <ns51:noFill/>
          </ns51:ln>
        </p:spPr>
        <p:txBody>
          <ns52:bodyPr xmlns:ns52="http://schemas.openxmlformats.org/drawingml/2006/main" wrap="square" lIns="0" rIns="0" tIns="0" bIns="0" anchor="t">
            <ns52:noAutofit/>
          </ns52:bodyPr>
          <ns53:lstStyle xmlns:ns53="http://schemas.openxmlformats.org/drawingml/2006/main"/>
          <ns54:p xmlns:ns54="http://schemas.openxmlformats.org/drawingml/2006/main">
            <ns54:pPr algn="l">
              <ns54:lnSpc>
                <ns54:spcPct val="108000"/>
              </ns54:lnSpc>
              <ns54:defRPr sz="1250" b="1">
                <ns54:solidFill>
                  <ns54:srgbClr val="005A9C"/>
                </ns54:solidFill>
                <ns54:latin typeface="Arial"/>
                <ns54:ea typeface="Arial"/>
                <ns54:cs typeface="Arial"/>
              </ns54:defRPr>
            </ns54:pPr>
            <ns54:r>
              <ns54:rPr sz="1250" b="1">
                <ns54:solidFill>
                  <ns54:srgbClr val="005A9C"/>
                </ns54:solidFill>
                <ns54:latin typeface="Arial"/>
                <ns54:ea typeface="Arial"/>
                <ns54:cs typeface="Arial"/>
              </ns54:rPr>
              <ns54:t>2  Trading support</ns54:t>
            </ns54:r>
          </ns54:p>
        </p:txBody>
      </p:sp>
      <p:sp>
        <p:nvSpPr>
          <p:cNvPr id="110" name="!!task.trade.outcome"/>
          <p:cNvSpPr/>
          <p:nvPr/>
        </p:nvSpPr>
        <p:spPr>
          <ns55:xfrm xmlns:ns55="http://schemas.openxmlformats.org/drawingml/2006/main">
            <ns55:off x="457200" y="2919600"/>
            <ns55:ext cx="2559600" cy="3384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100" b="0">
                <ns61:solidFill>
                  <ns61:srgbClr val="20262C"/>
                </ns61:solidFill>
                <ns61:latin typeface="Arial"/>
                <ns61:ea typeface="Arial"/>
                <ns61:cs typeface="Arial"/>
              </ns61:defRPr>
            </ns61:pPr>
            <ns61:r>
              <ns61:rPr sz="1100" b="0">
                <ns61:solidFill>
                  <ns61:srgbClr val="20262C"/>
                </ns61:solidFill>
                <ns61:latin typeface="Arial"/>
                <ns61:ea typeface="Arial"/>
                <ns61:cs typeface="Arial"/>
              </ns61:rPr>
              <ns61:t>Traders: bond and quote summaries</ns61:t>
            </ns61:r>
          </ns61:p>
        </p:txBody>
      </p:sp>
      <p:sp>
        <p:nvSpPr>
          <p:cNvPr id="111" name="!!task.client"/>
          <p:cNvSpPr/>
          <p:nvPr/>
        </p:nvSpPr>
        <p:spPr>
          <ns62:xfrm xmlns:ns62="http://schemas.openxmlformats.org/drawingml/2006/main">
            <ns62:off x="457200" y="3290400"/>
            <ns62:ext cx="2559600" cy="2412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250" b="1">
                <ns68:solidFill>
                  <ns68:srgbClr val="005A9C"/>
                </ns68:solidFill>
                <ns68:latin typeface="Arial"/>
                <ns68:ea typeface="Arial"/>
                <ns68:cs typeface="Arial"/>
              </ns68:defRPr>
            </ns68:pPr>
            <ns68:r>
              <ns68:rPr sz="1250" b="1">
                <ns68:solidFill>
                  <ns68:srgbClr val="005A9C"/>
                </ns68:solidFill>
                <ns68:latin typeface="Arial"/>
                <ns68:ea typeface="Arial"/>
                <ns68:cs typeface="Arial"/>
              </ns68:rPr>
              <ns68:t>3  Client materials</ns68:t>
            </ns68:r>
          </ns68:p>
        </p:txBody>
      </p:sp>
      <p:sp>
        <p:nvSpPr>
          <p:cNvPr id="112" name="!!task.client.outcome"/>
          <p:cNvSpPr/>
          <p:nvPr/>
        </p:nvSpPr>
        <p:spPr>
          <ns69:xfrm xmlns:ns69="http://schemas.openxmlformats.org/drawingml/2006/main">
            <ns69:off x="457200" y="3560400"/>
            <ns69:ext cx="2559600" cy="3384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100" b="0">
                <ns75:solidFill>
                  <ns75:srgbClr val="20262C"/>
                </ns75:solidFill>
                <ns75:latin typeface="Arial"/>
                <ns75:ea typeface="Arial"/>
                <ns75:cs typeface="Arial"/>
              </ns75:defRPr>
            </ns75:pPr>
            <ns75:r>
              <ns75:rPr sz="1100" b="0">
                <ns75:solidFill>
                  <ns75:srgbClr val="20262C"/>
                </ns75:solidFill>
                <ns75:latin typeface="Arial"/>
                <ns75:ea typeface="Arial"/>
                <ns75:cs typeface="Arial"/>
              </ns75:rPr>
              <ns75:t>Client teams: updates and Q&amp;A</ns75:t>
            </ns75:r>
          </ns75:p>
        </p:txBody>
      </p:sp>
      <p:sp>
        <p:nvSpPr>
          <p:cNvPr id="113" name="map.office.middle"/>
          <p:cNvSpPr/>
          <p:nvPr/>
        </p:nvSpPr>
        <p:spPr>
          <ns76:xfrm xmlns:ns76="http://schemas.openxmlformats.org/drawingml/2006/main">
            <ns76:off x="3294000" y="1537200"/>
            <ns76:ext cx="2556000" cy="27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8000"/>
              </ns82:lnSpc>
              <ns82:defRPr sz="1600" b="1">
                <ns82:solidFill>
                  <ns82:srgbClr val="005A9C"/>
                </ns82:solidFill>
                <ns82:latin typeface="Arial"/>
                <ns82:ea typeface="Arial"/>
                <ns82:cs typeface="Arial"/>
              </ns82:defRPr>
            </ns82:pPr>
            <ns82:r>
              <ns82:rPr sz="1600" b="1">
                <ns82:solidFill>
                  <ns82:srgbClr val="005A9C"/>
                </ns82:solidFill>
                <ns82:latin typeface="Arial"/>
                <ns82:ea typeface="Arial"/>
                <ns82:cs typeface="Arial"/>
              </ns82:rPr>
              <ns82:t>Middle office</ns82:t>
            </ns82:r>
          </ns82:p>
        </p:txBody>
      </p:sp>
      <p:cxnSp>
        <p:nvCxnSpPr>
          <p:cNvPr id="114" name="map.office.rule.middle"/>
          <p:cNvCxnSpPr/>
          <p:nvPr/>
        </p:nvCxnSpPr>
        <p:spPr>
          <ns83:xfrm xmlns:ns83="http://schemas.openxmlformats.org/drawingml/2006/main">
            <ns83:off x="3294000" y="1872000"/>
            <ns83:ext cx="2556000" cy="1"/>
          </ns83:xfrm>
          <ns84:prstGeom xmlns:ns84="http://schemas.openxmlformats.org/drawingml/2006/main" prst="line">
            <ns84:avLst/>
          </ns84:prstGeom>
          <ns85:ln xmlns:ns85="http://schemas.openxmlformats.org/drawingml/2006/main" w="12700">
            <ns85:solidFill>
              <ns85:srgbClr val="005A9C"/>
            </ns85:solidFill>
          </ns85:ln>
        </p:spPr>
      </p:cxnSp>
      <p:sp>
        <p:nvSpPr>
          <p:cNvPr id="115" name="!!task.review"/>
          <p:cNvSpPr/>
          <p:nvPr/>
        </p:nvSpPr>
        <p:spPr>
          <ns86:xfrm xmlns:ns86="http://schemas.openxmlformats.org/drawingml/2006/main">
            <ns86:off x="3294000" y="2008800"/>
            <ns86:ext cx="2556000" cy="2412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8000"/>
              </ns92:lnSpc>
              <ns92:defRPr sz="1250" b="1">
                <ns92:solidFill>
                  <ns92:srgbClr val="005A9C"/>
                </ns92:solidFill>
                <ns92:latin typeface="Arial"/>
                <ns92:ea typeface="Arial"/>
                <ns92:cs typeface="Arial"/>
              </ns92:defRPr>
            </ns92:pPr>
            <ns92:r>
              <ns92:rPr sz="1250" b="1">
                <ns92:solidFill>
                  <ns92:srgbClr val="005A9C"/>
                </ns92:solidFill>
                <ns92:latin typeface="Arial"/>
                <ns92:ea typeface="Arial"/>
                <ns92:cs typeface="Arial"/>
              </ns92:rPr>
              <ns92:t>4  Content review</ns92:t>
            </ns92:r>
          </ns92:p>
        </p:txBody>
      </p:sp>
      <p:sp>
        <p:nvSpPr>
          <p:cNvPr id="116" name="!!task.review.outcome"/>
          <p:cNvSpPr/>
          <p:nvPr/>
        </p:nvSpPr>
        <p:spPr>
          <ns93:xfrm xmlns:ns93="http://schemas.openxmlformats.org/drawingml/2006/main">
            <ns93:off x="3294000" y="2278800"/>
            <ns93:ext cx="2556000" cy="338400"/>
          </ns93:xfrm>
          <ns94:prstGeom xmlns:ns94="http://schemas.openxmlformats.org/drawingml/2006/main" prst="rect">
            <ns94:avLst/>
          </ns94:prstGeom>
          <ns95:noFill xmlns:ns95="http://schemas.openxmlformats.org/drawingml/2006/main"/>
          <ns96:ln xmlns:ns96="http://schemas.openxmlformats.org/drawingml/2006/main" w="0">
            <ns96:noFill/>
          </ns96:ln>
        </p:spPr>
        <p:txBody>
          <ns97:bodyPr xmlns:ns97="http://schemas.openxmlformats.org/drawingml/2006/main" wrap="square" lIns="0" rIns="0" tIns="0" bIns="0" anchor="t">
            <ns97:noAutofit/>
          </ns97:bodyPr>
          <ns98:lstStyle xmlns:ns98="http://schemas.openxmlformats.org/drawingml/2006/main"/>
          <ns99:p xmlns:ns99="http://schemas.openxmlformats.org/drawingml/2006/main">
            <ns99:pPr algn="l">
              <ns99:lnSpc>
                <ns99:spcPct val="108000"/>
              </ns99:lnSpc>
              <ns99:defRPr sz="1100" b="0">
                <ns99:solidFill>
                  <ns99:srgbClr val="20262C"/>
                </ns99:solidFill>
                <ns99:latin typeface="Arial"/>
                <ns99:ea typeface="Arial"/>
                <ns99:cs typeface="Arial"/>
              </ns99:defRPr>
            </ns99:pPr>
            <ns99:r>
              <ns99:rPr sz="1100" b="0">
                <ns99:solidFill>
                  <ns99:srgbClr val="20262C"/>
                </ns99:solidFill>
                <ns99:latin typeface="Arial"/>
                <ns99:ea typeface="Arial"/>
                <ns99:cs typeface="Arial"/>
              </ns99:rPr>
              <ns99:t>Reviewers: explained findings and proposed edits</ns99:t>
            </ns99:r>
          </ns99:p>
        </p:txBody>
      </p:sp>
      <p:sp>
        <p:nvSpPr>
          <p:cNvPr id="117" name="!!task.risk"/>
          <p:cNvSpPr/>
          <p:nvPr/>
        </p:nvSpPr>
        <p:spPr>
          <ns100:xfrm xmlns:ns100="http://schemas.openxmlformats.org/drawingml/2006/main">
            <ns100:off x="3294000" y="2649600"/>
            <ns100:ext cx="2556000" cy="2412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8000"/>
              </ns106:lnSpc>
              <ns106:defRPr sz="1250" b="1">
                <ns106:solidFill>
                  <ns106:srgbClr val="005A9C"/>
                </ns106:solidFill>
                <ns106:latin typeface="Arial"/>
                <ns106:ea typeface="Arial"/>
                <ns106:cs typeface="Arial"/>
              </ns106:defRPr>
            </ns106:pPr>
            <ns106:r>
              <ns106:rPr sz="1250" b="1">
                <ns106:solidFill>
                  <ns106:srgbClr val="005A9C"/>
                </ns106:solidFill>
                <ns106:latin typeface="Arial"/>
                <ns106:ea typeface="Arial"/>
                <ns106:cs typeface="Arial"/>
              </ns106:rPr>
              <ns106:t>5  Risk analysis</ns106:t>
            </ns106:r>
          </ns106:p>
        </p:txBody>
      </p:sp>
      <p:sp>
        <p:nvSpPr>
          <p:cNvPr id="118" name="!!task.risk.outcome"/>
          <p:cNvSpPr/>
          <p:nvPr/>
        </p:nvSpPr>
        <p:spPr>
          <ns107:xfrm xmlns:ns107="http://schemas.openxmlformats.org/drawingml/2006/main">
            <ns107:off x="3294000" y="2919600"/>
            <ns107:ext cx="2556000" cy="3384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8000"/>
              </ns113:lnSpc>
              <ns113:defRPr sz="1100" b="0">
                <ns113:solidFill>
                  <ns113:srgbClr val="20262C"/>
                </ns113:solidFill>
                <ns113:latin typeface="Arial"/>
                <ns113:ea typeface="Arial"/>
                <ns113:cs typeface="Arial"/>
              </ns113:defRPr>
            </ns113:pPr>
            <ns113:r>
              <ns113:rPr sz="1100" b="0">
                <ns113:solidFill>
                  <ns113:srgbClr val="20262C"/>
                </ns113:solidFill>
                <ns113:latin typeface="Arial"/>
                <ns113:ea typeface="Arial"/>
                <ns113:cs typeface="Arial"/>
              </ns113:rPr>
              <ns113:t>Risk teams: assessments and follow-up tasks</ns113:t>
            </ns113:r>
          </ns113:p>
        </p:txBody>
      </p:sp>
      <p:sp>
        <p:nvSpPr>
          <p:cNvPr id="119" name="map.office.back"/>
          <p:cNvSpPr/>
          <p:nvPr/>
        </p:nvSpPr>
        <p:spPr>
          <ns114:xfrm xmlns:ns114="http://schemas.openxmlformats.org/drawingml/2006/main">
            <ns114:off x="6127200" y="1537200"/>
            <ns114:ext cx="2559600" cy="270000"/>
          </ns114:xfrm>
          <ns115:prstGeom xmlns:ns115="http://schemas.openxmlformats.org/drawingml/2006/main" prst="rect">
            <ns115:avLst/>
          </ns115:prstGeom>
          <ns116:noFill xmlns:ns116="http://schemas.openxmlformats.org/drawingml/2006/main"/>
          <ns117:ln xmlns:ns117="http://schemas.openxmlformats.org/drawingml/2006/main" w="0">
            <ns117:noFill/>
          </ns117:ln>
        </p:spPr>
        <p:txBody>
          <ns118:bodyPr xmlns:ns118="http://schemas.openxmlformats.org/drawingml/2006/main" wrap="square" lIns="0" rIns="0" tIns="0" bIns="0" anchor="t">
            <ns118:noAutofit/>
          </ns118:bodyPr>
          <ns119:lstStyle xmlns:ns119="http://schemas.openxmlformats.org/drawingml/2006/main"/>
          <ns120:p xmlns:ns120="http://schemas.openxmlformats.org/drawingml/2006/main">
            <ns120:pPr algn="l">
              <ns120:lnSpc>
                <ns120:spcPct val="108000"/>
              </ns120:lnSpc>
              <ns120:defRPr sz="1600" b="1">
                <ns120:solidFill>
                  <ns120:srgbClr val="005A9C"/>
                </ns120:solidFill>
                <ns120:latin typeface="Arial"/>
                <ns120:ea typeface="Arial"/>
                <ns120:cs typeface="Arial"/>
              </ns120:defRPr>
            </ns120:pPr>
            <ns120:r>
              <ns120:rPr sz="1600" b="1">
                <ns120:solidFill>
                  <ns120:srgbClr val="005A9C"/>
                </ns120:solidFill>
                <ns120:latin typeface="Arial"/>
                <ns120:ea typeface="Arial"/>
                <ns120:cs typeface="Arial"/>
              </ns120:rPr>
              <ns120:t>Back office</ns120:t>
            </ns120:r>
          </ns120:p>
        </p:txBody>
      </p:sp>
      <p:cxnSp>
        <p:nvCxnSpPr>
          <p:cNvPr id="120" name="map.office.rule.back"/>
          <p:cNvCxnSpPr/>
          <p:nvPr/>
        </p:nvCxnSpPr>
        <p:spPr>
          <ns121:xfrm xmlns:ns121="http://schemas.openxmlformats.org/drawingml/2006/main">
            <ns121:off x="6127200" y="1872000"/>
            <ns121:ext cx="2559600" cy="1"/>
          </ns121:xfrm>
          <ns122:prstGeom xmlns:ns122="http://schemas.openxmlformats.org/drawingml/2006/main" prst="line">
            <ns122:avLst/>
          </ns122:prstGeom>
          <ns123:ln xmlns:ns123="http://schemas.openxmlformats.org/drawingml/2006/main" w="12700">
            <ns123:solidFill>
              <ns123:srgbClr val="005A9C"/>
            </ns123:solidFill>
          </ns123:ln>
        </p:spPr>
      </p:cxnSp>
      <p:sp>
        <p:nvSpPr>
          <p:cNvPr id="121" name="!!task.files"/>
          <p:cNvSpPr/>
          <p:nvPr/>
        </p:nvSpPr>
        <p:spPr>
          <ns124:xfrm xmlns:ns124="http://schemas.openxmlformats.org/drawingml/2006/main">
            <ns124:off x="6127200" y="2008800"/>
            <ns124:ext cx="2559600" cy="2412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250" b="1">
                <ns130:solidFill>
                  <ns130:srgbClr val="005A9C"/>
                </ns130:solidFill>
                <ns130:latin typeface="Arial"/>
                <ns130:ea typeface="Arial"/>
                <ns130:cs typeface="Arial"/>
              </ns130:defRPr>
            </ns130:pPr>
            <ns130:r>
              <ns130:rPr sz="1250" b="1">
                <ns130:solidFill>
                  <ns130:srgbClr val="005A9C"/>
                </ns130:solidFill>
                <ns130:latin typeface="Arial"/>
                <ns130:ea typeface="Arial"/>
                <ns130:cs typeface="Arial"/>
              </ns130:rPr>
              <ns130:t>6  Document processing</ns130:t>
            </ns130:r>
          </ns130:p>
        </p:txBody>
      </p:sp>
      <p:sp>
        <p:nvSpPr>
          <p:cNvPr id="122" name="!!task.files.outcome"/>
          <p:cNvSpPr/>
          <p:nvPr/>
        </p:nvSpPr>
        <p:spPr>
          <ns131:xfrm xmlns:ns131="http://schemas.openxmlformats.org/drawingml/2006/main">
            <ns131:off x="6127200" y="2278800"/>
            <ns131:ext cx="2559600" cy="3384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8000"/>
              </ns137:lnSpc>
              <ns137:defRPr sz="1100" b="0">
                <ns137:solidFill>
                  <ns137:srgbClr val="20262C"/>
                </ns137:solidFill>
                <ns137:latin typeface="Arial"/>
                <ns137:ea typeface="Arial"/>
                <ns137:cs typeface="Arial"/>
              </ns137:defRPr>
            </ns137:pPr>
            <ns137:r>
              <ns137:rPr sz="1100" b="0">
                <ns137:solidFill>
                  <ns137:srgbClr val="20262C"/>
                </ns137:solidFill>
                <ns137:latin typeface="Arial"/>
                <ns137:ea typeface="Arial"/>
                <ns137:cs typeface="Arial"/>
              </ns137:rPr>
              <ns137:t>Operations: records and change summaries</ns137:t>
            </ns137:r>
          </ns137:p>
        </p:txBody>
      </p:sp>
      <p:sp>
        <p:nvSpPr>
          <p:cNvPr id="123" name="!!task.dev"/>
          <p:cNvSpPr/>
          <p:nvPr/>
        </p:nvSpPr>
        <p:spPr>
          <ns138:xfrm xmlns:ns138="http://schemas.openxmlformats.org/drawingml/2006/main">
            <ns138:off x="6127200" y="2649600"/>
            <ns138:ext cx="2559600" cy="2412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8000"/>
              </ns144:lnSpc>
              <ns144:defRPr sz="1250" b="1">
                <ns144:solidFill>
                  <ns144:srgbClr val="005A9C"/>
                </ns144:solidFill>
                <ns144:latin typeface="Arial"/>
                <ns144:ea typeface="Arial"/>
                <ns144:cs typeface="Arial"/>
              </ns144:defRPr>
            </ns144:pPr>
            <ns144:r>
              <ns144:rPr sz="1250" b="1">
                <ns144:solidFill>
                  <ns144:srgbClr val="005A9C"/>
                </ns144:solidFill>
                <ns144:latin typeface="Arial"/>
                <ns144:ea typeface="Arial"/>
                <ns144:cs typeface="Arial"/>
              </ns144:rPr>
              <ns144:t>7  Tool development</ns144:t>
            </ns144:r>
          </ns144:p>
        </p:txBody>
      </p:sp>
      <p:sp>
        <p:nvSpPr>
          <p:cNvPr id="124" name="!!task.dev.outcome"/>
          <p:cNvSpPr/>
          <p:nvPr/>
        </p:nvSpPr>
        <p:spPr>
          <ns145:xfrm xmlns:ns145="http://schemas.openxmlformats.org/drawingml/2006/main">
            <ns145:off x="6127200" y="2919600"/>
            <ns145:ext cx="2559600" cy="3384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8000"/>
              </ns151:lnSpc>
              <ns151:defRPr sz="1100" b="0">
                <ns151:solidFill>
                  <ns151:srgbClr val="20262C"/>
                </ns151:solidFill>
                <ns151:latin typeface="Arial"/>
                <ns151:ea typeface="Arial"/>
                <ns151:cs typeface="Arial"/>
              </ns151:defRPr>
            </ns151:pPr>
            <ns151:r>
              <ns151:rPr sz="1100" b="0">
                <ns151:solidFill>
                  <ns151:srgbClr val="20262C"/>
                </ns151:solidFill>
                <ns151:latin typeface="Arial"/>
                <ns151:ea typeface="Arial"/>
                <ns151:cs typeface="Arial"/>
              </ns151:rPr>
              <ns151:t>Developers: code and test cases</ns151:t>
            </ns151:r>
          </ns151:p>
        </p:txBody>
      </p:sp>
      <p:sp>
        <p:nvSpPr>
          <p:cNvPr id="125" name="!!recommend.body"/>
          <p:cNvSpPr/>
          <p:nvPr/>
        </p:nvSpPr>
        <p:spPr>
          <ns152:xfrm xmlns:ns152="http://schemas.openxmlformats.org/drawingml/2006/main">
            <ns152:off x="457200" y="4212000"/>
            <ns152:ext cx="8229600" cy="187200"/>
          </ns152:xfrm>
          <ns153:prstGeom xmlns:ns153="http://schemas.openxmlformats.org/drawingml/2006/main" prst="rect">
            <ns153:avLst/>
          </ns153:prstGeom>
          <ns154:noFill xmlns:ns154="http://schemas.openxmlformats.org/drawingml/2006/main"/>
          <ns155:ln xmlns:ns155="http://schemas.openxmlformats.org/drawingml/2006/main" w="0">
            <ns155:noFill/>
          </ns155:ln>
        </p:spPr>
        <p:txBody>
          <ns156:bodyPr xmlns:ns156="http://schemas.openxmlformats.org/drawingml/2006/main" wrap="square" lIns="0" rIns="0" tIns="0" bIns="0" anchor="t">
            <ns156:noAutofit/>
          </ns156:bodyPr>
          <ns157:lstStyle xmlns:ns157="http://schemas.openxmlformats.org/drawingml/2006/main"/>
          <ns158:p xmlns:ns158="http://schemas.openxmlformats.org/drawingml/2006/main">
            <ns158:pPr algn="l">
              <ns158:lnSpc>
                <ns158:spcPct val="108000"/>
              </ns158:lnSpc>
              <ns158:defRPr sz="1200" b="0">
                <ns158:solidFill>
                  <ns158:srgbClr val="20262C"/>
                </ns158:solidFill>
                <ns158:latin typeface="Arial"/>
                <ns158:ea typeface="Arial"/>
                <ns158:cs typeface="Arial"/>
              </ns158:defRPr>
            </ns158:pPr>
            <ns158:r>
              <ns158:rPr sz="1200" b="0">
                <ns158:solidFill>
                  <ns158:srgbClr val="20262C"/>
                </ns158:solidFill>
                <ns158:latin typeface="Arial"/>
                <ns158:ea typeface="Arial"/>
                <ns158:cs typeface="Arial"/>
              </ns158:rPr>
              <ns158:t>LLMs assist with reading, comparison and drafting. People check the results and exercise judgment.</ns158:t>
            </ns158:r>
          </ns158:p>
        </p:txBody>
      </p:sp>
    </p:spTree>
    <p:extLst>
      <p:ext uri="{BB962C8B-B14F-4D97-AF65-F5344CB8AC3E}">
        <p14:creationId xmlns:p14="http://schemas.microsoft.com/office/powerpoint/2010/main" val="17012951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Two information flows across the firm</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Cross-team collaboration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cross.head0"/>
          <p:cNvSpPr/>
          <p:nvPr/>
        </p:nvSpPr>
        <p:spPr>
          <ns17:xfrm xmlns:ns17="http://schemas.openxmlformats.org/drawingml/2006/main">
            <ns17:off x="457200" y="1512000"/>
            <ns17:ext cx="2559600" cy="2232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1400" b="1">
                <ns23:solidFill>
                  <ns23:srgbClr val="005A9C"/>
                </ns23:solidFill>
                <ns23:latin typeface="Arial"/>
                <ns23:ea typeface="Arial"/>
                <ns23:cs typeface="Arial"/>
              </ns23:defRPr>
            </ns23:pPr>
            <ns23:r>
              <ns23:rPr sz="1400" b="1">
                <ns23:solidFill>
                  <ns23:srgbClr val="005A9C"/>
                </ns23:solidFill>
                <ns23:latin typeface="Arial"/>
                <ns23:ea typeface="Arial"/>
                <ns23:cs typeface="Arial"/>
              </ns23:rPr>
              <ns23:t>Front office</ns23:t>
            </ns23:r>
          </ns23:p>
        </p:txBody>
      </p:sp>
      <p:cxnSp>
        <p:nvCxnSpPr>
          <p:cNvPr id="105" name="cross.head0.rule"/>
          <p:cNvCxnSpPr/>
          <p:nvPr/>
        </p:nvCxnSpPr>
        <p:spPr>
          <ns24:xfrm xmlns:ns24="http://schemas.openxmlformats.org/drawingml/2006/main">
            <ns24:off x="457200" y="1771200"/>
            <ns24:ext cx="2559600" cy="1"/>
          </ns24:xfrm>
          <ns25:prstGeom xmlns:ns25="http://schemas.openxmlformats.org/drawingml/2006/main" prst="line">
            <ns25:avLst/>
          </ns25:prstGeom>
          <ns26:ln xmlns:ns26="http://schemas.openxmlformats.org/drawingml/2006/main" w="12700">
            <ns26:solidFill>
              <ns26:srgbClr val="005A9C"/>
            </ns26:solidFill>
          </ns26:ln>
        </p:spPr>
      </p:cxnSp>
      <p:sp>
        <p:nvSpPr>
          <p:cNvPr id="106" name="!!cross.head1"/>
          <p:cNvSpPr/>
          <p:nvPr/>
        </p:nvSpPr>
        <p:spPr>
          <ns27:xfrm xmlns:ns27="http://schemas.openxmlformats.org/drawingml/2006/main">
            <ns27:off x="3294000" y="1512000"/>
            <ns27:ext cx="2556000" cy="223200"/>
          </ns27:xfrm>
          <ns28:prstGeom xmlns:ns28="http://schemas.openxmlformats.org/drawingml/2006/main" prst="rect">
            <ns28:avLst/>
          </ns28:prstGeom>
          <ns29:noFill xmlns:ns29="http://schemas.openxmlformats.org/drawingml/2006/main"/>
          <ns30:ln xmlns:ns30="http://schemas.openxmlformats.org/drawingml/2006/main" w="0">
            <ns30:noFill/>
          </ns30:ln>
        </p:spPr>
        <p:txBody>
          <ns31:bodyPr xmlns:ns31="http://schemas.openxmlformats.org/drawingml/2006/main" wrap="square" lIns="0" rIns="0" tIns="0" bIns="0" anchor="t">
            <ns31:noAutofit/>
          </ns31:bodyPr>
          <ns32:lstStyle xmlns:ns32="http://schemas.openxmlformats.org/drawingml/2006/main"/>
          <ns33:p xmlns:ns33="http://schemas.openxmlformats.org/drawingml/2006/main">
            <ns33:pPr algn="l">
              <ns33:lnSpc>
                <ns33:spcPct val="108000"/>
              </ns33:lnSpc>
              <ns33:defRPr sz="1400" b="1">
                <ns33:solidFill>
                  <ns33:srgbClr val="005A9C"/>
                </ns33:solidFill>
                <ns33:latin typeface="Arial"/>
                <ns33:ea typeface="Arial"/>
                <ns33:cs typeface="Arial"/>
              </ns33:defRPr>
            </ns33:pPr>
            <ns33:r>
              <ns33:rPr sz="1400" b="1">
                <ns33:solidFill>
                  <ns33:srgbClr val="005A9C"/>
                </ns33:solidFill>
                <ns33:latin typeface="Arial"/>
                <ns33:ea typeface="Arial"/>
                <ns33:cs typeface="Arial"/>
              </ns33:rPr>
              <ns33:t>Middle office</ns33:t>
            </ns33:r>
          </ns33:p>
        </p:txBody>
      </p:sp>
      <p:cxnSp>
        <p:nvCxnSpPr>
          <p:cNvPr id="107" name="cross.head1.rule"/>
          <p:cNvCxnSpPr/>
          <p:nvPr/>
        </p:nvCxnSpPr>
        <p:spPr>
          <ns34:xfrm xmlns:ns34="http://schemas.openxmlformats.org/drawingml/2006/main">
            <ns34:off x="3294000" y="1771200"/>
            <ns34:ext cx="2556000" cy="1"/>
          </ns34:xfrm>
          <ns35:prstGeom xmlns:ns35="http://schemas.openxmlformats.org/drawingml/2006/main" prst="line">
            <ns35:avLst/>
          </ns35:prstGeom>
          <ns36:ln xmlns:ns36="http://schemas.openxmlformats.org/drawingml/2006/main" w="12700">
            <ns36:solidFill>
              <ns36:srgbClr val="005A9C"/>
            </ns36:solidFill>
          </ns36:ln>
        </p:spPr>
      </p:cxnSp>
      <p:sp>
        <p:nvSpPr>
          <p:cNvPr id="108" name="!!cross.head2"/>
          <p:cNvSpPr/>
          <p:nvPr/>
        </p:nvSpPr>
        <p:spPr>
          <ns37:xfrm xmlns:ns37="http://schemas.openxmlformats.org/drawingml/2006/main">
            <ns37:off x="6127200" y="1512000"/>
            <ns37:ext cx="2559600" cy="223200"/>
          </ns37:xfrm>
          <ns38:prstGeom xmlns:ns38="http://schemas.openxmlformats.org/drawingml/2006/main" prst="rect">
            <ns38:avLst/>
          </ns38:prstGeom>
          <ns39:noFill xmlns:ns39="http://schemas.openxmlformats.org/drawingml/2006/main"/>
          <ns40:ln xmlns:ns40="http://schemas.openxmlformats.org/drawingml/2006/main" w="0">
            <ns40:noFill/>
          </ns40:ln>
        </p:spPr>
        <p:txBody>
          <ns41:bodyPr xmlns:ns41="http://schemas.openxmlformats.org/drawingml/2006/main" wrap="square" lIns="0" rIns="0" tIns="0" bIns="0" anchor="t">
            <ns41:noAutofit/>
          </ns41:bodyPr>
          <ns42:lstStyle xmlns:ns42="http://schemas.openxmlformats.org/drawingml/2006/main"/>
          <ns43:p xmlns:ns43="http://schemas.openxmlformats.org/drawingml/2006/main">
            <ns43:pPr algn="l">
              <ns43:lnSpc>
                <ns43:spcPct val="108000"/>
              </ns43:lnSpc>
              <ns43:defRPr sz="1400" b="1">
                <ns43:solidFill>
                  <ns43:srgbClr val="005A9C"/>
                </ns43:solidFill>
                <ns43:latin typeface="Arial"/>
                <ns43:ea typeface="Arial"/>
                <ns43:cs typeface="Arial"/>
              </ns43:defRPr>
            </ns43:pPr>
            <ns43:r>
              <ns43:rPr sz="1400" b="1">
                <ns43:solidFill>
                  <ns43:srgbClr val="005A9C"/>
                </ns43:solidFill>
                <ns43:latin typeface="Arial"/>
                <ns43:ea typeface="Arial"/>
                <ns43:cs typeface="Arial"/>
              </ns43:rPr>
              <ns43:t>Back office</ns43:t>
            </ns43:r>
          </ns43:p>
        </p:txBody>
      </p:sp>
      <p:cxnSp>
        <p:nvCxnSpPr>
          <p:cNvPr id="109" name="cross.head2.rule"/>
          <p:cNvCxnSpPr/>
          <p:nvPr/>
        </p:nvCxnSpPr>
        <p:spPr>
          <ns44:xfrm xmlns:ns44="http://schemas.openxmlformats.org/drawingml/2006/main">
            <ns44:off x="6127200" y="1771200"/>
            <ns44:ext cx="2559600" cy="1"/>
          </ns44:xfrm>
          <ns45:prstGeom xmlns:ns45="http://schemas.openxmlformats.org/drawingml/2006/main" prst="line">
            <ns45:avLst/>
          </ns45:prstGeom>
          <ns46:ln xmlns:ns46="http://schemas.openxmlformats.org/drawingml/2006/main" w="12700">
            <ns46:solidFill>
              <ns46:srgbClr val="005A9C"/>
            </ns46:solidFill>
          </ns46:ln>
        </p:spPr>
      </p:cxnSp>
      <p:sp>
        <p:nvSpPr>
          <p:cNvPr id="110" name="!!cross.issuer"/>
          <p:cNvSpPr/>
          <p:nvPr/>
        </p:nvSpPr>
        <p:spPr>
          <ns47:xfrm xmlns:ns47="http://schemas.openxmlformats.org/drawingml/2006/main">
            <ns47:off x="457200" y="2034000"/>
            <ns47:ext cx="8229600" cy="234000"/>
          </ns47:xfrm>
          <ns48:prstGeom xmlns:ns48="http://schemas.openxmlformats.org/drawingml/2006/main" prst="rect">
            <ns48:avLst/>
          </ns48:prstGeom>
          <ns49:noFill xmlns:ns49="http://schemas.openxmlformats.org/drawingml/2006/main"/>
          <ns50:ln xmlns:ns50="http://schemas.openxmlformats.org/drawingml/2006/main" w="0">
            <ns50:noFill/>
          </ns50:ln>
        </p:spPr>
        <p:txBody>
          <ns51:bodyPr xmlns:ns51="http://schemas.openxmlformats.org/drawingml/2006/main" wrap="square" lIns="0" rIns="0" tIns="0" bIns="0" anchor="t">
            <ns51:noAutofit/>
          </ns51:bodyPr>
          <ns52:lstStyle xmlns:ns52="http://schemas.openxmlformats.org/drawingml/2006/main"/>
          <ns53:p xmlns:ns53="http://schemas.openxmlformats.org/drawingml/2006/main">
            <ns53:pPr algn="l">
              <ns53:lnSpc>
                <ns53:spcPct val="108000"/>
              </ns53:lnSpc>
              <ns53:defRPr sz="1400" b="1">
                <ns53:solidFill>
                  <ns53:srgbClr val="317F7B"/>
                </ns53:solidFill>
                <ns53:latin typeface="Arial"/>
                <ns53:ea typeface="Arial"/>
                <ns53:cs typeface="Arial"/>
              </ns53:defRPr>
            </ns53:pPr>
            <ns53:r>
              <ns53:rPr sz="1400" b="1">
                <ns53:solidFill>
                  <ns53:srgbClr val="317F7B"/>
                </ns53:solidFill>
                <ns53:latin typeface="Arial"/>
                <ns53:ea typeface="Arial"/>
                <ns53:cs typeface="Arial"/>
              </ns53:rPr>
              <ns53:t>Company A</ns53:t>
            </ns53:r>
          </ns53:p>
        </p:txBody>
      </p:sp>
      <p:sp>
        <p:nvSpPr>
          <p:cNvPr id="111" name="information.lane.0"/>
          <p:cNvSpPr/>
          <p:nvPr/>
        </p:nvSpPr>
        <p:spPr>
          <ns54:xfrm xmlns:ns54="http://schemas.openxmlformats.org/drawingml/2006/main">
            <ns54:off x="457200" y="2386800"/>
            <ns54:ext cx="8229600" cy="630000"/>
          </ns54:xfrm>
          <ns55:prstGeom xmlns:ns55="http://schemas.openxmlformats.org/drawingml/2006/main" prst="rect">
            <ns55:avLst/>
          </ns55:prstGeom>
          <ns56:solidFill xmlns:ns56="http://schemas.openxmlformats.org/drawingml/2006/main">
            <ns56:srgbClr val="EFF6F4"/>
          </ns56:solidFill>
          <ns57:ln xmlns:ns57="http://schemas.openxmlformats.org/drawingml/2006/main" w="0">
            <ns57:noFill/>
          </ns57:ln>
        </p:spPr>
      </p:sp>
      <p:sp>
        <p:nvSpPr>
          <p:cNvPr id="112" name="!!cross.0.0"/>
          <p:cNvSpPr/>
          <p:nvPr/>
        </p:nvSpPr>
        <p:spPr>
          <ns58:xfrm xmlns:ns58="http://schemas.openxmlformats.org/drawingml/2006/main">
            <ns58:off x="514800" y="2451600"/>
            <ns58:ext cx="2444400" cy="507600"/>
          </ns58:xfrm>
          <ns59:prstGeom xmlns:ns59="http://schemas.openxmlformats.org/drawingml/2006/main" prst="rect">
            <ns59:avLst/>
          </ns59:prstGeom>
          <ns60:noFill xmlns:ns60="http://schemas.openxmlformats.org/drawingml/2006/main"/>
          <ns61:ln xmlns:ns61="http://schemas.openxmlformats.org/drawingml/2006/main" w="0">
            <ns61:noFill/>
          </ns61:ln>
        </p:spPr>
        <p:txBody>
          <ns62:bodyPr xmlns:ns62="http://schemas.openxmlformats.org/drawingml/2006/main" wrap="square" lIns="0" rIns="0" tIns="0" bIns="0" anchor="t">
            <ns62:noAutofit/>
          </ns62:bodyPr>
          <ns63:lstStyle xmlns:ns63="http://schemas.openxmlformats.org/drawingml/2006/main"/>
          <ns64:p xmlns:ns64="http://schemas.openxmlformats.org/drawingml/2006/main">
            <ns64:pPr algn="l">
              <ns64:lnSpc>
                <ns64:spcPct val="108000"/>
              </ns64:lnSpc>
              <ns64:defRPr sz="1200" b="1">
                <ns64:solidFill>
                  <ns64:srgbClr val="20262C"/>
                </ns64:solidFill>
                <ns64:latin typeface="Arial"/>
                <ns64:ea typeface="Arial"/>
                <ns64:cs typeface="Arial"/>
              </ns64:defRPr>
            </ns64:pPr>
            <ns64:r>
              <ns64:rPr sz="1200" b="1">
                <ns64:solidFill>
                  <ns64:srgbClr val="20262C"/>
                </ns64:solidFill>
                <ns64:latin typeface="Arial"/>
                <ns64:ea typeface="Arial"/>
                <ns64:cs typeface="Arial"/>
              </ns64:rPr>
              <ns64:t>Company research</ns64:t>
            </ns64:r>
          </ns64:p>
          <ns65:p xmlns:ns65="http://schemas.openxmlformats.org/drawingml/2006/main">
            <ns65:pPr algn="l">
              <ns65:lnSpc>
                <ns65:spcPct val="108000"/>
              </ns65:lnSpc>
              <ns65:defRPr sz="1200" b="1">
                <ns65:solidFill>
                  <ns65:srgbClr val="20262C"/>
                </ns65:solidFill>
                <ns65:latin typeface="Arial"/>
                <ns65:ea typeface="Arial"/>
                <ns65:cs typeface="Arial"/>
              </ns65:defRPr>
            </ns65:pPr>
            <ns65:r>
              <ns65:rPr sz="1200" b="1">
                <ns65:solidFill>
                  <ns65:srgbClr val="20262C"/>
                </ns65:solidFill>
                <ns65:latin typeface="Arial"/>
                <ns65:ea typeface="Arial"/>
                <ns65:cs typeface="Arial"/>
              </ns65:rPr>
              <ns65:t>Bond and quote summaries</ns65:t>
            </ns65:r>
          </ns65:p>
        </p:txBody>
      </p:sp>
      <p:cxnSp>
        <p:nvCxnSpPr>
          <p:cNvPr id="113" name="information.lane.0.flow.0"/>
          <p:cNvCxnSpPr/>
          <p:nvPr/>
        </p:nvCxnSpPr>
        <p:spPr>
          <ns66:xfrm xmlns:ns66="http://schemas.openxmlformats.org/drawingml/2006/main">
            <ns66:off x="3052800" y="2700000"/>
            <ns66:ext cx="198000" cy="1"/>
          </ns66:xfrm>
          <ns67:prstGeom xmlns:ns67="http://schemas.openxmlformats.org/drawingml/2006/main" prst="line">
            <ns67:avLst/>
          </ns67:prstGeom>
          <ns68:ln xmlns:ns68="http://schemas.openxmlformats.org/drawingml/2006/main" w="12700">
            <ns68:solidFill>
              <ns68:srgbClr val="317F7B"/>
            </ns68:solidFill>
            <ns68:tailEnd type="triangle" w="sm" len="sm"/>
          </ns68:ln>
        </p:spPr>
      </p:cxnSp>
      <p:sp>
        <p:nvSpPr>
          <p:cNvPr id="114" name="!!cross.0.1"/>
          <p:cNvSpPr/>
          <p:nvPr/>
        </p:nvSpPr>
        <p:spPr>
          <ns69:xfrm xmlns:ns69="http://schemas.openxmlformats.org/drawingml/2006/main">
            <ns69:off x="3351600" y="2451600"/>
            <ns69:ext cx="2440800" cy="507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8000"/>
              </ns75:lnSpc>
              <ns75:defRPr sz="1200" b="1">
                <ns75:solidFill>
                  <ns75:srgbClr val="20262C"/>
                </ns75:solidFill>
                <ns75:latin typeface="Arial"/>
                <ns75:ea typeface="Arial"/>
                <ns75:cs typeface="Arial"/>
              </ns75:defRPr>
            </ns75:pPr>
            <ns75:r>
              <ns75:rPr sz="1200" b="1">
                <ns75:solidFill>
                  <ns75:srgbClr val="20262C"/>
                </ns75:solidFill>
                <ns75:latin typeface="Arial"/>
                <ns75:ea typeface="Arial"/>
                <ns75:cs typeface="Arial"/>
              </ns75:rPr>
              <ns75:t>Event assessment</ns75:t>
            </ns75:r>
          </ns75:p>
          <ns76:p xmlns:ns76="http://schemas.openxmlformats.org/drawingml/2006/main">
            <ns76:pPr algn="l">
              <ns76:lnSpc>
                <ns76:spcPct val="108000"/>
              </ns76:lnSpc>
              <ns76:defRPr sz="1200" b="1">
                <ns76:solidFill>
                  <ns76:srgbClr val="20262C"/>
                </ns76:solidFill>
                <ns76:latin typeface="Arial"/>
                <ns76:ea typeface="Arial"/>
                <ns76:cs typeface="Arial"/>
              </ns76:defRPr>
            </ns76:pPr>
            <ns76:r>
              <ns76:rPr sz="1200" b="1">
                <ns76:solidFill>
                  <ns76:srgbClr val="20262C"/>
                </ns76:solidFill>
                <ns76:latin typeface="Arial"/>
                <ns76:ea typeface="Arial"/>
                <ns76:cs typeface="Arial"/>
              </ns76:rPr>
              <ns76:t>Exposure monitoring</ns76:t>
            </ns76:r>
          </ns76:p>
        </p:txBody>
      </p:sp>
      <p:cxnSp>
        <p:nvCxnSpPr>
          <p:cNvPr id="115" name="information.lane.0.flow.1"/>
          <p:cNvCxnSpPr/>
          <p:nvPr/>
        </p:nvCxnSpPr>
        <p:spPr>
          <ns77:xfrm xmlns:ns77="http://schemas.openxmlformats.org/drawingml/2006/main">
            <ns77:off x="5886000" y="2700000"/>
            <ns77:ext cx="198000" cy="1"/>
          </ns77:xfrm>
          <ns78:prstGeom xmlns:ns78="http://schemas.openxmlformats.org/drawingml/2006/main" prst="line">
            <ns78:avLst/>
          </ns78:prstGeom>
          <ns79:ln xmlns:ns79="http://schemas.openxmlformats.org/drawingml/2006/main" w="12700">
            <ns79:solidFill>
              <ns79:srgbClr val="317F7B"/>
            </ns79:solidFill>
            <ns79:tailEnd type="triangle" w="sm" len="sm"/>
          </ns79:ln>
        </p:spPr>
      </p:cxnSp>
      <p:sp>
        <p:nvSpPr>
          <p:cNvPr id="116" name="!!cross.0.2"/>
          <p:cNvSpPr/>
          <p:nvPr/>
        </p:nvSpPr>
        <p:spPr>
          <ns80:xfrm xmlns:ns80="http://schemas.openxmlformats.org/drawingml/2006/main">
            <ns80:off x="6184800" y="2451600"/>
            <ns80:ext cx="2444400" cy="5076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8000"/>
              </ns86:lnSpc>
              <ns86:defRPr sz="1200" b="1">
                <ns86:solidFill>
                  <ns86:srgbClr val="20262C"/>
                </ns86:solidFill>
                <ns86:latin typeface="Arial"/>
                <ns86:ea typeface="Arial"/>
                <ns86:cs typeface="Arial"/>
              </ns86:defRPr>
            </ns86:pPr>
            <ns86:r>
              <ns86:rPr sz="1200" b="1">
                <ns86:solidFill>
                  <ns86:srgbClr val="20262C"/>
                </ns86:solidFill>
                <ns86:latin typeface="Arial"/>
                <ns86:ea typeface="Arial"/>
                <ns86:cs typeface="Arial"/>
              </ns86:rPr>
              <ns86:t>Maintain related documents</ns86:t>
            </ns86:r>
          </ns86:p>
          <ns87:p xmlns:ns87="http://schemas.openxmlformats.org/drawingml/2006/main">
            <ns87:pPr algn="l">
              <ns87:lnSpc>
                <ns87:spcPct val="108000"/>
              </ns87:lnSpc>
              <ns87:defRPr sz="1200" b="1">
                <ns87:solidFill>
                  <ns87:srgbClr val="20262C"/>
                </ns87:solidFill>
                <ns87:latin typeface="Arial"/>
                <ns87:ea typeface="Arial"/>
                <ns87:cs typeface="Arial"/>
              </ns87:defRPr>
            </ns87:pPr>
            <ns87:r>
              <ns87:rPr sz="1200" b="1">
                <ns87:solidFill>
                  <ns87:srgbClr val="20262C"/>
                </ns87:solidFill>
                <ns87:latin typeface="Arial"/>
                <ns87:ea typeface="Arial"/>
                <ns87:cs typeface="Arial"/>
              </ns87:rPr>
              <ns87:t>Track revisions</ns87:t>
            </ns87:r>
          </ns87:p>
        </p:txBody>
      </p:sp>
      <p:sp>
        <p:nvSpPr>
          <p:cNvPr id="117" name="!!cross.client"/>
          <p:cNvSpPr/>
          <p:nvPr/>
        </p:nvSpPr>
        <p:spPr>
          <ns88:xfrm xmlns:ns88="http://schemas.openxmlformats.org/drawingml/2006/main">
            <ns88:off x="457200" y="3222000"/>
            <ns88:ext cx="8229600" cy="234000"/>
          </ns88:xfrm>
          <ns89:prstGeom xmlns:ns89="http://schemas.openxmlformats.org/drawingml/2006/main" prst="rect">
            <ns89:avLst/>
          </ns89:prstGeom>
          <ns90:noFill xmlns:ns90="http://schemas.openxmlformats.org/drawingml/2006/main"/>
          <ns91:ln xmlns:ns91="http://schemas.openxmlformats.org/drawingml/2006/main" w="0">
            <ns91:noFill/>
          </ns91:ln>
        </p:spPr>
        <p:txBody>
          <ns92:bodyPr xmlns:ns92="http://schemas.openxmlformats.org/drawingml/2006/main" wrap="square" lIns="0" rIns="0" tIns="0" bIns="0" anchor="t">
            <ns92:noAutofit/>
          </ns92:bodyPr>
          <ns93:lstStyle xmlns:ns93="http://schemas.openxmlformats.org/drawingml/2006/main"/>
          <ns94:p xmlns:ns94="http://schemas.openxmlformats.org/drawingml/2006/main">
            <ns94:pPr algn="l">
              <ns94:lnSpc>
                <ns94:spcPct val="108000"/>
              </ns94:lnSpc>
              <ns94:defRPr sz="1400" b="1">
                <ns94:solidFill>
                  <ns94:srgbClr val="7363A6"/>
                </ns94:solidFill>
                <ns94:latin typeface="Arial"/>
                <ns94:ea typeface="Arial"/>
                <ns94:cs typeface="Arial"/>
              </ns94:defRPr>
            </ns94:pPr>
            <ns94:r>
              <ns94:rPr sz="1400" b="1">
                <ns94:solidFill>
                  <ns94:srgbClr val="7363A6"/>
                </ns94:solidFill>
                <ns94:latin typeface="Arial"/>
                <ns94:ea typeface="Arial"/>
                <ns94:cs typeface="Arial"/>
              </ns94:rPr>
              <ns94:t>Quarterly client update</ns94:t>
            </ns94:r>
          </ns94:p>
        </p:txBody>
      </p:sp>
      <p:sp>
        <p:nvSpPr>
          <p:cNvPr id="118" name="information.lane.1"/>
          <p:cNvSpPr/>
          <p:nvPr/>
        </p:nvSpPr>
        <p:spPr>
          <ns95:xfrm xmlns:ns95="http://schemas.openxmlformats.org/drawingml/2006/main">
            <ns95:off x="457200" y="3574800"/>
            <ns95:ext cx="8229600" cy="630000"/>
          </ns95:xfrm>
          <ns96:prstGeom xmlns:ns96="http://schemas.openxmlformats.org/drawingml/2006/main" prst="rect">
            <ns96:avLst/>
          </ns96:prstGeom>
          <ns97:solidFill xmlns:ns97="http://schemas.openxmlformats.org/drawingml/2006/main">
            <ns97:srgbClr val="F3F0F8"/>
          </ns97:solidFill>
          <ns98:ln xmlns:ns98="http://schemas.openxmlformats.org/drawingml/2006/main" w="0">
            <ns98:noFill/>
          </ns98:ln>
        </p:spPr>
      </p:sp>
      <p:sp>
        <p:nvSpPr>
          <p:cNvPr id="119" name="!!cross.1.0"/>
          <p:cNvSpPr/>
          <p:nvPr/>
        </p:nvSpPr>
        <p:spPr>
          <ns99:xfrm xmlns:ns99="http://schemas.openxmlformats.org/drawingml/2006/main">
            <ns99:off x="514800" y="3639600"/>
            <ns99:ext cx="2444400" cy="507600"/>
          </ns99:xfrm>
          <ns100:prstGeom xmlns:ns100="http://schemas.openxmlformats.org/drawingml/2006/main" prst="rect">
            <ns100:avLst/>
          </ns100:prstGeom>
          <ns101:noFill xmlns:ns101="http://schemas.openxmlformats.org/drawingml/2006/main"/>
          <ns102:ln xmlns:ns102="http://schemas.openxmlformats.org/drawingml/2006/main" w="0">
            <ns102:noFill/>
          </ns102:ln>
        </p:spPr>
        <p:txBody>
          <ns103:bodyPr xmlns:ns103="http://schemas.openxmlformats.org/drawingml/2006/main" wrap="square" lIns="0" rIns="0" tIns="0" bIns="0" anchor="t">
            <ns103:noAutofit/>
          </ns103:bodyPr>
          <ns104:lstStyle xmlns:ns104="http://schemas.openxmlformats.org/drawingml/2006/main"/>
          <ns105:p xmlns:ns105="http://schemas.openxmlformats.org/drawingml/2006/main">
            <ns105:pPr algn="l">
              <ns105:lnSpc>
                <ns105:spcPct val="108000"/>
              </ns105:lnSpc>
              <ns105:defRPr sz="1200" b="1">
                <ns105:solidFill>
                  <ns105:srgbClr val="20262C"/>
                </ns105:solidFill>
                <ns105:latin typeface="Arial"/>
                <ns105:ea typeface="Arial"/>
                <ns105:cs typeface="Arial"/>
              </ns105:defRPr>
            </ns105:pPr>
            <ns105:r>
              <ns105:rPr sz="1200" b="1">
                <ns105:solidFill>
                  <ns105:srgbClr val="20262C"/>
                </ns105:solidFill>
                <ns105:latin typeface="Arial"/>
                <ns105:ea typeface="Arial"/>
                <ns105:cs typeface="Arial"/>
              </ns105:rPr>
              <ns105:t>Draft client update V1</ns105:t>
            </ns105:r>
          </ns105:p>
        </p:txBody>
      </p:sp>
      <p:cxnSp>
        <p:nvCxnSpPr>
          <p:cNvPr id="120" name="information.lane.1.flow.0"/>
          <p:cNvCxnSpPr/>
          <p:nvPr/>
        </p:nvCxnSpPr>
        <p:spPr>
          <ns106:xfrm xmlns:ns106="http://schemas.openxmlformats.org/drawingml/2006/main">
            <ns106:off x="3052800" y="3888000"/>
            <ns106:ext cx="198000" cy="1"/>
          </ns106:xfrm>
          <ns107:prstGeom xmlns:ns107="http://schemas.openxmlformats.org/drawingml/2006/main" prst="line">
            <ns107:avLst/>
          </ns107:prstGeom>
          <ns108:ln xmlns:ns108="http://schemas.openxmlformats.org/drawingml/2006/main" w="12700">
            <ns108:solidFill>
              <ns108:srgbClr val="7363A6"/>
            </ns108:solidFill>
            <ns108:tailEnd type="triangle" w="sm" len="sm"/>
          </ns108:ln>
        </p:spPr>
      </p:cxnSp>
      <p:sp>
        <p:nvSpPr>
          <p:cNvPr id="121" name="!!cross.1.1"/>
          <p:cNvSpPr/>
          <p:nvPr/>
        </p:nvSpPr>
        <p:spPr>
          <ns109:xfrm xmlns:ns109="http://schemas.openxmlformats.org/drawingml/2006/main">
            <ns109:off x="3351600" y="3639600"/>
            <ns109:ext cx="2440800" cy="5076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200" b="1">
                <ns115:solidFill>
                  <ns115:srgbClr val="20262C"/>
                </ns115:solidFill>
                <ns115:latin typeface="Arial"/>
                <ns115:ea typeface="Arial"/>
                <ns115:cs typeface="Arial"/>
              </ns115:defRPr>
            </ns115:pPr>
            <ns115:r>
              <ns115:rPr sz="1200" b="1">
                <ns115:solidFill>
                  <ns115:srgbClr val="20262C"/>
                </ns115:solidFill>
                <ns115:latin typeface="Arial"/>
                <ns115:ea typeface="Arial"/>
                <ns115:cs typeface="Arial"/>
              </ns115:rPr>
              <ns115:t>Review and revise V1 to V2</ns115:t>
            </ns115:r>
          </ns115:p>
        </p:txBody>
      </p:sp>
      <p:cxnSp>
        <p:nvCxnSpPr>
          <p:cNvPr id="122" name="information.lane.1.flow.1"/>
          <p:cNvCxnSpPr/>
          <p:nvPr/>
        </p:nvCxnSpPr>
        <p:spPr>
          <ns116:xfrm xmlns:ns116="http://schemas.openxmlformats.org/drawingml/2006/main">
            <ns116:off x="5886000" y="3888000"/>
            <ns116:ext cx="198000" cy="1"/>
          </ns116:xfrm>
          <ns117:prstGeom xmlns:ns117="http://schemas.openxmlformats.org/drawingml/2006/main" prst="line">
            <ns117:avLst/>
          </ns117:prstGeom>
          <ns118:ln xmlns:ns118="http://schemas.openxmlformats.org/drawingml/2006/main" w="12700">
            <ns118:solidFill>
              <ns118:srgbClr val="7363A6"/>
            </ns118:solidFill>
            <ns118:tailEnd type="triangle" w="sm" len="sm"/>
          </ns118:ln>
        </p:spPr>
      </p:cxnSp>
      <p:sp>
        <p:nvSpPr>
          <p:cNvPr id="123" name="!!cross.1.2"/>
          <p:cNvSpPr/>
          <p:nvPr/>
        </p:nvSpPr>
        <p:spPr>
          <ns119:xfrm xmlns:ns119="http://schemas.openxmlformats.org/drawingml/2006/main">
            <ns119:off x="6184800" y="3639600"/>
            <ns119:ext cx="2444400" cy="5076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8000"/>
              </ns125:lnSpc>
              <ns125:defRPr sz="1200" b="1">
                <ns125:solidFill>
                  <ns125:srgbClr val="20262C"/>
                </ns125:solidFill>
                <ns125:latin typeface="Arial"/>
                <ns125:ea typeface="Arial"/>
                <ns125:cs typeface="Arial"/>
              </ns125:defRPr>
            </ns125:pPr>
            <ns125:r>
              <ns125:rPr sz="1200" b="1">
                <ns125:solidFill>
                  <ns125:srgbClr val="20262C"/>
                </ns125:solidFill>
                <ns125:latin typeface="Arial"/>
                <ns125:ea typeface="Arial"/>
                <ns125:cs typeface="Arial"/>
              </ns125:rPr>
              <ns125:t>Compare versions</ns125:t>
            </ns125:r>
          </ns125:p>
          <ns126:p xmlns:ns126="http://schemas.openxmlformats.org/drawingml/2006/main">
            <ns126:pPr algn="l">
              <ns126:lnSpc>
                <ns126:spcPct val="108000"/>
              </ns126:lnSpc>
              <ns126:defRPr sz="1200" b="1">
                <ns126:solidFill>
                  <ns126:srgbClr val="20262C"/>
                </ns126:solidFill>
                <ns126:latin typeface="Arial"/>
                <ns126:ea typeface="Arial"/>
                <ns126:cs typeface="Arial"/>
              </ns126:defRPr>
            </ns126:pPr>
            <ns126:r>
              <ns126:rPr sz="1200" b="1">
                <ns126:solidFill>
                  <ns126:srgbClr val="20262C"/>
                </ns126:solidFill>
                <ns126:latin typeface="Arial"/>
                <ns126:ea typeface="Arial"/>
                <ns126:cs typeface="Arial"/>
              </ns126:rPr>
              <ns126:t>Update related materials</ns126:t>
            </ns126:r>
          </ns126:p>
        </p:txBody>
      </p:sp>
    </p:spTree>
    <p:extLst>
      <p:ext uri="{BB962C8B-B14F-4D97-AF65-F5344CB8AC3E}">
        <p14:creationId xmlns:p14="http://schemas.microsoft.com/office/powerpoint/2010/main" val="101643060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Shared information, models and tools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Shared capabilities</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source"/>
          <p:cNvSpPr/>
          <p:nvPr/>
        </p:nvSpPr>
        <p:spPr>
          <ns17:xfrm xmlns:ns17="http://schemas.openxmlformats.org/drawingml/2006/main">
            <ns17:off x="457200" y="4597200"/>
            <ns17:ext cx="8229600" cy="864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650" b="0">
                <ns23:solidFill>
                  <ns23:srgbClr val="687782"/>
                </ns23:solidFill>
                <ns23:latin typeface="Arial"/>
                <ns23:ea typeface="Arial"/>
                <ns23:cs typeface="Arial"/>
              </ns23:defRPr>
            </ns23:pPr>
            <ns23:r>
              <ns23:rPr sz="650" b="0">
                <ns23:solidFill>
                  <ns23:srgbClr val="687782"/>
                </ns23:solidFill>
                <ns23:latin typeface="Arial"/>
                <ns23:ea typeface="Arial"/>
                <ns23:cs typeface="Arial"/>
              </ns23:rPr>
              <ns23:t>Sources: Tianhong; Southern; ICBCUBS / AMAC</ns23:t>
            </ns23:r>
          </ns23:p>
        </p:txBody>
      </p:sp>
      <p:sp>
        <p:nvSpPr>
          <p:cNvPr id="105" name="locator.0"/>
          <p:cNvSpPr/>
          <p:nvPr/>
        </p:nvSpPr>
        <p:spPr>
          <ns24:xfrm xmlns:ns24="http://schemas.openxmlformats.org/drawingml/2006/main">
            <ns24:off x="457200" y="4446000"/>
            <ns24:ext cx="25596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Front office</ns30:t>
            </ns30:r>
          </ns30:p>
        </p:txBody>
      </p:sp>
      <p:sp>
        <p:nvSpPr>
          <p:cNvPr id="106" name="locator.1"/>
          <p:cNvSpPr/>
          <p:nvPr/>
        </p:nvSpPr>
        <p:spPr>
          <ns31:xfrm xmlns:ns31="http://schemas.openxmlformats.org/drawingml/2006/main">
            <ns31:off x="3294000" y="4446000"/>
            <ns31:ext cx="25560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Middle office</ns37:t>
            </ns37:r>
          </ns37:p>
        </p:txBody>
      </p:sp>
      <p:sp>
        <p:nvSpPr>
          <p:cNvPr id="107" name="locator.2"/>
          <p:cNvSpPr/>
          <p:nvPr/>
        </p:nvSpPr>
        <p:spPr>
          <ns38:xfrm xmlns:ns38="http://schemas.openxmlformats.org/drawingml/2006/main">
            <ns38:off x="6127200" y="4446000"/>
            <ns38:ext cx="2559600" cy="1008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800" b="0">
                <ns44:solidFill>
                  <ns44:srgbClr val="687782"/>
                </ns44:solidFill>
                <ns44:latin typeface="Arial"/>
                <ns44:ea typeface="Arial"/>
                <ns44:cs typeface="Arial"/>
              </ns44:defRPr>
            </ns44:pPr>
            <ns44:r>
              <ns44:rPr sz="800" b="0">
                <ns44:solidFill>
                  <ns44:srgbClr val="687782"/>
                </ns44:solidFill>
                <ns44:latin typeface="Arial"/>
                <ns44:ea typeface="Arial"/>
                <ns44:cs typeface="Arial"/>
              </ns44:rPr>
              <ns44:t>Back office</ns44:t>
            </ns44:r>
          </ns44:p>
        </p:txBody>
      </p:sp>
      <p:sp>
        <p:nvSpPr>
          <p:cNvPr id="108" name="!!arch.entry"/>
          <p:cNvSpPr/>
          <p:nvPr/>
        </p:nvSpPr>
        <p:spPr>
          <ns45:xfrm xmlns:ns45="http://schemas.openxmlformats.org/drawingml/2006/main">
            <ns45:off x="457200" y="1468800"/>
            <ns45:ext cx="8229600" cy="273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350" b="1">
                <ns51:solidFill>
                  <ns51:srgbClr val="005A9C"/>
                </ns51:solidFill>
                <ns51:latin typeface="Arial"/>
                <ns51:ea typeface="Arial"/>
                <ns51:cs typeface="Arial"/>
              </ns51:defRPr>
            </ns51:pPr>
            <ns51:r>
              <ns51:rPr sz="1350" b="1">
                <ns51:solidFill>
                  <ns51:srgbClr val="005A9C"/>
                </ns51:solidFill>
                <ns51:latin typeface="Arial"/>
                <ns51:ea typeface="Arial"/>
                <ns51:cs typeface="Arial"/>
              </ns51:rPr>
              <ns51:t>Employees provide a business question and the relevant material</ns51:t>
            </ns51:r>
          </ns51:p>
        </p:txBody>
      </p:sp>
      <p:cxnSp>
        <p:nvCxnSpPr>
          <p:cNvPr id="109" name="architecture.entry"/>
          <p:cNvCxnSpPr/>
          <p:nvPr/>
        </p:nvCxnSpPr>
        <p:spPr>
          <ns52:xfrm xmlns:ns52="http://schemas.openxmlformats.org/drawingml/2006/main">
            <ns52:off x="4572000" y="1800000"/>
            <ns52:ext cx="1" cy="151200"/>
          </ns52:xfrm>
          <ns53:prstGeom xmlns:ns53="http://schemas.openxmlformats.org/drawingml/2006/main" prst="line">
            <ns53:avLst/>
          </ns53:prstGeom>
          <ns54:ln xmlns:ns54="http://schemas.openxmlformats.org/drawingml/2006/main" w="12700">
            <ns54:solidFill>
              <ns54:srgbClr val="005A9C"/>
            </ns54:solidFill>
            <ns54:tailEnd type="triangle" w="sm" len="sm"/>
          </ns54:ln>
        </p:spPr>
      </p:cxnSp>
      <p:sp>
        <p:nvSpPr>
          <p:cNvPr id="110" name="!!arch.workflow"/>
          <p:cNvSpPr/>
          <p:nvPr/>
        </p:nvSpPr>
        <p:spPr>
          <ns55:xfrm xmlns:ns55="http://schemas.openxmlformats.org/drawingml/2006/main">
            <ns55:off x="457200" y="2008800"/>
            <ns55:ext cx="8229600" cy="298800"/>
          </ns55:xfrm>
          <ns56:prstGeom xmlns:ns56="http://schemas.openxmlformats.org/drawingml/2006/main" prst="rect">
            <ns56:avLst/>
          </ns56:prstGeom>
          <ns57:solidFill xmlns:ns57="http://schemas.openxmlformats.org/drawingml/2006/main">
            <ns57:srgbClr val="005A9C"/>
          </ns57:solidFill>
          <ns58:ln xmlns:ns58="http://schemas.openxmlformats.org/drawingml/2006/main" w="0">
            <ns58:noFill/>
          </ns58:ln>
        </p:spPr>
        <p:txBody>
          <ns59:bodyPr xmlns:ns59="http://schemas.openxmlformats.org/drawingml/2006/main" wrap="square" lIns="50400" rIns="50400" tIns="50400" bIns="50400" anchor="t">
            <ns59:noAutofit/>
          </ns59:bodyPr>
          <ns60:lstStyle xmlns:ns60="http://schemas.openxmlformats.org/drawingml/2006/main"/>
          <ns61:p xmlns:ns61="http://schemas.openxmlformats.org/drawingml/2006/main">
            <ns61:pPr algn="l">
              <ns61:lnSpc>
                <ns61:spcPct val="108000"/>
              </ns61:lnSpc>
              <ns61:defRPr sz="1400" b="1">
                <ns61:solidFill>
                  <ns61:srgbClr val="FFFFFF"/>
                </ns61:solidFill>
                <ns61:latin typeface="Arial"/>
                <ns61:ea typeface="Arial"/>
                <ns61:cs typeface="Arial"/>
              </ns61:defRPr>
            </ns61:pPr>
            <ns61:r>
              <ns61:rPr sz="1400" b="1">
                <ns61:solidFill>
                  <ns61:srgbClr val="FFFFFF"/>
                </ns61:solidFill>
                <ns61:latin typeface="Arial"/>
                <ns61:ea typeface="Arial"/>
                <ns61:cs typeface="Arial"/>
              </ns61:rPr>
              <ns61:t>Applications across the seven business areas</ns61:t>
            </ns61:r>
          </ns61:p>
        </p:txBody>
      </p:sp>
      <p:cxnSp>
        <p:nvCxnSpPr>
          <p:cNvPr id="111" name="architecture.branch"/>
          <p:cNvCxnSpPr/>
          <p:nvPr/>
        </p:nvCxnSpPr>
        <p:spPr>
          <ns62:xfrm xmlns:ns62="http://schemas.openxmlformats.org/drawingml/2006/main">
            <ns62:off x="2426400" y="2440800"/>
            <ns62:ext cx="4294800" cy="1"/>
          </ns62:xfrm>
          <ns63:prstGeom xmlns:ns63="http://schemas.openxmlformats.org/drawingml/2006/main" prst="line">
            <ns63:avLst/>
          </ns63:prstGeom>
          <ns64:ln xmlns:ns64="http://schemas.openxmlformats.org/drawingml/2006/main" w="12700">
            <ns64:solidFill>
              <ns64:srgbClr val="005A9C"/>
            </ns64:solidFill>
          </ns64:ln>
        </p:spPr>
      </p:cxnSp>
      <p:cxnSp>
        <p:nvCxnSpPr>
          <p:cNvPr id="112" name="architecture.trunk"/>
          <p:cNvCxnSpPr/>
          <p:nvPr/>
        </p:nvCxnSpPr>
        <p:spPr>
          <ns65:xfrm xmlns:ns65="http://schemas.openxmlformats.org/drawingml/2006/main">
            <ns65:off x="4572000" y="2314800"/>
            <ns65:ext cx="1" cy="126000"/>
          </ns65:xfrm>
          <ns66:prstGeom xmlns:ns66="http://schemas.openxmlformats.org/drawingml/2006/main" prst="line">
            <ns66:avLst/>
          </ns66:prstGeom>
          <ns67:ln xmlns:ns67="http://schemas.openxmlformats.org/drawingml/2006/main" w="12700">
            <ns67:solidFill>
              <ns67:srgbClr val="005A9C"/>
            </ns67:solidFill>
          </ns67:ln>
        </p:spPr>
      </p:cxnSp>
      <p:cxnSp>
        <p:nvCxnSpPr>
          <p:cNvPr id="113" name="arch.model.input"/>
          <p:cNvCxnSpPr/>
          <p:nvPr/>
        </p:nvCxnSpPr>
        <p:spPr>
          <ns68:xfrm xmlns:ns68="http://schemas.openxmlformats.org/drawingml/2006/main">
            <ns68:off x="2422800" y="2440800"/>
            <ns68:ext cx="1" cy="97200"/>
          </ns68:xfrm>
          <ns69:prstGeom xmlns:ns69="http://schemas.openxmlformats.org/drawingml/2006/main" prst="line">
            <ns69:avLst/>
          </ns69:prstGeom>
          <ns70:ln xmlns:ns70="http://schemas.openxmlformats.org/drawingml/2006/main" w="12700">
            <ns70:solidFill>
              <ns70:srgbClr val="005A9C"/>
            </ns70:solidFill>
            <ns70:tailEnd type="triangle" w="sm" len="sm"/>
          </ns70:ln>
        </p:spPr>
      </p:cxnSp>
      <p:sp>
        <p:nvSpPr>
          <p:cNvPr id="114" name="!!arch.model.role"/>
          <p:cNvSpPr/>
          <p:nvPr/>
        </p:nvSpPr>
        <p:spPr>
          <ns71:xfrm xmlns:ns71="http://schemas.openxmlformats.org/drawingml/2006/main">
            <ns71:off x="457200" y="2613600"/>
            <ns71:ext cx="3934800" cy="3168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8000"/>
              </ns77:lnSpc>
              <ns77:defRPr sz="1250" b="1">
                <ns77:solidFill>
                  <ns77:srgbClr val="005A9C"/>
                </ns77:solidFill>
                <ns77:latin typeface="Arial"/>
                <ns77:ea typeface="Arial"/>
                <ns77:cs typeface="Arial"/>
              </ns77:defRPr>
            </ns77:pPr>
            <ns77:r>
              <ns77:rPr sz="1250" b="1">
                <ns77:solidFill>
                  <ns77:srgbClr val="005A9C"/>
                </ns77:solidFill>
                <ns77:latin typeface="Arial"/>
                <ns77:ea typeface="Arial"/>
                <ns77:cs typeface="Arial"/>
              </ns77:rPr>
              <ns77:t>LLMs interpret, compare and draft content</ns77:t>
            </ns77:r>
          </ns77:p>
        </p:txBody>
      </p:sp>
      <p:sp>
        <p:nvSpPr>
          <p:cNvPr id="115" name="!!arch.model.body"/>
          <p:cNvSpPr/>
          <p:nvPr/>
        </p:nvSpPr>
        <p:spPr>
          <ns78:xfrm xmlns:ns78="http://schemas.openxmlformats.org/drawingml/2006/main">
            <ns78:off x="457200" y="3038400"/>
            <ns78:ext cx="3934800" cy="6696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8000"/>
              </ns84:lnSpc>
              <ns84:defRPr sz="1200" b="0">
                <ns84:solidFill>
                  <ns84:srgbClr val="20262C"/>
                </ns84:solidFill>
                <ns84:latin typeface="Arial"/>
                <ns84:ea typeface="Arial"/>
                <ns84:cs typeface="Arial"/>
              </ns84:defRPr>
            </ns84:pPr>
            <ns84:r>
              <ns84:rPr sz="1200" b="0">
                <ns84:solidFill>
                  <ns84:srgbClr val="20262C"/>
                </ns84:solidFill>
                <ns84:latin typeface="Arial"/>
                <ns84:ea typeface="Arial"/>
                <ns84:cs typeface="Arial"/>
              </ns84:rPr>
              <ns84:t>Interpret questions and read sources</ns84:t>
            </ns84:r>
          </ns84:p>
          <ns85:p xmlns:ns85="http://schemas.openxmlformats.org/drawingml/2006/main">
            <ns85:pPr algn="l">
              <ns85:lnSpc>
                <ns85:spcPct val="108000"/>
              </ns85:lnSpc>
              <ns85:defRPr sz="1200" b="0">
                <ns85:solidFill>
                  <ns85:srgbClr val="20262C"/>
                </ns85:solidFill>
                <ns85:latin typeface="Arial"/>
                <ns85:ea typeface="Arial"/>
                <ns85:cs typeface="Arial"/>
              </ns85:defRPr>
            </ns85:pPr>
            <ns85:r>
              <ns85:rPr sz="1200" b="0">
                <ns85:solidFill>
                  <ns85:srgbClr val="20262C"/>
                </ns85:solidFill>
                <ns85:latin typeface="Arial"/>
                <ns85:ea typeface="Arial"/>
                <ns85:cs typeface="Arial"/>
              </ns85:rPr>
              <ns85:t>Compare and explain content</ns85:t>
            </ns85:r>
          </ns85:p>
          <ns86:p xmlns:ns86="http://schemas.openxmlformats.org/drawingml/2006/main">
            <ns86:pPr algn="l">
              <ns86:lnSpc>
                <ns86:spcPct val="108000"/>
              </ns86:lnSpc>
              <ns86:defRPr sz="1200" b="0">
                <ns86:solidFill>
                  <ns86:srgbClr val="20262C"/>
                </ns86:solidFill>
                <ns86:latin typeface="Arial"/>
                <ns86:ea typeface="Arial"/>
                <ns86:cs typeface="Arial"/>
              </ns86:defRPr>
            </ns86:pPr>
            <ns86:r>
              <ns86:rPr sz="1200" b="0">
                <ns86:solidFill>
                  <ns86:srgbClr val="20262C"/>
                </ns86:solidFill>
                <ns86:latin typeface="Arial"/>
                <ns86:ea typeface="Arial"/>
                <ns86:cs typeface="Arial"/>
              </ns86:rPr>
              <ns86:t>Draft text and code</ns86:t>
            </ns86:r>
          </ns86:p>
        </p:txBody>
      </p:sp>
      <p:cxnSp>
        <p:nvCxnSpPr>
          <p:cNvPr id="116" name="arch.tools.input"/>
          <p:cNvCxnSpPr/>
          <p:nvPr/>
        </p:nvCxnSpPr>
        <p:spPr>
          <ns87:xfrm xmlns:ns87="http://schemas.openxmlformats.org/drawingml/2006/main">
            <ns87:off x="6717600" y="2440800"/>
            <ns87:ext cx="1" cy="97200"/>
          </ns87:xfrm>
          <ns88:prstGeom xmlns:ns88="http://schemas.openxmlformats.org/drawingml/2006/main" prst="line">
            <ns88:avLst/>
          </ns88:prstGeom>
          <ns89:ln xmlns:ns89="http://schemas.openxmlformats.org/drawingml/2006/main" w="12700">
            <ns89:solidFill>
              <ns89:srgbClr val="005A9C"/>
            </ns89:solidFill>
            <ns89:tailEnd type="triangle" w="sm" len="sm"/>
          </ns89:ln>
        </p:spPr>
      </p:cxnSp>
      <p:sp>
        <p:nvSpPr>
          <p:cNvPr id="117" name="!!arch.tools.role"/>
          <p:cNvSpPr/>
          <p:nvPr/>
        </p:nvSpPr>
        <p:spPr>
          <ns90:xfrm xmlns:ns90="http://schemas.openxmlformats.org/drawingml/2006/main">
            <ns90:off x="4752000" y="2613600"/>
            <ns90:ext cx="3934800" cy="3168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8000"/>
              </ns96:lnSpc>
              <ns96:defRPr sz="1250" b="1">
                <ns96:solidFill>
                  <ns96:srgbClr val="005A9C"/>
                </ns96:solidFill>
                <ns96:latin typeface="Arial"/>
                <ns96:ea typeface="Arial"/>
                <ns96:cs typeface="Arial"/>
              </ns96:defRPr>
            </ns96:pPr>
            <ns96:r>
              <ns96:rPr sz="1250" b="1">
                <ns96:solidFill>
                  <ns96:srgbClr val="005A9C"/>
                </ns96:solidFill>
                <ns96:latin typeface="Arial"/>
                <ns96:ea typeface="Arial"/>
                <ns96:cs typeface="Arial"/>
              </ns96:rPr>
              <ns96:t>Tools execute specific operations</ns96:t>
            </ns96:r>
          </ns96:p>
        </p:txBody>
      </p:sp>
      <p:sp>
        <p:nvSpPr>
          <p:cNvPr id="118" name="!!arch.tools.body"/>
          <p:cNvSpPr/>
          <p:nvPr/>
        </p:nvSpPr>
        <p:spPr>
          <ns97:xfrm xmlns:ns97="http://schemas.openxmlformats.org/drawingml/2006/main">
            <ns97:off x="4752000" y="3038400"/>
            <ns97:ext cx="3934800" cy="669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8000"/>
              </ns103:lnSpc>
              <ns103:defRPr sz="1200" b="0">
                <ns103:solidFill>
                  <ns103:srgbClr val="20262C"/>
                </ns103:solidFill>
                <ns103:latin typeface="Arial"/>
                <ns103:ea typeface="Arial"/>
                <ns103:cs typeface="Arial"/>
              </ns103:defRPr>
            </ns103:pPr>
            <ns103:r>
              <ns103:rPr sz="1200" b="0">
                <ns103:solidFill>
                  <ns103:srgbClr val="20262C"/>
                </ns103:solidFill>
                <ns103:latin typeface="Arial"/>
                <ns103:ea typeface="Arial"/>
                <ns103:cs typeface="Arial"/>
              </ns103:rPr>
              <ns103:t>Query systems, perform calculations and process files</ns103:t>
            </ns103:r>
          </ns103:p>
          <ns104:p xmlns:ns104="http://schemas.openxmlformats.org/drawingml/2006/main">
            <ns104:pPr algn="l">
              <ns104:lnSpc>
                <ns104:spcPct val="108000"/>
              </ns104:lnSpc>
              <ns104:defRPr sz="1200" b="0">
                <ns104:solidFill>
                  <ns104:srgbClr val="20262C"/>
                </ns104:solidFill>
                <ns104:latin typeface="Arial"/>
                <ns104:ea typeface="Arial"/>
                <ns104:cs typeface="Arial"/>
              </ns104:defRPr>
            </ns104:pPr>
            <ns104:r>
              <ns104:rPr sz="1200" b="0">
                <ns104:solidFill>
                  <ns104:srgbClr val="20262C"/>
                </ns104:solidFill>
                <ns104:latin typeface="Arial"/>
                <ns104:ea typeface="Arial"/>
                <ns104:cs typeface="Arial"/>
              </ns104:rPr>
              <ns104:t>Run code and tests</ns104:t>
            </ns104:r>
          </ns104:p>
        </p:txBody>
      </p:sp>
      <p:sp>
        <p:nvSpPr>
          <p:cNvPr id="119" name="shared.data.band"/>
          <p:cNvSpPr/>
          <p:nvPr/>
        </p:nvSpPr>
        <p:spPr>
          <ns105:xfrm xmlns:ns105="http://schemas.openxmlformats.org/drawingml/2006/main">
            <ns105:off x="457200" y="3819600"/>
            <ns105:ext cx="8229600" cy="388800"/>
          </ns105:xfrm>
          <ns106:prstGeom xmlns:ns106="http://schemas.openxmlformats.org/drawingml/2006/main" prst="rect">
            <ns106:avLst/>
          </ns106:prstGeom>
          <ns107:solidFill xmlns:ns107="http://schemas.openxmlformats.org/drawingml/2006/main">
            <ns107:srgbClr val="F3F7FA"/>
          </ns107:solidFill>
          <ns108:ln xmlns:ns108="http://schemas.openxmlformats.org/drawingml/2006/main" w="0">
            <ns108:noFill/>
          </ns108:ln>
        </p:spPr>
      </p:sp>
      <p:sp>
        <p:nvSpPr>
          <p:cNvPr id="120" name="!!arch.data"/>
          <p:cNvSpPr/>
          <p:nvPr/>
        </p:nvSpPr>
        <p:spPr>
          <ns109:xfrm xmlns:ns109="http://schemas.openxmlformats.org/drawingml/2006/main">
            <ns109:off x="543600" y="3877200"/>
            <ns109:ext cx="8056800" cy="288000"/>
          </ns109:xfrm>
          <ns110:prstGeom xmlns:ns110="http://schemas.openxmlformats.org/drawingml/2006/main" prst="rect">
            <ns110:avLst/>
          </ns110:prstGeom>
          <ns111:noFill xmlns:ns111="http://schemas.openxmlformats.org/drawingml/2006/main"/>
          <ns112:ln xmlns:ns112="http://schemas.openxmlformats.org/drawingml/2006/main" w="0">
            <ns112:noFill/>
          </ns112:ln>
        </p:spPr>
        <p:txBody>
          <ns113:bodyPr xmlns:ns113="http://schemas.openxmlformats.org/drawingml/2006/main" wrap="square" lIns="0" rIns="0" tIns="0" bIns="0" anchor="t">
            <ns113:noAutofit/>
          </ns113:bodyPr>
          <ns114:lstStyle xmlns:ns114="http://schemas.openxmlformats.org/drawingml/2006/main"/>
          <ns115:p xmlns:ns115="http://schemas.openxmlformats.org/drawingml/2006/main">
            <ns115:pPr algn="l">
              <ns115:lnSpc>
                <ns115:spcPct val="108000"/>
              </ns115:lnSpc>
              <ns115:defRPr sz="1050" b="0">
                <ns115:solidFill>
                  <ns115:srgbClr val="20262C"/>
                </ns115:solidFill>
                <ns115:latin typeface="Arial"/>
                <ns115:ea typeface="Arial"/>
                <ns115:cs typeface="Arial"/>
              </ns115:defRPr>
            </ns115:pPr>
            <ns115:r>
              <ns115:rPr sz="1050" b="0">
                <ns115:solidFill>
                  <ns115:srgbClr val="20262C"/>
                </ns115:solidFill>
                <ns115:latin typeface="Arial"/>
                <ns115:ea typeface="Arial"/>
                <ns115:cs typeface="Arial"/>
              </ns115:rPr>
              <ns115:t>Shared documents, knowledge bases and business data with access controls, source references and version history</ns115:t>
            </ns115:r>
          </ns115:p>
        </p:txBody>
      </p:sp>
      <p:sp>
        <p:nvSpPr>
          <p:cNvPr id="121" name="!!arch.models"/>
          <p:cNvSpPr/>
          <p:nvPr/>
        </p:nvSpPr>
        <p:spPr>
          <ns116:xfrm xmlns:ns116="http://schemas.openxmlformats.org/drawingml/2006/main">
            <ns116:off x="457200" y="4262400"/>
            <ns116:ext cx="8229600" cy="187200"/>
          </ns116:xfrm>
          <ns117:prstGeom xmlns:ns117="http://schemas.openxmlformats.org/drawingml/2006/main" prst="rect">
            <ns117:avLst/>
          </ns117:prstGeom>
          <ns118:noFill xmlns:ns118="http://schemas.openxmlformats.org/drawingml/2006/main"/>
          <ns119:ln xmlns:ns119="http://schemas.openxmlformats.org/drawingml/2006/main" w="0">
            <ns119:noFill/>
          </ns119:ln>
        </p:spPr>
        <p:txBody>
          <ns120:bodyPr xmlns:ns120="http://schemas.openxmlformats.org/drawingml/2006/main" wrap="square" lIns="0" rIns="0" tIns="0" bIns="0" anchor="t">
            <ns120:noAutofit/>
          </ns120:bodyPr>
          <ns121:lstStyle xmlns:ns121="http://schemas.openxmlformats.org/drawingml/2006/main"/>
          <ns122:p xmlns:ns122="http://schemas.openxmlformats.org/drawingml/2006/main">
            <ns122:pPr algn="l">
              <ns122:lnSpc>
                <ns122:spcPct val="108000"/>
              </ns122:lnSpc>
              <ns122:defRPr sz="1050" b="0">
                <ns122:solidFill>
                  <ns122:srgbClr val="20262C"/>
                </ns122:solidFill>
                <ns122:latin typeface="Arial"/>
                <ns122:ea typeface="Arial"/>
                <ns122:cs typeface="Arial"/>
              </ns122:defRPr>
            </ns122:pPr>
            <ns122:r>
              <ns122:rPr sz="1050" b="0">
                <ns122:solidFill>
                  <ns122:srgbClr val="20262C"/>
                </ns122:solidFill>
                <ns122:latin typeface="Arial"/>
                <ns122:ea typeface="Arial"/>
                <ns122:cs typeface="Arial"/>
              </ns122:rPr>
              <ns122:t>Qwen and DeepSeek are candidates for evaluation on the firm’s tasks.</ns122:t>
            </ns122:r>
          </ns122:p>
        </p:txBody>
      </p:sp>
    </p:spTree>
    <p:extLst>
      <p:ext uri="{BB962C8B-B14F-4D97-AF65-F5344CB8AC3E}">
        <p14:creationId xmlns:p14="http://schemas.microsoft.com/office/powerpoint/2010/main" val="6805306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Proposed implementation sequence</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Implementation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cxnSp>
        <p:nvCxnSpPr>
          <p:cNvPr id="107" name="implementation.timeline"/>
          <p:cNvCxnSpPr/>
          <p:nvPr/>
        </p:nvCxnSpPr>
        <p:spPr>
          <ns38:xfrm xmlns:ns38="http://schemas.openxmlformats.org/drawingml/2006/main">
            <ns38:off x="630000" y="1699200"/>
            <ns38:ext cx="7938000" cy="1"/>
          </ns38:xfrm>
          <ns39:prstGeom xmlns:ns39="http://schemas.openxmlformats.org/drawingml/2006/main" prst="line">
            <ns39:avLst/>
          </ns39:prstGeom>
          <ns40:ln xmlns:ns40="http://schemas.openxmlformats.org/drawingml/2006/main" w="19050">
            <ns40:solidFill>
              <ns40:srgbClr val="005A9C"/>
            </ns40:solidFill>
            <ns40:tailEnd type="triangle" w="sm" len="sm"/>
          </ns40:ln>
        </p:spPr>
      </p:cxnSp>
      <p:sp>
        <p:nvSpPr>
          <p:cNvPr id="108" name="!!phase.0.number"/>
          <p:cNvSpPr/>
          <p:nvPr/>
        </p:nvSpPr>
        <p:spPr>
          <ns41:xfrm xmlns:ns41="http://schemas.openxmlformats.org/drawingml/2006/main">
            <ns41:off x="457200" y="1807200"/>
            <ns41:ext cx="2559600" cy="342000"/>
          </ns41:xfrm>
          <ns42:prstGeom xmlns:ns42="http://schemas.openxmlformats.org/drawingml/2006/main" prst="rect">
            <ns42:avLst/>
          </ns42:prstGeom>
          <ns43:noFill xmlns:ns43="http://schemas.openxmlformats.org/drawingml/2006/main"/>
          <ns44:ln xmlns:ns44="http://schemas.openxmlformats.org/drawingml/2006/main" w="0">
            <ns44:noFill/>
          </ns44:ln>
        </p:spPr>
        <p:txBody>
          <ns45:bodyPr xmlns:ns45="http://schemas.openxmlformats.org/drawingml/2006/main" wrap="square" lIns="0" rIns="0" tIns="0" bIns="0" anchor="t">
            <ns45:noAutofit/>
          </ns45:bodyPr>
          <ns46:lstStyle xmlns:ns46="http://schemas.openxmlformats.org/drawingml/2006/main"/>
          <ns47:p xmlns:ns47="http://schemas.openxmlformats.org/drawingml/2006/main">
            <ns47:pPr algn="l">
              <ns47:lnSpc>
                <ns47:spcPct val="108000"/>
              </ns47:lnSpc>
              <ns47:defRPr sz="2500" b="1">
                <ns47:solidFill>
                  <ns47:srgbClr val="005A9C"/>
                </ns47:solidFill>
                <ns47:latin typeface="Arial"/>
                <ns47:ea typeface="Arial"/>
                <ns47:cs typeface="Arial"/>
              </ns47:defRPr>
            </ns47:pPr>
            <ns47:r>
              <ns47:rPr sz="2500" b="1">
                <ns47:solidFill>
                  <ns47:srgbClr val="005A9C"/>
                </ns47:solidFill>
                <ns47:latin typeface="Arial"/>
                <ns47:ea typeface="Arial"/>
                <ns47:cs typeface="Arial"/>
              </ns47:rPr>
              <ns47:t>1</ns47:t>
            </ns47:r>
          </ns47:p>
        </p:txBody>
      </p:sp>
      <p:sp>
        <p:nvSpPr>
          <p:cNvPr id="109" name="!!phase.0.title"/>
          <p:cNvSpPr/>
          <p:nvPr/>
        </p:nvSpPr>
        <p:spPr>
          <ns48:xfrm xmlns:ns48="http://schemas.openxmlformats.org/drawingml/2006/main">
            <ns48:off x="457200" y="2203200"/>
            <ns48:ext cx="2559600" cy="511200"/>
          </ns48:xfrm>
          <ns49:prstGeom xmlns:ns49="http://schemas.openxmlformats.org/drawingml/2006/main" prst="rect">
            <ns49:avLst/>
          </ns49:prstGeom>
          <ns50:noFill xmlns:ns50="http://schemas.openxmlformats.org/drawingml/2006/main"/>
          <ns51:ln xmlns:ns51="http://schemas.openxmlformats.org/drawingml/2006/main" w="0">
            <ns51:noFill/>
          </ns51:ln>
        </p:spPr>
        <p:txBody>
          <ns52:bodyPr xmlns:ns52="http://schemas.openxmlformats.org/drawingml/2006/main" wrap="square" lIns="0" rIns="0" tIns="0" bIns="0" anchor="t">
            <ns52:noAutofit/>
          </ns52:bodyPr>
          <ns53:lstStyle xmlns:ns53="http://schemas.openxmlformats.org/drawingml/2006/main"/>
          <ns54:p xmlns:ns54="http://schemas.openxmlformats.org/drawingml/2006/main">
            <ns54:pPr algn="l">
              <ns54:lnSpc>
                <ns54:spcPct val="108000"/>
              </ns54:lnSpc>
              <ns54:defRPr sz="1400" b="1">
                <ns54:solidFill>
                  <ns54:srgbClr val="005A9C"/>
                </ns54:solidFill>
                <ns54:latin typeface="Arial"/>
                <ns54:ea typeface="Arial"/>
                <ns54:cs typeface="Arial"/>
              </ns54:defRPr>
            </ns54:pPr>
            <ns54:r>
              <ns54:rPr sz="1400" b="1">
                <ns54:solidFill>
                  <ns54:srgbClr val="005A9C"/>
                </ns54:solidFill>
                <ns54:latin typeface="Arial"/>
                <ns54:ea typeface="Arial"/>
                <ns54:cs typeface="Arial"/>
              </ns54:rPr>
              <ns54:t>Research and client communications</ns54:t>
            </ns54:r>
          </ns54:p>
        </p:txBody>
      </p:sp>
      <p:sp>
        <p:nvSpPr>
          <p:cNvPr id="110" name="phase.0.teams.label"/>
          <p:cNvSpPr/>
          <p:nvPr/>
        </p:nvSpPr>
        <p:spPr>
          <ns55:xfrm xmlns:ns55="http://schemas.openxmlformats.org/drawingml/2006/main">
            <ns55:off x="457200" y="2872800"/>
            <ns55:ext cx="2559600" cy="1620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950" b="1">
                <ns61:solidFill>
                  <ns61:srgbClr val="687782"/>
                </ns61:solidFill>
                <ns61:latin typeface="Arial"/>
                <ns61:ea typeface="Arial"/>
                <ns61:cs typeface="Arial"/>
              </ns61:defRPr>
            </ns61:pPr>
            <ns61:r>
              <ns61:rPr sz="950" b="1">
                <ns61:solidFill>
                  <ns61:srgbClr val="687782"/>
                </ns61:solidFill>
                <ns61:latin typeface="Arial"/>
                <ns61:ea typeface="Arial"/>
                <ns61:cs typeface="Arial"/>
              </ns61:rPr>
              <ns61:t>Participating teams</ns61:t>
            </ns61:r>
          </ns61:p>
        </p:txBody>
      </p:sp>
      <p:sp>
        <p:nvSpPr>
          <p:cNvPr id="111" name="!!phase.0.roles"/>
          <p:cNvSpPr/>
          <p:nvPr/>
        </p:nvSpPr>
        <p:spPr>
          <ns62:xfrm xmlns:ns62="http://schemas.openxmlformats.org/drawingml/2006/main">
            <ns62:off x="457200" y="3085200"/>
            <ns62:ext cx="2559600" cy="3600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8000"/>
              </ns68:lnSpc>
              <ns68:defRPr sz="1150" b="0">
                <ns68:solidFill>
                  <ns68:srgbClr val="20262C"/>
                </ns68:solidFill>
                <ns68:latin typeface="Arial"/>
                <ns68:ea typeface="Arial"/>
                <ns68:cs typeface="Arial"/>
              </ns68:defRPr>
            </ns68:pPr>
            <ns68:r>
              <ns68:rPr sz="1150" b="0">
                <ns68:solidFill>
                  <ns68:srgbClr val="20262C"/>
                </ns68:solidFill>
                <ns68:latin typeface="Arial"/>
                <ns68:ea typeface="Arial"/>
                <ns68:cs typeface="Arial"/>
              </ns68:rPr>
              <ns68:t>Research, sales,</ns68:t>
            </ns68:r>
          </ns68:p>
          <ns69:p xmlns:ns69="http://schemas.openxmlformats.org/drawingml/2006/main">
            <ns69:pPr algn="l">
              <ns69:lnSpc>
                <ns69:spcPct val="108000"/>
              </ns69:lnSpc>
              <ns69:defRPr sz="1150" b="0">
                <ns69:solidFill>
                  <ns69:srgbClr val="20262C"/>
                </ns69:solidFill>
                <ns69:latin typeface="Arial"/>
                <ns69:ea typeface="Arial"/>
                <ns69:cs typeface="Arial"/>
              </ns69:defRPr>
            </ns69:pPr>
            <ns69:r>
              <ns69:rPr sz="1150" b="0">
                <ns69:solidFill>
                  <ns69:srgbClr val="20262C"/>
                </ns69:solidFill>
                <ns69:latin typeface="Arial"/>
                <ns69:ea typeface="Arial"/>
                <ns69:cs typeface="Arial"/>
              </ns69:rPr>
              <ns69:t>compliance and IT</ns69:t>
            </ns69:r>
          </ns69:p>
        </p:txBody>
      </p:sp>
      <p:sp>
        <p:nvSpPr>
          <p:cNvPr id="112" name="phase.0.deliverables.label"/>
          <p:cNvSpPr/>
          <p:nvPr/>
        </p:nvSpPr>
        <p:spPr>
          <ns70:xfrm xmlns:ns70="http://schemas.openxmlformats.org/drawingml/2006/main">
            <ns70:off x="457200" y="3607200"/>
            <ns70:ext cx="2559600" cy="1620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8000"/>
              </ns76:lnSpc>
              <ns76:defRPr sz="950" b="1">
                <ns76:solidFill>
                  <ns76:srgbClr val="687782"/>
                </ns76:solidFill>
                <ns76:latin typeface="Arial"/>
                <ns76:ea typeface="Arial"/>
                <ns76:cs typeface="Arial"/>
              </ns76:defRPr>
            </ns76:pPr>
            <ns76:r>
              <ns76:rPr sz="950" b="1">
                <ns76:solidFill>
                  <ns76:srgbClr val="687782"/>
                </ns76:solidFill>
                <ns76:latin typeface="Arial"/>
                <ns76:ea typeface="Arial"/>
                <ns76:cs typeface="Arial"/>
              </ns76:rPr>
              <ns76:t>Deliverables</ns76:t>
            </ns76:r>
          </ns76:p>
        </p:txBody>
      </p:sp>
      <p:sp>
        <p:nvSpPr>
          <p:cNvPr id="113" name="!!phase.0.outputs"/>
          <p:cNvSpPr/>
          <p:nvPr/>
        </p:nvSpPr>
        <p:spPr>
          <ns77:xfrm xmlns:ns77="http://schemas.openxmlformats.org/drawingml/2006/main">
            <ns77:off x="457200" y="3823200"/>
            <ns77:ext cx="2559600" cy="558000"/>
          </ns77:xfrm>
          <ns78:prstGeom xmlns:ns78="http://schemas.openxmlformats.org/drawingml/2006/main" prst="rect">
            <ns78:avLst/>
          </ns78:prstGeom>
          <ns79:noFill xmlns:ns79="http://schemas.openxmlformats.org/drawingml/2006/main"/>
          <ns80:ln xmlns:ns80="http://schemas.openxmlformats.org/drawingml/2006/main" w="0">
            <ns80:noFill/>
          </ns80:ln>
        </p:spPr>
        <p:txBody>
          <ns81:bodyPr xmlns:ns81="http://schemas.openxmlformats.org/drawingml/2006/main" wrap="square" lIns="0" rIns="0" tIns="0" bIns="0" anchor="t">
            <ns81:noAutofit/>
          </ns81:bodyPr>
          <ns82:lstStyle xmlns:ns82="http://schemas.openxmlformats.org/drawingml/2006/main"/>
          <ns83:p xmlns:ns83="http://schemas.openxmlformats.org/drawingml/2006/main">
            <ns83:pPr algn="l">
              <ns83:lnSpc>
                <ns83:spcPct val="108000"/>
              </ns83:lnSpc>
              <ns83:defRPr sz="1200" b="0">
                <ns83:solidFill>
                  <ns83:srgbClr val="20262C"/>
                </ns83:solidFill>
                <ns83:latin typeface="Arial"/>
                <ns83:ea typeface="Arial"/>
                <ns83:cs typeface="Arial"/>
              </ns83:defRPr>
            </ns83:pPr>
            <ns83:r>
              <ns83:rPr sz="1200" b="0">
                <ns83:solidFill>
                  <ns83:srgbClr val="20262C"/>
                </ns83:solidFill>
                <ns83:latin typeface="Arial"/>
                <ns83:ea typeface="Arial"/>
                <ns83:cs typeface="Arial"/>
              </ns83:rPr>
              <ns83:t>Sample tasks, source inventory and initial applications</ns83:t>
            </ns83:r>
          </ns83:p>
        </p:txBody>
      </p:sp>
      <p:sp>
        <p:nvSpPr>
          <p:cNvPr id="114" name="!!phase.1.number"/>
          <p:cNvSpPr/>
          <p:nvPr/>
        </p:nvSpPr>
        <p:spPr>
          <ns84:xfrm xmlns:ns84="http://schemas.openxmlformats.org/drawingml/2006/main">
            <ns84:off x="3294000" y="1807200"/>
            <ns84:ext cx="2556000" cy="342000"/>
          </ns84:xfrm>
          <ns85:prstGeom xmlns:ns85="http://schemas.openxmlformats.org/drawingml/2006/main" prst="rect">
            <ns85:avLst/>
          </ns85:prstGeom>
          <ns86:noFill xmlns:ns86="http://schemas.openxmlformats.org/drawingml/2006/main"/>
          <ns87:ln xmlns:ns87="http://schemas.openxmlformats.org/drawingml/2006/main" w="0">
            <ns87:noFill/>
          </ns87:ln>
        </p:spPr>
        <p:txBody>
          <ns88:bodyPr xmlns:ns88="http://schemas.openxmlformats.org/drawingml/2006/main" wrap="square" lIns="0" rIns="0" tIns="0" bIns="0" anchor="t">
            <ns88:noAutofit/>
          </ns88:bodyPr>
          <ns89:lstStyle xmlns:ns89="http://schemas.openxmlformats.org/drawingml/2006/main"/>
          <ns90:p xmlns:ns90="http://schemas.openxmlformats.org/drawingml/2006/main">
            <ns90:pPr algn="l">
              <ns90:lnSpc>
                <ns90:spcPct val="108000"/>
              </ns90:lnSpc>
              <ns90:defRPr sz="2500" b="1">
                <ns90:solidFill>
                  <ns90:srgbClr val="005A9C"/>
                </ns90:solidFill>
                <ns90:latin typeface="Arial"/>
                <ns90:ea typeface="Arial"/>
                <ns90:cs typeface="Arial"/>
              </ns90:defRPr>
            </ns90:pPr>
            <ns90:r>
              <ns90:rPr sz="2500" b="1">
                <ns90:solidFill>
                  <ns90:srgbClr val="005A9C"/>
                </ns90:solidFill>
                <ns90:latin typeface="Arial"/>
                <ns90:ea typeface="Arial"/>
                <ns90:cs typeface="Arial"/>
              </ns90:rPr>
              <ns90:t>2</ns90:t>
            </ns90:r>
          </ns90:p>
        </p:txBody>
      </p:sp>
      <p:sp>
        <p:nvSpPr>
          <p:cNvPr id="115" name="!!phase.1.title"/>
          <p:cNvSpPr/>
          <p:nvPr/>
        </p:nvSpPr>
        <p:spPr>
          <ns91:xfrm xmlns:ns91="http://schemas.openxmlformats.org/drawingml/2006/main">
            <ns91:off x="3294000" y="2203200"/>
            <ns91:ext cx="2556000" cy="511200"/>
          </ns91:xfrm>
          <ns92:prstGeom xmlns:ns92="http://schemas.openxmlformats.org/drawingml/2006/main" prst="rect">
            <ns92:avLst/>
          </ns92:prstGeom>
          <ns93:noFill xmlns:ns93="http://schemas.openxmlformats.org/drawingml/2006/main"/>
          <ns94:ln xmlns:ns94="http://schemas.openxmlformats.org/drawingml/2006/main" w="0">
            <ns94:noFill/>
          </ns94:ln>
        </p:spPr>
        <p:txBody>
          <ns95:bodyPr xmlns:ns95="http://schemas.openxmlformats.org/drawingml/2006/main" wrap="square" lIns="0" rIns="0" tIns="0" bIns="0" anchor="t">
            <ns95:noAutofit/>
          </ns95:bodyPr>
          <ns96:lstStyle xmlns:ns96="http://schemas.openxmlformats.org/drawingml/2006/main"/>
          <ns97:p xmlns:ns97="http://schemas.openxmlformats.org/drawingml/2006/main">
            <ns97:pPr algn="l">
              <ns97:lnSpc>
                <ns97:spcPct val="108000"/>
              </ns97:lnSpc>
              <ns97:defRPr sz="1400" b="1">
                <ns97:solidFill>
                  <ns97:srgbClr val="005A9C"/>
                </ns97:solidFill>
                <ns97:latin typeface="Arial"/>
                <ns97:ea typeface="Arial"/>
                <ns97:cs typeface="Arial"/>
              </ns97:defRPr>
            </ns97:pPr>
            <ns97:r>
              <ns97:rPr sz="1400" b="1">
                <ns97:solidFill>
                  <ns97:srgbClr val="005A9C"/>
                </ns97:solidFill>
                <ns97:latin typeface="Arial"/>
                <ns97:ea typeface="Arial"/>
                <ns97:cs typeface="Arial"/>
              </ns97:rPr>
              <ns97:t>Trading and operations integration</ns97:t>
            </ns97:r>
          </ns97:p>
        </p:txBody>
      </p:sp>
      <p:sp>
        <p:nvSpPr>
          <p:cNvPr id="116" name="phase.1.teams.label"/>
          <p:cNvSpPr/>
          <p:nvPr/>
        </p:nvSpPr>
        <p:spPr>
          <ns98:xfrm xmlns:ns98="http://schemas.openxmlformats.org/drawingml/2006/main">
            <ns98:off x="3294000" y="2872800"/>
            <ns98:ext cx="2556000" cy="162000"/>
          </ns98:xfrm>
          <ns99:prstGeom xmlns:ns99="http://schemas.openxmlformats.org/drawingml/2006/main" prst="rect">
            <ns99:avLst/>
          </ns99:prstGeom>
          <ns100:noFill xmlns:ns100="http://schemas.openxmlformats.org/drawingml/2006/main"/>
          <ns101:ln xmlns:ns101="http://schemas.openxmlformats.org/drawingml/2006/main" w="0">
            <ns101:noFill/>
          </ns101:ln>
        </p:spPr>
        <p:txBody>
          <ns102:bodyPr xmlns:ns102="http://schemas.openxmlformats.org/drawingml/2006/main" wrap="square" lIns="0" rIns="0" tIns="0" bIns="0" anchor="t">
            <ns102:noAutofit/>
          </ns102:bodyPr>
          <ns103:lstStyle xmlns:ns103="http://schemas.openxmlformats.org/drawingml/2006/main"/>
          <ns104:p xmlns:ns104="http://schemas.openxmlformats.org/drawingml/2006/main">
            <ns104:pPr algn="l">
              <ns104:lnSpc>
                <ns104:spcPct val="108000"/>
              </ns104:lnSpc>
              <ns104:defRPr sz="950" b="1">
                <ns104:solidFill>
                  <ns104:srgbClr val="687782"/>
                </ns104:solidFill>
                <ns104:latin typeface="Arial"/>
                <ns104:ea typeface="Arial"/>
                <ns104:cs typeface="Arial"/>
              </ns104:defRPr>
            </ns104:pPr>
            <ns104:r>
              <ns104:rPr sz="950" b="1">
                <ns104:solidFill>
                  <ns104:srgbClr val="687782"/>
                </ns104:solidFill>
                <ns104:latin typeface="Arial"/>
                <ns104:ea typeface="Arial"/>
                <ns104:cs typeface="Arial"/>
              </ns104:rPr>
              <ns104:t>Participating teams</ns104:t>
            </ns104:r>
          </ns104:p>
        </p:txBody>
      </p:sp>
      <p:sp>
        <p:nvSpPr>
          <p:cNvPr id="117" name="!!phase.1.roles"/>
          <p:cNvSpPr/>
          <p:nvPr/>
        </p:nvSpPr>
        <p:spPr>
          <ns105:xfrm xmlns:ns105="http://schemas.openxmlformats.org/drawingml/2006/main">
            <ns105:off x="3294000" y="3085200"/>
            <ns105:ext cx="2556000" cy="360000"/>
          </ns105:xfrm>
          <ns106:prstGeom xmlns:ns106="http://schemas.openxmlformats.org/drawingml/2006/main" prst="rect">
            <ns106:avLst/>
          </ns106:prstGeom>
          <ns107:noFill xmlns:ns107="http://schemas.openxmlformats.org/drawingml/2006/main"/>
          <ns108:ln xmlns:ns108="http://schemas.openxmlformats.org/drawingml/2006/main" w="0">
            <ns108:noFill/>
          </ns108:ln>
        </p:spPr>
        <p:txBody>
          <ns109:bodyPr xmlns:ns109="http://schemas.openxmlformats.org/drawingml/2006/main" wrap="square" lIns="0" rIns="0" tIns="0" bIns="0" anchor="t">
            <ns109:noAutofit/>
          </ns109:bodyPr>
          <ns110:lstStyle xmlns:ns110="http://schemas.openxmlformats.org/drawingml/2006/main"/>
          <ns111:p xmlns:ns111="http://schemas.openxmlformats.org/drawingml/2006/main">
            <ns111:pPr algn="l">
              <ns111:lnSpc>
                <ns111:spcPct val="108000"/>
              </ns111:lnSpc>
              <ns111:defRPr sz="1150" b="0">
                <ns111:solidFill>
                  <ns111:srgbClr val="20262C"/>
                </ns111:solidFill>
                <ns111:latin typeface="Arial"/>
                <ns111:ea typeface="Arial"/>
                <ns111:cs typeface="Arial"/>
              </ns111:defRPr>
            </ns111:pPr>
            <ns111:r>
              <ns111:rPr sz="1150" b="0">
                <ns111:solidFill>
                  <ns111:srgbClr val="20262C"/>
                </ns111:solidFill>
                <ns111:latin typeface="Arial"/>
                <ns111:ea typeface="Arial"/>
                <ns111:cs typeface="Arial"/>
              </ns111:rPr>
              <ns111:t>Trading, operations, IT</ns111:t>
            </ns111:r>
          </ns111:p>
        </p:txBody>
      </p:sp>
      <p:sp>
        <p:nvSpPr>
          <p:cNvPr id="118" name="phase.1.deliverables.label"/>
          <p:cNvSpPr/>
          <p:nvPr/>
        </p:nvSpPr>
        <p:spPr>
          <ns112:xfrm xmlns:ns112="http://schemas.openxmlformats.org/drawingml/2006/main">
            <ns112:off x="3294000" y="3607200"/>
            <ns112:ext cx="2556000" cy="162000"/>
          </ns112:xfrm>
          <ns113:prstGeom xmlns:ns113="http://schemas.openxmlformats.org/drawingml/2006/main" prst="rect">
            <ns113:avLst/>
          </ns113:prstGeom>
          <ns114:noFill xmlns:ns114="http://schemas.openxmlformats.org/drawingml/2006/main"/>
          <ns115:ln xmlns:ns115="http://schemas.openxmlformats.org/drawingml/2006/main" w="0">
            <ns115:noFill/>
          </ns115:ln>
        </p:spPr>
        <p:txBody>
          <ns116:bodyPr xmlns:ns116="http://schemas.openxmlformats.org/drawingml/2006/main" wrap="square" lIns="0" rIns="0" tIns="0" bIns="0" anchor="t">
            <ns116:noAutofit/>
          </ns116:bodyPr>
          <ns117:lstStyle xmlns:ns117="http://schemas.openxmlformats.org/drawingml/2006/main"/>
          <ns118:p xmlns:ns118="http://schemas.openxmlformats.org/drawingml/2006/main">
            <ns118:pPr algn="l">
              <ns118:lnSpc>
                <ns118:spcPct val="108000"/>
              </ns118:lnSpc>
              <ns118:defRPr sz="950" b="1">
                <ns118:solidFill>
                  <ns118:srgbClr val="687782"/>
                </ns118:solidFill>
                <ns118:latin typeface="Arial"/>
                <ns118:ea typeface="Arial"/>
                <ns118:cs typeface="Arial"/>
              </ns118:defRPr>
            </ns118:pPr>
            <ns118:r>
              <ns118:rPr sz="950" b="1">
                <ns118:solidFill>
                  <ns118:srgbClr val="687782"/>
                </ns118:solidFill>
                <ns118:latin typeface="Arial"/>
                <ns118:ea typeface="Arial"/>
                <ns118:cs typeface="Arial"/>
              </ns118:rPr>
              <ns118:t>Deliverables</ns118:t>
            </ns118:r>
          </ns118:p>
        </p:txBody>
      </p:sp>
      <p:sp>
        <p:nvSpPr>
          <p:cNvPr id="119" name="!!phase.1.outputs"/>
          <p:cNvSpPr/>
          <p:nvPr/>
        </p:nvSpPr>
        <p:spPr>
          <ns119:xfrm xmlns:ns119="http://schemas.openxmlformats.org/drawingml/2006/main">
            <ns119:off x="3294000" y="3823200"/>
            <ns119:ext cx="2556000" cy="5580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8000"/>
              </ns125:lnSpc>
              <ns125:defRPr sz="1200" b="0">
                <ns125:solidFill>
                  <ns125:srgbClr val="20262C"/>
                </ns125:solidFill>
                <ns125:latin typeface="Arial"/>
                <ns125:ea typeface="Arial"/>
                <ns125:cs typeface="Arial"/>
              </ns125:defRPr>
            </ns125:pPr>
            <ns125:r>
              <ns125:rPr sz="1200" b="0">
                <ns125:solidFill>
                  <ns125:srgbClr val="20262C"/>
                </ns125:solidFill>
                <ns125:latin typeface="Arial"/>
                <ns125:ea typeface="Arial"/>
                <ns125:cs typeface="Arial"/>
              </ns125:rPr>
              <ns125:t>Data definitions, system query interfaces and document workflows</ns125:t>
            </ns125:r>
          </ns125:p>
        </p:txBody>
      </p:sp>
      <p:sp>
        <p:nvSpPr>
          <p:cNvPr id="120" name="!!phase.2.number"/>
          <p:cNvSpPr/>
          <p:nvPr/>
        </p:nvSpPr>
        <p:spPr>
          <ns126:xfrm xmlns:ns126="http://schemas.openxmlformats.org/drawingml/2006/main">
            <ns126:off x="6127200" y="1807200"/>
            <ns126:ext cx="2559600" cy="3420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8000"/>
              </ns132:lnSpc>
              <ns132:defRPr sz="2500" b="1">
                <ns132:solidFill>
                  <ns132:srgbClr val="005A9C"/>
                </ns132:solidFill>
                <ns132:latin typeface="Arial"/>
                <ns132:ea typeface="Arial"/>
                <ns132:cs typeface="Arial"/>
              </ns132:defRPr>
            </ns132:pPr>
            <ns132:r>
              <ns132:rPr sz="2500" b="1">
                <ns132:solidFill>
                  <ns132:srgbClr val="005A9C"/>
                </ns132:solidFill>
                <ns132:latin typeface="Arial"/>
                <ns132:ea typeface="Arial"/>
                <ns132:cs typeface="Arial"/>
              </ns132:rPr>
              <ns132:t>3</ns132:t>
            </ns132:r>
          </ns132:p>
        </p:txBody>
      </p:sp>
      <p:sp>
        <p:nvSpPr>
          <p:cNvPr id="121" name="!!phase.2.title"/>
          <p:cNvSpPr/>
          <p:nvPr/>
        </p:nvSpPr>
        <p:spPr>
          <ns133:xfrm xmlns:ns133="http://schemas.openxmlformats.org/drawingml/2006/main">
            <ns133:off x="6127200" y="2203200"/>
            <ns133:ext cx="2559600" cy="5112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8000"/>
              </ns139:lnSpc>
              <ns139:defRPr sz="1400" b="1">
                <ns139:solidFill>
                  <ns139:srgbClr val="005A9C"/>
                </ns139:solidFill>
                <ns139:latin typeface="Arial"/>
                <ns139:ea typeface="Arial"/>
                <ns139:cs typeface="Arial"/>
              </ns139:defRPr>
            </ns139:pPr>
            <ns139:r>
              <ns139:rPr sz="1400" b="1">
                <ns139:solidFill>
                  <ns139:srgbClr val="005A9C"/>
                </ns139:solidFill>
                <ns139:latin typeface="Arial"/>
                <ns139:ea typeface="Arial"/>
                <ns139:cs typeface="Arial"/>
              </ns139:rPr>
              <ns139:t>Development support and internal services</ns139:t>
            </ns139:r>
          </ns139:p>
        </p:txBody>
      </p:sp>
      <p:sp>
        <p:nvSpPr>
          <p:cNvPr id="122" name="phase.2.teams.label"/>
          <p:cNvSpPr/>
          <p:nvPr/>
        </p:nvSpPr>
        <p:spPr>
          <ns140:xfrm xmlns:ns140="http://schemas.openxmlformats.org/drawingml/2006/main">
            <ns140:off x="6127200" y="2872800"/>
            <ns140:ext cx="2559600" cy="1620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8000"/>
              </ns146:lnSpc>
              <ns146:defRPr sz="950" b="1">
                <ns146:solidFill>
                  <ns146:srgbClr val="687782"/>
                </ns146:solidFill>
                <ns146:latin typeface="Arial"/>
                <ns146:ea typeface="Arial"/>
                <ns146:cs typeface="Arial"/>
              </ns146:defRPr>
            </ns146:pPr>
            <ns146:r>
              <ns146:rPr sz="950" b="1">
                <ns146:solidFill>
                  <ns146:srgbClr val="687782"/>
                </ns146:solidFill>
                <ns146:latin typeface="Arial"/>
                <ns146:ea typeface="Arial"/>
                <ns146:cs typeface="Arial"/>
              </ns146:rPr>
              <ns146:t>Participating teams</ns146:t>
            </ns146:r>
          </ns146:p>
        </p:txBody>
      </p:sp>
      <p:sp>
        <p:nvSpPr>
          <p:cNvPr id="123" name="!!phase.2.roles"/>
          <p:cNvSpPr/>
          <p:nvPr/>
        </p:nvSpPr>
        <p:spPr>
          <ns147:xfrm xmlns:ns147="http://schemas.openxmlformats.org/drawingml/2006/main">
            <ns147:off x="6127200" y="3085200"/>
            <ns147:ext cx="2559600" cy="360000"/>
          </ns147:xfrm>
          <ns148:prstGeom xmlns:ns148="http://schemas.openxmlformats.org/drawingml/2006/main" prst="rect">
            <ns148:avLst/>
          </ns148:prstGeom>
          <ns149:noFill xmlns:ns149="http://schemas.openxmlformats.org/drawingml/2006/main"/>
          <ns150:ln xmlns:ns150="http://schemas.openxmlformats.org/drawingml/2006/main" w="0">
            <ns150:noFill/>
          </ns150:ln>
        </p:spPr>
        <p:txBody>
          <ns151:bodyPr xmlns:ns151="http://schemas.openxmlformats.org/drawingml/2006/main" wrap="square" lIns="0" rIns="0" tIns="0" bIns="0" anchor="t">
            <ns151:noAutofit/>
          </ns151:bodyPr>
          <ns152:lstStyle xmlns:ns152="http://schemas.openxmlformats.org/drawingml/2006/main"/>
          <ns153:p xmlns:ns153="http://schemas.openxmlformats.org/drawingml/2006/main">
            <ns153:pPr algn="l">
              <ns153:lnSpc>
                <ns153:spcPct val="108000"/>
              </ns153:lnSpc>
              <ns153:defRPr sz="1150" b="0">
                <ns153:solidFill>
                  <ns153:srgbClr val="20262C"/>
                </ns153:solidFill>
                <ns153:latin typeface="Arial"/>
                <ns153:ea typeface="Arial"/>
                <ns153:cs typeface="Arial"/>
              </ns153:defRPr>
            </ns153:pPr>
            <ns153:r>
              <ns153:rPr sz="1150" b="0">
                <ns153:solidFill>
                  <ns153:srgbClr val="20262C"/>
                </ns153:solidFill>
                <ns153:latin typeface="Arial"/>
                <ns153:ea typeface="Arial"/>
                <ns153:cs typeface="Arial"/>
              </ns153:rPr>
              <ns153:t>Business teams, IT</ns153:t>
            </ns153:r>
          </ns153:p>
        </p:txBody>
      </p:sp>
      <p:sp>
        <p:nvSpPr>
          <p:cNvPr id="124" name="phase.2.deliverables.label"/>
          <p:cNvSpPr/>
          <p:nvPr/>
        </p:nvSpPr>
        <p:spPr>
          <ns154:xfrm xmlns:ns154="http://schemas.openxmlformats.org/drawingml/2006/main">
            <ns154:off x="6127200" y="3607200"/>
            <ns154:ext cx="2559600" cy="1620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8000"/>
              </ns160:lnSpc>
              <ns160:defRPr sz="950" b="1">
                <ns160:solidFill>
                  <ns160:srgbClr val="687782"/>
                </ns160:solidFill>
                <ns160:latin typeface="Arial"/>
                <ns160:ea typeface="Arial"/>
                <ns160:cs typeface="Arial"/>
              </ns160:defRPr>
            </ns160:pPr>
            <ns160:r>
              <ns160:rPr sz="950" b="1">
                <ns160:solidFill>
                  <ns160:srgbClr val="687782"/>
                </ns160:solidFill>
                <ns160:latin typeface="Arial"/>
                <ns160:ea typeface="Arial"/>
                <ns160:cs typeface="Arial"/>
              </ns160:rPr>
              <ns160:t>Deliverables</ns160:t>
            </ns160:r>
          </ns160:p>
        </p:txBody>
      </p:sp>
      <p:sp>
        <p:nvSpPr>
          <p:cNvPr id="125" name="!!phase.2.outputs"/>
          <p:cNvSpPr/>
          <p:nvPr/>
        </p:nvSpPr>
        <p:spPr>
          <ns161:xfrm xmlns:ns161="http://schemas.openxmlformats.org/drawingml/2006/main">
            <ns161:off x="6127200" y="3823200"/>
            <ns161:ext cx="2559600" cy="5580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8000"/>
              </ns167:lnSpc>
              <ns167:defRPr sz="1200" b="0">
                <ns167:solidFill>
                  <ns167:srgbClr val="20262C"/>
                </ns167:solidFill>
                <ns167:latin typeface="Arial"/>
                <ns167:ea typeface="Arial"/>
                <ns167:cs typeface="Arial"/>
              </ns167:defRPr>
            </ns167:pPr>
            <ns167:r>
              <ns167:rPr sz="1200" b="0">
                <ns167:solidFill>
                  <ns167:srgbClr val="20262C"/>
                </ns167:solidFill>
                <ns167:latin typeface="Arial"/>
                <ns167:ea typeface="Arial"/>
                <ns167:cs typeface="Arial"/>
              </ns167:rPr>
              <ns167:t>Business tools, user guides and named maintenance owners</ns167:t>
            </ns167:r>
          </ns167:p>
        </p:txBody>
      </p:sp>
    </p:spTree>
    <p:extLst>
      <p:ext uri="{BB962C8B-B14F-4D97-AF65-F5344CB8AC3E}">
        <p14:creationId xmlns:p14="http://schemas.microsoft.com/office/powerpoint/2010/main" val="7891562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p:cNvSpPr/>
          <p:nvPr/>
        </p:nvSpPr>
        <p:spPr>
          <ns0:xfrm xmlns:ns0="http://schemas.openxmlformats.org/drawingml/2006/main">
            <ns0:off x="457200" y="720000"/>
            <ns0:ext cx="8229600" cy="288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8000"/>
              </ns6:lnSpc>
              <ns6:defRPr sz="2050" b="1">
                <ns6:solidFill>
                  <ns6:srgbClr val="20262C"/>
                </ns6:solidFill>
                <ns6:latin typeface="Arial"/>
                <ns6:ea typeface="Arial"/>
                <ns6:cs typeface="Arial"/>
              </ns6:defRPr>
            </ns6:pPr>
            <ns6:r>
              <ns6:rPr sz="2050" b="1">
                <ns6:solidFill>
                  <ns6:srgbClr val="20262C"/>
                </ns6:solidFill>
                <ns6:latin typeface="Arial"/>
                <ns6:ea typeface="Arial"/>
                <ns6:cs typeface="Arial"/>
              </ns6:rPr>
              <ns6:t>Evaluating application use and task outcomes</ns6:t>
            </ns6:r>
          </ns6:p>
        </p:txBody>
      </p:sp>
      <p:sp>
        <p:nvSpPr>
          <p:cNvPr id="102" name="!!subtitle"/>
          <p:cNvSpPr/>
          <p:nvPr/>
        </p:nvSpPr>
        <p:spPr>
          <ns7:xfrm xmlns:ns7="http://schemas.openxmlformats.org/drawingml/2006/main">
            <ns7:off x="457200" y="1080000"/>
            <ns7:ext cx="8229600" cy="1872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8000"/>
              </ns13:lnSpc>
              <ns13:defRPr sz="1050" b="0">
                <ns13:solidFill>
                  <ns13:srgbClr val="687782"/>
                </ns13:solidFill>
                <ns13:latin typeface="Arial"/>
                <ns13:ea typeface="Arial"/>
                <ns13:cs typeface="Arial"/>
              </ns13:defRPr>
            </ns13:pPr>
            <ns13:r>
              <ns13:rPr sz="1050" b="0">
                <ns13:solidFill>
                  <ns13:srgbClr val="687782"/>
                </ns13:solidFill>
                <ns13:latin typeface="Arial"/>
                <ns13:ea typeface="Arial"/>
                <ns13:cs typeface="Arial"/>
              </ns13:rPr>
              <ns13:t>Evaluation</ns13:t>
            </ns13:r>
          </ns13:p>
        </p:txBody>
      </p:sp>
      <p:cxnSp>
        <p:nvCxnSpPr>
          <p:cNvPr id="103" name="header.rule"/>
          <p:cNvCxnSpPr/>
          <p:nvPr/>
        </p:nvCxnSpPr>
        <p:spPr>
          <ns14:xfrm xmlns:ns14="http://schemas.openxmlformats.org/drawingml/2006/main">
            <ns14:off x="457200" y="1339200"/>
            <ns14:ext cx="8229600" cy="1"/>
          </ns14:xfrm>
          <ns15:prstGeom xmlns:ns15="http://schemas.openxmlformats.org/drawingml/2006/main" prst="line">
            <ns15:avLst/>
          </ns15:prstGeom>
          <ns16:ln xmlns:ns16="http://schemas.openxmlformats.org/drawingml/2006/main" w="6350">
            <ns16:solidFill>
              <ns16:srgbClr val="CCD5DA"/>
            </ns16:solidFill>
          </ns16:ln>
        </p:spPr>
      </p:cxnSp>
      <p:sp>
        <p:nvSpPr>
          <p:cNvPr id="104" name="locator.0"/>
          <p:cNvSpPr/>
          <p:nvPr/>
        </p:nvSpPr>
        <p:spPr>
          <ns17:xfrm xmlns:ns17="http://schemas.openxmlformats.org/drawingml/2006/main">
            <ns17:off x="457200" y="4446000"/>
            <ns17:ext cx="2559600" cy="100800"/>
          </ns17:xfrm>
          <ns18:prstGeom xmlns:ns18="http://schemas.openxmlformats.org/drawingml/2006/main" prst="rect">
            <ns18:avLst/>
          </ns18:prstGeom>
          <ns19:noFill xmlns:ns19="http://schemas.openxmlformats.org/drawingml/2006/main"/>
          <ns20:ln xmlns:ns20="http://schemas.openxmlformats.org/drawingml/2006/main" w="0">
            <ns20:noFill/>
          </ns20:ln>
        </p:spPr>
        <p:txBody>
          <ns21:bodyPr xmlns:ns21="http://schemas.openxmlformats.org/drawingml/2006/main" wrap="square" lIns="0" rIns="0" tIns="0" bIns="0" anchor="t">
            <ns21:noAutofit/>
          </ns21:bodyPr>
          <ns22:lstStyle xmlns:ns22="http://schemas.openxmlformats.org/drawingml/2006/main"/>
          <ns23:p xmlns:ns23="http://schemas.openxmlformats.org/drawingml/2006/main">
            <ns23:pPr algn="l">
              <ns23:lnSpc>
                <ns23:spcPct val="108000"/>
              </ns23:lnSpc>
              <ns23:defRPr sz="800" b="0">
                <ns23:solidFill>
                  <ns23:srgbClr val="687782"/>
                </ns23:solidFill>
                <ns23:latin typeface="Arial"/>
                <ns23:ea typeface="Arial"/>
                <ns23:cs typeface="Arial"/>
              </ns23:defRPr>
            </ns23:pPr>
            <ns23:r>
              <ns23:rPr sz="800" b="0">
                <ns23:solidFill>
                  <ns23:srgbClr val="687782"/>
                </ns23:solidFill>
                <ns23:latin typeface="Arial"/>
                <ns23:ea typeface="Arial"/>
                <ns23:cs typeface="Arial"/>
              </ns23:rPr>
              <ns23:t>Front office</ns23:t>
            </ns23:r>
          </ns23:p>
        </p:txBody>
      </p:sp>
      <p:sp>
        <p:nvSpPr>
          <p:cNvPr id="105" name="locator.1"/>
          <p:cNvSpPr/>
          <p:nvPr/>
        </p:nvSpPr>
        <p:spPr>
          <ns24:xfrm xmlns:ns24="http://schemas.openxmlformats.org/drawingml/2006/main">
            <ns24:off x="3294000" y="4446000"/>
            <ns24:ext cx="2556000" cy="1008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8000"/>
              </ns30:lnSpc>
              <ns30:defRPr sz="800" b="0">
                <ns30:solidFill>
                  <ns30:srgbClr val="687782"/>
                </ns30:solidFill>
                <ns30:latin typeface="Arial"/>
                <ns30:ea typeface="Arial"/>
                <ns30:cs typeface="Arial"/>
              </ns30:defRPr>
            </ns30:pPr>
            <ns30:r>
              <ns30:rPr sz="800" b="0">
                <ns30:solidFill>
                  <ns30:srgbClr val="687782"/>
                </ns30:solidFill>
                <ns30:latin typeface="Arial"/>
                <ns30:ea typeface="Arial"/>
                <ns30:cs typeface="Arial"/>
              </ns30:rPr>
              <ns30:t>Middle office</ns30:t>
            </ns30:r>
          </ns30:p>
        </p:txBody>
      </p:sp>
      <p:sp>
        <p:nvSpPr>
          <p:cNvPr id="106" name="locator.2"/>
          <p:cNvSpPr/>
          <p:nvPr/>
        </p:nvSpPr>
        <p:spPr>
          <ns31:xfrm xmlns:ns31="http://schemas.openxmlformats.org/drawingml/2006/main">
            <ns31:off x="6127200" y="4446000"/>
            <ns31:ext cx="2559600" cy="1008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8000"/>
              </ns37:lnSpc>
              <ns37:defRPr sz="800" b="0">
                <ns37:solidFill>
                  <ns37:srgbClr val="687782"/>
                </ns37:solidFill>
                <ns37:latin typeface="Arial"/>
                <ns37:ea typeface="Arial"/>
                <ns37:cs typeface="Arial"/>
              </ns37:defRPr>
            </ns37:pPr>
            <ns37:r>
              <ns37:rPr sz="800" b="0">
                <ns37:solidFill>
                  <ns37:srgbClr val="687782"/>
                </ns37:solidFill>
                <ns37:latin typeface="Arial"/>
                <ns37:ea typeface="Arial"/>
                <ns37:cs typeface="Arial"/>
              </ns37:rPr>
              <ns37:t>Back office</ns37:t>
            </ns37:r>
          </ns37:p>
        </p:txBody>
      </p:sp>
      <p:sp>
        <p:nvSpPr>
          <p:cNvPr id="107" name="!!evaluation.main"/>
          <p:cNvSpPr/>
          <p:nvPr/>
        </p:nvSpPr>
        <p:spPr>
          <ns38:xfrm xmlns:ns38="http://schemas.openxmlformats.org/drawingml/2006/main">
            <ns38:off x="457200" y="1458000"/>
            <ns38:ext cx="8229600" cy="2880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8000"/>
              </ns44:lnSpc>
              <ns44:defRPr sz="1350" b="1">
                <ns44:solidFill>
                  <ns44:srgbClr val="005A9C"/>
                </ns44:solidFill>
                <ns44:latin typeface="Arial"/>
                <ns44:ea typeface="Arial"/>
                <ns44:cs typeface="Arial"/>
              </ns44:defRPr>
            </ns44:pPr>
            <ns44:r>
              <ns44:rPr sz="1350" b="1">
                <ns44:solidFill>
                  <ns44:srgbClr val="005A9C"/>
                </ns44:solidFill>
                <ns44:latin typeface="Arial"/>
                <ns44:ea typeface="Arial"/>
                <ns44:cs typeface="Arial"/>
              </ns44:rPr>
              <ns44:t>Initial focus: research and client communications</ns44:t>
            </ns44:r>
          </ns44:p>
        </p:txBody>
      </p:sp>
      <p:sp>
        <p:nvSpPr>
          <p:cNvPr id="108" name="!!evaluation.flow.0"/>
          <p:cNvSpPr/>
          <p:nvPr/>
        </p:nvSpPr>
        <p:spPr>
          <ns45:xfrm xmlns:ns45="http://schemas.openxmlformats.org/drawingml/2006/main">
            <ns45:off x="457200" y="1990800"/>
            <ns45:ext cx="1879200" cy="396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8000"/>
              </ns51:lnSpc>
              <ns51:defRPr sz="1250" b="1">
                <ns51:solidFill>
                  <ns51:srgbClr val="20262C"/>
                </ns51:solidFill>
                <ns51:latin typeface="Arial"/>
                <ns51:ea typeface="Arial"/>
                <ns51:cs typeface="Arial"/>
              </ns51:defRPr>
            </ns51:pPr>
            <ns51:r>
              <ns51:rPr sz="1250" b="1">
                <ns51:solidFill>
                  <ns51:srgbClr val="20262C"/>
                </ns51:solidFill>
                <ns51:latin typeface="Arial"/>
                <ns51:ea typeface="Arial"/>
                <ns51:cs typeface="Arial"/>
              </ns51:rPr>
              <ns51:t>Establish a baseline</ns51:t>
            </ns51:r>
          </ns51:p>
        </p:txBody>
      </p:sp>
      <p:cxnSp>
        <p:nvCxnSpPr>
          <p:cNvPr id="109" name="evaluation.cycle.0"/>
          <p:cNvCxnSpPr/>
          <p:nvPr/>
        </p:nvCxnSpPr>
        <p:spPr>
          <ns52:xfrm xmlns:ns52="http://schemas.openxmlformats.org/drawingml/2006/main">
            <ns52:off x="2379600" y="2174400"/>
            <ns52:ext cx="140400" cy="1"/>
          </ns52:xfrm>
          <ns53:prstGeom xmlns:ns53="http://schemas.openxmlformats.org/drawingml/2006/main" prst="line">
            <ns53:avLst/>
          </ns53:prstGeom>
          <ns54:ln xmlns:ns54="http://schemas.openxmlformats.org/drawingml/2006/main" w="12700">
            <ns54:solidFill>
              <ns54:srgbClr val="005A9C"/>
            </ns54:solidFill>
            <ns54:tailEnd type="triangle" w="sm" len="sm"/>
          </ns54:ln>
        </p:spPr>
      </p:cxnSp>
      <p:sp>
        <p:nvSpPr>
          <p:cNvPr id="110" name="!!evaluation.flow.1"/>
          <p:cNvSpPr/>
          <p:nvPr/>
        </p:nvSpPr>
        <p:spPr>
          <ns55:xfrm xmlns:ns55="http://schemas.openxmlformats.org/drawingml/2006/main">
            <ns55:off x="2574000" y="1990800"/>
            <ns55:ext cx="1879200" cy="3960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8000"/>
              </ns61:lnSpc>
              <ns61:defRPr sz="1250" b="1">
                <ns61:solidFill>
                  <ns61:srgbClr val="20262C"/>
                </ns61:solidFill>
                <ns61:latin typeface="Arial"/>
                <ns61:ea typeface="Arial"/>
                <ns61:cs typeface="Arial"/>
              </ns61:defRPr>
            </ns61:pPr>
            <ns61:r>
              <ns61:rPr sz="1250" b="1">
                <ns61:solidFill>
                  <ns61:srgbClr val="20262C"/>
                </ns61:solidFill>
                <ns61:latin typeface="Arial"/>
                <ns61:ea typeface="Arial"/>
                <ns61:cs typeface="Arial"/>
              </ns61:rPr>
              <ns61:t>Use the application</ns61:t>
            </ns61:r>
          </ns61:p>
        </p:txBody>
      </p:sp>
      <p:cxnSp>
        <p:nvCxnSpPr>
          <p:cNvPr id="111" name="evaluation.cycle.1"/>
          <p:cNvCxnSpPr/>
          <p:nvPr/>
        </p:nvCxnSpPr>
        <p:spPr>
          <ns62:xfrm xmlns:ns62="http://schemas.openxmlformats.org/drawingml/2006/main">
            <ns62:off x="4496400" y="2174400"/>
            <ns62:ext cx="140400" cy="1"/>
          </ns62:xfrm>
          <ns63:prstGeom xmlns:ns63="http://schemas.openxmlformats.org/drawingml/2006/main" prst="line">
            <ns63:avLst/>
          </ns63:prstGeom>
          <ns64:ln xmlns:ns64="http://schemas.openxmlformats.org/drawingml/2006/main" w="12700">
            <ns64:solidFill>
              <ns64:srgbClr val="005A9C"/>
            </ns64:solidFill>
            <ns64:tailEnd type="triangle" w="sm" len="sm"/>
          </ns64:ln>
        </p:spPr>
      </p:cxnSp>
      <p:sp>
        <p:nvSpPr>
          <p:cNvPr id="112" name="!!evaluation.flow.2"/>
          <p:cNvSpPr/>
          <p:nvPr/>
        </p:nvSpPr>
        <p:spPr>
          <ns65:xfrm xmlns:ns65="http://schemas.openxmlformats.org/drawingml/2006/main">
            <ns65:off x="4690800" y="1990800"/>
            <ns65:ext cx="1879200" cy="396000"/>
          </ns65:xfrm>
          <ns66:prstGeom xmlns:ns66="http://schemas.openxmlformats.org/drawingml/2006/main" prst="rect">
            <ns66:avLst/>
          </ns66:prstGeom>
          <ns67:noFill xmlns:ns67="http://schemas.openxmlformats.org/drawingml/2006/main"/>
          <ns68:ln xmlns:ns68="http://schemas.openxmlformats.org/drawingml/2006/main" w="0">
            <ns68:noFill/>
          </ns68:ln>
        </p:spPr>
        <p:txBody>
          <ns69:bodyPr xmlns:ns69="http://schemas.openxmlformats.org/drawingml/2006/main" wrap="square" lIns="0" rIns="0" tIns="0" bIns="0" anchor="t">
            <ns69:noAutofit/>
          </ns69:bodyPr>
          <ns70:lstStyle xmlns:ns70="http://schemas.openxmlformats.org/drawingml/2006/main"/>
          <ns71:p xmlns:ns71="http://schemas.openxmlformats.org/drawingml/2006/main">
            <ns71:pPr algn="l">
              <ns71:lnSpc>
                <ns71:spcPct val="108000"/>
              </ns71:lnSpc>
              <ns71:defRPr sz="1250" b="1">
                <ns71:solidFill>
                  <ns71:srgbClr val="20262C"/>
                </ns71:solidFill>
                <ns71:latin typeface="Arial"/>
                <ns71:ea typeface="Arial"/>
                <ns71:cs typeface="Arial"/>
              </ns71:defRPr>
            </ns71:pPr>
            <ns71:r>
              <ns71:rPr sz="1250" b="1">
                <ns71:solidFill>
                  <ns71:srgbClr val="20262C"/>
                </ns71:solidFill>
                <ns71:latin typeface="Arial"/>
                <ns71:ea typeface="Arial"/>
                <ns71:cs typeface="Arial"/>
              </ns71:rPr>
              <ns71:t>Record results</ns71:t>
            </ns71:r>
          </ns71:p>
        </p:txBody>
      </p:sp>
      <p:cxnSp>
        <p:nvCxnSpPr>
          <p:cNvPr id="113" name="evaluation.cycle.2"/>
          <p:cNvCxnSpPr/>
          <p:nvPr/>
        </p:nvCxnSpPr>
        <p:spPr>
          <ns72:xfrm xmlns:ns72="http://schemas.openxmlformats.org/drawingml/2006/main">
            <ns72:off x="6613200" y="2174400"/>
            <ns72:ext cx="140400" cy="1"/>
          </ns72:xfrm>
          <ns73:prstGeom xmlns:ns73="http://schemas.openxmlformats.org/drawingml/2006/main" prst="line">
            <ns73:avLst/>
          </ns73:prstGeom>
          <ns74:ln xmlns:ns74="http://schemas.openxmlformats.org/drawingml/2006/main" w="12700">
            <ns74:solidFill>
              <ns74:srgbClr val="005A9C"/>
            </ns74:solidFill>
            <ns74:tailEnd type="triangle" w="sm" len="sm"/>
          </ns74:ln>
        </p:spPr>
      </p:cxnSp>
      <p:sp>
        <p:nvSpPr>
          <p:cNvPr id="114" name="!!evaluation.flow.3"/>
          <p:cNvSpPr/>
          <p:nvPr/>
        </p:nvSpPr>
        <p:spPr>
          <ns75:xfrm xmlns:ns75="http://schemas.openxmlformats.org/drawingml/2006/main">
            <ns75:off x="6807600" y="1990800"/>
            <ns75:ext cx="1879200" cy="396000"/>
          </ns75:xfrm>
          <ns76:prstGeom xmlns:ns76="http://schemas.openxmlformats.org/drawingml/2006/main" prst="rect">
            <ns76:avLst/>
          </ns76:prstGeom>
          <ns77:noFill xmlns:ns77="http://schemas.openxmlformats.org/drawingml/2006/main"/>
          <ns78:ln xmlns:ns78="http://schemas.openxmlformats.org/drawingml/2006/main" w="0">
            <ns78:noFill/>
          </ns78:ln>
        </p:spPr>
        <p:txBody>
          <ns79:bodyPr xmlns:ns79="http://schemas.openxmlformats.org/drawingml/2006/main" wrap="square" lIns="0" rIns="0" tIns="0" bIns="0" anchor="t">
            <ns79:noAutofit/>
          </ns79:bodyPr>
          <ns80:lstStyle xmlns:ns80="http://schemas.openxmlformats.org/drawingml/2006/main"/>
          <ns81:p xmlns:ns81="http://schemas.openxmlformats.org/drawingml/2006/main">
            <ns81:pPr algn="l">
              <ns81:lnSpc>
                <ns81:spcPct val="108000"/>
              </ns81:lnSpc>
              <ns81:defRPr sz="1250" b="1">
                <ns81:solidFill>
                  <ns81:srgbClr val="20262C"/>
                </ns81:solidFill>
                <ns81:latin typeface="Arial"/>
                <ns81:ea typeface="Arial"/>
                <ns81:cs typeface="Arial"/>
              </ns81:defRPr>
            </ns81:pPr>
            <ns81:r>
              <ns81:rPr sz="1250" b="1">
                <ns81:solidFill>
                  <ns81:srgbClr val="20262C"/>
                </ns81:solidFill>
                <ns81:latin typeface="Arial"/>
                <ns81:ea typeface="Arial"/>
                <ns81:cs typeface="Arial"/>
              </ns81:rPr>
              <ns81:t>Refine the workflow</ns81:t>
            </ns81:r>
          </ns81:p>
        </p:txBody>
      </p:sp>
      <p:sp>
        <p:nvSpPr>
          <p:cNvPr id="115" name="!!evaluation.0.title"/>
          <p:cNvSpPr/>
          <p:nvPr/>
        </p:nvSpPr>
        <p:spPr>
          <ns82:xfrm xmlns:ns82="http://schemas.openxmlformats.org/drawingml/2006/main">
            <ns82:off x="457200" y="2887200"/>
            <ns82:ext cx="3934800" cy="2160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8000"/>
              </ns88:lnSpc>
              <ns88:defRPr sz="1300" b="1">
                <ns88:solidFill>
                  <ns88:srgbClr val="005A9C"/>
                </ns88:solidFill>
                <ns88:latin typeface="Arial"/>
                <ns88:ea typeface="Arial"/>
                <ns88:cs typeface="Arial"/>
              </ns88:defRPr>
            </ns88:pPr>
            <ns88:r>
              <ns88:rPr sz="1300" b="1">
                <ns88:solidFill>
                  <ns88:srgbClr val="005A9C"/>
                </ns88:solidFill>
                <ns88:latin typeface="Arial"/>
                <ns88:ea typeface="Arial"/>
                <ns88:cs typeface="Arial"/>
              </ns88:rPr>
              <ns88:t>Task completion time</ns88:t>
            </ns88:r>
          </ns88:p>
        </p:txBody>
      </p:sp>
      <p:sp>
        <p:nvSpPr>
          <p:cNvPr id="116" name="!!evaluation.0.body"/>
          <p:cNvSpPr/>
          <p:nvPr/>
        </p:nvSpPr>
        <p:spPr>
          <ns89:xfrm xmlns:ns89="http://schemas.openxmlformats.org/drawingml/2006/main">
            <ns89:off x="457200" y="3189600"/>
            <ns89:ext cx="3934800" cy="4032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8000"/>
              </ns95:lnSpc>
              <ns95:defRPr sz="1150" b="0">
                <ns95:solidFill>
                  <ns95:srgbClr val="20262C"/>
                </ns95:solidFill>
                <ns95:latin typeface="Arial"/>
                <ns95:ea typeface="Arial"/>
                <ns95:cs typeface="Arial"/>
              </ns95:defRPr>
            </ns95:pPr>
            <ns95:r>
              <ns95:rPr sz="1150" b="0">
                <ns95:solidFill>
                  <ns95:srgbClr val="20262C"/>
                </ns95:solidFill>
                <ns95:latin typeface="Arial"/>
                <ns95:ea typeface="Arial"/>
                <ns95:cs typeface="Arial"/>
              </ns95:rPr>
              <ns95:t>Time from starting the task to completing the output</ns95:t>
            </ns95:r>
          </ns95:p>
        </p:txBody>
      </p:sp>
      <p:sp>
        <p:nvSpPr>
          <p:cNvPr id="117" name="!!evaluation.1.title"/>
          <p:cNvSpPr/>
          <p:nvPr/>
        </p:nvSpPr>
        <p:spPr>
          <ns96:xfrm xmlns:ns96="http://schemas.openxmlformats.org/drawingml/2006/main">
            <ns96:off x="4752000" y="2887200"/>
            <ns96:ext cx="3934800" cy="216000"/>
          </ns96:xfrm>
          <ns97:prstGeom xmlns:ns97="http://schemas.openxmlformats.org/drawingml/2006/main" prst="rect">
            <ns97:avLst/>
          </ns97:prstGeom>
          <ns98:noFill xmlns:ns98="http://schemas.openxmlformats.org/drawingml/2006/main"/>
          <ns99:ln xmlns:ns99="http://schemas.openxmlformats.org/drawingml/2006/main" w="0">
            <ns99:noFill/>
          </ns99:ln>
        </p:spPr>
        <p:txBody>
          <ns100:bodyPr xmlns:ns100="http://schemas.openxmlformats.org/drawingml/2006/main" wrap="square" lIns="0" rIns="0" tIns="0" bIns="0" anchor="t">
            <ns100:noAutofit/>
          </ns100:bodyPr>
          <ns101:lstStyle xmlns:ns101="http://schemas.openxmlformats.org/drawingml/2006/main"/>
          <ns102:p xmlns:ns102="http://schemas.openxmlformats.org/drawingml/2006/main">
            <ns102:pPr algn="l">
              <ns102:lnSpc>
                <ns102:spcPct val="108000"/>
              </ns102:lnSpc>
              <ns102:defRPr sz="1300" b="1">
                <ns102:solidFill>
                  <ns102:srgbClr val="005A9C"/>
                </ns102:solidFill>
                <ns102:latin typeface="Arial"/>
                <ns102:ea typeface="Arial"/>
                <ns102:cs typeface="Arial"/>
              </ns102:defRPr>
            </ns102:pPr>
            <ns102:r>
              <ns102:rPr sz="1300" b="1">
                <ns102:solidFill>
                  <ns102:srgbClr val="005A9C"/>
                </ns102:solidFill>
                <ns102:latin typeface="Arial"/>
                <ns102:ea typeface="Arial"/>
                <ns102:cs typeface="Arial"/>
              </ns102:rPr>
              <ns102:t>Use of outputs</ns102:t>
            </ns102:r>
          </ns102:p>
        </p:txBody>
      </p:sp>
      <p:sp>
        <p:nvSpPr>
          <p:cNvPr id="118" name="!!evaluation.1.body"/>
          <p:cNvSpPr/>
          <p:nvPr/>
        </p:nvSpPr>
        <p:spPr>
          <ns103:xfrm xmlns:ns103="http://schemas.openxmlformats.org/drawingml/2006/main">
            <ns103:off x="4752000" y="3189600"/>
            <ns103:ext cx="3934800" cy="4032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8000"/>
              </ns109:lnSpc>
              <ns109:defRPr sz="1150" b="0">
                <ns109:solidFill>
                  <ns109:srgbClr val="20262C"/>
                </ns109:solidFill>
                <ns109:latin typeface="Arial"/>
                <ns109:ea typeface="Arial"/>
                <ns109:cs typeface="Arial"/>
              </ns109:defRPr>
            </ns109:pPr>
            <ns109:r>
              <ns109:rPr sz="1150" b="0">
                <ns109:solidFill>
                  <ns109:srgbClr val="20262C"/>
                </ns109:solidFill>
                <ns109:latin typeface="Arial"/>
                <ns109:ea typeface="Arial"/>
                <ns109:cs typeface="Arial"/>
              </ns109:rPr>
              <ns109:t>Whether teams use the analysis and materials</ns109:t>
            </ns109:r>
          </ns109:p>
        </p:txBody>
      </p:sp>
      <p:sp>
        <p:nvSpPr>
          <p:cNvPr id="119" name="!!evaluation.2.title"/>
          <p:cNvSpPr/>
          <p:nvPr/>
        </p:nvSpPr>
        <p:spPr>
          <ns110:xfrm xmlns:ns110="http://schemas.openxmlformats.org/drawingml/2006/main">
            <ns110:off x="457200" y="3654000"/>
            <ns110:ext cx="3934800" cy="2160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8000"/>
              </ns116:lnSpc>
              <ns116:defRPr sz="1300" b="1">
                <ns116:solidFill>
                  <ns116:srgbClr val="005A9C"/>
                </ns116:solidFill>
                <ns116:latin typeface="Arial"/>
                <ns116:ea typeface="Arial"/>
                <ns116:cs typeface="Arial"/>
              </ns116:defRPr>
            </ns116:pPr>
            <ns116:r>
              <ns116:rPr sz="1300" b="1">
                <ns116:solidFill>
                  <ns116:srgbClr val="005A9C"/>
                </ns116:solidFill>
                <ns116:latin typeface="Arial"/>
                <ns116:ea typeface="Arial"/>
                <ns116:cs typeface="Arial"/>
              </ns116:rPr>
              <ns116:t>Rework</ns116:t>
            </ns116:r>
          </ns116:p>
        </p:txBody>
      </p:sp>
      <p:sp>
        <p:nvSpPr>
          <p:cNvPr id="120" name="!!evaluation.2.body"/>
          <p:cNvSpPr/>
          <p:nvPr/>
        </p:nvSpPr>
        <p:spPr>
          <ns117:xfrm xmlns:ns117="http://schemas.openxmlformats.org/drawingml/2006/main">
            <ns117:off x="457200" y="3956400"/>
            <ns117:ext cx="3934800" cy="4032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8000"/>
              </ns123:lnSpc>
              <ns123:defRPr sz="1150" b="0">
                <ns123:solidFill>
                  <ns123:srgbClr val="20262C"/>
                </ns123:solidFill>
                <ns123:latin typeface="Arial"/>
                <ns123:ea typeface="Arial"/>
                <ns123:cs typeface="Arial"/>
              </ns123:defRPr>
            </ns123:pPr>
            <ns123:r>
              <ns123:rPr sz="1150" b="0">
                <ns123:solidFill>
                  <ns123:srgbClr val="20262C"/>
                </ns123:solidFill>
                <ns123:latin typeface="Arial"/>
                <ns123:ea typeface="Arial"/>
                <ns123:cs typeface="Arial"/>
              </ns123:rPr>
              <ns123:t>Revision rounds and repeated checks</ns123:t>
            </ns123:r>
          </ns123:p>
        </p:txBody>
      </p:sp>
      <p:sp>
        <p:nvSpPr>
          <p:cNvPr id="121" name="!!evaluation.3.title"/>
          <p:cNvSpPr/>
          <p:nvPr/>
        </p:nvSpPr>
        <p:spPr>
          <ns124:xfrm xmlns:ns124="http://schemas.openxmlformats.org/drawingml/2006/main">
            <ns124:off x="4752000" y="3654000"/>
            <ns124:ext cx="3934800" cy="2160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8000"/>
              </ns130:lnSpc>
              <ns130:defRPr sz="1300" b="1">
                <ns130:solidFill>
                  <ns130:srgbClr val="005A9C"/>
                </ns130:solidFill>
                <ns130:latin typeface="Arial"/>
                <ns130:ea typeface="Arial"/>
                <ns130:cs typeface="Arial"/>
              </ns130:defRPr>
            </ns130:pPr>
            <ns130:r>
              <ns130:rPr sz="1300" b="1">
                <ns130:solidFill>
                  <ns130:srgbClr val="005A9C"/>
                </ns130:solidFill>
                <ns130:latin typeface="Arial"/>
                <ns130:ea typeface="Arial"/>
                <ns130:cs typeface="Arial"/>
              </ns130:rPr>
              <ns130:t>Repeat usage</ns130:t>
            </ns130:r>
          </ns130:p>
        </p:txBody>
      </p:sp>
      <p:sp>
        <p:nvSpPr>
          <p:cNvPr id="122" name="!!evaluation.3.body"/>
          <p:cNvSpPr/>
          <p:nvPr/>
        </p:nvSpPr>
        <p:spPr>
          <ns131:xfrm xmlns:ns131="http://schemas.openxmlformats.org/drawingml/2006/main">
            <ns131:off x="4752000" y="3956400"/>
            <ns131:ext cx="3934800" cy="4032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8000"/>
              </ns137:lnSpc>
              <ns137:defRPr sz="1150" b="0">
                <ns137:solidFill>
                  <ns137:srgbClr val="20262C"/>
                </ns137:solidFill>
                <ns137:latin typeface="Arial"/>
                <ns137:ea typeface="Arial"/>
                <ns137:cs typeface="Arial"/>
              </ns137:defRPr>
            </ns137:pPr>
            <ns137:r>
              <ns137:rPr sz="1150" b="0">
                <ns137:solidFill>
                  <ns137:srgbClr val="20262C"/>
                </ns137:solidFill>
                <ns137:latin typeface="Arial"/>
                <ns137:ea typeface="Arial"/>
                <ns137:cs typeface="Arial"/>
              </ns137:rPr>
              <ns137:t>Whether employees continue to use the application</ns137:t>
            </ns137:r>
          </ns137:p>
        </p:txBody>
      </p:sp>
    </p:spTree>
    <p:extLst>
      <p:ext uri="{BB962C8B-B14F-4D97-AF65-F5344CB8AC3E}">
        <p14:creationId xmlns:p14="http://schemas.microsoft.com/office/powerpoint/2010/main" val="498959668"/>
      </p:ext>
    </p:extLst>
  </p:cSld>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