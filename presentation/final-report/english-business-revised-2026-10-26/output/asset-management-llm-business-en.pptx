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r="http://schemas.openxmlformats.org/officeDocument/2006/relationships" id="256" r:id="R390636d39d7347d7"/>
    <p:sldId xmlns:r="http://schemas.openxmlformats.org/officeDocument/2006/relationships" id="257" r:id="R7b57c72efeb1497a"/>
    <p:sldId xmlns:r="http://schemas.openxmlformats.org/officeDocument/2006/relationships" id="258" r:id="Rcd4319cf7eb84535"/>
    <p:sldId xmlns:r="http://schemas.openxmlformats.org/officeDocument/2006/relationships" id="259" r:id="R07d0532394894932"/>
    <p:sldId xmlns:r="http://schemas.openxmlformats.org/officeDocument/2006/relationships" id="260" r:id="R820e715e6f194792"/>
    <p:sldId xmlns:r="http://schemas.openxmlformats.org/officeDocument/2006/relationships" id="261" r:id="Rb8cd7f2ed53f4e1b"/>
    <p:sldId xmlns:r="http://schemas.openxmlformats.org/officeDocument/2006/relationships" id="262" r:id="R474c0bf37edb4cea"/>
    <p:sldId xmlns:r="http://schemas.openxmlformats.org/officeDocument/2006/relationships" id="263" r:id="Rd5b7b06329bf4113"/>
    <p:sldId xmlns:r="http://schemas.openxmlformats.org/officeDocument/2006/relationships" id="264" r:id="R30f62b1981a84933"/>
    <p:sldId xmlns:r="http://schemas.openxmlformats.org/officeDocument/2006/relationships" id="265" r:id="R4699d77233174d36"/>
    <p:sldId xmlns:r="http://schemas.openxmlformats.org/officeDocument/2006/relationships" id="266" r:id="R31df87a8ac1346d0"/>
    <p:sldId xmlns:r="http://schemas.openxmlformats.org/officeDocument/2006/relationships" id="267" r:id="R9dfc38af7c1d45b8"/>
    <p:sldId xmlns:r="http://schemas.openxmlformats.org/officeDocument/2006/relationships" id="268" r:id="R795d7ff9988647cc"/>
    <p:sldId xmlns:r="http://schemas.openxmlformats.org/officeDocument/2006/relationships" id="269" r:id="Rcd259ea95bf14c96"/>
    <p:sldId xmlns:r="http://schemas.openxmlformats.org/officeDocument/2006/relationships" id="270" r:id="R1d7e6e39ec884ede"/>
    <p:sldId xmlns:r="http://schemas.openxmlformats.org/officeDocument/2006/relationships" id="271" r:id="R34a91606121040e0"/>
    <p:sldId xmlns:r="http://schemas.openxmlformats.org/officeDocument/2006/relationships" id="272" r:id="R33be6cf8668a4f60"/>
    <p:sldId xmlns:r="http://schemas.openxmlformats.org/officeDocument/2006/relationships" id="273" r:id="R15f9f4f2e7c94f74"/>
    <p:sldId xmlns:r="http://schemas.openxmlformats.org/officeDocument/2006/relationships" id="274" r:id="Raba3dadce42b4a2a"/>
    <p:sldId xmlns:r="http://schemas.openxmlformats.org/officeDocument/2006/relationships" id="275" r:id="R1510c5db4da84232"/>
    <p:sldId xmlns:r="http://schemas.openxmlformats.org/officeDocument/2006/relationships" id="276" r:id="R62bbc882b7d744a6"/>
    <p:sldId xmlns:r="http://schemas.openxmlformats.org/officeDocument/2006/relationships" id="277" r:id="R0284ad737b7e404e"/>
    <p:sldId xmlns:r="http://schemas.openxmlformats.org/officeDocument/2006/relationships" id="278" r:id="R0fe18bf047c8408c"/>
    <p:sldId xmlns:r="http://schemas.openxmlformats.org/officeDocument/2006/relationships" id="279" r:id="R1326405c89d34aca"/>
    <p:sldId xmlns:r="http://schemas.openxmlformats.org/officeDocument/2006/relationships" id="280" r:id="R97c87c600b474f37"/>
    <p:sldId xmlns:r="http://schemas.openxmlformats.org/officeDocument/2006/relationships" id="281" r:id="R9cf89a85407a4621"/>
    <p:sldId xmlns:r="http://schemas.openxmlformats.org/officeDocument/2006/relationships" id="282" r:id="Rff138eb52d014a01"/>
    <p:sldId xmlns:r="http://schemas.openxmlformats.org/officeDocument/2006/relationships" id="283" r:id="R7449c02aed4e4d1b"/>
    <p:sldId xmlns:r="http://schemas.openxmlformats.org/officeDocument/2006/relationships" id="284" r:id="Rcd365684a5e24dc5"/>
    <p:sldId xmlns:r="http://schemas.openxmlformats.org/officeDocument/2006/relationships" id="285" r:id="R480194aec177473a"/>
    <p:sldId xmlns:r="http://schemas.openxmlformats.org/officeDocument/2006/relationships" id="286" r:id="R4bd97497d5ad4616"/>
    <p:sldId xmlns:r="http://schemas.openxmlformats.org/officeDocument/2006/relationships" id="287" r:id="R69b30f86db62496c"/>
    <p:sldId xmlns:r="http://schemas.openxmlformats.org/officeDocument/2006/relationships" id="288" r:id="R755a343b797b4b9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c88309ce4449" /><Relationship Type="http://schemas.openxmlformats.org/officeDocument/2006/relationships/slideMaster" Target="/ppt/slideMasters/slideMaster1.xml" Id="R0e15fbe9e6a84748" /><Relationship Type="http://schemas.openxmlformats.org/officeDocument/2006/relationships/notesMaster" Target="/ppt/notesMasters/notesMaster1.xml" Id="R6e122c12f9644f44" /><Relationship Type="http://schemas.openxmlformats.org/officeDocument/2006/relationships/presProps" Target="/ppt/presProps.xml" Id="R13e92d9c7e2f420e" /><Relationship Type="http://schemas.openxmlformats.org/officeDocument/2006/relationships/tableStyles" Target="/ppt/tableStyles.xml" Id="Reab0ce6b86a24159" /><Relationship Type="http://schemas.openxmlformats.org/officeDocument/2006/relationships/slide" Target="/ppt/slides/slide1.xml" Id="R390636d39d7347d7" /><Relationship Type="http://schemas.openxmlformats.org/officeDocument/2006/relationships/slide" Target="/ppt/slides/slide2.xml" Id="R7b57c72efeb1497a" /><Relationship Type="http://schemas.openxmlformats.org/officeDocument/2006/relationships/slide" Target="/ppt/slides/slide3.xml" Id="Rcd4319cf7eb84535" /><Relationship Type="http://schemas.openxmlformats.org/officeDocument/2006/relationships/slide" Target="/ppt/slides/slide4.xml" Id="R07d0532394894932" /><Relationship Type="http://schemas.openxmlformats.org/officeDocument/2006/relationships/slide" Target="/ppt/slides/slide5.xml" Id="R820e715e6f194792" /><Relationship Type="http://schemas.openxmlformats.org/officeDocument/2006/relationships/slide" Target="/ppt/slides/slide6.xml" Id="Rb8cd7f2ed53f4e1b" /><Relationship Type="http://schemas.openxmlformats.org/officeDocument/2006/relationships/slide" Target="/ppt/slides/slide7.xml" Id="R474c0bf37edb4cea" /><Relationship Type="http://schemas.openxmlformats.org/officeDocument/2006/relationships/slide" Target="/ppt/slides/slide8.xml" Id="Rd5b7b06329bf4113" /><Relationship Type="http://schemas.openxmlformats.org/officeDocument/2006/relationships/slide" Target="/ppt/slides/slide9.xml" Id="R30f62b1981a84933" /><Relationship Type="http://schemas.openxmlformats.org/officeDocument/2006/relationships/slide" Target="/ppt/slides/slide10.xml" Id="R4699d77233174d36" /><Relationship Type="http://schemas.openxmlformats.org/officeDocument/2006/relationships/slide" Target="/ppt/slides/slide11.xml" Id="R31df87a8ac1346d0" /><Relationship Type="http://schemas.openxmlformats.org/officeDocument/2006/relationships/slide" Target="/ppt/slides/slide12.xml" Id="R9dfc38af7c1d45b8" /><Relationship Type="http://schemas.openxmlformats.org/officeDocument/2006/relationships/slide" Target="/ppt/slides/slide13.xml" Id="R795d7ff9988647cc" /><Relationship Type="http://schemas.openxmlformats.org/officeDocument/2006/relationships/slide" Target="/ppt/slides/slide14.xml" Id="Rcd259ea95bf14c96" /><Relationship Type="http://schemas.openxmlformats.org/officeDocument/2006/relationships/slide" Target="/ppt/slides/slide15.xml" Id="R1d7e6e39ec884ede" /><Relationship Type="http://schemas.openxmlformats.org/officeDocument/2006/relationships/slide" Target="/ppt/slides/slide16.xml" Id="R34a91606121040e0" /><Relationship Type="http://schemas.openxmlformats.org/officeDocument/2006/relationships/slide" Target="/ppt/slides/slide17.xml" Id="R33be6cf8668a4f60" /><Relationship Type="http://schemas.openxmlformats.org/officeDocument/2006/relationships/slide" Target="/ppt/slides/slide18.xml" Id="R15f9f4f2e7c94f74" /><Relationship Type="http://schemas.openxmlformats.org/officeDocument/2006/relationships/slide" Target="/ppt/slides/slide19.xml" Id="Raba3dadce42b4a2a" /><Relationship Type="http://schemas.openxmlformats.org/officeDocument/2006/relationships/slide" Target="/ppt/slides/slide20.xml" Id="R1510c5db4da84232" /><Relationship Type="http://schemas.openxmlformats.org/officeDocument/2006/relationships/slide" Target="/ppt/slides/slide21.xml" Id="R62bbc882b7d744a6" /><Relationship Type="http://schemas.openxmlformats.org/officeDocument/2006/relationships/slide" Target="/ppt/slides/slide22.xml" Id="R0284ad737b7e404e" /><Relationship Type="http://schemas.openxmlformats.org/officeDocument/2006/relationships/slide" Target="/ppt/slides/slide23.xml" Id="R0fe18bf047c8408c" /><Relationship Type="http://schemas.openxmlformats.org/officeDocument/2006/relationships/slide" Target="/ppt/slides/slide24.xml" Id="R1326405c89d34aca" /><Relationship Type="http://schemas.openxmlformats.org/officeDocument/2006/relationships/slide" Target="/ppt/slides/slide25.xml" Id="R97c87c600b474f37" /><Relationship Type="http://schemas.openxmlformats.org/officeDocument/2006/relationships/slide" Target="/ppt/slides/slide26.xml" Id="R9cf89a85407a4621" /><Relationship Type="http://schemas.openxmlformats.org/officeDocument/2006/relationships/slide" Target="/ppt/slides/slide27.xml" Id="Rff138eb52d014a01" /><Relationship Type="http://schemas.openxmlformats.org/officeDocument/2006/relationships/slide" Target="/ppt/slides/slide28.xml" Id="R7449c02aed4e4d1b" /><Relationship Type="http://schemas.openxmlformats.org/officeDocument/2006/relationships/slide" Target="/ppt/slides/slide29.xml" Id="Rcd365684a5e24dc5" /><Relationship Type="http://schemas.openxmlformats.org/officeDocument/2006/relationships/slide" Target="/ppt/slides/slide30.xml" Id="R480194aec177473a" /><Relationship Type="http://schemas.openxmlformats.org/officeDocument/2006/relationships/slide" Target="/ppt/slides/slide31.xml" Id="R4bd97497d5ad4616" /><Relationship Type="http://schemas.openxmlformats.org/officeDocument/2006/relationships/slide" Target="/ppt/slides/slide32.xml" Id="R69b30f86db62496c" /><Relationship Type="http://schemas.openxmlformats.org/officeDocument/2006/relationships/slide" Target="/ppt/slides/slide33.xml" Id="R755a343b797b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e8c43a76964bba" /><Relationship Type="http://schemas.openxmlformats.org/officeDocument/2006/relationships/notesMaster" Target="/ppt/notesMasters/notesMaster1.xml" Id="R1267af05228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590d33bd54b6e" /><Relationship Type="http://schemas.openxmlformats.org/officeDocument/2006/relationships/notesMaster" Target="/ppt/notesMasters/notesMaster1.xml" Id="Ra8076cb9326441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e4fc8b9754270" /><Relationship Type="http://schemas.openxmlformats.org/officeDocument/2006/relationships/notesMaster" Target="/ppt/notesMasters/notesMaster1.xml" Id="R8a87eaa4155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4b80231341410a" /><Relationship Type="http://schemas.openxmlformats.org/officeDocument/2006/relationships/notesMaster" Target="/ppt/notesMasters/notesMaster1.xml" Id="Rff768ed1077f43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44a968c6418e" /><Relationship Type="http://schemas.openxmlformats.org/officeDocument/2006/relationships/notesMaster" Target="/ppt/notesMasters/notesMaster1.xml" Id="R34e6eb2626db47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04232609e48fa" /><Relationship Type="http://schemas.openxmlformats.org/officeDocument/2006/relationships/notesMaster" Target="/ppt/notesMasters/notesMaster1.xml" Id="R8543c600a099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68b2eb84cae" /><Relationship Type="http://schemas.openxmlformats.org/officeDocument/2006/relationships/notesMaster" Target="/ppt/notesMasters/notesMaster1.xml" Id="R3cca0745d0af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28552aa6a44a86" /><Relationship Type="http://schemas.openxmlformats.org/officeDocument/2006/relationships/notesMaster" Target="/ppt/notesMasters/notesMaster1.xml" Id="Rd4936733361f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11690eb294ccb" /><Relationship Type="http://schemas.openxmlformats.org/officeDocument/2006/relationships/notesMaster" Target="/ppt/notesMasters/notesMaster1.xml" Id="R30bb608570ec44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36d0eb8a342bd" /><Relationship Type="http://schemas.openxmlformats.org/officeDocument/2006/relationships/notesMaster" Target="/ppt/notesMasters/notesMaster1.xml" Id="R50e4b7b1591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a762bb0d7e40c4" /><Relationship Type="http://schemas.openxmlformats.org/officeDocument/2006/relationships/notesMaster" Target="/ppt/notesMasters/notesMaster1.xml" Id="R5aaa1151ed65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c91a22259f4476" /><Relationship Type="http://schemas.openxmlformats.org/officeDocument/2006/relationships/notesMaster" Target="/ppt/notesMasters/notesMaster1.xml" Id="R4ba7ef46d4e748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1fc75d0fb41b8" /><Relationship Type="http://schemas.openxmlformats.org/officeDocument/2006/relationships/notesMaster" Target="/ppt/notesMasters/notesMaster1.xml" Id="R8a1b86c8a08946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4b87e938224b4a" /><Relationship Type="http://schemas.openxmlformats.org/officeDocument/2006/relationships/notesMaster" Target="/ppt/notesMasters/notesMaster1.xml" Id="R7c22e128f685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245d6a674ba8" /><Relationship Type="http://schemas.openxmlformats.org/officeDocument/2006/relationships/notesMaster" Target="/ppt/notesMasters/notesMaster1.xml" Id="Rbfded3aa3841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5a3f02b7684e62" /><Relationship Type="http://schemas.openxmlformats.org/officeDocument/2006/relationships/notesMaster" Target="/ppt/notesMasters/notesMaster1.xml" Id="R1b1b72ca127c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c59df0a159401e" /><Relationship Type="http://schemas.openxmlformats.org/officeDocument/2006/relationships/notesMaster" Target="/ppt/notesMasters/notesMaster1.xml" Id="R9bf09e1198db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8fa3945f294c79" /><Relationship Type="http://schemas.openxmlformats.org/officeDocument/2006/relationships/notesMaster" Target="/ppt/notesMasters/notesMaster1.xml" Id="Rc0190028b506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f99c1e30f466c" /><Relationship Type="http://schemas.openxmlformats.org/officeDocument/2006/relationships/notesMaster" Target="/ppt/notesMasters/notesMaster1.xml" Id="Rb857b6ffd364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0ad63929c45d5" /><Relationship Type="http://schemas.openxmlformats.org/officeDocument/2006/relationships/notesMaster" Target="/ppt/notesMasters/notesMaster1.xml" Id="R51fa0d9cd7a2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542187faf845f5" /><Relationship Type="http://schemas.openxmlformats.org/officeDocument/2006/relationships/notesMaster" Target="/ppt/notesMasters/notesMaster1.xml" Id="R90174c870449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bac1cfbaf541cd" /><Relationship Type="http://schemas.openxmlformats.org/officeDocument/2006/relationships/notesMaster" Target="/ppt/notesMasters/notesMaster1.xml" Id="Raf1a66534fc949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01a58377e4ce8" /><Relationship Type="http://schemas.openxmlformats.org/officeDocument/2006/relationships/notesMaster" Target="/ppt/notesMasters/notesMaster1.xml" Id="Rf19c1d8ccad3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e21a42b4c47f0" /><Relationship Type="http://schemas.openxmlformats.org/officeDocument/2006/relationships/notesMaster" Target="/ppt/notesMasters/notesMaster1.xml" Id="R11925fbe7f2a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744cba2cdd4ab0" /><Relationship Type="http://schemas.openxmlformats.org/officeDocument/2006/relationships/notesMaster" Target="/ppt/notesMasters/notesMaster1.xml" Id="R33d2d83d2d5640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1a163df44741b8" /><Relationship Type="http://schemas.openxmlformats.org/officeDocument/2006/relationships/notesMaster" Target="/ppt/notesMasters/notesMaster1.xml" Id="R2d8522b8d7ef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b34a60e34a4e50" /><Relationship Type="http://schemas.openxmlformats.org/officeDocument/2006/relationships/notesMaster" Target="/ppt/notesMasters/notesMaster1.xml" Id="Rd573492231c14c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148a440a4f4964" /><Relationship Type="http://schemas.openxmlformats.org/officeDocument/2006/relationships/notesMaster" Target="/ppt/notesMasters/notesMaster1.xml" Id="R6a69c372c8c049b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cbc7c5ed8a4d79" /><Relationship Type="http://schemas.openxmlformats.org/officeDocument/2006/relationships/notesMaster" Target="/ppt/notesMasters/notesMaster1.xml" Id="R59ab481a89954e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7fa5624e4c4b00" /><Relationship Type="http://schemas.openxmlformats.org/officeDocument/2006/relationships/notesMaster" Target="/ppt/notesMasters/notesMaster1.xml" Id="R5c136095bce142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27abb529f74fef" /><Relationship Type="http://schemas.openxmlformats.org/officeDocument/2006/relationships/notesMaster" Target="/ppt/notesMasters/notesMaster1.xml" Id="R9e9b2132482743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f99aa2b4d45cc" /><Relationship Type="http://schemas.openxmlformats.org/officeDocument/2006/relationships/notesMaster" Target="/ppt/notesMasters/notesMaster1.xml" Id="Raa1fd34283c9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afb0bd4074782" /><Relationship Type="http://schemas.openxmlformats.org/officeDocument/2006/relationships/notesMaster" Target="/ppt/notesMasters/notesMaster1.xml" Id="Red418545e974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examines how large language models (LLMs) can support the day-to-day work of an asset manager. Each topic covers the current workflow, relevant industry examples and a proposed application for the firm. The discussion follows front-, middle- and back-office work, using Company A and a quarterly client update as recurring examples. Cover image: an AI-generated research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inputs are documents, data, messages and business requests. LLMs interpret questions, read and compare material, organize explanations, and draft text or code. Connected tools perform queries, calculations and other operations. Employees check the results and use them to complete research, trading preparation, client communications, review and development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covers seven application areas. Each topic begins with the work employees do and the repetitive preparation it involves, then looks at industry examples and a proposed application for the firm. Company A links research, quote preparation and risk monitoring. The quarterly client update links drafting, review and document maintenance. The task names provide direct navigation to each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needs to explain why Company A’s revenue grew and whether that growth can continue. The preparation involves locating comparable revenue and volume data, reading the explanation in meeting notes and comparing two research reports. In this illustrative scenario, prior-quarter and current-quarter revenue are RMB 100m and RMB 110m, while sales volume is 1.0m and 1.1m units. Repeated searches, extraction, calculations and rereading are the work required before the analyst can assess the business. The next three slides show industry approaches to earnings analysis, research synthesis and template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Tianhong’s FinAgent breaks a net-profit question into revenue, cost of sales and expenses, then explores drivers such as volume, selling price, raw materials and distribution. The LLM organizes the questions and calls data and calculation tools. Those tools return the figures and calculations. The model connects them to operating and industry information, while the analyst assesses the quality and persistence of growth. Tianhong reported that the time required for manual data preparation and calculations fell from days to minutes.</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Fullgoal first uses the model to assess each report’s relevance to the investment target. It then summarizes the reports against the analyst’s research interests, synthesizes the summaries, adjusts the wording and checks the result. In the Company A example, Report A links higher volumes to a lasting demand recovery. Report B emphasizes channel restocking and questions whether it will persist. The LLM makes the common ground and competing explanations easy to compare. The analyst can investigate the disagreement with the original reports at hand.</a:t>
            </a:r>
          </a:p>
          <a:p xmlns:a="http://schemas.openxmlformats.org/drawingml/2006/main">
            <a:r>
              <a:t/>
            </a:r>
          </a:p>
          <a:p xmlns:a="http://schemas.openxmlformats.org/drawingml/2006/main">
            <a:r>
              <a:t>Sources:</a:t>
            </a:r>
          </a:p>
          <a:p xmlns:a="http://schemas.openxmlformats.org/drawingml/2006/main">
            <a:r>
              <a:t>FUND-007, pp. 8–9</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Zhong Ou’s assistant connects internal research information and external sources, separates collection, analysis and synthesis, and populates a research template. The example maps financials and calculations to operating changes, meeting notes to business drivers, and research reports to open questions. These example fields illustrate the method. Analysts check the entries and sources and add their own assessment. Zhong Ou reported an approximately 50% improvement in overall preparation efficiency, with data as of May 2026.</a:t>
            </a:r>
          </a:p>
          <a:p xmlns:a="http://schemas.openxmlformats.org/drawingml/2006/main">
            <a:r>
              <a:t/>
            </a:r>
          </a:p>
          <a:p xmlns:a="http://schemas.openxmlformats.org/drawingml/2006/main">
            <a:r>
              <a:t>Sources:</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FUND-356, Research template; data as of May 2026</a:t>
            </a:r>
          </a:p>
          <a:p xmlns:a="http://schemas.openxmlformats.org/drawingml/2006/main">
            <a:r>
              <a:t>https://mp.weixin.qq.com/s/rgMRw8HbZUhiu9PkUBM7vA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workflow brings together Tianhong’s earnings-driver analysis, Fullgoal’s comparison of research views and Zhong Ou’s research-template preparation. The analyst provides a question and the relevant financials, meeting notes and research reports. Prior-quarter and current-quarter revenue are RMB 100m and RMB 110m; volume is 1.0m and 1.1m units. The LLM requests the revenue and volume growth calculations. The tools return 10% growth in each and an unchanged average selling price. The LLM then links channel restocking in the meeting notes to the reported numbers and preserves the disagreement over persistence. The analyst checks the references, tests the restocking thesis and forms a view. The figures and source excerpts are illustrative.</a:t>
            </a:r>
          </a:p>
          <a:p xmlns:a="http://schemas.openxmlformats.org/drawingml/2006/main">
            <a:r>
              <a:t/>
            </a:r>
          </a:p>
          <a:p xmlns:a="http://schemas.openxmlformats.org/drawingml/2006/main">
            <a:r>
              <a:t>Sources:</a:t>
            </a:r>
          </a:p>
          <a:p xmlns:a="http://schemas.openxmlformats.org/drawingml/2006/main">
            <a:r>
              <a:t>FUND-300, pp. 5–6</a:t>
            </a:r>
          </a:p>
          <a:p xmlns:a="http://schemas.openxmlformats.org/drawingml/2006/main">
            <a:r>
              <a:t>https://www.amac.org.cn/xwfb/hydt/202601/P020260202337562370809.pdf</a:t>
            </a:r>
          </a:p>
          <a:p xmlns:a="http://schemas.openxmlformats.org/drawingml/2006/main">
            <a:r>
              <a:t>FUND-007, pp. 8–9</a:t>
            </a:r>
          </a:p>
          <a:p xmlns:a="http://schemas.openxmlformats.org/drawingml/2006/main">
            <a:r>
              <a:t>https://www.amac.org.cn/xwfb/hydt/202601/P020260202337808067241.pdf</a:t>
            </a:r>
          </a:p>
          <a:p xmlns:a="http://schemas.openxmlformats.org/drawingml/2006/main">
            <a:r>
              <a:t>FUND-354, Application design and implementation</a:t>
            </a:r>
          </a:p>
          <a:p xmlns:a="http://schemas.openxmlformats.org/drawingml/2006/main">
            <a:r>
              <a:t>https://static.nfnews.com/content/202511/27/c11946239.html</a:t>
            </a:r>
          </a:p>
          <a:p xmlns:a="http://schemas.openxmlformats.org/drawingml/2006/main">
            <a:r>
              <a:t>FUND-011, pp. 5–7</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for quote (RFQ) asks counterparties for offer prices and available size. The task is to prepare candidate bonds, current holdings and offer quotes for a potential purchase of Company A bonds maturing within two years. The portfolio manager sets the request. The trader queries market and holdings systems and records the data timestamp, then contacts counterparties with the bond names and buying interest, asks for price and available size, and receives quotes. The trader brings the information together for discussion with the portfolio manager. Systems supply data and counterparties supply quotes. Repeated filters, system switching and copying messages are the preparation steps the proposed application can improve.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Southern’s Xiaonan assistant interprets a natural-language request, identifies parameters, breaks the work into tasks and calls database or business-system interfaces. Its applications include bond screening, market queries, trading instructions and notifications. Users review the results and confirm relevant actions. Aegon-Industrial’s Qianxun platform also captures trade information from Qtrade records, extracting bond, direction, price and size. It matches that information with the portfolio manager’s quote request and routes it to the trading system, where the portfolio manager submits the instruction. These are two distinct industry examples: connecting language to system queries and reducing repeated entry of trade information.</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manager wants to buy Company A bonds maturing within two years, check current holdings and collect offer quotes. The LLM extracts the issuer, maturity condition and requested data, then calls the business query. Systems return the candidates, maturities and holdings. The trader first requests quotes from counterparties, then provides the received quote messages or quote records. The LLM extracts the bond, clean price and available face value from the supplied records, then combines these details with the system results. In the example, the Company A bond has 1.2 years to maturity, the current holding is RMB 20m face value, the offer clean price is RMB 100.20 per RMB 100 face value, and RMB 20m face value is available. The trader checks the record’s source, time and amounts. The portfolio manager uses the summary to discuss next steps. The approach draws on Southern’s natural-language queries and Aegon-Industrial’s parsing of trading records.</a:t>
            </a:r>
          </a:p>
          <a:p xmlns:a="http://schemas.openxmlformats.org/drawingml/2006/main">
            <a:r>
              <a:t/>
            </a:r>
          </a:p>
          <a:p xmlns:a="http://schemas.openxmlformats.org/drawingml/2006/main">
            <a:r>
              <a:t>Sources:</a:t>
            </a:r>
          </a:p>
          <a:p xmlns:a="http://schemas.openxmlformats.org/drawingml/2006/main">
            <a:r>
              <a:t>FUND-200, pp. 4–8</a:t>
            </a:r>
          </a:p>
          <a:p xmlns:a="http://schemas.openxmlformats.org/drawingml/2006/main">
            <a:r>
              <a:t>https://www.amac.org.cn/xwfb/hydt/202601/P020260202337849876845.pdf</a:t>
            </a:r>
          </a:p>
          <a:p xmlns:a="http://schemas.openxmlformats.org/drawingml/2006/main">
            <a:r>
              <a:t>FUND-011, pp. 3–6</a:t>
            </a:r>
          </a:p>
          <a:p xmlns:a="http://schemas.openxmlformats.org/drawingml/2006/main">
            <a:r>
              <a:t>https://www.amac.org.cn/xwfb/hydt/202601/P020260202337841539992.pdf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client relationship manager first establishes what the client wants to understand. Preparing a quarterly update then means finding the relevant portfolio managers’ investment views, checking product documents and the reporting period, and adapting the wording for the client’s questions. The same material is repeatedly reused in updates, product Q&amp;A and institutional request for proposal (RFP) responses. The next slides show Tianhong’s view summaries, ICBCUBS’s RFP support and a proposed quarterly-update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Tianhong brings together recent manager presentations, market comments and periodic reports for a named portfolio manager or product. The LLM finds the relevant views, removes duplication and writes a concise explanation for client-facing teams. The example turns a view on Company A’s volume growth and raw-material costs into a client summary. Employees check and use that summary in their communication. Tianhong also turns market information into weekly sector views and daily commentary.</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ICBCUBS FundGPT supports knowledge-base maintenance, question analysis, review and RFP response generation. The example client asks how the research process is organized. The model finds the internal process description, identifies the responsibilities of analysts and portfolio managers, and drafts the relevant answer with a source reference. The business team checks the answer against the source and addresses the client’s specific requirements. The question and answer on the slide are illustrative.</a:t>
            </a:r>
          </a:p>
          <a:p xmlns:a="http://schemas.openxmlformats.org/drawingml/2006/main">
            <a:r>
              <a:t/>
            </a:r>
          </a:p>
          <a:p xmlns:a="http://schemas.openxmlformats.org/drawingml/2006/main">
            <a:r>
              <a:t>Sources:</a:t>
            </a:r>
          </a:p>
          <a:p xmlns:a="http://schemas.openxmlformats.org/drawingml/2006/main">
            <a:r>
              <a:t>FUND-312, pp. 7, 9</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team supplies a question, existing portfolio manager views and product information. The LLM selects the relevant content and organizes a quarterly client update. In the example, the existing view says volume growth drove Company A’s revenue and that raw-material costs should be monitored. V1 is the initial draft, prepared from the supplied Q2 product information. The client team checks the investment view and submits V1 for review. The following section compares it with the fuller current presentation and Q3 product documents.</a:t>
            </a:r>
          </a:p>
          <a:p xmlns:a="http://schemas.openxmlformats.org/drawingml/2006/main">
            <a:r>
              <a:t/>
            </a:r>
          </a:p>
          <a:p xmlns:a="http://schemas.openxmlformats.org/drawingml/2006/main">
            <a:r>
              <a:t>Sources:</a:t>
            </a:r>
          </a:p>
          <a:p xmlns:a="http://schemas.openxmlformats.org/drawingml/2006/main">
            <a:r>
              <a:t>FUND-300, pp. 7–9</a:t>
            </a:r>
          </a:p>
          <a:p xmlns:a="http://schemas.openxmlformats.org/drawingml/2006/main">
            <a:r>
              <a:t>https://www.amac.org.cn/xwfb/hydt/202601/P020260202337562370809.pdf</a:t>
            </a:r>
          </a:p>
          <a:p xmlns:a="http://schemas.openxmlformats.org/drawingml/2006/main">
            <a:r>
              <a:t>FUND-312, pp. 7, 9</a:t>
            </a:r>
          </a:p>
          <a:p xmlns:a="http://schemas.openxmlformats.org/drawingml/2006/main">
            <a:r>
              <a:t>https://www.amac.org.cn/xwfb/hydt/202601/P020260202337848496316.pdf</a:t>
            </a:r>
          </a:p>
          <a:p xmlns:a="http://schemas.openxmlformats.org/drawingml/2006/main">
            <a:r>
              <a:t>FUND-351, Digital finance applications</a:t>
            </a:r>
          </a:p>
          <a:p xmlns:a="http://schemas.openxmlformats.org/drawingml/2006/main">
            <a:r>
              <a:t>https://fund.10jqka.com.cn/20251111/c672391490.shtml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reviewer compares V1 with the current portfolio manager presentation. V1 links revenue growth to volumes; the fuller source explains that channel restocking supported volumes and that its persistence needs monitoring. The reviewer must assess whether the update explains the driver and preserves the factors to monitor, alongside checks on the fund name, reporting period and risk disclosure. Finding the relevant passages, comparing their meaning and explaining proposed edits are tasks an LLM can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Penghua’s marketing-material review system applies 71 rules across seven categories and produces suggested edits. The rules cover risk disclosures, fund information, performance claims and prohibited marketing statements. Penghua reported a 91% acceptance rate for suggested edits. Yingmi, a fund distributor, accepts text or files, identifies issues and reasons, suggests changes and supports rechecking after revision. The illustrative client update shows the model checking the full fund name and current reporting period, recognizing the missing restocking explanation and uncertainty over continued restocking, and making the risk wording more specific.</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a:p xmlns:a="http://schemas.openxmlformats.org/drawingml/2006/main">
            <a:r>
              <a:t>NAV means net asset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application brings V1, current product information and the full portfolio manager presentation into the same review task. Document tools match names, reporting periods and source passages. The LLM reads the wording in context, explains the missing business driver and factor to monitor, and suggests a concrete revision. V2 identifies channel restocking as the sales volume driver and retains uncertainty over whether restocking continues, updates the formal fund name and source version, and uses the product’s specific risk wording. The author approves the edits. The reviewer checks the source, rationale and revised document.</a:t>
            </a:r>
          </a:p>
          <a:p xmlns:a="http://schemas.openxmlformats.org/drawingml/2006/main">
            <a:r>
              <a:t/>
            </a:r>
          </a:p>
          <a:p xmlns:a="http://schemas.openxmlformats.org/drawingml/2006/main">
            <a:r>
              <a:t>Sources:</a:t>
            </a:r>
          </a:p>
          <a:p xmlns:a="http://schemas.openxmlformats.org/drawingml/2006/main">
            <a:r>
              <a:t>FUND-308, pp. 6</a:t>
            </a:r>
          </a:p>
          <a:p xmlns:a="http://schemas.openxmlformats.org/drawingml/2006/main">
            <a:r>
              <a:t>https://www.amac.org.cn/xwfb/hydt/202601/P020260202337850951100.pdf</a:t>
            </a:r>
          </a:p>
          <a:p xmlns:a="http://schemas.openxmlformats.org/drawingml/2006/main">
            <a:r>
              <a:t>Yingmi official release and API client</a:t>
            </a:r>
          </a:p>
          <a:p xmlns:a="http://schemas.openxmlformats.org/drawingml/2006/main">
            <a:r>
              <a:t>https://www.yingmi-inc.com/archives/799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analyst receives an alert: Company A’s credit rating is on watch. Operating cash flow is under pressure. The next questions are which funds hold the issuer’s bonds, which monitoring requirements apply, and what existing research needs updating. Answering them means querying holdings, locating contract or internal-policy clauses and reviewing issuer research. The alert and scenario are illustrative. Peer practices on the next slide show how models can help with alert extraction, rule explanations and event assessments.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Universal’s platform uses an LLM to extract risk information from custodian alerts and route it to the risk team’s workspace. It also links system rules to regulations, internal controls and contract wording so that a model can explain the basis for a rule trigger. Tianhong’s event assistant brings together event details, historical parallels, industry relationships and market sentiment to develop an impact explanation. Investment and risk teams use the material to discuss the event and determine their response.</a:t>
            </a:r>
          </a:p>
          <a:p xmlns:a="http://schemas.openxmlformats.org/drawingml/2006/main">
            <a:r>
              <a:t/>
            </a:r>
          </a:p>
          <a:p xmlns:a="http://schemas.openxmlformats.org/drawingml/2006/main">
            <a:r>
              <a:t>Sources:</a:t>
            </a:r>
          </a:p>
          <a:p xmlns:a="http://schemas.openxmlformats.org/drawingml/2006/main">
            <a:r>
              <a:t>FUND-220, pp. 5</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team provides the alert. A holdings query returns that Product A holds Company A bonds with RMB 20m face value. The applicable example monitoring requirement calls for an issuer-research update following a credit event. The LLM identifies the issuer, maps the exposure to Product A and brings the requirement and existing research into an assessment. Cash-flow pressure affects the issuer’s capacity to service debt. The credit assessment and cash-flow trends require further review. Risk staff check holdings and clauses, analysts update their assessment, and portfolio managers discuss the response. The event, requirement, fund and amounts are illustrative.</a:t>
            </a:r>
          </a:p>
          <a:p xmlns:a="http://schemas.openxmlformats.org/drawingml/2006/main">
            <a:r>
              <a:t/>
            </a:r>
          </a:p>
          <a:p xmlns:a="http://schemas.openxmlformats.org/drawingml/2006/main">
            <a:r>
              <a:t>Sources:</a:t>
            </a:r>
          </a:p>
          <a:p xmlns:a="http://schemas.openxmlformats.org/drawingml/2006/main">
            <a:r>
              <a:t>FUND-220, pp. 5, 10</a:t>
            </a:r>
          </a:p>
          <a:p xmlns:a="http://schemas.openxmlformats.org/drawingml/2006/main">
            <a:r>
              <a:t>https://www.amac.org.cn/xwfb/hydt/202601/P020260202337837900594.pdf</a:t>
            </a:r>
          </a:p>
          <a:p xmlns:a="http://schemas.openxmlformats.org/drawingml/2006/main">
            <a:r>
              <a:t>FUND-300, pp. 10</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teams transcribe and check fields from faxes and scans, compare client-update versions paragraph by paragraph, and repeat common edits across related files. These tasks require both moving information between formats and reading enough context to understand each change. The peer examples cover automated data entry and document comparison. The proposed application then shows how a model can explain what a change means for the client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HuaAn’s platform recognizes information in faxes and forms handled by its direct-sales counter and uses it to populate client-service records. HuaAn reported that more than 80% of these faxes were processed using automated data entry. ICBCUBS FundGPT supports content recognition and comparison across PDF, Word and scanned documents, with visual differences, typo detection and export. The client-update example highlights the added wording on channel restocking and its persistence. The next slide builds on the identified text changes by explaining their business meaning.</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Operations supplies V1 and V2 of the same quarterly client update. Document tools align the passages and locate wording changes. The LLM reads them in context, distinguishes additions from retained information and explains the implications: channel restocking has been added as a driver, and its persistence has been added to the factors to monitor while raw-material cost monitoring remains. The change summary also identifies related client updates and product Q&amp;A that need the same revision. Operations checks the explanation, retains it with V2 and updates the related material. Bosera’s bulk document-revision work provides a reference for extending the approach.</a:t>
            </a:r>
          </a:p>
          <a:p xmlns:a="http://schemas.openxmlformats.org/drawingml/2006/main">
            <a:r>
              <a:t/>
            </a:r>
          </a:p>
          <a:p xmlns:a="http://schemas.openxmlformats.org/drawingml/2006/main">
            <a:r>
              <a:t>Sources:</a:t>
            </a:r>
          </a:p>
          <a:p xmlns:a="http://schemas.openxmlformats.org/drawingml/2006/main">
            <a:r>
              <a:t>FUND-150, pp. 26–28</a:t>
            </a:r>
          </a:p>
          <a:p xmlns:a="http://schemas.openxmlformats.org/drawingml/2006/main">
            <a:r>
              <a:t>https://edc-book.ccf.org.cn/%E3%80%8A2025CCF%E4%BC%81%E4%B8%9A%E6%95%B0%E5%AD%97%E5%8C%96%E5%8F%91%E5%B1%95%E6%8E%A8%E8%8D%90%E6%A1%88%E4%BE%8B%E9%9B%86%E3%80%8B.pdf</a:t>
            </a:r>
          </a:p>
          <a:p xmlns:a="http://schemas.openxmlformats.org/drawingml/2006/main">
            <a:r>
              <a:t>FUND-312, pp. 7</a:t>
            </a:r>
          </a:p>
          <a:p xmlns:a="http://schemas.openxmlformats.org/drawingml/2006/main">
            <a:r>
              <a:t>https://www.amac.org.cn/xwfb/hydt/202601/P020260202337848496316.pdf</a:t>
            </a:r>
          </a:p>
          <a:p xmlns:a="http://schemas.openxmlformats.org/drawingml/2006/main">
            <a:r>
              <a:t>FUND-215, Bulk document revision</a:t>
            </a:r>
          </a:p>
          <a:p xmlns:a="http://schemas.openxmlformats.org/drawingml/2006/main">
            <a:r>
              <a:t>https://finance.sina.com.cn/money/fund/jjh/2026-04-30/doc-inhwfyep1330822.shtml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team wants to know what changed between two reports, excluding changes to repeated page headers. Developers turn the request into testable requirements, write code to read the files, match paragraphs and report changes, then investigate issues caused by line breaks, page breaks and repeated headers. The work moves repeatedly between the requirement, code and actual execution results. The next slides show how an LLM can support that development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Fund has introduced LLMs into development and testing within its integrated development platform. Invesco Great Wall’s quantitative team uses locally deployed models for coding support. The report-comparison example illustrates the collaboration: the developer supplies examples and expected results, the LLM drafts processing code and test cases, and the developer runs the code, checks the result and provides errors for revision. Generated code and tests are working material for the developer to use and improve.</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FUND-103, Intelligent service platform</a:t>
            </a:r>
          </a:p>
          <a:p xmlns:a="http://schemas.openxmlformats.org/drawingml/2006/main">
            <a:r>
              <a:t>https://gifts.szu.edu.cn/info/1023/1364.htm</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requirement is to compare reports, ignore repeated page headers and identify changes in the body text. The developer supplies two client-update versions and expected differences. The LLM drafts the code and tests. Execution finds the body-text changes but incorrectly flags header changes. The developer explains that headers should be ignored while genuine content changes must remain. The LLM revises the header filter and adds a regression test. The developer reviews the code, reruns the tests and supplies the tool with a user guide. The test result is illustrative and shows how specific execution feedback helps the model support development.</a:t>
            </a:r>
          </a:p>
          <a:p xmlns:a="http://schemas.openxmlformats.org/drawingml/2006/main">
            <a:r>
              <a:t/>
            </a:r>
          </a:p>
          <a:p xmlns:a="http://schemas.openxmlformats.org/drawingml/2006/main">
            <a:r>
              <a:t>Sources:</a:t>
            </a:r>
          </a:p>
          <a:p xmlns:a="http://schemas.openxmlformats.org/drawingml/2006/main">
            <a:r>
              <a:t>FUND-101, pp. 4</a:t>
            </a:r>
          </a:p>
          <a:p xmlns:a="http://schemas.openxmlformats.org/drawingml/2006/main">
            <a:r>
              <a:t>https://www.amac.org.cn/xwfb/hydt/202601/P020260202337815959196.pdf</a:t>
            </a:r>
          </a:p>
          <a:p xmlns:a="http://schemas.openxmlformats.org/drawingml/2006/main">
            <a:r>
              <a:t>FUND-254, Quantitative team coding support</a:t>
            </a:r>
          </a:p>
          <a:p xmlns:a="http://schemas.openxmlformats.org/drawingml/2006/main">
            <a:r>
              <a:t>https://www.cls.cn/detail/2237261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Merchants Fund and Ping An Fund use internal knowledge to answer policy, process and operational questions. LLMs retrieve and explain the relevant material. Maxwealth uses models to assess email context and intent and call detection tools for security response. A published China Universal patent proposes using an LLM to identify the fund, period and metric in a business question, with systems retrieving data and algorithms quantifying contributions to the selected metric; the model then writes the analysis. In each case, the model interprets content while tools perform specific operations.</a:t>
            </a:r>
          </a:p>
          <a:p xmlns:a="http://schemas.openxmlformats.org/drawingml/2006/main">
            <a:r>
              <a:t/>
            </a:r>
          </a:p>
          <a:p xmlns:a="http://schemas.openxmlformats.org/drawingml/2006/main">
            <a:r>
              <a:t>Sources:</a:t>
            </a:r>
          </a:p>
          <a:p xmlns:a="http://schemas.openxmlformats.org/drawingml/2006/main">
            <a:r>
              <a:t>FUND-351, Digital finance applications</a:t>
            </a:r>
          </a:p>
          <a:p xmlns:a="http://schemas.openxmlformats.org/drawingml/2006/main">
            <a:r>
              <a:t>https://fund.10jqka.com.cn/20251111/c672391490.shtml</a:t>
            </a:r>
          </a:p>
          <a:p xmlns:a="http://schemas.openxmlformats.org/drawingml/2006/main">
            <a:r>
              <a:t>FUND-160, Internal knowledge services</a:t>
            </a:r>
          </a:p>
          <a:p xmlns:a="http://schemas.openxmlformats.org/drawingml/2006/main">
            <a:r>
              <a:t>https://www.cs.com.cn/ssgs/gsxl/202602/t20260206_6537131.html</a:t>
            </a:r>
          </a:p>
          <a:p xmlns:a="http://schemas.openxmlformats.org/drawingml/2006/main">
            <a:r>
              <a:t>FUND-352, pp. 1–2</a:t>
            </a:r>
          </a:p>
          <a:p xmlns:a="http://schemas.openxmlformats.org/drawingml/2006/main">
            <a:r>
              <a:t>https://www.amac.org.cn/xwfb/hydt/202607/P020260701319545695145.pdf</a:t>
            </a:r>
          </a:p>
          <a:p xmlns:a="http://schemas.openxmlformats.org/drawingml/2006/main">
            <a:r>
              <a:t>FUND-227 / CN121958380A, Example 1, steps S1–S4 and report generation</a:t>
            </a:r>
          </a:p>
          <a:p xmlns:a="http://schemas.openxmlformats.org/drawingml/2006/main">
            <a:r>
              <a:t>https://patents.google.com/patent/CN121958380A/zh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proposals give each user a concrete result: research summaries with source references, a bond and quote summary, a client update, review comments with reasons, a risk assessment and follow-up, a document change summary, or code and tests. Research and client communications provide an initial focus. Queries and document workflows can then connect the applications to additional teams and tasks.</a:t>
            </a:r>
          </a:p>
          <a:p xmlns:a="http://schemas.openxmlformats.org/drawingml/2006/main">
            <a:r>
              <a:t/>
            </a:r>
          </a:p>
          <a:p xmlns:a="http://schemas.openxmlformats.org/drawingml/2006/main">
            <a:r>
              <a:t>Sources:</a:t>
            </a:r>
          </a:p>
          <a:p xmlns:a="http://schemas.openxmlformats.org/drawingml/2006/main">
            <a:r>
              <a:t>FUND-300, Source text</a:t>
            </a:r>
          </a:p>
          <a:p xmlns:a="http://schemas.openxmlformats.org/drawingml/2006/main">
            <a:r>
              <a:t>https://www.amac.org.cn/xwfb/hydt/202601/P020260202337562370809.pdf</a:t>
            </a:r>
          </a:p>
          <a:p xmlns:a="http://schemas.openxmlformats.org/drawingml/2006/main">
            <a:r>
              <a:t>FUND-200, Source text</a:t>
            </a:r>
          </a:p>
          <a:p xmlns:a="http://schemas.openxmlformats.org/drawingml/2006/main">
            <a:r>
              <a:t>https://www.amac.org.cn/xwfb/hydt/202601/P020260202337849876845.pdf</a:t>
            </a:r>
          </a:p>
          <a:p xmlns:a="http://schemas.openxmlformats.org/drawingml/2006/main">
            <a:r>
              <a:t>FUND-308, Source text</a:t>
            </a:r>
          </a:p>
          <a:p xmlns:a="http://schemas.openxmlformats.org/drawingml/2006/main">
            <a:r>
              <a:t>https://www.amac.org.cn/xwfb/hydt/202601/P020260202337850951100.pdf</a:t>
            </a:r>
          </a:p>
          <a:p xmlns:a="http://schemas.openxmlformats.org/drawingml/2006/main">
            <a:r>
              <a:t>FUND-220, Source text</a:t>
            </a:r>
          </a:p>
          <a:p xmlns:a="http://schemas.openxmlformats.org/drawingml/2006/main">
            <a:r>
              <a:t>https://www.amac.org.cn/xwfb/hydt/202601/P020260202337837900594.pdf</a:t>
            </a:r>
          </a:p>
          <a:p xmlns:a="http://schemas.openxmlformats.org/drawingml/2006/main">
            <a:r>
              <a:t>FUND-312, Source text</a:t>
            </a:r>
          </a:p>
          <a:p xmlns:a="http://schemas.openxmlformats.org/drawingml/2006/main">
            <a:r>
              <a:t>https://www.amac.org.cn/xwfb/hydt/202601/P020260202337848496316.pdf</a:t>
            </a:r>
          </a:p>
          <a:p xmlns:a="http://schemas.openxmlformats.org/drawingml/2006/main">
            <a:r>
              <a:t>FUND-101, Source text</a:t>
            </a:r>
          </a:p>
          <a:p xmlns:a="http://schemas.openxmlformats.org/drawingml/2006/main">
            <a:r>
              <a:t>https://www.amac.org.cn/xwfb/hydt/202601/P020260202337815959196.pdf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information flow follows Company A. The front office prepares research and bond and quote summaries, the middle office monitors events and related exposures, and the back office maintains the associated documents. The second follows the quarterly client update. The front office drafts V1 from existing views. The author revises it using review findings, and the reviewer checks V2. The back office explains the differences and updates related documents. The links show information reuse and collaboration across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provide a business question and relevant material. Applications combine LLMs with the tools required for the task. The LLM interprets questions, reads sources, compares explanations and generates text or code. Tools perform queries, calculations and file operations, and execute programs and tests. Shared documents, knowledge bases and business data retain their access rights, references and versions. Qwen and DeepSeek are possible model services to evaluate against the firm’s actual tasks.</a:t>
            </a:r>
          </a:p>
          <a:p xmlns:a="http://schemas.openxmlformats.org/drawingml/2006/main">
            <a:r>
              <a:t/>
            </a:r>
          </a:p>
          <a:p xmlns:a="http://schemas.openxmlformats.org/drawingml/2006/main">
            <a:r>
              <a:t>Sources:</a:t>
            </a:r>
          </a:p>
          <a:p xmlns:a="http://schemas.openxmlformats.org/drawingml/2006/main">
            <a:r>
              <a:t>FUND-300, pp. 5</a:t>
            </a:r>
          </a:p>
          <a:p xmlns:a="http://schemas.openxmlformats.org/drawingml/2006/main">
            <a:r>
              <a:t>https://www.amac.org.cn/xwfb/hydt/202601/P020260202337562370809.pdf</a:t>
            </a:r>
          </a:p>
          <a:p xmlns:a="http://schemas.openxmlformats.org/drawingml/2006/main">
            <a:r>
              <a:t>FUND-200, pp. 4–7</a:t>
            </a:r>
          </a:p>
          <a:p xmlns:a="http://schemas.openxmlformats.org/drawingml/2006/main">
            <a:r>
              <a:t>https://www.amac.org.cn/xwfb/hydt/202601/P020260202337849876845.pdf</a:t>
            </a:r>
          </a:p>
          <a:p xmlns:a="http://schemas.openxmlformats.org/drawingml/2006/main">
            <a:r>
              <a:t>FUND-312, pp. 7</a:t>
            </a:r>
          </a:p>
          <a:p xmlns:a="http://schemas.openxmlformats.org/drawingml/2006/main">
            <a:r>
              <a:t>https://www.amac.org.cn/xwfb/hydt/202601/P020260202337848496316.pdf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sales, compliance and IT can first assemble task examples and source material for research and client-communication applications. Trading, operations and IT can then connect queries and document processing so that the information prepared by the model can be used in subsequent work. Development support and internal services can follow, with clear ownership for maintenance and source updates. Each phase builds on how employees actually use the preceding 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focus: research and client communications. Compare similar tasks before and after application use, tracking elapsed task completion time, use of outputs, rework and repeat usage. Use the findings to identify whether the issue is missing information, an unsuitable model explanation or an awkward query or file-handling step. Continued use and reduced preparation work provide a practical basis for deciding what to improve and extend.</a:t>
            </a:r>
          </a:p>
          <a:p xmlns:a="http://schemas.openxmlformats.org/drawingml/2006/main">
            <a:r>
              <a:t>Task completion time is the elapsed time from starting the task to completing the output. Repeat usage means whether employees continue to use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ppt/notesSlides/notesSlide1.xml" Id="R9ac16d97ce854a93"/><Relationship Id="rIdNavSlide2" Type="http://schemas.openxmlformats.org/officeDocument/2006/relationships/slide" Target="slide2.xm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ppt/notesSlides/notesSlide2.xml" Id="Rd0077cd79ca64c3a"/><Relationship Id="rIdNavSlide3" Type="http://schemas.openxmlformats.org/officeDocument/2006/relationships/slide" Target="slide3.xml"/><Relationship Id="rIdNavSlide1" Type="http://schemas.openxmlformats.org/officeDocument/2006/relationships/slide" Target="slide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ppt/notesSlides/notesSlide3.xml" Id="Rcce2cef2f943400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 Type="http://schemas.openxmlformats.org/officeDocument/2006/relationships/slide" Target="slide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ppt/notesSlides/notesSlide4.xml" Id="R8ac2a7c4baef477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ppt/notesSlides/notesSlide5.xml" Id="R5dd1d781eed7404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ppt/notesSlides/notesSlide6.xml" Id="R4d39fe890d4044b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5" Type="http://schemas.openxmlformats.org/officeDocument/2006/relationships/slide" Target="slide5.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ppt/notesSlides/notesSlide7.xml" Id="Rb90c125dd68c44e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6" Type="http://schemas.openxmlformats.org/officeDocument/2006/relationships/slide" Target="slide6.xml"/><Relationship Id="rIdNavSlide8" Type="http://schemas.openxmlformats.org/officeDocument/2006/relationships/slide" Target="slide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ppt/notesSlides/notesSlide8.xml" Id="R224d7db8d8824f1f"/><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7" Type="http://schemas.openxmlformats.org/officeDocument/2006/relationships/slide" Target="slide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ppt/notesSlides/notesSlide9.xml" Id="Rb7ed4b85560b4dd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8" Type="http://schemas.openxmlformats.org/officeDocument/2006/relationships/slide" Target="slide8.xml"/><Relationship Id="rIdNavSlide10" Type="http://schemas.openxmlformats.org/officeDocument/2006/relationships/slide" Target="slide1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ppt/notesSlides/notesSlide10.xml" Id="Re70d6e70f15a4cc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9" Type="http://schemas.openxmlformats.org/officeDocument/2006/relationships/slide" Target="slide9.xml"/><Relationship Id="rIdNavSlide11" Type="http://schemas.openxmlformats.org/officeDocument/2006/relationships/slide" Target="slide11.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ppt/notesSlides/notesSlide11.xml" Id="R5930b64dce294e5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0" Type="http://schemas.openxmlformats.org/officeDocument/2006/relationships/slide" Target="slide10.xml"/><Relationship Id="rIdNavSlide12" Type="http://schemas.openxmlformats.org/officeDocument/2006/relationships/slide" Target="slide12.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ppt/notesSlides/notesSlide12.xml" Id="Raa3242d8ae77458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1" Type="http://schemas.openxmlformats.org/officeDocument/2006/relationships/slide" Target="slide11.xml"/><Relationship Id="rIdNavSlide13" Type="http://schemas.openxmlformats.org/officeDocument/2006/relationships/slide" Target="slide1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ppt/notesSlides/notesSlide13.xml" Id="R25f1c7c8428d4b80"/><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2" Type="http://schemas.openxmlformats.org/officeDocument/2006/relationships/slide" Target="slide12.xml"/><Relationship Id="rIdNavSlide14" Type="http://schemas.openxmlformats.org/officeDocument/2006/relationships/slide" Target="slide14.xml"/><Relationship Id="rIdNavSlide9" Type="http://schemas.openxmlformats.org/officeDocument/2006/relationships/slide" Target="slide9.xml"/><Relationship Id="rIdNavSlide19" Type="http://schemas.openxmlformats.org/officeDocument/2006/relationships/slide" Target="slide19.xml"/><Relationship Id="rIdNavSlide25" Type="http://schemas.openxmlformats.org/officeDocument/2006/relationships/slide" Target="slide25.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ppt/notesSlides/notesSlide14.xml" Id="R193f4190a03b4ea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3" Type="http://schemas.openxmlformats.org/officeDocument/2006/relationships/slide" Target="slide13.xml"/><Relationship Id="rIdNavSlide15" Type="http://schemas.openxmlformats.org/officeDocument/2006/relationships/slide" Target="slide1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f3208d926ea4706"/><Relationship Type="http://schemas.openxmlformats.org/officeDocument/2006/relationships/notesSlide" Target="/ppt/notesSlides/notesSlide15.xml" Id="R23824575497e4e5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4" Type="http://schemas.openxmlformats.org/officeDocument/2006/relationships/slide" Target="slide1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f71cae05eb430a"/><Relationship Type="http://schemas.openxmlformats.org/officeDocument/2006/relationships/notesSlide" Target="/ppt/notesSlides/notesSlide16.xml" Id="R8ed82f0f6d0a488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5" Type="http://schemas.openxmlformats.org/officeDocument/2006/relationships/slide" Target="slide15.xml"/><Relationship Id="rIdNavSlide17" Type="http://schemas.openxmlformats.org/officeDocument/2006/relationships/slide" Target="slide1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7210c0a2e1a4f81"/><Relationship Type="http://schemas.openxmlformats.org/officeDocument/2006/relationships/notesSlide" Target="/ppt/notesSlides/notesSlide17.xml" Id="Rf79f4d1cf0b340ac"/><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ppt/notesSlides/notesSlide18.xml" Id="R2d852cee189f48f6"/><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7" Type="http://schemas.openxmlformats.org/officeDocument/2006/relationships/slide" Target="slide17.xml"/><Relationship Id="rIdNavSlide19" Type="http://schemas.openxmlformats.org/officeDocument/2006/relationships/slide" Target="slide19.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ppt/notesSlides/notesSlide19.xml" Id="R1e9a460c87d849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8" Type="http://schemas.openxmlformats.org/officeDocument/2006/relationships/slide" Target="slide18.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ppt/notesSlides/notesSlide20.xml" Id="R0d71924c1317477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19" Type="http://schemas.openxmlformats.org/officeDocument/2006/relationships/slide" Target="slide19.xml"/><Relationship Id="rIdNavSlide21" Type="http://schemas.openxmlformats.org/officeDocument/2006/relationships/slide" Target="slide21.xml"/><Relationship Id="rIdNavSlide9" Type="http://schemas.openxmlformats.org/officeDocument/2006/relationships/slide" Target="slide9.xml"/><Relationship Id="rIdNavSlide12" Type="http://schemas.openxmlformats.org/officeDocument/2006/relationships/slide" Target="slide12.xml"/><Relationship Id="rIdNavSlide25" Type="http://schemas.openxmlformats.org/officeDocument/2006/relationships/slide" Target="slide25.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ppt/notesSlides/notesSlide21.xml" Id="R0e0878aa8ed24f88"/><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0" Type="http://schemas.openxmlformats.org/officeDocument/2006/relationships/slide" Target="slide2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ppt/notesSlides/notesSlide22.xml" Id="R1374e923b0134a8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1" Type="http://schemas.openxmlformats.org/officeDocument/2006/relationships/slide" Target="slide21.xml"/><Relationship Id="rIdNavSlide23" Type="http://schemas.openxmlformats.org/officeDocument/2006/relationships/slide" Target="slide2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ppt/notesSlides/notesSlide23.xml" Id="R4a511323866148b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338b0999d85f4863"/><Relationship Type="http://schemas.openxmlformats.org/officeDocument/2006/relationships/notesSlide" Target="/ppt/notesSlides/notesSlide24.xml" Id="R71173a4565634041"/><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3" Type="http://schemas.openxmlformats.org/officeDocument/2006/relationships/slide" Target="slide23.xml"/><Relationship Id="rIdNavSlide25" Type="http://schemas.openxmlformats.org/officeDocument/2006/relationships/slide" Target="slide25.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ppt/notesSlides/notesSlide25.xml" Id="Rb35669d9efaa4f29"/><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4" Type="http://schemas.openxmlformats.org/officeDocument/2006/relationships/slide" Target="slide24.xml"/><Relationship Id="rIdNavSlide26" Type="http://schemas.openxmlformats.org/officeDocument/2006/relationships/slide" Target="slide26.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ppt/notesSlides/notesSlide26.xml" Id="Rb7ee1265b5cf464a"/><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5" Type="http://schemas.openxmlformats.org/officeDocument/2006/relationships/slide" Target="slide25.xml"/><Relationship Id="rIdNavSlide27" Type="http://schemas.openxmlformats.org/officeDocument/2006/relationships/slide" Target="slide27.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ppt/notesSlides/notesSlide27.xml" Id="R6ea6b6b85ed34a9b"/><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6" Type="http://schemas.openxmlformats.org/officeDocument/2006/relationships/slide" Target="slide26.xml"/><Relationship Id="rIdNavSlide28" Type="http://schemas.openxmlformats.org/officeDocument/2006/relationships/slide" Target="slide28.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ppt/notesSlides/notesSlide28.xml" Id="R3501c9cbe3c5479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7" Type="http://schemas.openxmlformats.org/officeDocument/2006/relationships/slide" Target="slide27.xml"/><Relationship Id="rIdNavSlide29" Type="http://schemas.openxmlformats.org/officeDocument/2006/relationships/slide" Target="slide29.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ppt/notesSlides/notesSlide29.xml" Id="R888b1c60126140c2"/><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8" Type="http://schemas.openxmlformats.org/officeDocument/2006/relationships/slide" Target="slide28.xml"/><Relationship Id="rIdNavSlide30" Type="http://schemas.openxmlformats.org/officeDocument/2006/relationships/slide" Target="slide30.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ppt/notesSlides/notesSlide30.xml" Id="R7fb49fbaa1914544"/><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29" Type="http://schemas.openxmlformats.org/officeDocument/2006/relationships/slide" Target="slide29.xml"/><Relationship Id="rIdNavSlide31" Type="http://schemas.openxmlformats.org/officeDocument/2006/relationships/slide" Target="slide31.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0ca87d761764146"/><Relationship Type="http://schemas.openxmlformats.org/officeDocument/2006/relationships/notesSlide" Target="/ppt/notesSlides/notesSlide31.xml" Id="Rb9ad0b5e390f4153"/><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0" Type="http://schemas.openxmlformats.org/officeDocument/2006/relationships/slide" Target="slide30.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ppt/notesSlides/notesSlide32.xml" Id="R71d82c28da8b4fe7"/><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1" Type="http://schemas.openxmlformats.org/officeDocument/2006/relationships/slide" Target="slide31.xml"/><Relationship Id="rIdNavSlide33" Type="http://schemas.openxmlformats.org/officeDocument/2006/relationships/slide" Target="slide33.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ppt/notesSlides/notesSlide33.xml" Id="R2415b65a7d5e495e"/><Relationship Id="rIdNavSlide3" Type="http://schemas.openxmlformats.org/officeDocument/2006/relationships/slide" Target="slide3.xml"/><Relationship Id="rIdNavSlide4" Type="http://schemas.openxmlformats.org/officeDocument/2006/relationships/slide" Target="slide4.xml"/><Relationship Id="rIdNavSlide16" Type="http://schemas.openxmlformats.org/officeDocument/2006/relationships/slide" Target="slide16.xml"/><Relationship Id="rIdNavSlide22" Type="http://schemas.openxmlformats.org/officeDocument/2006/relationships/slide" Target="slide22.xml"/><Relationship Id="rIdNavSlide32" Type="http://schemas.openxmlformats.org/officeDocument/2006/relationships/slide" Target="slide32.xml"/><Relationship Id="rIdNavSlide9" Type="http://schemas.openxmlformats.org/officeDocument/2006/relationships/slide" Target="slide9.xml"/><Relationship Id="rIdNavSlide12" Type="http://schemas.openxmlformats.org/officeDocument/2006/relationships/slide" Target="slide12.xml"/><Relationship Id="rIdNavSlide19" Type="http://schemas.openxmlformats.org/officeDocument/2006/relationships/slide" Target="slide19.xml"/><Relationship Id="rIdNavSlide25" Type="http://schemas.openxmlformats.org/officeDocument/2006/relationships/slide" Target="slide25.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oter.rule">
            <a:extLst xmlns:a="http://schemas.openxmlformats.org/drawingml/2006/main">
              <a:ext uri="{FF2B5EF4-FFF2-40B4-BE49-F238E27FC236}">
                <a16:creationId xmlns:a16="http://schemas.microsoft.com/office/drawing/2014/main" id="{4B4242C5-B680-4577-B8C2-5E088BF0EC3B}"/>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 name="!!source">
            <a:extLst xmlns:a="http://schemas.openxmlformats.org/drawingml/2006/main">
              <a:ext uri="{FF2B5EF4-FFF2-40B4-BE49-F238E27FC236}">
                <a16:creationId xmlns:a16="http://schemas.microsoft.com/office/drawing/2014/main" id="{0CBF261E-E928-4EEC-BEA6-7D8A6E43A7C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pic>
        <p:nvPicPr>
          <p:cNvPr id="3" name="">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rcRect xmlns:a="http://schemas.openxmlformats.org/drawingml/2006/main" l="20726" t="0" r="20726" b="0"/>
          <a:stretch xmlns:a="http://schemas.openxmlformats.org/drawingml/2006/main">
            <a:fillRect l="0" t="0" r="0" b="0"/>
          </a:stretch>
        </p:blipFill>
        <p:spPr>
          <a:xfrm xmlns:a="http://schemas.openxmlformats.org/drawingml/2006/main">
            <a:off x="8096250" y="0"/>
            <a:ext cx="7143750" cy="8134350"/>
          </a:xfrm>
          <a:prstGeom xmlns:a="http://schemas.openxmlformats.org/drawingml/2006/main" prst="rect">
            <a:avLst/>
          </a:prstGeom>
        </p:spPr>
      </p:pic>
      <p:sp>
        <p:nvSpPr>
          <p:cNvPr id="4" name="!!cover.white">
            <a:extLst xmlns:a="http://schemas.openxmlformats.org/drawingml/2006/main">
              <a:ext uri="{FF2B5EF4-FFF2-40B4-BE49-F238E27FC236}">
                <a16:creationId xmlns:a16="http://schemas.microsoft.com/office/drawing/2014/main" id="{F763304F-F0D5-4864-8303-96DFD0EB61DD}"/>
              </a:ext>
            </a:extLst>
          </p:cNvPr>
          <p:cNvSpPr>
            <a:spLocks xmlns:a="http://schemas.openxmlformats.org/drawingml/2006/main" noGrp="1"/>
          </p:cNvSpPr>
          <p:nvPr/>
        </p:nvSpPr>
        <p:spPr>
          <a:xfrm xmlns:a="http://schemas.openxmlformats.org/drawingml/2006/main">
            <a:off x="0" y="0"/>
            <a:ext cx="8096250" cy="813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cover.kicker">
            <a:extLst xmlns:a="http://schemas.openxmlformats.org/drawingml/2006/main">
              <a:ext uri="{FF2B5EF4-FFF2-40B4-BE49-F238E27FC236}">
                <a16:creationId xmlns:a16="http://schemas.microsoft.com/office/drawing/2014/main" id="{2BC2B94C-219E-4A09-B0F0-9A2BEE19D9A0}"/>
              </a:ext>
            </a:extLst>
          </p:cNvPr>
          <p:cNvSpPr>
            <a:spLocks xmlns:a="http://schemas.openxmlformats.org/drawingml/2006/main" noGrp="1"/>
          </p:cNvSpPr>
          <p:nvPr/>
        </p:nvSpPr>
        <p:spPr>
          <a:xfrm xmlns:a="http://schemas.openxmlformats.org/drawingml/2006/main">
            <a:off x="647700" y="16668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Industry examples and proposed applications</a:t>
            </a:r>
          </a:p>
        </p:txBody>
      </p:sp>
      <p:sp>
        <p:nvSpPr>
          <p:cNvPr id="6" name="!!cover.title">
            <a:extLst xmlns:a="http://schemas.openxmlformats.org/drawingml/2006/main">
              <a:ext uri="{FF2B5EF4-FFF2-40B4-BE49-F238E27FC236}">
                <a16:creationId xmlns:a16="http://schemas.microsoft.com/office/drawing/2014/main" id="{86F7CC57-E0D7-409B-891E-9EFF2CC8E68A}"/>
              </a:ext>
            </a:extLst>
          </p:cNvPr>
          <p:cNvSpPr>
            <a:spLocks xmlns:a="http://schemas.openxmlformats.org/drawingml/2006/main" noGrp="1"/>
          </p:cNvSpPr>
          <p:nvPr/>
        </p:nvSpPr>
        <p:spPr>
          <a:xfrm xmlns:a="http://schemas.openxmlformats.org/drawingml/2006/main">
            <a:off x="647700" y="2619375"/>
            <a:ext cx="704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20262C"/>
                </a:solidFill>
                <a:latin typeface="Arial"/>
                <a:ea typeface="Arial"/>
                <a:cs typeface="Arial"/>
              </a:defRPr>
            </a:defPPr>
            <a:lvl1pPr algn="l">
              <a:defRPr sz="4575" b="1">
                <a:solidFill>
                  <a:srgbClr val="20262C"/>
                </a:solidFill>
                <a:latin typeface="Arial"/>
                <a:ea typeface="Arial"/>
                <a:cs typeface="Arial"/>
              </a:defRPr>
            </a:lvl1pPr>
            <a:lvl2pPr algn="l">
              <a:defRPr sz="4575" b="1">
                <a:solidFill>
                  <a:srgbClr val="20262C"/>
                </a:solidFill>
                <a:latin typeface="Arial"/>
                <a:ea typeface="Arial"/>
                <a:cs typeface="Arial"/>
              </a:defRPr>
            </a:lvl2pPr>
            <a:lvl3pPr algn="l">
              <a:defRPr sz="4575" b="1">
                <a:solidFill>
                  <a:srgbClr val="20262C"/>
                </a:solidFill>
                <a:latin typeface="Arial"/>
                <a:ea typeface="Arial"/>
                <a:cs typeface="Arial"/>
              </a:defRPr>
            </a:lvl3pPr>
            <a:lvl4pPr algn="l">
              <a:defRPr sz="4575" b="1">
                <a:solidFill>
                  <a:srgbClr val="20262C"/>
                </a:solidFill>
                <a:latin typeface="Arial"/>
                <a:ea typeface="Arial"/>
                <a:cs typeface="Arial"/>
              </a:defRPr>
            </a:lvl4pPr>
            <a:lvl5pPr algn="l">
              <a:defRPr sz="4575" b="1">
                <a:solidFill>
                  <a:srgbClr val="20262C"/>
                </a:solidFill>
                <a:latin typeface="Arial"/>
                <a:ea typeface="Arial"/>
                <a:cs typeface="Arial"/>
              </a:defRPr>
            </a:lvl5pPr>
            <a:lvl6pPr algn="l">
              <a:defRPr sz="4575" b="1">
                <a:solidFill>
                  <a:srgbClr val="20262C"/>
                </a:solidFill>
                <a:latin typeface="Arial"/>
                <a:ea typeface="Arial"/>
                <a:cs typeface="Arial"/>
              </a:defRPr>
            </a:lvl6pPr>
            <a:lvl7pPr algn="l">
              <a:defRPr sz="4575" b="1">
                <a:solidFill>
                  <a:srgbClr val="20262C"/>
                </a:solidFill>
                <a:latin typeface="Arial"/>
                <a:ea typeface="Arial"/>
                <a:cs typeface="Arial"/>
              </a:defRPr>
            </a:lvl7pPr>
            <a:lvl8pPr algn="l">
              <a:defRPr sz="4575" b="1">
                <a:solidFill>
                  <a:srgbClr val="20262C"/>
                </a:solidFill>
                <a:latin typeface="Arial"/>
                <a:ea typeface="Arial"/>
                <a:cs typeface="Arial"/>
              </a:defRPr>
            </a:lvl8pPr>
            <a:lvl9pPr algn="l">
              <a:defRPr sz="4575" b="1">
                <a:solidFill>
                  <a:srgbClr val="20262C"/>
                </a:solidFill>
                <a:latin typeface="Arial"/>
                <a:ea typeface="Arial"/>
                <a:cs typeface="Arial"/>
              </a:defRPr>
            </a:lvl9pPr>
          </a:lstStyle>
          <a:p xmlns:a="http://schemas.openxmlformats.org/drawingml/2006/main">
            <a:pPr algn="l">
              <a:defRPr sz="4575" b="1">
                <a:solidFill>
                  <a:srgbClr val="20262C"/>
                </a:solidFill>
                <a:latin typeface="Arial"/>
                <a:ea typeface="Arial"/>
                <a:cs typeface="Arial"/>
              </a:defRPr>
            </a:pPr>
            <a:r>
              <a:rPr sz="4575" b="1">
                <a:solidFill>
                  <a:srgbClr val="20262C"/>
                </a:solidFill>
                <a:latin typeface="Arial"/>
                <a:ea typeface="Arial"/>
                <a:cs typeface="Arial"/>
              </a:rPr>
              <a:t>LLMs in</a:t>
            </a:r>
          </a:p>
          <a:p xmlns:a="http://schemas.openxmlformats.org/drawingml/2006/main">
            <a:pPr algn="l">
              <a:defRPr sz="4575" b="1">
                <a:solidFill>
                  <a:srgbClr val="20262C"/>
                </a:solidFill>
                <a:latin typeface="Arial"/>
                <a:ea typeface="Arial"/>
                <a:cs typeface="Arial"/>
              </a:defRPr>
            </a:pPr>
            <a:r>
              <a:rPr sz="4575" b="1">
                <a:solidFill>
                  <a:srgbClr val="20262C"/>
                </a:solidFill>
                <a:latin typeface="Arial"/>
                <a:ea typeface="Arial"/>
                <a:cs typeface="Arial"/>
              </a:rPr>
              <a:t>Asset Management</a:t>
            </a:r>
          </a:p>
        </p:txBody>
      </p:sp>
      <p:sp>
        <p:nvSpPr>
          <p:cNvPr id="7" name="!!cover.line">
            <a:extLst xmlns:a="http://schemas.openxmlformats.org/drawingml/2006/main">
              <a:ext uri="{FF2B5EF4-FFF2-40B4-BE49-F238E27FC236}">
                <a16:creationId xmlns:a16="http://schemas.microsoft.com/office/drawing/2014/main" id="{B40F9338-8C72-43E2-A96F-4F56AADB307B}"/>
              </a:ext>
            </a:extLst>
          </p:cNvPr>
          <p:cNvSpPr>
            <a:spLocks xmlns:a="http://schemas.openxmlformats.org/drawingml/2006/main" noGrp="1"/>
          </p:cNvSpPr>
          <p:nvPr/>
        </p:nvSpPr>
        <p:spPr>
          <a:xfrm xmlns:a="http://schemas.openxmlformats.org/drawingml/2006/main" flipH="0" flipV="0">
            <a:off x="647700" y="5000625"/>
            <a:ext cx="6591300" cy="953"/>
          </a:xfrm>
          <a:prstGeom xmlns:a="http://schemas.openxmlformats.org/drawingml/2006/main" prst="line">
            <a:avLst/>
          </a:prstGeom>
          <a:noFill xmlns:a="http://schemas.openxmlformats.org/drawingml/2006/main"/>
          <a:ln xmlns:a="http://schemas.openxmlformats.org/drawingml/2006/main" w="28575">
            <a:solidFill>
              <a:srgbClr val="005A9C"/>
            </a:solidFill>
            <a:prstDash val="solid"/>
          </a:ln>
        </p:spPr>
      </p:sp>
      <p:sp>
        <p:nvSpPr>
          <p:cNvPr id="8" name="!!cover.date">
            <a:extLst xmlns:a="http://schemas.openxmlformats.org/drawingml/2006/main">
              <a:ext uri="{FF2B5EF4-FFF2-40B4-BE49-F238E27FC236}">
                <a16:creationId xmlns:a16="http://schemas.microsoft.com/office/drawing/2014/main" id="{14192189-94E6-45E0-87BC-94B744BC1380}"/>
              </a:ext>
            </a:extLst>
          </p:cNvPr>
          <p:cNvSpPr>
            <a:spLocks xmlns:a="http://schemas.openxmlformats.org/drawingml/2006/main" noGrp="1"/>
          </p:cNvSpPr>
          <p:nvPr/>
        </p:nvSpPr>
        <p:spPr>
          <a:xfrm xmlns:a="http://schemas.openxmlformats.org/drawingml/2006/main">
            <a:off x="647700" y="5381625"/>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707C88"/>
                </a:solidFill>
                <a:latin typeface="Arial"/>
                <a:ea typeface="Arial"/>
                <a:cs typeface="Arial"/>
              </a:defRPr>
            </a:defPPr>
            <a:lvl1pPr algn="l">
              <a:defRPr sz="2100" b="0">
                <a:solidFill>
                  <a:srgbClr val="707C88"/>
                </a:solidFill>
                <a:latin typeface="Arial"/>
                <a:ea typeface="Arial"/>
                <a:cs typeface="Arial"/>
              </a:defRPr>
            </a:lvl1pPr>
            <a:lvl2pPr algn="l">
              <a:defRPr sz="2100" b="0">
                <a:solidFill>
                  <a:srgbClr val="707C88"/>
                </a:solidFill>
                <a:latin typeface="Arial"/>
                <a:ea typeface="Arial"/>
                <a:cs typeface="Arial"/>
              </a:defRPr>
            </a:lvl2pPr>
            <a:lvl3pPr algn="l">
              <a:defRPr sz="2100" b="0">
                <a:solidFill>
                  <a:srgbClr val="707C88"/>
                </a:solidFill>
                <a:latin typeface="Arial"/>
                <a:ea typeface="Arial"/>
                <a:cs typeface="Arial"/>
              </a:defRPr>
            </a:lvl3pPr>
            <a:lvl4pPr algn="l">
              <a:defRPr sz="2100" b="0">
                <a:solidFill>
                  <a:srgbClr val="707C88"/>
                </a:solidFill>
                <a:latin typeface="Arial"/>
                <a:ea typeface="Arial"/>
                <a:cs typeface="Arial"/>
              </a:defRPr>
            </a:lvl4pPr>
            <a:lvl5pPr algn="l">
              <a:defRPr sz="2100" b="0">
                <a:solidFill>
                  <a:srgbClr val="707C88"/>
                </a:solidFill>
                <a:latin typeface="Arial"/>
                <a:ea typeface="Arial"/>
                <a:cs typeface="Arial"/>
              </a:defRPr>
            </a:lvl5pPr>
            <a:lvl6pPr algn="l">
              <a:defRPr sz="2100" b="0">
                <a:solidFill>
                  <a:srgbClr val="707C88"/>
                </a:solidFill>
                <a:latin typeface="Arial"/>
                <a:ea typeface="Arial"/>
                <a:cs typeface="Arial"/>
              </a:defRPr>
            </a:lvl6pPr>
            <a:lvl7pPr algn="l">
              <a:defRPr sz="2100" b="0">
                <a:solidFill>
                  <a:srgbClr val="707C88"/>
                </a:solidFill>
                <a:latin typeface="Arial"/>
                <a:ea typeface="Arial"/>
                <a:cs typeface="Arial"/>
              </a:defRPr>
            </a:lvl7pPr>
            <a:lvl8pPr algn="l">
              <a:defRPr sz="2100" b="0">
                <a:solidFill>
                  <a:srgbClr val="707C88"/>
                </a:solidFill>
                <a:latin typeface="Arial"/>
                <a:ea typeface="Arial"/>
                <a:cs typeface="Arial"/>
              </a:defRPr>
            </a:lvl8pPr>
            <a:lvl9pPr algn="l">
              <a:defRPr sz="2100" b="0">
                <a:solidFill>
                  <a:srgbClr val="707C88"/>
                </a:solidFill>
                <a:latin typeface="Arial"/>
                <a:ea typeface="Arial"/>
                <a:cs typeface="Arial"/>
              </a:defRPr>
            </a:lvl9pPr>
          </a:lstStyle>
          <a:p xmlns:a="http://schemas.openxmlformats.org/drawingml/2006/main">
            <a:pPr algn="l">
              <a:defRPr sz="2100" b="0">
                <a:solidFill>
                  <a:srgbClr val="707C88"/>
                </a:solidFill>
                <a:latin typeface="Arial"/>
                <a:ea typeface="Arial"/>
                <a:cs typeface="Arial"/>
              </a:defRPr>
            </a:pPr>
            <a:r>
              <a:rPr sz="2100" b="0">
                <a:solidFill>
                  <a:srgbClr val="707C88"/>
                </a:solidFill>
                <a:latin typeface="Arial"/>
                <a:ea typeface="Arial"/>
                <a:cs typeface="Arial"/>
              </a:rPr>
              <a:t>October 2026</a:t>
            </a:r>
          </a:p>
        </p:txBody>
      </p:sp>
      <p:sp>
        <p:nvSpPr>
          <p:cNvPr id="9" name="!!nav.next">
            <ns0:hlinkClick xmlns:ns0="http://schemas.openxmlformats.org/drawingml/2006/main" xmlns:ns1="http://schemas.openxmlformats.org/officeDocument/2006/relationships" ns1:id="rIdNavSlide2" action="ppaction://hlinksldjump" tooltip="Slide 2: Scope of proposed LLM applications"/>
            <a:extLst xmlns:a="http://schemas.openxmlformats.org/drawingml/2006/main">
              <a:ext uri="{FF2B5EF4-FFF2-40B4-BE49-F238E27FC236}">
                <a16:creationId xmlns:a16="http://schemas.microsoft.com/office/drawing/2014/main" id="{D2FA5C47-7D66-4DCD-9F72-B4DB213C186E}"/>
              </a:ext>
            </a:extLst>
          </p:cNvPr>
          <p:cNvSpPr>
            <a:spLocks xmlns:a="http://schemas.openxmlformats.org/drawingml/2006/main" noGrp="1"/>
          </p:cNvSpPr>
          <p:nvPr/>
        </p:nvSpPr>
        <p:spPr>
          <a:xfrm xmlns:a="http://schemas.openxmlformats.org/drawingml/2006/main">
            <a:off x="647700" y="6677025"/>
            <a:ext cx="2133600" cy="6096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Start</a:t>
            </a:r>
          </a:p>
        </p:txBody>
      </p:sp>
    </p:spTree>
    <p:extLst>
      <p:ext uri="{BB962C8B-B14F-4D97-AF65-F5344CB8AC3E}">
        <p14:creationId xmlns:p14="http://schemas.microsoft.com/office/powerpoint/2010/main" val="154337530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heading">
            <a:extLst xmlns:a="http://schemas.openxmlformats.org/drawingml/2006/main">
              <a:ext uri="{FF2B5EF4-FFF2-40B4-BE49-F238E27FC236}">
                <a16:creationId xmlns:a16="http://schemas.microsoft.com/office/drawing/2014/main" id="{9A229355-C285-4C7D-AB63-C6E095ABC06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Scope of proposed LLM applications</a:t>
            </a:r>
          </a:p>
        </p:txBody>
      </p:sp>
      <p:sp>
        <p:nvSpPr>
          <p:cNvPr id="2" name="!!subtitle">
            <a:extLst xmlns:a="http://schemas.openxmlformats.org/drawingml/2006/main">
              <a:ext uri="{FF2B5EF4-FFF2-40B4-BE49-F238E27FC236}">
                <a16:creationId xmlns:a16="http://schemas.microsoft.com/office/drawing/2014/main" id="{AA3FE38A-1C91-4747-8E60-E0990C7038EA}"/>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Application overview</a:t>
            </a:r>
          </a:p>
        </p:txBody>
      </p:sp>
      <p:sp>
        <p:nvSpPr>
          <p:cNvPr id="3" name="!!heading.rule">
            <a:extLst xmlns:a="http://schemas.openxmlformats.org/drawingml/2006/main">
              <a:ext uri="{FF2B5EF4-FFF2-40B4-BE49-F238E27FC236}">
                <a16:creationId xmlns:a16="http://schemas.microsoft.com/office/drawing/2014/main" id="{FAE245D7-F59E-4E86-AAE8-781C2F2236F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24D0D68-2605-4CFF-877F-8FC23E17C490}"/>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5" name="!!page">
            <a:extLst xmlns:a="http://schemas.openxmlformats.org/drawingml/2006/main">
              <a:ext uri="{FF2B5EF4-FFF2-40B4-BE49-F238E27FC236}">
                <a16:creationId xmlns:a16="http://schemas.microsoft.com/office/drawing/2014/main" id="{9FC0DF8E-6FE9-417E-90EC-0D09AD978BC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 / 33</a:t>
            </a:r>
          </a:p>
        </p:txBody>
      </p:sp>
      <p:sp>
        <p:nvSpPr>
          <p:cNvPr id="6" name="!!nav.prev">
            <ns0:hlinkClick xmlns:ns0="http://schemas.openxmlformats.org/drawingml/2006/main" xmlns:ns1="http://schemas.openxmlformats.org/officeDocument/2006/relationships" ns1:id="rIdNavSlide1" action="ppaction://hlinksldjump" tooltip="Slide 1: LLMs in Asset Management"/>
            <a:extLst xmlns:a="http://schemas.openxmlformats.org/drawingml/2006/main">
              <a:ext uri="{FF2B5EF4-FFF2-40B4-BE49-F238E27FC236}">
                <a16:creationId xmlns:a16="http://schemas.microsoft.com/office/drawing/2014/main" id="{82A816F0-73E4-4A0B-8AAA-11F2AAAEE700}"/>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7" name="!!nav.next">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3831876-A649-4AA8-B5E4-E5326C3EFF1A}"/>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8" name="!!footer.rule">
            <a:extLst xmlns:a="http://schemas.openxmlformats.org/drawingml/2006/main">
              <a:ext uri="{FF2B5EF4-FFF2-40B4-BE49-F238E27FC236}">
                <a16:creationId xmlns:a16="http://schemas.microsoft.com/office/drawing/2014/main" id="{78B88F65-146A-4617-B853-4D247A2C6D0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9" name="!!source">
            <a:extLst xmlns:a="http://schemas.openxmlformats.org/drawingml/2006/main">
              <a:ext uri="{FF2B5EF4-FFF2-40B4-BE49-F238E27FC236}">
                <a16:creationId xmlns:a16="http://schemas.microsoft.com/office/drawing/2014/main" id="{F8744BA3-4028-4BFA-8110-CB6230BE2769}"/>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10" name="!!scope.head0">
            <a:extLst xmlns:a="http://schemas.openxmlformats.org/drawingml/2006/main">
              <a:ext uri="{FF2B5EF4-FFF2-40B4-BE49-F238E27FC236}">
                <a16:creationId xmlns:a16="http://schemas.microsoft.com/office/drawing/2014/main" id="{70425A64-FB8B-43C2-86DE-0FB2600A0CF7}"/>
              </a:ext>
            </a:extLst>
          </p:cNvPr>
          <p:cNvSpPr>
            <a:spLocks xmlns:a="http://schemas.openxmlformats.org/drawingml/2006/main" noGrp="1"/>
          </p:cNvSpPr>
          <p:nvPr/>
        </p:nvSpPr>
        <p:spPr>
          <a:xfrm xmlns:a="http://schemas.openxmlformats.org/drawingml/2006/main">
            <a:off x="647700" y="2200275"/>
            <a:ext cx="304800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Inputs</a:t>
            </a:r>
          </a:p>
        </p:txBody>
      </p:sp>
      <p:sp>
        <p:nvSpPr>
          <p:cNvPr id="11" name="!!scope.head1">
            <a:extLst xmlns:a="http://schemas.openxmlformats.org/drawingml/2006/main">
              <a:ext uri="{FF2B5EF4-FFF2-40B4-BE49-F238E27FC236}">
                <a16:creationId xmlns:a16="http://schemas.microsoft.com/office/drawing/2014/main" id="{BC39EBC6-B500-4857-A4A8-175A7E2C522F}"/>
              </a:ext>
            </a:extLst>
          </p:cNvPr>
          <p:cNvSpPr>
            <a:spLocks xmlns:a="http://schemas.openxmlformats.org/drawingml/2006/main" noGrp="1"/>
          </p:cNvSpPr>
          <p:nvPr/>
        </p:nvSpPr>
        <p:spPr>
          <a:xfrm xmlns:a="http://schemas.openxmlformats.org/drawingml/2006/main">
            <a:off x="4619625" y="2200275"/>
            <a:ext cx="604837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Work supported by LLMs</a:t>
            </a:r>
          </a:p>
        </p:txBody>
      </p:sp>
      <p:sp>
        <p:nvSpPr>
          <p:cNvPr id="12" name="!!scope.head2">
            <a:extLst xmlns:a="http://schemas.openxmlformats.org/drawingml/2006/main">
              <a:ext uri="{FF2B5EF4-FFF2-40B4-BE49-F238E27FC236}">
                <a16:creationId xmlns:a16="http://schemas.microsoft.com/office/drawing/2014/main" id="{B5E95312-8F6B-49F9-93EB-E9F0647E964A}"/>
              </a:ext>
            </a:extLst>
          </p:cNvPr>
          <p:cNvSpPr>
            <a:spLocks xmlns:a="http://schemas.openxmlformats.org/drawingml/2006/main" noGrp="1"/>
          </p:cNvSpPr>
          <p:nvPr/>
        </p:nvSpPr>
        <p:spPr>
          <a:xfrm xmlns:a="http://schemas.openxmlformats.org/drawingml/2006/main">
            <a:off x="11572875" y="2200275"/>
            <a:ext cx="30194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Outputs</a:t>
            </a:r>
          </a:p>
        </p:txBody>
      </p:sp>
      <p:sp>
        <p:nvSpPr>
          <p:cNvPr id="13" name="!!scope.input0">
            <a:extLst xmlns:a="http://schemas.openxmlformats.org/drawingml/2006/main">
              <a:ext uri="{FF2B5EF4-FFF2-40B4-BE49-F238E27FC236}">
                <a16:creationId xmlns:a16="http://schemas.microsoft.com/office/drawing/2014/main" id="{060E7DF8-59B8-4896-9153-AEA8132CDCB0}"/>
              </a:ext>
            </a:extLst>
          </p:cNvPr>
          <p:cNvSpPr>
            <a:spLocks xmlns:a="http://schemas.openxmlformats.org/drawingml/2006/main" noGrp="1"/>
          </p:cNvSpPr>
          <p:nvPr/>
        </p:nvSpPr>
        <p:spPr>
          <a:xfrm xmlns:a="http://schemas.openxmlformats.org/drawingml/2006/main">
            <a:off x="914400" y="303847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Documents</a:t>
            </a:r>
          </a:p>
        </p:txBody>
      </p:sp>
      <p:sp>
        <p:nvSpPr>
          <p:cNvPr id="14" name="!!scope.work0">
            <a:extLst xmlns:a="http://schemas.openxmlformats.org/drawingml/2006/main">
              <a:ext uri="{FF2B5EF4-FFF2-40B4-BE49-F238E27FC236}">
                <a16:creationId xmlns:a16="http://schemas.microsoft.com/office/drawing/2014/main" id="{3C14C8CF-5632-4EF0-8326-9DE20248D1B1}"/>
              </a:ext>
            </a:extLst>
          </p:cNvPr>
          <p:cNvSpPr>
            <a:spLocks xmlns:a="http://schemas.openxmlformats.org/drawingml/2006/main" noGrp="1"/>
          </p:cNvSpPr>
          <p:nvPr/>
        </p:nvSpPr>
        <p:spPr>
          <a:xfrm xmlns:a="http://schemas.openxmlformats.org/drawingml/2006/main">
            <a:off x="4619625" y="3000375"/>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Retrieve and organize</a:t>
            </a:r>
          </a:p>
        </p:txBody>
      </p:sp>
      <p:sp>
        <p:nvSpPr>
          <p:cNvPr id="15" name="!!scope.output0">
            <a:extLst xmlns:a="http://schemas.openxmlformats.org/drawingml/2006/main">
              <a:ext uri="{FF2B5EF4-FFF2-40B4-BE49-F238E27FC236}">
                <a16:creationId xmlns:a16="http://schemas.microsoft.com/office/drawing/2014/main" id="{3ADC75D7-0DD7-44E5-860A-B93F81CCCD0B}"/>
              </a:ext>
            </a:extLst>
          </p:cNvPr>
          <p:cNvSpPr>
            <a:spLocks xmlns:a="http://schemas.openxmlformats.org/drawingml/2006/main" noGrp="1"/>
          </p:cNvSpPr>
          <p:nvPr/>
        </p:nvSpPr>
        <p:spPr>
          <a:xfrm xmlns:a="http://schemas.openxmlformats.org/drawingml/2006/main">
            <a:off x="11811000" y="30384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Company analysis</a:t>
            </a:r>
          </a:p>
        </p:txBody>
      </p:sp>
      <p:sp>
        <p:nvSpPr>
          <p:cNvPr id="16" name="!!scope.input1">
            <a:extLst xmlns:a="http://schemas.openxmlformats.org/drawingml/2006/main">
              <a:ext uri="{FF2B5EF4-FFF2-40B4-BE49-F238E27FC236}">
                <a16:creationId xmlns:a16="http://schemas.microsoft.com/office/drawing/2014/main" id="{5A14B8CD-32B9-46BA-9F17-157E44DA089A}"/>
              </a:ext>
            </a:extLst>
          </p:cNvPr>
          <p:cNvSpPr>
            <a:spLocks xmlns:a="http://schemas.openxmlformats.org/drawingml/2006/main" noGrp="1"/>
          </p:cNvSpPr>
          <p:nvPr/>
        </p:nvSpPr>
        <p:spPr>
          <a:xfrm xmlns:a="http://schemas.openxmlformats.org/drawingml/2006/main">
            <a:off x="914400" y="39243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Data</a:t>
            </a:r>
          </a:p>
        </p:txBody>
      </p:sp>
      <p:sp>
        <p:nvSpPr>
          <p:cNvPr id="17" name="!!scope.work1">
            <a:extLst xmlns:a="http://schemas.openxmlformats.org/drawingml/2006/main">
              <a:ext uri="{FF2B5EF4-FFF2-40B4-BE49-F238E27FC236}">
                <a16:creationId xmlns:a16="http://schemas.microsoft.com/office/drawing/2014/main" id="{24F3A3C4-FE80-4A05-A8EA-81B7C95CA1F4}"/>
              </a:ext>
            </a:extLst>
          </p:cNvPr>
          <p:cNvSpPr>
            <a:spLocks xmlns:a="http://schemas.openxmlformats.org/drawingml/2006/main" noGrp="1"/>
          </p:cNvSpPr>
          <p:nvPr/>
        </p:nvSpPr>
        <p:spPr>
          <a:xfrm xmlns:a="http://schemas.openxmlformats.org/drawingml/2006/main">
            <a:off x="4619625" y="3886200"/>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Calculate and explain</a:t>
            </a:r>
          </a:p>
        </p:txBody>
      </p:sp>
      <p:sp>
        <p:nvSpPr>
          <p:cNvPr id="18" name="!!scope.output1">
            <a:extLst xmlns:a="http://schemas.openxmlformats.org/drawingml/2006/main">
              <a:ext uri="{FF2B5EF4-FFF2-40B4-BE49-F238E27FC236}">
                <a16:creationId xmlns:a16="http://schemas.microsoft.com/office/drawing/2014/main" id="{152C6EC9-15C9-4762-B4E8-E60C3FE58EDB}"/>
              </a:ext>
            </a:extLst>
          </p:cNvPr>
          <p:cNvSpPr>
            <a:spLocks xmlns:a="http://schemas.openxmlformats.org/drawingml/2006/main" noGrp="1"/>
          </p:cNvSpPr>
          <p:nvPr/>
        </p:nvSpPr>
        <p:spPr>
          <a:xfrm xmlns:a="http://schemas.openxmlformats.org/drawingml/2006/main">
            <a:off x="11811000" y="3924300"/>
            <a:ext cx="2543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Quote requests</a:t>
            </a:r>
          </a:p>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and comparisons</a:t>
            </a:r>
          </a:p>
        </p:txBody>
      </p:sp>
      <p:sp>
        <p:nvSpPr>
          <p:cNvPr id="19" name="!!scope.input2">
            <a:extLst xmlns:a="http://schemas.openxmlformats.org/drawingml/2006/main">
              <a:ext uri="{FF2B5EF4-FFF2-40B4-BE49-F238E27FC236}">
                <a16:creationId xmlns:a16="http://schemas.microsoft.com/office/drawing/2014/main" id="{EF193A7A-768F-4D1E-9F89-86EEE0E9B8AA}"/>
              </a:ext>
            </a:extLst>
          </p:cNvPr>
          <p:cNvSpPr>
            <a:spLocks xmlns:a="http://schemas.openxmlformats.org/drawingml/2006/main" noGrp="1"/>
          </p:cNvSpPr>
          <p:nvPr/>
        </p:nvSpPr>
        <p:spPr>
          <a:xfrm xmlns:a="http://schemas.openxmlformats.org/drawingml/2006/main">
            <a:off x="914400" y="4810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Messages</a:t>
            </a:r>
          </a:p>
        </p:txBody>
      </p:sp>
      <p:sp>
        <p:nvSpPr>
          <p:cNvPr id="20" name="!!scope.work2">
            <a:extLst xmlns:a="http://schemas.openxmlformats.org/drawingml/2006/main">
              <a:ext uri="{FF2B5EF4-FFF2-40B4-BE49-F238E27FC236}">
                <a16:creationId xmlns:a16="http://schemas.microsoft.com/office/drawing/2014/main" id="{96553030-B2A3-4859-9BB1-E244D76D342F}"/>
              </a:ext>
            </a:extLst>
          </p:cNvPr>
          <p:cNvSpPr>
            <a:spLocks xmlns:a="http://schemas.openxmlformats.org/drawingml/2006/main" noGrp="1"/>
          </p:cNvSpPr>
          <p:nvPr/>
        </p:nvSpPr>
        <p:spPr>
          <a:xfrm xmlns:a="http://schemas.openxmlformats.org/drawingml/2006/main">
            <a:off x="4619625" y="4772025"/>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Query systems and run tasks</a:t>
            </a:r>
          </a:p>
        </p:txBody>
      </p:sp>
      <p:sp>
        <p:nvSpPr>
          <p:cNvPr id="21" name="!!scope.output2">
            <a:extLst xmlns:a="http://schemas.openxmlformats.org/drawingml/2006/main">
              <a:ext uri="{FF2B5EF4-FFF2-40B4-BE49-F238E27FC236}">
                <a16:creationId xmlns:a16="http://schemas.microsoft.com/office/drawing/2014/main" id="{ADF4D961-1C1A-4ABC-A2D0-E76F4672F3F8}"/>
              </a:ext>
            </a:extLst>
          </p:cNvPr>
          <p:cNvSpPr>
            <a:spLocks xmlns:a="http://schemas.openxmlformats.org/drawingml/2006/main" noGrp="1"/>
          </p:cNvSpPr>
          <p:nvPr/>
        </p:nvSpPr>
        <p:spPr>
          <a:xfrm xmlns:a="http://schemas.openxmlformats.org/drawingml/2006/main">
            <a:off x="11811000" y="481012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Client materials</a:t>
            </a:r>
          </a:p>
        </p:txBody>
      </p:sp>
      <p:sp>
        <p:nvSpPr>
          <p:cNvPr id="22" name="!!scope.input3">
            <a:extLst xmlns:a="http://schemas.openxmlformats.org/drawingml/2006/main">
              <a:ext uri="{FF2B5EF4-FFF2-40B4-BE49-F238E27FC236}">
                <a16:creationId xmlns:a16="http://schemas.microsoft.com/office/drawing/2014/main" id="{6B2FA1DD-7D71-4CBF-94E9-B3168A8F48EF}"/>
              </a:ext>
            </a:extLst>
          </p:cNvPr>
          <p:cNvSpPr>
            <a:spLocks xmlns:a="http://schemas.openxmlformats.org/drawingml/2006/main" noGrp="1"/>
          </p:cNvSpPr>
          <p:nvPr/>
        </p:nvSpPr>
        <p:spPr>
          <a:xfrm xmlns:a="http://schemas.openxmlformats.org/drawingml/2006/main">
            <a:off x="914400" y="569595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Business requests</a:t>
            </a:r>
          </a:p>
        </p:txBody>
      </p:sp>
      <p:sp>
        <p:nvSpPr>
          <p:cNvPr id="23" name="!!scope.work3">
            <a:extLst xmlns:a="http://schemas.openxmlformats.org/drawingml/2006/main">
              <a:ext uri="{FF2B5EF4-FFF2-40B4-BE49-F238E27FC236}">
                <a16:creationId xmlns:a16="http://schemas.microsoft.com/office/drawing/2014/main" id="{B78F447F-D0C0-45D0-A91A-0B1DE88A1AC4}"/>
              </a:ext>
            </a:extLst>
          </p:cNvPr>
          <p:cNvSpPr>
            <a:spLocks xmlns:a="http://schemas.openxmlformats.org/drawingml/2006/main" noGrp="1"/>
          </p:cNvSpPr>
          <p:nvPr/>
        </p:nvSpPr>
        <p:spPr>
          <a:xfrm xmlns:a="http://schemas.openxmlformats.org/drawingml/2006/main">
            <a:off x="4619625" y="5657850"/>
            <a:ext cx="6048375" cy="609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Draft documents and code</a:t>
            </a:r>
          </a:p>
        </p:txBody>
      </p:sp>
      <p:sp>
        <p:nvSpPr>
          <p:cNvPr id="24" name="!!scope.output3">
            <a:extLst xmlns:a="http://schemas.openxmlformats.org/drawingml/2006/main">
              <a:ext uri="{FF2B5EF4-FFF2-40B4-BE49-F238E27FC236}">
                <a16:creationId xmlns:a16="http://schemas.microsoft.com/office/drawing/2014/main" id="{E1E25BAD-2596-41FB-9399-C6C1756334D7}"/>
              </a:ext>
            </a:extLst>
          </p:cNvPr>
          <p:cNvSpPr>
            <a:spLocks xmlns:a="http://schemas.openxmlformats.org/drawingml/2006/main" noGrp="1"/>
          </p:cNvSpPr>
          <p:nvPr/>
        </p:nvSpPr>
        <p:spPr>
          <a:xfrm xmlns:a="http://schemas.openxmlformats.org/drawingml/2006/main">
            <a:off x="11811000" y="5695950"/>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Business tools</a:t>
            </a:r>
          </a:p>
        </p:txBody>
      </p:sp>
      <p:sp>
        <p:nvSpPr>
          <p:cNvPr id="25" name="!!scope.a.line">
            <a:extLst xmlns:a="http://schemas.openxmlformats.org/drawingml/2006/main">
              <a:ext uri="{FF2B5EF4-FFF2-40B4-BE49-F238E27FC236}">
                <a16:creationId xmlns:a16="http://schemas.microsoft.com/office/drawing/2014/main" id="{89E9A9A2-2D33-4523-B728-96E75CDD5C35}"/>
              </a:ext>
            </a:extLst>
          </p:cNvPr>
          <p:cNvSpPr>
            <a:spLocks xmlns:a="http://schemas.openxmlformats.org/drawingml/2006/main" noGrp="1"/>
          </p:cNvSpPr>
          <p:nvPr/>
        </p:nvSpPr>
        <p:spPr>
          <a:xfrm xmlns:a="http://schemas.openxmlformats.org/drawingml/2006/main" flipH="0" flipV="0">
            <a:off x="3886200" y="4572000"/>
            <a:ext cx="514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6" name="!!scope.a.tip">
            <a:extLst xmlns:a="http://schemas.openxmlformats.org/drawingml/2006/main">
              <a:ext uri="{FF2B5EF4-FFF2-40B4-BE49-F238E27FC236}">
                <a16:creationId xmlns:a16="http://schemas.microsoft.com/office/drawing/2014/main" id="{4589B401-A783-4706-9550-978CF4D6181A}"/>
              </a:ext>
            </a:extLst>
          </p:cNvPr>
          <p:cNvSpPr>
            <a:spLocks xmlns:a="http://schemas.openxmlformats.org/drawingml/2006/main" noGrp="1"/>
          </p:cNvSpPr>
          <p:nvPr/>
        </p:nvSpPr>
        <p:spPr>
          <a:xfrm xmlns:a="http://schemas.openxmlformats.org/drawingml/2006/main" rot="5400000">
            <a:off x="4343400" y="45148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scope.b.line">
            <a:extLst xmlns:a="http://schemas.openxmlformats.org/drawingml/2006/main">
              <a:ext uri="{FF2B5EF4-FFF2-40B4-BE49-F238E27FC236}">
                <a16:creationId xmlns:a16="http://schemas.microsoft.com/office/drawing/2014/main" id="{7F738158-8617-47DF-8407-63DDF8F74695}"/>
              </a:ext>
            </a:extLst>
          </p:cNvPr>
          <p:cNvSpPr>
            <a:spLocks xmlns:a="http://schemas.openxmlformats.org/drawingml/2006/main" noGrp="1"/>
          </p:cNvSpPr>
          <p:nvPr/>
        </p:nvSpPr>
        <p:spPr>
          <a:xfrm xmlns:a="http://schemas.openxmlformats.org/drawingml/2006/main" flipH="0" flipV="0">
            <a:off x="10858500" y="4572000"/>
            <a:ext cx="514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8" name="!!scope.b.tip">
            <a:extLst xmlns:a="http://schemas.openxmlformats.org/drawingml/2006/main">
              <a:ext uri="{FF2B5EF4-FFF2-40B4-BE49-F238E27FC236}">
                <a16:creationId xmlns:a16="http://schemas.microsoft.com/office/drawing/2014/main" id="{86E3E97C-06BD-4080-80FE-88CCF44491E8}"/>
              </a:ext>
            </a:extLst>
          </p:cNvPr>
          <p:cNvSpPr>
            <a:spLocks xmlns:a="http://schemas.openxmlformats.org/drawingml/2006/main" noGrp="1"/>
          </p:cNvSpPr>
          <p:nvPr/>
        </p:nvSpPr>
        <p:spPr>
          <a:xfrm xmlns:a="http://schemas.openxmlformats.org/drawingml/2006/main" rot="5400000">
            <a:off x="11315700" y="45148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scope.result">
            <a:extLst xmlns:a="http://schemas.openxmlformats.org/drawingml/2006/main">
              <a:ext uri="{FF2B5EF4-FFF2-40B4-BE49-F238E27FC236}">
                <a16:creationId xmlns:a16="http://schemas.microsoft.com/office/drawing/2014/main" id="{1BE80691-5B4C-43CE-9041-B6B7DD124981}"/>
              </a:ext>
            </a:extLst>
          </p:cNvPr>
          <p:cNvSpPr>
            <a:spLocks xmlns:a="http://schemas.openxmlformats.org/drawingml/2006/main" noGrp="1"/>
          </p:cNvSpPr>
          <p:nvPr/>
        </p:nvSpPr>
        <p:spPr>
          <a:xfrm xmlns:a="http://schemas.openxmlformats.org/drawingml/2006/main">
            <a:off x="647700" y="6924675"/>
            <a:ext cx="1394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Proposed applications address specific employee tasks</a:t>
            </a:r>
          </a:p>
        </p:txBody>
      </p:sp>
    </p:spTree>
    <p:extLst>
      <p:ext uri="{BB962C8B-B14F-4D97-AF65-F5344CB8AC3E}">
        <p14:creationId xmlns:p14="http://schemas.microsoft.com/office/powerpoint/2010/main" val="1366164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heading">
            <a:extLst xmlns:a="http://schemas.openxmlformats.org/drawingml/2006/main">
              <a:ext uri="{FF2B5EF4-FFF2-40B4-BE49-F238E27FC236}">
                <a16:creationId xmlns:a16="http://schemas.microsoft.com/office/drawing/2014/main" id="{24B42DB7-9A76-49F1-B48E-D4C1547BF70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Seven application areas across the firm</a:t>
            </a:r>
          </a:p>
        </p:txBody>
      </p:sp>
      <p:sp>
        <p:nvSpPr>
          <p:cNvPr id="2" name="!!subtitle">
            <a:extLst xmlns:a="http://schemas.openxmlformats.org/drawingml/2006/main">
              <a:ext uri="{FF2B5EF4-FFF2-40B4-BE49-F238E27FC236}">
                <a16:creationId xmlns:a16="http://schemas.microsoft.com/office/drawing/2014/main" id="{A17F9EFD-6C6A-4EB6-B8F6-62895847138C}"/>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Application overview</a:t>
            </a:r>
          </a:p>
        </p:txBody>
      </p:sp>
      <p:sp>
        <p:nvSpPr>
          <p:cNvPr id="3" name="!!heading.rule">
            <a:extLst xmlns:a="http://schemas.openxmlformats.org/drawingml/2006/main">
              <a:ext uri="{FF2B5EF4-FFF2-40B4-BE49-F238E27FC236}">
                <a16:creationId xmlns:a16="http://schemas.microsoft.com/office/drawing/2014/main" id="{8D73FEA8-1A8C-4D7F-B133-4DF365FBF3FC}"/>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F46DFBD-34D2-4EB6-BC2A-0F93F84A1145}"/>
              </a:ext>
            </a:extLst>
          </p:cNvPr>
          <p:cNvSpPr>
            <a:spLocks xmlns:a="http://schemas.openxmlformats.org/drawingml/2006/main" noGrp="1"/>
          </p:cNvSpPr>
          <p:nvPr/>
        </p:nvSpPr>
        <p:spPr>
          <a:xfrm xmlns:a="http://schemas.openxmlformats.org/drawingml/2006/main">
            <a:off x="647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373D196-3C24-4ACB-AB5D-B18C09B61E2F}"/>
              </a:ext>
            </a:extLst>
          </p:cNvPr>
          <p:cNvSpPr>
            <a:spLocks xmlns:a="http://schemas.openxmlformats.org/drawingml/2006/main" noGrp="1"/>
          </p:cNvSpPr>
          <p:nvPr/>
        </p:nvSpPr>
        <p:spPr>
          <a:xfrm xmlns:a="http://schemas.openxmlformats.org/drawingml/2006/main">
            <a:off x="647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7A0755C-B728-4BAE-875D-335E47C498B4}"/>
              </a:ext>
            </a:extLst>
          </p:cNvPr>
          <p:cNvSpPr>
            <a:spLocks xmlns:a="http://schemas.openxmlformats.org/drawingml/2006/main" noGrp="1"/>
          </p:cNvSpPr>
          <p:nvPr/>
        </p:nvSpPr>
        <p:spPr>
          <a:xfrm xmlns:a="http://schemas.openxmlformats.org/drawingml/2006/main">
            <a:off x="838200" y="2847975"/>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FD2A4339-BA40-4124-AAC9-5DBF670110BB}"/>
              </a:ext>
            </a:extLst>
          </p:cNvPr>
          <p:cNvSpPr>
            <a:spLocks xmlns:a="http://schemas.openxmlformats.org/drawingml/2006/main" noGrp="1"/>
          </p:cNvSpPr>
          <p:nvPr/>
        </p:nvSpPr>
        <p:spPr>
          <a:xfrm xmlns:a="http://schemas.openxmlformats.org/drawingml/2006/main">
            <a:off x="1047750" y="33528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Analyze company information</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8E66BFF-EFF2-4197-A5C7-7447348F53A9}"/>
              </a:ext>
            </a:extLst>
          </p:cNvPr>
          <p:cNvSpPr>
            <a:spLocks xmlns:a="http://schemas.openxmlformats.org/drawingml/2006/main" noGrp="1"/>
          </p:cNvSpPr>
          <p:nvPr/>
        </p:nvSpPr>
        <p:spPr>
          <a:xfrm xmlns:a="http://schemas.openxmlformats.org/drawingml/2006/main">
            <a:off x="838200" y="3943350"/>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3E8CC15F-C737-44FC-95D1-3A1FF16D5D63}"/>
              </a:ext>
            </a:extLst>
          </p:cNvPr>
          <p:cNvSpPr>
            <a:spLocks xmlns:a="http://schemas.openxmlformats.org/drawingml/2006/main" noGrp="1"/>
          </p:cNvSpPr>
          <p:nvPr/>
        </p:nvSpPr>
        <p:spPr>
          <a:xfrm xmlns:a="http://schemas.openxmlformats.org/drawingml/2006/main">
            <a:off x="1047750" y="44481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Prepare quote requests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53DB45C9-7BA7-4815-B750-2C67128747F8}"/>
              </a:ext>
            </a:extLst>
          </p:cNvPr>
          <p:cNvSpPr>
            <a:spLocks xmlns:a="http://schemas.openxmlformats.org/drawingml/2006/main" noGrp="1"/>
          </p:cNvSpPr>
          <p:nvPr/>
        </p:nvSpPr>
        <p:spPr>
          <a:xfrm xmlns:a="http://schemas.openxmlformats.org/drawingml/2006/main">
            <a:off x="838200" y="5038725"/>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BA5EFEA8-9260-44A4-98B5-57B6EBA98D91}"/>
              </a:ext>
            </a:extLst>
          </p:cNvPr>
          <p:cNvSpPr>
            <a:spLocks xmlns:a="http://schemas.openxmlformats.org/drawingml/2006/main" noGrp="1"/>
          </p:cNvSpPr>
          <p:nvPr/>
        </p:nvSpPr>
        <p:spPr>
          <a:xfrm xmlns:a="http://schemas.openxmlformats.org/drawingml/2006/main">
            <a:off x="1047750" y="554355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Draft client communications</a:t>
            </a:r>
          </a:p>
        </p:txBody>
      </p:sp>
      <p:sp>
        <p:nvSpPr>
          <p:cNvPr id="12" name="!!map.middle">
            <a:extLst xmlns:a="http://schemas.openxmlformats.org/drawingml/2006/main">
              <a:ext uri="{FF2B5EF4-FFF2-40B4-BE49-F238E27FC236}">
                <a16:creationId xmlns:a16="http://schemas.microsoft.com/office/drawing/2014/main" id="{E8C8B01C-B2D0-482B-A88E-265EBE1D5208}"/>
              </a:ext>
            </a:extLst>
          </p:cNvPr>
          <p:cNvSpPr>
            <a:spLocks xmlns:a="http://schemas.openxmlformats.org/drawingml/2006/main" noGrp="1"/>
          </p:cNvSpPr>
          <p:nvPr/>
        </p:nvSpPr>
        <p:spPr>
          <a:xfrm xmlns:a="http://schemas.openxmlformats.org/drawingml/2006/main">
            <a:off x="54102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6583E73-8E2F-4803-AFE0-9C98365734A5}"/>
              </a:ext>
            </a:extLst>
          </p:cNvPr>
          <p:cNvSpPr>
            <a:spLocks xmlns:a="http://schemas.openxmlformats.org/drawingml/2006/main" noGrp="1"/>
          </p:cNvSpPr>
          <p:nvPr/>
        </p:nvSpPr>
        <p:spPr>
          <a:xfrm xmlns:a="http://schemas.openxmlformats.org/drawingml/2006/main">
            <a:off x="54102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A2C285-1CFD-4A61-A95A-39CD42B17347}"/>
              </a:ext>
            </a:extLst>
          </p:cNvPr>
          <p:cNvSpPr>
            <a:spLocks xmlns:a="http://schemas.openxmlformats.org/drawingml/2006/main" noGrp="1"/>
          </p:cNvSpPr>
          <p:nvPr/>
        </p:nvSpPr>
        <p:spPr>
          <a:xfrm xmlns:a="http://schemas.openxmlformats.org/drawingml/2006/main">
            <a:off x="5600700" y="2847975"/>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93F9D246-178C-46BC-97B9-30F6B02FD27A}"/>
              </a:ext>
            </a:extLst>
          </p:cNvPr>
          <p:cNvSpPr>
            <a:spLocks xmlns:a="http://schemas.openxmlformats.org/drawingml/2006/main" noGrp="1"/>
          </p:cNvSpPr>
          <p:nvPr/>
        </p:nvSpPr>
        <p:spPr>
          <a:xfrm xmlns:a="http://schemas.openxmlformats.org/drawingml/2006/main">
            <a:off x="5810250" y="33528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Check claims against</a:t>
            </a:r>
          </a:p>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source material</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8017BA4-8120-4BCB-9469-C827F8EC636C}"/>
              </a:ext>
            </a:extLst>
          </p:cNvPr>
          <p:cNvSpPr>
            <a:spLocks xmlns:a="http://schemas.openxmlformats.org/drawingml/2006/main" noGrp="1"/>
          </p:cNvSpPr>
          <p:nvPr/>
        </p:nvSpPr>
        <p:spPr>
          <a:xfrm xmlns:a="http://schemas.openxmlformats.org/drawingml/2006/main">
            <a:off x="5600700" y="3943350"/>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DAC2238E-5B7F-48CE-A2DD-CDBCEE4704EA}"/>
              </a:ext>
            </a:extLst>
          </p:cNvPr>
          <p:cNvSpPr>
            <a:spLocks xmlns:a="http://schemas.openxmlformats.org/drawingml/2006/main" noGrp="1"/>
          </p:cNvSpPr>
          <p:nvPr/>
        </p:nvSpPr>
        <p:spPr>
          <a:xfrm xmlns:a="http://schemas.openxmlformats.org/drawingml/2006/main">
            <a:off x="5810250" y="44481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Link events to exposure</a:t>
            </a:r>
          </a:p>
        </p:txBody>
      </p:sp>
      <p:sp>
        <p:nvSpPr>
          <p:cNvPr id="18" name="!!map.back">
            <a:extLst xmlns:a="http://schemas.openxmlformats.org/drawingml/2006/main">
              <a:ext uri="{FF2B5EF4-FFF2-40B4-BE49-F238E27FC236}">
                <a16:creationId xmlns:a16="http://schemas.microsoft.com/office/drawing/2014/main" id="{D98DDBBE-195F-4EDB-B1A9-E9B85A0DC9B0}"/>
              </a:ext>
            </a:extLst>
          </p:cNvPr>
          <p:cNvSpPr>
            <a:spLocks xmlns:a="http://schemas.openxmlformats.org/drawingml/2006/main" noGrp="1"/>
          </p:cNvSpPr>
          <p:nvPr/>
        </p:nvSpPr>
        <p:spPr>
          <a:xfrm xmlns:a="http://schemas.openxmlformats.org/drawingml/2006/main">
            <a:off x="10172700" y="2114550"/>
            <a:ext cx="4419600" cy="40005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C310B98-5027-4FE5-ABED-B62CD5FE2094}"/>
              </a:ext>
            </a:extLst>
          </p:cNvPr>
          <p:cNvSpPr>
            <a:spLocks xmlns:a="http://schemas.openxmlformats.org/drawingml/2006/main" noGrp="1"/>
          </p:cNvSpPr>
          <p:nvPr/>
        </p:nvSpPr>
        <p:spPr>
          <a:xfrm xmlns:a="http://schemas.openxmlformats.org/drawingml/2006/main">
            <a:off x="10172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AAF45-BFF0-4380-BD9C-BA4B26C10B64}"/>
              </a:ext>
            </a:extLst>
          </p:cNvPr>
          <p:cNvSpPr>
            <a:spLocks xmlns:a="http://schemas.openxmlformats.org/drawingml/2006/main" noGrp="1"/>
          </p:cNvSpPr>
          <p:nvPr/>
        </p:nvSpPr>
        <p:spPr>
          <a:xfrm xmlns:a="http://schemas.openxmlformats.org/drawingml/2006/main">
            <a:off x="10363200" y="2847975"/>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AEC707B1-190A-454E-92D0-7E6E43FF4108}"/>
              </a:ext>
            </a:extLst>
          </p:cNvPr>
          <p:cNvSpPr>
            <a:spLocks xmlns:a="http://schemas.openxmlformats.org/drawingml/2006/main" noGrp="1"/>
          </p:cNvSpPr>
          <p:nvPr/>
        </p:nvSpPr>
        <p:spPr>
          <a:xfrm xmlns:a="http://schemas.openxmlformats.org/drawingml/2006/main">
            <a:off x="10572750" y="33528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Extract and maintain</a:t>
            </a:r>
          </a:p>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document records</a:t>
            </a:r>
          </a:p>
        </p:txBody>
      </p:sp>
      <p:sp>
        <p:nvSpPr>
          <p:cNvPr id="22"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E1F47FBC-C8A9-4751-9204-13CE6434999C}"/>
              </a:ext>
            </a:extLst>
          </p:cNvPr>
          <p:cNvSpPr>
            <a:spLocks xmlns:a="http://schemas.openxmlformats.org/drawingml/2006/main" noGrp="1"/>
          </p:cNvSpPr>
          <p:nvPr/>
        </p:nvSpPr>
        <p:spPr>
          <a:xfrm xmlns:a="http://schemas.openxmlformats.org/drawingml/2006/main">
            <a:off x="10363200" y="3943350"/>
            <a:ext cx="4038600" cy="4572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4ABF9686-C9EA-4C99-A26B-6AB0AA6E479D}"/>
              </a:ext>
            </a:extLst>
          </p:cNvPr>
          <p:cNvSpPr>
            <a:spLocks xmlns:a="http://schemas.openxmlformats.org/drawingml/2006/main" noGrp="1"/>
          </p:cNvSpPr>
          <p:nvPr/>
        </p:nvSpPr>
        <p:spPr>
          <a:xfrm xmlns:a="http://schemas.openxmlformats.org/drawingml/2006/main">
            <a:off x="10572750" y="44481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Develop internal</a:t>
            </a:r>
          </a:p>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business tools</a:t>
            </a:r>
          </a:p>
        </p:txBody>
      </p:sp>
      <p:sp>
        <p:nvSpPr>
          <p:cNvPr id="2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FCA85D2-4A99-4617-913B-71FF717A721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5" name="!!page">
            <a:extLst xmlns:a="http://schemas.openxmlformats.org/drawingml/2006/main">
              <a:ext uri="{FF2B5EF4-FFF2-40B4-BE49-F238E27FC236}">
                <a16:creationId xmlns:a16="http://schemas.microsoft.com/office/drawing/2014/main" id="{8F9EB5A7-3DA0-4A27-B4A2-6320A3BF660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 / 33</a:t>
            </a:r>
          </a:p>
        </p:txBody>
      </p:sp>
      <p:sp>
        <p:nvSpPr>
          <p:cNvPr id="26" name="!!nav.prev">
            <ns0:hlinkClick xmlns:ns0="http://schemas.openxmlformats.org/drawingml/2006/main" xmlns:ns1="http://schemas.openxmlformats.org/officeDocument/2006/relationships" ns1:id="rIdNavSlide2" action="ppaction://hlinksldjump" tooltip="Slide 2: Scope of proposed LLM applications"/>
            <a:extLst xmlns:a="http://schemas.openxmlformats.org/drawingml/2006/main">
              <a:ext uri="{FF2B5EF4-FFF2-40B4-BE49-F238E27FC236}">
                <a16:creationId xmlns:a16="http://schemas.microsoft.com/office/drawing/2014/main" id="{D9C0FB4A-EBDB-4C45-897B-367CB7BD11F1}"/>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F7A56BC-950D-4275-96F0-4C75063E769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5DF5C458-3AB5-47FB-93B9-3D76B1A5ABC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452D4C2-6A8E-4C43-A383-EADDFFB6475A}"/>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30" name="!!map.route.title">
            <a:extLst xmlns:a="http://schemas.openxmlformats.org/drawingml/2006/main">
              <a:ext uri="{FF2B5EF4-FFF2-40B4-BE49-F238E27FC236}">
                <a16:creationId xmlns:a16="http://schemas.microsoft.com/office/drawing/2014/main" id="{8BF1369F-1498-4C70-B669-634DF5A76009}"/>
              </a:ext>
            </a:extLst>
          </p:cNvPr>
          <p:cNvSpPr>
            <a:spLocks xmlns:a="http://schemas.openxmlformats.org/drawingml/2006/main" noGrp="1"/>
          </p:cNvSpPr>
          <p:nvPr/>
        </p:nvSpPr>
        <p:spPr>
          <a:xfrm xmlns:a="http://schemas.openxmlformats.org/drawingml/2006/main">
            <a:off x="647700" y="65055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9C"/>
                </a:solidFill>
                <a:latin typeface="Arial"/>
                <a:ea typeface="Arial"/>
                <a:cs typeface="Arial"/>
              </a:defRPr>
            </a:defPPr>
            <a:lvl1pPr algn="l">
              <a:defRPr sz="2025" b="1">
                <a:solidFill>
                  <a:srgbClr val="005A9C"/>
                </a:solidFill>
                <a:latin typeface="Arial"/>
                <a:ea typeface="Arial"/>
                <a:cs typeface="Arial"/>
              </a:defRPr>
            </a:lvl1pPr>
            <a:lvl2pPr algn="l">
              <a:defRPr sz="2025" b="1">
                <a:solidFill>
                  <a:srgbClr val="005A9C"/>
                </a:solidFill>
                <a:latin typeface="Arial"/>
                <a:ea typeface="Arial"/>
                <a:cs typeface="Arial"/>
              </a:defRPr>
            </a:lvl2pPr>
            <a:lvl3pPr algn="l">
              <a:defRPr sz="2025" b="1">
                <a:solidFill>
                  <a:srgbClr val="005A9C"/>
                </a:solidFill>
                <a:latin typeface="Arial"/>
                <a:ea typeface="Arial"/>
                <a:cs typeface="Arial"/>
              </a:defRPr>
            </a:lvl3pPr>
            <a:lvl4pPr algn="l">
              <a:defRPr sz="2025" b="1">
                <a:solidFill>
                  <a:srgbClr val="005A9C"/>
                </a:solidFill>
                <a:latin typeface="Arial"/>
                <a:ea typeface="Arial"/>
                <a:cs typeface="Arial"/>
              </a:defRPr>
            </a:lvl4pPr>
            <a:lvl5pPr algn="l">
              <a:defRPr sz="2025" b="1">
                <a:solidFill>
                  <a:srgbClr val="005A9C"/>
                </a:solidFill>
                <a:latin typeface="Arial"/>
                <a:ea typeface="Arial"/>
                <a:cs typeface="Arial"/>
              </a:defRPr>
            </a:lvl5pPr>
            <a:lvl6pPr algn="l">
              <a:defRPr sz="2025" b="1">
                <a:solidFill>
                  <a:srgbClr val="005A9C"/>
                </a:solidFill>
                <a:latin typeface="Arial"/>
                <a:ea typeface="Arial"/>
                <a:cs typeface="Arial"/>
              </a:defRPr>
            </a:lvl6pPr>
            <a:lvl7pPr algn="l">
              <a:defRPr sz="2025" b="1">
                <a:solidFill>
                  <a:srgbClr val="005A9C"/>
                </a:solidFill>
                <a:latin typeface="Arial"/>
                <a:ea typeface="Arial"/>
                <a:cs typeface="Arial"/>
              </a:defRPr>
            </a:lvl7pPr>
            <a:lvl8pPr algn="l">
              <a:defRPr sz="2025" b="1">
                <a:solidFill>
                  <a:srgbClr val="005A9C"/>
                </a:solidFill>
                <a:latin typeface="Arial"/>
                <a:ea typeface="Arial"/>
                <a:cs typeface="Arial"/>
              </a:defRPr>
            </a:lvl8pPr>
            <a:lvl9pPr algn="l">
              <a:defRPr sz="2025" b="1">
                <a:solidFill>
                  <a:srgbClr val="005A9C"/>
                </a:solidFill>
                <a:latin typeface="Arial"/>
                <a:ea typeface="Arial"/>
                <a:cs typeface="Arial"/>
              </a:defRPr>
            </a:lvl9pPr>
          </a:lstStyle>
          <a:p xmlns:a="http://schemas.openxmlformats.org/drawingml/2006/main">
            <a:pPr algn="l">
              <a:defRPr sz="2025" b="1">
                <a:solidFill>
                  <a:srgbClr val="005A9C"/>
                </a:solidFill>
                <a:latin typeface="Arial"/>
                <a:ea typeface="Arial"/>
                <a:cs typeface="Arial"/>
              </a:defRPr>
            </a:pPr>
            <a:r>
              <a:rPr sz="2025" b="1">
                <a:solidFill>
                  <a:srgbClr val="005A9C"/>
                </a:solidFill>
                <a:latin typeface="Arial"/>
                <a:ea typeface="Arial"/>
                <a:cs typeface="Arial"/>
              </a:rPr>
              <a:t>Two running examples</a:t>
            </a:r>
          </a:p>
        </p:txBody>
      </p:sp>
      <p:sp>
        <p:nvSpPr>
          <p:cNvPr id="31" name="!!map.route1">
            <a:extLst xmlns:a="http://schemas.openxmlformats.org/drawingml/2006/main">
              <a:ext uri="{FF2B5EF4-FFF2-40B4-BE49-F238E27FC236}">
                <a16:creationId xmlns:a16="http://schemas.microsoft.com/office/drawing/2014/main" id="{2A7CF9B7-F16B-411D-B103-5208DCE3F086}"/>
              </a:ext>
            </a:extLst>
          </p:cNvPr>
          <p:cNvSpPr>
            <a:spLocks xmlns:a="http://schemas.openxmlformats.org/drawingml/2006/main" noGrp="1"/>
          </p:cNvSpPr>
          <p:nvPr/>
        </p:nvSpPr>
        <p:spPr>
          <a:xfrm xmlns:a="http://schemas.openxmlformats.org/drawingml/2006/main" flipH="0" flipV="0">
            <a:off x="3600450" y="6753225"/>
            <a:ext cx="676275" cy="953"/>
          </a:xfrm>
          <a:prstGeom xmlns:a="http://schemas.openxmlformats.org/drawingml/2006/main" prst="line">
            <a:avLst/>
          </a:prstGeom>
          <a:noFill xmlns:a="http://schemas.openxmlformats.org/drawingml/2006/main"/>
          <a:ln xmlns:a="http://schemas.openxmlformats.org/drawingml/2006/main" w="47625">
            <a:solidFill>
              <a:srgbClr val="317F7B"/>
            </a:solidFill>
            <a:prstDash val="solid"/>
          </a:ln>
        </p:spPr>
      </p:sp>
      <p:sp>
        <p:nvSpPr>
          <p:cNvPr id="32" name="!!map.route1.text">
            <a:extLst xmlns:a="http://schemas.openxmlformats.org/drawingml/2006/main">
              <a:ext uri="{FF2B5EF4-FFF2-40B4-BE49-F238E27FC236}">
                <a16:creationId xmlns:a16="http://schemas.microsoft.com/office/drawing/2014/main" id="{EB44FE5A-3BA5-4FD1-B0FA-A967F9CA6784}"/>
              </a:ext>
            </a:extLst>
          </p:cNvPr>
          <p:cNvSpPr>
            <a:spLocks xmlns:a="http://schemas.openxmlformats.org/drawingml/2006/main" noGrp="1"/>
          </p:cNvSpPr>
          <p:nvPr/>
        </p:nvSpPr>
        <p:spPr>
          <a:xfrm xmlns:a="http://schemas.openxmlformats.org/drawingml/2006/main">
            <a:off x="4533900" y="65151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17F7B"/>
                </a:solidFill>
                <a:latin typeface="Arial"/>
                <a:ea typeface="Arial"/>
                <a:cs typeface="Arial"/>
              </a:defRPr>
            </a:defPPr>
            <a:lvl1pPr algn="l">
              <a:defRPr sz="2175" b="0">
                <a:solidFill>
                  <a:srgbClr val="317F7B"/>
                </a:solidFill>
                <a:latin typeface="Arial"/>
                <a:ea typeface="Arial"/>
                <a:cs typeface="Arial"/>
              </a:defRPr>
            </a:lvl1pPr>
            <a:lvl2pPr algn="l">
              <a:defRPr sz="2175" b="0">
                <a:solidFill>
                  <a:srgbClr val="317F7B"/>
                </a:solidFill>
                <a:latin typeface="Arial"/>
                <a:ea typeface="Arial"/>
                <a:cs typeface="Arial"/>
              </a:defRPr>
            </a:lvl2pPr>
            <a:lvl3pPr algn="l">
              <a:defRPr sz="2175" b="0">
                <a:solidFill>
                  <a:srgbClr val="317F7B"/>
                </a:solidFill>
                <a:latin typeface="Arial"/>
                <a:ea typeface="Arial"/>
                <a:cs typeface="Arial"/>
              </a:defRPr>
            </a:lvl3pPr>
            <a:lvl4pPr algn="l">
              <a:defRPr sz="2175" b="0">
                <a:solidFill>
                  <a:srgbClr val="317F7B"/>
                </a:solidFill>
                <a:latin typeface="Arial"/>
                <a:ea typeface="Arial"/>
                <a:cs typeface="Arial"/>
              </a:defRPr>
            </a:lvl4pPr>
            <a:lvl5pPr algn="l">
              <a:defRPr sz="2175" b="0">
                <a:solidFill>
                  <a:srgbClr val="317F7B"/>
                </a:solidFill>
                <a:latin typeface="Arial"/>
                <a:ea typeface="Arial"/>
                <a:cs typeface="Arial"/>
              </a:defRPr>
            </a:lvl5pPr>
            <a:lvl6pPr algn="l">
              <a:defRPr sz="2175" b="0">
                <a:solidFill>
                  <a:srgbClr val="317F7B"/>
                </a:solidFill>
                <a:latin typeface="Arial"/>
                <a:ea typeface="Arial"/>
                <a:cs typeface="Arial"/>
              </a:defRPr>
            </a:lvl6pPr>
            <a:lvl7pPr algn="l">
              <a:defRPr sz="2175" b="0">
                <a:solidFill>
                  <a:srgbClr val="317F7B"/>
                </a:solidFill>
                <a:latin typeface="Arial"/>
                <a:ea typeface="Arial"/>
                <a:cs typeface="Arial"/>
              </a:defRPr>
            </a:lvl7pPr>
            <a:lvl8pPr algn="l">
              <a:defRPr sz="2175" b="0">
                <a:solidFill>
                  <a:srgbClr val="317F7B"/>
                </a:solidFill>
                <a:latin typeface="Arial"/>
                <a:ea typeface="Arial"/>
                <a:cs typeface="Arial"/>
              </a:defRPr>
            </a:lvl8pPr>
            <a:lvl9pPr algn="l">
              <a:defRPr sz="2175" b="0">
                <a:solidFill>
                  <a:srgbClr val="317F7B"/>
                </a:solidFill>
                <a:latin typeface="Arial"/>
                <a:ea typeface="Arial"/>
                <a:cs typeface="Arial"/>
              </a:defRPr>
            </a:lvl9pPr>
          </a:lstStyle>
          <a:p xmlns:a="http://schemas.openxmlformats.org/drawingml/2006/main">
            <a:pPr algn="l">
              <a:defRPr sz="2175" b="0">
                <a:solidFill>
                  <a:srgbClr val="317F7B"/>
                </a:solidFill>
                <a:latin typeface="Arial"/>
                <a:ea typeface="Arial"/>
                <a:cs typeface="Arial"/>
              </a:defRPr>
            </a:pPr>
            <a:r>
              <a:rPr sz="2175" b="0">
                <a:solidFill>
                  <a:srgbClr val="317F7B"/>
                </a:solidFill>
                <a:latin typeface="Arial"/>
                <a:ea typeface="Arial"/>
                <a:cs typeface="Arial"/>
              </a:rPr>
              <a:t>Company A: research, trading, risk and operations</a:t>
            </a:r>
          </a:p>
        </p:txBody>
      </p:sp>
      <p:sp>
        <p:nvSpPr>
          <p:cNvPr id="33" name="!!map.route2">
            <a:extLst xmlns:a="http://schemas.openxmlformats.org/drawingml/2006/main">
              <a:ext uri="{FF2B5EF4-FFF2-40B4-BE49-F238E27FC236}">
                <a16:creationId xmlns:a16="http://schemas.microsoft.com/office/drawing/2014/main" id="{8FF56C4F-306A-4EC1-947A-891F9C77A5E5}"/>
              </a:ext>
            </a:extLst>
          </p:cNvPr>
          <p:cNvSpPr>
            <a:spLocks xmlns:a="http://schemas.openxmlformats.org/drawingml/2006/main" noGrp="1"/>
          </p:cNvSpPr>
          <p:nvPr/>
        </p:nvSpPr>
        <p:spPr>
          <a:xfrm xmlns:a="http://schemas.openxmlformats.org/drawingml/2006/main" flipH="0" flipV="0">
            <a:off x="3600450" y="7239000"/>
            <a:ext cx="676275" cy="953"/>
          </a:xfrm>
          <a:prstGeom xmlns:a="http://schemas.openxmlformats.org/drawingml/2006/main" prst="line">
            <a:avLst/>
          </a:prstGeom>
          <a:noFill xmlns:a="http://schemas.openxmlformats.org/drawingml/2006/main"/>
          <a:ln xmlns:a="http://schemas.openxmlformats.org/drawingml/2006/main" w="47625">
            <a:solidFill>
              <a:srgbClr val="7363A6"/>
            </a:solidFill>
            <a:prstDash val="solid"/>
          </a:ln>
        </p:spPr>
      </p:sp>
      <p:sp>
        <p:nvSpPr>
          <p:cNvPr id="34" name="!!map.route2.text">
            <a:extLst xmlns:a="http://schemas.openxmlformats.org/drawingml/2006/main">
              <a:ext uri="{FF2B5EF4-FFF2-40B4-BE49-F238E27FC236}">
                <a16:creationId xmlns:a16="http://schemas.microsoft.com/office/drawing/2014/main" id="{2234D091-5952-47A0-96C6-4CD40AD1C34E}"/>
              </a:ext>
            </a:extLst>
          </p:cNvPr>
          <p:cNvSpPr>
            <a:spLocks xmlns:a="http://schemas.openxmlformats.org/drawingml/2006/main" noGrp="1"/>
          </p:cNvSpPr>
          <p:nvPr/>
        </p:nvSpPr>
        <p:spPr>
          <a:xfrm xmlns:a="http://schemas.openxmlformats.org/drawingml/2006/main">
            <a:off x="4533900" y="70008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7363A6"/>
                </a:solidFill>
                <a:latin typeface="Arial"/>
                <a:ea typeface="Arial"/>
                <a:cs typeface="Arial"/>
              </a:defRPr>
            </a:defPPr>
            <a:lvl1pPr algn="l">
              <a:defRPr sz="2175" b="0">
                <a:solidFill>
                  <a:srgbClr val="7363A6"/>
                </a:solidFill>
                <a:latin typeface="Arial"/>
                <a:ea typeface="Arial"/>
                <a:cs typeface="Arial"/>
              </a:defRPr>
            </a:lvl1pPr>
            <a:lvl2pPr algn="l">
              <a:defRPr sz="2175" b="0">
                <a:solidFill>
                  <a:srgbClr val="7363A6"/>
                </a:solidFill>
                <a:latin typeface="Arial"/>
                <a:ea typeface="Arial"/>
                <a:cs typeface="Arial"/>
              </a:defRPr>
            </a:lvl2pPr>
            <a:lvl3pPr algn="l">
              <a:defRPr sz="2175" b="0">
                <a:solidFill>
                  <a:srgbClr val="7363A6"/>
                </a:solidFill>
                <a:latin typeface="Arial"/>
                <a:ea typeface="Arial"/>
                <a:cs typeface="Arial"/>
              </a:defRPr>
            </a:lvl3pPr>
            <a:lvl4pPr algn="l">
              <a:defRPr sz="2175" b="0">
                <a:solidFill>
                  <a:srgbClr val="7363A6"/>
                </a:solidFill>
                <a:latin typeface="Arial"/>
                <a:ea typeface="Arial"/>
                <a:cs typeface="Arial"/>
              </a:defRPr>
            </a:lvl4pPr>
            <a:lvl5pPr algn="l">
              <a:defRPr sz="2175" b="0">
                <a:solidFill>
                  <a:srgbClr val="7363A6"/>
                </a:solidFill>
                <a:latin typeface="Arial"/>
                <a:ea typeface="Arial"/>
                <a:cs typeface="Arial"/>
              </a:defRPr>
            </a:lvl5pPr>
            <a:lvl6pPr algn="l">
              <a:defRPr sz="2175" b="0">
                <a:solidFill>
                  <a:srgbClr val="7363A6"/>
                </a:solidFill>
                <a:latin typeface="Arial"/>
                <a:ea typeface="Arial"/>
                <a:cs typeface="Arial"/>
              </a:defRPr>
            </a:lvl6pPr>
            <a:lvl7pPr algn="l">
              <a:defRPr sz="2175" b="0">
                <a:solidFill>
                  <a:srgbClr val="7363A6"/>
                </a:solidFill>
                <a:latin typeface="Arial"/>
                <a:ea typeface="Arial"/>
                <a:cs typeface="Arial"/>
              </a:defRPr>
            </a:lvl7pPr>
            <a:lvl8pPr algn="l">
              <a:defRPr sz="2175" b="0">
                <a:solidFill>
                  <a:srgbClr val="7363A6"/>
                </a:solidFill>
                <a:latin typeface="Arial"/>
                <a:ea typeface="Arial"/>
                <a:cs typeface="Arial"/>
              </a:defRPr>
            </a:lvl8pPr>
            <a:lvl9pPr algn="l">
              <a:defRPr sz="2175" b="0">
                <a:solidFill>
                  <a:srgbClr val="7363A6"/>
                </a:solidFill>
                <a:latin typeface="Arial"/>
                <a:ea typeface="Arial"/>
                <a:cs typeface="Arial"/>
              </a:defRPr>
            </a:lvl9pPr>
          </a:lstStyle>
          <a:p xmlns:a="http://schemas.openxmlformats.org/drawingml/2006/main">
            <a:pPr algn="l">
              <a:defRPr sz="2175" b="0">
                <a:solidFill>
                  <a:srgbClr val="7363A6"/>
                </a:solidFill>
                <a:latin typeface="Arial"/>
                <a:ea typeface="Arial"/>
                <a:cs typeface="Arial"/>
              </a:defRPr>
            </a:pPr>
            <a:r>
              <a:rPr sz="2175" b="0">
                <a:solidFill>
                  <a:srgbClr val="7363A6"/>
                </a:solidFill>
                <a:latin typeface="Arial"/>
                <a:ea typeface="Arial"/>
                <a:cs typeface="Arial"/>
              </a:rPr>
              <a:t>Quarterly client update: drafting, review and change tracking</a:t>
            </a:r>
          </a:p>
        </p:txBody>
      </p:sp>
      <p:sp>
        <p:nvSpPr>
          <p:cNvPr id="36" name="!!story.header.issuer.bar">
            <a:extLst xmlns:a="http://schemas.openxmlformats.org/drawingml/2006/main">
              <a:ext uri="{FF2B5EF4-FFF2-40B4-BE49-F238E27FC236}">
                <a16:creationId xmlns:a16="http://schemas.microsoft.com/office/drawing/2014/main" id="{E97481ED-8A84-4EA0-96CD-F1F0033FDF62}"/>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7" name="!!story.header.issuer.name">
            <a:extLst xmlns:a="http://schemas.openxmlformats.org/drawingml/2006/main">
              <a:ext uri="{FF2B5EF4-FFF2-40B4-BE49-F238E27FC236}">
                <a16:creationId xmlns:a16="http://schemas.microsoft.com/office/drawing/2014/main" id="{DE0B410A-E196-4C89-AAEB-977E10552598}"/>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38" name="!!story.header.client.bar">
            <a:extLst xmlns:a="http://schemas.openxmlformats.org/drawingml/2006/main">
              <a:ext uri="{FF2B5EF4-FFF2-40B4-BE49-F238E27FC236}">
                <a16:creationId xmlns:a16="http://schemas.microsoft.com/office/drawing/2014/main" id="{35AED131-A04C-4B2A-B928-041FA315F667}"/>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9" name="!!story.header.client.name">
            <a:extLst xmlns:a="http://schemas.openxmlformats.org/drawingml/2006/main">
              <a:ext uri="{FF2B5EF4-FFF2-40B4-BE49-F238E27FC236}">
                <a16:creationId xmlns:a16="http://schemas.microsoft.com/office/drawing/2014/main" id="{F1815F01-6CDA-40B4-AFB4-236F9DDA8390}"/>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6931294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624BAFAE-F941-4BC7-8BD2-C528474F618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Company research: assessing revenue growth</a:t>
            </a:r>
          </a:p>
        </p:txBody>
      </p:sp>
      <p:sp>
        <p:nvSpPr>
          <p:cNvPr id="2" name="!!subtitle">
            <a:extLst xmlns:a="http://schemas.openxmlformats.org/drawingml/2006/main">
              <a:ext uri="{FF2B5EF4-FFF2-40B4-BE49-F238E27FC236}">
                <a16:creationId xmlns:a16="http://schemas.microsoft.com/office/drawing/2014/main" id="{AE01DF5D-18EE-4F7A-9A75-CDE45F0E1AC4}"/>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Investment research  /  Current workflow</a:t>
            </a:r>
          </a:p>
        </p:txBody>
      </p:sp>
      <p:sp>
        <p:nvSpPr>
          <p:cNvPr id="3" name="!!heading.rule">
            <a:extLst xmlns:a="http://schemas.openxmlformats.org/drawingml/2006/main">
              <a:ext uri="{FF2B5EF4-FFF2-40B4-BE49-F238E27FC236}">
                <a16:creationId xmlns:a16="http://schemas.microsoft.com/office/drawing/2014/main" id="{F5BEDB6E-74FF-4A16-8233-698B7B29291A}"/>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EE3FFDF-2F1F-4F77-BE6D-8C1C9A058310}"/>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58D54F-75E8-4AE7-9609-CE766899F2B9}"/>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3D3E1D6-93CC-42DE-BDFF-B0498D94DD74}"/>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C7408BA-5485-4EA8-A738-4D139900B999}"/>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4D6F0B0-3053-430D-8AEF-66661BEC8FCC}"/>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F35ED94B-4995-411A-ADF5-DF828EA1ED1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4C28E5E-FC17-4DB5-8D17-BBB9E6B5F85B}"/>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8F83FDD-6FA8-4D72-8635-83FED5B1D41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58C7964-6D18-4046-A004-82E2D8BD04EB}"/>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70D246B-BDBB-45C3-904E-1D4879ACAB6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F05F275-0B39-4C00-B777-4DA4EE482ADD}"/>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9C3CA21-6220-42F0-955B-7188303D916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4FC94F2-C945-4770-9212-07AB4BD57C5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B1686BE0-CF4F-418E-B2C6-9506641EE2F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0CA1507-13D1-48CB-BF58-BE0DCA054C63}"/>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E9C0E5C3-8DFE-4661-9837-49777C9436AA}"/>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B03804BC-FB87-4C57-AB07-96BFE7BF1F67}"/>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4 / 33</a:t>
            </a:r>
          </a:p>
        </p:txBody>
      </p:sp>
      <p:sp>
        <p:nvSpPr>
          <p:cNvPr id="21" name="!!nav.prev">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A06356ED-19BE-47E6-964E-BD265262766E}"/>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0E397E5A-B920-4F65-8DAF-87EBA4B07686}"/>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E7B1A1B-E98B-4306-8135-A830D4AE082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8C1BC9FF-C34E-4111-A382-B95F290B6260}"/>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research.question">
            <a:extLst xmlns:a="http://schemas.openxmlformats.org/drawingml/2006/main">
              <a:ext uri="{FF2B5EF4-FFF2-40B4-BE49-F238E27FC236}">
                <a16:creationId xmlns:a16="http://schemas.microsoft.com/office/drawing/2014/main" id="{A886E7CB-17C8-4B6B-8600-F2863CC02161}"/>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What drove revenue growth, and is it sustainable?</a:t>
            </a:r>
          </a:p>
        </p:txBody>
      </p:sp>
      <p:sp>
        <p:nvSpPr>
          <p:cNvPr id="26" name="!!research.evidence.1.rule">
            <a:extLst xmlns:a="http://schemas.openxmlformats.org/drawingml/2006/main">
              <a:ext uri="{FF2B5EF4-FFF2-40B4-BE49-F238E27FC236}">
                <a16:creationId xmlns:a16="http://schemas.microsoft.com/office/drawing/2014/main" id="{506766EF-273A-4A35-9897-329EF3D60651}"/>
              </a:ext>
            </a:extLst>
          </p:cNvPr>
          <p:cNvSpPr>
            <a:spLocks xmlns:a="http://schemas.openxmlformats.org/drawingml/2006/main" noGrp="1"/>
          </p:cNvSpPr>
          <p:nvPr/>
        </p:nvSpPr>
        <p:spPr>
          <a:xfrm xmlns:a="http://schemas.openxmlformats.org/drawingml/2006/main" flipH="0" flipV="0">
            <a:off x="40576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30A3C42C-26E0-4D4A-90A7-969F7C5E8141}"/>
              </a:ext>
            </a:extLst>
          </p:cNvPr>
          <p:cNvSpPr>
            <a:spLocks xmlns:a="http://schemas.openxmlformats.org/drawingml/2006/main" noGrp="1"/>
          </p:cNvSpPr>
          <p:nvPr/>
        </p:nvSpPr>
        <p:spPr>
          <a:xfrm xmlns:a="http://schemas.openxmlformats.org/drawingml/2006/main">
            <a:off x="40576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D40E8EEF-2054-42DF-99A7-AFCE14FCE808}"/>
              </a:ext>
            </a:extLst>
          </p:cNvPr>
          <p:cNvSpPr>
            <a:spLocks xmlns:a="http://schemas.openxmlformats.org/drawingml/2006/main" noGrp="1"/>
          </p:cNvSpPr>
          <p:nvPr/>
        </p:nvSpPr>
        <p:spPr>
          <a:xfrm xmlns:a="http://schemas.openxmlformats.org/drawingml/2006/main">
            <a:off x="4057650" y="3609975"/>
            <a:ext cx="3219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Revenue (RMB m): 100 / 110</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Sales volume (m units):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1.0 / 1.1</a:t>
            </a:r>
          </a:p>
        </p:txBody>
      </p:sp>
      <p:sp>
        <p:nvSpPr>
          <p:cNvPr id="29" name="!!research.evidence.2.rule">
            <a:extLst xmlns:a="http://schemas.openxmlformats.org/drawingml/2006/main">
              <a:ext uri="{FF2B5EF4-FFF2-40B4-BE49-F238E27FC236}">
                <a16:creationId xmlns:a16="http://schemas.microsoft.com/office/drawing/2014/main" id="{C08E61C4-E9CF-44A6-B2A9-5EC3D3AAD020}"/>
              </a:ext>
            </a:extLst>
          </p:cNvPr>
          <p:cNvSpPr>
            <a:spLocks xmlns:a="http://schemas.openxmlformats.org/drawingml/2006/main" noGrp="1"/>
          </p:cNvSpPr>
          <p:nvPr/>
        </p:nvSpPr>
        <p:spPr>
          <a:xfrm xmlns:a="http://schemas.openxmlformats.org/drawingml/2006/main" flipH="0" flipV="0">
            <a:off x="77152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DF1630BD-4B3E-4CB2-881E-C95D397CC972}"/>
              </a:ext>
            </a:extLst>
          </p:cNvPr>
          <p:cNvSpPr>
            <a:spLocks xmlns:a="http://schemas.openxmlformats.org/drawingml/2006/main" noGrp="1"/>
          </p:cNvSpPr>
          <p:nvPr/>
        </p:nvSpPr>
        <p:spPr>
          <a:xfrm xmlns:a="http://schemas.openxmlformats.org/drawingml/2006/main">
            <a:off x="77152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65CB4191-5205-4FDF-B699-6A048FD9EDC2}"/>
              </a:ext>
            </a:extLst>
          </p:cNvPr>
          <p:cNvSpPr>
            <a:spLocks xmlns:a="http://schemas.openxmlformats.org/drawingml/2006/main" noGrp="1"/>
          </p:cNvSpPr>
          <p:nvPr/>
        </p:nvSpPr>
        <p:spPr>
          <a:xfrm xmlns:a="http://schemas.openxmlformats.org/drawingml/2006/main">
            <a:off x="7715250" y="3609975"/>
            <a:ext cx="321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Restocking lifted shipments. Assess whether it will continue.</a:t>
            </a:r>
          </a:p>
        </p:txBody>
      </p:sp>
      <p:sp>
        <p:nvSpPr>
          <p:cNvPr id="32" name="!!research.evidence.3.rule">
            <a:extLst xmlns:a="http://schemas.openxmlformats.org/drawingml/2006/main">
              <a:ext uri="{FF2B5EF4-FFF2-40B4-BE49-F238E27FC236}">
                <a16:creationId xmlns:a16="http://schemas.microsoft.com/office/drawing/2014/main" id="{4180F410-88E9-410E-BC5A-0BC57D0A92DD}"/>
              </a:ext>
            </a:extLst>
          </p:cNvPr>
          <p:cNvSpPr>
            <a:spLocks xmlns:a="http://schemas.openxmlformats.org/drawingml/2006/main" noGrp="1"/>
          </p:cNvSpPr>
          <p:nvPr/>
        </p:nvSpPr>
        <p:spPr>
          <a:xfrm xmlns:a="http://schemas.openxmlformats.org/drawingml/2006/main" flipH="0" flipV="0">
            <a:off x="11372850" y="31718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64B9B572-47A9-4960-B685-3B80C5ACB39A}"/>
              </a:ext>
            </a:extLst>
          </p:cNvPr>
          <p:cNvSpPr>
            <a:spLocks xmlns:a="http://schemas.openxmlformats.org/drawingml/2006/main" noGrp="1"/>
          </p:cNvSpPr>
          <p:nvPr/>
        </p:nvSpPr>
        <p:spPr>
          <a:xfrm xmlns:a="http://schemas.openxmlformats.org/drawingml/2006/main">
            <a:off x="11372850" y="32670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[3] Two research reports</a:t>
            </a:r>
          </a:p>
        </p:txBody>
      </p:sp>
      <p:sp>
        <p:nvSpPr>
          <p:cNvPr id="34" name="!!research.evidence.3.text">
            <a:extLst xmlns:a="http://schemas.openxmlformats.org/drawingml/2006/main">
              <a:ext uri="{FF2B5EF4-FFF2-40B4-BE49-F238E27FC236}">
                <a16:creationId xmlns:a16="http://schemas.microsoft.com/office/drawing/2014/main" id="{38233021-5586-4C1C-89A2-28FE93FAA708}"/>
              </a:ext>
            </a:extLst>
          </p:cNvPr>
          <p:cNvSpPr>
            <a:spLocks xmlns:a="http://schemas.openxmlformats.org/drawingml/2006/main" noGrp="1"/>
          </p:cNvSpPr>
          <p:nvPr/>
        </p:nvSpPr>
        <p:spPr>
          <a:xfrm xmlns:a="http://schemas.openxmlformats.org/drawingml/2006/main">
            <a:off x="11372850" y="3609975"/>
            <a:ext cx="321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Report A: demand recovery can sustain growth.</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Report B: continued restocking is uncertain.</a:t>
            </a:r>
          </a:p>
        </p:txBody>
      </p:sp>
      <p:sp>
        <p:nvSpPr>
          <p:cNvPr id="35" name="!!research.manual.title">
            <a:extLst xmlns:a="http://schemas.openxmlformats.org/drawingml/2006/main">
              <a:ext uri="{FF2B5EF4-FFF2-40B4-BE49-F238E27FC236}">
                <a16:creationId xmlns:a16="http://schemas.microsoft.com/office/drawing/2014/main" id="{13A08213-9E44-4757-AA80-0DC6F585A344}"/>
              </a:ext>
            </a:extLst>
          </p:cNvPr>
          <p:cNvSpPr>
            <a:spLocks xmlns:a="http://schemas.openxmlformats.org/drawingml/2006/main" noGrp="1"/>
          </p:cNvSpPr>
          <p:nvPr/>
        </p:nvSpPr>
        <p:spPr>
          <a:xfrm xmlns:a="http://schemas.openxmlformats.org/drawingml/2006/main">
            <a:off x="4057650" y="512445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The analyst’s preparation work</a:t>
            </a:r>
          </a:p>
        </p:txBody>
      </p:sp>
      <p:sp>
        <p:nvSpPr>
          <p:cNvPr id="36" name="!!research.manual.0">
            <a:extLst xmlns:a="http://schemas.openxmlformats.org/drawingml/2006/main">
              <a:ext uri="{FF2B5EF4-FFF2-40B4-BE49-F238E27FC236}">
                <a16:creationId xmlns:a16="http://schemas.microsoft.com/office/drawing/2014/main" id="{14CE31C2-332B-46F7-98A0-C37B4BA7F80A}"/>
              </a:ext>
            </a:extLst>
          </p:cNvPr>
          <p:cNvSpPr>
            <a:spLocks xmlns:a="http://schemas.openxmlformats.org/drawingml/2006/main" noGrp="1"/>
          </p:cNvSpPr>
          <p:nvPr/>
        </p:nvSpPr>
        <p:spPr>
          <a:xfrm xmlns:a="http://schemas.openxmlformats.org/drawingml/2006/main">
            <a:off x="4057650"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Find relevant sources</a:t>
            </a:r>
          </a:p>
        </p:txBody>
      </p:sp>
      <p:sp>
        <p:nvSpPr>
          <p:cNvPr id="37" name="!!research.manual.link0.line">
            <a:extLst xmlns:a="http://schemas.openxmlformats.org/drawingml/2006/main">
              <a:ext uri="{FF2B5EF4-FFF2-40B4-BE49-F238E27FC236}">
                <a16:creationId xmlns:a16="http://schemas.microsoft.com/office/drawing/2014/main" id="{55E12887-5B9D-455B-840C-E71E16255A1B}"/>
              </a:ext>
            </a:extLst>
          </p:cNvPr>
          <p:cNvSpPr>
            <a:spLocks xmlns:a="http://schemas.openxmlformats.org/drawingml/2006/main" noGrp="1"/>
          </p:cNvSpPr>
          <p:nvPr/>
        </p:nvSpPr>
        <p:spPr>
          <a:xfrm xmlns:a="http://schemas.openxmlformats.org/drawingml/2006/main" flipH="0" flipV="0">
            <a:off x="6479381"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research.manual.link0.tip">
            <a:extLst xmlns:a="http://schemas.openxmlformats.org/drawingml/2006/main">
              <a:ext uri="{FF2B5EF4-FFF2-40B4-BE49-F238E27FC236}">
                <a16:creationId xmlns:a16="http://schemas.microsoft.com/office/drawing/2014/main" id="{7BA85E6C-A0AD-4BAD-B447-921C299C9CFA}"/>
              </a:ext>
            </a:extLst>
          </p:cNvPr>
          <p:cNvSpPr>
            <a:spLocks xmlns:a="http://schemas.openxmlformats.org/drawingml/2006/main" noGrp="1"/>
          </p:cNvSpPr>
          <p:nvPr/>
        </p:nvSpPr>
        <p:spPr>
          <a:xfrm xmlns:a="http://schemas.openxmlformats.org/drawingml/2006/main" rot="5400000">
            <a:off x="6631781"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research.manual.1">
            <a:extLst xmlns:a="http://schemas.openxmlformats.org/drawingml/2006/main">
              <a:ext uri="{FF2B5EF4-FFF2-40B4-BE49-F238E27FC236}">
                <a16:creationId xmlns:a16="http://schemas.microsoft.com/office/drawing/2014/main" id="{E1355E8F-6FBC-413A-B0E6-75E15CFDCAC0}"/>
              </a:ext>
            </a:extLst>
          </p:cNvPr>
          <p:cNvSpPr>
            <a:spLocks xmlns:a="http://schemas.openxmlformats.org/drawingml/2006/main" noGrp="1"/>
          </p:cNvSpPr>
          <p:nvPr/>
        </p:nvSpPr>
        <p:spPr>
          <a:xfrm xmlns:a="http://schemas.openxmlformats.org/drawingml/2006/main">
            <a:off x="6774656"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Extract data and</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calculate changes</a:t>
            </a:r>
          </a:p>
        </p:txBody>
      </p:sp>
      <p:sp>
        <p:nvSpPr>
          <p:cNvPr id="40" name="!!research.manual.link1.line">
            <a:extLst xmlns:a="http://schemas.openxmlformats.org/drawingml/2006/main">
              <a:ext uri="{FF2B5EF4-FFF2-40B4-BE49-F238E27FC236}">
                <a16:creationId xmlns:a16="http://schemas.microsoft.com/office/drawing/2014/main" id="{9D616D6A-9449-4FF0-9B14-ACCE31384D5A}"/>
              </a:ext>
            </a:extLst>
          </p:cNvPr>
          <p:cNvSpPr>
            <a:spLocks xmlns:a="http://schemas.openxmlformats.org/drawingml/2006/main" noGrp="1"/>
          </p:cNvSpPr>
          <p:nvPr/>
        </p:nvSpPr>
        <p:spPr>
          <a:xfrm xmlns:a="http://schemas.openxmlformats.org/drawingml/2006/main" flipH="0" flipV="0">
            <a:off x="9196388"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research.manual.link1.tip">
            <a:extLst xmlns:a="http://schemas.openxmlformats.org/drawingml/2006/main">
              <a:ext uri="{FF2B5EF4-FFF2-40B4-BE49-F238E27FC236}">
                <a16:creationId xmlns:a16="http://schemas.microsoft.com/office/drawing/2014/main" id="{14E690A3-8D66-4D04-A505-EE7DBF0939B9}"/>
              </a:ext>
            </a:extLst>
          </p:cNvPr>
          <p:cNvSpPr>
            <a:spLocks xmlns:a="http://schemas.openxmlformats.org/drawingml/2006/main" noGrp="1"/>
          </p:cNvSpPr>
          <p:nvPr/>
        </p:nvSpPr>
        <p:spPr>
          <a:xfrm xmlns:a="http://schemas.openxmlformats.org/drawingml/2006/main" rot="5400000">
            <a:off x="9348788"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research.manual.2">
            <a:extLst xmlns:a="http://schemas.openxmlformats.org/drawingml/2006/main">
              <a:ext uri="{FF2B5EF4-FFF2-40B4-BE49-F238E27FC236}">
                <a16:creationId xmlns:a16="http://schemas.microsoft.com/office/drawing/2014/main" id="{0B84B208-D3AC-4A75-B8E3-F4B140839EAE}"/>
              </a:ext>
            </a:extLst>
          </p:cNvPr>
          <p:cNvSpPr>
            <a:spLocks xmlns:a="http://schemas.openxmlformats.org/drawingml/2006/main" noGrp="1"/>
          </p:cNvSpPr>
          <p:nvPr/>
        </p:nvSpPr>
        <p:spPr>
          <a:xfrm xmlns:a="http://schemas.openxmlformats.org/drawingml/2006/main">
            <a:off x="9491663"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Compare</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research views</a:t>
            </a:r>
          </a:p>
        </p:txBody>
      </p:sp>
      <p:sp>
        <p:nvSpPr>
          <p:cNvPr id="43" name="!!research.manual.link2.line">
            <a:extLst xmlns:a="http://schemas.openxmlformats.org/drawingml/2006/main">
              <a:ext uri="{FF2B5EF4-FFF2-40B4-BE49-F238E27FC236}">
                <a16:creationId xmlns:a16="http://schemas.microsoft.com/office/drawing/2014/main" id="{BBA0E023-1022-4680-91A4-AF341681F6FA}"/>
              </a:ext>
            </a:extLst>
          </p:cNvPr>
          <p:cNvSpPr>
            <a:spLocks xmlns:a="http://schemas.openxmlformats.org/drawingml/2006/main" noGrp="1"/>
          </p:cNvSpPr>
          <p:nvPr/>
        </p:nvSpPr>
        <p:spPr>
          <a:xfrm xmlns:a="http://schemas.openxmlformats.org/drawingml/2006/main" flipH="0" flipV="0">
            <a:off x="11913394" y="60436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4" name="!!research.manual.link2.tip">
            <a:extLst xmlns:a="http://schemas.openxmlformats.org/drawingml/2006/main">
              <a:ext uri="{FF2B5EF4-FFF2-40B4-BE49-F238E27FC236}">
                <a16:creationId xmlns:a16="http://schemas.microsoft.com/office/drawing/2014/main" id="{EE1720FB-1101-4C4F-81C6-2C2C25BF5424}"/>
              </a:ext>
            </a:extLst>
          </p:cNvPr>
          <p:cNvSpPr>
            <a:spLocks xmlns:a="http://schemas.openxmlformats.org/drawingml/2006/main" noGrp="1"/>
          </p:cNvSpPr>
          <p:nvPr/>
        </p:nvSpPr>
        <p:spPr>
          <a:xfrm xmlns:a="http://schemas.openxmlformats.org/drawingml/2006/main" rot="5400000">
            <a:off x="12065794" y="59864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research.manual.3">
            <a:extLst xmlns:a="http://schemas.openxmlformats.org/drawingml/2006/main">
              <a:ext uri="{FF2B5EF4-FFF2-40B4-BE49-F238E27FC236}">
                <a16:creationId xmlns:a16="http://schemas.microsoft.com/office/drawing/2014/main" id="{5F68397E-9237-4FC8-8F81-A4D32E0BBBBE}"/>
              </a:ext>
            </a:extLst>
          </p:cNvPr>
          <p:cNvSpPr>
            <a:spLocks xmlns:a="http://schemas.openxmlformats.org/drawingml/2006/main" noGrp="1"/>
          </p:cNvSpPr>
          <p:nvPr/>
        </p:nvSpPr>
        <p:spPr>
          <a:xfrm xmlns:a="http://schemas.openxmlformats.org/drawingml/2006/main">
            <a:off x="12208669" y="5648325"/>
            <a:ext cx="2383631" cy="7905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Document the</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reasoning</a:t>
            </a:r>
          </a:p>
        </p:txBody>
      </p:sp>
      <p:sp>
        <p:nvSpPr>
          <p:cNvPr id="46" name="!!research.repetition">
            <a:extLst xmlns:a="http://schemas.openxmlformats.org/drawingml/2006/main">
              <a:ext uri="{FF2B5EF4-FFF2-40B4-BE49-F238E27FC236}">
                <a16:creationId xmlns:a16="http://schemas.microsoft.com/office/drawing/2014/main" id="{4E0A705F-0D32-4ADA-BC36-6C11C5A3C4FA}"/>
              </a:ext>
            </a:extLst>
          </p:cNvPr>
          <p:cNvSpPr>
            <a:spLocks xmlns:a="http://schemas.openxmlformats.org/drawingml/2006/main" noGrp="1"/>
          </p:cNvSpPr>
          <p:nvPr/>
        </p:nvSpPr>
        <p:spPr>
          <a:xfrm xmlns:a="http://schemas.openxmlformats.org/drawingml/2006/main">
            <a:off x="4057650" y="70199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Repeated searching, extraction and checking take time away from analysis</a:t>
            </a:r>
          </a:p>
        </p:txBody>
      </p:sp>
      <p:sp>
        <p:nvSpPr>
          <p:cNvPr id="48" name="!!story.header.issuer.bar">
            <a:extLst xmlns:a="http://schemas.openxmlformats.org/drawingml/2006/main">
              <a:ext uri="{FF2B5EF4-FFF2-40B4-BE49-F238E27FC236}">
                <a16:creationId xmlns:a16="http://schemas.microsoft.com/office/drawing/2014/main" id="{CC0345A4-51BD-4294-9258-078B8E72580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header.issuer.name">
            <a:extLst xmlns:a="http://schemas.openxmlformats.org/drawingml/2006/main">
              <a:ext uri="{FF2B5EF4-FFF2-40B4-BE49-F238E27FC236}">
                <a16:creationId xmlns:a16="http://schemas.microsoft.com/office/drawing/2014/main" id="{626B0EBA-3D38-4C4F-8BC3-44F2A5803B78}"/>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0" name="!!story.issuer.source.1">
            <a:extLst xmlns:a="http://schemas.openxmlformats.org/drawingml/2006/main">
              <a:ext uri="{FF2B5EF4-FFF2-40B4-BE49-F238E27FC236}">
                <a16:creationId xmlns:a16="http://schemas.microsoft.com/office/drawing/2014/main" id="{B4CE014A-92AD-4CC9-8606-0DFEDE25972C}"/>
              </a:ext>
            </a:extLst>
          </p:cNvPr>
          <p:cNvSpPr>
            <a:spLocks xmlns:a="http://schemas.openxmlformats.org/drawingml/2006/main" noGrp="1"/>
          </p:cNvSpPr>
          <p:nvPr/>
        </p:nvSpPr>
        <p:spPr>
          <a:xfrm xmlns:a="http://schemas.openxmlformats.org/drawingml/2006/main">
            <a:off x="3943350" y="3171825"/>
            <a:ext cx="57150" cy="15240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issuer.source.2">
            <a:extLst xmlns:a="http://schemas.openxmlformats.org/drawingml/2006/main">
              <a:ext uri="{FF2B5EF4-FFF2-40B4-BE49-F238E27FC236}">
                <a16:creationId xmlns:a16="http://schemas.microsoft.com/office/drawing/2014/main" id="{AC2EB5EF-15DD-4733-ACB9-B318C42A1845}"/>
              </a:ext>
            </a:extLst>
          </p:cNvPr>
          <p:cNvSpPr>
            <a:spLocks xmlns:a="http://schemas.openxmlformats.org/drawingml/2006/main" noGrp="1"/>
          </p:cNvSpPr>
          <p:nvPr/>
        </p:nvSpPr>
        <p:spPr>
          <a:xfrm xmlns:a="http://schemas.openxmlformats.org/drawingml/2006/main">
            <a:off x="7600950" y="3171825"/>
            <a:ext cx="57150" cy="15240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2" name="!!story.issuer.source.3">
            <a:extLst xmlns:a="http://schemas.openxmlformats.org/drawingml/2006/main">
              <a:ext uri="{FF2B5EF4-FFF2-40B4-BE49-F238E27FC236}">
                <a16:creationId xmlns:a16="http://schemas.microsoft.com/office/drawing/2014/main" id="{9858E049-FF18-426F-B0F9-32E8E7F77655}"/>
              </a:ext>
            </a:extLst>
          </p:cNvPr>
          <p:cNvSpPr>
            <a:spLocks xmlns:a="http://schemas.openxmlformats.org/drawingml/2006/main" noGrp="1"/>
          </p:cNvSpPr>
          <p:nvPr/>
        </p:nvSpPr>
        <p:spPr>
          <a:xfrm xmlns:a="http://schemas.openxmlformats.org/drawingml/2006/main">
            <a:off x="11258550" y="3171825"/>
            <a:ext cx="57150" cy="15240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3680565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0"/>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51"/>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50" grpId="0" animBg="1"/>
      <p:bldP spid="51" grpId="0" animBg="1"/>
      <p:bldP spid="52" grpId="0" animBg="1"/>
    </p:bldLst>
  </p:timing>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heading">
            <a:extLst xmlns:a="http://schemas.openxmlformats.org/drawingml/2006/main">
              <a:ext uri="{FF2B5EF4-FFF2-40B4-BE49-F238E27FC236}">
                <a16:creationId xmlns:a16="http://schemas.microsoft.com/office/drawing/2014/main" id="{E264A04B-B25D-4AE8-9D82-DBD1C46BCF3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Tianhong: analyzing earnings drivers</a:t>
            </a:r>
          </a:p>
        </p:txBody>
      </p:sp>
      <p:sp>
        <p:nvSpPr>
          <p:cNvPr id="2" name="!!subtitle">
            <a:extLst xmlns:a="http://schemas.openxmlformats.org/drawingml/2006/main">
              <a:ext uri="{FF2B5EF4-FFF2-40B4-BE49-F238E27FC236}">
                <a16:creationId xmlns:a16="http://schemas.microsoft.com/office/drawing/2014/main" id="{1B76A2A4-646C-4A48-BA25-7832C14C506E}"/>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E2C02013-E182-479A-B70B-A1553DD7C9F7}"/>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A3F150B-BF27-424E-9317-1A070B1D7AA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5285B35-122E-4927-AD45-4894EE11539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FA331CF-A63D-40E0-BA53-EF6FCB73570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A76404AD-1FDF-4D5F-A70C-A2456E1EA52E}"/>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2A50AE7A-3FB2-451B-A5C7-99C82D280664}"/>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E9BE169-6D34-43E2-9926-8AA26C41063D}"/>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CB51847-3D90-494C-9210-CD79EA29B038}"/>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323761D-720E-4B7C-B072-2E39ABFFE38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77AAAE0-6B0E-4422-860E-15A984F526D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58EAF98-4188-4EA5-B60F-2E70B588847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A383C1E-EECB-41CA-A018-67D2A536953C}"/>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C63D8C3-CBC8-4296-AF03-8F5BCFBAAC2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E52252B-C8E0-4A06-88A6-3E30BE84222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5A4A5EB-2869-47A7-9E67-86B2DDBA750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F4AC01F-DBD2-4C79-A1A8-B91CE6FAA25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529FF268-670C-49C7-9945-5649CC4317A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5 / 33</a:t>
            </a:r>
          </a:p>
        </p:txBody>
      </p:sp>
      <p:sp>
        <p:nvSpPr>
          <p:cNvPr id="20" name="!!nav.prev">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E914A76-5BA4-4C05-AB4E-E27EF5311CBD}"/>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6B490F97-9404-4127-981C-8A837150A42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4BD7801D-BD81-4358-9810-BA53A60A0BB7}"/>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2910695E-DAC8-46C0-AD3B-10F420CF8BD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 AMAC</a:t>
            </a:r>
          </a:p>
        </p:txBody>
      </p:sp>
      <p:sp>
        <p:nvSpPr>
          <p:cNvPr id="24" name="!!driver.llm.title">
            <a:extLst xmlns:a="http://schemas.openxmlformats.org/drawingml/2006/main">
              <a:ext uri="{FF2B5EF4-FFF2-40B4-BE49-F238E27FC236}">
                <a16:creationId xmlns:a16="http://schemas.microsoft.com/office/drawing/2014/main" id="{C4A25237-19CB-4207-B18F-5962DF653A77}"/>
              </a:ext>
            </a:extLst>
          </p:cNvPr>
          <p:cNvSpPr>
            <a:spLocks xmlns:a="http://schemas.openxmlformats.org/drawingml/2006/main" noGrp="1"/>
          </p:cNvSpPr>
          <p:nvPr/>
        </p:nvSpPr>
        <p:spPr>
          <a:xfrm xmlns:a="http://schemas.openxmlformats.org/drawingml/2006/main">
            <a:off x="4057650" y="2047875"/>
            <a:ext cx="10534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The LLM structures the earnings analysis. Tools retrieve data and perform calculations</a:t>
            </a:r>
          </a:p>
        </p:txBody>
      </p:sp>
      <p:sp>
        <p:nvSpPr>
          <p:cNvPr id="25" name="!!driver.root">
            <a:extLst xmlns:a="http://schemas.openxmlformats.org/drawingml/2006/main">
              <a:ext uri="{FF2B5EF4-FFF2-40B4-BE49-F238E27FC236}">
                <a16:creationId xmlns:a16="http://schemas.microsoft.com/office/drawing/2014/main" id="{D0B5C05C-F6C6-4F39-9815-7C9414D30B6B}"/>
              </a:ext>
            </a:extLst>
          </p:cNvPr>
          <p:cNvSpPr>
            <a:spLocks xmlns:a="http://schemas.openxmlformats.org/drawingml/2006/main" noGrp="1"/>
          </p:cNvSpPr>
          <p:nvPr/>
        </p:nvSpPr>
        <p:spPr>
          <a:xfrm xmlns:a="http://schemas.openxmlformats.org/drawingml/2006/main">
            <a:off x="4057650" y="4010025"/>
            <a:ext cx="1714500" cy="10477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Change in</a:t>
            </a:r>
          </a:p>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profit</a:t>
            </a:r>
          </a:p>
        </p:txBody>
      </p:sp>
      <p:sp>
        <p:nvSpPr>
          <p:cNvPr id="26" name="!!driver.revenue.node">
            <a:extLst xmlns:a="http://schemas.openxmlformats.org/drawingml/2006/main">
              <a:ext uri="{FF2B5EF4-FFF2-40B4-BE49-F238E27FC236}">
                <a16:creationId xmlns:a16="http://schemas.microsoft.com/office/drawing/2014/main" id="{5B11AE1D-51F4-4F4B-A9AD-F870804538EE}"/>
              </a:ext>
            </a:extLst>
          </p:cNvPr>
          <p:cNvSpPr>
            <a:spLocks xmlns:a="http://schemas.openxmlformats.org/drawingml/2006/main" noGrp="1"/>
          </p:cNvSpPr>
          <p:nvPr/>
        </p:nvSpPr>
        <p:spPr>
          <a:xfrm xmlns:a="http://schemas.openxmlformats.org/drawingml/2006/main">
            <a:off x="6886575" y="3000375"/>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Revenue</a:t>
            </a:r>
          </a:p>
        </p:txBody>
      </p:sp>
      <p:sp>
        <p:nvSpPr>
          <p:cNvPr id="27" name="!!driver.revenue.factor">
            <a:extLst xmlns:a="http://schemas.openxmlformats.org/drawingml/2006/main">
              <a:ext uri="{FF2B5EF4-FFF2-40B4-BE49-F238E27FC236}">
                <a16:creationId xmlns:a16="http://schemas.microsoft.com/office/drawing/2014/main" id="{CD4165C2-6976-4345-8FC8-1333B113AF0E}"/>
              </a:ext>
            </a:extLst>
          </p:cNvPr>
          <p:cNvSpPr>
            <a:spLocks xmlns:a="http://schemas.openxmlformats.org/drawingml/2006/main" noGrp="1"/>
          </p:cNvSpPr>
          <p:nvPr/>
        </p:nvSpPr>
        <p:spPr>
          <a:xfrm xmlns:a="http://schemas.openxmlformats.org/drawingml/2006/main">
            <a:off x="9667875" y="3000375"/>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Sales volume and selling price</a:t>
            </a:r>
          </a:p>
        </p:txBody>
      </p:sp>
      <p:sp>
        <p:nvSpPr>
          <p:cNvPr id="28" name="!!driver.revenue.branch.1">
            <a:extLst xmlns:a="http://schemas.openxmlformats.org/drawingml/2006/main">
              <a:ext uri="{FF2B5EF4-FFF2-40B4-BE49-F238E27FC236}">
                <a16:creationId xmlns:a16="http://schemas.microsoft.com/office/drawing/2014/main" id="{E780A894-71A5-41F6-83FD-C5727C91D891}"/>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29" name="!!driver.revenue.branch.2">
            <a:extLst xmlns:a="http://schemas.openxmlformats.org/drawingml/2006/main">
              <a:ext uri="{FF2B5EF4-FFF2-40B4-BE49-F238E27FC236}">
                <a16:creationId xmlns:a16="http://schemas.microsoft.com/office/drawing/2014/main" id="{34FC5EA5-67F3-48E1-9443-569A224D9B3D}"/>
              </a:ext>
            </a:extLst>
          </p:cNvPr>
          <p:cNvSpPr>
            <a:spLocks xmlns:a="http://schemas.openxmlformats.org/drawingml/2006/main" noGrp="1"/>
          </p:cNvSpPr>
          <p:nvPr/>
        </p:nvSpPr>
        <p:spPr>
          <a:xfrm xmlns:a="http://schemas.openxmlformats.org/drawingml/2006/main" flipH="0" flipV="1">
            <a:off x="6296025" y="3362325"/>
            <a:ext cx="953" cy="117157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0" name="!!driver.revenue.branch.3.line">
            <a:extLst xmlns:a="http://schemas.openxmlformats.org/drawingml/2006/main">
              <a:ext uri="{FF2B5EF4-FFF2-40B4-BE49-F238E27FC236}">
                <a16:creationId xmlns:a16="http://schemas.microsoft.com/office/drawing/2014/main" id="{76E010BF-EA0F-4E71-A794-31FA7AA587CD}"/>
              </a:ext>
            </a:extLst>
          </p:cNvPr>
          <p:cNvSpPr>
            <a:spLocks xmlns:a="http://schemas.openxmlformats.org/drawingml/2006/main" noGrp="1"/>
          </p:cNvSpPr>
          <p:nvPr/>
        </p:nvSpPr>
        <p:spPr>
          <a:xfrm xmlns:a="http://schemas.openxmlformats.org/drawingml/2006/main" flipH="0" flipV="0">
            <a:off x="6296025" y="3362325"/>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driver.revenue.branch.3.tip">
            <a:extLst xmlns:a="http://schemas.openxmlformats.org/drawingml/2006/main">
              <a:ext uri="{FF2B5EF4-FFF2-40B4-BE49-F238E27FC236}">
                <a16:creationId xmlns:a16="http://schemas.microsoft.com/office/drawing/2014/main" id="{5B7E9D4B-2E3C-43A0-9E77-C24EEA2E016C}"/>
              </a:ext>
            </a:extLst>
          </p:cNvPr>
          <p:cNvSpPr>
            <a:spLocks xmlns:a="http://schemas.openxmlformats.org/drawingml/2006/main" noGrp="1"/>
          </p:cNvSpPr>
          <p:nvPr/>
        </p:nvSpPr>
        <p:spPr>
          <a:xfrm xmlns:a="http://schemas.openxmlformats.org/drawingml/2006/main" rot="5400000">
            <a:off x="6829425" y="33051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driver.revenue.link.line">
            <a:extLst xmlns:a="http://schemas.openxmlformats.org/drawingml/2006/main">
              <a:ext uri="{FF2B5EF4-FFF2-40B4-BE49-F238E27FC236}">
                <a16:creationId xmlns:a16="http://schemas.microsoft.com/office/drawing/2014/main" id="{20622FF7-BFB1-437A-B968-6DC539EC0981}"/>
              </a:ext>
            </a:extLst>
          </p:cNvPr>
          <p:cNvSpPr>
            <a:spLocks xmlns:a="http://schemas.openxmlformats.org/drawingml/2006/main" noGrp="1"/>
          </p:cNvSpPr>
          <p:nvPr/>
        </p:nvSpPr>
        <p:spPr>
          <a:xfrm xmlns:a="http://schemas.openxmlformats.org/drawingml/2006/main" flipH="0" flipV="0">
            <a:off x="8648700" y="3362325"/>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driver.revenue.link.tip">
            <a:extLst xmlns:a="http://schemas.openxmlformats.org/drawingml/2006/main">
              <a:ext uri="{FF2B5EF4-FFF2-40B4-BE49-F238E27FC236}">
                <a16:creationId xmlns:a16="http://schemas.microsoft.com/office/drawing/2014/main" id="{CD589256-9278-4E22-977A-180CE59C82FC}"/>
              </a:ext>
            </a:extLst>
          </p:cNvPr>
          <p:cNvSpPr>
            <a:spLocks xmlns:a="http://schemas.openxmlformats.org/drawingml/2006/main" noGrp="1"/>
          </p:cNvSpPr>
          <p:nvPr/>
        </p:nvSpPr>
        <p:spPr>
          <a:xfrm xmlns:a="http://schemas.openxmlformats.org/drawingml/2006/main" rot="5400000">
            <a:off x="9515475" y="33051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driver.cost.node">
            <a:extLst xmlns:a="http://schemas.openxmlformats.org/drawingml/2006/main">
              <a:ext uri="{FF2B5EF4-FFF2-40B4-BE49-F238E27FC236}">
                <a16:creationId xmlns:a16="http://schemas.microsoft.com/office/drawing/2014/main" id="{4EF3F462-5923-4C15-925B-55A1746C5150}"/>
              </a:ext>
            </a:extLst>
          </p:cNvPr>
          <p:cNvSpPr>
            <a:spLocks xmlns:a="http://schemas.openxmlformats.org/drawingml/2006/main" noGrp="1"/>
          </p:cNvSpPr>
          <p:nvPr/>
        </p:nvSpPr>
        <p:spPr>
          <a:xfrm xmlns:a="http://schemas.openxmlformats.org/drawingml/2006/main">
            <a:off x="6886575" y="4381500"/>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Cost of sales</a:t>
            </a:r>
          </a:p>
        </p:txBody>
      </p:sp>
      <p:sp>
        <p:nvSpPr>
          <p:cNvPr id="35" name="!!driver.cost.factor">
            <a:extLst xmlns:a="http://schemas.openxmlformats.org/drawingml/2006/main">
              <a:ext uri="{FF2B5EF4-FFF2-40B4-BE49-F238E27FC236}">
                <a16:creationId xmlns:a16="http://schemas.microsoft.com/office/drawing/2014/main" id="{72AB2735-E343-464D-9F66-C5365A69A879}"/>
              </a:ext>
            </a:extLst>
          </p:cNvPr>
          <p:cNvSpPr>
            <a:spLocks xmlns:a="http://schemas.openxmlformats.org/drawingml/2006/main" noGrp="1"/>
          </p:cNvSpPr>
          <p:nvPr/>
        </p:nvSpPr>
        <p:spPr>
          <a:xfrm xmlns:a="http://schemas.openxmlformats.org/drawingml/2006/main">
            <a:off x="9667875" y="4381500"/>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Materials and production costs</a:t>
            </a:r>
          </a:p>
        </p:txBody>
      </p:sp>
      <p:sp>
        <p:nvSpPr>
          <p:cNvPr id="36" name="!!driver.cost.branch.1">
            <a:extLst xmlns:a="http://schemas.openxmlformats.org/drawingml/2006/main">
              <a:ext uri="{FF2B5EF4-FFF2-40B4-BE49-F238E27FC236}">
                <a16:creationId xmlns:a16="http://schemas.microsoft.com/office/drawing/2014/main" id="{D0473DA2-6D76-478A-9320-69E3F51AD2F1}"/>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7" name="!!driver.cost.branch.2">
            <a:extLst xmlns:a="http://schemas.openxmlformats.org/drawingml/2006/main">
              <a:ext uri="{FF2B5EF4-FFF2-40B4-BE49-F238E27FC236}">
                <a16:creationId xmlns:a16="http://schemas.microsoft.com/office/drawing/2014/main" id="{2FC50DAD-03B1-44CC-9991-DBBC01CF11BC}"/>
              </a:ext>
            </a:extLst>
          </p:cNvPr>
          <p:cNvSpPr>
            <a:spLocks xmlns:a="http://schemas.openxmlformats.org/drawingml/2006/main" noGrp="1"/>
          </p:cNvSpPr>
          <p:nvPr/>
        </p:nvSpPr>
        <p:spPr>
          <a:xfrm xmlns:a="http://schemas.openxmlformats.org/drawingml/2006/main" flipH="0" flipV="0">
            <a:off x="6296025" y="4533900"/>
            <a:ext cx="953" cy="2095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8" name="!!driver.cost.branch.3.line">
            <a:extLst xmlns:a="http://schemas.openxmlformats.org/drawingml/2006/main">
              <a:ext uri="{FF2B5EF4-FFF2-40B4-BE49-F238E27FC236}">
                <a16:creationId xmlns:a16="http://schemas.microsoft.com/office/drawing/2014/main" id="{B7D27C98-6536-4E34-8BB7-0306C16D2200}"/>
              </a:ext>
            </a:extLst>
          </p:cNvPr>
          <p:cNvSpPr>
            <a:spLocks xmlns:a="http://schemas.openxmlformats.org/drawingml/2006/main" noGrp="1"/>
          </p:cNvSpPr>
          <p:nvPr/>
        </p:nvSpPr>
        <p:spPr>
          <a:xfrm xmlns:a="http://schemas.openxmlformats.org/drawingml/2006/main" flipH="0" flipV="0">
            <a:off x="6296025" y="4743450"/>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driver.cost.branch.3.tip">
            <a:extLst xmlns:a="http://schemas.openxmlformats.org/drawingml/2006/main">
              <a:ext uri="{FF2B5EF4-FFF2-40B4-BE49-F238E27FC236}">
                <a16:creationId xmlns:a16="http://schemas.microsoft.com/office/drawing/2014/main" id="{A032B5F3-C4DA-405B-B96C-4A6C321C6E29}"/>
              </a:ext>
            </a:extLst>
          </p:cNvPr>
          <p:cNvSpPr>
            <a:spLocks xmlns:a="http://schemas.openxmlformats.org/drawingml/2006/main" noGrp="1"/>
          </p:cNvSpPr>
          <p:nvPr/>
        </p:nvSpPr>
        <p:spPr>
          <a:xfrm xmlns:a="http://schemas.openxmlformats.org/drawingml/2006/main" rot="5400000">
            <a:off x="6829425" y="4686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river.cost.link.line">
            <a:extLst xmlns:a="http://schemas.openxmlformats.org/drawingml/2006/main">
              <a:ext uri="{FF2B5EF4-FFF2-40B4-BE49-F238E27FC236}">
                <a16:creationId xmlns:a16="http://schemas.microsoft.com/office/drawing/2014/main" id="{23D8487D-2E97-47D6-9B6A-59FCBF59A4AF}"/>
              </a:ext>
            </a:extLst>
          </p:cNvPr>
          <p:cNvSpPr>
            <a:spLocks xmlns:a="http://schemas.openxmlformats.org/drawingml/2006/main" noGrp="1"/>
          </p:cNvSpPr>
          <p:nvPr/>
        </p:nvSpPr>
        <p:spPr>
          <a:xfrm xmlns:a="http://schemas.openxmlformats.org/drawingml/2006/main" flipH="0" flipV="0">
            <a:off x="8648700" y="4743450"/>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driver.cost.link.tip">
            <a:extLst xmlns:a="http://schemas.openxmlformats.org/drawingml/2006/main">
              <a:ext uri="{FF2B5EF4-FFF2-40B4-BE49-F238E27FC236}">
                <a16:creationId xmlns:a16="http://schemas.microsoft.com/office/drawing/2014/main" id="{E1702EDA-9D6B-40FC-B501-7D3E78269717}"/>
              </a:ext>
            </a:extLst>
          </p:cNvPr>
          <p:cNvSpPr>
            <a:spLocks xmlns:a="http://schemas.openxmlformats.org/drawingml/2006/main" noGrp="1"/>
          </p:cNvSpPr>
          <p:nvPr/>
        </p:nvSpPr>
        <p:spPr>
          <a:xfrm xmlns:a="http://schemas.openxmlformats.org/drawingml/2006/main" rot="5400000">
            <a:off x="9515475" y="4686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driver.expense.node">
            <a:extLst xmlns:a="http://schemas.openxmlformats.org/drawingml/2006/main">
              <a:ext uri="{FF2B5EF4-FFF2-40B4-BE49-F238E27FC236}">
                <a16:creationId xmlns:a16="http://schemas.microsoft.com/office/drawing/2014/main" id="{D1BA067F-BFB9-4E15-BCE7-8E092FC37843}"/>
              </a:ext>
            </a:extLst>
          </p:cNvPr>
          <p:cNvSpPr>
            <a:spLocks xmlns:a="http://schemas.openxmlformats.org/drawingml/2006/main" noGrp="1"/>
          </p:cNvSpPr>
          <p:nvPr/>
        </p:nvSpPr>
        <p:spPr>
          <a:xfrm xmlns:a="http://schemas.openxmlformats.org/drawingml/2006/main">
            <a:off x="6886575" y="5762625"/>
            <a:ext cx="1695450" cy="73342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005A9C"/>
                </a:solidFill>
                <a:latin typeface="Arial"/>
                <a:ea typeface="Arial"/>
                <a:cs typeface="Arial"/>
              </a:defRPr>
            </a:defPPr>
            <a:lvl1pPr algn="ctr">
              <a:defRPr sz="2175" b="1">
                <a:solidFill>
                  <a:srgbClr val="005A9C"/>
                </a:solidFill>
                <a:latin typeface="Arial"/>
                <a:ea typeface="Arial"/>
                <a:cs typeface="Arial"/>
              </a:defRPr>
            </a:lvl1pPr>
            <a:lvl2pPr algn="ctr">
              <a:defRPr sz="2175" b="1">
                <a:solidFill>
                  <a:srgbClr val="005A9C"/>
                </a:solidFill>
                <a:latin typeface="Arial"/>
                <a:ea typeface="Arial"/>
                <a:cs typeface="Arial"/>
              </a:defRPr>
            </a:lvl2pPr>
            <a:lvl3pPr algn="ctr">
              <a:defRPr sz="2175" b="1">
                <a:solidFill>
                  <a:srgbClr val="005A9C"/>
                </a:solidFill>
                <a:latin typeface="Arial"/>
                <a:ea typeface="Arial"/>
                <a:cs typeface="Arial"/>
              </a:defRPr>
            </a:lvl3pPr>
            <a:lvl4pPr algn="ctr">
              <a:defRPr sz="2175" b="1">
                <a:solidFill>
                  <a:srgbClr val="005A9C"/>
                </a:solidFill>
                <a:latin typeface="Arial"/>
                <a:ea typeface="Arial"/>
                <a:cs typeface="Arial"/>
              </a:defRPr>
            </a:lvl4pPr>
            <a:lvl5pPr algn="ctr">
              <a:defRPr sz="2175" b="1">
                <a:solidFill>
                  <a:srgbClr val="005A9C"/>
                </a:solidFill>
                <a:latin typeface="Arial"/>
                <a:ea typeface="Arial"/>
                <a:cs typeface="Arial"/>
              </a:defRPr>
            </a:lvl5pPr>
            <a:lvl6pPr algn="ctr">
              <a:defRPr sz="2175" b="1">
                <a:solidFill>
                  <a:srgbClr val="005A9C"/>
                </a:solidFill>
                <a:latin typeface="Arial"/>
                <a:ea typeface="Arial"/>
                <a:cs typeface="Arial"/>
              </a:defRPr>
            </a:lvl6pPr>
            <a:lvl7pPr algn="ctr">
              <a:defRPr sz="2175" b="1">
                <a:solidFill>
                  <a:srgbClr val="005A9C"/>
                </a:solidFill>
                <a:latin typeface="Arial"/>
                <a:ea typeface="Arial"/>
                <a:cs typeface="Arial"/>
              </a:defRPr>
            </a:lvl7pPr>
            <a:lvl8pPr algn="ctr">
              <a:defRPr sz="2175" b="1">
                <a:solidFill>
                  <a:srgbClr val="005A9C"/>
                </a:solidFill>
                <a:latin typeface="Arial"/>
                <a:ea typeface="Arial"/>
                <a:cs typeface="Arial"/>
              </a:defRPr>
            </a:lvl8pPr>
            <a:lvl9pPr algn="ctr">
              <a:defRPr sz="2175" b="1">
                <a:solidFill>
                  <a:srgbClr val="005A9C"/>
                </a:solidFill>
                <a:latin typeface="Arial"/>
                <a:ea typeface="Arial"/>
                <a:cs typeface="Arial"/>
              </a:defRPr>
            </a:lvl9pPr>
          </a:lstStyle>
          <a:p xmlns:a="http://schemas.openxmlformats.org/drawingml/2006/main">
            <a:pPr algn="ctr">
              <a:defRPr sz="2175" b="1">
                <a:solidFill>
                  <a:srgbClr val="005A9C"/>
                </a:solidFill>
                <a:latin typeface="Arial"/>
                <a:ea typeface="Arial"/>
                <a:cs typeface="Arial"/>
              </a:defRPr>
            </a:pPr>
            <a:r>
              <a:rPr sz="2175" b="1">
                <a:solidFill>
                  <a:srgbClr val="005A9C"/>
                </a:solidFill>
                <a:latin typeface="Arial"/>
                <a:ea typeface="Arial"/>
                <a:cs typeface="Arial"/>
              </a:rPr>
              <a:t>Expenses</a:t>
            </a:r>
          </a:p>
        </p:txBody>
      </p:sp>
      <p:sp>
        <p:nvSpPr>
          <p:cNvPr id="43" name="!!driver.expense.factor">
            <a:extLst xmlns:a="http://schemas.openxmlformats.org/drawingml/2006/main">
              <a:ext uri="{FF2B5EF4-FFF2-40B4-BE49-F238E27FC236}">
                <a16:creationId xmlns:a16="http://schemas.microsoft.com/office/drawing/2014/main" id="{90AB09E2-C623-46A6-BDA2-9C3211501F89}"/>
              </a:ext>
            </a:extLst>
          </p:cNvPr>
          <p:cNvSpPr>
            <a:spLocks xmlns:a="http://schemas.openxmlformats.org/drawingml/2006/main" noGrp="1"/>
          </p:cNvSpPr>
          <p:nvPr/>
        </p:nvSpPr>
        <p:spPr>
          <a:xfrm xmlns:a="http://schemas.openxmlformats.org/drawingml/2006/main">
            <a:off x="9667875" y="5762625"/>
            <a:ext cx="3419475" cy="733425"/>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Distribution and selling expenses</a:t>
            </a:r>
          </a:p>
        </p:txBody>
      </p:sp>
      <p:sp>
        <p:nvSpPr>
          <p:cNvPr id="44" name="!!driver.expense.branch.1">
            <a:extLst xmlns:a="http://schemas.openxmlformats.org/drawingml/2006/main">
              <a:ext uri="{FF2B5EF4-FFF2-40B4-BE49-F238E27FC236}">
                <a16:creationId xmlns:a16="http://schemas.microsoft.com/office/drawing/2014/main" id="{67453791-C726-4E02-B7D4-5658F9E0005E}"/>
              </a:ext>
            </a:extLst>
          </p:cNvPr>
          <p:cNvSpPr>
            <a:spLocks xmlns:a="http://schemas.openxmlformats.org/drawingml/2006/main" noGrp="1"/>
          </p:cNvSpPr>
          <p:nvPr/>
        </p:nvSpPr>
        <p:spPr>
          <a:xfrm xmlns:a="http://schemas.openxmlformats.org/drawingml/2006/main" flipH="0" flipV="0">
            <a:off x="5772150" y="4533900"/>
            <a:ext cx="52387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driver.expense.branch.2">
            <a:extLst xmlns:a="http://schemas.openxmlformats.org/drawingml/2006/main">
              <a:ext uri="{FF2B5EF4-FFF2-40B4-BE49-F238E27FC236}">
                <a16:creationId xmlns:a16="http://schemas.microsoft.com/office/drawing/2014/main" id="{DDFA63DD-DF85-4DDE-8EBD-47A6EAFDC0F9}"/>
              </a:ext>
            </a:extLst>
          </p:cNvPr>
          <p:cNvSpPr>
            <a:spLocks xmlns:a="http://schemas.openxmlformats.org/drawingml/2006/main" noGrp="1"/>
          </p:cNvSpPr>
          <p:nvPr/>
        </p:nvSpPr>
        <p:spPr>
          <a:xfrm xmlns:a="http://schemas.openxmlformats.org/drawingml/2006/main" flipH="0" flipV="0">
            <a:off x="6296025" y="4533900"/>
            <a:ext cx="953" cy="159067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6" name="!!driver.expense.branch.3.line">
            <a:extLst xmlns:a="http://schemas.openxmlformats.org/drawingml/2006/main">
              <a:ext uri="{FF2B5EF4-FFF2-40B4-BE49-F238E27FC236}">
                <a16:creationId xmlns:a16="http://schemas.microsoft.com/office/drawing/2014/main" id="{21733C88-838B-4D15-8217-26ACEB6081AF}"/>
              </a:ext>
            </a:extLst>
          </p:cNvPr>
          <p:cNvSpPr>
            <a:spLocks xmlns:a="http://schemas.openxmlformats.org/drawingml/2006/main" noGrp="1"/>
          </p:cNvSpPr>
          <p:nvPr/>
        </p:nvSpPr>
        <p:spPr>
          <a:xfrm xmlns:a="http://schemas.openxmlformats.org/drawingml/2006/main" flipH="0" flipV="0">
            <a:off x="6296025" y="6124575"/>
            <a:ext cx="590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driver.expense.branch.3.tip">
            <a:extLst xmlns:a="http://schemas.openxmlformats.org/drawingml/2006/main">
              <a:ext uri="{FF2B5EF4-FFF2-40B4-BE49-F238E27FC236}">
                <a16:creationId xmlns:a16="http://schemas.microsoft.com/office/drawing/2014/main" id="{21689157-F8B5-4FA8-90DF-6C25597433DC}"/>
              </a:ext>
            </a:extLst>
          </p:cNvPr>
          <p:cNvSpPr>
            <a:spLocks xmlns:a="http://schemas.openxmlformats.org/drawingml/2006/main" noGrp="1"/>
          </p:cNvSpPr>
          <p:nvPr/>
        </p:nvSpPr>
        <p:spPr>
          <a:xfrm xmlns:a="http://schemas.openxmlformats.org/drawingml/2006/main" rot="5400000">
            <a:off x="6829425" y="60674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river.expense.link.line">
            <a:extLst xmlns:a="http://schemas.openxmlformats.org/drawingml/2006/main">
              <a:ext uri="{FF2B5EF4-FFF2-40B4-BE49-F238E27FC236}">
                <a16:creationId xmlns:a16="http://schemas.microsoft.com/office/drawing/2014/main" id="{4049637A-60CE-4ED9-B585-3195B66A56E9}"/>
              </a:ext>
            </a:extLst>
          </p:cNvPr>
          <p:cNvSpPr>
            <a:spLocks xmlns:a="http://schemas.openxmlformats.org/drawingml/2006/main" noGrp="1"/>
          </p:cNvSpPr>
          <p:nvPr/>
        </p:nvSpPr>
        <p:spPr>
          <a:xfrm xmlns:a="http://schemas.openxmlformats.org/drawingml/2006/main" flipH="0" flipV="0">
            <a:off x="8648700" y="6124575"/>
            <a:ext cx="923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driver.expense.link.tip">
            <a:extLst xmlns:a="http://schemas.openxmlformats.org/drawingml/2006/main">
              <a:ext uri="{FF2B5EF4-FFF2-40B4-BE49-F238E27FC236}">
                <a16:creationId xmlns:a16="http://schemas.microsoft.com/office/drawing/2014/main" id="{2F056FC0-15CD-4BD7-B35B-853DB2613870}"/>
              </a:ext>
            </a:extLst>
          </p:cNvPr>
          <p:cNvSpPr>
            <a:spLocks xmlns:a="http://schemas.openxmlformats.org/drawingml/2006/main" noGrp="1"/>
          </p:cNvSpPr>
          <p:nvPr/>
        </p:nvSpPr>
        <p:spPr>
          <a:xfrm xmlns:a="http://schemas.openxmlformats.org/drawingml/2006/main" rot="5400000">
            <a:off x="9515475" y="60674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river.tools">
            <a:extLst xmlns:a="http://schemas.openxmlformats.org/drawingml/2006/main">
              <a:ext uri="{FF2B5EF4-FFF2-40B4-BE49-F238E27FC236}">
                <a16:creationId xmlns:a16="http://schemas.microsoft.com/office/drawing/2014/main" id="{ED736021-3B32-4FDC-BC74-714D46A9B4AD}"/>
              </a:ext>
            </a:extLst>
          </p:cNvPr>
          <p:cNvSpPr>
            <a:spLocks xmlns:a="http://schemas.openxmlformats.org/drawingml/2006/main" noGrp="1"/>
          </p:cNvSpPr>
          <p:nvPr/>
        </p:nvSpPr>
        <p:spPr>
          <a:xfrm xmlns:a="http://schemas.openxmlformats.org/drawingml/2006/main">
            <a:off x="13144500" y="3000375"/>
            <a:ext cx="1447800" cy="3495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76200" tIns="0" rIns="762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Data</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feeds</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and</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calculation</a:t>
            </a:r>
          </a:p>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tools</a:t>
            </a:r>
          </a:p>
        </p:txBody>
      </p:sp>
      <p:sp>
        <p:nvSpPr>
          <p:cNvPr id="51" name="!!driver.result">
            <a:extLst xmlns:a="http://schemas.openxmlformats.org/drawingml/2006/main">
              <a:ext uri="{FF2B5EF4-FFF2-40B4-BE49-F238E27FC236}">
                <a16:creationId xmlns:a16="http://schemas.microsoft.com/office/drawing/2014/main" id="{BF6C1E56-A27E-4FC6-9A53-0B041ADCF8D4}"/>
              </a:ext>
            </a:extLst>
          </p:cNvPr>
          <p:cNvSpPr>
            <a:spLocks xmlns:a="http://schemas.openxmlformats.org/drawingml/2006/main" noGrp="1"/>
          </p:cNvSpPr>
          <p:nvPr/>
        </p:nvSpPr>
        <p:spPr>
          <a:xfrm xmlns:a="http://schemas.openxmlformats.org/drawingml/2006/main">
            <a:off x="4057650" y="6772275"/>
            <a:ext cx="1053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The LLM links operating drivers to earnings changes.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Analysts assess the quality of growth.</a:t>
            </a:r>
          </a:p>
        </p:txBody>
      </p:sp>
      <p:sp>
        <p:nvSpPr>
          <p:cNvPr id="53" name="!!story.header.issuer.bar">
            <a:extLst xmlns:a="http://schemas.openxmlformats.org/drawingml/2006/main">
              <a:ext uri="{FF2B5EF4-FFF2-40B4-BE49-F238E27FC236}">
                <a16:creationId xmlns:a16="http://schemas.microsoft.com/office/drawing/2014/main" id="{49A42231-822D-48AF-A7C2-5CED41E8E6BA}"/>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header.issuer.name">
            <a:extLst xmlns:a="http://schemas.openxmlformats.org/drawingml/2006/main">
              <a:ext uri="{FF2B5EF4-FFF2-40B4-BE49-F238E27FC236}">
                <a16:creationId xmlns:a16="http://schemas.microsoft.com/office/drawing/2014/main" id="{448DCFFB-6436-4D1B-91CE-F00115AEE62B}"/>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5" name="!!story.header.issuer.qualifier">
            <a:extLst xmlns:a="http://schemas.openxmlformats.org/drawingml/2006/main">
              <a:ext uri="{FF2B5EF4-FFF2-40B4-BE49-F238E27FC236}">
                <a16:creationId xmlns:a16="http://schemas.microsoft.com/office/drawing/2014/main" id="{D078FB83-8887-420B-AE3C-C9A7728A2F74}"/>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11128858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32"/>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33"/>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5"/>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6"/>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7"/>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38"/>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39"/>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40"/>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41"/>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2"/>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3"/>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44"/>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45"/>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48"/>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D50C1BD3-E916-4248-9FDB-454C1C6F6D77}"/>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Fullgoal: comparing research views</a:t>
            </a:r>
          </a:p>
        </p:txBody>
      </p:sp>
      <p:sp>
        <p:nvSpPr>
          <p:cNvPr id="2" name="!!subtitle">
            <a:extLst xmlns:a="http://schemas.openxmlformats.org/drawingml/2006/main">
              <a:ext uri="{FF2B5EF4-FFF2-40B4-BE49-F238E27FC236}">
                <a16:creationId xmlns:a16="http://schemas.microsoft.com/office/drawing/2014/main" id="{913A7438-3B9D-48CC-B3A7-15694A6AA439}"/>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B48E0FD3-EA2A-4923-BA94-84721CFD447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726A-B7E2-420B-87F3-CC660D2050D0}"/>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077E3B1-D7AC-43DC-9C00-2C059E942A3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2612A70F-0621-4384-A7EE-93CE950C0A0A}"/>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599369A-F51C-438C-913F-515E19101065}"/>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47CB8D50-78F0-40E7-AB13-B00148285B6A}"/>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C89BCEB-0795-43E3-B1C9-AA7F7ADD19AA}"/>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0E5FD4-D16F-4E59-BC52-9891EC1B7F2D}"/>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F211CE7-576C-4DAC-9F2A-06DC6DD1EC2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84307B-B4C3-4B64-8289-C09A1E7CEEE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45689F7-0E46-4F80-8538-99844071FB7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597C363-2066-4D12-A47B-3610ED0C196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C55AFE09-3E3C-4892-937B-B83A02A965F2}"/>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86BFE185-E881-46B7-8B5B-621C5216BF7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0E965A9-381B-4921-A587-E9B6A011D0EF}"/>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A9B166A-E77C-4568-9355-CB83EC3AA02C}"/>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56D5B1EB-896B-4C1C-8442-334BEE640E9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39A1F1BB-9038-4BB2-9227-BB5D5AA4262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6 / 33</a:t>
            </a:r>
          </a:p>
        </p:txBody>
      </p:sp>
      <p:sp>
        <p:nvSpPr>
          <p:cNvPr id="21" name="!!nav.prev">
            <ns0:hlinkClick xmlns:ns0="http://schemas.openxmlformats.org/drawingml/2006/main" xmlns:ns1="http://schemas.openxmlformats.org/officeDocument/2006/relationships" ns1:id="rIdNavSlide5" action="ppaction://hlinksldjump" tooltip="Slide 5: Tianhong: analyzing earnings drivers"/>
            <a:extLst xmlns:a="http://schemas.openxmlformats.org/drawingml/2006/main">
              <a:ext uri="{FF2B5EF4-FFF2-40B4-BE49-F238E27FC236}">
                <a16:creationId xmlns:a16="http://schemas.microsoft.com/office/drawing/2014/main" id="{8726F0D5-AEB9-465D-9117-BB875A5CC855}"/>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1ED118C4-AF78-40C2-B3CE-67A19FA2E80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1822354-F69F-4C18-A833-29DF145F746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C88E2A30-8EF5-4570-B4FB-05E097A83AB9}"/>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Fullgoal / AMAC</a:t>
            </a:r>
          </a:p>
        </p:txBody>
      </p:sp>
      <p:sp>
        <p:nvSpPr>
          <p:cNvPr id="25" name="!!views.llm.title">
            <a:extLst xmlns:a="http://schemas.openxmlformats.org/drawingml/2006/main">
              <a:ext uri="{FF2B5EF4-FFF2-40B4-BE49-F238E27FC236}">
                <a16:creationId xmlns:a16="http://schemas.microsoft.com/office/drawing/2014/main" id="{086FCE89-84C6-49E8-8015-8B0E0E5AAEDA}"/>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The LLM compares reports on a common research question</a:t>
            </a:r>
          </a:p>
        </p:txBody>
      </p:sp>
      <p:sp>
        <p:nvSpPr>
          <p:cNvPr id="26" name="!!views.reportA.rule">
            <a:extLst xmlns:a="http://schemas.openxmlformats.org/drawingml/2006/main">
              <a:ext uri="{FF2B5EF4-FFF2-40B4-BE49-F238E27FC236}">
                <a16:creationId xmlns:a16="http://schemas.microsoft.com/office/drawing/2014/main" id="{6EDC44FA-5152-4511-9606-E02D68F436A4}"/>
              </a:ext>
            </a:extLst>
          </p:cNvPr>
          <p:cNvSpPr>
            <a:spLocks xmlns:a="http://schemas.openxmlformats.org/drawingml/2006/main" noGrp="1"/>
          </p:cNvSpPr>
          <p:nvPr/>
        </p:nvSpPr>
        <p:spPr>
          <a:xfrm xmlns:a="http://schemas.openxmlformats.org/drawingml/2006/main" flipH="0" flipV="0">
            <a:off x="4057650" y="314325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views.reportA.label">
            <a:extLst xmlns:a="http://schemas.openxmlformats.org/drawingml/2006/main">
              <a:ext uri="{FF2B5EF4-FFF2-40B4-BE49-F238E27FC236}">
                <a16:creationId xmlns:a16="http://schemas.microsoft.com/office/drawing/2014/main" id="{8D430CF5-01EC-453C-9EC7-0D53B81B5B29}"/>
              </a:ext>
            </a:extLst>
          </p:cNvPr>
          <p:cNvSpPr>
            <a:spLocks xmlns:a="http://schemas.openxmlformats.org/drawingml/2006/main" noGrp="1"/>
          </p:cNvSpPr>
          <p:nvPr/>
        </p:nvSpPr>
        <p:spPr>
          <a:xfrm xmlns:a="http://schemas.openxmlformats.org/drawingml/2006/main">
            <a:off x="4057650" y="323850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Report A</a:t>
            </a:r>
          </a:p>
        </p:txBody>
      </p:sp>
      <p:sp>
        <p:nvSpPr>
          <p:cNvPr id="28" name="!!views.reportA.text">
            <a:extLst xmlns:a="http://schemas.openxmlformats.org/drawingml/2006/main">
              <a:ext uri="{FF2B5EF4-FFF2-40B4-BE49-F238E27FC236}">
                <a16:creationId xmlns:a16="http://schemas.microsoft.com/office/drawing/2014/main" id="{50DE9AA4-6AD1-4F27-852D-63606E61F4D5}"/>
              </a:ext>
            </a:extLst>
          </p:cNvPr>
          <p:cNvSpPr>
            <a:spLocks xmlns:a="http://schemas.openxmlformats.org/drawingml/2006/main" noGrp="1"/>
          </p:cNvSpPr>
          <p:nvPr/>
        </p:nvSpPr>
        <p:spPr>
          <a:xfrm xmlns:a="http://schemas.openxmlformats.org/drawingml/2006/main">
            <a:off x="4057650" y="3581400"/>
            <a:ext cx="32194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Higher volumes lifted revenue.</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Demand recovery can sustain growth.</a:t>
            </a:r>
          </a:p>
        </p:txBody>
      </p:sp>
      <p:sp>
        <p:nvSpPr>
          <p:cNvPr id="29" name="!!views.reportB.rule">
            <a:extLst xmlns:a="http://schemas.openxmlformats.org/drawingml/2006/main">
              <a:ext uri="{FF2B5EF4-FFF2-40B4-BE49-F238E27FC236}">
                <a16:creationId xmlns:a16="http://schemas.microsoft.com/office/drawing/2014/main" id="{C04F48C1-8CEA-4100-8733-739F72DFCBC6}"/>
              </a:ext>
            </a:extLst>
          </p:cNvPr>
          <p:cNvSpPr>
            <a:spLocks xmlns:a="http://schemas.openxmlformats.org/drawingml/2006/main" noGrp="1"/>
          </p:cNvSpPr>
          <p:nvPr/>
        </p:nvSpPr>
        <p:spPr>
          <a:xfrm xmlns:a="http://schemas.openxmlformats.org/drawingml/2006/main" flipH="0" flipV="0">
            <a:off x="7715250" y="314325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views.reportB.label">
            <a:extLst xmlns:a="http://schemas.openxmlformats.org/drawingml/2006/main">
              <a:ext uri="{FF2B5EF4-FFF2-40B4-BE49-F238E27FC236}">
                <a16:creationId xmlns:a16="http://schemas.microsoft.com/office/drawing/2014/main" id="{143C4FE9-FE42-49E4-9163-84495CA704D8}"/>
              </a:ext>
            </a:extLst>
          </p:cNvPr>
          <p:cNvSpPr>
            <a:spLocks xmlns:a="http://schemas.openxmlformats.org/drawingml/2006/main" noGrp="1"/>
          </p:cNvSpPr>
          <p:nvPr/>
        </p:nvSpPr>
        <p:spPr>
          <a:xfrm xmlns:a="http://schemas.openxmlformats.org/drawingml/2006/main">
            <a:off x="7715250" y="323850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Report B</a:t>
            </a:r>
          </a:p>
        </p:txBody>
      </p:sp>
      <p:sp>
        <p:nvSpPr>
          <p:cNvPr id="31" name="!!views.reportB.text">
            <a:extLst xmlns:a="http://schemas.openxmlformats.org/drawingml/2006/main">
              <a:ext uri="{FF2B5EF4-FFF2-40B4-BE49-F238E27FC236}">
                <a16:creationId xmlns:a16="http://schemas.microsoft.com/office/drawing/2014/main" id="{49C9B7D8-6442-4E00-B613-7A2DC19F2DC0}"/>
              </a:ext>
            </a:extLst>
          </p:cNvPr>
          <p:cNvSpPr>
            <a:spLocks xmlns:a="http://schemas.openxmlformats.org/drawingml/2006/main" noGrp="1"/>
          </p:cNvSpPr>
          <p:nvPr/>
        </p:nvSpPr>
        <p:spPr>
          <a:xfrm xmlns:a="http://schemas.openxmlformats.org/drawingml/2006/main">
            <a:off x="7715250" y="3581400"/>
            <a:ext cx="32194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Channel restocking lifted shipments. Continued restocking remains uncertain.</a:t>
            </a:r>
          </a:p>
        </p:txBody>
      </p:sp>
      <p:sp>
        <p:nvSpPr>
          <p:cNvPr id="32" name="!!views.method">
            <a:extLst xmlns:a="http://schemas.openxmlformats.org/drawingml/2006/main">
              <a:ext uri="{FF2B5EF4-FFF2-40B4-BE49-F238E27FC236}">
                <a16:creationId xmlns:a16="http://schemas.microsoft.com/office/drawing/2014/main" id="{9C7F807F-C9D1-4FC1-8122-31129B8A9809}"/>
              </a:ext>
            </a:extLst>
          </p:cNvPr>
          <p:cNvSpPr>
            <a:spLocks xmlns:a="http://schemas.openxmlformats.org/drawingml/2006/main" noGrp="1"/>
          </p:cNvSpPr>
          <p:nvPr/>
        </p:nvSpPr>
        <p:spPr>
          <a:xfrm xmlns:a="http://schemas.openxmlformats.org/drawingml/2006/main">
            <a:off x="11372850" y="3143250"/>
            <a:ext cx="3219450" cy="18764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views.method.role">
            <a:extLst xmlns:a="http://schemas.openxmlformats.org/drawingml/2006/main">
              <a:ext uri="{FF2B5EF4-FFF2-40B4-BE49-F238E27FC236}">
                <a16:creationId xmlns:a16="http://schemas.microsoft.com/office/drawing/2014/main" id="{AFC132CE-3995-4E98-B4C7-CC4060E81425}"/>
              </a:ext>
            </a:extLst>
          </p:cNvPr>
          <p:cNvSpPr>
            <a:spLocks xmlns:a="http://schemas.openxmlformats.org/drawingml/2006/main" noGrp="1"/>
          </p:cNvSpPr>
          <p:nvPr/>
        </p:nvSpPr>
        <p:spPr>
          <a:xfrm xmlns:a="http://schemas.openxmlformats.org/drawingml/2006/main">
            <a:off x="11563350" y="3286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Fullgoal’s LLM workflow</a:t>
            </a:r>
          </a:p>
        </p:txBody>
      </p:sp>
      <p:sp>
        <p:nvSpPr>
          <p:cNvPr id="34" name="!!views.method.body">
            <a:extLst xmlns:a="http://schemas.openxmlformats.org/drawingml/2006/main">
              <a:ext uri="{FF2B5EF4-FFF2-40B4-BE49-F238E27FC236}">
                <a16:creationId xmlns:a16="http://schemas.microsoft.com/office/drawing/2014/main" id="{06C4E6E0-4B39-49AF-9CAE-9E66E3AD61E7}"/>
              </a:ext>
            </a:extLst>
          </p:cNvPr>
          <p:cNvSpPr>
            <a:spLocks xmlns:a="http://schemas.openxmlformats.org/drawingml/2006/main" noGrp="1"/>
          </p:cNvSpPr>
          <p:nvPr/>
        </p:nvSpPr>
        <p:spPr>
          <a:xfrm xmlns:a="http://schemas.openxmlformats.org/drawingml/2006/main">
            <a:off x="11563350" y="3724275"/>
            <a:ext cx="28384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Select relevant reports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Summarize by topic</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Consolidate and review summaries</a:t>
            </a:r>
          </a:p>
        </p:txBody>
      </p:sp>
      <p:sp>
        <p:nvSpPr>
          <p:cNvPr id="35" name="!!views.result">
            <a:extLst xmlns:a="http://schemas.openxmlformats.org/drawingml/2006/main">
              <a:ext uri="{FF2B5EF4-FFF2-40B4-BE49-F238E27FC236}">
                <a16:creationId xmlns:a16="http://schemas.microsoft.com/office/drawing/2014/main" id="{7933B4AC-2851-467D-B8B8-EEFB3B51F32C}"/>
              </a:ext>
            </a:extLst>
          </p:cNvPr>
          <p:cNvSpPr>
            <a:spLocks xmlns:a="http://schemas.openxmlformats.org/drawingml/2006/main" noGrp="1"/>
          </p:cNvSpPr>
          <p:nvPr/>
        </p:nvSpPr>
        <p:spPr>
          <a:xfrm xmlns:a="http://schemas.openxmlformats.org/drawingml/2006/main">
            <a:off x="4057650" y="5638800"/>
            <a:ext cx="105346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317F7B"/>
            </a:solidFill>
            <a:prstDash val="solid"/>
          </a:ln>
        </p:spPr>
      </p:sp>
      <p:sp>
        <p:nvSpPr>
          <p:cNvPr id="36" name="!!views.consensus.title">
            <a:extLst xmlns:a="http://schemas.openxmlformats.org/drawingml/2006/main">
              <a:ext uri="{FF2B5EF4-FFF2-40B4-BE49-F238E27FC236}">
                <a16:creationId xmlns:a16="http://schemas.microsoft.com/office/drawing/2014/main" id="{3213643D-F61B-44A5-9F75-89543AF369B3}"/>
              </a:ext>
            </a:extLst>
          </p:cNvPr>
          <p:cNvSpPr>
            <a:spLocks xmlns:a="http://schemas.openxmlformats.org/drawingml/2006/main" noGrp="1"/>
          </p:cNvSpPr>
          <p:nvPr/>
        </p:nvSpPr>
        <p:spPr>
          <a:xfrm xmlns:a="http://schemas.openxmlformats.org/drawingml/2006/main">
            <a:off x="4267200" y="58388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62C"/>
                </a:solidFill>
                <a:latin typeface="Arial"/>
                <a:ea typeface="Arial"/>
                <a:cs typeface="Arial"/>
              </a:defRPr>
            </a:defPPr>
            <a:lvl1pPr algn="l">
              <a:defRPr sz="2025" b="1">
                <a:solidFill>
                  <a:srgbClr val="20262C"/>
                </a:solidFill>
                <a:latin typeface="Arial"/>
                <a:ea typeface="Arial"/>
                <a:cs typeface="Arial"/>
              </a:defRPr>
            </a:lvl1pPr>
            <a:lvl2pPr algn="l">
              <a:defRPr sz="2025" b="1">
                <a:solidFill>
                  <a:srgbClr val="20262C"/>
                </a:solidFill>
                <a:latin typeface="Arial"/>
                <a:ea typeface="Arial"/>
                <a:cs typeface="Arial"/>
              </a:defRPr>
            </a:lvl2pPr>
            <a:lvl3pPr algn="l">
              <a:defRPr sz="2025" b="1">
                <a:solidFill>
                  <a:srgbClr val="20262C"/>
                </a:solidFill>
                <a:latin typeface="Arial"/>
                <a:ea typeface="Arial"/>
                <a:cs typeface="Arial"/>
              </a:defRPr>
            </a:lvl3pPr>
            <a:lvl4pPr algn="l">
              <a:defRPr sz="2025" b="1">
                <a:solidFill>
                  <a:srgbClr val="20262C"/>
                </a:solidFill>
                <a:latin typeface="Arial"/>
                <a:ea typeface="Arial"/>
                <a:cs typeface="Arial"/>
              </a:defRPr>
            </a:lvl4pPr>
            <a:lvl5pPr algn="l">
              <a:defRPr sz="2025" b="1">
                <a:solidFill>
                  <a:srgbClr val="20262C"/>
                </a:solidFill>
                <a:latin typeface="Arial"/>
                <a:ea typeface="Arial"/>
                <a:cs typeface="Arial"/>
              </a:defRPr>
            </a:lvl5pPr>
            <a:lvl6pPr algn="l">
              <a:defRPr sz="2025" b="1">
                <a:solidFill>
                  <a:srgbClr val="20262C"/>
                </a:solidFill>
                <a:latin typeface="Arial"/>
                <a:ea typeface="Arial"/>
                <a:cs typeface="Arial"/>
              </a:defRPr>
            </a:lvl6pPr>
            <a:lvl7pPr algn="l">
              <a:defRPr sz="2025" b="1">
                <a:solidFill>
                  <a:srgbClr val="20262C"/>
                </a:solidFill>
                <a:latin typeface="Arial"/>
                <a:ea typeface="Arial"/>
                <a:cs typeface="Arial"/>
              </a:defRPr>
            </a:lvl7pPr>
            <a:lvl8pPr algn="l">
              <a:defRPr sz="2025" b="1">
                <a:solidFill>
                  <a:srgbClr val="20262C"/>
                </a:solidFill>
                <a:latin typeface="Arial"/>
                <a:ea typeface="Arial"/>
                <a:cs typeface="Arial"/>
              </a:defRPr>
            </a:lvl8pPr>
            <a:lvl9pPr algn="l">
              <a:defRPr sz="2025" b="1">
                <a:solidFill>
                  <a:srgbClr val="20262C"/>
                </a:solidFill>
                <a:latin typeface="Arial"/>
                <a:ea typeface="Arial"/>
                <a:cs typeface="Arial"/>
              </a:defRPr>
            </a:lvl9pPr>
          </a:lstStyle>
          <a:p xmlns:a="http://schemas.openxmlformats.org/drawingml/2006/main">
            <a:pPr algn="l">
              <a:defRPr sz="2025" b="1">
                <a:solidFill>
                  <a:srgbClr val="20262C"/>
                </a:solidFill>
                <a:latin typeface="Arial"/>
                <a:ea typeface="Arial"/>
                <a:cs typeface="Arial"/>
              </a:defRPr>
            </a:pPr>
            <a:r>
              <a:rPr sz="2025" b="1">
                <a:solidFill>
                  <a:srgbClr val="20262C"/>
                </a:solidFill>
                <a:latin typeface="Arial"/>
                <a:ea typeface="Arial"/>
                <a:cs typeface="Arial"/>
              </a:rPr>
              <a:t>Shared finding</a:t>
            </a:r>
          </a:p>
        </p:txBody>
      </p:sp>
      <p:sp>
        <p:nvSpPr>
          <p:cNvPr id="37" name="!!views.consensus.body">
            <a:extLst xmlns:a="http://schemas.openxmlformats.org/drawingml/2006/main">
              <a:ext uri="{FF2B5EF4-FFF2-40B4-BE49-F238E27FC236}">
                <a16:creationId xmlns:a16="http://schemas.microsoft.com/office/drawing/2014/main" id="{7EDEEEE9-9EE1-4C76-8483-6A82CF7DC181}"/>
              </a:ext>
            </a:extLst>
          </p:cNvPr>
          <p:cNvSpPr>
            <a:spLocks xmlns:a="http://schemas.openxmlformats.org/drawingml/2006/main" noGrp="1"/>
          </p:cNvSpPr>
          <p:nvPr/>
        </p:nvSpPr>
        <p:spPr>
          <a:xfrm xmlns:a="http://schemas.openxmlformats.org/drawingml/2006/main">
            <a:off x="4267200" y="62960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Higher volumes supported revenue</a:t>
            </a:r>
          </a:p>
        </p:txBody>
      </p:sp>
      <p:sp>
        <p:nvSpPr>
          <p:cNvPr id="38" name="!!views.difference.title">
            <a:extLst xmlns:a="http://schemas.openxmlformats.org/drawingml/2006/main">
              <a:ext uri="{FF2B5EF4-FFF2-40B4-BE49-F238E27FC236}">
                <a16:creationId xmlns:a16="http://schemas.microsoft.com/office/drawing/2014/main" id="{DC06DEDD-6F2B-4032-9899-AD996813B771}"/>
              </a:ext>
            </a:extLst>
          </p:cNvPr>
          <p:cNvSpPr>
            <a:spLocks xmlns:a="http://schemas.openxmlformats.org/drawingml/2006/main" noGrp="1"/>
          </p:cNvSpPr>
          <p:nvPr/>
        </p:nvSpPr>
        <p:spPr>
          <a:xfrm xmlns:a="http://schemas.openxmlformats.org/drawingml/2006/main">
            <a:off x="9620250" y="58388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62C"/>
                </a:solidFill>
                <a:latin typeface="Arial"/>
                <a:ea typeface="Arial"/>
                <a:cs typeface="Arial"/>
              </a:defRPr>
            </a:defPPr>
            <a:lvl1pPr algn="l">
              <a:defRPr sz="2025" b="1">
                <a:solidFill>
                  <a:srgbClr val="20262C"/>
                </a:solidFill>
                <a:latin typeface="Arial"/>
                <a:ea typeface="Arial"/>
                <a:cs typeface="Arial"/>
              </a:defRPr>
            </a:lvl1pPr>
            <a:lvl2pPr algn="l">
              <a:defRPr sz="2025" b="1">
                <a:solidFill>
                  <a:srgbClr val="20262C"/>
                </a:solidFill>
                <a:latin typeface="Arial"/>
                <a:ea typeface="Arial"/>
                <a:cs typeface="Arial"/>
              </a:defRPr>
            </a:lvl2pPr>
            <a:lvl3pPr algn="l">
              <a:defRPr sz="2025" b="1">
                <a:solidFill>
                  <a:srgbClr val="20262C"/>
                </a:solidFill>
                <a:latin typeface="Arial"/>
                <a:ea typeface="Arial"/>
                <a:cs typeface="Arial"/>
              </a:defRPr>
            </a:lvl3pPr>
            <a:lvl4pPr algn="l">
              <a:defRPr sz="2025" b="1">
                <a:solidFill>
                  <a:srgbClr val="20262C"/>
                </a:solidFill>
                <a:latin typeface="Arial"/>
                <a:ea typeface="Arial"/>
                <a:cs typeface="Arial"/>
              </a:defRPr>
            </a:lvl4pPr>
            <a:lvl5pPr algn="l">
              <a:defRPr sz="2025" b="1">
                <a:solidFill>
                  <a:srgbClr val="20262C"/>
                </a:solidFill>
                <a:latin typeface="Arial"/>
                <a:ea typeface="Arial"/>
                <a:cs typeface="Arial"/>
              </a:defRPr>
            </a:lvl5pPr>
            <a:lvl6pPr algn="l">
              <a:defRPr sz="2025" b="1">
                <a:solidFill>
                  <a:srgbClr val="20262C"/>
                </a:solidFill>
                <a:latin typeface="Arial"/>
                <a:ea typeface="Arial"/>
                <a:cs typeface="Arial"/>
              </a:defRPr>
            </a:lvl6pPr>
            <a:lvl7pPr algn="l">
              <a:defRPr sz="2025" b="1">
                <a:solidFill>
                  <a:srgbClr val="20262C"/>
                </a:solidFill>
                <a:latin typeface="Arial"/>
                <a:ea typeface="Arial"/>
                <a:cs typeface="Arial"/>
              </a:defRPr>
            </a:lvl7pPr>
            <a:lvl8pPr algn="l">
              <a:defRPr sz="2025" b="1">
                <a:solidFill>
                  <a:srgbClr val="20262C"/>
                </a:solidFill>
                <a:latin typeface="Arial"/>
                <a:ea typeface="Arial"/>
                <a:cs typeface="Arial"/>
              </a:defRPr>
            </a:lvl8pPr>
            <a:lvl9pPr algn="l">
              <a:defRPr sz="2025" b="1">
                <a:solidFill>
                  <a:srgbClr val="20262C"/>
                </a:solidFill>
                <a:latin typeface="Arial"/>
                <a:ea typeface="Arial"/>
                <a:cs typeface="Arial"/>
              </a:defRPr>
            </a:lvl9pPr>
          </a:lstStyle>
          <a:p xmlns:a="http://schemas.openxmlformats.org/drawingml/2006/main">
            <a:pPr algn="l">
              <a:defRPr sz="2025" b="1">
                <a:solidFill>
                  <a:srgbClr val="20262C"/>
                </a:solidFill>
                <a:latin typeface="Arial"/>
                <a:ea typeface="Arial"/>
                <a:cs typeface="Arial"/>
              </a:defRPr>
            </a:pPr>
            <a:r>
              <a:rPr sz="2025" b="1">
                <a:solidFill>
                  <a:srgbClr val="20262C"/>
                </a:solidFill>
                <a:latin typeface="Arial"/>
                <a:ea typeface="Arial"/>
                <a:cs typeface="Arial"/>
              </a:rPr>
              <a:t>Unresolved question</a:t>
            </a:r>
          </a:p>
        </p:txBody>
      </p:sp>
      <p:sp>
        <p:nvSpPr>
          <p:cNvPr id="39" name="!!views.difference.body">
            <a:extLst xmlns:a="http://schemas.openxmlformats.org/drawingml/2006/main">
              <a:ext uri="{FF2B5EF4-FFF2-40B4-BE49-F238E27FC236}">
                <a16:creationId xmlns:a16="http://schemas.microsoft.com/office/drawing/2014/main" id="{3144CBE6-0F91-490D-959A-385C16F65752}"/>
              </a:ext>
            </a:extLst>
          </p:cNvPr>
          <p:cNvSpPr>
            <a:spLocks xmlns:a="http://schemas.openxmlformats.org/drawingml/2006/main" noGrp="1"/>
          </p:cNvSpPr>
          <p:nvPr/>
        </p:nvSpPr>
        <p:spPr>
          <a:xfrm xmlns:a="http://schemas.openxmlformats.org/drawingml/2006/main">
            <a:off x="9620250" y="62960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Is volume growth sustainable?</a:t>
            </a:r>
          </a:p>
        </p:txBody>
      </p:sp>
      <p:sp>
        <p:nvSpPr>
          <p:cNvPr id="40" name="!!views.user">
            <a:extLst xmlns:a="http://schemas.openxmlformats.org/drawingml/2006/main">
              <a:ext uri="{FF2B5EF4-FFF2-40B4-BE49-F238E27FC236}">
                <a16:creationId xmlns:a16="http://schemas.microsoft.com/office/drawing/2014/main" id="{4EE17DEC-2F63-4E79-8288-2B684A6E25C5}"/>
              </a:ext>
            </a:extLst>
          </p:cNvPr>
          <p:cNvSpPr>
            <a:spLocks xmlns:a="http://schemas.openxmlformats.org/drawingml/2006/main" noGrp="1"/>
          </p:cNvSpPr>
          <p:nvPr/>
        </p:nvSpPr>
        <p:spPr>
          <a:xfrm xmlns:a="http://schemas.openxmlformats.org/drawingml/2006/main">
            <a:off x="4057650" y="70961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Analysts investigate the disagreement, with links back to the underlying reports</a:t>
            </a:r>
          </a:p>
        </p:txBody>
      </p:sp>
      <p:sp>
        <p:nvSpPr>
          <p:cNvPr id="42" name="!!story.header.issuer.bar">
            <a:extLst xmlns:a="http://schemas.openxmlformats.org/drawingml/2006/main">
              <a:ext uri="{FF2B5EF4-FFF2-40B4-BE49-F238E27FC236}">
                <a16:creationId xmlns:a16="http://schemas.microsoft.com/office/drawing/2014/main" id="{3CC9398A-03F3-4EE5-B94B-3AD63F79F4D4}"/>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3" name="!!story.header.issuer.name">
            <a:extLst xmlns:a="http://schemas.openxmlformats.org/drawingml/2006/main">
              <a:ext uri="{FF2B5EF4-FFF2-40B4-BE49-F238E27FC236}">
                <a16:creationId xmlns:a16="http://schemas.microsoft.com/office/drawing/2014/main" id="{06708267-B53F-48BA-95FF-798137659762}"/>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4" name="!!story.header.issuer.qualifier">
            <a:extLst xmlns:a="http://schemas.openxmlformats.org/drawingml/2006/main">
              <a:ext uri="{FF2B5EF4-FFF2-40B4-BE49-F238E27FC236}">
                <a16:creationId xmlns:a16="http://schemas.microsoft.com/office/drawing/2014/main" id="{219E8EA7-BE65-4D7F-B483-C1824579A061}"/>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45" name="!!story.issuer.views.reportA">
            <a:extLst xmlns:a="http://schemas.openxmlformats.org/drawingml/2006/main">
              <a:ext uri="{FF2B5EF4-FFF2-40B4-BE49-F238E27FC236}">
                <a16:creationId xmlns:a16="http://schemas.microsoft.com/office/drawing/2014/main" id="{67DB4F3F-18E8-4A99-BC77-94CAB2414ED1}"/>
              </a:ext>
            </a:extLst>
          </p:cNvPr>
          <p:cNvSpPr>
            <a:spLocks xmlns:a="http://schemas.openxmlformats.org/drawingml/2006/main" noGrp="1"/>
          </p:cNvSpPr>
          <p:nvPr/>
        </p:nvSpPr>
        <p:spPr>
          <a:xfrm xmlns:a="http://schemas.openxmlformats.org/drawingml/2006/main">
            <a:off x="3943350" y="3143250"/>
            <a:ext cx="57150" cy="18764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issuer.views.reportB">
            <a:extLst xmlns:a="http://schemas.openxmlformats.org/drawingml/2006/main">
              <a:ext uri="{FF2B5EF4-FFF2-40B4-BE49-F238E27FC236}">
                <a16:creationId xmlns:a16="http://schemas.microsoft.com/office/drawing/2014/main" id="{55E4DE46-52C6-4A5F-B145-E530E02666C3}"/>
              </a:ext>
            </a:extLst>
          </p:cNvPr>
          <p:cNvSpPr>
            <a:spLocks xmlns:a="http://schemas.openxmlformats.org/drawingml/2006/main" noGrp="1"/>
          </p:cNvSpPr>
          <p:nvPr/>
        </p:nvSpPr>
        <p:spPr>
          <a:xfrm xmlns:a="http://schemas.openxmlformats.org/drawingml/2006/main">
            <a:off x="7600950" y="3143250"/>
            <a:ext cx="57150" cy="18764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7" name="!!story.issuer.analysis">
            <a:extLst xmlns:a="http://schemas.openxmlformats.org/drawingml/2006/main">
              <a:ext uri="{FF2B5EF4-FFF2-40B4-BE49-F238E27FC236}">
                <a16:creationId xmlns:a16="http://schemas.microsoft.com/office/drawing/2014/main" id="{B6C254B6-BCD6-4B34-A32D-A6871598F2AD}"/>
              </a:ext>
            </a:extLst>
          </p:cNvPr>
          <p:cNvSpPr>
            <a:spLocks xmlns:a="http://schemas.openxmlformats.org/drawingml/2006/main" noGrp="1"/>
          </p:cNvSpPr>
          <p:nvPr/>
        </p:nvSpPr>
        <p:spPr>
          <a:xfrm xmlns:a="http://schemas.openxmlformats.org/drawingml/2006/main">
            <a:off x="4000500" y="5638800"/>
            <a:ext cx="57150" cy="12001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70252653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7"/>
                                  </p:tgtEl>
                                  <p:attrNameLst>
                                    <p:attrName>style.visibility</p:attrName>
                                  </p:attrNameLst>
                                </p:cBhvr>
                                <p:to>
                                  <p:strVal val="visible"/>
                                </p:to>
                              </p:set>
                            </p:childTnLst>
                          </p:cTn>
                        </p:par>
                        <p:par>
                          <p:cTn id="8" presetID="1" presetClass="entr" presetSubtype="0" fill="hold" nodeType="withEffect" grpId="0">
                            <p:stCondLst>
                              <p:cond delay="700"/>
                            </p:stCondLst>
                            <p:childTnLst>
                              <p:set>
                                <p:cBhvr>
                                  <p:cTn id="9" dur="1" fill="hold">
                                    <p:stCondLst>
                                      <p:cond delay="0"/>
                                    </p:stCondLst>
                                  </p:cTn>
                                  <p:tgtEl>
                                    <p:spTgt spid="3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heading">
            <a:extLst xmlns:a="http://schemas.openxmlformats.org/drawingml/2006/main">
              <a:ext uri="{FF2B5EF4-FFF2-40B4-BE49-F238E27FC236}">
                <a16:creationId xmlns:a16="http://schemas.microsoft.com/office/drawing/2014/main" id="{4695191F-5483-4C30-BD9C-7C874C6AB6F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Zhong Ou: populating research templates</a:t>
            </a:r>
          </a:p>
        </p:txBody>
      </p:sp>
      <p:sp>
        <p:nvSpPr>
          <p:cNvPr id="2" name="!!subtitle">
            <a:extLst xmlns:a="http://schemas.openxmlformats.org/drawingml/2006/main">
              <a:ext uri="{FF2B5EF4-FFF2-40B4-BE49-F238E27FC236}">
                <a16:creationId xmlns:a16="http://schemas.microsoft.com/office/drawing/2014/main" id="{62BC52B6-755D-4DB8-A764-C9642335ACD6}"/>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Investment research  /  Industry examples</a:t>
            </a:r>
          </a:p>
        </p:txBody>
      </p:sp>
      <p:sp>
        <p:nvSpPr>
          <p:cNvPr id="3" name="!!heading.rule">
            <a:extLst xmlns:a="http://schemas.openxmlformats.org/drawingml/2006/main">
              <a:ext uri="{FF2B5EF4-FFF2-40B4-BE49-F238E27FC236}">
                <a16:creationId xmlns:a16="http://schemas.microsoft.com/office/drawing/2014/main" id="{31F7E9F4-5B65-4222-937C-ACC4027D549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2512F8A-9A87-44F9-AF4E-93EF983501E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E71219E-22C9-4748-9E7D-D8A87797B4F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F608ABC-1FB1-4235-9547-0BE25C8146D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7B9E76-1AFB-4ECC-945B-3F8F14121FBB}"/>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866C29C-308C-4553-B302-0A77C85145E2}"/>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E0100703-A13C-42FD-84DB-746A185C04B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13AD41-CE69-4125-9C61-4648BDC84272}"/>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F2397A1-AB84-4987-B1CC-BBBA189DBEB8}"/>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7728BD5-1471-482A-A0C8-D8CA6DC544A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BABF8FC-955C-4D83-8DA7-0EB8B2DB0BF0}"/>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DE6909-C45A-4C69-9189-809C979322C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2E0DAB-01A7-4BC6-A547-AF888DB42EA8}"/>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090BE48F-722E-483B-8366-6810F7F1EDA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54FBF2C-048B-406C-8954-3C3B277894F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E9DFCC0-3E5C-468F-A307-7F9B240BA9EF}"/>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EEB55B8-BD6A-4349-8A9F-3EBB15BEB55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D67C45B-0BB5-494D-9259-CBF20FE0CC7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7 / 33</a:t>
            </a:r>
          </a:p>
        </p:txBody>
      </p:sp>
      <p:sp>
        <p:nvSpPr>
          <p:cNvPr id="21" name="!!nav.prev">
            <ns0:hlinkClick xmlns:ns0="http://schemas.openxmlformats.org/drawingml/2006/main" xmlns:ns1="http://schemas.openxmlformats.org/officeDocument/2006/relationships" ns1:id="rIdNavSlide6" action="ppaction://hlinksldjump" tooltip="Slide 6: Fullgoal: comparing research views"/>
            <a:extLst xmlns:a="http://schemas.openxmlformats.org/drawingml/2006/main">
              <a:ext uri="{FF2B5EF4-FFF2-40B4-BE49-F238E27FC236}">
                <a16:creationId xmlns:a16="http://schemas.microsoft.com/office/drawing/2014/main" id="{1833C379-1CF8-4DDD-A6C3-BEF167778A52}"/>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8" action="ppaction://hlinksldjump" tooltip="Slide 8: Proposed application: company research"/>
            <a:extLst xmlns:a="http://schemas.openxmlformats.org/drawingml/2006/main">
              <a:ext uri="{FF2B5EF4-FFF2-40B4-BE49-F238E27FC236}">
                <a16:creationId xmlns:a16="http://schemas.microsoft.com/office/drawing/2014/main" id="{1AF3C6BB-69EB-4F1A-A6C2-96D8E0430DD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46E7D31-09B1-4530-A8E2-DD7BC9D9D2B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90DDBCA-B3D5-4120-8BAD-41A60B3C81D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Zhong Ou / Nanfang Plus and forum coverage</a:t>
            </a:r>
          </a:p>
        </p:txBody>
      </p:sp>
      <p:sp>
        <p:nvSpPr>
          <p:cNvPr id="25" name="!!elements.head">
            <a:extLst xmlns:a="http://schemas.openxmlformats.org/drawingml/2006/main">
              <a:ext uri="{FF2B5EF4-FFF2-40B4-BE49-F238E27FC236}">
                <a16:creationId xmlns:a16="http://schemas.microsoft.com/office/drawing/2014/main" id="{1946B59C-A7EA-4237-BE9D-6D715D2AD573}"/>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The LLM populates research templates from source material.</a:t>
            </a:r>
          </a:p>
        </p:txBody>
      </p:sp>
      <p:sp>
        <p:nvSpPr>
          <p:cNvPr id="26" name="!!elements.left">
            <a:extLst xmlns:a="http://schemas.openxmlformats.org/drawingml/2006/main">
              <a:ext uri="{FF2B5EF4-FFF2-40B4-BE49-F238E27FC236}">
                <a16:creationId xmlns:a16="http://schemas.microsoft.com/office/drawing/2014/main" id="{B1A9878D-272F-436D-9AC5-BFDD8A4536FC}"/>
              </a:ext>
            </a:extLst>
          </p:cNvPr>
          <p:cNvSpPr>
            <a:spLocks xmlns:a="http://schemas.openxmlformats.org/drawingml/2006/main" noGrp="1"/>
          </p:cNvSpPr>
          <p:nvPr/>
        </p:nvSpPr>
        <p:spPr>
          <a:xfrm xmlns:a="http://schemas.openxmlformats.org/drawingml/2006/main">
            <a:off x="4057650" y="2771775"/>
            <a:ext cx="2924175" cy="45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Source materials</a:t>
            </a:r>
          </a:p>
        </p:txBody>
      </p:sp>
      <p:sp>
        <p:nvSpPr>
          <p:cNvPr id="27" name="!!elements.right">
            <a:extLst xmlns:a="http://schemas.openxmlformats.org/drawingml/2006/main">
              <a:ext uri="{FF2B5EF4-FFF2-40B4-BE49-F238E27FC236}">
                <a16:creationId xmlns:a16="http://schemas.microsoft.com/office/drawing/2014/main" id="{4569CAA1-CD1D-409F-9308-88EC603E9640}"/>
              </a:ext>
            </a:extLst>
          </p:cNvPr>
          <p:cNvSpPr>
            <a:spLocks xmlns:a="http://schemas.openxmlformats.org/drawingml/2006/main" noGrp="1"/>
          </p:cNvSpPr>
          <p:nvPr/>
        </p:nvSpPr>
        <p:spPr>
          <a:xfrm xmlns:a="http://schemas.openxmlformats.org/drawingml/2006/main">
            <a:off x="7524750" y="2771775"/>
            <a:ext cx="7067550" cy="4572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Illustrative research template</a:t>
            </a:r>
          </a:p>
        </p:txBody>
      </p:sp>
      <p:sp>
        <p:nvSpPr>
          <p:cNvPr id="28" name="!!element.0.source">
            <a:extLst xmlns:a="http://schemas.openxmlformats.org/drawingml/2006/main">
              <a:ext uri="{FF2B5EF4-FFF2-40B4-BE49-F238E27FC236}">
                <a16:creationId xmlns:a16="http://schemas.microsoft.com/office/drawing/2014/main" id="{CA9372DA-94EB-4C40-8549-7CA011674842}"/>
              </a:ext>
            </a:extLst>
          </p:cNvPr>
          <p:cNvSpPr>
            <a:spLocks xmlns:a="http://schemas.openxmlformats.org/drawingml/2006/main" noGrp="1"/>
          </p:cNvSpPr>
          <p:nvPr/>
        </p:nvSpPr>
        <p:spPr>
          <a:xfrm xmlns:a="http://schemas.openxmlformats.org/drawingml/2006/main">
            <a:off x="4057650" y="3571875"/>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Financials and calculations</a:t>
            </a:r>
          </a:p>
        </p:txBody>
      </p:sp>
      <p:sp>
        <p:nvSpPr>
          <p:cNvPr id="29" name="!!element.0.arrow.line">
            <a:extLst xmlns:a="http://schemas.openxmlformats.org/drawingml/2006/main">
              <a:ext uri="{FF2B5EF4-FFF2-40B4-BE49-F238E27FC236}">
                <a16:creationId xmlns:a16="http://schemas.microsoft.com/office/drawing/2014/main" id="{FBE08CD1-391F-47B0-90CF-9D237DA317E6}"/>
              </a:ext>
            </a:extLst>
          </p:cNvPr>
          <p:cNvSpPr>
            <a:spLocks xmlns:a="http://schemas.openxmlformats.org/drawingml/2006/main" noGrp="1"/>
          </p:cNvSpPr>
          <p:nvPr/>
        </p:nvSpPr>
        <p:spPr>
          <a:xfrm xmlns:a="http://schemas.openxmlformats.org/drawingml/2006/main" flipH="0" flipV="0">
            <a:off x="7077075" y="3914775"/>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element.0.arrow.tip">
            <a:extLst xmlns:a="http://schemas.openxmlformats.org/drawingml/2006/main">
              <a:ext uri="{FF2B5EF4-FFF2-40B4-BE49-F238E27FC236}">
                <a16:creationId xmlns:a16="http://schemas.microsoft.com/office/drawing/2014/main" id="{20C5428B-5404-4F01-9EA4-AF0BE574D35A}"/>
              </a:ext>
            </a:extLst>
          </p:cNvPr>
          <p:cNvSpPr>
            <a:spLocks xmlns:a="http://schemas.openxmlformats.org/drawingml/2006/main" noGrp="1"/>
          </p:cNvSpPr>
          <p:nvPr/>
        </p:nvSpPr>
        <p:spPr>
          <a:xfrm xmlns:a="http://schemas.openxmlformats.org/drawingml/2006/main" rot="5400000">
            <a:off x="7343775" y="38576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lement.0.label">
            <a:extLst xmlns:a="http://schemas.openxmlformats.org/drawingml/2006/main">
              <a:ext uri="{FF2B5EF4-FFF2-40B4-BE49-F238E27FC236}">
                <a16:creationId xmlns:a16="http://schemas.microsoft.com/office/drawing/2014/main" id="{0CCD1F2E-7072-4BDE-8F57-19B572780586}"/>
              </a:ext>
            </a:extLst>
          </p:cNvPr>
          <p:cNvSpPr>
            <a:spLocks xmlns:a="http://schemas.openxmlformats.org/drawingml/2006/main" noGrp="1"/>
          </p:cNvSpPr>
          <p:nvPr/>
        </p:nvSpPr>
        <p:spPr>
          <a:xfrm xmlns:a="http://schemas.openxmlformats.org/drawingml/2006/main">
            <a:off x="7743825" y="3733800"/>
            <a:ext cx="1866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5A9C"/>
                </a:solidFill>
                <a:latin typeface="Arial"/>
                <a:ea typeface="Arial"/>
                <a:cs typeface="Arial"/>
              </a:defRPr>
            </a:defPPr>
            <a:lvl1pPr algn="l">
              <a:defRPr sz="1725" b="1">
                <a:solidFill>
                  <a:srgbClr val="005A9C"/>
                </a:solidFill>
                <a:latin typeface="Arial"/>
                <a:ea typeface="Arial"/>
                <a:cs typeface="Arial"/>
              </a:defRPr>
            </a:lvl1pPr>
            <a:lvl2pPr algn="l">
              <a:defRPr sz="1725" b="1">
                <a:solidFill>
                  <a:srgbClr val="005A9C"/>
                </a:solidFill>
                <a:latin typeface="Arial"/>
                <a:ea typeface="Arial"/>
                <a:cs typeface="Arial"/>
              </a:defRPr>
            </a:lvl2pPr>
            <a:lvl3pPr algn="l">
              <a:defRPr sz="1725" b="1">
                <a:solidFill>
                  <a:srgbClr val="005A9C"/>
                </a:solidFill>
                <a:latin typeface="Arial"/>
                <a:ea typeface="Arial"/>
                <a:cs typeface="Arial"/>
              </a:defRPr>
            </a:lvl3pPr>
            <a:lvl4pPr algn="l">
              <a:defRPr sz="1725" b="1">
                <a:solidFill>
                  <a:srgbClr val="005A9C"/>
                </a:solidFill>
                <a:latin typeface="Arial"/>
                <a:ea typeface="Arial"/>
                <a:cs typeface="Arial"/>
              </a:defRPr>
            </a:lvl4pPr>
            <a:lvl5pPr algn="l">
              <a:defRPr sz="1725" b="1">
                <a:solidFill>
                  <a:srgbClr val="005A9C"/>
                </a:solidFill>
                <a:latin typeface="Arial"/>
                <a:ea typeface="Arial"/>
                <a:cs typeface="Arial"/>
              </a:defRPr>
            </a:lvl5pPr>
            <a:lvl6pPr algn="l">
              <a:defRPr sz="1725" b="1">
                <a:solidFill>
                  <a:srgbClr val="005A9C"/>
                </a:solidFill>
                <a:latin typeface="Arial"/>
                <a:ea typeface="Arial"/>
                <a:cs typeface="Arial"/>
              </a:defRPr>
            </a:lvl6pPr>
            <a:lvl7pPr algn="l">
              <a:defRPr sz="1725" b="1">
                <a:solidFill>
                  <a:srgbClr val="005A9C"/>
                </a:solidFill>
                <a:latin typeface="Arial"/>
                <a:ea typeface="Arial"/>
                <a:cs typeface="Arial"/>
              </a:defRPr>
            </a:lvl7pPr>
            <a:lvl8pPr algn="l">
              <a:defRPr sz="1725" b="1">
                <a:solidFill>
                  <a:srgbClr val="005A9C"/>
                </a:solidFill>
                <a:latin typeface="Arial"/>
                <a:ea typeface="Arial"/>
                <a:cs typeface="Arial"/>
              </a:defRPr>
            </a:lvl8pPr>
            <a:lvl9pPr algn="l">
              <a:defRPr sz="1725" b="1">
                <a:solidFill>
                  <a:srgbClr val="005A9C"/>
                </a:solidFill>
                <a:latin typeface="Arial"/>
                <a:ea typeface="Arial"/>
                <a:cs typeface="Arial"/>
              </a:defRPr>
            </a:lvl9pPr>
          </a:lstStyle>
          <a:p xmlns:a="http://schemas.openxmlformats.org/drawingml/2006/main">
            <a:pPr algn="l">
              <a:defRPr sz="1725" b="1">
                <a:solidFill>
                  <a:srgbClr val="005A9C"/>
                </a:solidFill>
                <a:latin typeface="Arial"/>
                <a:ea typeface="Arial"/>
                <a:cs typeface="Arial"/>
              </a:defRPr>
            </a:pPr>
            <a:r>
              <a:rPr sz="1725" b="1">
                <a:solidFill>
                  <a:srgbClr val="005A9C"/>
                </a:solidFill>
                <a:latin typeface="Arial"/>
                <a:ea typeface="Arial"/>
                <a:cs typeface="Arial"/>
              </a:rPr>
              <a:t>Operating performance</a:t>
            </a:r>
          </a:p>
        </p:txBody>
      </p:sp>
      <p:sp>
        <p:nvSpPr>
          <p:cNvPr id="32" name="!!element.0.value">
            <a:extLst xmlns:a="http://schemas.openxmlformats.org/drawingml/2006/main">
              <a:ext uri="{FF2B5EF4-FFF2-40B4-BE49-F238E27FC236}">
                <a16:creationId xmlns:a16="http://schemas.microsoft.com/office/drawing/2014/main" id="{26F55F22-4C48-4C2A-AE1E-E873B5272634}"/>
              </a:ext>
            </a:extLst>
          </p:cNvPr>
          <p:cNvSpPr>
            <a:spLocks xmlns:a="http://schemas.openxmlformats.org/drawingml/2006/main" noGrp="1"/>
          </p:cNvSpPr>
          <p:nvPr/>
        </p:nvSpPr>
        <p:spPr>
          <a:xfrm xmlns:a="http://schemas.openxmlformats.org/drawingml/2006/main">
            <a:off x="9858375" y="373380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Sales volume up 10%</a:t>
            </a:r>
          </a:p>
        </p:txBody>
      </p:sp>
      <p:sp>
        <p:nvSpPr>
          <p:cNvPr id="33" name="!!element.0.rule">
            <a:extLst xmlns:a="http://schemas.openxmlformats.org/drawingml/2006/main">
              <a:ext uri="{FF2B5EF4-FFF2-40B4-BE49-F238E27FC236}">
                <a16:creationId xmlns:a16="http://schemas.microsoft.com/office/drawing/2014/main" id="{4A4AFA78-9F1F-41E1-904A-28C528151EE0}"/>
              </a:ext>
            </a:extLst>
          </p:cNvPr>
          <p:cNvSpPr>
            <a:spLocks xmlns:a="http://schemas.openxmlformats.org/drawingml/2006/main" noGrp="1"/>
          </p:cNvSpPr>
          <p:nvPr/>
        </p:nvSpPr>
        <p:spPr>
          <a:xfrm xmlns:a="http://schemas.openxmlformats.org/drawingml/2006/main" flipH="0" flipV="0">
            <a:off x="7524750" y="4352925"/>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element.1.source">
            <a:extLst xmlns:a="http://schemas.openxmlformats.org/drawingml/2006/main">
              <a:ext uri="{FF2B5EF4-FFF2-40B4-BE49-F238E27FC236}">
                <a16:creationId xmlns:a16="http://schemas.microsoft.com/office/drawing/2014/main" id="{765FFAE0-901A-49FE-B242-BB92CE305946}"/>
              </a:ext>
            </a:extLst>
          </p:cNvPr>
          <p:cNvSpPr>
            <a:spLocks xmlns:a="http://schemas.openxmlformats.org/drawingml/2006/main" noGrp="1"/>
          </p:cNvSpPr>
          <p:nvPr/>
        </p:nvSpPr>
        <p:spPr>
          <a:xfrm xmlns:a="http://schemas.openxmlformats.org/drawingml/2006/main">
            <a:off x="4057650" y="4552950"/>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Meeting notes</a:t>
            </a:r>
          </a:p>
        </p:txBody>
      </p:sp>
      <p:sp>
        <p:nvSpPr>
          <p:cNvPr id="35" name="!!element.1.arrow.line">
            <a:extLst xmlns:a="http://schemas.openxmlformats.org/drawingml/2006/main">
              <a:ext uri="{FF2B5EF4-FFF2-40B4-BE49-F238E27FC236}">
                <a16:creationId xmlns:a16="http://schemas.microsoft.com/office/drawing/2014/main" id="{02A0FEA8-CBFE-432C-90E6-A42E3039F9A8}"/>
              </a:ext>
            </a:extLst>
          </p:cNvPr>
          <p:cNvSpPr>
            <a:spLocks xmlns:a="http://schemas.openxmlformats.org/drawingml/2006/main" noGrp="1"/>
          </p:cNvSpPr>
          <p:nvPr/>
        </p:nvSpPr>
        <p:spPr>
          <a:xfrm xmlns:a="http://schemas.openxmlformats.org/drawingml/2006/main" flipH="0" flipV="0">
            <a:off x="7077075" y="4895850"/>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element.1.arrow.tip">
            <a:extLst xmlns:a="http://schemas.openxmlformats.org/drawingml/2006/main">
              <a:ext uri="{FF2B5EF4-FFF2-40B4-BE49-F238E27FC236}">
                <a16:creationId xmlns:a16="http://schemas.microsoft.com/office/drawing/2014/main" id="{E0C2FFE7-D420-4E05-95D7-62F8090A68D0}"/>
              </a:ext>
            </a:extLst>
          </p:cNvPr>
          <p:cNvSpPr>
            <a:spLocks xmlns:a="http://schemas.openxmlformats.org/drawingml/2006/main" noGrp="1"/>
          </p:cNvSpPr>
          <p:nvPr/>
        </p:nvSpPr>
        <p:spPr>
          <a:xfrm xmlns:a="http://schemas.openxmlformats.org/drawingml/2006/main" rot="5400000">
            <a:off x="7343775" y="48387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element.1.label">
            <a:extLst xmlns:a="http://schemas.openxmlformats.org/drawingml/2006/main">
              <a:ext uri="{FF2B5EF4-FFF2-40B4-BE49-F238E27FC236}">
                <a16:creationId xmlns:a16="http://schemas.microsoft.com/office/drawing/2014/main" id="{BFE637E4-8CC9-4DC2-98BD-5997348713A9}"/>
              </a:ext>
            </a:extLst>
          </p:cNvPr>
          <p:cNvSpPr>
            <a:spLocks xmlns:a="http://schemas.openxmlformats.org/drawingml/2006/main" noGrp="1"/>
          </p:cNvSpPr>
          <p:nvPr/>
        </p:nvSpPr>
        <p:spPr>
          <a:xfrm xmlns:a="http://schemas.openxmlformats.org/drawingml/2006/main">
            <a:off x="7743825" y="4714875"/>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Business driver</a:t>
            </a:r>
          </a:p>
        </p:txBody>
      </p:sp>
      <p:sp>
        <p:nvSpPr>
          <p:cNvPr id="38" name="!!element.1.value">
            <a:extLst xmlns:a="http://schemas.openxmlformats.org/drawingml/2006/main">
              <a:ext uri="{FF2B5EF4-FFF2-40B4-BE49-F238E27FC236}">
                <a16:creationId xmlns:a16="http://schemas.microsoft.com/office/drawing/2014/main" id="{C6EB2F28-E424-4F19-A55B-30EB68E9AC4A}"/>
              </a:ext>
            </a:extLst>
          </p:cNvPr>
          <p:cNvSpPr>
            <a:spLocks xmlns:a="http://schemas.openxmlformats.org/drawingml/2006/main" noGrp="1"/>
          </p:cNvSpPr>
          <p:nvPr/>
        </p:nvSpPr>
        <p:spPr>
          <a:xfrm xmlns:a="http://schemas.openxmlformats.org/drawingml/2006/main">
            <a:off x="9858375" y="4714875"/>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Restocking lifted shipments</a:t>
            </a:r>
          </a:p>
        </p:txBody>
      </p:sp>
      <p:sp>
        <p:nvSpPr>
          <p:cNvPr id="39" name="!!element.1.rule">
            <a:extLst xmlns:a="http://schemas.openxmlformats.org/drawingml/2006/main">
              <a:ext uri="{FF2B5EF4-FFF2-40B4-BE49-F238E27FC236}">
                <a16:creationId xmlns:a16="http://schemas.microsoft.com/office/drawing/2014/main" id="{C213ED09-5ABD-410E-A925-FF19C4CCE4B8}"/>
              </a:ext>
            </a:extLst>
          </p:cNvPr>
          <p:cNvSpPr>
            <a:spLocks xmlns:a="http://schemas.openxmlformats.org/drawingml/2006/main" noGrp="1"/>
          </p:cNvSpPr>
          <p:nvPr/>
        </p:nvSpPr>
        <p:spPr>
          <a:xfrm xmlns:a="http://schemas.openxmlformats.org/drawingml/2006/main" flipH="0" flipV="0">
            <a:off x="7524750" y="5334000"/>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0" name="!!element.2.source">
            <a:extLst xmlns:a="http://schemas.openxmlformats.org/drawingml/2006/main">
              <a:ext uri="{FF2B5EF4-FFF2-40B4-BE49-F238E27FC236}">
                <a16:creationId xmlns:a16="http://schemas.microsoft.com/office/drawing/2014/main" id="{3F59F035-382F-4D55-AA99-C136A6305248}"/>
              </a:ext>
            </a:extLst>
          </p:cNvPr>
          <p:cNvSpPr>
            <a:spLocks xmlns:a="http://schemas.openxmlformats.org/drawingml/2006/main" noGrp="1"/>
          </p:cNvSpPr>
          <p:nvPr/>
        </p:nvSpPr>
        <p:spPr>
          <a:xfrm xmlns:a="http://schemas.openxmlformats.org/drawingml/2006/main">
            <a:off x="4057650" y="5534025"/>
            <a:ext cx="2924175"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Research reports</a:t>
            </a:r>
          </a:p>
        </p:txBody>
      </p:sp>
      <p:sp>
        <p:nvSpPr>
          <p:cNvPr id="41" name="!!element.2.arrow.line">
            <a:extLst xmlns:a="http://schemas.openxmlformats.org/drawingml/2006/main">
              <a:ext uri="{FF2B5EF4-FFF2-40B4-BE49-F238E27FC236}">
                <a16:creationId xmlns:a16="http://schemas.microsoft.com/office/drawing/2014/main" id="{1F0DE5E5-E68A-4F8F-9D89-D62657DBBBE9}"/>
              </a:ext>
            </a:extLst>
          </p:cNvPr>
          <p:cNvSpPr>
            <a:spLocks xmlns:a="http://schemas.openxmlformats.org/drawingml/2006/main" noGrp="1"/>
          </p:cNvSpPr>
          <p:nvPr/>
        </p:nvSpPr>
        <p:spPr>
          <a:xfrm xmlns:a="http://schemas.openxmlformats.org/drawingml/2006/main" flipH="0" flipV="0">
            <a:off x="7077075" y="5876925"/>
            <a:ext cx="3238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2" name="!!element.2.arrow.tip">
            <a:extLst xmlns:a="http://schemas.openxmlformats.org/drawingml/2006/main">
              <a:ext uri="{FF2B5EF4-FFF2-40B4-BE49-F238E27FC236}">
                <a16:creationId xmlns:a16="http://schemas.microsoft.com/office/drawing/2014/main" id="{287384C8-198F-4A87-860D-97CDE6E410B3}"/>
              </a:ext>
            </a:extLst>
          </p:cNvPr>
          <p:cNvSpPr>
            <a:spLocks xmlns:a="http://schemas.openxmlformats.org/drawingml/2006/main" noGrp="1"/>
          </p:cNvSpPr>
          <p:nvPr/>
        </p:nvSpPr>
        <p:spPr>
          <a:xfrm xmlns:a="http://schemas.openxmlformats.org/drawingml/2006/main" rot="5400000">
            <a:off x="7343775" y="58197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element.2.label">
            <a:extLst xmlns:a="http://schemas.openxmlformats.org/drawingml/2006/main">
              <a:ext uri="{FF2B5EF4-FFF2-40B4-BE49-F238E27FC236}">
                <a16:creationId xmlns:a16="http://schemas.microsoft.com/office/drawing/2014/main" id="{C0C73712-125E-4641-ABA0-5060C3606E45}"/>
              </a:ext>
            </a:extLst>
          </p:cNvPr>
          <p:cNvSpPr>
            <a:spLocks xmlns:a="http://schemas.openxmlformats.org/drawingml/2006/main" noGrp="1"/>
          </p:cNvSpPr>
          <p:nvPr/>
        </p:nvSpPr>
        <p:spPr>
          <a:xfrm xmlns:a="http://schemas.openxmlformats.org/drawingml/2006/main">
            <a:off x="7743825" y="569595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Open question</a:t>
            </a:r>
          </a:p>
        </p:txBody>
      </p:sp>
      <p:sp>
        <p:nvSpPr>
          <p:cNvPr id="44" name="!!element.2.value">
            <a:extLst xmlns:a="http://schemas.openxmlformats.org/drawingml/2006/main">
              <a:ext uri="{FF2B5EF4-FFF2-40B4-BE49-F238E27FC236}">
                <a16:creationId xmlns:a16="http://schemas.microsoft.com/office/drawing/2014/main" id="{A0D1DDAD-AF63-4CBB-A678-52B85B67F8A9}"/>
              </a:ext>
            </a:extLst>
          </p:cNvPr>
          <p:cNvSpPr>
            <a:spLocks xmlns:a="http://schemas.openxmlformats.org/drawingml/2006/main" noGrp="1"/>
          </p:cNvSpPr>
          <p:nvPr/>
        </p:nvSpPr>
        <p:spPr>
          <a:xfrm xmlns:a="http://schemas.openxmlformats.org/drawingml/2006/main">
            <a:off x="9858375" y="5695950"/>
            <a:ext cx="449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Will restocking continue?</a:t>
            </a:r>
          </a:p>
        </p:txBody>
      </p:sp>
      <p:sp>
        <p:nvSpPr>
          <p:cNvPr id="45" name="!!element.2.rule">
            <a:extLst xmlns:a="http://schemas.openxmlformats.org/drawingml/2006/main">
              <a:ext uri="{FF2B5EF4-FFF2-40B4-BE49-F238E27FC236}">
                <a16:creationId xmlns:a16="http://schemas.microsoft.com/office/drawing/2014/main" id="{62989EF7-8164-479C-9F8B-45116B32BB7C}"/>
              </a:ext>
            </a:extLst>
          </p:cNvPr>
          <p:cNvSpPr>
            <a:spLocks xmlns:a="http://schemas.openxmlformats.org/drawingml/2006/main" noGrp="1"/>
          </p:cNvSpPr>
          <p:nvPr/>
        </p:nvSpPr>
        <p:spPr>
          <a:xfrm xmlns:a="http://schemas.openxmlformats.org/drawingml/2006/main" flipH="0" flipV="0">
            <a:off x="7524750" y="6315075"/>
            <a:ext cx="70675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6" name="!!elements.stat">
            <a:extLst xmlns:a="http://schemas.openxmlformats.org/drawingml/2006/main">
              <a:ext uri="{FF2B5EF4-FFF2-40B4-BE49-F238E27FC236}">
                <a16:creationId xmlns:a16="http://schemas.microsoft.com/office/drawing/2014/main" id="{A294837C-997C-4B86-96C9-DDA125307658}"/>
              </a:ext>
            </a:extLst>
          </p:cNvPr>
          <p:cNvSpPr>
            <a:spLocks xmlns:a="http://schemas.openxmlformats.org/drawingml/2006/main" noGrp="1"/>
          </p:cNvSpPr>
          <p:nvPr/>
        </p:nvSpPr>
        <p:spPr>
          <a:xfrm xmlns:a="http://schemas.openxmlformats.org/drawingml/2006/main">
            <a:off x="4057650" y="6296025"/>
            <a:ext cx="10534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5A9C"/>
                </a:solidFill>
                <a:latin typeface="Arial"/>
                <a:ea typeface="Arial"/>
                <a:cs typeface="Arial"/>
              </a:defRPr>
            </a:defPPr>
            <a:lvl1pPr algn="l">
              <a:defRPr sz="1950" b="1">
                <a:solidFill>
                  <a:srgbClr val="005A9C"/>
                </a:solidFill>
                <a:latin typeface="Arial"/>
                <a:ea typeface="Arial"/>
                <a:cs typeface="Arial"/>
              </a:defRPr>
            </a:lvl1pPr>
            <a:lvl2pPr algn="l">
              <a:defRPr sz="1950" b="1">
                <a:solidFill>
                  <a:srgbClr val="005A9C"/>
                </a:solidFill>
                <a:latin typeface="Arial"/>
                <a:ea typeface="Arial"/>
                <a:cs typeface="Arial"/>
              </a:defRPr>
            </a:lvl2pPr>
            <a:lvl3pPr algn="l">
              <a:defRPr sz="1950" b="1">
                <a:solidFill>
                  <a:srgbClr val="005A9C"/>
                </a:solidFill>
                <a:latin typeface="Arial"/>
                <a:ea typeface="Arial"/>
                <a:cs typeface="Arial"/>
              </a:defRPr>
            </a:lvl3pPr>
            <a:lvl4pPr algn="l">
              <a:defRPr sz="1950" b="1">
                <a:solidFill>
                  <a:srgbClr val="005A9C"/>
                </a:solidFill>
                <a:latin typeface="Arial"/>
                <a:ea typeface="Arial"/>
                <a:cs typeface="Arial"/>
              </a:defRPr>
            </a:lvl4pPr>
            <a:lvl5pPr algn="l">
              <a:defRPr sz="1950" b="1">
                <a:solidFill>
                  <a:srgbClr val="005A9C"/>
                </a:solidFill>
                <a:latin typeface="Arial"/>
                <a:ea typeface="Arial"/>
                <a:cs typeface="Arial"/>
              </a:defRPr>
            </a:lvl5pPr>
            <a:lvl6pPr algn="l">
              <a:defRPr sz="1950" b="1">
                <a:solidFill>
                  <a:srgbClr val="005A9C"/>
                </a:solidFill>
                <a:latin typeface="Arial"/>
                <a:ea typeface="Arial"/>
                <a:cs typeface="Arial"/>
              </a:defRPr>
            </a:lvl6pPr>
            <a:lvl7pPr algn="l">
              <a:defRPr sz="1950" b="1">
                <a:solidFill>
                  <a:srgbClr val="005A9C"/>
                </a:solidFill>
                <a:latin typeface="Arial"/>
                <a:ea typeface="Arial"/>
                <a:cs typeface="Arial"/>
              </a:defRPr>
            </a:lvl7pPr>
            <a:lvl8pPr algn="l">
              <a:defRPr sz="1950" b="1">
                <a:solidFill>
                  <a:srgbClr val="005A9C"/>
                </a:solidFill>
                <a:latin typeface="Arial"/>
                <a:ea typeface="Arial"/>
                <a:cs typeface="Arial"/>
              </a:defRPr>
            </a:lvl8pPr>
            <a:lvl9pPr algn="l">
              <a:defRPr sz="1950" b="1">
                <a:solidFill>
                  <a:srgbClr val="005A9C"/>
                </a:solidFill>
                <a:latin typeface="Arial"/>
                <a:ea typeface="Arial"/>
                <a:cs typeface="Arial"/>
              </a:defRPr>
            </a:lvl9pPr>
          </a:lstStyle>
          <a:p xmlns:a="http://schemas.openxmlformats.org/drawingml/2006/main">
            <a:pPr algn="l">
              <a:defRPr sz="1950" b="1">
                <a:solidFill>
                  <a:srgbClr val="005A9C"/>
                </a:solidFill>
                <a:latin typeface="Arial"/>
                <a:ea typeface="Arial"/>
                <a:cs typeface="Arial"/>
              </a:defRPr>
            </a:pPr>
            <a:r>
              <a:rPr sz="1950" b="1">
                <a:solidFill>
                  <a:srgbClr val="005A9C"/>
                </a:solidFill>
                <a:latin typeface="Arial"/>
                <a:ea typeface="Arial"/>
                <a:cs typeface="Arial"/>
              </a:rPr>
              <a:t>Research preparation efficiency: approximately 50% higher</a:t>
            </a:r>
          </a:p>
          <a:p xmlns:a="http://schemas.openxmlformats.org/drawingml/2006/main">
            <a:pPr algn="l">
              <a:defRPr sz="1950" b="1">
                <a:solidFill>
                  <a:srgbClr val="005A9C"/>
                </a:solidFill>
                <a:latin typeface="Arial"/>
                <a:ea typeface="Arial"/>
                <a:cs typeface="Arial"/>
              </a:defRPr>
            </a:pPr>
            <a:r>
              <a:rPr sz="1950" b="1">
                <a:solidFill>
                  <a:srgbClr val="005A9C"/>
                </a:solidFill>
                <a:latin typeface="Arial"/>
                <a:ea typeface="Arial"/>
                <a:cs typeface="Arial"/>
              </a:rPr>
              <a:t>Reported by Zhong Ou, as of May 2026</a:t>
            </a:r>
          </a:p>
        </p:txBody>
      </p:sp>
      <p:sp>
        <p:nvSpPr>
          <p:cNvPr id="47" name="!!elements.user">
            <a:extLst xmlns:a="http://schemas.openxmlformats.org/drawingml/2006/main">
              <a:ext uri="{FF2B5EF4-FFF2-40B4-BE49-F238E27FC236}">
                <a16:creationId xmlns:a16="http://schemas.microsoft.com/office/drawing/2014/main" id="{6357889D-0A83-4F06-A824-C0F5FC2F7A2A}"/>
              </a:ext>
            </a:extLst>
          </p:cNvPr>
          <p:cNvSpPr>
            <a:spLocks xmlns:a="http://schemas.openxmlformats.org/drawingml/2006/main" noGrp="1"/>
          </p:cNvSpPr>
          <p:nvPr/>
        </p:nvSpPr>
        <p:spPr>
          <a:xfrm xmlns:a="http://schemas.openxmlformats.org/drawingml/2006/main">
            <a:off x="4057650" y="7134225"/>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Analysts check the entries and sources, then add their own assessment</a:t>
            </a:r>
          </a:p>
        </p:txBody>
      </p:sp>
      <p:sp>
        <p:nvSpPr>
          <p:cNvPr id="49" name="!!story.header.issuer.bar">
            <a:extLst xmlns:a="http://schemas.openxmlformats.org/drawingml/2006/main">
              <a:ext uri="{FF2B5EF4-FFF2-40B4-BE49-F238E27FC236}">
                <a16:creationId xmlns:a16="http://schemas.microsoft.com/office/drawing/2014/main" id="{17CA4EB3-F563-4DE8-B5C4-0F18686623B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0" name="!!story.header.issuer.name">
            <a:extLst xmlns:a="http://schemas.openxmlformats.org/drawingml/2006/main">
              <a:ext uri="{FF2B5EF4-FFF2-40B4-BE49-F238E27FC236}">
                <a16:creationId xmlns:a16="http://schemas.microsoft.com/office/drawing/2014/main" id="{6B271510-E772-4D09-9CA5-4860E518D44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1" name="!!story.header.issuer.qualifier">
            <a:extLst xmlns:a="http://schemas.openxmlformats.org/drawingml/2006/main">
              <a:ext uri="{FF2B5EF4-FFF2-40B4-BE49-F238E27FC236}">
                <a16:creationId xmlns:a16="http://schemas.microsoft.com/office/drawing/2014/main" id="{991BE131-CDF1-4214-AF68-7C2CF44512B2}"/>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52" name="!!story.issuer.source.row.0">
            <a:extLst xmlns:a="http://schemas.openxmlformats.org/drawingml/2006/main">
              <a:ext uri="{FF2B5EF4-FFF2-40B4-BE49-F238E27FC236}">
                <a16:creationId xmlns:a16="http://schemas.microsoft.com/office/drawing/2014/main" id="{641A5A07-4E20-49D4-B4AB-627E8D2F404F}"/>
              </a:ext>
            </a:extLst>
          </p:cNvPr>
          <p:cNvSpPr>
            <a:spLocks xmlns:a="http://schemas.openxmlformats.org/drawingml/2006/main" noGrp="1"/>
          </p:cNvSpPr>
          <p:nvPr/>
        </p:nvSpPr>
        <p:spPr>
          <a:xfrm xmlns:a="http://schemas.openxmlformats.org/drawingml/2006/main">
            <a:off x="3943350" y="3571875"/>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analysis.row.0">
            <a:extLst xmlns:a="http://schemas.openxmlformats.org/drawingml/2006/main">
              <a:ext uri="{FF2B5EF4-FFF2-40B4-BE49-F238E27FC236}">
                <a16:creationId xmlns:a16="http://schemas.microsoft.com/office/drawing/2014/main" id="{72F82A63-9DC7-4E39-B5C3-6BA67101C40E}"/>
              </a:ext>
            </a:extLst>
          </p:cNvPr>
          <p:cNvSpPr>
            <a:spLocks xmlns:a="http://schemas.openxmlformats.org/drawingml/2006/main" noGrp="1"/>
          </p:cNvSpPr>
          <p:nvPr/>
        </p:nvSpPr>
        <p:spPr>
          <a:xfrm xmlns:a="http://schemas.openxmlformats.org/drawingml/2006/main">
            <a:off x="7410450" y="3571875"/>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source.row.1">
            <a:extLst xmlns:a="http://schemas.openxmlformats.org/drawingml/2006/main">
              <a:ext uri="{FF2B5EF4-FFF2-40B4-BE49-F238E27FC236}">
                <a16:creationId xmlns:a16="http://schemas.microsoft.com/office/drawing/2014/main" id="{ACFFBCB7-2F69-444E-9D8C-3D210E3E8FA9}"/>
              </a:ext>
            </a:extLst>
          </p:cNvPr>
          <p:cNvSpPr>
            <a:spLocks xmlns:a="http://schemas.openxmlformats.org/drawingml/2006/main" noGrp="1"/>
          </p:cNvSpPr>
          <p:nvPr/>
        </p:nvSpPr>
        <p:spPr>
          <a:xfrm xmlns:a="http://schemas.openxmlformats.org/drawingml/2006/main">
            <a:off x="3943350" y="4552950"/>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analysis.row.1">
            <a:extLst xmlns:a="http://schemas.openxmlformats.org/drawingml/2006/main">
              <a:ext uri="{FF2B5EF4-FFF2-40B4-BE49-F238E27FC236}">
                <a16:creationId xmlns:a16="http://schemas.microsoft.com/office/drawing/2014/main" id="{EAE34299-5273-4A57-B0C0-99F19019EEAC}"/>
              </a:ext>
            </a:extLst>
          </p:cNvPr>
          <p:cNvSpPr>
            <a:spLocks xmlns:a="http://schemas.openxmlformats.org/drawingml/2006/main" noGrp="1"/>
          </p:cNvSpPr>
          <p:nvPr/>
        </p:nvSpPr>
        <p:spPr>
          <a:xfrm xmlns:a="http://schemas.openxmlformats.org/drawingml/2006/main">
            <a:off x="7410450" y="4552950"/>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6" name="!!story.issuer.source.row.2">
            <a:extLst xmlns:a="http://schemas.openxmlformats.org/drawingml/2006/main">
              <a:ext uri="{FF2B5EF4-FFF2-40B4-BE49-F238E27FC236}">
                <a16:creationId xmlns:a16="http://schemas.microsoft.com/office/drawing/2014/main" id="{28E8BDA7-E8BE-42B6-99D9-AB1A1F39A8F9}"/>
              </a:ext>
            </a:extLst>
          </p:cNvPr>
          <p:cNvSpPr>
            <a:spLocks xmlns:a="http://schemas.openxmlformats.org/drawingml/2006/main" noGrp="1"/>
          </p:cNvSpPr>
          <p:nvPr/>
        </p:nvSpPr>
        <p:spPr>
          <a:xfrm xmlns:a="http://schemas.openxmlformats.org/drawingml/2006/main">
            <a:off x="3943350" y="5534025"/>
            <a:ext cx="57150" cy="6858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7" name="!!story.issuer.analysis.row.2">
            <a:extLst xmlns:a="http://schemas.openxmlformats.org/drawingml/2006/main">
              <a:ext uri="{FF2B5EF4-FFF2-40B4-BE49-F238E27FC236}">
                <a16:creationId xmlns:a16="http://schemas.microsoft.com/office/drawing/2014/main" id="{948EE24B-696C-4B6A-A015-FE829850DA33}"/>
              </a:ext>
            </a:extLst>
          </p:cNvPr>
          <p:cNvSpPr>
            <a:spLocks xmlns:a="http://schemas.openxmlformats.org/drawingml/2006/main" noGrp="1"/>
          </p:cNvSpPr>
          <p:nvPr/>
        </p:nvSpPr>
        <p:spPr>
          <a:xfrm xmlns:a="http://schemas.openxmlformats.org/drawingml/2006/main">
            <a:off x="7410450" y="5534025"/>
            <a:ext cx="57150" cy="7810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58400565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44"/>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45"/>
                                  </p:tgtEl>
                                  <p:attrNameLst>
                                    <p:attrName>style.visibility</p:attrName>
                                  </p:attrNameLst>
                                </p:cBhvr>
                                <p:to>
                                  <p:strVal val="visible"/>
                                </p:to>
                              </p:set>
                            </p:childTnLst>
                          </p:cTn>
                        </p:par>
                        <p:par>
                          <p:cTn id="40" presetID="1" presetClass="entr" presetSubtype="0" fill="hold" nodeType="withEffect" grpId="0">
                            <p:stCondLst>
                              <p:cond delay="150"/>
                            </p:stCondLst>
                            <p:childTnLst>
                              <p:set>
                                <p:cBhvr>
                                  <p:cTn id="41" dur="1" fill="hold">
                                    <p:stCondLst>
                                      <p:cond delay="0"/>
                                    </p:stCondLst>
                                  </p:cTn>
                                  <p:tgtEl>
                                    <p:spTgt spid="52"/>
                                  </p:tgtEl>
                                  <p:attrNameLst>
                                    <p:attrName>style.visibility</p:attrName>
                                  </p:attrNameLst>
                                </p:cBhvr>
                                <p:to>
                                  <p:strVal val="visible"/>
                                </p:to>
                              </p:set>
                            </p:childTnLst>
                          </p:cTn>
                        </p:par>
                        <p:par>
                          <p:cTn id="42" presetID="1" presetClass="entr" presetSubtype="0" fill="hold" nodeType="withEffect" grpId="0">
                            <p:stCondLst>
                              <p:cond delay="150"/>
                            </p:stCondLst>
                            <p:childTnLst>
                              <p:set>
                                <p:cBhvr>
                                  <p:cTn id="43" dur="1" fill="hold">
                                    <p:stCondLst>
                                      <p:cond delay="0"/>
                                    </p:stCondLst>
                                  </p:cTn>
                                  <p:tgtEl>
                                    <p:spTgt spid="53"/>
                                  </p:tgtEl>
                                  <p:attrNameLst>
                                    <p:attrName>style.visibility</p:attrName>
                                  </p:attrNameLst>
                                </p:cBhvr>
                                <p:to>
                                  <p:strVal val="visible"/>
                                </p:to>
                              </p:set>
                            </p:childTnLst>
                          </p:cTn>
                        </p:par>
                        <p:par>
                          <p:cTn id="44" presetID="1" presetClass="entr" presetSubtype="0" fill="hold" nodeType="withEffect" grpId="0">
                            <p:stCondLst>
                              <p:cond delay="700"/>
                            </p:stCondLst>
                            <p:childTnLst>
                              <p:set>
                                <p:cBhvr>
                                  <p:cTn id="45" dur="1" fill="hold">
                                    <p:stCondLst>
                                      <p:cond delay="0"/>
                                    </p:stCondLst>
                                  </p:cTn>
                                  <p:tgtEl>
                                    <p:spTgt spid="54"/>
                                  </p:tgtEl>
                                  <p:attrNameLst>
                                    <p:attrName>style.visibility</p:attrName>
                                  </p:attrNameLst>
                                </p:cBhvr>
                                <p:to>
                                  <p:strVal val="visible"/>
                                </p:to>
                              </p:set>
                            </p:childTnLst>
                          </p:cTn>
                        </p:par>
                        <p:par>
                          <p:cTn id="46" presetID="1" presetClass="entr" presetSubtype="0" fill="hold" nodeType="withEffect" grpId="0">
                            <p:stCondLst>
                              <p:cond delay="700"/>
                            </p:stCondLst>
                            <p:childTnLst>
                              <p:set>
                                <p:cBhvr>
                                  <p:cTn id="47" dur="1" fill="hold">
                                    <p:stCondLst>
                                      <p:cond delay="0"/>
                                    </p:stCondLst>
                                  </p:cTn>
                                  <p:tgtEl>
                                    <p:spTgt spid="55"/>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56"/>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5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52" grpId="0" animBg="1"/>
      <p:bldP spid="53" grpId="0" animBg="1"/>
      <p:bldP spid="54" grpId="0" animBg="1"/>
      <p:bldP spid="55" grpId="0" animBg="1"/>
      <p:bldP spid="56" grpId="0" animBg="1"/>
      <p:bldP spid="57"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heading">
            <a:extLst xmlns:a="http://schemas.openxmlformats.org/drawingml/2006/main">
              <a:ext uri="{FF2B5EF4-FFF2-40B4-BE49-F238E27FC236}">
                <a16:creationId xmlns:a16="http://schemas.microsoft.com/office/drawing/2014/main" id="{E059F438-C185-4716-84A3-7B27611A6BE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company research</a:t>
            </a:r>
          </a:p>
        </p:txBody>
      </p:sp>
      <p:sp>
        <p:nvSpPr>
          <p:cNvPr id="2" name="!!subtitle">
            <a:extLst xmlns:a="http://schemas.openxmlformats.org/drawingml/2006/main">
              <a:ext uri="{FF2B5EF4-FFF2-40B4-BE49-F238E27FC236}">
                <a16:creationId xmlns:a16="http://schemas.microsoft.com/office/drawing/2014/main" id="{F5A1E63A-F872-4939-908D-49419FB0618B}"/>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Investment research  /  Proposed application</a:t>
            </a:r>
          </a:p>
        </p:txBody>
      </p:sp>
      <p:sp>
        <p:nvSpPr>
          <p:cNvPr id="3" name="!!heading.rule">
            <a:extLst xmlns:a="http://schemas.openxmlformats.org/drawingml/2006/main">
              <a:ext uri="{FF2B5EF4-FFF2-40B4-BE49-F238E27FC236}">
                <a16:creationId xmlns:a16="http://schemas.microsoft.com/office/drawing/2014/main" id="{2DB1FB09-6DB7-4B9E-BC80-52FD4351447B}"/>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515E9394-8C7E-466B-A6FE-E7FD7C7B7903}"/>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CAEDD96-E24B-4043-81B5-B88108CEB36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35250D5-81C6-4F82-B4DF-F4DF453F53D6}"/>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67B60BC-6126-45E3-ACBC-A2D5D228F57B}"/>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9866CA6-FDB5-4556-B1BC-8C8581F36A84}"/>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655F8A-3B9B-4301-BCFF-B4114C592D9E}"/>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30C8A88-ADCE-4CA2-A11D-1E7FAC675EB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518DB30F-7998-4CF3-A734-CE45A62AACF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1E5C6A00-BCC7-4034-A51B-585BBF393CE4}"/>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9D00F754-E848-44A2-B0F3-3DA59CEC064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6C0F2F6-7328-49FB-BEE7-2FC05202534F}"/>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FD423BA-3834-4C0A-97D5-CEB43A549546}"/>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CC421B4-63BC-4D49-9C0F-C870B9C6654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FA3E4B3-2C3A-4FE2-AAC0-B2D2AEB7A3CA}"/>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DB129E-9F24-4E21-8D69-F6736666C625}"/>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706702D-D55B-4D04-93B9-84320F8E3BA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C3E560CD-A9F6-4E20-A2EE-EEEF0F3C1DD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8 / 33</a:t>
            </a:r>
          </a:p>
        </p:txBody>
      </p:sp>
      <p:sp>
        <p:nvSpPr>
          <p:cNvPr id="21" name="!!nav.prev">
            <ns0:hlinkClick xmlns:ns0="http://schemas.openxmlformats.org/drawingml/2006/main" xmlns:ns1="http://schemas.openxmlformats.org/officeDocument/2006/relationships" ns1:id="rIdNavSlide7" action="ppaction://hlinksldjump" tooltip="Slide 7: Zhong Ou: populating research templates"/>
            <a:extLst xmlns:a="http://schemas.openxmlformats.org/drawingml/2006/main">
              <a:ext uri="{FF2B5EF4-FFF2-40B4-BE49-F238E27FC236}">
                <a16:creationId xmlns:a16="http://schemas.microsoft.com/office/drawing/2014/main" id="{E18762E3-B466-4633-B0B1-54140495412E}"/>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8D902BD-7EFB-4378-BE57-80DA149DC65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77F87DE7-94F1-46A4-AFD8-B1D0B2625A69}"/>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B5B5EA3D-B4E8-46F9-BC8D-66E30522E1E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Fullgoal; Zhong Ou; Aegon-Industrial</a:t>
            </a:r>
          </a:p>
        </p:txBody>
      </p:sp>
      <p:sp>
        <p:nvSpPr>
          <p:cNvPr id="25" name="!!research.question">
            <a:extLst xmlns:a="http://schemas.openxmlformats.org/drawingml/2006/main">
              <a:ext uri="{FF2B5EF4-FFF2-40B4-BE49-F238E27FC236}">
                <a16:creationId xmlns:a16="http://schemas.microsoft.com/office/drawing/2014/main" id="{0B6618EB-B285-4B12-8D04-CD6E08EBD3CE}"/>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What drove revenue growth this quarter, and is it sustainable?</a:t>
            </a:r>
          </a:p>
        </p:txBody>
      </p:sp>
      <p:sp>
        <p:nvSpPr>
          <p:cNvPr id="26" name="!!research.evidence.1.rule">
            <a:extLst xmlns:a="http://schemas.openxmlformats.org/drawingml/2006/main">
              <a:ext uri="{FF2B5EF4-FFF2-40B4-BE49-F238E27FC236}">
                <a16:creationId xmlns:a16="http://schemas.microsoft.com/office/drawing/2014/main" id="{DDC32748-F651-4B12-A8FE-0EBE1989CC5E}"/>
              </a:ext>
            </a:extLst>
          </p:cNvPr>
          <p:cNvSpPr>
            <a:spLocks xmlns:a="http://schemas.openxmlformats.org/drawingml/2006/main" noGrp="1"/>
          </p:cNvSpPr>
          <p:nvPr/>
        </p:nvSpPr>
        <p:spPr>
          <a:xfrm xmlns:a="http://schemas.openxmlformats.org/drawingml/2006/main" flipH="0" flipV="0">
            <a:off x="4057650" y="2952750"/>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7" name="!!research.evidence.1.label">
            <a:extLst xmlns:a="http://schemas.openxmlformats.org/drawingml/2006/main">
              <a:ext uri="{FF2B5EF4-FFF2-40B4-BE49-F238E27FC236}">
                <a16:creationId xmlns:a16="http://schemas.microsoft.com/office/drawing/2014/main" id="{769DD3B5-6FB5-409B-B6A2-B33D70DF6F57}"/>
              </a:ext>
            </a:extLst>
          </p:cNvPr>
          <p:cNvSpPr>
            <a:spLocks xmlns:a="http://schemas.openxmlformats.org/drawingml/2006/main" noGrp="1"/>
          </p:cNvSpPr>
          <p:nvPr/>
        </p:nvSpPr>
        <p:spPr>
          <a:xfrm xmlns:a="http://schemas.openxmlformats.org/drawingml/2006/main">
            <a:off x="4057650" y="304800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17F7B"/>
                </a:solidFill>
                <a:latin typeface="Arial"/>
                <a:ea typeface="Arial"/>
                <a:cs typeface="Arial"/>
              </a:defRPr>
            </a:defPPr>
            <a:lvl1pPr algn="l">
              <a:defRPr sz="1575" b="1">
                <a:solidFill>
                  <a:srgbClr val="317F7B"/>
                </a:solidFill>
                <a:latin typeface="Arial"/>
                <a:ea typeface="Arial"/>
                <a:cs typeface="Arial"/>
              </a:defRPr>
            </a:lvl1pPr>
            <a:lvl2pPr algn="l">
              <a:defRPr sz="1575" b="1">
                <a:solidFill>
                  <a:srgbClr val="317F7B"/>
                </a:solidFill>
                <a:latin typeface="Arial"/>
                <a:ea typeface="Arial"/>
                <a:cs typeface="Arial"/>
              </a:defRPr>
            </a:lvl2pPr>
            <a:lvl3pPr algn="l">
              <a:defRPr sz="1575" b="1">
                <a:solidFill>
                  <a:srgbClr val="317F7B"/>
                </a:solidFill>
                <a:latin typeface="Arial"/>
                <a:ea typeface="Arial"/>
                <a:cs typeface="Arial"/>
              </a:defRPr>
            </a:lvl3pPr>
            <a:lvl4pPr algn="l">
              <a:defRPr sz="1575" b="1">
                <a:solidFill>
                  <a:srgbClr val="317F7B"/>
                </a:solidFill>
                <a:latin typeface="Arial"/>
                <a:ea typeface="Arial"/>
                <a:cs typeface="Arial"/>
              </a:defRPr>
            </a:lvl4pPr>
            <a:lvl5pPr algn="l">
              <a:defRPr sz="1575" b="1">
                <a:solidFill>
                  <a:srgbClr val="317F7B"/>
                </a:solidFill>
                <a:latin typeface="Arial"/>
                <a:ea typeface="Arial"/>
                <a:cs typeface="Arial"/>
              </a:defRPr>
            </a:lvl5pPr>
            <a:lvl6pPr algn="l">
              <a:defRPr sz="1575" b="1">
                <a:solidFill>
                  <a:srgbClr val="317F7B"/>
                </a:solidFill>
                <a:latin typeface="Arial"/>
                <a:ea typeface="Arial"/>
                <a:cs typeface="Arial"/>
              </a:defRPr>
            </a:lvl6pPr>
            <a:lvl7pPr algn="l">
              <a:defRPr sz="1575" b="1">
                <a:solidFill>
                  <a:srgbClr val="317F7B"/>
                </a:solidFill>
                <a:latin typeface="Arial"/>
                <a:ea typeface="Arial"/>
                <a:cs typeface="Arial"/>
              </a:defRPr>
            </a:lvl7pPr>
            <a:lvl8pPr algn="l">
              <a:defRPr sz="1575" b="1">
                <a:solidFill>
                  <a:srgbClr val="317F7B"/>
                </a:solidFill>
                <a:latin typeface="Arial"/>
                <a:ea typeface="Arial"/>
                <a:cs typeface="Arial"/>
              </a:defRPr>
            </a:lvl8pPr>
            <a:lvl9pPr algn="l">
              <a:defRPr sz="1575" b="1">
                <a:solidFill>
                  <a:srgbClr val="317F7B"/>
                </a:solidFill>
                <a:latin typeface="Arial"/>
                <a:ea typeface="Arial"/>
                <a:cs typeface="Arial"/>
              </a:defRPr>
            </a:lvl9pPr>
          </a:lstStyle>
          <a:p xmlns:a="http://schemas.openxmlformats.org/drawingml/2006/main">
            <a:pPr algn="l">
              <a:defRPr sz="1575" b="1">
                <a:solidFill>
                  <a:srgbClr val="317F7B"/>
                </a:solidFill>
                <a:latin typeface="Arial"/>
                <a:ea typeface="Arial"/>
                <a:cs typeface="Arial"/>
              </a:defRPr>
            </a:pPr>
            <a:r>
              <a:rPr sz="1575" b="1">
                <a:solidFill>
                  <a:srgbClr val="317F7B"/>
                </a:solidFill>
                <a:latin typeface="Arial"/>
                <a:ea typeface="Arial"/>
                <a:cs typeface="Arial"/>
              </a:rPr>
              <a:t>[1] Prior / current quarter</a:t>
            </a:r>
          </a:p>
        </p:txBody>
      </p:sp>
      <p:sp>
        <p:nvSpPr>
          <p:cNvPr id="28" name="!!research.evidence.1.text">
            <a:extLst xmlns:a="http://schemas.openxmlformats.org/drawingml/2006/main">
              <a:ext uri="{FF2B5EF4-FFF2-40B4-BE49-F238E27FC236}">
                <a16:creationId xmlns:a16="http://schemas.microsoft.com/office/drawing/2014/main" id="{7C125E5B-714F-4E1A-B488-DF77D325DA61}"/>
              </a:ext>
            </a:extLst>
          </p:cNvPr>
          <p:cNvSpPr>
            <a:spLocks xmlns:a="http://schemas.openxmlformats.org/drawingml/2006/main" noGrp="1"/>
          </p:cNvSpPr>
          <p:nvPr/>
        </p:nvSpPr>
        <p:spPr>
          <a:xfrm xmlns:a="http://schemas.openxmlformats.org/drawingml/2006/main">
            <a:off x="4057650" y="339090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Revenue (RMB m): 100 / 110</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Sales volume (m units):</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1.0 / 1.1</a:t>
            </a:r>
          </a:p>
        </p:txBody>
      </p:sp>
      <p:sp>
        <p:nvSpPr>
          <p:cNvPr id="29" name="!!research.evidence.2.rule">
            <a:extLst xmlns:a="http://schemas.openxmlformats.org/drawingml/2006/main">
              <a:ext uri="{FF2B5EF4-FFF2-40B4-BE49-F238E27FC236}">
                <a16:creationId xmlns:a16="http://schemas.microsoft.com/office/drawing/2014/main" id="{F29FE20A-879B-4A38-9775-5FE4719B47C7}"/>
              </a:ext>
            </a:extLst>
          </p:cNvPr>
          <p:cNvSpPr>
            <a:spLocks xmlns:a="http://schemas.openxmlformats.org/drawingml/2006/main" noGrp="1"/>
          </p:cNvSpPr>
          <p:nvPr/>
        </p:nvSpPr>
        <p:spPr>
          <a:xfrm xmlns:a="http://schemas.openxmlformats.org/drawingml/2006/main" flipH="0" flipV="0">
            <a:off x="4057650" y="4181475"/>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0" name="!!research.evidence.2.label">
            <a:extLst xmlns:a="http://schemas.openxmlformats.org/drawingml/2006/main">
              <a:ext uri="{FF2B5EF4-FFF2-40B4-BE49-F238E27FC236}">
                <a16:creationId xmlns:a16="http://schemas.microsoft.com/office/drawing/2014/main" id="{14AC076A-BDAF-434B-80B8-D3DCC3EB424D}"/>
              </a:ext>
            </a:extLst>
          </p:cNvPr>
          <p:cNvSpPr>
            <a:spLocks xmlns:a="http://schemas.openxmlformats.org/drawingml/2006/main" noGrp="1"/>
          </p:cNvSpPr>
          <p:nvPr/>
        </p:nvSpPr>
        <p:spPr>
          <a:xfrm xmlns:a="http://schemas.openxmlformats.org/drawingml/2006/main">
            <a:off x="4057650" y="4238625"/>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[2] Meeting notes</a:t>
            </a:r>
          </a:p>
        </p:txBody>
      </p:sp>
      <p:sp>
        <p:nvSpPr>
          <p:cNvPr id="31" name="!!research.evidence.2.text">
            <a:extLst xmlns:a="http://schemas.openxmlformats.org/drawingml/2006/main">
              <a:ext uri="{FF2B5EF4-FFF2-40B4-BE49-F238E27FC236}">
                <a16:creationId xmlns:a16="http://schemas.microsoft.com/office/drawing/2014/main" id="{BEFBA42D-2ABA-405C-B966-4D38ED0C5685}"/>
              </a:ext>
            </a:extLst>
          </p:cNvPr>
          <p:cNvSpPr>
            <a:spLocks xmlns:a="http://schemas.openxmlformats.org/drawingml/2006/main" noGrp="1"/>
          </p:cNvSpPr>
          <p:nvPr/>
        </p:nvSpPr>
        <p:spPr>
          <a:xfrm xmlns:a="http://schemas.openxmlformats.org/drawingml/2006/main">
            <a:off x="4057650" y="45529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Restocking lifted shipments</a:t>
            </a:r>
          </a:p>
        </p:txBody>
      </p:sp>
      <p:sp>
        <p:nvSpPr>
          <p:cNvPr id="32" name="!!research.evidence.3.rule">
            <a:extLst xmlns:a="http://schemas.openxmlformats.org/drawingml/2006/main">
              <a:ext uri="{FF2B5EF4-FFF2-40B4-BE49-F238E27FC236}">
                <a16:creationId xmlns:a16="http://schemas.microsoft.com/office/drawing/2014/main" id="{51828037-709A-49B0-A5A6-A0BAA05A8A8A}"/>
              </a:ext>
            </a:extLst>
          </p:cNvPr>
          <p:cNvSpPr>
            <a:spLocks xmlns:a="http://schemas.openxmlformats.org/drawingml/2006/main" noGrp="1"/>
          </p:cNvSpPr>
          <p:nvPr/>
        </p:nvSpPr>
        <p:spPr>
          <a:xfrm xmlns:a="http://schemas.openxmlformats.org/drawingml/2006/main" flipH="0" flipV="0">
            <a:off x="4057650" y="4886325"/>
            <a:ext cx="29527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3" name="!!research.evidence.3.label">
            <a:extLst xmlns:a="http://schemas.openxmlformats.org/drawingml/2006/main">
              <a:ext uri="{FF2B5EF4-FFF2-40B4-BE49-F238E27FC236}">
                <a16:creationId xmlns:a16="http://schemas.microsoft.com/office/drawing/2014/main" id="{F343E376-D275-44E7-A7D4-855B07C574BA}"/>
              </a:ext>
            </a:extLst>
          </p:cNvPr>
          <p:cNvSpPr>
            <a:spLocks xmlns:a="http://schemas.openxmlformats.org/drawingml/2006/main" noGrp="1"/>
          </p:cNvSpPr>
          <p:nvPr/>
        </p:nvSpPr>
        <p:spPr>
          <a:xfrm xmlns:a="http://schemas.openxmlformats.org/drawingml/2006/main">
            <a:off x="4057650" y="4943475"/>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[3] Research reports</a:t>
            </a:r>
          </a:p>
        </p:txBody>
      </p:sp>
      <p:sp>
        <p:nvSpPr>
          <p:cNvPr id="34" name="!!research.evidence.3.text">
            <a:extLst xmlns:a="http://schemas.openxmlformats.org/drawingml/2006/main">
              <a:ext uri="{FF2B5EF4-FFF2-40B4-BE49-F238E27FC236}">
                <a16:creationId xmlns:a16="http://schemas.microsoft.com/office/drawing/2014/main" id="{EFA02339-5FF8-4BA8-81AC-F9CE415EAE21}"/>
              </a:ext>
            </a:extLst>
          </p:cNvPr>
          <p:cNvSpPr>
            <a:spLocks xmlns:a="http://schemas.openxmlformats.org/drawingml/2006/main" noGrp="1"/>
          </p:cNvSpPr>
          <p:nvPr/>
        </p:nvSpPr>
        <p:spPr>
          <a:xfrm xmlns:a="http://schemas.openxmlformats.org/drawingml/2006/main">
            <a:off x="4057650" y="52578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A: demand recovery can sustain growth</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B: continued restocking is uncertain</a:t>
            </a:r>
          </a:p>
        </p:txBody>
      </p:sp>
      <p:sp>
        <p:nvSpPr>
          <p:cNvPr id="35" name="!!research.llm">
            <a:extLst xmlns:a="http://schemas.openxmlformats.org/drawingml/2006/main">
              <a:ext uri="{FF2B5EF4-FFF2-40B4-BE49-F238E27FC236}">
                <a16:creationId xmlns:a16="http://schemas.microsoft.com/office/drawing/2014/main" id="{CA169769-C05F-4B5E-9375-86B2F63EEA09}"/>
              </a:ext>
            </a:extLst>
          </p:cNvPr>
          <p:cNvSpPr>
            <a:spLocks xmlns:a="http://schemas.openxmlformats.org/drawingml/2006/main" noGrp="1"/>
          </p:cNvSpPr>
          <p:nvPr/>
        </p:nvSpPr>
        <p:spPr>
          <a:xfrm xmlns:a="http://schemas.openxmlformats.org/drawingml/2006/main">
            <a:off x="7458075" y="2952750"/>
            <a:ext cx="3228975" cy="3114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esearch.llm.role">
            <a:extLst xmlns:a="http://schemas.openxmlformats.org/drawingml/2006/main">
              <a:ext uri="{FF2B5EF4-FFF2-40B4-BE49-F238E27FC236}">
                <a16:creationId xmlns:a16="http://schemas.microsoft.com/office/drawing/2014/main" id="{CF198306-B728-4812-97B4-AB9CBABBCBEA}"/>
              </a:ext>
            </a:extLst>
          </p:cNvPr>
          <p:cNvSpPr>
            <a:spLocks xmlns:a="http://schemas.openxmlformats.org/drawingml/2006/main" noGrp="1"/>
          </p:cNvSpPr>
          <p:nvPr/>
        </p:nvSpPr>
        <p:spPr>
          <a:xfrm xmlns:a="http://schemas.openxmlformats.org/drawingml/2006/main">
            <a:off x="7648575" y="3095625"/>
            <a:ext cx="2847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analyzes the sources</a:t>
            </a:r>
          </a:p>
        </p:txBody>
      </p:sp>
      <p:sp>
        <p:nvSpPr>
          <p:cNvPr id="37" name="!!research.llm.body">
            <a:extLst xmlns:a="http://schemas.openxmlformats.org/drawingml/2006/main">
              <a:ext uri="{FF2B5EF4-FFF2-40B4-BE49-F238E27FC236}">
                <a16:creationId xmlns:a16="http://schemas.microsoft.com/office/drawing/2014/main" id="{D3DBD03D-F5D6-4806-91BB-6574F115CA40}"/>
              </a:ext>
            </a:extLst>
          </p:cNvPr>
          <p:cNvSpPr>
            <a:spLocks xmlns:a="http://schemas.openxmlformats.org/drawingml/2006/main" noGrp="1"/>
          </p:cNvSpPr>
          <p:nvPr/>
        </p:nvSpPr>
        <p:spPr>
          <a:xfrm xmlns:a="http://schemas.openxmlformats.org/drawingml/2006/main">
            <a:off x="7648575" y="3533775"/>
            <a:ext cx="284797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Compare revenue and volume</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Link operating drivers to results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Compare the research views</a:t>
            </a:r>
          </a:p>
        </p:txBody>
      </p:sp>
      <p:sp>
        <p:nvSpPr>
          <p:cNvPr id="38" name="!!research.tool">
            <a:extLst xmlns:a="http://schemas.openxmlformats.org/drawingml/2006/main">
              <a:ext uri="{FF2B5EF4-FFF2-40B4-BE49-F238E27FC236}">
                <a16:creationId xmlns:a16="http://schemas.microsoft.com/office/drawing/2014/main" id="{1DF0A006-1E31-4EAA-91B8-EA1A9C8A5790}"/>
              </a:ext>
            </a:extLst>
          </p:cNvPr>
          <p:cNvSpPr>
            <a:spLocks xmlns:a="http://schemas.openxmlformats.org/drawingml/2006/main" noGrp="1"/>
          </p:cNvSpPr>
          <p:nvPr/>
        </p:nvSpPr>
        <p:spPr>
          <a:xfrm xmlns:a="http://schemas.openxmlformats.org/drawingml/2006/main">
            <a:off x="11182350" y="2952750"/>
            <a:ext cx="3409950" cy="3114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research.tool.role">
            <a:extLst xmlns:a="http://schemas.openxmlformats.org/drawingml/2006/main">
              <a:ext uri="{FF2B5EF4-FFF2-40B4-BE49-F238E27FC236}">
                <a16:creationId xmlns:a16="http://schemas.microsoft.com/office/drawing/2014/main" id="{7CE7E68E-8EC1-41CE-A914-BAE62CC9EDE8}"/>
              </a:ext>
            </a:extLst>
          </p:cNvPr>
          <p:cNvSpPr>
            <a:spLocks xmlns:a="http://schemas.openxmlformats.org/drawingml/2006/main" noGrp="1"/>
          </p:cNvSpPr>
          <p:nvPr/>
        </p:nvSpPr>
        <p:spPr>
          <a:xfrm xmlns:a="http://schemas.openxmlformats.org/drawingml/2006/main">
            <a:off x="11372850" y="3095625"/>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Calculation tools return</a:t>
            </a:r>
          </a:p>
        </p:txBody>
      </p:sp>
      <p:sp>
        <p:nvSpPr>
          <p:cNvPr id="40" name="!!research.tool.body">
            <a:extLst xmlns:a="http://schemas.openxmlformats.org/drawingml/2006/main">
              <a:ext uri="{FF2B5EF4-FFF2-40B4-BE49-F238E27FC236}">
                <a16:creationId xmlns:a16="http://schemas.microsoft.com/office/drawing/2014/main" id="{AE11084A-CE6D-4B13-8A3A-88FC3DE13D42}"/>
              </a:ext>
            </a:extLst>
          </p:cNvPr>
          <p:cNvSpPr>
            <a:spLocks xmlns:a="http://schemas.openxmlformats.org/drawingml/2006/main" noGrp="1"/>
          </p:cNvSpPr>
          <p:nvPr/>
        </p:nvSpPr>
        <p:spPr>
          <a:xfrm xmlns:a="http://schemas.openxmlformats.org/drawingml/2006/main">
            <a:off x="11372850" y="3533775"/>
            <a:ext cx="30289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Revenue: +10%</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Sales volume: +10%</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Average selling price: unchanged</a:t>
            </a:r>
          </a:p>
        </p:txBody>
      </p:sp>
      <p:sp>
        <p:nvSpPr>
          <p:cNvPr id="41" name="!!research.material.bus">
            <a:extLst xmlns:a="http://schemas.openxmlformats.org/drawingml/2006/main">
              <a:ext uri="{FF2B5EF4-FFF2-40B4-BE49-F238E27FC236}">
                <a16:creationId xmlns:a16="http://schemas.microsoft.com/office/drawing/2014/main" id="{8C55191B-9860-46FB-8F8C-E113385A063D}"/>
              </a:ext>
            </a:extLst>
          </p:cNvPr>
          <p:cNvSpPr>
            <a:spLocks xmlns:a="http://schemas.openxmlformats.org/drawingml/2006/main" noGrp="1"/>
          </p:cNvSpPr>
          <p:nvPr/>
        </p:nvSpPr>
        <p:spPr>
          <a:xfrm xmlns:a="http://schemas.openxmlformats.org/drawingml/2006/main" flipH="0" flipV="0">
            <a:off x="7219950" y="3505200"/>
            <a:ext cx="953" cy="216217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2" name="!!research.material.in0">
            <a:extLst xmlns:a="http://schemas.openxmlformats.org/drawingml/2006/main">
              <a:ext uri="{FF2B5EF4-FFF2-40B4-BE49-F238E27FC236}">
                <a16:creationId xmlns:a16="http://schemas.microsoft.com/office/drawing/2014/main" id="{48A78893-0154-4BAA-821C-7EC681560DED}"/>
              </a:ext>
            </a:extLst>
          </p:cNvPr>
          <p:cNvSpPr>
            <a:spLocks xmlns:a="http://schemas.openxmlformats.org/drawingml/2006/main" noGrp="1"/>
          </p:cNvSpPr>
          <p:nvPr/>
        </p:nvSpPr>
        <p:spPr>
          <a:xfrm xmlns:a="http://schemas.openxmlformats.org/drawingml/2006/main" flipH="0" flipV="0">
            <a:off x="7010400" y="350520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3" name="!!research.material.in1">
            <a:extLst xmlns:a="http://schemas.openxmlformats.org/drawingml/2006/main">
              <a:ext uri="{FF2B5EF4-FFF2-40B4-BE49-F238E27FC236}">
                <a16:creationId xmlns:a16="http://schemas.microsoft.com/office/drawing/2014/main" id="{9D33C199-653A-4F44-AAC4-9AEBE74474F4}"/>
              </a:ext>
            </a:extLst>
          </p:cNvPr>
          <p:cNvSpPr>
            <a:spLocks xmlns:a="http://schemas.openxmlformats.org/drawingml/2006/main" noGrp="1"/>
          </p:cNvSpPr>
          <p:nvPr/>
        </p:nvSpPr>
        <p:spPr>
          <a:xfrm xmlns:a="http://schemas.openxmlformats.org/drawingml/2006/main" flipH="0" flipV="0">
            <a:off x="7010400" y="44767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4" name="!!research.material.in2">
            <a:extLst xmlns:a="http://schemas.openxmlformats.org/drawingml/2006/main">
              <a:ext uri="{FF2B5EF4-FFF2-40B4-BE49-F238E27FC236}">
                <a16:creationId xmlns:a16="http://schemas.microsoft.com/office/drawing/2014/main" id="{EE61EC02-C697-4014-B996-D656DBF3F42A}"/>
              </a:ext>
            </a:extLst>
          </p:cNvPr>
          <p:cNvSpPr>
            <a:spLocks xmlns:a="http://schemas.openxmlformats.org/drawingml/2006/main" noGrp="1"/>
          </p:cNvSpPr>
          <p:nvPr/>
        </p:nvSpPr>
        <p:spPr>
          <a:xfrm xmlns:a="http://schemas.openxmlformats.org/drawingml/2006/main" flipH="0" flipV="0">
            <a:off x="7010400" y="5667375"/>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research.evidence.in.line">
            <a:extLst xmlns:a="http://schemas.openxmlformats.org/drawingml/2006/main">
              <a:ext uri="{FF2B5EF4-FFF2-40B4-BE49-F238E27FC236}">
                <a16:creationId xmlns:a16="http://schemas.microsoft.com/office/drawing/2014/main" id="{06FD9996-2C42-48EA-B404-4D0B1C07C857}"/>
              </a:ext>
            </a:extLst>
          </p:cNvPr>
          <p:cNvSpPr>
            <a:spLocks xmlns:a="http://schemas.openxmlformats.org/drawingml/2006/main" noGrp="1"/>
          </p:cNvSpPr>
          <p:nvPr/>
        </p:nvSpPr>
        <p:spPr>
          <a:xfrm xmlns:a="http://schemas.openxmlformats.org/drawingml/2006/main" flipH="0" flipV="0">
            <a:off x="7219950" y="4362450"/>
            <a:ext cx="14287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research.evidence.in.tip">
            <a:extLst xmlns:a="http://schemas.openxmlformats.org/drawingml/2006/main">
              <a:ext uri="{FF2B5EF4-FFF2-40B4-BE49-F238E27FC236}">
                <a16:creationId xmlns:a16="http://schemas.microsoft.com/office/drawing/2014/main" id="{9AD7515D-B218-49C5-83FE-5790005E3EF0}"/>
              </a:ext>
            </a:extLst>
          </p:cNvPr>
          <p:cNvSpPr>
            <a:spLocks xmlns:a="http://schemas.openxmlformats.org/drawingml/2006/main" noGrp="1"/>
          </p:cNvSpPr>
          <p:nvPr/>
        </p:nvSpPr>
        <p:spPr>
          <a:xfrm xmlns:a="http://schemas.openxmlformats.org/drawingml/2006/main" rot="5400000">
            <a:off x="7305675"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research.call.line">
            <a:extLst xmlns:a="http://schemas.openxmlformats.org/drawingml/2006/main">
              <a:ext uri="{FF2B5EF4-FFF2-40B4-BE49-F238E27FC236}">
                <a16:creationId xmlns:a16="http://schemas.microsoft.com/office/drawing/2014/main" id="{12C409C5-04C1-421A-9B4E-6044E6A02B65}"/>
              </a:ext>
            </a:extLst>
          </p:cNvPr>
          <p:cNvSpPr>
            <a:spLocks xmlns:a="http://schemas.openxmlformats.org/drawingml/2006/main" noGrp="1"/>
          </p:cNvSpPr>
          <p:nvPr/>
        </p:nvSpPr>
        <p:spPr>
          <a:xfrm xmlns:a="http://schemas.openxmlformats.org/drawingml/2006/main" flipH="0" flipV="0">
            <a:off x="10782300" y="3886200"/>
            <a:ext cx="3048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8" name="!!research.call.tip">
            <a:extLst xmlns:a="http://schemas.openxmlformats.org/drawingml/2006/main">
              <a:ext uri="{FF2B5EF4-FFF2-40B4-BE49-F238E27FC236}">
                <a16:creationId xmlns:a16="http://schemas.microsoft.com/office/drawing/2014/main" id="{4C8DC686-F988-43A7-B22E-E27F52A4F101}"/>
              </a:ext>
            </a:extLst>
          </p:cNvPr>
          <p:cNvSpPr>
            <a:spLocks xmlns:a="http://schemas.openxmlformats.org/drawingml/2006/main" noGrp="1"/>
          </p:cNvSpPr>
          <p:nvPr/>
        </p:nvSpPr>
        <p:spPr>
          <a:xfrm xmlns:a="http://schemas.openxmlformats.org/drawingml/2006/main" rot="5400000">
            <a:off x="11029950"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research.return.line">
            <a:extLst xmlns:a="http://schemas.openxmlformats.org/drawingml/2006/main">
              <a:ext uri="{FF2B5EF4-FFF2-40B4-BE49-F238E27FC236}">
                <a16:creationId xmlns:a16="http://schemas.microsoft.com/office/drawing/2014/main" id="{97CFAD54-2011-46C6-A6E9-FE08BD1FA7AA}"/>
              </a:ext>
            </a:extLst>
          </p:cNvPr>
          <p:cNvSpPr>
            <a:spLocks xmlns:a="http://schemas.openxmlformats.org/drawingml/2006/main" noGrp="1"/>
          </p:cNvSpPr>
          <p:nvPr/>
        </p:nvSpPr>
        <p:spPr>
          <a:xfrm xmlns:a="http://schemas.openxmlformats.org/drawingml/2006/main" flipH="1" flipV="0">
            <a:off x="10782300" y="5114925"/>
            <a:ext cx="3048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0" name="!!research.return.tip">
            <a:extLst xmlns:a="http://schemas.openxmlformats.org/drawingml/2006/main">
              <a:ext uri="{FF2B5EF4-FFF2-40B4-BE49-F238E27FC236}">
                <a16:creationId xmlns:a16="http://schemas.microsoft.com/office/drawing/2014/main" id="{9D69BC24-6E78-44E1-9F04-ECDB836B7DA2}"/>
              </a:ext>
            </a:extLst>
          </p:cNvPr>
          <p:cNvSpPr>
            <a:spLocks xmlns:a="http://schemas.openxmlformats.org/drawingml/2006/main" noGrp="1"/>
          </p:cNvSpPr>
          <p:nvPr/>
        </p:nvSpPr>
        <p:spPr>
          <a:xfrm xmlns:a="http://schemas.openxmlformats.org/drawingml/2006/main" rot="16200000">
            <a:off x="10725150" y="50577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1" name="!!research.toResult.line">
            <a:extLst xmlns:a="http://schemas.openxmlformats.org/drawingml/2006/main">
              <a:ext uri="{FF2B5EF4-FFF2-40B4-BE49-F238E27FC236}">
                <a16:creationId xmlns:a16="http://schemas.microsoft.com/office/drawing/2014/main" id="{62E6A14C-58B4-4EB3-9140-B9F6E1E52077}"/>
              </a:ext>
            </a:extLst>
          </p:cNvPr>
          <p:cNvSpPr>
            <a:spLocks xmlns:a="http://schemas.openxmlformats.org/drawingml/2006/main" noGrp="1"/>
          </p:cNvSpPr>
          <p:nvPr/>
        </p:nvSpPr>
        <p:spPr>
          <a:xfrm xmlns:a="http://schemas.openxmlformats.org/drawingml/2006/main" flipH="0" flipV="0">
            <a:off x="9067800" y="6124575"/>
            <a:ext cx="953" cy="1143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2" name="!!research.toResult.tip">
            <a:extLst xmlns:a="http://schemas.openxmlformats.org/drawingml/2006/main">
              <a:ext uri="{FF2B5EF4-FFF2-40B4-BE49-F238E27FC236}">
                <a16:creationId xmlns:a16="http://schemas.microsoft.com/office/drawing/2014/main" id="{FF0B373E-FDF9-48A9-9FB4-296283BE7D21}"/>
              </a:ext>
            </a:extLst>
          </p:cNvPr>
          <p:cNvSpPr>
            <a:spLocks xmlns:a="http://schemas.openxmlformats.org/drawingml/2006/main" noGrp="1"/>
          </p:cNvSpPr>
          <p:nvPr/>
        </p:nvSpPr>
        <p:spPr>
          <a:xfrm xmlns:a="http://schemas.openxmlformats.org/drawingml/2006/main" rot="10800000">
            <a:off x="9010650" y="61817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research.result">
            <a:extLst xmlns:a="http://schemas.openxmlformats.org/drawingml/2006/main">
              <a:ext uri="{FF2B5EF4-FFF2-40B4-BE49-F238E27FC236}">
                <a16:creationId xmlns:a16="http://schemas.microsoft.com/office/drawing/2014/main" id="{45F451CE-2E7E-4206-8E7E-12CB1EF92E95}"/>
              </a:ext>
            </a:extLst>
          </p:cNvPr>
          <p:cNvSpPr>
            <a:spLocks xmlns:a="http://schemas.openxmlformats.org/drawingml/2006/main" noGrp="1"/>
          </p:cNvSpPr>
          <p:nvPr/>
        </p:nvSpPr>
        <p:spPr>
          <a:xfrm xmlns:a="http://schemas.openxmlformats.org/drawingml/2006/main">
            <a:off x="4057650" y="6315075"/>
            <a:ext cx="10534650" cy="1057275"/>
          </a:xfrm>
          <a:prstGeom xmlns:a="http://schemas.openxmlformats.org/drawingml/2006/main" prst="rect">
            <a:avLst/>
          </a:prstGeom>
          <a:solidFill xmlns:a="http://schemas.openxmlformats.org/drawingml/2006/main">
            <a:srgbClr val="FFFFFF"/>
          </a:solidFill>
          <a:ln xmlns:a="http://schemas.openxmlformats.org/drawingml/2006/main" w="9525">
            <a:solidFill>
              <a:srgbClr val="317F7B"/>
            </a:solidFill>
            <a:prstDash val="solid"/>
          </a:ln>
        </p:spPr>
      </p:sp>
      <p:sp>
        <p:nvSpPr>
          <p:cNvPr id="54" name="!!research.result.title">
            <a:extLst xmlns:a="http://schemas.openxmlformats.org/drawingml/2006/main">
              <a:ext uri="{FF2B5EF4-FFF2-40B4-BE49-F238E27FC236}">
                <a16:creationId xmlns:a16="http://schemas.microsoft.com/office/drawing/2014/main" id="{82C690E6-0CBD-40FA-A941-66ADBEB70F87}"/>
              </a:ext>
            </a:extLst>
          </p:cNvPr>
          <p:cNvSpPr>
            <a:spLocks xmlns:a="http://schemas.openxmlformats.org/drawingml/2006/main" noGrp="1"/>
          </p:cNvSpPr>
          <p:nvPr/>
        </p:nvSpPr>
        <p:spPr>
          <a:xfrm xmlns:a="http://schemas.openxmlformats.org/drawingml/2006/main">
            <a:off x="4248150" y="6410325"/>
            <a:ext cx="1933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62C"/>
                </a:solidFill>
                <a:latin typeface="Arial"/>
                <a:ea typeface="Arial"/>
                <a:cs typeface="Arial"/>
              </a:defRPr>
            </a:defPPr>
            <a:lvl1pPr algn="l">
              <a:defRPr sz="1950" b="1">
                <a:solidFill>
                  <a:srgbClr val="20262C"/>
                </a:solidFill>
                <a:latin typeface="Arial"/>
                <a:ea typeface="Arial"/>
                <a:cs typeface="Arial"/>
              </a:defRPr>
            </a:lvl1pPr>
            <a:lvl2pPr algn="l">
              <a:defRPr sz="1950" b="1">
                <a:solidFill>
                  <a:srgbClr val="20262C"/>
                </a:solidFill>
                <a:latin typeface="Arial"/>
                <a:ea typeface="Arial"/>
                <a:cs typeface="Arial"/>
              </a:defRPr>
            </a:lvl2pPr>
            <a:lvl3pPr algn="l">
              <a:defRPr sz="1950" b="1">
                <a:solidFill>
                  <a:srgbClr val="20262C"/>
                </a:solidFill>
                <a:latin typeface="Arial"/>
                <a:ea typeface="Arial"/>
                <a:cs typeface="Arial"/>
              </a:defRPr>
            </a:lvl3pPr>
            <a:lvl4pPr algn="l">
              <a:defRPr sz="1950" b="1">
                <a:solidFill>
                  <a:srgbClr val="20262C"/>
                </a:solidFill>
                <a:latin typeface="Arial"/>
                <a:ea typeface="Arial"/>
                <a:cs typeface="Arial"/>
              </a:defRPr>
            </a:lvl4pPr>
            <a:lvl5pPr algn="l">
              <a:defRPr sz="1950" b="1">
                <a:solidFill>
                  <a:srgbClr val="20262C"/>
                </a:solidFill>
                <a:latin typeface="Arial"/>
                <a:ea typeface="Arial"/>
                <a:cs typeface="Arial"/>
              </a:defRPr>
            </a:lvl5pPr>
            <a:lvl6pPr algn="l">
              <a:defRPr sz="1950" b="1">
                <a:solidFill>
                  <a:srgbClr val="20262C"/>
                </a:solidFill>
                <a:latin typeface="Arial"/>
                <a:ea typeface="Arial"/>
                <a:cs typeface="Arial"/>
              </a:defRPr>
            </a:lvl6pPr>
            <a:lvl7pPr algn="l">
              <a:defRPr sz="1950" b="1">
                <a:solidFill>
                  <a:srgbClr val="20262C"/>
                </a:solidFill>
                <a:latin typeface="Arial"/>
                <a:ea typeface="Arial"/>
                <a:cs typeface="Arial"/>
              </a:defRPr>
            </a:lvl7pPr>
            <a:lvl8pPr algn="l">
              <a:defRPr sz="1950" b="1">
                <a:solidFill>
                  <a:srgbClr val="20262C"/>
                </a:solidFill>
                <a:latin typeface="Arial"/>
                <a:ea typeface="Arial"/>
                <a:cs typeface="Arial"/>
              </a:defRPr>
            </a:lvl8pPr>
            <a:lvl9pPr algn="l">
              <a:defRPr sz="1950" b="1">
                <a:solidFill>
                  <a:srgbClr val="20262C"/>
                </a:solidFill>
                <a:latin typeface="Arial"/>
                <a:ea typeface="Arial"/>
                <a:cs typeface="Arial"/>
              </a:defRPr>
            </a:lvl9pPr>
          </a:lstStyle>
          <a:p xmlns:a="http://schemas.openxmlformats.org/drawingml/2006/main">
            <a:pPr algn="l">
              <a:defRPr sz="1950" b="1">
                <a:solidFill>
                  <a:srgbClr val="20262C"/>
                </a:solidFill>
                <a:latin typeface="Arial"/>
                <a:ea typeface="Arial"/>
                <a:cs typeface="Arial"/>
              </a:defRPr>
            </a:pPr>
            <a:r>
              <a:rPr sz="1950" b="1">
                <a:solidFill>
                  <a:srgbClr val="20262C"/>
                </a:solidFill>
                <a:latin typeface="Arial"/>
                <a:ea typeface="Arial"/>
                <a:cs typeface="Arial"/>
              </a:rPr>
              <a:t>Draft research summary</a:t>
            </a:r>
          </a:p>
        </p:txBody>
      </p:sp>
      <p:sp>
        <p:nvSpPr>
          <p:cNvPr id="55" name="!!research.result.text">
            <a:extLst xmlns:a="http://schemas.openxmlformats.org/drawingml/2006/main">
              <a:ext uri="{FF2B5EF4-FFF2-40B4-BE49-F238E27FC236}">
                <a16:creationId xmlns:a16="http://schemas.microsoft.com/office/drawing/2014/main" id="{0E243B72-9B4A-492A-A093-1D2DC1EE69E1}"/>
              </a:ext>
            </a:extLst>
          </p:cNvPr>
          <p:cNvSpPr>
            <a:spLocks xmlns:a="http://schemas.openxmlformats.org/drawingml/2006/main" noGrp="1"/>
          </p:cNvSpPr>
          <p:nvPr/>
        </p:nvSpPr>
        <p:spPr>
          <a:xfrm xmlns:a="http://schemas.openxmlformats.org/drawingml/2006/main">
            <a:off x="6448425" y="6381750"/>
            <a:ext cx="800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Sales volume drove revenue growth [1]. Restocking supported shipments [2], but research views differ on the sustainability of growth [3]. Monitor demand and input costs.</a:t>
            </a:r>
          </a:p>
        </p:txBody>
      </p:sp>
      <p:sp>
        <p:nvSpPr>
          <p:cNvPr id="56" name="!!research.user">
            <a:extLst xmlns:a="http://schemas.openxmlformats.org/drawingml/2006/main">
              <a:ext uri="{FF2B5EF4-FFF2-40B4-BE49-F238E27FC236}">
                <a16:creationId xmlns:a16="http://schemas.microsoft.com/office/drawing/2014/main" id="{0DDA0DF8-E86F-41EC-98F5-AFD53CCA5A42}"/>
              </a:ext>
            </a:extLst>
          </p:cNvPr>
          <p:cNvSpPr>
            <a:spLocks xmlns:a="http://schemas.openxmlformats.org/drawingml/2006/main" noGrp="1"/>
          </p:cNvSpPr>
          <p:nvPr/>
        </p:nvSpPr>
        <p:spPr>
          <a:xfrm xmlns:a="http://schemas.openxmlformats.org/drawingml/2006/main">
            <a:off x="4057650" y="7400925"/>
            <a:ext cx="1053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analyst checks the sources, tests the restocking thesis and forms a view</a:t>
            </a:r>
          </a:p>
        </p:txBody>
      </p:sp>
      <p:sp>
        <p:nvSpPr>
          <p:cNvPr id="58" name="!!story.header.issuer.bar">
            <a:extLst xmlns:a="http://schemas.openxmlformats.org/drawingml/2006/main">
              <a:ext uri="{FF2B5EF4-FFF2-40B4-BE49-F238E27FC236}">
                <a16:creationId xmlns:a16="http://schemas.microsoft.com/office/drawing/2014/main" id="{067CB86D-947A-4797-B638-6B0257702BBA}"/>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9" name="!!story.header.issuer.name">
            <a:extLst xmlns:a="http://schemas.openxmlformats.org/drawingml/2006/main">
              <a:ext uri="{FF2B5EF4-FFF2-40B4-BE49-F238E27FC236}">
                <a16:creationId xmlns:a16="http://schemas.microsoft.com/office/drawing/2014/main" id="{A1CE3D01-E167-4EA3-8350-6480B17F44E5}"/>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0" name="!!story.issuer.source.group">
            <a:extLst xmlns:a="http://schemas.openxmlformats.org/drawingml/2006/main">
              <a:ext uri="{FF2B5EF4-FFF2-40B4-BE49-F238E27FC236}">
                <a16:creationId xmlns:a16="http://schemas.microsoft.com/office/drawing/2014/main" id="{0EE029EE-AE56-4529-A709-4EE3A6258CA6}"/>
              </a:ext>
            </a:extLst>
          </p:cNvPr>
          <p:cNvSpPr>
            <a:spLocks xmlns:a="http://schemas.openxmlformats.org/drawingml/2006/main" noGrp="1"/>
          </p:cNvSpPr>
          <p:nvPr/>
        </p:nvSpPr>
        <p:spPr>
          <a:xfrm xmlns:a="http://schemas.openxmlformats.org/drawingml/2006/main">
            <a:off x="3943350" y="2952750"/>
            <a:ext cx="57150" cy="330517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1" name="!!story.issuer.analysis">
            <a:extLst xmlns:a="http://schemas.openxmlformats.org/drawingml/2006/main">
              <a:ext uri="{FF2B5EF4-FFF2-40B4-BE49-F238E27FC236}">
                <a16:creationId xmlns:a16="http://schemas.microsoft.com/office/drawing/2014/main" id="{8A539DDE-E4B4-4EE0-A90D-9B2D6C659C73}"/>
              </a:ext>
            </a:extLst>
          </p:cNvPr>
          <p:cNvSpPr>
            <a:spLocks xmlns:a="http://schemas.openxmlformats.org/drawingml/2006/main" noGrp="1"/>
          </p:cNvSpPr>
          <p:nvPr/>
        </p:nvSpPr>
        <p:spPr>
          <a:xfrm xmlns:a="http://schemas.openxmlformats.org/drawingml/2006/main">
            <a:off x="4000500" y="6315075"/>
            <a:ext cx="57150" cy="105727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95179095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7"/>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8"/>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9"/>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40"/>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5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5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6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53" grpId="0" animBg="1"/>
      <p:bldP spid="54" grpId="0" animBg="1"/>
      <p:bldP spid="55" grpId="0" animBg="1"/>
      <p:bldP spid="61"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E28AFFCA-1990-4D86-9AE9-22D0DE35F60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Preparing a bond quote request</a:t>
            </a:r>
          </a:p>
        </p:txBody>
      </p:sp>
      <p:sp>
        <p:nvSpPr>
          <p:cNvPr id="2" name="!!subtitle">
            <a:extLst xmlns:a="http://schemas.openxmlformats.org/drawingml/2006/main">
              <a:ext uri="{FF2B5EF4-FFF2-40B4-BE49-F238E27FC236}">
                <a16:creationId xmlns:a16="http://schemas.microsoft.com/office/drawing/2014/main" id="{FE7DE297-CDA4-41BE-8A41-7FC0F417B7CE}"/>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Current workflow</a:t>
            </a:r>
          </a:p>
        </p:txBody>
      </p:sp>
      <p:sp>
        <p:nvSpPr>
          <p:cNvPr id="3" name="!!heading.rule">
            <a:extLst xmlns:a="http://schemas.openxmlformats.org/drawingml/2006/main">
              <a:ext uri="{FF2B5EF4-FFF2-40B4-BE49-F238E27FC236}">
                <a16:creationId xmlns:a16="http://schemas.microsoft.com/office/drawing/2014/main" id="{3F431E3B-7FCF-4A27-B707-5BCDF01DCA68}"/>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F60722D-C7A3-4B42-8340-2ABA9404F5E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49B1357-599A-4FE4-9AF4-94FB4F462993}"/>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E181146-9270-4168-8067-0CD7235BDB2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D29968D-C70F-45C9-8AA0-D2226485DDF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7CBDA28-6F1F-464D-9A57-1CBC6B2078B7}"/>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5683F048-E4B7-46C2-B1AF-5501F8366B3C}"/>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878C10A-D396-41B6-A5C0-3A1F5E3B55B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110388E-EC55-4695-80EC-23736D23506A}"/>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5EF0CD5-7054-4AE8-96B1-FF64E651392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C9FA4D4-82BD-48B8-B95C-2EFF456BB15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4F2ED1-DFFF-4799-8108-D9FA27973BE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060DCC-A5F2-4DE7-B676-B53479DDED2A}"/>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C1BAAE0-9145-43E1-BE29-731CE8D2FA24}"/>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F791F43-60E3-43F6-8AB1-11CF4A0DD1E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3660ADE-A30E-44A5-93D7-0641EC256AEE}"/>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340731C3-7CCA-4460-A6EF-B7F6A6E8D8E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DDDD6E0F-C580-4DAB-A137-622FCA76638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9 / 33</a:t>
            </a:r>
          </a:p>
        </p:txBody>
      </p:sp>
      <p:sp>
        <p:nvSpPr>
          <p:cNvPr id="21" name="!!nav.prev">
            <ns0:hlinkClick xmlns:ns0="http://schemas.openxmlformats.org/drawingml/2006/main" xmlns:ns1="http://schemas.openxmlformats.org/officeDocument/2006/relationships" ns1:id="rIdNavSlide8" action="ppaction://hlinksldjump" tooltip="Slide 8: Proposed application: company research"/>
            <a:extLst xmlns:a="http://schemas.openxmlformats.org/drawingml/2006/main">
              <a:ext uri="{FF2B5EF4-FFF2-40B4-BE49-F238E27FC236}">
                <a16:creationId xmlns:a16="http://schemas.microsoft.com/office/drawing/2014/main" id="{FC017776-DAFB-42E6-8161-322C248F5B50}"/>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0" action="ppaction://hlinksldjump" tooltip="Slide 10: Trading support at Southern and Aegon-Industrial"/>
            <a:extLst xmlns:a="http://schemas.openxmlformats.org/drawingml/2006/main">
              <a:ext uri="{FF2B5EF4-FFF2-40B4-BE49-F238E27FC236}">
                <a16:creationId xmlns:a16="http://schemas.microsoft.com/office/drawing/2014/main" id="{B9DE0953-FB68-4FC5-8068-8511CE6E6497}"/>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C729A8D-1A05-4F0E-A6BE-B6E5DB207E6A}"/>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36D5E5F-809B-4F74-A62F-27258C9276D5}"/>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trade.task">
            <a:extLst xmlns:a="http://schemas.openxmlformats.org/drawingml/2006/main">
              <a:ext uri="{FF2B5EF4-FFF2-40B4-BE49-F238E27FC236}">
                <a16:creationId xmlns:a16="http://schemas.microsoft.com/office/drawing/2014/main" id="{B9ADF215-5381-4EED-9391-057456D5DBB2}"/>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Task: request offers for Company A bonds maturing within two years</a:t>
            </a:r>
          </a:p>
        </p:txBody>
      </p:sp>
      <p:sp>
        <p:nvSpPr>
          <p:cNvPr id="26" name="!!trade.intent">
            <a:extLst xmlns:a="http://schemas.openxmlformats.org/drawingml/2006/main">
              <a:ext uri="{FF2B5EF4-FFF2-40B4-BE49-F238E27FC236}">
                <a16:creationId xmlns:a16="http://schemas.microsoft.com/office/drawing/2014/main" id="{71CFDA4D-B41D-48E5-9D40-BF1B283C3DF8}"/>
              </a:ext>
            </a:extLst>
          </p:cNvPr>
          <p:cNvSpPr>
            <a:spLocks xmlns:a="http://schemas.openxmlformats.org/drawingml/2006/main" noGrp="1"/>
          </p:cNvSpPr>
          <p:nvPr/>
        </p:nvSpPr>
        <p:spPr>
          <a:xfrm xmlns:a="http://schemas.openxmlformats.org/drawingml/2006/main">
            <a:off x="4057650" y="2838450"/>
            <a:ext cx="2419350" cy="2933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intent.role">
            <a:extLst xmlns:a="http://schemas.openxmlformats.org/drawingml/2006/main">
              <a:ext uri="{FF2B5EF4-FFF2-40B4-BE49-F238E27FC236}">
                <a16:creationId xmlns:a16="http://schemas.microsoft.com/office/drawing/2014/main" id="{D58C03F2-2897-4FD3-9C00-87AE9411B678}"/>
              </a:ext>
            </a:extLst>
          </p:cNvPr>
          <p:cNvSpPr>
            <a:spLocks xmlns:a="http://schemas.openxmlformats.org/drawingml/2006/main" noGrp="1"/>
          </p:cNvSpPr>
          <p:nvPr/>
        </p:nvSpPr>
        <p:spPr>
          <a:xfrm xmlns:a="http://schemas.openxmlformats.org/drawingml/2006/main">
            <a:off x="4248150" y="2962275"/>
            <a:ext cx="203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1  Define the request</a:t>
            </a:r>
          </a:p>
        </p:txBody>
      </p:sp>
      <p:sp>
        <p:nvSpPr>
          <p:cNvPr id="28" name="!!trade.intent.body">
            <a:extLst xmlns:a="http://schemas.openxmlformats.org/drawingml/2006/main">
              <a:ext uri="{FF2B5EF4-FFF2-40B4-BE49-F238E27FC236}">
                <a16:creationId xmlns:a16="http://schemas.microsoft.com/office/drawing/2014/main" id="{02F5ABCA-47CE-4196-AAC2-6F68BEE98415}"/>
              </a:ext>
            </a:extLst>
          </p:cNvPr>
          <p:cNvSpPr>
            <a:spLocks xmlns:a="http://schemas.openxmlformats.org/drawingml/2006/main" noGrp="1"/>
          </p:cNvSpPr>
          <p:nvPr/>
        </p:nvSpPr>
        <p:spPr>
          <a:xfrm xmlns:a="http://schemas.openxmlformats.org/drawingml/2006/main">
            <a:off x="4248150" y="3829050"/>
            <a:ext cx="20383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Portfolio manager</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Company A bonds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Maturing within two years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Check holdings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Collect offer quotes</a:t>
            </a:r>
          </a:p>
        </p:txBody>
      </p:sp>
      <p:sp>
        <p:nvSpPr>
          <p:cNvPr id="29" name="!!trade.query">
            <a:extLst xmlns:a="http://schemas.openxmlformats.org/drawingml/2006/main">
              <a:ext uri="{FF2B5EF4-FFF2-40B4-BE49-F238E27FC236}">
                <a16:creationId xmlns:a16="http://schemas.microsoft.com/office/drawing/2014/main" id="{480BD335-CB04-4B05-8335-89DD606C308A}"/>
              </a:ext>
            </a:extLst>
          </p:cNvPr>
          <p:cNvSpPr>
            <a:spLocks xmlns:a="http://schemas.openxmlformats.org/drawingml/2006/main" noGrp="1"/>
          </p:cNvSpPr>
          <p:nvPr/>
        </p:nvSpPr>
        <p:spPr>
          <a:xfrm xmlns:a="http://schemas.openxmlformats.org/drawingml/2006/main">
            <a:off x="6762750" y="2838450"/>
            <a:ext cx="2419350" cy="2933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query.role">
            <a:extLst xmlns:a="http://schemas.openxmlformats.org/drawingml/2006/main">
              <a:ext uri="{FF2B5EF4-FFF2-40B4-BE49-F238E27FC236}">
                <a16:creationId xmlns:a16="http://schemas.microsoft.com/office/drawing/2014/main" id="{A7767F99-1E06-473B-A628-4444EE81AC29}"/>
              </a:ext>
            </a:extLst>
          </p:cNvPr>
          <p:cNvSpPr>
            <a:spLocks xmlns:a="http://schemas.openxmlformats.org/drawingml/2006/main" noGrp="1"/>
          </p:cNvSpPr>
          <p:nvPr/>
        </p:nvSpPr>
        <p:spPr>
          <a:xfrm xmlns:a="http://schemas.openxmlformats.org/drawingml/2006/main">
            <a:off x="6953250" y="2962275"/>
            <a:ext cx="203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2  Screen bonds</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and check holdings</a:t>
            </a:r>
          </a:p>
        </p:txBody>
      </p:sp>
      <p:sp>
        <p:nvSpPr>
          <p:cNvPr id="31" name="!!trade.query.body">
            <a:extLst xmlns:a="http://schemas.openxmlformats.org/drawingml/2006/main">
              <a:ext uri="{FF2B5EF4-FFF2-40B4-BE49-F238E27FC236}">
                <a16:creationId xmlns:a16="http://schemas.microsoft.com/office/drawing/2014/main" id="{6A1E30D4-1628-415D-97F6-CFED288FD0C0}"/>
              </a:ext>
            </a:extLst>
          </p:cNvPr>
          <p:cNvSpPr>
            <a:spLocks xmlns:a="http://schemas.openxmlformats.org/drawingml/2006/main" noGrp="1"/>
          </p:cNvSpPr>
          <p:nvPr/>
        </p:nvSpPr>
        <p:spPr>
          <a:xfrm xmlns:a="http://schemas.openxmlformats.org/drawingml/2006/main">
            <a:off x="6953250" y="3829050"/>
            <a:ext cx="20383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Trader</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Find bonds and holdings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Record the data timestamp</a:t>
            </a:r>
          </a:p>
        </p:txBody>
      </p:sp>
      <p:sp>
        <p:nvSpPr>
          <p:cNvPr id="32" name="!!trade.inquire">
            <a:extLst xmlns:a="http://schemas.openxmlformats.org/drawingml/2006/main">
              <a:ext uri="{FF2B5EF4-FFF2-40B4-BE49-F238E27FC236}">
                <a16:creationId xmlns:a16="http://schemas.microsoft.com/office/drawing/2014/main" id="{7943DF55-D88D-453E-A6FB-6D1E37925D27}"/>
              </a:ext>
            </a:extLst>
          </p:cNvPr>
          <p:cNvSpPr>
            <a:spLocks xmlns:a="http://schemas.openxmlformats.org/drawingml/2006/main" noGrp="1"/>
          </p:cNvSpPr>
          <p:nvPr/>
        </p:nvSpPr>
        <p:spPr>
          <a:xfrm xmlns:a="http://schemas.openxmlformats.org/drawingml/2006/main">
            <a:off x="9467850" y="2838450"/>
            <a:ext cx="2419350" cy="2933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inquire.role">
            <a:extLst xmlns:a="http://schemas.openxmlformats.org/drawingml/2006/main">
              <a:ext uri="{FF2B5EF4-FFF2-40B4-BE49-F238E27FC236}">
                <a16:creationId xmlns:a16="http://schemas.microsoft.com/office/drawing/2014/main" id="{109B9637-DE04-43C9-808D-E8811D0CC9DF}"/>
              </a:ext>
            </a:extLst>
          </p:cNvPr>
          <p:cNvSpPr>
            <a:spLocks xmlns:a="http://schemas.openxmlformats.org/drawingml/2006/main" noGrp="1"/>
          </p:cNvSpPr>
          <p:nvPr/>
        </p:nvSpPr>
        <p:spPr>
          <a:xfrm xmlns:a="http://schemas.openxmlformats.org/drawingml/2006/main">
            <a:off x="9658350" y="2962275"/>
            <a:ext cx="203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3  Request quotes</a:t>
            </a:r>
          </a:p>
        </p:txBody>
      </p:sp>
      <p:sp>
        <p:nvSpPr>
          <p:cNvPr id="34" name="!!trade.inquire.body">
            <a:extLst xmlns:a="http://schemas.openxmlformats.org/drawingml/2006/main">
              <a:ext uri="{FF2B5EF4-FFF2-40B4-BE49-F238E27FC236}">
                <a16:creationId xmlns:a16="http://schemas.microsoft.com/office/drawing/2014/main" id="{683C8C60-7DEE-446A-9752-926134188184}"/>
              </a:ext>
            </a:extLst>
          </p:cNvPr>
          <p:cNvSpPr>
            <a:spLocks xmlns:a="http://schemas.openxmlformats.org/drawingml/2006/main" noGrp="1"/>
          </p:cNvSpPr>
          <p:nvPr/>
        </p:nvSpPr>
        <p:spPr>
          <a:xfrm xmlns:a="http://schemas.openxmlformats.org/drawingml/2006/main">
            <a:off x="9658350" y="3829050"/>
            <a:ext cx="20383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Trader</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Specify bonds and buying interest</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Request offer prices and available size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Receive quotes</a:t>
            </a:r>
          </a:p>
        </p:txBody>
      </p:sp>
      <p:sp>
        <p:nvSpPr>
          <p:cNvPr id="35" name="!!trade.compare">
            <a:extLst xmlns:a="http://schemas.openxmlformats.org/drawingml/2006/main">
              <a:ext uri="{FF2B5EF4-FFF2-40B4-BE49-F238E27FC236}">
                <a16:creationId xmlns:a16="http://schemas.microsoft.com/office/drawing/2014/main" id="{F58E86D2-5ADA-4E1B-8D56-147BEF91014A}"/>
              </a:ext>
            </a:extLst>
          </p:cNvPr>
          <p:cNvSpPr>
            <a:spLocks xmlns:a="http://schemas.openxmlformats.org/drawingml/2006/main" noGrp="1"/>
          </p:cNvSpPr>
          <p:nvPr/>
        </p:nvSpPr>
        <p:spPr>
          <a:xfrm xmlns:a="http://schemas.openxmlformats.org/drawingml/2006/main">
            <a:off x="12172950" y="2838450"/>
            <a:ext cx="2419350" cy="2933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ompare.role">
            <a:extLst xmlns:a="http://schemas.openxmlformats.org/drawingml/2006/main">
              <a:ext uri="{FF2B5EF4-FFF2-40B4-BE49-F238E27FC236}">
                <a16:creationId xmlns:a16="http://schemas.microsoft.com/office/drawing/2014/main" id="{51979C2A-8E78-414F-A141-7D8583209AD1}"/>
              </a:ext>
            </a:extLst>
          </p:cNvPr>
          <p:cNvSpPr>
            <a:spLocks xmlns:a="http://schemas.openxmlformats.org/drawingml/2006/main" noGrp="1"/>
          </p:cNvSpPr>
          <p:nvPr/>
        </p:nvSpPr>
        <p:spPr>
          <a:xfrm xmlns:a="http://schemas.openxmlformats.org/drawingml/2006/main">
            <a:off x="12363450" y="2962275"/>
            <a:ext cx="203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4  Summarize quotes</a:t>
            </a:r>
          </a:p>
        </p:txBody>
      </p:sp>
      <p:sp>
        <p:nvSpPr>
          <p:cNvPr id="37" name="!!trade.compare.body">
            <a:extLst xmlns:a="http://schemas.openxmlformats.org/drawingml/2006/main">
              <a:ext uri="{FF2B5EF4-FFF2-40B4-BE49-F238E27FC236}">
                <a16:creationId xmlns:a16="http://schemas.microsoft.com/office/drawing/2014/main" id="{FF0D6D4C-D2F8-41DD-AB56-F50AC826E710}"/>
              </a:ext>
            </a:extLst>
          </p:cNvPr>
          <p:cNvSpPr>
            <a:spLocks xmlns:a="http://schemas.openxmlformats.org/drawingml/2006/main" noGrp="1"/>
          </p:cNvSpPr>
          <p:nvPr/>
        </p:nvSpPr>
        <p:spPr>
          <a:xfrm xmlns:a="http://schemas.openxmlformats.org/drawingml/2006/main">
            <a:off x="12363450" y="3829050"/>
            <a:ext cx="20383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Trader</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Summarize bonds and quotes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Discuss next steps with</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the portfolio manager</a:t>
            </a:r>
          </a:p>
        </p:txBody>
      </p:sp>
      <p:sp>
        <p:nvSpPr>
          <p:cNvPr id="38" name="!!trade.sequence0.line">
            <a:extLst xmlns:a="http://schemas.openxmlformats.org/drawingml/2006/main">
              <a:ext uri="{FF2B5EF4-FFF2-40B4-BE49-F238E27FC236}">
                <a16:creationId xmlns:a16="http://schemas.microsoft.com/office/drawing/2014/main" id="{F531A159-71BC-4250-9C1D-EE76D141950D}"/>
              </a:ext>
            </a:extLst>
          </p:cNvPr>
          <p:cNvSpPr>
            <a:spLocks xmlns:a="http://schemas.openxmlformats.org/drawingml/2006/main" noGrp="1"/>
          </p:cNvSpPr>
          <p:nvPr/>
        </p:nvSpPr>
        <p:spPr>
          <a:xfrm xmlns:a="http://schemas.openxmlformats.org/drawingml/2006/main" flipH="0" flipV="0">
            <a:off x="65246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trade.sequence0.tip">
            <a:extLst xmlns:a="http://schemas.openxmlformats.org/drawingml/2006/main">
              <a:ext uri="{FF2B5EF4-FFF2-40B4-BE49-F238E27FC236}">
                <a16:creationId xmlns:a16="http://schemas.microsoft.com/office/drawing/2014/main" id="{7CB796BE-E83D-459D-86A2-091F3E66730B}"/>
              </a:ext>
            </a:extLst>
          </p:cNvPr>
          <p:cNvSpPr>
            <a:spLocks xmlns:a="http://schemas.openxmlformats.org/drawingml/2006/main" noGrp="1"/>
          </p:cNvSpPr>
          <p:nvPr/>
        </p:nvSpPr>
        <p:spPr>
          <a:xfrm xmlns:a="http://schemas.openxmlformats.org/drawingml/2006/main" rot="5400000">
            <a:off x="66198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sequence0.label">
            <a:extLst xmlns:a="http://schemas.openxmlformats.org/drawingml/2006/main">
              <a:ext uri="{FF2B5EF4-FFF2-40B4-BE49-F238E27FC236}">
                <a16:creationId xmlns:a16="http://schemas.microsoft.com/office/drawing/2014/main" id="{7DC974EA-D6D4-49F2-837B-D26D85409640}"/>
              </a:ext>
            </a:extLst>
          </p:cNvPr>
          <p:cNvSpPr>
            <a:spLocks xmlns:a="http://schemas.openxmlformats.org/drawingml/2006/main" noGrp="1"/>
          </p:cNvSpPr>
          <p:nvPr/>
        </p:nvSpPr>
        <p:spPr>
          <a:xfrm xmlns:a="http://schemas.openxmlformats.org/drawingml/2006/main">
            <a:off x="61436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Request</a:t>
            </a:r>
          </a:p>
        </p:txBody>
      </p:sp>
      <p:sp>
        <p:nvSpPr>
          <p:cNvPr id="41" name="!!trade.sequence1.line">
            <a:extLst xmlns:a="http://schemas.openxmlformats.org/drawingml/2006/main">
              <a:ext uri="{FF2B5EF4-FFF2-40B4-BE49-F238E27FC236}">
                <a16:creationId xmlns:a16="http://schemas.microsoft.com/office/drawing/2014/main" id="{6F5E1F5D-B9C9-4789-9AFE-7B72E7A562DE}"/>
              </a:ext>
            </a:extLst>
          </p:cNvPr>
          <p:cNvSpPr>
            <a:spLocks xmlns:a="http://schemas.openxmlformats.org/drawingml/2006/main" noGrp="1"/>
          </p:cNvSpPr>
          <p:nvPr/>
        </p:nvSpPr>
        <p:spPr>
          <a:xfrm xmlns:a="http://schemas.openxmlformats.org/drawingml/2006/main" flipH="0" flipV="0">
            <a:off x="92297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2" name="!!trade.sequence1.tip">
            <a:extLst xmlns:a="http://schemas.openxmlformats.org/drawingml/2006/main">
              <a:ext uri="{FF2B5EF4-FFF2-40B4-BE49-F238E27FC236}">
                <a16:creationId xmlns:a16="http://schemas.microsoft.com/office/drawing/2014/main" id="{86C0DAD4-DB46-4C38-A445-5B8E68FBF2EF}"/>
              </a:ext>
            </a:extLst>
          </p:cNvPr>
          <p:cNvSpPr>
            <a:spLocks xmlns:a="http://schemas.openxmlformats.org/drawingml/2006/main" noGrp="1"/>
          </p:cNvSpPr>
          <p:nvPr/>
        </p:nvSpPr>
        <p:spPr>
          <a:xfrm xmlns:a="http://schemas.openxmlformats.org/drawingml/2006/main" rot="5400000">
            <a:off x="93249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3" name="!!trade.sequence1.label">
            <a:extLst xmlns:a="http://schemas.openxmlformats.org/drawingml/2006/main">
              <a:ext uri="{FF2B5EF4-FFF2-40B4-BE49-F238E27FC236}">
                <a16:creationId xmlns:a16="http://schemas.microsoft.com/office/drawing/2014/main" id="{F8C8ADA0-3BBB-4E2E-9259-98CE38C5D212}"/>
              </a:ext>
            </a:extLst>
          </p:cNvPr>
          <p:cNvSpPr>
            <a:spLocks xmlns:a="http://schemas.openxmlformats.org/drawingml/2006/main" noGrp="1"/>
          </p:cNvSpPr>
          <p:nvPr/>
        </p:nvSpPr>
        <p:spPr>
          <a:xfrm xmlns:a="http://schemas.openxmlformats.org/drawingml/2006/main">
            <a:off x="88487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Bonds</a:t>
            </a:r>
          </a:p>
        </p:txBody>
      </p:sp>
      <p:sp>
        <p:nvSpPr>
          <p:cNvPr id="44" name="!!trade.sequence2.line">
            <a:extLst xmlns:a="http://schemas.openxmlformats.org/drawingml/2006/main">
              <a:ext uri="{FF2B5EF4-FFF2-40B4-BE49-F238E27FC236}">
                <a16:creationId xmlns:a16="http://schemas.microsoft.com/office/drawing/2014/main" id="{2451F067-A1FD-4E92-9060-1980F7A4378B}"/>
              </a:ext>
            </a:extLst>
          </p:cNvPr>
          <p:cNvSpPr>
            <a:spLocks xmlns:a="http://schemas.openxmlformats.org/drawingml/2006/main" noGrp="1"/>
          </p:cNvSpPr>
          <p:nvPr/>
        </p:nvSpPr>
        <p:spPr>
          <a:xfrm xmlns:a="http://schemas.openxmlformats.org/drawingml/2006/main" flipH="0" flipV="0">
            <a:off x="11934825" y="388620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trade.sequence2.tip">
            <a:extLst xmlns:a="http://schemas.openxmlformats.org/drawingml/2006/main">
              <a:ext uri="{FF2B5EF4-FFF2-40B4-BE49-F238E27FC236}">
                <a16:creationId xmlns:a16="http://schemas.microsoft.com/office/drawing/2014/main" id="{92A9F678-17F4-4D55-B227-9E6847157104}"/>
              </a:ext>
            </a:extLst>
          </p:cNvPr>
          <p:cNvSpPr>
            <a:spLocks xmlns:a="http://schemas.openxmlformats.org/drawingml/2006/main" noGrp="1"/>
          </p:cNvSpPr>
          <p:nvPr/>
        </p:nvSpPr>
        <p:spPr>
          <a:xfrm xmlns:a="http://schemas.openxmlformats.org/drawingml/2006/main" rot="5400000">
            <a:off x="12030075" y="38290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trade.sequence2.label">
            <a:extLst xmlns:a="http://schemas.openxmlformats.org/drawingml/2006/main">
              <a:ext uri="{FF2B5EF4-FFF2-40B4-BE49-F238E27FC236}">
                <a16:creationId xmlns:a16="http://schemas.microsoft.com/office/drawing/2014/main" id="{597171DE-AE2C-4176-922E-2B8D105A34BD}"/>
              </a:ext>
            </a:extLst>
          </p:cNvPr>
          <p:cNvSpPr>
            <a:spLocks xmlns:a="http://schemas.openxmlformats.org/drawingml/2006/main" noGrp="1"/>
          </p:cNvSpPr>
          <p:nvPr/>
        </p:nvSpPr>
        <p:spPr>
          <a:xfrm xmlns:a="http://schemas.openxmlformats.org/drawingml/2006/main">
            <a:off x="11553825" y="2562225"/>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07C88"/>
                </a:solidFill>
                <a:latin typeface="Arial"/>
                <a:ea typeface="Arial"/>
                <a:cs typeface="Arial"/>
              </a:defRPr>
            </a:defPPr>
            <a:lvl1pPr algn="ctr">
              <a:defRPr sz="1575" b="0">
                <a:solidFill>
                  <a:srgbClr val="707C88"/>
                </a:solidFill>
                <a:latin typeface="Arial"/>
                <a:ea typeface="Arial"/>
                <a:cs typeface="Arial"/>
              </a:defRPr>
            </a:lvl1pPr>
            <a:lvl2pPr algn="ctr">
              <a:defRPr sz="1575" b="0">
                <a:solidFill>
                  <a:srgbClr val="707C88"/>
                </a:solidFill>
                <a:latin typeface="Arial"/>
                <a:ea typeface="Arial"/>
                <a:cs typeface="Arial"/>
              </a:defRPr>
            </a:lvl2pPr>
            <a:lvl3pPr algn="ctr">
              <a:defRPr sz="1575" b="0">
                <a:solidFill>
                  <a:srgbClr val="707C88"/>
                </a:solidFill>
                <a:latin typeface="Arial"/>
                <a:ea typeface="Arial"/>
                <a:cs typeface="Arial"/>
              </a:defRPr>
            </a:lvl3pPr>
            <a:lvl4pPr algn="ctr">
              <a:defRPr sz="1575" b="0">
                <a:solidFill>
                  <a:srgbClr val="707C88"/>
                </a:solidFill>
                <a:latin typeface="Arial"/>
                <a:ea typeface="Arial"/>
                <a:cs typeface="Arial"/>
              </a:defRPr>
            </a:lvl4pPr>
            <a:lvl5pPr algn="ctr">
              <a:defRPr sz="1575" b="0">
                <a:solidFill>
                  <a:srgbClr val="707C88"/>
                </a:solidFill>
                <a:latin typeface="Arial"/>
                <a:ea typeface="Arial"/>
                <a:cs typeface="Arial"/>
              </a:defRPr>
            </a:lvl5pPr>
            <a:lvl6pPr algn="ctr">
              <a:defRPr sz="1575" b="0">
                <a:solidFill>
                  <a:srgbClr val="707C88"/>
                </a:solidFill>
                <a:latin typeface="Arial"/>
                <a:ea typeface="Arial"/>
                <a:cs typeface="Arial"/>
              </a:defRPr>
            </a:lvl6pPr>
            <a:lvl7pPr algn="ctr">
              <a:defRPr sz="1575" b="0">
                <a:solidFill>
                  <a:srgbClr val="707C88"/>
                </a:solidFill>
                <a:latin typeface="Arial"/>
                <a:ea typeface="Arial"/>
                <a:cs typeface="Arial"/>
              </a:defRPr>
            </a:lvl7pPr>
            <a:lvl8pPr algn="ctr">
              <a:defRPr sz="1575" b="0">
                <a:solidFill>
                  <a:srgbClr val="707C88"/>
                </a:solidFill>
                <a:latin typeface="Arial"/>
                <a:ea typeface="Arial"/>
                <a:cs typeface="Arial"/>
              </a:defRPr>
            </a:lvl8pPr>
            <a:lvl9pPr algn="ctr">
              <a:defRPr sz="1575" b="0">
                <a:solidFill>
                  <a:srgbClr val="707C88"/>
                </a:solidFill>
                <a:latin typeface="Arial"/>
                <a:ea typeface="Arial"/>
                <a:cs typeface="Arial"/>
              </a:defRPr>
            </a:lvl9pPr>
          </a:lstStyle>
          <a:p xmlns:a="http://schemas.openxmlformats.org/drawingml/2006/main">
            <a:pPr algn="ctr">
              <a:defRPr sz="1575" b="0">
                <a:solidFill>
                  <a:srgbClr val="707C88"/>
                </a:solidFill>
                <a:latin typeface="Arial"/>
                <a:ea typeface="Arial"/>
                <a:cs typeface="Arial"/>
              </a:defRPr>
            </a:pPr>
            <a:r>
              <a:rPr sz="1575" b="0">
                <a:solidFill>
                  <a:srgbClr val="707C88"/>
                </a:solidFill>
                <a:latin typeface="Arial"/>
                <a:ea typeface="Arial"/>
                <a:cs typeface="Arial"/>
              </a:rPr>
              <a:t>Quotes</a:t>
            </a:r>
          </a:p>
        </p:txBody>
      </p:sp>
      <p:sp>
        <p:nvSpPr>
          <p:cNvPr id="47" name="!!trade.system">
            <a:extLst xmlns:a="http://schemas.openxmlformats.org/drawingml/2006/main">
              <a:ext uri="{FF2B5EF4-FFF2-40B4-BE49-F238E27FC236}">
                <a16:creationId xmlns:a16="http://schemas.microsoft.com/office/drawing/2014/main" id="{7F0C6380-3BCF-44AA-9419-6F571A98938D}"/>
              </a:ext>
            </a:extLst>
          </p:cNvPr>
          <p:cNvSpPr>
            <a:spLocks xmlns:a="http://schemas.openxmlformats.org/drawingml/2006/main" noGrp="1"/>
          </p:cNvSpPr>
          <p:nvPr/>
        </p:nvSpPr>
        <p:spPr>
          <a:xfrm xmlns:a="http://schemas.openxmlformats.org/drawingml/2006/main">
            <a:off x="6762750" y="6219825"/>
            <a:ext cx="2419350" cy="8572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8" name="!!trade.system.role">
            <a:extLst xmlns:a="http://schemas.openxmlformats.org/drawingml/2006/main">
              <a:ext uri="{FF2B5EF4-FFF2-40B4-BE49-F238E27FC236}">
                <a16:creationId xmlns:a16="http://schemas.microsoft.com/office/drawing/2014/main" id="{4E5F903F-C1F3-4522-A5E8-C5C9373DC356}"/>
              </a:ext>
            </a:extLst>
          </p:cNvPr>
          <p:cNvSpPr>
            <a:spLocks xmlns:a="http://schemas.openxmlformats.org/drawingml/2006/main" noGrp="1"/>
          </p:cNvSpPr>
          <p:nvPr/>
        </p:nvSpPr>
        <p:spPr>
          <a:xfrm xmlns:a="http://schemas.openxmlformats.org/drawingml/2006/main">
            <a:off x="6953250" y="6257925"/>
            <a:ext cx="2038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Market and</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holdings systems</a:t>
            </a:r>
          </a:p>
        </p:txBody>
      </p:sp>
      <p:sp>
        <p:nvSpPr>
          <p:cNvPr id="49" name="!!trade.system.body">
            <a:extLst xmlns:a="http://schemas.openxmlformats.org/drawingml/2006/main">
              <a:ext uri="{FF2B5EF4-FFF2-40B4-BE49-F238E27FC236}">
                <a16:creationId xmlns:a16="http://schemas.microsoft.com/office/drawing/2014/main" id="{C6407AD3-6DB6-4CF9-B077-4F375F8DC284}"/>
              </a:ext>
            </a:extLst>
          </p:cNvPr>
          <p:cNvSpPr>
            <a:spLocks xmlns:a="http://schemas.openxmlformats.org/drawingml/2006/main" noGrp="1"/>
          </p:cNvSpPr>
          <p:nvPr/>
        </p:nvSpPr>
        <p:spPr>
          <a:xfrm xmlns:a="http://schemas.openxmlformats.org/drawingml/2006/main">
            <a:off x="6953250" y="6800850"/>
            <a:ext cx="2038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Query results</a:t>
            </a:r>
          </a:p>
        </p:txBody>
      </p:sp>
      <p:sp>
        <p:nvSpPr>
          <p:cNvPr id="50" name="!!trade.data.line">
            <a:extLst xmlns:a="http://schemas.openxmlformats.org/drawingml/2006/main">
              <a:ext uri="{FF2B5EF4-FFF2-40B4-BE49-F238E27FC236}">
                <a16:creationId xmlns:a16="http://schemas.microsoft.com/office/drawing/2014/main" id="{AB9CFDB5-9ECF-431E-B6D7-BB65748D4B12}"/>
              </a:ext>
            </a:extLst>
          </p:cNvPr>
          <p:cNvSpPr>
            <a:spLocks xmlns:a="http://schemas.openxmlformats.org/drawingml/2006/main" noGrp="1"/>
          </p:cNvSpPr>
          <p:nvPr/>
        </p:nvSpPr>
        <p:spPr>
          <a:xfrm xmlns:a="http://schemas.openxmlformats.org/drawingml/2006/main" flipH="0" flipV="1">
            <a:off x="7972425" y="5848350"/>
            <a:ext cx="953" cy="2952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1" name="!!trade.data.tip">
            <a:extLst xmlns:a="http://schemas.openxmlformats.org/drawingml/2006/main">
              <a:ext uri="{FF2B5EF4-FFF2-40B4-BE49-F238E27FC236}">
                <a16:creationId xmlns:a16="http://schemas.microsoft.com/office/drawing/2014/main" id="{A6210377-67FF-4FF9-8CBF-03CF8129301F}"/>
              </a:ext>
            </a:extLst>
          </p:cNvPr>
          <p:cNvSpPr>
            <a:spLocks xmlns:a="http://schemas.openxmlformats.org/drawingml/2006/main" noGrp="1"/>
          </p:cNvSpPr>
          <p:nvPr/>
        </p:nvSpPr>
        <p:spPr>
          <a:xfrm xmlns:a="http://schemas.openxmlformats.org/drawingml/2006/main" rot="0">
            <a:off x="7915275" y="5791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trade.data.label">
            <a:extLst xmlns:a="http://schemas.openxmlformats.org/drawingml/2006/main">
              <a:ext uri="{FF2B5EF4-FFF2-40B4-BE49-F238E27FC236}">
                <a16:creationId xmlns:a16="http://schemas.microsoft.com/office/drawing/2014/main" id="{382C0739-A0A4-4A1A-8C0F-3E3A13DCA7DE}"/>
              </a:ext>
            </a:extLst>
          </p:cNvPr>
          <p:cNvSpPr>
            <a:spLocks xmlns:a="http://schemas.openxmlformats.org/drawingml/2006/main" noGrp="1"/>
          </p:cNvSpPr>
          <p:nvPr/>
        </p:nvSpPr>
        <p:spPr>
          <a:xfrm xmlns:a="http://schemas.openxmlformats.org/drawingml/2006/main">
            <a:off x="6705600" y="5924550"/>
            <a:ext cx="120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62C"/>
                </a:solidFill>
                <a:latin typeface="Arial"/>
                <a:ea typeface="Arial"/>
                <a:cs typeface="Arial"/>
              </a:defRPr>
            </a:defPPr>
            <a:lvl1pPr algn="l">
              <a:defRPr sz="1575" b="0">
                <a:solidFill>
                  <a:srgbClr val="20262C"/>
                </a:solidFill>
                <a:latin typeface="Arial"/>
                <a:ea typeface="Arial"/>
                <a:cs typeface="Arial"/>
              </a:defRPr>
            </a:lvl1pPr>
            <a:lvl2pPr algn="l">
              <a:defRPr sz="1575" b="0">
                <a:solidFill>
                  <a:srgbClr val="20262C"/>
                </a:solidFill>
                <a:latin typeface="Arial"/>
                <a:ea typeface="Arial"/>
                <a:cs typeface="Arial"/>
              </a:defRPr>
            </a:lvl2pPr>
            <a:lvl3pPr algn="l">
              <a:defRPr sz="1575" b="0">
                <a:solidFill>
                  <a:srgbClr val="20262C"/>
                </a:solidFill>
                <a:latin typeface="Arial"/>
                <a:ea typeface="Arial"/>
                <a:cs typeface="Arial"/>
              </a:defRPr>
            </a:lvl3pPr>
            <a:lvl4pPr algn="l">
              <a:defRPr sz="1575" b="0">
                <a:solidFill>
                  <a:srgbClr val="20262C"/>
                </a:solidFill>
                <a:latin typeface="Arial"/>
                <a:ea typeface="Arial"/>
                <a:cs typeface="Arial"/>
              </a:defRPr>
            </a:lvl4pPr>
            <a:lvl5pPr algn="l">
              <a:defRPr sz="1575" b="0">
                <a:solidFill>
                  <a:srgbClr val="20262C"/>
                </a:solidFill>
                <a:latin typeface="Arial"/>
                <a:ea typeface="Arial"/>
                <a:cs typeface="Arial"/>
              </a:defRPr>
            </a:lvl5pPr>
            <a:lvl6pPr algn="l">
              <a:defRPr sz="1575" b="0">
                <a:solidFill>
                  <a:srgbClr val="20262C"/>
                </a:solidFill>
                <a:latin typeface="Arial"/>
                <a:ea typeface="Arial"/>
                <a:cs typeface="Arial"/>
              </a:defRPr>
            </a:lvl6pPr>
            <a:lvl7pPr algn="l">
              <a:defRPr sz="1575" b="0">
                <a:solidFill>
                  <a:srgbClr val="20262C"/>
                </a:solidFill>
                <a:latin typeface="Arial"/>
                <a:ea typeface="Arial"/>
                <a:cs typeface="Arial"/>
              </a:defRPr>
            </a:lvl7pPr>
            <a:lvl8pPr algn="l">
              <a:defRPr sz="1575" b="0">
                <a:solidFill>
                  <a:srgbClr val="20262C"/>
                </a:solidFill>
                <a:latin typeface="Arial"/>
                <a:ea typeface="Arial"/>
                <a:cs typeface="Arial"/>
              </a:defRPr>
            </a:lvl8pPr>
            <a:lvl9pPr algn="l">
              <a:defRPr sz="1575" b="0">
                <a:solidFill>
                  <a:srgbClr val="20262C"/>
                </a:solidFill>
                <a:latin typeface="Arial"/>
                <a:ea typeface="Arial"/>
                <a:cs typeface="Arial"/>
              </a:defRPr>
            </a:lvl9pPr>
          </a:lstStyle>
          <a:p xmlns:a="http://schemas.openxmlformats.org/drawingml/2006/main">
            <a:pPr algn="l">
              <a:defRPr sz="1575" b="0">
                <a:solidFill>
                  <a:srgbClr val="20262C"/>
                </a:solidFill>
                <a:latin typeface="Arial"/>
                <a:ea typeface="Arial"/>
                <a:cs typeface="Arial"/>
              </a:defRPr>
            </a:pPr>
            <a:r>
              <a:rPr sz="1575" b="0">
                <a:solidFill>
                  <a:srgbClr val="20262C"/>
                </a:solidFill>
                <a:latin typeface="Arial"/>
                <a:ea typeface="Arial"/>
                <a:cs typeface="Arial"/>
              </a:rPr>
              <a:t>Query results</a:t>
            </a:r>
          </a:p>
        </p:txBody>
      </p:sp>
      <p:sp>
        <p:nvSpPr>
          <p:cNvPr id="53" name="!!trade.counterparty">
            <a:extLst xmlns:a="http://schemas.openxmlformats.org/drawingml/2006/main">
              <a:ext uri="{FF2B5EF4-FFF2-40B4-BE49-F238E27FC236}">
                <a16:creationId xmlns:a16="http://schemas.microsoft.com/office/drawing/2014/main" id="{D5DA747B-84C7-42D5-9B4C-01E383B5D4B9}"/>
              </a:ext>
            </a:extLst>
          </p:cNvPr>
          <p:cNvSpPr>
            <a:spLocks xmlns:a="http://schemas.openxmlformats.org/drawingml/2006/main" noGrp="1"/>
          </p:cNvSpPr>
          <p:nvPr/>
        </p:nvSpPr>
        <p:spPr>
          <a:xfrm xmlns:a="http://schemas.openxmlformats.org/drawingml/2006/main">
            <a:off x="9467850" y="6334125"/>
            <a:ext cx="241935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4" name="!!trade.counterparty.role">
            <a:extLst xmlns:a="http://schemas.openxmlformats.org/drawingml/2006/main">
              <a:ext uri="{FF2B5EF4-FFF2-40B4-BE49-F238E27FC236}">
                <a16:creationId xmlns:a16="http://schemas.microsoft.com/office/drawing/2014/main" id="{E9EC67D3-2530-4B36-B042-E7E86E504D7E}"/>
              </a:ext>
            </a:extLst>
          </p:cNvPr>
          <p:cNvSpPr>
            <a:spLocks xmlns:a="http://schemas.openxmlformats.org/drawingml/2006/main" noGrp="1"/>
          </p:cNvSpPr>
          <p:nvPr/>
        </p:nvSpPr>
        <p:spPr>
          <a:xfrm xmlns:a="http://schemas.openxmlformats.org/drawingml/2006/main">
            <a:off x="9658350" y="63817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Counterparty</a:t>
            </a:r>
          </a:p>
        </p:txBody>
      </p:sp>
      <p:sp>
        <p:nvSpPr>
          <p:cNvPr id="55" name="!!trade.counterparty.body">
            <a:extLst xmlns:a="http://schemas.openxmlformats.org/drawingml/2006/main">
              <a:ext uri="{FF2B5EF4-FFF2-40B4-BE49-F238E27FC236}">
                <a16:creationId xmlns:a16="http://schemas.microsoft.com/office/drawing/2014/main" id="{9FFAC2EF-5922-493B-8F8F-979B11438E75}"/>
              </a:ext>
            </a:extLst>
          </p:cNvPr>
          <p:cNvSpPr>
            <a:spLocks xmlns:a="http://schemas.openxmlformats.org/drawingml/2006/main" noGrp="1"/>
          </p:cNvSpPr>
          <p:nvPr/>
        </p:nvSpPr>
        <p:spPr>
          <a:xfrm xmlns:a="http://schemas.openxmlformats.org/drawingml/2006/main">
            <a:off x="9658350" y="67627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Returns quotes</a:t>
            </a:r>
          </a:p>
        </p:txBody>
      </p:sp>
      <p:sp>
        <p:nvSpPr>
          <p:cNvPr id="56" name="!!trade.ask.line">
            <a:extLst xmlns:a="http://schemas.openxmlformats.org/drawingml/2006/main">
              <a:ext uri="{FF2B5EF4-FFF2-40B4-BE49-F238E27FC236}">
                <a16:creationId xmlns:a16="http://schemas.microsoft.com/office/drawing/2014/main" id="{8A866C40-BA14-4290-B5A5-42F483619584}"/>
              </a:ext>
            </a:extLst>
          </p:cNvPr>
          <p:cNvSpPr>
            <a:spLocks xmlns:a="http://schemas.openxmlformats.org/drawingml/2006/main" noGrp="1"/>
          </p:cNvSpPr>
          <p:nvPr/>
        </p:nvSpPr>
        <p:spPr>
          <a:xfrm xmlns:a="http://schemas.openxmlformats.org/drawingml/2006/main" flipH="0" flipV="0">
            <a:off x="10029825" y="5848350"/>
            <a:ext cx="953" cy="2952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7" name="!!trade.ask.tip">
            <a:extLst xmlns:a="http://schemas.openxmlformats.org/drawingml/2006/main">
              <a:ext uri="{FF2B5EF4-FFF2-40B4-BE49-F238E27FC236}">
                <a16:creationId xmlns:a16="http://schemas.microsoft.com/office/drawing/2014/main" id="{EC310188-CE0B-4726-91D3-EBB25004F8CD}"/>
              </a:ext>
            </a:extLst>
          </p:cNvPr>
          <p:cNvSpPr>
            <a:spLocks xmlns:a="http://schemas.openxmlformats.org/drawingml/2006/main" noGrp="1"/>
          </p:cNvSpPr>
          <p:nvPr/>
        </p:nvSpPr>
        <p:spPr>
          <a:xfrm xmlns:a="http://schemas.openxmlformats.org/drawingml/2006/main" rot="10800000">
            <a:off x="9972675" y="60864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8" name="!!trade.quote.return.line">
            <a:extLst xmlns:a="http://schemas.openxmlformats.org/drawingml/2006/main">
              <a:ext uri="{FF2B5EF4-FFF2-40B4-BE49-F238E27FC236}">
                <a16:creationId xmlns:a16="http://schemas.microsoft.com/office/drawing/2014/main" id="{F951568A-390E-4AD6-A48D-E64DA42668A1}"/>
              </a:ext>
            </a:extLst>
          </p:cNvPr>
          <p:cNvSpPr>
            <a:spLocks xmlns:a="http://schemas.openxmlformats.org/drawingml/2006/main" noGrp="1"/>
          </p:cNvSpPr>
          <p:nvPr/>
        </p:nvSpPr>
        <p:spPr>
          <a:xfrm xmlns:a="http://schemas.openxmlformats.org/drawingml/2006/main" flipH="0" flipV="1">
            <a:off x="11268075" y="5848350"/>
            <a:ext cx="953" cy="2952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9" name="!!trade.quote.return.tip">
            <a:extLst xmlns:a="http://schemas.openxmlformats.org/drawingml/2006/main">
              <a:ext uri="{FF2B5EF4-FFF2-40B4-BE49-F238E27FC236}">
                <a16:creationId xmlns:a16="http://schemas.microsoft.com/office/drawing/2014/main" id="{ABE43B48-E31D-4CF8-BD6A-789C975777E0}"/>
              </a:ext>
            </a:extLst>
          </p:cNvPr>
          <p:cNvSpPr>
            <a:spLocks xmlns:a="http://schemas.openxmlformats.org/drawingml/2006/main" noGrp="1"/>
          </p:cNvSpPr>
          <p:nvPr/>
        </p:nvSpPr>
        <p:spPr>
          <a:xfrm xmlns:a="http://schemas.openxmlformats.org/drawingml/2006/main" rot="0">
            <a:off x="11210925" y="5791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ask.label">
            <a:extLst xmlns:a="http://schemas.openxmlformats.org/drawingml/2006/main">
              <a:ext uri="{FF2B5EF4-FFF2-40B4-BE49-F238E27FC236}">
                <a16:creationId xmlns:a16="http://schemas.microsoft.com/office/drawing/2014/main" id="{07AD8C77-C0D4-4675-8EB6-CAB7C28F8C9F}"/>
              </a:ext>
            </a:extLst>
          </p:cNvPr>
          <p:cNvSpPr>
            <a:spLocks xmlns:a="http://schemas.openxmlformats.org/drawingml/2006/main" noGrp="1"/>
          </p:cNvSpPr>
          <p:nvPr/>
        </p:nvSpPr>
        <p:spPr>
          <a:xfrm xmlns:a="http://schemas.openxmlformats.org/drawingml/2006/main">
            <a:off x="9258300" y="5857875"/>
            <a:ext cx="1066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Quote request</a:t>
            </a:r>
          </a:p>
        </p:txBody>
      </p:sp>
      <p:sp>
        <p:nvSpPr>
          <p:cNvPr id="61" name="!!trade.quote.label">
            <a:extLst xmlns:a="http://schemas.openxmlformats.org/drawingml/2006/main">
              <a:ext uri="{FF2B5EF4-FFF2-40B4-BE49-F238E27FC236}">
                <a16:creationId xmlns:a16="http://schemas.microsoft.com/office/drawing/2014/main" id="{CEA27403-F868-4A79-A936-8245391DA593}"/>
              </a:ext>
            </a:extLst>
          </p:cNvPr>
          <p:cNvSpPr>
            <a:spLocks xmlns:a="http://schemas.openxmlformats.org/drawingml/2006/main" noGrp="1"/>
          </p:cNvSpPr>
          <p:nvPr/>
        </p:nvSpPr>
        <p:spPr>
          <a:xfrm xmlns:a="http://schemas.openxmlformats.org/drawingml/2006/main">
            <a:off x="11382375" y="5924550"/>
            <a:ext cx="542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Quote</a:t>
            </a:r>
          </a:p>
        </p:txBody>
      </p:sp>
      <p:sp>
        <p:nvSpPr>
          <p:cNvPr id="62" name="!!trade.repetition">
            <a:extLst xmlns:a="http://schemas.openxmlformats.org/drawingml/2006/main">
              <a:ext uri="{FF2B5EF4-FFF2-40B4-BE49-F238E27FC236}">
                <a16:creationId xmlns:a16="http://schemas.microsoft.com/office/drawing/2014/main" id="{550A6D4E-C5C4-4EB3-BF11-D301525931F0}"/>
              </a:ext>
            </a:extLst>
          </p:cNvPr>
          <p:cNvSpPr>
            <a:spLocks xmlns:a="http://schemas.openxmlformats.org/drawingml/2006/main" noGrp="1"/>
          </p:cNvSpPr>
          <p:nvPr/>
        </p:nvSpPr>
        <p:spPr>
          <a:xfrm xmlns:a="http://schemas.openxmlformats.org/drawingml/2006/main">
            <a:off x="4057650" y="70866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Repeated work: entering filters, switching systems and copying quote messages</a:t>
            </a:r>
          </a:p>
        </p:txBody>
      </p:sp>
      <p:sp>
        <p:nvSpPr>
          <p:cNvPr id="64" name="!!story.header.issuer.bar">
            <a:extLst xmlns:a="http://schemas.openxmlformats.org/drawingml/2006/main">
              <a:ext uri="{FF2B5EF4-FFF2-40B4-BE49-F238E27FC236}">
                <a16:creationId xmlns:a16="http://schemas.microsoft.com/office/drawing/2014/main" id="{9C7B27F4-A970-4366-8B1F-0B7AE512E48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433F0178-E89D-446A-AB97-BDAAAAB4D673}"/>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6" name="!!story.issuer.inquiry.subject">
            <a:extLst xmlns:a="http://schemas.openxmlformats.org/drawingml/2006/main">
              <a:ext uri="{FF2B5EF4-FFF2-40B4-BE49-F238E27FC236}">
                <a16:creationId xmlns:a16="http://schemas.microsoft.com/office/drawing/2014/main" id="{44BEF842-4C36-473B-8EE7-3751E7E2F764}"/>
              </a:ext>
            </a:extLst>
          </p:cNvPr>
          <p:cNvSpPr>
            <a:spLocks xmlns:a="http://schemas.openxmlformats.org/drawingml/2006/main" noGrp="1"/>
          </p:cNvSpPr>
          <p:nvPr/>
        </p:nvSpPr>
        <p:spPr>
          <a:xfrm xmlns:a="http://schemas.openxmlformats.org/drawingml/2006/main">
            <a:off x="4152900" y="3829050"/>
            <a:ext cx="38100" cy="5524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10937266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46A45EC4-C5CE-49CC-B789-BA88E0306783}"/>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Trading support at Southern and Aegon-Industrial</a:t>
            </a:r>
          </a:p>
        </p:txBody>
      </p:sp>
      <p:sp>
        <p:nvSpPr>
          <p:cNvPr id="2" name="!!subtitle">
            <a:extLst xmlns:a="http://schemas.openxmlformats.org/drawingml/2006/main">
              <a:ext uri="{FF2B5EF4-FFF2-40B4-BE49-F238E27FC236}">
                <a16:creationId xmlns:a16="http://schemas.microsoft.com/office/drawing/2014/main" id="{EE81A05C-BA83-468C-94FB-46A7124EB1A8}"/>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Industry examples</a:t>
            </a:r>
          </a:p>
        </p:txBody>
      </p:sp>
      <p:sp>
        <p:nvSpPr>
          <p:cNvPr id="3" name="!!heading.rule">
            <a:extLst xmlns:a="http://schemas.openxmlformats.org/drawingml/2006/main">
              <a:ext uri="{FF2B5EF4-FFF2-40B4-BE49-F238E27FC236}">
                <a16:creationId xmlns:a16="http://schemas.microsoft.com/office/drawing/2014/main" id="{A8CF1720-368B-45F3-BD9F-77C6519C00A5}"/>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8D39822-D96A-4354-BB66-EF371885ADC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D04D75B-027E-4A98-A667-0A5A34E6622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0C2A202-D94C-4995-9229-A7F26229980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3EB470C-8619-4A28-B391-2259BA8EEC1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0D1EB8B-7145-4860-A797-5E23C1AC7F3E}"/>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C6E5D30-174D-491E-B1B5-2333CBD43DEF}"/>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ACE69E7-030B-46DF-9635-45382129AC0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3701B4-1720-400D-9AC5-2180D574748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D3B38E3-C94F-464B-8F13-871BD663F95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0C0F46E8-A5C4-4060-B6BC-301E28AF7B0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9E45445-2849-4CC2-B8FE-2681A2B04F0B}"/>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F179062-B672-4D91-AC0D-3DCB29114D3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8009448-F886-4C56-9A24-3E14AADD9A3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F4A2B847-E0BC-4513-B487-FF2FAC17174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78907D9D-8E5F-475E-8156-9E50DECA3123}"/>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800D31A8-4F47-4C36-8395-23145CBD19EC}"/>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10 / 33</a:t>
            </a:r>
          </a:p>
        </p:txBody>
      </p:sp>
      <p:sp>
        <p:nvSpPr>
          <p:cNvPr id="20" name="!!nav.prev">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85DE0A-2DAD-44C8-9F12-85F5A06E6EEC}"/>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1" action="ppaction://hlinksldjump" tooltip="Slide 11: Proposed application: bond quote preparation"/>
            <a:extLst xmlns:a="http://schemas.openxmlformats.org/drawingml/2006/main">
              <a:ext uri="{FF2B5EF4-FFF2-40B4-BE49-F238E27FC236}">
                <a16:creationId xmlns:a16="http://schemas.microsoft.com/office/drawing/2014/main" id="{9A9EA336-A815-44D3-B18C-4E5D361E792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80BE6E05-E74B-4367-9EE9-7F28120615D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098B6DE9-89C6-4905-B460-86E7B6D0FBFC}"/>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Southern Asset Management; Aegon-Industrial / AMAC</a:t>
            </a:r>
          </a:p>
        </p:txBody>
      </p:sp>
      <p:sp>
        <p:nvSpPr>
          <p:cNvPr id="24" name="!!trade.southern">
            <a:extLst xmlns:a="http://schemas.openxmlformats.org/drawingml/2006/main">
              <a:ext uri="{FF2B5EF4-FFF2-40B4-BE49-F238E27FC236}">
                <a16:creationId xmlns:a16="http://schemas.microsoft.com/office/drawing/2014/main" id="{A0590A35-BE6B-4ED2-831D-EA91730F5D31}"/>
              </a:ext>
            </a:extLst>
          </p:cNvPr>
          <p:cNvSpPr>
            <a:spLocks xmlns:a="http://schemas.openxmlformats.org/drawingml/2006/main" noGrp="1"/>
          </p:cNvSpPr>
          <p:nvPr/>
        </p:nvSpPr>
        <p:spPr>
          <a:xfrm xmlns:a="http://schemas.openxmlformats.org/drawingml/2006/main">
            <a:off x="4057650" y="2190750"/>
            <a:ext cx="105346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Southern Asset Management: Xiaonan trading assistant</a:t>
            </a:r>
          </a:p>
        </p:txBody>
      </p:sp>
      <p:sp>
        <p:nvSpPr>
          <p:cNvPr id="25" name="!!trade.case1.0">
            <a:extLst xmlns:a="http://schemas.openxmlformats.org/drawingml/2006/main">
              <a:ext uri="{FF2B5EF4-FFF2-40B4-BE49-F238E27FC236}">
                <a16:creationId xmlns:a16="http://schemas.microsoft.com/office/drawing/2014/main" id="{7B1338D3-E301-44EB-804F-54AE13E968F9}"/>
              </a:ext>
            </a:extLst>
          </p:cNvPr>
          <p:cNvSpPr>
            <a:spLocks xmlns:a="http://schemas.openxmlformats.org/drawingml/2006/main" noGrp="1"/>
          </p:cNvSpPr>
          <p:nvPr/>
        </p:nvSpPr>
        <p:spPr>
          <a:xfrm xmlns:a="http://schemas.openxmlformats.org/drawingml/2006/main">
            <a:off x="4057650" y="2952750"/>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trade.case1.0.role">
            <a:extLst xmlns:a="http://schemas.openxmlformats.org/drawingml/2006/main">
              <a:ext uri="{FF2B5EF4-FFF2-40B4-BE49-F238E27FC236}">
                <a16:creationId xmlns:a16="http://schemas.microsoft.com/office/drawing/2014/main" id="{9878DD94-134A-4370-9FF9-649AA62473FF}"/>
              </a:ext>
            </a:extLst>
          </p:cNvPr>
          <p:cNvSpPr>
            <a:spLocks xmlns:a="http://schemas.openxmlformats.org/drawingml/2006/main" noGrp="1"/>
          </p:cNvSpPr>
          <p:nvPr/>
        </p:nvSpPr>
        <p:spPr>
          <a:xfrm xmlns:a="http://schemas.openxmlformats.org/drawingml/2006/main">
            <a:off x="42481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User request</a:t>
            </a:r>
          </a:p>
        </p:txBody>
      </p:sp>
      <p:sp>
        <p:nvSpPr>
          <p:cNvPr id="27" name="!!trade.case1.0.body">
            <a:extLst xmlns:a="http://schemas.openxmlformats.org/drawingml/2006/main">
              <a:ext uri="{FF2B5EF4-FFF2-40B4-BE49-F238E27FC236}">
                <a16:creationId xmlns:a16="http://schemas.microsoft.com/office/drawing/2014/main" id="{7FE25D35-A6F4-4308-8067-FCB6674D1329}"/>
              </a:ext>
            </a:extLst>
          </p:cNvPr>
          <p:cNvSpPr>
            <a:spLocks xmlns:a="http://schemas.openxmlformats.org/drawingml/2006/main" noGrp="1"/>
          </p:cNvSpPr>
          <p:nvPr/>
        </p:nvSpPr>
        <p:spPr>
          <a:xfrm xmlns:a="http://schemas.openxmlformats.org/drawingml/2006/main">
            <a:off x="4248150" y="3533775"/>
            <a:ext cx="2038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Specify bond criteria, a query or an instruction.</a:t>
            </a:r>
          </a:p>
        </p:txBody>
      </p:sp>
      <p:sp>
        <p:nvSpPr>
          <p:cNvPr id="28" name="!!trade.case1.link0.line">
            <a:extLst xmlns:a="http://schemas.openxmlformats.org/drawingml/2006/main">
              <a:ext uri="{FF2B5EF4-FFF2-40B4-BE49-F238E27FC236}">
                <a16:creationId xmlns:a16="http://schemas.microsoft.com/office/drawing/2014/main" id="{CE8BF85F-0CDD-4580-BF28-7281217BFC34}"/>
              </a:ext>
            </a:extLst>
          </p:cNvPr>
          <p:cNvSpPr>
            <a:spLocks xmlns:a="http://schemas.openxmlformats.org/drawingml/2006/main" noGrp="1"/>
          </p:cNvSpPr>
          <p:nvPr/>
        </p:nvSpPr>
        <p:spPr>
          <a:xfrm xmlns:a="http://schemas.openxmlformats.org/drawingml/2006/main" flipH="0" flipV="0">
            <a:off x="65246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9" name="!!trade.case1.link0.tip">
            <a:extLst xmlns:a="http://schemas.openxmlformats.org/drawingml/2006/main">
              <a:ext uri="{FF2B5EF4-FFF2-40B4-BE49-F238E27FC236}">
                <a16:creationId xmlns:a16="http://schemas.microsoft.com/office/drawing/2014/main" id="{D2A4C81A-D6F8-4A46-8859-A5489D8C1048}"/>
              </a:ext>
            </a:extLst>
          </p:cNvPr>
          <p:cNvSpPr>
            <a:spLocks xmlns:a="http://schemas.openxmlformats.org/drawingml/2006/main" noGrp="1"/>
          </p:cNvSpPr>
          <p:nvPr/>
        </p:nvSpPr>
        <p:spPr>
          <a:xfrm xmlns:a="http://schemas.openxmlformats.org/drawingml/2006/main" rot="5400000">
            <a:off x="66198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0" name="!!trade.case1.1">
            <a:extLst xmlns:a="http://schemas.openxmlformats.org/drawingml/2006/main">
              <a:ext uri="{FF2B5EF4-FFF2-40B4-BE49-F238E27FC236}">
                <a16:creationId xmlns:a16="http://schemas.microsoft.com/office/drawing/2014/main" id="{41D71196-62F2-415D-991A-08B38F64EC3C}"/>
              </a:ext>
            </a:extLst>
          </p:cNvPr>
          <p:cNvSpPr>
            <a:spLocks xmlns:a="http://schemas.openxmlformats.org/drawingml/2006/main" noGrp="1"/>
          </p:cNvSpPr>
          <p:nvPr/>
        </p:nvSpPr>
        <p:spPr>
          <a:xfrm xmlns:a="http://schemas.openxmlformats.org/drawingml/2006/main">
            <a:off x="6762750" y="2952750"/>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trade.case1.1.role">
            <a:extLst xmlns:a="http://schemas.openxmlformats.org/drawingml/2006/main">
              <a:ext uri="{FF2B5EF4-FFF2-40B4-BE49-F238E27FC236}">
                <a16:creationId xmlns:a16="http://schemas.microsoft.com/office/drawing/2014/main" id="{39CDBC2F-EC1D-4D2A-8B93-112BF9542B78}"/>
              </a:ext>
            </a:extLst>
          </p:cNvPr>
          <p:cNvSpPr>
            <a:spLocks xmlns:a="http://schemas.openxmlformats.org/drawingml/2006/main" noGrp="1"/>
          </p:cNvSpPr>
          <p:nvPr/>
        </p:nvSpPr>
        <p:spPr>
          <a:xfrm xmlns:a="http://schemas.openxmlformats.org/drawingml/2006/main">
            <a:off x="69532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LLM interprets</a:t>
            </a:r>
          </a:p>
        </p:txBody>
      </p:sp>
      <p:sp>
        <p:nvSpPr>
          <p:cNvPr id="32" name="!!trade.case1.1.body">
            <a:extLst xmlns:a="http://schemas.openxmlformats.org/drawingml/2006/main">
              <a:ext uri="{FF2B5EF4-FFF2-40B4-BE49-F238E27FC236}">
                <a16:creationId xmlns:a16="http://schemas.microsoft.com/office/drawing/2014/main" id="{340862F0-36B8-4A96-9283-420EF2189388}"/>
              </a:ext>
            </a:extLst>
          </p:cNvPr>
          <p:cNvSpPr>
            <a:spLocks xmlns:a="http://schemas.openxmlformats.org/drawingml/2006/main" noGrp="1"/>
          </p:cNvSpPr>
          <p:nvPr/>
        </p:nvSpPr>
        <p:spPr>
          <a:xfrm xmlns:a="http://schemas.openxmlformats.org/drawingml/2006/main">
            <a:off x="6953250" y="3533775"/>
            <a:ext cx="2038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Interpret the request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Select required tools</a:t>
            </a:r>
          </a:p>
        </p:txBody>
      </p:sp>
      <p:sp>
        <p:nvSpPr>
          <p:cNvPr id="33" name="!!trade.case1.link1.line">
            <a:extLst xmlns:a="http://schemas.openxmlformats.org/drawingml/2006/main">
              <a:ext uri="{FF2B5EF4-FFF2-40B4-BE49-F238E27FC236}">
                <a16:creationId xmlns:a16="http://schemas.microsoft.com/office/drawing/2014/main" id="{144F0BA7-535E-424F-B26A-6718C778CAC4}"/>
              </a:ext>
            </a:extLst>
          </p:cNvPr>
          <p:cNvSpPr>
            <a:spLocks xmlns:a="http://schemas.openxmlformats.org/drawingml/2006/main" noGrp="1"/>
          </p:cNvSpPr>
          <p:nvPr/>
        </p:nvSpPr>
        <p:spPr>
          <a:xfrm xmlns:a="http://schemas.openxmlformats.org/drawingml/2006/main" flipH="0" flipV="0">
            <a:off x="92297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trade.case1.link1.tip">
            <a:extLst xmlns:a="http://schemas.openxmlformats.org/drawingml/2006/main">
              <a:ext uri="{FF2B5EF4-FFF2-40B4-BE49-F238E27FC236}">
                <a16:creationId xmlns:a16="http://schemas.microsoft.com/office/drawing/2014/main" id="{A37D8FE1-C758-44F2-A523-A5294C33145E}"/>
              </a:ext>
            </a:extLst>
          </p:cNvPr>
          <p:cNvSpPr>
            <a:spLocks xmlns:a="http://schemas.openxmlformats.org/drawingml/2006/main" noGrp="1"/>
          </p:cNvSpPr>
          <p:nvPr/>
        </p:nvSpPr>
        <p:spPr>
          <a:xfrm xmlns:a="http://schemas.openxmlformats.org/drawingml/2006/main" rot="5400000">
            <a:off x="93249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trade.case1.2">
            <a:extLst xmlns:a="http://schemas.openxmlformats.org/drawingml/2006/main">
              <a:ext uri="{FF2B5EF4-FFF2-40B4-BE49-F238E27FC236}">
                <a16:creationId xmlns:a16="http://schemas.microsoft.com/office/drawing/2014/main" id="{7D9FD424-4603-4AA8-97AF-E305C9399607}"/>
              </a:ext>
            </a:extLst>
          </p:cNvPr>
          <p:cNvSpPr>
            <a:spLocks xmlns:a="http://schemas.openxmlformats.org/drawingml/2006/main" noGrp="1"/>
          </p:cNvSpPr>
          <p:nvPr/>
        </p:nvSpPr>
        <p:spPr>
          <a:xfrm xmlns:a="http://schemas.openxmlformats.org/drawingml/2006/main">
            <a:off x="9467850" y="2952750"/>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trade.case1.2.role">
            <a:extLst xmlns:a="http://schemas.openxmlformats.org/drawingml/2006/main">
              <a:ext uri="{FF2B5EF4-FFF2-40B4-BE49-F238E27FC236}">
                <a16:creationId xmlns:a16="http://schemas.microsoft.com/office/drawing/2014/main" id="{6E8EBE86-8E7D-4369-A519-2CB1C7EAAE21}"/>
              </a:ext>
            </a:extLst>
          </p:cNvPr>
          <p:cNvSpPr>
            <a:spLocks xmlns:a="http://schemas.openxmlformats.org/drawingml/2006/main" noGrp="1"/>
          </p:cNvSpPr>
          <p:nvPr/>
        </p:nvSpPr>
        <p:spPr>
          <a:xfrm xmlns:a="http://schemas.openxmlformats.org/drawingml/2006/main">
            <a:off x="96583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Systems execute</a:t>
            </a:r>
          </a:p>
        </p:txBody>
      </p:sp>
      <p:sp>
        <p:nvSpPr>
          <p:cNvPr id="37" name="!!trade.case1.2.body">
            <a:extLst xmlns:a="http://schemas.openxmlformats.org/drawingml/2006/main">
              <a:ext uri="{FF2B5EF4-FFF2-40B4-BE49-F238E27FC236}">
                <a16:creationId xmlns:a16="http://schemas.microsoft.com/office/drawing/2014/main" id="{7E052666-27CF-4896-A2B2-63E3473E205E}"/>
              </a:ext>
            </a:extLst>
          </p:cNvPr>
          <p:cNvSpPr>
            <a:spLocks xmlns:a="http://schemas.openxmlformats.org/drawingml/2006/main" noGrp="1"/>
          </p:cNvSpPr>
          <p:nvPr/>
        </p:nvSpPr>
        <p:spPr>
          <a:xfrm xmlns:a="http://schemas.openxmlformats.org/drawingml/2006/main">
            <a:off x="9658350" y="3533775"/>
            <a:ext cx="2038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Run the task</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Return the result</a:t>
            </a:r>
          </a:p>
        </p:txBody>
      </p:sp>
      <p:sp>
        <p:nvSpPr>
          <p:cNvPr id="38" name="!!trade.case1.link2.line">
            <a:extLst xmlns:a="http://schemas.openxmlformats.org/drawingml/2006/main">
              <a:ext uri="{FF2B5EF4-FFF2-40B4-BE49-F238E27FC236}">
                <a16:creationId xmlns:a16="http://schemas.microsoft.com/office/drawing/2014/main" id="{56EAEE9B-FA8F-445E-9E05-B6C9311BE3A5}"/>
              </a:ext>
            </a:extLst>
          </p:cNvPr>
          <p:cNvSpPr>
            <a:spLocks xmlns:a="http://schemas.openxmlformats.org/drawingml/2006/main" noGrp="1"/>
          </p:cNvSpPr>
          <p:nvPr/>
        </p:nvSpPr>
        <p:spPr>
          <a:xfrm xmlns:a="http://schemas.openxmlformats.org/drawingml/2006/main" flipH="0" flipV="0">
            <a:off x="11934825" y="3609975"/>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trade.case1.link2.tip">
            <a:extLst xmlns:a="http://schemas.openxmlformats.org/drawingml/2006/main">
              <a:ext uri="{FF2B5EF4-FFF2-40B4-BE49-F238E27FC236}">
                <a16:creationId xmlns:a16="http://schemas.microsoft.com/office/drawing/2014/main" id="{CCCC0963-B5C0-4692-B12E-2F1B1C2716AB}"/>
              </a:ext>
            </a:extLst>
          </p:cNvPr>
          <p:cNvSpPr>
            <a:spLocks xmlns:a="http://schemas.openxmlformats.org/drawingml/2006/main" noGrp="1"/>
          </p:cNvSpPr>
          <p:nvPr/>
        </p:nvSpPr>
        <p:spPr>
          <a:xfrm xmlns:a="http://schemas.openxmlformats.org/drawingml/2006/main" rot="5400000">
            <a:off x="12030075" y="35528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trade.case1.3">
            <a:extLst xmlns:a="http://schemas.openxmlformats.org/drawingml/2006/main">
              <a:ext uri="{FF2B5EF4-FFF2-40B4-BE49-F238E27FC236}">
                <a16:creationId xmlns:a16="http://schemas.microsoft.com/office/drawing/2014/main" id="{6BA6D0AC-A8C4-43C4-AF19-7F5A282454B2}"/>
              </a:ext>
            </a:extLst>
          </p:cNvPr>
          <p:cNvSpPr>
            <a:spLocks xmlns:a="http://schemas.openxmlformats.org/drawingml/2006/main" noGrp="1"/>
          </p:cNvSpPr>
          <p:nvPr/>
        </p:nvSpPr>
        <p:spPr>
          <a:xfrm xmlns:a="http://schemas.openxmlformats.org/drawingml/2006/main">
            <a:off x="12172950" y="2952750"/>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trade.case1.3.role">
            <a:extLst xmlns:a="http://schemas.openxmlformats.org/drawingml/2006/main">
              <a:ext uri="{FF2B5EF4-FFF2-40B4-BE49-F238E27FC236}">
                <a16:creationId xmlns:a16="http://schemas.microsoft.com/office/drawing/2014/main" id="{532D23FC-15D7-4DEF-890E-F82DB9E38E1B}"/>
              </a:ext>
            </a:extLst>
          </p:cNvPr>
          <p:cNvSpPr>
            <a:spLocks xmlns:a="http://schemas.openxmlformats.org/drawingml/2006/main" noGrp="1"/>
          </p:cNvSpPr>
          <p:nvPr/>
        </p:nvSpPr>
        <p:spPr>
          <a:xfrm xmlns:a="http://schemas.openxmlformats.org/drawingml/2006/main">
            <a:off x="12363450" y="3095625"/>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User reviews results</a:t>
            </a:r>
          </a:p>
        </p:txBody>
      </p:sp>
      <p:sp>
        <p:nvSpPr>
          <p:cNvPr id="42" name="!!trade.case1.3.body">
            <a:extLst xmlns:a="http://schemas.openxmlformats.org/drawingml/2006/main">
              <a:ext uri="{FF2B5EF4-FFF2-40B4-BE49-F238E27FC236}">
                <a16:creationId xmlns:a16="http://schemas.microsoft.com/office/drawing/2014/main" id="{076F5232-9053-4DB8-83AC-88F95EF147C3}"/>
              </a:ext>
            </a:extLst>
          </p:cNvPr>
          <p:cNvSpPr>
            <a:spLocks xmlns:a="http://schemas.openxmlformats.org/drawingml/2006/main" noGrp="1"/>
          </p:cNvSpPr>
          <p:nvPr/>
        </p:nvSpPr>
        <p:spPr>
          <a:xfrm xmlns:a="http://schemas.openxmlformats.org/drawingml/2006/main">
            <a:off x="12363450" y="3533775"/>
            <a:ext cx="2038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Review the data</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Confirm next steps</a:t>
            </a:r>
          </a:p>
        </p:txBody>
      </p:sp>
      <p:sp>
        <p:nvSpPr>
          <p:cNvPr id="43" name="!!trade.case1.scope">
            <a:extLst xmlns:a="http://schemas.openxmlformats.org/drawingml/2006/main">
              <a:ext uri="{FF2B5EF4-FFF2-40B4-BE49-F238E27FC236}">
                <a16:creationId xmlns:a16="http://schemas.microsoft.com/office/drawing/2014/main" id="{3249AFC2-099C-45CD-B0F4-E3EBB8C2FE34}"/>
              </a:ext>
            </a:extLst>
          </p:cNvPr>
          <p:cNvSpPr>
            <a:spLocks xmlns:a="http://schemas.openxmlformats.org/drawingml/2006/main" noGrp="1"/>
          </p:cNvSpPr>
          <p:nvPr/>
        </p:nvSpPr>
        <p:spPr>
          <a:xfrm xmlns:a="http://schemas.openxmlformats.org/drawingml/2006/main">
            <a:off x="4057650" y="4581525"/>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5A9C"/>
                </a:solidFill>
                <a:latin typeface="Arial"/>
                <a:ea typeface="Arial"/>
                <a:cs typeface="Arial"/>
              </a:defRPr>
            </a:defPPr>
            <a:lvl1pPr algn="l">
              <a:defRPr sz="1950" b="1">
                <a:solidFill>
                  <a:srgbClr val="005A9C"/>
                </a:solidFill>
                <a:latin typeface="Arial"/>
                <a:ea typeface="Arial"/>
                <a:cs typeface="Arial"/>
              </a:defRPr>
            </a:lvl1pPr>
            <a:lvl2pPr algn="l">
              <a:defRPr sz="1950" b="1">
                <a:solidFill>
                  <a:srgbClr val="005A9C"/>
                </a:solidFill>
                <a:latin typeface="Arial"/>
                <a:ea typeface="Arial"/>
                <a:cs typeface="Arial"/>
              </a:defRPr>
            </a:lvl2pPr>
            <a:lvl3pPr algn="l">
              <a:defRPr sz="1950" b="1">
                <a:solidFill>
                  <a:srgbClr val="005A9C"/>
                </a:solidFill>
                <a:latin typeface="Arial"/>
                <a:ea typeface="Arial"/>
                <a:cs typeface="Arial"/>
              </a:defRPr>
            </a:lvl3pPr>
            <a:lvl4pPr algn="l">
              <a:defRPr sz="1950" b="1">
                <a:solidFill>
                  <a:srgbClr val="005A9C"/>
                </a:solidFill>
                <a:latin typeface="Arial"/>
                <a:ea typeface="Arial"/>
                <a:cs typeface="Arial"/>
              </a:defRPr>
            </a:lvl4pPr>
            <a:lvl5pPr algn="l">
              <a:defRPr sz="1950" b="1">
                <a:solidFill>
                  <a:srgbClr val="005A9C"/>
                </a:solidFill>
                <a:latin typeface="Arial"/>
                <a:ea typeface="Arial"/>
                <a:cs typeface="Arial"/>
              </a:defRPr>
            </a:lvl5pPr>
            <a:lvl6pPr algn="l">
              <a:defRPr sz="1950" b="1">
                <a:solidFill>
                  <a:srgbClr val="005A9C"/>
                </a:solidFill>
                <a:latin typeface="Arial"/>
                <a:ea typeface="Arial"/>
                <a:cs typeface="Arial"/>
              </a:defRPr>
            </a:lvl6pPr>
            <a:lvl7pPr algn="l">
              <a:defRPr sz="1950" b="1">
                <a:solidFill>
                  <a:srgbClr val="005A9C"/>
                </a:solidFill>
                <a:latin typeface="Arial"/>
                <a:ea typeface="Arial"/>
                <a:cs typeface="Arial"/>
              </a:defRPr>
            </a:lvl7pPr>
            <a:lvl8pPr algn="l">
              <a:defRPr sz="1950" b="1">
                <a:solidFill>
                  <a:srgbClr val="005A9C"/>
                </a:solidFill>
                <a:latin typeface="Arial"/>
                <a:ea typeface="Arial"/>
                <a:cs typeface="Arial"/>
              </a:defRPr>
            </a:lvl8pPr>
            <a:lvl9pPr algn="l">
              <a:defRPr sz="1950" b="1">
                <a:solidFill>
                  <a:srgbClr val="005A9C"/>
                </a:solidFill>
                <a:latin typeface="Arial"/>
                <a:ea typeface="Arial"/>
                <a:cs typeface="Arial"/>
              </a:defRPr>
            </a:lvl9pPr>
          </a:lstStyle>
          <a:p xmlns:a="http://schemas.openxmlformats.org/drawingml/2006/main">
            <a:pPr algn="l">
              <a:defRPr sz="1950" b="1">
                <a:solidFill>
                  <a:srgbClr val="005A9C"/>
                </a:solidFill>
                <a:latin typeface="Arial"/>
                <a:ea typeface="Arial"/>
                <a:cs typeface="Arial"/>
              </a:defRPr>
            </a:pPr>
            <a:r>
              <a:rPr sz="1950" b="1">
                <a:solidFill>
                  <a:srgbClr val="005A9C"/>
                </a:solidFill>
                <a:latin typeface="Arial"/>
                <a:ea typeface="Arial"/>
                <a:cs typeface="Arial"/>
              </a:rPr>
              <a:t>Xiaonan supports queries, bond screening, trading instructions and notifications</a:t>
            </a:r>
          </a:p>
        </p:txBody>
      </p:sp>
      <p:sp>
        <p:nvSpPr>
          <p:cNvPr id="44" name="!!trade.xq">
            <a:extLst xmlns:a="http://schemas.openxmlformats.org/drawingml/2006/main">
              <a:ext uri="{FF2B5EF4-FFF2-40B4-BE49-F238E27FC236}">
                <a16:creationId xmlns:a16="http://schemas.microsoft.com/office/drawing/2014/main" id="{6AA1C909-D4AD-4FD0-9496-1E8CFDD5A8E7}"/>
              </a:ext>
            </a:extLst>
          </p:cNvPr>
          <p:cNvSpPr>
            <a:spLocks xmlns:a="http://schemas.openxmlformats.org/drawingml/2006/main" noGrp="1"/>
          </p:cNvSpPr>
          <p:nvPr/>
        </p:nvSpPr>
        <p:spPr>
          <a:xfrm xmlns:a="http://schemas.openxmlformats.org/drawingml/2006/main">
            <a:off x="4057650" y="5124450"/>
            <a:ext cx="105346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Aegon-Industrial: capturing trade details from Qtrade records</a:t>
            </a:r>
          </a:p>
        </p:txBody>
      </p:sp>
      <p:sp>
        <p:nvSpPr>
          <p:cNvPr id="45" name="!!trade.case2.0">
            <a:extLst xmlns:a="http://schemas.openxmlformats.org/drawingml/2006/main">
              <a:ext uri="{FF2B5EF4-FFF2-40B4-BE49-F238E27FC236}">
                <a16:creationId xmlns:a16="http://schemas.microsoft.com/office/drawing/2014/main" id="{7D223E1F-27AD-4561-9FFE-DF8D32CE4599}"/>
              </a:ext>
            </a:extLst>
          </p:cNvPr>
          <p:cNvSpPr>
            <a:spLocks xmlns:a="http://schemas.openxmlformats.org/drawingml/2006/main" noGrp="1"/>
          </p:cNvSpPr>
          <p:nvPr/>
        </p:nvSpPr>
        <p:spPr>
          <a:xfrm xmlns:a="http://schemas.openxmlformats.org/drawingml/2006/main">
            <a:off x="4057650" y="5762625"/>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6" name="!!trade.case2.0.role">
            <a:extLst xmlns:a="http://schemas.openxmlformats.org/drawingml/2006/main">
              <a:ext uri="{FF2B5EF4-FFF2-40B4-BE49-F238E27FC236}">
                <a16:creationId xmlns:a16="http://schemas.microsoft.com/office/drawing/2014/main" id="{8B5AF340-50D3-4992-9DD3-195565B7FD93}"/>
              </a:ext>
            </a:extLst>
          </p:cNvPr>
          <p:cNvSpPr>
            <a:spLocks xmlns:a="http://schemas.openxmlformats.org/drawingml/2006/main" noGrp="1"/>
          </p:cNvSpPr>
          <p:nvPr/>
        </p:nvSpPr>
        <p:spPr>
          <a:xfrm xmlns:a="http://schemas.openxmlformats.org/drawingml/2006/main">
            <a:off x="4248150" y="58674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Qtrade records</a:t>
            </a:r>
          </a:p>
        </p:txBody>
      </p:sp>
      <p:sp>
        <p:nvSpPr>
          <p:cNvPr id="47" name="!!trade.case2.0.body">
            <a:extLst xmlns:a="http://schemas.openxmlformats.org/drawingml/2006/main">
              <a:ext uri="{FF2B5EF4-FFF2-40B4-BE49-F238E27FC236}">
                <a16:creationId xmlns:a16="http://schemas.microsoft.com/office/drawing/2014/main" id="{CA122461-9B85-486D-9539-E1E2C62838EE}"/>
              </a:ext>
            </a:extLst>
          </p:cNvPr>
          <p:cNvSpPr>
            <a:spLocks xmlns:a="http://schemas.openxmlformats.org/drawingml/2006/main" noGrp="1"/>
          </p:cNvSpPr>
          <p:nvPr/>
        </p:nvSpPr>
        <p:spPr>
          <a:xfrm xmlns:a="http://schemas.openxmlformats.org/drawingml/2006/main">
            <a:off x="4248150" y="6267450"/>
            <a:ext cx="2038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Bond, side,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price and size</a:t>
            </a:r>
          </a:p>
        </p:txBody>
      </p:sp>
      <p:sp>
        <p:nvSpPr>
          <p:cNvPr id="48" name="!!trade.case2.link0.line">
            <a:extLst xmlns:a="http://schemas.openxmlformats.org/drawingml/2006/main">
              <a:ext uri="{FF2B5EF4-FFF2-40B4-BE49-F238E27FC236}">
                <a16:creationId xmlns:a16="http://schemas.microsoft.com/office/drawing/2014/main" id="{E575392A-EDB2-43F6-9B8D-855E6E015EB2}"/>
              </a:ext>
            </a:extLst>
          </p:cNvPr>
          <p:cNvSpPr>
            <a:spLocks xmlns:a="http://schemas.openxmlformats.org/drawingml/2006/main" noGrp="1"/>
          </p:cNvSpPr>
          <p:nvPr/>
        </p:nvSpPr>
        <p:spPr>
          <a:xfrm xmlns:a="http://schemas.openxmlformats.org/drawingml/2006/main" flipH="0" flipV="0">
            <a:off x="65246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trade.case2.link0.tip">
            <a:extLst xmlns:a="http://schemas.openxmlformats.org/drawingml/2006/main">
              <a:ext uri="{FF2B5EF4-FFF2-40B4-BE49-F238E27FC236}">
                <a16:creationId xmlns:a16="http://schemas.microsoft.com/office/drawing/2014/main" id="{8E5FCF6E-6BEA-4615-BB88-806E47D59D87}"/>
              </a:ext>
            </a:extLst>
          </p:cNvPr>
          <p:cNvSpPr>
            <a:spLocks xmlns:a="http://schemas.openxmlformats.org/drawingml/2006/main" noGrp="1"/>
          </p:cNvSpPr>
          <p:nvPr/>
        </p:nvSpPr>
        <p:spPr>
          <a:xfrm xmlns:a="http://schemas.openxmlformats.org/drawingml/2006/main" rot="5400000">
            <a:off x="66198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trade.case2.1">
            <a:extLst xmlns:a="http://schemas.openxmlformats.org/drawingml/2006/main">
              <a:ext uri="{FF2B5EF4-FFF2-40B4-BE49-F238E27FC236}">
                <a16:creationId xmlns:a16="http://schemas.microsoft.com/office/drawing/2014/main" id="{E909B500-69AA-4767-BDC8-827BD2DA787B}"/>
              </a:ext>
            </a:extLst>
          </p:cNvPr>
          <p:cNvSpPr>
            <a:spLocks xmlns:a="http://schemas.openxmlformats.org/drawingml/2006/main" noGrp="1"/>
          </p:cNvSpPr>
          <p:nvPr/>
        </p:nvSpPr>
        <p:spPr>
          <a:xfrm xmlns:a="http://schemas.openxmlformats.org/drawingml/2006/main">
            <a:off x="6762750" y="5762625"/>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1" name="!!trade.case2.1.role">
            <a:extLst xmlns:a="http://schemas.openxmlformats.org/drawingml/2006/main">
              <a:ext uri="{FF2B5EF4-FFF2-40B4-BE49-F238E27FC236}">
                <a16:creationId xmlns:a16="http://schemas.microsoft.com/office/drawing/2014/main" id="{554D14A2-390B-4C58-B59E-A9BB10A104DE}"/>
              </a:ext>
            </a:extLst>
          </p:cNvPr>
          <p:cNvSpPr>
            <a:spLocks xmlns:a="http://schemas.openxmlformats.org/drawingml/2006/main" noGrp="1"/>
          </p:cNvSpPr>
          <p:nvPr/>
        </p:nvSpPr>
        <p:spPr>
          <a:xfrm xmlns:a="http://schemas.openxmlformats.org/drawingml/2006/main">
            <a:off x="6953250" y="58674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AI extracts details</a:t>
            </a:r>
          </a:p>
        </p:txBody>
      </p:sp>
      <p:sp>
        <p:nvSpPr>
          <p:cNvPr id="52" name="!!trade.case2.1.body">
            <a:extLst xmlns:a="http://schemas.openxmlformats.org/drawingml/2006/main">
              <a:ext uri="{FF2B5EF4-FFF2-40B4-BE49-F238E27FC236}">
                <a16:creationId xmlns:a16="http://schemas.microsoft.com/office/drawing/2014/main" id="{38BA6CA3-8C0B-4D57-A42F-28EABCF19E5A}"/>
              </a:ext>
            </a:extLst>
          </p:cNvPr>
          <p:cNvSpPr>
            <a:spLocks xmlns:a="http://schemas.openxmlformats.org/drawingml/2006/main" noGrp="1"/>
          </p:cNvSpPr>
          <p:nvPr/>
        </p:nvSpPr>
        <p:spPr>
          <a:xfrm xmlns:a="http://schemas.openxmlformats.org/drawingml/2006/main">
            <a:off x="6953250" y="6267450"/>
            <a:ext cx="2038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Extract bond, side,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price and size</a:t>
            </a:r>
          </a:p>
        </p:txBody>
      </p:sp>
      <p:sp>
        <p:nvSpPr>
          <p:cNvPr id="53" name="!!trade.case2.link1.line">
            <a:extLst xmlns:a="http://schemas.openxmlformats.org/drawingml/2006/main">
              <a:ext uri="{FF2B5EF4-FFF2-40B4-BE49-F238E27FC236}">
                <a16:creationId xmlns:a16="http://schemas.microsoft.com/office/drawing/2014/main" id="{881A86C3-B48D-498F-8CB2-A2F573E2B225}"/>
              </a:ext>
            </a:extLst>
          </p:cNvPr>
          <p:cNvSpPr>
            <a:spLocks xmlns:a="http://schemas.openxmlformats.org/drawingml/2006/main" noGrp="1"/>
          </p:cNvSpPr>
          <p:nvPr/>
        </p:nvSpPr>
        <p:spPr>
          <a:xfrm xmlns:a="http://schemas.openxmlformats.org/drawingml/2006/main" flipH="0" flipV="0">
            <a:off x="92297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trade.case2.link1.tip">
            <a:extLst xmlns:a="http://schemas.openxmlformats.org/drawingml/2006/main">
              <a:ext uri="{FF2B5EF4-FFF2-40B4-BE49-F238E27FC236}">
                <a16:creationId xmlns:a16="http://schemas.microsoft.com/office/drawing/2014/main" id="{37044B27-CC2D-45F2-A33C-B2C7D8E800DC}"/>
              </a:ext>
            </a:extLst>
          </p:cNvPr>
          <p:cNvSpPr>
            <a:spLocks xmlns:a="http://schemas.openxmlformats.org/drawingml/2006/main" noGrp="1"/>
          </p:cNvSpPr>
          <p:nvPr/>
        </p:nvSpPr>
        <p:spPr>
          <a:xfrm xmlns:a="http://schemas.openxmlformats.org/drawingml/2006/main" rot="5400000">
            <a:off x="93249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trade.case2.2">
            <a:extLst xmlns:a="http://schemas.openxmlformats.org/drawingml/2006/main">
              <a:ext uri="{FF2B5EF4-FFF2-40B4-BE49-F238E27FC236}">
                <a16:creationId xmlns:a16="http://schemas.microsoft.com/office/drawing/2014/main" id="{490D07AD-D02F-42ED-B5FA-CCC75FA34A5F}"/>
              </a:ext>
            </a:extLst>
          </p:cNvPr>
          <p:cNvSpPr>
            <a:spLocks xmlns:a="http://schemas.openxmlformats.org/drawingml/2006/main" noGrp="1"/>
          </p:cNvSpPr>
          <p:nvPr/>
        </p:nvSpPr>
        <p:spPr>
          <a:xfrm xmlns:a="http://schemas.openxmlformats.org/drawingml/2006/main">
            <a:off x="9467850" y="5762625"/>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trade.case2.2.role">
            <a:extLst xmlns:a="http://schemas.openxmlformats.org/drawingml/2006/main">
              <a:ext uri="{FF2B5EF4-FFF2-40B4-BE49-F238E27FC236}">
                <a16:creationId xmlns:a16="http://schemas.microsoft.com/office/drawing/2014/main" id="{19A187B7-526E-4405-8D88-AC1C60889D92}"/>
              </a:ext>
            </a:extLst>
          </p:cNvPr>
          <p:cNvSpPr>
            <a:spLocks xmlns:a="http://schemas.openxmlformats.org/drawingml/2006/main" noGrp="1"/>
          </p:cNvSpPr>
          <p:nvPr/>
        </p:nvSpPr>
        <p:spPr>
          <a:xfrm xmlns:a="http://schemas.openxmlformats.org/drawingml/2006/main">
            <a:off x="9658350" y="58674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Match and route</a:t>
            </a:r>
          </a:p>
        </p:txBody>
      </p:sp>
      <p:sp>
        <p:nvSpPr>
          <p:cNvPr id="57" name="!!trade.case2.2.body">
            <a:extLst xmlns:a="http://schemas.openxmlformats.org/drawingml/2006/main">
              <a:ext uri="{FF2B5EF4-FFF2-40B4-BE49-F238E27FC236}">
                <a16:creationId xmlns:a16="http://schemas.microsoft.com/office/drawing/2014/main" id="{CEDB8BAA-569F-4CDB-AC95-A4113760D13B}"/>
              </a:ext>
            </a:extLst>
          </p:cNvPr>
          <p:cNvSpPr>
            <a:spLocks xmlns:a="http://schemas.openxmlformats.org/drawingml/2006/main" noGrp="1"/>
          </p:cNvSpPr>
          <p:nvPr/>
        </p:nvSpPr>
        <p:spPr>
          <a:xfrm xmlns:a="http://schemas.openxmlformats.org/drawingml/2006/main">
            <a:off x="9658350" y="6267450"/>
            <a:ext cx="2038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Match the quote request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Send details to the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trading system</a:t>
            </a:r>
          </a:p>
        </p:txBody>
      </p:sp>
      <p:sp>
        <p:nvSpPr>
          <p:cNvPr id="58" name="!!trade.case2.link2.line">
            <a:extLst xmlns:a="http://schemas.openxmlformats.org/drawingml/2006/main">
              <a:ext uri="{FF2B5EF4-FFF2-40B4-BE49-F238E27FC236}">
                <a16:creationId xmlns:a16="http://schemas.microsoft.com/office/drawing/2014/main" id="{91D8F1C7-4FA6-43CB-B7AD-AEA0F91FD699}"/>
              </a:ext>
            </a:extLst>
          </p:cNvPr>
          <p:cNvSpPr>
            <a:spLocks xmlns:a="http://schemas.openxmlformats.org/drawingml/2006/main" noGrp="1"/>
          </p:cNvSpPr>
          <p:nvPr/>
        </p:nvSpPr>
        <p:spPr>
          <a:xfrm xmlns:a="http://schemas.openxmlformats.org/drawingml/2006/main" flipH="0" flipV="0">
            <a:off x="11934825" y="6534150"/>
            <a:ext cx="1524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9" name="!!trade.case2.link2.tip">
            <a:extLst xmlns:a="http://schemas.openxmlformats.org/drawingml/2006/main">
              <a:ext uri="{FF2B5EF4-FFF2-40B4-BE49-F238E27FC236}">
                <a16:creationId xmlns:a16="http://schemas.microsoft.com/office/drawing/2014/main" id="{01AEE4CB-5B42-489C-A215-499DD3C255A2}"/>
              </a:ext>
            </a:extLst>
          </p:cNvPr>
          <p:cNvSpPr>
            <a:spLocks xmlns:a="http://schemas.openxmlformats.org/drawingml/2006/main" noGrp="1"/>
          </p:cNvSpPr>
          <p:nvPr/>
        </p:nvSpPr>
        <p:spPr>
          <a:xfrm xmlns:a="http://schemas.openxmlformats.org/drawingml/2006/main" rot="5400000">
            <a:off x="12030075" y="6477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0" name="!!trade.case2.3">
            <a:extLst xmlns:a="http://schemas.openxmlformats.org/drawingml/2006/main">
              <a:ext uri="{FF2B5EF4-FFF2-40B4-BE49-F238E27FC236}">
                <a16:creationId xmlns:a16="http://schemas.microsoft.com/office/drawing/2014/main" id="{28ACE0F2-FA16-45D0-ABA9-B56ECA8AB4D4}"/>
              </a:ext>
            </a:extLst>
          </p:cNvPr>
          <p:cNvSpPr>
            <a:spLocks xmlns:a="http://schemas.openxmlformats.org/drawingml/2006/main" noGrp="1"/>
          </p:cNvSpPr>
          <p:nvPr/>
        </p:nvSpPr>
        <p:spPr>
          <a:xfrm xmlns:a="http://schemas.openxmlformats.org/drawingml/2006/main">
            <a:off x="12172950" y="5762625"/>
            <a:ext cx="2419350" cy="16954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61" name="!!trade.case2.3.role">
            <a:extLst xmlns:a="http://schemas.openxmlformats.org/drawingml/2006/main">
              <a:ext uri="{FF2B5EF4-FFF2-40B4-BE49-F238E27FC236}">
                <a16:creationId xmlns:a16="http://schemas.microsoft.com/office/drawing/2014/main" id="{E0BDEDA0-E249-44AB-B28C-75333BC8C790}"/>
              </a:ext>
            </a:extLst>
          </p:cNvPr>
          <p:cNvSpPr>
            <a:spLocks xmlns:a="http://schemas.openxmlformats.org/drawingml/2006/main" noGrp="1"/>
          </p:cNvSpPr>
          <p:nvPr/>
        </p:nvSpPr>
        <p:spPr>
          <a:xfrm xmlns:a="http://schemas.openxmlformats.org/drawingml/2006/main">
            <a:off x="12363450" y="58674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Portfolio manager</a:t>
            </a:r>
          </a:p>
        </p:txBody>
      </p:sp>
      <p:sp>
        <p:nvSpPr>
          <p:cNvPr id="62" name="!!trade.case2.3.body">
            <a:extLst xmlns:a="http://schemas.openxmlformats.org/drawingml/2006/main">
              <a:ext uri="{FF2B5EF4-FFF2-40B4-BE49-F238E27FC236}">
                <a16:creationId xmlns:a16="http://schemas.microsoft.com/office/drawing/2014/main" id="{E1E13D50-1E1C-4380-88EF-F8927F4A82CE}"/>
              </a:ext>
            </a:extLst>
          </p:cNvPr>
          <p:cNvSpPr>
            <a:spLocks xmlns:a="http://schemas.openxmlformats.org/drawingml/2006/main" noGrp="1"/>
          </p:cNvSpPr>
          <p:nvPr/>
        </p:nvSpPr>
        <p:spPr>
          <a:xfrm xmlns:a="http://schemas.openxmlformats.org/drawingml/2006/main">
            <a:off x="12363450" y="6267450"/>
            <a:ext cx="2038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Submits the</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instruction</a:t>
            </a:r>
          </a:p>
        </p:txBody>
      </p:sp>
      <p:sp>
        <p:nvSpPr>
          <p:cNvPr id="64" name="!!story.header.issuer.bar">
            <a:extLst xmlns:a="http://schemas.openxmlformats.org/drawingml/2006/main">
              <a:ext uri="{FF2B5EF4-FFF2-40B4-BE49-F238E27FC236}">
                <a16:creationId xmlns:a16="http://schemas.microsoft.com/office/drawing/2014/main" id="{97D08770-7B51-4D36-8176-2C61C2879D29}"/>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65" name="!!story.header.issuer.name">
            <a:extLst xmlns:a="http://schemas.openxmlformats.org/drawingml/2006/main">
              <a:ext uri="{FF2B5EF4-FFF2-40B4-BE49-F238E27FC236}">
                <a16:creationId xmlns:a16="http://schemas.microsoft.com/office/drawing/2014/main" id="{7A396479-5ACB-478C-80FB-862FE551864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66" name="!!story.header.issuer.qualifier">
            <a:extLst xmlns:a="http://schemas.openxmlformats.org/drawingml/2006/main">
              <a:ext uri="{FF2B5EF4-FFF2-40B4-BE49-F238E27FC236}">
                <a16:creationId xmlns:a16="http://schemas.microsoft.com/office/drawing/2014/main" id="{F84F413D-664E-4239-868A-B658F2AD4F6B}"/>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128820490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C0B44F99-5805-4063-9DDE-035108043F2C}"/>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bond quote preparation</a:t>
            </a:r>
          </a:p>
        </p:txBody>
      </p:sp>
      <p:sp>
        <p:nvSpPr>
          <p:cNvPr id="2" name="!!subtitle">
            <a:extLst xmlns:a="http://schemas.openxmlformats.org/drawingml/2006/main">
              <a:ext uri="{FF2B5EF4-FFF2-40B4-BE49-F238E27FC236}">
                <a16:creationId xmlns:a16="http://schemas.microsoft.com/office/drawing/2014/main" id="{54C1508D-498F-4294-AE5E-A5558ACFF540}"/>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Trading support  /  Proposed application</a:t>
            </a:r>
          </a:p>
        </p:txBody>
      </p:sp>
      <p:sp>
        <p:nvSpPr>
          <p:cNvPr id="3" name="!!heading.rule">
            <a:extLst xmlns:a="http://schemas.openxmlformats.org/drawingml/2006/main">
              <a:ext uri="{FF2B5EF4-FFF2-40B4-BE49-F238E27FC236}">
                <a16:creationId xmlns:a16="http://schemas.microsoft.com/office/drawing/2014/main" id="{89719884-1B87-4081-9D46-4DF6902FAA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FDB8EF23-9948-4867-8D2D-C642CC4B2074}"/>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150F140-E043-4BE7-AD54-DBEE6A464287}"/>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D73C9A0-4024-4B0B-B9BD-0CF492660B38}"/>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33638E-A264-4D7B-A6E4-D5364C7FB435}"/>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0D54C1E-5ED8-4F7E-8A8B-CFF8ADE4515F}"/>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CAF6C15-18DE-45AB-B94A-D478CB570F5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7262830-DF21-4381-9064-CFBBEB81C39D}"/>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CC4A0F8-5D4A-4E5C-93B5-BFC56A9B05E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9D35A7A1-F720-4EDF-A5C2-39C7356D679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D323B1E5-68E7-4D1B-BC3E-A8AB96E5EC69}"/>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A63172E-C100-46DC-9531-4B1F7F5DBD9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4CFAF55-6D29-4201-B12E-5694A69B146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810CB37-D1C8-48CE-B6A8-99F3743C7BCD}"/>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67B0F9B-8D12-4B46-8078-FE144E0BFD9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13F8AC86-A60D-4D58-9F97-DE23D154B8E3}"/>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B744FB7-9371-49E6-B76C-CD586208A53F}"/>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1E2C9ECC-9D37-440C-9412-F2FFE688F1C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11 / 33</a:t>
            </a:r>
          </a:p>
        </p:txBody>
      </p:sp>
      <p:sp>
        <p:nvSpPr>
          <p:cNvPr id="21" name="!!nav.prev">
            <ns0:hlinkClick xmlns:ns0="http://schemas.openxmlformats.org/drawingml/2006/main" xmlns:ns1="http://schemas.openxmlformats.org/officeDocument/2006/relationships" ns1:id="rIdNavSlide10" action="ppaction://hlinksldjump" tooltip="Slide 10: Trading support at Southern and Aegon-Industrial"/>
            <a:extLst xmlns:a="http://schemas.openxmlformats.org/drawingml/2006/main">
              <a:ext uri="{FF2B5EF4-FFF2-40B4-BE49-F238E27FC236}">
                <a16:creationId xmlns:a16="http://schemas.microsoft.com/office/drawing/2014/main" id="{38471F59-C734-437E-A9F8-88D753BB2A11}"/>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757F122B-6B45-4C88-96F1-032F2071C0D6}"/>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22C13802-9610-4AD9-8164-704723E5F159}"/>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3101A6-6E01-4D7A-A1ED-7BD3B1D5F5B7}"/>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Southern Asset Management; Aegon-Industrial / AMAC</a:t>
            </a:r>
          </a:p>
        </p:txBody>
      </p:sp>
      <p:sp>
        <p:nvSpPr>
          <p:cNvPr id="25" name="!!trade.intent">
            <a:extLst xmlns:a="http://schemas.openxmlformats.org/drawingml/2006/main">
              <a:ext uri="{FF2B5EF4-FFF2-40B4-BE49-F238E27FC236}">
                <a16:creationId xmlns:a16="http://schemas.microsoft.com/office/drawing/2014/main" id="{1331D70B-809B-425B-B9DA-A1B5A7E71F1B}"/>
              </a:ext>
            </a:extLst>
          </p:cNvPr>
          <p:cNvSpPr>
            <a:spLocks xmlns:a="http://schemas.openxmlformats.org/drawingml/2006/main" noGrp="1"/>
          </p:cNvSpPr>
          <p:nvPr/>
        </p:nvSpPr>
        <p:spPr>
          <a:xfrm xmlns:a="http://schemas.openxmlformats.org/drawingml/2006/main">
            <a:off x="4057650" y="2047875"/>
            <a:ext cx="10534650" cy="762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Portfolio manager: check holdings and collect offers for Company A bonds maturing within two years</a:t>
            </a:r>
          </a:p>
        </p:txBody>
      </p:sp>
      <p:sp>
        <p:nvSpPr>
          <p:cNvPr id="26" name="!!trade.llm.query">
            <a:extLst xmlns:a="http://schemas.openxmlformats.org/drawingml/2006/main">
              <a:ext uri="{FF2B5EF4-FFF2-40B4-BE49-F238E27FC236}">
                <a16:creationId xmlns:a16="http://schemas.microsoft.com/office/drawing/2014/main" id="{1E273D95-4954-4A1F-BDDF-53B03319E525}"/>
              </a:ext>
            </a:extLst>
          </p:cNvPr>
          <p:cNvSpPr>
            <a:spLocks xmlns:a="http://schemas.openxmlformats.org/drawingml/2006/main" noGrp="1"/>
          </p:cNvSpPr>
          <p:nvPr/>
        </p:nvSpPr>
        <p:spPr>
          <a:xfrm xmlns:a="http://schemas.openxmlformats.org/drawingml/2006/main">
            <a:off x="4057650" y="2952750"/>
            <a:ext cx="3048000" cy="21526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trade.llm.query.role">
            <a:extLst xmlns:a="http://schemas.openxmlformats.org/drawingml/2006/main">
              <a:ext uri="{FF2B5EF4-FFF2-40B4-BE49-F238E27FC236}">
                <a16:creationId xmlns:a16="http://schemas.microsoft.com/office/drawing/2014/main" id="{BBBF1598-3FFA-4730-BA53-186FFD01468E}"/>
              </a:ext>
            </a:extLst>
          </p:cNvPr>
          <p:cNvSpPr>
            <a:spLocks xmlns:a="http://schemas.openxmlformats.org/drawingml/2006/main" noGrp="1"/>
          </p:cNvSpPr>
          <p:nvPr/>
        </p:nvSpPr>
        <p:spPr>
          <a:xfrm xmlns:a="http://schemas.openxmlformats.org/drawingml/2006/main">
            <a:off x="4248150" y="3048000"/>
            <a:ext cx="266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identifies</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query criteria</a:t>
            </a:r>
          </a:p>
        </p:txBody>
      </p:sp>
      <p:sp>
        <p:nvSpPr>
          <p:cNvPr id="28" name="!!trade.llm.query.body">
            <a:extLst xmlns:a="http://schemas.openxmlformats.org/drawingml/2006/main">
              <a:ext uri="{FF2B5EF4-FFF2-40B4-BE49-F238E27FC236}">
                <a16:creationId xmlns:a16="http://schemas.microsoft.com/office/drawing/2014/main" id="{0127E97D-EA64-4FD6-A1D9-E893114F470C}"/>
              </a:ext>
            </a:extLst>
          </p:cNvPr>
          <p:cNvSpPr>
            <a:spLocks xmlns:a="http://schemas.openxmlformats.org/drawingml/2006/main" noGrp="1"/>
          </p:cNvSpPr>
          <p:nvPr/>
        </p:nvSpPr>
        <p:spPr>
          <a:xfrm xmlns:a="http://schemas.openxmlformats.org/drawingml/2006/main">
            <a:off x="4248150" y="3676650"/>
            <a:ext cx="2667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Issuer: Company A</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Side: buy</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Maturity: within two years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Query: bonds and holdings</a:t>
            </a:r>
          </a:p>
        </p:txBody>
      </p:sp>
      <p:sp>
        <p:nvSpPr>
          <p:cNvPr id="29" name="!!trade.system">
            <a:extLst xmlns:a="http://schemas.openxmlformats.org/drawingml/2006/main">
              <a:ext uri="{FF2B5EF4-FFF2-40B4-BE49-F238E27FC236}">
                <a16:creationId xmlns:a16="http://schemas.microsoft.com/office/drawing/2014/main" id="{E9A892DC-9941-494B-B873-E0877247A70F}"/>
              </a:ext>
            </a:extLst>
          </p:cNvPr>
          <p:cNvSpPr>
            <a:spLocks xmlns:a="http://schemas.openxmlformats.org/drawingml/2006/main" noGrp="1"/>
          </p:cNvSpPr>
          <p:nvPr/>
        </p:nvSpPr>
        <p:spPr>
          <a:xfrm xmlns:a="http://schemas.openxmlformats.org/drawingml/2006/main">
            <a:off x="7486650" y="2952750"/>
            <a:ext cx="3238500" cy="21526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rade.system.role">
            <a:extLst xmlns:a="http://schemas.openxmlformats.org/drawingml/2006/main">
              <a:ext uri="{FF2B5EF4-FFF2-40B4-BE49-F238E27FC236}">
                <a16:creationId xmlns:a16="http://schemas.microsoft.com/office/drawing/2014/main" id="{7AFE4A8C-A457-4281-AFFD-B2775D2F7E4D}"/>
              </a:ext>
            </a:extLst>
          </p:cNvPr>
          <p:cNvSpPr>
            <a:spLocks xmlns:a="http://schemas.openxmlformats.org/drawingml/2006/main" noGrp="1"/>
          </p:cNvSpPr>
          <p:nvPr/>
        </p:nvSpPr>
        <p:spPr>
          <a:xfrm xmlns:a="http://schemas.openxmlformats.org/drawingml/2006/main">
            <a:off x="7677150" y="3048000"/>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Systems run the query</a:t>
            </a:r>
          </a:p>
        </p:txBody>
      </p:sp>
      <p:sp>
        <p:nvSpPr>
          <p:cNvPr id="31" name="!!trade.system.body">
            <a:extLst xmlns:a="http://schemas.openxmlformats.org/drawingml/2006/main">
              <a:ext uri="{FF2B5EF4-FFF2-40B4-BE49-F238E27FC236}">
                <a16:creationId xmlns:a16="http://schemas.microsoft.com/office/drawing/2014/main" id="{7413CF90-E0E2-418A-8BE0-E41CF47D74B4}"/>
              </a:ext>
            </a:extLst>
          </p:cNvPr>
          <p:cNvSpPr>
            <a:spLocks xmlns:a="http://schemas.openxmlformats.org/drawingml/2006/main" noGrp="1"/>
          </p:cNvSpPr>
          <p:nvPr/>
        </p:nvSpPr>
        <p:spPr>
          <a:xfrm xmlns:a="http://schemas.openxmlformats.org/drawingml/2006/main">
            <a:off x="7677150" y="3676650"/>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Bond A (Company 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Time to maturity: 1.2 years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Current holding:</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RMB 20m face value</a:t>
            </a:r>
          </a:p>
        </p:txBody>
      </p:sp>
      <p:sp>
        <p:nvSpPr>
          <p:cNvPr id="32" name="!!trade.llm.quote">
            <a:extLst xmlns:a="http://schemas.openxmlformats.org/drawingml/2006/main">
              <a:ext uri="{FF2B5EF4-FFF2-40B4-BE49-F238E27FC236}">
                <a16:creationId xmlns:a16="http://schemas.microsoft.com/office/drawing/2014/main" id="{8F9E7671-DD9E-467E-83B2-3D11FBA78A4F}"/>
              </a:ext>
            </a:extLst>
          </p:cNvPr>
          <p:cNvSpPr>
            <a:spLocks xmlns:a="http://schemas.openxmlformats.org/drawingml/2006/main" noGrp="1"/>
          </p:cNvSpPr>
          <p:nvPr/>
        </p:nvSpPr>
        <p:spPr>
          <a:xfrm xmlns:a="http://schemas.openxmlformats.org/drawingml/2006/main">
            <a:off x="11106150" y="2952750"/>
            <a:ext cx="3486150" cy="21526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rade.llm.quote.role">
            <a:extLst xmlns:a="http://schemas.openxmlformats.org/drawingml/2006/main">
              <a:ext uri="{FF2B5EF4-FFF2-40B4-BE49-F238E27FC236}">
                <a16:creationId xmlns:a16="http://schemas.microsoft.com/office/drawing/2014/main" id="{456005C5-2E2E-4BCC-8283-E1524DBCE58A}"/>
              </a:ext>
            </a:extLst>
          </p:cNvPr>
          <p:cNvSpPr>
            <a:spLocks xmlns:a="http://schemas.openxmlformats.org/drawingml/2006/main" noGrp="1"/>
          </p:cNvSpPr>
          <p:nvPr/>
        </p:nvSpPr>
        <p:spPr>
          <a:xfrm xmlns:a="http://schemas.openxmlformats.org/drawingml/2006/main">
            <a:off x="11296650" y="3048000"/>
            <a:ext cx="3105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extracts supplied</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quote details</a:t>
            </a:r>
          </a:p>
        </p:txBody>
      </p:sp>
      <p:sp>
        <p:nvSpPr>
          <p:cNvPr id="34" name="!!trade.llm.quote.body">
            <a:extLst xmlns:a="http://schemas.openxmlformats.org/drawingml/2006/main">
              <a:ext uri="{FF2B5EF4-FFF2-40B4-BE49-F238E27FC236}">
                <a16:creationId xmlns:a16="http://schemas.microsoft.com/office/drawing/2014/main" id="{A05365CF-EEED-4941-8024-1A5E3FC70012}"/>
              </a:ext>
            </a:extLst>
          </p:cNvPr>
          <p:cNvSpPr>
            <a:spLocks xmlns:a="http://schemas.openxmlformats.org/drawingml/2006/main" noGrp="1"/>
          </p:cNvSpPr>
          <p:nvPr/>
        </p:nvSpPr>
        <p:spPr>
          <a:xfrm xmlns:a="http://schemas.openxmlformats.org/drawingml/2006/main">
            <a:off x="11296650" y="3676650"/>
            <a:ext cx="31051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trader provides this quote: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Bond A: clean price 100.20</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RMB 20m face value available</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Extract bond, price, face value</a:t>
            </a:r>
          </a:p>
        </p:txBody>
      </p:sp>
      <p:sp>
        <p:nvSpPr>
          <p:cNvPr id="35" name="!!trade.query.call.line">
            <a:extLst xmlns:a="http://schemas.openxmlformats.org/drawingml/2006/main">
              <a:ext uri="{FF2B5EF4-FFF2-40B4-BE49-F238E27FC236}">
                <a16:creationId xmlns:a16="http://schemas.microsoft.com/office/drawing/2014/main" id="{3C6978D0-5699-44F1-998D-9244C125C300}"/>
              </a:ext>
            </a:extLst>
          </p:cNvPr>
          <p:cNvSpPr>
            <a:spLocks xmlns:a="http://schemas.openxmlformats.org/drawingml/2006/main" noGrp="1"/>
          </p:cNvSpPr>
          <p:nvPr/>
        </p:nvSpPr>
        <p:spPr>
          <a:xfrm xmlns:a="http://schemas.openxmlformats.org/drawingml/2006/main" flipH="0" flipV="0">
            <a:off x="7191375" y="4010025"/>
            <a:ext cx="2000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trade.query.call.tip">
            <a:extLst xmlns:a="http://schemas.openxmlformats.org/drawingml/2006/main">
              <a:ext uri="{FF2B5EF4-FFF2-40B4-BE49-F238E27FC236}">
                <a16:creationId xmlns:a16="http://schemas.microsoft.com/office/drawing/2014/main" id="{25A6176E-6543-4784-9CA6-D03B1E5AF9A0}"/>
              </a:ext>
            </a:extLst>
          </p:cNvPr>
          <p:cNvSpPr>
            <a:spLocks xmlns:a="http://schemas.openxmlformats.org/drawingml/2006/main" noGrp="1"/>
          </p:cNvSpPr>
          <p:nvPr/>
        </p:nvSpPr>
        <p:spPr>
          <a:xfrm xmlns:a="http://schemas.openxmlformats.org/drawingml/2006/main" rot="5400000">
            <a:off x="7334250" y="3952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rade.quote.merge.line">
            <a:extLst xmlns:a="http://schemas.openxmlformats.org/drawingml/2006/main">
              <a:ext uri="{FF2B5EF4-FFF2-40B4-BE49-F238E27FC236}">
                <a16:creationId xmlns:a16="http://schemas.microsoft.com/office/drawing/2014/main" id="{9E6CF2EB-5C63-4A18-93B6-ECB1A2877FA7}"/>
              </a:ext>
            </a:extLst>
          </p:cNvPr>
          <p:cNvSpPr>
            <a:spLocks xmlns:a="http://schemas.openxmlformats.org/drawingml/2006/main" noGrp="1"/>
          </p:cNvSpPr>
          <p:nvPr/>
        </p:nvSpPr>
        <p:spPr>
          <a:xfrm xmlns:a="http://schemas.openxmlformats.org/drawingml/2006/main" flipH="0" flipV="0">
            <a:off x="10287000" y="5162550"/>
            <a:ext cx="953" cy="3714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trade.quote.merge.tip">
            <a:extLst xmlns:a="http://schemas.openxmlformats.org/drawingml/2006/main">
              <a:ext uri="{FF2B5EF4-FFF2-40B4-BE49-F238E27FC236}">
                <a16:creationId xmlns:a16="http://schemas.microsoft.com/office/drawing/2014/main" id="{6EA35065-4EAF-4B6A-A51E-0A8EBA5C6FB1}"/>
              </a:ext>
            </a:extLst>
          </p:cNvPr>
          <p:cNvSpPr>
            <a:spLocks xmlns:a="http://schemas.openxmlformats.org/drawingml/2006/main" noGrp="1"/>
          </p:cNvSpPr>
          <p:nvPr/>
        </p:nvSpPr>
        <p:spPr>
          <a:xfrm xmlns:a="http://schemas.openxmlformats.org/drawingml/2006/main" rot="10800000">
            <a:off x="10229850" y="5476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rade.chat.merge.line">
            <a:extLst xmlns:a="http://schemas.openxmlformats.org/drawingml/2006/main">
              <a:ext uri="{FF2B5EF4-FFF2-40B4-BE49-F238E27FC236}">
                <a16:creationId xmlns:a16="http://schemas.microsoft.com/office/drawing/2014/main" id="{9FA049AD-0102-4448-8667-DFECC8B0636A}"/>
              </a:ext>
            </a:extLst>
          </p:cNvPr>
          <p:cNvSpPr>
            <a:spLocks xmlns:a="http://schemas.openxmlformats.org/drawingml/2006/main" noGrp="1"/>
          </p:cNvSpPr>
          <p:nvPr/>
        </p:nvSpPr>
        <p:spPr>
          <a:xfrm xmlns:a="http://schemas.openxmlformats.org/drawingml/2006/main" flipH="0" flipV="0">
            <a:off x="12849225" y="5162550"/>
            <a:ext cx="953" cy="37147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0" name="!!trade.chat.merge.tip">
            <a:extLst xmlns:a="http://schemas.openxmlformats.org/drawingml/2006/main">
              <a:ext uri="{FF2B5EF4-FFF2-40B4-BE49-F238E27FC236}">
                <a16:creationId xmlns:a16="http://schemas.microsoft.com/office/drawing/2014/main" id="{44852D8C-C44D-4DC8-B8B1-ECBD82AEACB5}"/>
              </a:ext>
            </a:extLst>
          </p:cNvPr>
          <p:cNvSpPr>
            <a:spLocks xmlns:a="http://schemas.openxmlformats.org/drawingml/2006/main" noGrp="1"/>
          </p:cNvSpPr>
          <p:nvPr/>
        </p:nvSpPr>
        <p:spPr>
          <a:xfrm xmlns:a="http://schemas.openxmlformats.org/drawingml/2006/main" rot="10800000">
            <a:off x="12792075" y="5476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trade.result.title">
            <a:extLst xmlns:a="http://schemas.openxmlformats.org/drawingml/2006/main">
              <a:ext uri="{FF2B5EF4-FFF2-40B4-BE49-F238E27FC236}">
                <a16:creationId xmlns:a16="http://schemas.microsoft.com/office/drawing/2014/main" id="{C5A2DBC2-D9E4-46FF-9957-BABC2B72FF31}"/>
              </a:ext>
            </a:extLst>
          </p:cNvPr>
          <p:cNvSpPr>
            <a:spLocks xmlns:a="http://schemas.openxmlformats.org/drawingml/2006/main" noGrp="1"/>
          </p:cNvSpPr>
          <p:nvPr/>
        </p:nvSpPr>
        <p:spPr>
          <a:xfrm xmlns:a="http://schemas.openxmlformats.org/drawingml/2006/main">
            <a:off x="4057650" y="5219700"/>
            <a:ext cx="714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88" b="1">
                <a:solidFill>
                  <a:srgbClr val="20262C"/>
                </a:solidFill>
                <a:latin typeface="Arial"/>
                <a:ea typeface="Arial"/>
                <a:cs typeface="Arial"/>
              </a:defRPr>
            </a:defPPr>
            <a:lvl1pPr algn="l">
              <a:defRPr sz="1988" b="1">
                <a:solidFill>
                  <a:srgbClr val="20262C"/>
                </a:solidFill>
                <a:latin typeface="Arial"/>
                <a:ea typeface="Arial"/>
                <a:cs typeface="Arial"/>
              </a:defRPr>
            </a:lvl1pPr>
            <a:lvl2pPr algn="l">
              <a:defRPr sz="1988" b="1">
                <a:solidFill>
                  <a:srgbClr val="20262C"/>
                </a:solidFill>
                <a:latin typeface="Arial"/>
                <a:ea typeface="Arial"/>
                <a:cs typeface="Arial"/>
              </a:defRPr>
            </a:lvl2pPr>
            <a:lvl3pPr algn="l">
              <a:defRPr sz="1988" b="1">
                <a:solidFill>
                  <a:srgbClr val="20262C"/>
                </a:solidFill>
                <a:latin typeface="Arial"/>
                <a:ea typeface="Arial"/>
                <a:cs typeface="Arial"/>
              </a:defRPr>
            </a:lvl3pPr>
            <a:lvl4pPr algn="l">
              <a:defRPr sz="1988" b="1">
                <a:solidFill>
                  <a:srgbClr val="20262C"/>
                </a:solidFill>
                <a:latin typeface="Arial"/>
                <a:ea typeface="Arial"/>
                <a:cs typeface="Arial"/>
              </a:defRPr>
            </a:lvl4pPr>
            <a:lvl5pPr algn="l">
              <a:defRPr sz="1988" b="1">
                <a:solidFill>
                  <a:srgbClr val="20262C"/>
                </a:solidFill>
                <a:latin typeface="Arial"/>
                <a:ea typeface="Arial"/>
                <a:cs typeface="Arial"/>
              </a:defRPr>
            </a:lvl5pPr>
            <a:lvl6pPr algn="l">
              <a:defRPr sz="1988" b="1">
                <a:solidFill>
                  <a:srgbClr val="20262C"/>
                </a:solidFill>
                <a:latin typeface="Arial"/>
                <a:ea typeface="Arial"/>
                <a:cs typeface="Arial"/>
              </a:defRPr>
            </a:lvl6pPr>
            <a:lvl7pPr algn="l">
              <a:defRPr sz="1988" b="1">
                <a:solidFill>
                  <a:srgbClr val="20262C"/>
                </a:solidFill>
                <a:latin typeface="Arial"/>
                <a:ea typeface="Arial"/>
                <a:cs typeface="Arial"/>
              </a:defRPr>
            </a:lvl7pPr>
            <a:lvl8pPr algn="l">
              <a:defRPr sz="1988" b="1">
                <a:solidFill>
                  <a:srgbClr val="20262C"/>
                </a:solidFill>
                <a:latin typeface="Arial"/>
                <a:ea typeface="Arial"/>
                <a:cs typeface="Arial"/>
              </a:defRPr>
            </a:lvl8pPr>
            <a:lvl9pPr algn="l">
              <a:defRPr sz="1988" b="1">
                <a:solidFill>
                  <a:srgbClr val="20262C"/>
                </a:solidFill>
                <a:latin typeface="Arial"/>
                <a:ea typeface="Arial"/>
                <a:cs typeface="Arial"/>
              </a:defRPr>
            </a:lvl9pPr>
          </a:lstStyle>
          <a:p xmlns:a="http://schemas.openxmlformats.org/drawingml/2006/main">
            <a:pPr algn="l">
              <a:defRPr sz="1988" b="1">
                <a:solidFill>
                  <a:srgbClr val="20262C"/>
                </a:solidFill>
                <a:latin typeface="Arial"/>
                <a:ea typeface="Arial"/>
                <a:cs typeface="Arial"/>
              </a:defRPr>
            </a:pPr>
            <a:r>
              <a:rPr sz="1988" b="1">
                <a:solidFill>
                  <a:srgbClr val="20262C"/>
                </a:solidFill>
                <a:latin typeface="Arial"/>
                <a:ea typeface="Arial"/>
                <a:cs typeface="Arial"/>
              </a:rPr>
              <a:t>LLM prepares a bond and quote summary</a:t>
            </a:r>
          </a:p>
        </p:txBody>
      </p:sp>
      <p:graphicFrame>
        <p:nvGraphicFramePr>
          <p:cNvPr id="42" name="">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4057650" y="5695950"/>
          <a:ext xmlns:a="http://schemas.openxmlformats.org/drawingml/2006/main" cx="10534650" cy="1200150"/>
        </p:xfrm>
        <a:graphic xmlns:a="http://schemas.openxmlformats.org/drawingml/2006/main">
          <a:graphicData uri="http://schemas.openxmlformats.org/drawingml/2006/table">
            <a:tbl>
              <a:tblPr/>
              <a:tblGrid>
                <a:gridCol w="2714625"/>
                <a:gridCol w="2428875"/>
                <a:gridCol w="2819400"/>
                <a:gridCol w="2571750"/>
              </a:tblGrid>
              <a:tr h="762000">
                <a:tc>
                  <a:txBody>
                    <a:bodyPr/>
                    <a:lstStyle/>
                    <a:p>
                      <a:r>
                        <a:rPr sz="1650" b="1">
                          <a:solidFill>
                            <a:srgbClr val="FFFFFF"/>
                          </a:solidFill>
                          <a:latin typeface="Arial"/>
                          <a:ea typeface="Arial"/>
                          <a:cs typeface="Arial"/>
                        </a:rPr>
                        <a:t>Bond / time to maturity</a:t>
                      </a:r>
                    </a:p>
                  </a:txBody>
                  <a:tcPr marL="142875" marR="142875" marT="57150" marB="57150" anchor="ctr">
                    <a:lnL w="6668">
                      <a:solidFill>
                        <a:srgbClr val="BCC6CF"/>
                      </a:solidFill>
                      <a:prstDash val="solid"/>
                    </a:lnL>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Current holding</a:t>
                      </a:r>
                    </a:p>
                    <a:p>
                      <a:r>
                        <a:rPr sz="1650" b="1">
                          <a:solidFill>
                            <a:srgbClr val="FFFFFF"/>
                          </a:solidFill>
                          <a:latin typeface="Arial"/>
                          <a:ea typeface="Arial"/>
                          <a:cs typeface="Arial"/>
                        </a:rPr>
                        <a:t>(RMB m face value)</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Clean price</a:t>
                      </a:r>
                    </a:p>
                    <a:p>
                      <a:r>
                        <a:rPr sz="1650" b="1">
                          <a:solidFill>
                            <a:srgbClr val="FFFFFF"/>
                          </a:solidFill>
                          <a:latin typeface="Arial"/>
                          <a:ea typeface="Arial"/>
                          <a:cs typeface="Arial"/>
                        </a:rPr>
                        <a:t>per RMB 100 face value</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c>
                  <a:txBody>
                    <a:bodyPr/>
                    <a:lstStyle/>
                    <a:p>
                      <a:r>
                        <a:rPr sz="1650" b="1">
                          <a:solidFill>
                            <a:srgbClr val="FFFFFF"/>
                          </a:solidFill>
                          <a:latin typeface="Arial"/>
                          <a:ea typeface="Arial"/>
                          <a:cs typeface="Arial"/>
                        </a:rPr>
                        <a:t>Available size</a:t>
                      </a:r>
                    </a:p>
                    <a:p>
                      <a:r>
                        <a:rPr sz="1650" b="1">
                          <a:solidFill>
                            <a:srgbClr val="FFFFFF"/>
                          </a:solidFill>
                          <a:latin typeface="Arial"/>
                          <a:ea typeface="Arial"/>
                          <a:cs typeface="Arial"/>
                        </a:rPr>
                        <a:t>(RMB m face value)</a:t>
                      </a:r>
                    </a:p>
                  </a:txBody>
                  <a:tcPr marL="142875" marR="142875" marT="57150" marB="57150" anchor="ctr">
                    <a:lnR w="6668">
                      <a:solidFill>
                        <a:srgbClr val="BCC6CF"/>
                      </a:solidFill>
                      <a:prstDash val="solid"/>
                    </a:lnR>
                    <a:lnT w="6668">
                      <a:solidFill>
                        <a:srgbClr val="BCC6CF"/>
                      </a:solidFill>
                      <a:prstDash val="solid"/>
                    </a:lnT>
                    <a:lnB w="6668">
                      <a:solidFill>
                        <a:srgbClr val="BCC6CF"/>
                      </a:solidFill>
                      <a:prstDash val="solid"/>
                    </a:lnB>
                    <a:solidFill>
                      <a:srgbClr val="005A9C"/>
                    </a:solidFill>
                  </a:tcPr>
                </a:tc>
              </a:tr>
              <a:tr h="438150">
                <a:tc>
                  <a:txBody>
                    <a:bodyPr/>
                    <a:lstStyle/>
                    <a:p>
                      <a:r>
                        <a:rPr sz="1725">
                          <a:solidFill>
                            <a:srgbClr val="20262C"/>
                          </a:solidFill>
                          <a:latin typeface="Arial"/>
                          <a:ea typeface="Arial"/>
                          <a:cs typeface="Arial"/>
                        </a:rPr>
                        <a:t>Bond A / 1.2 years</a:t>
                      </a:r>
                    </a:p>
                  </a:txBody>
                  <a:tcPr marL="142875" marR="142875" marT="57150" marB="57150" anchor="ctr">
                    <a:lnL w="6668">
                      <a:solidFill>
                        <a:srgbClr val="BCC6CF"/>
                      </a:solidFill>
                      <a:prstDash val="solid"/>
                    </a:lnL>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100.20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c>
                  <a:txBody>
                    <a:bodyPr/>
                    <a:lstStyle/>
                    <a:p>
                      <a:r>
                        <a:rPr sz="1725">
                          <a:solidFill>
                            <a:srgbClr val="20262C"/>
                          </a:solidFill>
                          <a:latin typeface="Arial"/>
                          <a:ea typeface="Arial"/>
                          <a:cs typeface="Arial"/>
                        </a:rPr>
                        <a:t>20</a:t>
                      </a:r>
                    </a:p>
                  </a:txBody>
                  <a:tcPr marL="142875" marR="142875" marT="57150" marB="57150" anchor="ctr">
                    <a:lnR w="6668">
                      <a:solidFill>
                        <a:srgbClr val="BCC6CF"/>
                      </a:solidFill>
                      <a:prstDash val="solid"/>
                    </a:lnR>
                    <a:lnB w="6668">
                      <a:solidFill>
                        <a:srgbClr val="BCC6CF"/>
                      </a:solidFill>
                      <a:prstDash val="solid"/>
                    </a:lnB>
                    <a:solidFill>
                      <a:srgbClr val="FFFFFF"/>
                    </a:solidFill>
                  </a:tcPr>
                </a:tc>
              </a:tr>
            </a:tbl>
          </a:graphicData>
        </a:graphic>
      </p:graphicFrame>
      <p:sp>
        <p:nvSpPr>
          <p:cNvPr id="43" name="!!trade.user">
            <a:extLst xmlns:a="http://schemas.openxmlformats.org/drawingml/2006/main">
              <a:ext uri="{FF2B5EF4-FFF2-40B4-BE49-F238E27FC236}">
                <a16:creationId xmlns:a16="http://schemas.microsoft.com/office/drawing/2014/main" id="{6FEB1585-092A-4A90-AB10-D71C4C9E87ED}"/>
              </a:ext>
            </a:extLst>
          </p:cNvPr>
          <p:cNvSpPr>
            <a:spLocks xmlns:a="http://schemas.openxmlformats.org/drawingml/2006/main" noGrp="1"/>
          </p:cNvSpPr>
          <p:nvPr/>
        </p:nvSpPr>
        <p:spPr>
          <a:xfrm xmlns:a="http://schemas.openxmlformats.org/drawingml/2006/main">
            <a:off x="4057650" y="6953250"/>
            <a:ext cx="105346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The trader verifies quote sources, timestamps and amounts.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The portfolio manager reviews the summary with the trader.</a:t>
            </a:r>
          </a:p>
        </p:txBody>
      </p:sp>
      <p:sp>
        <p:nvSpPr>
          <p:cNvPr id="45" name="!!story.header.issuer.bar">
            <a:extLst xmlns:a="http://schemas.openxmlformats.org/drawingml/2006/main">
              <a:ext uri="{FF2B5EF4-FFF2-40B4-BE49-F238E27FC236}">
                <a16:creationId xmlns:a16="http://schemas.microsoft.com/office/drawing/2014/main" id="{F8B1A2CE-C455-4707-B92A-CEC78AB4EAB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7A04B7F5-BFFD-40B1-B46A-A94658A39EF7}"/>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7" name="!!story.issuer.quote.table">
            <a:extLst xmlns:a="http://schemas.openxmlformats.org/drawingml/2006/main">
              <a:ext uri="{FF2B5EF4-FFF2-40B4-BE49-F238E27FC236}">
                <a16:creationId xmlns:a16="http://schemas.microsoft.com/office/drawing/2014/main" id="{936919E1-9174-4C93-ADCE-C48740C524B7}"/>
              </a:ext>
            </a:extLst>
          </p:cNvPr>
          <p:cNvSpPr>
            <a:spLocks xmlns:a="http://schemas.openxmlformats.org/drawingml/2006/main" noGrp="1"/>
          </p:cNvSpPr>
          <p:nvPr/>
        </p:nvSpPr>
        <p:spPr>
          <a:xfrm xmlns:a="http://schemas.openxmlformats.org/drawingml/2006/main">
            <a:off x="4000500" y="5695950"/>
            <a:ext cx="57150" cy="12001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8" name="!!story.issuer.holdings.data">
            <a:extLst xmlns:a="http://schemas.openxmlformats.org/drawingml/2006/main">
              <a:ext uri="{FF2B5EF4-FFF2-40B4-BE49-F238E27FC236}">
                <a16:creationId xmlns:a16="http://schemas.microsoft.com/office/drawing/2014/main" id="{307E8334-B042-42FF-85DA-C87B9985B8F2}"/>
              </a:ext>
            </a:extLst>
          </p:cNvPr>
          <p:cNvSpPr>
            <a:spLocks xmlns:a="http://schemas.openxmlformats.org/drawingml/2006/main" noGrp="1"/>
          </p:cNvSpPr>
          <p:nvPr/>
        </p:nvSpPr>
        <p:spPr>
          <a:xfrm xmlns:a="http://schemas.openxmlformats.org/drawingml/2006/main">
            <a:off x="7581900" y="3695700"/>
            <a:ext cx="38100" cy="121920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9" name="!!story.issuer.quote.record">
            <a:extLst xmlns:a="http://schemas.openxmlformats.org/drawingml/2006/main">
              <a:ext uri="{FF2B5EF4-FFF2-40B4-BE49-F238E27FC236}">
                <a16:creationId xmlns:a16="http://schemas.microsoft.com/office/drawing/2014/main" id="{202E505D-EAC9-45DF-A274-5760FC7F00CE}"/>
              </a:ext>
            </a:extLst>
          </p:cNvPr>
          <p:cNvSpPr>
            <a:spLocks xmlns:a="http://schemas.openxmlformats.org/drawingml/2006/main" noGrp="1"/>
          </p:cNvSpPr>
          <p:nvPr/>
        </p:nvSpPr>
        <p:spPr>
          <a:xfrm xmlns:a="http://schemas.openxmlformats.org/drawingml/2006/main">
            <a:off x="11201400" y="3981450"/>
            <a:ext cx="38100" cy="81915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54409521"/>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6"/>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7"/>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8"/>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2" grpId="0" animBg="1"/>
      <p:bldP spid="33" grpId="0" animBg="1"/>
      <p:bldP spid="34" grpId="0" animBg="1"/>
      <p:bldP spid="49" grpId="0" animBg="1"/>
    </p:bld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A92B96A5-FFCD-43EF-B86F-5C174514657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Preparing a quarterly client update</a:t>
            </a:r>
          </a:p>
        </p:txBody>
      </p:sp>
      <p:sp>
        <p:nvSpPr>
          <p:cNvPr id="2" name="!!subtitle">
            <a:extLst xmlns:a="http://schemas.openxmlformats.org/drawingml/2006/main">
              <a:ext uri="{FF2B5EF4-FFF2-40B4-BE49-F238E27FC236}">
                <a16:creationId xmlns:a16="http://schemas.microsoft.com/office/drawing/2014/main" id="{965FD980-9DAE-4827-B7F0-9DBC3BC597EE}"/>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communications  /  Current workflow</a:t>
            </a:r>
          </a:p>
        </p:txBody>
      </p:sp>
      <p:sp>
        <p:nvSpPr>
          <p:cNvPr id="3" name="!!heading.rule">
            <a:extLst xmlns:a="http://schemas.openxmlformats.org/drawingml/2006/main">
              <a:ext uri="{FF2B5EF4-FFF2-40B4-BE49-F238E27FC236}">
                <a16:creationId xmlns:a16="http://schemas.microsoft.com/office/drawing/2014/main" id="{2A689B5D-91F1-428A-9AFC-9C77E65AF0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DD3A52E-3335-4B2A-92A0-AC83A7B855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8B63523-E56F-43BC-B8DD-BCE61F7E32D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0FD1739-FE5D-4EB9-9D60-0898A80CDA7F}"/>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98F86B4-E35F-464D-9690-D567FA35E4A0}"/>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ACF53102-ACF7-4496-AB82-1B51611F257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E01A48D-A05F-48E2-8243-23439408A89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4EA982FE-BE07-49CC-A4FC-10477C2DD09E}"/>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E74C734-7807-446F-B618-CD358E7BA98A}"/>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98A2956-EA18-4FD7-8DCD-3519944AF05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4E7F7C34-649C-42B5-AF8C-3DCBBE75DA7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0E41308-FA03-4A70-87F5-0A132C51251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2E0892D8-C70C-4718-A29A-8936159801F3}"/>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F305236-6921-421E-8607-91DF08CF982E}"/>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80D8B8C-70B6-416A-9CE4-A78D249CCA44}"/>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0FBCEC1-DFD3-43B0-9A17-481B00E2C94B}"/>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86307939-236B-4668-955E-754D2B26FE2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12 / 33</a:t>
            </a:r>
          </a:p>
        </p:txBody>
      </p:sp>
      <p:sp>
        <p:nvSpPr>
          <p:cNvPr id="20" name="!!nav.prev">
            <ns0:hlinkClick xmlns:ns0="http://schemas.openxmlformats.org/drawingml/2006/main" xmlns:ns1="http://schemas.openxmlformats.org/officeDocument/2006/relationships" ns1:id="rIdNavSlide11" action="ppaction://hlinksldjump" tooltip="Slide 11: Proposed application: bond quote preparation"/>
            <a:extLst xmlns:a="http://schemas.openxmlformats.org/drawingml/2006/main">
              <a:ext uri="{FF2B5EF4-FFF2-40B4-BE49-F238E27FC236}">
                <a16:creationId xmlns:a16="http://schemas.microsoft.com/office/drawing/2014/main" id="{4A856815-F4B8-44DF-96AF-D41DF160EBB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13" action="ppaction://hlinksldjump" tooltip="Slide 13: Tianhong: investment views and market commentary"/>
            <a:extLst xmlns:a="http://schemas.openxmlformats.org/drawingml/2006/main">
              <a:ext uri="{FF2B5EF4-FFF2-40B4-BE49-F238E27FC236}">
                <a16:creationId xmlns:a16="http://schemas.microsoft.com/office/drawing/2014/main" id="{95DE3093-958E-4B66-864A-C987DECE1714}"/>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BF80D38D-59EE-4139-B7E9-1A86C1BCFBA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7C334EF9-850A-439F-8C15-A7359FA0715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client.task">
            <a:extLst xmlns:a="http://schemas.openxmlformats.org/drawingml/2006/main">
              <a:ext uri="{FF2B5EF4-FFF2-40B4-BE49-F238E27FC236}">
                <a16:creationId xmlns:a16="http://schemas.microsoft.com/office/drawing/2014/main" id="{6079BF16-3200-4692-B247-2F17087DBCE2}"/>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A client relationship manager prepares a quarterly update</a:t>
            </a:r>
          </a:p>
        </p:txBody>
      </p:sp>
      <p:sp>
        <p:nvSpPr>
          <p:cNvPr id="25" name="!!client.question.rule">
            <a:extLst xmlns:a="http://schemas.openxmlformats.org/drawingml/2006/main">
              <a:ext uri="{FF2B5EF4-FFF2-40B4-BE49-F238E27FC236}">
                <a16:creationId xmlns:a16="http://schemas.microsoft.com/office/drawing/2014/main" id="{A1E02C7F-27C1-48D0-BADB-19BFC078317C}"/>
              </a:ext>
            </a:extLst>
          </p:cNvPr>
          <p:cNvSpPr>
            <a:spLocks xmlns:a="http://schemas.openxmlformats.org/drawingml/2006/main" noGrp="1"/>
          </p:cNvSpPr>
          <p:nvPr/>
        </p:nvSpPr>
        <p:spPr>
          <a:xfrm xmlns:a="http://schemas.openxmlformats.org/drawingml/2006/main" flipH="0" flipV="0">
            <a:off x="4057650" y="2981325"/>
            <a:ext cx="105346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6" name="!!client.question.label">
            <a:extLst xmlns:a="http://schemas.openxmlformats.org/drawingml/2006/main">
              <a:ext uri="{FF2B5EF4-FFF2-40B4-BE49-F238E27FC236}">
                <a16:creationId xmlns:a16="http://schemas.microsoft.com/office/drawing/2014/main" id="{762CB1C6-DE4D-42EF-A099-D8E9922B9692}"/>
              </a:ext>
            </a:extLst>
          </p:cNvPr>
          <p:cNvSpPr>
            <a:spLocks xmlns:a="http://schemas.openxmlformats.org/drawingml/2006/main" noGrp="1"/>
          </p:cNvSpPr>
          <p:nvPr/>
        </p:nvSpPr>
        <p:spPr>
          <a:xfrm xmlns:a="http://schemas.openxmlformats.org/drawingml/2006/main">
            <a:off x="4057650" y="3076575"/>
            <a:ext cx="1053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The client’s questions</a:t>
            </a:r>
          </a:p>
        </p:txBody>
      </p:sp>
      <p:sp>
        <p:nvSpPr>
          <p:cNvPr id="27" name="!!client.question.text">
            <a:extLst xmlns:a="http://schemas.openxmlformats.org/drawingml/2006/main">
              <a:ext uri="{FF2B5EF4-FFF2-40B4-BE49-F238E27FC236}">
                <a16:creationId xmlns:a16="http://schemas.microsoft.com/office/drawing/2014/main" id="{BFCE5A59-C4DB-408C-86F8-C2F5FD1C58F9}"/>
              </a:ext>
            </a:extLst>
          </p:cNvPr>
          <p:cNvSpPr>
            <a:spLocks xmlns:a="http://schemas.openxmlformats.org/drawingml/2006/main" noGrp="1"/>
          </p:cNvSpPr>
          <p:nvPr/>
        </p:nvSpPr>
        <p:spPr>
          <a:xfrm xmlns:a="http://schemas.openxmlformats.org/drawingml/2006/main">
            <a:off x="4057650" y="3419475"/>
            <a:ext cx="1053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62C"/>
                </a:solidFill>
                <a:latin typeface="Arial"/>
                <a:ea typeface="Arial"/>
                <a:cs typeface="Arial"/>
              </a:defRPr>
            </a:defPPr>
            <a:lvl1pPr algn="l">
              <a:defRPr sz="2250" b="0">
                <a:solidFill>
                  <a:srgbClr val="20262C"/>
                </a:solidFill>
                <a:latin typeface="Arial"/>
                <a:ea typeface="Arial"/>
                <a:cs typeface="Arial"/>
              </a:defRPr>
            </a:lvl1pPr>
            <a:lvl2pPr algn="l">
              <a:defRPr sz="2250" b="0">
                <a:solidFill>
                  <a:srgbClr val="20262C"/>
                </a:solidFill>
                <a:latin typeface="Arial"/>
                <a:ea typeface="Arial"/>
                <a:cs typeface="Arial"/>
              </a:defRPr>
            </a:lvl2pPr>
            <a:lvl3pPr algn="l">
              <a:defRPr sz="2250" b="0">
                <a:solidFill>
                  <a:srgbClr val="20262C"/>
                </a:solidFill>
                <a:latin typeface="Arial"/>
                <a:ea typeface="Arial"/>
                <a:cs typeface="Arial"/>
              </a:defRPr>
            </a:lvl3pPr>
            <a:lvl4pPr algn="l">
              <a:defRPr sz="2250" b="0">
                <a:solidFill>
                  <a:srgbClr val="20262C"/>
                </a:solidFill>
                <a:latin typeface="Arial"/>
                <a:ea typeface="Arial"/>
                <a:cs typeface="Arial"/>
              </a:defRPr>
            </a:lvl4pPr>
            <a:lvl5pPr algn="l">
              <a:defRPr sz="2250" b="0">
                <a:solidFill>
                  <a:srgbClr val="20262C"/>
                </a:solidFill>
                <a:latin typeface="Arial"/>
                <a:ea typeface="Arial"/>
                <a:cs typeface="Arial"/>
              </a:defRPr>
            </a:lvl5pPr>
            <a:lvl6pPr algn="l">
              <a:defRPr sz="2250" b="0">
                <a:solidFill>
                  <a:srgbClr val="20262C"/>
                </a:solidFill>
                <a:latin typeface="Arial"/>
                <a:ea typeface="Arial"/>
                <a:cs typeface="Arial"/>
              </a:defRPr>
            </a:lvl6pPr>
            <a:lvl7pPr algn="l">
              <a:defRPr sz="2250" b="0">
                <a:solidFill>
                  <a:srgbClr val="20262C"/>
                </a:solidFill>
                <a:latin typeface="Arial"/>
                <a:ea typeface="Arial"/>
                <a:cs typeface="Arial"/>
              </a:defRPr>
            </a:lvl7pPr>
            <a:lvl8pPr algn="l">
              <a:defRPr sz="2250" b="0">
                <a:solidFill>
                  <a:srgbClr val="20262C"/>
                </a:solidFill>
                <a:latin typeface="Arial"/>
                <a:ea typeface="Arial"/>
                <a:cs typeface="Arial"/>
              </a:defRPr>
            </a:lvl8pPr>
            <a:lvl9pPr algn="l">
              <a:defRPr sz="2250" b="0">
                <a:solidFill>
                  <a:srgbClr val="20262C"/>
                </a:solidFill>
                <a:latin typeface="Arial"/>
                <a:ea typeface="Arial"/>
                <a:cs typeface="Arial"/>
              </a:defRPr>
            </a:lvl9pPr>
          </a:lstStyle>
          <a:p xmlns:a="http://schemas.openxmlformats.org/drawingml/2006/main">
            <a:pPr algn="l">
              <a:defRPr sz="2250" b="0">
                <a:solidFill>
                  <a:srgbClr val="20262C"/>
                </a:solidFill>
                <a:latin typeface="Arial"/>
                <a:ea typeface="Arial"/>
                <a:cs typeface="Arial"/>
              </a:defRPr>
            </a:pPr>
            <a:r>
              <a:rPr sz="2250" b="0">
                <a:solidFill>
                  <a:srgbClr val="20262C"/>
                </a:solidFill>
                <a:latin typeface="Arial"/>
                <a:ea typeface="Arial"/>
                <a:cs typeface="Arial"/>
              </a:rPr>
              <a:t>What changed in Company A’s business this quarter?</a:t>
            </a:r>
          </a:p>
          <a:p xmlns:a="http://schemas.openxmlformats.org/drawingml/2006/main">
            <a:pPr algn="l">
              <a:defRPr sz="2250" b="0">
                <a:solidFill>
                  <a:srgbClr val="20262C"/>
                </a:solidFill>
                <a:latin typeface="Arial"/>
                <a:ea typeface="Arial"/>
                <a:cs typeface="Arial"/>
              </a:defRPr>
            </a:pPr>
            <a:r>
              <a:rPr sz="2250" b="0">
                <a:solidFill>
                  <a:srgbClr val="20262C"/>
                </a:solidFill>
                <a:latin typeface="Arial"/>
                <a:ea typeface="Arial"/>
                <a:cs typeface="Arial"/>
              </a:rPr>
              <a:t>What should we watch next?</a:t>
            </a:r>
          </a:p>
        </p:txBody>
      </p:sp>
      <p:sp>
        <p:nvSpPr>
          <p:cNvPr id="28" name="!!client.material0">
            <a:extLst xmlns:a="http://schemas.openxmlformats.org/drawingml/2006/main">
              <a:ext uri="{FF2B5EF4-FFF2-40B4-BE49-F238E27FC236}">
                <a16:creationId xmlns:a16="http://schemas.microsoft.com/office/drawing/2014/main" id="{B55F81CD-D091-49C2-93D5-C1C1C65B9B4B}"/>
              </a:ext>
            </a:extLst>
          </p:cNvPr>
          <p:cNvSpPr>
            <a:spLocks xmlns:a="http://schemas.openxmlformats.org/drawingml/2006/main" noGrp="1"/>
          </p:cNvSpPr>
          <p:nvPr/>
        </p:nvSpPr>
        <p:spPr>
          <a:xfrm xmlns:a="http://schemas.openxmlformats.org/drawingml/2006/main">
            <a:off x="4057650" y="4514850"/>
            <a:ext cx="3219450" cy="1047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Portfolio managers’</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investment views</a:t>
            </a:r>
          </a:p>
        </p:txBody>
      </p:sp>
      <p:sp>
        <p:nvSpPr>
          <p:cNvPr id="29" name="!!client.material1">
            <a:extLst xmlns:a="http://schemas.openxmlformats.org/drawingml/2006/main">
              <a:ext uri="{FF2B5EF4-FFF2-40B4-BE49-F238E27FC236}">
                <a16:creationId xmlns:a16="http://schemas.microsoft.com/office/drawing/2014/main" id="{D807157E-CE1C-49D3-9C0D-7E94791DC31C}"/>
              </a:ext>
            </a:extLst>
          </p:cNvPr>
          <p:cNvSpPr>
            <a:spLocks xmlns:a="http://schemas.openxmlformats.org/drawingml/2006/main" noGrp="1"/>
          </p:cNvSpPr>
          <p:nvPr/>
        </p:nvSpPr>
        <p:spPr>
          <a:xfrm xmlns:a="http://schemas.openxmlformats.org/drawingml/2006/main">
            <a:off x="7715250" y="4514850"/>
            <a:ext cx="3219450" cy="1047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Product documentation</a:t>
            </a:r>
          </a:p>
        </p:txBody>
      </p:sp>
      <p:sp>
        <p:nvSpPr>
          <p:cNvPr id="30" name="!!client.material2">
            <a:extLst xmlns:a="http://schemas.openxmlformats.org/drawingml/2006/main">
              <a:ext uri="{FF2B5EF4-FFF2-40B4-BE49-F238E27FC236}">
                <a16:creationId xmlns:a16="http://schemas.microsoft.com/office/drawing/2014/main" id="{837BBCF2-0513-473D-A6CF-08F53E337477}"/>
              </a:ext>
            </a:extLst>
          </p:cNvPr>
          <p:cNvSpPr>
            <a:spLocks xmlns:a="http://schemas.openxmlformats.org/drawingml/2006/main" noGrp="1"/>
          </p:cNvSpPr>
          <p:nvPr/>
        </p:nvSpPr>
        <p:spPr>
          <a:xfrm xmlns:a="http://schemas.openxmlformats.org/drawingml/2006/main">
            <a:off x="11372850" y="4514850"/>
            <a:ext cx="3219450" cy="1047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Previous client communications</a:t>
            </a:r>
          </a:p>
        </p:txBody>
      </p:sp>
      <p:sp>
        <p:nvSpPr>
          <p:cNvPr id="31" name="!!client.manual.title">
            <a:extLst xmlns:a="http://schemas.openxmlformats.org/drawingml/2006/main">
              <a:ext uri="{FF2B5EF4-FFF2-40B4-BE49-F238E27FC236}">
                <a16:creationId xmlns:a16="http://schemas.microsoft.com/office/drawing/2014/main" id="{A7525C19-CED0-478F-88EA-CF4427993D8C}"/>
              </a:ext>
            </a:extLst>
          </p:cNvPr>
          <p:cNvSpPr>
            <a:spLocks xmlns:a="http://schemas.openxmlformats.org/drawingml/2006/main" noGrp="1"/>
          </p:cNvSpPr>
          <p:nvPr/>
        </p:nvSpPr>
        <p:spPr>
          <a:xfrm xmlns:a="http://schemas.openxmlformats.org/drawingml/2006/main">
            <a:off x="4057650" y="556260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Work repeated for each update</a:t>
            </a:r>
          </a:p>
        </p:txBody>
      </p:sp>
      <p:sp>
        <p:nvSpPr>
          <p:cNvPr id="32" name="!!client.manual.0">
            <a:extLst xmlns:a="http://schemas.openxmlformats.org/drawingml/2006/main">
              <a:ext uri="{FF2B5EF4-FFF2-40B4-BE49-F238E27FC236}">
                <a16:creationId xmlns:a16="http://schemas.microsoft.com/office/drawing/2014/main" id="{3CE7E8FA-C20A-4FC7-AE9A-38004E8D9681}"/>
              </a:ext>
            </a:extLst>
          </p:cNvPr>
          <p:cNvSpPr>
            <a:spLocks xmlns:a="http://schemas.openxmlformats.org/drawingml/2006/main" noGrp="1"/>
          </p:cNvSpPr>
          <p:nvPr/>
        </p:nvSpPr>
        <p:spPr>
          <a:xfrm xmlns:a="http://schemas.openxmlformats.org/drawingml/2006/main">
            <a:off x="4057650"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Find the relevant views</a:t>
            </a:r>
          </a:p>
        </p:txBody>
      </p:sp>
      <p:sp>
        <p:nvSpPr>
          <p:cNvPr id="33" name="!!client.manual.link0.line">
            <a:extLst xmlns:a="http://schemas.openxmlformats.org/drawingml/2006/main">
              <a:ext uri="{FF2B5EF4-FFF2-40B4-BE49-F238E27FC236}">
                <a16:creationId xmlns:a16="http://schemas.microsoft.com/office/drawing/2014/main" id="{E48D4229-5E1B-4D63-929C-D83341BE2B04}"/>
              </a:ext>
            </a:extLst>
          </p:cNvPr>
          <p:cNvSpPr>
            <a:spLocks xmlns:a="http://schemas.openxmlformats.org/drawingml/2006/main" noGrp="1"/>
          </p:cNvSpPr>
          <p:nvPr/>
        </p:nvSpPr>
        <p:spPr>
          <a:xfrm xmlns:a="http://schemas.openxmlformats.org/drawingml/2006/main" flipH="0" flipV="0">
            <a:off x="7385050" y="6434138"/>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client.manual.link0.tip">
            <a:extLst xmlns:a="http://schemas.openxmlformats.org/drawingml/2006/main">
              <a:ext uri="{FF2B5EF4-FFF2-40B4-BE49-F238E27FC236}">
                <a16:creationId xmlns:a16="http://schemas.microsoft.com/office/drawing/2014/main" id="{0EB6492A-3793-4691-A0A8-845F258FCF04}"/>
              </a:ext>
            </a:extLst>
          </p:cNvPr>
          <p:cNvSpPr>
            <a:spLocks xmlns:a="http://schemas.openxmlformats.org/drawingml/2006/main" noGrp="1"/>
          </p:cNvSpPr>
          <p:nvPr/>
        </p:nvSpPr>
        <p:spPr>
          <a:xfrm xmlns:a="http://schemas.openxmlformats.org/drawingml/2006/main" rot="5400000">
            <a:off x="7537450" y="6376988"/>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client.manual.1">
            <a:extLst xmlns:a="http://schemas.openxmlformats.org/drawingml/2006/main">
              <a:ext uri="{FF2B5EF4-FFF2-40B4-BE49-F238E27FC236}">
                <a16:creationId xmlns:a16="http://schemas.microsoft.com/office/drawing/2014/main" id="{40C2C68F-DBEE-4D84-854A-003BD23AFF06}"/>
              </a:ext>
            </a:extLst>
          </p:cNvPr>
          <p:cNvSpPr>
            <a:spLocks xmlns:a="http://schemas.openxmlformats.org/drawingml/2006/main" noGrp="1"/>
          </p:cNvSpPr>
          <p:nvPr/>
        </p:nvSpPr>
        <p:spPr>
          <a:xfrm xmlns:a="http://schemas.openxmlformats.org/drawingml/2006/main">
            <a:off x="7680325"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Confirm the fund</a:t>
            </a:r>
          </a:p>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and reporting period</a:t>
            </a:r>
          </a:p>
        </p:txBody>
      </p:sp>
      <p:sp>
        <p:nvSpPr>
          <p:cNvPr id="36" name="!!client.manual.link1.line">
            <a:extLst xmlns:a="http://schemas.openxmlformats.org/drawingml/2006/main">
              <a:ext uri="{FF2B5EF4-FFF2-40B4-BE49-F238E27FC236}">
                <a16:creationId xmlns:a16="http://schemas.microsoft.com/office/drawing/2014/main" id="{465E7B25-EA95-40DF-B633-4CA6CF784BA4}"/>
              </a:ext>
            </a:extLst>
          </p:cNvPr>
          <p:cNvSpPr>
            <a:spLocks xmlns:a="http://schemas.openxmlformats.org/drawingml/2006/main" noGrp="1"/>
          </p:cNvSpPr>
          <p:nvPr/>
        </p:nvSpPr>
        <p:spPr>
          <a:xfrm xmlns:a="http://schemas.openxmlformats.org/drawingml/2006/main" flipH="0" flipV="0">
            <a:off x="11007725" y="6434138"/>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client.manual.link1.tip">
            <a:extLst xmlns:a="http://schemas.openxmlformats.org/drawingml/2006/main">
              <a:ext uri="{FF2B5EF4-FFF2-40B4-BE49-F238E27FC236}">
                <a16:creationId xmlns:a16="http://schemas.microsoft.com/office/drawing/2014/main" id="{BC56EF15-F3D2-4ED9-A6A8-402BDAA8101E}"/>
              </a:ext>
            </a:extLst>
          </p:cNvPr>
          <p:cNvSpPr>
            <a:spLocks xmlns:a="http://schemas.openxmlformats.org/drawingml/2006/main" noGrp="1"/>
          </p:cNvSpPr>
          <p:nvPr/>
        </p:nvSpPr>
        <p:spPr>
          <a:xfrm xmlns:a="http://schemas.openxmlformats.org/drawingml/2006/main" rot="5400000">
            <a:off x="11160125" y="6376988"/>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client.manual.2">
            <a:extLst xmlns:a="http://schemas.openxmlformats.org/drawingml/2006/main">
              <a:ext uri="{FF2B5EF4-FFF2-40B4-BE49-F238E27FC236}">
                <a16:creationId xmlns:a16="http://schemas.microsoft.com/office/drawing/2014/main" id="{ED039AE1-5BD5-4717-A954-A8ECB5A30511}"/>
              </a:ext>
            </a:extLst>
          </p:cNvPr>
          <p:cNvSpPr>
            <a:spLocks xmlns:a="http://schemas.openxmlformats.org/drawingml/2006/main" noGrp="1"/>
          </p:cNvSpPr>
          <p:nvPr/>
        </p:nvSpPr>
        <p:spPr>
          <a:xfrm xmlns:a="http://schemas.openxmlformats.org/drawingml/2006/main">
            <a:off x="11303000" y="6057900"/>
            <a:ext cx="3289300" cy="7524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950" b="1">
                <a:solidFill>
                  <a:srgbClr val="20262C"/>
                </a:solidFill>
                <a:latin typeface="Arial"/>
                <a:ea typeface="Arial"/>
                <a:cs typeface="Arial"/>
              </a:defRPr>
            </a:defPPr>
            <a:lvl1pPr algn="ctr">
              <a:defRPr sz="1950" b="1">
                <a:solidFill>
                  <a:srgbClr val="20262C"/>
                </a:solidFill>
                <a:latin typeface="Arial"/>
                <a:ea typeface="Arial"/>
                <a:cs typeface="Arial"/>
              </a:defRPr>
            </a:lvl1pPr>
            <a:lvl2pPr algn="ctr">
              <a:defRPr sz="1950" b="1">
                <a:solidFill>
                  <a:srgbClr val="20262C"/>
                </a:solidFill>
                <a:latin typeface="Arial"/>
                <a:ea typeface="Arial"/>
                <a:cs typeface="Arial"/>
              </a:defRPr>
            </a:lvl2pPr>
            <a:lvl3pPr algn="ctr">
              <a:defRPr sz="1950" b="1">
                <a:solidFill>
                  <a:srgbClr val="20262C"/>
                </a:solidFill>
                <a:latin typeface="Arial"/>
                <a:ea typeface="Arial"/>
                <a:cs typeface="Arial"/>
              </a:defRPr>
            </a:lvl3pPr>
            <a:lvl4pPr algn="ctr">
              <a:defRPr sz="1950" b="1">
                <a:solidFill>
                  <a:srgbClr val="20262C"/>
                </a:solidFill>
                <a:latin typeface="Arial"/>
                <a:ea typeface="Arial"/>
                <a:cs typeface="Arial"/>
              </a:defRPr>
            </a:lvl4pPr>
            <a:lvl5pPr algn="ctr">
              <a:defRPr sz="1950" b="1">
                <a:solidFill>
                  <a:srgbClr val="20262C"/>
                </a:solidFill>
                <a:latin typeface="Arial"/>
                <a:ea typeface="Arial"/>
                <a:cs typeface="Arial"/>
              </a:defRPr>
            </a:lvl5pPr>
            <a:lvl6pPr algn="ctr">
              <a:defRPr sz="1950" b="1">
                <a:solidFill>
                  <a:srgbClr val="20262C"/>
                </a:solidFill>
                <a:latin typeface="Arial"/>
                <a:ea typeface="Arial"/>
                <a:cs typeface="Arial"/>
              </a:defRPr>
            </a:lvl6pPr>
            <a:lvl7pPr algn="ctr">
              <a:defRPr sz="1950" b="1">
                <a:solidFill>
                  <a:srgbClr val="20262C"/>
                </a:solidFill>
                <a:latin typeface="Arial"/>
                <a:ea typeface="Arial"/>
                <a:cs typeface="Arial"/>
              </a:defRPr>
            </a:lvl7pPr>
            <a:lvl8pPr algn="ctr">
              <a:defRPr sz="1950" b="1">
                <a:solidFill>
                  <a:srgbClr val="20262C"/>
                </a:solidFill>
                <a:latin typeface="Arial"/>
                <a:ea typeface="Arial"/>
                <a:cs typeface="Arial"/>
              </a:defRPr>
            </a:lvl8pPr>
            <a:lvl9pPr algn="ctr">
              <a:defRPr sz="1950" b="1">
                <a:solidFill>
                  <a:srgbClr val="20262C"/>
                </a:solidFill>
                <a:latin typeface="Arial"/>
                <a:ea typeface="Arial"/>
                <a:cs typeface="Arial"/>
              </a:defRPr>
            </a:lvl9pPr>
          </a:lstStyle>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Adapt the content</a:t>
            </a:r>
          </a:p>
          <a:p xmlns:a="http://schemas.openxmlformats.org/drawingml/2006/main">
            <a:pPr algn="ctr">
              <a:defRPr sz="1950" b="1">
                <a:solidFill>
                  <a:srgbClr val="20262C"/>
                </a:solidFill>
                <a:latin typeface="Arial"/>
                <a:ea typeface="Arial"/>
                <a:cs typeface="Arial"/>
              </a:defRPr>
            </a:pPr>
            <a:r>
              <a:rPr sz="1950" b="1">
                <a:solidFill>
                  <a:srgbClr val="20262C"/>
                </a:solidFill>
                <a:latin typeface="Arial"/>
                <a:ea typeface="Arial"/>
                <a:cs typeface="Arial"/>
              </a:rPr>
              <a:t>to the client’s questions</a:t>
            </a:r>
          </a:p>
        </p:txBody>
      </p:sp>
      <p:sp>
        <p:nvSpPr>
          <p:cNvPr id="39" name="!!client.repetition">
            <a:extLst xmlns:a="http://schemas.openxmlformats.org/drawingml/2006/main">
              <a:ext uri="{FF2B5EF4-FFF2-40B4-BE49-F238E27FC236}">
                <a16:creationId xmlns:a16="http://schemas.microsoft.com/office/drawing/2014/main" id="{D2C87160-800E-4624-ADC4-A1D4664B3B50}"/>
              </a:ext>
            </a:extLst>
          </p:cNvPr>
          <p:cNvSpPr>
            <a:spLocks xmlns:a="http://schemas.openxmlformats.org/drawingml/2006/main" noGrp="1"/>
          </p:cNvSpPr>
          <p:nvPr/>
        </p:nvSpPr>
        <p:spPr>
          <a:xfrm xmlns:a="http://schemas.openxmlformats.org/drawingml/2006/main">
            <a:off x="4057650" y="71342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The same source material supports client updates, product Q&amp;A and RFP responses.</a:t>
            </a:r>
          </a:p>
        </p:txBody>
      </p:sp>
      <p:sp>
        <p:nvSpPr>
          <p:cNvPr id="41" name="!!story.header.client.bar">
            <a:extLst xmlns:a="http://schemas.openxmlformats.org/drawingml/2006/main">
              <a:ext uri="{FF2B5EF4-FFF2-40B4-BE49-F238E27FC236}">
                <a16:creationId xmlns:a16="http://schemas.microsoft.com/office/drawing/2014/main" id="{3DDA10A5-ED17-4062-A64F-4E334BB8C3E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EE0D668D-CDD5-4822-ADE8-7FA7B1CDBBF3}"/>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3B897C7-DEDB-437E-A7EC-D90173FE1D36}"/>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Preparation</a:t>
            </a:r>
          </a:p>
        </p:txBody>
      </p:sp>
      <p:sp>
        <p:nvSpPr>
          <p:cNvPr id="44" name="!!story.client.prior.material">
            <a:extLst xmlns:a="http://schemas.openxmlformats.org/drawingml/2006/main">
              <a:ext uri="{FF2B5EF4-FFF2-40B4-BE49-F238E27FC236}">
                <a16:creationId xmlns:a16="http://schemas.microsoft.com/office/drawing/2014/main" id="{8D3B5B64-F288-483C-A8B6-642F2F53F22C}"/>
              </a:ext>
            </a:extLst>
          </p:cNvPr>
          <p:cNvSpPr>
            <a:spLocks xmlns:a="http://schemas.openxmlformats.org/drawingml/2006/main" noGrp="1"/>
          </p:cNvSpPr>
          <p:nvPr/>
        </p:nvSpPr>
        <p:spPr>
          <a:xfrm xmlns:a="http://schemas.openxmlformats.org/drawingml/2006/main">
            <a:off x="11315700" y="4514850"/>
            <a:ext cx="57150" cy="6477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34016183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heading">
            <a:extLst xmlns:a="http://schemas.openxmlformats.org/drawingml/2006/main">
              <a:ext uri="{FF2B5EF4-FFF2-40B4-BE49-F238E27FC236}">
                <a16:creationId xmlns:a16="http://schemas.microsoft.com/office/drawing/2014/main" id="{F37E5474-0246-45B5-B8DF-5EE38990841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Tianhong: investment views and market commentary</a:t>
            </a:r>
          </a:p>
        </p:txBody>
      </p:sp>
      <p:sp>
        <p:nvSpPr>
          <p:cNvPr id="2" name="!!subtitle">
            <a:extLst xmlns:a="http://schemas.openxmlformats.org/drawingml/2006/main">
              <a:ext uri="{FF2B5EF4-FFF2-40B4-BE49-F238E27FC236}">
                <a16:creationId xmlns:a16="http://schemas.microsoft.com/office/drawing/2014/main" id="{F292D3EA-B597-43FC-9145-576F087BBE73}"/>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communications  /  Industry examples</a:t>
            </a:r>
          </a:p>
        </p:txBody>
      </p:sp>
      <p:sp>
        <p:nvSpPr>
          <p:cNvPr id="3" name="!!heading.rule">
            <a:extLst xmlns:a="http://schemas.openxmlformats.org/drawingml/2006/main">
              <a:ext uri="{FF2B5EF4-FFF2-40B4-BE49-F238E27FC236}">
                <a16:creationId xmlns:a16="http://schemas.microsoft.com/office/drawing/2014/main" id="{10979A2E-23C1-4F97-AA12-F511647E910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590DD6B-1EB1-45F9-B40F-42EA4C5F1D3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16E277A-D938-44D3-A86D-CFC9E7ED251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7ABC16-D47F-41BC-BD98-8E1B1B7F9FEE}"/>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B5D899F-DB9D-49BD-966A-D955FCE8D884}"/>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8E475CA-F877-4FB8-AFD2-E107F13FCB2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C6E81CA1-AEF5-4085-A902-EF4AD8CC7DF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B4586D-BFDE-4DCC-A91F-1CFB97CC04E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C3A84B8-F4B5-4A18-A614-DC7ED63C5F0F}"/>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EF9227F-4D59-43AE-9974-37A0E4B043B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E0B1D29-2C14-43E3-B776-FDE885C7848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939DEED-F036-4EC9-9175-6F3D09604BEB}"/>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FBB7BC7-9943-49D5-B0C9-A2996256C618}"/>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407D210E-BD48-4A3D-B5F1-5096CCF7C282}"/>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E661C25-3291-4DB0-AB4E-73E488DC4D3E}"/>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1E43C9C-8CAA-4DB3-B12A-C572A008252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EC3F3AE-AAD0-4790-8E40-3A2B40D10CD6}"/>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3DBE494-9268-4774-B5E6-975794BB413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13 / 33</a:t>
            </a:r>
          </a:p>
        </p:txBody>
      </p:sp>
      <p:sp>
        <p:nvSpPr>
          <p:cNvPr id="21" name="!!nav.prev">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AC34055-F35E-44B5-A4F1-57772DB3189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4" action="ppaction://hlinksldjump" tooltip="Slide 14: ICBCUBS: drafting institutional RFP responses"/>
            <a:extLst xmlns:a="http://schemas.openxmlformats.org/drawingml/2006/main">
              <a:ext uri="{FF2B5EF4-FFF2-40B4-BE49-F238E27FC236}">
                <a16:creationId xmlns:a16="http://schemas.microsoft.com/office/drawing/2014/main" id="{2255AB5C-B8CC-4B15-9EE2-FE6BD75BF0C1}"/>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DA0B14CB-A911-438F-AAA0-7A048668AE3B}"/>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EC2306CC-0AA3-403F-8F1C-7268702778DE}"/>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 AMAC</a:t>
            </a:r>
          </a:p>
        </p:txBody>
      </p:sp>
      <p:sp>
        <p:nvSpPr>
          <p:cNvPr id="25" name="!!client.views.head">
            <a:extLst xmlns:a="http://schemas.openxmlformats.org/drawingml/2006/main">
              <a:ext uri="{FF2B5EF4-FFF2-40B4-BE49-F238E27FC236}">
                <a16:creationId xmlns:a16="http://schemas.microsoft.com/office/drawing/2014/main" id="{7A359A56-723F-48BD-97B5-90652E709540}"/>
              </a:ext>
            </a:extLst>
          </p:cNvPr>
          <p:cNvSpPr>
            <a:spLocks xmlns:a="http://schemas.openxmlformats.org/drawingml/2006/main" noGrp="1"/>
          </p:cNvSpPr>
          <p:nvPr/>
        </p:nvSpPr>
        <p:spPr>
          <a:xfrm xmlns:a="http://schemas.openxmlformats.org/drawingml/2006/main">
            <a:off x="4057650" y="2047875"/>
            <a:ext cx="10534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Tianhong uses LLMs to consolidate recent investment views by portfolio manager or product.</a:t>
            </a:r>
          </a:p>
        </p:txBody>
      </p:sp>
      <p:sp>
        <p:nvSpPr>
          <p:cNvPr id="26" name="!!client.views.source.rule">
            <a:extLst xmlns:a="http://schemas.openxmlformats.org/drawingml/2006/main">
              <a:ext uri="{FF2B5EF4-FFF2-40B4-BE49-F238E27FC236}">
                <a16:creationId xmlns:a16="http://schemas.microsoft.com/office/drawing/2014/main" id="{229E9AE7-6A33-495A-98C5-80444B9B43B8}"/>
              </a:ext>
            </a:extLst>
          </p:cNvPr>
          <p:cNvSpPr>
            <a:spLocks xmlns:a="http://schemas.openxmlformats.org/drawingml/2006/main" noGrp="1"/>
          </p:cNvSpPr>
          <p:nvPr/>
        </p:nvSpPr>
        <p:spPr>
          <a:xfrm xmlns:a="http://schemas.openxmlformats.org/drawingml/2006/main" flipH="0" flipV="0">
            <a:off x="4057650" y="3143250"/>
            <a:ext cx="44767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7" name="!!client.views.source.label">
            <a:extLst xmlns:a="http://schemas.openxmlformats.org/drawingml/2006/main">
              <a:ext uri="{FF2B5EF4-FFF2-40B4-BE49-F238E27FC236}">
                <a16:creationId xmlns:a16="http://schemas.microsoft.com/office/drawing/2014/main" id="{F89B2486-54DF-4FC1-9409-8B201CCA9C62}"/>
              </a:ext>
            </a:extLst>
          </p:cNvPr>
          <p:cNvSpPr>
            <a:spLocks xmlns:a="http://schemas.openxmlformats.org/drawingml/2006/main" noGrp="1"/>
          </p:cNvSpPr>
          <p:nvPr/>
        </p:nvSpPr>
        <p:spPr>
          <a:xfrm xmlns:a="http://schemas.openxmlformats.org/drawingml/2006/main">
            <a:off x="4057650" y="3238500"/>
            <a:ext cx="447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Presentations, commentary and reports</a:t>
            </a:r>
          </a:p>
        </p:txBody>
      </p:sp>
      <p:sp>
        <p:nvSpPr>
          <p:cNvPr id="28" name="!!client.views.source.text">
            <a:extLst xmlns:a="http://schemas.openxmlformats.org/drawingml/2006/main">
              <a:ext uri="{FF2B5EF4-FFF2-40B4-BE49-F238E27FC236}">
                <a16:creationId xmlns:a16="http://schemas.microsoft.com/office/drawing/2014/main" id="{317276D1-17E9-479A-8015-0C369495386B}"/>
              </a:ext>
            </a:extLst>
          </p:cNvPr>
          <p:cNvSpPr>
            <a:spLocks xmlns:a="http://schemas.openxmlformats.org/drawingml/2006/main" noGrp="1"/>
          </p:cNvSpPr>
          <p:nvPr/>
        </p:nvSpPr>
        <p:spPr>
          <a:xfrm xmlns:a="http://schemas.openxmlformats.org/drawingml/2006/main">
            <a:off x="4057650" y="3581400"/>
            <a:ext cx="4476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“Company A’s revenue rose as sales volumes increased.</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We are watching raw-material costs.”</a:t>
            </a:r>
          </a:p>
        </p:txBody>
      </p:sp>
      <p:sp>
        <p:nvSpPr>
          <p:cNvPr id="29" name="!!client.views.llm">
            <a:extLst xmlns:a="http://schemas.openxmlformats.org/drawingml/2006/main">
              <a:ext uri="{FF2B5EF4-FFF2-40B4-BE49-F238E27FC236}">
                <a16:creationId xmlns:a16="http://schemas.microsoft.com/office/drawing/2014/main" id="{E45F2BDD-B697-471A-9490-A7889BF6BC65}"/>
              </a:ext>
            </a:extLst>
          </p:cNvPr>
          <p:cNvSpPr>
            <a:spLocks xmlns:a="http://schemas.openxmlformats.org/drawingml/2006/main" noGrp="1"/>
          </p:cNvSpPr>
          <p:nvPr/>
        </p:nvSpPr>
        <p:spPr>
          <a:xfrm xmlns:a="http://schemas.openxmlformats.org/drawingml/2006/main">
            <a:off x="9315450" y="3143250"/>
            <a:ext cx="5276850" cy="18573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client.views.llm.role">
            <a:extLst xmlns:a="http://schemas.openxmlformats.org/drawingml/2006/main">
              <a:ext uri="{FF2B5EF4-FFF2-40B4-BE49-F238E27FC236}">
                <a16:creationId xmlns:a16="http://schemas.microsoft.com/office/drawing/2014/main" id="{86C8D954-5532-40AF-8F13-124123EB736A}"/>
              </a:ext>
            </a:extLst>
          </p:cNvPr>
          <p:cNvSpPr>
            <a:spLocks xmlns:a="http://schemas.openxmlformats.org/drawingml/2006/main" noGrp="1"/>
          </p:cNvSpPr>
          <p:nvPr/>
        </p:nvSpPr>
        <p:spPr>
          <a:xfrm xmlns:a="http://schemas.openxmlformats.org/drawingml/2006/main">
            <a:off x="9505950" y="3286125"/>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prepares a summary</a:t>
            </a:r>
          </a:p>
        </p:txBody>
      </p:sp>
      <p:sp>
        <p:nvSpPr>
          <p:cNvPr id="31" name="!!client.views.llm.body">
            <a:extLst xmlns:a="http://schemas.openxmlformats.org/drawingml/2006/main">
              <a:ext uri="{FF2B5EF4-FFF2-40B4-BE49-F238E27FC236}">
                <a16:creationId xmlns:a16="http://schemas.microsoft.com/office/drawing/2014/main" id="{180AA305-4077-4177-A1C9-76E31E6084C0}"/>
              </a:ext>
            </a:extLst>
          </p:cNvPr>
          <p:cNvSpPr>
            <a:spLocks xmlns:a="http://schemas.openxmlformats.org/drawingml/2006/main" noGrp="1"/>
          </p:cNvSpPr>
          <p:nvPr/>
        </p:nvSpPr>
        <p:spPr>
          <a:xfrm xmlns:a="http://schemas.openxmlformats.org/drawingml/2006/main">
            <a:off x="9505950" y="3724275"/>
            <a:ext cx="48958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Find the relevant views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Remove duplication</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Write a clear client explanation</a:t>
            </a:r>
          </a:p>
        </p:txBody>
      </p:sp>
      <p:sp>
        <p:nvSpPr>
          <p:cNvPr id="32" name="!!client.views.input.line">
            <a:extLst xmlns:a="http://schemas.openxmlformats.org/drawingml/2006/main">
              <a:ext uri="{FF2B5EF4-FFF2-40B4-BE49-F238E27FC236}">
                <a16:creationId xmlns:a16="http://schemas.microsoft.com/office/drawing/2014/main" id="{8AD87F30-B73B-4072-A3D0-1E3A739C875B}"/>
              </a:ext>
            </a:extLst>
          </p:cNvPr>
          <p:cNvSpPr>
            <a:spLocks xmlns:a="http://schemas.openxmlformats.org/drawingml/2006/main" noGrp="1"/>
          </p:cNvSpPr>
          <p:nvPr/>
        </p:nvSpPr>
        <p:spPr>
          <a:xfrm xmlns:a="http://schemas.openxmlformats.org/drawingml/2006/main" flipH="0" flipV="0">
            <a:off x="8648700" y="4067175"/>
            <a:ext cx="5524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client.views.input.tip">
            <a:extLst xmlns:a="http://schemas.openxmlformats.org/drawingml/2006/main">
              <a:ext uri="{FF2B5EF4-FFF2-40B4-BE49-F238E27FC236}">
                <a16:creationId xmlns:a16="http://schemas.microsoft.com/office/drawing/2014/main" id="{9D8640D7-DB05-4ED1-855B-128CB5950582}"/>
              </a:ext>
            </a:extLst>
          </p:cNvPr>
          <p:cNvSpPr>
            <a:spLocks xmlns:a="http://schemas.openxmlformats.org/drawingml/2006/main" noGrp="1"/>
          </p:cNvSpPr>
          <p:nvPr/>
        </p:nvSpPr>
        <p:spPr>
          <a:xfrm xmlns:a="http://schemas.openxmlformats.org/drawingml/2006/main" rot="5400000">
            <a:off x="9144000" y="40100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client.views.result">
            <a:extLst xmlns:a="http://schemas.openxmlformats.org/drawingml/2006/main">
              <a:ext uri="{FF2B5EF4-FFF2-40B4-BE49-F238E27FC236}">
                <a16:creationId xmlns:a16="http://schemas.microsoft.com/office/drawing/2014/main" id="{1080990D-0CFB-42DD-B6CD-83A424998524}"/>
              </a:ext>
            </a:extLst>
          </p:cNvPr>
          <p:cNvSpPr>
            <a:spLocks xmlns:a="http://schemas.openxmlformats.org/drawingml/2006/main" noGrp="1"/>
          </p:cNvSpPr>
          <p:nvPr/>
        </p:nvSpPr>
        <p:spPr>
          <a:xfrm xmlns:a="http://schemas.openxmlformats.org/drawingml/2006/main">
            <a:off x="4057650" y="5562600"/>
            <a:ext cx="1053465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7363A6"/>
            </a:solidFill>
            <a:prstDash val="solid"/>
          </a:ln>
        </p:spPr>
      </p:sp>
      <p:sp>
        <p:nvSpPr>
          <p:cNvPr id="35" name="!!client.views.result.title">
            <a:extLst xmlns:a="http://schemas.openxmlformats.org/drawingml/2006/main">
              <a:ext uri="{FF2B5EF4-FFF2-40B4-BE49-F238E27FC236}">
                <a16:creationId xmlns:a16="http://schemas.microsoft.com/office/drawing/2014/main" id="{C45C2CCF-6CF4-4181-8375-8D2F92EC51D8}"/>
              </a:ext>
            </a:extLst>
          </p:cNvPr>
          <p:cNvSpPr>
            <a:spLocks xmlns:a="http://schemas.openxmlformats.org/drawingml/2006/main" noGrp="1"/>
          </p:cNvSpPr>
          <p:nvPr/>
        </p:nvSpPr>
        <p:spPr>
          <a:xfrm xmlns:a="http://schemas.openxmlformats.org/drawingml/2006/main">
            <a:off x="4267200" y="5762625"/>
            <a:ext cx="10115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363A6"/>
                </a:solidFill>
                <a:latin typeface="Arial"/>
                <a:ea typeface="Arial"/>
                <a:cs typeface="Arial"/>
              </a:defRPr>
            </a:defPPr>
            <a:lvl1pPr algn="l">
              <a:defRPr sz="2100" b="1">
                <a:solidFill>
                  <a:srgbClr val="7363A6"/>
                </a:solidFill>
                <a:latin typeface="Arial"/>
                <a:ea typeface="Arial"/>
                <a:cs typeface="Arial"/>
              </a:defRPr>
            </a:lvl1pPr>
            <a:lvl2pPr algn="l">
              <a:defRPr sz="2100" b="1">
                <a:solidFill>
                  <a:srgbClr val="7363A6"/>
                </a:solidFill>
                <a:latin typeface="Arial"/>
                <a:ea typeface="Arial"/>
                <a:cs typeface="Arial"/>
              </a:defRPr>
            </a:lvl2pPr>
            <a:lvl3pPr algn="l">
              <a:defRPr sz="2100" b="1">
                <a:solidFill>
                  <a:srgbClr val="7363A6"/>
                </a:solidFill>
                <a:latin typeface="Arial"/>
                <a:ea typeface="Arial"/>
                <a:cs typeface="Arial"/>
              </a:defRPr>
            </a:lvl3pPr>
            <a:lvl4pPr algn="l">
              <a:defRPr sz="2100" b="1">
                <a:solidFill>
                  <a:srgbClr val="7363A6"/>
                </a:solidFill>
                <a:latin typeface="Arial"/>
                <a:ea typeface="Arial"/>
                <a:cs typeface="Arial"/>
              </a:defRPr>
            </a:lvl4pPr>
            <a:lvl5pPr algn="l">
              <a:defRPr sz="2100" b="1">
                <a:solidFill>
                  <a:srgbClr val="7363A6"/>
                </a:solidFill>
                <a:latin typeface="Arial"/>
                <a:ea typeface="Arial"/>
                <a:cs typeface="Arial"/>
              </a:defRPr>
            </a:lvl5pPr>
            <a:lvl6pPr algn="l">
              <a:defRPr sz="2100" b="1">
                <a:solidFill>
                  <a:srgbClr val="7363A6"/>
                </a:solidFill>
                <a:latin typeface="Arial"/>
                <a:ea typeface="Arial"/>
                <a:cs typeface="Arial"/>
              </a:defRPr>
            </a:lvl6pPr>
            <a:lvl7pPr algn="l">
              <a:defRPr sz="2100" b="1">
                <a:solidFill>
                  <a:srgbClr val="7363A6"/>
                </a:solidFill>
                <a:latin typeface="Arial"/>
                <a:ea typeface="Arial"/>
                <a:cs typeface="Arial"/>
              </a:defRPr>
            </a:lvl7pPr>
            <a:lvl8pPr algn="l">
              <a:defRPr sz="2100" b="1">
                <a:solidFill>
                  <a:srgbClr val="7363A6"/>
                </a:solidFill>
                <a:latin typeface="Arial"/>
                <a:ea typeface="Arial"/>
                <a:cs typeface="Arial"/>
              </a:defRPr>
            </a:lvl8pPr>
            <a:lvl9pPr algn="l">
              <a:defRPr sz="2100" b="1">
                <a:solidFill>
                  <a:srgbClr val="7363A6"/>
                </a:solidFill>
                <a:latin typeface="Arial"/>
                <a:ea typeface="Arial"/>
                <a:cs typeface="Arial"/>
              </a:defRPr>
            </a:lvl9pPr>
          </a:lstStyle>
          <a:p xmlns:a="http://schemas.openxmlformats.org/drawingml/2006/main">
            <a:pPr algn="l">
              <a:defRPr sz="2100" b="1">
                <a:solidFill>
                  <a:srgbClr val="7363A6"/>
                </a:solidFill>
                <a:latin typeface="Arial"/>
                <a:ea typeface="Arial"/>
                <a:cs typeface="Arial"/>
              </a:defRPr>
            </a:pPr>
            <a:r>
              <a:rPr sz="2100" b="1">
                <a:solidFill>
                  <a:srgbClr val="7363A6"/>
                </a:solidFill>
                <a:latin typeface="Arial"/>
                <a:ea typeface="Arial"/>
                <a:cs typeface="Arial"/>
              </a:rPr>
              <a:t>Summary for client-facing teams</a:t>
            </a:r>
          </a:p>
        </p:txBody>
      </p:sp>
      <p:sp>
        <p:nvSpPr>
          <p:cNvPr id="36" name="!!client.views.result.text">
            <a:extLst xmlns:a="http://schemas.openxmlformats.org/drawingml/2006/main">
              <a:ext uri="{FF2B5EF4-FFF2-40B4-BE49-F238E27FC236}">
                <a16:creationId xmlns:a16="http://schemas.microsoft.com/office/drawing/2014/main" id="{7B9CDE04-61B3-4DB9-B776-0A9FE33AA454}"/>
              </a:ext>
            </a:extLst>
          </p:cNvPr>
          <p:cNvSpPr>
            <a:spLocks xmlns:a="http://schemas.openxmlformats.org/drawingml/2006/main" noGrp="1"/>
          </p:cNvSpPr>
          <p:nvPr/>
        </p:nvSpPr>
        <p:spPr>
          <a:xfrm xmlns:a="http://schemas.openxmlformats.org/drawingml/2006/main">
            <a:off x="4267200" y="6257925"/>
            <a:ext cx="10115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Higher sales volume supported revenue growth.</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Raw-material costs remain a focus.</a:t>
            </a:r>
          </a:p>
        </p:txBody>
      </p:sp>
      <p:sp>
        <p:nvSpPr>
          <p:cNvPr id="37" name="!!client.views.user">
            <a:extLst xmlns:a="http://schemas.openxmlformats.org/drawingml/2006/main">
              <a:ext uri="{FF2B5EF4-FFF2-40B4-BE49-F238E27FC236}">
                <a16:creationId xmlns:a16="http://schemas.microsoft.com/office/drawing/2014/main" id="{E5DBF677-5CA8-48F5-BAF7-A0C35C0F691D}"/>
              </a:ext>
            </a:extLst>
          </p:cNvPr>
          <p:cNvSpPr>
            <a:spLocks xmlns:a="http://schemas.openxmlformats.org/drawingml/2006/main" noGrp="1"/>
          </p:cNvSpPr>
          <p:nvPr/>
        </p:nvSpPr>
        <p:spPr>
          <a:xfrm xmlns:a="http://schemas.openxmlformats.org/drawingml/2006/main">
            <a:off x="4057650" y="712470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Tianhong also produces weekly sector views and daily market commentary</a:t>
            </a:r>
          </a:p>
        </p:txBody>
      </p:sp>
      <p:sp>
        <p:nvSpPr>
          <p:cNvPr id="39" name="!!story.header.client.bar">
            <a:extLst xmlns:a="http://schemas.openxmlformats.org/drawingml/2006/main">
              <a:ext uri="{FF2B5EF4-FFF2-40B4-BE49-F238E27FC236}">
                <a16:creationId xmlns:a16="http://schemas.microsoft.com/office/drawing/2014/main" id="{7FE15944-CE39-4787-8F79-D5C34133E246}"/>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0" name="!!story.header.client.name">
            <a:extLst xmlns:a="http://schemas.openxmlformats.org/drawingml/2006/main">
              <a:ext uri="{FF2B5EF4-FFF2-40B4-BE49-F238E27FC236}">
                <a16:creationId xmlns:a16="http://schemas.microsoft.com/office/drawing/2014/main" id="{EB2729A5-7E0E-430D-B45E-B606B3BE2C5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1" name="!!story.header.client.qualifier">
            <a:extLst xmlns:a="http://schemas.openxmlformats.org/drawingml/2006/main">
              <a:ext uri="{FF2B5EF4-FFF2-40B4-BE49-F238E27FC236}">
                <a16:creationId xmlns:a16="http://schemas.microsoft.com/office/drawing/2014/main" id="{94735B9B-22D4-4990-9148-E5E967096DED}"/>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Views</a:t>
            </a:r>
          </a:p>
        </p:txBody>
      </p:sp>
      <p:sp>
        <p:nvSpPr>
          <p:cNvPr id="42" name="!!story.client.view.summary">
            <a:extLst xmlns:a="http://schemas.openxmlformats.org/drawingml/2006/main">
              <a:ext uri="{FF2B5EF4-FFF2-40B4-BE49-F238E27FC236}">
                <a16:creationId xmlns:a16="http://schemas.microsoft.com/office/drawing/2014/main" id="{03A830A6-5811-4654-A8B4-E53AC48B73BF}"/>
              </a:ext>
            </a:extLst>
          </p:cNvPr>
          <p:cNvSpPr>
            <a:spLocks xmlns:a="http://schemas.openxmlformats.org/drawingml/2006/main" noGrp="1"/>
          </p:cNvSpPr>
          <p:nvPr/>
        </p:nvSpPr>
        <p:spPr>
          <a:xfrm xmlns:a="http://schemas.openxmlformats.org/drawingml/2006/main">
            <a:off x="4000500" y="5562600"/>
            <a:ext cx="57150" cy="141922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893254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505C154E-B6EC-4A01-A113-FE4A98ED5A9F}"/>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ICBCUBS: drafting institutional RFP responses</a:t>
            </a:r>
          </a:p>
        </p:txBody>
      </p:sp>
      <p:sp>
        <p:nvSpPr>
          <p:cNvPr id="2" name="!!subtitle">
            <a:extLst xmlns:a="http://schemas.openxmlformats.org/drawingml/2006/main">
              <a:ext uri="{FF2B5EF4-FFF2-40B4-BE49-F238E27FC236}">
                <a16:creationId xmlns:a16="http://schemas.microsoft.com/office/drawing/2014/main" id="{90E4DEC8-BEE2-4380-9D5F-593720E77C1F}"/>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communications  /  Industry examples</a:t>
            </a:r>
          </a:p>
        </p:txBody>
      </p:sp>
      <p:sp>
        <p:nvSpPr>
          <p:cNvPr id="3" name="!!heading.rule">
            <a:extLst xmlns:a="http://schemas.openxmlformats.org/drawingml/2006/main">
              <a:ext uri="{FF2B5EF4-FFF2-40B4-BE49-F238E27FC236}">
                <a16:creationId xmlns:a16="http://schemas.microsoft.com/office/drawing/2014/main" id="{E48B7EDA-0E75-44B4-B6FA-63A79ACF0E8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3717483-D8FE-4C1B-9AB9-2BDD7A5CC771}"/>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C0B414B-11C8-4A58-82E3-DA0A803CF06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7B825BE-16FF-4EBF-BE34-906313BFDB2B}"/>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8ED2AB44-C65D-43D8-A35A-EDDBB13BE1F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6C3292E-2A2A-43DE-B5D2-C5142DB858D9}"/>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950EF0C8-7A7F-4AC2-8BA8-C73811A7C74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CF1D675-AF3F-4B49-883E-830D5EB2109C}"/>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7E247E8-C5DC-4F7B-9193-FCBC01D0FB09}"/>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4756ACD-726A-4B2F-AC7D-AB3DC2E8F362}"/>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25E6E7C-7EF1-435F-ABE6-4565F9BF15BE}"/>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AC0B84D-0BBC-442E-8693-42DCFB5D42F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3A004C2-EC31-4571-858A-9AA4B5CBC71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CBFBA1FF-E971-4567-83FE-D5E4574D6AF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1922D6A-3CF5-4B27-815F-6A539B61CC5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B7CF6963-6EA6-4EA9-8D93-A473DBF8ECC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E90E6655-9B9A-4AD0-BC0D-E24468607E1C}"/>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B48C5AD5-01C2-480B-A757-82D6553D28EA}"/>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14 / 33</a:t>
            </a:r>
          </a:p>
        </p:txBody>
      </p:sp>
      <p:sp>
        <p:nvSpPr>
          <p:cNvPr id="21" name="!!nav.prev">
            <ns0:hlinkClick xmlns:ns0="http://schemas.openxmlformats.org/drawingml/2006/main" xmlns:ns1="http://schemas.openxmlformats.org/officeDocument/2006/relationships" ns1:id="rIdNavSlide13" action="ppaction://hlinksldjump" tooltip="Slide 13: Tianhong: investment views and market commentary"/>
            <a:extLst xmlns:a="http://schemas.openxmlformats.org/drawingml/2006/main">
              <a:ext uri="{FF2B5EF4-FFF2-40B4-BE49-F238E27FC236}">
                <a16:creationId xmlns:a16="http://schemas.microsoft.com/office/drawing/2014/main" id="{A3CFF4C4-ECD9-4EDC-B6F4-7AE986BFD36C}"/>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5" action="ppaction://hlinksldjump" tooltip="Slide 15: Proposed application: drafting client updates"/>
            <a:extLst xmlns:a="http://schemas.openxmlformats.org/drawingml/2006/main">
              <a:ext uri="{FF2B5EF4-FFF2-40B4-BE49-F238E27FC236}">
                <a16:creationId xmlns:a16="http://schemas.microsoft.com/office/drawing/2014/main" id="{D329EAB1-68A6-4176-956F-FC76E02B755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7AB7C29-7FF5-4E19-A984-6CAE4FCB5525}"/>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C24D9E5-E512-4E75-814D-840F9B537E88}"/>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ICBCUBS / AMAC</a:t>
            </a:r>
          </a:p>
        </p:txBody>
      </p:sp>
      <p:sp>
        <p:nvSpPr>
          <p:cNvPr id="25" name="!!tender.question">
            <a:extLst xmlns:a="http://schemas.openxmlformats.org/drawingml/2006/main">
              <a:ext uri="{FF2B5EF4-FFF2-40B4-BE49-F238E27FC236}">
                <a16:creationId xmlns:a16="http://schemas.microsoft.com/office/drawing/2014/main" id="{26F5DE57-B786-4834-B0F0-759F69D6DA84}"/>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Institutional client: how is your investment research process organized?</a:t>
            </a:r>
          </a:p>
        </p:txBody>
      </p:sp>
      <p:sp>
        <p:nvSpPr>
          <p:cNvPr id="26" name="!!tender.source.rule">
            <a:extLst xmlns:a="http://schemas.openxmlformats.org/drawingml/2006/main">
              <a:ext uri="{FF2B5EF4-FFF2-40B4-BE49-F238E27FC236}">
                <a16:creationId xmlns:a16="http://schemas.microsoft.com/office/drawing/2014/main" id="{CC8B03A3-8E1E-4773-8153-94BC0F3AB319}"/>
              </a:ext>
            </a:extLst>
          </p:cNvPr>
          <p:cNvSpPr>
            <a:spLocks xmlns:a="http://schemas.openxmlformats.org/drawingml/2006/main" noGrp="1"/>
          </p:cNvSpPr>
          <p:nvPr/>
        </p:nvSpPr>
        <p:spPr>
          <a:xfrm xmlns:a="http://schemas.openxmlformats.org/drawingml/2006/main" flipH="0" flipV="0">
            <a:off x="4057650" y="3209925"/>
            <a:ext cx="32194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7" name="!!tender.source.label">
            <a:extLst xmlns:a="http://schemas.openxmlformats.org/drawingml/2006/main">
              <a:ext uri="{FF2B5EF4-FFF2-40B4-BE49-F238E27FC236}">
                <a16:creationId xmlns:a16="http://schemas.microsoft.com/office/drawing/2014/main" id="{D77761F5-11A9-4477-8E19-37BBB8E34FCF}"/>
              </a:ext>
            </a:extLst>
          </p:cNvPr>
          <p:cNvSpPr>
            <a:spLocks xmlns:a="http://schemas.openxmlformats.org/drawingml/2006/main" noGrp="1"/>
          </p:cNvSpPr>
          <p:nvPr/>
        </p:nvSpPr>
        <p:spPr>
          <a:xfrm xmlns:a="http://schemas.openxmlformats.org/drawingml/2006/main">
            <a:off x="4057650" y="3305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Internal reference material</a:t>
            </a:r>
          </a:p>
        </p:txBody>
      </p:sp>
      <p:sp>
        <p:nvSpPr>
          <p:cNvPr id="28" name="!!tender.source.text">
            <a:extLst xmlns:a="http://schemas.openxmlformats.org/drawingml/2006/main">
              <a:ext uri="{FF2B5EF4-FFF2-40B4-BE49-F238E27FC236}">
                <a16:creationId xmlns:a16="http://schemas.microsoft.com/office/drawing/2014/main" id="{FAA2DB54-1241-48FB-A5FA-2E5D682A2DFF}"/>
              </a:ext>
            </a:extLst>
          </p:cNvPr>
          <p:cNvSpPr>
            <a:spLocks xmlns:a="http://schemas.openxmlformats.org/drawingml/2006/main" noGrp="1"/>
          </p:cNvSpPr>
          <p:nvPr/>
        </p:nvSpPr>
        <p:spPr>
          <a:xfrm xmlns:a="http://schemas.openxmlformats.org/drawingml/2006/main">
            <a:off x="4057650" y="3648075"/>
            <a:ext cx="32194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Research process description: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Analysts prepare company research.</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Portfolio managers discuss the view.</a:t>
            </a:r>
          </a:p>
        </p:txBody>
      </p:sp>
      <p:sp>
        <p:nvSpPr>
          <p:cNvPr id="29" name="!!tender.llm">
            <a:extLst xmlns:a="http://schemas.openxmlformats.org/drawingml/2006/main">
              <a:ext uri="{FF2B5EF4-FFF2-40B4-BE49-F238E27FC236}">
                <a16:creationId xmlns:a16="http://schemas.microsoft.com/office/drawing/2014/main" id="{D5667B8B-9218-4CF8-A8BD-56370283386A}"/>
              </a:ext>
            </a:extLst>
          </p:cNvPr>
          <p:cNvSpPr>
            <a:spLocks xmlns:a="http://schemas.openxmlformats.org/drawingml/2006/main" noGrp="1"/>
          </p:cNvSpPr>
          <p:nvPr/>
        </p:nvSpPr>
        <p:spPr>
          <a:xfrm xmlns:a="http://schemas.openxmlformats.org/drawingml/2006/main">
            <a:off x="7715250" y="3209925"/>
            <a:ext cx="3219450" cy="2571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tender.llm.role">
            <a:extLst xmlns:a="http://schemas.openxmlformats.org/drawingml/2006/main">
              <a:ext uri="{FF2B5EF4-FFF2-40B4-BE49-F238E27FC236}">
                <a16:creationId xmlns:a16="http://schemas.microsoft.com/office/drawing/2014/main" id="{859D6C53-4C69-4493-BAF9-7CBB84FC9792}"/>
              </a:ext>
            </a:extLst>
          </p:cNvPr>
          <p:cNvSpPr>
            <a:spLocks xmlns:a="http://schemas.openxmlformats.org/drawingml/2006/main" noGrp="1"/>
          </p:cNvSpPr>
          <p:nvPr/>
        </p:nvSpPr>
        <p:spPr>
          <a:xfrm xmlns:a="http://schemas.openxmlformats.org/drawingml/2006/main">
            <a:off x="7905750" y="3352800"/>
            <a:ext cx="2838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retrieves sources and drafts responses</a:t>
            </a:r>
          </a:p>
        </p:txBody>
      </p:sp>
      <p:sp>
        <p:nvSpPr>
          <p:cNvPr id="31" name="!!tender.llm.body">
            <a:extLst xmlns:a="http://schemas.openxmlformats.org/drawingml/2006/main">
              <a:ext uri="{FF2B5EF4-FFF2-40B4-BE49-F238E27FC236}">
                <a16:creationId xmlns:a16="http://schemas.microsoft.com/office/drawing/2014/main" id="{87126AA1-8BFD-4302-A656-F6FAF3B50B07}"/>
              </a:ext>
            </a:extLst>
          </p:cNvPr>
          <p:cNvSpPr>
            <a:spLocks xmlns:a="http://schemas.openxmlformats.org/drawingml/2006/main" noGrp="1"/>
          </p:cNvSpPr>
          <p:nvPr/>
        </p:nvSpPr>
        <p:spPr>
          <a:xfrm xmlns:a="http://schemas.openxmlformats.org/drawingml/2006/main">
            <a:off x="7905750" y="4029075"/>
            <a:ext cx="28384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Retrieve the process description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responsibilities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Draft the response</a:t>
            </a:r>
          </a:p>
        </p:txBody>
      </p:sp>
      <p:sp>
        <p:nvSpPr>
          <p:cNvPr id="32" name="!!tender.answer">
            <a:extLst xmlns:a="http://schemas.openxmlformats.org/drawingml/2006/main">
              <a:ext uri="{FF2B5EF4-FFF2-40B4-BE49-F238E27FC236}">
                <a16:creationId xmlns:a16="http://schemas.microsoft.com/office/drawing/2014/main" id="{4D34DD9A-375A-474E-BC3E-6BC2079EED24}"/>
              </a:ext>
            </a:extLst>
          </p:cNvPr>
          <p:cNvSpPr>
            <a:spLocks xmlns:a="http://schemas.openxmlformats.org/drawingml/2006/main" noGrp="1"/>
          </p:cNvSpPr>
          <p:nvPr/>
        </p:nvSpPr>
        <p:spPr>
          <a:xfrm xmlns:a="http://schemas.openxmlformats.org/drawingml/2006/main">
            <a:off x="11372850" y="3209925"/>
            <a:ext cx="3219450" cy="25717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tender.answer.role">
            <a:extLst xmlns:a="http://schemas.openxmlformats.org/drawingml/2006/main">
              <a:ext uri="{FF2B5EF4-FFF2-40B4-BE49-F238E27FC236}">
                <a16:creationId xmlns:a16="http://schemas.microsoft.com/office/drawing/2014/main" id="{8F4CD158-3EEC-44CF-AAB5-172B29CC44B3}"/>
              </a:ext>
            </a:extLst>
          </p:cNvPr>
          <p:cNvSpPr>
            <a:spLocks xmlns:a="http://schemas.openxmlformats.org/drawingml/2006/main" noGrp="1"/>
          </p:cNvSpPr>
          <p:nvPr/>
        </p:nvSpPr>
        <p:spPr>
          <a:xfrm xmlns:a="http://schemas.openxmlformats.org/drawingml/2006/main">
            <a:off x="11563350" y="335280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Draft RFP response</a:t>
            </a:r>
          </a:p>
        </p:txBody>
      </p:sp>
      <p:sp>
        <p:nvSpPr>
          <p:cNvPr id="34" name="!!tender.answer.body">
            <a:extLst xmlns:a="http://schemas.openxmlformats.org/drawingml/2006/main">
              <a:ext uri="{FF2B5EF4-FFF2-40B4-BE49-F238E27FC236}">
                <a16:creationId xmlns:a16="http://schemas.microsoft.com/office/drawing/2014/main" id="{047F46EE-19FA-43B4-BB09-12BD97474A4B}"/>
              </a:ext>
            </a:extLst>
          </p:cNvPr>
          <p:cNvSpPr>
            <a:spLocks xmlns:a="http://schemas.openxmlformats.org/drawingml/2006/main" noGrp="1"/>
          </p:cNvSpPr>
          <p:nvPr/>
        </p:nvSpPr>
        <p:spPr>
          <a:xfrm xmlns:a="http://schemas.openxmlformats.org/drawingml/2006/main">
            <a:off x="11563350" y="3790950"/>
            <a:ext cx="28384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Analysts conduct company research.</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Portfolio managers discuss the resulting investment views.</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Source: internal research process description.</a:t>
            </a:r>
          </a:p>
        </p:txBody>
      </p:sp>
      <p:sp>
        <p:nvSpPr>
          <p:cNvPr id="35" name="!!tender.input.line">
            <a:extLst xmlns:a="http://schemas.openxmlformats.org/drawingml/2006/main">
              <a:ext uri="{FF2B5EF4-FFF2-40B4-BE49-F238E27FC236}">
                <a16:creationId xmlns:a16="http://schemas.microsoft.com/office/drawing/2014/main" id="{0AB5DFE9-6807-4590-B96F-94FB30F6A9E4}"/>
              </a:ext>
            </a:extLst>
          </p:cNvPr>
          <p:cNvSpPr>
            <a:spLocks xmlns:a="http://schemas.openxmlformats.org/drawingml/2006/main" noGrp="1"/>
          </p:cNvSpPr>
          <p:nvPr/>
        </p:nvSpPr>
        <p:spPr>
          <a:xfrm xmlns:a="http://schemas.openxmlformats.org/drawingml/2006/main" flipH="0" flipV="0">
            <a:off x="7372350" y="425767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tender.input.tip">
            <a:extLst xmlns:a="http://schemas.openxmlformats.org/drawingml/2006/main">
              <a:ext uri="{FF2B5EF4-FFF2-40B4-BE49-F238E27FC236}">
                <a16:creationId xmlns:a16="http://schemas.microsoft.com/office/drawing/2014/main" id="{9CF3D49E-7DB8-45C4-B372-A42B0F1F542A}"/>
              </a:ext>
            </a:extLst>
          </p:cNvPr>
          <p:cNvSpPr>
            <a:spLocks xmlns:a="http://schemas.openxmlformats.org/drawingml/2006/main" noGrp="1"/>
          </p:cNvSpPr>
          <p:nvPr/>
        </p:nvSpPr>
        <p:spPr>
          <a:xfrm xmlns:a="http://schemas.openxmlformats.org/drawingml/2006/main" rot="5400000">
            <a:off x="7562850" y="42005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tender.output.line">
            <a:extLst xmlns:a="http://schemas.openxmlformats.org/drawingml/2006/main">
              <a:ext uri="{FF2B5EF4-FFF2-40B4-BE49-F238E27FC236}">
                <a16:creationId xmlns:a16="http://schemas.microsoft.com/office/drawing/2014/main" id="{2B15A54F-B114-4736-B681-E608DF985F67}"/>
              </a:ext>
            </a:extLst>
          </p:cNvPr>
          <p:cNvSpPr>
            <a:spLocks xmlns:a="http://schemas.openxmlformats.org/drawingml/2006/main" noGrp="1"/>
          </p:cNvSpPr>
          <p:nvPr/>
        </p:nvSpPr>
        <p:spPr>
          <a:xfrm xmlns:a="http://schemas.openxmlformats.org/drawingml/2006/main" flipH="0" flipV="0">
            <a:off x="11029950" y="425767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tender.output.tip">
            <a:extLst xmlns:a="http://schemas.openxmlformats.org/drawingml/2006/main">
              <a:ext uri="{FF2B5EF4-FFF2-40B4-BE49-F238E27FC236}">
                <a16:creationId xmlns:a16="http://schemas.microsoft.com/office/drawing/2014/main" id="{104BABA1-1529-4F59-83F7-FB5148D17A0B}"/>
              </a:ext>
            </a:extLst>
          </p:cNvPr>
          <p:cNvSpPr>
            <a:spLocks xmlns:a="http://schemas.openxmlformats.org/drawingml/2006/main" noGrp="1"/>
          </p:cNvSpPr>
          <p:nvPr/>
        </p:nvSpPr>
        <p:spPr>
          <a:xfrm xmlns:a="http://schemas.openxmlformats.org/drawingml/2006/main" rot="5400000">
            <a:off x="11220450" y="420052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tender.user">
            <a:extLst xmlns:a="http://schemas.openxmlformats.org/drawingml/2006/main">
              <a:ext uri="{FF2B5EF4-FFF2-40B4-BE49-F238E27FC236}">
                <a16:creationId xmlns:a16="http://schemas.microsoft.com/office/drawing/2014/main" id="{A6D7D761-D433-43A8-B6FE-08B4C84BD654}"/>
              </a:ext>
            </a:extLst>
          </p:cNvPr>
          <p:cNvSpPr>
            <a:spLocks xmlns:a="http://schemas.openxmlformats.org/drawingml/2006/main" noGrp="1"/>
          </p:cNvSpPr>
          <p:nvPr/>
        </p:nvSpPr>
        <p:spPr>
          <a:xfrm xmlns:a="http://schemas.openxmlformats.org/drawingml/2006/main">
            <a:off x="4057650" y="6181725"/>
            <a:ext cx="1053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The business team checks the answer and source, then addresses the client’s specific requirements</a:t>
            </a:r>
          </a:p>
        </p:txBody>
      </p:sp>
      <p:sp>
        <p:nvSpPr>
          <p:cNvPr id="40" name="!!tender.case">
            <a:extLst xmlns:a="http://schemas.openxmlformats.org/drawingml/2006/main">
              <a:ext uri="{FF2B5EF4-FFF2-40B4-BE49-F238E27FC236}">
                <a16:creationId xmlns:a16="http://schemas.microsoft.com/office/drawing/2014/main" id="{5BA8674F-0D51-4532-8E29-3415611FF31E}"/>
              </a:ext>
            </a:extLst>
          </p:cNvPr>
          <p:cNvSpPr>
            <a:spLocks xmlns:a="http://schemas.openxmlformats.org/drawingml/2006/main" noGrp="1"/>
          </p:cNvSpPr>
          <p:nvPr/>
        </p:nvSpPr>
        <p:spPr>
          <a:xfrm xmlns:a="http://schemas.openxmlformats.org/drawingml/2006/main">
            <a:off x="4057650" y="6886575"/>
            <a:ext cx="1053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5A9C"/>
                </a:solidFill>
                <a:latin typeface="Arial"/>
                <a:ea typeface="Arial"/>
                <a:cs typeface="Arial"/>
              </a:defRPr>
            </a:defPPr>
            <a:lvl1pPr algn="l">
              <a:defRPr sz="1725" b="1">
                <a:solidFill>
                  <a:srgbClr val="005A9C"/>
                </a:solidFill>
                <a:latin typeface="Arial"/>
                <a:ea typeface="Arial"/>
                <a:cs typeface="Arial"/>
              </a:defRPr>
            </a:lvl1pPr>
            <a:lvl2pPr algn="l">
              <a:defRPr sz="1725" b="1">
                <a:solidFill>
                  <a:srgbClr val="005A9C"/>
                </a:solidFill>
                <a:latin typeface="Arial"/>
                <a:ea typeface="Arial"/>
                <a:cs typeface="Arial"/>
              </a:defRPr>
            </a:lvl2pPr>
            <a:lvl3pPr algn="l">
              <a:defRPr sz="1725" b="1">
                <a:solidFill>
                  <a:srgbClr val="005A9C"/>
                </a:solidFill>
                <a:latin typeface="Arial"/>
                <a:ea typeface="Arial"/>
                <a:cs typeface="Arial"/>
              </a:defRPr>
            </a:lvl3pPr>
            <a:lvl4pPr algn="l">
              <a:defRPr sz="1725" b="1">
                <a:solidFill>
                  <a:srgbClr val="005A9C"/>
                </a:solidFill>
                <a:latin typeface="Arial"/>
                <a:ea typeface="Arial"/>
                <a:cs typeface="Arial"/>
              </a:defRPr>
            </a:lvl4pPr>
            <a:lvl5pPr algn="l">
              <a:defRPr sz="1725" b="1">
                <a:solidFill>
                  <a:srgbClr val="005A9C"/>
                </a:solidFill>
                <a:latin typeface="Arial"/>
                <a:ea typeface="Arial"/>
                <a:cs typeface="Arial"/>
              </a:defRPr>
            </a:lvl5pPr>
            <a:lvl6pPr algn="l">
              <a:defRPr sz="1725" b="1">
                <a:solidFill>
                  <a:srgbClr val="005A9C"/>
                </a:solidFill>
                <a:latin typeface="Arial"/>
                <a:ea typeface="Arial"/>
                <a:cs typeface="Arial"/>
              </a:defRPr>
            </a:lvl6pPr>
            <a:lvl7pPr algn="l">
              <a:defRPr sz="1725" b="1">
                <a:solidFill>
                  <a:srgbClr val="005A9C"/>
                </a:solidFill>
                <a:latin typeface="Arial"/>
                <a:ea typeface="Arial"/>
                <a:cs typeface="Arial"/>
              </a:defRPr>
            </a:lvl7pPr>
            <a:lvl8pPr algn="l">
              <a:defRPr sz="1725" b="1">
                <a:solidFill>
                  <a:srgbClr val="005A9C"/>
                </a:solidFill>
                <a:latin typeface="Arial"/>
                <a:ea typeface="Arial"/>
                <a:cs typeface="Arial"/>
              </a:defRPr>
            </a:lvl8pPr>
            <a:lvl9pPr algn="l">
              <a:defRPr sz="1725" b="1">
                <a:solidFill>
                  <a:srgbClr val="005A9C"/>
                </a:solidFill>
                <a:latin typeface="Arial"/>
                <a:ea typeface="Arial"/>
                <a:cs typeface="Arial"/>
              </a:defRPr>
            </a:lvl9pPr>
          </a:lstStyle>
          <a:p xmlns:a="http://schemas.openxmlformats.org/drawingml/2006/main">
            <a:pPr algn="l">
              <a:defRPr sz="1725" b="1">
                <a:solidFill>
                  <a:srgbClr val="005A9C"/>
                </a:solidFill>
                <a:latin typeface="Arial"/>
                <a:ea typeface="Arial"/>
                <a:cs typeface="Arial"/>
              </a:defRPr>
            </a:pPr>
            <a:r>
              <a:rPr sz="1725" b="1">
                <a:solidFill>
                  <a:srgbClr val="005A9C"/>
                </a:solidFill>
                <a:latin typeface="Arial"/>
                <a:ea typeface="Arial"/>
                <a:cs typeface="Arial"/>
              </a:rPr>
              <a:t>ICBCUBS FundGPT supports knowledge-base maintenance, question analysis, review and RFP drafting.</a:t>
            </a:r>
          </a:p>
        </p:txBody>
      </p:sp>
      <p:sp>
        <p:nvSpPr>
          <p:cNvPr id="42" name="!!story.header.neutral.bar">
            <a:extLst xmlns:a="http://schemas.openxmlformats.org/drawingml/2006/main">
              <a:ext uri="{FF2B5EF4-FFF2-40B4-BE49-F238E27FC236}">
                <a16:creationId xmlns:a16="http://schemas.microsoft.com/office/drawing/2014/main" id="{D905C31C-B372-4B65-A16B-74FD8880D657}"/>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07C88"/>
          </a:solidFill>
          <a:ln xmlns:a="http://schemas.openxmlformats.org/drawingml/2006/main" w="0">
            <a:noFill/>
          </a:ln>
        </p:spPr>
      </p:sp>
      <p:sp>
        <p:nvSpPr>
          <p:cNvPr id="43" name="!!story.header.neutral.name">
            <a:extLst xmlns:a="http://schemas.openxmlformats.org/drawingml/2006/main">
              <a:ext uri="{FF2B5EF4-FFF2-40B4-BE49-F238E27FC236}">
                <a16:creationId xmlns:a16="http://schemas.microsoft.com/office/drawing/2014/main" id="{CAFA38A9-C1BA-49AD-A788-6AEA5F093DDB}"/>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07C88"/>
                </a:solidFill>
                <a:latin typeface="Arial"/>
                <a:ea typeface="Arial"/>
                <a:cs typeface="Arial"/>
              </a:defRPr>
            </a:defPPr>
            <a:lvl1pPr algn="l">
              <a:defRPr sz="1725" b="1">
                <a:solidFill>
                  <a:srgbClr val="707C88"/>
                </a:solidFill>
                <a:latin typeface="Arial"/>
                <a:ea typeface="Arial"/>
                <a:cs typeface="Arial"/>
              </a:defRPr>
            </a:lvl1pPr>
            <a:lvl2pPr algn="l">
              <a:defRPr sz="1725" b="1">
                <a:solidFill>
                  <a:srgbClr val="707C88"/>
                </a:solidFill>
                <a:latin typeface="Arial"/>
                <a:ea typeface="Arial"/>
                <a:cs typeface="Arial"/>
              </a:defRPr>
            </a:lvl2pPr>
            <a:lvl3pPr algn="l">
              <a:defRPr sz="1725" b="1">
                <a:solidFill>
                  <a:srgbClr val="707C88"/>
                </a:solidFill>
                <a:latin typeface="Arial"/>
                <a:ea typeface="Arial"/>
                <a:cs typeface="Arial"/>
              </a:defRPr>
            </a:lvl3pPr>
            <a:lvl4pPr algn="l">
              <a:defRPr sz="1725" b="1">
                <a:solidFill>
                  <a:srgbClr val="707C88"/>
                </a:solidFill>
                <a:latin typeface="Arial"/>
                <a:ea typeface="Arial"/>
                <a:cs typeface="Arial"/>
              </a:defRPr>
            </a:lvl4pPr>
            <a:lvl5pPr algn="l">
              <a:defRPr sz="1725" b="1">
                <a:solidFill>
                  <a:srgbClr val="707C88"/>
                </a:solidFill>
                <a:latin typeface="Arial"/>
                <a:ea typeface="Arial"/>
                <a:cs typeface="Arial"/>
              </a:defRPr>
            </a:lvl5pPr>
            <a:lvl6pPr algn="l">
              <a:defRPr sz="1725" b="1">
                <a:solidFill>
                  <a:srgbClr val="707C88"/>
                </a:solidFill>
                <a:latin typeface="Arial"/>
                <a:ea typeface="Arial"/>
                <a:cs typeface="Arial"/>
              </a:defRPr>
            </a:lvl6pPr>
            <a:lvl7pPr algn="l">
              <a:defRPr sz="1725" b="1">
                <a:solidFill>
                  <a:srgbClr val="707C88"/>
                </a:solidFill>
                <a:latin typeface="Arial"/>
                <a:ea typeface="Arial"/>
                <a:cs typeface="Arial"/>
              </a:defRPr>
            </a:lvl7pPr>
            <a:lvl8pPr algn="l">
              <a:defRPr sz="1725" b="1">
                <a:solidFill>
                  <a:srgbClr val="707C88"/>
                </a:solidFill>
                <a:latin typeface="Arial"/>
                <a:ea typeface="Arial"/>
                <a:cs typeface="Arial"/>
              </a:defRPr>
            </a:lvl8pPr>
            <a:lvl9pPr algn="l">
              <a:defRPr sz="1725" b="1">
                <a:solidFill>
                  <a:srgbClr val="707C88"/>
                </a:solidFill>
                <a:latin typeface="Arial"/>
                <a:ea typeface="Arial"/>
                <a:cs typeface="Arial"/>
              </a:defRPr>
            </a:lvl9pPr>
          </a:lstStyle>
          <a:p xmlns:a="http://schemas.openxmlformats.org/drawingml/2006/main">
            <a:pPr algn="l">
              <a:defRPr sz="1725" b="1">
                <a:solidFill>
                  <a:srgbClr val="707C88"/>
                </a:solidFill>
                <a:latin typeface="Arial"/>
                <a:ea typeface="Arial"/>
                <a:cs typeface="Arial"/>
              </a:defRPr>
            </a:pPr>
            <a:r>
              <a:rPr sz="1725" b="1">
                <a:solidFill>
                  <a:srgbClr val="707C88"/>
                </a:solidFill>
                <a:latin typeface="Arial"/>
                <a:ea typeface="Arial"/>
                <a:cs typeface="Arial"/>
              </a:rPr>
              <a:t>RFP response</a:t>
            </a:r>
          </a:p>
        </p:txBody>
      </p:sp>
      <p:sp>
        <p:nvSpPr>
          <p:cNvPr id="44" name="!!story.header.neutral.qualifier">
            <a:extLst xmlns:a="http://schemas.openxmlformats.org/drawingml/2006/main">
              <a:ext uri="{FF2B5EF4-FFF2-40B4-BE49-F238E27FC236}">
                <a16:creationId xmlns:a16="http://schemas.microsoft.com/office/drawing/2014/main" id="{FDF8F750-A17B-44AE-99DB-5FC295F4F112}"/>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Separate case</a:t>
            </a:r>
          </a:p>
        </p:txBody>
      </p:sp>
    </p:spTree>
    <p:extLst>
      <p:ext uri="{BB962C8B-B14F-4D97-AF65-F5344CB8AC3E}">
        <p14:creationId xmlns:p14="http://schemas.microsoft.com/office/powerpoint/2010/main" val="128562686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heading">
            <a:extLst xmlns:a="http://schemas.openxmlformats.org/drawingml/2006/main">
              <a:ext uri="{FF2B5EF4-FFF2-40B4-BE49-F238E27FC236}">
                <a16:creationId xmlns:a16="http://schemas.microsoft.com/office/drawing/2014/main" id="{92538C93-9558-454E-BC96-EC31F7458B34}"/>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drafting client updates</a:t>
            </a:r>
          </a:p>
        </p:txBody>
      </p:sp>
      <p:sp>
        <p:nvSpPr>
          <p:cNvPr id="2" name="!!subtitle">
            <a:extLst xmlns:a="http://schemas.openxmlformats.org/drawingml/2006/main">
              <a:ext uri="{FF2B5EF4-FFF2-40B4-BE49-F238E27FC236}">
                <a16:creationId xmlns:a16="http://schemas.microsoft.com/office/drawing/2014/main" id="{7524E9F8-563A-4A6F-BA31-48A2D708E305}"/>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Front office  /  Client communications  /  Proposed application</a:t>
            </a:r>
          </a:p>
        </p:txBody>
      </p:sp>
      <p:sp>
        <p:nvSpPr>
          <p:cNvPr id="3" name="!!heading.rule">
            <a:extLst xmlns:a="http://schemas.openxmlformats.org/drawingml/2006/main">
              <a:ext uri="{FF2B5EF4-FFF2-40B4-BE49-F238E27FC236}">
                <a16:creationId xmlns:a16="http://schemas.microsoft.com/office/drawing/2014/main" id="{948D44C1-676F-4C9F-AEF2-EB9821F94720}"/>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2BFDBD1-7A9C-421A-BC2E-864822FB550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B18CE86-45EC-41C9-843E-0537371FDB0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B67F3DE-BB47-4A52-9369-D71BCDA7EC7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4E7D03A-CB0E-4940-A84E-C13C75708EC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C758F409-1925-4C7E-9DA7-6B227742E50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CE899B5-68D4-43AC-9621-49F610FB5E29}"/>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A70C625-0436-4FA2-89CD-AAECC13F9B7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4BBB46A-D009-4A02-BEB4-687169A3C583}"/>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6177313-FEF6-48E6-BE97-9D1449609CCB}"/>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8232C54-3BCE-4268-9121-7D482302648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D81DC4E-8B7E-4A0E-919A-A9F2D68EA8B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F1354AC-65EB-4A04-81BB-7959A048991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35ABDFB-2F5F-48DC-8C68-DDF5A2D2CF2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B9350-7A6C-4B81-88CD-3C19218CE52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866BAA6-CB26-4FCD-B357-AE2625B7DD4C}"/>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44EC84C-DD7A-45D7-B94C-A156D66C3DC0}"/>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0AB0321C-1F7E-4091-AB7C-009DCEBD2E4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15 / 33</a:t>
            </a:r>
          </a:p>
        </p:txBody>
      </p:sp>
      <p:sp>
        <p:nvSpPr>
          <p:cNvPr id="21" name="!!nav.prev">
            <ns0:hlinkClick xmlns:ns0="http://schemas.openxmlformats.org/drawingml/2006/main" xmlns:ns1="http://schemas.openxmlformats.org/officeDocument/2006/relationships" ns1:id="rIdNavSlide14" action="ppaction://hlinksldjump" tooltip="Slide 14: ICBCUBS: drafting institutional RFP responses"/>
            <a:extLst xmlns:a="http://schemas.openxmlformats.org/drawingml/2006/main">
              <a:ext uri="{FF2B5EF4-FFF2-40B4-BE49-F238E27FC236}">
                <a16:creationId xmlns:a16="http://schemas.microsoft.com/office/drawing/2014/main" id="{05461EE8-6303-45B6-B885-3E146497C13F}"/>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A696B47-230C-4E72-8C2A-ACA4DBD7CD1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9E9C6862-C67A-40EF-AA77-F17920BBC772}"/>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95CC6FE6-8D21-471F-9D04-2408F323D43D}"/>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ICBCUBS; China Merchants Fund</a:t>
            </a:r>
          </a:p>
        </p:txBody>
      </p:sp>
      <p:sp>
        <p:nvSpPr>
          <p:cNvPr id="25" name="!!client.input.customer">
            <a:extLst xmlns:a="http://schemas.openxmlformats.org/drawingml/2006/main">
              <a:ext uri="{FF2B5EF4-FFF2-40B4-BE49-F238E27FC236}">
                <a16:creationId xmlns:a16="http://schemas.microsoft.com/office/drawing/2014/main" id="{5D6F5BB5-B26A-4BDA-85E3-1CED11DC4B2B}"/>
              </a:ext>
            </a:extLst>
          </p:cNvPr>
          <p:cNvSpPr>
            <a:spLocks xmlns:a="http://schemas.openxmlformats.org/drawingml/2006/main" noGrp="1"/>
          </p:cNvSpPr>
          <p:nvPr/>
        </p:nvSpPr>
        <p:spPr>
          <a:xfrm xmlns:a="http://schemas.openxmlformats.org/drawingml/2006/main">
            <a:off x="4057650" y="2828925"/>
            <a:ext cx="2190750" cy="952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Client question</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What matters this quarter?</a:t>
            </a:r>
          </a:p>
        </p:txBody>
      </p:sp>
      <p:sp>
        <p:nvSpPr>
          <p:cNvPr id="26" name="!!client.input.manager">
            <a:extLst xmlns:a="http://schemas.openxmlformats.org/drawingml/2006/main">
              <a:ext uri="{FF2B5EF4-FFF2-40B4-BE49-F238E27FC236}">
                <a16:creationId xmlns:a16="http://schemas.microsoft.com/office/drawing/2014/main" id="{FF852C64-EB8A-41AA-8105-58D8AAB1B9B8}"/>
              </a:ext>
            </a:extLst>
          </p:cNvPr>
          <p:cNvSpPr>
            <a:spLocks xmlns:a="http://schemas.openxmlformats.org/drawingml/2006/main" noGrp="1"/>
          </p:cNvSpPr>
          <p:nvPr/>
        </p:nvSpPr>
        <p:spPr>
          <a:xfrm xmlns:a="http://schemas.openxmlformats.org/drawingml/2006/main">
            <a:off x="4057650" y="4238625"/>
            <a:ext cx="2190750" cy="1143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Existing investment view</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Sales volume and input costs</a:t>
            </a:r>
          </a:p>
        </p:txBody>
      </p:sp>
      <p:sp>
        <p:nvSpPr>
          <p:cNvPr id="27" name="!!client.input.product">
            <a:extLst xmlns:a="http://schemas.openxmlformats.org/drawingml/2006/main">
              <a:ext uri="{FF2B5EF4-FFF2-40B4-BE49-F238E27FC236}">
                <a16:creationId xmlns:a16="http://schemas.microsoft.com/office/drawing/2014/main" id="{1437A3B8-FD55-42A0-B40B-5E171448A641}"/>
              </a:ext>
            </a:extLst>
          </p:cNvPr>
          <p:cNvSpPr>
            <a:spLocks xmlns:a="http://schemas.openxmlformats.org/drawingml/2006/main" noGrp="1"/>
          </p:cNvSpPr>
          <p:nvPr/>
        </p:nvSpPr>
        <p:spPr>
          <a:xfrm xmlns:a="http://schemas.openxmlformats.org/drawingml/2006/main">
            <a:off x="4057650" y="5895975"/>
            <a:ext cx="2190750" cy="9048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Product information</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Q2 2026, V1</a:t>
            </a:r>
          </a:p>
        </p:txBody>
      </p:sp>
      <p:sp>
        <p:nvSpPr>
          <p:cNvPr id="28" name="!!client.input.link0.1">
            <a:extLst xmlns:a="http://schemas.openxmlformats.org/drawingml/2006/main">
              <a:ext uri="{FF2B5EF4-FFF2-40B4-BE49-F238E27FC236}">
                <a16:creationId xmlns:a16="http://schemas.microsoft.com/office/drawing/2014/main" id="{BB7F7A83-F5BE-460A-95C8-153CDA0E80DF}"/>
              </a:ext>
            </a:extLst>
          </p:cNvPr>
          <p:cNvSpPr>
            <a:spLocks xmlns:a="http://schemas.openxmlformats.org/drawingml/2006/main" noGrp="1"/>
          </p:cNvSpPr>
          <p:nvPr/>
        </p:nvSpPr>
        <p:spPr>
          <a:xfrm xmlns:a="http://schemas.openxmlformats.org/drawingml/2006/main" flipH="0" flipV="0">
            <a:off x="6248400" y="3305175"/>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29" name="!!client.input.link0.2">
            <a:extLst xmlns:a="http://schemas.openxmlformats.org/drawingml/2006/main">
              <a:ext uri="{FF2B5EF4-FFF2-40B4-BE49-F238E27FC236}">
                <a16:creationId xmlns:a16="http://schemas.microsoft.com/office/drawing/2014/main" id="{10844E80-EB53-4497-A021-A45782D6215D}"/>
              </a:ext>
            </a:extLst>
          </p:cNvPr>
          <p:cNvSpPr>
            <a:spLocks xmlns:a="http://schemas.openxmlformats.org/drawingml/2006/main" noGrp="1"/>
          </p:cNvSpPr>
          <p:nvPr/>
        </p:nvSpPr>
        <p:spPr>
          <a:xfrm xmlns:a="http://schemas.openxmlformats.org/drawingml/2006/main" flipH="0" flipV="0">
            <a:off x="6638925" y="3305175"/>
            <a:ext cx="953" cy="15335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0" name="!!client.input.link0.3.line">
            <a:extLst xmlns:a="http://schemas.openxmlformats.org/drawingml/2006/main">
              <a:ext uri="{FF2B5EF4-FFF2-40B4-BE49-F238E27FC236}">
                <a16:creationId xmlns:a16="http://schemas.microsoft.com/office/drawing/2014/main" id="{BE3A86F8-880E-473D-A740-774E4E0089B1}"/>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client.input.link0.3.tip">
            <a:extLst xmlns:a="http://schemas.openxmlformats.org/drawingml/2006/main">
              <a:ext uri="{FF2B5EF4-FFF2-40B4-BE49-F238E27FC236}">
                <a16:creationId xmlns:a16="http://schemas.microsoft.com/office/drawing/2014/main" id="{2805B423-8BCD-4C9B-A904-8D4D74D73168}"/>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client.input.link1.1">
            <a:extLst xmlns:a="http://schemas.openxmlformats.org/drawingml/2006/main">
              <a:ext uri="{FF2B5EF4-FFF2-40B4-BE49-F238E27FC236}">
                <a16:creationId xmlns:a16="http://schemas.microsoft.com/office/drawing/2014/main" id="{B7859070-3B02-4759-A77B-FA5EFA2F044D}"/>
              </a:ext>
            </a:extLst>
          </p:cNvPr>
          <p:cNvSpPr>
            <a:spLocks xmlns:a="http://schemas.openxmlformats.org/drawingml/2006/main" noGrp="1"/>
          </p:cNvSpPr>
          <p:nvPr/>
        </p:nvSpPr>
        <p:spPr>
          <a:xfrm xmlns:a="http://schemas.openxmlformats.org/drawingml/2006/main" flipH="0" flipV="0">
            <a:off x="6248400" y="4838700"/>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3" name="!!client.input.link1.2">
            <a:extLst xmlns:a="http://schemas.openxmlformats.org/drawingml/2006/main">
              <a:ext uri="{FF2B5EF4-FFF2-40B4-BE49-F238E27FC236}">
                <a16:creationId xmlns:a16="http://schemas.microsoft.com/office/drawing/2014/main" id="{159337C9-282F-4B0E-A492-44A84BC97839}"/>
              </a:ext>
            </a:extLst>
          </p:cNvPr>
          <p:cNvSpPr>
            <a:spLocks xmlns:a="http://schemas.openxmlformats.org/drawingml/2006/main" noGrp="1"/>
          </p:cNvSpPr>
          <p:nvPr/>
        </p:nvSpPr>
        <p:spPr>
          <a:xfrm xmlns:a="http://schemas.openxmlformats.org/drawingml/2006/main" flipH="0" flipV="0">
            <a:off x="6638925" y="4838700"/>
            <a:ext cx="953"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4" name="!!client.input.link1.3.line">
            <a:extLst xmlns:a="http://schemas.openxmlformats.org/drawingml/2006/main">
              <a:ext uri="{FF2B5EF4-FFF2-40B4-BE49-F238E27FC236}">
                <a16:creationId xmlns:a16="http://schemas.microsoft.com/office/drawing/2014/main" id="{4184771D-9C19-4BB6-B2A6-FA6FA050A887}"/>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5" name="!!client.input.link1.3.tip">
            <a:extLst xmlns:a="http://schemas.openxmlformats.org/drawingml/2006/main">
              <a:ext uri="{FF2B5EF4-FFF2-40B4-BE49-F238E27FC236}">
                <a16:creationId xmlns:a16="http://schemas.microsoft.com/office/drawing/2014/main" id="{57838FD9-7E20-4A2A-B2F2-DBF5A2B86120}"/>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6" name="!!client.input.link2.1">
            <a:extLst xmlns:a="http://schemas.openxmlformats.org/drawingml/2006/main">
              <a:ext uri="{FF2B5EF4-FFF2-40B4-BE49-F238E27FC236}">
                <a16:creationId xmlns:a16="http://schemas.microsoft.com/office/drawing/2014/main" id="{107FBD83-10E3-4F24-A796-0BD6B1EE8BE1}"/>
              </a:ext>
            </a:extLst>
          </p:cNvPr>
          <p:cNvSpPr>
            <a:spLocks xmlns:a="http://schemas.openxmlformats.org/drawingml/2006/main" noGrp="1"/>
          </p:cNvSpPr>
          <p:nvPr/>
        </p:nvSpPr>
        <p:spPr>
          <a:xfrm xmlns:a="http://schemas.openxmlformats.org/drawingml/2006/main" flipH="0" flipV="0">
            <a:off x="6248400" y="6372225"/>
            <a:ext cx="390525"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7" name="!!client.input.link2.2">
            <a:extLst xmlns:a="http://schemas.openxmlformats.org/drawingml/2006/main">
              <a:ext uri="{FF2B5EF4-FFF2-40B4-BE49-F238E27FC236}">
                <a16:creationId xmlns:a16="http://schemas.microsoft.com/office/drawing/2014/main" id="{0FB47672-3758-4BBF-A56A-B41013487289}"/>
              </a:ext>
            </a:extLst>
          </p:cNvPr>
          <p:cNvSpPr>
            <a:spLocks xmlns:a="http://schemas.openxmlformats.org/drawingml/2006/main" noGrp="1"/>
          </p:cNvSpPr>
          <p:nvPr/>
        </p:nvSpPr>
        <p:spPr>
          <a:xfrm xmlns:a="http://schemas.openxmlformats.org/drawingml/2006/main" flipH="0" flipV="1">
            <a:off x="6638925" y="4838700"/>
            <a:ext cx="953" cy="15335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38" name="!!client.input.link2.3.line">
            <a:extLst xmlns:a="http://schemas.openxmlformats.org/drawingml/2006/main">
              <a:ext uri="{FF2B5EF4-FFF2-40B4-BE49-F238E27FC236}">
                <a16:creationId xmlns:a16="http://schemas.microsoft.com/office/drawing/2014/main" id="{DB712894-E398-446A-A2C4-AB93D4B9474E}"/>
              </a:ext>
            </a:extLst>
          </p:cNvPr>
          <p:cNvSpPr>
            <a:spLocks xmlns:a="http://schemas.openxmlformats.org/drawingml/2006/main" noGrp="1"/>
          </p:cNvSpPr>
          <p:nvPr/>
        </p:nvSpPr>
        <p:spPr>
          <a:xfrm xmlns:a="http://schemas.openxmlformats.org/drawingml/2006/main" flipH="0" flipV="0">
            <a:off x="6638925" y="4838700"/>
            <a:ext cx="4572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client.input.link2.3.tip">
            <a:extLst xmlns:a="http://schemas.openxmlformats.org/drawingml/2006/main">
              <a:ext uri="{FF2B5EF4-FFF2-40B4-BE49-F238E27FC236}">
                <a16:creationId xmlns:a16="http://schemas.microsoft.com/office/drawing/2014/main" id="{FA3A88FC-790E-4952-A0FF-0F62E99B9E96}"/>
              </a:ext>
            </a:extLst>
          </p:cNvPr>
          <p:cNvSpPr>
            <a:spLocks xmlns:a="http://schemas.openxmlformats.org/drawingml/2006/main" noGrp="1"/>
          </p:cNvSpPr>
          <p:nvPr/>
        </p:nvSpPr>
        <p:spPr>
          <a:xfrm xmlns:a="http://schemas.openxmlformats.org/drawingml/2006/main" rot="5400000">
            <a:off x="7038975"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client.llm">
            <a:extLst xmlns:a="http://schemas.openxmlformats.org/drawingml/2006/main">
              <a:ext uri="{FF2B5EF4-FFF2-40B4-BE49-F238E27FC236}">
                <a16:creationId xmlns:a16="http://schemas.microsoft.com/office/drawing/2014/main" id="{ACA91E8F-0ABF-4A70-AB52-6C0284EE505D}"/>
              </a:ext>
            </a:extLst>
          </p:cNvPr>
          <p:cNvSpPr>
            <a:spLocks xmlns:a="http://schemas.openxmlformats.org/drawingml/2006/main" noGrp="1"/>
          </p:cNvSpPr>
          <p:nvPr/>
        </p:nvSpPr>
        <p:spPr>
          <a:xfrm xmlns:a="http://schemas.openxmlformats.org/drawingml/2006/main">
            <a:off x="7096125" y="3838575"/>
            <a:ext cx="2000250" cy="1971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1" name="!!client.llm.role">
            <a:extLst xmlns:a="http://schemas.openxmlformats.org/drawingml/2006/main">
              <a:ext uri="{FF2B5EF4-FFF2-40B4-BE49-F238E27FC236}">
                <a16:creationId xmlns:a16="http://schemas.microsoft.com/office/drawing/2014/main" id="{5D89F698-C45C-463F-8E7F-D9EF6AA85A02}"/>
              </a:ext>
            </a:extLst>
          </p:cNvPr>
          <p:cNvSpPr>
            <a:spLocks xmlns:a="http://schemas.openxmlformats.org/drawingml/2006/main" noGrp="1"/>
          </p:cNvSpPr>
          <p:nvPr/>
        </p:nvSpPr>
        <p:spPr>
          <a:xfrm xmlns:a="http://schemas.openxmlformats.org/drawingml/2006/main">
            <a:off x="7286625" y="39814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drafts</a:t>
            </a:r>
          </a:p>
        </p:txBody>
      </p:sp>
      <p:sp>
        <p:nvSpPr>
          <p:cNvPr id="42" name="!!client.llm.body">
            <a:extLst xmlns:a="http://schemas.openxmlformats.org/drawingml/2006/main">
              <a:ext uri="{FF2B5EF4-FFF2-40B4-BE49-F238E27FC236}">
                <a16:creationId xmlns:a16="http://schemas.microsoft.com/office/drawing/2014/main" id="{24AE9E6A-AE02-409A-BF90-8B52164FF84C}"/>
              </a:ext>
            </a:extLst>
          </p:cNvPr>
          <p:cNvSpPr>
            <a:spLocks xmlns:a="http://schemas.openxmlformats.org/drawingml/2006/main" noGrp="1"/>
          </p:cNvSpPr>
          <p:nvPr/>
        </p:nvSpPr>
        <p:spPr>
          <a:xfrm xmlns:a="http://schemas.openxmlformats.org/drawingml/2006/main">
            <a:off x="7286625" y="4419600"/>
            <a:ext cx="1619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Select relevant source content</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Draft the client update</a:t>
            </a:r>
          </a:p>
        </p:txBody>
      </p:sp>
      <p:sp>
        <p:nvSpPr>
          <p:cNvPr id="43" name="!!client.generate.line">
            <a:extLst xmlns:a="http://schemas.openxmlformats.org/drawingml/2006/main">
              <a:ext uri="{FF2B5EF4-FFF2-40B4-BE49-F238E27FC236}">
                <a16:creationId xmlns:a16="http://schemas.microsoft.com/office/drawing/2014/main" id="{BD33AF4B-D253-4530-B460-2170CBCB7ECD}"/>
              </a:ext>
            </a:extLst>
          </p:cNvPr>
          <p:cNvSpPr>
            <a:spLocks xmlns:a="http://schemas.openxmlformats.org/drawingml/2006/main" noGrp="1"/>
          </p:cNvSpPr>
          <p:nvPr/>
        </p:nvSpPr>
        <p:spPr>
          <a:xfrm xmlns:a="http://schemas.openxmlformats.org/drawingml/2006/main" flipH="0" flipV="0">
            <a:off x="9163050" y="4838700"/>
            <a:ext cx="34290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4" name="!!client.generate.tip">
            <a:extLst xmlns:a="http://schemas.openxmlformats.org/drawingml/2006/main">
              <a:ext uri="{FF2B5EF4-FFF2-40B4-BE49-F238E27FC236}">
                <a16:creationId xmlns:a16="http://schemas.microsoft.com/office/drawing/2014/main" id="{8E633F75-66DD-4334-89C7-0985735AA74C}"/>
              </a:ext>
            </a:extLst>
          </p:cNvPr>
          <p:cNvSpPr>
            <a:spLocks xmlns:a="http://schemas.openxmlformats.org/drawingml/2006/main" noGrp="1"/>
          </p:cNvSpPr>
          <p:nvPr/>
        </p:nvSpPr>
        <p:spPr>
          <a:xfrm xmlns:a="http://schemas.openxmlformats.org/drawingml/2006/main" rot="5400000">
            <a:off x="9448800" y="4781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5" name="!!clientDoc">
            <a:extLst xmlns:a="http://schemas.openxmlformats.org/drawingml/2006/main">
              <a:ext uri="{FF2B5EF4-FFF2-40B4-BE49-F238E27FC236}">
                <a16:creationId xmlns:a16="http://schemas.microsoft.com/office/drawing/2014/main" id="{58AEBADF-E217-47D3-AF0D-40719CFD9546}"/>
              </a:ext>
            </a:extLst>
          </p:cNvPr>
          <p:cNvSpPr>
            <a:spLocks xmlns:a="http://schemas.openxmlformats.org/drawingml/2006/main" noGrp="1"/>
          </p:cNvSpPr>
          <p:nvPr/>
        </p:nvSpPr>
        <p:spPr>
          <a:xfrm xmlns:a="http://schemas.openxmlformats.org/drawingml/2006/main">
            <a:off x="9601200" y="2333625"/>
            <a:ext cx="4991100" cy="4857750"/>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46" name="!!clientDoc.title">
            <a:extLst xmlns:a="http://schemas.openxmlformats.org/drawingml/2006/main">
              <a:ext uri="{FF2B5EF4-FFF2-40B4-BE49-F238E27FC236}">
                <a16:creationId xmlns:a16="http://schemas.microsoft.com/office/drawing/2014/main" id="{1E2185E9-5AB3-4BD7-BD38-5B6DE7D09F0B}"/>
              </a:ext>
            </a:extLst>
          </p:cNvPr>
          <p:cNvSpPr>
            <a:spLocks xmlns:a="http://schemas.openxmlformats.org/drawingml/2006/main" noGrp="1"/>
          </p:cNvSpPr>
          <p:nvPr/>
        </p:nvSpPr>
        <p:spPr>
          <a:xfrm xmlns:a="http://schemas.openxmlformats.org/drawingml/2006/main">
            <a:off x="9829800" y="2514600"/>
            <a:ext cx="3990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363A6"/>
                </a:solidFill>
                <a:latin typeface="Arial"/>
                <a:ea typeface="Arial"/>
                <a:cs typeface="Arial"/>
              </a:defRPr>
            </a:defPPr>
            <a:lvl1pPr algn="l">
              <a:defRPr sz="1950" b="1">
                <a:solidFill>
                  <a:srgbClr val="7363A6"/>
                </a:solidFill>
                <a:latin typeface="Arial"/>
                <a:ea typeface="Arial"/>
                <a:cs typeface="Arial"/>
              </a:defRPr>
            </a:lvl1pPr>
            <a:lvl2pPr algn="l">
              <a:defRPr sz="1950" b="1">
                <a:solidFill>
                  <a:srgbClr val="7363A6"/>
                </a:solidFill>
                <a:latin typeface="Arial"/>
                <a:ea typeface="Arial"/>
                <a:cs typeface="Arial"/>
              </a:defRPr>
            </a:lvl2pPr>
            <a:lvl3pPr algn="l">
              <a:defRPr sz="1950" b="1">
                <a:solidFill>
                  <a:srgbClr val="7363A6"/>
                </a:solidFill>
                <a:latin typeface="Arial"/>
                <a:ea typeface="Arial"/>
                <a:cs typeface="Arial"/>
              </a:defRPr>
            </a:lvl3pPr>
            <a:lvl4pPr algn="l">
              <a:defRPr sz="1950" b="1">
                <a:solidFill>
                  <a:srgbClr val="7363A6"/>
                </a:solidFill>
                <a:latin typeface="Arial"/>
                <a:ea typeface="Arial"/>
                <a:cs typeface="Arial"/>
              </a:defRPr>
            </a:lvl4pPr>
            <a:lvl5pPr algn="l">
              <a:defRPr sz="1950" b="1">
                <a:solidFill>
                  <a:srgbClr val="7363A6"/>
                </a:solidFill>
                <a:latin typeface="Arial"/>
                <a:ea typeface="Arial"/>
                <a:cs typeface="Arial"/>
              </a:defRPr>
            </a:lvl5pPr>
            <a:lvl6pPr algn="l">
              <a:defRPr sz="1950" b="1">
                <a:solidFill>
                  <a:srgbClr val="7363A6"/>
                </a:solidFill>
                <a:latin typeface="Arial"/>
                <a:ea typeface="Arial"/>
                <a:cs typeface="Arial"/>
              </a:defRPr>
            </a:lvl6pPr>
            <a:lvl7pPr algn="l">
              <a:defRPr sz="1950" b="1">
                <a:solidFill>
                  <a:srgbClr val="7363A6"/>
                </a:solidFill>
                <a:latin typeface="Arial"/>
                <a:ea typeface="Arial"/>
                <a:cs typeface="Arial"/>
              </a:defRPr>
            </a:lvl7pPr>
            <a:lvl8pPr algn="l">
              <a:defRPr sz="1950" b="1">
                <a:solidFill>
                  <a:srgbClr val="7363A6"/>
                </a:solidFill>
                <a:latin typeface="Arial"/>
                <a:ea typeface="Arial"/>
                <a:cs typeface="Arial"/>
              </a:defRPr>
            </a:lvl8pPr>
            <a:lvl9pPr algn="l">
              <a:defRPr sz="1950" b="1">
                <a:solidFill>
                  <a:srgbClr val="7363A6"/>
                </a:solidFill>
                <a:latin typeface="Arial"/>
                <a:ea typeface="Arial"/>
                <a:cs typeface="Arial"/>
              </a:defRPr>
            </a:lvl9pPr>
          </a:lstStyle>
          <a:p xmlns:a="http://schemas.openxmlformats.org/drawingml/2006/main">
            <a:pPr algn="l">
              <a:defRPr sz="1950" b="1">
                <a:solidFill>
                  <a:srgbClr val="7363A6"/>
                </a:solidFill>
                <a:latin typeface="Arial"/>
                <a:ea typeface="Arial"/>
                <a:cs typeface="Arial"/>
              </a:defRPr>
            </a:pPr>
            <a:r>
              <a:rPr sz="1950" b="1">
                <a:solidFill>
                  <a:srgbClr val="7363A6"/>
                </a:solidFill>
                <a:latin typeface="Arial"/>
                <a:ea typeface="Arial"/>
                <a:cs typeface="Arial"/>
              </a:rPr>
              <a:t>Quarterly client update</a:t>
            </a:r>
          </a:p>
        </p:txBody>
      </p:sp>
      <p:sp>
        <p:nvSpPr>
          <p:cNvPr id="47" name="!!clientDoc.version">
            <a:extLst xmlns:a="http://schemas.openxmlformats.org/drawingml/2006/main">
              <a:ext uri="{FF2B5EF4-FFF2-40B4-BE49-F238E27FC236}">
                <a16:creationId xmlns:a16="http://schemas.microsoft.com/office/drawing/2014/main" id="{C1131C4E-0ABF-43E1-B618-6D219ABB9AC7}"/>
              </a:ext>
            </a:extLst>
          </p:cNvPr>
          <p:cNvSpPr>
            <a:spLocks xmlns:a="http://schemas.openxmlformats.org/drawingml/2006/main" noGrp="1"/>
          </p:cNvSpPr>
          <p:nvPr/>
        </p:nvSpPr>
        <p:spPr>
          <a:xfrm xmlns:a="http://schemas.openxmlformats.org/drawingml/2006/main">
            <a:off x="13925550" y="25336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48" name="!!clientDoc.rule">
            <a:extLst xmlns:a="http://schemas.openxmlformats.org/drawingml/2006/main">
              <a:ext uri="{FF2B5EF4-FFF2-40B4-BE49-F238E27FC236}">
                <a16:creationId xmlns:a16="http://schemas.microsoft.com/office/drawing/2014/main" id="{57EC741D-1E4C-467C-ABE9-228368C1EA84}"/>
              </a:ext>
            </a:extLst>
          </p:cNvPr>
          <p:cNvSpPr>
            <a:spLocks xmlns:a="http://schemas.openxmlformats.org/drawingml/2006/main" noGrp="1"/>
          </p:cNvSpPr>
          <p:nvPr/>
        </p:nvSpPr>
        <p:spPr>
          <a:xfrm xmlns:a="http://schemas.openxmlformats.org/drawingml/2006/main" flipH="0" flipV="0">
            <a:off x="9829800" y="3057525"/>
            <a:ext cx="453390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49" name="!!clientDoc.highlight.product">
            <a:extLst xmlns:a="http://schemas.openxmlformats.org/drawingml/2006/main">
              <a:ext uri="{FF2B5EF4-FFF2-40B4-BE49-F238E27FC236}">
                <a16:creationId xmlns:a16="http://schemas.microsoft.com/office/drawing/2014/main" id="{9F1648BD-2BFE-4BA8-88F4-BA37CA43C1E8}"/>
              </a:ext>
            </a:extLst>
          </p:cNvPr>
          <p:cNvSpPr>
            <a:spLocks xmlns:a="http://schemas.openxmlformats.org/drawingml/2006/main" noGrp="1"/>
          </p:cNvSpPr>
          <p:nvPr/>
        </p:nvSpPr>
        <p:spPr>
          <a:xfrm xmlns:a="http://schemas.openxmlformats.org/drawingml/2006/main">
            <a:off x="9763125" y="3190875"/>
            <a:ext cx="4667250" cy="800100"/>
          </a:xfrm>
          <a:prstGeom xmlns:a="http://schemas.openxmlformats.org/drawingml/2006/main" prst="rect">
            <a:avLst/>
          </a:prstGeom>
          <a:noFill xmlns:a="http://schemas.openxmlformats.org/drawingml/2006/main"/>
          <a:ln xmlns:a="http://schemas.openxmlformats.org/drawingml/2006/main" w="0">
            <a:noFill/>
            <a:prstDash val="solid"/>
          </a:ln>
        </p:spPr>
      </p:sp>
      <p:sp>
        <p:nvSpPr>
          <p:cNvPr id="50" name="!!clientDoc.label.product">
            <a:extLst xmlns:a="http://schemas.openxmlformats.org/drawingml/2006/main">
              <a:ext uri="{FF2B5EF4-FFF2-40B4-BE49-F238E27FC236}">
                <a16:creationId xmlns:a16="http://schemas.microsoft.com/office/drawing/2014/main" id="{1D2BE08B-E7A9-4489-B0A4-2CF3B6479944}"/>
              </a:ext>
            </a:extLst>
          </p:cNvPr>
          <p:cNvSpPr>
            <a:spLocks xmlns:a="http://schemas.openxmlformats.org/drawingml/2006/main" noGrp="1"/>
          </p:cNvSpPr>
          <p:nvPr/>
        </p:nvSpPr>
        <p:spPr>
          <a:xfrm xmlns:a="http://schemas.openxmlformats.org/drawingml/2006/main">
            <a:off x="9839325" y="32480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Fund name</a:t>
            </a:r>
          </a:p>
        </p:txBody>
      </p:sp>
      <p:sp>
        <p:nvSpPr>
          <p:cNvPr id="51" name="!!clientDoc.value.product">
            <a:extLst xmlns:a="http://schemas.openxmlformats.org/drawingml/2006/main">
              <a:ext uri="{FF2B5EF4-FFF2-40B4-BE49-F238E27FC236}">
                <a16:creationId xmlns:a16="http://schemas.microsoft.com/office/drawing/2014/main" id="{C2692D49-4A8E-4D7D-A44B-75757F3CDB8C}"/>
              </a:ext>
            </a:extLst>
          </p:cNvPr>
          <p:cNvSpPr>
            <a:spLocks xmlns:a="http://schemas.openxmlformats.org/drawingml/2006/main" noGrp="1"/>
          </p:cNvSpPr>
          <p:nvPr/>
        </p:nvSpPr>
        <p:spPr>
          <a:xfrm xmlns:a="http://schemas.openxmlformats.org/drawingml/2006/main">
            <a:off x="9839325" y="35528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Product A Select</a:t>
            </a:r>
          </a:p>
        </p:txBody>
      </p:sp>
      <p:sp>
        <p:nvSpPr>
          <p:cNvPr id="52" name="!!clientDoc.highlight.period">
            <a:extLst xmlns:a="http://schemas.openxmlformats.org/drawingml/2006/main">
              <a:ext uri="{FF2B5EF4-FFF2-40B4-BE49-F238E27FC236}">
                <a16:creationId xmlns:a16="http://schemas.microsoft.com/office/drawing/2014/main" id="{C782B766-6860-423B-B08A-555C2A702FF6}"/>
              </a:ext>
            </a:extLst>
          </p:cNvPr>
          <p:cNvSpPr>
            <a:spLocks xmlns:a="http://schemas.openxmlformats.org/drawingml/2006/main" noGrp="1"/>
          </p:cNvSpPr>
          <p:nvPr/>
        </p:nvSpPr>
        <p:spPr>
          <a:xfrm xmlns:a="http://schemas.openxmlformats.org/drawingml/2006/main">
            <a:off x="9763125" y="3914775"/>
            <a:ext cx="4667250" cy="685800"/>
          </a:xfrm>
          <a:prstGeom xmlns:a="http://schemas.openxmlformats.org/drawingml/2006/main" prst="rect">
            <a:avLst/>
          </a:prstGeom>
          <a:noFill xmlns:a="http://schemas.openxmlformats.org/drawingml/2006/main"/>
          <a:ln xmlns:a="http://schemas.openxmlformats.org/drawingml/2006/main" w="0">
            <a:noFill/>
            <a:prstDash val="solid"/>
          </a:ln>
        </p:spPr>
      </p:sp>
      <p:sp>
        <p:nvSpPr>
          <p:cNvPr id="53" name="!!clientDoc.label.period">
            <a:extLst xmlns:a="http://schemas.openxmlformats.org/drawingml/2006/main">
              <a:ext uri="{FF2B5EF4-FFF2-40B4-BE49-F238E27FC236}">
                <a16:creationId xmlns:a16="http://schemas.microsoft.com/office/drawing/2014/main" id="{B7023388-DF9A-4D63-BC3F-DCFA821E3DF7}"/>
              </a:ext>
            </a:extLst>
          </p:cNvPr>
          <p:cNvSpPr>
            <a:spLocks xmlns:a="http://schemas.openxmlformats.org/drawingml/2006/main" noGrp="1"/>
          </p:cNvSpPr>
          <p:nvPr/>
        </p:nvSpPr>
        <p:spPr>
          <a:xfrm xmlns:a="http://schemas.openxmlformats.org/drawingml/2006/main">
            <a:off x="9839325" y="39719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Source version</a:t>
            </a:r>
          </a:p>
        </p:txBody>
      </p:sp>
      <p:sp>
        <p:nvSpPr>
          <p:cNvPr id="54" name="!!clientDoc.value.period">
            <a:extLst xmlns:a="http://schemas.openxmlformats.org/drawingml/2006/main">
              <a:ext uri="{FF2B5EF4-FFF2-40B4-BE49-F238E27FC236}">
                <a16:creationId xmlns:a16="http://schemas.microsoft.com/office/drawing/2014/main" id="{37B7FCEF-E018-405A-82DF-B7D304CEEFD0}"/>
              </a:ext>
            </a:extLst>
          </p:cNvPr>
          <p:cNvSpPr>
            <a:spLocks xmlns:a="http://schemas.openxmlformats.org/drawingml/2006/main" noGrp="1"/>
          </p:cNvSpPr>
          <p:nvPr/>
        </p:nvSpPr>
        <p:spPr>
          <a:xfrm xmlns:a="http://schemas.openxmlformats.org/drawingml/2006/main">
            <a:off x="9839325" y="4276725"/>
            <a:ext cx="4514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Q2 2026 product information, V1</a:t>
            </a:r>
          </a:p>
        </p:txBody>
      </p:sp>
      <p:sp>
        <p:nvSpPr>
          <p:cNvPr id="55" name="!!clientDoc.highlight.view">
            <a:extLst xmlns:a="http://schemas.openxmlformats.org/drawingml/2006/main">
              <a:ext uri="{FF2B5EF4-FFF2-40B4-BE49-F238E27FC236}">
                <a16:creationId xmlns:a16="http://schemas.microsoft.com/office/drawing/2014/main" id="{CF4806FB-E7CA-4DAF-A03A-31579F43134F}"/>
              </a:ext>
            </a:extLst>
          </p:cNvPr>
          <p:cNvSpPr>
            <a:spLocks xmlns:a="http://schemas.openxmlformats.org/drawingml/2006/main" noGrp="1"/>
          </p:cNvSpPr>
          <p:nvPr/>
        </p:nvSpPr>
        <p:spPr>
          <a:xfrm xmlns:a="http://schemas.openxmlformats.org/drawingml/2006/main">
            <a:off x="9763125" y="4638675"/>
            <a:ext cx="4667250" cy="1419225"/>
          </a:xfrm>
          <a:prstGeom xmlns:a="http://schemas.openxmlformats.org/drawingml/2006/main" prst="rect">
            <a:avLst/>
          </a:prstGeom>
          <a:noFill xmlns:a="http://schemas.openxmlformats.org/drawingml/2006/main"/>
          <a:ln xmlns:a="http://schemas.openxmlformats.org/drawingml/2006/main" w="0">
            <a:noFill/>
            <a:prstDash val="solid"/>
          </a:ln>
        </p:spPr>
      </p:sp>
      <p:sp>
        <p:nvSpPr>
          <p:cNvPr id="56" name="!!clientDoc.label.view">
            <a:extLst xmlns:a="http://schemas.openxmlformats.org/drawingml/2006/main">
              <a:ext uri="{FF2B5EF4-FFF2-40B4-BE49-F238E27FC236}">
                <a16:creationId xmlns:a16="http://schemas.microsoft.com/office/drawing/2014/main" id="{0FCF63BB-A1F7-420D-BCEC-8C474987E5A3}"/>
              </a:ext>
            </a:extLst>
          </p:cNvPr>
          <p:cNvSpPr>
            <a:spLocks xmlns:a="http://schemas.openxmlformats.org/drawingml/2006/main" noGrp="1"/>
          </p:cNvSpPr>
          <p:nvPr/>
        </p:nvSpPr>
        <p:spPr>
          <a:xfrm xmlns:a="http://schemas.openxmlformats.org/drawingml/2006/main">
            <a:off x="9839325" y="469582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Investment view</a:t>
            </a:r>
          </a:p>
        </p:txBody>
      </p:sp>
      <p:sp>
        <p:nvSpPr>
          <p:cNvPr id="57" name="!!clientDoc.value.view">
            <a:extLst xmlns:a="http://schemas.openxmlformats.org/drawingml/2006/main">
              <a:ext uri="{FF2B5EF4-FFF2-40B4-BE49-F238E27FC236}">
                <a16:creationId xmlns:a16="http://schemas.microsoft.com/office/drawing/2014/main" id="{8538DEFB-599E-44A8-A65E-B146DF2E259B}"/>
              </a:ext>
            </a:extLst>
          </p:cNvPr>
          <p:cNvSpPr>
            <a:spLocks xmlns:a="http://schemas.openxmlformats.org/drawingml/2006/main" noGrp="1"/>
          </p:cNvSpPr>
          <p:nvPr/>
        </p:nvSpPr>
        <p:spPr>
          <a:xfrm xmlns:a="http://schemas.openxmlformats.org/drawingml/2006/main">
            <a:off x="9839325" y="5000625"/>
            <a:ext cx="4514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Higher sales volumes drove Company A’s revenue growth.</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We are monitoring raw-material costs.</a:t>
            </a:r>
          </a:p>
        </p:txBody>
      </p:sp>
      <p:sp>
        <p:nvSpPr>
          <p:cNvPr id="58" name="!!clientDoc.highlight.risk">
            <a:extLst xmlns:a="http://schemas.openxmlformats.org/drawingml/2006/main">
              <a:ext uri="{FF2B5EF4-FFF2-40B4-BE49-F238E27FC236}">
                <a16:creationId xmlns:a16="http://schemas.microsoft.com/office/drawing/2014/main" id="{1D1B7180-421A-46E0-A0AD-328C788FC87F}"/>
              </a:ext>
            </a:extLst>
          </p:cNvPr>
          <p:cNvSpPr>
            <a:spLocks xmlns:a="http://schemas.openxmlformats.org/drawingml/2006/main" noGrp="1"/>
          </p:cNvSpPr>
          <p:nvPr/>
        </p:nvSpPr>
        <p:spPr>
          <a:xfrm xmlns:a="http://schemas.openxmlformats.org/drawingml/2006/main">
            <a:off x="9763125" y="6143625"/>
            <a:ext cx="4667250" cy="981075"/>
          </a:xfrm>
          <a:prstGeom xmlns:a="http://schemas.openxmlformats.org/drawingml/2006/main" prst="rect">
            <a:avLst/>
          </a:prstGeom>
          <a:noFill xmlns:a="http://schemas.openxmlformats.org/drawingml/2006/main"/>
          <a:ln xmlns:a="http://schemas.openxmlformats.org/drawingml/2006/main" w="0">
            <a:noFill/>
            <a:prstDash val="solid"/>
          </a:ln>
        </p:spPr>
      </p:sp>
      <p:sp>
        <p:nvSpPr>
          <p:cNvPr id="59" name="!!clientDoc.label.risk">
            <a:extLst xmlns:a="http://schemas.openxmlformats.org/drawingml/2006/main">
              <a:ext uri="{FF2B5EF4-FFF2-40B4-BE49-F238E27FC236}">
                <a16:creationId xmlns:a16="http://schemas.microsoft.com/office/drawing/2014/main" id="{1F207918-9FA1-474E-A2A7-D30D25B14DF5}"/>
              </a:ext>
            </a:extLst>
          </p:cNvPr>
          <p:cNvSpPr>
            <a:spLocks xmlns:a="http://schemas.openxmlformats.org/drawingml/2006/main" noGrp="1"/>
          </p:cNvSpPr>
          <p:nvPr/>
        </p:nvSpPr>
        <p:spPr>
          <a:xfrm xmlns:a="http://schemas.openxmlformats.org/drawingml/2006/main">
            <a:off x="9839325" y="6200775"/>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Risk disclosure</a:t>
            </a:r>
          </a:p>
        </p:txBody>
      </p:sp>
      <p:sp>
        <p:nvSpPr>
          <p:cNvPr id="60" name="!!clientDoc.value.risk">
            <a:extLst xmlns:a="http://schemas.openxmlformats.org/drawingml/2006/main">
              <a:ext uri="{FF2B5EF4-FFF2-40B4-BE49-F238E27FC236}">
                <a16:creationId xmlns:a16="http://schemas.microsoft.com/office/drawing/2014/main" id="{7F1738FC-A5C3-40C1-939C-769FF69EA3C9}"/>
              </a:ext>
            </a:extLst>
          </p:cNvPr>
          <p:cNvSpPr>
            <a:spLocks xmlns:a="http://schemas.openxmlformats.org/drawingml/2006/main" noGrp="1"/>
          </p:cNvSpPr>
          <p:nvPr/>
        </p:nvSpPr>
        <p:spPr>
          <a:xfrm xmlns:a="http://schemas.openxmlformats.org/drawingml/2006/main">
            <a:off x="9839325" y="6505575"/>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Investing involves risk.</a:t>
            </a:r>
          </a:p>
        </p:txBody>
      </p:sp>
      <p:sp>
        <p:nvSpPr>
          <p:cNvPr id="61" name="!!client.user">
            <a:extLst xmlns:a="http://schemas.openxmlformats.org/drawingml/2006/main">
              <a:ext uri="{FF2B5EF4-FFF2-40B4-BE49-F238E27FC236}">
                <a16:creationId xmlns:a16="http://schemas.microsoft.com/office/drawing/2014/main" id="{0B5C9FEC-FE58-4A9A-9352-7701C5568669}"/>
              </a:ext>
            </a:extLst>
          </p:cNvPr>
          <p:cNvSpPr>
            <a:spLocks xmlns:a="http://schemas.openxmlformats.org/drawingml/2006/main" noGrp="1"/>
          </p:cNvSpPr>
          <p:nvPr/>
        </p:nvSpPr>
        <p:spPr>
          <a:xfrm xmlns:a="http://schemas.openxmlformats.org/drawingml/2006/main">
            <a:off x="4057650" y="7172325"/>
            <a:ext cx="1053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client team checks the investment view and submits V1 for review.</a:t>
            </a:r>
          </a:p>
        </p:txBody>
      </p:sp>
      <p:sp>
        <p:nvSpPr>
          <p:cNvPr id="63" name="!!story.header.client.bar">
            <a:extLst xmlns:a="http://schemas.openxmlformats.org/drawingml/2006/main">
              <a:ext uri="{FF2B5EF4-FFF2-40B4-BE49-F238E27FC236}">
                <a16:creationId xmlns:a16="http://schemas.microsoft.com/office/drawing/2014/main" id="{EE322A86-39FD-46BB-A052-D1842D43B102}"/>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4" name="!!story.header.client.name">
            <a:extLst xmlns:a="http://schemas.openxmlformats.org/drawingml/2006/main">
              <a:ext uri="{FF2B5EF4-FFF2-40B4-BE49-F238E27FC236}">
                <a16:creationId xmlns:a16="http://schemas.microsoft.com/office/drawing/2014/main" id="{8F8F22ED-DF58-44BF-9A11-37AAC8BE7D3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65" name="!!story.header.client.qualifier">
            <a:extLst xmlns:a="http://schemas.openxmlformats.org/drawingml/2006/main">
              <a:ext uri="{FF2B5EF4-FFF2-40B4-BE49-F238E27FC236}">
                <a16:creationId xmlns:a16="http://schemas.microsoft.com/office/drawing/2014/main" id="{968F33F3-16DE-44A9-B196-E556EE39EC9F}"/>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Draft V1</a:t>
            </a:r>
          </a:p>
        </p:txBody>
      </p:sp>
      <p:sp>
        <p:nvSpPr>
          <p:cNvPr id="66" name="!!story.client.document">
            <a:extLst xmlns:a="http://schemas.openxmlformats.org/drawingml/2006/main">
              <a:ext uri="{FF2B5EF4-FFF2-40B4-BE49-F238E27FC236}">
                <a16:creationId xmlns:a16="http://schemas.microsoft.com/office/drawing/2014/main" id="{D495DBE1-CA66-4A05-8201-CA2FB6AA9C53}"/>
              </a:ext>
            </a:extLst>
          </p:cNvPr>
          <p:cNvSpPr>
            <a:spLocks xmlns:a="http://schemas.openxmlformats.org/drawingml/2006/main" noGrp="1"/>
          </p:cNvSpPr>
          <p:nvPr/>
        </p:nvSpPr>
        <p:spPr>
          <a:xfrm xmlns:a="http://schemas.openxmlformats.org/drawingml/2006/main">
            <a:off x="954405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1856962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5"/>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6"/>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7"/>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9"/>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50"/>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51"/>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53"/>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54"/>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55"/>
                                  </p:tgtEl>
                                  <p:attrNameLst>
                                    <p:attrName>style.visibility</p:attrName>
                                  </p:attrNameLst>
                                </p:cBhvr>
                                <p:to>
                                  <p:strVal val="visible"/>
                                </p:to>
                              </p:set>
                            </p:childTnLst>
                          </p:cTn>
                        </p:par>
                        <p:par>
                          <p:cTn id="26" presetID="1" presetClass="entr" presetSubtype="0" fill="hold" nodeType="withEffect" grpId="0">
                            <p:stCondLst>
                              <p:cond delay="150"/>
                            </p:stCondLst>
                            <p:childTnLst>
                              <p:set>
                                <p:cBhvr>
                                  <p:cTn id="27" dur="1" fill="hold">
                                    <p:stCondLst>
                                      <p:cond delay="0"/>
                                    </p:stCondLst>
                                  </p:cTn>
                                  <p:tgtEl>
                                    <p:spTgt spid="56"/>
                                  </p:tgtEl>
                                  <p:attrNameLst>
                                    <p:attrName>style.visibility</p:attrName>
                                  </p:attrNameLst>
                                </p:cBhvr>
                                <p:to>
                                  <p:strVal val="visible"/>
                                </p:to>
                              </p:set>
                            </p:childTnLst>
                          </p:cTn>
                        </p:par>
                        <p:par>
                          <p:cTn id="28" presetID="1" presetClass="entr" presetSubtype="0" fill="hold" nodeType="withEffect" grpId="0">
                            <p:stCondLst>
                              <p:cond delay="150"/>
                            </p:stCondLst>
                            <p:childTnLst>
                              <p:set>
                                <p:cBhvr>
                                  <p:cTn id="29" dur="1" fill="hold">
                                    <p:stCondLst>
                                      <p:cond delay="0"/>
                                    </p:stCondLst>
                                  </p:cTn>
                                  <p:tgtEl>
                                    <p:spTgt spid="57"/>
                                  </p:tgtEl>
                                  <p:attrNameLst>
                                    <p:attrName>style.visibility</p:attrName>
                                  </p:attrNameLst>
                                </p:cBhvr>
                                <p:to>
                                  <p:strVal val="visible"/>
                                </p:to>
                              </p:set>
                            </p:childTnLst>
                          </p:cTn>
                        </p:par>
                        <p:par>
                          <p:cTn id="30" presetID="1" presetClass="entr" presetSubtype="0" fill="hold" nodeType="withEffect" grpId="0">
                            <p:stCondLst>
                              <p:cond delay="150"/>
                            </p:stCondLst>
                            <p:childTnLst>
                              <p:set>
                                <p:cBhvr>
                                  <p:cTn id="31" dur="1" fill="hold">
                                    <p:stCondLst>
                                      <p:cond delay="0"/>
                                    </p:stCondLst>
                                  </p:cTn>
                                  <p:tgtEl>
                                    <p:spTgt spid="58"/>
                                  </p:tgtEl>
                                  <p:attrNameLst>
                                    <p:attrName>style.visibility</p:attrName>
                                  </p:attrNameLst>
                                </p:cBhvr>
                                <p:to>
                                  <p:strVal val="visible"/>
                                </p:to>
                              </p:set>
                            </p:childTnLst>
                          </p:cTn>
                        </p:par>
                        <p:par>
                          <p:cTn id="32" presetID="1" presetClass="entr" presetSubtype="0" fill="hold" nodeType="withEffect" grpId="0">
                            <p:stCondLst>
                              <p:cond delay="150"/>
                            </p:stCondLst>
                            <p:childTnLst>
                              <p:set>
                                <p:cBhvr>
                                  <p:cTn id="33" dur="1" fill="hold">
                                    <p:stCondLst>
                                      <p:cond delay="0"/>
                                    </p:stCondLst>
                                  </p:cTn>
                                  <p:tgtEl>
                                    <p:spTgt spid="59"/>
                                  </p:tgtEl>
                                  <p:attrNameLst>
                                    <p:attrName>style.visibility</p:attrName>
                                  </p:attrNameLst>
                                </p:cBhvr>
                                <p:to>
                                  <p:strVal val="visible"/>
                                </p:to>
                              </p:set>
                            </p:childTnLst>
                          </p:cTn>
                        </p:par>
                        <p:par>
                          <p:cTn id="34" presetID="1" presetClass="entr" presetSubtype="0" fill="hold" nodeType="withEffect" grpId="0">
                            <p:stCondLst>
                              <p:cond delay="150"/>
                            </p:stCondLst>
                            <p:childTnLst>
                              <p:set>
                                <p:cBhvr>
                                  <p:cTn id="35" dur="1" fill="hold">
                                    <p:stCondLst>
                                      <p:cond delay="0"/>
                                    </p:stCondLst>
                                  </p:cTn>
                                  <p:tgtEl>
                                    <p:spTgt spid="60"/>
                                  </p:tgtEl>
                                  <p:attrNameLst>
                                    <p:attrName>style.visibility</p:attrName>
                                  </p:attrNameLst>
                                </p:cBhvr>
                                <p:to>
                                  <p:strVal val="visible"/>
                                </p:to>
                              </p:set>
                            </p:childTnLst>
                          </p:cTn>
                        </p:par>
                        <p:par>
                          <p:cTn id="36" presetID="1" presetClass="entr" presetSubtype="0" fill="hold" nodeType="withEffect" grpId="0">
                            <p:stCondLst>
                              <p:cond delay="150"/>
                            </p:stCondLst>
                            <p:childTnLst>
                              <p:set>
                                <p:cBhvr>
                                  <p:cTn id="37" dur="1" fill="hold">
                                    <p:stCondLst>
                                      <p:cond delay="0"/>
                                    </p:stCondLst>
                                  </p:cTn>
                                  <p:tgtEl>
                                    <p:spTgt spid="6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6" grpId="0" animBg="1"/>
    </p:bld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7E658B29-F205-4A06-9304-F848A3E40D7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Reviewing client communications</a:t>
            </a:r>
          </a:p>
        </p:txBody>
      </p:sp>
      <p:sp>
        <p:nvSpPr>
          <p:cNvPr id="2" name="!!subtitle">
            <a:extLst xmlns:a="http://schemas.openxmlformats.org/drawingml/2006/main">
              <a:ext uri="{FF2B5EF4-FFF2-40B4-BE49-F238E27FC236}">
                <a16:creationId xmlns:a16="http://schemas.microsoft.com/office/drawing/2014/main" id="{CCFAD4E6-ECB7-4FAB-AC84-F2CDAE8DD771}"/>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Client-material review  /  Current workflow</a:t>
            </a:r>
          </a:p>
        </p:txBody>
      </p:sp>
      <p:sp>
        <p:nvSpPr>
          <p:cNvPr id="3" name="!!heading.rule">
            <a:extLst xmlns:a="http://schemas.openxmlformats.org/drawingml/2006/main">
              <a:ext uri="{FF2B5EF4-FFF2-40B4-BE49-F238E27FC236}">
                <a16:creationId xmlns:a16="http://schemas.microsoft.com/office/drawing/2014/main" id="{5AE11FDC-0BCF-4578-BB6A-8B290FAC497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4FA90C64-3369-4437-9306-6F6E4F566F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D73152BF-916F-4642-92A8-A5BB8B805DC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50CF1C70-96D3-45A1-9628-9ABDE2736F9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2F6B5B95-B986-40B2-AC01-3F5B61C0F44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F9FD4E68-CCFE-4BFA-8A5D-3F0DFF71244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8ED7524-B4E6-4FF5-A9D1-453CE8797377}"/>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D50FC6-DC3C-4BB4-B186-EC5383ADE487}"/>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E38D31E-D7DA-4B21-A05E-D420C215657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567C91A1-051D-4A90-9A8A-7CF05ADD1EB3}"/>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8B2CCB9-C8BE-4C69-9E56-7ABCAB5C305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C6359B5-C84B-4F37-BD27-ABE7543F2748}"/>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824BEC7-68B8-43C7-8BEB-FB28BD758DC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CE697F42-CAB1-4785-A3EB-63230F6434B3}"/>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F3CEB9A-D6ED-4179-8632-56D9563AE42A}"/>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7BA864A-7B9A-4C01-8328-239625C89347}"/>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9F82C12-2C40-405A-9948-77EBFD3E7A76}"/>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6666F66-7C9F-4241-95AA-56B0817636B0}"/>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16 / 33</a:t>
            </a:r>
          </a:p>
        </p:txBody>
      </p:sp>
      <p:sp>
        <p:nvSpPr>
          <p:cNvPr id="21" name="!!nav.prev">
            <ns0:hlinkClick xmlns:ns0="http://schemas.openxmlformats.org/drawingml/2006/main" xmlns:ns1="http://schemas.openxmlformats.org/officeDocument/2006/relationships" ns1:id="rIdNavSlide15" action="ppaction://hlinksldjump" tooltip="Slide 15: Proposed application: drafting client updates"/>
            <a:extLst xmlns:a="http://schemas.openxmlformats.org/drawingml/2006/main">
              <a:ext uri="{FF2B5EF4-FFF2-40B4-BE49-F238E27FC236}">
                <a16:creationId xmlns:a16="http://schemas.microsoft.com/office/drawing/2014/main" id="{FD2129C9-DE89-4F26-AAB6-0E3EA98F3226}"/>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7" action="ppaction://hlinksldjump" tooltip="Slide 17: Penghua and Yingmi: reviewing client materials"/>
            <a:extLst xmlns:a="http://schemas.openxmlformats.org/drawingml/2006/main">
              <a:ext uri="{FF2B5EF4-FFF2-40B4-BE49-F238E27FC236}">
                <a16:creationId xmlns:a16="http://schemas.microsoft.com/office/drawing/2014/main" id="{B8E73685-5412-4EEF-A6DE-D857841528E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11572F2-CD5C-46FC-9C3D-497AC35453E8}"/>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8574517-8CDA-4D7F-AE33-C78F03A05370}"/>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clientDoc">
            <a:extLst xmlns:a="http://schemas.openxmlformats.org/drawingml/2006/main">
              <a:ext uri="{FF2B5EF4-FFF2-40B4-BE49-F238E27FC236}">
                <a16:creationId xmlns:a16="http://schemas.microsoft.com/office/drawing/2014/main" id="{50DA74F6-64AD-4CA8-8E8A-BF486C9E70DE}"/>
              </a:ext>
            </a:extLst>
          </p:cNvPr>
          <p:cNvSpPr>
            <a:spLocks xmlns:a="http://schemas.openxmlformats.org/drawingml/2006/main" noGrp="1"/>
          </p:cNvSpPr>
          <p:nvPr/>
        </p:nvSpPr>
        <p:spPr>
          <a:xfrm xmlns:a="http://schemas.openxmlformats.org/drawingml/2006/main">
            <a:off x="4057650" y="2752725"/>
            <a:ext cx="6572250" cy="4143375"/>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5A8F06E9-07E4-4C5B-8A35-840C1357A1AE}"/>
              </a:ext>
            </a:extLst>
          </p:cNvPr>
          <p:cNvSpPr>
            <a:spLocks xmlns:a="http://schemas.openxmlformats.org/drawingml/2006/main" noGrp="1"/>
          </p:cNvSpPr>
          <p:nvPr/>
        </p:nvSpPr>
        <p:spPr>
          <a:xfrm xmlns:a="http://schemas.openxmlformats.org/drawingml/2006/main">
            <a:off x="4286250" y="29337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EE4EE992-D917-486E-BCDA-6BB8A0BCB284}"/>
              </a:ext>
            </a:extLst>
          </p:cNvPr>
          <p:cNvSpPr>
            <a:spLocks xmlns:a="http://schemas.openxmlformats.org/drawingml/2006/main" noGrp="1"/>
          </p:cNvSpPr>
          <p:nvPr/>
        </p:nvSpPr>
        <p:spPr>
          <a:xfrm xmlns:a="http://schemas.openxmlformats.org/drawingml/2006/main">
            <a:off x="9963150" y="29527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F34F4228-7FF7-45C7-8696-90BDE557B943}"/>
              </a:ext>
            </a:extLst>
          </p:cNvPr>
          <p:cNvSpPr>
            <a:spLocks xmlns:a="http://schemas.openxmlformats.org/drawingml/2006/main" noGrp="1"/>
          </p:cNvSpPr>
          <p:nvPr/>
        </p:nvSpPr>
        <p:spPr>
          <a:xfrm xmlns:a="http://schemas.openxmlformats.org/drawingml/2006/main" flipH="0" flipV="0">
            <a:off x="4286250" y="3476625"/>
            <a:ext cx="61150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925ABD82-0AC8-4D9B-8A39-2EAD60690497}"/>
              </a:ext>
            </a:extLst>
          </p:cNvPr>
          <p:cNvSpPr>
            <a:spLocks xmlns:a="http://schemas.openxmlformats.org/drawingml/2006/main" noGrp="1"/>
          </p:cNvSpPr>
          <p:nvPr/>
        </p:nvSpPr>
        <p:spPr>
          <a:xfrm xmlns:a="http://schemas.openxmlformats.org/drawingml/2006/main">
            <a:off x="5610225" y="3676650"/>
            <a:ext cx="4791075" cy="466725"/>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9A01D067-61F7-4734-A1FF-7A278B04FB45}"/>
              </a:ext>
            </a:extLst>
          </p:cNvPr>
          <p:cNvSpPr>
            <a:spLocks xmlns:a="http://schemas.openxmlformats.org/drawingml/2006/main" noGrp="1"/>
          </p:cNvSpPr>
          <p:nvPr/>
        </p:nvSpPr>
        <p:spPr>
          <a:xfrm xmlns:a="http://schemas.openxmlformats.org/drawingml/2006/main">
            <a:off x="4286250" y="37242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176354F8-4B46-42E0-8BB4-85D2FD24D96A}"/>
              </a:ext>
            </a:extLst>
          </p:cNvPr>
          <p:cNvSpPr>
            <a:spLocks xmlns:a="http://schemas.openxmlformats.org/drawingml/2006/main" noGrp="1"/>
          </p:cNvSpPr>
          <p:nvPr/>
        </p:nvSpPr>
        <p:spPr>
          <a:xfrm xmlns:a="http://schemas.openxmlformats.org/drawingml/2006/main">
            <a:off x="5695950" y="372427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75234A16-D676-4AAE-9BBB-4814AC910048}"/>
              </a:ext>
            </a:extLst>
          </p:cNvPr>
          <p:cNvSpPr>
            <a:spLocks xmlns:a="http://schemas.openxmlformats.org/drawingml/2006/main" noGrp="1"/>
          </p:cNvSpPr>
          <p:nvPr/>
        </p:nvSpPr>
        <p:spPr>
          <a:xfrm xmlns:a="http://schemas.openxmlformats.org/drawingml/2006/main">
            <a:off x="5610225" y="4267200"/>
            <a:ext cx="4791075" cy="466725"/>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F9B27FA4-3C19-4E6E-900B-38B9EC90371E}"/>
              </a:ext>
            </a:extLst>
          </p:cNvPr>
          <p:cNvSpPr>
            <a:spLocks xmlns:a="http://schemas.openxmlformats.org/drawingml/2006/main" noGrp="1"/>
          </p:cNvSpPr>
          <p:nvPr/>
        </p:nvSpPr>
        <p:spPr>
          <a:xfrm xmlns:a="http://schemas.openxmlformats.org/drawingml/2006/main">
            <a:off x="4286250" y="431482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Source</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14397D61-D363-446C-B9A1-4131A27D8AC3}"/>
              </a:ext>
            </a:extLst>
          </p:cNvPr>
          <p:cNvSpPr>
            <a:spLocks xmlns:a="http://schemas.openxmlformats.org/drawingml/2006/main" noGrp="1"/>
          </p:cNvSpPr>
          <p:nvPr/>
        </p:nvSpPr>
        <p:spPr>
          <a:xfrm xmlns:a="http://schemas.openxmlformats.org/drawingml/2006/main">
            <a:off x="5695950" y="431482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A3ACC771-B0BA-437F-BA3D-E1F1827C909A}"/>
              </a:ext>
            </a:extLst>
          </p:cNvPr>
          <p:cNvSpPr>
            <a:spLocks xmlns:a="http://schemas.openxmlformats.org/drawingml/2006/main" noGrp="1"/>
          </p:cNvSpPr>
          <p:nvPr/>
        </p:nvSpPr>
        <p:spPr>
          <a:xfrm xmlns:a="http://schemas.openxmlformats.org/drawingml/2006/main">
            <a:off x="5610225" y="4857750"/>
            <a:ext cx="4791075" cy="8763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19C42D5E-C8B8-4925-A5D2-A9E8444B465F}"/>
              </a:ext>
            </a:extLst>
          </p:cNvPr>
          <p:cNvSpPr>
            <a:spLocks xmlns:a="http://schemas.openxmlformats.org/drawingml/2006/main" noGrp="1"/>
          </p:cNvSpPr>
          <p:nvPr/>
        </p:nvSpPr>
        <p:spPr>
          <a:xfrm xmlns:a="http://schemas.openxmlformats.org/drawingml/2006/main">
            <a:off x="4286250" y="490537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Investment view</a:t>
            </a:r>
          </a:p>
        </p:txBody>
      </p:sp>
      <p:sp>
        <p:nvSpPr>
          <p:cNvPr id="37" name="!!clientDoc.value.view">
            <a:extLst xmlns:a="http://schemas.openxmlformats.org/drawingml/2006/main">
              <a:ext uri="{FF2B5EF4-FFF2-40B4-BE49-F238E27FC236}">
                <a16:creationId xmlns:a16="http://schemas.microsoft.com/office/drawing/2014/main" id="{AF73DA82-3876-488E-B199-A21E8429F7F5}"/>
              </a:ext>
            </a:extLst>
          </p:cNvPr>
          <p:cNvSpPr>
            <a:spLocks xmlns:a="http://schemas.openxmlformats.org/drawingml/2006/main" noGrp="1"/>
          </p:cNvSpPr>
          <p:nvPr/>
        </p:nvSpPr>
        <p:spPr>
          <a:xfrm xmlns:a="http://schemas.openxmlformats.org/drawingml/2006/main">
            <a:off x="5695950" y="4905375"/>
            <a:ext cx="47053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Higher sales volumes drove Company A’s revenue growth.</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We are monitoring raw-material costs.</a:t>
            </a:r>
          </a:p>
        </p:txBody>
      </p:sp>
      <p:sp>
        <p:nvSpPr>
          <p:cNvPr id="38" name="!!clientDoc.highlight.risk">
            <a:extLst xmlns:a="http://schemas.openxmlformats.org/drawingml/2006/main">
              <a:ext uri="{FF2B5EF4-FFF2-40B4-BE49-F238E27FC236}">
                <a16:creationId xmlns:a16="http://schemas.microsoft.com/office/drawing/2014/main" id="{D7F28BC2-490E-4897-8BE8-C93D49201FE6}"/>
              </a:ext>
            </a:extLst>
          </p:cNvPr>
          <p:cNvSpPr>
            <a:spLocks xmlns:a="http://schemas.openxmlformats.org/drawingml/2006/main" noGrp="1"/>
          </p:cNvSpPr>
          <p:nvPr/>
        </p:nvSpPr>
        <p:spPr>
          <a:xfrm xmlns:a="http://schemas.openxmlformats.org/drawingml/2006/main">
            <a:off x="5610225" y="5886450"/>
            <a:ext cx="4791075" cy="771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8934F90F-27A8-497D-97E6-406D166CB3DD}"/>
              </a:ext>
            </a:extLst>
          </p:cNvPr>
          <p:cNvSpPr>
            <a:spLocks xmlns:a="http://schemas.openxmlformats.org/drawingml/2006/main" noGrp="1"/>
          </p:cNvSpPr>
          <p:nvPr/>
        </p:nvSpPr>
        <p:spPr>
          <a:xfrm xmlns:a="http://schemas.openxmlformats.org/drawingml/2006/main">
            <a:off x="4286250" y="59340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Risk</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C43992A0-3656-491C-A75E-055CE5065455}"/>
              </a:ext>
            </a:extLst>
          </p:cNvPr>
          <p:cNvSpPr>
            <a:spLocks xmlns:a="http://schemas.openxmlformats.org/drawingml/2006/main" noGrp="1"/>
          </p:cNvSpPr>
          <p:nvPr/>
        </p:nvSpPr>
        <p:spPr>
          <a:xfrm xmlns:a="http://schemas.openxmlformats.org/drawingml/2006/main">
            <a:off x="5695950" y="5934075"/>
            <a:ext cx="47053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Investing involves risk.</a:t>
            </a:r>
          </a:p>
        </p:txBody>
      </p:sp>
      <p:sp>
        <p:nvSpPr>
          <p:cNvPr id="41" name="!!review.reference.rule">
            <a:extLst xmlns:a="http://schemas.openxmlformats.org/drawingml/2006/main">
              <a:ext uri="{FF2B5EF4-FFF2-40B4-BE49-F238E27FC236}">
                <a16:creationId xmlns:a16="http://schemas.microsoft.com/office/drawing/2014/main" id="{F44955C5-22EF-448E-AABC-3112280B8D7C}"/>
              </a:ext>
            </a:extLst>
          </p:cNvPr>
          <p:cNvSpPr>
            <a:spLocks xmlns:a="http://schemas.openxmlformats.org/drawingml/2006/main" noGrp="1"/>
          </p:cNvSpPr>
          <p:nvPr/>
        </p:nvSpPr>
        <p:spPr>
          <a:xfrm xmlns:a="http://schemas.openxmlformats.org/drawingml/2006/main" flipH="0" flipV="0">
            <a:off x="11182350" y="2752725"/>
            <a:ext cx="3409950"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42" name="!!review.reference.label">
            <a:extLst xmlns:a="http://schemas.openxmlformats.org/drawingml/2006/main">
              <a:ext uri="{FF2B5EF4-FFF2-40B4-BE49-F238E27FC236}">
                <a16:creationId xmlns:a16="http://schemas.microsoft.com/office/drawing/2014/main" id="{6DCAE0E2-E816-463B-A03F-A57E6B310E55}"/>
              </a:ext>
            </a:extLst>
          </p:cNvPr>
          <p:cNvSpPr>
            <a:spLocks xmlns:a="http://schemas.openxmlformats.org/drawingml/2006/main" noGrp="1"/>
          </p:cNvSpPr>
          <p:nvPr/>
        </p:nvSpPr>
        <p:spPr>
          <a:xfrm xmlns:a="http://schemas.openxmlformats.org/drawingml/2006/main">
            <a:off x="11182350" y="284797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Current portfolio manager presentation</a:t>
            </a:r>
          </a:p>
        </p:txBody>
      </p:sp>
      <p:sp>
        <p:nvSpPr>
          <p:cNvPr id="43" name="!!review.reference.text">
            <a:extLst xmlns:a="http://schemas.openxmlformats.org/drawingml/2006/main">
              <a:ext uri="{FF2B5EF4-FFF2-40B4-BE49-F238E27FC236}">
                <a16:creationId xmlns:a16="http://schemas.microsoft.com/office/drawing/2014/main" id="{CE5B2548-5913-486A-9BF1-05F923C528FE}"/>
              </a:ext>
            </a:extLst>
          </p:cNvPr>
          <p:cNvSpPr>
            <a:spLocks xmlns:a="http://schemas.openxmlformats.org/drawingml/2006/main" noGrp="1"/>
          </p:cNvSpPr>
          <p:nvPr/>
        </p:nvSpPr>
        <p:spPr>
          <a:xfrm xmlns:a="http://schemas.openxmlformats.org/drawingml/2006/main">
            <a:off x="11182350" y="3457575"/>
            <a:ext cx="3409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“Channel restocking lifted sales volumes.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We are monitoring whether it will continue.”</a:t>
            </a:r>
          </a:p>
        </p:txBody>
      </p:sp>
      <p:sp>
        <p:nvSpPr>
          <p:cNvPr id="44" name="!!review.questions.title">
            <a:extLst xmlns:a="http://schemas.openxmlformats.org/drawingml/2006/main">
              <a:ext uri="{FF2B5EF4-FFF2-40B4-BE49-F238E27FC236}">
                <a16:creationId xmlns:a16="http://schemas.microsoft.com/office/drawing/2014/main" id="{ED9587BF-5449-40F6-8B9C-84576732C17E}"/>
              </a:ext>
            </a:extLst>
          </p:cNvPr>
          <p:cNvSpPr>
            <a:spLocks xmlns:a="http://schemas.openxmlformats.org/drawingml/2006/main" noGrp="1"/>
          </p:cNvSpPr>
          <p:nvPr/>
        </p:nvSpPr>
        <p:spPr>
          <a:xfrm xmlns:a="http://schemas.openxmlformats.org/drawingml/2006/main">
            <a:off x="11182350" y="4733925"/>
            <a:ext cx="340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5A9C"/>
                </a:solidFill>
                <a:latin typeface="Arial"/>
                <a:ea typeface="Arial"/>
                <a:cs typeface="Arial"/>
              </a:defRPr>
            </a:defPPr>
            <a:lvl1pPr algn="l">
              <a:defRPr sz="2100" b="1">
                <a:solidFill>
                  <a:srgbClr val="005A9C"/>
                </a:solidFill>
                <a:latin typeface="Arial"/>
                <a:ea typeface="Arial"/>
                <a:cs typeface="Arial"/>
              </a:defRPr>
            </a:lvl1pPr>
            <a:lvl2pPr algn="l">
              <a:defRPr sz="2100" b="1">
                <a:solidFill>
                  <a:srgbClr val="005A9C"/>
                </a:solidFill>
                <a:latin typeface="Arial"/>
                <a:ea typeface="Arial"/>
                <a:cs typeface="Arial"/>
              </a:defRPr>
            </a:lvl2pPr>
            <a:lvl3pPr algn="l">
              <a:defRPr sz="2100" b="1">
                <a:solidFill>
                  <a:srgbClr val="005A9C"/>
                </a:solidFill>
                <a:latin typeface="Arial"/>
                <a:ea typeface="Arial"/>
                <a:cs typeface="Arial"/>
              </a:defRPr>
            </a:lvl3pPr>
            <a:lvl4pPr algn="l">
              <a:defRPr sz="2100" b="1">
                <a:solidFill>
                  <a:srgbClr val="005A9C"/>
                </a:solidFill>
                <a:latin typeface="Arial"/>
                <a:ea typeface="Arial"/>
                <a:cs typeface="Arial"/>
              </a:defRPr>
            </a:lvl4pPr>
            <a:lvl5pPr algn="l">
              <a:defRPr sz="2100" b="1">
                <a:solidFill>
                  <a:srgbClr val="005A9C"/>
                </a:solidFill>
                <a:latin typeface="Arial"/>
                <a:ea typeface="Arial"/>
                <a:cs typeface="Arial"/>
              </a:defRPr>
            </a:lvl5pPr>
            <a:lvl6pPr algn="l">
              <a:defRPr sz="2100" b="1">
                <a:solidFill>
                  <a:srgbClr val="005A9C"/>
                </a:solidFill>
                <a:latin typeface="Arial"/>
                <a:ea typeface="Arial"/>
                <a:cs typeface="Arial"/>
              </a:defRPr>
            </a:lvl6pPr>
            <a:lvl7pPr algn="l">
              <a:defRPr sz="2100" b="1">
                <a:solidFill>
                  <a:srgbClr val="005A9C"/>
                </a:solidFill>
                <a:latin typeface="Arial"/>
                <a:ea typeface="Arial"/>
                <a:cs typeface="Arial"/>
              </a:defRPr>
            </a:lvl7pPr>
            <a:lvl8pPr algn="l">
              <a:defRPr sz="2100" b="1">
                <a:solidFill>
                  <a:srgbClr val="005A9C"/>
                </a:solidFill>
                <a:latin typeface="Arial"/>
                <a:ea typeface="Arial"/>
                <a:cs typeface="Arial"/>
              </a:defRPr>
            </a:lvl8pPr>
            <a:lvl9pPr algn="l">
              <a:defRPr sz="2100" b="1">
                <a:solidFill>
                  <a:srgbClr val="005A9C"/>
                </a:solidFill>
                <a:latin typeface="Arial"/>
                <a:ea typeface="Arial"/>
                <a:cs typeface="Arial"/>
              </a:defRPr>
            </a:lvl9pPr>
          </a:lstStyle>
          <a:p xmlns:a="http://schemas.openxmlformats.org/drawingml/2006/main">
            <a:pPr algn="l">
              <a:defRPr sz="2100" b="1">
                <a:solidFill>
                  <a:srgbClr val="005A9C"/>
                </a:solidFill>
                <a:latin typeface="Arial"/>
                <a:ea typeface="Arial"/>
                <a:cs typeface="Arial"/>
              </a:defRPr>
            </a:pPr>
            <a:r>
              <a:rPr sz="2100" b="1">
                <a:solidFill>
                  <a:srgbClr val="005A9C"/>
                </a:solidFill>
                <a:latin typeface="Arial"/>
                <a:ea typeface="Arial"/>
                <a:cs typeface="Arial"/>
              </a:rPr>
              <a:t>Review criteria</a:t>
            </a:r>
          </a:p>
        </p:txBody>
      </p:sp>
      <p:sp>
        <p:nvSpPr>
          <p:cNvPr id="45" name="!!review.questions">
            <a:extLst xmlns:a="http://schemas.openxmlformats.org/drawingml/2006/main">
              <a:ext uri="{FF2B5EF4-FFF2-40B4-BE49-F238E27FC236}">
                <a16:creationId xmlns:a16="http://schemas.microsoft.com/office/drawing/2014/main" id="{28094BD0-ED18-4893-8C9D-2F5124F3FFFE}"/>
              </a:ext>
            </a:extLst>
          </p:cNvPr>
          <p:cNvSpPr>
            <a:spLocks xmlns:a="http://schemas.openxmlformats.org/drawingml/2006/main" noGrp="1"/>
          </p:cNvSpPr>
          <p:nvPr/>
        </p:nvSpPr>
        <p:spPr>
          <a:xfrm xmlns:a="http://schemas.openxmlformats.org/drawingml/2006/main">
            <a:off x="11182350" y="5276850"/>
            <a:ext cx="3409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Does the draft explain the growth driver?</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Does it preserve the source’s uncertainty?</a:t>
            </a:r>
          </a:p>
        </p:txBody>
      </p:sp>
      <p:sp>
        <p:nvSpPr>
          <p:cNvPr id="46" name="!!review.manual">
            <a:extLst xmlns:a="http://schemas.openxmlformats.org/drawingml/2006/main">
              <a:ext uri="{FF2B5EF4-FFF2-40B4-BE49-F238E27FC236}">
                <a16:creationId xmlns:a16="http://schemas.microsoft.com/office/drawing/2014/main" id="{6A1BF17F-ECC0-4762-8AF1-5CC8E53E7754}"/>
              </a:ext>
            </a:extLst>
          </p:cNvPr>
          <p:cNvSpPr>
            <a:spLocks xmlns:a="http://schemas.openxmlformats.org/drawingml/2006/main" noGrp="1"/>
          </p:cNvSpPr>
          <p:nvPr/>
        </p:nvSpPr>
        <p:spPr>
          <a:xfrm xmlns:a="http://schemas.openxmlformats.org/drawingml/2006/main">
            <a:off x="4057650" y="71342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Check the investment view, fund details and risk disclosure against current sources.</a:t>
            </a:r>
          </a:p>
        </p:txBody>
      </p:sp>
      <p:sp>
        <p:nvSpPr>
          <p:cNvPr id="48" name="!!story.header.client.bar">
            <a:extLst xmlns:a="http://schemas.openxmlformats.org/drawingml/2006/main">
              <a:ext uri="{FF2B5EF4-FFF2-40B4-BE49-F238E27FC236}">
                <a16:creationId xmlns:a16="http://schemas.microsoft.com/office/drawing/2014/main" id="{87400D2E-91F5-46F8-AFDF-4773FA96C65F}"/>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DEB0BA5A-8B50-4327-858D-84A9B51AB9CA}"/>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CC05B41C-6D31-407B-89D8-95292148DBD6}"/>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Review V1</a:t>
            </a:r>
          </a:p>
        </p:txBody>
      </p:sp>
      <p:sp>
        <p:nvSpPr>
          <p:cNvPr id="51" name="!!story.client.document">
            <a:extLst xmlns:a="http://schemas.openxmlformats.org/drawingml/2006/main">
              <a:ext uri="{FF2B5EF4-FFF2-40B4-BE49-F238E27FC236}">
                <a16:creationId xmlns:a16="http://schemas.microsoft.com/office/drawing/2014/main" id="{D118FCE6-10E8-475E-A7D9-C664D6A613D9}"/>
              </a:ext>
            </a:extLst>
          </p:cNvPr>
          <p:cNvSpPr>
            <a:spLocks xmlns:a="http://schemas.openxmlformats.org/drawingml/2006/main" noGrp="1"/>
          </p:cNvSpPr>
          <p:nvPr/>
        </p:nvSpPr>
        <p:spPr>
          <a:xfrm xmlns:a="http://schemas.openxmlformats.org/drawingml/2006/main">
            <a:off x="4000500" y="2752725"/>
            <a:ext cx="57150" cy="41433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4302862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heading">
            <a:extLst xmlns:a="http://schemas.openxmlformats.org/drawingml/2006/main">
              <a:ext uri="{FF2B5EF4-FFF2-40B4-BE49-F238E27FC236}">
                <a16:creationId xmlns:a16="http://schemas.microsoft.com/office/drawing/2014/main" id="{745DA633-59F8-4C06-B0DD-5EB5818D801F}"/>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Penghua and Yingmi: reviewing client materials</a:t>
            </a:r>
          </a:p>
        </p:txBody>
      </p:sp>
      <p:sp>
        <p:nvSpPr>
          <p:cNvPr id="2" name="!!subtitle">
            <a:extLst xmlns:a="http://schemas.openxmlformats.org/drawingml/2006/main">
              <a:ext uri="{FF2B5EF4-FFF2-40B4-BE49-F238E27FC236}">
                <a16:creationId xmlns:a16="http://schemas.microsoft.com/office/drawing/2014/main" id="{CFA3EF60-52CB-4F94-8D64-C8FE57BF3E9F}"/>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Client-material review  /  Industry examples</a:t>
            </a:r>
          </a:p>
        </p:txBody>
      </p:sp>
      <p:sp>
        <p:nvSpPr>
          <p:cNvPr id="3" name="!!heading.rule">
            <a:extLst xmlns:a="http://schemas.openxmlformats.org/drawingml/2006/main">
              <a:ext uri="{FF2B5EF4-FFF2-40B4-BE49-F238E27FC236}">
                <a16:creationId xmlns:a16="http://schemas.microsoft.com/office/drawing/2014/main" id="{611377B5-39DA-4DC8-BD12-32662248B496}"/>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5556748-48D7-4746-A70F-B7E77CD7208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76E2B56-5500-42C7-A0DE-899AAEDB2CE9}"/>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18A9344-B040-45C4-8CDF-FB1B8B10861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279469F-2BE8-45EF-B49A-2BA7C07B4147}"/>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31C666F-590E-4C76-A5BA-79BAAC93FEC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D846B4F-27F0-428C-889C-9426A4A7878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103F35C-EAF3-4520-B0E6-771F17DB8C3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46C6B6E-01B4-4392-A618-1708911656B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C79B914C-B17D-494C-9FBE-CDB92116A3D3}"/>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38254037-5001-4340-97C6-96E96EE3F9E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43A6B5-594F-46E7-8407-DBD4D3DB7BE8}"/>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D7A09F-B3D8-4104-9823-1B33DD3C877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5E689B3-AA43-4CD5-A0E0-409329641161}"/>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1CD8177B-52A5-4A71-A71F-86EF71EC06D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F6E5478F-D620-490F-8F7F-FF8C2BE5F0F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F209A2-E59C-45DE-9DB7-336AEBF22D5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43212B10-8C69-4534-82D4-3DCCAD15D4A3}"/>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17 / 33</a:t>
            </a:r>
          </a:p>
        </p:txBody>
      </p:sp>
      <p:sp>
        <p:nvSpPr>
          <p:cNvPr id="21" name="!!nav.prev">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F416165-0735-4F65-89E8-012F0684C3AB}"/>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8" action="ppaction://hlinksldjump" tooltip="Slide 18: Proposed application: reviewing client updates"/>
            <a:extLst xmlns:a="http://schemas.openxmlformats.org/drawingml/2006/main">
              <a:ext uri="{FF2B5EF4-FFF2-40B4-BE49-F238E27FC236}">
                <a16:creationId xmlns:a16="http://schemas.microsoft.com/office/drawing/2014/main" id="{E1F1E5E5-40CE-4D61-BD6B-570442C8ACE3}"/>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3272FDF2-64A1-4E21-B8D3-C2EC7BDC3808}"/>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EE379F3-F070-4B9F-91D8-432BBA2B692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Penghua / AMAC; Yingmi</a:t>
            </a:r>
          </a:p>
        </p:txBody>
      </p:sp>
      <p:sp>
        <p:nvSpPr>
          <p:cNvPr id="25" name="!!clientDoc">
            <a:extLst xmlns:a="http://schemas.openxmlformats.org/drawingml/2006/main">
              <a:ext uri="{FF2B5EF4-FFF2-40B4-BE49-F238E27FC236}">
                <a16:creationId xmlns:a16="http://schemas.microsoft.com/office/drawing/2014/main" id="{90F4248B-DE40-4C6D-BDB6-F03A4E9D01B9}"/>
              </a:ext>
            </a:extLst>
          </p:cNvPr>
          <p:cNvSpPr>
            <a:spLocks xmlns:a="http://schemas.openxmlformats.org/drawingml/2006/main" noGrp="1"/>
          </p:cNvSpPr>
          <p:nvPr/>
        </p:nvSpPr>
        <p:spPr>
          <a:xfrm xmlns:a="http://schemas.openxmlformats.org/drawingml/2006/main">
            <a:off x="4057650" y="2752725"/>
            <a:ext cx="6572250" cy="4143375"/>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26" name="!!clientDoc.title">
            <a:extLst xmlns:a="http://schemas.openxmlformats.org/drawingml/2006/main">
              <a:ext uri="{FF2B5EF4-FFF2-40B4-BE49-F238E27FC236}">
                <a16:creationId xmlns:a16="http://schemas.microsoft.com/office/drawing/2014/main" id="{CCD11514-8328-4016-9C25-13E2C1039FFE}"/>
              </a:ext>
            </a:extLst>
          </p:cNvPr>
          <p:cNvSpPr>
            <a:spLocks xmlns:a="http://schemas.openxmlformats.org/drawingml/2006/main" noGrp="1"/>
          </p:cNvSpPr>
          <p:nvPr/>
        </p:nvSpPr>
        <p:spPr>
          <a:xfrm xmlns:a="http://schemas.openxmlformats.org/drawingml/2006/main">
            <a:off x="4286250" y="29337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Quarterly client update</a:t>
            </a:r>
          </a:p>
        </p:txBody>
      </p:sp>
      <p:sp>
        <p:nvSpPr>
          <p:cNvPr id="27" name="!!clientDoc.version">
            <a:extLst xmlns:a="http://schemas.openxmlformats.org/drawingml/2006/main">
              <a:ext uri="{FF2B5EF4-FFF2-40B4-BE49-F238E27FC236}">
                <a16:creationId xmlns:a16="http://schemas.microsoft.com/office/drawing/2014/main" id="{B7D14879-D552-4CBF-985D-5FC3B023052C}"/>
              </a:ext>
            </a:extLst>
          </p:cNvPr>
          <p:cNvSpPr>
            <a:spLocks xmlns:a="http://schemas.openxmlformats.org/drawingml/2006/main" noGrp="1"/>
          </p:cNvSpPr>
          <p:nvPr/>
        </p:nvSpPr>
        <p:spPr>
          <a:xfrm xmlns:a="http://schemas.openxmlformats.org/drawingml/2006/main">
            <a:off x="9963150" y="295275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V1</a:t>
            </a:r>
          </a:p>
        </p:txBody>
      </p:sp>
      <p:sp>
        <p:nvSpPr>
          <p:cNvPr id="28" name="!!clientDoc.rule">
            <a:extLst xmlns:a="http://schemas.openxmlformats.org/drawingml/2006/main">
              <a:ext uri="{FF2B5EF4-FFF2-40B4-BE49-F238E27FC236}">
                <a16:creationId xmlns:a16="http://schemas.microsoft.com/office/drawing/2014/main" id="{77F94B2A-0E90-4719-95E6-A7E8690CFBF2}"/>
              </a:ext>
            </a:extLst>
          </p:cNvPr>
          <p:cNvSpPr>
            <a:spLocks xmlns:a="http://schemas.openxmlformats.org/drawingml/2006/main" noGrp="1"/>
          </p:cNvSpPr>
          <p:nvPr/>
        </p:nvSpPr>
        <p:spPr>
          <a:xfrm xmlns:a="http://schemas.openxmlformats.org/drawingml/2006/main" flipH="0" flipV="0">
            <a:off x="4286250" y="3476625"/>
            <a:ext cx="61150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29" name="!!clientDoc.highlight.product">
            <a:extLst xmlns:a="http://schemas.openxmlformats.org/drawingml/2006/main">
              <a:ext uri="{FF2B5EF4-FFF2-40B4-BE49-F238E27FC236}">
                <a16:creationId xmlns:a16="http://schemas.microsoft.com/office/drawing/2014/main" id="{512C7062-DDF4-435E-A3CD-F57A03D78043}"/>
              </a:ext>
            </a:extLst>
          </p:cNvPr>
          <p:cNvSpPr>
            <a:spLocks xmlns:a="http://schemas.openxmlformats.org/drawingml/2006/main" noGrp="1"/>
          </p:cNvSpPr>
          <p:nvPr/>
        </p:nvSpPr>
        <p:spPr>
          <a:xfrm xmlns:a="http://schemas.openxmlformats.org/drawingml/2006/main">
            <a:off x="5610225" y="3676650"/>
            <a:ext cx="4791075" cy="4667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0" name="!!clientDoc.label.product">
            <a:extLst xmlns:a="http://schemas.openxmlformats.org/drawingml/2006/main">
              <a:ext uri="{FF2B5EF4-FFF2-40B4-BE49-F238E27FC236}">
                <a16:creationId xmlns:a16="http://schemas.microsoft.com/office/drawing/2014/main" id="{589C3508-9D19-4E84-97DD-2949A0B6E654}"/>
              </a:ext>
            </a:extLst>
          </p:cNvPr>
          <p:cNvSpPr>
            <a:spLocks xmlns:a="http://schemas.openxmlformats.org/drawingml/2006/main" noGrp="1"/>
          </p:cNvSpPr>
          <p:nvPr/>
        </p:nvSpPr>
        <p:spPr>
          <a:xfrm xmlns:a="http://schemas.openxmlformats.org/drawingml/2006/main">
            <a:off x="4286250" y="37242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Fund name</a:t>
            </a:r>
          </a:p>
        </p:txBody>
      </p:sp>
      <p:sp>
        <p:nvSpPr>
          <p:cNvPr id="31" name="!!clientDoc.value.product">
            <a:extLst xmlns:a="http://schemas.openxmlformats.org/drawingml/2006/main">
              <a:ext uri="{FF2B5EF4-FFF2-40B4-BE49-F238E27FC236}">
                <a16:creationId xmlns:a16="http://schemas.microsoft.com/office/drawing/2014/main" id="{239E749B-77B7-4C4D-AB02-04BD45FEF84A}"/>
              </a:ext>
            </a:extLst>
          </p:cNvPr>
          <p:cNvSpPr>
            <a:spLocks xmlns:a="http://schemas.openxmlformats.org/drawingml/2006/main" noGrp="1"/>
          </p:cNvSpPr>
          <p:nvPr/>
        </p:nvSpPr>
        <p:spPr>
          <a:xfrm xmlns:a="http://schemas.openxmlformats.org/drawingml/2006/main">
            <a:off x="5695950" y="372427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Product A Select</a:t>
            </a:r>
          </a:p>
        </p:txBody>
      </p:sp>
      <p:sp>
        <p:nvSpPr>
          <p:cNvPr id="32" name="!!clientDoc.highlight.period">
            <a:extLst xmlns:a="http://schemas.openxmlformats.org/drawingml/2006/main">
              <a:ext uri="{FF2B5EF4-FFF2-40B4-BE49-F238E27FC236}">
                <a16:creationId xmlns:a16="http://schemas.microsoft.com/office/drawing/2014/main" id="{B1D8C527-C833-48CF-9F51-587329E5D351}"/>
              </a:ext>
            </a:extLst>
          </p:cNvPr>
          <p:cNvSpPr>
            <a:spLocks xmlns:a="http://schemas.openxmlformats.org/drawingml/2006/main" noGrp="1"/>
          </p:cNvSpPr>
          <p:nvPr/>
        </p:nvSpPr>
        <p:spPr>
          <a:xfrm xmlns:a="http://schemas.openxmlformats.org/drawingml/2006/main">
            <a:off x="5610225" y="4267200"/>
            <a:ext cx="4791075" cy="4667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3" name="!!clientDoc.label.period">
            <a:extLst xmlns:a="http://schemas.openxmlformats.org/drawingml/2006/main">
              <a:ext uri="{FF2B5EF4-FFF2-40B4-BE49-F238E27FC236}">
                <a16:creationId xmlns:a16="http://schemas.microsoft.com/office/drawing/2014/main" id="{9A957EA3-3CEB-4521-97AE-8A29942560E0}"/>
              </a:ext>
            </a:extLst>
          </p:cNvPr>
          <p:cNvSpPr>
            <a:spLocks xmlns:a="http://schemas.openxmlformats.org/drawingml/2006/main" noGrp="1"/>
          </p:cNvSpPr>
          <p:nvPr/>
        </p:nvSpPr>
        <p:spPr>
          <a:xfrm xmlns:a="http://schemas.openxmlformats.org/drawingml/2006/main">
            <a:off x="4286250" y="431482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Source</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version</a:t>
            </a:r>
          </a:p>
        </p:txBody>
      </p:sp>
      <p:sp>
        <p:nvSpPr>
          <p:cNvPr id="34" name="!!clientDoc.value.period">
            <a:extLst xmlns:a="http://schemas.openxmlformats.org/drawingml/2006/main">
              <a:ext uri="{FF2B5EF4-FFF2-40B4-BE49-F238E27FC236}">
                <a16:creationId xmlns:a16="http://schemas.microsoft.com/office/drawing/2014/main" id="{DC29D84F-CA9B-42DD-BF8C-1E3B62B4E943}"/>
              </a:ext>
            </a:extLst>
          </p:cNvPr>
          <p:cNvSpPr>
            <a:spLocks xmlns:a="http://schemas.openxmlformats.org/drawingml/2006/main" noGrp="1"/>
          </p:cNvSpPr>
          <p:nvPr/>
        </p:nvSpPr>
        <p:spPr>
          <a:xfrm xmlns:a="http://schemas.openxmlformats.org/drawingml/2006/main">
            <a:off x="5695950" y="4314825"/>
            <a:ext cx="4705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Q2 2026 product information, V1</a:t>
            </a:r>
          </a:p>
        </p:txBody>
      </p:sp>
      <p:sp>
        <p:nvSpPr>
          <p:cNvPr id="35" name="!!clientDoc.highlight.view">
            <a:extLst xmlns:a="http://schemas.openxmlformats.org/drawingml/2006/main">
              <a:ext uri="{FF2B5EF4-FFF2-40B4-BE49-F238E27FC236}">
                <a16:creationId xmlns:a16="http://schemas.microsoft.com/office/drawing/2014/main" id="{6011A997-7ADC-4E48-BC84-AFB79B6C7D2A}"/>
              </a:ext>
            </a:extLst>
          </p:cNvPr>
          <p:cNvSpPr>
            <a:spLocks xmlns:a="http://schemas.openxmlformats.org/drawingml/2006/main" noGrp="1"/>
          </p:cNvSpPr>
          <p:nvPr/>
        </p:nvSpPr>
        <p:spPr>
          <a:xfrm xmlns:a="http://schemas.openxmlformats.org/drawingml/2006/main">
            <a:off x="5610225" y="4857750"/>
            <a:ext cx="4791075" cy="876300"/>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6" name="!!clientDoc.label.view">
            <a:extLst xmlns:a="http://schemas.openxmlformats.org/drawingml/2006/main">
              <a:ext uri="{FF2B5EF4-FFF2-40B4-BE49-F238E27FC236}">
                <a16:creationId xmlns:a16="http://schemas.microsoft.com/office/drawing/2014/main" id="{6D899155-E1C5-4D1F-AB80-A5ACAE14A81C}"/>
              </a:ext>
            </a:extLst>
          </p:cNvPr>
          <p:cNvSpPr>
            <a:spLocks xmlns:a="http://schemas.openxmlformats.org/drawingml/2006/main" noGrp="1"/>
          </p:cNvSpPr>
          <p:nvPr/>
        </p:nvSpPr>
        <p:spPr>
          <a:xfrm xmlns:a="http://schemas.openxmlformats.org/drawingml/2006/main">
            <a:off x="4286250" y="490537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Investment view</a:t>
            </a:r>
          </a:p>
        </p:txBody>
      </p:sp>
      <p:sp>
        <p:nvSpPr>
          <p:cNvPr id="37" name="!!clientDoc.value.view">
            <a:extLst xmlns:a="http://schemas.openxmlformats.org/drawingml/2006/main">
              <a:ext uri="{FF2B5EF4-FFF2-40B4-BE49-F238E27FC236}">
                <a16:creationId xmlns:a16="http://schemas.microsoft.com/office/drawing/2014/main" id="{932A8166-320E-4AB8-96AD-1375848CCC2B}"/>
              </a:ext>
            </a:extLst>
          </p:cNvPr>
          <p:cNvSpPr>
            <a:spLocks xmlns:a="http://schemas.openxmlformats.org/drawingml/2006/main" noGrp="1"/>
          </p:cNvSpPr>
          <p:nvPr/>
        </p:nvSpPr>
        <p:spPr>
          <a:xfrm xmlns:a="http://schemas.openxmlformats.org/drawingml/2006/main">
            <a:off x="5695950" y="4905375"/>
            <a:ext cx="47053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Higher sales volumes drove Company A’s revenue growth.</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We are monitoring raw-material costs.</a:t>
            </a:r>
          </a:p>
        </p:txBody>
      </p:sp>
      <p:sp>
        <p:nvSpPr>
          <p:cNvPr id="38" name="!!clientDoc.highlight.risk">
            <a:extLst xmlns:a="http://schemas.openxmlformats.org/drawingml/2006/main">
              <a:ext uri="{FF2B5EF4-FFF2-40B4-BE49-F238E27FC236}">
                <a16:creationId xmlns:a16="http://schemas.microsoft.com/office/drawing/2014/main" id="{334021BC-BE40-4D54-BFEC-7F5B66833176}"/>
              </a:ext>
            </a:extLst>
          </p:cNvPr>
          <p:cNvSpPr>
            <a:spLocks xmlns:a="http://schemas.openxmlformats.org/drawingml/2006/main" noGrp="1"/>
          </p:cNvSpPr>
          <p:nvPr/>
        </p:nvSpPr>
        <p:spPr>
          <a:xfrm xmlns:a="http://schemas.openxmlformats.org/drawingml/2006/main">
            <a:off x="5610225" y="5886450"/>
            <a:ext cx="4791075" cy="7715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9" name="!!clientDoc.label.risk">
            <a:extLst xmlns:a="http://schemas.openxmlformats.org/drawingml/2006/main">
              <a:ext uri="{FF2B5EF4-FFF2-40B4-BE49-F238E27FC236}">
                <a16:creationId xmlns:a16="http://schemas.microsoft.com/office/drawing/2014/main" id="{18FB27FD-0B8D-4AE5-8AF2-F61AE6E2B553}"/>
              </a:ext>
            </a:extLst>
          </p:cNvPr>
          <p:cNvSpPr>
            <a:spLocks xmlns:a="http://schemas.openxmlformats.org/drawingml/2006/main" noGrp="1"/>
          </p:cNvSpPr>
          <p:nvPr/>
        </p:nvSpPr>
        <p:spPr>
          <a:xfrm xmlns:a="http://schemas.openxmlformats.org/drawingml/2006/main">
            <a:off x="4286250" y="5934075"/>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Risk</a:t>
            </a:r>
          </a:p>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disclosure</a:t>
            </a:r>
          </a:p>
        </p:txBody>
      </p:sp>
      <p:sp>
        <p:nvSpPr>
          <p:cNvPr id="40" name="!!clientDoc.value.risk">
            <a:extLst xmlns:a="http://schemas.openxmlformats.org/drawingml/2006/main">
              <a:ext uri="{FF2B5EF4-FFF2-40B4-BE49-F238E27FC236}">
                <a16:creationId xmlns:a16="http://schemas.microsoft.com/office/drawing/2014/main" id="{AE496EA0-CBF2-4D0C-B31D-9489FD60DEE2}"/>
              </a:ext>
            </a:extLst>
          </p:cNvPr>
          <p:cNvSpPr>
            <a:spLocks xmlns:a="http://schemas.openxmlformats.org/drawingml/2006/main" noGrp="1"/>
          </p:cNvSpPr>
          <p:nvPr/>
        </p:nvSpPr>
        <p:spPr>
          <a:xfrm xmlns:a="http://schemas.openxmlformats.org/drawingml/2006/main">
            <a:off x="5695950" y="5934075"/>
            <a:ext cx="47053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Investing involves risk.</a:t>
            </a:r>
          </a:p>
        </p:txBody>
      </p:sp>
      <p:sp>
        <p:nvSpPr>
          <p:cNvPr id="41" name="!!comment.meta">
            <a:extLst xmlns:a="http://schemas.openxmlformats.org/drawingml/2006/main">
              <a:ext uri="{FF2B5EF4-FFF2-40B4-BE49-F238E27FC236}">
                <a16:creationId xmlns:a16="http://schemas.microsoft.com/office/drawing/2014/main" id="{0516F551-ABA5-49A2-A5C0-6D51ECBB9B13}"/>
              </a:ext>
            </a:extLst>
          </p:cNvPr>
          <p:cNvSpPr>
            <a:spLocks xmlns:a="http://schemas.openxmlformats.org/drawingml/2006/main" noGrp="1"/>
          </p:cNvSpPr>
          <p:nvPr/>
        </p:nvSpPr>
        <p:spPr>
          <a:xfrm xmlns:a="http://schemas.openxmlformats.org/drawingml/2006/main">
            <a:off x="11182350" y="2714625"/>
            <a:ext cx="3409950"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comment.meta.role">
            <a:extLst xmlns:a="http://schemas.openxmlformats.org/drawingml/2006/main">
              <a:ext uri="{FF2B5EF4-FFF2-40B4-BE49-F238E27FC236}">
                <a16:creationId xmlns:a16="http://schemas.microsoft.com/office/drawing/2014/main" id="{733AB508-7FDD-470A-88D1-B87EC088A5EC}"/>
              </a:ext>
            </a:extLst>
          </p:cNvPr>
          <p:cNvSpPr>
            <a:spLocks xmlns:a="http://schemas.openxmlformats.org/drawingml/2006/main" noGrp="1"/>
          </p:cNvSpPr>
          <p:nvPr/>
        </p:nvSpPr>
        <p:spPr>
          <a:xfrm xmlns:a="http://schemas.openxmlformats.org/drawingml/2006/main">
            <a:off x="11372850" y="28575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Fund details</a:t>
            </a:r>
          </a:p>
        </p:txBody>
      </p:sp>
      <p:sp>
        <p:nvSpPr>
          <p:cNvPr id="43" name="!!comment.meta.body">
            <a:extLst xmlns:a="http://schemas.openxmlformats.org/drawingml/2006/main">
              <a:ext uri="{FF2B5EF4-FFF2-40B4-BE49-F238E27FC236}">
                <a16:creationId xmlns:a16="http://schemas.microsoft.com/office/drawing/2014/main" id="{D460E881-54A7-4BDF-9F5A-DD9366F8F598}"/>
              </a:ext>
            </a:extLst>
          </p:cNvPr>
          <p:cNvSpPr>
            <a:spLocks xmlns:a="http://schemas.openxmlformats.org/drawingml/2006/main" noGrp="1"/>
          </p:cNvSpPr>
          <p:nvPr/>
        </p:nvSpPr>
        <p:spPr>
          <a:xfrm xmlns:a="http://schemas.openxmlformats.org/drawingml/2006/main">
            <a:off x="11372850" y="3209925"/>
            <a:ext cx="3028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Use the full fund name and current reporting period.</a:t>
            </a:r>
          </a:p>
        </p:txBody>
      </p:sp>
      <p:sp>
        <p:nvSpPr>
          <p:cNvPr id="44" name="!!comment.meta.lead.1">
            <a:extLst xmlns:a="http://schemas.openxmlformats.org/drawingml/2006/main">
              <a:ext uri="{FF2B5EF4-FFF2-40B4-BE49-F238E27FC236}">
                <a16:creationId xmlns:a16="http://schemas.microsoft.com/office/drawing/2014/main" id="{4A726408-D6E2-4449-95E1-22A223E279B5}"/>
              </a:ext>
            </a:extLst>
          </p:cNvPr>
          <p:cNvSpPr>
            <a:spLocks xmlns:a="http://schemas.openxmlformats.org/drawingml/2006/main" noGrp="1"/>
          </p:cNvSpPr>
          <p:nvPr/>
        </p:nvSpPr>
        <p:spPr>
          <a:xfrm xmlns:a="http://schemas.openxmlformats.org/drawingml/2006/main" flipH="0" flipV="0">
            <a:off x="10629900" y="4000500"/>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5" name="!!comment.meta.lead.2">
            <a:extLst xmlns:a="http://schemas.openxmlformats.org/drawingml/2006/main">
              <a:ext uri="{FF2B5EF4-FFF2-40B4-BE49-F238E27FC236}">
                <a16:creationId xmlns:a16="http://schemas.microsoft.com/office/drawing/2014/main" id="{90BB548C-D8A8-4D3F-9387-AC7B5075BBAA}"/>
              </a:ext>
            </a:extLst>
          </p:cNvPr>
          <p:cNvSpPr>
            <a:spLocks xmlns:a="http://schemas.openxmlformats.org/drawingml/2006/main" noGrp="1"/>
          </p:cNvSpPr>
          <p:nvPr/>
        </p:nvSpPr>
        <p:spPr>
          <a:xfrm xmlns:a="http://schemas.openxmlformats.org/drawingml/2006/main" flipH="0" flipV="1">
            <a:off x="10896600" y="3371850"/>
            <a:ext cx="953" cy="6286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6" name="!!comment.meta.lead.3.line">
            <a:extLst xmlns:a="http://schemas.openxmlformats.org/drawingml/2006/main">
              <a:ext uri="{FF2B5EF4-FFF2-40B4-BE49-F238E27FC236}">
                <a16:creationId xmlns:a16="http://schemas.microsoft.com/office/drawing/2014/main" id="{A9B780E2-CD14-449E-8717-08080B4E7429}"/>
              </a:ext>
            </a:extLst>
          </p:cNvPr>
          <p:cNvSpPr>
            <a:spLocks xmlns:a="http://schemas.openxmlformats.org/drawingml/2006/main" noGrp="1"/>
          </p:cNvSpPr>
          <p:nvPr/>
        </p:nvSpPr>
        <p:spPr>
          <a:xfrm xmlns:a="http://schemas.openxmlformats.org/drawingml/2006/main" flipH="0" flipV="0">
            <a:off x="10896600" y="337185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comment.meta.lead.3.tip">
            <a:extLst xmlns:a="http://schemas.openxmlformats.org/drawingml/2006/main">
              <a:ext uri="{FF2B5EF4-FFF2-40B4-BE49-F238E27FC236}">
                <a16:creationId xmlns:a16="http://schemas.microsoft.com/office/drawing/2014/main" id="{D66A70C2-D835-4C40-AF8B-813606A3E7CD}"/>
              </a:ext>
            </a:extLst>
          </p:cNvPr>
          <p:cNvSpPr>
            <a:spLocks xmlns:a="http://schemas.openxmlformats.org/drawingml/2006/main" noGrp="1"/>
          </p:cNvSpPr>
          <p:nvPr/>
        </p:nvSpPr>
        <p:spPr>
          <a:xfrm xmlns:a="http://schemas.openxmlformats.org/drawingml/2006/main" rot="5400000">
            <a:off x="11125200" y="33147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comment.view">
            <a:extLst xmlns:a="http://schemas.openxmlformats.org/drawingml/2006/main">
              <a:ext uri="{FF2B5EF4-FFF2-40B4-BE49-F238E27FC236}">
                <a16:creationId xmlns:a16="http://schemas.microsoft.com/office/drawing/2014/main" id="{19F841B2-ABAA-4D53-93C0-ED4C3B86ABD0}"/>
              </a:ext>
            </a:extLst>
          </p:cNvPr>
          <p:cNvSpPr>
            <a:spLocks xmlns:a="http://schemas.openxmlformats.org/drawingml/2006/main" noGrp="1"/>
          </p:cNvSpPr>
          <p:nvPr/>
        </p:nvSpPr>
        <p:spPr>
          <a:xfrm xmlns:a="http://schemas.openxmlformats.org/drawingml/2006/main">
            <a:off x="11182350" y="4219575"/>
            <a:ext cx="3409950" cy="15621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9" name="!!comment.view.role">
            <a:extLst xmlns:a="http://schemas.openxmlformats.org/drawingml/2006/main">
              <a:ext uri="{FF2B5EF4-FFF2-40B4-BE49-F238E27FC236}">
                <a16:creationId xmlns:a16="http://schemas.microsoft.com/office/drawing/2014/main" id="{63204CAA-0807-4892-9F03-D92BEB95D195}"/>
              </a:ext>
            </a:extLst>
          </p:cNvPr>
          <p:cNvSpPr>
            <a:spLocks xmlns:a="http://schemas.openxmlformats.org/drawingml/2006/main" noGrp="1"/>
          </p:cNvSpPr>
          <p:nvPr/>
        </p:nvSpPr>
        <p:spPr>
          <a:xfrm xmlns:a="http://schemas.openxmlformats.org/drawingml/2006/main">
            <a:off x="11372850" y="436245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Investment rationale</a:t>
            </a:r>
          </a:p>
        </p:txBody>
      </p:sp>
      <p:sp>
        <p:nvSpPr>
          <p:cNvPr id="50" name="!!comment.view.body">
            <a:extLst xmlns:a="http://schemas.openxmlformats.org/drawingml/2006/main">
              <a:ext uri="{FF2B5EF4-FFF2-40B4-BE49-F238E27FC236}">
                <a16:creationId xmlns:a16="http://schemas.microsoft.com/office/drawing/2014/main" id="{E148B85C-5A00-40FD-A79A-A5A66A8F5C6D}"/>
              </a:ext>
            </a:extLst>
          </p:cNvPr>
          <p:cNvSpPr>
            <a:spLocks xmlns:a="http://schemas.openxmlformats.org/drawingml/2006/main" noGrp="1"/>
          </p:cNvSpPr>
          <p:nvPr/>
        </p:nvSpPr>
        <p:spPr>
          <a:xfrm xmlns:a="http://schemas.openxmlformats.org/drawingml/2006/main">
            <a:off x="11372850" y="4714875"/>
            <a:ext cx="3028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Identify channel restocking as the sales volume driver. Retain uncertainty over its continuation.</a:t>
            </a:r>
          </a:p>
        </p:txBody>
      </p:sp>
      <p:sp>
        <p:nvSpPr>
          <p:cNvPr id="51" name="!!comment.view.lead.1">
            <a:extLst xmlns:a="http://schemas.openxmlformats.org/drawingml/2006/main">
              <a:ext uri="{FF2B5EF4-FFF2-40B4-BE49-F238E27FC236}">
                <a16:creationId xmlns:a16="http://schemas.microsoft.com/office/drawing/2014/main" id="{CCD49E37-3C35-4B74-ABA7-FED93C8B37A9}"/>
              </a:ext>
            </a:extLst>
          </p:cNvPr>
          <p:cNvSpPr>
            <a:spLocks xmlns:a="http://schemas.openxmlformats.org/drawingml/2006/main" noGrp="1"/>
          </p:cNvSpPr>
          <p:nvPr/>
        </p:nvSpPr>
        <p:spPr>
          <a:xfrm xmlns:a="http://schemas.openxmlformats.org/drawingml/2006/main" flipH="0" flipV="0">
            <a:off x="10629900" y="5353050"/>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2" name="!!comment.view.lead.2">
            <a:extLst xmlns:a="http://schemas.openxmlformats.org/drawingml/2006/main">
              <a:ext uri="{FF2B5EF4-FFF2-40B4-BE49-F238E27FC236}">
                <a16:creationId xmlns:a16="http://schemas.microsoft.com/office/drawing/2014/main" id="{D3918FAA-B6DE-445F-8EE7-5516BEE2A97C}"/>
              </a:ext>
            </a:extLst>
          </p:cNvPr>
          <p:cNvSpPr>
            <a:spLocks xmlns:a="http://schemas.openxmlformats.org/drawingml/2006/main" noGrp="1"/>
          </p:cNvSpPr>
          <p:nvPr/>
        </p:nvSpPr>
        <p:spPr>
          <a:xfrm xmlns:a="http://schemas.openxmlformats.org/drawingml/2006/main" flipH="0" flipV="1">
            <a:off x="10896600" y="4876800"/>
            <a:ext cx="953" cy="47625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3" name="!!comment.view.lead.3.line">
            <a:extLst xmlns:a="http://schemas.openxmlformats.org/drawingml/2006/main">
              <a:ext uri="{FF2B5EF4-FFF2-40B4-BE49-F238E27FC236}">
                <a16:creationId xmlns:a16="http://schemas.microsoft.com/office/drawing/2014/main" id="{A5C30522-FFE1-4D5C-84B7-2B62D9096A25}"/>
              </a:ext>
            </a:extLst>
          </p:cNvPr>
          <p:cNvSpPr>
            <a:spLocks xmlns:a="http://schemas.openxmlformats.org/drawingml/2006/main" noGrp="1"/>
          </p:cNvSpPr>
          <p:nvPr/>
        </p:nvSpPr>
        <p:spPr>
          <a:xfrm xmlns:a="http://schemas.openxmlformats.org/drawingml/2006/main" flipH="0" flipV="0">
            <a:off x="10896600" y="487680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comment.view.lead.3.tip">
            <a:extLst xmlns:a="http://schemas.openxmlformats.org/drawingml/2006/main">
              <a:ext uri="{FF2B5EF4-FFF2-40B4-BE49-F238E27FC236}">
                <a16:creationId xmlns:a16="http://schemas.microsoft.com/office/drawing/2014/main" id="{F5C85213-2B88-4AEF-9FF3-46879C34EF19}"/>
              </a:ext>
            </a:extLst>
          </p:cNvPr>
          <p:cNvSpPr>
            <a:spLocks xmlns:a="http://schemas.openxmlformats.org/drawingml/2006/main" noGrp="1"/>
          </p:cNvSpPr>
          <p:nvPr/>
        </p:nvSpPr>
        <p:spPr>
          <a:xfrm xmlns:a="http://schemas.openxmlformats.org/drawingml/2006/main" rot="5400000">
            <a:off x="11125200" y="48196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5" name="!!comment.risk">
            <a:extLst xmlns:a="http://schemas.openxmlformats.org/drawingml/2006/main">
              <a:ext uri="{FF2B5EF4-FFF2-40B4-BE49-F238E27FC236}">
                <a16:creationId xmlns:a16="http://schemas.microsoft.com/office/drawing/2014/main" id="{6F05D630-16FD-4C42-9655-CB9D13B49CC5}"/>
              </a:ext>
            </a:extLst>
          </p:cNvPr>
          <p:cNvSpPr>
            <a:spLocks xmlns:a="http://schemas.openxmlformats.org/drawingml/2006/main" noGrp="1"/>
          </p:cNvSpPr>
          <p:nvPr/>
        </p:nvSpPr>
        <p:spPr>
          <a:xfrm xmlns:a="http://schemas.openxmlformats.org/drawingml/2006/main">
            <a:off x="11182350" y="5857875"/>
            <a:ext cx="3409950" cy="1247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56" name="!!comment.risk.role">
            <a:extLst xmlns:a="http://schemas.openxmlformats.org/drawingml/2006/main">
              <a:ext uri="{FF2B5EF4-FFF2-40B4-BE49-F238E27FC236}">
                <a16:creationId xmlns:a16="http://schemas.microsoft.com/office/drawing/2014/main" id="{D6D017F8-6D58-4A96-9EB6-60D1ECB95AD1}"/>
              </a:ext>
            </a:extLst>
          </p:cNvPr>
          <p:cNvSpPr>
            <a:spLocks xmlns:a="http://schemas.openxmlformats.org/drawingml/2006/main" noGrp="1"/>
          </p:cNvSpPr>
          <p:nvPr/>
        </p:nvSpPr>
        <p:spPr>
          <a:xfrm xmlns:a="http://schemas.openxmlformats.org/drawingml/2006/main">
            <a:off x="11372850" y="594360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Risk disclosure</a:t>
            </a:r>
          </a:p>
        </p:txBody>
      </p:sp>
      <p:sp>
        <p:nvSpPr>
          <p:cNvPr id="57" name="!!comment.risk.body">
            <a:extLst xmlns:a="http://schemas.openxmlformats.org/drawingml/2006/main">
              <a:ext uri="{FF2B5EF4-FFF2-40B4-BE49-F238E27FC236}">
                <a16:creationId xmlns:a16="http://schemas.microsoft.com/office/drawing/2014/main" id="{404AB861-D339-4660-931A-37711A607F35}"/>
              </a:ext>
            </a:extLst>
          </p:cNvPr>
          <p:cNvSpPr>
            <a:spLocks xmlns:a="http://schemas.openxmlformats.org/drawingml/2006/main" noGrp="1"/>
          </p:cNvSpPr>
          <p:nvPr/>
        </p:nvSpPr>
        <p:spPr>
          <a:xfrm xmlns:a="http://schemas.openxmlformats.org/drawingml/2006/main">
            <a:off x="11372850" y="6296025"/>
            <a:ext cx="3028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State that the fund’s NAV can fluctuate and investors may lose capital.</a:t>
            </a:r>
          </a:p>
        </p:txBody>
      </p:sp>
      <p:sp>
        <p:nvSpPr>
          <p:cNvPr id="58" name="!!comment.risk.lead.1">
            <a:extLst xmlns:a="http://schemas.openxmlformats.org/drawingml/2006/main">
              <a:ext uri="{FF2B5EF4-FFF2-40B4-BE49-F238E27FC236}">
                <a16:creationId xmlns:a16="http://schemas.microsoft.com/office/drawing/2014/main" id="{FCCFF75F-3FFE-4406-82DC-372FBEDC8797}"/>
              </a:ext>
            </a:extLst>
          </p:cNvPr>
          <p:cNvSpPr>
            <a:spLocks xmlns:a="http://schemas.openxmlformats.org/drawingml/2006/main" noGrp="1"/>
          </p:cNvSpPr>
          <p:nvPr/>
        </p:nvSpPr>
        <p:spPr>
          <a:xfrm xmlns:a="http://schemas.openxmlformats.org/drawingml/2006/main" flipH="0" flipV="0">
            <a:off x="10629900" y="6181725"/>
            <a:ext cx="26670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59" name="!!comment.risk.lead.2">
            <a:extLst xmlns:a="http://schemas.openxmlformats.org/drawingml/2006/main">
              <a:ext uri="{FF2B5EF4-FFF2-40B4-BE49-F238E27FC236}">
                <a16:creationId xmlns:a16="http://schemas.microsoft.com/office/drawing/2014/main" id="{85A2330F-C2F7-4A86-B36E-3F93DD6F4116}"/>
              </a:ext>
            </a:extLst>
          </p:cNvPr>
          <p:cNvSpPr>
            <a:spLocks xmlns:a="http://schemas.openxmlformats.org/drawingml/2006/main" noGrp="1"/>
          </p:cNvSpPr>
          <p:nvPr/>
        </p:nvSpPr>
        <p:spPr>
          <a:xfrm xmlns:a="http://schemas.openxmlformats.org/drawingml/2006/main" flipH="0" flipV="0">
            <a:off x="10896600" y="6181725"/>
            <a:ext cx="953" cy="200025"/>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60" name="!!comment.risk.lead.3.line">
            <a:extLst xmlns:a="http://schemas.openxmlformats.org/drawingml/2006/main">
              <a:ext uri="{FF2B5EF4-FFF2-40B4-BE49-F238E27FC236}">
                <a16:creationId xmlns:a16="http://schemas.microsoft.com/office/drawing/2014/main" id="{502613B7-A952-4FF8-A55F-189C6357997B}"/>
              </a:ext>
            </a:extLst>
          </p:cNvPr>
          <p:cNvSpPr>
            <a:spLocks xmlns:a="http://schemas.openxmlformats.org/drawingml/2006/main" noGrp="1"/>
          </p:cNvSpPr>
          <p:nvPr/>
        </p:nvSpPr>
        <p:spPr>
          <a:xfrm xmlns:a="http://schemas.openxmlformats.org/drawingml/2006/main" flipH="0" flipV="0">
            <a:off x="10896600" y="6381750"/>
            <a:ext cx="2857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61" name="!!comment.risk.lead.3.tip">
            <a:extLst xmlns:a="http://schemas.openxmlformats.org/drawingml/2006/main">
              <a:ext uri="{FF2B5EF4-FFF2-40B4-BE49-F238E27FC236}">
                <a16:creationId xmlns:a16="http://schemas.microsoft.com/office/drawing/2014/main" id="{24827BFB-8A2B-4F47-8CBD-C7F5901AB993}"/>
              </a:ext>
            </a:extLst>
          </p:cNvPr>
          <p:cNvSpPr>
            <a:spLocks xmlns:a="http://schemas.openxmlformats.org/drawingml/2006/main" noGrp="1"/>
          </p:cNvSpPr>
          <p:nvPr/>
        </p:nvSpPr>
        <p:spPr>
          <a:xfrm xmlns:a="http://schemas.openxmlformats.org/drawingml/2006/main" rot="5400000">
            <a:off x="11125200" y="63246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62" name="!!review.case">
            <a:extLst xmlns:a="http://schemas.openxmlformats.org/drawingml/2006/main">
              <a:ext uri="{FF2B5EF4-FFF2-40B4-BE49-F238E27FC236}">
                <a16:creationId xmlns:a16="http://schemas.microsoft.com/office/drawing/2014/main" id="{646F0890-9EE9-4A19-BC7C-EA134DD6C139}"/>
              </a:ext>
            </a:extLst>
          </p:cNvPr>
          <p:cNvSpPr>
            <a:spLocks xmlns:a="http://schemas.openxmlformats.org/drawingml/2006/main" noGrp="1"/>
          </p:cNvSpPr>
          <p:nvPr/>
        </p:nvSpPr>
        <p:spPr>
          <a:xfrm xmlns:a="http://schemas.openxmlformats.org/drawingml/2006/main">
            <a:off x="4057650" y="7105650"/>
            <a:ext cx="1053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Penghua suggests edits based on review rules.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Yingmi supports initial checks, revision and repeat review.</a:t>
            </a:r>
          </a:p>
        </p:txBody>
      </p:sp>
      <p:sp>
        <p:nvSpPr>
          <p:cNvPr id="64" name="!!story.header.client.bar">
            <a:extLst xmlns:a="http://schemas.openxmlformats.org/drawingml/2006/main">
              <a:ext uri="{FF2B5EF4-FFF2-40B4-BE49-F238E27FC236}">
                <a16:creationId xmlns:a16="http://schemas.microsoft.com/office/drawing/2014/main" id="{A619335B-FF15-43F9-9CCC-233F57CAF767}"/>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65" name="!!story.header.client.name">
            <a:extLst xmlns:a="http://schemas.openxmlformats.org/drawingml/2006/main">
              <a:ext uri="{FF2B5EF4-FFF2-40B4-BE49-F238E27FC236}">
                <a16:creationId xmlns:a16="http://schemas.microsoft.com/office/drawing/2014/main" id="{3F3CC7A0-10D8-47C5-A1C8-A988E6D9682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66" name="!!story.header.client.qualifier">
            <a:extLst xmlns:a="http://schemas.openxmlformats.org/drawingml/2006/main">
              <a:ext uri="{FF2B5EF4-FFF2-40B4-BE49-F238E27FC236}">
                <a16:creationId xmlns:a16="http://schemas.microsoft.com/office/drawing/2014/main" id="{B676B6AB-3D08-4C13-96BB-4798EE5EA143}"/>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Review V1</a:t>
            </a:r>
          </a:p>
        </p:txBody>
      </p:sp>
      <p:sp>
        <p:nvSpPr>
          <p:cNvPr id="67" name="!!story.client.document">
            <a:extLst xmlns:a="http://schemas.openxmlformats.org/drawingml/2006/main">
              <a:ext uri="{FF2B5EF4-FFF2-40B4-BE49-F238E27FC236}">
                <a16:creationId xmlns:a16="http://schemas.microsoft.com/office/drawing/2014/main" id="{D03BDE5E-0D73-4B73-B436-0ECDFF25DE0C}"/>
              </a:ext>
            </a:extLst>
          </p:cNvPr>
          <p:cNvSpPr>
            <a:spLocks xmlns:a="http://schemas.openxmlformats.org/drawingml/2006/main" noGrp="1"/>
          </p:cNvSpPr>
          <p:nvPr/>
        </p:nvSpPr>
        <p:spPr>
          <a:xfrm xmlns:a="http://schemas.openxmlformats.org/drawingml/2006/main">
            <a:off x="4000500" y="2752725"/>
            <a:ext cx="57150" cy="414337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9000" name="!!business.review.umbrella">
            <a:extLst xmlns:a="http://schemas.openxmlformats.org/drawingml/2006/main">
              <a:ext uri="{FF2B5EF4-FFF2-40B4-BE49-F238E27FC236}">
                <a16:creationId xmlns:a16="http://schemas.microsoft.com/office/drawing/2014/main" id="{733AB508-7FDD-470A-88D1-B87EC088A5EC}"/>
              </a:ext>
            </a:extLst>
          </p:cNvPr>
          <p:cNvSpPr>
            <a:spLocks xmlns:a="http://schemas.openxmlformats.org/drawingml/2006/main" noGrp="1"/>
          </p:cNvSpPr>
          <p:nvPr/>
        </p:nvSpPr>
        <p:spPr>
          <a:xfrm xmlns:a="http://schemas.openxmlformats.org/drawingml/2006/main">
            <a:off x="11182350" y="2314575"/>
            <a:ext cx="340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62C"/>
                </a:solidFill>
                <a:latin typeface="Arial"/>
                <a:ea typeface="Arial"/>
                <a:cs typeface="Arial"/>
              </a:defRPr>
            </a:defPPr>
            <a:lvl1pPr algn="l">
              <a:defRPr sz="1875" b="1">
                <a:solidFill>
                  <a:srgbClr val="20262C"/>
                </a:solidFill>
                <a:latin typeface="Arial"/>
                <a:ea typeface="Arial"/>
                <a:cs typeface="Arial"/>
              </a:defRPr>
            </a:lvl1pPr>
            <a:lvl2pPr algn="l">
              <a:defRPr sz="1875" b="1">
                <a:solidFill>
                  <a:srgbClr val="20262C"/>
                </a:solidFill>
                <a:latin typeface="Arial"/>
                <a:ea typeface="Arial"/>
                <a:cs typeface="Arial"/>
              </a:defRPr>
            </a:lvl2pPr>
            <a:lvl3pPr algn="l">
              <a:defRPr sz="1875" b="1">
                <a:solidFill>
                  <a:srgbClr val="20262C"/>
                </a:solidFill>
                <a:latin typeface="Arial"/>
                <a:ea typeface="Arial"/>
                <a:cs typeface="Arial"/>
              </a:defRPr>
            </a:lvl3pPr>
            <a:lvl4pPr algn="l">
              <a:defRPr sz="1875" b="1">
                <a:solidFill>
                  <a:srgbClr val="20262C"/>
                </a:solidFill>
                <a:latin typeface="Arial"/>
                <a:ea typeface="Arial"/>
                <a:cs typeface="Arial"/>
              </a:defRPr>
            </a:lvl4pPr>
            <a:lvl5pPr algn="l">
              <a:defRPr sz="1875" b="1">
                <a:solidFill>
                  <a:srgbClr val="20262C"/>
                </a:solidFill>
                <a:latin typeface="Arial"/>
                <a:ea typeface="Arial"/>
                <a:cs typeface="Arial"/>
              </a:defRPr>
            </a:lvl5pPr>
            <a:lvl6pPr algn="l">
              <a:defRPr sz="1875" b="1">
                <a:solidFill>
                  <a:srgbClr val="20262C"/>
                </a:solidFill>
                <a:latin typeface="Arial"/>
                <a:ea typeface="Arial"/>
                <a:cs typeface="Arial"/>
              </a:defRPr>
            </a:lvl6pPr>
            <a:lvl7pPr algn="l">
              <a:defRPr sz="1875" b="1">
                <a:solidFill>
                  <a:srgbClr val="20262C"/>
                </a:solidFill>
                <a:latin typeface="Arial"/>
                <a:ea typeface="Arial"/>
                <a:cs typeface="Arial"/>
              </a:defRPr>
            </a:lvl7pPr>
            <a:lvl8pPr algn="l">
              <a:defRPr sz="1875" b="1">
                <a:solidFill>
                  <a:srgbClr val="20262C"/>
                </a:solidFill>
                <a:latin typeface="Arial"/>
                <a:ea typeface="Arial"/>
                <a:cs typeface="Arial"/>
              </a:defRPr>
            </a:lvl8pPr>
            <a:lvl9pPr algn="l">
              <a:defRPr sz="1875" b="1">
                <a:solidFill>
                  <a:srgbClr val="20262C"/>
                </a:solidFill>
                <a:latin typeface="Arial"/>
                <a:ea typeface="Arial"/>
                <a:cs typeface="Arial"/>
              </a:defRPr>
            </a:lvl9pPr>
          </a:lstStyle>
          <a:p xmlns:a="http://schemas.openxmlformats.org/drawingml/2006/main">
            <a:pPr algn="l">
              <a:defRPr sz="1875" b="1">
                <a:solidFill>
                  <a:srgbClr val="20262C"/>
                </a:solidFill>
                <a:latin typeface="Arial"/>
                <a:ea typeface="Arial"/>
                <a:cs typeface="Arial"/>
              </a:defRPr>
            </a:pPr>
            <a:r>
              <a:rPr sz="1875" b="1">
                <a:solidFill>
                  <a:srgbClr val="20262C"/>
                </a:solidFill>
                <a:latin typeface="Arial"/>
                <a:ea typeface="Arial"/>
                <a:cs typeface="Arial"/>
              </a:rPr>
              <a:t>LLM-assisted review</a:t>
            </a:r>
          </a:p>
        </p:txBody>
      </p:sp>
    </p:spTree>
    <p:extLst>
      <p:ext uri="{BB962C8B-B14F-4D97-AF65-F5344CB8AC3E}">
        <p14:creationId xmlns:p14="http://schemas.microsoft.com/office/powerpoint/2010/main" val="91026924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41"/>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42"/>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43"/>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44"/>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45"/>
                                  </p:tgtEl>
                                  <p:attrNameLst>
                                    <p:attrName>style.visibility</p:attrName>
                                  </p:attrNameLst>
                                </p:cBhvr>
                                <p:to>
                                  <p:strVal val="visible"/>
                                </p:to>
                              </p:set>
                            </p:childTnLst>
                          </p:cTn>
                        </p:par>
                        <p:par>
                          <p:cTn id="14" presetID="1" presetClass="entr" presetSubtype="0" fill="hold" nodeType="withEffect" grpId="0">
                            <p:stCondLst>
                              <p:cond delay="150"/>
                            </p:stCondLst>
                            <p:childTnLst>
                              <p:set>
                                <p:cBhvr>
                                  <p:cTn id="15" dur="1" fill="hold">
                                    <p:stCondLst>
                                      <p:cond delay="0"/>
                                    </p:stCondLst>
                                  </p:cTn>
                                  <p:tgtEl>
                                    <p:spTgt spid="46"/>
                                  </p:tgtEl>
                                  <p:attrNameLst>
                                    <p:attrName>style.visibility</p:attrName>
                                  </p:attrNameLst>
                                </p:cBhvr>
                                <p:to>
                                  <p:strVal val="visible"/>
                                </p:to>
                              </p:set>
                            </p:childTnLst>
                          </p:cTn>
                        </p:par>
                        <p:par>
                          <p:cTn id="16" presetID="1" presetClass="entr" presetSubtype="0" fill="hold" nodeType="withEffect" grpId="0">
                            <p:stCondLst>
                              <p:cond delay="150"/>
                            </p:stCondLst>
                            <p:childTnLst>
                              <p:set>
                                <p:cBhvr>
                                  <p:cTn id="17" dur="1" fill="hold">
                                    <p:stCondLst>
                                      <p:cond delay="0"/>
                                    </p:stCondLst>
                                  </p:cTn>
                                  <p:tgtEl>
                                    <p:spTgt spid="47"/>
                                  </p:tgtEl>
                                  <p:attrNameLst>
                                    <p:attrName>style.visibility</p:attrName>
                                  </p:attrNameLst>
                                </p:cBhvr>
                                <p:to>
                                  <p:strVal val="visible"/>
                                </p:to>
                              </p:set>
                            </p:childTnLst>
                          </p:cTn>
                        </p:par>
                        <p:par>
                          <p:cTn id="18" presetID="1" presetClass="entr" presetSubtype="0" fill="hold" nodeType="withEffect" grpId="0">
                            <p:stCondLst>
                              <p:cond delay="15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nodeType="withEffect" grpId="0">
                            <p:stCondLst>
                              <p:cond delay="15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48"/>
                                  </p:tgtEl>
                                  <p:attrNameLst>
                                    <p:attrName>style.visibility</p:attrName>
                                  </p:attrNameLst>
                                </p:cBhvr>
                                <p:to>
                                  <p:strVal val="visible"/>
                                </p:to>
                              </p:set>
                            </p:childTnLst>
                          </p:cTn>
                        </p:par>
                        <p:par>
                          <p:cTn id="24" presetID="1" presetClass="entr" presetSubtype="0" fill="hold" nodeType="withEffect" grpId="0">
                            <p:stCondLst>
                              <p:cond delay="700"/>
                            </p:stCondLst>
                            <p:childTnLst>
                              <p:set>
                                <p:cBhvr>
                                  <p:cTn id="25" dur="1" fill="hold">
                                    <p:stCondLst>
                                      <p:cond delay="0"/>
                                    </p:stCondLst>
                                  </p:cTn>
                                  <p:tgtEl>
                                    <p:spTgt spid="49"/>
                                  </p:tgtEl>
                                  <p:attrNameLst>
                                    <p:attrName>style.visibility</p:attrName>
                                  </p:attrNameLst>
                                </p:cBhvr>
                                <p:to>
                                  <p:strVal val="visible"/>
                                </p:to>
                              </p:set>
                            </p:childTnLst>
                          </p:cTn>
                        </p:par>
                        <p:par>
                          <p:cTn id="26" presetID="1" presetClass="entr" presetSubtype="0" fill="hold" nodeType="withEffect" grpId="0">
                            <p:stCondLst>
                              <p:cond delay="700"/>
                            </p:stCondLst>
                            <p:childTnLst>
                              <p:set>
                                <p:cBhvr>
                                  <p:cTn id="27" dur="1" fill="hold">
                                    <p:stCondLst>
                                      <p:cond delay="0"/>
                                    </p:stCondLst>
                                  </p:cTn>
                                  <p:tgtEl>
                                    <p:spTgt spid="50"/>
                                  </p:tgtEl>
                                  <p:attrNameLst>
                                    <p:attrName>style.visibility</p:attrName>
                                  </p:attrNameLst>
                                </p:cBhvr>
                                <p:to>
                                  <p:strVal val="visible"/>
                                </p:to>
                              </p:set>
                            </p:childTnLst>
                          </p:cTn>
                        </p:par>
                        <p:par>
                          <p:cTn id="28" presetID="1" presetClass="entr" presetSubtype="0" fill="hold" nodeType="withEffect" grpId="0">
                            <p:stCondLst>
                              <p:cond delay="70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nodeType="withEffect" grpId="0">
                            <p:stCondLst>
                              <p:cond delay="700"/>
                            </p:stCondLst>
                            <p:childTnLst>
                              <p:set>
                                <p:cBhvr>
                                  <p:cTn id="31" dur="1" fill="hold">
                                    <p:stCondLst>
                                      <p:cond delay="0"/>
                                    </p:stCondLst>
                                  </p:cTn>
                                  <p:tgtEl>
                                    <p:spTgt spid="52"/>
                                  </p:tgtEl>
                                  <p:attrNameLst>
                                    <p:attrName>style.visibility</p:attrName>
                                  </p:attrNameLst>
                                </p:cBhvr>
                                <p:to>
                                  <p:strVal val="visible"/>
                                </p:to>
                              </p:set>
                            </p:childTnLst>
                          </p:cTn>
                        </p:par>
                        <p:par>
                          <p:cTn id="32" presetID="1" presetClass="entr" presetSubtype="0" fill="hold" nodeType="withEffect" grpId="0">
                            <p:stCondLst>
                              <p:cond delay="70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grpId="0">
                            <p:stCondLst>
                              <p:cond delay="700"/>
                            </p:stCondLst>
                            <p:childTnLst>
                              <p:set>
                                <p:cBhvr>
                                  <p:cTn id="35" dur="1" fill="hold">
                                    <p:stCondLst>
                                      <p:cond delay="0"/>
                                    </p:stCondLst>
                                  </p:cTn>
                                  <p:tgtEl>
                                    <p:spTgt spid="54"/>
                                  </p:tgtEl>
                                  <p:attrNameLst>
                                    <p:attrName>style.visibility</p:attrName>
                                  </p:attrNameLst>
                                </p:cBhvr>
                                <p:to>
                                  <p:strVal val="visible"/>
                                </p:to>
                              </p:set>
                            </p:childTnLst>
                          </p:cTn>
                        </p:par>
                        <p:par>
                          <p:cTn id="36" presetID="1" presetClass="entr" presetSubtype="0" fill="hold" nodeType="withEffect" grpId="0">
                            <p:stCondLst>
                              <p:cond delay="70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nodeType="withEffect" grpId="0">
                            <p:stCondLst>
                              <p:cond delay="1250"/>
                            </p:stCondLst>
                            <p:childTnLst>
                              <p:set>
                                <p:cBhvr>
                                  <p:cTn id="39" dur="1" fill="hold">
                                    <p:stCondLst>
                                      <p:cond delay="0"/>
                                    </p:stCondLst>
                                  </p:cTn>
                                  <p:tgtEl>
                                    <p:spTgt spid="55"/>
                                  </p:tgtEl>
                                  <p:attrNameLst>
                                    <p:attrName>style.visibility</p:attrName>
                                  </p:attrNameLst>
                                </p:cBhvr>
                                <p:to>
                                  <p:strVal val="visible"/>
                                </p:to>
                              </p:set>
                            </p:childTnLst>
                          </p:cTn>
                        </p:par>
                        <p:par>
                          <p:cTn id="40" presetID="1" presetClass="entr" presetSubtype="0" fill="hold" nodeType="withEffect" grpId="0">
                            <p:stCondLst>
                              <p:cond delay="1250"/>
                            </p:stCondLst>
                            <p:childTnLst>
                              <p:set>
                                <p:cBhvr>
                                  <p:cTn id="41" dur="1" fill="hold">
                                    <p:stCondLst>
                                      <p:cond delay="0"/>
                                    </p:stCondLst>
                                  </p:cTn>
                                  <p:tgtEl>
                                    <p:spTgt spid="56"/>
                                  </p:tgtEl>
                                  <p:attrNameLst>
                                    <p:attrName>style.visibility</p:attrName>
                                  </p:attrNameLst>
                                </p:cBhvr>
                                <p:to>
                                  <p:strVal val="visible"/>
                                </p:to>
                              </p:set>
                            </p:childTnLst>
                          </p:cTn>
                        </p:par>
                        <p:par>
                          <p:cTn id="42" presetID="1" presetClass="entr" presetSubtype="0" fill="hold" nodeType="withEffect" grpId="0">
                            <p:stCondLst>
                              <p:cond delay="1250"/>
                            </p:stCondLst>
                            <p:childTnLst>
                              <p:set>
                                <p:cBhvr>
                                  <p:cTn id="43" dur="1" fill="hold">
                                    <p:stCondLst>
                                      <p:cond delay="0"/>
                                    </p:stCondLst>
                                  </p:cTn>
                                  <p:tgtEl>
                                    <p:spTgt spid="57"/>
                                  </p:tgtEl>
                                  <p:attrNameLst>
                                    <p:attrName>style.visibility</p:attrName>
                                  </p:attrNameLst>
                                </p:cBhvr>
                                <p:to>
                                  <p:strVal val="visible"/>
                                </p:to>
                              </p:set>
                            </p:childTnLst>
                          </p:cTn>
                        </p:par>
                        <p:par>
                          <p:cTn id="44" presetID="1" presetClass="entr" presetSubtype="0" fill="hold" nodeType="withEffect" grpId="0">
                            <p:stCondLst>
                              <p:cond delay="1250"/>
                            </p:stCondLst>
                            <p:childTnLst>
                              <p:set>
                                <p:cBhvr>
                                  <p:cTn id="45" dur="1" fill="hold">
                                    <p:stCondLst>
                                      <p:cond delay="0"/>
                                    </p:stCondLst>
                                  </p:cTn>
                                  <p:tgtEl>
                                    <p:spTgt spid="58"/>
                                  </p:tgtEl>
                                  <p:attrNameLst>
                                    <p:attrName>style.visibility</p:attrName>
                                  </p:attrNameLst>
                                </p:cBhvr>
                                <p:to>
                                  <p:strVal val="visible"/>
                                </p:to>
                              </p:set>
                            </p:childTnLst>
                          </p:cTn>
                        </p:par>
                        <p:par>
                          <p:cTn id="46" presetID="1" presetClass="entr" presetSubtype="0" fill="hold" nodeType="withEffect" grpId="0">
                            <p:stCondLst>
                              <p:cond delay="1250"/>
                            </p:stCondLst>
                            <p:childTnLst>
                              <p:set>
                                <p:cBhvr>
                                  <p:cTn id="47" dur="1" fill="hold">
                                    <p:stCondLst>
                                      <p:cond delay="0"/>
                                    </p:stCondLst>
                                  </p:cTn>
                                  <p:tgtEl>
                                    <p:spTgt spid="59"/>
                                  </p:tgtEl>
                                  <p:attrNameLst>
                                    <p:attrName>style.visibility</p:attrName>
                                  </p:attrNameLst>
                                </p:cBhvr>
                                <p:to>
                                  <p:strVal val="visible"/>
                                </p:to>
                              </p:set>
                            </p:childTnLst>
                          </p:cTn>
                        </p:par>
                        <p:par>
                          <p:cTn id="48" presetID="1" presetClass="entr" presetSubtype="0" fill="hold" nodeType="withEffect" grpId="0">
                            <p:stCondLst>
                              <p:cond delay="1250"/>
                            </p:stCondLst>
                            <p:childTnLst>
                              <p:set>
                                <p:cBhvr>
                                  <p:cTn id="49" dur="1" fill="hold">
                                    <p:stCondLst>
                                      <p:cond delay="0"/>
                                    </p:stCondLst>
                                  </p:cTn>
                                  <p:tgtEl>
                                    <p:spTgt spid="60"/>
                                  </p:tgtEl>
                                  <p:attrNameLst>
                                    <p:attrName>style.visibility</p:attrName>
                                  </p:attrNameLst>
                                </p:cBhvr>
                                <p:to>
                                  <p:strVal val="visible"/>
                                </p:to>
                              </p:set>
                            </p:childTnLst>
                          </p:cTn>
                        </p:par>
                        <p:par>
                          <p:cTn id="50" presetID="1" presetClass="entr" presetSubtype="0" fill="hold" nodeType="withEffect" grpId="0">
                            <p:stCondLst>
                              <p:cond delay="1250"/>
                            </p:stCondLst>
                            <p:childTnLst>
                              <p:set>
                                <p:cBhvr>
                                  <p:cTn id="51" dur="1" fill="hold">
                                    <p:stCondLst>
                                      <p:cond delay="0"/>
                                    </p:stCondLst>
                                  </p:cTn>
                                  <p:tgtEl>
                                    <p:spTgt spid="61"/>
                                  </p:tgtEl>
                                  <p:attrNameLst>
                                    <p:attrName>style.visibility</p:attrName>
                                  </p:attrNameLst>
                                </p:cBhvr>
                                <p:to>
                                  <p:strVal val="visible"/>
                                </p:to>
                              </p:set>
                            </p:childTnLst>
                          </p:cTn>
                        </p:par>
                        <p:par>
                          <p:cTn id="52" presetID="1" presetClass="entr" presetSubtype="0" fill="hold" nodeType="withEffect" grpId="0">
                            <p:stCondLst>
                              <p:cond delay="125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nodeType="withEffect" grpId="0">
                            <p:stCondLst>
                              <p:cond delay="150"/>
                            </p:stCondLst>
                            <p:childTnLst>
                              <p:set>
                                <p:cBhvr>
                                  <p:cTn id="55" dur="1" fill="hold">
                                    <p:stCondLst>
                                      <p:cond delay="0"/>
                                    </p:stCondLst>
                                  </p:cTn>
                                  <p:tgtEl>
                                    <p:spTgt spid="900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29" grpId="0" animBg="1"/>
      <p:bldP spid="32" grpId="0" animBg="1"/>
      <p:bldP spid="48" grpId="0" animBg="1"/>
      <p:bldP spid="49" grpId="0" animBg="1"/>
      <p:bldP spid="50" grpId="0" animBg="1"/>
      <p:bldP spid="51" grpId="0" animBg="1"/>
      <p:bldP spid="52" grpId="0" animBg="1"/>
      <p:bldP spid="53" grpId="0" animBg="1"/>
      <p:bldP spid="54" grpId="0" animBg="1"/>
      <p:bldP spid="35" grpId="0" animBg="1"/>
      <p:bldP spid="55" grpId="0" animBg="1"/>
      <p:bldP spid="56" grpId="0" animBg="1"/>
      <p:bldP spid="57" grpId="0" animBg="1"/>
      <p:bldP spid="58" grpId="0" animBg="1"/>
      <p:bldP spid="59" grpId="0" animBg="1"/>
      <p:bldP spid="60" grpId="0" animBg="1"/>
      <p:bldP spid="61" grpId="0" animBg="1"/>
      <p:bldP spid="38"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heading">
            <a:extLst xmlns:a="http://schemas.openxmlformats.org/drawingml/2006/main">
              <a:ext uri="{FF2B5EF4-FFF2-40B4-BE49-F238E27FC236}">
                <a16:creationId xmlns:a16="http://schemas.microsoft.com/office/drawing/2014/main" id="{E3D172EB-8A76-45B5-8B3A-CEE417487AC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reviewing client updates</a:t>
            </a:r>
          </a:p>
        </p:txBody>
      </p:sp>
      <p:sp>
        <p:nvSpPr>
          <p:cNvPr id="2" name="!!subtitle">
            <a:extLst xmlns:a="http://schemas.openxmlformats.org/drawingml/2006/main">
              <a:ext uri="{FF2B5EF4-FFF2-40B4-BE49-F238E27FC236}">
                <a16:creationId xmlns:a16="http://schemas.microsoft.com/office/drawing/2014/main" id="{B80A2B50-A5CF-438A-81BB-6BAAF33E2B44}"/>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Client-material review  /  Proposed application</a:t>
            </a:r>
          </a:p>
        </p:txBody>
      </p:sp>
      <p:sp>
        <p:nvSpPr>
          <p:cNvPr id="3" name="!!heading.rule">
            <a:extLst xmlns:a="http://schemas.openxmlformats.org/drawingml/2006/main">
              <a:ext uri="{FF2B5EF4-FFF2-40B4-BE49-F238E27FC236}">
                <a16:creationId xmlns:a16="http://schemas.microsoft.com/office/drawing/2014/main" id="{5CE25929-9453-4FF3-909D-B9F93CA64075}"/>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D611174-0E9C-4C33-BD21-5E56020A85A3}"/>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6EF8FCB-5260-44A0-A044-2B34E02D2A87}"/>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67966DB-18F1-46EF-9448-E0EFAFBE8C8A}"/>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E78C9C21-F042-406C-882D-2977A5BF100C}"/>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33A0EB0-750A-4478-B1D8-A5F658B310E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5CE74F0-EA46-4F67-AF94-6D01F2671879}"/>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F15DB82-35E7-4930-996D-5695E0D31570}"/>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A375201-040A-4D97-A69F-47D7AC25E1D3}"/>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81A5C035-C9A4-434B-AA94-2AE0FBF412F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58C387A-34B8-4581-8734-FD3F7F6022E4}"/>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AF37300-D7B1-4043-B25B-A5C95B32AA8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5A17230-0391-4903-B8F2-C916FA1D254E}"/>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B8CA77B-0738-4108-97B7-C0438EB27A7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5275494F-3E83-4248-BA25-7D1B1088B81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5AE2F6-1004-4D1F-BB46-007F3F028CB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C06A3432-6B72-436A-9B02-77EFCE86A09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764F6FB-735B-40F4-ADBE-09CA64B9844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18 / 33</a:t>
            </a:r>
          </a:p>
        </p:txBody>
      </p:sp>
      <p:sp>
        <p:nvSpPr>
          <p:cNvPr id="21" name="!!nav.prev">
            <ns0:hlinkClick xmlns:ns0="http://schemas.openxmlformats.org/drawingml/2006/main" xmlns:ns1="http://schemas.openxmlformats.org/officeDocument/2006/relationships" ns1:id="rIdNavSlide17" action="ppaction://hlinksldjump" tooltip="Slide 17: Penghua and Yingmi: reviewing client materials"/>
            <a:extLst xmlns:a="http://schemas.openxmlformats.org/drawingml/2006/main">
              <a:ext uri="{FF2B5EF4-FFF2-40B4-BE49-F238E27FC236}">
                <a16:creationId xmlns:a16="http://schemas.microsoft.com/office/drawing/2014/main" id="{9F977634-5FF7-4438-87A6-3A2BC0504A45}"/>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4395177-20D2-40BF-8713-5EA0C8C673DC}"/>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F55F645-C9B3-468C-9629-94C3F92AFA3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4A63D45D-F0FB-4608-A801-22DCAE52A07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Penghua / AMAC; Yingmi</a:t>
            </a:r>
          </a:p>
        </p:txBody>
      </p:sp>
      <p:sp>
        <p:nvSpPr>
          <p:cNvPr id="25" name="!!review.inputs">
            <a:extLst xmlns:a="http://schemas.openxmlformats.org/drawingml/2006/main">
              <a:ext uri="{FF2B5EF4-FFF2-40B4-BE49-F238E27FC236}">
                <a16:creationId xmlns:a16="http://schemas.microsoft.com/office/drawing/2014/main" id="{6B6FBF65-7BF2-4284-8AF0-4EE8D7F4B31A}"/>
              </a:ext>
            </a:extLst>
          </p:cNvPr>
          <p:cNvSpPr>
            <a:spLocks xmlns:a="http://schemas.openxmlformats.org/drawingml/2006/main" noGrp="1"/>
          </p:cNvSpPr>
          <p:nvPr/>
        </p:nvSpPr>
        <p:spPr>
          <a:xfrm xmlns:a="http://schemas.openxmlformats.org/drawingml/2006/main">
            <a:off x="4057650" y="2333625"/>
            <a:ext cx="4991100" cy="16192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review.inputs.role">
            <a:extLst xmlns:a="http://schemas.openxmlformats.org/drawingml/2006/main">
              <a:ext uri="{FF2B5EF4-FFF2-40B4-BE49-F238E27FC236}">
                <a16:creationId xmlns:a16="http://schemas.microsoft.com/office/drawing/2014/main" id="{949CA8B3-8018-48B5-BDF1-EBA85FA3D615}"/>
              </a:ext>
            </a:extLst>
          </p:cNvPr>
          <p:cNvSpPr>
            <a:spLocks xmlns:a="http://schemas.openxmlformats.org/drawingml/2006/main" noGrp="1"/>
          </p:cNvSpPr>
          <p:nvPr/>
        </p:nvSpPr>
        <p:spPr>
          <a:xfrm xmlns:a="http://schemas.openxmlformats.org/drawingml/2006/main">
            <a:off x="4248150" y="24765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Author supplies current sources</a:t>
            </a:r>
          </a:p>
        </p:txBody>
      </p:sp>
      <p:sp>
        <p:nvSpPr>
          <p:cNvPr id="27" name="!!review.inputs.body">
            <a:extLst xmlns:a="http://schemas.openxmlformats.org/drawingml/2006/main">
              <a:ext uri="{FF2B5EF4-FFF2-40B4-BE49-F238E27FC236}">
                <a16:creationId xmlns:a16="http://schemas.microsoft.com/office/drawing/2014/main" id="{B9984451-7FB5-4AB1-B77A-63E0F4189F88}"/>
              </a:ext>
            </a:extLst>
          </p:cNvPr>
          <p:cNvSpPr>
            <a:spLocks xmlns:a="http://schemas.openxmlformats.org/drawingml/2006/main" noGrp="1"/>
          </p:cNvSpPr>
          <p:nvPr/>
        </p:nvSpPr>
        <p:spPr>
          <a:xfrm xmlns:a="http://schemas.openxmlformats.org/drawingml/2006/main">
            <a:off x="4248150" y="2886075"/>
            <a:ext cx="46101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Client update V1 and current product sources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Presentation: restocking supported sales volume growth.</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Continued restocking remains uncertain.</a:t>
            </a:r>
          </a:p>
        </p:txBody>
      </p:sp>
      <p:sp>
        <p:nvSpPr>
          <p:cNvPr id="28" name="!!review.tool">
            <a:extLst xmlns:a="http://schemas.openxmlformats.org/drawingml/2006/main">
              <a:ext uri="{FF2B5EF4-FFF2-40B4-BE49-F238E27FC236}">
                <a16:creationId xmlns:a16="http://schemas.microsoft.com/office/drawing/2014/main" id="{F013844C-4595-413B-929C-D0F1D5331BDF}"/>
              </a:ext>
            </a:extLst>
          </p:cNvPr>
          <p:cNvSpPr>
            <a:spLocks xmlns:a="http://schemas.openxmlformats.org/drawingml/2006/main" noGrp="1"/>
          </p:cNvSpPr>
          <p:nvPr/>
        </p:nvSpPr>
        <p:spPr>
          <a:xfrm xmlns:a="http://schemas.openxmlformats.org/drawingml/2006/main">
            <a:off x="4057650" y="4057650"/>
            <a:ext cx="4991100" cy="12763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eview.tool.role">
            <a:extLst xmlns:a="http://schemas.openxmlformats.org/drawingml/2006/main">
              <a:ext uri="{FF2B5EF4-FFF2-40B4-BE49-F238E27FC236}">
                <a16:creationId xmlns:a16="http://schemas.microsoft.com/office/drawing/2014/main" id="{7432D616-06FF-402D-8516-6F87DA4A7B0C}"/>
              </a:ext>
            </a:extLst>
          </p:cNvPr>
          <p:cNvSpPr>
            <a:spLocks xmlns:a="http://schemas.openxmlformats.org/drawingml/2006/main" noGrp="1"/>
          </p:cNvSpPr>
          <p:nvPr/>
        </p:nvSpPr>
        <p:spPr>
          <a:xfrm xmlns:a="http://schemas.openxmlformats.org/drawingml/2006/main">
            <a:off x="4248150" y="4162425"/>
            <a:ext cx="461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Document tools locate</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relevant information</a:t>
            </a:r>
          </a:p>
        </p:txBody>
      </p:sp>
      <p:sp>
        <p:nvSpPr>
          <p:cNvPr id="30" name="!!review.tool.body">
            <a:extLst xmlns:a="http://schemas.openxmlformats.org/drawingml/2006/main">
              <a:ext uri="{FF2B5EF4-FFF2-40B4-BE49-F238E27FC236}">
                <a16:creationId xmlns:a16="http://schemas.microsoft.com/office/drawing/2014/main" id="{6195524E-BEFB-4F42-B94C-4A500961B5F8}"/>
              </a:ext>
            </a:extLst>
          </p:cNvPr>
          <p:cNvSpPr>
            <a:spLocks xmlns:a="http://schemas.openxmlformats.org/drawingml/2006/main" noGrp="1"/>
          </p:cNvSpPr>
          <p:nvPr/>
        </p:nvSpPr>
        <p:spPr>
          <a:xfrm xmlns:a="http://schemas.openxmlformats.org/drawingml/2006/main">
            <a:off x="4248150" y="4762500"/>
            <a:ext cx="4610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Match fund names, reporting periods</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and source passages</a:t>
            </a:r>
          </a:p>
        </p:txBody>
      </p:sp>
      <p:sp>
        <p:nvSpPr>
          <p:cNvPr id="31" name="!!review.llm">
            <a:extLst xmlns:a="http://schemas.openxmlformats.org/drawingml/2006/main">
              <a:ext uri="{FF2B5EF4-FFF2-40B4-BE49-F238E27FC236}">
                <a16:creationId xmlns:a16="http://schemas.microsoft.com/office/drawing/2014/main" id="{0200C0B5-437F-4CFD-80E1-4383E6994761}"/>
              </a:ext>
            </a:extLst>
          </p:cNvPr>
          <p:cNvSpPr>
            <a:spLocks xmlns:a="http://schemas.openxmlformats.org/drawingml/2006/main" noGrp="1"/>
          </p:cNvSpPr>
          <p:nvPr/>
        </p:nvSpPr>
        <p:spPr>
          <a:xfrm xmlns:a="http://schemas.openxmlformats.org/drawingml/2006/main">
            <a:off x="4057650" y="5457825"/>
            <a:ext cx="4991100" cy="17335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review.llm.role">
            <a:extLst xmlns:a="http://schemas.openxmlformats.org/drawingml/2006/main">
              <a:ext uri="{FF2B5EF4-FFF2-40B4-BE49-F238E27FC236}">
                <a16:creationId xmlns:a16="http://schemas.microsoft.com/office/drawing/2014/main" id="{42EAA367-D2F9-4D80-9F24-69A0DA6FBC10}"/>
              </a:ext>
            </a:extLst>
          </p:cNvPr>
          <p:cNvSpPr>
            <a:spLocks xmlns:a="http://schemas.openxmlformats.org/drawingml/2006/main" noGrp="1"/>
          </p:cNvSpPr>
          <p:nvPr/>
        </p:nvSpPr>
        <p:spPr>
          <a:xfrm xmlns:a="http://schemas.openxmlformats.org/drawingml/2006/main">
            <a:off x="4248150" y="5553075"/>
            <a:ext cx="461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explains issues</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and proposes revisions</a:t>
            </a:r>
          </a:p>
        </p:txBody>
      </p:sp>
      <p:sp>
        <p:nvSpPr>
          <p:cNvPr id="33" name="!!review.llm.body">
            <a:extLst xmlns:a="http://schemas.openxmlformats.org/drawingml/2006/main">
              <a:ext uri="{FF2B5EF4-FFF2-40B4-BE49-F238E27FC236}">
                <a16:creationId xmlns:a16="http://schemas.microsoft.com/office/drawing/2014/main" id="{4A0805C6-861C-4483-AD09-70D805628396}"/>
              </a:ext>
            </a:extLst>
          </p:cNvPr>
          <p:cNvSpPr>
            <a:spLocks xmlns:a="http://schemas.openxmlformats.org/drawingml/2006/main" noGrp="1"/>
          </p:cNvSpPr>
          <p:nvPr/>
        </p:nvSpPr>
        <p:spPr>
          <a:xfrm xmlns:a="http://schemas.openxmlformats.org/drawingml/2006/main">
            <a:off x="4248150" y="6115050"/>
            <a:ext cx="46101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Add the sales volume driver: channel restocking</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Retain uncertainty over continued restocking</a:t>
            </a:r>
          </a:p>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Use the product’s specific risk wording</a:t>
            </a:r>
          </a:p>
        </p:txBody>
      </p:sp>
      <p:sp>
        <p:nvSpPr>
          <p:cNvPr id="34" name="!!clientDoc">
            <a:extLst xmlns:a="http://schemas.openxmlformats.org/drawingml/2006/main">
              <a:ext uri="{FF2B5EF4-FFF2-40B4-BE49-F238E27FC236}">
                <a16:creationId xmlns:a16="http://schemas.microsoft.com/office/drawing/2014/main" id="{9A553444-4C2D-4649-AD38-A93372D92628}"/>
              </a:ext>
            </a:extLst>
          </p:cNvPr>
          <p:cNvSpPr>
            <a:spLocks xmlns:a="http://schemas.openxmlformats.org/drawingml/2006/main" noGrp="1"/>
          </p:cNvSpPr>
          <p:nvPr/>
        </p:nvSpPr>
        <p:spPr>
          <a:xfrm xmlns:a="http://schemas.openxmlformats.org/drawingml/2006/main">
            <a:off x="9353550" y="2333625"/>
            <a:ext cx="5238750" cy="4857750"/>
          </a:xfrm>
          <a:prstGeom xmlns:a="http://schemas.openxmlformats.org/drawingml/2006/main" prst="rect">
            <a:avLst/>
          </a:prstGeom>
          <a:solidFill xmlns:a="http://schemas.openxmlformats.org/drawingml/2006/main">
            <a:srgbClr val="FFFFFF"/>
          </a:solidFill>
          <a:ln xmlns:a="http://schemas.openxmlformats.org/drawingml/2006/main" w="13335">
            <a:solidFill>
              <a:srgbClr val="7363A6"/>
            </a:solidFill>
            <a:prstDash val="solid"/>
          </a:ln>
        </p:spPr>
      </p:sp>
      <p:sp>
        <p:nvSpPr>
          <p:cNvPr id="35" name="!!clientDoc.title">
            <a:extLst xmlns:a="http://schemas.openxmlformats.org/drawingml/2006/main">
              <a:ext uri="{FF2B5EF4-FFF2-40B4-BE49-F238E27FC236}">
                <a16:creationId xmlns:a16="http://schemas.microsoft.com/office/drawing/2014/main" id="{C3DE6A10-7944-4B16-A9F2-3302C35A6232}"/>
              </a:ext>
            </a:extLst>
          </p:cNvPr>
          <p:cNvSpPr>
            <a:spLocks xmlns:a="http://schemas.openxmlformats.org/drawingml/2006/main" noGrp="1"/>
          </p:cNvSpPr>
          <p:nvPr/>
        </p:nvSpPr>
        <p:spPr>
          <a:xfrm xmlns:a="http://schemas.openxmlformats.org/drawingml/2006/main">
            <a:off x="9582150" y="2514600"/>
            <a:ext cx="423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363A6"/>
                </a:solidFill>
                <a:latin typeface="Arial"/>
                <a:ea typeface="Arial"/>
                <a:cs typeface="Arial"/>
              </a:defRPr>
            </a:defPPr>
            <a:lvl1pPr algn="l">
              <a:defRPr sz="1950" b="1">
                <a:solidFill>
                  <a:srgbClr val="7363A6"/>
                </a:solidFill>
                <a:latin typeface="Arial"/>
                <a:ea typeface="Arial"/>
                <a:cs typeface="Arial"/>
              </a:defRPr>
            </a:lvl1pPr>
            <a:lvl2pPr algn="l">
              <a:defRPr sz="1950" b="1">
                <a:solidFill>
                  <a:srgbClr val="7363A6"/>
                </a:solidFill>
                <a:latin typeface="Arial"/>
                <a:ea typeface="Arial"/>
                <a:cs typeface="Arial"/>
              </a:defRPr>
            </a:lvl2pPr>
            <a:lvl3pPr algn="l">
              <a:defRPr sz="1950" b="1">
                <a:solidFill>
                  <a:srgbClr val="7363A6"/>
                </a:solidFill>
                <a:latin typeface="Arial"/>
                <a:ea typeface="Arial"/>
                <a:cs typeface="Arial"/>
              </a:defRPr>
            </a:lvl3pPr>
            <a:lvl4pPr algn="l">
              <a:defRPr sz="1950" b="1">
                <a:solidFill>
                  <a:srgbClr val="7363A6"/>
                </a:solidFill>
                <a:latin typeface="Arial"/>
                <a:ea typeface="Arial"/>
                <a:cs typeface="Arial"/>
              </a:defRPr>
            </a:lvl4pPr>
            <a:lvl5pPr algn="l">
              <a:defRPr sz="1950" b="1">
                <a:solidFill>
                  <a:srgbClr val="7363A6"/>
                </a:solidFill>
                <a:latin typeface="Arial"/>
                <a:ea typeface="Arial"/>
                <a:cs typeface="Arial"/>
              </a:defRPr>
            </a:lvl5pPr>
            <a:lvl6pPr algn="l">
              <a:defRPr sz="1950" b="1">
                <a:solidFill>
                  <a:srgbClr val="7363A6"/>
                </a:solidFill>
                <a:latin typeface="Arial"/>
                <a:ea typeface="Arial"/>
                <a:cs typeface="Arial"/>
              </a:defRPr>
            </a:lvl6pPr>
            <a:lvl7pPr algn="l">
              <a:defRPr sz="1950" b="1">
                <a:solidFill>
                  <a:srgbClr val="7363A6"/>
                </a:solidFill>
                <a:latin typeface="Arial"/>
                <a:ea typeface="Arial"/>
                <a:cs typeface="Arial"/>
              </a:defRPr>
            </a:lvl7pPr>
            <a:lvl8pPr algn="l">
              <a:defRPr sz="1950" b="1">
                <a:solidFill>
                  <a:srgbClr val="7363A6"/>
                </a:solidFill>
                <a:latin typeface="Arial"/>
                <a:ea typeface="Arial"/>
                <a:cs typeface="Arial"/>
              </a:defRPr>
            </a:lvl8pPr>
            <a:lvl9pPr algn="l">
              <a:defRPr sz="1950" b="1">
                <a:solidFill>
                  <a:srgbClr val="7363A6"/>
                </a:solidFill>
                <a:latin typeface="Arial"/>
                <a:ea typeface="Arial"/>
                <a:cs typeface="Arial"/>
              </a:defRPr>
            </a:lvl9pPr>
          </a:lstStyle>
          <a:p xmlns:a="http://schemas.openxmlformats.org/drawingml/2006/main">
            <a:pPr algn="l">
              <a:defRPr sz="1950" b="1">
                <a:solidFill>
                  <a:srgbClr val="7363A6"/>
                </a:solidFill>
                <a:latin typeface="Arial"/>
                <a:ea typeface="Arial"/>
                <a:cs typeface="Arial"/>
              </a:defRPr>
            </a:pPr>
            <a:r>
              <a:rPr sz="1950" b="1">
                <a:solidFill>
                  <a:srgbClr val="7363A6"/>
                </a:solidFill>
                <a:latin typeface="Arial"/>
                <a:ea typeface="Arial"/>
                <a:cs typeface="Arial"/>
              </a:rPr>
              <a:t>Quarterly client update</a:t>
            </a:r>
          </a:p>
        </p:txBody>
      </p:sp>
      <p:sp>
        <p:nvSpPr>
          <p:cNvPr id="36" name="!!clientDoc.version">
            <a:extLst xmlns:a="http://schemas.openxmlformats.org/drawingml/2006/main">
              <a:ext uri="{FF2B5EF4-FFF2-40B4-BE49-F238E27FC236}">
                <a16:creationId xmlns:a16="http://schemas.microsoft.com/office/drawing/2014/main" id="{656967B3-07A7-467F-9886-4BD8A966AFC3}"/>
              </a:ext>
            </a:extLst>
          </p:cNvPr>
          <p:cNvSpPr>
            <a:spLocks xmlns:a="http://schemas.openxmlformats.org/drawingml/2006/main" noGrp="1"/>
          </p:cNvSpPr>
          <p:nvPr/>
        </p:nvSpPr>
        <p:spPr>
          <a:xfrm xmlns:a="http://schemas.openxmlformats.org/drawingml/2006/main">
            <a:off x="13677900" y="2533650"/>
            <a:ext cx="676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7363A6"/>
                </a:solidFill>
                <a:latin typeface="Arial"/>
                <a:ea typeface="Arial"/>
                <a:cs typeface="Arial"/>
              </a:defRPr>
            </a:defPPr>
            <a:lvl1pPr algn="r">
              <a:defRPr sz="1650" b="1">
                <a:solidFill>
                  <a:srgbClr val="7363A6"/>
                </a:solidFill>
                <a:latin typeface="Arial"/>
                <a:ea typeface="Arial"/>
                <a:cs typeface="Arial"/>
              </a:defRPr>
            </a:lvl1pPr>
            <a:lvl2pPr algn="r">
              <a:defRPr sz="1650" b="1">
                <a:solidFill>
                  <a:srgbClr val="7363A6"/>
                </a:solidFill>
                <a:latin typeface="Arial"/>
                <a:ea typeface="Arial"/>
                <a:cs typeface="Arial"/>
              </a:defRPr>
            </a:lvl2pPr>
            <a:lvl3pPr algn="r">
              <a:defRPr sz="1650" b="1">
                <a:solidFill>
                  <a:srgbClr val="7363A6"/>
                </a:solidFill>
                <a:latin typeface="Arial"/>
                <a:ea typeface="Arial"/>
                <a:cs typeface="Arial"/>
              </a:defRPr>
            </a:lvl3pPr>
            <a:lvl4pPr algn="r">
              <a:defRPr sz="1650" b="1">
                <a:solidFill>
                  <a:srgbClr val="7363A6"/>
                </a:solidFill>
                <a:latin typeface="Arial"/>
                <a:ea typeface="Arial"/>
                <a:cs typeface="Arial"/>
              </a:defRPr>
            </a:lvl4pPr>
            <a:lvl5pPr algn="r">
              <a:defRPr sz="1650" b="1">
                <a:solidFill>
                  <a:srgbClr val="7363A6"/>
                </a:solidFill>
                <a:latin typeface="Arial"/>
                <a:ea typeface="Arial"/>
                <a:cs typeface="Arial"/>
              </a:defRPr>
            </a:lvl5pPr>
            <a:lvl6pPr algn="r">
              <a:defRPr sz="1650" b="1">
                <a:solidFill>
                  <a:srgbClr val="7363A6"/>
                </a:solidFill>
                <a:latin typeface="Arial"/>
                <a:ea typeface="Arial"/>
                <a:cs typeface="Arial"/>
              </a:defRPr>
            </a:lvl6pPr>
            <a:lvl7pPr algn="r">
              <a:defRPr sz="1650" b="1">
                <a:solidFill>
                  <a:srgbClr val="7363A6"/>
                </a:solidFill>
                <a:latin typeface="Arial"/>
                <a:ea typeface="Arial"/>
                <a:cs typeface="Arial"/>
              </a:defRPr>
            </a:lvl7pPr>
            <a:lvl8pPr algn="r">
              <a:defRPr sz="1650" b="1">
                <a:solidFill>
                  <a:srgbClr val="7363A6"/>
                </a:solidFill>
                <a:latin typeface="Arial"/>
                <a:ea typeface="Arial"/>
                <a:cs typeface="Arial"/>
              </a:defRPr>
            </a:lvl8pPr>
            <a:lvl9pPr algn="r">
              <a:defRPr sz="1650" b="1">
                <a:solidFill>
                  <a:srgbClr val="7363A6"/>
                </a:solidFill>
                <a:latin typeface="Arial"/>
                <a:ea typeface="Arial"/>
                <a:cs typeface="Arial"/>
              </a:defRPr>
            </a:lvl9pPr>
          </a:lstStyle>
          <a:p xmlns:a="http://schemas.openxmlformats.org/drawingml/2006/main">
            <a:pPr algn="r">
              <a:defRPr sz="1650" b="1">
                <a:solidFill>
                  <a:srgbClr val="7363A6"/>
                </a:solidFill>
                <a:latin typeface="Arial"/>
                <a:ea typeface="Arial"/>
                <a:cs typeface="Arial"/>
              </a:defRPr>
            </a:pPr>
            <a:r>
              <a:rPr sz="1650" b="1">
                <a:solidFill>
                  <a:srgbClr val="7363A6"/>
                </a:solidFill>
                <a:latin typeface="Arial"/>
                <a:ea typeface="Arial"/>
                <a:cs typeface="Arial"/>
              </a:rPr>
              <a:t>V2</a:t>
            </a:r>
          </a:p>
        </p:txBody>
      </p:sp>
      <p:sp>
        <p:nvSpPr>
          <p:cNvPr id="37" name="!!clientDoc.rule">
            <a:extLst xmlns:a="http://schemas.openxmlformats.org/drawingml/2006/main">
              <a:ext uri="{FF2B5EF4-FFF2-40B4-BE49-F238E27FC236}">
                <a16:creationId xmlns:a16="http://schemas.microsoft.com/office/drawing/2014/main" id="{701C98FF-BBFC-40FB-AECC-B2542A2FA09A}"/>
              </a:ext>
            </a:extLst>
          </p:cNvPr>
          <p:cNvSpPr>
            <a:spLocks xmlns:a="http://schemas.openxmlformats.org/drawingml/2006/main" noGrp="1"/>
          </p:cNvSpPr>
          <p:nvPr/>
        </p:nvSpPr>
        <p:spPr>
          <a:xfrm xmlns:a="http://schemas.openxmlformats.org/drawingml/2006/main" flipH="0" flipV="0">
            <a:off x="9582150" y="3057525"/>
            <a:ext cx="47815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38" name="!!clientDoc.highlight.product">
            <a:extLst xmlns:a="http://schemas.openxmlformats.org/drawingml/2006/main">
              <a:ext uri="{FF2B5EF4-FFF2-40B4-BE49-F238E27FC236}">
                <a16:creationId xmlns:a16="http://schemas.microsoft.com/office/drawing/2014/main" id="{EB235ECF-7F75-4E81-93D3-78768C3DB329}"/>
              </a:ext>
            </a:extLst>
          </p:cNvPr>
          <p:cNvSpPr>
            <a:spLocks xmlns:a="http://schemas.openxmlformats.org/drawingml/2006/main" noGrp="1"/>
          </p:cNvSpPr>
          <p:nvPr/>
        </p:nvSpPr>
        <p:spPr>
          <a:xfrm xmlns:a="http://schemas.openxmlformats.org/drawingml/2006/main">
            <a:off x="9515475" y="3190875"/>
            <a:ext cx="4914900" cy="8001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39" name="!!clientDoc.label.product">
            <a:extLst xmlns:a="http://schemas.openxmlformats.org/drawingml/2006/main">
              <a:ext uri="{FF2B5EF4-FFF2-40B4-BE49-F238E27FC236}">
                <a16:creationId xmlns:a16="http://schemas.microsoft.com/office/drawing/2014/main" id="{486D8C6D-8883-4869-8E24-6973321BBA9E}"/>
              </a:ext>
            </a:extLst>
          </p:cNvPr>
          <p:cNvSpPr>
            <a:spLocks xmlns:a="http://schemas.openxmlformats.org/drawingml/2006/main" noGrp="1"/>
          </p:cNvSpPr>
          <p:nvPr/>
        </p:nvSpPr>
        <p:spPr>
          <a:xfrm xmlns:a="http://schemas.openxmlformats.org/drawingml/2006/main">
            <a:off x="9591675" y="32480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Fund name</a:t>
            </a:r>
          </a:p>
        </p:txBody>
      </p:sp>
      <p:sp>
        <p:nvSpPr>
          <p:cNvPr id="40" name="!!clientDoc.value.product">
            <a:extLst xmlns:a="http://schemas.openxmlformats.org/drawingml/2006/main">
              <a:ext uri="{FF2B5EF4-FFF2-40B4-BE49-F238E27FC236}">
                <a16:creationId xmlns:a16="http://schemas.microsoft.com/office/drawing/2014/main" id="{A793B7AC-F68D-42B9-8716-200AB0912767}"/>
              </a:ext>
            </a:extLst>
          </p:cNvPr>
          <p:cNvSpPr>
            <a:spLocks xmlns:a="http://schemas.openxmlformats.org/drawingml/2006/main" noGrp="1"/>
          </p:cNvSpPr>
          <p:nvPr/>
        </p:nvSpPr>
        <p:spPr>
          <a:xfrm xmlns:a="http://schemas.openxmlformats.org/drawingml/2006/main">
            <a:off x="9591675" y="3552825"/>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Product A Select Mixed-Asset Fund</a:t>
            </a:r>
          </a:p>
        </p:txBody>
      </p:sp>
      <p:sp>
        <p:nvSpPr>
          <p:cNvPr id="41" name="!!clientDoc.highlight.period">
            <a:extLst xmlns:a="http://schemas.openxmlformats.org/drawingml/2006/main">
              <a:ext uri="{FF2B5EF4-FFF2-40B4-BE49-F238E27FC236}">
                <a16:creationId xmlns:a16="http://schemas.microsoft.com/office/drawing/2014/main" id="{4AA8EA7A-453A-43AF-944D-2683421D0F7B}"/>
              </a:ext>
            </a:extLst>
          </p:cNvPr>
          <p:cNvSpPr>
            <a:spLocks xmlns:a="http://schemas.openxmlformats.org/drawingml/2006/main" noGrp="1"/>
          </p:cNvSpPr>
          <p:nvPr/>
        </p:nvSpPr>
        <p:spPr>
          <a:xfrm xmlns:a="http://schemas.openxmlformats.org/drawingml/2006/main">
            <a:off x="9515475" y="3914775"/>
            <a:ext cx="4914900" cy="6858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2" name="!!clientDoc.label.period">
            <a:extLst xmlns:a="http://schemas.openxmlformats.org/drawingml/2006/main">
              <a:ext uri="{FF2B5EF4-FFF2-40B4-BE49-F238E27FC236}">
                <a16:creationId xmlns:a16="http://schemas.microsoft.com/office/drawing/2014/main" id="{0F7BBD74-0483-44A5-9E15-A7EE9C1CB3F1}"/>
              </a:ext>
            </a:extLst>
          </p:cNvPr>
          <p:cNvSpPr>
            <a:spLocks xmlns:a="http://schemas.openxmlformats.org/drawingml/2006/main" noGrp="1"/>
          </p:cNvSpPr>
          <p:nvPr/>
        </p:nvSpPr>
        <p:spPr>
          <a:xfrm xmlns:a="http://schemas.openxmlformats.org/drawingml/2006/main">
            <a:off x="9591675" y="39719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Source version</a:t>
            </a:r>
          </a:p>
        </p:txBody>
      </p:sp>
      <p:sp>
        <p:nvSpPr>
          <p:cNvPr id="43" name="!!clientDoc.value.period">
            <a:extLst xmlns:a="http://schemas.openxmlformats.org/drawingml/2006/main">
              <a:ext uri="{FF2B5EF4-FFF2-40B4-BE49-F238E27FC236}">
                <a16:creationId xmlns:a16="http://schemas.microsoft.com/office/drawing/2014/main" id="{E04352E7-18D5-49E0-A73C-3ACCD3858397}"/>
              </a:ext>
            </a:extLst>
          </p:cNvPr>
          <p:cNvSpPr>
            <a:spLocks xmlns:a="http://schemas.openxmlformats.org/drawingml/2006/main" noGrp="1"/>
          </p:cNvSpPr>
          <p:nvPr/>
        </p:nvSpPr>
        <p:spPr>
          <a:xfrm xmlns:a="http://schemas.openxmlformats.org/drawingml/2006/main">
            <a:off x="9591675" y="42767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Q3 2026 product information, V2</a:t>
            </a:r>
          </a:p>
        </p:txBody>
      </p:sp>
      <p:sp>
        <p:nvSpPr>
          <p:cNvPr id="44" name="!!clientDoc.highlight.view">
            <a:extLst xmlns:a="http://schemas.openxmlformats.org/drawingml/2006/main">
              <a:ext uri="{FF2B5EF4-FFF2-40B4-BE49-F238E27FC236}">
                <a16:creationId xmlns:a16="http://schemas.microsoft.com/office/drawing/2014/main" id="{6423DB56-AA22-444E-BA03-65E31D70447E}"/>
              </a:ext>
            </a:extLst>
          </p:cNvPr>
          <p:cNvSpPr>
            <a:spLocks xmlns:a="http://schemas.openxmlformats.org/drawingml/2006/main" noGrp="1"/>
          </p:cNvSpPr>
          <p:nvPr/>
        </p:nvSpPr>
        <p:spPr>
          <a:xfrm xmlns:a="http://schemas.openxmlformats.org/drawingml/2006/main">
            <a:off x="9515475" y="4638675"/>
            <a:ext cx="4914900" cy="160020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5" name="!!clientDoc.label.view">
            <a:extLst xmlns:a="http://schemas.openxmlformats.org/drawingml/2006/main">
              <a:ext uri="{FF2B5EF4-FFF2-40B4-BE49-F238E27FC236}">
                <a16:creationId xmlns:a16="http://schemas.microsoft.com/office/drawing/2014/main" id="{BCA686C9-7C79-45B1-917B-00C3DA90DC7D}"/>
              </a:ext>
            </a:extLst>
          </p:cNvPr>
          <p:cNvSpPr>
            <a:spLocks xmlns:a="http://schemas.openxmlformats.org/drawingml/2006/main" noGrp="1"/>
          </p:cNvSpPr>
          <p:nvPr/>
        </p:nvSpPr>
        <p:spPr>
          <a:xfrm xmlns:a="http://schemas.openxmlformats.org/drawingml/2006/main">
            <a:off x="9591675" y="46958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Investment view</a:t>
            </a:r>
          </a:p>
        </p:txBody>
      </p:sp>
      <p:sp>
        <p:nvSpPr>
          <p:cNvPr id="46" name="!!clientDoc.value.view">
            <a:extLst xmlns:a="http://schemas.openxmlformats.org/drawingml/2006/main">
              <a:ext uri="{FF2B5EF4-FFF2-40B4-BE49-F238E27FC236}">
                <a16:creationId xmlns:a16="http://schemas.microsoft.com/office/drawing/2014/main" id="{5DD441A2-A2FE-4F58-8737-93BF47D9E6E7}"/>
              </a:ext>
            </a:extLst>
          </p:cNvPr>
          <p:cNvSpPr>
            <a:spLocks xmlns:a="http://schemas.openxmlformats.org/drawingml/2006/main" noGrp="1"/>
          </p:cNvSpPr>
          <p:nvPr/>
        </p:nvSpPr>
        <p:spPr>
          <a:xfrm xmlns:a="http://schemas.openxmlformats.org/drawingml/2006/main">
            <a:off x="9591675" y="5000625"/>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Channel restocking supported Company A’s sales volume growth.</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We are monitoring whether restocking continues, alongside raw-material costs.</a:t>
            </a:r>
          </a:p>
        </p:txBody>
      </p:sp>
      <p:sp>
        <p:nvSpPr>
          <p:cNvPr id="47" name="!!clientDoc.highlight.risk">
            <a:extLst xmlns:a="http://schemas.openxmlformats.org/drawingml/2006/main">
              <a:ext uri="{FF2B5EF4-FFF2-40B4-BE49-F238E27FC236}">
                <a16:creationId xmlns:a16="http://schemas.microsoft.com/office/drawing/2014/main" id="{A6A2D220-E74C-4A89-BA8B-F685EA782D57}"/>
              </a:ext>
            </a:extLst>
          </p:cNvPr>
          <p:cNvSpPr>
            <a:spLocks xmlns:a="http://schemas.openxmlformats.org/drawingml/2006/main" noGrp="1"/>
          </p:cNvSpPr>
          <p:nvPr/>
        </p:nvSpPr>
        <p:spPr>
          <a:xfrm xmlns:a="http://schemas.openxmlformats.org/drawingml/2006/main">
            <a:off x="9515475" y="6305550"/>
            <a:ext cx="4914900" cy="819150"/>
          </a:xfrm>
          <a:prstGeom xmlns:a="http://schemas.openxmlformats.org/drawingml/2006/main" prst="rect">
            <a:avLst/>
          </a:prstGeom>
          <ns0:solidFill xmlns:ns0="http://schemas.openxmlformats.org/drawingml/2006/main">
            <ns0:srgbClr val="FFF0BE"/>
          </ns0:solidFill>
          <a:ln xmlns:a="http://schemas.openxmlformats.org/drawingml/2006/main" w="0">
            <a:noFill/>
            <a:prstDash val="solid"/>
          </a:ln>
        </p:spPr>
      </p:sp>
      <p:sp>
        <p:nvSpPr>
          <p:cNvPr id="48" name="!!clientDoc.label.risk">
            <a:extLst xmlns:a="http://schemas.openxmlformats.org/drawingml/2006/main">
              <a:ext uri="{FF2B5EF4-FFF2-40B4-BE49-F238E27FC236}">
                <a16:creationId xmlns:a16="http://schemas.microsoft.com/office/drawing/2014/main" id="{F1F677E7-8D8E-403B-99AA-B20F8C5D6534}"/>
              </a:ext>
            </a:extLst>
          </p:cNvPr>
          <p:cNvSpPr>
            <a:spLocks xmlns:a="http://schemas.openxmlformats.org/drawingml/2006/main" noGrp="1"/>
          </p:cNvSpPr>
          <p:nvPr/>
        </p:nvSpPr>
        <p:spPr>
          <a:xfrm xmlns:a="http://schemas.openxmlformats.org/drawingml/2006/main">
            <a:off x="9591675" y="6362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0262C"/>
                </a:solidFill>
                <a:latin typeface="Arial"/>
                <a:ea typeface="Arial"/>
                <a:cs typeface="Arial"/>
              </a:defRPr>
            </a:defPPr>
            <a:lvl1pPr algn="l">
              <a:defRPr sz="1575" b="1">
                <a:solidFill>
                  <a:srgbClr val="20262C"/>
                </a:solidFill>
                <a:latin typeface="Arial"/>
                <a:ea typeface="Arial"/>
                <a:cs typeface="Arial"/>
              </a:defRPr>
            </a:lvl1pPr>
            <a:lvl2pPr algn="l">
              <a:defRPr sz="1575" b="1">
                <a:solidFill>
                  <a:srgbClr val="20262C"/>
                </a:solidFill>
                <a:latin typeface="Arial"/>
                <a:ea typeface="Arial"/>
                <a:cs typeface="Arial"/>
              </a:defRPr>
            </a:lvl2pPr>
            <a:lvl3pPr algn="l">
              <a:defRPr sz="1575" b="1">
                <a:solidFill>
                  <a:srgbClr val="20262C"/>
                </a:solidFill>
                <a:latin typeface="Arial"/>
                <a:ea typeface="Arial"/>
                <a:cs typeface="Arial"/>
              </a:defRPr>
            </a:lvl3pPr>
            <a:lvl4pPr algn="l">
              <a:defRPr sz="1575" b="1">
                <a:solidFill>
                  <a:srgbClr val="20262C"/>
                </a:solidFill>
                <a:latin typeface="Arial"/>
                <a:ea typeface="Arial"/>
                <a:cs typeface="Arial"/>
              </a:defRPr>
            </a:lvl4pPr>
            <a:lvl5pPr algn="l">
              <a:defRPr sz="1575" b="1">
                <a:solidFill>
                  <a:srgbClr val="20262C"/>
                </a:solidFill>
                <a:latin typeface="Arial"/>
                <a:ea typeface="Arial"/>
                <a:cs typeface="Arial"/>
              </a:defRPr>
            </a:lvl5pPr>
            <a:lvl6pPr algn="l">
              <a:defRPr sz="1575" b="1">
                <a:solidFill>
                  <a:srgbClr val="20262C"/>
                </a:solidFill>
                <a:latin typeface="Arial"/>
                <a:ea typeface="Arial"/>
                <a:cs typeface="Arial"/>
              </a:defRPr>
            </a:lvl6pPr>
            <a:lvl7pPr algn="l">
              <a:defRPr sz="1575" b="1">
                <a:solidFill>
                  <a:srgbClr val="20262C"/>
                </a:solidFill>
                <a:latin typeface="Arial"/>
                <a:ea typeface="Arial"/>
                <a:cs typeface="Arial"/>
              </a:defRPr>
            </a:lvl7pPr>
            <a:lvl8pPr algn="l">
              <a:defRPr sz="1575" b="1">
                <a:solidFill>
                  <a:srgbClr val="20262C"/>
                </a:solidFill>
                <a:latin typeface="Arial"/>
                <a:ea typeface="Arial"/>
                <a:cs typeface="Arial"/>
              </a:defRPr>
            </a:lvl8pPr>
            <a:lvl9pPr algn="l">
              <a:defRPr sz="1575" b="1">
                <a:solidFill>
                  <a:srgbClr val="20262C"/>
                </a:solidFill>
                <a:latin typeface="Arial"/>
                <a:ea typeface="Arial"/>
                <a:cs typeface="Arial"/>
              </a:defRPr>
            </a:lvl9pPr>
          </a:lstStyle>
          <a:p xmlns:a="http://schemas.openxmlformats.org/drawingml/2006/main">
            <a:pPr algn="l">
              <a:defRPr sz="1575" b="1">
                <a:solidFill>
                  <a:srgbClr val="20262C"/>
                </a:solidFill>
                <a:latin typeface="Arial"/>
                <a:ea typeface="Arial"/>
                <a:cs typeface="Arial"/>
              </a:defRPr>
            </a:pPr>
            <a:r>
              <a:rPr sz="1575" b="1">
                <a:solidFill>
                  <a:srgbClr val="20262C"/>
                </a:solidFill>
                <a:latin typeface="Arial"/>
                <a:ea typeface="Arial"/>
                <a:cs typeface="Arial"/>
              </a:rPr>
              <a:t>Risk disclosure</a:t>
            </a:r>
          </a:p>
        </p:txBody>
      </p:sp>
      <p:sp>
        <p:nvSpPr>
          <p:cNvPr id="49" name="!!clientDoc.value.risk">
            <a:extLst xmlns:a="http://schemas.openxmlformats.org/drawingml/2006/main">
              <a:ext uri="{FF2B5EF4-FFF2-40B4-BE49-F238E27FC236}">
                <a16:creationId xmlns:a16="http://schemas.microsoft.com/office/drawing/2014/main" id="{8B732EC0-698C-4B93-AEFF-C66097B36191}"/>
              </a:ext>
            </a:extLst>
          </p:cNvPr>
          <p:cNvSpPr>
            <a:spLocks xmlns:a="http://schemas.openxmlformats.org/drawingml/2006/main" noGrp="1"/>
          </p:cNvSpPr>
          <p:nvPr/>
        </p:nvSpPr>
        <p:spPr>
          <a:xfrm xmlns:a="http://schemas.openxmlformats.org/drawingml/2006/main">
            <a:off x="9591675" y="66103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The fund’s NAV fluctuates with market conditions.</a:t>
            </a:r>
          </a:p>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Capital is at risk.</a:t>
            </a:r>
          </a:p>
        </p:txBody>
      </p:sp>
      <p:sp>
        <p:nvSpPr>
          <p:cNvPr id="50" name="!!review.toRevision.line">
            <a:extLst xmlns:a="http://schemas.openxmlformats.org/drawingml/2006/main">
              <a:ext uri="{FF2B5EF4-FFF2-40B4-BE49-F238E27FC236}">
                <a16:creationId xmlns:a16="http://schemas.microsoft.com/office/drawing/2014/main" id="{B36A578A-0706-408A-8D97-74F83205EC19}"/>
              </a:ext>
            </a:extLst>
          </p:cNvPr>
          <p:cNvSpPr>
            <a:spLocks xmlns:a="http://schemas.openxmlformats.org/drawingml/2006/main" noGrp="1"/>
          </p:cNvSpPr>
          <p:nvPr/>
        </p:nvSpPr>
        <p:spPr>
          <a:xfrm xmlns:a="http://schemas.openxmlformats.org/drawingml/2006/main" flipH="0" flipV="0">
            <a:off x="9086850" y="5915025"/>
            <a:ext cx="1619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1" name="!!review.toRevision.tip">
            <a:extLst xmlns:a="http://schemas.openxmlformats.org/drawingml/2006/main">
              <a:ext uri="{FF2B5EF4-FFF2-40B4-BE49-F238E27FC236}">
                <a16:creationId xmlns:a16="http://schemas.microsoft.com/office/drawing/2014/main" id="{0EF93B2C-2019-46FD-A0DE-23BC3BCFFDC9}"/>
              </a:ext>
            </a:extLst>
          </p:cNvPr>
          <p:cNvSpPr>
            <a:spLocks xmlns:a="http://schemas.openxmlformats.org/drawingml/2006/main" noGrp="1"/>
          </p:cNvSpPr>
          <p:nvPr/>
        </p:nvSpPr>
        <p:spPr>
          <a:xfrm xmlns:a="http://schemas.openxmlformats.org/drawingml/2006/main" rot="5400000">
            <a:off x="9191625" y="58578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2" name="!!review.user">
            <a:extLst xmlns:a="http://schemas.openxmlformats.org/drawingml/2006/main">
              <a:ext uri="{FF2B5EF4-FFF2-40B4-BE49-F238E27FC236}">
                <a16:creationId xmlns:a16="http://schemas.microsoft.com/office/drawing/2014/main" id="{DAF1150B-B78D-4B6D-9264-BC67F40ED9A2}"/>
              </a:ext>
            </a:extLst>
          </p:cNvPr>
          <p:cNvSpPr>
            <a:spLocks xmlns:a="http://schemas.openxmlformats.org/drawingml/2006/main" noGrp="1"/>
          </p:cNvSpPr>
          <p:nvPr/>
        </p:nvSpPr>
        <p:spPr>
          <a:xfrm xmlns:a="http://schemas.openxmlformats.org/drawingml/2006/main">
            <a:off x="4057650" y="7229475"/>
            <a:ext cx="10534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262C"/>
                </a:solidFill>
                <a:latin typeface="Arial"/>
                <a:ea typeface="Arial"/>
                <a:cs typeface="Arial"/>
              </a:defRPr>
            </a:defPPr>
            <a:lvl1pPr algn="l">
              <a:defRPr sz="1725" b="0">
                <a:solidFill>
                  <a:srgbClr val="20262C"/>
                </a:solidFill>
                <a:latin typeface="Arial"/>
                <a:ea typeface="Arial"/>
                <a:cs typeface="Arial"/>
              </a:defRPr>
            </a:lvl1pPr>
            <a:lvl2pPr algn="l">
              <a:defRPr sz="1725" b="0">
                <a:solidFill>
                  <a:srgbClr val="20262C"/>
                </a:solidFill>
                <a:latin typeface="Arial"/>
                <a:ea typeface="Arial"/>
                <a:cs typeface="Arial"/>
              </a:defRPr>
            </a:lvl2pPr>
            <a:lvl3pPr algn="l">
              <a:defRPr sz="1725" b="0">
                <a:solidFill>
                  <a:srgbClr val="20262C"/>
                </a:solidFill>
                <a:latin typeface="Arial"/>
                <a:ea typeface="Arial"/>
                <a:cs typeface="Arial"/>
              </a:defRPr>
            </a:lvl3pPr>
            <a:lvl4pPr algn="l">
              <a:defRPr sz="1725" b="0">
                <a:solidFill>
                  <a:srgbClr val="20262C"/>
                </a:solidFill>
                <a:latin typeface="Arial"/>
                <a:ea typeface="Arial"/>
                <a:cs typeface="Arial"/>
              </a:defRPr>
            </a:lvl4pPr>
            <a:lvl5pPr algn="l">
              <a:defRPr sz="1725" b="0">
                <a:solidFill>
                  <a:srgbClr val="20262C"/>
                </a:solidFill>
                <a:latin typeface="Arial"/>
                <a:ea typeface="Arial"/>
                <a:cs typeface="Arial"/>
              </a:defRPr>
            </a:lvl5pPr>
            <a:lvl6pPr algn="l">
              <a:defRPr sz="1725" b="0">
                <a:solidFill>
                  <a:srgbClr val="20262C"/>
                </a:solidFill>
                <a:latin typeface="Arial"/>
                <a:ea typeface="Arial"/>
                <a:cs typeface="Arial"/>
              </a:defRPr>
            </a:lvl6pPr>
            <a:lvl7pPr algn="l">
              <a:defRPr sz="1725" b="0">
                <a:solidFill>
                  <a:srgbClr val="20262C"/>
                </a:solidFill>
                <a:latin typeface="Arial"/>
                <a:ea typeface="Arial"/>
                <a:cs typeface="Arial"/>
              </a:defRPr>
            </a:lvl7pPr>
            <a:lvl8pPr algn="l">
              <a:defRPr sz="1725" b="0">
                <a:solidFill>
                  <a:srgbClr val="20262C"/>
                </a:solidFill>
                <a:latin typeface="Arial"/>
                <a:ea typeface="Arial"/>
                <a:cs typeface="Arial"/>
              </a:defRPr>
            </a:lvl8pPr>
            <a:lvl9pPr algn="l">
              <a:defRPr sz="1725" b="0">
                <a:solidFill>
                  <a:srgbClr val="20262C"/>
                </a:solidFill>
                <a:latin typeface="Arial"/>
                <a:ea typeface="Arial"/>
                <a:cs typeface="Arial"/>
              </a:defRPr>
            </a:lvl9pPr>
          </a:lstStyle>
          <a:p xmlns:a="http://schemas.openxmlformats.org/drawingml/2006/main">
            <a:pPr algn="l">
              <a:defRPr sz="1725" b="0">
                <a:solidFill>
                  <a:srgbClr val="20262C"/>
                </a:solidFill>
                <a:latin typeface="Arial"/>
                <a:ea typeface="Arial"/>
                <a:cs typeface="Arial"/>
              </a:defRPr>
            </a:pPr>
            <a:r>
              <a:rPr sz="1725" b="0">
                <a:solidFill>
                  <a:srgbClr val="20262C"/>
                </a:solidFill>
                <a:latin typeface="Arial"/>
                <a:ea typeface="Arial"/>
                <a:cs typeface="Arial"/>
              </a:rPr>
              <a:t>The author approves the edits. The reviewer checks the sources, rationale and revised update.</a:t>
            </a:r>
          </a:p>
        </p:txBody>
      </p:sp>
      <p:sp>
        <p:nvSpPr>
          <p:cNvPr id="54" name="!!story.header.client.bar">
            <a:extLst xmlns:a="http://schemas.openxmlformats.org/drawingml/2006/main">
              <a:ext uri="{FF2B5EF4-FFF2-40B4-BE49-F238E27FC236}">
                <a16:creationId xmlns:a16="http://schemas.microsoft.com/office/drawing/2014/main" id="{3F4DFDF7-0A04-4CFE-869F-8314EEAEABF2}"/>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header.client.name">
            <a:extLst xmlns:a="http://schemas.openxmlformats.org/drawingml/2006/main">
              <a:ext uri="{FF2B5EF4-FFF2-40B4-BE49-F238E27FC236}">
                <a16:creationId xmlns:a16="http://schemas.microsoft.com/office/drawing/2014/main" id="{FED78F06-185A-4AEF-B70C-989147181F8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6" name="!!story.header.client.qualifier">
            <a:extLst xmlns:a="http://schemas.openxmlformats.org/drawingml/2006/main">
              <a:ext uri="{FF2B5EF4-FFF2-40B4-BE49-F238E27FC236}">
                <a16:creationId xmlns:a16="http://schemas.microsoft.com/office/drawing/2014/main" id="{5736175B-78B1-4D63-9F15-5C9D0436B59F}"/>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Revised V2</a:t>
            </a:r>
          </a:p>
        </p:txBody>
      </p:sp>
      <p:sp>
        <p:nvSpPr>
          <p:cNvPr id="57" name="!!story.client.document">
            <a:extLst xmlns:a="http://schemas.openxmlformats.org/drawingml/2006/main">
              <a:ext uri="{FF2B5EF4-FFF2-40B4-BE49-F238E27FC236}">
                <a16:creationId xmlns:a16="http://schemas.microsoft.com/office/drawing/2014/main" id="{D86D6EA1-6655-46F9-8C50-54DAAF489C01}"/>
              </a:ext>
            </a:extLst>
          </p:cNvPr>
          <p:cNvSpPr>
            <a:spLocks xmlns:a="http://schemas.openxmlformats.org/drawingml/2006/main" noGrp="1"/>
          </p:cNvSpPr>
          <p:nvPr/>
        </p:nvSpPr>
        <p:spPr>
          <a:xfrm xmlns:a="http://schemas.openxmlformats.org/drawingml/2006/main">
            <a:off x="929640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8" name="!!story.client.input.record">
            <a:extLst xmlns:a="http://schemas.openxmlformats.org/drawingml/2006/main">
              <a:ext uri="{FF2B5EF4-FFF2-40B4-BE49-F238E27FC236}">
                <a16:creationId xmlns:a16="http://schemas.microsoft.com/office/drawing/2014/main" id="{B2E0A566-A2F6-45ED-95DA-E37F3DA39E05}"/>
              </a:ext>
            </a:extLst>
          </p:cNvPr>
          <p:cNvSpPr>
            <a:spLocks xmlns:a="http://schemas.openxmlformats.org/drawingml/2006/main" noGrp="1"/>
          </p:cNvSpPr>
          <p:nvPr/>
        </p:nvSpPr>
        <p:spPr>
          <a:xfrm xmlns:a="http://schemas.openxmlformats.org/drawingml/2006/main">
            <a:off x="4152900" y="2924175"/>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72611529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27C0E33E-6EBF-40D8-A4A2-9600F0BDDD1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Investigating a risk alert</a:t>
            </a:r>
          </a:p>
        </p:txBody>
      </p:sp>
      <p:sp>
        <p:nvSpPr>
          <p:cNvPr id="2" name="!!subtitle">
            <a:extLst xmlns:a="http://schemas.openxmlformats.org/drawingml/2006/main">
              <a:ext uri="{FF2B5EF4-FFF2-40B4-BE49-F238E27FC236}">
                <a16:creationId xmlns:a16="http://schemas.microsoft.com/office/drawing/2014/main" id="{793D887C-5DA0-4214-BFC4-7B3C6C8D28C6}"/>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Current workflow</a:t>
            </a:r>
          </a:p>
        </p:txBody>
      </p:sp>
      <p:sp>
        <p:nvSpPr>
          <p:cNvPr id="3" name="!!heading.rule">
            <a:extLst xmlns:a="http://schemas.openxmlformats.org/drawingml/2006/main">
              <a:ext uri="{FF2B5EF4-FFF2-40B4-BE49-F238E27FC236}">
                <a16:creationId xmlns:a16="http://schemas.microsoft.com/office/drawing/2014/main" id="{C75169FA-27CB-470D-9718-9CF17AE09EB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6AD4AE69-414F-43FB-9D48-BC6E25B84B04}"/>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75DDE96B-4B3C-4416-BCE4-475AB5E1D72F}"/>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50F9FAB-DF90-4C57-A2C9-E3708F00BCAC}"/>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763B0D5-B088-45E6-BE6A-4A71287C4808}"/>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88DB1936-41F6-4518-8172-D9C1E6286F6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F43FADD-F3FA-40A2-8AF4-969972051928}"/>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7EE3F83-AD94-42A8-938C-77A44C86C6E9}"/>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1502669-57CB-4F86-B5E9-3C7E868D9F8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A8F6B4FE-25A5-46A9-B5A7-1B89E291D06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6B15E6F-C609-4383-BA78-80A3F8DB09A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A45AC0-8E4A-45BD-A569-F6126D43E5E0}"/>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0D0F654-619F-4141-910E-0957A9167907}"/>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34B7AF18-CFDA-4A80-9876-5FF522E80DA7}"/>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CA246EF-7882-4169-8A0A-EA62837B448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E8CB3D3F-3F1A-41FE-8AF2-EFAAA76E6125}"/>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B8D8308A-D4CF-49C5-BB0B-8E78BEBCA494}"/>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1A0C6835-130C-43E3-A9A5-DCADB7B24AA5}"/>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19 / 33</a:t>
            </a:r>
          </a:p>
        </p:txBody>
      </p:sp>
      <p:sp>
        <p:nvSpPr>
          <p:cNvPr id="21" name="!!nav.prev">
            <ns0:hlinkClick xmlns:ns0="http://schemas.openxmlformats.org/drawingml/2006/main" xmlns:ns1="http://schemas.openxmlformats.org/officeDocument/2006/relationships" ns1:id="rIdNavSlide18" action="ppaction://hlinksldjump" tooltip="Slide 18: Proposed application: reviewing client updates"/>
            <a:extLst xmlns:a="http://schemas.openxmlformats.org/drawingml/2006/main">
              <a:ext uri="{FF2B5EF4-FFF2-40B4-BE49-F238E27FC236}">
                <a16:creationId xmlns:a16="http://schemas.microsoft.com/office/drawing/2014/main" id="{04C1A642-674F-4556-BD90-A2C19F19CA19}"/>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0" action="ppaction://hlinksldjump" tooltip="Slide 20: Risk analysis at China Universal and Tianhong"/>
            <a:extLst xmlns:a="http://schemas.openxmlformats.org/drawingml/2006/main">
              <a:ext uri="{FF2B5EF4-FFF2-40B4-BE49-F238E27FC236}">
                <a16:creationId xmlns:a16="http://schemas.microsoft.com/office/drawing/2014/main" id="{719D71AB-0688-4476-BFAB-C374A4F7DA59}"/>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B4AF574-586D-4FD1-B905-16C2FA3589A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F716E9AD-AC69-493F-AC65-711CEDE169C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risk.mail.rule">
            <a:extLst xmlns:a="http://schemas.openxmlformats.org/drawingml/2006/main">
              <a:ext uri="{FF2B5EF4-FFF2-40B4-BE49-F238E27FC236}">
                <a16:creationId xmlns:a16="http://schemas.microsoft.com/office/drawing/2014/main" id="{533E6C77-3C63-470C-A001-C3AEB0EA9B54}"/>
              </a:ext>
            </a:extLst>
          </p:cNvPr>
          <p:cNvSpPr>
            <a:spLocks xmlns:a="http://schemas.openxmlformats.org/drawingml/2006/main" noGrp="1"/>
          </p:cNvSpPr>
          <p:nvPr/>
        </p:nvSpPr>
        <p:spPr>
          <a:xfrm xmlns:a="http://schemas.openxmlformats.org/drawingml/2006/main" flipH="0" flipV="0">
            <a:off x="4057650" y="2428875"/>
            <a:ext cx="105346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6" name="!!risk.mail.label">
            <a:extLst xmlns:a="http://schemas.openxmlformats.org/drawingml/2006/main">
              <a:ext uri="{FF2B5EF4-FFF2-40B4-BE49-F238E27FC236}">
                <a16:creationId xmlns:a16="http://schemas.microsoft.com/office/drawing/2014/main" id="{5B4DAD2A-8C5B-4309-8987-586966DA1F90}"/>
              </a:ext>
            </a:extLst>
          </p:cNvPr>
          <p:cNvSpPr>
            <a:spLocks xmlns:a="http://schemas.openxmlformats.org/drawingml/2006/main" noGrp="1"/>
          </p:cNvSpPr>
          <p:nvPr/>
        </p:nvSpPr>
        <p:spPr>
          <a:xfrm xmlns:a="http://schemas.openxmlformats.org/drawingml/2006/main">
            <a:off x="4057650" y="2524125"/>
            <a:ext cx="1053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62C"/>
                </a:solidFill>
                <a:latin typeface="Arial"/>
                <a:ea typeface="Arial"/>
                <a:cs typeface="Arial"/>
              </a:defRPr>
            </a:defPPr>
            <a:lvl1pPr algn="l">
              <a:defRPr sz="1650" b="1">
                <a:solidFill>
                  <a:srgbClr val="20262C"/>
                </a:solidFill>
                <a:latin typeface="Arial"/>
                <a:ea typeface="Arial"/>
                <a:cs typeface="Arial"/>
              </a:defRPr>
            </a:lvl1pPr>
            <a:lvl2pPr algn="l">
              <a:defRPr sz="1650" b="1">
                <a:solidFill>
                  <a:srgbClr val="20262C"/>
                </a:solidFill>
                <a:latin typeface="Arial"/>
                <a:ea typeface="Arial"/>
                <a:cs typeface="Arial"/>
              </a:defRPr>
            </a:lvl2pPr>
            <a:lvl3pPr algn="l">
              <a:defRPr sz="1650" b="1">
                <a:solidFill>
                  <a:srgbClr val="20262C"/>
                </a:solidFill>
                <a:latin typeface="Arial"/>
                <a:ea typeface="Arial"/>
                <a:cs typeface="Arial"/>
              </a:defRPr>
            </a:lvl3pPr>
            <a:lvl4pPr algn="l">
              <a:defRPr sz="1650" b="1">
                <a:solidFill>
                  <a:srgbClr val="20262C"/>
                </a:solidFill>
                <a:latin typeface="Arial"/>
                <a:ea typeface="Arial"/>
                <a:cs typeface="Arial"/>
              </a:defRPr>
            </a:lvl4pPr>
            <a:lvl5pPr algn="l">
              <a:defRPr sz="1650" b="1">
                <a:solidFill>
                  <a:srgbClr val="20262C"/>
                </a:solidFill>
                <a:latin typeface="Arial"/>
                <a:ea typeface="Arial"/>
                <a:cs typeface="Arial"/>
              </a:defRPr>
            </a:lvl5pPr>
            <a:lvl6pPr algn="l">
              <a:defRPr sz="1650" b="1">
                <a:solidFill>
                  <a:srgbClr val="20262C"/>
                </a:solidFill>
                <a:latin typeface="Arial"/>
                <a:ea typeface="Arial"/>
                <a:cs typeface="Arial"/>
              </a:defRPr>
            </a:lvl6pPr>
            <a:lvl7pPr algn="l">
              <a:defRPr sz="1650" b="1">
                <a:solidFill>
                  <a:srgbClr val="20262C"/>
                </a:solidFill>
                <a:latin typeface="Arial"/>
                <a:ea typeface="Arial"/>
                <a:cs typeface="Arial"/>
              </a:defRPr>
            </a:lvl7pPr>
            <a:lvl8pPr algn="l">
              <a:defRPr sz="1650" b="1">
                <a:solidFill>
                  <a:srgbClr val="20262C"/>
                </a:solidFill>
                <a:latin typeface="Arial"/>
                <a:ea typeface="Arial"/>
                <a:cs typeface="Arial"/>
              </a:defRPr>
            </a:lvl8pPr>
            <a:lvl9pPr algn="l">
              <a:defRPr sz="1650" b="1">
                <a:solidFill>
                  <a:srgbClr val="20262C"/>
                </a:solidFill>
                <a:latin typeface="Arial"/>
                <a:ea typeface="Arial"/>
                <a:cs typeface="Arial"/>
              </a:defRPr>
            </a:lvl9pPr>
          </a:lstStyle>
          <a:p xmlns:a="http://schemas.openxmlformats.org/drawingml/2006/main">
            <a:pPr algn="l">
              <a:defRPr sz="1650" b="1">
                <a:solidFill>
                  <a:srgbClr val="20262C"/>
                </a:solidFill>
                <a:latin typeface="Arial"/>
                <a:ea typeface="Arial"/>
                <a:cs typeface="Arial"/>
              </a:defRPr>
            </a:pPr>
            <a:r>
              <a:rPr sz="1650" b="1">
                <a:solidFill>
                  <a:srgbClr val="20262C"/>
                </a:solidFill>
                <a:latin typeface="Arial"/>
                <a:ea typeface="Arial"/>
                <a:cs typeface="Arial"/>
              </a:rPr>
              <a:t>A risk analyst receives an alert</a:t>
            </a:r>
          </a:p>
        </p:txBody>
      </p:sp>
      <p:sp>
        <p:nvSpPr>
          <p:cNvPr id="27" name="!!risk.mail.text">
            <a:extLst xmlns:a="http://schemas.openxmlformats.org/drawingml/2006/main">
              <a:ext uri="{FF2B5EF4-FFF2-40B4-BE49-F238E27FC236}">
                <a16:creationId xmlns:a16="http://schemas.microsoft.com/office/drawing/2014/main" id="{07A97565-8EF5-40D5-B510-3C8FC895DB11}"/>
              </a:ext>
            </a:extLst>
          </p:cNvPr>
          <p:cNvSpPr>
            <a:spLocks xmlns:a="http://schemas.openxmlformats.org/drawingml/2006/main" noGrp="1"/>
          </p:cNvSpPr>
          <p:nvPr/>
        </p:nvSpPr>
        <p:spPr>
          <a:xfrm xmlns:a="http://schemas.openxmlformats.org/drawingml/2006/main">
            <a:off x="4057650" y="2867025"/>
            <a:ext cx="105346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62C"/>
                </a:solidFill>
                <a:latin typeface="Arial"/>
                <a:ea typeface="Arial"/>
                <a:cs typeface="Arial"/>
              </a:defRPr>
            </a:defPPr>
            <a:lvl1pPr algn="l">
              <a:defRPr sz="2325" b="0">
                <a:solidFill>
                  <a:srgbClr val="20262C"/>
                </a:solidFill>
                <a:latin typeface="Arial"/>
                <a:ea typeface="Arial"/>
                <a:cs typeface="Arial"/>
              </a:defRPr>
            </a:lvl1pPr>
            <a:lvl2pPr algn="l">
              <a:defRPr sz="2325" b="0">
                <a:solidFill>
                  <a:srgbClr val="20262C"/>
                </a:solidFill>
                <a:latin typeface="Arial"/>
                <a:ea typeface="Arial"/>
                <a:cs typeface="Arial"/>
              </a:defRPr>
            </a:lvl2pPr>
            <a:lvl3pPr algn="l">
              <a:defRPr sz="2325" b="0">
                <a:solidFill>
                  <a:srgbClr val="20262C"/>
                </a:solidFill>
                <a:latin typeface="Arial"/>
                <a:ea typeface="Arial"/>
                <a:cs typeface="Arial"/>
              </a:defRPr>
            </a:lvl3pPr>
            <a:lvl4pPr algn="l">
              <a:defRPr sz="2325" b="0">
                <a:solidFill>
                  <a:srgbClr val="20262C"/>
                </a:solidFill>
                <a:latin typeface="Arial"/>
                <a:ea typeface="Arial"/>
                <a:cs typeface="Arial"/>
              </a:defRPr>
            </a:lvl4pPr>
            <a:lvl5pPr algn="l">
              <a:defRPr sz="2325" b="0">
                <a:solidFill>
                  <a:srgbClr val="20262C"/>
                </a:solidFill>
                <a:latin typeface="Arial"/>
                <a:ea typeface="Arial"/>
                <a:cs typeface="Arial"/>
              </a:defRPr>
            </a:lvl5pPr>
            <a:lvl6pPr algn="l">
              <a:defRPr sz="2325" b="0">
                <a:solidFill>
                  <a:srgbClr val="20262C"/>
                </a:solidFill>
                <a:latin typeface="Arial"/>
                <a:ea typeface="Arial"/>
                <a:cs typeface="Arial"/>
              </a:defRPr>
            </a:lvl6pPr>
            <a:lvl7pPr algn="l">
              <a:defRPr sz="2325" b="0">
                <a:solidFill>
                  <a:srgbClr val="20262C"/>
                </a:solidFill>
                <a:latin typeface="Arial"/>
                <a:ea typeface="Arial"/>
                <a:cs typeface="Arial"/>
              </a:defRPr>
            </a:lvl7pPr>
            <a:lvl8pPr algn="l">
              <a:defRPr sz="2325" b="0">
                <a:solidFill>
                  <a:srgbClr val="20262C"/>
                </a:solidFill>
                <a:latin typeface="Arial"/>
                <a:ea typeface="Arial"/>
                <a:cs typeface="Arial"/>
              </a:defRPr>
            </a:lvl8pPr>
            <a:lvl9pPr algn="l">
              <a:defRPr sz="2325" b="0">
                <a:solidFill>
                  <a:srgbClr val="20262C"/>
                </a:solidFill>
                <a:latin typeface="Arial"/>
                <a:ea typeface="Arial"/>
                <a:cs typeface="Arial"/>
              </a:defRPr>
            </a:lvl9pPr>
          </a:lstStyle>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Company A’s credit rating is on watch.</a:t>
            </a:r>
          </a:p>
          <a:p xmlns:a="http://schemas.openxmlformats.org/drawingml/2006/main">
            <a:pPr algn="l">
              <a:defRPr sz="2325" b="0">
                <a:solidFill>
                  <a:srgbClr val="20262C"/>
                </a:solidFill>
                <a:latin typeface="Arial"/>
                <a:ea typeface="Arial"/>
                <a:cs typeface="Arial"/>
              </a:defRPr>
            </a:pPr>
            <a:r>
              <a:rPr sz="2325" b="0">
                <a:solidFill>
                  <a:srgbClr val="20262C"/>
                </a:solidFill>
                <a:latin typeface="Arial"/>
                <a:ea typeface="Arial"/>
                <a:cs typeface="Arial"/>
              </a:rPr>
              <a:t>Operating cash flow is under pressure.</a:t>
            </a:r>
          </a:p>
        </p:txBody>
      </p:sp>
      <p:sp>
        <p:nvSpPr>
          <p:cNvPr id="28" name="!!risk.manual.title">
            <a:extLst xmlns:a="http://schemas.openxmlformats.org/drawingml/2006/main">
              <a:ext uri="{FF2B5EF4-FFF2-40B4-BE49-F238E27FC236}">
                <a16:creationId xmlns:a16="http://schemas.microsoft.com/office/drawing/2014/main" id="{4F65A6B6-AE2D-4C3E-A716-EEFA07FE2674}"/>
              </a:ext>
            </a:extLst>
          </p:cNvPr>
          <p:cNvSpPr>
            <a:spLocks xmlns:a="http://schemas.openxmlformats.org/drawingml/2006/main" noGrp="1"/>
          </p:cNvSpPr>
          <p:nvPr/>
        </p:nvSpPr>
        <p:spPr>
          <a:xfrm xmlns:a="http://schemas.openxmlformats.org/drawingml/2006/main">
            <a:off x="4057650" y="431482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The risk team needs to establish</a:t>
            </a:r>
          </a:p>
        </p:txBody>
      </p:sp>
      <p:sp>
        <p:nvSpPr>
          <p:cNvPr id="29" name="!!risk.question.0">
            <a:extLst xmlns:a="http://schemas.openxmlformats.org/drawingml/2006/main">
              <a:ext uri="{FF2B5EF4-FFF2-40B4-BE49-F238E27FC236}">
                <a16:creationId xmlns:a16="http://schemas.microsoft.com/office/drawing/2014/main" id="{A1414D88-15DC-40CD-B94B-1CA23EB42CFF}"/>
              </a:ext>
            </a:extLst>
          </p:cNvPr>
          <p:cNvSpPr>
            <a:spLocks xmlns:a="http://schemas.openxmlformats.org/drawingml/2006/main" noGrp="1"/>
          </p:cNvSpPr>
          <p:nvPr/>
        </p:nvSpPr>
        <p:spPr>
          <a:xfrm xmlns:a="http://schemas.openxmlformats.org/drawingml/2006/main">
            <a:off x="4057650" y="4905375"/>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question.0.role">
            <a:extLst xmlns:a="http://schemas.openxmlformats.org/drawingml/2006/main">
              <a:ext uri="{FF2B5EF4-FFF2-40B4-BE49-F238E27FC236}">
                <a16:creationId xmlns:a16="http://schemas.microsoft.com/office/drawing/2014/main" id="{AA1C929B-E372-4304-BEC1-94EF72691F83}"/>
              </a:ext>
            </a:extLst>
          </p:cNvPr>
          <p:cNvSpPr>
            <a:spLocks xmlns:a="http://schemas.openxmlformats.org/drawingml/2006/main" noGrp="1"/>
          </p:cNvSpPr>
          <p:nvPr/>
        </p:nvSpPr>
        <p:spPr>
          <a:xfrm xmlns:a="http://schemas.openxmlformats.org/drawingml/2006/main">
            <a:off x="42481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Which funds are exposed?</a:t>
            </a:r>
          </a:p>
        </p:txBody>
      </p:sp>
      <p:sp>
        <p:nvSpPr>
          <p:cNvPr id="31" name="!!risk.question.0.body">
            <a:extLst xmlns:a="http://schemas.openxmlformats.org/drawingml/2006/main">
              <a:ext uri="{FF2B5EF4-FFF2-40B4-BE49-F238E27FC236}">
                <a16:creationId xmlns:a16="http://schemas.microsoft.com/office/drawing/2014/main" id="{72D7B9ED-FD9A-4CA8-AC71-97AD7BF2D0AA}"/>
              </a:ext>
            </a:extLst>
          </p:cNvPr>
          <p:cNvSpPr>
            <a:spLocks xmlns:a="http://schemas.openxmlformats.org/drawingml/2006/main" noGrp="1"/>
          </p:cNvSpPr>
          <p:nvPr/>
        </p:nvSpPr>
        <p:spPr>
          <a:xfrm xmlns:a="http://schemas.openxmlformats.org/drawingml/2006/main">
            <a:off x="4248150" y="5486400"/>
            <a:ext cx="283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Query holdings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Identify exposed funds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and holding amounts</a:t>
            </a:r>
          </a:p>
        </p:txBody>
      </p:sp>
      <p:sp>
        <p:nvSpPr>
          <p:cNvPr id="32" name="!!risk.question.1">
            <a:extLst xmlns:a="http://schemas.openxmlformats.org/drawingml/2006/main">
              <a:ext uri="{FF2B5EF4-FFF2-40B4-BE49-F238E27FC236}">
                <a16:creationId xmlns:a16="http://schemas.microsoft.com/office/drawing/2014/main" id="{A5FA1DFD-DFAA-488A-9E99-213725CAFD3B}"/>
              </a:ext>
            </a:extLst>
          </p:cNvPr>
          <p:cNvSpPr>
            <a:spLocks xmlns:a="http://schemas.openxmlformats.org/drawingml/2006/main" noGrp="1"/>
          </p:cNvSpPr>
          <p:nvPr/>
        </p:nvSpPr>
        <p:spPr>
          <a:xfrm xmlns:a="http://schemas.openxmlformats.org/drawingml/2006/main">
            <a:off x="7715250" y="4905375"/>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risk.question.1.role">
            <a:extLst xmlns:a="http://schemas.openxmlformats.org/drawingml/2006/main">
              <a:ext uri="{FF2B5EF4-FFF2-40B4-BE49-F238E27FC236}">
                <a16:creationId xmlns:a16="http://schemas.microsoft.com/office/drawing/2014/main" id="{D38BCA97-B0DD-417A-B38D-61886793FC49}"/>
              </a:ext>
            </a:extLst>
          </p:cNvPr>
          <p:cNvSpPr>
            <a:spLocks xmlns:a="http://schemas.openxmlformats.org/drawingml/2006/main" noGrp="1"/>
          </p:cNvSpPr>
          <p:nvPr/>
        </p:nvSpPr>
        <p:spPr>
          <a:xfrm xmlns:a="http://schemas.openxmlformats.org/drawingml/2006/main">
            <a:off x="79057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Which rules apply?</a:t>
            </a:r>
          </a:p>
        </p:txBody>
      </p:sp>
      <p:sp>
        <p:nvSpPr>
          <p:cNvPr id="34" name="!!risk.question.1.body">
            <a:extLst xmlns:a="http://schemas.openxmlformats.org/drawingml/2006/main">
              <a:ext uri="{FF2B5EF4-FFF2-40B4-BE49-F238E27FC236}">
                <a16:creationId xmlns:a16="http://schemas.microsoft.com/office/drawing/2014/main" id="{3A146E06-9F05-4482-8E27-C78A89FA1EEF}"/>
              </a:ext>
            </a:extLst>
          </p:cNvPr>
          <p:cNvSpPr>
            <a:spLocks xmlns:a="http://schemas.openxmlformats.org/drawingml/2006/main" noGrp="1"/>
          </p:cNvSpPr>
          <p:nvPr/>
        </p:nvSpPr>
        <p:spPr>
          <a:xfrm xmlns:a="http://schemas.openxmlformats.org/drawingml/2006/main">
            <a:off x="7905750" y="5486400"/>
            <a:ext cx="283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88" b="0">
                <a:solidFill>
                  <a:srgbClr val="20262C"/>
                </a:solidFill>
                <a:latin typeface="Arial"/>
                <a:ea typeface="Arial"/>
                <a:cs typeface="Arial"/>
              </a:defRPr>
            </a:defPPr>
            <a:lvl1pPr algn="l">
              <a:defRPr sz="1988" b="0">
                <a:solidFill>
                  <a:srgbClr val="20262C"/>
                </a:solidFill>
                <a:latin typeface="Arial"/>
                <a:ea typeface="Arial"/>
                <a:cs typeface="Arial"/>
              </a:defRPr>
            </a:lvl1pPr>
            <a:lvl2pPr algn="l">
              <a:defRPr sz="1988" b="0">
                <a:solidFill>
                  <a:srgbClr val="20262C"/>
                </a:solidFill>
                <a:latin typeface="Arial"/>
                <a:ea typeface="Arial"/>
                <a:cs typeface="Arial"/>
              </a:defRPr>
            </a:lvl2pPr>
            <a:lvl3pPr algn="l">
              <a:defRPr sz="1988" b="0">
                <a:solidFill>
                  <a:srgbClr val="20262C"/>
                </a:solidFill>
                <a:latin typeface="Arial"/>
                <a:ea typeface="Arial"/>
                <a:cs typeface="Arial"/>
              </a:defRPr>
            </a:lvl3pPr>
            <a:lvl4pPr algn="l">
              <a:defRPr sz="1988" b="0">
                <a:solidFill>
                  <a:srgbClr val="20262C"/>
                </a:solidFill>
                <a:latin typeface="Arial"/>
                <a:ea typeface="Arial"/>
                <a:cs typeface="Arial"/>
              </a:defRPr>
            </a:lvl4pPr>
            <a:lvl5pPr algn="l">
              <a:defRPr sz="1988" b="0">
                <a:solidFill>
                  <a:srgbClr val="20262C"/>
                </a:solidFill>
                <a:latin typeface="Arial"/>
                <a:ea typeface="Arial"/>
                <a:cs typeface="Arial"/>
              </a:defRPr>
            </a:lvl5pPr>
            <a:lvl6pPr algn="l">
              <a:defRPr sz="1988" b="0">
                <a:solidFill>
                  <a:srgbClr val="20262C"/>
                </a:solidFill>
                <a:latin typeface="Arial"/>
                <a:ea typeface="Arial"/>
                <a:cs typeface="Arial"/>
              </a:defRPr>
            </a:lvl6pPr>
            <a:lvl7pPr algn="l">
              <a:defRPr sz="1988" b="0">
                <a:solidFill>
                  <a:srgbClr val="20262C"/>
                </a:solidFill>
                <a:latin typeface="Arial"/>
                <a:ea typeface="Arial"/>
                <a:cs typeface="Arial"/>
              </a:defRPr>
            </a:lvl7pPr>
            <a:lvl8pPr algn="l">
              <a:defRPr sz="1988" b="0">
                <a:solidFill>
                  <a:srgbClr val="20262C"/>
                </a:solidFill>
                <a:latin typeface="Arial"/>
                <a:ea typeface="Arial"/>
                <a:cs typeface="Arial"/>
              </a:defRPr>
            </a:lvl8pPr>
            <a:lvl9pPr algn="l">
              <a:defRPr sz="1988" b="0">
                <a:solidFill>
                  <a:srgbClr val="20262C"/>
                </a:solidFill>
                <a:latin typeface="Arial"/>
                <a:ea typeface="Arial"/>
                <a:cs typeface="Arial"/>
              </a:defRPr>
            </a:lvl9pPr>
          </a:lstStyle>
          <a:p xmlns:a="http://schemas.openxmlformats.org/drawingml/2006/main">
            <a:pPr algn="l">
              <a:defRPr sz="1988" b="0">
                <a:solidFill>
                  <a:srgbClr val="20262C"/>
                </a:solidFill>
                <a:latin typeface="Arial"/>
                <a:ea typeface="Arial"/>
                <a:cs typeface="Arial"/>
              </a:defRPr>
            </a:pPr>
            <a:r>
              <a:rPr sz="1988" b="0">
                <a:solidFill>
                  <a:srgbClr val="20262C"/>
                </a:solidFill>
                <a:latin typeface="Arial"/>
                <a:ea typeface="Arial"/>
                <a:cs typeface="Arial"/>
              </a:rPr>
              <a:t>Review contracts and internal policies</a:t>
            </a:r>
          </a:p>
          <a:p xmlns:a="http://schemas.openxmlformats.org/drawingml/2006/main">
            <a:pPr algn="l">
              <a:defRPr sz="1988" b="0">
                <a:solidFill>
                  <a:srgbClr val="20262C"/>
                </a:solidFill>
                <a:latin typeface="Arial"/>
                <a:ea typeface="Arial"/>
                <a:cs typeface="Arial"/>
              </a:defRPr>
            </a:pPr>
            <a:r>
              <a:rPr sz="1988" b="0">
                <a:solidFill>
                  <a:srgbClr val="20262C"/>
                </a:solidFill>
                <a:latin typeface="Arial"/>
                <a:ea typeface="Arial"/>
                <a:cs typeface="Arial"/>
              </a:rPr>
              <a:t>Identify applicable clauses</a:t>
            </a:r>
          </a:p>
        </p:txBody>
      </p:sp>
      <p:sp>
        <p:nvSpPr>
          <p:cNvPr id="35" name="!!risk.question.2">
            <a:extLst xmlns:a="http://schemas.openxmlformats.org/drawingml/2006/main">
              <a:ext uri="{FF2B5EF4-FFF2-40B4-BE49-F238E27FC236}">
                <a16:creationId xmlns:a16="http://schemas.microsoft.com/office/drawing/2014/main" id="{AF153C4D-70FF-4D86-8862-EB873F6CE3FF}"/>
              </a:ext>
            </a:extLst>
          </p:cNvPr>
          <p:cNvSpPr>
            <a:spLocks xmlns:a="http://schemas.openxmlformats.org/drawingml/2006/main" noGrp="1"/>
          </p:cNvSpPr>
          <p:nvPr/>
        </p:nvSpPr>
        <p:spPr>
          <a:xfrm xmlns:a="http://schemas.openxmlformats.org/drawingml/2006/main">
            <a:off x="11372850" y="4905375"/>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risk.question.2.role">
            <a:extLst xmlns:a="http://schemas.openxmlformats.org/drawingml/2006/main">
              <a:ext uri="{FF2B5EF4-FFF2-40B4-BE49-F238E27FC236}">
                <a16:creationId xmlns:a16="http://schemas.microsoft.com/office/drawing/2014/main" id="{15C0AEDD-4610-4743-9637-9C8046657643}"/>
              </a:ext>
            </a:extLst>
          </p:cNvPr>
          <p:cNvSpPr>
            <a:spLocks xmlns:a="http://schemas.openxmlformats.org/drawingml/2006/main" noGrp="1"/>
          </p:cNvSpPr>
          <p:nvPr/>
        </p:nvSpPr>
        <p:spPr>
          <a:xfrm xmlns:a="http://schemas.openxmlformats.org/drawingml/2006/main">
            <a:off x="11563350" y="50482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What is the impact?</a:t>
            </a:r>
          </a:p>
        </p:txBody>
      </p:sp>
      <p:sp>
        <p:nvSpPr>
          <p:cNvPr id="37" name="!!risk.question.2.body">
            <a:extLst xmlns:a="http://schemas.openxmlformats.org/drawingml/2006/main">
              <a:ext uri="{FF2B5EF4-FFF2-40B4-BE49-F238E27FC236}">
                <a16:creationId xmlns:a16="http://schemas.microsoft.com/office/drawing/2014/main" id="{C64D9E69-ACD1-478F-97B5-B82C59C43A6C}"/>
              </a:ext>
            </a:extLst>
          </p:cNvPr>
          <p:cNvSpPr>
            <a:spLocks xmlns:a="http://schemas.openxmlformats.org/drawingml/2006/main" noGrp="1"/>
          </p:cNvSpPr>
          <p:nvPr/>
        </p:nvSpPr>
        <p:spPr>
          <a:xfrm xmlns:a="http://schemas.openxmlformats.org/drawingml/2006/main">
            <a:off x="11563350" y="5486400"/>
            <a:ext cx="2838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Review issuer research</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Prepare an event assessment</a:t>
            </a:r>
          </a:p>
        </p:txBody>
      </p:sp>
      <p:sp>
        <p:nvSpPr>
          <p:cNvPr id="38" name="!!risk.repetition">
            <a:extLst xmlns:a="http://schemas.openxmlformats.org/drawingml/2006/main">
              <a:ext uri="{FF2B5EF4-FFF2-40B4-BE49-F238E27FC236}">
                <a16:creationId xmlns:a16="http://schemas.microsoft.com/office/drawing/2014/main" id="{D2574AD0-4225-45FA-8940-50C8C3B85C41}"/>
              </a:ext>
            </a:extLst>
          </p:cNvPr>
          <p:cNvSpPr>
            <a:spLocks xmlns:a="http://schemas.openxmlformats.org/drawingml/2006/main" noGrp="1"/>
          </p:cNvSpPr>
          <p:nvPr/>
        </p:nvSpPr>
        <p:spPr>
          <a:xfrm xmlns:a="http://schemas.openxmlformats.org/drawingml/2006/main">
            <a:off x="4057650" y="7096125"/>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Each alert requires searches across systems and documents for the same issuer.</a:t>
            </a:r>
          </a:p>
        </p:txBody>
      </p:sp>
      <p:sp>
        <p:nvSpPr>
          <p:cNvPr id="40" name="!!story.header.issuer.bar">
            <a:extLst xmlns:a="http://schemas.openxmlformats.org/drawingml/2006/main">
              <a:ext uri="{FF2B5EF4-FFF2-40B4-BE49-F238E27FC236}">
                <a16:creationId xmlns:a16="http://schemas.microsoft.com/office/drawing/2014/main" id="{398D9287-E49B-4170-B626-4D142C9CC10E}"/>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1" name="!!story.header.issuer.name">
            <a:extLst xmlns:a="http://schemas.openxmlformats.org/drawingml/2006/main">
              <a:ext uri="{FF2B5EF4-FFF2-40B4-BE49-F238E27FC236}">
                <a16:creationId xmlns:a16="http://schemas.microsoft.com/office/drawing/2014/main" id="{25B68817-CF29-4938-B9CC-27527B5921D8}"/>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2" name="!!story.issuer.event.mail">
            <a:extLst xmlns:a="http://schemas.openxmlformats.org/drawingml/2006/main">
              <a:ext uri="{FF2B5EF4-FFF2-40B4-BE49-F238E27FC236}">
                <a16:creationId xmlns:a16="http://schemas.microsoft.com/office/drawing/2014/main" id="{B9F09D5D-3588-4193-A843-D45E3A0679ED}"/>
              </a:ext>
            </a:extLst>
          </p:cNvPr>
          <p:cNvSpPr>
            <a:spLocks xmlns:a="http://schemas.openxmlformats.org/drawingml/2006/main" noGrp="1"/>
          </p:cNvSpPr>
          <p:nvPr/>
        </p:nvSpPr>
        <p:spPr>
          <a:xfrm xmlns:a="http://schemas.openxmlformats.org/drawingml/2006/main">
            <a:off x="3943350" y="2428875"/>
            <a:ext cx="57150" cy="1371600"/>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38944807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E57FC99A-F8F3-4769-9290-44ACF88018A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Risk analysis at China Universal and Tianhong</a:t>
            </a:r>
          </a:p>
        </p:txBody>
      </p:sp>
      <p:sp>
        <p:nvSpPr>
          <p:cNvPr id="2" name="!!subtitle">
            <a:extLst xmlns:a="http://schemas.openxmlformats.org/drawingml/2006/main">
              <a:ext uri="{FF2B5EF4-FFF2-40B4-BE49-F238E27FC236}">
                <a16:creationId xmlns:a16="http://schemas.microsoft.com/office/drawing/2014/main" id="{1F7E4FB1-70B0-4D10-9894-262DA4D8BADD}"/>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Industry examples</a:t>
            </a:r>
          </a:p>
        </p:txBody>
      </p:sp>
      <p:sp>
        <p:nvSpPr>
          <p:cNvPr id="3" name="!!heading.rule">
            <a:extLst xmlns:a="http://schemas.openxmlformats.org/drawingml/2006/main">
              <a:ext uri="{FF2B5EF4-FFF2-40B4-BE49-F238E27FC236}">
                <a16:creationId xmlns:a16="http://schemas.microsoft.com/office/drawing/2014/main" id="{0B8D5677-C96C-40B2-94D8-4E5A007C861E}"/>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75B6434F-EADE-4312-855A-B9417D7FAB2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31973C1-A261-4AC1-AD4F-C4B74227242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4948101-8607-4E64-9931-E49AE282DEC8}"/>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4149587-BBDC-4691-AC75-F7B7B7F8241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B5233286-5E0F-4569-AF7C-BCC9783D354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6942148-3F28-43A7-9156-8AB9BA799DD2}"/>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8505826-A9AF-4A56-9F36-FF806BE48D4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3CF0F03-AB08-47A0-AF80-682435CAC7D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A8571D-CD33-4E1C-917D-2E994B6CA7C2}"/>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A99DDC4-BFAD-40E3-89B8-6FF4025144B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EA96D1F-E828-4E87-9CB1-E8A4EA5A99DD}"/>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2BE4228-C9BB-4FC6-9766-064D0C8D858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AFC6DC8-5BC9-4D29-82DA-AFFEEA2FCAF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1657DA1-CA17-4BAA-8E1E-50D94B078663}"/>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F0FD6DE-A9EA-47F4-97F5-5A2635A76AC2}"/>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EB05B65D-FF14-4F9A-83C2-FA6BA58A5321}"/>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20 / 33</a:t>
            </a:r>
          </a:p>
        </p:txBody>
      </p:sp>
      <p:sp>
        <p:nvSpPr>
          <p:cNvPr id="20" name="!!nav.prev">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8DC6A4D-81EF-4DBB-A2D1-3979FE520C93}"/>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1" action="ppaction://hlinksldjump" tooltip="Slide 21: Proposed application: credit-risk assessment"/>
            <a:extLst xmlns:a="http://schemas.openxmlformats.org/drawingml/2006/main">
              <a:ext uri="{FF2B5EF4-FFF2-40B4-BE49-F238E27FC236}">
                <a16:creationId xmlns:a16="http://schemas.microsoft.com/office/drawing/2014/main" id="{CA8A877E-7007-497B-A555-0748E4EF595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DA1634F0-599C-4C28-9E63-8D56BB6173C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3A4F4B7A-0F79-432F-BA0D-C006E5649533}"/>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Universal; Tianhong / AMAC</a:t>
            </a:r>
          </a:p>
        </p:txBody>
      </p:sp>
      <p:sp>
        <p:nvSpPr>
          <p:cNvPr id="24" name="!!risk.htf">
            <a:extLst xmlns:a="http://schemas.openxmlformats.org/drawingml/2006/main">
              <a:ext uri="{FF2B5EF4-FFF2-40B4-BE49-F238E27FC236}">
                <a16:creationId xmlns:a16="http://schemas.microsoft.com/office/drawing/2014/main" id="{4EC5D846-1989-42C7-83AC-B2049ECFB4EA}"/>
              </a:ext>
            </a:extLst>
          </p:cNvPr>
          <p:cNvSpPr>
            <a:spLocks xmlns:a="http://schemas.openxmlformats.org/drawingml/2006/main" noGrp="1"/>
          </p:cNvSpPr>
          <p:nvPr/>
        </p:nvSpPr>
        <p:spPr>
          <a:xfrm xmlns:a="http://schemas.openxmlformats.org/drawingml/2006/main">
            <a:off x="4057650" y="2190750"/>
            <a:ext cx="49625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China Universal</a:t>
            </a:r>
          </a:p>
        </p:txBody>
      </p:sp>
      <p:sp>
        <p:nvSpPr>
          <p:cNvPr id="25" name="!!risk.th">
            <a:extLst xmlns:a="http://schemas.openxmlformats.org/drawingml/2006/main">
              <a:ext uri="{FF2B5EF4-FFF2-40B4-BE49-F238E27FC236}">
                <a16:creationId xmlns:a16="http://schemas.microsoft.com/office/drawing/2014/main" id="{DF8CE340-15DA-41C7-A380-FDDD0997F8A9}"/>
              </a:ext>
            </a:extLst>
          </p:cNvPr>
          <p:cNvSpPr>
            <a:spLocks xmlns:a="http://schemas.openxmlformats.org/drawingml/2006/main" noGrp="1"/>
          </p:cNvSpPr>
          <p:nvPr/>
        </p:nvSpPr>
        <p:spPr>
          <a:xfrm xmlns:a="http://schemas.openxmlformats.org/drawingml/2006/main">
            <a:off x="9629775" y="2190750"/>
            <a:ext cx="4962525"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Tianhong</a:t>
            </a:r>
          </a:p>
        </p:txBody>
      </p:sp>
      <p:sp>
        <p:nvSpPr>
          <p:cNvPr id="26" name="!!risk.mail.extract">
            <a:extLst xmlns:a="http://schemas.openxmlformats.org/drawingml/2006/main">
              <a:ext uri="{FF2B5EF4-FFF2-40B4-BE49-F238E27FC236}">
                <a16:creationId xmlns:a16="http://schemas.microsoft.com/office/drawing/2014/main" id="{2C96C24B-988C-4CA6-AEC4-B39040033963}"/>
              </a:ext>
            </a:extLst>
          </p:cNvPr>
          <p:cNvSpPr>
            <a:spLocks xmlns:a="http://schemas.openxmlformats.org/drawingml/2006/main" noGrp="1"/>
          </p:cNvSpPr>
          <p:nvPr/>
        </p:nvSpPr>
        <p:spPr>
          <a:xfrm xmlns:a="http://schemas.openxmlformats.org/drawingml/2006/main">
            <a:off x="4057650" y="3038475"/>
            <a:ext cx="4962525" cy="13239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risk.mail.extract.role">
            <a:extLst xmlns:a="http://schemas.openxmlformats.org/drawingml/2006/main">
              <a:ext uri="{FF2B5EF4-FFF2-40B4-BE49-F238E27FC236}">
                <a16:creationId xmlns:a16="http://schemas.microsoft.com/office/drawing/2014/main" id="{8704BD9F-A3C8-448D-B245-B0D80F4DAA00}"/>
              </a:ext>
            </a:extLst>
          </p:cNvPr>
          <p:cNvSpPr>
            <a:spLocks xmlns:a="http://schemas.openxmlformats.org/drawingml/2006/main" noGrp="1"/>
          </p:cNvSpPr>
          <p:nvPr/>
        </p:nvSpPr>
        <p:spPr>
          <a:xfrm xmlns:a="http://schemas.openxmlformats.org/drawingml/2006/main">
            <a:off x="4248150" y="3181350"/>
            <a:ext cx="4581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reads custodian risk alerts</a:t>
            </a:r>
          </a:p>
        </p:txBody>
      </p:sp>
      <p:sp>
        <p:nvSpPr>
          <p:cNvPr id="28" name="!!risk.mail.extract.body">
            <a:extLst xmlns:a="http://schemas.openxmlformats.org/drawingml/2006/main">
              <a:ext uri="{FF2B5EF4-FFF2-40B4-BE49-F238E27FC236}">
                <a16:creationId xmlns:a16="http://schemas.microsoft.com/office/drawing/2014/main" id="{165C6267-A03A-4FDD-979B-B3A9A1E89D70}"/>
              </a:ext>
            </a:extLst>
          </p:cNvPr>
          <p:cNvSpPr>
            <a:spLocks xmlns:a="http://schemas.openxmlformats.org/drawingml/2006/main" noGrp="1"/>
          </p:cNvSpPr>
          <p:nvPr/>
        </p:nvSpPr>
        <p:spPr>
          <a:xfrm xmlns:a="http://schemas.openxmlformats.org/drawingml/2006/main">
            <a:off x="4248150" y="3619500"/>
            <a:ext cx="4581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Extract the relevant risk information</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Route it to the risk team’s workspace</a:t>
            </a:r>
          </a:p>
        </p:txBody>
      </p:sp>
      <p:sp>
        <p:nvSpPr>
          <p:cNvPr id="29" name="!!risk.rules.tool">
            <a:extLst xmlns:a="http://schemas.openxmlformats.org/drawingml/2006/main">
              <a:ext uri="{FF2B5EF4-FFF2-40B4-BE49-F238E27FC236}">
                <a16:creationId xmlns:a16="http://schemas.microsoft.com/office/drawing/2014/main" id="{A8C85FED-D72C-4A92-AE09-83C8B964C150}"/>
              </a:ext>
            </a:extLst>
          </p:cNvPr>
          <p:cNvSpPr>
            <a:spLocks xmlns:a="http://schemas.openxmlformats.org/drawingml/2006/main" noGrp="1"/>
          </p:cNvSpPr>
          <p:nvPr/>
        </p:nvSpPr>
        <p:spPr>
          <a:xfrm xmlns:a="http://schemas.openxmlformats.org/drawingml/2006/main">
            <a:off x="4057650" y="4657725"/>
            <a:ext cx="4962525" cy="1638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risk.rules.tool.role">
            <a:extLst xmlns:a="http://schemas.openxmlformats.org/drawingml/2006/main">
              <a:ext uri="{FF2B5EF4-FFF2-40B4-BE49-F238E27FC236}">
                <a16:creationId xmlns:a16="http://schemas.microsoft.com/office/drawing/2014/main" id="{26D001E4-F349-4E7F-8928-02BB44981A1D}"/>
              </a:ext>
            </a:extLst>
          </p:cNvPr>
          <p:cNvSpPr>
            <a:spLocks xmlns:a="http://schemas.openxmlformats.org/drawingml/2006/main" noGrp="1"/>
          </p:cNvSpPr>
          <p:nvPr/>
        </p:nvSpPr>
        <p:spPr>
          <a:xfrm xmlns:a="http://schemas.openxmlformats.org/drawingml/2006/main">
            <a:off x="4248150" y="4800600"/>
            <a:ext cx="45815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System links monitoring rules</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to source documents</a:t>
            </a:r>
          </a:p>
        </p:txBody>
      </p:sp>
      <p:sp>
        <p:nvSpPr>
          <p:cNvPr id="31" name="!!risk.rules.tool.body">
            <a:extLst xmlns:a="http://schemas.openxmlformats.org/drawingml/2006/main">
              <a:ext uri="{FF2B5EF4-FFF2-40B4-BE49-F238E27FC236}">
                <a16:creationId xmlns:a16="http://schemas.microsoft.com/office/drawing/2014/main" id="{C7C432F3-9C82-4745-983A-26C46FE8F275}"/>
              </a:ext>
            </a:extLst>
          </p:cNvPr>
          <p:cNvSpPr>
            <a:spLocks xmlns:a="http://schemas.openxmlformats.org/drawingml/2006/main" noGrp="1"/>
          </p:cNvSpPr>
          <p:nvPr/>
        </p:nvSpPr>
        <p:spPr>
          <a:xfrm xmlns:a="http://schemas.openxmlformats.org/drawingml/2006/main">
            <a:off x="4248150" y="5524500"/>
            <a:ext cx="4581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Map risk rules to regulations,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internal controls and contract terms</a:t>
            </a:r>
          </a:p>
        </p:txBody>
      </p:sp>
      <p:sp>
        <p:nvSpPr>
          <p:cNvPr id="32" name="!!risk.rules.explain">
            <a:extLst xmlns:a="http://schemas.openxmlformats.org/drawingml/2006/main">
              <a:ext uri="{FF2B5EF4-FFF2-40B4-BE49-F238E27FC236}">
                <a16:creationId xmlns:a16="http://schemas.microsoft.com/office/drawing/2014/main" id="{55D21E29-38C9-4B35-A6CD-88BF0EDC4DC4}"/>
              </a:ext>
            </a:extLst>
          </p:cNvPr>
          <p:cNvSpPr>
            <a:spLocks xmlns:a="http://schemas.openxmlformats.org/drawingml/2006/main" noGrp="1"/>
          </p:cNvSpPr>
          <p:nvPr/>
        </p:nvSpPr>
        <p:spPr>
          <a:xfrm xmlns:a="http://schemas.openxmlformats.org/drawingml/2006/main">
            <a:off x="4057650" y="6296025"/>
            <a:ext cx="4962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5A9C"/>
                </a:solidFill>
                <a:latin typeface="Arial"/>
                <a:ea typeface="Arial"/>
                <a:cs typeface="Arial"/>
              </a:defRPr>
            </a:defPPr>
            <a:lvl1pPr algn="l">
              <a:defRPr sz="2025" b="1">
                <a:solidFill>
                  <a:srgbClr val="005A9C"/>
                </a:solidFill>
                <a:latin typeface="Arial"/>
                <a:ea typeface="Arial"/>
                <a:cs typeface="Arial"/>
              </a:defRPr>
            </a:lvl1pPr>
            <a:lvl2pPr algn="l">
              <a:defRPr sz="2025" b="1">
                <a:solidFill>
                  <a:srgbClr val="005A9C"/>
                </a:solidFill>
                <a:latin typeface="Arial"/>
                <a:ea typeface="Arial"/>
                <a:cs typeface="Arial"/>
              </a:defRPr>
            </a:lvl2pPr>
            <a:lvl3pPr algn="l">
              <a:defRPr sz="2025" b="1">
                <a:solidFill>
                  <a:srgbClr val="005A9C"/>
                </a:solidFill>
                <a:latin typeface="Arial"/>
                <a:ea typeface="Arial"/>
                <a:cs typeface="Arial"/>
              </a:defRPr>
            </a:lvl3pPr>
            <a:lvl4pPr algn="l">
              <a:defRPr sz="2025" b="1">
                <a:solidFill>
                  <a:srgbClr val="005A9C"/>
                </a:solidFill>
                <a:latin typeface="Arial"/>
                <a:ea typeface="Arial"/>
                <a:cs typeface="Arial"/>
              </a:defRPr>
            </a:lvl4pPr>
            <a:lvl5pPr algn="l">
              <a:defRPr sz="2025" b="1">
                <a:solidFill>
                  <a:srgbClr val="005A9C"/>
                </a:solidFill>
                <a:latin typeface="Arial"/>
                <a:ea typeface="Arial"/>
                <a:cs typeface="Arial"/>
              </a:defRPr>
            </a:lvl5pPr>
            <a:lvl6pPr algn="l">
              <a:defRPr sz="2025" b="1">
                <a:solidFill>
                  <a:srgbClr val="005A9C"/>
                </a:solidFill>
                <a:latin typeface="Arial"/>
                <a:ea typeface="Arial"/>
                <a:cs typeface="Arial"/>
              </a:defRPr>
            </a:lvl6pPr>
            <a:lvl7pPr algn="l">
              <a:defRPr sz="2025" b="1">
                <a:solidFill>
                  <a:srgbClr val="005A9C"/>
                </a:solidFill>
                <a:latin typeface="Arial"/>
                <a:ea typeface="Arial"/>
                <a:cs typeface="Arial"/>
              </a:defRPr>
            </a:lvl7pPr>
            <a:lvl8pPr algn="l">
              <a:defRPr sz="2025" b="1">
                <a:solidFill>
                  <a:srgbClr val="005A9C"/>
                </a:solidFill>
                <a:latin typeface="Arial"/>
                <a:ea typeface="Arial"/>
                <a:cs typeface="Arial"/>
              </a:defRPr>
            </a:lvl8pPr>
            <a:lvl9pPr algn="l">
              <a:defRPr sz="2025" b="1">
                <a:solidFill>
                  <a:srgbClr val="005A9C"/>
                </a:solidFill>
                <a:latin typeface="Arial"/>
                <a:ea typeface="Arial"/>
                <a:cs typeface="Arial"/>
              </a:defRPr>
            </a:lvl9pPr>
          </a:lstStyle>
          <a:p xmlns:a="http://schemas.openxmlformats.org/drawingml/2006/main">
            <a:pPr algn="l">
              <a:defRPr sz="2025" b="1">
                <a:solidFill>
                  <a:srgbClr val="005A9C"/>
                </a:solidFill>
                <a:latin typeface="Arial"/>
                <a:ea typeface="Arial"/>
                <a:cs typeface="Arial"/>
              </a:defRPr>
            </a:pPr>
            <a:r>
              <a:rPr sz="2025" b="1">
                <a:solidFill>
                  <a:srgbClr val="005A9C"/>
                </a:solidFill>
                <a:latin typeface="Arial"/>
                <a:ea typeface="Arial"/>
                <a:cs typeface="Arial"/>
              </a:rPr>
              <a:t>The LLM explains the basis for a rule trigger using the source text.</a:t>
            </a:r>
          </a:p>
        </p:txBody>
      </p:sp>
      <p:sp>
        <p:nvSpPr>
          <p:cNvPr id="33" name="!!risk.event.input.rule">
            <a:extLst xmlns:a="http://schemas.openxmlformats.org/drawingml/2006/main">
              <a:ext uri="{FF2B5EF4-FFF2-40B4-BE49-F238E27FC236}">
                <a16:creationId xmlns:a16="http://schemas.microsoft.com/office/drawing/2014/main" id="{15EFA971-0BD2-496D-9F90-2DB319B554F0}"/>
              </a:ext>
            </a:extLst>
          </p:cNvPr>
          <p:cNvSpPr>
            <a:spLocks xmlns:a="http://schemas.openxmlformats.org/drawingml/2006/main" noGrp="1"/>
          </p:cNvSpPr>
          <p:nvPr/>
        </p:nvSpPr>
        <p:spPr>
          <a:xfrm xmlns:a="http://schemas.openxmlformats.org/drawingml/2006/main" flipH="0" flipV="0">
            <a:off x="9629775" y="3038475"/>
            <a:ext cx="496252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risk.event.input.label">
            <a:extLst xmlns:a="http://schemas.openxmlformats.org/drawingml/2006/main">
              <a:ext uri="{FF2B5EF4-FFF2-40B4-BE49-F238E27FC236}">
                <a16:creationId xmlns:a16="http://schemas.microsoft.com/office/drawing/2014/main" id="{475F15CB-1EDA-402E-8470-ABE25C8A3BD8}"/>
              </a:ext>
            </a:extLst>
          </p:cNvPr>
          <p:cNvSpPr>
            <a:spLocks xmlns:a="http://schemas.openxmlformats.org/drawingml/2006/main" noGrp="1"/>
          </p:cNvSpPr>
          <p:nvPr/>
        </p:nvSpPr>
        <p:spPr>
          <a:xfrm xmlns:a="http://schemas.openxmlformats.org/drawingml/2006/main">
            <a:off x="9629775" y="3133725"/>
            <a:ext cx="4962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5A9C"/>
                </a:solidFill>
                <a:latin typeface="Arial"/>
                <a:ea typeface="Arial"/>
                <a:cs typeface="Arial"/>
              </a:defRPr>
            </a:defPPr>
            <a:lvl1pPr algn="l">
              <a:defRPr sz="1650" b="1">
                <a:solidFill>
                  <a:srgbClr val="005A9C"/>
                </a:solidFill>
                <a:latin typeface="Arial"/>
                <a:ea typeface="Arial"/>
                <a:cs typeface="Arial"/>
              </a:defRPr>
            </a:lvl1pPr>
            <a:lvl2pPr algn="l">
              <a:defRPr sz="1650" b="1">
                <a:solidFill>
                  <a:srgbClr val="005A9C"/>
                </a:solidFill>
                <a:latin typeface="Arial"/>
                <a:ea typeface="Arial"/>
                <a:cs typeface="Arial"/>
              </a:defRPr>
            </a:lvl2pPr>
            <a:lvl3pPr algn="l">
              <a:defRPr sz="1650" b="1">
                <a:solidFill>
                  <a:srgbClr val="005A9C"/>
                </a:solidFill>
                <a:latin typeface="Arial"/>
                <a:ea typeface="Arial"/>
                <a:cs typeface="Arial"/>
              </a:defRPr>
            </a:lvl3pPr>
            <a:lvl4pPr algn="l">
              <a:defRPr sz="1650" b="1">
                <a:solidFill>
                  <a:srgbClr val="005A9C"/>
                </a:solidFill>
                <a:latin typeface="Arial"/>
                <a:ea typeface="Arial"/>
                <a:cs typeface="Arial"/>
              </a:defRPr>
            </a:lvl4pPr>
            <a:lvl5pPr algn="l">
              <a:defRPr sz="1650" b="1">
                <a:solidFill>
                  <a:srgbClr val="005A9C"/>
                </a:solidFill>
                <a:latin typeface="Arial"/>
                <a:ea typeface="Arial"/>
                <a:cs typeface="Arial"/>
              </a:defRPr>
            </a:lvl5pPr>
            <a:lvl6pPr algn="l">
              <a:defRPr sz="1650" b="1">
                <a:solidFill>
                  <a:srgbClr val="005A9C"/>
                </a:solidFill>
                <a:latin typeface="Arial"/>
                <a:ea typeface="Arial"/>
                <a:cs typeface="Arial"/>
              </a:defRPr>
            </a:lvl6pPr>
            <a:lvl7pPr algn="l">
              <a:defRPr sz="1650" b="1">
                <a:solidFill>
                  <a:srgbClr val="005A9C"/>
                </a:solidFill>
                <a:latin typeface="Arial"/>
                <a:ea typeface="Arial"/>
                <a:cs typeface="Arial"/>
              </a:defRPr>
            </a:lvl7pPr>
            <a:lvl8pPr algn="l">
              <a:defRPr sz="1650" b="1">
                <a:solidFill>
                  <a:srgbClr val="005A9C"/>
                </a:solidFill>
                <a:latin typeface="Arial"/>
                <a:ea typeface="Arial"/>
                <a:cs typeface="Arial"/>
              </a:defRPr>
            </a:lvl8pPr>
            <a:lvl9pPr algn="l">
              <a:defRPr sz="1650" b="1">
                <a:solidFill>
                  <a:srgbClr val="005A9C"/>
                </a:solidFill>
                <a:latin typeface="Arial"/>
                <a:ea typeface="Arial"/>
                <a:cs typeface="Arial"/>
              </a:defRPr>
            </a:lvl9pPr>
          </a:lstStyle>
          <a:p xmlns:a="http://schemas.openxmlformats.org/drawingml/2006/main">
            <a:pPr algn="l">
              <a:defRPr sz="1650" b="1">
                <a:solidFill>
                  <a:srgbClr val="005A9C"/>
                </a:solidFill>
                <a:latin typeface="Arial"/>
                <a:ea typeface="Arial"/>
                <a:cs typeface="Arial"/>
              </a:defRPr>
            </a:pPr>
            <a:r>
              <a:rPr sz="1650" b="1">
                <a:solidFill>
                  <a:srgbClr val="005A9C"/>
                </a:solidFill>
                <a:latin typeface="Arial"/>
                <a:ea typeface="Arial"/>
                <a:cs typeface="Arial"/>
              </a:rPr>
              <a:t>Event information</a:t>
            </a:r>
          </a:p>
        </p:txBody>
      </p:sp>
      <p:sp>
        <p:nvSpPr>
          <p:cNvPr id="35" name="!!risk.event.input.text">
            <a:extLst xmlns:a="http://schemas.openxmlformats.org/drawingml/2006/main">
              <a:ext uri="{FF2B5EF4-FFF2-40B4-BE49-F238E27FC236}">
                <a16:creationId xmlns:a16="http://schemas.microsoft.com/office/drawing/2014/main" id="{676C4CB2-8A4B-4A0B-A18B-9C7575B56D3D}"/>
              </a:ext>
            </a:extLst>
          </p:cNvPr>
          <p:cNvSpPr>
            <a:spLocks xmlns:a="http://schemas.openxmlformats.org/drawingml/2006/main" noGrp="1"/>
          </p:cNvSpPr>
          <p:nvPr/>
        </p:nvSpPr>
        <p:spPr>
          <a:xfrm xmlns:a="http://schemas.openxmlformats.org/drawingml/2006/main">
            <a:off x="9629775" y="3476625"/>
            <a:ext cx="49625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Event details, comparable past events,</a:t>
            </a:r>
          </a:p>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industry relationships and market sentiment</a:t>
            </a:r>
          </a:p>
        </p:txBody>
      </p:sp>
      <p:sp>
        <p:nvSpPr>
          <p:cNvPr id="36" name="!!risk.event.llm">
            <a:extLst xmlns:a="http://schemas.openxmlformats.org/drawingml/2006/main">
              <a:ext uri="{FF2B5EF4-FFF2-40B4-BE49-F238E27FC236}">
                <a16:creationId xmlns:a16="http://schemas.microsoft.com/office/drawing/2014/main" id="{F278001A-1618-4002-9C73-D96BA63D7D20}"/>
              </a:ext>
            </a:extLst>
          </p:cNvPr>
          <p:cNvSpPr>
            <a:spLocks xmlns:a="http://schemas.openxmlformats.org/drawingml/2006/main" noGrp="1"/>
          </p:cNvSpPr>
          <p:nvPr/>
        </p:nvSpPr>
        <p:spPr>
          <a:xfrm xmlns:a="http://schemas.openxmlformats.org/drawingml/2006/main">
            <a:off x="9629775" y="4657725"/>
            <a:ext cx="4962525" cy="16097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7" name="!!risk.event.llm.role">
            <a:extLst xmlns:a="http://schemas.openxmlformats.org/drawingml/2006/main">
              <a:ext uri="{FF2B5EF4-FFF2-40B4-BE49-F238E27FC236}">
                <a16:creationId xmlns:a16="http://schemas.microsoft.com/office/drawing/2014/main" id="{6A2E1918-16B6-4F70-ACD3-688CA351C355}"/>
              </a:ext>
            </a:extLst>
          </p:cNvPr>
          <p:cNvSpPr>
            <a:spLocks xmlns:a="http://schemas.openxmlformats.org/drawingml/2006/main" noGrp="1"/>
          </p:cNvSpPr>
          <p:nvPr/>
        </p:nvSpPr>
        <p:spPr>
          <a:xfrm xmlns:a="http://schemas.openxmlformats.org/drawingml/2006/main">
            <a:off x="9820275" y="4800600"/>
            <a:ext cx="4581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drafts an event assessment</a:t>
            </a:r>
          </a:p>
        </p:txBody>
      </p:sp>
      <p:sp>
        <p:nvSpPr>
          <p:cNvPr id="38" name="!!risk.event.llm.body">
            <a:extLst xmlns:a="http://schemas.openxmlformats.org/drawingml/2006/main">
              <a:ext uri="{FF2B5EF4-FFF2-40B4-BE49-F238E27FC236}">
                <a16:creationId xmlns:a16="http://schemas.microsoft.com/office/drawing/2014/main" id="{7C05B855-7242-4EB3-9E63-522B36F92D0C}"/>
              </a:ext>
            </a:extLst>
          </p:cNvPr>
          <p:cNvSpPr>
            <a:spLocks xmlns:a="http://schemas.openxmlformats.org/drawingml/2006/main" noGrp="1"/>
          </p:cNvSpPr>
          <p:nvPr/>
        </p:nvSpPr>
        <p:spPr>
          <a:xfrm xmlns:a="http://schemas.openxmlformats.org/drawingml/2006/main">
            <a:off x="9820275" y="5238750"/>
            <a:ext cx="45815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Compare the event with past cases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Outline potential impacts and follow-up actions</a:t>
            </a:r>
          </a:p>
        </p:txBody>
      </p:sp>
      <p:sp>
        <p:nvSpPr>
          <p:cNvPr id="39" name="!!risk.event.user">
            <a:extLst xmlns:a="http://schemas.openxmlformats.org/drawingml/2006/main">
              <a:ext uri="{FF2B5EF4-FFF2-40B4-BE49-F238E27FC236}">
                <a16:creationId xmlns:a16="http://schemas.microsoft.com/office/drawing/2014/main" id="{E5514AAB-7FC0-4AEB-B073-C0750F72307F}"/>
              </a:ext>
            </a:extLst>
          </p:cNvPr>
          <p:cNvSpPr>
            <a:spLocks xmlns:a="http://schemas.openxmlformats.org/drawingml/2006/main" noGrp="1"/>
          </p:cNvSpPr>
          <p:nvPr/>
        </p:nvSpPr>
        <p:spPr>
          <a:xfrm xmlns:a="http://schemas.openxmlformats.org/drawingml/2006/main">
            <a:off x="9629775" y="6296025"/>
            <a:ext cx="4962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Investment and risk teams discuss the implications</a:t>
            </a:r>
          </a:p>
        </p:txBody>
      </p:sp>
      <p:sp>
        <p:nvSpPr>
          <p:cNvPr id="41" name="!!story.header.issuer.bar">
            <a:extLst xmlns:a="http://schemas.openxmlformats.org/drawingml/2006/main">
              <a:ext uri="{FF2B5EF4-FFF2-40B4-BE49-F238E27FC236}">
                <a16:creationId xmlns:a16="http://schemas.microsoft.com/office/drawing/2014/main" id="{357DBEDA-A064-46F9-8F80-F63BF55CCEF8}"/>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2" name="!!story.header.issuer.name">
            <a:extLst xmlns:a="http://schemas.openxmlformats.org/drawingml/2006/main">
              <a:ext uri="{FF2B5EF4-FFF2-40B4-BE49-F238E27FC236}">
                <a16:creationId xmlns:a16="http://schemas.microsoft.com/office/drawing/2014/main" id="{0C7E85B7-1939-4F89-AD83-C8740063E221}"/>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43" name="!!story.header.issuer.qualifier">
            <a:extLst xmlns:a="http://schemas.openxmlformats.org/drawingml/2006/main">
              <a:ext uri="{FF2B5EF4-FFF2-40B4-BE49-F238E27FC236}">
                <a16:creationId xmlns:a16="http://schemas.microsoft.com/office/drawing/2014/main" id="{F88769A5-0E9D-4852-87DD-CBA4086C0E80}"/>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Tree>
    <p:extLst>
      <p:ext uri="{BB962C8B-B14F-4D97-AF65-F5344CB8AC3E}">
        <p14:creationId xmlns:p14="http://schemas.microsoft.com/office/powerpoint/2010/main" val="766170040"/>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heading">
            <a:extLst xmlns:a="http://schemas.openxmlformats.org/drawingml/2006/main">
              <a:ext uri="{FF2B5EF4-FFF2-40B4-BE49-F238E27FC236}">
                <a16:creationId xmlns:a16="http://schemas.microsoft.com/office/drawing/2014/main" id="{6665A797-8697-48F8-B5B1-C873183330D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credit-risk assessment</a:t>
            </a:r>
          </a:p>
        </p:txBody>
      </p:sp>
      <p:sp>
        <p:nvSpPr>
          <p:cNvPr id="2" name="!!subtitle">
            <a:extLst xmlns:a="http://schemas.openxmlformats.org/drawingml/2006/main">
              <a:ext uri="{FF2B5EF4-FFF2-40B4-BE49-F238E27FC236}">
                <a16:creationId xmlns:a16="http://schemas.microsoft.com/office/drawing/2014/main" id="{025CA9DC-989F-4B1B-9FF9-E79711C4C201}"/>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Middle office  /  Risk analysis  /  Proposed application</a:t>
            </a:r>
          </a:p>
        </p:txBody>
      </p:sp>
      <p:sp>
        <p:nvSpPr>
          <p:cNvPr id="3" name="!!heading.rule">
            <a:extLst xmlns:a="http://schemas.openxmlformats.org/drawingml/2006/main">
              <a:ext uri="{FF2B5EF4-FFF2-40B4-BE49-F238E27FC236}">
                <a16:creationId xmlns:a16="http://schemas.microsoft.com/office/drawing/2014/main" id="{B4101213-9505-4185-9780-E11242210DF4}"/>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65A94EE-E53B-4CA0-A398-4CA8044B7765}"/>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7E7B94F-9B84-462A-A58A-A59E07CC554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1B7FE2A7-53D4-4400-808C-0C7C11F7C3C7}"/>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9B33CC5-0AB3-47B1-8F78-BB8E4AC200FD}"/>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684D1A33-9912-4C14-89D8-4E4AF02326A8}"/>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AD6DC21D-20CF-4E27-9384-7B294C598D9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73591A2-3F46-4630-8CC0-2457C60ED917}"/>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5453AD-5C39-4EA1-851E-4FC7B41E25EB}"/>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A4A6956-1103-4CCA-9AA5-E65E35BF833E}"/>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EF009B0A-3AFA-4EBE-A38B-3120AAE5CF1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17820A61-9144-40AB-A567-2FD9BF6438F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7D16196-6A06-4EAD-BEA4-D3A76E90C320}"/>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3A16642-4FA8-4788-ADD3-9A88F82DC132}"/>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DC166CE4-1AB9-4A90-82E7-318745C0E645}"/>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78A7075E-654F-4903-8F3E-9D1040316FA4}"/>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DD61A937-58E8-4876-BF48-01055E15368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26899E3-4FE3-46CB-A029-560BD4B86BCE}"/>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21 / 33</a:t>
            </a:r>
          </a:p>
        </p:txBody>
      </p:sp>
      <p:sp>
        <p:nvSpPr>
          <p:cNvPr id="21" name="!!nav.prev">
            <ns0:hlinkClick xmlns:ns0="http://schemas.openxmlformats.org/drawingml/2006/main" xmlns:ns1="http://schemas.openxmlformats.org/officeDocument/2006/relationships" ns1:id="rIdNavSlide20" action="ppaction://hlinksldjump" tooltip="Slide 20: Risk analysis at China Universal and Tianhong"/>
            <a:extLst xmlns:a="http://schemas.openxmlformats.org/drawingml/2006/main">
              <a:ext uri="{FF2B5EF4-FFF2-40B4-BE49-F238E27FC236}">
                <a16:creationId xmlns:a16="http://schemas.microsoft.com/office/drawing/2014/main" id="{4DEB5FD5-9B8F-435B-912E-B480DAF273FB}"/>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34EEA10-7C70-4533-A6BF-F008ECB47310}"/>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695AA3B6-853B-4193-A806-30821F588F5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0147C448-9959-4CC7-A40A-6E9E49CC0EC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Universal; Tianhong / AMAC</a:t>
            </a:r>
          </a:p>
        </p:txBody>
      </p:sp>
      <p:sp>
        <p:nvSpPr>
          <p:cNvPr id="25" name="!!risk.evidence.mail.rule">
            <a:extLst xmlns:a="http://schemas.openxmlformats.org/drawingml/2006/main">
              <a:ext uri="{FF2B5EF4-FFF2-40B4-BE49-F238E27FC236}">
                <a16:creationId xmlns:a16="http://schemas.microsoft.com/office/drawing/2014/main" id="{1B006AB4-516E-4383-8827-1EAFF6380C62}"/>
              </a:ext>
            </a:extLst>
          </p:cNvPr>
          <p:cNvSpPr>
            <a:spLocks xmlns:a="http://schemas.openxmlformats.org/drawingml/2006/main" noGrp="1"/>
          </p:cNvSpPr>
          <p:nvPr/>
        </p:nvSpPr>
        <p:spPr>
          <a:xfrm xmlns:a="http://schemas.openxmlformats.org/drawingml/2006/main" flipH="0" flipV="0">
            <a:off x="4057650" y="2400300"/>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26" name="!!risk.evidence.mail.label">
            <a:extLst xmlns:a="http://schemas.openxmlformats.org/drawingml/2006/main">
              <a:ext uri="{FF2B5EF4-FFF2-40B4-BE49-F238E27FC236}">
                <a16:creationId xmlns:a16="http://schemas.microsoft.com/office/drawing/2014/main" id="{0127A93A-101C-4DD3-8B1C-A8090F77E148}"/>
              </a:ext>
            </a:extLst>
          </p:cNvPr>
          <p:cNvSpPr>
            <a:spLocks xmlns:a="http://schemas.openxmlformats.org/drawingml/2006/main" noGrp="1"/>
          </p:cNvSpPr>
          <p:nvPr/>
        </p:nvSpPr>
        <p:spPr>
          <a:xfrm xmlns:a="http://schemas.openxmlformats.org/drawingml/2006/main">
            <a:off x="4057650" y="249555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Original alert</a:t>
            </a:r>
          </a:p>
        </p:txBody>
      </p:sp>
      <p:sp>
        <p:nvSpPr>
          <p:cNvPr id="27" name="!!risk.evidence.mail.text">
            <a:extLst xmlns:a="http://schemas.openxmlformats.org/drawingml/2006/main">
              <a:ext uri="{FF2B5EF4-FFF2-40B4-BE49-F238E27FC236}">
                <a16:creationId xmlns:a16="http://schemas.microsoft.com/office/drawing/2014/main" id="{58ACD7FE-CD92-4B47-8078-3AAF77F53FE4}"/>
              </a:ext>
            </a:extLst>
          </p:cNvPr>
          <p:cNvSpPr>
            <a:spLocks xmlns:a="http://schemas.openxmlformats.org/drawingml/2006/main" noGrp="1"/>
          </p:cNvSpPr>
          <p:nvPr/>
        </p:nvSpPr>
        <p:spPr>
          <a:xfrm xmlns:a="http://schemas.openxmlformats.org/drawingml/2006/main">
            <a:off x="4057650" y="2838450"/>
            <a:ext cx="321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Company A: credit rating on watch.</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Operating cash flow is under pressure.</a:t>
            </a:r>
          </a:p>
        </p:txBody>
      </p:sp>
      <p:sp>
        <p:nvSpPr>
          <p:cNvPr id="28" name="!!risk.evidence.system">
            <a:extLst xmlns:a="http://schemas.openxmlformats.org/drawingml/2006/main">
              <a:ext uri="{FF2B5EF4-FFF2-40B4-BE49-F238E27FC236}">
                <a16:creationId xmlns:a16="http://schemas.microsoft.com/office/drawing/2014/main" id="{0F30088A-0318-4C51-B02D-0ECDE4CC471B}"/>
              </a:ext>
            </a:extLst>
          </p:cNvPr>
          <p:cNvSpPr>
            <a:spLocks xmlns:a="http://schemas.openxmlformats.org/drawingml/2006/main" noGrp="1"/>
          </p:cNvSpPr>
          <p:nvPr/>
        </p:nvSpPr>
        <p:spPr>
          <a:xfrm xmlns:a="http://schemas.openxmlformats.org/drawingml/2006/main">
            <a:off x="4057650" y="4133850"/>
            <a:ext cx="3219450" cy="13716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risk.evidence.system.role">
            <a:extLst xmlns:a="http://schemas.openxmlformats.org/drawingml/2006/main">
              <a:ext uri="{FF2B5EF4-FFF2-40B4-BE49-F238E27FC236}">
                <a16:creationId xmlns:a16="http://schemas.microsoft.com/office/drawing/2014/main" id="{940BD24B-5015-4285-AD2C-9AE9D044E87E}"/>
              </a:ext>
            </a:extLst>
          </p:cNvPr>
          <p:cNvSpPr>
            <a:spLocks xmlns:a="http://schemas.openxmlformats.org/drawingml/2006/main" noGrp="1"/>
          </p:cNvSpPr>
          <p:nvPr/>
        </p:nvSpPr>
        <p:spPr>
          <a:xfrm xmlns:a="http://schemas.openxmlformats.org/drawingml/2006/main">
            <a:off x="4248150" y="42767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Current holdings</a:t>
            </a:r>
          </a:p>
        </p:txBody>
      </p:sp>
      <p:sp>
        <p:nvSpPr>
          <p:cNvPr id="30" name="!!risk.evidence.system.body">
            <a:extLst xmlns:a="http://schemas.openxmlformats.org/drawingml/2006/main">
              <a:ext uri="{FF2B5EF4-FFF2-40B4-BE49-F238E27FC236}">
                <a16:creationId xmlns:a16="http://schemas.microsoft.com/office/drawing/2014/main" id="{8151926C-CC2A-4BAD-886B-17BD14ABCC71}"/>
              </a:ext>
            </a:extLst>
          </p:cNvPr>
          <p:cNvSpPr>
            <a:spLocks xmlns:a="http://schemas.openxmlformats.org/drawingml/2006/main" noGrp="1"/>
          </p:cNvSpPr>
          <p:nvPr/>
        </p:nvSpPr>
        <p:spPr>
          <a:xfrm xmlns:a="http://schemas.openxmlformats.org/drawingml/2006/main">
            <a:off x="4248150" y="464820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Product A holds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Company A bonds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Face value: RMB 20m</a:t>
            </a:r>
          </a:p>
        </p:txBody>
      </p:sp>
      <p:sp>
        <p:nvSpPr>
          <p:cNvPr id="31" name="!!risk.evidence.rule.rule">
            <a:extLst xmlns:a="http://schemas.openxmlformats.org/drawingml/2006/main">
              <a:ext uri="{FF2B5EF4-FFF2-40B4-BE49-F238E27FC236}">
                <a16:creationId xmlns:a16="http://schemas.microsoft.com/office/drawing/2014/main" id="{74F2AE03-8D1F-430A-8F72-47E48556C6D7}"/>
              </a:ext>
            </a:extLst>
          </p:cNvPr>
          <p:cNvSpPr>
            <a:spLocks xmlns:a="http://schemas.openxmlformats.org/drawingml/2006/main" noGrp="1"/>
          </p:cNvSpPr>
          <p:nvPr/>
        </p:nvSpPr>
        <p:spPr>
          <a:xfrm xmlns:a="http://schemas.openxmlformats.org/drawingml/2006/main" flipH="0" flipV="0">
            <a:off x="4057650" y="5572125"/>
            <a:ext cx="3219450" cy="953"/>
          </a:xfrm>
          <a:prstGeom xmlns:a="http://schemas.openxmlformats.org/drawingml/2006/main" prst="line">
            <a:avLst/>
          </a:prstGeom>
          <a:noFill xmlns:a="http://schemas.openxmlformats.org/drawingml/2006/main"/>
          <a:ln xmlns:a="http://schemas.openxmlformats.org/drawingml/2006/main" w="14288">
            <a:solidFill>
              <a:srgbClr val="317F7B"/>
            </a:solidFill>
            <a:prstDash val="solid"/>
          </a:ln>
        </p:spPr>
      </p:sp>
      <p:sp>
        <p:nvSpPr>
          <p:cNvPr id="32" name="!!risk.evidence.rule.label">
            <a:extLst xmlns:a="http://schemas.openxmlformats.org/drawingml/2006/main">
              <a:ext uri="{FF2B5EF4-FFF2-40B4-BE49-F238E27FC236}">
                <a16:creationId xmlns:a16="http://schemas.microsoft.com/office/drawing/2014/main" id="{3E3D88E2-5E5B-4701-909D-F70DD710E114}"/>
              </a:ext>
            </a:extLst>
          </p:cNvPr>
          <p:cNvSpPr>
            <a:spLocks xmlns:a="http://schemas.openxmlformats.org/drawingml/2006/main" noGrp="1"/>
          </p:cNvSpPr>
          <p:nvPr/>
        </p:nvSpPr>
        <p:spPr>
          <a:xfrm xmlns:a="http://schemas.openxmlformats.org/drawingml/2006/main">
            <a:off x="4057650" y="56673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Monitoring requirement</a:t>
            </a:r>
          </a:p>
        </p:txBody>
      </p:sp>
      <p:sp>
        <p:nvSpPr>
          <p:cNvPr id="33" name="!!risk.evidence.rule.text">
            <a:extLst xmlns:a="http://schemas.openxmlformats.org/drawingml/2006/main">
              <a:ext uri="{FF2B5EF4-FFF2-40B4-BE49-F238E27FC236}">
                <a16:creationId xmlns:a16="http://schemas.microsoft.com/office/drawing/2014/main" id="{21D46BBB-7902-4960-BAD4-218CED59F19E}"/>
              </a:ext>
            </a:extLst>
          </p:cNvPr>
          <p:cNvSpPr>
            <a:spLocks xmlns:a="http://schemas.openxmlformats.org/drawingml/2006/main" noGrp="1"/>
          </p:cNvSpPr>
          <p:nvPr/>
        </p:nvSpPr>
        <p:spPr>
          <a:xfrm xmlns:a="http://schemas.openxmlformats.org/drawingml/2006/main">
            <a:off x="4057650" y="6010275"/>
            <a:ext cx="3219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Update issuer research following a credit event.</a:t>
            </a:r>
          </a:p>
        </p:txBody>
      </p:sp>
      <p:sp>
        <p:nvSpPr>
          <p:cNvPr id="34" name="!!risk.llm">
            <a:extLst xmlns:a="http://schemas.openxmlformats.org/drawingml/2006/main">
              <a:ext uri="{FF2B5EF4-FFF2-40B4-BE49-F238E27FC236}">
                <a16:creationId xmlns:a16="http://schemas.microsoft.com/office/drawing/2014/main" id="{2F773BA0-EE77-430B-8B40-09A7F5F9C332}"/>
              </a:ext>
            </a:extLst>
          </p:cNvPr>
          <p:cNvSpPr>
            <a:spLocks xmlns:a="http://schemas.openxmlformats.org/drawingml/2006/main" noGrp="1"/>
          </p:cNvSpPr>
          <p:nvPr/>
        </p:nvSpPr>
        <p:spPr>
          <a:xfrm xmlns:a="http://schemas.openxmlformats.org/drawingml/2006/main">
            <a:off x="7715250" y="2847975"/>
            <a:ext cx="3219450" cy="28670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risk.llm.role">
            <a:extLst xmlns:a="http://schemas.openxmlformats.org/drawingml/2006/main">
              <a:ext uri="{FF2B5EF4-FFF2-40B4-BE49-F238E27FC236}">
                <a16:creationId xmlns:a16="http://schemas.microsoft.com/office/drawing/2014/main" id="{7CA2F272-00DE-485C-89E4-727991450412}"/>
              </a:ext>
            </a:extLst>
          </p:cNvPr>
          <p:cNvSpPr>
            <a:spLocks xmlns:a="http://schemas.openxmlformats.org/drawingml/2006/main" noGrp="1"/>
          </p:cNvSpPr>
          <p:nvPr/>
        </p:nvSpPr>
        <p:spPr>
          <a:xfrm xmlns:a="http://schemas.openxmlformats.org/drawingml/2006/main">
            <a:off x="7905750" y="29908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links the evidence</a:t>
            </a:r>
          </a:p>
        </p:txBody>
      </p:sp>
      <p:sp>
        <p:nvSpPr>
          <p:cNvPr id="36" name="!!risk.llm.body">
            <a:extLst xmlns:a="http://schemas.openxmlformats.org/drawingml/2006/main">
              <a:ext uri="{FF2B5EF4-FFF2-40B4-BE49-F238E27FC236}">
                <a16:creationId xmlns:a16="http://schemas.microsoft.com/office/drawing/2014/main" id="{D643EA18-F113-4906-A92C-3A7D16BA662D}"/>
              </a:ext>
            </a:extLst>
          </p:cNvPr>
          <p:cNvSpPr>
            <a:spLocks xmlns:a="http://schemas.openxmlformats.org/drawingml/2006/main" noGrp="1"/>
          </p:cNvSpPr>
          <p:nvPr/>
        </p:nvSpPr>
        <p:spPr>
          <a:xfrm xmlns:a="http://schemas.openxmlformats.org/drawingml/2006/main">
            <a:off x="7905750" y="3429000"/>
            <a:ext cx="28384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Identify the issuer</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Map fund exposures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Review clauses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and issuer research</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Draft the assessment</a:t>
            </a:r>
          </a:p>
        </p:txBody>
      </p:sp>
      <p:sp>
        <p:nvSpPr>
          <p:cNvPr id="37" name="!!risk.result">
            <a:extLst xmlns:a="http://schemas.openxmlformats.org/drawingml/2006/main">
              <a:ext uri="{FF2B5EF4-FFF2-40B4-BE49-F238E27FC236}">
                <a16:creationId xmlns:a16="http://schemas.microsoft.com/office/drawing/2014/main" id="{FC436226-9644-445E-A759-19AEDB3336CD}"/>
              </a:ext>
            </a:extLst>
          </p:cNvPr>
          <p:cNvSpPr>
            <a:spLocks xmlns:a="http://schemas.openxmlformats.org/drawingml/2006/main" noGrp="1"/>
          </p:cNvSpPr>
          <p:nvPr/>
        </p:nvSpPr>
        <p:spPr>
          <a:xfrm xmlns:a="http://schemas.openxmlformats.org/drawingml/2006/main">
            <a:off x="11372850" y="2847975"/>
            <a:ext cx="3219450" cy="3533775"/>
          </a:xfrm>
          <a:prstGeom xmlns:a="http://schemas.openxmlformats.org/drawingml/2006/main" prst="rect">
            <a:avLst/>
          </a:prstGeom>
          <ns0:solidFill xmlns:ns0="http://schemas.openxmlformats.org/drawingml/2006/main">
            <ns0:srgbClr val="FFFFFF"/>
          </ns0:solidFill>
          <a:ln xmlns:a="http://schemas.openxmlformats.org/drawingml/2006/main" w="9525">
            <a:solidFill>
              <a:srgbClr val="317F7B"/>
            </a:solidFill>
            <a:prstDash val="solid"/>
          </a:ln>
        </p:spPr>
      </p:sp>
      <p:sp>
        <p:nvSpPr>
          <p:cNvPr id="38" name="!!risk.result.role">
            <a:extLst xmlns:a="http://schemas.openxmlformats.org/drawingml/2006/main">
              <a:ext uri="{FF2B5EF4-FFF2-40B4-BE49-F238E27FC236}">
                <a16:creationId xmlns:a16="http://schemas.microsoft.com/office/drawing/2014/main" id="{5B977B75-0E21-449C-853F-A1F35408A759}"/>
              </a:ext>
            </a:extLst>
          </p:cNvPr>
          <p:cNvSpPr>
            <a:spLocks xmlns:a="http://schemas.openxmlformats.org/drawingml/2006/main" noGrp="1"/>
          </p:cNvSpPr>
          <p:nvPr/>
        </p:nvSpPr>
        <p:spPr>
          <a:xfrm xmlns:a="http://schemas.openxmlformats.org/drawingml/2006/main">
            <a:off x="11563350" y="2990850"/>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17F7B"/>
                </a:solidFill>
                <a:latin typeface="Arial"/>
                <a:ea typeface="Arial"/>
                <a:cs typeface="Arial"/>
              </a:defRPr>
            </a:defPPr>
            <a:lvl1pPr algn="l">
              <a:defRPr sz="1725" b="1">
                <a:solidFill>
                  <a:srgbClr val="317F7B"/>
                </a:solidFill>
                <a:latin typeface="Arial"/>
                <a:ea typeface="Arial"/>
                <a:cs typeface="Arial"/>
              </a:defRPr>
            </a:lvl1pPr>
            <a:lvl2pPr algn="l">
              <a:defRPr sz="1725" b="1">
                <a:solidFill>
                  <a:srgbClr val="317F7B"/>
                </a:solidFill>
                <a:latin typeface="Arial"/>
                <a:ea typeface="Arial"/>
                <a:cs typeface="Arial"/>
              </a:defRPr>
            </a:lvl2pPr>
            <a:lvl3pPr algn="l">
              <a:defRPr sz="1725" b="1">
                <a:solidFill>
                  <a:srgbClr val="317F7B"/>
                </a:solidFill>
                <a:latin typeface="Arial"/>
                <a:ea typeface="Arial"/>
                <a:cs typeface="Arial"/>
              </a:defRPr>
            </a:lvl3pPr>
            <a:lvl4pPr algn="l">
              <a:defRPr sz="1725" b="1">
                <a:solidFill>
                  <a:srgbClr val="317F7B"/>
                </a:solidFill>
                <a:latin typeface="Arial"/>
                <a:ea typeface="Arial"/>
                <a:cs typeface="Arial"/>
              </a:defRPr>
            </a:lvl4pPr>
            <a:lvl5pPr algn="l">
              <a:defRPr sz="1725" b="1">
                <a:solidFill>
                  <a:srgbClr val="317F7B"/>
                </a:solidFill>
                <a:latin typeface="Arial"/>
                <a:ea typeface="Arial"/>
                <a:cs typeface="Arial"/>
              </a:defRPr>
            </a:lvl5pPr>
            <a:lvl6pPr algn="l">
              <a:defRPr sz="1725" b="1">
                <a:solidFill>
                  <a:srgbClr val="317F7B"/>
                </a:solidFill>
                <a:latin typeface="Arial"/>
                <a:ea typeface="Arial"/>
                <a:cs typeface="Arial"/>
              </a:defRPr>
            </a:lvl6pPr>
            <a:lvl7pPr algn="l">
              <a:defRPr sz="1725" b="1">
                <a:solidFill>
                  <a:srgbClr val="317F7B"/>
                </a:solidFill>
                <a:latin typeface="Arial"/>
                <a:ea typeface="Arial"/>
                <a:cs typeface="Arial"/>
              </a:defRPr>
            </a:lvl7pPr>
            <a:lvl8pPr algn="l">
              <a:defRPr sz="1725" b="1">
                <a:solidFill>
                  <a:srgbClr val="317F7B"/>
                </a:solidFill>
                <a:latin typeface="Arial"/>
                <a:ea typeface="Arial"/>
                <a:cs typeface="Arial"/>
              </a:defRPr>
            </a:lvl8pPr>
            <a:lvl9pPr algn="l">
              <a:defRPr sz="1725" b="1">
                <a:solidFill>
                  <a:srgbClr val="317F7B"/>
                </a:solidFill>
                <a:latin typeface="Arial"/>
                <a:ea typeface="Arial"/>
                <a:cs typeface="Arial"/>
              </a:defRPr>
            </a:lvl9pPr>
          </a:lstStyle>
          <a:p xmlns:a="http://schemas.openxmlformats.org/drawingml/2006/main">
            <a:pPr algn="l">
              <a:defRPr sz="1725" b="1">
                <a:solidFill>
                  <a:srgbClr val="317F7B"/>
                </a:solidFill>
                <a:latin typeface="Arial"/>
                <a:ea typeface="Arial"/>
                <a:cs typeface="Arial"/>
              </a:defRPr>
            </a:pPr>
            <a:r>
              <a:rPr sz="1725" b="1">
                <a:solidFill>
                  <a:srgbClr val="317F7B"/>
                </a:solidFill>
                <a:latin typeface="Arial"/>
                <a:ea typeface="Arial"/>
                <a:cs typeface="Arial"/>
              </a:rPr>
              <a:t>Assessment and follow-up</a:t>
            </a:r>
          </a:p>
        </p:txBody>
      </p:sp>
      <p:sp>
        <p:nvSpPr>
          <p:cNvPr id="39" name="!!risk.result.body">
            <a:extLst xmlns:a="http://schemas.openxmlformats.org/drawingml/2006/main">
              <a:ext uri="{FF2B5EF4-FFF2-40B4-BE49-F238E27FC236}">
                <a16:creationId xmlns:a16="http://schemas.microsoft.com/office/drawing/2014/main" id="{349A0B56-D979-4525-9FB2-A31B8FD4AB05}"/>
              </a:ext>
            </a:extLst>
          </p:cNvPr>
          <p:cNvSpPr>
            <a:spLocks xmlns:a="http://schemas.openxmlformats.org/drawingml/2006/main" noGrp="1"/>
          </p:cNvSpPr>
          <p:nvPr/>
        </p:nvSpPr>
        <p:spPr>
          <a:xfrm xmlns:a="http://schemas.openxmlformats.org/drawingml/2006/main">
            <a:off x="11563350" y="3429000"/>
            <a:ext cx="283845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Cash-flow pressure affects the issuer’s capacity to service debt.</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Review the credit assessment.</a:t>
            </a:r>
          </a:p>
          <a:p xmlns:a="http://schemas.openxmlformats.org/drawingml/2006/main">
            <a:r>
              <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Affected fund: Product 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Research follow-up: assess cash-flow trends</a:t>
            </a:r>
          </a:p>
        </p:txBody>
      </p:sp>
      <p:sp>
        <p:nvSpPr>
          <p:cNvPr id="40" name="!!risk.material.bus">
            <a:extLst xmlns:a="http://schemas.openxmlformats.org/drawingml/2006/main">
              <a:ext uri="{FF2B5EF4-FFF2-40B4-BE49-F238E27FC236}">
                <a16:creationId xmlns:a16="http://schemas.microsoft.com/office/drawing/2014/main" id="{B3CB2ACB-A09B-4BEB-BDE7-DA733995D138}"/>
              </a:ext>
            </a:extLst>
          </p:cNvPr>
          <p:cNvSpPr>
            <a:spLocks xmlns:a="http://schemas.openxmlformats.org/drawingml/2006/main" noGrp="1"/>
          </p:cNvSpPr>
          <p:nvPr/>
        </p:nvSpPr>
        <p:spPr>
          <a:xfrm xmlns:a="http://schemas.openxmlformats.org/drawingml/2006/main" flipH="0" flipV="0">
            <a:off x="7486650" y="3143250"/>
            <a:ext cx="953" cy="3009900"/>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1" name="!!risk.material.in0">
            <a:extLst xmlns:a="http://schemas.openxmlformats.org/drawingml/2006/main">
              <a:ext uri="{FF2B5EF4-FFF2-40B4-BE49-F238E27FC236}">
                <a16:creationId xmlns:a16="http://schemas.microsoft.com/office/drawing/2014/main" id="{E025791B-4AB5-4230-8921-3B54E24F77EF}"/>
              </a:ext>
            </a:extLst>
          </p:cNvPr>
          <p:cNvSpPr>
            <a:spLocks xmlns:a="http://schemas.openxmlformats.org/drawingml/2006/main" noGrp="1"/>
          </p:cNvSpPr>
          <p:nvPr/>
        </p:nvSpPr>
        <p:spPr>
          <a:xfrm xmlns:a="http://schemas.openxmlformats.org/drawingml/2006/main" flipH="0" flipV="0">
            <a:off x="7277100" y="31432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2" name="!!risk.material.in1">
            <a:extLst xmlns:a="http://schemas.openxmlformats.org/drawingml/2006/main">
              <a:ext uri="{FF2B5EF4-FFF2-40B4-BE49-F238E27FC236}">
                <a16:creationId xmlns:a16="http://schemas.microsoft.com/office/drawing/2014/main" id="{A20C9CB4-D52F-4959-81C2-30447348F5F2}"/>
              </a:ext>
            </a:extLst>
          </p:cNvPr>
          <p:cNvSpPr>
            <a:spLocks xmlns:a="http://schemas.openxmlformats.org/drawingml/2006/main" noGrp="1"/>
          </p:cNvSpPr>
          <p:nvPr/>
        </p:nvSpPr>
        <p:spPr>
          <a:xfrm xmlns:a="http://schemas.openxmlformats.org/drawingml/2006/main" flipH="0" flipV="0">
            <a:off x="7277100" y="4562475"/>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3" name="!!risk.material.in2">
            <a:extLst xmlns:a="http://schemas.openxmlformats.org/drawingml/2006/main">
              <a:ext uri="{FF2B5EF4-FFF2-40B4-BE49-F238E27FC236}">
                <a16:creationId xmlns:a16="http://schemas.microsoft.com/office/drawing/2014/main" id="{55E3718C-D443-418B-A806-F0986650D1F9}"/>
              </a:ext>
            </a:extLst>
          </p:cNvPr>
          <p:cNvSpPr>
            <a:spLocks xmlns:a="http://schemas.openxmlformats.org/drawingml/2006/main" noGrp="1"/>
          </p:cNvSpPr>
          <p:nvPr/>
        </p:nvSpPr>
        <p:spPr>
          <a:xfrm xmlns:a="http://schemas.openxmlformats.org/drawingml/2006/main" flipH="0" flipV="0">
            <a:off x="7277100" y="6153150"/>
            <a:ext cx="209550" cy="953"/>
          </a:xfrm>
          <a:prstGeom xmlns:a="http://schemas.openxmlformats.org/drawingml/2006/main" prst="line">
            <a:avLst/>
          </a:prstGeom>
          <a:noFill xmlns:a="http://schemas.openxmlformats.org/drawingml/2006/main"/>
          <a:ln xmlns:a="http://schemas.openxmlformats.org/drawingml/2006/main" w="17145">
            <a:solidFill>
              <a:srgbClr val="005A9C"/>
            </a:solidFill>
            <a:prstDash val="solid"/>
          </a:ln>
        </p:spPr>
      </p:sp>
      <p:sp>
        <p:nvSpPr>
          <p:cNvPr id="44" name="!!risk.toLLM.line">
            <a:extLst xmlns:a="http://schemas.openxmlformats.org/drawingml/2006/main">
              <a:ext uri="{FF2B5EF4-FFF2-40B4-BE49-F238E27FC236}">
                <a16:creationId xmlns:a16="http://schemas.microsoft.com/office/drawing/2014/main" id="{B69E0E72-A92F-4076-B1B2-2DC5980B02F8}"/>
              </a:ext>
            </a:extLst>
          </p:cNvPr>
          <p:cNvSpPr>
            <a:spLocks xmlns:a="http://schemas.openxmlformats.org/drawingml/2006/main" noGrp="1"/>
          </p:cNvSpPr>
          <p:nvPr/>
        </p:nvSpPr>
        <p:spPr>
          <a:xfrm xmlns:a="http://schemas.openxmlformats.org/drawingml/2006/main" flipH="0" flipV="0">
            <a:off x="7486650" y="43053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risk.toLLM.tip">
            <a:extLst xmlns:a="http://schemas.openxmlformats.org/drawingml/2006/main">
              <a:ext uri="{FF2B5EF4-FFF2-40B4-BE49-F238E27FC236}">
                <a16:creationId xmlns:a16="http://schemas.microsoft.com/office/drawing/2014/main" id="{08DB6714-DDF1-48E3-B59C-F46D24009890}"/>
              </a:ext>
            </a:extLst>
          </p:cNvPr>
          <p:cNvSpPr>
            <a:spLocks xmlns:a="http://schemas.openxmlformats.org/drawingml/2006/main" noGrp="1"/>
          </p:cNvSpPr>
          <p:nvPr/>
        </p:nvSpPr>
        <p:spPr>
          <a:xfrm xmlns:a="http://schemas.openxmlformats.org/drawingml/2006/main" rot="5400000">
            <a:off x="7562850" y="42481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risk.toResult.line">
            <a:extLst xmlns:a="http://schemas.openxmlformats.org/drawingml/2006/main">
              <a:ext uri="{FF2B5EF4-FFF2-40B4-BE49-F238E27FC236}">
                <a16:creationId xmlns:a16="http://schemas.microsoft.com/office/drawing/2014/main" id="{6A8D3F48-CF93-45D2-8BAA-7C3A29ABB594}"/>
              </a:ext>
            </a:extLst>
          </p:cNvPr>
          <p:cNvSpPr>
            <a:spLocks xmlns:a="http://schemas.openxmlformats.org/drawingml/2006/main" noGrp="1"/>
          </p:cNvSpPr>
          <p:nvPr/>
        </p:nvSpPr>
        <p:spPr>
          <a:xfrm xmlns:a="http://schemas.openxmlformats.org/drawingml/2006/main" flipH="0" flipV="0">
            <a:off x="11029950" y="43053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risk.toResult.tip">
            <a:extLst xmlns:a="http://schemas.openxmlformats.org/drawingml/2006/main">
              <a:ext uri="{FF2B5EF4-FFF2-40B4-BE49-F238E27FC236}">
                <a16:creationId xmlns:a16="http://schemas.microsoft.com/office/drawing/2014/main" id="{375F9244-6C33-47D6-8914-2AC63819E8CF}"/>
              </a:ext>
            </a:extLst>
          </p:cNvPr>
          <p:cNvSpPr>
            <a:spLocks xmlns:a="http://schemas.openxmlformats.org/drawingml/2006/main" noGrp="1"/>
          </p:cNvSpPr>
          <p:nvPr/>
        </p:nvSpPr>
        <p:spPr>
          <a:xfrm xmlns:a="http://schemas.openxmlformats.org/drawingml/2006/main" rot="5400000">
            <a:off x="11220450" y="42481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risk.user">
            <a:extLst xmlns:a="http://schemas.openxmlformats.org/drawingml/2006/main">
              <a:ext uri="{FF2B5EF4-FFF2-40B4-BE49-F238E27FC236}">
                <a16:creationId xmlns:a16="http://schemas.microsoft.com/office/drawing/2014/main" id="{B077DB86-5A12-4801-B736-7C8D9C33AD3B}"/>
              </a:ext>
            </a:extLst>
          </p:cNvPr>
          <p:cNvSpPr>
            <a:spLocks xmlns:a="http://schemas.openxmlformats.org/drawingml/2006/main" noGrp="1"/>
          </p:cNvSpPr>
          <p:nvPr/>
        </p:nvSpPr>
        <p:spPr>
          <a:xfrm xmlns:a="http://schemas.openxmlformats.org/drawingml/2006/main">
            <a:off x="4057650" y="7048500"/>
            <a:ext cx="10534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Risk staff verify exposures and requirements. Analysts update the credit assessment.</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Portfolio managers discuss the response.</a:t>
            </a:r>
          </a:p>
        </p:txBody>
      </p:sp>
      <p:sp>
        <p:nvSpPr>
          <p:cNvPr id="50" name="!!story.header.issuer.bar">
            <a:extLst xmlns:a="http://schemas.openxmlformats.org/drawingml/2006/main">
              <a:ext uri="{FF2B5EF4-FFF2-40B4-BE49-F238E27FC236}">
                <a16:creationId xmlns:a16="http://schemas.microsoft.com/office/drawing/2014/main" id="{2B342B25-FFB4-40DE-BAE9-215ACDB2CF5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1" name="!!story.header.issuer.name">
            <a:extLst xmlns:a="http://schemas.openxmlformats.org/drawingml/2006/main">
              <a:ext uri="{FF2B5EF4-FFF2-40B4-BE49-F238E27FC236}">
                <a16:creationId xmlns:a16="http://schemas.microsoft.com/office/drawing/2014/main" id="{E46FA014-408D-4E71-BB2F-B39C2132B79A}"/>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7F7B"/>
                </a:solidFill>
                <a:latin typeface="Arial"/>
                <a:ea typeface="Arial"/>
                <a:cs typeface="Arial"/>
              </a:defRPr>
            </a:defPPr>
            <a:lvl1pPr algn="l">
              <a:defRPr sz="1800" b="1">
                <a:solidFill>
                  <a:srgbClr val="317F7B"/>
                </a:solidFill>
                <a:latin typeface="Arial"/>
                <a:ea typeface="Arial"/>
                <a:cs typeface="Arial"/>
              </a:defRPr>
            </a:lvl1pPr>
            <a:lvl2pPr algn="l">
              <a:defRPr sz="1800" b="1">
                <a:solidFill>
                  <a:srgbClr val="317F7B"/>
                </a:solidFill>
                <a:latin typeface="Arial"/>
                <a:ea typeface="Arial"/>
                <a:cs typeface="Arial"/>
              </a:defRPr>
            </a:lvl2pPr>
            <a:lvl3pPr algn="l">
              <a:defRPr sz="1800" b="1">
                <a:solidFill>
                  <a:srgbClr val="317F7B"/>
                </a:solidFill>
                <a:latin typeface="Arial"/>
                <a:ea typeface="Arial"/>
                <a:cs typeface="Arial"/>
              </a:defRPr>
            </a:lvl3pPr>
            <a:lvl4pPr algn="l">
              <a:defRPr sz="1800" b="1">
                <a:solidFill>
                  <a:srgbClr val="317F7B"/>
                </a:solidFill>
                <a:latin typeface="Arial"/>
                <a:ea typeface="Arial"/>
                <a:cs typeface="Arial"/>
              </a:defRPr>
            </a:lvl4pPr>
            <a:lvl5pPr algn="l">
              <a:defRPr sz="1800" b="1">
                <a:solidFill>
                  <a:srgbClr val="317F7B"/>
                </a:solidFill>
                <a:latin typeface="Arial"/>
                <a:ea typeface="Arial"/>
                <a:cs typeface="Arial"/>
              </a:defRPr>
            </a:lvl5pPr>
            <a:lvl6pPr algn="l">
              <a:defRPr sz="1800" b="1">
                <a:solidFill>
                  <a:srgbClr val="317F7B"/>
                </a:solidFill>
                <a:latin typeface="Arial"/>
                <a:ea typeface="Arial"/>
                <a:cs typeface="Arial"/>
              </a:defRPr>
            </a:lvl6pPr>
            <a:lvl7pPr algn="l">
              <a:defRPr sz="1800" b="1">
                <a:solidFill>
                  <a:srgbClr val="317F7B"/>
                </a:solidFill>
                <a:latin typeface="Arial"/>
                <a:ea typeface="Arial"/>
                <a:cs typeface="Arial"/>
              </a:defRPr>
            </a:lvl7pPr>
            <a:lvl8pPr algn="l">
              <a:defRPr sz="1800" b="1">
                <a:solidFill>
                  <a:srgbClr val="317F7B"/>
                </a:solidFill>
                <a:latin typeface="Arial"/>
                <a:ea typeface="Arial"/>
                <a:cs typeface="Arial"/>
              </a:defRPr>
            </a:lvl8pPr>
            <a:lvl9pPr algn="l">
              <a:defRPr sz="1800" b="1">
                <a:solidFill>
                  <a:srgbClr val="317F7B"/>
                </a:solidFill>
                <a:latin typeface="Arial"/>
                <a:ea typeface="Arial"/>
                <a:cs typeface="Arial"/>
              </a:defRPr>
            </a:lvl9pPr>
          </a:lstStyle>
          <a:p xmlns:a="http://schemas.openxmlformats.org/drawingml/2006/main">
            <a:pPr algn="l">
              <a:defRPr sz="1800" b="1">
                <a:solidFill>
                  <a:srgbClr val="317F7B"/>
                </a:solidFill>
                <a:latin typeface="Arial"/>
                <a:ea typeface="Arial"/>
                <a:cs typeface="Arial"/>
              </a:defRPr>
            </a:pPr>
            <a:r>
              <a:rPr sz="1800" b="1">
                <a:solidFill>
                  <a:srgbClr val="317F7B"/>
                </a:solidFill>
                <a:latin typeface="Arial"/>
                <a:ea typeface="Arial"/>
                <a:cs typeface="Arial"/>
              </a:rPr>
              <a:t>Company A</a:t>
            </a:r>
          </a:p>
        </p:txBody>
      </p:sp>
      <p:sp>
        <p:nvSpPr>
          <p:cNvPr id="52" name="!!story.issuer.event.mail">
            <a:extLst xmlns:a="http://schemas.openxmlformats.org/drawingml/2006/main">
              <a:ext uri="{FF2B5EF4-FFF2-40B4-BE49-F238E27FC236}">
                <a16:creationId xmlns:a16="http://schemas.microsoft.com/office/drawing/2014/main" id="{AD57FBDE-855B-46ED-B78C-AF698A597E40}"/>
              </a:ext>
            </a:extLst>
          </p:cNvPr>
          <p:cNvSpPr>
            <a:spLocks xmlns:a="http://schemas.openxmlformats.org/drawingml/2006/main" noGrp="1"/>
          </p:cNvSpPr>
          <p:nvPr/>
        </p:nvSpPr>
        <p:spPr>
          <a:xfrm xmlns:a="http://schemas.openxmlformats.org/drawingml/2006/main">
            <a:off x="3943350" y="2400300"/>
            <a:ext cx="57150" cy="1619250"/>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3" name="!!story.issuer.event.rule">
            <a:extLst xmlns:a="http://schemas.openxmlformats.org/drawingml/2006/main">
              <a:ext uri="{FF2B5EF4-FFF2-40B4-BE49-F238E27FC236}">
                <a16:creationId xmlns:a16="http://schemas.microsoft.com/office/drawing/2014/main" id="{A341204E-C472-4055-A6D9-A97042227124}"/>
              </a:ext>
            </a:extLst>
          </p:cNvPr>
          <p:cNvSpPr>
            <a:spLocks xmlns:a="http://schemas.openxmlformats.org/drawingml/2006/main" noGrp="1"/>
          </p:cNvSpPr>
          <p:nvPr/>
        </p:nvSpPr>
        <p:spPr>
          <a:xfrm xmlns:a="http://schemas.openxmlformats.org/drawingml/2006/main">
            <a:off x="3943350" y="5572125"/>
            <a:ext cx="57150" cy="117157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4" name="!!story.issuer.holdings.data">
            <a:extLst xmlns:a="http://schemas.openxmlformats.org/drawingml/2006/main">
              <a:ext uri="{FF2B5EF4-FFF2-40B4-BE49-F238E27FC236}">
                <a16:creationId xmlns:a16="http://schemas.microsoft.com/office/drawing/2014/main" id="{90BF63F6-F742-46DB-B454-F4352C67E593}"/>
              </a:ext>
            </a:extLst>
          </p:cNvPr>
          <p:cNvSpPr>
            <a:spLocks xmlns:a="http://schemas.openxmlformats.org/drawingml/2006/main" noGrp="1"/>
          </p:cNvSpPr>
          <p:nvPr/>
        </p:nvSpPr>
        <p:spPr>
          <a:xfrm xmlns:a="http://schemas.openxmlformats.org/drawingml/2006/main">
            <a:off x="4152900" y="4676775"/>
            <a:ext cx="38100" cy="79057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55" name="!!story.issuer.impact.report">
            <a:extLst xmlns:a="http://schemas.openxmlformats.org/drawingml/2006/main">
              <a:ext uri="{FF2B5EF4-FFF2-40B4-BE49-F238E27FC236}">
                <a16:creationId xmlns:a16="http://schemas.microsoft.com/office/drawing/2014/main" id="{6F2E8AE2-D6B0-4CEE-9DCF-D6231E031CBF}"/>
              </a:ext>
            </a:extLst>
          </p:cNvPr>
          <p:cNvSpPr>
            <a:spLocks xmlns:a="http://schemas.openxmlformats.org/drawingml/2006/main" noGrp="1"/>
          </p:cNvSpPr>
          <p:nvPr/>
        </p:nvSpPr>
        <p:spPr>
          <a:xfrm xmlns:a="http://schemas.openxmlformats.org/drawingml/2006/main">
            <a:off x="11315700" y="2847975"/>
            <a:ext cx="57150" cy="3533775"/>
          </a:xfrm>
          <a:prstGeom xmlns:a="http://schemas.openxmlformats.org/drawingml/2006/main" prst="rect">
            <a:avLst/>
          </a:prstGeom>
          <a:solidFill xmlns:a="http://schemas.openxmlformats.org/drawingml/2006/main">
            <a:srgbClr val="317F7B"/>
          </a:solidFill>
          <a:ln xmlns:a="http://schemas.openxmlformats.org/drawingml/2006/main" w="0">
            <a:noFill/>
          </a:ln>
        </p:spPr>
      </p:sp>
    </p:spTree>
    <p:extLst>
      <p:ext uri="{BB962C8B-B14F-4D97-AF65-F5344CB8AC3E}">
        <p14:creationId xmlns:p14="http://schemas.microsoft.com/office/powerpoint/2010/main" val="207652083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3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6"/>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5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55"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heading">
            <a:extLst xmlns:a="http://schemas.openxmlformats.org/drawingml/2006/main">
              <a:ext uri="{FF2B5EF4-FFF2-40B4-BE49-F238E27FC236}">
                <a16:creationId xmlns:a16="http://schemas.microsoft.com/office/drawing/2014/main" id="{581D4F3E-B175-4AD5-B246-B57994FFA28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Processing operational documents</a:t>
            </a:r>
          </a:p>
        </p:txBody>
      </p:sp>
      <p:sp>
        <p:nvSpPr>
          <p:cNvPr id="2" name="!!subtitle">
            <a:extLst xmlns:a="http://schemas.openxmlformats.org/drawingml/2006/main">
              <a:ext uri="{FF2B5EF4-FFF2-40B4-BE49-F238E27FC236}">
                <a16:creationId xmlns:a16="http://schemas.microsoft.com/office/drawing/2014/main" id="{B1F1D7A3-2E4E-46D9-B8E5-2C0695D3F204}"/>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Current workflow</a:t>
            </a:r>
          </a:p>
        </p:txBody>
      </p:sp>
      <p:sp>
        <p:nvSpPr>
          <p:cNvPr id="3" name="!!heading.rule">
            <a:extLst xmlns:a="http://schemas.openxmlformats.org/drawingml/2006/main">
              <a:ext uri="{FF2B5EF4-FFF2-40B4-BE49-F238E27FC236}">
                <a16:creationId xmlns:a16="http://schemas.microsoft.com/office/drawing/2014/main" id="{80F6E32F-8784-465F-B26A-12A4A7F3F222}"/>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8DD125A-940F-48FA-86EA-4F2C4FBE24F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DB15840-6212-401E-B1A5-83416E6C876A}"/>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889397B-6339-4D70-83AF-B5E640AA8311}"/>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B70781A8-CC81-4CD0-938E-055E779939E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91EE694D-C5A2-4BDC-AE66-B594A577826C}"/>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02E29F6-DD85-4F55-9CDB-D4EAED3EF5C8}"/>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18D77E2-486C-4B46-86BA-2E4537C42692}"/>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E6598E9C-5EED-4DCE-9159-6AC5511A4F0E}"/>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61F7A428-B138-4CF8-B547-01A6A2B2A08A}"/>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1A070D15-E436-4E8C-8ACE-BEEB483F5366}"/>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757B0712-6D99-4236-9552-B38945101FF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2FDD01C-407E-4BED-8FAB-0A99473CF149}"/>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2ED54EB-B6E3-4DBB-A598-F84520E5636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CAA75D7-01C1-4EBA-A832-4CD1E4C477F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07291F4-4405-48B2-B905-E15CB396D40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D68DB3DE-C20D-4DB5-BEE1-A1CCA8E851FB}"/>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43CB5202-CB2D-477E-BD8B-7DEDF70C28E5}"/>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22 / 33</a:t>
            </a:r>
          </a:p>
        </p:txBody>
      </p:sp>
      <p:sp>
        <p:nvSpPr>
          <p:cNvPr id="21" name="!!nav.prev">
            <ns0:hlinkClick xmlns:ns0="http://schemas.openxmlformats.org/drawingml/2006/main" xmlns:ns1="http://schemas.openxmlformats.org/officeDocument/2006/relationships" ns1:id="rIdNavSlide21" action="ppaction://hlinksldjump" tooltip="Slide 21: Proposed application: credit-risk assessment"/>
            <a:extLst xmlns:a="http://schemas.openxmlformats.org/drawingml/2006/main">
              <a:ext uri="{FF2B5EF4-FFF2-40B4-BE49-F238E27FC236}">
                <a16:creationId xmlns:a16="http://schemas.microsoft.com/office/drawing/2014/main" id="{CEC30EA6-6AF3-41A0-B695-3D5C6F253699}"/>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531BCD6B-3BB3-438A-946D-D5E9C54265EC}"/>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D72AEAE-5DD9-45B3-9EC0-B1F983A78346}"/>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A50BBBBC-B717-435D-8A83-9C3936A1AD3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ops.head0">
            <a:extLst xmlns:a="http://schemas.openxmlformats.org/drawingml/2006/main">
              <a:ext uri="{FF2B5EF4-FFF2-40B4-BE49-F238E27FC236}">
                <a16:creationId xmlns:a16="http://schemas.microsoft.com/office/drawing/2014/main" id="{3DF6BBD7-C7C9-43B9-B95A-25DE6BF73FC0}"/>
              </a:ext>
            </a:extLst>
          </p:cNvPr>
          <p:cNvSpPr>
            <a:spLocks xmlns:a="http://schemas.openxmlformats.org/drawingml/2006/main" noGrp="1"/>
          </p:cNvSpPr>
          <p:nvPr/>
        </p:nvSpPr>
        <p:spPr>
          <a:xfrm xmlns:a="http://schemas.openxmlformats.org/drawingml/2006/main">
            <a:off x="405765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Input documents</a:t>
            </a:r>
          </a:p>
        </p:txBody>
      </p:sp>
      <p:sp>
        <p:nvSpPr>
          <p:cNvPr id="26" name="!!ops.head1">
            <a:extLst xmlns:a="http://schemas.openxmlformats.org/drawingml/2006/main">
              <a:ext uri="{FF2B5EF4-FFF2-40B4-BE49-F238E27FC236}">
                <a16:creationId xmlns:a16="http://schemas.microsoft.com/office/drawing/2014/main" id="{A08C58A4-8632-480D-BA36-0C032424F75F}"/>
              </a:ext>
            </a:extLst>
          </p:cNvPr>
          <p:cNvSpPr>
            <a:spLocks xmlns:a="http://schemas.openxmlformats.org/drawingml/2006/main" noGrp="1"/>
          </p:cNvSpPr>
          <p:nvPr/>
        </p:nvSpPr>
        <p:spPr>
          <a:xfrm xmlns:a="http://schemas.openxmlformats.org/drawingml/2006/main">
            <a:off x="765810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Processing tasks</a:t>
            </a:r>
          </a:p>
        </p:txBody>
      </p:sp>
      <p:sp>
        <p:nvSpPr>
          <p:cNvPr id="27" name="!!ops.head2">
            <a:extLst xmlns:a="http://schemas.openxmlformats.org/drawingml/2006/main">
              <a:ext uri="{FF2B5EF4-FFF2-40B4-BE49-F238E27FC236}">
                <a16:creationId xmlns:a16="http://schemas.microsoft.com/office/drawing/2014/main" id="{A7C73694-6277-4DE8-B0B0-45B13F9D8AE3}"/>
              </a:ext>
            </a:extLst>
          </p:cNvPr>
          <p:cNvSpPr>
            <a:spLocks xmlns:a="http://schemas.openxmlformats.org/drawingml/2006/main" noGrp="1"/>
          </p:cNvSpPr>
          <p:nvPr/>
        </p:nvSpPr>
        <p:spPr>
          <a:xfrm xmlns:a="http://schemas.openxmlformats.org/drawingml/2006/main">
            <a:off x="11258550" y="220027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Outputs</a:t>
            </a:r>
          </a:p>
        </p:txBody>
      </p:sp>
      <p:sp>
        <p:nvSpPr>
          <p:cNvPr id="28" name="!!ops.row0.0">
            <a:extLst xmlns:a="http://schemas.openxmlformats.org/drawingml/2006/main">
              <a:ext uri="{FF2B5EF4-FFF2-40B4-BE49-F238E27FC236}">
                <a16:creationId xmlns:a16="http://schemas.microsoft.com/office/drawing/2014/main" id="{E9D200A5-5D8C-4DDC-907E-CAE7EE76B7AE}"/>
              </a:ext>
            </a:extLst>
          </p:cNvPr>
          <p:cNvSpPr>
            <a:spLocks xmlns:a="http://schemas.openxmlformats.org/drawingml/2006/main" noGrp="1"/>
          </p:cNvSpPr>
          <p:nvPr/>
        </p:nvSpPr>
        <p:spPr>
          <a:xfrm xmlns:a="http://schemas.openxmlformats.org/drawingml/2006/main">
            <a:off x="405765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Faxes and scans</a:t>
            </a:r>
          </a:p>
        </p:txBody>
      </p:sp>
      <p:sp>
        <p:nvSpPr>
          <p:cNvPr id="29" name="!!ops.row0.1">
            <a:extLst xmlns:a="http://schemas.openxmlformats.org/drawingml/2006/main">
              <a:ext uri="{FF2B5EF4-FFF2-40B4-BE49-F238E27FC236}">
                <a16:creationId xmlns:a16="http://schemas.microsoft.com/office/drawing/2014/main" id="{D401D70E-67FD-428A-BA8A-0E2D2EAEBDB6}"/>
              </a:ext>
            </a:extLst>
          </p:cNvPr>
          <p:cNvSpPr>
            <a:spLocks xmlns:a="http://schemas.openxmlformats.org/drawingml/2006/main" noGrp="1"/>
          </p:cNvSpPr>
          <p:nvPr/>
        </p:nvSpPr>
        <p:spPr>
          <a:xfrm xmlns:a="http://schemas.openxmlformats.org/drawingml/2006/main">
            <a:off x="765810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Enter and validate data</a:t>
            </a:r>
          </a:p>
        </p:txBody>
      </p:sp>
      <p:sp>
        <p:nvSpPr>
          <p:cNvPr id="30" name="!!ops.row0.2">
            <a:extLst xmlns:a="http://schemas.openxmlformats.org/drawingml/2006/main">
              <a:ext uri="{FF2B5EF4-FFF2-40B4-BE49-F238E27FC236}">
                <a16:creationId xmlns:a16="http://schemas.microsoft.com/office/drawing/2014/main" id="{08B87D0C-09E5-47F3-B927-6294F840E4FF}"/>
              </a:ext>
            </a:extLst>
          </p:cNvPr>
          <p:cNvSpPr>
            <a:spLocks xmlns:a="http://schemas.openxmlformats.org/drawingml/2006/main" noGrp="1"/>
          </p:cNvSpPr>
          <p:nvPr/>
        </p:nvSpPr>
        <p:spPr>
          <a:xfrm xmlns:a="http://schemas.openxmlformats.org/drawingml/2006/main">
            <a:off x="11258550" y="328612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Business records</a:t>
            </a:r>
          </a:p>
        </p:txBody>
      </p:sp>
      <p:sp>
        <p:nvSpPr>
          <p:cNvPr id="31" name="!!ops.a0.line">
            <a:extLst xmlns:a="http://schemas.openxmlformats.org/drawingml/2006/main">
              <a:ext uri="{FF2B5EF4-FFF2-40B4-BE49-F238E27FC236}">
                <a16:creationId xmlns:a16="http://schemas.microsoft.com/office/drawing/2014/main" id="{78CFA787-A4B9-4C14-9540-842F7EF54FB0}"/>
              </a:ext>
            </a:extLst>
          </p:cNvPr>
          <p:cNvSpPr>
            <a:spLocks xmlns:a="http://schemas.openxmlformats.org/drawingml/2006/main" noGrp="1"/>
          </p:cNvSpPr>
          <p:nvPr/>
        </p:nvSpPr>
        <p:spPr>
          <a:xfrm xmlns:a="http://schemas.openxmlformats.org/drawingml/2006/main" flipH="0" flipV="0">
            <a:off x="7448550" y="36957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2" name="!!ops.a0.tip">
            <a:extLst xmlns:a="http://schemas.openxmlformats.org/drawingml/2006/main">
              <a:ext uri="{FF2B5EF4-FFF2-40B4-BE49-F238E27FC236}">
                <a16:creationId xmlns:a16="http://schemas.microsoft.com/office/drawing/2014/main" id="{03287B7D-BA8C-4BEE-BD07-7B886CD735E0}"/>
              </a:ext>
            </a:extLst>
          </p:cNvPr>
          <p:cNvSpPr>
            <a:spLocks xmlns:a="http://schemas.openxmlformats.org/drawingml/2006/main" noGrp="1"/>
          </p:cNvSpPr>
          <p:nvPr/>
        </p:nvSpPr>
        <p:spPr>
          <a:xfrm xmlns:a="http://schemas.openxmlformats.org/drawingml/2006/main" rot="5400000">
            <a:off x="7524750" y="3638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3" name="!!ops.b0.line">
            <a:extLst xmlns:a="http://schemas.openxmlformats.org/drawingml/2006/main">
              <a:ext uri="{FF2B5EF4-FFF2-40B4-BE49-F238E27FC236}">
                <a16:creationId xmlns:a16="http://schemas.microsoft.com/office/drawing/2014/main" id="{2E0AE523-A8A6-48FF-A7DF-24C56F49F696}"/>
              </a:ext>
            </a:extLst>
          </p:cNvPr>
          <p:cNvSpPr>
            <a:spLocks xmlns:a="http://schemas.openxmlformats.org/drawingml/2006/main" noGrp="1"/>
          </p:cNvSpPr>
          <p:nvPr/>
        </p:nvSpPr>
        <p:spPr>
          <a:xfrm xmlns:a="http://schemas.openxmlformats.org/drawingml/2006/main" flipH="0" flipV="0">
            <a:off x="11049000" y="369570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4" name="!!ops.b0.tip">
            <a:extLst xmlns:a="http://schemas.openxmlformats.org/drawingml/2006/main">
              <a:ext uri="{FF2B5EF4-FFF2-40B4-BE49-F238E27FC236}">
                <a16:creationId xmlns:a16="http://schemas.microsoft.com/office/drawing/2014/main" id="{B6901E47-BF86-4870-8285-D75095572FDD}"/>
              </a:ext>
            </a:extLst>
          </p:cNvPr>
          <p:cNvSpPr>
            <a:spLocks xmlns:a="http://schemas.openxmlformats.org/drawingml/2006/main" noGrp="1"/>
          </p:cNvSpPr>
          <p:nvPr/>
        </p:nvSpPr>
        <p:spPr>
          <a:xfrm xmlns:a="http://schemas.openxmlformats.org/drawingml/2006/main" rot="5400000">
            <a:off x="11125200" y="36385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5" name="!!ops.row1.0">
            <a:extLst xmlns:a="http://schemas.openxmlformats.org/drawingml/2006/main">
              <a:ext uri="{FF2B5EF4-FFF2-40B4-BE49-F238E27FC236}">
                <a16:creationId xmlns:a16="http://schemas.microsoft.com/office/drawing/2014/main" id="{8A1775D7-BB68-48BC-B0F1-4B801AC5342D}"/>
              </a:ext>
            </a:extLst>
          </p:cNvPr>
          <p:cNvSpPr>
            <a:spLocks xmlns:a="http://schemas.openxmlformats.org/drawingml/2006/main" noGrp="1"/>
          </p:cNvSpPr>
          <p:nvPr/>
        </p:nvSpPr>
        <p:spPr>
          <a:xfrm xmlns:a="http://schemas.openxmlformats.org/drawingml/2006/main">
            <a:off x="405765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Client update V1 / V2</a:t>
            </a:r>
          </a:p>
        </p:txBody>
      </p:sp>
      <p:sp>
        <p:nvSpPr>
          <p:cNvPr id="36" name="!!ops.row1.1">
            <a:extLst xmlns:a="http://schemas.openxmlformats.org/drawingml/2006/main">
              <a:ext uri="{FF2B5EF4-FFF2-40B4-BE49-F238E27FC236}">
                <a16:creationId xmlns:a16="http://schemas.microsoft.com/office/drawing/2014/main" id="{80170571-9732-40DC-9957-200799CC9EF2}"/>
              </a:ext>
            </a:extLst>
          </p:cNvPr>
          <p:cNvSpPr>
            <a:spLocks xmlns:a="http://schemas.openxmlformats.org/drawingml/2006/main" noGrp="1"/>
          </p:cNvSpPr>
          <p:nvPr/>
        </p:nvSpPr>
        <p:spPr>
          <a:xfrm xmlns:a="http://schemas.openxmlformats.org/drawingml/2006/main">
            <a:off x="765810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Find and interpret changes</a:t>
            </a:r>
          </a:p>
        </p:txBody>
      </p:sp>
      <p:sp>
        <p:nvSpPr>
          <p:cNvPr id="37" name="!!ops.row1.2">
            <a:extLst xmlns:a="http://schemas.openxmlformats.org/drawingml/2006/main">
              <a:ext uri="{FF2B5EF4-FFF2-40B4-BE49-F238E27FC236}">
                <a16:creationId xmlns:a16="http://schemas.microsoft.com/office/drawing/2014/main" id="{D86BCAF9-7E3C-417B-B881-C1F91DAA84DA}"/>
              </a:ext>
            </a:extLst>
          </p:cNvPr>
          <p:cNvSpPr>
            <a:spLocks xmlns:a="http://schemas.openxmlformats.org/drawingml/2006/main" noGrp="1"/>
          </p:cNvSpPr>
          <p:nvPr/>
        </p:nvSpPr>
        <p:spPr>
          <a:xfrm xmlns:a="http://schemas.openxmlformats.org/drawingml/2006/main">
            <a:off x="11258550" y="4591050"/>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Change summary</a:t>
            </a:r>
          </a:p>
        </p:txBody>
      </p:sp>
      <p:sp>
        <p:nvSpPr>
          <p:cNvPr id="38" name="!!ops.a1.line">
            <a:extLst xmlns:a="http://schemas.openxmlformats.org/drawingml/2006/main">
              <a:ext uri="{FF2B5EF4-FFF2-40B4-BE49-F238E27FC236}">
                <a16:creationId xmlns:a16="http://schemas.microsoft.com/office/drawing/2014/main" id="{5D668E37-2D2A-4335-B396-5EB601F5D4B8}"/>
              </a:ext>
            </a:extLst>
          </p:cNvPr>
          <p:cNvSpPr>
            <a:spLocks xmlns:a="http://schemas.openxmlformats.org/drawingml/2006/main" noGrp="1"/>
          </p:cNvSpPr>
          <p:nvPr/>
        </p:nvSpPr>
        <p:spPr>
          <a:xfrm xmlns:a="http://schemas.openxmlformats.org/drawingml/2006/main" flipH="0" flipV="0">
            <a:off x="7448550" y="5000625"/>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ops.a1.tip">
            <a:extLst xmlns:a="http://schemas.openxmlformats.org/drawingml/2006/main">
              <a:ext uri="{FF2B5EF4-FFF2-40B4-BE49-F238E27FC236}">
                <a16:creationId xmlns:a16="http://schemas.microsoft.com/office/drawing/2014/main" id="{22142BEB-2C40-4B12-B457-611199AE4349}"/>
              </a:ext>
            </a:extLst>
          </p:cNvPr>
          <p:cNvSpPr>
            <a:spLocks xmlns:a="http://schemas.openxmlformats.org/drawingml/2006/main" noGrp="1"/>
          </p:cNvSpPr>
          <p:nvPr/>
        </p:nvSpPr>
        <p:spPr>
          <a:xfrm xmlns:a="http://schemas.openxmlformats.org/drawingml/2006/main" rot="5400000">
            <a:off x="7524750" y="49434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ops.b1.line">
            <a:extLst xmlns:a="http://schemas.openxmlformats.org/drawingml/2006/main">
              <a:ext uri="{FF2B5EF4-FFF2-40B4-BE49-F238E27FC236}">
                <a16:creationId xmlns:a16="http://schemas.microsoft.com/office/drawing/2014/main" id="{B225E541-2932-4E92-BE67-E26987D7B790}"/>
              </a:ext>
            </a:extLst>
          </p:cNvPr>
          <p:cNvSpPr>
            <a:spLocks xmlns:a="http://schemas.openxmlformats.org/drawingml/2006/main" noGrp="1"/>
          </p:cNvSpPr>
          <p:nvPr/>
        </p:nvSpPr>
        <p:spPr>
          <a:xfrm xmlns:a="http://schemas.openxmlformats.org/drawingml/2006/main" flipH="0" flipV="0">
            <a:off x="11049000" y="5000625"/>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1" name="!!ops.b1.tip">
            <a:extLst xmlns:a="http://schemas.openxmlformats.org/drawingml/2006/main">
              <a:ext uri="{FF2B5EF4-FFF2-40B4-BE49-F238E27FC236}">
                <a16:creationId xmlns:a16="http://schemas.microsoft.com/office/drawing/2014/main" id="{7134E3F2-6A09-4868-9B21-2F8BB1B945E4}"/>
              </a:ext>
            </a:extLst>
          </p:cNvPr>
          <p:cNvSpPr>
            <a:spLocks xmlns:a="http://schemas.openxmlformats.org/drawingml/2006/main" noGrp="1"/>
          </p:cNvSpPr>
          <p:nvPr/>
        </p:nvSpPr>
        <p:spPr>
          <a:xfrm xmlns:a="http://schemas.openxmlformats.org/drawingml/2006/main" rot="5400000">
            <a:off x="11125200" y="49434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2" name="!!ops.row2.0">
            <a:extLst xmlns:a="http://schemas.openxmlformats.org/drawingml/2006/main">
              <a:ext uri="{FF2B5EF4-FFF2-40B4-BE49-F238E27FC236}">
                <a16:creationId xmlns:a16="http://schemas.microsoft.com/office/drawing/2014/main" id="{E879BCAA-792A-44E8-8C92-465B3EA70492}"/>
              </a:ext>
            </a:extLst>
          </p:cNvPr>
          <p:cNvSpPr>
            <a:spLocks xmlns:a="http://schemas.openxmlformats.org/drawingml/2006/main" noGrp="1"/>
          </p:cNvSpPr>
          <p:nvPr/>
        </p:nvSpPr>
        <p:spPr>
          <a:xfrm xmlns:a="http://schemas.openxmlformats.org/drawingml/2006/main">
            <a:off x="405765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Related documents</a:t>
            </a:r>
          </a:p>
        </p:txBody>
      </p:sp>
      <p:sp>
        <p:nvSpPr>
          <p:cNvPr id="43" name="!!ops.row2.1">
            <a:extLst xmlns:a="http://schemas.openxmlformats.org/drawingml/2006/main">
              <a:ext uri="{FF2B5EF4-FFF2-40B4-BE49-F238E27FC236}">
                <a16:creationId xmlns:a16="http://schemas.microsoft.com/office/drawing/2014/main" id="{B3CB258D-EEE7-425F-B386-7D4A4EF40174}"/>
              </a:ext>
            </a:extLst>
          </p:cNvPr>
          <p:cNvSpPr>
            <a:spLocks xmlns:a="http://schemas.openxmlformats.org/drawingml/2006/main" noGrp="1"/>
          </p:cNvSpPr>
          <p:nvPr/>
        </p:nvSpPr>
        <p:spPr>
          <a:xfrm xmlns:a="http://schemas.openxmlformats.org/drawingml/2006/main">
            <a:off x="765810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Apply the same revision</a:t>
            </a:r>
          </a:p>
        </p:txBody>
      </p:sp>
      <p:sp>
        <p:nvSpPr>
          <p:cNvPr id="44" name="!!ops.row2.2">
            <a:extLst xmlns:a="http://schemas.openxmlformats.org/drawingml/2006/main">
              <a:ext uri="{FF2B5EF4-FFF2-40B4-BE49-F238E27FC236}">
                <a16:creationId xmlns:a16="http://schemas.microsoft.com/office/drawing/2014/main" id="{6BB269FE-A238-4D19-B87E-3A8B648AED85}"/>
              </a:ext>
            </a:extLst>
          </p:cNvPr>
          <p:cNvSpPr>
            <a:spLocks xmlns:a="http://schemas.openxmlformats.org/drawingml/2006/main" noGrp="1"/>
          </p:cNvSpPr>
          <p:nvPr/>
        </p:nvSpPr>
        <p:spPr>
          <a:xfrm xmlns:a="http://schemas.openxmlformats.org/drawingml/2006/main">
            <a:off x="11258550" y="5895975"/>
            <a:ext cx="3333750" cy="8286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75" b="1">
                <a:solidFill>
                  <a:srgbClr val="20262C"/>
                </a:solidFill>
                <a:latin typeface="Arial"/>
                <a:ea typeface="Arial"/>
                <a:cs typeface="Arial"/>
              </a:defRPr>
            </a:defPPr>
            <a:lvl1pPr algn="ctr">
              <a:defRPr sz="1875" b="1">
                <a:solidFill>
                  <a:srgbClr val="20262C"/>
                </a:solidFill>
                <a:latin typeface="Arial"/>
                <a:ea typeface="Arial"/>
                <a:cs typeface="Arial"/>
              </a:defRPr>
            </a:lvl1pPr>
            <a:lvl2pPr algn="ctr">
              <a:defRPr sz="1875" b="1">
                <a:solidFill>
                  <a:srgbClr val="20262C"/>
                </a:solidFill>
                <a:latin typeface="Arial"/>
                <a:ea typeface="Arial"/>
                <a:cs typeface="Arial"/>
              </a:defRPr>
            </a:lvl2pPr>
            <a:lvl3pPr algn="ctr">
              <a:defRPr sz="1875" b="1">
                <a:solidFill>
                  <a:srgbClr val="20262C"/>
                </a:solidFill>
                <a:latin typeface="Arial"/>
                <a:ea typeface="Arial"/>
                <a:cs typeface="Arial"/>
              </a:defRPr>
            </a:lvl3pPr>
            <a:lvl4pPr algn="ctr">
              <a:defRPr sz="1875" b="1">
                <a:solidFill>
                  <a:srgbClr val="20262C"/>
                </a:solidFill>
                <a:latin typeface="Arial"/>
                <a:ea typeface="Arial"/>
                <a:cs typeface="Arial"/>
              </a:defRPr>
            </a:lvl4pPr>
            <a:lvl5pPr algn="ctr">
              <a:defRPr sz="1875" b="1">
                <a:solidFill>
                  <a:srgbClr val="20262C"/>
                </a:solidFill>
                <a:latin typeface="Arial"/>
                <a:ea typeface="Arial"/>
                <a:cs typeface="Arial"/>
              </a:defRPr>
            </a:lvl5pPr>
            <a:lvl6pPr algn="ctr">
              <a:defRPr sz="1875" b="1">
                <a:solidFill>
                  <a:srgbClr val="20262C"/>
                </a:solidFill>
                <a:latin typeface="Arial"/>
                <a:ea typeface="Arial"/>
                <a:cs typeface="Arial"/>
              </a:defRPr>
            </a:lvl6pPr>
            <a:lvl7pPr algn="ctr">
              <a:defRPr sz="1875" b="1">
                <a:solidFill>
                  <a:srgbClr val="20262C"/>
                </a:solidFill>
                <a:latin typeface="Arial"/>
                <a:ea typeface="Arial"/>
                <a:cs typeface="Arial"/>
              </a:defRPr>
            </a:lvl7pPr>
            <a:lvl8pPr algn="ctr">
              <a:defRPr sz="1875" b="1">
                <a:solidFill>
                  <a:srgbClr val="20262C"/>
                </a:solidFill>
                <a:latin typeface="Arial"/>
                <a:ea typeface="Arial"/>
                <a:cs typeface="Arial"/>
              </a:defRPr>
            </a:lvl8pPr>
            <a:lvl9pPr algn="ctr">
              <a:defRPr sz="1875" b="1">
                <a:solidFill>
                  <a:srgbClr val="20262C"/>
                </a:solidFill>
                <a:latin typeface="Arial"/>
                <a:ea typeface="Arial"/>
                <a:cs typeface="Arial"/>
              </a:defRPr>
            </a:lvl9pPr>
          </a:lstStyle>
          <a:p xmlns:a="http://schemas.openxmlformats.org/drawingml/2006/main">
            <a:pPr algn="ctr">
              <a:defRPr sz="1875" b="1">
                <a:solidFill>
                  <a:srgbClr val="20262C"/>
                </a:solidFill>
                <a:latin typeface="Arial"/>
                <a:ea typeface="Arial"/>
                <a:cs typeface="Arial"/>
              </a:defRPr>
            </a:pPr>
            <a:r>
              <a:rPr sz="1875" b="1">
                <a:solidFill>
                  <a:srgbClr val="20262C"/>
                </a:solidFill>
                <a:latin typeface="Arial"/>
                <a:ea typeface="Arial"/>
                <a:cs typeface="Arial"/>
              </a:rPr>
              <a:t>Updated documents</a:t>
            </a:r>
          </a:p>
        </p:txBody>
      </p:sp>
      <p:sp>
        <p:nvSpPr>
          <p:cNvPr id="45" name="!!ops.a2.line">
            <a:extLst xmlns:a="http://schemas.openxmlformats.org/drawingml/2006/main">
              <a:ext uri="{FF2B5EF4-FFF2-40B4-BE49-F238E27FC236}">
                <a16:creationId xmlns:a16="http://schemas.microsoft.com/office/drawing/2014/main" id="{910FD67C-8AAF-4D5C-AD11-EC5006A7DE27}"/>
              </a:ext>
            </a:extLst>
          </p:cNvPr>
          <p:cNvSpPr>
            <a:spLocks xmlns:a="http://schemas.openxmlformats.org/drawingml/2006/main" noGrp="1"/>
          </p:cNvSpPr>
          <p:nvPr/>
        </p:nvSpPr>
        <p:spPr>
          <a:xfrm xmlns:a="http://schemas.openxmlformats.org/drawingml/2006/main" flipH="0" flipV="0">
            <a:off x="7448550" y="630555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ops.a2.tip">
            <a:extLst xmlns:a="http://schemas.openxmlformats.org/drawingml/2006/main">
              <a:ext uri="{FF2B5EF4-FFF2-40B4-BE49-F238E27FC236}">
                <a16:creationId xmlns:a16="http://schemas.microsoft.com/office/drawing/2014/main" id="{36E74081-682A-4C45-917D-933296791748}"/>
              </a:ext>
            </a:extLst>
          </p:cNvPr>
          <p:cNvSpPr>
            <a:spLocks xmlns:a="http://schemas.openxmlformats.org/drawingml/2006/main" noGrp="1"/>
          </p:cNvSpPr>
          <p:nvPr/>
        </p:nvSpPr>
        <p:spPr>
          <a:xfrm xmlns:a="http://schemas.openxmlformats.org/drawingml/2006/main" rot="5400000">
            <a:off x="7524750" y="62484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ps.b2.line">
            <a:extLst xmlns:a="http://schemas.openxmlformats.org/drawingml/2006/main">
              <a:ext uri="{FF2B5EF4-FFF2-40B4-BE49-F238E27FC236}">
                <a16:creationId xmlns:a16="http://schemas.microsoft.com/office/drawing/2014/main" id="{3177CE8B-1BB2-4840-9963-868AF1D7E70E}"/>
              </a:ext>
            </a:extLst>
          </p:cNvPr>
          <p:cNvSpPr>
            <a:spLocks xmlns:a="http://schemas.openxmlformats.org/drawingml/2006/main" noGrp="1"/>
          </p:cNvSpPr>
          <p:nvPr/>
        </p:nvSpPr>
        <p:spPr>
          <a:xfrm xmlns:a="http://schemas.openxmlformats.org/drawingml/2006/main" flipH="0" flipV="0">
            <a:off x="11049000" y="6305550"/>
            <a:ext cx="1333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8" name="!!ops.b2.tip">
            <a:extLst xmlns:a="http://schemas.openxmlformats.org/drawingml/2006/main">
              <a:ext uri="{FF2B5EF4-FFF2-40B4-BE49-F238E27FC236}">
                <a16:creationId xmlns:a16="http://schemas.microsoft.com/office/drawing/2014/main" id="{56F1CB6D-CC4F-44FD-8C89-BCEA6F182A35}"/>
              </a:ext>
            </a:extLst>
          </p:cNvPr>
          <p:cNvSpPr>
            <a:spLocks xmlns:a="http://schemas.openxmlformats.org/drawingml/2006/main" noGrp="1"/>
          </p:cNvSpPr>
          <p:nvPr/>
        </p:nvSpPr>
        <p:spPr>
          <a:xfrm xmlns:a="http://schemas.openxmlformats.org/drawingml/2006/main" rot="5400000">
            <a:off x="11125200" y="62484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9" name="!!ops.repetition">
            <a:extLst xmlns:a="http://schemas.openxmlformats.org/drawingml/2006/main">
              <a:ext uri="{FF2B5EF4-FFF2-40B4-BE49-F238E27FC236}">
                <a16:creationId xmlns:a16="http://schemas.microsoft.com/office/drawing/2014/main" id="{3C7C8804-FFDD-4E6D-B23D-0EEABDC123D9}"/>
              </a:ext>
            </a:extLst>
          </p:cNvPr>
          <p:cNvSpPr>
            <a:spLocks xmlns:a="http://schemas.openxmlformats.org/drawingml/2006/main" noGrp="1"/>
          </p:cNvSpPr>
          <p:nvPr/>
        </p:nvSpPr>
        <p:spPr>
          <a:xfrm xmlns:a="http://schemas.openxmlformats.org/drawingml/2006/main">
            <a:off x="4057650" y="71818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Staff spend time rekeying data and interpreting document changes.</a:t>
            </a:r>
          </a:p>
        </p:txBody>
      </p:sp>
      <p:sp>
        <p:nvSpPr>
          <p:cNvPr id="51" name="!!story.header.client.bar">
            <a:extLst xmlns:a="http://schemas.openxmlformats.org/drawingml/2006/main">
              <a:ext uri="{FF2B5EF4-FFF2-40B4-BE49-F238E27FC236}">
                <a16:creationId xmlns:a16="http://schemas.microsoft.com/office/drawing/2014/main" id="{42EA8ED4-1F89-44DA-8F54-AADFA465FFD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header.client.name">
            <a:extLst xmlns:a="http://schemas.openxmlformats.org/drawingml/2006/main">
              <a:ext uri="{FF2B5EF4-FFF2-40B4-BE49-F238E27FC236}">
                <a16:creationId xmlns:a16="http://schemas.microsoft.com/office/drawing/2014/main" id="{AE39C72E-AC8E-4D75-9436-F5D35650A80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3" name="!!story.header.client.qualifier">
            <a:extLst xmlns:a="http://schemas.openxmlformats.org/drawingml/2006/main">
              <a:ext uri="{FF2B5EF4-FFF2-40B4-BE49-F238E27FC236}">
                <a16:creationId xmlns:a16="http://schemas.microsoft.com/office/drawing/2014/main" id="{6376FF97-EA94-444F-9103-1369389F7093}"/>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File example</a:t>
            </a:r>
          </a:p>
        </p:txBody>
      </p:sp>
      <p:sp>
        <p:nvSpPr>
          <p:cNvPr id="54" name="!!story.client.file.versions">
            <a:extLst xmlns:a="http://schemas.openxmlformats.org/drawingml/2006/main">
              <a:ext uri="{FF2B5EF4-FFF2-40B4-BE49-F238E27FC236}">
                <a16:creationId xmlns:a16="http://schemas.microsoft.com/office/drawing/2014/main" id="{566641FD-45AA-4182-A8E9-3FA25A7F5667}"/>
              </a:ext>
            </a:extLst>
          </p:cNvPr>
          <p:cNvSpPr>
            <a:spLocks xmlns:a="http://schemas.openxmlformats.org/drawingml/2006/main" noGrp="1"/>
          </p:cNvSpPr>
          <p:nvPr/>
        </p:nvSpPr>
        <p:spPr>
          <a:xfrm xmlns:a="http://schemas.openxmlformats.org/drawingml/2006/main">
            <a:off x="4000500" y="4591050"/>
            <a:ext cx="57150" cy="82867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5" name="!!story.client.file.differences">
            <a:extLst xmlns:a="http://schemas.openxmlformats.org/drawingml/2006/main">
              <a:ext uri="{FF2B5EF4-FFF2-40B4-BE49-F238E27FC236}">
                <a16:creationId xmlns:a16="http://schemas.microsoft.com/office/drawing/2014/main" id="{B7B3FC7A-563D-422D-A06A-64E93FC30E86}"/>
              </a:ext>
            </a:extLst>
          </p:cNvPr>
          <p:cNvSpPr>
            <a:spLocks xmlns:a="http://schemas.openxmlformats.org/drawingml/2006/main" noGrp="1"/>
          </p:cNvSpPr>
          <p:nvPr/>
        </p:nvSpPr>
        <p:spPr>
          <a:xfrm xmlns:a="http://schemas.openxmlformats.org/drawingml/2006/main">
            <a:off x="11201400" y="4591050"/>
            <a:ext cx="57150" cy="8286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21410002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EF0EB7BB-EEE7-46D7-9B11-C1BBFA59366C}"/>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HuaAn and ICBCUBS: document processing</a:t>
            </a:r>
          </a:p>
        </p:txBody>
      </p:sp>
      <p:sp>
        <p:nvSpPr>
          <p:cNvPr id="2" name="!!subtitle">
            <a:extLst xmlns:a="http://schemas.openxmlformats.org/drawingml/2006/main">
              <a:ext uri="{FF2B5EF4-FFF2-40B4-BE49-F238E27FC236}">
                <a16:creationId xmlns:a16="http://schemas.microsoft.com/office/drawing/2014/main" id="{447476D9-1BC6-4207-A5F9-2F3526558DA0}"/>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Industry examples</a:t>
            </a:r>
          </a:p>
        </p:txBody>
      </p:sp>
      <p:sp>
        <p:nvSpPr>
          <p:cNvPr id="3" name="!!heading.rule">
            <a:extLst xmlns:a="http://schemas.openxmlformats.org/drawingml/2006/main">
              <a:ext uri="{FF2B5EF4-FFF2-40B4-BE49-F238E27FC236}">
                <a16:creationId xmlns:a16="http://schemas.microsoft.com/office/drawing/2014/main" id="{8C7B4497-08B8-4D50-B6B1-93429D58A2A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D4EACF21-5C99-4C90-BED1-91017DF6888E}"/>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F3FA73B3-7751-4245-8662-00131AA7AE0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6F5EA55-5E0C-484F-94F7-BC0F7FD7131B}"/>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5785669-3FB8-49BB-9A8D-06B721130CB0}"/>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D54AF80F-125D-4FF1-8E7B-0C3CEA398819}"/>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E232674-E0FA-44E6-9B4C-4627FEB786D1}"/>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0E4031B-FB19-45D5-AEEF-09989ACED084}"/>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B10CE2BF-02BD-4EE7-8826-031919334B8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7E70520-F157-4067-83EB-D1F378A7F5F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029B66-AD6F-4392-B1D3-88AF1963294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D2A17D1-0AC0-470A-9D7C-4645B3773507}"/>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DE5B11CA-A8AE-4596-8F7E-33BFEBEAF8EC}"/>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9DE5744-A560-472B-9D6D-26DA869F02DC}"/>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2FCC8E6A-208D-4ED7-9C1A-35562B98B889}"/>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D4B5A492-FA2F-43C8-A14B-00DD03163038}"/>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989D0CA-87E0-4EFD-B5D1-5C72B4C74E5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77E1D2C3-8E10-4258-AD0D-F0607375F988}"/>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23 / 33</a:t>
            </a:r>
          </a:p>
        </p:txBody>
      </p:sp>
      <p:sp>
        <p:nvSpPr>
          <p:cNvPr id="21" name="!!nav.prev">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7C3F5FB-ED70-44B3-AE3F-6866016905FA}"/>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4" action="ppaction://hlinksldjump" tooltip="Slide 24: Proposed application: document change analysis"/>
            <a:extLst xmlns:a="http://schemas.openxmlformats.org/drawingml/2006/main">
              <a:ext uri="{FF2B5EF4-FFF2-40B4-BE49-F238E27FC236}">
                <a16:creationId xmlns:a16="http://schemas.microsoft.com/office/drawing/2014/main" id="{C7482610-CF4C-42FB-B82C-3B2C3479DDA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B8AD8EC1-1AFF-4636-8D95-DF98756CA913}"/>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34B9DC7B-8F76-4B83-BA6A-4C8A48A4F042}"/>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HuaAn / CCF; ICBCUBS / AMAC</a:t>
            </a:r>
          </a:p>
        </p:txBody>
      </p:sp>
      <p:sp>
        <p:nvSpPr>
          <p:cNvPr id="25" name="!!ops.huaan">
            <a:extLst xmlns:a="http://schemas.openxmlformats.org/drawingml/2006/main">
              <a:ext uri="{FF2B5EF4-FFF2-40B4-BE49-F238E27FC236}">
                <a16:creationId xmlns:a16="http://schemas.microsoft.com/office/drawing/2014/main" id="{3CEC38FB-38BC-4C92-9D95-90E1B6D733FC}"/>
              </a:ext>
            </a:extLst>
          </p:cNvPr>
          <p:cNvSpPr>
            <a:spLocks xmlns:a="http://schemas.openxmlformats.org/drawingml/2006/main" noGrp="1"/>
          </p:cNvSpPr>
          <p:nvPr/>
        </p:nvSpPr>
        <p:spPr>
          <a:xfrm xmlns:a="http://schemas.openxmlformats.org/drawingml/2006/main">
            <a:off x="4057650" y="2171700"/>
            <a:ext cx="335280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HuaAn: automated data entry</a:t>
            </a:r>
          </a:p>
        </p:txBody>
      </p:sp>
      <p:sp>
        <p:nvSpPr>
          <p:cNvPr id="26" name="!!ops.form">
            <a:extLst xmlns:a="http://schemas.openxmlformats.org/drawingml/2006/main">
              <a:ext uri="{FF2B5EF4-FFF2-40B4-BE49-F238E27FC236}">
                <a16:creationId xmlns:a16="http://schemas.microsoft.com/office/drawing/2014/main" id="{EE1502E7-C3E0-4890-AB30-7687CE2E1219}"/>
              </a:ext>
            </a:extLst>
          </p:cNvPr>
          <p:cNvSpPr>
            <a:spLocks xmlns:a="http://schemas.openxmlformats.org/drawingml/2006/main" noGrp="1"/>
          </p:cNvSpPr>
          <p:nvPr/>
        </p:nvSpPr>
        <p:spPr>
          <a:xfrm xmlns:a="http://schemas.openxmlformats.org/drawingml/2006/main">
            <a:off x="4057650" y="3028950"/>
            <a:ext cx="3352800" cy="23431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ops.form.role">
            <a:extLst xmlns:a="http://schemas.openxmlformats.org/drawingml/2006/main">
              <a:ext uri="{FF2B5EF4-FFF2-40B4-BE49-F238E27FC236}">
                <a16:creationId xmlns:a16="http://schemas.microsoft.com/office/drawing/2014/main" id="{7178A765-A7C9-4246-AAE3-EE683DC2B1EA}"/>
              </a:ext>
            </a:extLst>
          </p:cNvPr>
          <p:cNvSpPr>
            <a:spLocks xmlns:a="http://schemas.openxmlformats.org/drawingml/2006/main" noGrp="1"/>
          </p:cNvSpPr>
          <p:nvPr/>
        </p:nvSpPr>
        <p:spPr>
          <a:xfrm xmlns:a="http://schemas.openxmlformats.org/drawingml/2006/main">
            <a:off x="4248150" y="31718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Read faxes and forms</a:t>
            </a:r>
          </a:p>
        </p:txBody>
      </p:sp>
      <p:sp>
        <p:nvSpPr>
          <p:cNvPr id="28" name="!!ops.form.body">
            <a:extLst xmlns:a="http://schemas.openxmlformats.org/drawingml/2006/main">
              <a:ext uri="{FF2B5EF4-FFF2-40B4-BE49-F238E27FC236}">
                <a16:creationId xmlns:a16="http://schemas.microsoft.com/office/drawing/2014/main" id="{B178384D-2C3C-4B2A-9772-5016CBD10882}"/>
              </a:ext>
            </a:extLst>
          </p:cNvPr>
          <p:cNvSpPr>
            <a:spLocks xmlns:a="http://schemas.openxmlformats.org/drawingml/2006/main" noGrp="1"/>
          </p:cNvSpPr>
          <p:nvPr/>
        </p:nvSpPr>
        <p:spPr>
          <a:xfrm xmlns:a="http://schemas.openxmlformats.org/drawingml/2006/main">
            <a:off x="4248150" y="3609975"/>
            <a:ext cx="29718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62C"/>
                </a:solidFill>
                <a:latin typeface="Arial"/>
                <a:ea typeface="Arial"/>
                <a:cs typeface="Arial"/>
              </a:defRPr>
            </a:defPPr>
            <a:lvl1pPr algn="l">
              <a:defRPr sz="2100" b="0">
                <a:solidFill>
                  <a:srgbClr val="20262C"/>
                </a:solidFill>
                <a:latin typeface="Arial"/>
                <a:ea typeface="Arial"/>
                <a:cs typeface="Arial"/>
              </a:defRPr>
            </a:lvl1pPr>
            <a:lvl2pPr algn="l">
              <a:defRPr sz="2100" b="0">
                <a:solidFill>
                  <a:srgbClr val="20262C"/>
                </a:solidFill>
                <a:latin typeface="Arial"/>
                <a:ea typeface="Arial"/>
                <a:cs typeface="Arial"/>
              </a:defRPr>
            </a:lvl2pPr>
            <a:lvl3pPr algn="l">
              <a:defRPr sz="2100" b="0">
                <a:solidFill>
                  <a:srgbClr val="20262C"/>
                </a:solidFill>
                <a:latin typeface="Arial"/>
                <a:ea typeface="Arial"/>
                <a:cs typeface="Arial"/>
              </a:defRPr>
            </a:lvl3pPr>
            <a:lvl4pPr algn="l">
              <a:defRPr sz="2100" b="0">
                <a:solidFill>
                  <a:srgbClr val="20262C"/>
                </a:solidFill>
                <a:latin typeface="Arial"/>
                <a:ea typeface="Arial"/>
                <a:cs typeface="Arial"/>
              </a:defRPr>
            </a:lvl4pPr>
            <a:lvl5pPr algn="l">
              <a:defRPr sz="2100" b="0">
                <a:solidFill>
                  <a:srgbClr val="20262C"/>
                </a:solidFill>
                <a:latin typeface="Arial"/>
                <a:ea typeface="Arial"/>
                <a:cs typeface="Arial"/>
              </a:defRPr>
            </a:lvl5pPr>
            <a:lvl6pPr algn="l">
              <a:defRPr sz="2100" b="0">
                <a:solidFill>
                  <a:srgbClr val="20262C"/>
                </a:solidFill>
                <a:latin typeface="Arial"/>
                <a:ea typeface="Arial"/>
                <a:cs typeface="Arial"/>
              </a:defRPr>
            </a:lvl6pPr>
            <a:lvl7pPr algn="l">
              <a:defRPr sz="2100" b="0">
                <a:solidFill>
                  <a:srgbClr val="20262C"/>
                </a:solidFill>
                <a:latin typeface="Arial"/>
                <a:ea typeface="Arial"/>
                <a:cs typeface="Arial"/>
              </a:defRPr>
            </a:lvl7pPr>
            <a:lvl8pPr algn="l">
              <a:defRPr sz="2100" b="0">
                <a:solidFill>
                  <a:srgbClr val="20262C"/>
                </a:solidFill>
                <a:latin typeface="Arial"/>
                <a:ea typeface="Arial"/>
                <a:cs typeface="Arial"/>
              </a:defRPr>
            </a:lvl8pPr>
            <a:lvl9pPr algn="l">
              <a:defRPr sz="2100" b="0">
                <a:solidFill>
                  <a:srgbClr val="20262C"/>
                </a:solidFill>
                <a:latin typeface="Arial"/>
                <a:ea typeface="Arial"/>
                <a:cs typeface="Arial"/>
              </a:defRPr>
            </a:lvl9pPr>
          </a:lstStyle>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Read document content</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Extract required data</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Populate client-service records</a:t>
            </a:r>
          </a:p>
          <a:p xmlns:a="http://schemas.openxmlformats.org/drawingml/2006/main">
            <a:pPr algn="l">
              <a:defRPr sz="2100" b="0">
                <a:solidFill>
                  <a:srgbClr val="20262C"/>
                </a:solidFill>
                <a:latin typeface="Arial"/>
                <a:ea typeface="Arial"/>
                <a:cs typeface="Arial"/>
              </a:defRPr>
            </a:pPr>
            <a:r>
              <a:rPr sz="2100" b="0">
                <a:solidFill>
                  <a:srgbClr val="20262C"/>
                </a:solidFill>
                <a:latin typeface="Arial"/>
                <a:ea typeface="Arial"/>
                <a:cs typeface="Arial"/>
              </a:rPr>
              <a:t>from faxes and forms</a:t>
            </a:r>
          </a:p>
        </p:txBody>
      </p:sp>
      <p:sp>
        <p:nvSpPr>
          <p:cNvPr id="29" name="!!ops.stat">
            <a:extLst xmlns:a="http://schemas.openxmlformats.org/drawingml/2006/main">
              <a:ext uri="{FF2B5EF4-FFF2-40B4-BE49-F238E27FC236}">
                <a16:creationId xmlns:a16="http://schemas.microsoft.com/office/drawing/2014/main" id="{EFCF2066-EBAC-47A4-8273-15828CFB4E8A}"/>
              </a:ext>
            </a:extLst>
          </p:cNvPr>
          <p:cNvSpPr>
            <a:spLocks xmlns:a="http://schemas.openxmlformats.org/drawingml/2006/main" noGrp="1"/>
          </p:cNvSpPr>
          <p:nvPr/>
        </p:nvSpPr>
        <p:spPr>
          <a:xfrm xmlns:a="http://schemas.openxmlformats.org/drawingml/2006/main">
            <a:off x="4057650" y="5591175"/>
            <a:ext cx="3352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HuaAn reports automated data entry for more than 80% of faxes handled by its direct-sales counter.</a:t>
            </a:r>
          </a:p>
        </p:txBody>
      </p:sp>
      <p:sp>
        <p:nvSpPr>
          <p:cNvPr id="30" name="!!ops.icbc">
            <a:extLst xmlns:a="http://schemas.openxmlformats.org/drawingml/2006/main">
              <a:ext uri="{FF2B5EF4-FFF2-40B4-BE49-F238E27FC236}">
                <a16:creationId xmlns:a16="http://schemas.microsoft.com/office/drawing/2014/main" id="{593997A1-A01E-4378-8CC8-1F174FAEADFB}"/>
              </a:ext>
            </a:extLst>
          </p:cNvPr>
          <p:cNvSpPr>
            <a:spLocks xmlns:a="http://schemas.openxmlformats.org/drawingml/2006/main" noGrp="1"/>
          </p:cNvSpPr>
          <p:nvPr/>
        </p:nvSpPr>
        <p:spPr>
          <a:xfrm xmlns:a="http://schemas.openxmlformats.org/drawingml/2006/main">
            <a:off x="7829550" y="2171700"/>
            <a:ext cx="6762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ICBCUBS: document comparison</a:t>
            </a:r>
          </a:p>
        </p:txBody>
      </p:sp>
      <p:sp>
        <p:nvSpPr>
          <p:cNvPr id="31" name="!!ops.formats">
            <a:extLst xmlns:a="http://schemas.openxmlformats.org/drawingml/2006/main">
              <a:ext uri="{FF2B5EF4-FFF2-40B4-BE49-F238E27FC236}">
                <a16:creationId xmlns:a16="http://schemas.microsoft.com/office/drawing/2014/main" id="{D1D30DE6-62FA-437D-A875-4380CE483C41}"/>
              </a:ext>
            </a:extLst>
          </p:cNvPr>
          <p:cNvSpPr>
            <a:spLocks xmlns:a="http://schemas.openxmlformats.org/drawingml/2006/main" noGrp="1"/>
          </p:cNvSpPr>
          <p:nvPr/>
        </p:nvSpPr>
        <p:spPr>
          <a:xfrm xmlns:a="http://schemas.openxmlformats.org/drawingml/2006/main">
            <a:off x="7829550" y="2952750"/>
            <a:ext cx="676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PDF, Word and scanned documents</a:t>
            </a:r>
          </a:p>
        </p:txBody>
      </p:sp>
      <p:sp>
        <p:nvSpPr>
          <p:cNvPr id="32" name="!!ops.compare.read">
            <a:extLst xmlns:a="http://schemas.openxmlformats.org/drawingml/2006/main">
              <a:ext uri="{FF2B5EF4-FFF2-40B4-BE49-F238E27FC236}">
                <a16:creationId xmlns:a16="http://schemas.microsoft.com/office/drawing/2014/main" id="{E584B84F-467C-4BD4-B77D-13837C56637F}"/>
              </a:ext>
            </a:extLst>
          </p:cNvPr>
          <p:cNvSpPr>
            <a:spLocks xmlns:a="http://schemas.openxmlformats.org/drawingml/2006/main" noGrp="1"/>
          </p:cNvSpPr>
          <p:nvPr/>
        </p:nvSpPr>
        <p:spPr>
          <a:xfrm xmlns:a="http://schemas.openxmlformats.org/drawingml/2006/main">
            <a:off x="7829550" y="3467100"/>
            <a:ext cx="6762750" cy="6572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The model reads the content and compares versions</a:t>
            </a:r>
          </a:p>
        </p:txBody>
      </p:sp>
      <p:sp>
        <p:nvSpPr>
          <p:cNvPr id="33" name="!!ops.compare.old.label">
            <a:extLst xmlns:a="http://schemas.openxmlformats.org/drawingml/2006/main">
              <a:ext uri="{FF2B5EF4-FFF2-40B4-BE49-F238E27FC236}">
                <a16:creationId xmlns:a16="http://schemas.microsoft.com/office/drawing/2014/main" id="{986E339A-0E4C-418C-B1AB-52FBCC929AA7}"/>
              </a:ext>
            </a:extLst>
          </p:cNvPr>
          <p:cNvSpPr>
            <a:spLocks xmlns:a="http://schemas.openxmlformats.org/drawingml/2006/main" noGrp="1"/>
          </p:cNvSpPr>
          <p:nvPr/>
        </p:nvSpPr>
        <p:spPr>
          <a:xfrm xmlns:a="http://schemas.openxmlformats.org/drawingml/2006/main">
            <a:off x="7829550" y="4286250"/>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V1 investment view</a:t>
            </a:r>
          </a:p>
        </p:txBody>
      </p:sp>
      <p:sp>
        <p:nvSpPr>
          <p:cNvPr id="34" name="!!ops.compare.old.text">
            <a:extLst xmlns:a="http://schemas.openxmlformats.org/drawingml/2006/main">
              <a:ext uri="{FF2B5EF4-FFF2-40B4-BE49-F238E27FC236}">
                <a16:creationId xmlns:a16="http://schemas.microsoft.com/office/drawing/2014/main" id="{676E8588-453F-4B99-9043-FF4E810BF421}"/>
              </a:ext>
            </a:extLst>
          </p:cNvPr>
          <p:cNvSpPr>
            <a:spLocks xmlns:a="http://schemas.openxmlformats.org/drawingml/2006/main" noGrp="1"/>
          </p:cNvSpPr>
          <p:nvPr/>
        </p:nvSpPr>
        <p:spPr>
          <a:xfrm xmlns:a="http://schemas.openxmlformats.org/drawingml/2006/main">
            <a:off x="7829550" y="4705350"/>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Higher sales volumes drove Company A’s revenue growth.</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We are monitoring raw-material costs.</a:t>
            </a:r>
          </a:p>
        </p:txBody>
      </p:sp>
      <p:sp>
        <p:nvSpPr>
          <p:cNvPr id="35" name="!!ops.compare.new.label">
            <a:extLst xmlns:a="http://schemas.openxmlformats.org/drawingml/2006/main">
              <a:ext uri="{FF2B5EF4-FFF2-40B4-BE49-F238E27FC236}">
                <a16:creationId xmlns:a16="http://schemas.microsoft.com/office/drawing/2014/main" id="{56723667-46FF-43C1-9069-F3C2229FA791}"/>
              </a:ext>
            </a:extLst>
          </p:cNvPr>
          <p:cNvSpPr>
            <a:spLocks xmlns:a="http://schemas.openxmlformats.org/drawingml/2006/main" noGrp="1"/>
          </p:cNvSpPr>
          <p:nvPr/>
        </p:nvSpPr>
        <p:spPr>
          <a:xfrm xmlns:a="http://schemas.openxmlformats.org/drawingml/2006/main">
            <a:off x="7829550" y="546735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V2 investment view: additions highlighted</a:t>
            </a:r>
          </a:p>
        </p:txBody>
      </p:sp>
      <p:sp>
        <p:nvSpPr>
          <p:cNvPr id="36" name="!!ops.compare.mark.driver">
            <a:extLst xmlns:a="http://schemas.openxmlformats.org/drawingml/2006/main">
              <a:ext uri="{FF2B5EF4-FFF2-40B4-BE49-F238E27FC236}">
                <a16:creationId xmlns:a16="http://schemas.microsoft.com/office/drawing/2014/main" id="{772144E4-8AFC-43E0-883B-3C79F5136A73}"/>
              </a:ext>
            </a:extLst>
          </p:cNvPr>
          <p:cNvSpPr>
            <a:spLocks xmlns:a="http://schemas.openxmlformats.org/drawingml/2006/main" noGrp="1"/>
          </p:cNvSpPr>
          <p:nvPr/>
        </p:nvSpPr>
        <p:spPr>
          <a:xfrm xmlns:a="http://schemas.openxmlformats.org/drawingml/2006/main">
            <a:off x="7829550" y="5867400"/>
            <a:ext cx="1943100" cy="2762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7" name="!!ops.compare.mark.watch">
            <a:extLst xmlns:a="http://schemas.openxmlformats.org/drawingml/2006/main">
              <a:ext uri="{FF2B5EF4-FFF2-40B4-BE49-F238E27FC236}">
                <a16:creationId xmlns:a16="http://schemas.microsoft.com/office/drawing/2014/main" id="{809C5E6D-5523-4586-B123-A58634A7C809}"/>
              </a:ext>
            </a:extLst>
          </p:cNvPr>
          <p:cNvSpPr>
            <a:spLocks xmlns:a="http://schemas.openxmlformats.org/drawingml/2006/main" noGrp="1"/>
          </p:cNvSpPr>
          <p:nvPr/>
        </p:nvSpPr>
        <p:spPr>
          <a:xfrm xmlns:a="http://schemas.openxmlformats.org/drawingml/2006/main">
            <a:off x="9744075" y="6467475"/>
            <a:ext cx="2943225" cy="276225"/>
          </a:xfrm>
          <a:prstGeom xmlns:a="http://schemas.openxmlformats.org/drawingml/2006/main" prst="rect">
            <a:avLst/>
          </a:prstGeom>
          <a:solidFill xmlns:a="http://schemas.openxmlformats.org/drawingml/2006/main">
            <a:srgbClr val="FFF0BE"/>
          </a:solidFill>
          <a:ln xmlns:a="http://schemas.openxmlformats.org/drawingml/2006/main" w="0">
            <a:noFill/>
            <a:prstDash val="solid"/>
          </a:ln>
        </p:spPr>
      </p:sp>
      <p:sp>
        <p:nvSpPr>
          <p:cNvPr id="38" name="!!ops.compare.new.line1">
            <a:extLst xmlns:a="http://schemas.openxmlformats.org/drawingml/2006/main">
              <a:ext uri="{FF2B5EF4-FFF2-40B4-BE49-F238E27FC236}">
                <a16:creationId xmlns:a16="http://schemas.microsoft.com/office/drawing/2014/main" id="{574290A3-38A6-4D48-829A-F08DB0B7AF92}"/>
              </a:ext>
            </a:extLst>
          </p:cNvPr>
          <p:cNvSpPr>
            <a:spLocks xmlns:a="http://schemas.openxmlformats.org/drawingml/2006/main" noGrp="1"/>
          </p:cNvSpPr>
          <p:nvPr/>
        </p:nvSpPr>
        <p:spPr>
          <a:xfrm xmlns:a="http://schemas.openxmlformats.org/drawingml/2006/main">
            <a:off x="7829550" y="58674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Channel restocking supported Company A’s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sales volume growth.</a:t>
            </a:r>
          </a:p>
        </p:txBody>
      </p:sp>
      <p:sp>
        <p:nvSpPr>
          <p:cNvPr id="39" name="!!ops.compare.new.line2">
            <a:extLst xmlns:a="http://schemas.openxmlformats.org/drawingml/2006/main">
              <a:ext uri="{FF2B5EF4-FFF2-40B4-BE49-F238E27FC236}">
                <a16:creationId xmlns:a16="http://schemas.microsoft.com/office/drawing/2014/main" id="{BB56F424-7C24-4942-A95E-8AEE31498B3F}"/>
              </a:ext>
            </a:extLst>
          </p:cNvPr>
          <p:cNvSpPr>
            <a:spLocks xmlns:a="http://schemas.openxmlformats.org/drawingml/2006/main" noGrp="1"/>
          </p:cNvSpPr>
          <p:nvPr/>
        </p:nvSpPr>
        <p:spPr>
          <a:xfrm xmlns:a="http://schemas.openxmlformats.org/drawingml/2006/main">
            <a:off x="7829550" y="6467475"/>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262C"/>
                </a:solidFill>
                <a:latin typeface="Arial"/>
                <a:ea typeface="Arial"/>
                <a:cs typeface="Arial"/>
              </a:defRPr>
            </a:defPPr>
            <a:lvl1pPr algn="l">
              <a:defRPr sz="1800" b="0">
                <a:solidFill>
                  <a:srgbClr val="20262C"/>
                </a:solidFill>
                <a:latin typeface="Arial"/>
                <a:ea typeface="Arial"/>
                <a:cs typeface="Arial"/>
              </a:defRPr>
            </a:lvl1pPr>
            <a:lvl2pPr algn="l">
              <a:defRPr sz="1800" b="0">
                <a:solidFill>
                  <a:srgbClr val="20262C"/>
                </a:solidFill>
                <a:latin typeface="Arial"/>
                <a:ea typeface="Arial"/>
                <a:cs typeface="Arial"/>
              </a:defRPr>
            </a:lvl2pPr>
            <a:lvl3pPr algn="l">
              <a:defRPr sz="1800" b="0">
                <a:solidFill>
                  <a:srgbClr val="20262C"/>
                </a:solidFill>
                <a:latin typeface="Arial"/>
                <a:ea typeface="Arial"/>
                <a:cs typeface="Arial"/>
              </a:defRPr>
            </a:lvl3pPr>
            <a:lvl4pPr algn="l">
              <a:defRPr sz="1800" b="0">
                <a:solidFill>
                  <a:srgbClr val="20262C"/>
                </a:solidFill>
                <a:latin typeface="Arial"/>
                <a:ea typeface="Arial"/>
                <a:cs typeface="Arial"/>
              </a:defRPr>
            </a:lvl4pPr>
            <a:lvl5pPr algn="l">
              <a:defRPr sz="1800" b="0">
                <a:solidFill>
                  <a:srgbClr val="20262C"/>
                </a:solidFill>
                <a:latin typeface="Arial"/>
                <a:ea typeface="Arial"/>
                <a:cs typeface="Arial"/>
              </a:defRPr>
            </a:lvl5pPr>
            <a:lvl6pPr algn="l">
              <a:defRPr sz="1800" b="0">
                <a:solidFill>
                  <a:srgbClr val="20262C"/>
                </a:solidFill>
                <a:latin typeface="Arial"/>
                <a:ea typeface="Arial"/>
                <a:cs typeface="Arial"/>
              </a:defRPr>
            </a:lvl6pPr>
            <a:lvl7pPr algn="l">
              <a:defRPr sz="1800" b="0">
                <a:solidFill>
                  <a:srgbClr val="20262C"/>
                </a:solidFill>
                <a:latin typeface="Arial"/>
                <a:ea typeface="Arial"/>
                <a:cs typeface="Arial"/>
              </a:defRPr>
            </a:lvl7pPr>
            <a:lvl8pPr algn="l">
              <a:defRPr sz="1800" b="0">
                <a:solidFill>
                  <a:srgbClr val="20262C"/>
                </a:solidFill>
                <a:latin typeface="Arial"/>
                <a:ea typeface="Arial"/>
                <a:cs typeface="Arial"/>
              </a:defRPr>
            </a:lvl8pPr>
            <a:lvl9pPr algn="l">
              <a:defRPr sz="1800" b="0">
                <a:solidFill>
                  <a:srgbClr val="20262C"/>
                </a:solidFill>
                <a:latin typeface="Arial"/>
                <a:ea typeface="Arial"/>
                <a:cs typeface="Arial"/>
              </a:defRPr>
            </a:lvl9pPr>
          </a:lstStyle>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We are monitoring whether restocking continues,</a:t>
            </a:r>
          </a:p>
          <a:p xmlns:a="http://schemas.openxmlformats.org/drawingml/2006/main">
            <a:pPr algn="l">
              <a:defRPr sz="1800" b="0">
                <a:solidFill>
                  <a:srgbClr val="20262C"/>
                </a:solidFill>
                <a:latin typeface="Arial"/>
                <a:ea typeface="Arial"/>
                <a:cs typeface="Arial"/>
              </a:defRPr>
            </a:pPr>
            <a:r>
              <a:rPr sz="1800" b="0">
                <a:solidFill>
                  <a:srgbClr val="20262C"/>
                </a:solidFill>
                <a:latin typeface="Arial"/>
                <a:ea typeface="Arial"/>
                <a:cs typeface="Arial"/>
              </a:rPr>
              <a:t>alongside raw-material costs.</a:t>
            </a:r>
          </a:p>
        </p:txBody>
      </p:sp>
      <p:sp>
        <p:nvSpPr>
          <p:cNvPr id="40" name="!!ops.compare.functions">
            <a:extLst xmlns:a="http://schemas.openxmlformats.org/drawingml/2006/main">
              <a:ext uri="{FF2B5EF4-FFF2-40B4-BE49-F238E27FC236}">
                <a16:creationId xmlns:a16="http://schemas.microsoft.com/office/drawing/2014/main" id="{0BF240F5-7515-4D82-BA9F-CF5A23E1AEE6}"/>
              </a:ext>
            </a:extLst>
          </p:cNvPr>
          <p:cNvSpPr>
            <a:spLocks xmlns:a="http://schemas.openxmlformats.org/drawingml/2006/main" noGrp="1"/>
          </p:cNvSpPr>
          <p:nvPr/>
        </p:nvSpPr>
        <p:spPr>
          <a:xfrm xmlns:a="http://schemas.openxmlformats.org/drawingml/2006/main">
            <a:off x="7829550" y="71247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5A9C"/>
                </a:solidFill>
                <a:latin typeface="Arial"/>
                <a:ea typeface="Arial"/>
                <a:cs typeface="Arial"/>
              </a:defRPr>
            </a:defPPr>
            <a:lvl1pPr algn="l">
              <a:defRPr sz="1800" b="1">
                <a:solidFill>
                  <a:srgbClr val="005A9C"/>
                </a:solidFill>
                <a:latin typeface="Arial"/>
                <a:ea typeface="Arial"/>
                <a:cs typeface="Arial"/>
              </a:defRPr>
            </a:lvl1pPr>
            <a:lvl2pPr algn="l">
              <a:defRPr sz="1800" b="1">
                <a:solidFill>
                  <a:srgbClr val="005A9C"/>
                </a:solidFill>
                <a:latin typeface="Arial"/>
                <a:ea typeface="Arial"/>
                <a:cs typeface="Arial"/>
              </a:defRPr>
            </a:lvl2pPr>
            <a:lvl3pPr algn="l">
              <a:defRPr sz="1800" b="1">
                <a:solidFill>
                  <a:srgbClr val="005A9C"/>
                </a:solidFill>
                <a:latin typeface="Arial"/>
                <a:ea typeface="Arial"/>
                <a:cs typeface="Arial"/>
              </a:defRPr>
            </a:lvl3pPr>
            <a:lvl4pPr algn="l">
              <a:defRPr sz="1800" b="1">
                <a:solidFill>
                  <a:srgbClr val="005A9C"/>
                </a:solidFill>
                <a:latin typeface="Arial"/>
                <a:ea typeface="Arial"/>
                <a:cs typeface="Arial"/>
              </a:defRPr>
            </a:lvl4pPr>
            <a:lvl5pPr algn="l">
              <a:defRPr sz="1800" b="1">
                <a:solidFill>
                  <a:srgbClr val="005A9C"/>
                </a:solidFill>
                <a:latin typeface="Arial"/>
                <a:ea typeface="Arial"/>
                <a:cs typeface="Arial"/>
              </a:defRPr>
            </a:lvl5pPr>
            <a:lvl6pPr algn="l">
              <a:defRPr sz="1800" b="1">
                <a:solidFill>
                  <a:srgbClr val="005A9C"/>
                </a:solidFill>
                <a:latin typeface="Arial"/>
                <a:ea typeface="Arial"/>
                <a:cs typeface="Arial"/>
              </a:defRPr>
            </a:lvl6pPr>
            <a:lvl7pPr algn="l">
              <a:defRPr sz="1800" b="1">
                <a:solidFill>
                  <a:srgbClr val="005A9C"/>
                </a:solidFill>
                <a:latin typeface="Arial"/>
                <a:ea typeface="Arial"/>
                <a:cs typeface="Arial"/>
              </a:defRPr>
            </a:lvl7pPr>
            <a:lvl8pPr algn="l">
              <a:defRPr sz="1800" b="1">
                <a:solidFill>
                  <a:srgbClr val="005A9C"/>
                </a:solidFill>
                <a:latin typeface="Arial"/>
                <a:ea typeface="Arial"/>
                <a:cs typeface="Arial"/>
              </a:defRPr>
            </a:lvl8pPr>
            <a:lvl9pPr algn="l">
              <a:defRPr sz="1800" b="1">
                <a:solidFill>
                  <a:srgbClr val="005A9C"/>
                </a:solidFill>
                <a:latin typeface="Arial"/>
                <a:ea typeface="Arial"/>
                <a:cs typeface="Arial"/>
              </a:defRPr>
            </a:lvl9pPr>
          </a:lstStyle>
          <a:p xmlns:a="http://schemas.openxmlformats.org/drawingml/2006/main">
            <a:pPr algn="l">
              <a:defRPr sz="1800" b="1">
                <a:solidFill>
                  <a:srgbClr val="005A9C"/>
                </a:solidFill>
                <a:latin typeface="Arial"/>
                <a:ea typeface="Arial"/>
                <a:cs typeface="Arial"/>
              </a:defRPr>
            </a:pPr>
            <a:r>
              <a:rPr sz="1800" b="1">
                <a:solidFill>
                  <a:srgbClr val="005A9C"/>
                </a:solidFill>
                <a:latin typeface="Arial"/>
                <a:ea typeface="Arial"/>
                <a:cs typeface="Arial"/>
              </a:rPr>
              <a:t>Highlight changes, identify typos and export results</a:t>
            </a:r>
          </a:p>
        </p:txBody>
      </p:sp>
      <p:sp>
        <p:nvSpPr>
          <p:cNvPr id="42" name="!!story.header.client.bar">
            <a:extLst xmlns:a="http://schemas.openxmlformats.org/drawingml/2006/main">
              <a:ext uri="{FF2B5EF4-FFF2-40B4-BE49-F238E27FC236}">
                <a16:creationId xmlns:a16="http://schemas.microsoft.com/office/drawing/2014/main" id="{1210809B-3703-498A-8E32-D1F654EFEF48}"/>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9D4AE7A4-8BFD-48A6-A7F3-B73B7C98F682}"/>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B4FA947F-4560-4DA0-9CFC-5F6086A6A813}"/>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Version comparison</a:t>
            </a:r>
          </a:p>
        </p:txBody>
      </p:sp>
      <p:sp>
        <p:nvSpPr>
          <p:cNvPr id="45" name="!!story.client.version.v1">
            <a:extLst xmlns:a="http://schemas.openxmlformats.org/drawingml/2006/main">
              <a:ext uri="{FF2B5EF4-FFF2-40B4-BE49-F238E27FC236}">
                <a16:creationId xmlns:a16="http://schemas.microsoft.com/office/drawing/2014/main" id="{F3D4F9D3-A210-4E5C-A674-AC7F38D628A1}"/>
              </a:ext>
            </a:extLst>
          </p:cNvPr>
          <p:cNvSpPr>
            <a:spLocks xmlns:a="http://schemas.openxmlformats.org/drawingml/2006/main" noGrp="1"/>
          </p:cNvSpPr>
          <p:nvPr/>
        </p:nvSpPr>
        <p:spPr>
          <a:xfrm xmlns:a="http://schemas.openxmlformats.org/drawingml/2006/main">
            <a:off x="7715250" y="4286250"/>
            <a:ext cx="57150" cy="104775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version.v2">
            <a:extLst xmlns:a="http://schemas.openxmlformats.org/drawingml/2006/main">
              <a:ext uri="{FF2B5EF4-FFF2-40B4-BE49-F238E27FC236}">
                <a16:creationId xmlns:a16="http://schemas.microsoft.com/office/drawing/2014/main" id="{D6FEB944-0A1C-4FC8-8752-3A87AD19F835}"/>
              </a:ext>
            </a:extLst>
          </p:cNvPr>
          <p:cNvSpPr>
            <a:spLocks xmlns:a="http://schemas.openxmlformats.org/drawingml/2006/main" noGrp="1"/>
          </p:cNvSpPr>
          <p:nvPr/>
        </p:nvSpPr>
        <p:spPr>
          <a:xfrm xmlns:a="http://schemas.openxmlformats.org/drawingml/2006/main">
            <a:off x="7715250" y="5467350"/>
            <a:ext cx="57150" cy="1552575"/>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1578717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heading">
            <a:extLst xmlns:a="http://schemas.openxmlformats.org/drawingml/2006/main">
              <a:ext uri="{FF2B5EF4-FFF2-40B4-BE49-F238E27FC236}">
                <a16:creationId xmlns:a16="http://schemas.microsoft.com/office/drawing/2014/main" id="{CBBD1C9C-C6D4-42B2-A4FB-88F28CBCC301}"/>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document change analysis</a:t>
            </a:r>
          </a:p>
        </p:txBody>
      </p:sp>
      <p:sp>
        <p:nvSpPr>
          <p:cNvPr id="2" name="!!subtitle">
            <a:extLst xmlns:a="http://schemas.openxmlformats.org/drawingml/2006/main">
              <a:ext uri="{FF2B5EF4-FFF2-40B4-BE49-F238E27FC236}">
                <a16:creationId xmlns:a16="http://schemas.microsoft.com/office/drawing/2014/main" id="{C39496C2-930C-48A9-8F13-1F7B425F9038}"/>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Document processing  /  Proposed application</a:t>
            </a:r>
          </a:p>
        </p:txBody>
      </p:sp>
      <p:sp>
        <p:nvSpPr>
          <p:cNvPr id="3" name="!!heading.rule">
            <a:extLst xmlns:a="http://schemas.openxmlformats.org/drawingml/2006/main">
              <a:ext uri="{FF2B5EF4-FFF2-40B4-BE49-F238E27FC236}">
                <a16:creationId xmlns:a16="http://schemas.microsoft.com/office/drawing/2014/main" id="{22C7181D-A441-4CD1-9DFE-87F8C5FAACC0}"/>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2805F1F-5CCA-4942-AB3C-324207A6BB2D}"/>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16903C6-705F-41C6-BC8C-A86EA6992988}"/>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A9115185-12B3-4356-B53D-47CEFD7AA533}"/>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93A52876-DB4E-4B66-B79B-84F1C8087F0A}"/>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6FC10A8-F05C-4937-B22C-01E84F726EF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BA35048C-E58F-455E-8A34-5DED49F3B09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7CEC692B-CC55-4639-8F55-993E69437BBC}"/>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7D4A25F-FC73-49FD-B0FC-AD9B8F8C2FB8}"/>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F2D58618-F917-4BDF-9532-FDF0F0969689}"/>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C42D647-5578-490A-B4E3-1E1A1AE13D4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ECFE5AA-47C3-4715-9445-71F07EFA96BE}"/>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C9E7B-1727-46D0-BD5E-31704B63EA05}"/>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575" b="1">
                <a:solidFill>
                  <a:srgbClr val="005A9C"/>
                </a:solidFill>
                <a:latin typeface="Arial"/>
                <a:ea typeface="Arial"/>
                <a:cs typeface="Arial"/>
              </a:defRPr>
            </a:defPPr>
            <a:lvl1pPr algn="ctr">
              <a:defRPr sz="1575" b="1">
                <a:solidFill>
                  <a:srgbClr val="005A9C"/>
                </a:solidFill>
                <a:latin typeface="Arial"/>
                <a:ea typeface="Arial"/>
                <a:cs typeface="Arial"/>
              </a:defRPr>
            </a:lvl1pPr>
            <a:lvl2pPr algn="ctr">
              <a:defRPr sz="1575" b="1">
                <a:solidFill>
                  <a:srgbClr val="005A9C"/>
                </a:solidFill>
                <a:latin typeface="Arial"/>
                <a:ea typeface="Arial"/>
                <a:cs typeface="Arial"/>
              </a:defRPr>
            </a:lvl2pPr>
            <a:lvl3pPr algn="ctr">
              <a:defRPr sz="1575" b="1">
                <a:solidFill>
                  <a:srgbClr val="005A9C"/>
                </a:solidFill>
                <a:latin typeface="Arial"/>
                <a:ea typeface="Arial"/>
                <a:cs typeface="Arial"/>
              </a:defRPr>
            </a:lvl3pPr>
            <a:lvl4pPr algn="ctr">
              <a:defRPr sz="1575" b="1">
                <a:solidFill>
                  <a:srgbClr val="005A9C"/>
                </a:solidFill>
                <a:latin typeface="Arial"/>
                <a:ea typeface="Arial"/>
                <a:cs typeface="Arial"/>
              </a:defRPr>
            </a:lvl4pPr>
            <a:lvl5pPr algn="ctr">
              <a:defRPr sz="1575" b="1">
                <a:solidFill>
                  <a:srgbClr val="005A9C"/>
                </a:solidFill>
                <a:latin typeface="Arial"/>
                <a:ea typeface="Arial"/>
                <a:cs typeface="Arial"/>
              </a:defRPr>
            </a:lvl5pPr>
            <a:lvl6pPr algn="ctr">
              <a:defRPr sz="1575" b="1">
                <a:solidFill>
                  <a:srgbClr val="005A9C"/>
                </a:solidFill>
                <a:latin typeface="Arial"/>
                <a:ea typeface="Arial"/>
                <a:cs typeface="Arial"/>
              </a:defRPr>
            </a:lvl6pPr>
            <a:lvl7pPr algn="ctr">
              <a:defRPr sz="1575" b="1">
                <a:solidFill>
                  <a:srgbClr val="005A9C"/>
                </a:solidFill>
                <a:latin typeface="Arial"/>
                <a:ea typeface="Arial"/>
                <a:cs typeface="Arial"/>
              </a:defRPr>
            </a:lvl7pPr>
            <a:lvl8pPr algn="ctr">
              <a:defRPr sz="1575" b="1">
                <a:solidFill>
                  <a:srgbClr val="005A9C"/>
                </a:solidFill>
                <a:latin typeface="Arial"/>
                <a:ea typeface="Arial"/>
                <a:cs typeface="Arial"/>
              </a:defRPr>
            </a:lvl8pPr>
            <a:lvl9pPr algn="ctr">
              <a:defRPr sz="1575" b="1">
                <a:solidFill>
                  <a:srgbClr val="005A9C"/>
                </a:solidFill>
                <a:latin typeface="Arial"/>
                <a:ea typeface="Arial"/>
                <a:cs typeface="Arial"/>
              </a:defRPr>
            </a:lvl9pPr>
          </a:lstStyle>
          <a:p xmlns:a="http://schemas.openxmlformats.org/drawingml/2006/main">
            <a:pPr algn="ctr">
              <a:defRPr sz="1575" b="1">
                <a:solidFill>
                  <a:srgbClr val="005A9C"/>
                </a:solidFill>
                <a:latin typeface="Arial"/>
                <a:ea typeface="Arial"/>
                <a:cs typeface="Arial"/>
              </a:defRPr>
            </a:pPr>
            <a:r>
              <a:rPr sz="1575" b="1">
                <a:solidFill>
                  <a:srgbClr val="005A9C"/>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67D4A4AF-40AF-4EC1-A0C3-AC3136F0626A}"/>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F090356-1492-4BCB-8D83-0DC938B119F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383997ED-8E30-469C-9EA2-855BD97AED4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F30C3851-1E02-46B3-9E1C-5BCB79963ED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CD3ED5FD-71A5-44BE-BA21-EFFCAC385883}"/>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24 / 33</a:t>
            </a:r>
          </a:p>
        </p:txBody>
      </p:sp>
      <p:sp>
        <p:nvSpPr>
          <p:cNvPr id="21" name="!!nav.prev">
            <ns0:hlinkClick xmlns:ns0="http://schemas.openxmlformats.org/drawingml/2006/main" xmlns:ns1="http://schemas.openxmlformats.org/officeDocument/2006/relationships" ns1:id="rIdNavSlide23" action="ppaction://hlinksldjump" tooltip="Slide 23: HuaAn and ICBCUBS: document processing"/>
            <a:extLst xmlns:a="http://schemas.openxmlformats.org/drawingml/2006/main">
              <a:ext uri="{FF2B5EF4-FFF2-40B4-BE49-F238E27FC236}">
                <a16:creationId xmlns:a16="http://schemas.microsoft.com/office/drawing/2014/main" id="{03ACA6FE-6E92-469E-8FE5-4B34F63818FA}"/>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45171D0C-0565-483B-A8A5-779042FF18B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FC0D393F-0B12-47F3-8C43-CD2C156B48D2}"/>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79B26A0F-6B9B-4A57-83DF-BEF17F2FE442}"/>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HuaAn; ICBCUBS; Bosera</a:t>
            </a:r>
          </a:p>
        </p:txBody>
      </p:sp>
      <p:sp>
        <p:nvSpPr>
          <p:cNvPr id="25" name="!!ops.inputs">
            <a:extLst xmlns:a="http://schemas.openxmlformats.org/drawingml/2006/main">
              <a:ext uri="{FF2B5EF4-FFF2-40B4-BE49-F238E27FC236}">
                <a16:creationId xmlns:a16="http://schemas.microsoft.com/office/drawing/2014/main" id="{57D5B8B8-B8C2-4299-93B3-EF9159846995}"/>
              </a:ext>
            </a:extLst>
          </p:cNvPr>
          <p:cNvSpPr>
            <a:spLocks xmlns:a="http://schemas.openxmlformats.org/drawingml/2006/main" noGrp="1"/>
          </p:cNvSpPr>
          <p:nvPr/>
        </p:nvSpPr>
        <p:spPr>
          <a:xfrm xmlns:a="http://schemas.openxmlformats.org/drawingml/2006/main">
            <a:off x="4057650" y="2333625"/>
            <a:ext cx="4991100" cy="10572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6" name="!!ops.inputs.role">
            <a:extLst xmlns:a="http://schemas.openxmlformats.org/drawingml/2006/main">
              <a:ext uri="{FF2B5EF4-FFF2-40B4-BE49-F238E27FC236}">
                <a16:creationId xmlns:a16="http://schemas.microsoft.com/office/drawing/2014/main" id="{DC77312F-218C-4822-952B-EBF0813515EA}"/>
              </a:ext>
            </a:extLst>
          </p:cNvPr>
          <p:cNvSpPr>
            <a:spLocks xmlns:a="http://schemas.openxmlformats.org/drawingml/2006/main" noGrp="1"/>
          </p:cNvSpPr>
          <p:nvPr/>
        </p:nvSpPr>
        <p:spPr>
          <a:xfrm xmlns:a="http://schemas.openxmlformats.org/drawingml/2006/main">
            <a:off x="4248150" y="2476500"/>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Operations supplies both versions</a:t>
            </a:r>
          </a:p>
        </p:txBody>
      </p:sp>
      <p:sp>
        <p:nvSpPr>
          <p:cNvPr id="27" name="!!ops.inputs.body">
            <a:extLst xmlns:a="http://schemas.openxmlformats.org/drawingml/2006/main">
              <a:ext uri="{FF2B5EF4-FFF2-40B4-BE49-F238E27FC236}">
                <a16:creationId xmlns:a16="http://schemas.microsoft.com/office/drawing/2014/main" id="{659FBC1E-0540-4E26-8942-AD81EC11C646}"/>
              </a:ext>
            </a:extLst>
          </p:cNvPr>
          <p:cNvSpPr>
            <a:spLocks xmlns:a="http://schemas.openxmlformats.org/drawingml/2006/main" noGrp="1"/>
          </p:cNvSpPr>
          <p:nvPr/>
        </p:nvSpPr>
        <p:spPr>
          <a:xfrm xmlns:a="http://schemas.openxmlformats.org/drawingml/2006/main">
            <a:off x="4248150" y="2914650"/>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Quarterly client update V1 / V2</a:t>
            </a:r>
          </a:p>
        </p:txBody>
      </p:sp>
      <p:sp>
        <p:nvSpPr>
          <p:cNvPr id="28" name="!!ops.tool">
            <a:extLst xmlns:a="http://schemas.openxmlformats.org/drawingml/2006/main">
              <a:ext uri="{FF2B5EF4-FFF2-40B4-BE49-F238E27FC236}">
                <a16:creationId xmlns:a16="http://schemas.microsoft.com/office/drawing/2014/main" id="{4295338E-07B5-48B5-9120-A8B2A5C2C106}"/>
              </a:ext>
            </a:extLst>
          </p:cNvPr>
          <p:cNvSpPr>
            <a:spLocks xmlns:a="http://schemas.openxmlformats.org/drawingml/2006/main" noGrp="1"/>
          </p:cNvSpPr>
          <p:nvPr/>
        </p:nvSpPr>
        <p:spPr>
          <a:xfrm xmlns:a="http://schemas.openxmlformats.org/drawingml/2006/main">
            <a:off x="4057650" y="3629025"/>
            <a:ext cx="4991100" cy="1247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9" name="!!ops.tool.role">
            <a:extLst xmlns:a="http://schemas.openxmlformats.org/drawingml/2006/main">
              <a:ext uri="{FF2B5EF4-FFF2-40B4-BE49-F238E27FC236}">
                <a16:creationId xmlns:a16="http://schemas.microsoft.com/office/drawing/2014/main" id="{9AF683A4-FF4D-45BB-BF35-6CF3ABCDACE3}"/>
              </a:ext>
            </a:extLst>
          </p:cNvPr>
          <p:cNvSpPr>
            <a:spLocks xmlns:a="http://schemas.openxmlformats.org/drawingml/2006/main" noGrp="1"/>
          </p:cNvSpPr>
          <p:nvPr/>
        </p:nvSpPr>
        <p:spPr>
          <a:xfrm xmlns:a="http://schemas.openxmlformats.org/drawingml/2006/main">
            <a:off x="4248150" y="3771900"/>
            <a:ext cx="461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Document tools match passages</a:t>
            </a:r>
          </a:p>
        </p:txBody>
      </p:sp>
      <p:sp>
        <p:nvSpPr>
          <p:cNvPr id="30" name="!!ops.tool.body">
            <a:extLst xmlns:a="http://schemas.openxmlformats.org/drawingml/2006/main">
              <a:ext uri="{FF2B5EF4-FFF2-40B4-BE49-F238E27FC236}">
                <a16:creationId xmlns:a16="http://schemas.microsoft.com/office/drawing/2014/main" id="{E49A39EC-32BD-49D5-8A46-97F5880D360A}"/>
              </a:ext>
            </a:extLst>
          </p:cNvPr>
          <p:cNvSpPr>
            <a:spLocks xmlns:a="http://schemas.openxmlformats.org/drawingml/2006/main" noGrp="1"/>
          </p:cNvSpPr>
          <p:nvPr/>
        </p:nvSpPr>
        <p:spPr>
          <a:xfrm xmlns:a="http://schemas.openxmlformats.org/drawingml/2006/main">
            <a:off x="4248150" y="4229100"/>
            <a:ext cx="4610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changes to the fund name,</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reporting period and wording</a:t>
            </a:r>
          </a:p>
        </p:txBody>
      </p:sp>
      <p:sp>
        <p:nvSpPr>
          <p:cNvPr id="31" name="!!ops.llm">
            <a:extLst xmlns:a="http://schemas.openxmlformats.org/drawingml/2006/main">
              <a:ext uri="{FF2B5EF4-FFF2-40B4-BE49-F238E27FC236}">
                <a16:creationId xmlns:a16="http://schemas.microsoft.com/office/drawing/2014/main" id="{6FB77086-29D8-4BD0-82DD-3AB4554D1582}"/>
              </a:ext>
            </a:extLst>
          </p:cNvPr>
          <p:cNvSpPr>
            <a:spLocks xmlns:a="http://schemas.openxmlformats.org/drawingml/2006/main" noGrp="1"/>
          </p:cNvSpPr>
          <p:nvPr/>
        </p:nvSpPr>
        <p:spPr>
          <a:xfrm xmlns:a="http://schemas.openxmlformats.org/drawingml/2006/main">
            <a:off x="4057650" y="4933950"/>
            <a:ext cx="4991100" cy="17430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2" name="!!ops.llm.role">
            <a:extLst xmlns:a="http://schemas.openxmlformats.org/drawingml/2006/main">
              <a:ext uri="{FF2B5EF4-FFF2-40B4-BE49-F238E27FC236}">
                <a16:creationId xmlns:a16="http://schemas.microsoft.com/office/drawing/2014/main" id="{334D2AB8-9E04-4CBA-ABB9-BE47413F9CAF}"/>
              </a:ext>
            </a:extLst>
          </p:cNvPr>
          <p:cNvSpPr>
            <a:spLocks xmlns:a="http://schemas.openxmlformats.org/drawingml/2006/main" noGrp="1"/>
          </p:cNvSpPr>
          <p:nvPr/>
        </p:nvSpPr>
        <p:spPr>
          <a:xfrm xmlns:a="http://schemas.openxmlformats.org/drawingml/2006/main">
            <a:off x="4248150" y="5076825"/>
            <a:ext cx="461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explains what changed</a:t>
            </a:r>
          </a:p>
        </p:txBody>
      </p:sp>
      <p:sp>
        <p:nvSpPr>
          <p:cNvPr id="33" name="!!ops.llm.body">
            <a:extLst xmlns:a="http://schemas.openxmlformats.org/drawingml/2006/main">
              <a:ext uri="{FF2B5EF4-FFF2-40B4-BE49-F238E27FC236}">
                <a16:creationId xmlns:a16="http://schemas.microsoft.com/office/drawing/2014/main" id="{74C738CD-BBCF-421A-8367-14154DCCF46E}"/>
              </a:ext>
            </a:extLst>
          </p:cNvPr>
          <p:cNvSpPr>
            <a:spLocks xmlns:a="http://schemas.openxmlformats.org/drawingml/2006/main" noGrp="1"/>
          </p:cNvSpPr>
          <p:nvPr/>
        </p:nvSpPr>
        <p:spPr>
          <a:xfrm xmlns:a="http://schemas.openxmlformats.org/drawingml/2006/main">
            <a:off x="4248150" y="551497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Separate new and retained information</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Explain the change in meaning</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related materials to update</a:t>
            </a:r>
          </a:p>
        </p:txBody>
      </p:sp>
      <p:sp>
        <p:nvSpPr>
          <p:cNvPr id="34" name="!!changeLog">
            <a:extLst xmlns:a="http://schemas.openxmlformats.org/drawingml/2006/main">
              <a:ext uri="{FF2B5EF4-FFF2-40B4-BE49-F238E27FC236}">
                <a16:creationId xmlns:a16="http://schemas.microsoft.com/office/drawing/2014/main" id="{85E3D0E6-6AE3-4A4F-B0B7-31DB8715FE9C}"/>
              </a:ext>
            </a:extLst>
          </p:cNvPr>
          <p:cNvSpPr>
            <a:spLocks xmlns:a="http://schemas.openxmlformats.org/drawingml/2006/main" noGrp="1"/>
          </p:cNvSpPr>
          <p:nvPr/>
        </p:nvSpPr>
        <p:spPr>
          <a:xfrm xmlns:a="http://schemas.openxmlformats.org/drawingml/2006/main">
            <a:off x="9601200" y="2333625"/>
            <a:ext cx="4991100" cy="4857750"/>
          </a:xfrm>
          <a:prstGeom xmlns:a="http://schemas.openxmlformats.org/drawingml/2006/main" prst="rect">
            <a:avLst/>
          </a:prstGeom>
          <a:solidFill xmlns:a="http://schemas.openxmlformats.org/drawingml/2006/main">
            <a:srgbClr val="FFFFFF"/>
          </a:solidFill>
          <a:ln xmlns:a="http://schemas.openxmlformats.org/drawingml/2006/main" w="9525">
            <a:solidFill>
              <a:srgbClr val="7363A6"/>
            </a:solidFill>
            <a:prstDash val="solid"/>
          </a:ln>
        </p:spPr>
      </p:sp>
      <p:sp>
        <p:nvSpPr>
          <p:cNvPr id="35" name="!!changeLog.title">
            <a:extLst xmlns:a="http://schemas.openxmlformats.org/drawingml/2006/main">
              <a:ext uri="{FF2B5EF4-FFF2-40B4-BE49-F238E27FC236}">
                <a16:creationId xmlns:a16="http://schemas.microsoft.com/office/drawing/2014/main" id="{141E896C-A35D-4A7D-95CD-765A4A6A0DE2}"/>
              </a:ext>
            </a:extLst>
          </p:cNvPr>
          <p:cNvSpPr>
            <a:spLocks xmlns:a="http://schemas.openxmlformats.org/drawingml/2006/main" noGrp="1"/>
          </p:cNvSpPr>
          <p:nvPr/>
        </p:nvSpPr>
        <p:spPr>
          <a:xfrm xmlns:a="http://schemas.openxmlformats.org/drawingml/2006/main">
            <a:off x="9839325" y="25336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7363A6"/>
                </a:solidFill>
                <a:latin typeface="Arial"/>
                <a:ea typeface="Arial"/>
                <a:cs typeface="Arial"/>
              </a:defRPr>
            </a:defPPr>
            <a:lvl1pPr algn="l">
              <a:defRPr sz="2175" b="1">
                <a:solidFill>
                  <a:srgbClr val="7363A6"/>
                </a:solidFill>
                <a:latin typeface="Arial"/>
                <a:ea typeface="Arial"/>
                <a:cs typeface="Arial"/>
              </a:defRPr>
            </a:lvl1pPr>
            <a:lvl2pPr algn="l">
              <a:defRPr sz="2175" b="1">
                <a:solidFill>
                  <a:srgbClr val="7363A6"/>
                </a:solidFill>
                <a:latin typeface="Arial"/>
                <a:ea typeface="Arial"/>
                <a:cs typeface="Arial"/>
              </a:defRPr>
            </a:lvl2pPr>
            <a:lvl3pPr algn="l">
              <a:defRPr sz="2175" b="1">
                <a:solidFill>
                  <a:srgbClr val="7363A6"/>
                </a:solidFill>
                <a:latin typeface="Arial"/>
                <a:ea typeface="Arial"/>
                <a:cs typeface="Arial"/>
              </a:defRPr>
            </a:lvl3pPr>
            <a:lvl4pPr algn="l">
              <a:defRPr sz="2175" b="1">
                <a:solidFill>
                  <a:srgbClr val="7363A6"/>
                </a:solidFill>
                <a:latin typeface="Arial"/>
                <a:ea typeface="Arial"/>
                <a:cs typeface="Arial"/>
              </a:defRPr>
            </a:lvl4pPr>
            <a:lvl5pPr algn="l">
              <a:defRPr sz="2175" b="1">
                <a:solidFill>
                  <a:srgbClr val="7363A6"/>
                </a:solidFill>
                <a:latin typeface="Arial"/>
                <a:ea typeface="Arial"/>
                <a:cs typeface="Arial"/>
              </a:defRPr>
            </a:lvl5pPr>
            <a:lvl6pPr algn="l">
              <a:defRPr sz="2175" b="1">
                <a:solidFill>
                  <a:srgbClr val="7363A6"/>
                </a:solidFill>
                <a:latin typeface="Arial"/>
                <a:ea typeface="Arial"/>
                <a:cs typeface="Arial"/>
              </a:defRPr>
            </a:lvl6pPr>
            <a:lvl7pPr algn="l">
              <a:defRPr sz="2175" b="1">
                <a:solidFill>
                  <a:srgbClr val="7363A6"/>
                </a:solidFill>
                <a:latin typeface="Arial"/>
                <a:ea typeface="Arial"/>
                <a:cs typeface="Arial"/>
              </a:defRPr>
            </a:lvl7pPr>
            <a:lvl8pPr algn="l">
              <a:defRPr sz="2175" b="1">
                <a:solidFill>
                  <a:srgbClr val="7363A6"/>
                </a:solidFill>
                <a:latin typeface="Arial"/>
                <a:ea typeface="Arial"/>
                <a:cs typeface="Arial"/>
              </a:defRPr>
            </a:lvl8pPr>
            <a:lvl9pPr algn="l">
              <a:defRPr sz="2175" b="1">
                <a:solidFill>
                  <a:srgbClr val="7363A6"/>
                </a:solidFill>
                <a:latin typeface="Arial"/>
                <a:ea typeface="Arial"/>
                <a:cs typeface="Arial"/>
              </a:defRPr>
            </a:lvl9pPr>
          </a:lstStyle>
          <a:p xmlns:a="http://schemas.openxmlformats.org/drawingml/2006/main">
            <a:pPr algn="l">
              <a:defRPr sz="2175" b="1">
                <a:solidFill>
                  <a:srgbClr val="7363A6"/>
                </a:solidFill>
                <a:latin typeface="Arial"/>
                <a:ea typeface="Arial"/>
                <a:cs typeface="Arial"/>
              </a:defRPr>
            </a:pPr>
            <a:r>
              <a:rPr sz="2175" b="1">
                <a:solidFill>
                  <a:srgbClr val="7363A6"/>
                </a:solidFill>
                <a:latin typeface="Arial"/>
                <a:ea typeface="Arial"/>
                <a:cs typeface="Arial"/>
              </a:rPr>
              <a:t>Client update: change summary</a:t>
            </a:r>
          </a:p>
        </p:txBody>
      </p:sp>
      <p:sp>
        <p:nvSpPr>
          <p:cNvPr id="36" name="!!changeLog.object">
            <a:extLst xmlns:a="http://schemas.openxmlformats.org/drawingml/2006/main">
              <a:ext uri="{FF2B5EF4-FFF2-40B4-BE49-F238E27FC236}">
                <a16:creationId xmlns:a16="http://schemas.microsoft.com/office/drawing/2014/main" id="{52767102-A047-4F95-86CC-0F1F9FFDB542}"/>
              </a:ext>
            </a:extLst>
          </p:cNvPr>
          <p:cNvSpPr>
            <a:spLocks xmlns:a="http://schemas.openxmlformats.org/drawingml/2006/main" noGrp="1"/>
          </p:cNvSpPr>
          <p:nvPr/>
        </p:nvSpPr>
        <p:spPr>
          <a:xfrm xmlns:a="http://schemas.openxmlformats.org/drawingml/2006/main">
            <a:off x="9839325" y="3209925"/>
            <a:ext cx="451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07C88"/>
                </a:solidFill>
                <a:latin typeface="Arial"/>
                <a:ea typeface="Arial"/>
                <a:cs typeface="Arial"/>
              </a:defRPr>
            </a:defPPr>
            <a:lvl1pPr algn="l">
              <a:defRPr sz="1650" b="0">
                <a:solidFill>
                  <a:srgbClr val="707C88"/>
                </a:solidFill>
                <a:latin typeface="Arial"/>
                <a:ea typeface="Arial"/>
                <a:cs typeface="Arial"/>
              </a:defRPr>
            </a:lvl1pPr>
            <a:lvl2pPr algn="l">
              <a:defRPr sz="1650" b="0">
                <a:solidFill>
                  <a:srgbClr val="707C88"/>
                </a:solidFill>
                <a:latin typeface="Arial"/>
                <a:ea typeface="Arial"/>
                <a:cs typeface="Arial"/>
              </a:defRPr>
            </a:lvl2pPr>
            <a:lvl3pPr algn="l">
              <a:defRPr sz="1650" b="0">
                <a:solidFill>
                  <a:srgbClr val="707C88"/>
                </a:solidFill>
                <a:latin typeface="Arial"/>
                <a:ea typeface="Arial"/>
                <a:cs typeface="Arial"/>
              </a:defRPr>
            </a:lvl3pPr>
            <a:lvl4pPr algn="l">
              <a:defRPr sz="1650" b="0">
                <a:solidFill>
                  <a:srgbClr val="707C88"/>
                </a:solidFill>
                <a:latin typeface="Arial"/>
                <a:ea typeface="Arial"/>
                <a:cs typeface="Arial"/>
              </a:defRPr>
            </a:lvl4pPr>
            <a:lvl5pPr algn="l">
              <a:defRPr sz="1650" b="0">
                <a:solidFill>
                  <a:srgbClr val="707C88"/>
                </a:solidFill>
                <a:latin typeface="Arial"/>
                <a:ea typeface="Arial"/>
                <a:cs typeface="Arial"/>
              </a:defRPr>
            </a:lvl5pPr>
            <a:lvl6pPr algn="l">
              <a:defRPr sz="1650" b="0">
                <a:solidFill>
                  <a:srgbClr val="707C88"/>
                </a:solidFill>
                <a:latin typeface="Arial"/>
                <a:ea typeface="Arial"/>
                <a:cs typeface="Arial"/>
              </a:defRPr>
            </a:lvl6pPr>
            <a:lvl7pPr algn="l">
              <a:defRPr sz="1650" b="0">
                <a:solidFill>
                  <a:srgbClr val="707C88"/>
                </a:solidFill>
                <a:latin typeface="Arial"/>
                <a:ea typeface="Arial"/>
                <a:cs typeface="Arial"/>
              </a:defRPr>
            </a:lvl7pPr>
            <a:lvl8pPr algn="l">
              <a:defRPr sz="1650" b="0">
                <a:solidFill>
                  <a:srgbClr val="707C88"/>
                </a:solidFill>
                <a:latin typeface="Arial"/>
                <a:ea typeface="Arial"/>
                <a:cs typeface="Arial"/>
              </a:defRPr>
            </a:lvl8pPr>
            <a:lvl9pPr algn="l">
              <a:defRPr sz="1650" b="0">
                <a:solidFill>
                  <a:srgbClr val="707C88"/>
                </a:solidFill>
                <a:latin typeface="Arial"/>
                <a:ea typeface="Arial"/>
                <a:cs typeface="Arial"/>
              </a:defRPr>
            </a:lvl9pPr>
          </a:lstStyle>
          <a:p xmlns:a="http://schemas.openxmlformats.org/drawingml/2006/main">
            <a:pPr algn="l">
              <a:defRPr sz="1650" b="0">
                <a:solidFill>
                  <a:srgbClr val="707C88"/>
                </a:solidFill>
                <a:latin typeface="Arial"/>
                <a:ea typeface="Arial"/>
                <a:cs typeface="Arial"/>
              </a:defRPr>
            </a:pPr>
            <a:r>
              <a:rPr sz="1650" b="0">
                <a:solidFill>
                  <a:srgbClr val="707C88"/>
                </a:solidFill>
                <a:latin typeface="Arial"/>
                <a:ea typeface="Arial"/>
                <a:cs typeface="Arial"/>
              </a:rPr>
              <a:t>Quarterly client update V1 / V2</a:t>
            </a:r>
          </a:p>
        </p:txBody>
      </p:sp>
      <p:sp>
        <p:nvSpPr>
          <p:cNvPr id="37" name="!!changeLog.rule">
            <a:extLst xmlns:a="http://schemas.openxmlformats.org/drawingml/2006/main">
              <a:ext uri="{FF2B5EF4-FFF2-40B4-BE49-F238E27FC236}">
                <a16:creationId xmlns:a16="http://schemas.microsoft.com/office/drawing/2014/main" id="{AB36DF35-CC06-4FF4-8810-C2FF658E9181}"/>
              </a:ext>
            </a:extLst>
          </p:cNvPr>
          <p:cNvSpPr>
            <a:spLocks xmlns:a="http://schemas.openxmlformats.org/drawingml/2006/main" noGrp="1"/>
          </p:cNvSpPr>
          <p:nvPr/>
        </p:nvSpPr>
        <p:spPr>
          <a:xfrm xmlns:a="http://schemas.openxmlformats.org/drawingml/2006/main" flipH="0" flipV="0">
            <a:off x="9839325" y="3619500"/>
            <a:ext cx="4514850" cy="953"/>
          </a:xfrm>
          <a:prstGeom xmlns:a="http://schemas.openxmlformats.org/drawingml/2006/main" prst="line">
            <a:avLst/>
          </a:prstGeom>
          <a:noFill xmlns:a="http://schemas.openxmlformats.org/drawingml/2006/main"/>
          <a:ln xmlns:a="http://schemas.openxmlformats.org/drawingml/2006/main" w="14288">
            <a:solidFill>
              <a:srgbClr val="7363A6"/>
            </a:solidFill>
            <a:prstDash val="solid"/>
          </a:ln>
        </p:spPr>
      </p:sp>
      <p:sp>
        <p:nvSpPr>
          <p:cNvPr id="38" name="!!changeLog.driver.label">
            <a:extLst xmlns:a="http://schemas.openxmlformats.org/drawingml/2006/main">
              <a:ext uri="{FF2B5EF4-FFF2-40B4-BE49-F238E27FC236}">
                <a16:creationId xmlns:a16="http://schemas.microsoft.com/office/drawing/2014/main" id="{F2F6EE79-1EBB-48CB-8BC6-4FD9DBEB991A}"/>
              </a:ext>
            </a:extLst>
          </p:cNvPr>
          <p:cNvSpPr>
            <a:spLocks xmlns:a="http://schemas.openxmlformats.org/drawingml/2006/main" noGrp="1"/>
          </p:cNvSpPr>
          <p:nvPr/>
        </p:nvSpPr>
        <p:spPr>
          <a:xfrm xmlns:a="http://schemas.openxmlformats.org/drawingml/2006/main">
            <a:off x="9839325" y="3724275"/>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Added growth driver</a:t>
            </a:r>
          </a:p>
        </p:txBody>
      </p:sp>
      <p:sp>
        <p:nvSpPr>
          <p:cNvPr id="39" name="!!changeLog.driver.body">
            <a:extLst xmlns:a="http://schemas.openxmlformats.org/drawingml/2006/main">
              <a:ext uri="{FF2B5EF4-FFF2-40B4-BE49-F238E27FC236}">
                <a16:creationId xmlns:a16="http://schemas.microsoft.com/office/drawing/2014/main" id="{DE5E6EA9-D7E8-4F90-8305-4EB949D30C9E}"/>
              </a:ext>
            </a:extLst>
          </p:cNvPr>
          <p:cNvSpPr>
            <a:spLocks xmlns:a="http://schemas.openxmlformats.org/drawingml/2006/main" noGrp="1"/>
          </p:cNvSpPr>
          <p:nvPr/>
        </p:nvSpPr>
        <p:spPr>
          <a:xfrm xmlns:a="http://schemas.openxmlformats.org/drawingml/2006/main">
            <a:off x="9839325" y="413385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Channel restocking supported sales volume growth</a:t>
            </a:r>
          </a:p>
        </p:txBody>
      </p:sp>
      <p:sp>
        <p:nvSpPr>
          <p:cNvPr id="40" name="!!changeLog.watch.label">
            <a:extLst xmlns:a="http://schemas.openxmlformats.org/drawingml/2006/main">
              <a:ext uri="{FF2B5EF4-FFF2-40B4-BE49-F238E27FC236}">
                <a16:creationId xmlns:a16="http://schemas.microsoft.com/office/drawing/2014/main" id="{CB64F829-6AD5-4D85-A387-133338E47938}"/>
              </a:ext>
            </a:extLst>
          </p:cNvPr>
          <p:cNvSpPr>
            <a:spLocks xmlns:a="http://schemas.openxmlformats.org/drawingml/2006/main" noGrp="1"/>
          </p:cNvSpPr>
          <p:nvPr/>
        </p:nvSpPr>
        <p:spPr>
          <a:xfrm xmlns:a="http://schemas.openxmlformats.org/drawingml/2006/main">
            <a:off x="9839325" y="481965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Monitoring changes</a:t>
            </a:r>
          </a:p>
        </p:txBody>
      </p:sp>
      <p:sp>
        <p:nvSpPr>
          <p:cNvPr id="41" name="!!changeLog.watch.body">
            <a:extLst xmlns:a="http://schemas.openxmlformats.org/drawingml/2006/main">
              <a:ext uri="{FF2B5EF4-FFF2-40B4-BE49-F238E27FC236}">
                <a16:creationId xmlns:a16="http://schemas.microsoft.com/office/drawing/2014/main" id="{E3F35A79-CBC4-420F-B062-D6AD53571600}"/>
              </a:ext>
            </a:extLst>
          </p:cNvPr>
          <p:cNvSpPr>
            <a:spLocks xmlns:a="http://schemas.openxmlformats.org/drawingml/2006/main" noGrp="1"/>
          </p:cNvSpPr>
          <p:nvPr/>
        </p:nvSpPr>
        <p:spPr>
          <a:xfrm xmlns:a="http://schemas.openxmlformats.org/drawingml/2006/main">
            <a:off x="9839325" y="5229225"/>
            <a:ext cx="451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Added: whether restocking continues.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Retained: raw-material cost monitoring.</a:t>
            </a:r>
          </a:p>
        </p:txBody>
      </p:sp>
      <p:sp>
        <p:nvSpPr>
          <p:cNvPr id="42" name="!!changeLog.sync.label">
            <a:extLst xmlns:a="http://schemas.openxmlformats.org/drawingml/2006/main">
              <a:ext uri="{FF2B5EF4-FFF2-40B4-BE49-F238E27FC236}">
                <a16:creationId xmlns:a16="http://schemas.microsoft.com/office/drawing/2014/main" id="{4151ADCD-FB89-4116-B0FF-7BE1A09B5225}"/>
              </a:ext>
            </a:extLst>
          </p:cNvPr>
          <p:cNvSpPr>
            <a:spLocks xmlns:a="http://schemas.openxmlformats.org/drawingml/2006/main" noGrp="1"/>
          </p:cNvSpPr>
          <p:nvPr/>
        </p:nvSpPr>
        <p:spPr>
          <a:xfrm xmlns:a="http://schemas.openxmlformats.org/drawingml/2006/main">
            <a:off x="9839325" y="5915025"/>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5A9C"/>
                </a:solidFill>
                <a:latin typeface="Arial"/>
                <a:ea typeface="Arial"/>
                <a:cs typeface="Arial"/>
              </a:defRPr>
            </a:defPPr>
            <a:lvl1pPr algn="l">
              <a:defRPr sz="1875" b="1">
                <a:solidFill>
                  <a:srgbClr val="005A9C"/>
                </a:solidFill>
                <a:latin typeface="Arial"/>
                <a:ea typeface="Arial"/>
                <a:cs typeface="Arial"/>
              </a:defRPr>
            </a:lvl1pPr>
            <a:lvl2pPr algn="l">
              <a:defRPr sz="1875" b="1">
                <a:solidFill>
                  <a:srgbClr val="005A9C"/>
                </a:solidFill>
                <a:latin typeface="Arial"/>
                <a:ea typeface="Arial"/>
                <a:cs typeface="Arial"/>
              </a:defRPr>
            </a:lvl2pPr>
            <a:lvl3pPr algn="l">
              <a:defRPr sz="1875" b="1">
                <a:solidFill>
                  <a:srgbClr val="005A9C"/>
                </a:solidFill>
                <a:latin typeface="Arial"/>
                <a:ea typeface="Arial"/>
                <a:cs typeface="Arial"/>
              </a:defRPr>
            </a:lvl3pPr>
            <a:lvl4pPr algn="l">
              <a:defRPr sz="1875" b="1">
                <a:solidFill>
                  <a:srgbClr val="005A9C"/>
                </a:solidFill>
                <a:latin typeface="Arial"/>
                <a:ea typeface="Arial"/>
                <a:cs typeface="Arial"/>
              </a:defRPr>
            </a:lvl4pPr>
            <a:lvl5pPr algn="l">
              <a:defRPr sz="1875" b="1">
                <a:solidFill>
                  <a:srgbClr val="005A9C"/>
                </a:solidFill>
                <a:latin typeface="Arial"/>
                <a:ea typeface="Arial"/>
                <a:cs typeface="Arial"/>
              </a:defRPr>
            </a:lvl5pPr>
            <a:lvl6pPr algn="l">
              <a:defRPr sz="1875" b="1">
                <a:solidFill>
                  <a:srgbClr val="005A9C"/>
                </a:solidFill>
                <a:latin typeface="Arial"/>
                <a:ea typeface="Arial"/>
                <a:cs typeface="Arial"/>
              </a:defRPr>
            </a:lvl6pPr>
            <a:lvl7pPr algn="l">
              <a:defRPr sz="1875" b="1">
                <a:solidFill>
                  <a:srgbClr val="005A9C"/>
                </a:solidFill>
                <a:latin typeface="Arial"/>
                <a:ea typeface="Arial"/>
                <a:cs typeface="Arial"/>
              </a:defRPr>
            </a:lvl7pPr>
            <a:lvl8pPr algn="l">
              <a:defRPr sz="1875" b="1">
                <a:solidFill>
                  <a:srgbClr val="005A9C"/>
                </a:solidFill>
                <a:latin typeface="Arial"/>
                <a:ea typeface="Arial"/>
                <a:cs typeface="Arial"/>
              </a:defRPr>
            </a:lvl8pPr>
            <a:lvl9pPr algn="l">
              <a:defRPr sz="1875" b="1">
                <a:solidFill>
                  <a:srgbClr val="005A9C"/>
                </a:solidFill>
                <a:latin typeface="Arial"/>
                <a:ea typeface="Arial"/>
                <a:cs typeface="Arial"/>
              </a:defRPr>
            </a:lvl9pPr>
          </a:lstStyle>
          <a:p xmlns:a="http://schemas.openxmlformats.org/drawingml/2006/main">
            <a:pPr algn="l">
              <a:defRPr sz="1875" b="1">
                <a:solidFill>
                  <a:srgbClr val="005A9C"/>
                </a:solidFill>
                <a:latin typeface="Arial"/>
                <a:ea typeface="Arial"/>
                <a:cs typeface="Arial"/>
              </a:defRPr>
            </a:pPr>
            <a:r>
              <a:rPr sz="1875" b="1">
                <a:solidFill>
                  <a:srgbClr val="005A9C"/>
                </a:solidFill>
                <a:latin typeface="Arial"/>
                <a:ea typeface="Arial"/>
                <a:cs typeface="Arial"/>
              </a:rPr>
              <a:t>Related materials</a:t>
            </a:r>
          </a:p>
        </p:txBody>
      </p:sp>
      <p:sp>
        <p:nvSpPr>
          <p:cNvPr id="43" name="!!changeLog.sync.body">
            <a:extLst xmlns:a="http://schemas.openxmlformats.org/drawingml/2006/main">
              <a:ext uri="{FF2B5EF4-FFF2-40B4-BE49-F238E27FC236}">
                <a16:creationId xmlns:a16="http://schemas.microsoft.com/office/drawing/2014/main" id="{72070AF6-B479-40D1-93FB-6900598BCD6F}"/>
              </a:ext>
            </a:extLst>
          </p:cNvPr>
          <p:cNvSpPr>
            <a:spLocks xmlns:a="http://schemas.openxmlformats.org/drawingml/2006/main" noGrp="1"/>
          </p:cNvSpPr>
          <p:nvPr/>
        </p:nvSpPr>
        <p:spPr>
          <a:xfrm xmlns:a="http://schemas.openxmlformats.org/drawingml/2006/main">
            <a:off x="9839325" y="63246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Other client updates and product Q&amp;A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using this investment view</a:t>
            </a:r>
          </a:p>
        </p:txBody>
      </p:sp>
      <p:sp>
        <p:nvSpPr>
          <p:cNvPr id="44" name="!!ops.explain.toLog.line">
            <a:extLst xmlns:a="http://schemas.openxmlformats.org/drawingml/2006/main">
              <a:ext uri="{FF2B5EF4-FFF2-40B4-BE49-F238E27FC236}">
                <a16:creationId xmlns:a16="http://schemas.microsoft.com/office/drawing/2014/main" id="{0B334D18-C02C-4F00-99BC-7A31CFA4781D}"/>
              </a:ext>
            </a:extLst>
          </p:cNvPr>
          <p:cNvSpPr>
            <a:spLocks xmlns:a="http://schemas.openxmlformats.org/drawingml/2006/main" noGrp="1"/>
          </p:cNvSpPr>
          <p:nvPr/>
        </p:nvSpPr>
        <p:spPr>
          <a:xfrm xmlns:a="http://schemas.openxmlformats.org/drawingml/2006/main" flipH="0" flipV="0">
            <a:off x="9153525" y="5800725"/>
            <a:ext cx="3524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ops.explain.toLog.tip">
            <a:extLst xmlns:a="http://schemas.openxmlformats.org/drawingml/2006/main">
              <a:ext uri="{FF2B5EF4-FFF2-40B4-BE49-F238E27FC236}">
                <a16:creationId xmlns:a16="http://schemas.microsoft.com/office/drawing/2014/main" id="{54DB42DC-0351-4AC6-801D-AE4E51565BB0}"/>
              </a:ext>
            </a:extLst>
          </p:cNvPr>
          <p:cNvSpPr>
            <a:spLocks xmlns:a="http://schemas.openxmlformats.org/drawingml/2006/main" noGrp="1"/>
          </p:cNvSpPr>
          <p:nvPr/>
        </p:nvSpPr>
        <p:spPr>
          <a:xfrm xmlns:a="http://schemas.openxmlformats.org/drawingml/2006/main" rot="5400000">
            <a:off x="9448800" y="5743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ops.user">
            <a:extLst xmlns:a="http://schemas.openxmlformats.org/drawingml/2006/main">
              <a:ext uri="{FF2B5EF4-FFF2-40B4-BE49-F238E27FC236}">
                <a16:creationId xmlns:a16="http://schemas.microsoft.com/office/drawing/2014/main" id="{AF807AF5-6724-41D8-85E7-7FA3D52CDF78}"/>
              </a:ext>
            </a:extLst>
          </p:cNvPr>
          <p:cNvSpPr>
            <a:spLocks xmlns:a="http://schemas.openxmlformats.org/drawingml/2006/main" noGrp="1"/>
          </p:cNvSpPr>
          <p:nvPr/>
        </p:nvSpPr>
        <p:spPr>
          <a:xfrm xmlns:a="http://schemas.openxmlformats.org/drawingml/2006/main">
            <a:off x="4057650" y="71818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Operations checks the change summary, files it with V2 and updates related materials.</a:t>
            </a:r>
          </a:p>
        </p:txBody>
      </p:sp>
      <p:sp>
        <p:nvSpPr>
          <p:cNvPr id="48" name="!!story.header.client.bar">
            <a:extLst xmlns:a="http://schemas.openxmlformats.org/drawingml/2006/main">
              <a:ext uri="{FF2B5EF4-FFF2-40B4-BE49-F238E27FC236}">
                <a16:creationId xmlns:a16="http://schemas.microsoft.com/office/drawing/2014/main" id="{18A37915-010C-426E-899A-69DB7D922B39}"/>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9" name="!!story.header.client.name">
            <a:extLst xmlns:a="http://schemas.openxmlformats.org/drawingml/2006/main">
              <a:ext uri="{FF2B5EF4-FFF2-40B4-BE49-F238E27FC236}">
                <a16:creationId xmlns:a16="http://schemas.microsoft.com/office/drawing/2014/main" id="{A2E6E625-E086-48A4-957C-7F2635EE8E6F}"/>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0" name="!!story.header.client.qualifier">
            <a:extLst xmlns:a="http://schemas.openxmlformats.org/drawingml/2006/main">
              <a:ext uri="{FF2B5EF4-FFF2-40B4-BE49-F238E27FC236}">
                <a16:creationId xmlns:a16="http://schemas.microsoft.com/office/drawing/2014/main" id="{A96AC531-FE4C-4362-917D-DA7BAC94916D}"/>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Change summary</a:t>
            </a:r>
          </a:p>
        </p:txBody>
      </p:sp>
      <p:sp>
        <p:nvSpPr>
          <p:cNvPr id="51" name="!!story.client.input.record">
            <a:extLst xmlns:a="http://schemas.openxmlformats.org/drawingml/2006/main">
              <a:ext uri="{FF2B5EF4-FFF2-40B4-BE49-F238E27FC236}">
                <a16:creationId xmlns:a16="http://schemas.microsoft.com/office/drawing/2014/main" id="{230A8737-7943-4B93-A908-563FD8139A02}"/>
              </a:ext>
            </a:extLst>
          </p:cNvPr>
          <p:cNvSpPr>
            <a:spLocks xmlns:a="http://schemas.openxmlformats.org/drawingml/2006/main" noGrp="1"/>
          </p:cNvSpPr>
          <p:nvPr/>
        </p:nvSpPr>
        <p:spPr>
          <a:xfrm xmlns:a="http://schemas.openxmlformats.org/drawingml/2006/main">
            <a:off x="4152900" y="2924175"/>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2" name="!!story.client.change.explanation">
            <a:extLst xmlns:a="http://schemas.openxmlformats.org/drawingml/2006/main">
              <a:ext uri="{FF2B5EF4-FFF2-40B4-BE49-F238E27FC236}">
                <a16:creationId xmlns:a16="http://schemas.microsoft.com/office/drawing/2014/main" id="{554FAC92-06D9-4676-9865-B94C6F4E9147}"/>
              </a:ext>
            </a:extLst>
          </p:cNvPr>
          <p:cNvSpPr>
            <a:spLocks xmlns:a="http://schemas.openxmlformats.org/drawingml/2006/main" noGrp="1"/>
          </p:cNvSpPr>
          <p:nvPr/>
        </p:nvSpPr>
        <p:spPr>
          <a:xfrm xmlns:a="http://schemas.openxmlformats.org/drawingml/2006/main">
            <a:off x="9544050" y="2333625"/>
            <a:ext cx="57150" cy="485775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2051925719"/>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9"/>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0"/>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1"/>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2"/>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3"/>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4"/>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nodeType="withEffect" grpId="0">
                            <p:stCondLst>
                              <p:cond delay="125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41"/>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grpId="0">
                            <p:stCondLst>
                              <p:cond delay="1250"/>
                            </p:stCondLst>
                            <p:childTnLst>
                              <p:set>
                                <p:cBhvr>
                                  <p:cTn id="35" dur="1" fill="hold">
                                    <p:stCondLst>
                                      <p:cond delay="0"/>
                                    </p:stCondLst>
                                  </p:cTn>
                                  <p:tgtEl>
                                    <p:spTgt spid="43"/>
                                  </p:tgtEl>
                                  <p:attrNameLst>
                                    <p:attrName>style.visibility</p:attrName>
                                  </p:attrNameLst>
                                </p:cBhvr>
                                <p:to>
                                  <p:strVal val="visible"/>
                                </p:to>
                              </p:set>
                            </p:childTnLst>
                          </p:cTn>
                        </p:par>
                        <p:par>
                          <p:cTn id="36" presetID="1" presetClass="entr" presetSubtype="0" fill="hold" nodeType="withEffect" grpId="0">
                            <p:stCondLst>
                              <p:cond delay="1250"/>
                            </p:stCondLst>
                            <p:childTnLst>
                              <p:set>
                                <p:cBhvr>
                                  <p:cTn id="37" dur="1" fill="hold">
                                    <p:stCondLst>
                                      <p:cond delay="0"/>
                                    </p:stCondLst>
                                  </p:cTn>
                                  <p:tgtEl>
                                    <p:spTgt spid="5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52"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heading">
            <a:extLst xmlns:a="http://schemas.openxmlformats.org/drawingml/2006/main">
              <a:ext uri="{FF2B5EF4-FFF2-40B4-BE49-F238E27FC236}">
                <a16:creationId xmlns:a16="http://schemas.microsoft.com/office/drawing/2014/main" id="{B390D8CD-427C-40E8-BE69-86818F2CD5F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Developing a document comparison tool</a:t>
            </a:r>
          </a:p>
        </p:txBody>
      </p:sp>
      <p:sp>
        <p:nvSpPr>
          <p:cNvPr id="2" name="!!subtitle">
            <a:extLst xmlns:a="http://schemas.openxmlformats.org/drawingml/2006/main">
              <a:ext uri="{FF2B5EF4-FFF2-40B4-BE49-F238E27FC236}">
                <a16:creationId xmlns:a16="http://schemas.microsoft.com/office/drawing/2014/main" id="{916A3F23-6C00-4CA7-8AAB-B5F747CC7D91}"/>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Internal tool development  /  Current workflow</a:t>
            </a:r>
          </a:p>
        </p:txBody>
      </p:sp>
      <p:sp>
        <p:nvSpPr>
          <p:cNvPr id="3" name="!!heading.rule">
            <a:extLst xmlns:a="http://schemas.openxmlformats.org/drawingml/2006/main">
              <a:ext uri="{FF2B5EF4-FFF2-40B4-BE49-F238E27FC236}">
                <a16:creationId xmlns:a16="http://schemas.microsoft.com/office/drawing/2014/main" id="{129379C1-4D81-4B8E-B1A9-D541C644964B}"/>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83C7F1E-0BF6-410B-ACDD-B27A4853D08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85DA58A-55EC-4C87-B2CB-61639DFF25E2}"/>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046413A-23EA-40CE-A208-1F8256393BF0}"/>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5EC0B5F6-C470-49D1-A61A-B6940D81DFAD}"/>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12CB1311-AC42-4FFD-878F-F8A6D5AEC365}"/>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4790F9BB-366E-4145-94C1-62A961C73102}"/>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ED1BF81-741B-4E1D-8D6E-0EC1F1FDCE7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AFF4D349-3784-40B1-9163-A391CCAC9952}"/>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B875931A-B553-49D6-B499-FBDCD850F72F}"/>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4AD0C39-A7E8-48DC-AF86-18C8F6907EA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F3F8E323-745C-4399-B2E4-AB2CB49D19B5}"/>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7067D5C-8A02-4284-9AFD-4B35C5572F8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49CF2F4-A368-4C61-A3C2-78AAAC88CB80}"/>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8957B88-B641-4052-B98B-C1D9AAA5C43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5BDE6F54-6F41-4842-BA20-E3F08509901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2954154A-A2D3-4124-82E1-BF1BA52107B7}"/>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32DBE0E1-7B0F-4ADB-921B-A94B9B05E5FF}"/>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25 / 33</a:t>
            </a:r>
          </a:p>
        </p:txBody>
      </p:sp>
      <p:sp>
        <p:nvSpPr>
          <p:cNvPr id="21" name="!!nav.prev">
            <ns0:hlinkClick xmlns:ns0="http://schemas.openxmlformats.org/drawingml/2006/main" xmlns:ns1="http://schemas.openxmlformats.org/officeDocument/2006/relationships" ns1:id="rIdNavSlide24" action="ppaction://hlinksldjump" tooltip="Slide 24: Proposed application: document change analysis"/>
            <a:extLst xmlns:a="http://schemas.openxmlformats.org/drawingml/2006/main">
              <a:ext uri="{FF2B5EF4-FFF2-40B4-BE49-F238E27FC236}">
                <a16:creationId xmlns:a16="http://schemas.microsoft.com/office/drawing/2014/main" id="{C69D359F-0387-4C2A-B0A0-5022AC8FCDB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E622D2B9-8665-4597-A8B3-411A82C3519B}"/>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EF3A1803-675D-4948-A21A-72B1027DEE0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177902C5-7642-47E6-AB8A-EBD111EC35D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dev.request">
            <a:extLst xmlns:a="http://schemas.openxmlformats.org/drawingml/2006/main">
              <a:ext uri="{FF2B5EF4-FFF2-40B4-BE49-F238E27FC236}">
                <a16:creationId xmlns:a16="http://schemas.microsoft.com/office/drawing/2014/main" id="{F9CEDBC4-5367-4518-873A-19D9B8026BEF}"/>
              </a:ext>
            </a:extLst>
          </p:cNvPr>
          <p:cNvSpPr>
            <a:spLocks xmlns:a="http://schemas.openxmlformats.org/drawingml/2006/main" noGrp="1"/>
          </p:cNvSpPr>
          <p:nvPr/>
        </p:nvSpPr>
        <p:spPr>
          <a:xfrm xmlns:a="http://schemas.openxmlformats.org/drawingml/2006/main">
            <a:off x="4057650" y="2000250"/>
            <a:ext cx="10534650" cy="9810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Developer workflow</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Business request: identify changes between the two report versions, excluding repeated page headers.</a:t>
            </a:r>
          </a:p>
        </p:txBody>
      </p:sp>
      <p:sp>
        <p:nvSpPr>
          <p:cNvPr id="26" name="!!dev.requirements">
            <a:extLst xmlns:a="http://schemas.openxmlformats.org/drawingml/2006/main">
              <a:ext uri="{FF2B5EF4-FFF2-40B4-BE49-F238E27FC236}">
                <a16:creationId xmlns:a16="http://schemas.microsoft.com/office/drawing/2014/main" id="{67AF0743-64EC-401A-A46E-794606ADE28B}"/>
              </a:ext>
            </a:extLst>
          </p:cNvPr>
          <p:cNvSpPr>
            <a:spLocks xmlns:a="http://schemas.openxmlformats.org/drawingml/2006/main" noGrp="1"/>
          </p:cNvSpPr>
          <p:nvPr/>
        </p:nvSpPr>
        <p:spPr>
          <a:xfrm xmlns:a="http://schemas.openxmlformats.org/drawingml/2006/main">
            <a:off x="40576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requirements.role">
            <a:extLst xmlns:a="http://schemas.openxmlformats.org/drawingml/2006/main">
              <a:ext uri="{FF2B5EF4-FFF2-40B4-BE49-F238E27FC236}">
                <a16:creationId xmlns:a16="http://schemas.microsoft.com/office/drawing/2014/main" id="{1367B350-0846-4C87-BE4B-C471A67C5637}"/>
              </a:ext>
            </a:extLst>
          </p:cNvPr>
          <p:cNvSpPr>
            <a:spLocks xmlns:a="http://schemas.openxmlformats.org/drawingml/2006/main" noGrp="1"/>
          </p:cNvSpPr>
          <p:nvPr/>
        </p:nvSpPr>
        <p:spPr>
          <a:xfrm xmlns:a="http://schemas.openxmlformats.org/drawingml/2006/main">
            <a:off x="42481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Define requirements</a:t>
            </a:r>
          </a:p>
        </p:txBody>
      </p:sp>
      <p:sp>
        <p:nvSpPr>
          <p:cNvPr id="28" name="!!dev.requirements.body">
            <a:extLst xmlns:a="http://schemas.openxmlformats.org/drawingml/2006/main">
              <a:ext uri="{FF2B5EF4-FFF2-40B4-BE49-F238E27FC236}">
                <a16:creationId xmlns:a16="http://schemas.microsoft.com/office/drawing/2014/main" id="{1B803DC6-CE3B-41CC-9402-D46941CE3919}"/>
              </a:ext>
            </a:extLst>
          </p:cNvPr>
          <p:cNvSpPr>
            <a:spLocks xmlns:a="http://schemas.openxmlformats.org/drawingml/2006/main" noGrp="1"/>
          </p:cNvSpPr>
          <p:nvPr/>
        </p:nvSpPr>
        <p:spPr>
          <a:xfrm xmlns:a="http://schemas.openxmlformats.org/drawingml/2006/main">
            <a:off x="42481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Flag additions, deletions and edits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Ignore repeated page headers</a:t>
            </a:r>
          </a:p>
        </p:txBody>
      </p:sp>
      <p:sp>
        <p:nvSpPr>
          <p:cNvPr id="29" name="!!dev.code">
            <a:extLst xmlns:a="http://schemas.openxmlformats.org/drawingml/2006/main">
              <a:ext uri="{FF2B5EF4-FFF2-40B4-BE49-F238E27FC236}">
                <a16:creationId xmlns:a16="http://schemas.microsoft.com/office/drawing/2014/main" id="{6159B64A-D741-45C2-9B99-E2344B75D573}"/>
              </a:ext>
            </a:extLst>
          </p:cNvPr>
          <p:cNvSpPr>
            <a:spLocks xmlns:a="http://schemas.openxmlformats.org/drawingml/2006/main" noGrp="1"/>
          </p:cNvSpPr>
          <p:nvPr/>
        </p:nvSpPr>
        <p:spPr>
          <a:xfrm xmlns:a="http://schemas.openxmlformats.org/drawingml/2006/main">
            <a:off x="77152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code.role">
            <a:extLst xmlns:a="http://schemas.openxmlformats.org/drawingml/2006/main">
              <a:ext uri="{FF2B5EF4-FFF2-40B4-BE49-F238E27FC236}">
                <a16:creationId xmlns:a16="http://schemas.microsoft.com/office/drawing/2014/main" id="{630C8E57-F93D-422B-8684-D9B1D9FF6AC6}"/>
              </a:ext>
            </a:extLst>
          </p:cNvPr>
          <p:cNvSpPr>
            <a:spLocks xmlns:a="http://schemas.openxmlformats.org/drawingml/2006/main" noGrp="1"/>
          </p:cNvSpPr>
          <p:nvPr/>
        </p:nvSpPr>
        <p:spPr>
          <a:xfrm xmlns:a="http://schemas.openxmlformats.org/drawingml/2006/main">
            <a:off x="79057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Write code</a:t>
            </a:r>
          </a:p>
        </p:txBody>
      </p:sp>
      <p:sp>
        <p:nvSpPr>
          <p:cNvPr id="31" name="!!dev.code.body">
            <a:extLst xmlns:a="http://schemas.openxmlformats.org/drawingml/2006/main">
              <a:ext uri="{FF2B5EF4-FFF2-40B4-BE49-F238E27FC236}">
                <a16:creationId xmlns:a16="http://schemas.microsoft.com/office/drawing/2014/main" id="{B4390291-5D73-4CFF-B10F-9D4B599AA80C}"/>
              </a:ext>
            </a:extLst>
          </p:cNvPr>
          <p:cNvSpPr>
            <a:spLocks xmlns:a="http://schemas.openxmlformats.org/drawingml/2006/main" noGrp="1"/>
          </p:cNvSpPr>
          <p:nvPr/>
        </p:nvSpPr>
        <p:spPr>
          <a:xfrm xmlns:a="http://schemas.openxmlformats.org/drawingml/2006/main">
            <a:off x="79057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Read files and match paragraphs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Identify changes and their locations</a:t>
            </a:r>
          </a:p>
        </p:txBody>
      </p:sp>
      <p:sp>
        <p:nvSpPr>
          <p:cNvPr id="32" name="!!dev.debug">
            <a:extLst xmlns:a="http://schemas.openxmlformats.org/drawingml/2006/main">
              <a:ext uri="{FF2B5EF4-FFF2-40B4-BE49-F238E27FC236}">
                <a16:creationId xmlns:a16="http://schemas.microsoft.com/office/drawing/2014/main" id="{64301815-1D07-4F8A-96BF-108E0724091C}"/>
              </a:ext>
            </a:extLst>
          </p:cNvPr>
          <p:cNvSpPr>
            <a:spLocks xmlns:a="http://schemas.openxmlformats.org/drawingml/2006/main" noGrp="1"/>
          </p:cNvSpPr>
          <p:nvPr/>
        </p:nvSpPr>
        <p:spPr>
          <a:xfrm xmlns:a="http://schemas.openxmlformats.org/drawingml/2006/main">
            <a:off x="11372850" y="3314700"/>
            <a:ext cx="3219450" cy="20955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debug.role">
            <a:extLst xmlns:a="http://schemas.openxmlformats.org/drawingml/2006/main">
              <a:ext uri="{FF2B5EF4-FFF2-40B4-BE49-F238E27FC236}">
                <a16:creationId xmlns:a16="http://schemas.microsoft.com/office/drawing/2014/main" id="{9CC803F4-29CB-4455-AF6A-9E09733E13EB}"/>
              </a:ext>
            </a:extLst>
          </p:cNvPr>
          <p:cNvSpPr>
            <a:spLocks xmlns:a="http://schemas.openxmlformats.org/drawingml/2006/main" noGrp="1"/>
          </p:cNvSpPr>
          <p:nvPr/>
        </p:nvSpPr>
        <p:spPr>
          <a:xfrm xmlns:a="http://schemas.openxmlformats.org/drawingml/2006/main">
            <a:off x="11563350" y="345757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Test the tool</a:t>
            </a:r>
          </a:p>
        </p:txBody>
      </p:sp>
      <p:sp>
        <p:nvSpPr>
          <p:cNvPr id="34" name="!!dev.debug.body">
            <a:extLst xmlns:a="http://schemas.openxmlformats.org/drawingml/2006/main">
              <a:ext uri="{FF2B5EF4-FFF2-40B4-BE49-F238E27FC236}">
                <a16:creationId xmlns:a16="http://schemas.microsoft.com/office/drawing/2014/main" id="{72F92997-91D7-428F-B27F-AD2154293A8F}"/>
              </a:ext>
            </a:extLst>
          </p:cNvPr>
          <p:cNvSpPr>
            <a:spLocks xmlns:a="http://schemas.openxmlformats.org/drawingml/2006/main" noGrp="1"/>
          </p:cNvSpPr>
          <p:nvPr/>
        </p:nvSpPr>
        <p:spPr>
          <a:xfrm xmlns:a="http://schemas.openxmlformats.org/drawingml/2006/main">
            <a:off x="11563350" y="3895725"/>
            <a:ext cx="28384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Line and page breaks disrupt matching</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Header changes can trigger false positives</a:t>
            </a:r>
          </a:p>
        </p:txBody>
      </p:sp>
      <p:sp>
        <p:nvSpPr>
          <p:cNvPr id="35" name="!!dev.req.code.line">
            <a:extLst xmlns:a="http://schemas.openxmlformats.org/drawingml/2006/main">
              <a:ext uri="{FF2B5EF4-FFF2-40B4-BE49-F238E27FC236}">
                <a16:creationId xmlns:a16="http://schemas.microsoft.com/office/drawing/2014/main" id="{68281476-11F6-428F-96F6-834CB9514671}"/>
              </a:ext>
            </a:extLst>
          </p:cNvPr>
          <p:cNvSpPr>
            <a:spLocks xmlns:a="http://schemas.openxmlformats.org/drawingml/2006/main" noGrp="1"/>
          </p:cNvSpPr>
          <p:nvPr/>
        </p:nvSpPr>
        <p:spPr>
          <a:xfrm xmlns:a="http://schemas.openxmlformats.org/drawingml/2006/main" flipH="0" flipV="0">
            <a:off x="7372350" y="43624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6" name="!!dev.req.code.tip">
            <a:extLst xmlns:a="http://schemas.openxmlformats.org/drawingml/2006/main">
              <a:ext uri="{FF2B5EF4-FFF2-40B4-BE49-F238E27FC236}">
                <a16:creationId xmlns:a16="http://schemas.microsoft.com/office/drawing/2014/main" id="{81C7478B-498C-4EC8-A9C6-67BF7121E25C}"/>
              </a:ext>
            </a:extLst>
          </p:cNvPr>
          <p:cNvSpPr>
            <a:spLocks xmlns:a="http://schemas.openxmlformats.org/drawingml/2006/main" noGrp="1"/>
          </p:cNvSpPr>
          <p:nvPr/>
        </p:nvSpPr>
        <p:spPr>
          <a:xfrm xmlns:a="http://schemas.openxmlformats.org/drawingml/2006/main" rot="5400000">
            <a:off x="7562850"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7" name="!!dev.code.debug.line">
            <a:extLst xmlns:a="http://schemas.openxmlformats.org/drawingml/2006/main">
              <a:ext uri="{FF2B5EF4-FFF2-40B4-BE49-F238E27FC236}">
                <a16:creationId xmlns:a16="http://schemas.microsoft.com/office/drawing/2014/main" id="{E467A4B1-F9AE-4C29-8FA2-D5D7B0331002}"/>
              </a:ext>
            </a:extLst>
          </p:cNvPr>
          <p:cNvSpPr>
            <a:spLocks xmlns:a="http://schemas.openxmlformats.org/drawingml/2006/main" noGrp="1"/>
          </p:cNvSpPr>
          <p:nvPr/>
        </p:nvSpPr>
        <p:spPr>
          <a:xfrm xmlns:a="http://schemas.openxmlformats.org/drawingml/2006/main" flipH="0" flipV="0">
            <a:off x="11029950" y="43624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8" name="!!dev.code.debug.tip">
            <a:extLst xmlns:a="http://schemas.openxmlformats.org/drawingml/2006/main">
              <a:ext uri="{FF2B5EF4-FFF2-40B4-BE49-F238E27FC236}">
                <a16:creationId xmlns:a16="http://schemas.microsoft.com/office/drawing/2014/main" id="{437D1A0E-EC3C-43BB-A7B2-4031A1AC7F48}"/>
              </a:ext>
            </a:extLst>
          </p:cNvPr>
          <p:cNvSpPr>
            <a:spLocks xmlns:a="http://schemas.openxmlformats.org/drawingml/2006/main" noGrp="1"/>
          </p:cNvSpPr>
          <p:nvPr/>
        </p:nvSpPr>
        <p:spPr>
          <a:xfrm xmlns:a="http://schemas.openxmlformats.org/drawingml/2006/main" rot="5400000">
            <a:off x="11220450" y="43053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9" name="!!dev.workload">
            <a:extLst xmlns:a="http://schemas.openxmlformats.org/drawingml/2006/main">
              <a:ext uri="{FF2B5EF4-FFF2-40B4-BE49-F238E27FC236}">
                <a16:creationId xmlns:a16="http://schemas.microsoft.com/office/drawing/2014/main" id="{31CFC83A-5804-474B-8794-486579B9DA7B}"/>
              </a:ext>
            </a:extLst>
          </p:cNvPr>
          <p:cNvSpPr>
            <a:spLocks xmlns:a="http://schemas.openxmlformats.org/drawingml/2006/main" noGrp="1"/>
          </p:cNvSpPr>
          <p:nvPr/>
        </p:nvSpPr>
        <p:spPr>
          <a:xfrm xmlns:a="http://schemas.openxmlformats.org/drawingml/2006/main">
            <a:off x="4057650" y="6457950"/>
            <a:ext cx="10534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Development requires implementation, testing and repeated debugging.</a:t>
            </a:r>
          </a:p>
        </p:txBody>
      </p:sp>
      <p:sp>
        <p:nvSpPr>
          <p:cNvPr id="41" name="!!story.header.client.bar">
            <a:extLst xmlns:a="http://schemas.openxmlformats.org/drawingml/2006/main">
              <a:ext uri="{FF2B5EF4-FFF2-40B4-BE49-F238E27FC236}">
                <a16:creationId xmlns:a16="http://schemas.microsoft.com/office/drawing/2014/main" id="{F3C7B4A3-3204-48F6-828B-EF2542DA09D4}"/>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2" name="!!story.header.client.name">
            <a:extLst xmlns:a="http://schemas.openxmlformats.org/drawingml/2006/main">
              <a:ext uri="{FF2B5EF4-FFF2-40B4-BE49-F238E27FC236}">
                <a16:creationId xmlns:a16="http://schemas.microsoft.com/office/drawing/2014/main" id="{522704C0-9707-43CD-975E-F2B16E957729}"/>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3" name="!!story.header.client.qualifier">
            <a:extLst xmlns:a="http://schemas.openxmlformats.org/drawingml/2006/main">
              <a:ext uri="{FF2B5EF4-FFF2-40B4-BE49-F238E27FC236}">
                <a16:creationId xmlns:a16="http://schemas.microsoft.com/office/drawing/2014/main" id="{F565D4F7-87B5-4FA3-AB82-760D021E8F50}"/>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Tool example</a:t>
            </a:r>
          </a:p>
        </p:txBody>
      </p:sp>
      <p:sp>
        <p:nvSpPr>
          <p:cNvPr id="44" name="!!story.client.development.sample">
            <a:extLst xmlns:a="http://schemas.openxmlformats.org/drawingml/2006/main">
              <a:ext uri="{FF2B5EF4-FFF2-40B4-BE49-F238E27FC236}">
                <a16:creationId xmlns:a16="http://schemas.microsoft.com/office/drawing/2014/main" id="{9940AF2F-4B6A-4EA5-A8D3-EF41F3110646}"/>
              </a:ext>
            </a:extLst>
          </p:cNvPr>
          <p:cNvSpPr>
            <a:spLocks xmlns:a="http://schemas.openxmlformats.org/drawingml/2006/main" noGrp="1"/>
          </p:cNvSpPr>
          <p:nvPr/>
        </p:nvSpPr>
        <p:spPr>
          <a:xfrm xmlns:a="http://schemas.openxmlformats.org/drawingml/2006/main">
            <a:off x="3943350" y="3028950"/>
            <a:ext cx="57150" cy="3143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5" name="!!story.client.development.sample.name">
            <a:extLst xmlns:a="http://schemas.openxmlformats.org/drawingml/2006/main">
              <a:ext uri="{FF2B5EF4-FFF2-40B4-BE49-F238E27FC236}">
                <a16:creationId xmlns:a16="http://schemas.microsoft.com/office/drawing/2014/main" id="{1605D5B7-CA1F-44FD-983E-9BD3FD4CE657}"/>
              </a:ext>
            </a:extLst>
          </p:cNvPr>
          <p:cNvSpPr>
            <a:spLocks xmlns:a="http://schemas.openxmlformats.org/drawingml/2006/main" noGrp="1"/>
          </p:cNvSpPr>
          <p:nvPr/>
        </p:nvSpPr>
        <p:spPr>
          <a:xfrm xmlns:a="http://schemas.openxmlformats.org/drawingml/2006/main">
            <a:off x="4057650" y="30099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189089834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heading">
            <a:extLst xmlns:a="http://schemas.openxmlformats.org/drawingml/2006/main">
              <a:ext uri="{FF2B5EF4-FFF2-40B4-BE49-F238E27FC236}">
                <a16:creationId xmlns:a16="http://schemas.microsoft.com/office/drawing/2014/main" id="{01A51EC1-30A0-4F20-9BC6-A3240AB057A6}"/>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E Fund and Invesco Great Wall: development support</a:t>
            </a:r>
          </a:p>
        </p:txBody>
      </p:sp>
      <p:sp>
        <p:nvSpPr>
          <p:cNvPr id="2" name="!!subtitle">
            <a:extLst xmlns:a="http://schemas.openxmlformats.org/drawingml/2006/main">
              <a:ext uri="{FF2B5EF4-FFF2-40B4-BE49-F238E27FC236}">
                <a16:creationId xmlns:a16="http://schemas.microsoft.com/office/drawing/2014/main" id="{7CC300C0-ADD9-4258-BD58-CBF93F280431}"/>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Internal tool development  /  Industry examples</a:t>
            </a:r>
          </a:p>
        </p:txBody>
      </p:sp>
      <p:sp>
        <p:nvSpPr>
          <p:cNvPr id="3" name="!!heading.rule">
            <a:extLst xmlns:a="http://schemas.openxmlformats.org/drawingml/2006/main">
              <a:ext uri="{FF2B5EF4-FFF2-40B4-BE49-F238E27FC236}">
                <a16:creationId xmlns:a16="http://schemas.microsoft.com/office/drawing/2014/main" id="{C64B45A6-CA61-406A-9C7C-E33021F97D73}"/>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28C98471-BA73-4E22-9F65-A6442C8377B8}"/>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B1DC8CF-4EDE-4EEA-81D2-AC00A058A7E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34540843-F9A7-4118-91FA-89A014D8A1C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4AE86CDE-9B37-4F47-8F67-6A86B1016B9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11141A-7C40-471C-9626-D72CBFF2233F}"/>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A92DAA5-3D02-4562-9449-52EA2FD15F33}"/>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F134A13F-B8DA-4F19-BB90-D76715D6958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079EDA9-59D3-464E-A52D-B160F7B229D9}"/>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3244F01-9349-40F6-AF53-4CC25D2DBF70}"/>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B535FE9-B90E-4058-9877-9AC43847D5CD}"/>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99BF6D0-7BCC-4D15-A27A-B4E48D7EEB7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81180B4B-EB7D-4405-9FC1-040C17E862B1}"/>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F018DAF-4DBB-45AF-B9FC-126972E195BE}"/>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A1F64C82-E9F6-4BDD-B4AB-123203C98841}"/>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4A0F679B-F73F-4F43-8EB0-4E7F14760121}"/>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3A29000-65BE-451D-B8B7-622D2B939379}"/>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D0931932-C457-4A1A-BE2D-18BA69042A79}"/>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26 / 33</a:t>
            </a:r>
          </a:p>
        </p:txBody>
      </p:sp>
      <p:sp>
        <p:nvSpPr>
          <p:cNvPr id="21" name="!!nav.pr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20AA4AE3-E96E-45F2-8061-4C34712B73A4}"/>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7" action="ppaction://hlinksldjump" tooltip="Slide 27: Proposed application: software development support"/>
            <a:extLst xmlns:a="http://schemas.openxmlformats.org/drawingml/2006/main">
              <a:ext uri="{FF2B5EF4-FFF2-40B4-BE49-F238E27FC236}">
                <a16:creationId xmlns:a16="http://schemas.microsoft.com/office/drawing/2014/main" id="{2A572433-D121-4174-A708-986A78EB923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4D70167C-D09C-41C4-94A8-D85A7AECA817}"/>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A593D3F-30D4-46EC-B462-46FB73DCFBA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E Fund; Invesco Great Wall</a:t>
            </a:r>
          </a:p>
        </p:txBody>
      </p:sp>
      <p:sp>
        <p:nvSpPr>
          <p:cNvPr id="25" name="!!dev.case1">
            <a:extLst xmlns:a="http://schemas.openxmlformats.org/drawingml/2006/main">
              <a:ext uri="{FF2B5EF4-FFF2-40B4-BE49-F238E27FC236}">
                <a16:creationId xmlns:a16="http://schemas.microsoft.com/office/drawing/2014/main" id="{8A8B47A4-ED80-4D7F-94C4-3BAD772CC07D}"/>
              </a:ext>
            </a:extLst>
          </p:cNvPr>
          <p:cNvSpPr>
            <a:spLocks xmlns:a="http://schemas.openxmlformats.org/drawingml/2006/main" noGrp="1"/>
          </p:cNvSpPr>
          <p:nvPr/>
        </p:nvSpPr>
        <p:spPr>
          <a:xfrm xmlns:a="http://schemas.openxmlformats.org/drawingml/2006/main">
            <a:off x="4057650" y="2047875"/>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E Fund uses LLMs in development and testing</a:t>
            </a:r>
          </a:p>
        </p:txBody>
      </p:sp>
      <p:sp>
        <p:nvSpPr>
          <p:cNvPr id="26" name="!!dev.case2">
            <a:extLst xmlns:a="http://schemas.openxmlformats.org/drawingml/2006/main">
              <a:ext uri="{FF2B5EF4-FFF2-40B4-BE49-F238E27FC236}">
                <a16:creationId xmlns:a16="http://schemas.microsoft.com/office/drawing/2014/main" id="{CFF2FC79-D1CF-4D6A-862B-E5DB38D728C3}"/>
              </a:ext>
            </a:extLst>
          </p:cNvPr>
          <p:cNvSpPr>
            <a:spLocks xmlns:a="http://schemas.openxmlformats.org/drawingml/2006/main" noGrp="1"/>
          </p:cNvSpPr>
          <p:nvPr/>
        </p:nvSpPr>
        <p:spPr>
          <a:xfrm xmlns:a="http://schemas.openxmlformats.org/drawingml/2006/main">
            <a:off x="4057650" y="2552700"/>
            <a:ext cx="10534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707C88"/>
                </a:solidFill>
                <a:latin typeface="Arial"/>
                <a:ea typeface="Arial"/>
                <a:cs typeface="Arial"/>
              </a:defRPr>
            </a:defPPr>
            <a:lvl1pPr algn="l">
              <a:defRPr sz="2025" b="0">
                <a:solidFill>
                  <a:srgbClr val="707C88"/>
                </a:solidFill>
                <a:latin typeface="Arial"/>
                <a:ea typeface="Arial"/>
                <a:cs typeface="Arial"/>
              </a:defRPr>
            </a:lvl1pPr>
            <a:lvl2pPr algn="l">
              <a:defRPr sz="2025" b="0">
                <a:solidFill>
                  <a:srgbClr val="707C88"/>
                </a:solidFill>
                <a:latin typeface="Arial"/>
                <a:ea typeface="Arial"/>
                <a:cs typeface="Arial"/>
              </a:defRPr>
            </a:lvl2pPr>
            <a:lvl3pPr algn="l">
              <a:defRPr sz="2025" b="0">
                <a:solidFill>
                  <a:srgbClr val="707C88"/>
                </a:solidFill>
                <a:latin typeface="Arial"/>
                <a:ea typeface="Arial"/>
                <a:cs typeface="Arial"/>
              </a:defRPr>
            </a:lvl3pPr>
            <a:lvl4pPr algn="l">
              <a:defRPr sz="2025" b="0">
                <a:solidFill>
                  <a:srgbClr val="707C88"/>
                </a:solidFill>
                <a:latin typeface="Arial"/>
                <a:ea typeface="Arial"/>
                <a:cs typeface="Arial"/>
              </a:defRPr>
            </a:lvl4pPr>
            <a:lvl5pPr algn="l">
              <a:defRPr sz="2025" b="0">
                <a:solidFill>
                  <a:srgbClr val="707C88"/>
                </a:solidFill>
                <a:latin typeface="Arial"/>
                <a:ea typeface="Arial"/>
                <a:cs typeface="Arial"/>
              </a:defRPr>
            </a:lvl5pPr>
            <a:lvl6pPr algn="l">
              <a:defRPr sz="2025" b="0">
                <a:solidFill>
                  <a:srgbClr val="707C88"/>
                </a:solidFill>
                <a:latin typeface="Arial"/>
                <a:ea typeface="Arial"/>
                <a:cs typeface="Arial"/>
              </a:defRPr>
            </a:lvl6pPr>
            <a:lvl7pPr algn="l">
              <a:defRPr sz="2025" b="0">
                <a:solidFill>
                  <a:srgbClr val="707C88"/>
                </a:solidFill>
                <a:latin typeface="Arial"/>
                <a:ea typeface="Arial"/>
                <a:cs typeface="Arial"/>
              </a:defRPr>
            </a:lvl7pPr>
            <a:lvl8pPr algn="l">
              <a:defRPr sz="2025" b="0">
                <a:solidFill>
                  <a:srgbClr val="707C88"/>
                </a:solidFill>
                <a:latin typeface="Arial"/>
                <a:ea typeface="Arial"/>
                <a:cs typeface="Arial"/>
              </a:defRPr>
            </a:lvl8pPr>
            <a:lvl9pPr algn="l">
              <a:defRPr sz="2025" b="0">
                <a:solidFill>
                  <a:srgbClr val="707C88"/>
                </a:solidFill>
                <a:latin typeface="Arial"/>
                <a:ea typeface="Arial"/>
                <a:cs typeface="Arial"/>
              </a:defRPr>
            </a:lvl9pPr>
          </a:lstStyle>
          <a:p xmlns:a="http://schemas.openxmlformats.org/drawingml/2006/main">
            <a:pPr algn="l">
              <a:defRPr sz="2025" b="0">
                <a:solidFill>
                  <a:srgbClr val="707C88"/>
                </a:solidFill>
                <a:latin typeface="Arial"/>
                <a:ea typeface="Arial"/>
                <a:cs typeface="Arial"/>
              </a:defRPr>
            </a:pPr>
            <a:r>
              <a:rPr sz="2025" b="0">
                <a:solidFill>
                  <a:srgbClr val="707C88"/>
                </a:solidFill>
                <a:latin typeface="Arial"/>
                <a:ea typeface="Arial"/>
                <a:cs typeface="Arial"/>
              </a:rPr>
              <a:t>Invesco Great Wall’s quantitative team uses locally deployed models for coding support.</a:t>
            </a:r>
          </a:p>
        </p:txBody>
      </p:sp>
      <p:sp>
        <p:nvSpPr>
          <p:cNvPr id="27" name="!!dev.requirements">
            <a:extLst xmlns:a="http://schemas.openxmlformats.org/drawingml/2006/main">
              <a:ext uri="{FF2B5EF4-FFF2-40B4-BE49-F238E27FC236}">
                <a16:creationId xmlns:a16="http://schemas.microsoft.com/office/drawing/2014/main" id="{2D33282B-B064-4AD1-BEBC-059F59E00B52}"/>
              </a:ext>
            </a:extLst>
          </p:cNvPr>
          <p:cNvSpPr>
            <a:spLocks xmlns:a="http://schemas.openxmlformats.org/drawingml/2006/main" noGrp="1"/>
          </p:cNvSpPr>
          <p:nvPr/>
        </p:nvSpPr>
        <p:spPr>
          <a:xfrm xmlns:a="http://schemas.openxmlformats.org/drawingml/2006/main">
            <a:off x="40576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8" name="!!dev.requirements.role">
            <a:extLst xmlns:a="http://schemas.openxmlformats.org/drawingml/2006/main">
              <a:ext uri="{FF2B5EF4-FFF2-40B4-BE49-F238E27FC236}">
                <a16:creationId xmlns:a16="http://schemas.microsoft.com/office/drawing/2014/main" id="{86B36A56-CAF0-4EB5-ACD8-BF34DDB3124D}"/>
              </a:ext>
            </a:extLst>
          </p:cNvPr>
          <p:cNvSpPr>
            <a:spLocks xmlns:a="http://schemas.openxmlformats.org/drawingml/2006/main" noGrp="1"/>
          </p:cNvSpPr>
          <p:nvPr/>
        </p:nvSpPr>
        <p:spPr>
          <a:xfrm xmlns:a="http://schemas.openxmlformats.org/drawingml/2006/main">
            <a:off x="42481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62C"/>
                </a:solidFill>
                <a:latin typeface="Arial"/>
                <a:ea typeface="Arial"/>
                <a:cs typeface="Arial"/>
              </a:defRPr>
            </a:defPPr>
            <a:lvl1pPr algn="l">
              <a:defRPr sz="1725" b="1">
                <a:solidFill>
                  <a:srgbClr val="20262C"/>
                </a:solidFill>
                <a:latin typeface="Arial"/>
                <a:ea typeface="Arial"/>
                <a:cs typeface="Arial"/>
              </a:defRPr>
            </a:lvl1pPr>
            <a:lvl2pPr algn="l">
              <a:defRPr sz="1725" b="1">
                <a:solidFill>
                  <a:srgbClr val="20262C"/>
                </a:solidFill>
                <a:latin typeface="Arial"/>
                <a:ea typeface="Arial"/>
                <a:cs typeface="Arial"/>
              </a:defRPr>
            </a:lvl2pPr>
            <a:lvl3pPr algn="l">
              <a:defRPr sz="1725" b="1">
                <a:solidFill>
                  <a:srgbClr val="20262C"/>
                </a:solidFill>
                <a:latin typeface="Arial"/>
                <a:ea typeface="Arial"/>
                <a:cs typeface="Arial"/>
              </a:defRPr>
            </a:lvl3pPr>
            <a:lvl4pPr algn="l">
              <a:defRPr sz="1725" b="1">
                <a:solidFill>
                  <a:srgbClr val="20262C"/>
                </a:solidFill>
                <a:latin typeface="Arial"/>
                <a:ea typeface="Arial"/>
                <a:cs typeface="Arial"/>
              </a:defRPr>
            </a:lvl4pPr>
            <a:lvl5pPr algn="l">
              <a:defRPr sz="1725" b="1">
                <a:solidFill>
                  <a:srgbClr val="20262C"/>
                </a:solidFill>
                <a:latin typeface="Arial"/>
                <a:ea typeface="Arial"/>
                <a:cs typeface="Arial"/>
              </a:defRPr>
            </a:lvl5pPr>
            <a:lvl6pPr algn="l">
              <a:defRPr sz="1725" b="1">
                <a:solidFill>
                  <a:srgbClr val="20262C"/>
                </a:solidFill>
                <a:latin typeface="Arial"/>
                <a:ea typeface="Arial"/>
                <a:cs typeface="Arial"/>
              </a:defRPr>
            </a:lvl6pPr>
            <a:lvl7pPr algn="l">
              <a:defRPr sz="1725" b="1">
                <a:solidFill>
                  <a:srgbClr val="20262C"/>
                </a:solidFill>
                <a:latin typeface="Arial"/>
                <a:ea typeface="Arial"/>
                <a:cs typeface="Arial"/>
              </a:defRPr>
            </a:lvl7pPr>
            <a:lvl8pPr algn="l">
              <a:defRPr sz="1725" b="1">
                <a:solidFill>
                  <a:srgbClr val="20262C"/>
                </a:solidFill>
                <a:latin typeface="Arial"/>
                <a:ea typeface="Arial"/>
                <a:cs typeface="Arial"/>
              </a:defRPr>
            </a:lvl8pPr>
            <a:lvl9pPr algn="l">
              <a:defRPr sz="1725" b="1">
                <a:solidFill>
                  <a:srgbClr val="20262C"/>
                </a:solidFill>
                <a:latin typeface="Arial"/>
                <a:ea typeface="Arial"/>
                <a:cs typeface="Arial"/>
              </a:defRPr>
            </a:lvl9pPr>
          </a:lstStyle>
          <a:p xmlns:a="http://schemas.openxmlformats.org/drawingml/2006/main">
            <a:pPr algn="l">
              <a:defRPr sz="1725" b="1">
                <a:solidFill>
                  <a:srgbClr val="20262C"/>
                </a:solidFill>
                <a:latin typeface="Arial"/>
                <a:ea typeface="Arial"/>
                <a:cs typeface="Arial"/>
              </a:defRPr>
            </a:pPr>
            <a:r>
              <a:rPr sz="1725" b="1">
                <a:solidFill>
                  <a:srgbClr val="20262C"/>
                </a:solidFill>
                <a:latin typeface="Arial"/>
                <a:ea typeface="Arial"/>
                <a:cs typeface="Arial"/>
              </a:rPr>
              <a:t>Developer defines the task</a:t>
            </a:r>
          </a:p>
        </p:txBody>
      </p:sp>
      <p:sp>
        <p:nvSpPr>
          <p:cNvPr id="29" name="!!dev.requirements.body">
            <a:extLst xmlns:a="http://schemas.openxmlformats.org/drawingml/2006/main">
              <a:ext uri="{FF2B5EF4-FFF2-40B4-BE49-F238E27FC236}">
                <a16:creationId xmlns:a16="http://schemas.microsoft.com/office/drawing/2014/main" id="{93DE43DA-9D86-402C-BCCC-E36DE2C80D5A}"/>
              </a:ext>
            </a:extLst>
          </p:cNvPr>
          <p:cNvSpPr>
            <a:spLocks xmlns:a="http://schemas.openxmlformats.org/drawingml/2006/main" noGrp="1"/>
          </p:cNvSpPr>
          <p:nvPr/>
        </p:nvSpPr>
        <p:spPr>
          <a:xfrm xmlns:a="http://schemas.openxmlformats.org/drawingml/2006/main">
            <a:off x="42481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Supply examples and expected results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Specify the required behavior</a:t>
            </a:r>
          </a:p>
        </p:txBody>
      </p:sp>
      <p:sp>
        <p:nvSpPr>
          <p:cNvPr id="30" name="!!dev.code">
            <a:extLst xmlns:a="http://schemas.openxmlformats.org/drawingml/2006/main">
              <a:ext uri="{FF2B5EF4-FFF2-40B4-BE49-F238E27FC236}">
                <a16:creationId xmlns:a16="http://schemas.microsoft.com/office/drawing/2014/main" id="{423F20FB-A86B-4593-AB71-1403ABD23A2F}"/>
              </a:ext>
            </a:extLst>
          </p:cNvPr>
          <p:cNvSpPr>
            <a:spLocks xmlns:a="http://schemas.openxmlformats.org/drawingml/2006/main" noGrp="1"/>
          </p:cNvSpPr>
          <p:nvPr/>
        </p:nvSpPr>
        <p:spPr>
          <a:xfrm xmlns:a="http://schemas.openxmlformats.org/drawingml/2006/main">
            <a:off x="77152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1" name="!!dev.code.role">
            <a:extLst xmlns:a="http://schemas.openxmlformats.org/drawingml/2006/main">
              <a:ext uri="{FF2B5EF4-FFF2-40B4-BE49-F238E27FC236}">
                <a16:creationId xmlns:a16="http://schemas.microsoft.com/office/drawing/2014/main" id="{69A54917-202F-4B5C-A971-3461F4F14CAD}"/>
              </a:ext>
            </a:extLst>
          </p:cNvPr>
          <p:cNvSpPr>
            <a:spLocks xmlns:a="http://schemas.openxmlformats.org/drawingml/2006/main" noGrp="1"/>
          </p:cNvSpPr>
          <p:nvPr/>
        </p:nvSpPr>
        <p:spPr>
          <a:xfrm xmlns:a="http://schemas.openxmlformats.org/drawingml/2006/main">
            <a:off x="79057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 drafts code and tests</a:t>
            </a:r>
          </a:p>
        </p:txBody>
      </p:sp>
      <p:sp>
        <p:nvSpPr>
          <p:cNvPr id="32" name="!!dev.code.body">
            <a:extLst xmlns:a="http://schemas.openxmlformats.org/drawingml/2006/main">
              <a:ext uri="{FF2B5EF4-FFF2-40B4-BE49-F238E27FC236}">
                <a16:creationId xmlns:a16="http://schemas.microsoft.com/office/drawing/2014/main" id="{39A10076-D2C8-4471-88FF-787D86793AE6}"/>
              </a:ext>
            </a:extLst>
          </p:cNvPr>
          <p:cNvSpPr>
            <a:spLocks xmlns:a="http://schemas.openxmlformats.org/drawingml/2006/main" noGrp="1"/>
          </p:cNvSpPr>
          <p:nvPr/>
        </p:nvSpPr>
        <p:spPr>
          <a:xfrm xmlns:a="http://schemas.openxmlformats.org/drawingml/2006/main">
            <a:off x="79057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Write code to process files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List test cases and expected results</a:t>
            </a:r>
          </a:p>
        </p:txBody>
      </p:sp>
      <p:sp>
        <p:nvSpPr>
          <p:cNvPr id="33" name="!!dev.test">
            <a:extLst xmlns:a="http://schemas.openxmlformats.org/drawingml/2006/main">
              <a:ext uri="{FF2B5EF4-FFF2-40B4-BE49-F238E27FC236}">
                <a16:creationId xmlns:a16="http://schemas.microsoft.com/office/drawing/2014/main" id="{E2D5D2C6-0BB3-4221-9509-77E8608D3249}"/>
              </a:ext>
            </a:extLst>
          </p:cNvPr>
          <p:cNvSpPr>
            <a:spLocks xmlns:a="http://schemas.openxmlformats.org/drawingml/2006/main" noGrp="1"/>
          </p:cNvSpPr>
          <p:nvPr/>
        </p:nvSpPr>
        <p:spPr>
          <a:xfrm xmlns:a="http://schemas.openxmlformats.org/drawingml/2006/main">
            <a:off x="11372850" y="3524250"/>
            <a:ext cx="3219450" cy="20193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4" name="!!dev.test.role">
            <a:extLst xmlns:a="http://schemas.openxmlformats.org/drawingml/2006/main">
              <a:ext uri="{FF2B5EF4-FFF2-40B4-BE49-F238E27FC236}">
                <a16:creationId xmlns:a16="http://schemas.microsoft.com/office/drawing/2014/main" id="{74EA6726-46B7-41A9-A3BB-5AE24C597FEE}"/>
              </a:ext>
            </a:extLst>
          </p:cNvPr>
          <p:cNvSpPr>
            <a:spLocks xmlns:a="http://schemas.openxmlformats.org/drawingml/2006/main" noGrp="1"/>
          </p:cNvSpPr>
          <p:nvPr/>
        </p:nvSpPr>
        <p:spPr>
          <a:xfrm xmlns:a="http://schemas.openxmlformats.org/drawingml/2006/main">
            <a:off x="11563350" y="3667125"/>
            <a:ext cx="283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Developer tests the code</a:t>
            </a:r>
          </a:p>
        </p:txBody>
      </p:sp>
      <p:sp>
        <p:nvSpPr>
          <p:cNvPr id="35" name="!!dev.test.body">
            <a:extLst xmlns:a="http://schemas.openxmlformats.org/drawingml/2006/main">
              <a:ext uri="{FF2B5EF4-FFF2-40B4-BE49-F238E27FC236}">
                <a16:creationId xmlns:a16="http://schemas.microsoft.com/office/drawing/2014/main" id="{31C776FC-A383-490F-B90E-ABF81C743D70}"/>
              </a:ext>
            </a:extLst>
          </p:cNvPr>
          <p:cNvSpPr>
            <a:spLocks xmlns:a="http://schemas.openxmlformats.org/drawingml/2006/main" noGrp="1"/>
          </p:cNvSpPr>
          <p:nvPr/>
        </p:nvSpPr>
        <p:spPr>
          <a:xfrm xmlns:a="http://schemas.openxmlformats.org/drawingml/2006/main">
            <a:off x="11563350" y="4105275"/>
            <a:ext cx="28384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Run the code and check the output</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Provide error details to the LLM</a:t>
            </a:r>
          </a:p>
        </p:txBody>
      </p:sp>
      <p:sp>
        <p:nvSpPr>
          <p:cNvPr id="36" name="!!dev.case.in.line">
            <a:extLst xmlns:a="http://schemas.openxmlformats.org/drawingml/2006/main">
              <a:ext uri="{FF2B5EF4-FFF2-40B4-BE49-F238E27FC236}">
                <a16:creationId xmlns:a16="http://schemas.microsoft.com/office/drawing/2014/main" id="{974652CB-8520-4445-827D-631E8291E61C}"/>
              </a:ext>
            </a:extLst>
          </p:cNvPr>
          <p:cNvSpPr>
            <a:spLocks xmlns:a="http://schemas.openxmlformats.org/drawingml/2006/main" noGrp="1"/>
          </p:cNvSpPr>
          <p:nvPr/>
        </p:nvSpPr>
        <p:spPr>
          <a:xfrm xmlns:a="http://schemas.openxmlformats.org/drawingml/2006/main" flipH="0" flipV="0">
            <a:off x="7372350" y="45339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dev.case.in.tip">
            <a:extLst xmlns:a="http://schemas.openxmlformats.org/drawingml/2006/main">
              <a:ext uri="{FF2B5EF4-FFF2-40B4-BE49-F238E27FC236}">
                <a16:creationId xmlns:a16="http://schemas.microsoft.com/office/drawing/2014/main" id="{0F1424C6-99EE-40CE-A3A6-80C60DF870E2}"/>
              </a:ext>
            </a:extLst>
          </p:cNvPr>
          <p:cNvSpPr>
            <a:spLocks xmlns:a="http://schemas.openxmlformats.org/drawingml/2006/main" noGrp="1"/>
          </p:cNvSpPr>
          <p:nvPr/>
        </p:nvSpPr>
        <p:spPr>
          <a:xfrm xmlns:a="http://schemas.openxmlformats.org/drawingml/2006/main" rot="5400000">
            <a:off x="7562850" y="44767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dev.case.out.line">
            <a:extLst xmlns:a="http://schemas.openxmlformats.org/drawingml/2006/main">
              <a:ext uri="{FF2B5EF4-FFF2-40B4-BE49-F238E27FC236}">
                <a16:creationId xmlns:a16="http://schemas.microsoft.com/office/drawing/2014/main" id="{719E8414-B2C8-4D6C-BC26-5BCC74CF25E5}"/>
              </a:ext>
            </a:extLst>
          </p:cNvPr>
          <p:cNvSpPr>
            <a:spLocks xmlns:a="http://schemas.openxmlformats.org/drawingml/2006/main" noGrp="1"/>
          </p:cNvSpPr>
          <p:nvPr/>
        </p:nvSpPr>
        <p:spPr>
          <a:xfrm xmlns:a="http://schemas.openxmlformats.org/drawingml/2006/main" flipH="0" flipV="0">
            <a:off x="11029950" y="453390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9" name="!!dev.case.out.tip">
            <a:extLst xmlns:a="http://schemas.openxmlformats.org/drawingml/2006/main">
              <a:ext uri="{FF2B5EF4-FFF2-40B4-BE49-F238E27FC236}">
                <a16:creationId xmlns:a16="http://schemas.microsoft.com/office/drawing/2014/main" id="{D360C957-30ED-4512-A0FA-6904344D9AF5}"/>
              </a:ext>
            </a:extLst>
          </p:cNvPr>
          <p:cNvSpPr>
            <a:spLocks xmlns:a="http://schemas.openxmlformats.org/drawingml/2006/main" noGrp="1"/>
          </p:cNvSpPr>
          <p:nvPr/>
        </p:nvSpPr>
        <p:spPr>
          <a:xfrm xmlns:a="http://schemas.openxmlformats.org/drawingml/2006/main" rot="5400000">
            <a:off x="11220450" y="44767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0" name="!!dev.case.result">
            <a:extLst xmlns:a="http://schemas.openxmlformats.org/drawingml/2006/main">
              <a:ext uri="{FF2B5EF4-FFF2-40B4-BE49-F238E27FC236}">
                <a16:creationId xmlns:a16="http://schemas.microsoft.com/office/drawing/2014/main" id="{895AA393-71A9-4E2E-AFFC-46E9EFEA2802}"/>
              </a:ext>
            </a:extLst>
          </p:cNvPr>
          <p:cNvSpPr>
            <a:spLocks xmlns:a="http://schemas.openxmlformats.org/drawingml/2006/main" noGrp="1"/>
          </p:cNvSpPr>
          <p:nvPr/>
        </p:nvSpPr>
        <p:spPr>
          <a:xfrm xmlns:a="http://schemas.openxmlformats.org/drawingml/2006/main">
            <a:off x="4057650" y="6381750"/>
            <a:ext cx="10534650" cy="685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Developers test and refine generated code against the stated requirements.</a:t>
            </a:r>
          </a:p>
        </p:txBody>
      </p:sp>
      <p:sp>
        <p:nvSpPr>
          <p:cNvPr id="42" name="!!story.header.client.bar">
            <a:extLst xmlns:a="http://schemas.openxmlformats.org/drawingml/2006/main">
              <a:ext uri="{FF2B5EF4-FFF2-40B4-BE49-F238E27FC236}">
                <a16:creationId xmlns:a16="http://schemas.microsoft.com/office/drawing/2014/main" id="{39260808-D17D-4BB5-A0A2-5E8A97DBC94C}"/>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3" name="!!story.header.client.name">
            <a:extLst xmlns:a="http://schemas.openxmlformats.org/drawingml/2006/main">
              <a:ext uri="{FF2B5EF4-FFF2-40B4-BE49-F238E27FC236}">
                <a16:creationId xmlns:a16="http://schemas.microsoft.com/office/drawing/2014/main" id="{2C10FF40-0542-43EA-8A38-BAD586854156}"/>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44" name="!!story.header.client.qualifier">
            <a:extLst xmlns:a="http://schemas.openxmlformats.org/drawingml/2006/main">
              <a:ext uri="{FF2B5EF4-FFF2-40B4-BE49-F238E27FC236}">
                <a16:creationId xmlns:a16="http://schemas.microsoft.com/office/drawing/2014/main" id="{29C563D1-AFC6-46B3-902E-3B6DF006678A}"/>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Reference</a:t>
            </a:r>
          </a:p>
        </p:txBody>
      </p:sp>
      <p:sp>
        <p:nvSpPr>
          <p:cNvPr id="45" name="!!story.client.development.sample">
            <a:extLst xmlns:a="http://schemas.openxmlformats.org/drawingml/2006/main">
              <a:ext uri="{FF2B5EF4-FFF2-40B4-BE49-F238E27FC236}">
                <a16:creationId xmlns:a16="http://schemas.microsoft.com/office/drawing/2014/main" id="{333E110B-5B02-4F95-9AC7-B38D09CBD296}"/>
              </a:ext>
            </a:extLst>
          </p:cNvPr>
          <p:cNvSpPr>
            <a:spLocks xmlns:a="http://schemas.openxmlformats.org/drawingml/2006/main" noGrp="1"/>
          </p:cNvSpPr>
          <p:nvPr/>
        </p:nvSpPr>
        <p:spPr>
          <a:xfrm xmlns:a="http://schemas.openxmlformats.org/drawingml/2006/main">
            <a:off x="3943350" y="3114675"/>
            <a:ext cx="57150" cy="3143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6" name="!!story.client.development.sample.name">
            <a:extLst xmlns:a="http://schemas.openxmlformats.org/drawingml/2006/main">
              <a:ext uri="{FF2B5EF4-FFF2-40B4-BE49-F238E27FC236}">
                <a16:creationId xmlns:a16="http://schemas.microsoft.com/office/drawing/2014/main" id="{8DAB5424-1DB4-4BCE-B8D5-B3AEC955CBC6}"/>
              </a:ext>
            </a:extLst>
          </p:cNvPr>
          <p:cNvSpPr>
            <a:spLocks xmlns:a="http://schemas.openxmlformats.org/drawingml/2006/main" noGrp="1"/>
          </p:cNvSpPr>
          <p:nvPr/>
        </p:nvSpPr>
        <p:spPr>
          <a:xfrm xmlns:a="http://schemas.openxmlformats.org/drawingml/2006/main">
            <a:off x="4057650" y="3095625"/>
            <a:ext cx="321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 V1 / V2</a:t>
            </a:r>
          </a:p>
        </p:txBody>
      </p:sp>
    </p:spTree>
    <p:extLst>
      <p:ext uri="{BB962C8B-B14F-4D97-AF65-F5344CB8AC3E}">
        <p14:creationId xmlns:p14="http://schemas.microsoft.com/office/powerpoint/2010/main" val="2118424296"/>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7"/>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8"/>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9"/>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0"/>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1"/>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2"/>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3"/>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4"/>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35"/>
                                  </p:tgtEl>
                                  <p:attrNameLst>
                                    <p:attrName>style.visibility</p:attrName>
                                  </p:attrNameLst>
                                </p:cBhvr>
                                <p:to>
                                  <p:strVal val="visible"/>
                                </p:to>
                              </p:set>
                            </p:childTnLst>
                          </p:cTn>
                        </p:par>
                        <p:par>
                          <p:cTn id="22" presetID="1" presetClass="entr" presetSubtype="0" fill="hold" nodeType="withEffect" grpId="0">
                            <p:stCondLst>
                              <p:cond delay="150"/>
                            </p:stCondLst>
                            <p:childTnLst>
                              <p:set>
                                <p:cBhvr>
                                  <p:cTn id="23" dur="1" fill="hold">
                                    <p:stCondLst>
                                      <p:cond delay="0"/>
                                    </p:stCondLst>
                                  </p:cTn>
                                  <p:tgtEl>
                                    <p:spTgt spid="45"/>
                                  </p:tgtEl>
                                  <p:attrNameLst>
                                    <p:attrName>style.visibility</p:attrName>
                                  </p:attrNameLst>
                                </p:cBhvr>
                                <p:to>
                                  <p:strVal val="visible"/>
                                </p:to>
                              </p:set>
                            </p:childTnLst>
                          </p:cTn>
                        </p:par>
                        <p:par>
                          <p:cTn id="24" presetID="1" presetClass="entr" presetSubtype="0" fill="hold" nodeType="withEffect" grpId="0">
                            <p:stCondLst>
                              <p:cond delay="150"/>
                            </p:stCondLst>
                            <p:childTnLst>
                              <p:set>
                                <p:cBhvr>
                                  <p:cTn id="25" dur="1" fill="hold">
                                    <p:stCondLst>
                                      <p:cond delay="0"/>
                                    </p:stCondLst>
                                  </p:cTn>
                                  <p:tgtEl>
                                    <p:spTgt spid="4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Lst>
  </p:timing>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heading">
            <a:extLst xmlns:a="http://schemas.openxmlformats.org/drawingml/2006/main">
              <a:ext uri="{FF2B5EF4-FFF2-40B4-BE49-F238E27FC236}">
                <a16:creationId xmlns:a16="http://schemas.microsoft.com/office/drawing/2014/main" id="{1CE489C6-3FE0-418C-95E6-E1FE0258C7E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application: software development support</a:t>
            </a:r>
          </a:p>
        </p:txBody>
      </p:sp>
      <p:sp>
        <p:nvSpPr>
          <p:cNvPr id="2" name="!!subtitle">
            <a:extLst xmlns:a="http://schemas.openxmlformats.org/drawingml/2006/main">
              <a:ext uri="{FF2B5EF4-FFF2-40B4-BE49-F238E27FC236}">
                <a16:creationId xmlns:a16="http://schemas.microsoft.com/office/drawing/2014/main" id="{37F92A19-0678-4946-BE94-41E6D5430A7F}"/>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Internal tool development  /  Proposed application</a:t>
            </a:r>
          </a:p>
        </p:txBody>
      </p:sp>
      <p:sp>
        <p:nvSpPr>
          <p:cNvPr id="3" name="!!heading.rule">
            <a:extLst xmlns:a="http://schemas.openxmlformats.org/drawingml/2006/main">
              <a:ext uri="{FF2B5EF4-FFF2-40B4-BE49-F238E27FC236}">
                <a16:creationId xmlns:a16="http://schemas.microsoft.com/office/drawing/2014/main" id="{E5055B01-CA1D-4186-8BBC-AACB2381CCBF}"/>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3CB3BDEF-EADB-4317-AD0C-840DF191504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DB1086F-9A7F-4B84-A779-2156E8B56F76}"/>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972EFE8-5C7F-4CA3-B71B-1E8FF225568F}"/>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5AA91E3-4258-48C1-ABA9-AD62821C922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1658555-9478-4CBA-A404-6E0C79887051}"/>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03F1FF6B-80E2-418C-AF4F-468499AC4315}"/>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9C7722C-73DD-47A8-84D0-8FD6B76DA6EA}"/>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0E919046-0578-4A12-BC15-33657D705AF7}"/>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38489DB5-9CDB-40B1-BE3E-3E13C324CD96}"/>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2C963D2A-B4FB-4EAC-AED8-11EEEF28EEA3}"/>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5130F4F-FE84-427C-A929-DC1D915C7309}"/>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EB80D52-AE41-4CAE-8658-5F3C8F7D8B9F}"/>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E73B7B17-A999-4A07-B5D7-50689A1962DA}"/>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1">
                <a:solidFill>
                  <a:srgbClr val="005A9C"/>
                </a:solidFill>
                <a:latin typeface="Arial"/>
                <a:ea typeface="Arial"/>
                <a:cs typeface="Arial"/>
              </a:defRPr>
            </a:defPPr>
            <a:lvl1pPr algn="ctr">
              <a:defRPr sz="1650" b="1">
                <a:solidFill>
                  <a:srgbClr val="005A9C"/>
                </a:solidFill>
                <a:latin typeface="Arial"/>
                <a:ea typeface="Arial"/>
                <a:cs typeface="Arial"/>
              </a:defRPr>
            </a:lvl1pPr>
            <a:lvl2pPr algn="ctr">
              <a:defRPr sz="1650" b="1">
                <a:solidFill>
                  <a:srgbClr val="005A9C"/>
                </a:solidFill>
                <a:latin typeface="Arial"/>
                <a:ea typeface="Arial"/>
                <a:cs typeface="Arial"/>
              </a:defRPr>
            </a:lvl2pPr>
            <a:lvl3pPr algn="ctr">
              <a:defRPr sz="1650" b="1">
                <a:solidFill>
                  <a:srgbClr val="005A9C"/>
                </a:solidFill>
                <a:latin typeface="Arial"/>
                <a:ea typeface="Arial"/>
                <a:cs typeface="Arial"/>
              </a:defRPr>
            </a:lvl3pPr>
            <a:lvl4pPr algn="ctr">
              <a:defRPr sz="1650" b="1">
                <a:solidFill>
                  <a:srgbClr val="005A9C"/>
                </a:solidFill>
                <a:latin typeface="Arial"/>
                <a:ea typeface="Arial"/>
                <a:cs typeface="Arial"/>
              </a:defRPr>
            </a:lvl4pPr>
            <a:lvl5pPr algn="ctr">
              <a:defRPr sz="1650" b="1">
                <a:solidFill>
                  <a:srgbClr val="005A9C"/>
                </a:solidFill>
                <a:latin typeface="Arial"/>
                <a:ea typeface="Arial"/>
                <a:cs typeface="Arial"/>
              </a:defRPr>
            </a:lvl5pPr>
            <a:lvl6pPr algn="ctr">
              <a:defRPr sz="1650" b="1">
                <a:solidFill>
                  <a:srgbClr val="005A9C"/>
                </a:solidFill>
                <a:latin typeface="Arial"/>
                <a:ea typeface="Arial"/>
                <a:cs typeface="Arial"/>
              </a:defRPr>
            </a:lvl6pPr>
            <a:lvl7pPr algn="ctr">
              <a:defRPr sz="1650" b="1">
                <a:solidFill>
                  <a:srgbClr val="005A9C"/>
                </a:solidFill>
                <a:latin typeface="Arial"/>
                <a:ea typeface="Arial"/>
                <a:cs typeface="Arial"/>
              </a:defRPr>
            </a:lvl7pPr>
            <a:lvl8pPr algn="ctr">
              <a:defRPr sz="1650" b="1">
                <a:solidFill>
                  <a:srgbClr val="005A9C"/>
                </a:solidFill>
                <a:latin typeface="Arial"/>
                <a:ea typeface="Arial"/>
                <a:cs typeface="Arial"/>
              </a:defRPr>
            </a:lvl8pPr>
            <a:lvl9pPr algn="ctr">
              <a:defRPr sz="1650" b="1">
                <a:solidFill>
                  <a:srgbClr val="005A9C"/>
                </a:solidFill>
                <a:latin typeface="Arial"/>
                <a:ea typeface="Arial"/>
                <a:cs typeface="Arial"/>
              </a:defRPr>
            </a:lvl9pPr>
          </a:lstStyle>
          <a:p xmlns:a="http://schemas.openxmlformats.org/drawingml/2006/main">
            <a:pPr algn="ctr">
              <a:defRPr sz="1650" b="1">
                <a:solidFill>
                  <a:srgbClr val="005A9C"/>
                </a:solidFill>
                <a:latin typeface="Arial"/>
                <a:ea typeface="Arial"/>
                <a:cs typeface="Arial"/>
              </a:defRPr>
            </a:pPr>
            <a:r>
              <a:rPr sz="1650" b="1">
                <a:solidFill>
                  <a:srgbClr val="005A9C"/>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8A6B9A94-C5B3-4C3E-82D9-73758B580D3D}"/>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C6CB5DEE-E83A-448D-8948-71183A87B3DB}"/>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56E532-3F65-41B5-ABC6-9C4A3159F815}"/>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EFBE4467-9917-40C6-A817-4C3C7BCD8407}"/>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27 / 33</a:t>
            </a:r>
          </a:p>
        </p:txBody>
      </p:sp>
      <p:sp>
        <p:nvSpPr>
          <p:cNvPr id="21" name="!!nav.prev">
            <ns0:hlinkClick xmlns:ns0="http://schemas.openxmlformats.org/drawingml/2006/main" xmlns:ns1="http://schemas.openxmlformats.org/officeDocument/2006/relationships" ns1:id="rIdNavSlide26" action="ppaction://hlinksldjump" tooltip="Slide 26: E Fund and Invesco Great Wall: development support"/>
            <a:extLst xmlns:a="http://schemas.openxmlformats.org/drawingml/2006/main">
              <a:ext uri="{FF2B5EF4-FFF2-40B4-BE49-F238E27FC236}">
                <a16:creationId xmlns:a16="http://schemas.microsoft.com/office/drawing/2014/main" id="{F1475250-8F1F-4D8B-AF08-9F87944FB21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9DC195F1-E3E7-4E37-8F7A-B15D9AA3789D}"/>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11DB9395-67C5-4C1D-893C-76F41FDF923C}"/>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566B4EE0-D49D-4217-AA3A-B30D0AD91A96}"/>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E Fund; Invesco Great Wall</a:t>
            </a:r>
          </a:p>
        </p:txBody>
      </p:sp>
      <p:sp>
        <p:nvSpPr>
          <p:cNvPr id="25" name="!!dev.request">
            <a:extLst xmlns:a="http://schemas.openxmlformats.org/drawingml/2006/main">
              <a:ext uri="{FF2B5EF4-FFF2-40B4-BE49-F238E27FC236}">
                <a16:creationId xmlns:a16="http://schemas.microsoft.com/office/drawing/2014/main" id="{9EBEAE89-CF3C-46BB-B837-DB0FF5A0D4D2}"/>
              </a:ext>
            </a:extLst>
          </p:cNvPr>
          <p:cNvSpPr>
            <a:spLocks xmlns:a="http://schemas.openxmlformats.org/drawingml/2006/main" noGrp="1"/>
          </p:cNvSpPr>
          <p:nvPr/>
        </p:nvSpPr>
        <p:spPr>
          <a:xfrm xmlns:a="http://schemas.openxmlformats.org/drawingml/2006/main">
            <a:off x="4057650" y="2047875"/>
            <a:ext cx="10534650" cy="6477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75" b="1">
                <a:solidFill>
                  <a:srgbClr val="20262C"/>
                </a:solidFill>
                <a:latin typeface="Arial"/>
                <a:ea typeface="Arial"/>
                <a:cs typeface="Arial"/>
              </a:defRPr>
            </a:defPPr>
            <a:lvl1pPr algn="ctr">
              <a:defRPr sz="2175" b="1">
                <a:solidFill>
                  <a:srgbClr val="20262C"/>
                </a:solidFill>
                <a:latin typeface="Arial"/>
                <a:ea typeface="Arial"/>
                <a:cs typeface="Arial"/>
              </a:defRPr>
            </a:lvl1pPr>
            <a:lvl2pPr algn="ctr">
              <a:defRPr sz="2175" b="1">
                <a:solidFill>
                  <a:srgbClr val="20262C"/>
                </a:solidFill>
                <a:latin typeface="Arial"/>
                <a:ea typeface="Arial"/>
                <a:cs typeface="Arial"/>
              </a:defRPr>
            </a:lvl2pPr>
            <a:lvl3pPr algn="ctr">
              <a:defRPr sz="2175" b="1">
                <a:solidFill>
                  <a:srgbClr val="20262C"/>
                </a:solidFill>
                <a:latin typeface="Arial"/>
                <a:ea typeface="Arial"/>
                <a:cs typeface="Arial"/>
              </a:defRPr>
            </a:lvl3pPr>
            <a:lvl4pPr algn="ctr">
              <a:defRPr sz="2175" b="1">
                <a:solidFill>
                  <a:srgbClr val="20262C"/>
                </a:solidFill>
                <a:latin typeface="Arial"/>
                <a:ea typeface="Arial"/>
                <a:cs typeface="Arial"/>
              </a:defRPr>
            </a:lvl4pPr>
            <a:lvl5pPr algn="ctr">
              <a:defRPr sz="2175" b="1">
                <a:solidFill>
                  <a:srgbClr val="20262C"/>
                </a:solidFill>
                <a:latin typeface="Arial"/>
                <a:ea typeface="Arial"/>
                <a:cs typeface="Arial"/>
              </a:defRPr>
            </a:lvl5pPr>
            <a:lvl6pPr algn="ctr">
              <a:defRPr sz="2175" b="1">
                <a:solidFill>
                  <a:srgbClr val="20262C"/>
                </a:solidFill>
                <a:latin typeface="Arial"/>
                <a:ea typeface="Arial"/>
                <a:cs typeface="Arial"/>
              </a:defRPr>
            </a:lvl6pPr>
            <a:lvl7pPr algn="ctr">
              <a:defRPr sz="2175" b="1">
                <a:solidFill>
                  <a:srgbClr val="20262C"/>
                </a:solidFill>
                <a:latin typeface="Arial"/>
                <a:ea typeface="Arial"/>
                <a:cs typeface="Arial"/>
              </a:defRPr>
            </a:lvl7pPr>
            <a:lvl8pPr algn="ctr">
              <a:defRPr sz="2175" b="1">
                <a:solidFill>
                  <a:srgbClr val="20262C"/>
                </a:solidFill>
                <a:latin typeface="Arial"/>
                <a:ea typeface="Arial"/>
                <a:cs typeface="Arial"/>
              </a:defRPr>
            </a:lvl8pPr>
            <a:lvl9pPr algn="ctr">
              <a:defRPr sz="2175" b="1">
                <a:solidFill>
                  <a:srgbClr val="20262C"/>
                </a:solidFill>
                <a:latin typeface="Arial"/>
                <a:ea typeface="Arial"/>
                <a:cs typeface="Arial"/>
              </a:defRPr>
            </a:lvl9pPr>
          </a:lstStyle>
          <a:p xmlns:a="http://schemas.openxmlformats.org/drawingml/2006/main">
            <a:pPr algn="ctr">
              <a:defRPr sz="2175" b="1">
                <a:solidFill>
                  <a:srgbClr val="20262C"/>
                </a:solidFill>
                <a:latin typeface="Arial"/>
                <a:ea typeface="Arial"/>
                <a:cs typeface="Arial"/>
              </a:defRPr>
            </a:pPr>
            <a:r>
              <a:rPr sz="2175" b="1">
                <a:solidFill>
                  <a:srgbClr val="20262C"/>
                </a:solidFill>
                <a:latin typeface="Arial"/>
                <a:ea typeface="Arial"/>
                <a:cs typeface="Arial"/>
              </a:rPr>
              <a:t>Requirement: compare two reports, ignore repeated headers and flag changes to the body text</a:t>
            </a:r>
          </a:p>
        </p:txBody>
      </p:sp>
      <p:sp>
        <p:nvSpPr>
          <p:cNvPr id="26" name="!!dev.samples">
            <a:extLst xmlns:a="http://schemas.openxmlformats.org/drawingml/2006/main">
              <a:ext uri="{FF2B5EF4-FFF2-40B4-BE49-F238E27FC236}">
                <a16:creationId xmlns:a16="http://schemas.microsoft.com/office/drawing/2014/main" id="{840FF193-FB0E-491C-9A9E-C02871436781}"/>
              </a:ext>
            </a:extLst>
          </p:cNvPr>
          <p:cNvSpPr>
            <a:spLocks xmlns:a="http://schemas.openxmlformats.org/drawingml/2006/main" noGrp="1"/>
          </p:cNvSpPr>
          <p:nvPr/>
        </p:nvSpPr>
        <p:spPr>
          <a:xfrm xmlns:a="http://schemas.openxmlformats.org/drawingml/2006/main">
            <a:off x="4057650" y="2952750"/>
            <a:ext cx="3219450" cy="1905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27" name="!!dev.samples.role">
            <a:extLst xmlns:a="http://schemas.openxmlformats.org/drawingml/2006/main">
              <a:ext uri="{FF2B5EF4-FFF2-40B4-BE49-F238E27FC236}">
                <a16:creationId xmlns:a16="http://schemas.microsoft.com/office/drawing/2014/main" id="{9AD57B1B-BA05-49FB-ADA4-93BCACA5DF15}"/>
              </a:ext>
            </a:extLst>
          </p:cNvPr>
          <p:cNvSpPr>
            <a:spLocks xmlns:a="http://schemas.openxmlformats.org/drawingml/2006/main" noGrp="1"/>
          </p:cNvSpPr>
          <p:nvPr/>
        </p:nvSpPr>
        <p:spPr>
          <a:xfrm xmlns:a="http://schemas.openxmlformats.org/drawingml/2006/main">
            <a:off x="4248150" y="3076575"/>
            <a:ext cx="2838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1  Developer defines</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examples</a:t>
            </a:r>
          </a:p>
        </p:txBody>
      </p:sp>
      <p:sp>
        <p:nvSpPr>
          <p:cNvPr id="28" name="!!dev.samples.body">
            <a:extLst xmlns:a="http://schemas.openxmlformats.org/drawingml/2006/main">
              <a:ext uri="{FF2B5EF4-FFF2-40B4-BE49-F238E27FC236}">
                <a16:creationId xmlns:a16="http://schemas.microsoft.com/office/drawing/2014/main" id="{331A9C4B-9BB1-4754-96E2-47BFFD58EA92}"/>
              </a:ext>
            </a:extLst>
          </p:cNvPr>
          <p:cNvSpPr>
            <a:spLocks xmlns:a="http://schemas.openxmlformats.org/drawingml/2006/main" noGrp="1"/>
          </p:cNvSpPr>
          <p:nvPr/>
        </p:nvSpPr>
        <p:spPr>
          <a:xfrm xmlns:a="http://schemas.openxmlformats.org/drawingml/2006/main">
            <a:off x="4248150" y="3714750"/>
            <a:ext cx="2838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7363A6"/>
                </a:solidFill>
                <a:latin typeface="Arial"/>
                <a:ea typeface="Arial"/>
                <a:cs typeface="Arial"/>
              </a:defRPr>
            </a:pPr>
            <a:r>
              <a:rPr sz="1762" b="0">
                <a:solidFill>
                  <a:srgbClr val="7363A6"/>
                </a:solidFill>
                <a:latin typeface="Arial"/>
                <a:ea typeface="Arial"/>
                <a:cs typeface="Arial"/>
              </a:rPr>
              <a:t>Client update V1 and V2</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Expected differences marked</a:t>
            </a:r>
          </a:p>
        </p:txBody>
      </p:sp>
      <p:sp>
        <p:nvSpPr>
          <p:cNvPr id="29" name="!!dev.generate">
            <a:extLst xmlns:a="http://schemas.openxmlformats.org/drawingml/2006/main">
              <a:ext uri="{FF2B5EF4-FFF2-40B4-BE49-F238E27FC236}">
                <a16:creationId xmlns:a16="http://schemas.microsoft.com/office/drawing/2014/main" id="{5098BAA5-128C-46AA-A2A7-9D503C529DE2}"/>
              </a:ext>
            </a:extLst>
          </p:cNvPr>
          <p:cNvSpPr>
            <a:spLocks xmlns:a="http://schemas.openxmlformats.org/drawingml/2006/main" noGrp="1"/>
          </p:cNvSpPr>
          <p:nvPr/>
        </p:nvSpPr>
        <p:spPr>
          <a:xfrm xmlns:a="http://schemas.openxmlformats.org/drawingml/2006/main">
            <a:off x="7715250" y="2952750"/>
            <a:ext cx="3219450" cy="1905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0" name="!!dev.generate.role">
            <a:extLst xmlns:a="http://schemas.openxmlformats.org/drawingml/2006/main">
              <a:ext uri="{FF2B5EF4-FFF2-40B4-BE49-F238E27FC236}">
                <a16:creationId xmlns:a16="http://schemas.microsoft.com/office/drawing/2014/main" id="{5EBFA75A-F2BC-4043-BC28-9192FDCB90DC}"/>
              </a:ext>
            </a:extLst>
          </p:cNvPr>
          <p:cNvSpPr>
            <a:spLocks xmlns:a="http://schemas.openxmlformats.org/drawingml/2006/main" noGrp="1"/>
          </p:cNvSpPr>
          <p:nvPr/>
        </p:nvSpPr>
        <p:spPr>
          <a:xfrm xmlns:a="http://schemas.openxmlformats.org/drawingml/2006/main">
            <a:off x="7905750" y="3076575"/>
            <a:ext cx="2838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2  LLM drafts code</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and tests</a:t>
            </a:r>
          </a:p>
        </p:txBody>
      </p:sp>
      <p:sp>
        <p:nvSpPr>
          <p:cNvPr id="31" name="!!dev.generate.body">
            <a:extLst xmlns:a="http://schemas.openxmlformats.org/drawingml/2006/main">
              <a:ext uri="{FF2B5EF4-FFF2-40B4-BE49-F238E27FC236}">
                <a16:creationId xmlns:a16="http://schemas.microsoft.com/office/drawing/2014/main" id="{88C5BACE-BA08-4E5D-82A8-9B41DF27BC41}"/>
              </a:ext>
            </a:extLst>
          </p:cNvPr>
          <p:cNvSpPr>
            <a:spLocks xmlns:a="http://schemas.openxmlformats.org/drawingml/2006/main" noGrp="1"/>
          </p:cNvSpPr>
          <p:nvPr/>
        </p:nvSpPr>
        <p:spPr>
          <a:xfrm xmlns:a="http://schemas.openxmlformats.org/drawingml/2006/main">
            <a:off x="7905750" y="3714750"/>
            <a:ext cx="2838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20262C"/>
                </a:solidFill>
                <a:latin typeface="Arial"/>
                <a:ea typeface="Arial"/>
                <a:cs typeface="Arial"/>
              </a:defRPr>
            </a:defPPr>
            <a:lvl1pPr algn="l">
              <a:defRPr sz="1838" b="0">
                <a:solidFill>
                  <a:srgbClr val="20262C"/>
                </a:solidFill>
                <a:latin typeface="Arial"/>
                <a:ea typeface="Arial"/>
                <a:cs typeface="Arial"/>
              </a:defRPr>
            </a:lvl1pPr>
            <a:lvl2pPr algn="l">
              <a:defRPr sz="1838" b="0">
                <a:solidFill>
                  <a:srgbClr val="20262C"/>
                </a:solidFill>
                <a:latin typeface="Arial"/>
                <a:ea typeface="Arial"/>
                <a:cs typeface="Arial"/>
              </a:defRPr>
            </a:lvl2pPr>
            <a:lvl3pPr algn="l">
              <a:defRPr sz="1838" b="0">
                <a:solidFill>
                  <a:srgbClr val="20262C"/>
                </a:solidFill>
                <a:latin typeface="Arial"/>
                <a:ea typeface="Arial"/>
                <a:cs typeface="Arial"/>
              </a:defRPr>
            </a:lvl3pPr>
            <a:lvl4pPr algn="l">
              <a:defRPr sz="1838" b="0">
                <a:solidFill>
                  <a:srgbClr val="20262C"/>
                </a:solidFill>
                <a:latin typeface="Arial"/>
                <a:ea typeface="Arial"/>
                <a:cs typeface="Arial"/>
              </a:defRPr>
            </a:lvl4pPr>
            <a:lvl5pPr algn="l">
              <a:defRPr sz="1838" b="0">
                <a:solidFill>
                  <a:srgbClr val="20262C"/>
                </a:solidFill>
                <a:latin typeface="Arial"/>
                <a:ea typeface="Arial"/>
                <a:cs typeface="Arial"/>
              </a:defRPr>
            </a:lvl5pPr>
            <a:lvl6pPr algn="l">
              <a:defRPr sz="1838" b="0">
                <a:solidFill>
                  <a:srgbClr val="20262C"/>
                </a:solidFill>
                <a:latin typeface="Arial"/>
                <a:ea typeface="Arial"/>
                <a:cs typeface="Arial"/>
              </a:defRPr>
            </a:lvl6pPr>
            <a:lvl7pPr algn="l">
              <a:defRPr sz="1838" b="0">
                <a:solidFill>
                  <a:srgbClr val="20262C"/>
                </a:solidFill>
                <a:latin typeface="Arial"/>
                <a:ea typeface="Arial"/>
                <a:cs typeface="Arial"/>
              </a:defRPr>
            </a:lvl7pPr>
            <a:lvl8pPr algn="l">
              <a:defRPr sz="1838" b="0">
                <a:solidFill>
                  <a:srgbClr val="20262C"/>
                </a:solidFill>
                <a:latin typeface="Arial"/>
                <a:ea typeface="Arial"/>
                <a:cs typeface="Arial"/>
              </a:defRPr>
            </a:lvl8pPr>
            <a:lvl9pPr algn="l">
              <a:defRPr sz="1838" b="0">
                <a:solidFill>
                  <a:srgbClr val="20262C"/>
                </a:solidFill>
                <a:latin typeface="Arial"/>
                <a:ea typeface="Arial"/>
                <a:cs typeface="Arial"/>
              </a:defRPr>
            </a:lvl9pPr>
          </a:lstStyle>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Match body-text paragraphs</a:t>
            </a:r>
          </a:p>
          <a:p xmlns:a="http://schemas.openxmlformats.org/drawingml/2006/main">
            <a:pPr algn="l">
              <a:defRPr sz="1838" b="0">
                <a:solidFill>
                  <a:srgbClr val="20262C"/>
                </a:solidFill>
                <a:latin typeface="Arial"/>
                <a:ea typeface="Arial"/>
                <a:cs typeface="Arial"/>
              </a:defRPr>
            </a:pPr>
            <a:r>
              <a:rPr sz="1838" b="0">
                <a:solidFill>
                  <a:srgbClr val="20262C"/>
                </a:solidFill>
                <a:latin typeface="Arial"/>
                <a:ea typeface="Arial"/>
                <a:cs typeface="Arial"/>
              </a:rPr>
              <a:t>Generate code and tests</a:t>
            </a:r>
          </a:p>
        </p:txBody>
      </p:sp>
      <p:sp>
        <p:nvSpPr>
          <p:cNvPr id="32" name="!!dev.test">
            <a:extLst xmlns:a="http://schemas.openxmlformats.org/drawingml/2006/main">
              <a:ext uri="{FF2B5EF4-FFF2-40B4-BE49-F238E27FC236}">
                <a16:creationId xmlns:a16="http://schemas.microsoft.com/office/drawing/2014/main" id="{B3BBC546-2504-4AC9-AB9D-A91FCEF6E90B}"/>
              </a:ext>
            </a:extLst>
          </p:cNvPr>
          <p:cNvSpPr>
            <a:spLocks xmlns:a="http://schemas.openxmlformats.org/drawingml/2006/main" noGrp="1"/>
          </p:cNvSpPr>
          <p:nvPr/>
        </p:nvSpPr>
        <p:spPr>
          <a:xfrm xmlns:a="http://schemas.openxmlformats.org/drawingml/2006/main">
            <a:off x="11372850" y="2952750"/>
            <a:ext cx="3219450" cy="19050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3" name="!!dev.test.role">
            <a:extLst xmlns:a="http://schemas.openxmlformats.org/drawingml/2006/main">
              <a:ext uri="{FF2B5EF4-FFF2-40B4-BE49-F238E27FC236}">
                <a16:creationId xmlns:a16="http://schemas.microsoft.com/office/drawing/2014/main" id="{16A02989-1F36-4614-AA24-6EAA7127769E}"/>
              </a:ext>
            </a:extLst>
          </p:cNvPr>
          <p:cNvSpPr>
            <a:spLocks xmlns:a="http://schemas.openxmlformats.org/drawingml/2006/main" noGrp="1"/>
          </p:cNvSpPr>
          <p:nvPr/>
        </p:nvSpPr>
        <p:spPr>
          <a:xfrm xmlns:a="http://schemas.openxmlformats.org/drawingml/2006/main">
            <a:off x="11563350" y="3076575"/>
            <a:ext cx="2838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3  Test runner</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runs tests</a:t>
            </a:r>
          </a:p>
        </p:txBody>
      </p:sp>
      <p:sp>
        <p:nvSpPr>
          <p:cNvPr id="34" name="!!dev.test.body">
            <a:extLst xmlns:a="http://schemas.openxmlformats.org/drawingml/2006/main">
              <a:ext uri="{FF2B5EF4-FFF2-40B4-BE49-F238E27FC236}">
                <a16:creationId xmlns:a16="http://schemas.microsoft.com/office/drawing/2014/main" id="{D5C30CDF-D292-4BE8-9F9D-5652375854DE}"/>
              </a:ext>
            </a:extLst>
          </p:cNvPr>
          <p:cNvSpPr>
            <a:spLocks xmlns:a="http://schemas.openxmlformats.org/drawingml/2006/main" noGrp="1"/>
          </p:cNvSpPr>
          <p:nvPr/>
        </p:nvSpPr>
        <p:spPr>
          <a:xfrm xmlns:a="http://schemas.openxmlformats.org/drawingml/2006/main">
            <a:off x="11563350" y="3714750"/>
            <a:ext cx="2838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Body-text changes detected</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Header changes incorrectly flagged</a:t>
            </a:r>
          </a:p>
        </p:txBody>
      </p:sp>
      <p:sp>
        <p:nvSpPr>
          <p:cNvPr id="35" name="!!dev.deliver">
            <a:extLst xmlns:a="http://schemas.openxmlformats.org/drawingml/2006/main">
              <a:ext uri="{FF2B5EF4-FFF2-40B4-BE49-F238E27FC236}">
                <a16:creationId xmlns:a16="http://schemas.microsoft.com/office/drawing/2014/main" id="{0DD96B84-586E-43EE-A4D5-50B764B86761}"/>
              </a:ext>
            </a:extLst>
          </p:cNvPr>
          <p:cNvSpPr>
            <a:spLocks xmlns:a="http://schemas.openxmlformats.org/drawingml/2006/main" noGrp="1"/>
          </p:cNvSpPr>
          <p:nvPr/>
        </p:nvSpPr>
        <p:spPr>
          <a:xfrm xmlns:a="http://schemas.openxmlformats.org/drawingml/2006/main">
            <a:off x="4057650" y="5410200"/>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6" name="!!dev.deliver.role">
            <a:extLst xmlns:a="http://schemas.openxmlformats.org/drawingml/2006/main">
              <a:ext uri="{FF2B5EF4-FFF2-40B4-BE49-F238E27FC236}">
                <a16:creationId xmlns:a16="http://schemas.microsoft.com/office/drawing/2014/main" id="{C9E7FCC8-0613-4585-B97A-D0FFCD9ED3B4}"/>
              </a:ext>
            </a:extLst>
          </p:cNvPr>
          <p:cNvSpPr>
            <a:spLocks xmlns:a="http://schemas.openxmlformats.org/drawingml/2006/main" noGrp="1"/>
          </p:cNvSpPr>
          <p:nvPr/>
        </p:nvSpPr>
        <p:spPr>
          <a:xfrm xmlns:a="http://schemas.openxmlformats.org/drawingml/2006/main">
            <a:off x="4248150" y="5534025"/>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6  Developer retests</a:t>
            </a:r>
          </a:p>
        </p:txBody>
      </p:sp>
      <p:sp>
        <p:nvSpPr>
          <p:cNvPr id="37" name="!!dev.deliver.body">
            <a:extLst xmlns:a="http://schemas.openxmlformats.org/drawingml/2006/main">
              <a:ext uri="{FF2B5EF4-FFF2-40B4-BE49-F238E27FC236}">
                <a16:creationId xmlns:a16="http://schemas.microsoft.com/office/drawing/2014/main" id="{39943157-ABCE-4212-A135-BF8042F56444}"/>
              </a:ext>
            </a:extLst>
          </p:cNvPr>
          <p:cNvSpPr>
            <a:spLocks xmlns:a="http://schemas.openxmlformats.org/drawingml/2006/main" noGrp="1"/>
          </p:cNvSpPr>
          <p:nvPr/>
        </p:nvSpPr>
        <p:spPr>
          <a:xfrm xmlns:a="http://schemas.openxmlformats.org/drawingml/2006/main">
            <a:off x="4248150" y="6143625"/>
            <a:ext cx="2838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Review code and rerun tests</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Deliver the tool and user guide</a:t>
            </a:r>
          </a:p>
        </p:txBody>
      </p:sp>
      <p:sp>
        <p:nvSpPr>
          <p:cNvPr id="38" name="!!dev.revise">
            <a:extLst xmlns:a="http://schemas.openxmlformats.org/drawingml/2006/main">
              <a:ext uri="{FF2B5EF4-FFF2-40B4-BE49-F238E27FC236}">
                <a16:creationId xmlns:a16="http://schemas.microsoft.com/office/drawing/2014/main" id="{8E3EB41B-C440-4249-9EF1-1C70A953BCAE}"/>
              </a:ext>
            </a:extLst>
          </p:cNvPr>
          <p:cNvSpPr>
            <a:spLocks xmlns:a="http://schemas.openxmlformats.org/drawingml/2006/main" noGrp="1"/>
          </p:cNvSpPr>
          <p:nvPr/>
        </p:nvSpPr>
        <p:spPr>
          <a:xfrm xmlns:a="http://schemas.openxmlformats.org/drawingml/2006/main">
            <a:off x="7715250" y="5410200"/>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9" name="!!dev.revise.role">
            <a:extLst xmlns:a="http://schemas.openxmlformats.org/drawingml/2006/main">
              <a:ext uri="{FF2B5EF4-FFF2-40B4-BE49-F238E27FC236}">
                <a16:creationId xmlns:a16="http://schemas.microsoft.com/office/drawing/2014/main" id="{69D5CD80-95E6-4CB9-B8FF-A65A6FD26E0D}"/>
              </a:ext>
            </a:extLst>
          </p:cNvPr>
          <p:cNvSpPr>
            <a:spLocks xmlns:a="http://schemas.openxmlformats.org/drawingml/2006/main" noGrp="1"/>
          </p:cNvSpPr>
          <p:nvPr/>
        </p:nvSpPr>
        <p:spPr>
          <a:xfrm xmlns:a="http://schemas.openxmlformats.org/drawingml/2006/main">
            <a:off x="7905750" y="5534025"/>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5  LLM revises code</a:t>
            </a:r>
          </a:p>
        </p:txBody>
      </p:sp>
      <p:sp>
        <p:nvSpPr>
          <p:cNvPr id="40" name="!!dev.revise.body">
            <a:extLst xmlns:a="http://schemas.openxmlformats.org/drawingml/2006/main">
              <a:ext uri="{FF2B5EF4-FFF2-40B4-BE49-F238E27FC236}">
                <a16:creationId xmlns:a16="http://schemas.microsoft.com/office/drawing/2014/main" id="{EB63020B-87A4-47F5-872C-26E80531677B}"/>
              </a:ext>
            </a:extLst>
          </p:cNvPr>
          <p:cNvSpPr>
            <a:spLocks xmlns:a="http://schemas.openxmlformats.org/drawingml/2006/main" noGrp="1"/>
          </p:cNvSpPr>
          <p:nvPr/>
        </p:nvSpPr>
        <p:spPr>
          <a:xfrm xmlns:a="http://schemas.openxmlformats.org/drawingml/2006/main">
            <a:off x="7905750" y="6143625"/>
            <a:ext cx="2838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2" b="0">
                <a:solidFill>
                  <a:srgbClr val="20262C"/>
                </a:solidFill>
                <a:latin typeface="Arial"/>
                <a:ea typeface="Arial"/>
                <a:cs typeface="Arial"/>
              </a:defRPr>
            </a:defPPr>
            <a:lvl1pPr algn="l">
              <a:defRPr sz="1762" b="0">
                <a:solidFill>
                  <a:srgbClr val="20262C"/>
                </a:solidFill>
                <a:latin typeface="Arial"/>
                <a:ea typeface="Arial"/>
                <a:cs typeface="Arial"/>
              </a:defRPr>
            </a:lvl1pPr>
            <a:lvl2pPr algn="l">
              <a:defRPr sz="1762" b="0">
                <a:solidFill>
                  <a:srgbClr val="20262C"/>
                </a:solidFill>
                <a:latin typeface="Arial"/>
                <a:ea typeface="Arial"/>
                <a:cs typeface="Arial"/>
              </a:defRPr>
            </a:lvl2pPr>
            <a:lvl3pPr algn="l">
              <a:defRPr sz="1762" b="0">
                <a:solidFill>
                  <a:srgbClr val="20262C"/>
                </a:solidFill>
                <a:latin typeface="Arial"/>
                <a:ea typeface="Arial"/>
                <a:cs typeface="Arial"/>
              </a:defRPr>
            </a:lvl3pPr>
            <a:lvl4pPr algn="l">
              <a:defRPr sz="1762" b="0">
                <a:solidFill>
                  <a:srgbClr val="20262C"/>
                </a:solidFill>
                <a:latin typeface="Arial"/>
                <a:ea typeface="Arial"/>
                <a:cs typeface="Arial"/>
              </a:defRPr>
            </a:lvl4pPr>
            <a:lvl5pPr algn="l">
              <a:defRPr sz="1762" b="0">
                <a:solidFill>
                  <a:srgbClr val="20262C"/>
                </a:solidFill>
                <a:latin typeface="Arial"/>
                <a:ea typeface="Arial"/>
                <a:cs typeface="Arial"/>
              </a:defRPr>
            </a:lvl5pPr>
            <a:lvl6pPr algn="l">
              <a:defRPr sz="1762" b="0">
                <a:solidFill>
                  <a:srgbClr val="20262C"/>
                </a:solidFill>
                <a:latin typeface="Arial"/>
                <a:ea typeface="Arial"/>
                <a:cs typeface="Arial"/>
              </a:defRPr>
            </a:lvl6pPr>
            <a:lvl7pPr algn="l">
              <a:defRPr sz="1762" b="0">
                <a:solidFill>
                  <a:srgbClr val="20262C"/>
                </a:solidFill>
                <a:latin typeface="Arial"/>
                <a:ea typeface="Arial"/>
                <a:cs typeface="Arial"/>
              </a:defRPr>
            </a:lvl7pPr>
            <a:lvl8pPr algn="l">
              <a:defRPr sz="1762" b="0">
                <a:solidFill>
                  <a:srgbClr val="20262C"/>
                </a:solidFill>
                <a:latin typeface="Arial"/>
                <a:ea typeface="Arial"/>
                <a:cs typeface="Arial"/>
              </a:defRPr>
            </a:lvl8pPr>
            <a:lvl9pPr algn="l">
              <a:defRPr sz="1762" b="0">
                <a:solidFill>
                  <a:srgbClr val="20262C"/>
                </a:solidFill>
                <a:latin typeface="Arial"/>
                <a:ea typeface="Arial"/>
                <a:cs typeface="Arial"/>
              </a:defRPr>
            </a:lvl9pPr>
          </a:lstStyle>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Fix the repeated-header filter</a:t>
            </a:r>
          </a:p>
          <a:p xmlns:a="http://schemas.openxmlformats.org/drawingml/2006/main">
            <a:pPr algn="l">
              <a:defRPr sz="1762" b="0">
                <a:solidFill>
                  <a:srgbClr val="20262C"/>
                </a:solidFill>
                <a:latin typeface="Arial"/>
                <a:ea typeface="Arial"/>
                <a:cs typeface="Arial"/>
              </a:defRPr>
            </a:pPr>
            <a:r>
              <a:rPr sz="1762" b="0">
                <a:solidFill>
                  <a:srgbClr val="20262C"/>
                </a:solidFill>
                <a:latin typeface="Arial"/>
                <a:ea typeface="Arial"/>
                <a:cs typeface="Arial"/>
              </a:rPr>
              <a:t>Add a regression test for header changes</a:t>
            </a:r>
          </a:p>
        </p:txBody>
      </p:sp>
      <p:sp>
        <p:nvSpPr>
          <p:cNvPr id="41" name="!!dev.feedback">
            <a:extLst xmlns:a="http://schemas.openxmlformats.org/drawingml/2006/main">
              <a:ext uri="{FF2B5EF4-FFF2-40B4-BE49-F238E27FC236}">
                <a16:creationId xmlns:a16="http://schemas.microsoft.com/office/drawing/2014/main" id="{3392EAA0-C912-46DB-A804-0B685E52B22C}"/>
              </a:ext>
            </a:extLst>
          </p:cNvPr>
          <p:cNvSpPr>
            <a:spLocks xmlns:a="http://schemas.openxmlformats.org/drawingml/2006/main" noGrp="1"/>
          </p:cNvSpPr>
          <p:nvPr/>
        </p:nvSpPr>
        <p:spPr>
          <a:xfrm xmlns:a="http://schemas.openxmlformats.org/drawingml/2006/main">
            <a:off x="11372850" y="5410200"/>
            <a:ext cx="3219450" cy="1885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42" name="!!dev.feedback.role">
            <a:extLst xmlns:a="http://schemas.openxmlformats.org/drawingml/2006/main">
              <a:ext uri="{FF2B5EF4-FFF2-40B4-BE49-F238E27FC236}">
                <a16:creationId xmlns:a16="http://schemas.microsoft.com/office/drawing/2014/main" id="{69D2BCE8-B596-4570-9922-B1BF800CCC28}"/>
              </a:ext>
            </a:extLst>
          </p:cNvPr>
          <p:cNvSpPr>
            <a:spLocks xmlns:a="http://schemas.openxmlformats.org/drawingml/2006/main" noGrp="1"/>
          </p:cNvSpPr>
          <p:nvPr/>
        </p:nvSpPr>
        <p:spPr>
          <a:xfrm xmlns:a="http://schemas.openxmlformats.org/drawingml/2006/main">
            <a:off x="11563350" y="5534025"/>
            <a:ext cx="2838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4  Developer</a:t>
            </a:r>
          </a:p>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explains failures</a:t>
            </a:r>
          </a:p>
        </p:txBody>
      </p:sp>
      <p:sp>
        <p:nvSpPr>
          <p:cNvPr id="43" name="!!dev.feedback.body">
            <a:extLst xmlns:a="http://schemas.openxmlformats.org/drawingml/2006/main">
              <a:ext uri="{FF2B5EF4-FFF2-40B4-BE49-F238E27FC236}">
                <a16:creationId xmlns:a16="http://schemas.microsoft.com/office/drawing/2014/main" id="{C96EBED9-0477-4623-9C4D-1E58FAE76981}"/>
              </a:ext>
            </a:extLst>
          </p:cNvPr>
          <p:cNvSpPr>
            <a:spLocks xmlns:a="http://schemas.openxmlformats.org/drawingml/2006/main" noGrp="1"/>
          </p:cNvSpPr>
          <p:nvPr/>
        </p:nvSpPr>
        <p:spPr>
          <a:xfrm xmlns:a="http://schemas.openxmlformats.org/drawingml/2006/main">
            <a:off x="11563350" y="6143625"/>
            <a:ext cx="28384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Exclude repeated page headers</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Retain genuine body-text changes</a:t>
            </a:r>
          </a:p>
        </p:txBody>
      </p:sp>
      <p:sp>
        <p:nvSpPr>
          <p:cNvPr id="44" name="!!dev.toLLM.line">
            <a:extLst xmlns:a="http://schemas.openxmlformats.org/drawingml/2006/main">
              <a:ext uri="{FF2B5EF4-FFF2-40B4-BE49-F238E27FC236}">
                <a16:creationId xmlns:a16="http://schemas.microsoft.com/office/drawing/2014/main" id="{3034DBE5-F88A-4E41-A648-B5AF9EA9C727}"/>
              </a:ext>
            </a:extLst>
          </p:cNvPr>
          <p:cNvSpPr>
            <a:spLocks xmlns:a="http://schemas.openxmlformats.org/drawingml/2006/main" noGrp="1"/>
          </p:cNvSpPr>
          <p:nvPr/>
        </p:nvSpPr>
        <p:spPr>
          <a:xfrm xmlns:a="http://schemas.openxmlformats.org/drawingml/2006/main" flipH="0" flipV="0">
            <a:off x="7372350" y="389572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5" name="!!dev.toLLM.tip">
            <a:extLst xmlns:a="http://schemas.openxmlformats.org/drawingml/2006/main">
              <a:ext uri="{FF2B5EF4-FFF2-40B4-BE49-F238E27FC236}">
                <a16:creationId xmlns:a16="http://schemas.microsoft.com/office/drawing/2014/main" id="{C2851DC9-FBCF-440B-92F5-6B8C6155D903}"/>
              </a:ext>
            </a:extLst>
          </p:cNvPr>
          <p:cNvSpPr>
            <a:spLocks xmlns:a="http://schemas.openxmlformats.org/drawingml/2006/main" noGrp="1"/>
          </p:cNvSpPr>
          <p:nvPr/>
        </p:nvSpPr>
        <p:spPr>
          <a:xfrm xmlns:a="http://schemas.openxmlformats.org/drawingml/2006/main" rot="5400000">
            <a:off x="7562850" y="3838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6" name="!!dev.toTest.line">
            <a:extLst xmlns:a="http://schemas.openxmlformats.org/drawingml/2006/main">
              <a:ext uri="{FF2B5EF4-FFF2-40B4-BE49-F238E27FC236}">
                <a16:creationId xmlns:a16="http://schemas.microsoft.com/office/drawing/2014/main" id="{7EF1C08C-9E45-44EF-A9F9-D9AF9295A86C}"/>
              </a:ext>
            </a:extLst>
          </p:cNvPr>
          <p:cNvSpPr>
            <a:spLocks xmlns:a="http://schemas.openxmlformats.org/drawingml/2006/main" noGrp="1"/>
          </p:cNvSpPr>
          <p:nvPr/>
        </p:nvSpPr>
        <p:spPr>
          <a:xfrm xmlns:a="http://schemas.openxmlformats.org/drawingml/2006/main" flipH="0" flipV="0">
            <a:off x="11029950" y="3895725"/>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7" name="!!dev.toTest.tip">
            <a:extLst xmlns:a="http://schemas.openxmlformats.org/drawingml/2006/main">
              <a:ext uri="{FF2B5EF4-FFF2-40B4-BE49-F238E27FC236}">
                <a16:creationId xmlns:a16="http://schemas.microsoft.com/office/drawing/2014/main" id="{468AB41A-3296-4847-A5F8-B1901C77BD8F}"/>
              </a:ext>
            </a:extLst>
          </p:cNvPr>
          <p:cNvSpPr>
            <a:spLocks xmlns:a="http://schemas.openxmlformats.org/drawingml/2006/main" noGrp="1"/>
          </p:cNvSpPr>
          <p:nvPr/>
        </p:nvSpPr>
        <p:spPr>
          <a:xfrm xmlns:a="http://schemas.openxmlformats.org/drawingml/2006/main" rot="5400000">
            <a:off x="11220450" y="3838575"/>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8" name="!!dev.testFeedback.line">
            <a:extLst xmlns:a="http://schemas.openxmlformats.org/drawingml/2006/main">
              <a:ext uri="{FF2B5EF4-FFF2-40B4-BE49-F238E27FC236}">
                <a16:creationId xmlns:a16="http://schemas.microsoft.com/office/drawing/2014/main" id="{C7B0FD2F-8BD0-4FA8-B048-F6088363E2A3}"/>
              </a:ext>
            </a:extLst>
          </p:cNvPr>
          <p:cNvSpPr>
            <a:spLocks xmlns:a="http://schemas.openxmlformats.org/drawingml/2006/main" noGrp="1"/>
          </p:cNvSpPr>
          <p:nvPr/>
        </p:nvSpPr>
        <p:spPr>
          <a:xfrm xmlns:a="http://schemas.openxmlformats.org/drawingml/2006/main" flipH="0" flipV="0">
            <a:off x="12982575" y="4933950"/>
            <a:ext cx="953" cy="3810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dev.testFeedback.tip">
            <a:extLst xmlns:a="http://schemas.openxmlformats.org/drawingml/2006/main">
              <a:ext uri="{FF2B5EF4-FFF2-40B4-BE49-F238E27FC236}">
                <a16:creationId xmlns:a16="http://schemas.microsoft.com/office/drawing/2014/main" id="{24D3D04A-73EE-422B-9FF2-7CFE822AB222}"/>
              </a:ext>
            </a:extLst>
          </p:cNvPr>
          <p:cNvSpPr>
            <a:spLocks xmlns:a="http://schemas.openxmlformats.org/drawingml/2006/main" noGrp="1"/>
          </p:cNvSpPr>
          <p:nvPr/>
        </p:nvSpPr>
        <p:spPr>
          <a:xfrm xmlns:a="http://schemas.openxmlformats.org/drawingml/2006/main" rot="10800000">
            <a:off x="12925425" y="52578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dev.testFeedback.label">
            <a:extLst xmlns:a="http://schemas.openxmlformats.org/drawingml/2006/main">
              <a:ext uri="{FF2B5EF4-FFF2-40B4-BE49-F238E27FC236}">
                <a16:creationId xmlns:a16="http://schemas.microsoft.com/office/drawing/2014/main" id="{FE42F45E-DB20-4844-A698-D4B16C2F1A01}"/>
              </a:ext>
            </a:extLst>
          </p:cNvPr>
          <p:cNvSpPr>
            <a:spLocks xmlns:a="http://schemas.openxmlformats.org/drawingml/2006/main" noGrp="1"/>
          </p:cNvSpPr>
          <p:nvPr/>
        </p:nvSpPr>
        <p:spPr>
          <a:xfrm xmlns:a="http://schemas.openxmlformats.org/drawingml/2006/main">
            <a:off x="13144500" y="4933950"/>
            <a:ext cx="144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0262C"/>
                </a:solidFill>
                <a:latin typeface="Arial"/>
                <a:ea typeface="Arial"/>
                <a:cs typeface="Arial"/>
              </a:defRPr>
            </a:defPPr>
            <a:lvl1pPr algn="l">
              <a:defRPr sz="1650" b="0">
                <a:solidFill>
                  <a:srgbClr val="20262C"/>
                </a:solidFill>
                <a:latin typeface="Arial"/>
                <a:ea typeface="Arial"/>
                <a:cs typeface="Arial"/>
              </a:defRPr>
            </a:lvl1pPr>
            <a:lvl2pPr algn="l">
              <a:defRPr sz="1650" b="0">
                <a:solidFill>
                  <a:srgbClr val="20262C"/>
                </a:solidFill>
                <a:latin typeface="Arial"/>
                <a:ea typeface="Arial"/>
                <a:cs typeface="Arial"/>
              </a:defRPr>
            </a:lvl2pPr>
            <a:lvl3pPr algn="l">
              <a:defRPr sz="1650" b="0">
                <a:solidFill>
                  <a:srgbClr val="20262C"/>
                </a:solidFill>
                <a:latin typeface="Arial"/>
                <a:ea typeface="Arial"/>
                <a:cs typeface="Arial"/>
              </a:defRPr>
            </a:lvl3pPr>
            <a:lvl4pPr algn="l">
              <a:defRPr sz="1650" b="0">
                <a:solidFill>
                  <a:srgbClr val="20262C"/>
                </a:solidFill>
                <a:latin typeface="Arial"/>
                <a:ea typeface="Arial"/>
                <a:cs typeface="Arial"/>
              </a:defRPr>
            </a:lvl4pPr>
            <a:lvl5pPr algn="l">
              <a:defRPr sz="1650" b="0">
                <a:solidFill>
                  <a:srgbClr val="20262C"/>
                </a:solidFill>
                <a:latin typeface="Arial"/>
                <a:ea typeface="Arial"/>
                <a:cs typeface="Arial"/>
              </a:defRPr>
            </a:lvl5pPr>
            <a:lvl6pPr algn="l">
              <a:defRPr sz="1650" b="0">
                <a:solidFill>
                  <a:srgbClr val="20262C"/>
                </a:solidFill>
                <a:latin typeface="Arial"/>
                <a:ea typeface="Arial"/>
                <a:cs typeface="Arial"/>
              </a:defRPr>
            </a:lvl6pPr>
            <a:lvl7pPr algn="l">
              <a:defRPr sz="1650" b="0">
                <a:solidFill>
                  <a:srgbClr val="20262C"/>
                </a:solidFill>
                <a:latin typeface="Arial"/>
                <a:ea typeface="Arial"/>
                <a:cs typeface="Arial"/>
              </a:defRPr>
            </a:lvl7pPr>
            <a:lvl8pPr algn="l">
              <a:defRPr sz="1650" b="0">
                <a:solidFill>
                  <a:srgbClr val="20262C"/>
                </a:solidFill>
                <a:latin typeface="Arial"/>
                <a:ea typeface="Arial"/>
                <a:cs typeface="Arial"/>
              </a:defRPr>
            </a:lvl8pPr>
            <a:lvl9pPr algn="l">
              <a:defRPr sz="1650" b="0">
                <a:solidFill>
                  <a:srgbClr val="20262C"/>
                </a:solidFill>
                <a:latin typeface="Arial"/>
                <a:ea typeface="Arial"/>
                <a:cs typeface="Arial"/>
              </a:defRPr>
            </a:lvl9pPr>
          </a:lstStyle>
          <a:p xmlns:a="http://schemas.openxmlformats.org/drawingml/2006/main">
            <a:pPr algn="l">
              <a:defRPr sz="1650" b="0">
                <a:solidFill>
                  <a:srgbClr val="20262C"/>
                </a:solidFill>
                <a:latin typeface="Arial"/>
                <a:ea typeface="Arial"/>
                <a:cs typeface="Arial"/>
              </a:defRPr>
            </a:pPr>
            <a:r>
              <a:rPr sz="1650" b="0">
                <a:solidFill>
                  <a:srgbClr val="20262C"/>
                </a:solidFill>
                <a:latin typeface="Arial"/>
                <a:ea typeface="Arial"/>
                <a:cs typeface="Arial"/>
              </a:rPr>
              <a:t>Test results</a:t>
            </a:r>
          </a:p>
        </p:txBody>
      </p:sp>
      <p:sp>
        <p:nvSpPr>
          <p:cNvPr id="51" name="!!dev.toRevise.line">
            <a:extLst xmlns:a="http://schemas.openxmlformats.org/drawingml/2006/main">
              <a:ext uri="{FF2B5EF4-FFF2-40B4-BE49-F238E27FC236}">
                <a16:creationId xmlns:a16="http://schemas.microsoft.com/office/drawing/2014/main" id="{08E267BD-C022-4778-891C-2BB842EAA426}"/>
              </a:ext>
            </a:extLst>
          </p:cNvPr>
          <p:cNvSpPr>
            <a:spLocks xmlns:a="http://schemas.openxmlformats.org/drawingml/2006/main" noGrp="1"/>
          </p:cNvSpPr>
          <p:nvPr/>
        </p:nvSpPr>
        <p:spPr>
          <a:xfrm xmlns:a="http://schemas.openxmlformats.org/drawingml/2006/main" flipH="1" flipV="0">
            <a:off x="11029950" y="62293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2" name="!!dev.toRevise.tip">
            <a:extLst xmlns:a="http://schemas.openxmlformats.org/drawingml/2006/main">
              <a:ext uri="{FF2B5EF4-FFF2-40B4-BE49-F238E27FC236}">
                <a16:creationId xmlns:a16="http://schemas.microsoft.com/office/drawing/2014/main" id="{F16305E5-4B8A-4A5E-83FE-48217888E55B}"/>
              </a:ext>
            </a:extLst>
          </p:cNvPr>
          <p:cNvSpPr>
            <a:spLocks xmlns:a="http://schemas.openxmlformats.org/drawingml/2006/main" noGrp="1"/>
          </p:cNvSpPr>
          <p:nvPr/>
        </p:nvSpPr>
        <p:spPr>
          <a:xfrm xmlns:a="http://schemas.openxmlformats.org/drawingml/2006/main" rot="16200000">
            <a:off x="10972800" y="6172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3" name="!!dev.toDelivery.line">
            <a:extLst xmlns:a="http://schemas.openxmlformats.org/drawingml/2006/main">
              <a:ext uri="{FF2B5EF4-FFF2-40B4-BE49-F238E27FC236}">
                <a16:creationId xmlns:a16="http://schemas.microsoft.com/office/drawing/2014/main" id="{F80C14D3-766A-4B25-864E-BCAFE0B86493}"/>
              </a:ext>
            </a:extLst>
          </p:cNvPr>
          <p:cNvSpPr>
            <a:spLocks xmlns:a="http://schemas.openxmlformats.org/drawingml/2006/main" noGrp="1"/>
          </p:cNvSpPr>
          <p:nvPr/>
        </p:nvSpPr>
        <p:spPr>
          <a:xfrm xmlns:a="http://schemas.openxmlformats.org/drawingml/2006/main" flipH="1" flipV="0">
            <a:off x="7372350" y="6229350"/>
            <a:ext cx="2476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54" name="!!dev.toDelivery.tip">
            <a:extLst xmlns:a="http://schemas.openxmlformats.org/drawingml/2006/main">
              <a:ext uri="{FF2B5EF4-FFF2-40B4-BE49-F238E27FC236}">
                <a16:creationId xmlns:a16="http://schemas.microsoft.com/office/drawing/2014/main" id="{0D4F4966-FBA1-4CE5-BF39-43EB18978BCC}"/>
              </a:ext>
            </a:extLst>
          </p:cNvPr>
          <p:cNvSpPr>
            <a:spLocks xmlns:a="http://schemas.openxmlformats.org/drawingml/2006/main" noGrp="1"/>
          </p:cNvSpPr>
          <p:nvPr/>
        </p:nvSpPr>
        <p:spPr>
          <a:xfrm xmlns:a="http://schemas.openxmlformats.org/drawingml/2006/main" rot="16200000">
            <a:off x="7315200" y="61722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6" name="!!story.header.client.bar">
            <a:extLst xmlns:a="http://schemas.openxmlformats.org/drawingml/2006/main">
              <a:ext uri="{FF2B5EF4-FFF2-40B4-BE49-F238E27FC236}">
                <a16:creationId xmlns:a16="http://schemas.microsoft.com/office/drawing/2014/main" id="{58B28CF6-8EC1-48E0-A018-C427F9849CEB}"/>
              </a:ext>
            </a:extLst>
          </p:cNvPr>
          <p:cNvSpPr>
            <a:spLocks xmlns:a="http://schemas.openxmlformats.org/drawingml/2006/main" noGrp="1"/>
          </p:cNvSpPr>
          <p:nvPr/>
        </p:nvSpPr>
        <p:spPr>
          <a:xfrm xmlns:a="http://schemas.openxmlformats.org/drawingml/2006/main">
            <a:off x="10668000" y="1257300"/>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57" name="!!story.header.client.name">
            <a:extLst xmlns:a="http://schemas.openxmlformats.org/drawingml/2006/main">
              <a:ext uri="{FF2B5EF4-FFF2-40B4-BE49-F238E27FC236}">
                <a16:creationId xmlns:a16="http://schemas.microsoft.com/office/drawing/2014/main" id="{03F2AD37-C9D4-4A49-9701-BFB881346E30}"/>
              </a:ext>
            </a:extLst>
          </p:cNvPr>
          <p:cNvSpPr>
            <a:spLocks xmlns:a="http://schemas.openxmlformats.org/drawingml/2006/main" noGrp="1"/>
          </p:cNvSpPr>
          <p:nvPr/>
        </p:nvSpPr>
        <p:spPr>
          <a:xfrm xmlns:a="http://schemas.openxmlformats.org/drawingml/2006/main">
            <a:off x="10801350" y="119062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363A6"/>
                </a:solidFill>
                <a:latin typeface="Arial"/>
                <a:ea typeface="Arial"/>
                <a:cs typeface="Arial"/>
              </a:defRPr>
            </a:defPPr>
            <a:lvl1pPr algn="l">
              <a:defRPr sz="1800" b="1">
                <a:solidFill>
                  <a:srgbClr val="7363A6"/>
                </a:solidFill>
                <a:latin typeface="Arial"/>
                <a:ea typeface="Arial"/>
                <a:cs typeface="Arial"/>
              </a:defRPr>
            </a:lvl1pPr>
            <a:lvl2pPr algn="l">
              <a:defRPr sz="1800" b="1">
                <a:solidFill>
                  <a:srgbClr val="7363A6"/>
                </a:solidFill>
                <a:latin typeface="Arial"/>
                <a:ea typeface="Arial"/>
                <a:cs typeface="Arial"/>
              </a:defRPr>
            </a:lvl2pPr>
            <a:lvl3pPr algn="l">
              <a:defRPr sz="1800" b="1">
                <a:solidFill>
                  <a:srgbClr val="7363A6"/>
                </a:solidFill>
                <a:latin typeface="Arial"/>
                <a:ea typeface="Arial"/>
                <a:cs typeface="Arial"/>
              </a:defRPr>
            </a:lvl3pPr>
            <a:lvl4pPr algn="l">
              <a:defRPr sz="1800" b="1">
                <a:solidFill>
                  <a:srgbClr val="7363A6"/>
                </a:solidFill>
                <a:latin typeface="Arial"/>
                <a:ea typeface="Arial"/>
                <a:cs typeface="Arial"/>
              </a:defRPr>
            </a:lvl4pPr>
            <a:lvl5pPr algn="l">
              <a:defRPr sz="1800" b="1">
                <a:solidFill>
                  <a:srgbClr val="7363A6"/>
                </a:solidFill>
                <a:latin typeface="Arial"/>
                <a:ea typeface="Arial"/>
                <a:cs typeface="Arial"/>
              </a:defRPr>
            </a:lvl5pPr>
            <a:lvl6pPr algn="l">
              <a:defRPr sz="1800" b="1">
                <a:solidFill>
                  <a:srgbClr val="7363A6"/>
                </a:solidFill>
                <a:latin typeface="Arial"/>
                <a:ea typeface="Arial"/>
                <a:cs typeface="Arial"/>
              </a:defRPr>
            </a:lvl6pPr>
            <a:lvl7pPr algn="l">
              <a:defRPr sz="1800" b="1">
                <a:solidFill>
                  <a:srgbClr val="7363A6"/>
                </a:solidFill>
                <a:latin typeface="Arial"/>
                <a:ea typeface="Arial"/>
                <a:cs typeface="Arial"/>
              </a:defRPr>
            </a:lvl7pPr>
            <a:lvl8pPr algn="l">
              <a:defRPr sz="1800" b="1">
                <a:solidFill>
                  <a:srgbClr val="7363A6"/>
                </a:solidFill>
                <a:latin typeface="Arial"/>
                <a:ea typeface="Arial"/>
                <a:cs typeface="Arial"/>
              </a:defRPr>
            </a:lvl8pPr>
            <a:lvl9pPr algn="l">
              <a:defRPr sz="1800" b="1">
                <a:solidFill>
                  <a:srgbClr val="7363A6"/>
                </a:solidFill>
                <a:latin typeface="Arial"/>
                <a:ea typeface="Arial"/>
                <a:cs typeface="Arial"/>
              </a:defRPr>
            </a:lvl9pPr>
          </a:lstStyle>
          <a:p xmlns:a="http://schemas.openxmlformats.org/drawingml/2006/main">
            <a:pPr algn="l">
              <a:defRPr sz="1800" b="1">
                <a:solidFill>
                  <a:srgbClr val="7363A6"/>
                </a:solidFill>
                <a:latin typeface="Arial"/>
                <a:ea typeface="Arial"/>
                <a:cs typeface="Arial"/>
              </a:defRPr>
            </a:pPr>
            <a:r>
              <a:rPr sz="1800" b="1">
                <a:solidFill>
                  <a:srgbClr val="7363A6"/>
                </a:solidFill>
                <a:latin typeface="Arial"/>
                <a:ea typeface="Arial"/>
                <a:cs typeface="Arial"/>
              </a:rPr>
              <a:t>Client update</a:t>
            </a:r>
          </a:p>
        </p:txBody>
      </p:sp>
      <p:sp>
        <p:nvSpPr>
          <p:cNvPr id="58" name="!!story.header.client.qualifier">
            <a:extLst xmlns:a="http://schemas.openxmlformats.org/drawingml/2006/main">
              <a:ext uri="{FF2B5EF4-FFF2-40B4-BE49-F238E27FC236}">
                <a16:creationId xmlns:a16="http://schemas.microsoft.com/office/drawing/2014/main" id="{D4B7591C-8205-4CBF-A97C-CFEBB64BDC60}"/>
              </a:ext>
            </a:extLst>
          </p:cNvPr>
          <p:cNvSpPr>
            <a:spLocks xmlns:a="http://schemas.openxmlformats.org/drawingml/2006/main" noGrp="1"/>
          </p:cNvSpPr>
          <p:nvPr/>
        </p:nvSpPr>
        <p:spPr>
          <a:xfrm xmlns:a="http://schemas.openxmlformats.org/drawingml/2006/main">
            <a:off x="12430125" y="1133475"/>
            <a:ext cx="142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Tool example</a:t>
            </a:r>
          </a:p>
        </p:txBody>
      </p:sp>
      <p:sp>
        <p:nvSpPr>
          <p:cNvPr id="59" name="!!story.client.development.sample">
            <a:extLst xmlns:a="http://schemas.openxmlformats.org/drawingml/2006/main">
              <a:ext uri="{FF2B5EF4-FFF2-40B4-BE49-F238E27FC236}">
                <a16:creationId xmlns:a16="http://schemas.microsoft.com/office/drawing/2014/main" id="{DEF0843F-DA79-437D-BC48-9CDB1D9CFA63}"/>
              </a:ext>
            </a:extLst>
          </p:cNvPr>
          <p:cNvSpPr>
            <a:spLocks xmlns:a="http://schemas.openxmlformats.org/drawingml/2006/main" noGrp="1"/>
          </p:cNvSpPr>
          <p:nvPr/>
        </p:nvSpPr>
        <p:spPr>
          <a:xfrm xmlns:a="http://schemas.openxmlformats.org/drawingml/2006/main">
            <a:off x="4152900" y="3714750"/>
            <a:ext cx="38100" cy="304800"/>
          </a:xfrm>
          <a:prstGeom xmlns:a="http://schemas.openxmlformats.org/drawingml/2006/main" prst="rect">
            <a:avLst/>
          </a:prstGeom>
          <a:solidFill xmlns:a="http://schemas.openxmlformats.org/drawingml/2006/main">
            <a:srgbClr val="7363A6"/>
          </a:solidFill>
          <a:ln xmlns:a="http://schemas.openxmlformats.org/drawingml/2006/main" w="0">
            <a:noFill/>
          </a:ln>
        </p:spPr>
      </p:sp>
    </p:spTree>
    <p:extLst>
      <p:ext uri="{BB962C8B-B14F-4D97-AF65-F5344CB8AC3E}">
        <p14:creationId xmlns:p14="http://schemas.microsoft.com/office/powerpoint/2010/main" val="565635934"/>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9"/>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30"/>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31"/>
                                  </p:tgtEl>
                                  <p:attrNameLst>
                                    <p:attrName>style.visibility</p:attrName>
                                  </p:attrNameLst>
                                </p:cBhvr>
                                <p:to>
                                  <p:strVal val="visible"/>
                                </p:to>
                              </p:set>
                            </p:childTnLst>
                          </p:cTn>
                        </p:par>
                        <p:par>
                          <p:cTn id="10" presetID="1" presetClass="entr" presetSubtype="0" fill="hold" nodeType="withEffect" grpId="0">
                            <p:stCondLst>
                              <p:cond delay="70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nodeType="withEffect" grpId="0">
                            <p:stCondLst>
                              <p:cond delay="700"/>
                            </p:stCondLst>
                            <p:childTnLst>
                              <p:set>
                                <p:cBhvr>
                                  <p:cTn id="13" dur="1" fill="hold">
                                    <p:stCondLst>
                                      <p:cond delay="0"/>
                                    </p:stCondLst>
                                  </p:cTn>
                                  <p:tgtEl>
                                    <p:spTgt spid="33"/>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34"/>
                                  </p:tgtEl>
                                  <p:attrNameLst>
                                    <p:attrName>style.visibility</p:attrName>
                                  </p:attrNameLst>
                                </p:cBhvr>
                                <p:to>
                                  <p:strVal val="visible"/>
                                </p:to>
                              </p:set>
                            </p:childTnLst>
                          </p:cTn>
                        </p:par>
                        <p:par>
                          <p:cTn id="16" presetID="1" presetClass="entr" presetSubtype="0" fill="hold" nodeType="withEffect" grpId="0">
                            <p:stCondLst>
                              <p:cond delay="1250"/>
                            </p:stCondLst>
                            <p:childTnLst>
                              <p:set>
                                <p:cBhvr>
                                  <p:cTn id="17" dur="1" fill="hold">
                                    <p:stCondLst>
                                      <p:cond delay="0"/>
                                    </p:stCondLst>
                                  </p:cTn>
                                  <p:tgtEl>
                                    <p:spTgt spid="38"/>
                                  </p:tgtEl>
                                  <p:attrNameLst>
                                    <p:attrName>style.visibility</p:attrName>
                                  </p:attrNameLst>
                                </p:cBhvr>
                                <p:to>
                                  <p:strVal val="visible"/>
                                </p:to>
                              </p:set>
                            </p:childTnLst>
                          </p:cTn>
                        </p:par>
                        <p:par>
                          <p:cTn id="18" presetID="1" presetClass="entr" presetSubtype="0" fill="hold" nodeType="withEffect" grpId="0">
                            <p:stCondLst>
                              <p:cond delay="1250"/>
                            </p:stCondLst>
                            <p:childTnLst>
                              <p:set>
                                <p:cBhvr>
                                  <p:cTn id="19" dur="1" fill="hold">
                                    <p:stCondLst>
                                      <p:cond delay="0"/>
                                    </p:stCondLst>
                                  </p:cTn>
                                  <p:tgtEl>
                                    <p:spTgt spid="39"/>
                                  </p:tgtEl>
                                  <p:attrNameLst>
                                    <p:attrName>style.visibility</p:attrName>
                                  </p:attrNameLst>
                                </p:cBhvr>
                                <p:to>
                                  <p:strVal val="visible"/>
                                </p:to>
                              </p:set>
                            </p:childTnLst>
                          </p:cTn>
                        </p:par>
                        <p:par>
                          <p:cTn id="20" presetID="1" presetClass="entr" presetSubtype="0" fill="hold" nodeType="withEffect" grpId="0">
                            <p:stCondLst>
                              <p:cond delay="1250"/>
                            </p:stCondLst>
                            <p:childTnLst>
                              <p:set>
                                <p:cBhvr>
                                  <p:cTn id="21" dur="1" fill="hold">
                                    <p:stCondLst>
                                      <p:cond delay="0"/>
                                    </p:stCondLst>
                                  </p:cTn>
                                  <p:tgtEl>
                                    <p:spTgt spid="4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8" grpId="0" animBg="1"/>
      <p:bldP spid="39" grpId="0" animBg="1"/>
      <p:bldP spid="40" grpId="0" animBg="1"/>
    </p:bld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heading">
            <a:extLst xmlns:a="http://schemas.openxmlformats.org/drawingml/2006/main">
              <a:ext uri="{FF2B5EF4-FFF2-40B4-BE49-F238E27FC236}">
                <a16:creationId xmlns:a16="http://schemas.microsoft.com/office/drawing/2014/main" id="{84559E6B-610D-42A7-BB5E-2ED15285ACB9}"/>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Other back-office applications</a:t>
            </a:r>
          </a:p>
        </p:txBody>
      </p:sp>
      <p:sp>
        <p:nvSpPr>
          <p:cNvPr id="2" name="!!subtitle">
            <a:extLst xmlns:a="http://schemas.openxmlformats.org/drawingml/2006/main">
              <a:ext uri="{FF2B5EF4-FFF2-40B4-BE49-F238E27FC236}">
                <a16:creationId xmlns:a16="http://schemas.microsoft.com/office/drawing/2014/main" id="{AC247141-6191-4740-B4C6-129BCE24F2FA}"/>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Back office  /  Other applications</a:t>
            </a:r>
          </a:p>
        </p:txBody>
      </p:sp>
      <p:sp>
        <p:nvSpPr>
          <p:cNvPr id="3" name="!!heading.rule">
            <a:extLst xmlns:a="http://schemas.openxmlformats.org/drawingml/2006/main">
              <a:ext uri="{FF2B5EF4-FFF2-40B4-BE49-F238E27FC236}">
                <a16:creationId xmlns:a16="http://schemas.microsoft.com/office/drawing/2014/main" id="{CA34DC66-922B-44C9-B197-8BDE0EF3E2D3}"/>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979C947B-13B7-453F-A6EB-03B50EC7EDFC}"/>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8BBF1C8-2D77-4BF2-8B22-6E5D9D544F7E}"/>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5609D03-8096-4C7A-94F4-C7CDD8C0D3D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C7D89BF-B6AA-4E0A-9B4C-76E6A9BC4432}"/>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41C2B43-D6DF-4812-8BE2-882571CB2900}"/>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6F1F6591-FE45-4897-884B-164490C2E6BE}"/>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17A992DF-39C6-4DD4-B9F3-466DBA7D77CE}"/>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005A9C"/>
                </a:solidFill>
                <a:latin typeface="Arial"/>
                <a:ea typeface="Arial"/>
                <a:cs typeface="Arial"/>
              </a:defRPr>
            </a:defPPr>
            <a:lvl1pPr algn="ctr">
              <a:defRPr sz="2025" b="1">
                <a:solidFill>
                  <a:srgbClr val="005A9C"/>
                </a:solidFill>
                <a:latin typeface="Arial"/>
                <a:ea typeface="Arial"/>
                <a:cs typeface="Arial"/>
              </a:defRPr>
            </a:lvl1pPr>
            <a:lvl2pPr algn="ctr">
              <a:defRPr sz="2025" b="1">
                <a:solidFill>
                  <a:srgbClr val="005A9C"/>
                </a:solidFill>
                <a:latin typeface="Arial"/>
                <a:ea typeface="Arial"/>
                <a:cs typeface="Arial"/>
              </a:defRPr>
            </a:lvl2pPr>
            <a:lvl3pPr algn="ctr">
              <a:defRPr sz="2025" b="1">
                <a:solidFill>
                  <a:srgbClr val="005A9C"/>
                </a:solidFill>
                <a:latin typeface="Arial"/>
                <a:ea typeface="Arial"/>
                <a:cs typeface="Arial"/>
              </a:defRPr>
            </a:lvl3pPr>
            <a:lvl4pPr algn="ctr">
              <a:defRPr sz="2025" b="1">
                <a:solidFill>
                  <a:srgbClr val="005A9C"/>
                </a:solidFill>
                <a:latin typeface="Arial"/>
                <a:ea typeface="Arial"/>
                <a:cs typeface="Arial"/>
              </a:defRPr>
            </a:lvl4pPr>
            <a:lvl5pPr algn="ctr">
              <a:defRPr sz="2025" b="1">
                <a:solidFill>
                  <a:srgbClr val="005A9C"/>
                </a:solidFill>
                <a:latin typeface="Arial"/>
                <a:ea typeface="Arial"/>
                <a:cs typeface="Arial"/>
              </a:defRPr>
            </a:lvl5pPr>
            <a:lvl6pPr algn="ctr">
              <a:defRPr sz="2025" b="1">
                <a:solidFill>
                  <a:srgbClr val="005A9C"/>
                </a:solidFill>
                <a:latin typeface="Arial"/>
                <a:ea typeface="Arial"/>
                <a:cs typeface="Arial"/>
              </a:defRPr>
            </a:lvl6pPr>
            <a:lvl7pPr algn="ctr">
              <a:defRPr sz="2025" b="1">
                <a:solidFill>
                  <a:srgbClr val="005A9C"/>
                </a:solidFill>
                <a:latin typeface="Arial"/>
                <a:ea typeface="Arial"/>
                <a:cs typeface="Arial"/>
              </a:defRPr>
            </a:lvl7pPr>
            <a:lvl8pPr algn="ctr">
              <a:defRPr sz="2025" b="1">
                <a:solidFill>
                  <a:srgbClr val="005A9C"/>
                </a:solidFill>
                <a:latin typeface="Arial"/>
                <a:ea typeface="Arial"/>
                <a:cs typeface="Arial"/>
              </a:defRPr>
            </a:lvl8pPr>
            <a:lvl9pPr algn="ctr">
              <a:defRPr sz="2025" b="1">
                <a:solidFill>
                  <a:srgbClr val="005A9C"/>
                </a:solidFill>
                <a:latin typeface="Arial"/>
                <a:ea typeface="Arial"/>
                <a:cs typeface="Arial"/>
              </a:defRPr>
            </a:lvl9pPr>
          </a:lstStyle>
          <a:p xmlns:a="http://schemas.openxmlformats.org/drawingml/2006/main">
            <a:pPr algn="ctr">
              <a:defRPr sz="2025" b="1">
                <a:solidFill>
                  <a:srgbClr val="005A9C"/>
                </a:solidFill>
                <a:latin typeface="Arial"/>
                <a:ea typeface="Arial"/>
                <a:cs typeface="Arial"/>
              </a:defRPr>
            </a:pPr>
            <a:r>
              <a:rPr sz="2025" b="1">
                <a:solidFill>
                  <a:srgbClr val="005A9C"/>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9DA17E3-E4E9-4C98-958D-3B2FEB615F6C}"/>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418E81F5-1009-4D48-9E19-42FACBE4D20C}"/>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82582A76-BA3F-4E2C-8075-686942B100BF}"/>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5E824473-F3B8-43D2-B52A-F96917A58AF4}"/>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61E6DE6-E855-4429-BF20-678E4EEBAD36}"/>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65AFC5C-BC43-41DA-8278-59FEDD56EBD9}"/>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733D4AF-5EF3-4210-A17E-C293E6040D50}"/>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4DA4DF70-5F51-4E55-8E31-9DFC5C0E140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C61A0F5A-22A7-4297-A697-D1157057AF3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28 / 33</a:t>
            </a:r>
          </a:p>
        </p:txBody>
      </p:sp>
      <p:sp>
        <p:nvSpPr>
          <p:cNvPr id="20" name="!!nav.prev">
            <ns0:hlinkClick xmlns:ns0="http://schemas.openxmlformats.org/drawingml/2006/main" xmlns:ns1="http://schemas.openxmlformats.org/officeDocument/2006/relationships" ns1:id="rIdNavSlide27" action="ppaction://hlinksldjump" tooltip="Slide 27: Proposed application: software development support"/>
            <a:extLst xmlns:a="http://schemas.openxmlformats.org/drawingml/2006/main">
              <a:ext uri="{FF2B5EF4-FFF2-40B4-BE49-F238E27FC236}">
                <a16:creationId xmlns:a16="http://schemas.microsoft.com/office/drawing/2014/main" id="{3E89FC04-48EE-4E62-B038-A65006EFDEF4}"/>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DB66F164-0663-458E-9DE4-1D6EB466DEC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00C3E674-B653-44F5-8F81-9F2B5ABF637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A92F043-2E78-4CB1-9568-5B951551544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China Merchants Fund; Ping An Fund; Maxwealth Fund; China Universal patent CN121958380A</a:t>
            </a:r>
          </a:p>
        </p:txBody>
      </p:sp>
      <p:sp>
        <p:nvSpPr>
          <p:cNvPr id="24" name="!!other.0.title">
            <a:extLst xmlns:a="http://schemas.openxmlformats.org/drawingml/2006/main">
              <a:ext uri="{FF2B5EF4-FFF2-40B4-BE49-F238E27FC236}">
                <a16:creationId xmlns:a16="http://schemas.microsoft.com/office/drawing/2014/main" id="{69B106D5-A2F9-4010-9157-7920A8064951}"/>
              </a:ext>
            </a:extLst>
          </p:cNvPr>
          <p:cNvSpPr>
            <a:spLocks xmlns:a="http://schemas.openxmlformats.org/drawingml/2006/main" noGrp="1"/>
          </p:cNvSpPr>
          <p:nvPr/>
        </p:nvSpPr>
        <p:spPr>
          <a:xfrm xmlns:a="http://schemas.openxmlformats.org/drawingml/2006/main">
            <a:off x="4057650" y="21431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Employee information support</a:t>
            </a:r>
          </a:p>
        </p:txBody>
      </p:sp>
      <p:sp>
        <p:nvSpPr>
          <p:cNvPr id="25" name="!!other.0.company">
            <a:extLst xmlns:a="http://schemas.openxmlformats.org/drawingml/2006/main">
              <a:ext uri="{FF2B5EF4-FFF2-40B4-BE49-F238E27FC236}">
                <a16:creationId xmlns:a16="http://schemas.microsoft.com/office/drawing/2014/main" id="{DDB384E0-DB46-4D1A-9191-3B9339EF79FC}"/>
              </a:ext>
            </a:extLst>
          </p:cNvPr>
          <p:cNvSpPr>
            <a:spLocks xmlns:a="http://schemas.openxmlformats.org/drawingml/2006/main" noGrp="1"/>
          </p:cNvSpPr>
          <p:nvPr/>
        </p:nvSpPr>
        <p:spPr>
          <a:xfrm xmlns:a="http://schemas.openxmlformats.org/drawingml/2006/main">
            <a:off x="9048750" y="2171700"/>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China Merchants Fund, Ping An Fund</a:t>
            </a:r>
          </a:p>
        </p:txBody>
      </p:sp>
      <p:sp>
        <p:nvSpPr>
          <p:cNvPr id="26" name="!!other.0.flow.0">
            <a:extLst xmlns:a="http://schemas.openxmlformats.org/drawingml/2006/main">
              <a:ext uri="{FF2B5EF4-FFF2-40B4-BE49-F238E27FC236}">
                <a16:creationId xmlns:a16="http://schemas.microsoft.com/office/drawing/2014/main" id="{786D9927-3E32-4520-A528-F67DDAD2FFF0}"/>
              </a:ext>
            </a:extLst>
          </p:cNvPr>
          <p:cNvSpPr>
            <a:spLocks xmlns:a="http://schemas.openxmlformats.org/drawingml/2006/main" noGrp="1"/>
          </p:cNvSpPr>
          <p:nvPr/>
        </p:nvSpPr>
        <p:spPr>
          <a:xfrm xmlns:a="http://schemas.openxmlformats.org/drawingml/2006/main">
            <a:off x="4057650" y="27336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Policy and process questions</a:t>
            </a:r>
          </a:p>
        </p:txBody>
      </p:sp>
      <p:sp>
        <p:nvSpPr>
          <p:cNvPr id="27" name="!!other.0.flow.link0.line">
            <a:extLst xmlns:a="http://schemas.openxmlformats.org/drawingml/2006/main">
              <a:ext uri="{FF2B5EF4-FFF2-40B4-BE49-F238E27FC236}">
                <a16:creationId xmlns:a16="http://schemas.microsoft.com/office/drawing/2014/main" id="{FD184F08-E407-42CC-8150-99B9CDB94C22}"/>
              </a:ext>
            </a:extLst>
          </p:cNvPr>
          <p:cNvSpPr>
            <a:spLocks xmlns:a="http://schemas.openxmlformats.org/drawingml/2006/main" noGrp="1"/>
          </p:cNvSpPr>
          <p:nvPr/>
        </p:nvSpPr>
        <p:spPr>
          <a:xfrm xmlns:a="http://schemas.openxmlformats.org/drawingml/2006/main" flipH="0" flipV="0">
            <a:off x="7385050" y="31051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8" name="!!other.0.flow.link0.tip">
            <a:extLst xmlns:a="http://schemas.openxmlformats.org/drawingml/2006/main">
              <a:ext uri="{FF2B5EF4-FFF2-40B4-BE49-F238E27FC236}">
                <a16:creationId xmlns:a16="http://schemas.microsoft.com/office/drawing/2014/main" id="{3B873C44-9ECC-4D06-9F13-9605CEB36E9B}"/>
              </a:ext>
            </a:extLst>
          </p:cNvPr>
          <p:cNvSpPr>
            <a:spLocks xmlns:a="http://schemas.openxmlformats.org/drawingml/2006/main" noGrp="1"/>
          </p:cNvSpPr>
          <p:nvPr/>
        </p:nvSpPr>
        <p:spPr>
          <a:xfrm xmlns:a="http://schemas.openxmlformats.org/drawingml/2006/main" rot="5400000">
            <a:off x="7537450" y="3048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9" name="!!other.0.flow.1">
            <a:extLst xmlns:a="http://schemas.openxmlformats.org/drawingml/2006/main">
              <a:ext uri="{FF2B5EF4-FFF2-40B4-BE49-F238E27FC236}">
                <a16:creationId xmlns:a16="http://schemas.microsoft.com/office/drawing/2014/main" id="{2029F67E-7230-4D0A-9927-44D4D605AAFB}"/>
              </a:ext>
            </a:extLst>
          </p:cNvPr>
          <p:cNvSpPr>
            <a:spLocks xmlns:a="http://schemas.openxmlformats.org/drawingml/2006/main" noGrp="1"/>
          </p:cNvSpPr>
          <p:nvPr/>
        </p:nvSpPr>
        <p:spPr>
          <a:xfrm xmlns:a="http://schemas.openxmlformats.org/drawingml/2006/main">
            <a:off x="7680325" y="27336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retrieves and explains relevant guidance</a:t>
            </a:r>
          </a:p>
        </p:txBody>
      </p:sp>
      <p:sp>
        <p:nvSpPr>
          <p:cNvPr id="30" name="!!other.0.flow.link1.line">
            <a:extLst xmlns:a="http://schemas.openxmlformats.org/drawingml/2006/main">
              <a:ext uri="{FF2B5EF4-FFF2-40B4-BE49-F238E27FC236}">
                <a16:creationId xmlns:a16="http://schemas.microsoft.com/office/drawing/2014/main" id="{1E632043-8858-4ABF-8821-25DDA79AB8E5}"/>
              </a:ext>
            </a:extLst>
          </p:cNvPr>
          <p:cNvSpPr>
            <a:spLocks xmlns:a="http://schemas.openxmlformats.org/drawingml/2006/main" noGrp="1"/>
          </p:cNvSpPr>
          <p:nvPr/>
        </p:nvSpPr>
        <p:spPr>
          <a:xfrm xmlns:a="http://schemas.openxmlformats.org/drawingml/2006/main" flipH="0" flipV="0">
            <a:off x="11007725" y="31051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other.0.flow.link1.tip">
            <a:extLst xmlns:a="http://schemas.openxmlformats.org/drawingml/2006/main">
              <a:ext uri="{FF2B5EF4-FFF2-40B4-BE49-F238E27FC236}">
                <a16:creationId xmlns:a16="http://schemas.microsoft.com/office/drawing/2014/main" id="{7B02BCC8-8797-4D51-96EE-0485361E17FA}"/>
              </a:ext>
            </a:extLst>
          </p:cNvPr>
          <p:cNvSpPr>
            <a:spLocks xmlns:a="http://schemas.openxmlformats.org/drawingml/2006/main" noGrp="1"/>
          </p:cNvSpPr>
          <p:nvPr/>
        </p:nvSpPr>
        <p:spPr>
          <a:xfrm xmlns:a="http://schemas.openxmlformats.org/drawingml/2006/main" rot="5400000">
            <a:off x="11160125" y="30480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other.0.flow.2">
            <a:extLst xmlns:a="http://schemas.openxmlformats.org/drawingml/2006/main">
              <a:ext uri="{FF2B5EF4-FFF2-40B4-BE49-F238E27FC236}">
                <a16:creationId xmlns:a16="http://schemas.microsoft.com/office/drawing/2014/main" id="{6430E800-852D-4409-8413-6A3E57D03BF1}"/>
              </a:ext>
            </a:extLst>
          </p:cNvPr>
          <p:cNvSpPr>
            <a:spLocks xmlns:a="http://schemas.openxmlformats.org/drawingml/2006/main" noGrp="1"/>
          </p:cNvSpPr>
          <p:nvPr/>
        </p:nvSpPr>
        <p:spPr>
          <a:xfrm xmlns:a="http://schemas.openxmlformats.org/drawingml/2006/main">
            <a:off x="11303000" y="27336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Guidance for employees</a:t>
            </a:r>
          </a:p>
        </p:txBody>
      </p:sp>
      <p:sp>
        <p:nvSpPr>
          <p:cNvPr id="33" name="!!other.1.title">
            <a:extLst xmlns:a="http://schemas.openxmlformats.org/drawingml/2006/main">
              <a:ext uri="{FF2B5EF4-FFF2-40B4-BE49-F238E27FC236}">
                <a16:creationId xmlns:a16="http://schemas.microsoft.com/office/drawing/2014/main" id="{319B6879-9BC2-4722-B522-83B86C87999F}"/>
              </a:ext>
            </a:extLst>
          </p:cNvPr>
          <p:cNvSpPr>
            <a:spLocks xmlns:a="http://schemas.openxmlformats.org/drawingml/2006/main" noGrp="1"/>
          </p:cNvSpPr>
          <p:nvPr/>
        </p:nvSpPr>
        <p:spPr>
          <a:xfrm xmlns:a="http://schemas.openxmlformats.org/drawingml/2006/main">
            <a:off x="4057650" y="383857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Email security</a:t>
            </a:r>
          </a:p>
        </p:txBody>
      </p:sp>
      <p:sp>
        <p:nvSpPr>
          <p:cNvPr id="34" name="!!other.1.company">
            <a:extLst xmlns:a="http://schemas.openxmlformats.org/drawingml/2006/main">
              <a:ext uri="{FF2B5EF4-FFF2-40B4-BE49-F238E27FC236}">
                <a16:creationId xmlns:a16="http://schemas.microsoft.com/office/drawing/2014/main" id="{3E3C6490-281F-47DA-9D51-CA2A47F88D9C}"/>
              </a:ext>
            </a:extLst>
          </p:cNvPr>
          <p:cNvSpPr>
            <a:spLocks xmlns:a="http://schemas.openxmlformats.org/drawingml/2006/main" noGrp="1"/>
          </p:cNvSpPr>
          <p:nvPr/>
        </p:nvSpPr>
        <p:spPr>
          <a:xfrm xmlns:a="http://schemas.openxmlformats.org/drawingml/2006/main">
            <a:off x="6953250" y="3867150"/>
            <a:ext cx="763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Maxwealth Fund</a:t>
            </a:r>
          </a:p>
        </p:txBody>
      </p:sp>
      <p:sp>
        <p:nvSpPr>
          <p:cNvPr id="35" name="!!other.1.flow.0">
            <a:extLst xmlns:a="http://schemas.openxmlformats.org/drawingml/2006/main">
              <a:ext uri="{FF2B5EF4-FFF2-40B4-BE49-F238E27FC236}">
                <a16:creationId xmlns:a16="http://schemas.microsoft.com/office/drawing/2014/main" id="{B1C7976E-66F7-427C-9620-131EE4E4D319}"/>
              </a:ext>
            </a:extLst>
          </p:cNvPr>
          <p:cNvSpPr>
            <a:spLocks xmlns:a="http://schemas.openxmlformats.org/drawingml/2006/main" noGrp="1"/>
          </p:cNvSpPr>
          <p:nvPr/>
        </p:nvSpPr>
        <p:spPr>
          <a:xfrm xmlns:a="http://schemas.openxmlformats.org/drawingml/2006/main">
            <a:off x="4057650" y="442912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Email, attachments and links</a:t>
            </a:r>
          </a:p>
        </p:txBody>
      </p:sp>
      <p:sp>
        <p:nvSpPr>
          <p:cNvPr id="36" name="!!other.1.flow.link0.line">
            <a:extLst xmlns:a="http://schemas.openxmlformats.org/drawingml/2006/main">
              <a:ext uri="{FF2B5EF4-FFF2-40B4-BE49-F238E27FC236}">
                <a16:creationId xmlns:a16="http://schemas.microsoft.com/office/drawing/2014/main" id="{6C1945BD-CDF8-49F6-8D85-82DFEF85CEF7}"/>
              </a:ext>
            </a:extLst>
          </p:cNvPr>
          <p:cNvSpPr>
            <a:spLocks xmlns:a="http://schemas.openxmlformats.org/drawingml/2006/main" noGrp="1"/>
          </p:cNvSpPr>
          <p:nvPr/>
        </p:nvSpPr>
        <p:spPr>
          <a:xfrm xmlns:a="http://schemas.openxmlformats.org/drawingml/2006/main" flipH="0" flipV="0">
            <a:off x="7385050" y="480060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7" name="!!other.1.flow.link0.tip">
            <a:extLst xmlns:a="http://schemas.openxmlformats.org/drawingml/2006/main">
              <a:ext uri="{FF2B5EF4-FFF2-40B4-BE49-F238E27FC236}">
                <a16:creationId xmlns:a16="http://schemas.microsoft.com/office/drawing/2014/main" id="{AFCAEA4C-CA34-41DF-9EB7-EDC12F232528}"/>
              </a:ext>
            </a:extLst>
          </p:cNvPr>
          <p:cNvSpPr>
            <a:spLocks xmlns:a="http://schemas.openxmlformats.org/drawingml/2006/main" noGrp="1"/>
          </p:cNvSpPr>
          <p:nvPr/>
        </p:nvSpPr>
        <p:spPr>
          <a:xfrm xmlns:a="http://schemas.openxmlformats.org/drawingml/2006/main" rot="5400000">
            <a:off x="7537450" y="47434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8" name="!!other.1.flow.1">
            <a:extLst xmlns:a="http://schemas.openxmlformats.org/drawingml/2006/main">
              <a:ext uri="{FF2B5EF4-FFF2-40B4-BE49-F238E27FC236}">
                <a16:creationId xmlns:a16="http://schemas.microsoft.com/office/drawing/2014/main" id="{9B13C32C-C1C7-4EA6-8ACA-8091C5390E4B}"/>
              </a:ext>
            </a:extLst>
          </p:cNvPr>
          <p:cNvSpPr>
            <a:spLocks xmlns:a="http://schemas.openxmlformats.org/drawingml/2006/main" noGrp="1"/>
          </p:cNvSpPr>
          <p:nvPr/>
        </p:nvSpPr>
        <p:spPr>
          <a:xfrm xmlns:a="http://schemas.openxmlformats.org/drawingml/2006/main">
            <a:off x="7680325" y="442912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assesses email context and intent,</a:t>
            </a:r>
          </a:p>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then invokes detection tools</a:t>
            </a:r>
          </a:p>
        </p:txBody>
      </p:sp>
      <p:sp>
        <p:nvSpPr>
          <p:cNvPr id="39" name="!!other.1.flow.link1.line">
            <a:extLst xmlns:a="http://schemas.openxmlformats.org/drawingml/2006/main">
              <a:ext uri="{FF2B5EF4-FFF2-40B4-BE49-F238E27FC236}">
                <a16:creationId xmlns:a16="http://schemas.microsoft.com/office/drawing/2014/main" id="{0645D836-2273-4F40-AA15-0A38D999D979}"/>
              </a:ext>
            </a:extLst>
          </p:cNvPr>
          <p:cNvSpPr>
            <a:spLocks xmlns:a="http://schemas.openxmlformats.org/drawingml/2006/main" noGrp="1"/>
          </p:cNvSpPr>
          <p:nvPr/>
        </p:nvSpPr>
        <p:spPr>
          <a:xfrm xmlns:a="http://schemas.openxmlformats.org/drawingml/2006/main" flipH="0" flipV="0">
            <a:off x="11007725" y="480060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0" name="!!other.1.flow.link1.tip">
            <a:extLst xmlns:a="http://schemas.openxmlformats.org/drawingml/2006/main">
              <a:ext uri="{FF2B5EF4-FFF2-40B4-BE49-F238E27FC236}">
                <a16:creationId xmlns:a16="http://schemas.microsoft.com/office/drawing/2014/main" id="{B938BE59-CBCF-4380-8800-31B1BD385107}"/>
              </a:ext>
            </a:extLst>
          </p:cNvPr>
          <p:cNvSpPr>
            <a:spLocks xmlns:a="http://schemas.openxmlformats.org/drawingml/2006/main" noGrp="1"/>
          </p:cNvSpPr>
          <p:nvPr/>
        </p:nvSpPr>
        <p:spPr>
          <a:xfrm xmlns:a="http://schemas.openxmlformats.org/drawingml/2006/main" rot="5400000">
            <a:off x="11160125" y="47434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1" name="!!other.1.flow.2">
            <a:extLst xmlns:a="http://schemas.openxmlformats.org/drawingml/2006/main">
              <a:ext uri="{FF2B5EF4-FFF2-40B4-BE49-F238E27FC236}">
                <a16:creationId xmlns:a16="http://schemas.microsoft.com/office/drawing/2014/main" id="{5510AAC7-DE90-4751-8979-262385C1E1E4}"/>
              </a:ext>
            </a:extLst>
          </p:cNvPr>
          <p:cNvSpPr>
            <a:spLocks xmlns:a="http://schemas.openxmlformats.org/drawingml/2006/main" noGrp="1"/>
          </p:cNvSpPr>
          <p:nvPr/>
        </p:nvSpPr>
        <p:spPr>
          <a:xfrm xmlns:a="http://schemas.openxmlformats.org/drawingml/2006/main">
            <a:off x="11303000" y="442912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Security response</a:t>
            </a:r>
          </a:p>
        </p:txBody>
      </p:sp>
      <p:sp>
        <p:nvSpPr>
          <p:cNvPr id="42" name="!!other.2.title">
            <a:extLst xmlns:a="http://schemas.openxmlformats.org/drawingml/2006/main">
              <a:ext uri="{FF2B5EF4-FFF2-40B4-BE49-F238E27FC236}">
                <a16:creationId xmlns:a16="http://schemas.microsoft.com/office/drawing/2014/main" id="{734754DB-76A1-4F37-B58C-868CDE18854F}"/>
              </a:ext>
            </a:extLst>
          </p:cNvPr>
          <p:cNvSpPr>
            <a:spLocks xmlns:a="http://schemas.openxmlformats.org/drawingml/2006/main" noGrp="1"/>
          </p:cNvSpPr>
          <p:nvPr/>
        </p:nvSpPr>
        <p:spPr>
          <a:xfrm xmlns:a="http://schemas.openxmlformats.org/drawingml/2006/main">
            <a:off x="4057650" y="55340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5A9C"/>
                </a:solidFill>
                <a:latin typeface="Arial"/>
                <a:ea typeface="Arial"/>
                <a:cs typeface="Arial"/>
              </a:defRPr>
            </a:defPPr>
            <a:lvl1pPr algn="l">
              <a:defRPr sz="2250" b="1">
                <a:solidFill>
                  <a:srgbClr val="005A9C"/>
                </a:solidFill>
                <a:latin typeface="Arial"/>
                <a:ea typeface="Arial"/>
                <a:cs typeface="Arial"/>
              </a:defRPr>
            </a:lvl1pPr>
            <a:lvl2pPr algn="l">
              <a:defRPr sz="2250" b="1">
                <a:solidFill>
                  <a:srgbClr val="005A9C"/>
                </a:solidFill>
                <a:latin typeface="Arial"/>
                <a:ea typeface="Arial"/>
                <a:cs typeface="Arial"/>
              </a:defRPr>
            </a:lvl2pPr>
            <a:lvl3pPr algn="l">
              <a:defRPr sz="2250" b="1">
                <a:solidFill>
                  <a:srgbClr val="005A9C"/>
                </a:solidFill>
                <a:latin typeface="Arial"/>
                <a:ea typeface="Arial"/>
                <a:cs typeface="Arial"/>
              </a:defRPr>
            </a:lvl3pPr>
            <a:lvl4pPr algn="l">
              <a:defRPr sz="2250" b="1">
                <a:solidFill>
                  <a:srgbClr val="005A9C"/>
                </a:solidFill>
                <a:latin typeface="Arial"/>
                <a:ea typeface="Arial"/>
                <a:cs typeface="Arial"/>
              </a:defRPr>
            </a:lvl4pPr>
            <a:lvl5pPr algn="l">
              <a:defRPr sz="2250" b="1">
                <a:solidFill>
                  <a:srgbClr val="005A9C"/>
                </a:solidFill>
                <a:latin typeface="Arial"/>
                <a:ea typeface="Arial"/>
                <a:cs typeface="Arial"/>
              </a:defRPr>
            </a:lvl5pPr>
            <a:lvl6pPr algn="l">
              <a:defRPr sz="2250" b="1">
                <a:solidFill>
                  <a:srgbClr val="005A9C"/>
                </a:solidFill>
                <a:latin typeface="Arial"/>
                <a:ea typeface="Arial"/>
                <a:cs typeface="Arial"/>
              </a:defRPr>
            </a:lvl6pPr>
            <a:lvl7pPr algn="l">
              <a:defRPr sz="2250" b="1">
                <a:solidFill>
                  <a:srgbClr val="005A9C"/>
                </a:solidFill>
                <a:latin typeface="Arial"/>
                <a:ea typeface="Arial"/>
                <a:cs typeface="Arial"/>
              </a:defRPr>
            </a:lvl7pPr>
            <a:lvl8pPr algn="l">
              <a:defRPr sz="2250" b="1">
                <a:solidFill>
                  <a:srgbClr val="005A9C"/>
                </a:solidFill>
                <a:latin typeface="Arial"/>
                <a:ea typeface="Arial"/>
                <a:cs typeface="Arial"/>
              </a:defRPr>
            </a:lvl8pPr>
            <a:lvl9pPr algn="l">
              <a:defRPr sz="2250" b="1">
                <a:solidFill>
                  <a:srgbClr val="005A9C"/>
                </a:solidFill>
                <a:latin typeface="Arial"/>
                <a:ea typeface="Arial"/>
                <a:cs typeface="Arial"/>
              </a:defRPr>
            </a:lvl9pPr>
          </a:lstStyle>
          <a:p xmlns:a="http://schemas.openxmlformats.org/drawingml/2006/main">
            <a:pPr algn="l">
              <a:defRPr sz="2250" b="1">
                <a:solidFill>
                  <a:srgbClr val="005A9C"/>
                </a:solidFill>
                <a:latin typeface="Arial"/>
                <a:ea typeface="Arial"/>
                <a:cs typeface="Arial"/>
              </a:defRPr>
            </a:pPr>
            <a:r>
              <a:rPr sz="2250" b="1">
                <a:solidFill>
                  <a:srgbClr val="005A9C"/>
                </a:solidFill>
                <a:latin typeface="Arial"/>
                <a:ea typeface="Arial"/>
                <a:cs typeface="Arial"/>
              </a:rPr>
              <a:t>Business analytics</a:t>
            </a:r>
          </a:p>
        </p:txBody>
      </p:sp>
      <p:sp>
        <p:nvSpPr>
          <p:cNvPr id="43" name="!!other.2.company">
            <a:extLst xmlns:a="http://schemas.openxmlformats.org/drawingml/2006/main">
              <a:ext uri="{FF2B5EF4-FFF2-40B4-BE49-F238E27FC236}">
                <a16:creationId xmlns:a16="http://schemas.microsoft.com/office/drawing/2014/main" id="{3D685739-F636-42EC-B0B1-7F5517C727A0}"/>
              </a:ext>
            </a:extLst>
          </p:cNvPr>
          <p:cNvSpPr>
            <a:spLocks xmlns:a="http://schemas.openxmlformats.org/drawingml/2006/main" noGrp="1"/>
          </p:cNvSpPr>
          <p:nvPr/>
        </p:nvSpPr>
        <p:spPr>
          <a:xfrm xmlns:a="http://schemas.openxmlformats.org/drawingml/2006/main">
            <a:off x="6953250" y="5562600"/>
            <a:ext cx="7639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Method proposed in a China Universal patent</a:t>
            </a:r>
          </a:p>
        </p:txBody>
      </p:sp>
      <p:sp>
        <p:nvSpPr>
          <p:cNvPr id="44" name="!!other.2.flow.0">
            <a:extLst xmlns:a="http://schemas.openxmlformats.org/drawingml/2006/main">
              <a:ext uri="{FF2B5EF4-FFF2-40B4-BE49-F238E27FC236}">
                <a16:creationId xmlns:a16="http://schemas.microsoft.com/office/drawing/2014/main" id="{5B56DEBF-58E2-4683-AC4B-A71731C0ED41}"/>
              </a:ext>
            </a:extLst>
          </p:cNvPr>
          <p:cNvSpPr>
            <a:spLocks xmlns:a="http://schemas.openxmlformats.org/drawingml/2006/main" noGrp="1"/>
          </p:cNvSpPr>
          <p:nvPr/>
        </p:nvSpPr>
        <p:spPr>
          <a:xfrm xmlns:a="http://schemas.openxmlformats.org/drawingml/2006/main">
            <a:off x="4057650" y="61245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Fund, period and metric</a:t>
            </a:r>
          </a:p>
        </p:txBody>
      </p:sp>
      <p:sp>
        <p:nvSpPr>
          <p:cNvPr id="45" name="!!other.2.flow.link0.line">
            <a:extLst xmlns:a="http://schemas.openxmlformats.org/drawingml/2006/main">
              <a:ext uri="{FF2B5EF4-FFF2-40B4-BE49-F238E27FC236}">
                <a16:creationId xmlns:a16="http://schemas.microsoft.com/office/drawing/2014/main" id="{1A719EFF-E911-4AD4-9D1C-17EDD2A13A32}"/>
              </a:ext>
            </a:extLst>
          </p:cNvPr>
          <p:cNvSpPr>
            <a:spLocks xmlns:a="http://schemas.openxmlformats.org/drawingml/2006/main" noGrp="1"/>
          </p:cNvSpPr>
          <p:nvPr/>
        </p:nvSpPr>
        <p:spPr>
          <a:xfrm xmlns:a="http://schemas.openxmlformats.org/drawingml/2006/main" flipH="0" flipV="0">
            <a:off x="7385050" y="64960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6" name="!!other.2.flow.link0.tip">
            <a:extLst xmlns:a="http://schemas.openxmlformats.org/drawingml/2006/main">
              <a:ext uri="{FF2B5EF4-FFF2-40B4-BE49-F238E27FC236}">
                <a16:creationId xmlns:a16="http://schemas.microsoft.com/office/drawing/2014/main" id="{6C446C12-3E18-407F-8AD2-9B66CE699CE4}"/>
              </a:ext>
            </a:extLst>
          </p:cNvPr>
          <p:cNvSpPr>
            <a:spLocks xmlns:a="http://schemas.openxmlformats.org/drawingml/2006/main" noGrp="1"/>
          </p:cNvSpPr>
          <p:nvPr/>
        </p:nvSpPr>
        <p:spPr>
          <a:xfrm xmlns:a="http://schemas.openxmlformats.org/drawingml/2006/main" rot="5400000">
            <a:off x="7537450" y="64389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47" name="!!other.2.flow.1">
            <a:extLst xmlns:a="http://schemas.openxmlformats.org/drawingml/2006/main">
              <a:ext uri="{FF2B5EF4-FFF2-40B4-BE49-F238E27FC236}">
                <a16:creationId xmlns:a16="http://schemas.microsoft.com/office/drawing/2014/main" id="{B21E885D-B85B-4468-96E5-11C50994C0C4}"/>
              </a:ext>
            </a:extLst>
          </p:cNvPr>
          <p:cNvSpPr>
            <a:spLocks xmlns:a="http://schemas.openxmlformats.org/drawingml/2006/main" noGrp="1"/>
          </p:cNvSpPr>
          <p:nvPr/>
        </p:nvSpPr>
        <p:spPr>
          <a:xfrm xmlns:a="http://schemas.openxmlformats.org/drawingml/2006/main">
            <a:off x="7680325" y="61245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20262C"/>
                </a:solidFill>
                <a:latin typeface="Arial"/>
                <a:ea typeface="Arial"/>
                <a:cs typeface="Arial"/>
              </a:defRPr>
            </a:defPPr>
            <a:lvl1pPr algn="ctr">
              <a:defRPr sz="1725" b="1">
                <a:solidFill>
                  <a:srgbClr val="20262C"/>
                </a:solidFill>
                <a:latin typeface="Arial"/>
                <a:ea typeface="Arial"/>
                <a:cs typeface="Arial"/>
              </a:defRPr>
            </a:lvl1pPr>
            <a:lvl2pPr algn="ctr">
              <a:defRPr sz="1725" b="1">
                <a:solidFill>
                  <a:srgbClr val="20262C"/>
                </a:solidFill>
                <a:latin typeface="Arial"/>
                <a:ea typeface="Arial"/>
                <a:cs typeface="Arial"/>
              </a:defRPr>
            </a:lvl2pPr>
            <a:lvl3pPr algn="ctr">
              <a:defRPr sz="1725" b="1">
                <a:solidFill>
                  <a:srgbClr val="20262C"/>
                </a:solidFill>
                <a:latin typeface="Arial"/>
                <a:ea typeface="Arial"/>
                <a:cs typeface="Arial"/>
              </a:defRPr>
            </a:lvl3pPr>
            <a:lvl4pPr algn="ctr">
              <a:defRPr sz="1725" b="1">
                <a:solidFill>
                  <a:srgbClr val="20262C"/>
                </a:solidFill>
                <a:latin typeface="Arial"/>
                <a:ea typeface="Arial"/>
                <a:cs typeface="Arial"/>
              </a:defRPr>
            </a:lvl4pPr>
            <a:lvl5pPr algn="ctr">
              <a:defRPr sz="1725" b="1">
                <a:solidFill>
                  <a:srgbClr val="20262C"/>
                </a:solidFill>
                <a:latin typeface="Arial"/>
                <a:ea typeface="Arial"/>
                <a:cs typeface="Arial"/>
              </a:defRPr>
            </a:lvl5pPr>
            <a:lvl6pPr algn="ctr">
              <a:defRPr sz="1725" b="1">
                <a:solidFill>
                  <a:srgbClr val="20262C"/>
                </a:solidFill>
                <a:latin typeface="Arial"/>
                <a:ea typeface="Arial"/>
                <a:cs typeface="Arial"/>
              </a:defRPr>
            </a:lvl6pPr>
            <a:lvl7pPr algn="ctr">
              <a:defRPr sz="1725" b="1">
                <a:solidFill>
                  <a:srgbClr val="20262C"/>
                </a:solidFill>
                <a:latin typeface="Arial"/>
                <a:ea typeface="Arial"/>
                <a:cs typeface="Arial"/>
              </a:defRPr>
            </a:lvl7pPr>
            <a:lvl8pPr algn="ctr">
              <a:defRPr sz="1725" b="1">
                <a:solidFill>
                  <a:srgbClr val="20262C"/>
                </a:solidFill>
                <a:latin typeface="Arial"/>
                <a:ea typeface="Arial"/>
                <a:cs typeface="Arial"/>
              </a:defRPr>
            </a:lvl8pPr>
            <a:lvl9pPr algn="ctr">
              <a:defRPr sz="1725" b="1">
                <a:solidFill>
                  <a:srgbClr val="20262C"/>
                </a:solidFill>
                <a:latin typeface="Arial"/>
                <a:ea typeface="Arial"/>
                <a:cs typeface="Arial"/>
              </a:defRPr>
            </a:lvl9pPr>
          </a:lstStyle>
          <a:p xmlns:a="http://schemas.openxmlformats.org/drawingml/2006/main">
            <a:pPr algn="ctr">
              <a:defRPr sz="1725" b="1">
                <a:solidFill>
                  <a:srgbClr val="20262C"/>
                </a:solidFill>
                <a:latin typeface="Arial"/>
                <a:ea typeface="Arial"/>
                <a:cs typeface="Arial"/>
              </a:defRPr>
            </a:pPr>
            <a:r>
              <a:rPr sz="1725" b="1">
                <a:solidFill>
                  <a:srgbClr val="20262C"/>
                </a:solidFill>
                <a:latin typeface="Arial"/>
                <a:ea typeface="Arial"/>
                <a:cs typeface="Arial"/>
              </a:rPr>
              <a:t>LLM interprets the question</a:t>
            </a:r>
          </a:p>
          <a:p xmlns:a="http://schemas.openxmlformats.org/drawingml/2006/main">
            <a:pPr algn="ctr">
              <a:defRPr sz="1725" b="1">
                <a:solidFill>
                  <a:srgbClr val="20262C"/>
                </a:solidFill>
                <a:latin typeface="Arial"/>
                <a:ea typeface="Arial"/>
                <a:cs typeface="Arial"/>
              </a:defRPr>
            </a:pPr>
            <a:r>
              <a:rPr sz="1725" b="1">
                <a:solidFill>
                  <a:srgbClr val="20262C"/>
                </a:solidFill>
                <a:latin typeface="Arial"/>
                <a:ea typeface="Arial"/>
                <a:cs typeface="Arial"/>
              </a:rPr>
              <a:t>Algorithms quantify contributions</a:t>
            </a:r>
          </a:p>
          <a:p xmlns:a="http://schemas.openxmlformats.org/drawingml/2006/main">
            <a:pPr algn="ctr">
              <a:defRPr sz="1725" b="1">
                <a:solidFill>
                  <a:srgbClr val="20262C"/>
                </a:solidFill>
                <a:latin typeface="Arial"/>
                <a:ea typeface="Arial"/>
                <a:cs typeface="Arial"/>
              </a:defRPr>
            </a:pPr>
            <a:r>
              <a:rPr sz="1725" b="1">
                <a:solidFill>
                  <a:srgbClr val="20262C"/>
                </a:solidFill>
                <a:latin typeface="Arial"/>
                <a:ea typeface="Arial"/>
                <a:cs typeface="Arial"/>
              </a:rPr>
              <a:t>to the selected metric</a:t>
            </a:r>
          </a:p>
        </p:txBody>
      </p:sp>
      <p:sp>
        <p:nvSpPr>
          <p:cNvPr id="48" name="!!other.2.flow.link1.line">
            <a:extLst xmlns:a="http://schemas.openxmlformats.org/drawingml/2006/main">
              <a:ext uri="{FF2B5EF4-FFF2-40B4-BE49-F238E27FC236}">
                <a16:creationId xmlns:a16="http://schemas.microsoft.com/office/drawing/2014/main" id="{22B69FDD-9400-4633-8149-84DA037E0A53}"/>
              </a:ext>
            </a:extLst>
          </p:cNvPr>
          <p:cNvSpPr>
            <a:spLocks xmlns:a="http://schemas.openxmlformats.org/drawingml/2006/main" noGrp="1"/>
          </p:cNvSpPr>
          <p:nvPr/>
        </p:nvSpPr>
        <p:spPr>
          <a:xfrm xmlns:a="http://schemas.openxmlformats.org/drawingml/2006/main" flipH="0" flipV="0">
            <a:off x="11007725" y="6496050"/>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49" name="!!other.2.flow.link1.tip">
            <a:extLst xmlns:a="http://schemas.openxmlformats.org/drawingml/2006/main">
              <a:ext uri="{FF2B5EF4-FFF2-40B4-BE49-F238E27FC236}">
                <a16:creationId xmlns:a16="http://schemas.microsoft.com/office/drawing/2014/main" id="{E3EF810B-AD27-4245-A06A-DEDBF5A235C4}"/>
              </a:ext>
            </a:extLst>
          </p:cNvPr>
          <p:cNvSpPr>
            <a:spLocks xmlns:a="http://schemas.openxmlformats.org/drawingml/2006/main" noGrp="1"/>
          </p:cNvSpPr>
          <p:nvPr/>
        </p:nvSpPr>
        <p:spPr>
          <a:xfrm xmlns:a="http://schemas.openxmlformats.org/drawingml/2006/main" rot="5400000">
            <a:off x="11160125" y="64389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50" name="!!other.2.flow.2">
            <a:extLst xmlns:a="http://schemas.openxmlformats.org/drawingml/2006/main">
              <a:ext uri="{FF2B5EF4-FFF2-40B4-BE49-F238E27FC236}">
                <a16:creationId xmlns:a16="http://schemas.microsoft.com/office/drawing/2014/main" id="{D55D487A-5617-40C5-A77F-A671AB2CFF54}"/>
              </a:ext>
            </a:extLst>
          </p:cNvPr>
          <p:cNvSpPr>
            <a:spLocks xmlns:a="http://schemas.openxmlformats.org/drawingml/2006/main" noGrp="1"/>
          </p:cNvSpPr>
          <p:nvPr/>
        </p:nvSpPr>
        <p:spPr>
          <a:xfrm xmlns:a="http://schemas.openxmlformats.org/drawingml/2006/main">
            <a:off x="11303000" y="6124575"/>
            <a:ext cx="3289300" cy="11049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20262C"/>
                </a:solidFill>
                <a:latin typeface="Arial"/>
                <a:ea typeface="Arial"/>
                <a:cs typeface="Arial"/>
              </a:defRPr>
            </a:defPPr>
            <a:lvl1pPr algn="ctr">
              <a:defRPr sz="1800" b="1">
                <a:solidFill>
                  <a:srgbClr val="20262C"/>
                </a:solidFill>
                <a:latin typeface="Arial"/>
                <a:ea typeface="Arial"/>
                <a:cs typeface="Arial"/>
              </a:defRPr>
            </a:lvl1pPr>
            <a:lvl2pPr algn="ctr">
              <a:defRPr sz="1800" b="1">
                <a:solidFill>
                  <a:srgbClr val="20262C"/>
                </a:solidFill>
                <a:latin typeface="Arial"/>
                <a:ea typeface="Arial"/>
                <a:cs typeface="Arial"/>
              </a:defRPr>
            </a:lvl2pPr>
            <a:lvl3pPr algn="ctr">
              <a:defRPr sz="1800" b="1">
                <a:solidFill>
                  <a:srgbClr val="20262C"/>
                </a:solidFill>
                <a:latin typeface="Arial"/>
                <a:ea typeface="Arial"/>
                <a:cs typeface="Arial"/>
              </a:defRPr>
            </a:lvl3pPr>
            <a:lvl4pPr algn="ctr">
              <a:defRPr sz="1800" b="1">
                <a:solidFill>
                  <a:srgbClr val="20262C"/>
                </a:solidFill>
                <a:latin typeface="Arial"/>
                <a:ea typeface="Arial"/>
                <a:cs typeface="Arial"/>
              </a:defRPr>
            </a:lvl4pPr>
            <a:lvl5pPr algn="ctr">
              <a:defRPr sz="1800" b="1">
                <a:solidFill>
                  <a:srgbClr val="20262C"/>
                </a:solidFill>
                <a:latin typeface="Arial"/>
                <a:ea typeface="Arial"/>
                <a:cs typeface="Arial"/>
              </a:defRPr>
            </a:lvl5pPr>
            <a:lvl6pPr algn="ctr">
              <a:defRPr sz="1800" b="1">
                <a:solidFill>
                  <a:srgbClr val="20262C"/>
                </a:solidFill>
                <a:latin typeface="Arial"/>
                <a:ea typeface="Arial"/>
                <a:cs typeface="Arial"/>
              </a:defRPr>
            </a:lvl6pPr>
            <a:lvl7pPr algn="ctr">
              <a:defRPr sz="1800" b="1">
                <a:solidFill>
                  <a:srgbClr val="20262C"/>
                </a:solidFill>
                <a:latin typeface="Arial"/>
                <a:ea typeface="Arial"/>
                <a:cs typeface="Arial"/>
              </a:defRPr>
            </a:lvl7pPr>
            <a:lvl8pPr algn="ctr">
              <a:defRPr sz="1800" b="1">
                <a:solidFill>
                  <a:srgbClr val="20262C"/>
                </a:solidFill>
                <a:latin typeface="Arial"/>
                <a:ea typeface="Arial"/>
                <a:cs typeface="Arial"/>
              </a:defRPr>
            </a:lvl8pPr>
            <a:lvl9pPr algn="ctr">
              <a:defRPr sz="1800" b="1">
                <a:solidFill>
                  <a:srgbClr val="20262C"/>
                </a:solidFill>
                <a:latin typeface="Arial"/>
                <a:ea typeface="Arial"/>
                <a:cs typeface="Arial"/>
              </a:defRPr>
            </a:lvl9pPr>
          </a:lstStyle>
          <a:p xmlns:a="http://schemas.openxmlformats.org/drawingml/2006/main">
            <a:pPr algn="ctr">
              <a:defRPr sz="1800" b="1">
                <a:solidFill>
                  <a:srgbClr val="20262C"/>
                </a:solidFill>
                <a:latin typeface="Arial"/>
                <a:ea typeface="Arial"/>
                <a:cs typeface="Arial"/>
              </a:defRPr>
            </a:pPr>
            <a:r>
              <a:rPr sz="1800" b="1">
                <a:solidFill>
                  <a:srgbClr val="20262C"/>
                </a:solidFill>
                <a:latin typeface="Arial"/>
                <a:ea typeface="Arial"/>
                <a:cs typeface="Arial"/>
              </a:rPr>
              <a:t>LLM drafts the analytical summary</a:t>
            </a:r>
          </a:p>
        </p:txBody>
      </p:sp>
    </p:spTree>
    <p:extLst>
      <p:ext uri="{BB962C8B-B14F-4D97-AF65-F5344CB8AC3E}">
        <p14:creationId xmlns:p14="http://schemas.microsoft.com/office/powerpoint/2010/main" val="1608397055"/>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heading">
            <a:extLst xmlns:a="http://schemas.openxmlformats.org/drawingml/2006/main">
              <a:ext uri="{FF2B5EF4-FFF2-40B4-BE49-F238E27FC236}">
                <a16:creationId xmlns:a16="http://schemas.microsoft.com/office/drawing/2014/main" id="{1215663C-E14F-4F1C-84B9-CED778EE9E78}"/>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Seven proposed applications</a:t>
            </a:r>
          </a:p>
        </p:txBody>
      </p:sp>
      <p:sp>
        <p:nvSpPr>
          <p:cNvPr id="2" name="!!subtitle">
            <a:extLst xmlns:a="http://schemas.openxmlformats.org/drawingml/2006/main">
              <a:ext uri="{FF2B5EF4-FFF2-40B4-BE49-F238E27FC236}">
                <a16:creationId xmlns:a16="http://schemas.microsoft.com/office/drawing/2014/main" id="{0E583D89-2844-4882-80C6-03165118A7AD}"/>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Proposed applications</a:t>
            </a:r>
          </a:p>
        </p:txBody>
      </p:sp>
      <p:sp>
        <p:nvSpPr>
          <p:cNvPr id="3" name="!!heading.rule">
            <a:extLst xmlns:a="http://schemas.openxmlformats.org/drawingml/2006/main">
              <a:ext uri="{FF2B5EF4-FFF2-40B4-BE49-F238E27FC236}">
                <a16:creationId xmlns:a16="http://schemas.microsoft.com/office/drawing/2014/main" id="{673A44C8-896D-48C8-926A-4F4D718C87B2}"/>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8FDAD361-476E-4A57-A6E2-03EE3053172B}"/>
              </a:ext>
            </a:extLst>
          </p:cNvPr>
          <p:cNvSpPr>
            <a:spLocks xmlns:a="http://schemas.openxmlformats.org/drawingml/2006/main" noGrp="1"/>
          </p:cNvSpPr>
          <p:nvPr/>
        </p:nvSpPr>
        <p:spPr>
          <a:xfrm xmlns:a="http://schemas.openxmlformats.org/drawingml/2006/main">
            <a:off x="647700" y="2114550"/>
            <a:ext cx="4419600" cy="44958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6A1FECCD-B16D-4217-A700-922B2D902D60}"/>
              </a:ext>
            </a:extLst>
          </p:cNvPr>
          <p:cNvSpPr>
            <a:spLocks xmlns:a="http://schemas.openxmlformats.org/drawingml/2006/main" noGrp="1"/>
          </p:cNvSpPr>
          <p:nvPr/>
        </p:nvSpPr>
        <p:spPr>
          <a:xfrm xmlns:a="http://schemas.openxmlformats.org/drawingml/2006/main">
            <a:off x="647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0CFEBE0-E12C-4FF1-958C-BC2792B43FF9}"/>
              </a:ext>
            </a:extLst>
          </p:cNvPr>
          <p:cNvSpPr>
            <a:spLocks xmlns:a="http://schemas.openxmlformats.org/drawingml/2006/main" noGrp="1"/>
          </p:cNvSpPr>
          <p:nvPr/>
        </p:nvSpPr>
        <p:spPr>
          <a:xfrm xmlns:a="http://schemas.openxmlformats.org/drawingml/2006/main">
            <a:off x="838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1  Research</a:t>
            </a:r>
          </a:p>
        </p:txBody>
      </p:sp>
      <p:sp>
        <p:nvSpPr>
          <p:cNvPr id="7" name="!!task.research.outcome">
            <a:extLst xmlns:a="http://schemas.openxmlformats.org/drawingml/2006/main">
              <a:ext uri="{FF2B5EF4-FFF2-40B4-BE49-F238E27FC236}">
                <a16:creationId xmlns:a16="http://schemas.microsoft.com/office/drawing/2014/main" id="{30D6C68F-537C-4F44-B7EB-AC7209584427}"/>
              </a:ext>
            </a:extLst>
          </p:cNvPr>
          <p:cNvSpPr>
            <a:spLocks xmlns:a="http://schemas.openxmlformats.org/drawingml/2006/main" noGrp="1"/>
          </p:cNvSpPr>
          <p:nvPr/>
        </p:nvSpPr>
        <p:spPr>
          <a:xfrm xmlns:a="http://schemas.openxmlformats.org/drawingml/2006/main">
            <a:off x="1047750" y="35242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Analysts: research summaries with source references</a:t>
            </a:r>
          </a:p>
        </p:txBody>
      </p:sp>
      <p:sp>
        <p:nvSpPr>
          <p:cNvPr id="8"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3B61FE0E-B01B-4517-8E60-96C62C77E438}"/>
              </a:ext>
            </a:extLst>
          </p:cNvPr>
          <p:cNvSpPr>
            <a:spLocks xmlns:a="http://schemas.openxmlformats.org/drawingml/2006/main" noGrp="1"/>
          </p:cNvSpPr>
          <p:nvPr/>
        </p:nvSpPr>
        <p:spPr>
          <a:xfrm xmlns:a="http://schemas.openxmlformats.org/drawingml/2006/main">
            <a:off x="838200" y="41433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2  Trading support</a:t>
            </a:r>
          </a:p>
        </p:txBody>
      </p:sp>
      <p:sp>
        <p:nvSpPr>
          <p:cNvPr id="9" name="!!task.trade.outcome">
            <a:extLst xmlns:a="http://schemas.openxmlformats.org/drawingml/2006/main">
              <a:ext uri="{FF2B5EF4-FFF2-40B4-BE49-F238E27FC236}">
                <a16:creationId xmlns:a16="http://schemas.microsoft.com/office/drawing/2014/main" id="{14C3C204-C263-4045-83A4-70B2D825B70E}"/>
              </a:ext>
            </a:extLst>
          </p:cNvPr>
          <p:cNvSpPr>
            <a:spLocks xmlns:a="http://schemas.openxmlformats.org/drawingml/2006/main" noGrp="1"/>
          </p:cNvSpPr>
          <p:nvPr/>
        </p:nvSpPr>
        <p:spPr>
          <a:xfrm xmlns:a="http://schemas.openxmlformats.org/drawingml/2006/main">
            <a:off x="1047750" y="47053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Traders: bond and quote summaries</a:t>
            </a:r>
          </a:p>
        </p:txBody>
      </p:sp>
      <p:sp>
        <p:nvSpPr>
          <p:cNvPr id="10"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B7BD74A-21B5-4A9C-A685-267988647964}"/>
              </a:ext>
            </a:extLst>
          </p:cNvPr>
          <p:cNvSpPr>
            <a:spLocks xmlns:a="http://schemas.openxmlformats.org/drawingml/2006/main" noGrp="1"/>
          </p:cNvSpPr>
          <p:nvPr/>
        </p:nvSpPr>
        <p:spPr>
          <a:xfrm xmlns:a="http://schemas.openxmlformats.org/drawingml/2006/main">
            <a:off x="838200" y="53244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3  Client materials</a:t>
            </a:r>
          </a:p>
        </p:txBody>
      </p:sp>
      <p:sp>
        <p:nvSpPr>
          <p:cNvPr id="11" name="!!task.client.outcome">
            <a:extLst xmlns:a="http://schemas.openxmlformats.org/drawingml/2006/main">
              <a:ext uri="{FF2B5EF4-FFF2-40B4-BE49-F238E27FC236}">
                <a16:creationId xmlns:a16="http://schemas.microsoft.com/office/drawing/2014/main" id="{EBE62538-3C84-490D-A5B7-17831D313616}"/>
              </a:ext>
            </a:extLst>
          </p:cNvPr>
          <p:cNvSpPr>
            <a:spLocks xmlns:a="http://schemas.openxmlformats.org/drawingml/2006/main" noGrp="1"/>
          </p:cNvSpPr>
          <p:nvPr/>
        </p:nvSpPr>
        <p:spPr>
          <a:xfrm xmlns:a="http://schemas.openxmlformats.org/drawingml/2006/main">
            <a:off x="1047750" y="58864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Client teams: updates and Q&amp;A</a:t>
            </a:r>
          </a:p>
        </p:txBody>
      </p:sp>
      <p:sp>
        <p:nvSpPr>
          <p:cNvPr id="12" name="!!map.middle">
            <a:extLst xmlns:a="http://schemas.openxmlformats.org/drawingml/2006/main">
              <a:ext uri="{FF2B5EF4-FFF2-40B4-BE49-F238E27FC236}">
                <a16:creationId xmlns:a16="http://schemas.microsoft.com/office/drawing/2014/main" id="{34139328-1F18-4884-9086-B1B95C137725}"/>
              </a:ext>
            </a:extLst>
          </p:cNvPr>
          <p:cNvSpPr>
            <a:spLocks xmlns:a="http://schemas.openxmlformats.org/drawingml/2006/main" noGrp="1"/>
          </p:cNvSpPr>
          <p:nvPr/>
        </p:nvSpPr>
        <p:spPr>
          <a:xfrm xmlns:a="http://schemas.openxmlformats.org/drawingml/2006/main">
            <a:off x="5410200" y="2114550"/>
            <a:ext cx="4419600" cy="44958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3"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21DCF91-9077-4A19-A382-0294C3D47320}"/>
              </a:ext>
            </a:extLst>
          </p:cNvPr>
          <p:cNvSpPr>
            <a:spLocks xmlns:a="http://schemas.openxmlformats.org/drawingml/2006/main" noGrp="1"/>
          </p:cNvSpPr>
          <p:nvPr/>
        </p:nvSpPr>
        <p:spPr>
          <a:xfrm xmlns:a="http://schemas.openxmlformats.org/drawingml/2006/main">
            <a:off x="54102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Middle office</a:t>
            </a:r>
          </a:p>
        </p:txBody>
      </p:sp>
      <p:sp>
        <p:nvSpPr>
          <p:cNvPr id="14"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D959D0A6-F9DF-4B63-9D32-4EA972578E89}"/>
              </a:ext>
            </a:extLst>
          </p:cNvPr>
          <p:cNvSpPr>
            <a:spLocks xmlns:a="http://schemas.openxmlformats.org/drawingml/2006/main" noGrp="1"/>
          </p:cNvSpPr>
          <p:nvPr/>
        </p:nvSpPr>
        <p:spPr>
          <a:xfrm xmlns:a="http://schemas.openxmlformats.org/drawingml/2006/main">
            <a:off x="56007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4  Content review</a:t>
            </a:r>
          </a:p>
        </p:txBody>
      </p:sp>
      <p:sp>
        <p:nvSpPr>
          <p:cNvPr id="15" name="!!task.review.outcome">
            <a:extLst xmlns:a="http://schemas.openxmlformats.org/drawingml/2006/main">
              <a:ext uri="{FF2B5EF4-FFF2-40B4-BE49-F238E27FC236}">
                <a16:creationId xmlns:a16="http://schemas.microsoft.com/office/drawing/2014/main" id="{65E9C240-3CE3-482D-A40C-D53B0497BDF2}"/>
              </a:ext>
            </a:extLst>
          </p:cNvPr>
          <p:cNvSpPr>
            <a:spLocks xmlns:a="http://schemas.openxmlformats.org/drawingml/2006/main" noGrp="1"/>
          </p:cNvSpPr>
          <p:nvPr/>
        </p:nvSpPr>
        <p:spPr>
          <a:xfrm xmlns:a="http://schemas.openxmlformats.org/drawingml/2006/main">
            <a:off x="5810250" y="35242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Reviewers: explained findings and proposed edits</a:t>
            </a:r>
          </a:p>
        </p:txBody>
      </p:sp>
      <p:sp>
        <p:nvSpPr>
          <p:cNvPr id="16"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71EDAB76-A207-4314-AC11-3C2D2AA54CCE}"/>
              </a:ext>
            </a:extLst>
          </p:cNvPr>
          <p:cNvSpPr>
            <a:spLocks xmlns:a="http://schemas.openxmlformats.org/drawingml/2006/main" noGrp="1"/>
          </p:cNvSpPr>
          <p:nvPr/>
        </p:nvSpPr>
        <p:spPr>
          <a:xfrm xmlns:a="http://schemas.openxmlformats.org/drawingml/2006/main">
            <a:off x="5600700" y="41433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5  Risk analysis</a:t>
            </a:r>
          </a:p>
        </p:txBody>
      </p:sp>
      <p:sp>
        <p:nvSpPr>
          <p:cNvPr id="17" name="!!task.risk.outcome">
            <a:extLst xmlns:a="http://schemas.openxmlformats.org/drawingml/2006/main">
              <a:ext uri="{FF2B5EF4-FFF2-40B4-BE49-F238E27FC236}">
                <a16:creationId xmlns:a16="http://schemas.microsoft.com/office/drawing/2014/main" id="{76E09871-76D3-4E87-9D4E-39B22DA08094}"/>
              </a:ext>
            </a:extLst>
          </p:cNvPr>
          <p:cNvSpPr>
            <a:spLocks xmlns:a="http://schemas.openxmlformats.org/drawingml/2006/main" noGrp="1"/>
          </p:cNvSpPr>
          <p:nvPr/>
        </p:nvSpPr>
        <p:spPr>
          <a:xfrm xmlns:a="http://schemas.openxmlformats.org/drawingml/2006/main">
            <a:off x="5810250" y="47053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Risk teams: assessments and follow-up tasks</a:t>
            </a:r>
          </a:p>
        </p:txBody>
      </p:sp>
      <p:sp>
        <p:nvSpPr>
          <p:cNvPr id="18" name="!!map.back">
            <a:extLst xmlns:a="http://schemas.openxmlformats.org/drawingml/2006/main">
              <a:ext uri="{FF2B5EF4-FFF2-40B4-BE49-F238E27FC236}">
                <a16:creationId xmlns:a16="http://schemas.microsoft.com/office/drawing/2014/main" id="{7743D2F6-C9E5-4155-A58F-03D00EC64405}"/>
              </a:ext>
            </a:extLst>
          </p:cNvPr>
          <p:cNvSpPr>
            <a:spLocks xmlns:a="http://schemas.openxmlformats.org/drawingml/2006/main" noGrp="1"/>
          </p:cNvSpPr>
          <p:nvPr/>
        </p:nvSpPr>
        <p:spPr>
          <a:xfrm xmlns:a="http://schemas.openxmlformats.org/drawingml/2006/main">
            <a:off x="10172700" y="2114550"/>
            <a:ext cx="4419600" cy="44958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9"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3CC9D681-4193-4213-8B66-33D1DAEF9BB4}"/>
              </a:ext>
            </a:extLst>
          </p:cNvPr>
          <p:cNvSpPr>
            <a:spLocks xmlns:a="http://schemas.openxmlformats.org/drawingml/2006/main" noGrp="1"/>
          </p:cNvSpPr>
          <p:nvPr/>
        </p:nvSpPr>
        <p:spPr>
          <a:xfrm xmlns:a="http://schemas.openxmlformats.org/drawingml/2006/main">
            <a:off x="10172700" y="2114550"/>
            <a:ext cx="4419600" cy="55245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475" b="1">
                <a:solidFill>
                  <a:srgbClr val="FFFFFF"/>
                </a:solidFill>
                <a:latin typeface="Arial"/>
                <a:ea typeface="Arial"/>
                <a:cs typeface="Arial"/>
              </a:defRPr>
            </a:defPPr>
            <a:lvl1pPr algn="ctr">
              <a:defRPr sz="2475" b="1">
                <a:solidFill>
                  <a:srgbClr val="FFFFFF"/>
                </a:solidFill>
                <a:latin typeface="Arial"/>
                <a:ea typeface="Arial"/>
                <a:cs typeface="Arial"/>
              </a:defRPr>
            </a:lvl1pPr>
            <a:lvl2pPr algn="ctr">
              <a:defRPr sz="2475" b="1">
                <a:solidFill>
                  <a:srgbClr val="FFFFFF"/>
                </a:solidFill>
                <a:latin typeface="Arial"/>
                <a:ea typeface="Arial"/>
                <a:cs typeface="Arial"/>
              </a:defRPr>
            </a:lvl2pPr>
            <a:lvl3pPr algn="ctr">
              <a:defRPr sz="2475" b="1">
                <a:solidFill>
                  <a:srgbClr val="FFFFFF"/>
                </a:solidFill>
                <a:latin typeface="Arial"/>
                <a:ea typeface="Arial"/>
                <a:cs typeface="Arial"/>
              </a:defRPr>
            </a:lvl3pPr>
            <a:lvl4pPr algn="ctr">
              <a:defRPr sz="2475" b="1">
                <a:solidFill>
                  <a:srgbClr val="FFFFFF"/>
                </a:solidFill>
                <a:latin typeface="Arial"/>
                <a:ea typeface="Arial"/>
                <a:cs typeface="Arial"/>
              </a:defRPr>
            </a:lvl4pPr>
            <a:lvl5pPr algn="ctr">
              <a:defRPr sz="2475" b="1">
                <a:solidFill>
                  <a:srgbClr val="FFFFFF"/>
                </a:solidFill>
                <a:latin typeface="Arial"/>
                <a:ea typeface="Arial"/>
                <a:cs typeface="Arial"/>
              </a:defRPr>
            </a:lvl5pPr>
            <a:lvl6pPr algn="ctr">
              <a:defRPr sz="2475" b="1">
                <a:solidFill>
                  <a:srgbClr val="FFFFFF"/>
                </a:solidFill>
                <a:latin typeface="Arial"/>
                <a:ea typeface="Arial"/>
                <a:cs typeface="Arial"/>
              </a:defRPr>
            </a:lvl6pPr>
            <a:lvl7pPr algn="ctr">
              <a:defRPr sz="2475" b="1">
                <a:solidFill>
                  <a:srgbClr val="FFFFFF"/>
                </a:solidFill>
                <a:latin typeface="Arial"/>
                <a:ea typeface="Arial"/>
                <a:cs typeface="Arial"/>
              </a:defRPr>
            </a:lvl7pPr>
            <a:lvl8pPr algn="ctr">
              <a:defRPr sz="2475" b="1">
                <a:solidFill>
                  <a:srgbClr val="FFFFFF"/>
                </a:solidFill>
                <a:latin typeface="Arial"/>
                <a:ea typeface="Arial"/>
                <a:cs typeface="Arial"/>
              </a:defRPr>
            </a:lvl8pPr>
            <a:lvl9pPr algn="ctr">
              <a:defRPr sz="2475" b="1">
                <a:solidFill>
                  <a:srgbClr val="FFFFFF"/>
                </a:solidFill>
                <a:latin typeface="Arial"/>
                <a:ea typeface="Arial"/>
                <a:cs typeface="Arial"/>
              </a:defRPr>
            </a:lvl9pPr>
          </a:lstStyle>
          <a:p xmlns:a="http://schemas.openxmlformats.org/drawingml/2006/main">
            <a:pPr algn="ctr">
              <a:defRPr sz="2475" b="1">
                <a:solidFill>
                  <a:srgbClr val="FFFFFF"/>
                </a:solidFill>
                <a:latin typeface="Arial"/>
                <a:ea typeface="Arial"/>
                <a:cs typeface="Arial"/>
              </a:defRPr>
            </a:pPr>
            <a:r>
              <a:rPr sz="2475" b="1">
                <a:solidFill>
                  <a:srgbClr val="FFFFFF"/>
                </a:solidFill>
                <a:latin typeface="Arial"/>
                <a:ea typeface="Arial"/>
                <a:cs typeface="Arial"/>
              </a:rPr>
              <a:t>Back office</a:t>
            </a:r>
          </a:p>
        </p:txBody>
      </p:sp>
      <p:sp>
        <p:nvSpPr>
          <p:cNvPr id="20"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51AB6D-0D08-4A96-8E29-D8D252016A1A}"/>
              </a:ext>
            </a:extLst>
          </p:cNvPr>
          <p:cNvSpPr>
            <a:spLocks xmlns:a="http://schemas.openxmlformats.org/drawingml/2006/main" noGrp="1"/>
          </p:cNvSpPr>
          <p:nvPr/>
        </p:nvSpPr>
        <p:spPr>
          <a:xfrm xmlns:a="http://schemas.openxmlformats.org/drawingml/2006/main">
            <a:off x="10363200" y="29622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6  Document processing</a:t>
            </a:r>
          </a:p>
        </p:txBody>
      </p:sp>
      <p:sp>
        <p:nvSpPr>
          <p:cNvPr id="21" name="!!task.files.outcome">
            <a:extLst xmlns:a="http://schemas.openxmlformats.org/drawingml/2006/main">
              <a:ext uri="{FF2B5EF4-FFF2-40B4-BE49-F238E27FC236}">
                <a16:creationId xmlns:a16="http://schemas.microsoft.com/office/drawing/2014/main" id="{D45D27A6-377B-4F3F-8313-074AEB34B579}"/>
              </a:ext>
            </a:extLst>
          </p:cNvPr>
          <p:cNvSpPr>
            <a:spLocks xmlns:a="http://schemas.openxmlformats.org/drawingml/2006/main" noGrp="1"/>
          </p:cNvSpPr>
          <p:nvPr/>
        </p:nvSpPr>
        <p:spPr>
          <a:xfrm xmlns:a="http://schemas.openxmlformats.org/drawingml/2006/main">
            <a:off x="10572750" y="35242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88" b="0">
                <a:solidFill>
                  <a:srgbClr val="707C88"/>
                </a:solidFill>
                <a:latin typeface="Arial"/>
                <a:ea typeface="Arial"/>
                <a:cs typeface="Arial"/>
              </a:defRPr>
            </a:defPPr>
            <a:lvl1pPr algn="l">
              <a:defRPr sz="1688" b="0">
                <a:solidFill>
                  <a:srgbClr val="707C88"/>
                </a:solidFill>
                <a:latin typeface="Arial"/>
                <a:ea typeface="Arial"/>
                <a:cs typeface="Arial"/>
              </a:defRPr>
            </a:lvl1pPr>
            <a:lvl2pPr algn="l">
              <a:defRPr sz="1688" b="0">
                <a:solidFill>
                  <a:srgbClr val="707C88"/>
                </a:solidFill>
                <a:latin typeface="Arial"/>
                <a:ea typeface="Arial"/>
                <a:cs typeface="Arial"/>
              </a:defRPr>
            </a:lvl2pPr>
            <a:lvl3pPr algn="l">
              <a:defRPr sz="1688" b="0">
                <a:solidFill>
                  <a:srgbClr val="707C88"/>
                </a:solidFill>
                <a:latin typeface="Arial"/>
                <a:ea typeface="Arial"/>
                <a:cs typeface="Arial"/>
              </a:defRPr>
            </a:lvl3pPr>
            <a:lvl4pPr algn="l">
              <a:defRPr sz="1688" b="0">
                <a:solidFill>
                  <a:srgbClr val="707C88"/>
                </a:solidFill>
                <a:latin typeface="Arial"/>
                <a:ea typeface="Arial"/>
                <a:cs typeface="Arial"/>
              </a:defRPr>
            </a:lvl4pPr>
            <a:lvl5pPr algn="l">
              <a:defRPr sz="1688" b="0">
                <a:solidFill>
                  <a:srgbClr val="707C88"/>
                </a:solidFill>
                <a:latin typeface="Arial"/>
                <a:ea typeface="Arial"/>
                <a:cs typeface="Arial"/>
              </a:defRPr>
            </a:lvl5pPr>
            <a:lvl6pPr algn="l">
              <a:defRPr sz="1688" b="0">
                <a:solidFill>
                  <a:srgbClr val="707C88"/>
                </a:solidFill>
                <a:latin typeface="Arial"/>
                <a:ea typeface="Arial"/>
                <a:cs typeface="Arial"/>
              </a:defRPr>
            </a:lvl6pPr>
            <a:lvl7pPr algn="l">
              <a:defRPr sz="1688" b="0">
                <a:solidFill>
                  <a:srgbClr val="707C88"/>
                </a:solidFill>
                <a:latin typeface="Arial"/>
                <a:ea typeface="Arial"/>
                <a:cs typeface="Arial"/>
              </a:defRPr>
            </a:lvl7pPr>
            <a:lvl8pPr algn="l">
              <a:defRPr sz="1688" b="0">
                <a:solidFill>
                  <a:srgbClr val="707C88"/>
                </a:solidFill>
                <a:latin typeface="Arial"/>
                <a:ea typeface="Arial"/>
                <a:cs typeface="Arial"/>
              </a:defRPr>
            </a:lvl8pPr>
            <a:lvl9pPr algn="l">
              <a:defRPr sz="1688" b="0">
                <a:solidFill>
                  <a:srgbClr val="707C88"/>
                </a:solidFill>
                <a:latin typeface="Arial"/>
                <a:ea typeface="Arial"/>
                <a:cs typeface="Arial"/>
              </a:defRPr>
            </a:lvl9pPr>
          </a:lstStyle>
          <a:p xmlns:a="http://schemas.openxmlformats.org/drawingml/2006/main">
            <a:pPr algn="l">
              <a:defRPr sz="1688" b="0">
                <a:solidFill>
                  <a:srgbClr val="707C88"/>
                </a:solidFill>
                <a:latin typeface="Arial"/>
                <a:ea typeface="Arial"/>
                <a:cs typeface="Arial"/>
              </a:defRPr>
            </a:pPr>
            <a:r>
              <a:rPr sz="1688" b="0">
                <a:solidFill>
                  <a:srgbClr val="707C88"/>
                </a:solidFill>
                <a:latin typeface="Arial"/>
                <a:ea typeface="Arial"/>
                <a:cs typeface="Arial"/>
              </a:rPr>
              <a:t>Operations: records and</a:t>
            </a:r>
          </a:p>
          <a:p xmlns:a="http://schemas.openxmlformats.org/drawingml/2006/main">
            <a:pPr algn="l">
              <a:defRPr sz="1688" b="0">
                <a:solidFill>
                  <a:srgbClr val="707C88"/>
                </a:solidFill>
                <a:latin typeface="Arial"/>
                <a:ea typeface="Arial"/>
                <a:cs typeface="Arial"/>
              </a:defRPr>
            </a:pPr>
            <a:r>
              <a:rPr sz="1688" b="0">
                <a:solidFill>
                  <a:srgbClr val="707C88"/>
                </a:solidFill>
                <a:latin typeface="Arial"/>
                <a:ea typeface="Arial"/>
                <a:cs typeface="Arial"/>
              </a:rPr>
              <a:t>change summaries</a:t>
            </a:r>
          </a:p>
        </p:txBody>
      </p:sp>
      <p:sp>
        <p:nvSpPr>
          <p:cNvPr id="22"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DBAE4ADD-7CE5-47A8-88BB-50ED753BD83E}"/>
              </a:ext>
            </a:extLst>
          </p:cNvPr>
          <p:cNvSpPr>
            <a:spLocks xmlns:a="http://schemas.openxmlformats.org/drawingml/2006/main" noGrp="1"/>
          </p:cNvSpPr>
          <p:nvPr/>
        </p:nvSpPr>
        <p:spPr>
          <a:xfrm xmlns:a="http://schemas.openxmlformats.org/drawingml/2006/main">
            <a:off x="10363200" y="4143375"/>
            <a:ext cx="4038600" cy="523875"/>
          </a:xfrm>
          <a:prstGeom xmlns:a="http://schemas.openxmlformats.org/drawingml/2006/main" prst="rect">
            <a:avLst/>
          </a:prstGeom>
          <a:solidFill xmlns:a="http://schemas.openxmlformats.org/drawingml/2006/main">
            <a:srgbClr val="D9EAF7"/>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005A9C"/>
                </a:solidFill>
                <a:latin typeface="Arial"/>
                <a:ea typeface="Arial"/>
                <a:cs typeface="Arial"/>
              </a:defRPr>
            </a:defPPr>
            <a:lvl1pPr algn="ctr">
              <a:defRPr sz="2250" b="1">
                <a:solidFill>
                  <a:srgbClr val="005A9C"/>
                </a:solidFill>
                <a:latin typeface="Arial"/>
                <a:ea typeface="Arial"/>
                <a:cs typeface="Arial"/>
              </a:defRPr>
            </a:lvl1pPr>
            <a:lvl2pPr algn="ctr">
              <a:defRPr sz="2250" b="1">
                <a:solidFill>
                  <a:srgbClr val="005A9C"/>
                </a:solidFill>
                <a:latin typeface="Arial"/>
                <a:ea typeface="Arial"/>
                <a:cs typeface="Arial"/>
              </a:defRPr>
            </a:lvl2pPr>
            <a:lvl3pPr algn="ctr">
              <a:defRPr sz="2250" b="1">
                <a:solidFill>
                  <a:srgbClr val="005A9C"/>
                </a:solidFill>
                <a:latin typeface="Arial"/>
                <a:ea typeface="Arial"/>
                <a:cs typeface="Arial"/>
              </a:defRPr>
            </a:lvl3pPr>
            <a:lvl4pPr algn="ctr">
              <a:defRPr sz="2250" b="1">
                <a:solidFill>
                  <a:srgbClr val="005A9C"/>
                </a:solidFill>
                <a:latin typeface="Arial"/>
                <a:ea typeface="Arial"/>
                <a:cs typeface="Arial"/>
              </a:defRPr>
            </a:lvl4pPr>
            <a:lvl5pPr algn="ctr">
              <a:defRPr sz="2250" b="1">
                <a:solidFill>
                  <a:srgbClr val="005A9C"/>
                </a:solidFill>
                <a:latin typeface="Arial"/>
                <a:ea typeface="Arial"/>
                <a:cs typeface="Arial"/>
              </a:defRPr>
            </a:lvl5pPr>
            <a:lvl6pPr algn="ctr">
              <a:defRPr sz="2250" b="1">
                <a:solidFill>
                  <a:srgbClr val="005A9C"/>
                </a:solidFill>
                <a:latin typeface="Arial"/>
                <a:ea typeface="Arial"/>
                <a:cs typeface="Arial"/>
              </a:defRPr>
            </a:lvl6pPr>
            <a:lvl7pPr algn="ctr">
              <a:defRPr sz="2250" b="1">
                <a:solidFill>
                  <a:srgbClr val="005A9C"/>
                </a:solidFill>
                <a:latin typeface="Arial"/>
                <a:ea typeface="Arial"/>
                <a:cs typeface="Arial"/>
              </a:defRPr>
            </a:lvl7pPr>
            <a:lvl8pPr algn="ctr">
              <a:defRPr sz="2250" b="1">
                <a:solidFill>
                  <a:srgbClr val="005A9C"/>
                </a:solidFill>
                <a:latin typeface="Arial"/>
                <a:ea typeface="Arial"/>
                <a:cs typeface="Arial"/>
              </a:defRPr>
            </a:lvl8pPr>
            <a:lvl9pPr algn="ctr">
              <a:defRPr sz="2250" b="1">
                <a:solidFill>
                  <a:srgbClr val="005A9C"/>
                </a:solidFill>
                <a:latin typeface="Arial"/>
                <a:ea typeface="Arial"/>
                <a:cs typeface="Arial"/>
              </a:defRPr>
            </a:lvl9pPr>
          </a:lstStyle>
          <a:p xmlns:a="http://schemas.openxmlformats.org/drawingml/2006/main">
            <a:pPr algn="ctr">
              <a:defRPr sz="2250" b="1">
                <a:solidFill>
                  <a:srgbClr val="005A9C"/>
                </a:solidFill>
                <a:latin typeface="Arial"/>
                <a:ea typeface="Arial"/>
                <a:cs typeface="Arial"/>
              </a:defRPr>
            </a:pPr>
            <a:r>
              <a:rPr sz="2250" b="1">
                <a:solidFill>
                  <a:srgbClr val="005A9C"/>
                </a:solidFill>
                <a:latin typeface="Arial"/>
                <a:ea typeface="Arial"/>
                <a:cs typeface="Arial"/>
              </a:rPr>
              <a:t>7  Tool development</a:t>
            </a:r>
          </a:p>
        </p:txBody>
      </p:sp>
      <p:sp>
        <p:nvSpPr>
          <p:cNvPr id="23" name="!!task.dev.outcome">
            <a:extLst xmlns:a="http://schemas.openxmlformats.org/drawingml/2006/main">
              <a:ext uri="{FF2B5EF4-FFF2-40B4-BE49-F238E27FC236}">
                <a16:creationId xmlns:a16="http://schemas.microsoft.com/office/drawing/2014/main" id="{887FBDDB-0083-4104-BDED-8BB69D8400AF}"/>
              </a:ext>
            </a:extLst>
          </p:cNvPr>
          <p:cNvSpPr>
            <a:spLocks xmlns:a="http://schemas.openxmlformats.org/drawingml/2006/main" noGrp="1"/>
          </p:cNvSpPr>
          <p:nvPr/>
        </p:nvSpPr>
        <p:spPr>
          <a:xfrm xmlns:a="http://schemas.openxmlformats.org/drawingml/2006/main">
            <a:off x="10572750" y="4705350"/>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07C88"/>
                </a:solidFill>
                <a:latin typeface="Arial"/>
                <a:ea typeface="Arial"/>
                <a:cs typeface="Arial"/>
              </a:defRPr>
            </a:defPPr>
            <a:lvl1pPr algn="l">
              <a:defRPr sz="1725" b="0">
                <a:solidFill>
                  <a:srgbClr val="707C88"/>
                </a:solidFill>
                <a:latin typeface="Arial"/>
                <a:ea typeface="Arial"/>
                <a:cs typeface="Arial"/>
              </a:defRPr>
            </a:lvl1pPr>
            <a:lvl2pPr algn="l">
              <a:defRPr sz="1725" b="0">
                <a:solidFill>
                  <a:srgbClr val="707C88"/>
                </a:solidFill>
                <a:latin typeface="Arial"/>
                <a:ea typeface="Arial"/>
                <a:cs typeface="Arial"/>
              </a:defRPr>
            </a:lvl2pPr>
            <a:lvl3pPr algn="l">
              <a:defRPr sz="1725" b="0">
                <a:solidFill>
                  <a:srgbClr val="707C88"/>
                </a:solidFill>
                <a:latin typeface="Arial"/>
                <a:ea typeface="Arial"/>
                <a:cs typeface="Arial"/>
              </a:defRPr>
            </a:lvl3pPr>
            <a:lvl4pPr algn="l">
              <a:defRPr sz="1725" b="0">
                <a:solidFill>
                  <a:srgbClr val="707C88"/>
                </a:solidFill>
                <a:latin typeface="Arial"/>
                <a:ea typeface="Arial"/>
                <a:cs typeface="Arial"/>
              </a:defRPr>
            </a:lvl4pPr>
            <a:lvl5pPr algn="l">
              <a:defRPr sz="1725" b="0">
                <a:solidFill>
                  <a:srgbClr val="707C88"/>
                </a:solidFill>
                <a:latin typeface="Arial"/>
                <a:ea typeface="Arial"/>
                <a:cs typeface="Arial"/>
              </a:defRPr>
            </a:lvl5pPr>
            <a:lvl6pPr algn="l">
              <a:defRPr sz="1725" b="0">
                <a:solidFill>
                  <a:srgbClr val="707C88"/>
                </a:solidFill>
                <a:latin typeface="Arial"/>
                <a:ea typeface="Arial"/>
                <a:cs typeface="Arial"/>
              </a:defRPr>
            </a:lvl6pPr>
            <a:lvl7pPr algn="l">
              <a:defRPr sz="1725" b="0">
                <a:solidFill>
                  <a:srgbClr val="707C88"/>
                </a:solidFill>
                <a:latin typeface="Arial"/>
                <a:ea typeface="Arial"/>
                <a:cs typeface="Arial"/>
              </a:defRPr>
            </a:lvl7pPr>
            <a:lvl8pPr algn="l">
              <a:defRPr sz="1725" b="0">
                <a:solidFill>
                  <a:srgbClr val="707C88"/>
                </a:solidFill>
                <a:latin typeface="Arial"/>
                <a:ea typeface="Arial"/>
                <a:cs typeface="Arial"/>
              </a:defRPr>
            </a:lvl8pPr>
            <a:lvl9pPr algn="l">
              <a:defRPr sz="1725" b="0">
                <a:solidFill>
                  <a:srgbClr val="707C88"/>
                </a:solidFill>
                <a:latin typeface="Arial"/>
                <a:ea typeface="Arial"/>
                <a:cs typeface="Arial"/>
              </a:defRPr>
            </a:lvl9pPr>
          </a:lstStyle>
          <a:p xmlns:a="http://schemas.openxmlformats.org/drawingml/2006/main">
            <a:pPr algn="l">
              <a:defRPr sz="1725" b="0">
                <a:solidFill>
                  <a:srgbClr val="707C88"/>
                </a:solidFill>
                <a:latin typeface="Arial"/>
                <a:ea typeface="Arial"/>
                <a:cs typeface="Arial"/>
              </a:defRPr>
            </a:pPr>
            <a:r>
              <a:rPr sz="1725" b="0">
                <a:solidFill>
                  <a:srgbClr val="707C88"/>
                </a:solidFill>
                <a:latin typeface="Arial"/>
                <a:ea typeface="Arial"/>
                <a:cs typeface="Arial"/>
              </a:rPr>
              <a:t>Developers: code and test cases</a:t>
            </a:r>
          </a:p>
        </p:txBody>
      </p:sp>
      <p:sp>
        <p:nvSpPr>
          <p:cNvPr id="24"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7C31D1B-65A7-4A84-848E-9F2B82F6F48D}"/>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5" name="!!page">
            <a:extLst xmlns:a="http://schemas.openxmlformats.org/drawingml/2006/main">
              <a:ext uri="{FF2B5EF4-FFF2-40B4-BE49-F238E27FC236}">
                <a16:creationId xmlns:a16="http://schemas.microsoft.com/office/drawing/2014/main" id="{41F771AA-2736-4C97-AAD7-573D6C7F75CB}"/>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29 / 33</a:t>
            </a:r>
          </a:p>
        </p:txBody>
      </p:sp>
      <p:sp>
        <p:nvSpPr>
          <p:cNvPr id="26" name="!!nav.prev">
            <ns0:hlinkClick xmlns:ns0="http://schemas.openxmlformats.org/drawingml/2006/main" xmlns:ns1="http://schemas.openxmlformats.org/officeDocument/2006/relationships" ns1:id="rIdNavSlide28" action="ppaction://hlinksldjump" tooltip="Slide 28: Other back-office applications"/>
            <a:extLst xmlns:a="http://schemas.openxmlformats.org/drawingml/2006/main">
              <a:ext uri="{FF2B5EF4-FFF2-40B4-BE49-F238E27FC236}">
                <a16:creationId xmlns:a16="http://schemas.microsoft.com/office/drawing/2014/main" id="{CFC57306-432C-40AA-B343-64F369229D52}"/>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7" name="!!nav.next">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788A442F-FE47-4F72-8CB5-742AF93A87AE}"/>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8" name="!!footer.rule">
            <a:extLst xmlns:a="http://schemas.openxmlformats.org/drawingml/2006/main">
              <a:ext uri="{FF2B5EF4-FFF2-40B4-BE49-F238E27FC236}">
                <a16:creationId xmlns:a16="http://schemas.microsoft.com/office/drawing/2014/main" id="{40BB7895-36E0-4CB2-AC4A-493FB83E8594}"/>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9" name="!!source">
            <a:extLst xmlns:a="http://schemas.openxmlformats.org/drawingml/2006/main">
              <a:ext uri="{FF2B5EF4-FFF2-40B4-BE49-F238E27FC236}">
                <a16:creationId xmlns:a16="http://schemas.microsoft.com/office/drawing/2014/main" id="{3693606A-57C5-4DD6-9A5C-D64447D5BF8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Southern; Penghua; China Universal; ICBCUBS; E Fund</a:t>
            </a:r>
          </a:p>
        </p:txBody>
      </p:sp>
      <p:sp>
        <p:nvSpPr>
          <p:cNvPr id="30" name="!!recommend.head">
            <a:extLst xmlns:a="http://schemas.openxmlformats.org/drawingml/2006/main">
              <a:ext uri="{FF2B5EF4-FFF2-40B4-BE49-F238E27FC236}">
                <a16:creationId xmlns:a16="http://schemas.microsoft.com/office/drawing/2014/main" id="{665C56B3-05E8-4D81-997D-5E462AEFF4CB}"/>
              </a:ext>
            </a:extLst>
          </p:cNvPr>
          <p:cNvSpPr>
            <a:spLocks xmlns:a="http://schemas.openxmlformats.org/drawingml/2006/main" noGrp="1"/>
          </p:cNvSpPr>
          <p:nvPr/>
        </p:nvSpPr>
        <p:spPr>
          <a:xfrm xmlns:a="http://schemas.openxmlformats.org/drawingml/2006/main">
            <a:off x="647700" y="6562725"/>
            <a:ext cx="13944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5A9C"/>
                </a:solidFill>
                <a:latin typeface="Arial"/>
                <a:ea typeface="Arial"/>
                <a:cs typeface="Arial"/>
              </a:defRPr>
            </a:defPPr>
            <a:lvl1pPr algn="l">
              <a:defRPr sz="2400" b="1">
                <a:solidFill>
                  <a:srgbClr val="005A9C"/>
                </a:solidFill>
                <a:latin typeface="Arial"/>
                <a:ea typeface="Arial"/>
                <a:cs typeface="Arial"/>
              </a:defRPr>
            </a:lvl1pPr>
            <a:lvl2pPr algn="l">
              <a:defRPr sz="2400" b="1">
                <a:solidFill>
                  <a:srgbClr val="005A9C"/>
                </a:solidFill>
                <a:latin typeface="Arial"/>
                <a:ea typeface="Arial"/>
                <a:cs typeface="Arial"/>
              </a:defRPr>
            </a:lvl2pPr>
            <a:lvl3pPr algn="l">
              <a:defRPr sz="2400" b="1">
                <a:solidFill>
                  <a:srgbClr val="005A9C"/>
                </a:solidFill>
                <a:latin typeface="Arial"/>
                <a:ea typeface="Arial"/>
                <a:cs typeface="Arial"/>
              </a:defRPr>
            </a:lvl3pPr>
            <a:lvl4pPr algn="l">
              <a:defRPr sz="2400" b="1">
                <a:solidFill>
                  <a:srgbClr val="005A9C"/>
                </a:solidFill>
                <a:latin typeface="Arial"/>
                <a:ea typeface="Arial"/>
                <a:cs typeface="Arial"/>
              </a:defRPr>
            </a:lvl4pPr>
            <a:lvl5pPr algn="l">
              <a:defRPr sz="2400" b="1">
                <a:solidFill>
                  <a:srgbClr val="005A9C"/>
                </a:solidFill>
                <a:latin typeface="Arial"/>
                <a:ea typeface="Arial"/>
                <a:cs typeface="Arial"/>
              </a:defRPr>
            </a:lvl5pPr>
            <a:lvl6pPr algn="l">
              <a:defRPr sz="2400" b="1">
                <a:solidFill>
                  <a:srgbClr val="005A9C"/>
                </a:solidFill>
                <a:latin typeface="Arial"/>
                <a:ea typeface="Arial"/>
                <a:cs typeface="Arial"/>
              </a:defRPr>
            </a:lvl6pPr>
            <a:lvl7pPr algn="l">
              <a:defRPr sz="2400" b="1">
                <a:solidFill>
                  <a:srgbClr val="005A9C"/>
                </a:solidFill>
                <a:latin typeface="Arial"/>
                <a:ea typeface="Arial"/>
                <a:cs typeface="Arial"/>
              </a:defRPr>
            </a:lvl7pPr>
            <a:lvl8pPr algn="l">
              <a:defRPr sz="2400" b="1">
                <a:solidFill>
                  <a:srgbClr val="005A9C"/>
                </a:solidFill>
                <a:latin typeface="Arial"/>
                <a:ea typeface="Arial"/>
                <a:cs typeface="Arial"/>
              </a:defRPr>
            </a:lvl8pPr>
            <a:lvl9pPr algn="l">
              <a:defRPr sz="2400" b="1">
                <a:solidFill>
                  <a:srgbClr val="005A9C"/>
                </a:solidFill>
                <a:latin typeface="Arial"/>
                <a:ea typeface="Arial"/>
                <a:cs typeface="Arial"/>
              </a:defRPr>
            </a:lvl9pPr>
          </a:lstStyle>
          <a:p xmlns:a="http://schemas.openxmlformats.org/drawingml/2006/main">
            <a:pPr algn="l">
              <a:defRPr sz="2400" b="1">
                <a:solidFill>
                  <a:srgbClr val="005A9C"/>
                </a:solidFill>
                <a:latin typeface="Arial"/>
                <a:ea typeface="Arial"/>
                <a:cs typeface="Arial"/>
              </a:defRPr>
            </a:pPr>
            <a:r>
              <a:rPr sz="2400" b="1">
                <a:solidFill>
                  <a:srgbClr val="005A9C"/>
                </a:solidFill>
                <a:latin typeface="Arial"/>
                <a:ea typeface="Arial"/>
                <a:cs typeface="Arial"/>
              </a:rPr>
              <a:t/>
            </a:r>
          </a:p>
        </p:txBody>
      </p:sp>
      <p:sp>
        <p:nvSpPr>
          <p:cNvPr id="31" name="!!recommend.body">
            <a:extLst xmlns:a="http://schemas.openxmlformats.org/drawingml/2006/main">
              <a:ext uri="{FF2B5EF4-FFF2-40B4-BE49-F238E27FC236}">
                <a16:creationId xmlns:a16="http://schemas.microsoft.com/office/drawing/2014/main" id="{85205C78-55C3-49C1-9534-4FA889F72AB5}"/>
              </a:ext>
            </a:extLst>
          </p:cNvPr>
          <p:cNvSpPr>
            <a:spLocks xmlns:a="http://schemas.openxmlformats.org/drawingml/2006/main" noGrp="1"/>
          </p:cNvSpPr>
          <p:nvPr/>
        </p:nvSpPr>
        <p:spPr>
          <a:xfrm xmlns:a="http://schemas.openxmlformats.org/drawingml/2006/main">
            <a:off x="647700" y="6781800"/>
            <a:ext cx="13944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5A9C"/>
                </a:solidFill>
                <a:latin typeface="Arial"/>
                <a:ea typeface="Arial"/>
                <a:cs typeface="Arial"/>
              </a:defRPr>
            </a:defPPr>
            <a:lvl1pPr algn="l">
              <a:defRPr sz="2175" b="0">
                <a:solidFill>
                  <a:srgbClr val="005A9C"/>
                </a:solidFill>
                <a:latin typeface="Arial"/>
                <a:ea typeface="Arial"/>
                <a:cs typeface="Arial"/>
              </a:defRPr>
            </a:lvl1pPr>
            <a:lvl2pPr algn="l">
              <a:defRPr sz="2175" b="0">
                <a:solidFill>
                  <a:srgbClr val="005A9C"/>
                </a:solidFill>
                <a:latin typeface="Arial"/>
                <a:ea typeface="Arial"/>
                <a:cs typeface="Arial"/>
              </a:defRPr>
            </a:lvl2pPr>
            <a:lvl3pPr algn="l">
              <a:defRPr sz="2175" b="0">
                <a:solidFill>
                  <a:srgbClr val="005A9C"/>
                </a:solidFill>
                <a:latin typeface="Arial"/>
                <a:ea typeface="Arial"/>
                <a:cs typeface="Arial"/>
              </a:defRPr>
            </a:lvl3pPr>
            <a:lvl4pPr algn="l">
              <a:defRPr sz="2175" b="0">
                <a:solidFill>
                  <a:srgbClr val="005A9C"/>
                </a:solidFill>
                <a:latin typeface="Arial"/>
                <a:ea typeface="Arial"/>
                <a:cs typeface="Arial"/>
              </a:defRPr>
            </a:lvl4pPr>
            <a:lvl5pPr algn="l">
              <a:defRPr sz="2175" b="0">
                <a:solidFill>
                  <a:srgbClr val="005A9C"/>
                </a:solidFill>
                <a:latin typeface="Arial"/>
                <a:ea typeface="Arial"/>
                <a:cs typeface="Arial"/>
              </a:defRPr>
            </a:lvl5pPr>
            <a:lvl6pPr algn="l">
              <a:defRPr sz="2175" b="0">
                <a:solidFill>
                  <a:srgbClr val="005A9C"/>
                </a:solidFill>
                <a:latin typeface="Arial"/>
                <a:ea typeface="Arial"/>
                <a:cs typeface="Arial"/>
              </a:defRPr>
            </a:lvl6pPr>
            <a:lvl7pPr algn="l">
              <a:defRPr sz="2175" b="0">
                <a:solidFill>
                  <a:srgbClr val="005A9C"/>
                </a:solidFill>
                <a:latin typeface="Arial"/>
                <a:ea typeface="Arial"/>
                <a:cs typeface="Arial"/>
              </a:defRPr>
            </a:lvl7pPr>
            <a:lvl8pPr algn="l">
              <a:defRPr sz="2175" b="0">
                <a:solidFill>
                  <a:srgbClr val="005A9C"/>
                </a:solidFill>
                <a:latin typeface="Arial"/>
                <a:ea typeface="Arial"/>
                <a:cs typeface="Arial"/>
              </a:defRPr>
            </a:lvl8pPr>
            <a:lvl9pPr algn="l">
              <a:defRPr sz="2175" b="0">
                <a:solidFill>
                  <a:srgbClr val="005A9C"/>
                </a:solidFill>
                <a:latin typeface="Arial"/>
                <a:ea typeface="Arial"/>
                <a:cs typeface="Arial"/>
              </a:defRPr>
            </a:lvl9pPr>
          </a:lstStyle>
          <a:p xmlns:a="http://schemas.openxmlformats.org/drawingml/2006/main">
            <a:pPr algn="l">
              <a:defRPr sz="2175" b="0">
                <a:solidFill>
                  <a:srgbClr val="005A9C"/>
                </a:solidFill>
                <a:latin typeface="Arial"/>
                <a:ea typeface="Arial"/>
                <a:cs typeface="Arial"/>
              </a:defRPr>
            </a:pPr>
            <a:r>
              <a:rPr sz="2175" b="0">
                <a:solidFill>
                  <a:srgbClr val="005A9C"/>
                </a:solidFill>
                <a:latin typeface="Arial"/>
                <a:ea typeface="Arial"/>
                <a:cs typeface="Arial"/>
              </a:rPr>
              <a:t>LLMs assist with reading, comparison and drafting. People check the results and exercise judgment.</a:t>
            </a:r>
          </a:p>
        </p:txBody>
      </p:sp>
      <p:sp>
        <p:nvSpPr>
          <p:cNvPr id="33" name="!!story.header.issuer.bar">
            <a:extLst xmlns:a="http://schemas.openxmlformats.org/drawingml/2006/main">
              <a:ext uri="{FF2B5EF4-FFF2-40B4-BE49-F238E27FC236}">
                <a16:creationId xmlns:a16="http://schemas.microsoft.com/office/drawing/2014/main" id="{EE2EFA86-44C3-47BD-B90D-486B190E7782}"/>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34" name="!!story.header.issuer.name">
            <a:extLst xmlns:a="http://schemas.openxmlformats.org/drawingml/2006/main">
              <a:ext uri="{FF2B5EF4-FFF2-40B4-BE49-F238E27FC236}">
                <a16:creationId xmlns:a16="http://schemas.microsoft.com/office/drawing/2014/main" id="{74399244-9510-45E1-B011-08693DBC2327}"/>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35" name="!!story.header.client.bar">
            <a:extLst xmlns:a="http://schemas.openxmlformats.org/drawingml/2006/main">
              <a:ext uri="{FF2B5EF4-FFF2-40B4-BE49-F238E27FC236}">
                <a16:creationId xmlns:a16="http://schemas.microsoft.com/office/drawing/2014/main" id="{3E7A7173-783F-4688-9B36-AAED990A97CC}"/>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36" name="!!story.header.client.name">
            <a:extLst xmlns:a="http://schemas.openxmlformats.org/drawingml/2006/main">
              <a:ext uri="{FF2B5EF4-FFF2-40B4-BE49-F238E27FC236}">
                <a16:creationId xmlns:a16="http://schemas.microsoft.com/office/drawing/2014/main" id="{2356AAED-ADA9-43B9-9399-58DDFABA03D7}"/>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701295157"/>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heading">
            <a:extLst xmlns:a="http://schemas.openxmlformats.org/drawingml/2006/main">
              <a:ext uri="{FF2B5EF4-FFF2-40B4-BE49-F238E27FC236}">
                <a16:creationId xmlns:a16="http://schemas.microsoft.com/office/drawing/2014/main" id="{25D116FF-3E4C-423D-8462-A8620DB5F1FB}"/>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Two information flows across the firm</a:t>
            </a:r>
          </a:p>
        </p:txBody>
      </p:sp>
      <p:sp>
        <p:nvSpPr>
          <p:cNvPr id="2" name="!!subtitle">
            <a:extLst xmlns:a="http://schemas.openxmlformats.org/drawingml/2006/main">
              <a:ext uri="{FF2B5EF4-FFF2-40B4-BE49-F238E27FC236}">
                <a16:creationId xmlns:a16="http://schemas.microsoft.com/office/drawing/2014/main" id="{800A7777-B364-4671-9291-9DFB7ECF1434}"/>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Cross-team collaboration</a:t>
            </a:r>
          </a:p>
        </p:txBody>
      </p:sp>
      <p:sp>
        <p:nvSpPr>
          <p:cNvPr id="3" name="!!heading.rule">
            <a:extLst xmlns:a="http://schemas.openxmlformats.org/drawingml/2006/main">
              <a:ext uri="{FF2B5EF4-FFF2-40B4-BE49-F238E27FC236}">
                <a16:creationId xmlns:a16="http://schemas.microsoft.com/office/drawing/2014/main" id="{E5D16EA5-AB4B-4EEF-BB5A-F22377765891}"/>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07BE9C79-D4A8-4A6F-B673-8E8DBA2FDC86}"/>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E2D3B727-5C78-418B-824F-9507BA8B346B}"/>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1BD476C-B12A-49BD-9436-2ACA1B2D624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D35D93CF-3371-4C92-9748-610664F8C616}"/>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052DD786-90A8-4712-B90C-F38070D64CBD}"/>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98E6542-D146-41FB-BEB3-89B4396324C0}"/>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2A037E8C-D41D-43B6-A90A-333024894515}"/>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B6D41D6-0DA4-4E4B-AC86-06999D7BDF54}"/>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26884079-4DD4-48D7-B76A-AD185FCAA4D5}"/>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A44BD18B-D05C-4771-8A63-AC57C53DCB81}"/>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C6DB495-595B-4625-99CC-236E6E98C20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AFC45B39-1811-4C98-AB39-4494A5641BE3}"/>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599F24E3-D447-49E1-8E1A-79A93F371B0B}"/>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318EEB6E-7331-43E8-B372-90AD7D91E400}"/>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example">
            <a:extLst xmlns:a="http://schemas.openxmlformats.org/drawingml/2006/main">
              <a:ext uri="{FF2B5EF4-FFF2-40B4-BE49-F238E27FC236}">
                <a16:creationId xmlns:a16="http://schemas.microsoft.com/office/drawing/2014/main" id="{0D7DD9E8-23B4-42A5-AA22-7E69ABB9B0A6}"/>
              </a:ext>
            </a:extLst>
          </p:cNvPr>
          <p:cNvSpPr>
            <a:spLocks xmlns:a="http://schemas.openxmlformats.org/drawingml/2006/main" noGrp="1"/>
          </p:cNvSpPr>
          <p:nvPr/>
        </p:nvSpPr>
        <p:spPr>
          <a:xfrm xmlns:a="http://schemas.openxmlformats.org/drawingml/2006/main">
            <a:off x="13906500" y="1238250"/>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707C88"/>
                </a:solidFill>
                <a:latin typeface="Arial"/>
                <a:ea typeface="Arial"/>
                <a:cs typeface="Arial"/>
              </a:defRPr>
            </a:defPPr>
            <a:lvl1pPr algn="r">
              <a:defRPr sz="1350" b="0">
                <a:solidFill>
                  <a:srgbClr val="707C88"/>
                </a:solidFill>
                <a:latin typeface="Arial"/>
                <a:ea typeface="Arial"/>
                <a:cs typeface="Arial"/>
              </a:defRPr>
            </a:lvl1pPr>
            <a:lvl2pPr algn="r">
              <a:defRPr sz="1350" b="0">
                <a:solidFill>
                  <a:srgbClr val="707C88"/>
                </a:solidFill>
                <a:latin typeface="Arial"/>
                <a:ea typeface="Arial"/>
                <a:cs typeface="Arial"/>
              </a:defRPr>
            </a:lvl2pPr>
            <a:lvl3pPr algn="r">
              <a:defRPr sz="1350" b="0">
                <a:solidFill>
                  <a:srgbClr val="707C88"/>
                </a:solidFill>
                <a:latin typeface="Arial"/>
                <a:ea typeface="Arial"/>
                <a:cs typeface="Arial"/>
              </a:defRPr>
            </a:lvl3pPr>
            <a:lvl4pPr algn="r">
              <a:defRPr sz="1350" b="0">
                <a:solidFill>
                  <a:srgbClr val="707C88"/>
                </a:solidFill>
                <a:latin typeface="Arial"/>
                <a:ea typeface="Arial"/>
                <a:cs typeface="Arial"/>
              </a:defRPr>
            </a:lvl4pPr>
            <a:lvl5pPr algn="r">
              <a:defRPr sz="1350" b="0">
                <a:solidFill>
                  <a:srgbClr val="707C88"/>
                </a:solidFill>
                <a:latin typeface="Arial"/>
                <a:ea typeface="Arial"/>
                <a:cs typeface="Arial"/>
              </a:defRPr>
            </a:lvl5pPr>
            <a:lvl6pPr algn="r">
              <a:defRPr sz="1350" b="0">
                <a:solidFill>
                  <a:srgbClr val="707C88"/>
                </a:solidFill>
                <a:latin typeface="Arial"/>
                <a:ea typeface="Arial"/>
                <a:cs typeface="Arial"/>
              </a:defRPr>
            </a:lvl6pPr>
            <a:lvl7pPr algn="r">
              <a:defRPr sz="1350" b="0">
                <a:solidFill>
                  <a:srgbClr val="707C88"/>
                </a:solidFill>
                <a:latin typeface="Arial"/>
                <a:ea typeface="Arial"/>
                <a:cs typeface="Arial"/>
              </a:defRPr>
            </a:lvl7pPr>
            <a:lvl8pPr algn="r">
              <a:defRPr sz="1350" b="0">
                <a:solidFill>
                  <a:srgbClr val="707C88"/>
                </a:solidFill>
                <a:latin typeface="Arial"/>
                <a:ea typeface="Arial"/>
                <a:cs typeface="Arial"/>
              </a:defRPr>
            </a:lvl8pPr>
            <a:lvl9pPr algn="r">
              <a:defRPr sz="1350" b="0">
                <a:solidFill>
                  <a:srgbClr val="707C88"/>
                </a:solidFill>
                <a:latin typeface="Arial"/>
                <a:ea typeface="Arial"/>
                <a:cs typeface="Arial"/>
              </a:defRPr>
            </a:lvl9pPr>
          </a:lstStyle>
          <a:p xmlns:a="http://schemas.openxmlformats.org/drawingml/2006/main">
            <a:pPr algn="r">
              <a:defRPr sz="1350" b="0">
                <a:solidFill>
                  <a:srgbClr val="707C88"/>
                </a:solidFill>
                <a:latin typeface="Arial"/>
                <a:ea typeface="Arial"/>
                <a:cs typeface="Arial"/>
              </a:defRPr>
            </a:pPr>
            <a:r>
              <a:rPr sz="1350" b="0">
                <a:solidFill>
                  <a:srgbClr val="707C88"/>
                </a:solidFill>
                <a:latin typeface="Arial"/>
                <a:ea typeface="Arial"/>
                <a:cs typeface="Arial"/>
              </a:rPr>
              <a:t>Example</a:t>
            </a:r>
          </a:p>
        </p:txBody>
      </p:sp>
      <p:sp>
        <p:nvSpPr>
          <p:cNvPr id="19"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F824BC8-B6A9-4228-B7A0-63D7995B74E1}"/>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20" name="!!page">
            <a:extLst xmlns:a="http://schemas.openxmlformats.org/drawingml/2006/main">
              <a:ext uri="{FF2B5EF4-FFF2-40B4-BE49-F238E27FC236}">
                <a16:creationId xmlns:a16="http://schemas.microsoft.com/office/drawing/2014/main" id="{65458993-DDDB-4AD7-B636-637E71562B6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30 / 33</a:t>
            </a:r>
          </a:p>
        </p:txBody>
      </p:sp>
      <p:sp>
        <p:nvSpPr>
          <p:cNvPr id="21" name="!!nav.prev">
            <ns0:hlinkClick xmlns:ns0="http://schemas.openxmlformats.org/drawingml/2006/main" xmlns:ns1="http://schemas.openxmlformats.org/officeDocument/2006/relationships" ns1:id="rIdNavSlide29" action="ppaction://hlinksldjump" tooltip="Slide 29: Seven proposed applications"/>
            <a:extLst xmlns:a="http://schemas.openxmlformats.org/drawingml/2006/main">
              <a:ext uri="{FF2B5EF4-FFF2-40B4-BE49-F238E27FC236}">
                <a16:creationId xmlns:a16="http://schemas.microsoft.com/office/drawing/2014/main" id="{80F45DD2-E037-4CF4-B609-B631EBB3128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2" name="!!nav.next">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B35C4320-BFDD-4D6A-885C-51A0FF0F4A72}"/>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3" name="!!footer.rule">
            <a:extLst xmlns:a="http://schemas.openxmlformats.org/drawingml/2006/main">
              <a:ext uri="{FF2B5EF4-FFF2-40B4-BE49-F238E27FC236}">
                <a16:creationId xmlns:a16="http://schemas.microsoft.com/office/drawing/2014/main" id="{A2EECFCC-0000-4BEE-80CA-5AC7134938B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4" name="!!source">
            <a:extLst xmlns:a="http://schemas.openxmlformats.org/drawingml/2006/main">
              <a:ext uri="{FF2B5EF4-FFF2-40B4-BE49-F238E27FC236}">
                <a16:creationId xmlns:a16="http://schemas.microsoft.com/office/drawing/2014/main" id="{DF01CAE7-7803-4FF8-8D59-C9715677FB7B}"/>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5" name="!!cross.head0">
            <a:extLst xmlns:a="http://schemas.openxmlformats.org/drawingml/2006/main">
              <a:ext uri="{FF2B5EF4-FFF2-40B4-BE49-F238E27FC236}">
                <a16:creationId xmlns:a16="http://schemas.microsoft.com/office/drawing/2014/main" id="{92DFEEE9-BCFE-4F85-B8B3-90288BEA7FD4}"/>
              </a:ext>
            </a:extLst>
          </p:cNvPr>
          <p:cNvSpPr>
            <a:spLocks xmlns:a="http://schemas.openxmlformats.org/drawingml/2006/main" noGrp="1"/>
          </p:cNvSpPr>
          <p:nvPr/>
        </p:nvSpPr>
        <p:spPr>
          <a:xfrm xmlns:a="http://schemas.openxmlformats.org/drawingml/2006/main">
            <a:off x="405765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26" name="!!cross.head1">
            <a:extLst xmlns:a="http://schemas.openxmlformats.org/drawingml/2006/main">
              <a:ext uri="{FF2B5EF4-FFF2-40B4-BE49-F238E27FC236}">
                <a16:creationId xmlns:a16="http://schemas.microsoft.com/office/drawing/2014/main" id="{15D03B38-40C0-477A-8B21-95D63B413200}"/>
              </a:ext>
            </a:extLst>
          </p:cNvPr>
          <p:cNvSpPr>
            <a:spLocks xmlns:a="http://schemas.openxmlformats.org/drawingml/2006/main" noGrp="1"/>
          </p:cNvSpPr>
          <p:nvPr/>
        </p:nvSpPr>
        <p:spPr>
          <a:xfrm xmlns:a="http://schemas.openxmlformats.org/drawingml/2006/main">
            <a:off x="765810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27" name="!!cross.head2">
            <a:extLst xmlns:a="http://schemas.openxmlformats.org/drawingml/2006/main">
              <a:ext uri="{FF2B5EF4-FFF2-40B4-BE49-F238E27FC236}">
                <a16:creationId xmlns:a16="http://schemas.microsoft.com/office/drawing/2014/main" id="{81204416-7A8D-4D49-A72D-F956305E9F5F}"/>
              </a:ext>
            </a:extLst>
          </p:cNvPr>
          <p:cNvSpPr>
            <a:spLocks xmlns:a="http://schemas.openxmlformats.org/drawingml/2006/main" noGrp="1"/>
          </p:cNvSpPr>
          <p:nvPr/>
        </p:nvSpPr>
        <p:spPr>
          <a:xfrm xmlns:a="http://schemas.openxmlformats.org/drawingml/2006/main">
            <a:off x="11258550" y="2219325"/>
            <a:ext cx="33337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28" name="!!cross.issuer">
            <a:extLst xmlns:a="http://schemas.openxmlformats.org/drawingml/2006/main">
              <a:ext uri="{FF2B5EF4-FFF2-40B4-BE49-F238E27FC236}">
                <a16:creationId xmlns:a16="http://schemas.microsoft.com/office/drawing/2014/main" id="{7CEC7C56-814D-4EB3-BF5E-DD0E901F8794}"/>
              </a:ext>
            </a:extLst>
          </p:cNvPr>
          <p:cNvSpPr>
            <a:spLocks xmlns:a="http://schemas.openxmlformats.org/drawingml/2006/main" noGrp="1"/>
          </p:cNvSpPr>
          <p:nvPr/>
        </p:nvSpPr>
        <p:spPr>
          <a:xfrm xmlns:a="http://schemas.openxmlformats.org/drawingml/2006/main">
            <a:off x="4057650" y="308610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17F7B"/>
                </a:solidFill>
                <a:latin typeface="Arial"/>
                <a:ea typeface="Arial"/>
                <a:cs typeface="Arial"/>
              </a:defRPr>
            </a:defPPr>
            <a:lvl1pPr algn="l">
              <a:defRPr sz="2100" b="1">
                <a:solidFill>
                  <a:srgbClr val="317F7B"/>
                </a:solidFill>
                <a:latin typeface="Arial"/>
                <a:ea typeface="Arial"/>
                <a:cs typeface="Arial"/>
              </a:defRPr>
            </a:lvl1pPr>
            <a:lvl2pPr algn="l">
              <a:defRPr sz="2100" b="1">
                <a:solidFill>
                  <a:srgbClr val="317F7B"/>
                </a:solidFill>
                <a:latin typeface="Arial"/>
                <a:ea typeface="Arial"/>
                <a:cs typeface="Arial"/>
              </a:defRPr>
            </a:lvl2pPr>
            <a:lvl3pPr algn="l">
              <a:defRPr sz="2100" b="1">
                <a:solidFill>
                  <a:srgbClr val="317F7B"/>
                </a:solidFill>
                <a:latin typeface="Arial"/>
                <a:ea typeface="Arial"/>
                <a:cs typeface="Arial"/>
              </a:defRPr>
            </a:lvl3pPr>
            <a:lvl4pPr algn="l">
              <a:defRPr sz="2100" b="1">
                <a:solidFill>
                  <a:srgbClr val="317F7B"/>
                </a:solidFill>
                <a:latin typeface="Arial"/>
                <a:ea typeface="Arial"/>
                <a:cs typeface="Arial"/>
              </a:defRPr>
            </a:lvl4pPr>
            <a:lvl5pPr algn="l">
              <a:defRPr sz="2100" b="1">
                <a:solidFill>
                  <a:srgbClr val="317F7B"/>
                </a:solidFill>
                <a:latin typeface="Arial"/>
                <a:ea typeface="Arial"/>
                <a:cs typeface="Arial"/>
              </a:defRPr>
            </a:lvl5pPr>
            <a:lvl6pPr algn="l">
              <a:defRPr sz="2100" b="1">
                <a:solidFill>
                  <a:srgbClr val="317F7B"/>
                </a:solidFill>
                <a:latin typeface="Arial"/>
                <a:ea typeface="Arial"/>
                <a:cs typeface="Arial"/>
              </a:defRPr>
            </a:lvl6pPr>
            <a:lvl7pPr algn="l">
              <a:defRPr sz="2100" b="1">
                <a:solidFill>
                  <a:srgbClr val="317F7B"/>
                </a:solidFill>
                <a:latin typeface="Arial"/>
                <a:ea typeface="Arial"/>
                <a:cs typeface="Arial"/>
              </a:defRPr>
            </a:lvl7pPr>
            <a:lvl8pPr algn="l">
              <a:defRPr sz="2100" b="1">
                <a:solidFill>
                  <a:srgbClr val="317F7B"/>
                </a:solidFill>
                <a:latin typeface="Arial"/>
                <a:ea typeface="Arial"/>
                <a:cs typeface="Arial"/>
              </a:defRPr>
            </a:lvl8pPr>
            <a:lvl9pPr algn="l">
              <a:defRPr sz="2100" b="1">
                <a:solidFill>
                  <a:srgbClr val="317F7B"/>
                </a:solidFill>
                <a:latin typeface="Arial"/>
                <a:ea typeface="Arial"/>
                <a:cs typeface="Arial"/>
              </a:defRPr>
            </a:lvl9pPr>
          </a:lstStyle>
          <a:p xmlns:a="http://schemas.openxmlformats.org/drawingml/2006/main">
            <a:pPr algn="l">
              <a:defRPr sz="2100" b="1">
                <a:solidFill>
                  <a:srgbClr val="317F7B"/>
                </a:solidFill>
                <a:latin typeface="Arial"/>
                <a:ea typeface="Arial"/>
                <a:cs typeface="Arial"/>
              </a:defRPr>
            </a:pPr>
            <a:r>
              <a:rPr sz="2100" b="1">
                <a:solidFill>
                  <a:srgbClr val="317F7B"/>
                </a:solidFill>
                <a:latin typeface="Arial"/>
                <a:ea typeface="Arial"/>
                <a:cs typeface="Arial"/>
              </a:rPr>
              <a:t>Company A</a:t>
            </a:r>
          </a:p>
        </p:txBody>
      </p:sp>
      <p:sp>
        <p:nvSpPr>
          <p:cNvPr id="29" name="!!cross.0.0">
            <a:extLst xmlns:a="http://schemas.openxmlformats.org/drawingml/2006/main">
              <a:ext uri="{FF2B5EF4-FFF2-40B4-BE49-F238E27FC236}">
                <a16:creationId xmlns:a16="http://schemas.microsoft.com/office/drawing/2014/main" id="{5C0212E0-B89D-4D97-8378-20D19F95E654}"/>
              </a:ext>
            </a:extLst>
          </p:cNvPr>
          <p:cNvSpPr>
            <a:spLocks xmlns:a="http://schemas.openxmlformats.org/drawingml/2006/main" noGrp="1"/>
          </p:cNvSpPr>
          <p:nvPr/>
        </p:nvSpPr>
        <p:spPr>
          <a:xfrm xmlns:a="http://schemas.openxmlformats.org/drawingml/2006/main">
            <a:off x="405765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Company research</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Bond and quote summaries</a:t>
            </a:r>
          </a:p>
        </p:txBody>
      </p:sp>
      <p:sp>
        <p:nvSpPr>
          <p:cNvPr id="30" name="!!cross.0.link0.line">
            <a:extLst xmlns:a="http://schemas.openxmlformats.org/drawingml/2006/main">
              <a:ext uri="{FF2B5EF4-FFF2-40B4-BE49-F238E27FC236}">
                <a16:creationId xmlns:a16="http://schemas.microsoft.com/office/drawing/2014/main" id="{54EFB79F-B7B4-4F6E-B917-A1FC5E51A6D2}"/>
              </a:ext>
            </a:extLst>
          </p:cNvPr>
          <p:cNvSpPr>
            <a:spLocks xmlns:a="http://schemas.openxmlformats.org/drawingml/2006/main" noGrp="1"/>
          </p:cNvSpPr>
          <p:nvPr/>
        </p:nvSpPr>
        <p:spPr>
          <a:xfrm xmlns:a="http://schemas.openxmlformats.org/drawingml/2006/main" flipH="0" flipV="0">
            <a:off x="7448550" y="4171950"/>
            <a:ext cx="133350" cy="953"/>
          </a:xfrm>
          <a:prstGeom xmlns:a="http://schemas.openxmlformats.org/drawingml/2006/main" prst="line">
            <a:avLst/>
          </a:prstGeom>
          <a:noFill xmlns:a="http://schemas.openxmlformats.org/drawingml/2006/main"/>
          <a:ln xmlns:a="http://schemas.openxmlformats.org/drawingml/2006/main" w="19050">
            <a:solidFill>
              <a:srgbClr val="317F7B"/>
            </a:solidFill>
            <a:prstDash val="solid"/>
          </a:ln>
        </p:spPr>
      </p:sp>
      <p:sp>
        <p:nvSpPr>
          <p:cNvPr id="31" name="!!cross.0.link0.tip">
            <a:extLst xmlns:a="http://schemas.openxmlformats.org/drawingml/2006/main">
              <a:ext uri="{FF2B5EF4-FFF2-40B4-BE49-F238E27FC236}">
                <a16:creationId xmlns:a16="http://schemas.microsoft.com/office/drawing/2014/main" id="{2D437D63-EC55-488C-A862-AB900C9EAD1F}"/>
              </a:ext>
            </a:extLst>
          </p:cNvPr>
          <p:cNvSpPr>
            <a:spLocks xmlns:a="http://schemas.openxmlformats.org/drawingml/2006/main" noGrp="1"/>
          </p:cNvSpPr>
          <p:nvPr/>
        </p:nvSpPr>
        <p:spPr>
          <a:xfrm xmlns:a="http://schemas.openxmlformats.org/drawingml/2006/main" rot="5400000">
            <a:off x="7524750" y="4114800"/>
            <a:ext cx="114300" cy="11430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2" name="!!cross.0.1">
            <a:extLst xmlns:a="http://schemas.openxmlformats.org/drawingml/2006/main">
              <a:ext uri="{FF2B5EF4-FFF2-40B4-BE49-F238E27FC236}">
                <a16:creationId xmlns:a16="http://schemas.microsoft.com/office/drawing/2014/main" id="{828B0E12-B62B-48FF-97CE-56BD3EFB5D80}"/>
              </a:ext>
            </a:extLst>
          </p:cNvPr>
          <p:cNvSpPr>
            <a:spLocks xmlns:a="http://schemas.openxmlformats.org/drawingml/2006/main" noGrp="1"/>
          </p:cNvSpPr>
          <p:nvPr/>
        </p:nvSpPr>
        <p:spPr>
          <a:xfrm xmlns:a="http://schemas.openxmlformats.org/drawingml/2006/main">
            <a:off x="765810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Event assessment</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Exposure monitoring</a:t>
            </a:r>
          </a:p>
        </p:txBody>
      </p:sp>
      <p:sp>
        <p:nvSpPr>
          <p:cNvPr id="33" name="!!cross.0.link1.line">
            <a:extLst xmlns:a="http://schemas.openxmlformats.org/drawingml/2006/main">
              <a:ext uri="{FF2B5EF4-FFF2-40B4-BE49-F238E27FC236}">
                <a16:creationId xmlns:a16="http://schemas.microsoft.com/office/drawing/2014/main" id="{F1EDA5FD-9B27-41AA-83F9-A9E0C78E2C97}"/>
              </a:ext>
            </a:extLst>
          </p:cNvPr>
          <p:cNvSpPr>
            <a:spLocks xmlns:a="http://schemas.openxmlformats.org/drawingml/2006/main" noGrp="1"/>
          </p:cNvSpPr>
          <p:nvPr/>
        </p:nvSpPr>
        <p:spPr>
          <a:xfrm xmlns:a="http://schemas.openxmlformats.org/drawingml/2006/main" flipH="0" flipV="0">
            <a:off x="11049000" y="4171950"/>
            <a:ext cx="133350" cy="953"/>
          </a:xfrm>
          <a:prstGeom xmlns:a="http://schemas.openxmlformats.org/drawingml/2006/main" prst="line">
            <a:avLst/>
          </a:prstGeom>
          <a:noFill xmlns:a="http://schemas.openxmlformats.org/drawingml/2006/main"/>
          <a:ln xmlns:a="http://schemas.openxmlformats.org/drawingml/2006/main" w="19050">
            <a:solidFill>
              <a:srgbClr val="317F7B"/>
            </a:solidFill>
            <a:prstDash val="solid"/>
          </a:ln>
        </p:spPr>
      </p:sp>
      <p:sp>
        <p:nvSpPr>
          <p:cNvPr id="34" name="!!cross.0.link1.tip">
            <a:extLst xmlns:a="http://schemas.openxmlformats.org/drawingml/2006/main">
              <a:ext uri="{FF2B5EF4-FFF2-40B4-BE49-F238E27FC236}">
                <a16:creationId xmlns:a16="http://schemas.microsoft.com/office/drawing/2014/main" id="{3F7C7787-6E18-45D5-9E0F-B6069CA3FE9D}"/>
              </a:ext>
            </a:extLst>
          </p:cNvPr>
          <p:cNvSpPr>
            <a:spLocks xmlns:a="http://schemas.openxmlformats.org/drawingml/2006/main" noGrp="1"/>
          </p:cNvSpPr>
          <p:nvPr/>
        </p:nvSpPr>
        <p:spPr>
          <a:xfrm xmlns:a="http://schemas.openxmlformats.org/drawingml/2006/main" rot="5400000">
            <a:off x="11125200" y="4114800"/>
            <a:ext cx="114300" cy="114300"/>
          </a:xfrm>
          <a:prstGeom xmlns:a="http://schemas.openxmlformats.org/drawingml/2006/main" prst="triangle">
            <a:avLst/>
          </a:prstGeom>
          <a:solidFill xmlns:a="http://schemas.openxmlformats.org/drawingml/2006/main">
            <a:srgbClr val="317F7B"/>
          </a:solidFill>
          <a:ln xmlns:a="http://schemas.openxmlformats.org/drawingml/2006/main" w="0">
            <a:noFill/>
          </a:ln>
        </p:spPr>
      </p:sp>
      <p:sp>
        <p:nvSpPr>
          <p:cNvPr id="35" name="!!cross.0.2">
            <a:extLst xmlns:a="http://schemas.openxmlformats.org/drawingml/2006/main">
              <a:ext uri="{FF2B5EF4-FFF2-40B4-BE49-F238E27FC236}">
                <a16:creationId xmlns:a16="http://schemas.microsoft.com/office/drawing/2014/main" id="{3A8E1655-E9E6-477A-8AC7-A0125BC36295}"/>
              </a:ext>
            </a:extLst>
          </p:cNvPr>
          <p:cNvSpPr>
            <a:spLocks xmlns:a="http://schemas.openxmlformats.org/drawingml/2006/main" noGrp="1"/>
          </p:cNvSpPr>
          <p:nvPr/>
        </p:nvSpPr>
        <p:spPr>
          <a:xfrm xmlns:a="http://schemas.openxmlformats.org/drawingml/2006/main">
            <a:off x="11258550" y="3638550"/>
            <a:ext cx="3333750" cy="1066800"/>
          </a:xfrm>
          <a:prstGeom xmlns:a="http://schemas.openxmlformats.org/drawingml/2006/main" prst="rect">
            <a:avLst/>
          </a:prstGeom>
          <ns0:solidFill xmlns:ns0="http://schemas.openxmlformats.org/drawingml/2006/main">
            <ns0:srgbClr val="EFF6F4"/>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Maintain related documents</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Track revisions</a:t>
            </a:r>
          </a:p>
        </p:txBody>
      </p:sp>
      <p:sp>
        <p:nvSpPr>
          <p:cNvPr id="36" name="!!cross.1.0">
            <a:extLst xmlns:a="http://schemas.openxmlformats.org/drawingml/2006/main">
              <a:ext uri="{FF2B5EF4-FFF2-40B4-BE49-F238E27FC236}">
                <a16:creationId xmlns:a16="http://schemas.microsoft.com/office/drawing/2014/main" id="{3B17314E-F141-4F6E-B44A-61BB12E92700}"/>
              </a:ext>
            </a:extLst>
          </p:cNvPr>
          <p:cNvSpPr>
            <a:spLocks xmlns:a="http://schemas.openxmlformats.org/drawingml/2006/main" noGrp="1"/>
          </p:cNvSpPr>
          <p:nvPr/>
        </p:nvSpPr>
        <p:spPr>
          <a:xfrm xmlns:a="http://schemas.openxmlformats.org/drawingml/2006/main">
            <a:off x="405765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Draft client update V1</a:t>
            </a:r>
          </a:p>
        </p:txBody>
      </p:sp>
      <p:sp>
        <p:nvSpPr>
          <p:cNvPr id="37" name="!!cross.1.link0.line">
            <a:extLst xmlns:a="http://schemas.openxmlformats.org/drawingml/2006/main">
              <a:ext uri="{FF2B5EF4-FFF2-40B4-BE49-F238E27FC236}">
                <a16:creationId xmlns:a16="http://schemas.microsoft.com/office/drawing/2014/main" id="{ED7BFE5D-7908-4154-8110-A036616C5368}"/>
              </a:ext>
            </a:extLst>
          </p:cNvPr>
          <p:cNvSpPr>
            <a:spLocks xmlns:a="http://schemas.openxmlformats.org/drawingml/2006/main" noGrp="1"/>
          </p:cNvSpPr>
          <p:nvPr/>
        </p:nvSpPr>
        <p:spPr>
          <a:xfrm xmlns:a="http://schemas.openxmlformats.org/drawingml/2006/main" flipH="0" flipV="0">
            <a:off x="7448550" y="6143625"/>
            <a:ext cx="133350" cy="953"/>
          </a:xfrm>
          <a:prstGeom xmlns:a="http://schemas.openxmlformats.org/drawingml/2006/main" prst="line">
            <a:avLst/>
          </a:prstGeom>
          <a:noFill xmlns:a="http://schemas.openxmlformats.org/drawingml/2006/main"/>
          <a:ln xmlns:a="http://schemas.openxmlformats.org/drawingml/2006/main" w="19050">
            <a:solidFill>
              <a:srgbClr val="7363A6"/>
            </a:solidFill>
            <a:prstDash val="solid"/>
          </a:ln>
        </p:spPr>
      </p:sp>
      <p:sp>
        <p:nvSpPr>
          <p:cNvPr id="38" name="!!cross.1.link0.tip">
            <a:extLst xmlns:a="http://schemas.openxmlformats.org/drawingml/2006/main">
              <a:ext uri="{FF2B5EF4-FFF2-40B4-BE49-F238E27FC236}">
                <a16:creationId xmlns:a16="http://schemas.microsoft.com/office/drawing/2014/main" id="{04C767F8-34C0-4B66-8B82-748922AE7569}"/>
              </a:ext>
            </a:extLst>
          </p:cNvPr>
          <p:cNvSpPr>
            <a:spLocks xmlns:a="http://schemas.openxmlformats.org/drawingml/2006/main" noGrp="1"/>
          </p:cNvSpPr>
          <p:nvPr/>
        </p:nvSpPr>
        <p:spPr>
          <a:xfrm xmlns:a="http://schemas.openxmlformats.org/drawingml/2006/main" rot="5400000">
            <a:off x="7524750" y="6086475"/>
            <a:ext cx="114300" cy="11430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39" name="!!cross.1.1">
            <a:extLst xmlns:a="http://schemas.openxmlformats.org/drawingml/2006/main">
              <a:ext uri="{FF2B5EF4-FFF2-40B4-BE49-F238E27FC236}">
                <a16:creationId xmlns:a16="http://schemas.microsoft.com/office/drawing/2014/main" id="{0B85B413-E4AA-4171-A198-EC2D973641EB}"/>
              </a:ext>
            </a:extLst>
          </p:cNvPr>
          <p:cNvSpPr>
            <a:spLocks xmlns:a="http://schemas.openxmlformats.org/drawingml/2006/main" noGrp="1"/>
          </p:cNvSpPr>
          <p:nvPr/>
        </p:nvSpPr>
        <p:spPr>
          <a:xfrm xmlns:a="http://schemas.openxmlformats.org/drawingml/2006/main">
            <a:off x="765810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Review and revise V1 to V2</a:t>
            </a:r>
          </a:p>
        </p:txBody>
      </p:sp>
      <p:sp>
        <p:nvSpPr>
          <p:cNvPr id="40" name="!!cross.1.link1.line">
            <a:extLst xmlns:a="http://schemas.openxmlformats.org/drawingml/2006/main">
              <a:ext uri="{FF2B5EF4-FFF2-40B4-BE49-F238E27FC236}">
                <a16:creationId xmlns:a16="http://schemas.microsoft.com/office/drawing/2014/main" id="{4A2F9BF1-631D-4237-93C1-E7CB4B39C396}"/>
              </a:ext>
            </a:extLst>
          </p:cNvPr>
          <p:cNvSpPr>
            <a:spLocks xmlns:a="http://schemas.openxmlformats.org/drawingml/2006/main" noGrp="1"/>
          </p:cNvSpPr>
          <p:nvPr/>
        </p:nvSpPr>
        <p:spPr>
          <a:xfrm xmlns:a="http://schemas.openxmlformats.org/drawingml/2006/main" flipH="0" flipV="0">
            <a:off x="11049000" y="6143625"/>
            <a:ext cx="133350" cy="953"/>
          </a:xfrm>
          <a:prstGeom xmlns:a="http://schemas.openxmlformats.org/drawingml/2006/main" prst="line">
            <a:avLst/>
          </a:prstGeom>
          <a:noFill xmlns:a="http://schemas.openxmlformats.org/drawingml/2006/main"/>
          <a:ln xmlns:a="http://schemas.openxmlformats.org/drawingml/2006/main" w="19050">
            <a:solidFill>
              <a:srgbClr val="7363A6"/>
            </a:solidFill>
            <a:prstDash val="solid"/>
          </a:ln>
        </p:spPr>
      </p:sp>
      <p:sp>
        <p:nvSpPr>
          <p:cNvPr id="41" name="!!cross.1.link1.tip">
            <a:extLst xmlns:a="http://schemas.openxmlformats.org/drawingml/2006/main">
              <a:ext uri="{FF2B5EF4-FFF2-40B4-BE49-F238E27FC236}">
                <a16:creationId xmlns:a16="http://schemas.microsoft.com/office/drawing/2014/main" id="{166A0831-44E5-484E-A86F-721CDBF2CDB8}"/>
              </a:ext>
            </a:extLst>
          </p:cNvPr>
          <p:cNvSpPr>
            <a:spLocks xmlns:a="http://schemas.openxmlformats.org/drawingml/2006/main" noGrp="1"/>
          </p:cNvSpPr>
          <p:nvPr/>
        </p:nvSpPr>
        <p:spPr>
          <a:xfrm xmlns:a="http://schemas.openxmlformats.org/drawingml/2006/main" rot="5400000">
            <a:off x="11125200" y="6086475"/>
            <a:ext cx="114300" cy="114300"/>
          </a:xfrm>
          <a:prstGeom xmlns:a="http://schemas.openxmlformats.org/drawingml/2006/main" prst="triangle">
            <a:avLst/>
          </a:prstGeom>
          <a:solidFill xmlns:a="http://schemas.openxmlformats.org/drawingml/2006/main">
            <a:srgbClr val="7363A6"/>
          </a:solidFill>
          <a:ln xmlns:a="http://schemas.openxmlformats.org/drawingml/2006/main" w="0">
            <a:noFill/>
          </a:ln>
        </p:spPr>
      </p:sp>
      <p:sp>
        <p:nvSpPr>
          <p:cNvPr id="42" name="!!cross.1.2">
            <a:extLst xmlns:a="http://schemas.openxmlformats.org/drawingml/2006/main">
              <a:ext uri="{FF2B5EF4-FFF2-40B4-BE49-F238E27FC236}">
                <a16:creationId xmlns:a16="http://schemas.microsoft.com/office/drawing/2014/main" id="{49F2E24E-B86A-4AE8-8255-680ACE67175E}"/>
              </a:ext>
            </a:extLst>
          </p:cNvPr>
          <p:cNvSpPr>
            <a:spLocks xmlns:a="http://schemas.openxmlformats.org/drawingml/2006/main" noGrp="1"/>
          </p:cNvSpPr>
          <p:nvPr/>
        </p:nvSpPr>
        <p:spPr>
          <a:xfrm xmlns:a="http://schemas.openxmlformats.org/drawingml/2006/main">
            <a:off x="11258550" y="5610225"/>
            <a:ext cx="3333750" cy="1066800"/>
          </a:xfrm>
          <a:prstGeom xmlns:a="http://schemas.openxmlformats.org/drawingml/2006/main" prst="rect">
            <a:avLst/>
          </a:prstGeom>
          <ns0:solidFill xmlns:ns0="http://schemas.openxmlformats.org/drawingml/2006/main">
            <ns0:srgbClr val="F3F0F8"/>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100" b="1">
                <a:solidFill>
                  <a:srgbClr val="20262C"/>
                </a:solidFill>
                <a:latin typeface="Arial"/>
                <a:ea typeface="Arial"/>
                <a:cs typeface="Arial"/>
              </a:defRPr>
            </a:defPPr>
            <a:lvl1pPr algn="ctr">
              <a:defRPr sz="2100" b="1">
                <a:solidFill>
                  <a:srgbClr val="20262C"/>
                </a:solidFill>
                <a:latin typeface="Arial"/>
                <a:ea typeface="Arial"/>
                <a:cs typeface="Arial"/>
              </a:defRPr>
            </a:lvl1pPr>
            <a:lvl2pPr algn="ctr">
              <a:defRPr sz="2100" b="1">
                <a:solidFill>
                  <a:srgbClr val="20262C"/>
                </a:solidFill>
                <a:latin typeface="Arial"/>
                <a:ea typeface="Arial"/>
                <a:cs typeface="Arial"/>
              </a:defRPr>
            </a:lvl2pPr>
            <a:lvl3pPr algn="ctr">
              <a:defRPr sz="2100" b="1">
                <a:solidFill>
                  <a:srgbClr val="20262C"/>
                </a:solidFill>
                <a:latin typeface="Arial"/>
                <a:ea typeface="Arial"/>
                <a:cs typeface="Arial"/>
              </a:defRPr>
            </a:lvl3pPr>
            <a:lvl4pPr algn="ctr">
              <a:defRPr sz="2100" b="1">
                <a:solidFill>
                  <a:srgbClr val="20262C"/>
                </a:solidFill>
                <a:latin typeface="Arial"/>
                <a:ea typeface="Arial"/>
                <a:cs typeface="Arial"/>
              </a:defRPr>
            </a:lvl4pPr>
            <a:lvl5pPr algn="ctr">
              <a:defRPr sz="2100" b="1">
                <a:solidFill>
                  <a:srgbClr val="20262C"/>
                </a:solidFill>
                <a:latin typeface="Arial"/>
                <a:ea typeface="Arial"/>
                <a:cs typeface="Arial"/>
              </a:defRPr>
            </a:lvl5pPr>
            <a:lvl6pPr algn="ctr">
              <a:defRPr sz="2100" b="1">
                <a:solidFill>
                  <a:srgbClr val="20262C"/>
                </a:solidFill>
                <a:latin typeface="Arial"/>
                <a:ea typeface="Arial"/>
                <a:cs typeface="Arial"/>
              </a:defRPr>
            </a:lvl6pPr>
            <a:lvl7pPr algn="ctr">
              <a:defRPr sz="2100" b="1">
                <a:solidFill>
                  <a:srgbClr val="20262C"/>
                </a:solidFill>
                <a:latin typeface="Arial"/>
                <a:ea typeface="Arial"/>
                <a:cs typeface="Arial"/>
              </a:defRPr>
            </a:lvl7pPr>
            <a:lvl8pPr algn="ctr">
              <a:defRPr sz="2100" b="1">
                <a:solidFill>
                  <a:srgbClr val="20262C"/>
                </a:solidFill>
                <a:latin typeface="Arial"/>
                <a:ea typeface="Arial"/>
                <a:cs typeface="Arial"/>
              </a:defRPr>
            </a:lvl8pPr>
            <a:lvl9pPr algn="ctr">
              <a:defRPr sz="2100" b="1">
                <a:solidFill>
                  <a:srgbClr val="20262C"/>
                </a:solidFill>
                <a:latin typeface="Arial"/>
                <a:ea typeface="Arial"/>
                <a:cs typeface="Arial"/>
              </a:defRPr>
            </a:lvl9pPr>
          </a:lstStyle>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Compare versions</a:t>
            </a:r>
          </a:p>
          <a:p xmlns:a="http://schemas.openxmlformats.org/drawingml/2006/main">
            <a:pPr algn="ctr">
              <a:defRPr sz="2100" b="1">
                <a:solidFill>
                  <a:srgbClr val="20262C"/>
                </a:solidFill>
                <a:latin typeface="Arial"/>
                <a:ea typeface="Arial"/>
                <a:cs typeface="Arial"/>
              </a:defRPr>
            </a:pPr>
            <a:r>
              <a:rPr sz="2100" b="1">
                <a:solidFill>
                  <a:srgbClr val="20262C"/>
                </a:solidFill>
                <a:latin typeface="Arial"/>
                <a:ea typeface="Arial"/>
                <a:cs typeface="Arial"/>
              </a:rPr>
              <a:t>Update related materials</a:t>
            </a:r>
          </a:p>
        </p:txBody>
      </p:sp>
      <p:sp>
        <p:nvSpPr>
          <p:cNvPr id="43" name="!!cross.client">
            <a:extLst xmlns:a="http://schemas.openxmlformats.org/drawingml/2006/main">
              <a:ext uri="{FF2B5EF4-FFF2-40B4-BE49-F238E27FC236}">
                <a16:creationId xmlns:a16="http://schemas.microsoft.com/office/drawing/2014/main" id="{60318B3A-D9F3-4D29-ACEA-710B822EFC5A}"/>
              </a:ext>
            </a:extLst>
          </p:cNvPr>
          <p:cNvSpPr>
            <a:spLocks xmlns:a="http://schemas.openxmlformats.org/drawingml/2006/main" noGrp="1"/>
          </p:cNvSpPr>
          <p:nvPr/>
        </p:nvSpPr>
        <p:spPr>
          <a:xfrm xmlns:a="http://schemas.openxmlformats.org/drawingml/2006/main">
            <a:off x="4057650" y="5057775"/>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363A6"/>
                </a:solidFill>
                <a:latin typeface="Arial"/>
                <a:ea typeface="Arial"/>
                <a:cs typeface="Arial"/>
              </a:defRPr>
            </a:defPPr>
            <a:lvl1pPr algn="l">
              <a:defRPr sz="2100" b="1">
                <a:solidFill>
                  <a:srgbClr val="7363A6"/>
                </a:solidFill>
                <a:latin typeface="Arial"/>
                <a:ea typeface="Arial"/>
                <a:cs typeface="Arial"/>
              </a:defRPr>
            </a:lvl1pPr>
            <a:lvl2pPr algn="l">
              <a:defRPr sz="2100" b="1">
                <a:solidFill>
                  <a:srgbClr val="7363A6"/>
                </a:solidFill>
                <a:latin typeface="Arial"/>
                <a:ea typeface="Arial"/>
                <a:cs typeface="Arial"/>
              </a:defRPr>
            </a:lvl2pPr>
            <a:lvl3pPr algn="l">
              <a:defRPr sz="2100" b="1">
                <a:solidFill>
                  <a:srgbClr val="7363A6"/>
                </a:solidFill>
                <a:latin typeface="Arial"/>
                <a:ea typeface="Arial"/>
                <a:cs typeface="Arial"/>
              </a:defRPr>
            </a:lvl3pPr>
            <a:lvl4pPr algn="l">
              <a:defRPr sz="2100" b="1">
                <a:solidFill>
                  <a:srgbClr val="7363A6"/>
                </a:solidFill>
                <a:latin typeface="Arial"/>
                <a:ea typeface="Arial"/>
                <a:cs typeface="Arial"/>
              </a:defRPr>
            </a:lvl4pPr>
            <a:lvl5pPr algn="l">
              <a:defRPr sz="2100" b="1">
                <a:solidFill>
                  <a:srgbClr val="7363A6"/>
                </a:solidFill>
                <a:latin typeface="Arial"/>
                <a:ea typeface="Arial"/>
                <a:cs typeface="Arial"/>
              </a:defRPr>
            </a:lvl5pPr>
            <a:lvl6pPr algn="l">
              <a:defRPr sz="2100" b="1">
                <a:solidFill>
                  <a:srgbClr val="7363A6"/>
                </a:solidFill>
                <a:latin typeface="Arial"/>
                <a:ea typeface="Arial"/>
                <a:cs typeface="Arial"/>
              </a:defRPr>
            </a:lvl6pPr>
            <a:lvl7pPr algn="l">
              <a:defRPr sz="2100" b="1">
                <a:solidFill>
                  <a:srgbClr val="7363A6"/>
                </a:solidFill>
                <a:latin typeface="Arial"/>
                <a:ea typeface="Arial"/>
                <a:cs typeface="Arial"/>
              </a:defRPr>
            </a:lvl7pPr>
            <a:lvl8pPr algn="l">
              <a:defRPr sz="2100" b="1">
                <a:solidFill>
                  <a:srgbClr val="7363A6"/>
                </a:solidFill>
                <a:latin typeface="Arial"/>
                <a:ea typeface="Arial"/>
                <a:cs typeface="Arial"/>
              </a:defRPr>
            </a:lvl8pPr>
            <a:lvl9pPr algn="l">
              <a:defRPr sz="2100" b="1">
                <a:solidFill>
                  <a:srgbClr val="7363A6"/>
                </a:solidFill>
                <a:latin typeface="Arial"/>
                <a:ea typeface="Arial"/>
                <a:cs typeface="Arial"/>
              </a:defRPr>
            </a:lvl9pPr>
          </a:lstStyle>
          <a:p xmlns:a="http://schemas.openxmlformats.org/drawingml/2006/main">
            <a:pPr algn="l">
              <a:defRPr sz="2100" b="1">
                <a:solidFill>
                  <a:srgbClr val="7363A6"/>
                </a:solidFill>
                <a:latin typeface="Arial"/>
                <a:ea typeface="Arial"/>
                <a:cs typeface="Arial"/>
              </a:defRPr>
            </a:pPr>
            <a:r>
              <a:rPr sz="2100" b="1">
                <a:solidFill>
                  <a:srgbClr val="7363A6"/>
                </a:solidFill>
                <a:latin typeface="Arial"/>
                <a:ea typeface="Arial"/>
                <a:cs typeface="Arial"/>
              </a:rPr>
              <a:t>Quarterly client update</a:t>
            </a:r>
          </a:p>
        </p:txBody>
      </p:sp>
      <p:sp>
        <p:nvSpPr>
          <p:cNvPr id="45" name="!!story.header.issuer.bar">
            <a:extLst xmlns:a="http://schemas.openxmlformats.org/drawingml/2006/main">
              <a:ext uri="{FF2B5EF4-FFF2-40B4-BE49-F238E27FC236}">
                <a16:creationId xmlns:a16="http://schemas.microsoft.com/office/drawing/2014/main" id="{B39034EF-9561-409E-9924-FA76E4F302D1}"/>
              </a:ext>
            </a:extLst>
          </p:cNvPr>
          <p:cNvSpPr>
            <a:spLocks xmlns:a="http://schemas.openxmlformats.org/drawingml/2006/main" noGrp="1"/>
          </p:cNvSpPr>
          <p:nvPr/>
        </p:nvSpPr>
        <p:spPr>
          <a:xfrm xmlns:a="http://schemas.openxmlformats.org/drawingml/2006/main">
            <a:off x="10525125" y="1247775"/>
            <a:ext cx="47625" cy="238125"/>
          </a:xfrm>
          <a:prstGeom xmlns:a="http://schemas.openxmlformats.org/drawingml/2006/main" prst="rect">
            <a:avLst/>
          </a:prstGeom>
          <a:solidFill xmlns:a="http://schemas.openxmlformats.org/drawingml/2006/main">
            <a:srgbClr val="317F7B"/>
          </a:solidFill>
          <a:ln xmlns:a="http://schemas.openxmlformats.org/drawingml/2006/main" w="0">
            <a:noFill/>
          </a:ln>
        </p:spPr>
      </p:sp>
      <p:sp>
        <p:nvSpPr>
          <p:cNvPr id="46" name="!!story.header.issuer.name">
            <a:extLst xmlns:a="http://schemas.openxmlformats.org/drawingml/2006/main">
              <a:ext uri="{FF2B5EF4-FFF2-40B4-BE49-F238E27FC236}">
                <a16:creationId xmlns:a16="http://schemas.microsoft.com/office/drawing/2014/main" id="{D618917A-3263-4987-B673-BD7293290058}"/>
              </a:ext>
            </a:extLst>
          </p:cNvPr>
          <p:cNvSpPr>
            <a:spLocks xmlns:a="http://schemas.openxmlformats.org/drawingml/2006/main" noGrp="1"/>
          </p:cNvSpPr>
          <p:nvPr/>
        </p:nvSpPr>
        <p:spPr>
          <a:xfrm xmlns:a="http://schemas.openxmlformats.org/drawingml/2006/main">
            <a:off x="10658475" y="1190625"/>
            <a:ext cx="126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17F7B"/>
                </a:solidFill>
                <a:latin typeface="Arial"/>
                <a:ea typeface="Arial"/>
                <a:cs typeface="Arial"/>
              </a:defRPr>
            </a:defPPr>
            <a:lvl1pPr algn="l">
              <a:defRPr sz="1650" b="1">
                <a:solidFill>
                  <a:srgbClr val="317F7B"/>
                </a:solidFill>
                <a:latin typeface="Arial"/>
                <a:ea typeface="Arial"/>
                <a:cs typeface="Arial"/>
              </a:defRPr>
            </a:lvl1pPr>
            <a:lvl2pPr algn="l">
              <a:defRPr sz="1650" b="1">
                <a:solidFill>
                  <a:srgbClr val="317F7B"/>
                </a:solidFill>
                <a:latin typeface="Arial"/>
                <a:ea typeface="Arial"/>
                <a:cs typeface="Arial"/>
              </a:defRPr>
            </a:lvl2pPr>
            <a:lvl3pPr algn="l">
              <a:defRPr sz="1650" b="1">
                <a:solidFill>
                  <a:srgbClr val="317F7B"/>
                </a:solidFill>
                <a:latin typeface="Arial"/>
                <a:ea typeface="Arial"/>
                <a:cs typeface="Arial"/>
              </a:defRPr>
            </a:lvl3pPr>
            <a:lvl4pPr algn="l">
              <a:defRPr sz="1650" b="1">
                <a:solidFill>
                  <a:srgbClr val="317F7B"/>
                </a:solidFill>
                <a:latin typeface="Arial"/>
                <a:ea typeface="Arial"/>
                <a:cs typeface="Arial"/>
              </a:defRPr>
            </a:lvl4pPr>
            <a:lvl5pPr algn="l">
              <a:defRPr sz="1650" b="1">
                <a:solidFill>
                  <a:srgbClr val="317F7B"/>
                </a:solidFill>
                <a:latin typeface="Arial"/>
                <a:ea typeface="Arial"/>
                <a:cs typeface="Arial"/>
              </a:defRPr>
            </a:lvl5pPr>
            <a:lvl6pPr algn="l">
              <a:defRPr sz="1650" b="1">
                <a:solidFill>
                  <a:srgbClr val="317F7B"/>
                </a:solidFill>
                <a:latin typeface="Arial"/>
                <a:ea typeface="Arial"/>
                <a:cs typeface="Arial"/>
              </a:defRPr>
            </a:lvl6pPr>
            <a:lvl7pPr algn="l">
              <a:defRPr sz="1650" b="1">
                <a:solidFill>
                  <a:srgbClr val="317F7B"/>
                </a:solidFill>
                <a:latin typeface="Arial"/>
                <a:ea typeface="Arial"/>
                <a:cs typeface="Arial"/>
              </a:defRPr>
            </a:lvl7pPr>
            <a:lvl8pPr algn="l">
              <a:defRPr sz="1650" b="1">
                <a:solidFill>
                  <a:srgbClr val="317F7B"/>
                </a:solidFill>
                <a:latin typeface="Arial"/>
                <a:ea typeface="Arial"/>
                <a:cs typeface="Arial"/>
              </a:defRPr>
            </a:lvl8pPr>
            <a:lvl9pPr algn="l">
              <a:defRPr sz="1650" b="1">
                <a:solidFill>
                  <a:srgbClr val="317F7B"/>
                </a:solidFill>
                <a:latin typeface="Arial"/>
                <a:ea typeface="Arial"/>
                <a:cs typeface="Arial"/>
              </a:defRPr>
            </a:lvl9pPr>
          </a:lstStyle>
          <a:p xmlns:a="http://schemas.openxmlformats.org/drawingml/2006/main">
            <a:pPr algn="l">
              <a:defRPr sz="1650" b="1">
                <a:solidFill>
                  <a:srgbClr val="317F7B"/>
                </a:solidFill>
                <a:latin typeface="Arial"/>
                <a:ea typeface="Arial"/>
                <a:cs typeface="Arial"/>
              </a:defRPr>
            </a:pPr>
            <a:r>
              <a:rPr sz="1650" b="1">
                <a:solidFill>
                  <a:srgbClr val="317F7B"/>
                </a:solidFill>
                <a:latin typeface="Arial"/>
                <a:ea typeface="Arial"/>
                <a:cs typeface="Arial"/>
              </a:rPr>
              <a:t>Company A</a:t>
            </a:r>
          </a:p>
        </p:txBody>
      </p:sp>
      <p:sp>
        <p:nvSpPr>
          <p:cNvPr id="47" name="!!story.header.client.bar">
            <a:extLst xmlns:a="http://schemas.openxmlformats.org/drawingml/2006/main">
              <a:ext uri="{FF2B5EF4-FFF2-40B4-BE49-F238E27FC236}">
                <a16:creationId xmlns:a16="http://schemas.microsoft.com/office/drawing/2014/main" id="{1A7D0DDE-3A2F-479A-AD8B-FB001FADCAC8}"/>
              </a:ext>
            </a:extLst>
          </p:cNvPr>
          <p:cNvSpPr>
            <a:spLocks xmlns:a="http://schemas.openxmlformats.org/drawingml/2006/main" noGrp="1"/>
          </p:cNvSpPr>
          <p:nvPr/>
        </p:nvSpPr>
        <p:spPr>
          <a:xfrm xmlns:a="http://schemas.openxmlformats.org/drawingml/2006/main">
            <a:off x="12049125" y="1247775"/>
            <a:ext cx="47625" cy="238125"/>
          </a:xfrm>
          <a:prstGeom xmlns:a="http://schemas.openxmlformats.org/drawingml/2006/main" prst="rect">
            <a:avLst/>
          </a:prstGeom>
          <a:solidFill xmlns:a="http://schemas.openxmlformats.org/drawingml/2006/main">
            <a:srgbClr val="7363A6"/>
          </a:solidFill>
          <a:ln xmlns:a="http://schemas.openxmlformats.org/drawingml/2006/main" w="0">
            <a:noFill/>
          </a:ln>
        </p:spPr>
      </p:sp>
      <p:sp>
        <p:nvSpPr>
          <p:cNvPr id="48" name="!!story.header.client.name">
            <a:extLst xmlns:a="http://schemas.openxmlformats.org/drawingml/2006/main">
              <a:ext uri="{FF2B5EF4-FFF2-40B4-BE49-F238E27FC236}">
                <a16:creationId xmlns:a16="http://schemas.microsoft.com/office/drawing/2014/main" id="{67B1205E-603E-4B60-9A4F-F1600B32B50A}"/>
              </a:ext>
            </a:extLst>
          </p:cNvPr>
          <p:cNvSpPr>
            <a:spLocks xmlns:a="http://schemas.openxmlformats.org/drawingml/2006/main" noGrp="1"/>
          </p:cNvSpPr>
          <p:nvPr/>
        </p:nvSpPr>
        <p:spPr>
          <a:xfrm xmlns:a="http://schemas.openxmlformats.org/drawingml/2006/main">
            <a:off x="12182475" y="1190625"/>
            <a:ext cx="1647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363A6"/>
                </a:solidFill>
                <a:latin typeface="Arial"/>
                <a:ea typeface="Arial"/>
                <a:cs typeface="Arial"/>
              </a:defRPr>
            </a:defPPr>
            <a:lvl1pPr algn="l">
              <a:defRPr sz="1650" b="1">
                <a:solidFill>
                  <a:srgbClr val="7363A6"/>
                </a:solidFill>
                <a:latin typeface="Arial"/>
                <a:ea typeface="Arial"/>
                <a:cs typeface="Arial"/>
              </a:defRPr>
            </a:lvl1pPr>
            <a:lvl2pPr algn="l">
              <a:defRPr sz="1650" b="1">
                <a:solidFill>
                  <a:srgbClr val="7363A6"/>
                </a:solidFill>
                <a:latin typeface="Arial"/>
                <a:ea typeface="Arial"/>
                <a:cs typeface="Arial"/>
              </a:defRPr>
            </a:lvl2pPr>
            <a:lvl3pPr algn="l">
              <a:defRPr sz="1650" b="1">
                <a:solidFill>
                  <a:srgbClr val="7363A6"/>
                </a:solidFill>
                <a:latin typeface="Arial"/>
                <a:ea typeface="Arial"/>
                <a:cs typeface="Arial"/>
              </a:defRPr>
            </a:lvl3pPr>
            <a:lvl4pPr algn="l">
              <a:defRPr sz="1650" b="1">
                <a:solidFill>
                  <a:srgbClr val="7363A6"/>
                </a:solidFill>
                <a:latin typeface="Arial"/>
                <a:ea typeface="Arial"/>
                <a:cs typeface="Arial"/>
              </a:defRPr>
            </a:lvl4pPr>
            <a:lvl5pPr algn="l">
              <a:defRPr sz="1650" b="1">
                <a:solidFill>
                  <a:srgbClr val="7363A6"/>
                </a:solidFill>
                <a:latin typeface="Arial"/>
                <a:ea typeface="Arial"/>
                <a:cs typeface="Arial"/>
              </a:defRPr>
            </a:lvl5pPr>
            <a:lvl6pPr algn="l">
              <a:defRPr sz="1650" b="1">
                <a:solidFill>
                  <a:srgbClr val="7363A6"/>
                </a:solidFill>
                <a:latin typeface="Arial"/>
                <a:ea typeface="Arial"/>
                <a:cs typeface="Arial"/>
              </a:defRPr>
            </a:lvl6pPr>
            <a:lvl7pPr algn="l">
              <a:defRPr sz="1650" b="1">
                <a:solidFill>
                  <a:srgbClr val="7363A6"/>
                </a:solidFill>
                <a:latin typeface="Arial"/>
                <a:ea typeface="Arial"/>
                <a:cs typeface="Arial"/>
              </a:defRPr>
            </a:lvl7pPr>
            <a:lvl8pPr algn="l">
              <a:defRPr sz="1650" b="1">
                <a:solidFill>
                  <a:srgbClr val="7363A6"/>
                </a:solidFill>
                <a:latin typeface="Arial"/>
                <a:ea typeface="Arial"/>
                <a:cs typeface="Arial"/>
              </a:defRPr>
            </a:lvl8pPr>
            <a:lvl9pPr algn="l">
              <a:defRPr sz="1650" b="1">
                <a:solidFill>
                  <a:srgbClr val="7363A6"/>
                </a:solidFill>
                <a:latin typeface="Arial"/>
                <a:ea typeface="Arial"/>
                <a:cs typeface="Arial"/>
              </a:defRPr>
            </a:lvl9pPr>
          </a:lstStyle>
          <a:p xmlns:a="http://schemas.openxmlformats.org/drawingml/2006/main">
            <a:pPr algn="l">
              <a:defRPr sz="1650" b="1">
                <a:solidFill>
                  <a:srgbClr val="7363A6"/>
                </a:solidFill>
                <a:latin typeface="Arial"/>
                <a:ea typeface="Arial"/>
                <a:cs typeface="Arial"/>
              </a:defRPr>
            </a:pPr>
            <a:r>
              <a:rPr sz="1650" b="1">
                <a:solidFill>
                  <a:srgbClr val="7363A6"/>
                </a:solidFill>
                <a:latin typeface="Arial"/>
                <a:ea typeface="Arial"/>
                <a:cs typeface="Arial"/>
              </a:rPr>
              <a:t>Client update</a:t>
            </a:r>
          </a:p>
        </p:txBody>
      </p:sp>
    </p:spTree>
    <p:extLst>
      <p:ext uri="{BB962C8B-B14F-4D97-AF65-F5344CB8AC3E}">
        <p14:creationId xmlns:p14="http://schemas.microsoft.com/office/powerpoint/2010/main" val="101643060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heading">
            <a:extLst xmlns:a="http://schemas.openxmlformats.org/drawingml/2006/main">
              <a:ext uri="{FF2B5EF4-FFF2-40B4-BE49-F238E27FC236}">
                <a16:creationId xmlns:a16="http://schemas.microsoft.com/office/drawing/2014/main" id="{88FB95F2-10BE-4E18-9795-3550748F5765}"/>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Shared information, models and tools</a:t>
            </a:r>
          </a:p>
        </p:txBody>
      </p:sp>
      <p:sp>
        <p:nvSpPr>
          <p:cNvPr id="2" name="!!subtitle">
            <a:extLst xmlns:a="http://schemas.openxmlformats.org/drawingml/2006/main">
              <a:ext uri="{FF2B5EF4-FFF2-40B4-BE49-F238E27FC236}">
                <a16:creationId xmlns:a16="http://schemas.microsoft.com/office/drawing/2014/main" id="{6EDFD796-AE65-480B-BE0C-FB5589648326}"/>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Shared capabilities</a:t>
            </a:r>
          </a:p>
        </p:txBody>
      </p:sp>
      <p:sp>
        <p:nvSpPr>
          <p:cNvPr id="3" name="!!heading.rule">
            <a:extLst xmlns:a="http://schemas.openxmlformats.org/drawingml/2006/main">
              <a:ext uri="{FF2B5EF4-FFF2-40B4-BE49-F238E27FC236}">
                <a16:creationId xmlns:a16="http://schemas.microsoft.com/office/drawing/2014/main" id="{9352CAE1-7FE3-42E0-B464-FB044D795239}"/>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A0ADE4E5-17A7-4088-8A52-6AA4614E851F}"/>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94578775-0B73-48EF-B3CE-65C92B9626B1}"/>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B881CB0E-7776-4665-BD1B-E45EBEA0259E}"/>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FD7FEE8E-8046-4B13-A5DE-9BDADE8175AA}"/>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C28F2CF-6ABE-4EBF-A4A5-888D24F37E8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7386D801-52D0-4720-A874-A27EDDE19D04}"/>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81B60E36-1446-4B4E-8C75-B1B678774AD8}"/>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907DE92D-AACE-40B5-97DC-698EEB1A2F0C}"/>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EB4FDB1-E34B-420B-BF90-77FCA4A06615}"/>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67115636-56D0-499A-9CB2-54DAC7430D45}"/>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4190B440-158B-4FC1-8287-B203870FCD1F}"/>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E521D28C-90F0-41F4-85B9-873AC75A17BD}"/>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A2015F7F-EE56-4FD2-A652-50DDBD5B6498}"/>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01F2E460-81E8-45F0-89B4-4F9680691432}"/>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3773049B-4F7A-494C-9985-B1951D764E73}"/>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1A57BCB1-2594-4D2D-8F8C-E182DB5BB6C4}"/>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31 / 33</a:t>
            </a:r>
          </a:p>
        </p:txBody>
      </p:sp>
      <p:sp>
        <p:nvSpPr>
          <p:cNvPr id="20" name="!!nav.prev">
            <ns0:hlinkClick xmlns:ns0="http://schemas.openxmlformats.org/drawingml/2006/main" xmlns:ns1="http://schemas.openxmlformats.org/officeDocument/2006/relationships" ns1:id="rIdNavSlide30" action="ppaction://hlinksldjump" tooltip="Slide 30: Two information flows across the firm"/>
            <a:extLst xmlns:a="http://schemas.openxmlformats.org/drawingml/2006/main">
              <a:ext uri="{FF2B5EF4-FFF2-40B4-BE49-F238E27FC236}">
                <a16:creationId xmlns:a16="http://schemas.microsoft.com/office/drawing/2014/main" id="{B1EF24C2-29EB-4776-9865-CB0F2838BF7F}"/>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2" action="ppaction://hlinksldjump" tooltip="Slide 32: Proposed implementation sequence"/>
            <a:extLst xmlns:a="http://schemas.openxmlformats.org/drawingml/2006/main">
              <a:ext uri="{FF2B5EF4-FFF2-40B4-BE49-F238E27FC236}">
                <a16:creationId xmlns:a16="http://schemas.microsoft.com/office/drawing/2014/main" id="{129DC091-AD97-4D0B-9876-B9654C599D21}"/>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6A2C6B5E-4AD2-4A41-958A-056EA0CEC3F1}"/>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A3451162-43B3-4763-87D0-B1E547D536E4}"/>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pPr algn="l">
              <a:defRPr sz="1050" b="0">
                <a:solidFill>
                  <a:srgbClr val="707C88"/>
                </a:solidFill>
                <a:latin typeface="Arial"/>
                <a:ea typeface="Arial"/>
                <a:cs typeface="Arial"/>
              </a:defRPr>
            </a:pPr>
            <a:r>
              <a:rPr sz="1050" b="0">
                <a:solidFill>
                  <a:srgbClr val="707C88"/>
                </a:solidFill>
                <a:latin typeface="Arial"/>
                <a:ea typeface="Arial"/>
                <a:cs typeface="Arial"/>
              </a:rPr>
              <a:t>Sources: Tianhong; Southern; ICBCUBS / AMAC</a:t>
            </a:r>
          </a:p>
        </p:txBody>
      </p:sp>
      <p:sp>
        <p:nvSpPr>
          <p:cNvPr id="24" name="!!arch.entry">
            <a:extLst xmlns:a="http://schemas.openxmlformats.org/drawingml/2006/main">
              <a:ext uri="{FF2B5EF4-FFF2-40B4-BE49-F238E27FC236}">
                <a16:creationId xmlns:a16="http://schemas.microsoft.com/office/drawing/2014/main" id="{A119799D-26CE-4AEE-90AF-E9A0E378F863}"/>
              </a:ext>
            </a:extLst>
          </p:cNvPr>
          <p:cNvSpPr>
            <a:spLocks xmlns:a="http://schemas.openxmlformats.org/drawingml/2006/main" noGrp="1"/>
          </p:cNvSpPr>
          <p:nvPr/>
        </p:nvSpPr>
        <p:spPr>
          <a:xfrm xmlns:a="http://schemas.openxmlformats.org/drawingml/2006/main">
            <a:off x="4057650" y="2181225"/>
            <a:ext cx="10534650" cy="61912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250" b="1">
                <a:solidFill>
                  <a:srgbClr val="20262C"/>
                </a:solidFill>
                <a:latin typeface="Arial"/>
                <a:ea typeface="Arial"/>
                <a:cs typeface="Arial"/>
              </a:defRPr>
            </a:defPPr>
            <a:lvl1pPr algn="ctr">
              <a:defRPr sz="2250" b="1">
                <a:solidFill>
                  <a:srgbClr val="20262C"/>
                </a:solidFill>
                <a:latin typeface="Arial"/>
                <a:ea typeface="Arial"/>
                <a:cs typeface="Arial"/>
              </a:defRPr>
            </a:lvl1pPr>
            <a:lvl2pPr algn="ctr">
              <a:defRPr sz="2250" b="1">
                <a:solidFill>
                  <a:srgbClr val="20262C"/>
                </a:solidFill>
                <a:latin typeface="Arial"/>
                <a:ea typeface="Arial"/>
                <a:cs typeface="Arial"/>
              </a:defRPr>
            </a:lvl2pPr>
            <a:lvl3pPr algn="ctr">
              <a:defRPr sz="2250" b="1">
                <a:solidFill>
                  <a:srgbClr val="20262C"/>
                </a:solidFill>
                <a:latin typeface="Arial"/>
                <a:ea typeface="Arial"/>
                <a:cs typeface="Arial"/>
              </a:defRPr>
            </a:lvl3pPr>
            <a:lvl4pPr algn="ctr">
              <a:defRPr sz="2250" b="1">
                <a:solidFill>
                  <a:srgbClr val="20262C"/>
                </a:solidFill>
                <a:latin typeface="Arial"/>
                <a:ea typeface="Arial"/>
                <a:cs typeface="Arial"/>
              </a:defRPr>
            </a:lvl4pPr>
            <a:lvl5pPr algn="ctr">
              <a:defRPr sz="2250" b="1">
                <a:solidFill>
                  <a:srgbClr val="20262C"/>
                </a:solidFill>
                <a:latin typeface="Arial"/>
                <a:ea typeface="Arial"/>
                <a:cs typeface="Arial"/>
              </a:defRPr>
            </a:lvl5pPr>
            <a:lvl6pPr algn="ctr">
              <a:defRPr sz="2250" b="1">
                <a:solidFill>
                  <a:srgbClr val="20262C"/>
                </a:solidFill>
                <a:latin typeface="Arial"/>
                <a:ea typeface="Arial"/>
                <a:cs typeface="Arial"/>
              </a:defRPr>
            </a:lvl6pPr>
            <a:lvl7pPr algn="ctr">
              <a:defRPr sz="2250" b="1">
                <a:solidFill>
                  <a:srgbClr val="20262C"/>
                </a:solidFill>
                <a:latin typeface="Arial"/>
                <a:ea typeface="Arial"/>
                <a:cs typeface="Arial"/>
              </a:defRPr>
            </a:lvl7pPr>
            <a:lvl8pPr algn="ctr">
              <a:defRPr sz="2250" b="1">
                <a:solidFill>
                  <a:srgbClr val="20262C"/>
                </a:solidFill>
                <a:latin typeface="Arial"/>
                <a:ea typeface="Arial"/>
                <a:cs typeface="Arial"/>
              </a:defRPr>
            </a:lvl8pPr>
            <a:lvl9pPr algn="ctr">
              <a:defRPr sz="2250" b="1">
                <a:solidFill>
                  <a:srgbClr val="20262C"/>
                </a:solidFill>
                <a:latin typeface="Arial"/>
                <a:ea typeface="Arial"/>
                <a:cs typeface="Arial"/>
              </a:defRPr>
            </a:lvl9pPr>
          </a:lstStyle>
          <a:p xmlns:a="http://schemas.openxmlformats.org/drawingml/2006/main">
            <a:pPr algn="ctr">
              <a:defRPr sz="2250" b="1">
                <a:solidFill>
                  <a:srgbClr val="20262C"/>
                </a:solidFill>
                <a:latin typeface="Arial"/>
                <a:ea typeface="Arial"/>
                <a:cs typeface="Arial"/>
              </a:defRPr>
            </a:pPr>
            <a:r>
              <a:rPr sz="2250" b="1">
                <a:solidFill>
                  <a:srgbClr val="20262C"/>
                </a:solidFill>
                <a:latin typeface="Arial"/>
                <a:ea typeface="Arial"/>
                <a:cs typeface="Arial"/>
              </a:rPr>
              <a:t>Employees provide a business question and the relevant material</a:t>
            </a:r>
          </a:p>
        </p:txBody>
      </p:sp>
      <p:sp>
        <p:nvSpPr>
          <p:cNvPr id="25" name="!!arch.a.line">
            <a:extLst xmlns:a="http://schemas.openxmlformats.org/drawingml/2006/main">
              <a:ext uri="{FF2B5EF4-FFF2-40B4-BE49-F238E27FC236}">
                <a16:creationId xmlns:a16="http://schemas.microsoft.com/office/drawing/2014/main" id="{F1E6D9CC-8FD0-47E8-A3A0-CE8B7E683C23}"/>
              </a:ext>
            </a:extLst>
          </p:cNvPr>
          <p:cNvSpPr>
            <a:spLocks xmlns:a="http://schemas.openxmlformats.org/drawingml/2006/main" noGrp="1"/>
          </p:cNvSpPr>
          <p:nvPr/>
        </p:nvSpPr>
        <p:spPr>
          <a:xfrm xmlns:a="http://schemas.openxmlformats.org/drawingml/2006/main" flipH="0" flipV="0">
            <a:off x="9324975" y="2886075"/>
            <a:ext cx="953" cy="352425"/>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6" name="!!arch.a.tip">
            <a:extLst xmlns:a="http://schemas.openxmlformats.org/drawingml/2006/main">
              <a:ext uri="{FF2B5EF4-FFF2-40B4-BE49-F238E27FC236}">
                <a16:creationId xmlns:a16="http://schemas.microsoft.com/office/drawing/2014/main" id="{B9519E35-8658-4892-9491-A80279EBB4C5}"/>
              </a:ext>
            </a:extLst>
          </p:cNvPr>
          <p:cNvSpPr>
            <a:spLocks xmlns:a="http://schemas.openxmlformats.org/drawingml/2006/main" noGrp="1"/>
          </p:cNvSpPr>
          <p:nvPr/>
        </p:nvSpPr>
        <p:spPr>
          <a:xfrm xmlns:a="http://schemas.openxmlformats.org/drawingml/2006/main" rot="10800000">
            <a:off x="9267825" y="318135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7" name="!!arch.workflow">
            <a:extLst xmlns:a="http://schemas.openxmlformats.org/drawingml/2006/main">
              <a:ext uri="{FF2B5EF4-FFF2-40B4-BE49-F238E27FC236}">
                <a16:creationId xmlns:a16="http://schemas.microsoft.com/office/drawing/2014/main" id="{6C09C5B7-CC8B-435C-A4F0-690AD0E1FE97}"/>
              </a:ext>
            </a:extLst>
          </p:cNvPr>
          <p:cNvSpPr>
            <a:spLocks xmlns:a="http://schemas.openxmlformats.org/drawingml/2006/main" noGrp="1"/>
          </p:cNvSpPr>
          <p:nvPr/>
        </p:nvSpPr>
        <p:spPr>
          <a:xfrm xmlns:a="http://schemas.openxmlformats.org/drawingml/2006/main">
            <a:off x="4057650" y="3352800"/>
            <a:ext cx="10534650" cy="74295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Applications across the seven business areas</a:t>
            </a:r>
          </a:p>
        </p:txBody>
      </p:sp>
      <p:sp>
        <p:nvSpPr>
          <p:cNvPr id="28" name="!!arch.b.stem">
            <a:extLst xmlns:a="http://schemas.openxmlformats.org/drawingml/2006/main">
              <a:ext uri="{FF2B5EF4-FFF2-40B4-BE49-F238E27FC236}">
                <a16:creationId xmlns:a16="http://schemas.microsoft.com/office/drawing/2014/main" id="{CE737B03-F92C-4AA1-81B2-EF8AECD0C08D}"/>
              </a:ext>
            </a:extLst>
          </p:cNvPr>
          <p:cNvSpPr>
            <a:spLocks xmlns:a="http://schemas.openxmlformats.org/drawingml/2006/main" noGrp="1"/>
          </p:cNvSpPr>
          <p:nvPr/>
        </p:nvSpPr>
        <p:spPr>
          <a:xfrm xmlns:a="http://schemas.openxmlformats.org/drawingml/2006/main" flipH="0" flipV="0">
            <a:off x="9324975" y="4191000"/>
            <a:ext cx="953" cy="17145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9" name="!!arch.b.bus">
            <a:extLst xmlns:a="http://schemas.openxmlformats.org/drawingml/2006/main">
              <a:ext uri="{FF2B5EF4-FFF2-40B4-BE49-F238E27FC236}">
                <a16:creationId xmlns:a16="http://schemas.microsoft.com/office/drawing/2014/main" id="{AD4318DE-8C60-47FD-891A-0E15056EFA0C}"/>
              </a:ext>
            </a:extLst>
          </p:cNvPr>
          <p:cNvSpPr>
            <a:spLocks xmlns:a="http://schemas.openxmlformats.org/drawingml/2006/main" noGrp="1"/>
          </p:cNvSpPr>
          <p:nvPr/>
        </p:nvSpPr>
        <p:spPr>
          <a:xfrm xmlns:a="http://schemas.openxmlformats.org/drawingml/2006/main" flipH="0" flipV="0">
            <a:off x="6400800" y="4362450"/>
            <a:ext cx="5724525"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arch.b.model.line">
            <a:extLst xmlns:a="http://schemas.openxmlformats.org/drawingml/2006/main">
              <a:ext uri="{FF2B5EF4-FFF2-40B4-BE49-F238E27FC236}">
                <a16:creationId xmlns:a16="http://schemas.microsoft.com/office/drawing/2014/main" id="{8424D01A-0989-4BE9-BA64-C4A43DDD8BDA}"/>
              </a:ext>
            </a:extLst>
          </p:cNvPr>
          <p:cNvSpPr>
            <a:spLocks xmlns:a="http://schemas.openxmlformats.org/drawingml/2006/main" noGrp="1"/>
          </p:cNvSpPr>
          <p:nvPr/>
        </p:nvSpPr>
        <p:spPr>
          <a:xfrm xmlns:a="http://schemas.openxmlformats.org/drawingml/2006/main" flipH="0" flipV="0">
            <a:off x="6400800" y="4362450"/>
            <a:ext cx="953" cy="1905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1" name="!!arch.b.model.tip">
            <a:extLst xmlns:a="http://schemas.openxmlformats.org/drawingml/2006/main">
              <a:ext uri="{FF2B5EF4-FFF2-40B4-BE49-F238E27FC236}">
                <a16:creationId xmlns:a16="http://schemas.microsoft.com/office/drawing/2014/main" id="{C80298C3-2491-4D6C-80EC-F3855E5DCE3D}"/>
              </a:ext>
            </a:extLst>
          </p:cNvPr>
          <p:cNvSpPr>
            <a:spLocks xmlns:a="http://schemas.openxmlformats.org/drawingml/2006/main" noGrp="1"/>
          </p:cNvSpPr>
          <p:nvPr/>
        </p:nvSpPr>
        <p:spPr>
          <a:xfrm xmlns:a="http://schemas.openxmlformats.org/drawingml/2006/main" rot="10800000">
            <a:off x="6343650" y="44958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2" name="!!arch.b.tools.line">
            <a:extLst xmlns:a="http://schemas.openxmlformats.org/drawingml/2006/main">
              <a:ext uri="{FF2B5EF4-FFF2-40B4-BE49-F238E27FC236}">
                <a16:creationId xmlns:a16="http://schemas.microsoft.com/office/drawing/2014/main" id="{E9B9A815-E258-4CA0-AEAF-389B56F85615}"/>
              </a:ext>
            </a:extLst>
          </p:cNvPr>
          <p:cNvSpPr>
            <a:spLocks xmlns:a="http://schemas.openxmlformats.org/drawingml/2006/main" noGrp="1"/>
          </p:cNvSpPr>
          <p:nvPr/>
        </p:nvSpPr>
        <p:spPr>
          <a:xfrm xmlns:a="http://schemas.openxmlformats.org/drawingml/2006/main" flipH="0" flipV="0">
            <a:off x="12125325" y="4362450"/>
            <a:ext cx="953" cy="190500"/>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arch.b.tools.tip">
            <a:extLst xmlns:a="http://schemas.openxmlformats.org/drawingml/2006/main">
              <a:ext uri="{FF2B5EF4-FFF2-40B4-BE49-F238E27FC236}">
                <a16:creationId xmlns:a16="http://schemas.microsoft.com/office/drawing/2014/main" id="{FE6B7DCB-9392-491B-9086-4477ADC46CBA}"/>
              </a:ext>
            </a:extLst>
          </p:cNvPr>
          <p:cNvSpPr>
            <a:spLocks xmlns:a="http://schemas.openxmlformats.org/drawingml/2006/main" noGrp="1"/>
          </p:cNvSpPr>
          <p:nvPr/>
        </p:nvSpPr>
        <p:spPr>
          <a:xfrm xmlns:a="http://schemas.openxmlformats.org/drawingml/2006/main" rot="10800000">
            <a:off x="12068175" y="4495800"/>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arch.model">
            <a:extLst xmlns:a="http://schemas.openxmlformats.org/drawingml/2006/main">
              <a:ext uri="{FF2B5EF4-FFF2-40B4-BE49-F238E27FC236}">
                <a16:creationId xmlns:a16="http://schemas.microsoft.com/office/drawing/2014/main" id="{5A31CC02-2265-42EC-B2EA-0CA8460CD912}"/>
              </a:ext>
            </a:extLst>
          </p:cNvPr>
          <p:cNvSpPr>
            <a:spLocks xmlns:a="http://schemas.openxmlformats.org/drawingml/2006/main" noGrp="1"/>
          </p:cNvSpPr>
          <p:nvPr/>
        </p:nvSpPr>
        <p:spPr>
          <a:xfrm xmlns:a="http://schemas.openxmlformats.org/drawingml/2006/main">
            <a:off x="4057650" y="4648200"/>
            <a:ext cx="4676775" cy="1828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5" name="!!arch.model.role">
            <a:extLst xmlns:a="http://schemas.openxmlformats.org/drawingml/2006/main">
              <a:ext uri="{FF2B5EF4-FFF2-40B4-BE49-F238E27FC236}">
                <a16:creationId xmlns:a16="http://schemas.microsoft.com/office/drawing/2014/main" id="{BE9A535D-B17F-4129-B7FB-3976BDB0AA8B}"/>
              </a:ext>
            </a:extLst>
          </p:cNvPr>
          <p:cNvSpPr>
            <a:spLocks xmlns:a="http://schemas.openxmlformats.org/drawingml/2006/main" noGrp="1"/>
          </p:cNvSpPr>
          <p:nvPr/>
        </p:nvSpPr>
        <p:spPr>
          <a:xfrm xmlns:a="http://schemas.openxmlformats.org/drawingml/2006/main">
            <a:off x="4248150" y="4791075"/>
            <a:ext cx="4295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LLMs interpret, compare and draft content</a:t>
            </a:r>
          </a:p>
        </p:txBody>
      </p:sp>
      <p:sp>
        <p:nvSpPr>
          <p:cNvPr id="36" name="!!arch.model.body">
            <a:extLst xmlns:a="http://schemas.openxmlformats.org/drawingml/2006/main">
              <a:ext uri="{FF2B5EF4-FFF2-40B4-BE49-F238E27FC236}">
                <a16:creationId xmlns:a16="http://schemas.microsoft.com/office/drawing/2014/main" id="{569CD593-7AE4-4DBB-8052-B010F8AB2462}"/>
              </a:ext>
            </a:extLst>
          </p:cNvPr>
          <p:cNvSpPr>
            <a:spLocks xmlns:a="http://schemas.openxmlformats.org/drawingml/2006/main" noGrp="1"/>
          </p:cNvSpPr>
          <p:nvPr/>
        </p:nvSpPr>
        <p:spPr>
          <a:xfrm xmlns:a="http://schemas.openxmlformats.org/drawingml/2006/main">
            <a:off x="4248150" y="5524500"/>
            <a:ext cx="42957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Interpret questions and read sources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Compare and explain content</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Draft text and code</a:t>
            </a:r>
          </a:p>
        </p:txBody>
      </p:sp>
      <p:sp>
        <p:nvSpPr>
          <p:cNvPr id="37" name="!!arch.tools">
            <a:extLst xmlns:a="http://schemas.openxmlformats.org/drawingml/2006/main">
              <a:ext uri="{FF2B5EF4-FFF2-40B4-BE49-F238E27FC236}">
                <a16:creationId xmlns:a16="http://schemas.microsoft.com/office/drawing/2014/main" id="{D5CF5EB7-6192-438D-B870-66D166328D32}"/>
              </a:ext>
            </a:extLst>
          </p:cNvPr>
          <p:cNvSpPr>
            <a:spLocks xmlns:a="http://schemas.openxmlformats.org/drawingml/2006/main" noGrp="1"/>
          </p:cNvSpPr>
          <p:nvPr/>
        </p:nvSpPr>
        <p:spPr>
          <a:xfrm xmlns:a="http://schemas.openxmlformats.org/drawingml/2006/main">
            <a:off x="9648825" y="4648200"/>
            <a:ext cx="4943475" cy="1828800"/>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sp>
      <p:sp>
        <p:nvSpPr>
          <p:cNvPr id="38" name="!!arch.tools.role">
            <a:extLst xmlns:a="http://schemas.openxmlformats.org/drawingml/2006/main">
              <a:ext uri="{FF2B5EF4-FFF2-40B4-BE49-F238E27FC236}">
                <a16:creationId xmlns:a16="http://schemas.microsoft.com/office/drawing/2014/main" id="{5893D5E4-E2E0-4FBB-B83D-1B1CAEECC1E3}"/>
              </a:ext>
            </a:extLst>
          </p:cNvPr>
          <p:cNvSpPr>
            <a:spLocks xmlns:a="http://schemas.openxmlformats.org/drawingml/2006/main" noGrp="1"/>
          </p:cNvSpPr>
          <p:nvPr/>
        </p:nvSpPr>
        <p:spPr>
          <a:xfrm xmlns:a="http://schemas.openxmlformats.org/drawingml/2006/main">
            <a:off x="9839325" y="4791075"/>
            <a:ext cx="4562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62C"/>
                </a:solidFill>
                <a:latin typeface="Arial"/>
                <a:ea typeface="Arial"/>
                <a:cs typeface="Arial"/>
              </a:defRPr>
            </a:defPPr>
            <a:lvl1pPr algn="l">
              <a:defRPr sz="1800" b="1">
                <a:solidFill>
                  <a:srgbClr val="20262C"/>
                </a:solidFill>
                <a:latin typeface="Arial"/>
                <a:ea typeface="Arial"/>
                <a:cs typeface="Arial"/>
              </a:defRPr>
            </a:lvl1pPr>
            <a:lvl2pPr algn="l">
              <a:defRPr sz="1800" b="1">
                <a:solidFill>
                  <a:srgbClr val="20262C"/>
                </a:solidFill>
                <a:latin typeface="Arial"/>
                <a:ea typeface="Arial"/>
                <a:cs typeface="Arial"/>
              </a:defRPr>
            </a:lvl2pPr>
            <a:lvl3pPr algn="l">
              <a:defRPr sz="1800" b="1">
                <a:solidFill>
                  <a:srgbClr val="20262C"/>
                </a:solidFill>
                <a:latin typeface="Arial"/>
                <a:ea typeface="Arial"/>
                <a:cs typeface="Arial"/>
              </a:defRPr>
            </a:lvl3pPr>
            <a:lvl4pPr algn="l">
              <a:defRPr sz="1800" b="1">
                <a:solidFill>
                  <a:srgbClr val="20262C"/>
                </a:solidFill>
                <a:latin typeface="Arial"/>
                <a:ea typeface="Arial"/>
                <a:cs typeface="Arial"/>
              </a:defRPr>
            </a:lvl4pPr>
            <a:lvl5pPr algn="l">
              <a:defRPr sz="1800" b="1">
                <a:solidFill>
                  <a:srgbClr val="20262C"/>
                </a:solidFill>
                <a:latin typeface="Arial"/>
                <a:ea typeface="Arial"/>
                <a:cs typeface="Arial"/>
              </a:defRPr>
            </a:lvl5pPr>
            <a:lvl6pPr algn="l">
              <a:defRPr sz="1800" b="1">
                <a:solidFill>
                  <a:srgbClr val="20262C"/>
                </a:solidFill>
                <a:latin typeface="Arial"/>
                <a:ea typeface="Arial"/>
                <a:cs typeface="Arial"/>
              </a:defRPr>
            </a:lvl6pPr>
            <a:lvl7pPr algn="l">
              <a:defRPr sz="1800" b="1">
                <a:solidFill>
                  <a:srgbClr val="20262C"/>
                </a:solidFill>
                <a:latin typeface="Arial"/>
                <a:ea typeface="Arial"/>
                <a:cs typeface="Arial"/>
              </a:defRPr>
            </a:lvl7pPr>
            <a:lvl8pPr algn="l">
              <a:defRPr sz="1800" b="1">
                <a:solidFill>
                  <a:srgbClr val="20262C"/>
                </a:solidFill>
                <a:latin typeface="Arial"/>
                <a:ea typeface="Arial"/>
                <a:cs typeface="Arial"/>
              </a:defRPr>
            </a:lvl8pPr>
            <a:lvl9pPr algn="l">
              <a:defRPr sz="1800" b="1">
                <a:solidFill>
                  <a:srgbClr val="20262C"/>
                </a:solidFill>
                <a:latin typeface="Arial"/>
                <a:ea typeface="Arial"/>
                <a:cs typeface="Arial"/>
              </a:defRPr>
            </a:lvl9pPr>
          </a:lstStyle>
          <a:p xmlns:a="http://schemas.openxmlformats.org/drawingml/2006/main">
            <a:pPr algn="l">
              <a:defRPr sz="1800" b="1">
                <a:solidFill>
                  <a:srgbClr val="20262C"/>
                </a:solidFill>
                <a:latin typeface="Arial"/>
                <a:ea typeface="Arial"/>
                <a:cs typeface="Arial"/>
              </a:defRPr>
            </a:pPr>
            <a:r>
              <a:rPr sz="1800" b="1">
                <a:solidFill>
                  <a:srgbClr val="20262C"/>
                </a:solidFill>
                <a:latin typeface="Arial"/>
                <a:ea typeface="Arial"/>
                <a:cs typeface="Arial"/>
              </a:rPr>
              <a:t>Tools execute specific operations</a:t>
            </a:r>
          </a:p>
        </p:txBody>
      </p:sp>
      <p:sp>
        <p:nvSpPr>
          <p:cNvPr id="39" name="!!arch.tools.body">
            <a:extLst xmlns:a="http://schemas.openxmlformats.org/drawingml/2006/main">
              <a:ext uri="{FF2B5EF4-FFF2-40B4-BE49-F238E27FC236}">
                <a16:creationId xmlns:a16="http://schemas.microsoft.com/office/drawing/2014/main" id="{78BD66FF-A1D9-4759-B810-E04CE7DB946E}"/>
              </a:ext>
            </a:extLst>
          </p:cNvPr>
          <p:cNvSpPr>
            <a:spLocks xmlns:a="http://schemas.openxmlformats.org/drawingml/2006/main" noGrp="1"/>
          </p:cNvSpPr>
          <p:nvPr/>
        </p:nvSpPr>
        <p:spPr>
          <a:xfrm xmlns:a="http://schemas.openxmlformats.org/drawingml/2006/main">
            <a:off x="9839325" y="5229225"/>
            <a:ext cx="45624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62C"/>
                </a:solidFill>
                <a:latin typeface="Arial"/>
                <a:ea typeface="Arial"/>
                <a:cs typeface="Arial"/>
              </a:defRPr>
            </a:defPPr>
            <a:lvl1pPr algn="l">
              <a:defRPr sz="1950" b="0">
                <a:solidFill>
                  <a:srgbClr val="20262C"/>
                </a:solidFill>
                <a:latin typeface="Arial"/>
                <a:ea typeface="Arial"/>
                <a:cs typeface="Arial"/>
              </a:defRPr>
            </a:lvl1pPr>
            <a:lvl2pPr algn="l">
              <a:defRPr sz="1950" b="0">
                <a:solidFill>
                  <a:srgbClr val="20262C"/>
                </a:solidFill>
                <a:latin typeface="Arial"/>
                <a:ea typeface="Arial"/>
                <a:cs typeface="Arial"/>
              </a:defRPr>
            </a:lvl2pPr>
            <a:lvl3pPr algn="l">
              <a:defRPr sz="1950" b="0">
                <a:solidFill>
                  <a:srgbClr val="20262C"/>
                </a:solidFill>
                <a:latin typeface="Arial"/>
                <a:ea typeface="Arial"/>
                <a:cs typeface="Arial"/>
              </a:defRPr>
            </a:lvl3pPr>
            <a:lvl4pPr algn="l">
              <a:defRPr sz="1950" b="0">
                <a:solidFill>
                  <a:srgbClr val="20262C"/>
                </a:solidFill>
                <a:latin typeface="Arial"/>
                <a:ea typeface="Arial"/>
                <a:cs typeface="Arial"/>
              </a:defRPr>
            </a:lvl4pPr>
            <a:lvl5pPr algn="l">
              <a:defRPr sz="1950" b="0">
                <a:solidFill>
                  <a:srgbClr val="20262C"/>
                </a:solidFill>
                <a:latin typeface="Arial"/>
                <a:ea typeface="Arial"/>
                <a:cs typeface="Arial"/>
              </a:defRPr>
            </a:lvl5pPr>
            <a:lvl6pPr algn="l">
              <a:defRPr sz="1950" b="0">
                <a:solidFill>
                  <a:srgbClr val="20262C"/>
                </a:solidFill>
                <a:latin typeface="Arial"/>
                <a:ea typeface="Arial"/>
                <a:cs typeface="Arial"/>
              </a:defRPr>
            </a:lvl6pPr>
            <a:lvl7pPr algn="l">
              <a:defRPr sz="1950" b="0">
                <a:solidFill>
                  <a:srgbClr val="20262C"/>
                </a:solidFill>
                <a:latin typeface="Arial"/>
                <a:ea typeface="Arial"/>
                <a:cs typeface="Arial"/>
              </a:defRPr>
            </a:lvl7pPr>
            <a:lvl8pPr algn="l">
              <a:defRPr sz="1950" b="0">
                <a:solidFill>
                  <a:srgbClr val="20262C"/>
                </a:solidFill>
                <a:latin typeface="Arial"/>
                <a:ea typeface="Arial"/>
                <a:cs typeface="Arial"/>
              </a:defRPr>
            </a:lvl8pPr>
            <a:lvl9pPr algn="l">
              <a:defRPr sz="1950" b="0">
                <a:solidFill>
                  <a:srgbClr val="20262C"/>
                </a:solidFill>
                <a:latin typeface="Arial"/>
                <a:ea typeface="Arial"/>
                <a:cs typeface="Arial"/>
              </a:defRPr>
            </a:lvl9pPr>
          </a:lstStyle>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Query systems, perform calculations and process files</a:t>
            </a:r>
          </a:p>
          <a:p xmlns:a="http://schemas.openxmlformats.org/drawingml/2006/main">
            <a:pPr algn="l">
              <a:defRPr sz="1950" b="0">
                <a:solidFill>
                  <a:srgbClr val="20262C"/>
                </a:solidFill>
                <a:latin typeface="Arial"/>
                <a:ea typeface="Arial"/>
                <a:cs typeface="Arial"/>
              </a:defRPr>
            </a:pPr>
            <a:r>
              <a:rPr sz="1950" b="0">
                <a:solidFill>
                  <a:srgbClr val="20262C"/>
                </a:solidFill>
                <a:latin typeface="Arial"/>
                <a:ea typeface="Arial"/>
                <a:cs typeface="Arial"/>
              </a:rPr>
              <a:t>Run code and tests</a:t>
            </a:r>
          </a:p>
        </p:txBody>
      </p:sp>
      <p:sp>
        <p:nvSpPr>
          <p:cNvPr id="40" name="!!arch.data">
            <a:extLst xmlns:a="http://schemas.openxmlformats.org/drawingml/2006/main">
              <a:ext uri="{FF2B5EF4-FFF2-40B4-BE49-F238E27FC236}">
                <a16:creationId xmlns:a16="http://schemas.microsoft.com/office/drawing/2014/main" id="{17F33FBF-3C66-4CFF-BBEA-7F34C0C2E5BB}"/>
              </a:ext>
            </a:extLst>
          </p:cNvPr>
          <p:cNvSpPr>
            <a:spLocks xmlns:a="http://schemas.openxmlformats.org/drawingml/2006/main" noGrp="1"/>
          </p:cNvSpPr>
          <p:nvPr/>
        </p:nvSpPr>
        <p:spPr>
          <a:xfrm xmlns:a="http://schemas.openxmlformats.org/drawingml/2006/main">
            <a:off x="4057650" y="6591300"/>
            <a:ext cx="10534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62C"/>
                </a:solidFill>
                <a:latin typeface="Arial"/>
                <a:ea typeface="Arial"/>
                <a:cs typeface="Arial"/>
              </a:defRPr>
            </a:defPPr>
            <a:lvl1pPr algn="l">
              <a:defRPr sz="1875" b="0">
                <a:solidFill>
                  <a:srgbClr val="20262C"/>
                </a:solidFill>
                <a:latin typeface="Arial"/>
                <a:ea typeface="Arial"/>
                <a:cs typeface="Arial"/>
              </a:defRPr>
            </a:lvl1pPr>
            <a:lvl2pPr algn="l">
              <a:defRPr sz="1875" b="0">
                <a:solidFill>
                  <a:srgbClr val="20262C"/>
                </a:solidFill>
                <a:latin typeface="Arial"/>
                <a:ea typeface="Arial"/>
                <a:cs typeface="Arial"/>
              </a:defRPr>
            </a:lvl2pPr>
            <a:lvl3pPr algn="l">
              <a:defRPr sz="1875" b="0">
                <a:solidFill>
                  <a:srgbClr val="20262C"/>
                </a:solidFill>
                <a:latin typeface="Arial"/>
                <a:ea typeface="Arial"/>
                <a:cs typeface="Arial"/>
              </a:defRPr>
            </a:lvl3pPr>
            <a:lvl4pPr algn="l">
              <a:defRPr sz="1875" b="0">
                <a:solidFill>
                  <a:srgbClr val="20262C"/>
                </a:solidFill>
                <a:latin typeface="Arial"/>
                <a:ea typeface="Arial"/>
                <a:cs typeface="Arial"/>
              </a:defRPr>
            </a:lvl4pPr>
            <a:lvl5pPr algn="l">
              <a:defRPr sz="1875" b="0">
                <a:solidFill>
                  <a:srgbClr val="20262C"/>
                </a:solidFill>
                <a:latin typeface="Arial"/>
                <a:ea typeface="Arial"/>
                <a:cs typeface="Arial"/>
              </a:defRPr>
            </a:lvl5pPr>
            <a:lvl6pPr algn="l">
              <a:defRPr sz="1875" b="0">
                <a:solidFill>
                  <a:srgbClr val="20262C"/>
                </a:solidFill>
                <a:latin typeface="Arial"/>
                <a:ea typeface="Arial"/>
                <a:cs typeface="Arial"/>
              </a:defRPr>
            </a:lvl6pPr>
            <a:lvl7pPr algn="l">
              <a:defRPr sz="1875" b="0">
                <a:solidFill>
                  <a:srgbClr val="20262C"/>
                </a:solidFill>
                <a:latin typeface="Arial"/>
                <a:ea typeface="Arial"/>
                <a:cs typeface="Arial"/>
              </a:defRPr>
            </a:lvl7pPr>
            <a:lvl8pPr algn="l">
              <a:defRPr sz="1875" b="0">
                <a:solidFill>
                  <a:srgbClr val="20262C"/>
                </a:solidFill>
                <a:latin typeface="Arial"/>
                <a:ea typeface="Arial"/>
                <a:cs typeface="Arial"/>
              </a:defRPr>
            </a:lvl8pPr>
            <a:lvl9pPr algn="l">
              <a:defRPr sz="1875" b="0">
                <a:solidFill>
                  <a:srgbClr val="20262C"/>
                </a:solidFill>
                <a:latin typeface="Arial"/>
                <a:ea typeface="Arial"/>
                <a:cs typeface="Arial"/>
              </a:defRPr>
            </a:lvl9pPr>
          </a:lstStyle>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Shared documents, knowledge bases and business data</a:t>
            </a:r>
          </a:p>
          <a:p xmlns:a="http://schemas.openxmlformats.org/drawingml/2006/main">
            <a:pPr algn="l">
              <a:defRPr sz="1875" b="0">
                <a:solidFill>
                  <a:srgbClr val="20262C"/>
                </a:solidFill>
                <a:latin typeface="Arial"/>
                <a:ea typeface="Arial"/>
                <a:cs typeface="Arial"/>
              </a:defRPr>
            </a:pPr>
            <a:r>
              <a:rPr sz="1875" b="0">
                <a:solidFill>
                  <a:srgbClr val="20262C"/>
                </a:solidFill>
                <a:latin typeface="Arial"/>
                <a:ea typeface="Arial"/>
                <a:cs typeface="Arial"/>
              </a:rPr>
              <a:t>with access controls, source references and version history</a:t>
            </a:r>
          </a:p>
        </p:txBody>
      </p:sp>
      <p:sp>
        <p:nvSpPr>
          <p:cNvPr id="41" name="!!arch.models">
            <a:extLst xmlns:a="http://schemas.openxmlformats.org/drawingml/2006/main">
              <a:ext uri="{FF2B5EF4-FFF2-40B4-BE49-F238E27FC236}">
                <a16:creationId xmlns:a16="http://schemas.microsoft.com/office/drawing/2014/main" id="{FD7738F8-D071-4540-AE85-425926669BF7}"/>
              </a:ext>
            </a:extLst>
          </p:cNvPr>
          <p:cNvSpPr>
            <a:spLocks xmlns:a="http://schemas.openxmlformats.org/drawingml/2006/main" noGrp="1"/>
          </p:cNvSpPr>
          <p:nvPr/>
        </p:nvSpPr>
        <p:spPr>
          <a:xfrm xmlns:a="http://schemas.openxmlformats.org/drawingml/2006/main">
            <a:off x="4057650" y="7239000"/>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07C88"/>
                </a:solidFill>
                <a:latin typeface="Arial"/>
                <a:ea typeface="Arial"/>
                <a:cs typeface="Arial"/>
              </a:defRPr>
            </a:defPPr>
            <a:lvl1pPr algn="l">
              <a:defRPr sz="1800" b="0">
                <a:solidFill>
                  <a:srgbClr val="707C88"/>
                </a:solidFill>
                <a:latin typeface="Arial"/>
                <a:ea typeface="Arial"/>
                <a:cs typeface="Arial"/>
              </a:defRPr>
            </a:lvl1pPr>
            <a:lvl2pPr algn="l">
              <a:defRPr sz="1800" b="0">
                <a:solidFill>
                  <a:srgbClr val="707C88"/>
                </a:solidFill>
                <a:latin typeface="Arial"/>
                <a:ea typeface="Arial"/>
                <a:cs typeface="Arial"/>
              </a:defRPr>
            </a:lvl2pPr>
            <a:lvl3pPr algn="l">
              <a:defRPr sz="1800" b="0">
                <a:solidFill>
                  <a:srgbClr val="707C88"/>
                </a:solidFill>
                <a:latin typeface="Arial"/>
                <a:ea typeface="Arial"/>
                <a:cs typeface="Arial"/>
              </a:defRPr>
            </a:lvl3pPr>
            <a:lvl4pPr algn="l">
              <a:defRPr sz="1800" b="0">
                <a:solidFill>
                  <a:srgbClr val="707C88"/>
                </a:solidFill>
                <a:latin typeface="Arial"/>
                <a:ea typeface="Arial"/>
                <a:cs typeface="Arial"/>
              </a:defRPr>
            </a:lvl4pPr>
            <a:lvl5pPr algn="l">
              <a:defRPr sz="1800" b="0">
                <a:solidFill>
                  <a:srgbClr val="707C88"/>
                </a:solidFill>
                <a:latin typeface="Arial"/>
                <a:ea typeface="Arial"/>
                <a:cs typeface="Arial"/>
              </a:defRPr>
            </a:lvl5pPr>
            <a:lvl6pPr algn="l">
              <a:defRPr sz="1800" b="0">
                <a:solidFill>
                  <a:srgbClr val="707C88"/>
                </a:solidFill>
                <a:latin typeface="Arial"/>
                <a:ea typeface="Arial"/>
                <a:cs typeface="Arial"/>
              </a:defRPr>
            </a:lvl6pPr>
            <a:lvl7pPr algn="l">
              <a:defRPr sz="1800" b="0">
                <a:solidFill>
                  <a:srgbClr val="707C88"/>
                </a:solidFill>
                <a:latin typeface="Arial"/>
                <a:ea typeface="Arial"/>
                <a:cs typeface="Arial"/>
              </a:defRPr>
            </a:lvl7pPr>
            <a:lvl8pPr algn="l">
              <a:defRPr sz="1800" b="0">
                <a:solidFill>
                  <a:srgbClr val="707C88"/>
                </a:solidFill>
                <a:latin typeface="Arial"/>
                <a:ea typeface="Arial"/>
                <a:cs typeface="Arial"/>
              </a:defRPr>
            </a:lvl8pPr>
            <a:lvl9pPr algn="l">
              <a:defRPr sz="1800" b="0">
                <a:solidFill>
                  <a:srgbClr val="707C88"/>
                </a:solidFill>
                <a:latin typeface="Arial"/>
                <a:ea typeface="Arial"/>
                <a:cs typeface="Arial"/>
              </a:defRPr>
            </a:lvl9pPr>
          </a:lstStyle>
          <a:p xmlns:a="http://schemas.openxmlformats.org/drawingml/2006/main">
            <a:pPr algn="l">
              <a:defRPr sz="1800" b="0">
                <a:solidFill>
                  <a:srgbClr val="707C88"/>
                </a:solidFill>
                <a:latin typeface="Arial"/>
                <a:ea typeface="Arial"/>
                <a:cs typeface="Arial"/>
              </a:defRPr>
            </a:pPr>
            <a:r>
              <a:rPr sz="1800" b="0">
                <a:solidFill>
                  <a:srgbClr val="707C88"/>
                </a:solidFill>
                <a:latin typeface="Arial"/>
                <a:ea typeface="Arial"/>
                <a:cs typeface="Arial"/>
              </a:rPr>
              <a:t>Qwen and DeepSeek are candidates for evaluation on the firm’s tasks.</a:t>
            </a:r>
          </a:p>
        </p:txBody>
      </p:sp>
    </p:spTree>
    <p:extLst>
      <p:ext uri="{BB962C8B-B14F-4D97-AF65-F5344CB8AC3E}">
        <p14:creationId xmlns:p14="http://schemas.microsoft.com/office/powerpoint/2010/main" val="68053065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heading">
            <a:extLst xmlns:a="http://schemas.openxmlformats.org/drawingml/2006/main">
              <a:ext uri="{FF2B5EF4-FFF2-40B4-BE49-F238E27FC236}">
                <a16:creationId xmlns:a16="http://schemas.microsoft.com/office/drawing/2014/main" id="{B20C4A03-CBC1-4460-B2F1-BF5A210EEC90}"/>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Proposed implementation sequence</a:t>
            </a:r>
          </a:p>
        </p:txBody>
      </p:sp>
      <p:sp>
        <p:nvSpPr>
          <p:cNvPr id="2" name="!!subtitle">
            <a:extLst xmlns:a="http://schemas.openxmlformats.org/drawingml/2006/main">
              <a:ext uri="{FF2B5EF4-FFF2-40B4-BE49-F238E27FC236}">
                <a16:creationId xmlns:a16="http://schemas.microsoft.com/office/drawing/2014/main" id="{B1033BA1-C62B-4BB3-B070-97FA564FAFC6}"/>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Implementation</a:t>
            </a:r>
          </a:p>
        </p:txBody>
      </p:sp>
      <p:sp>
        <p:nvSpPr>
          <p:cNvPr id="3" name="!!heading.rule">
            <a:extLst xmlns:a="http://schemas.openxmlformats.org/drawingml/2006/main">
              <a:ext uri="{FF2B5EF4-FFF2-40B4-BE49-F238E27FC236}">
                <a16:creationId xmlns:a16="http://schemas.microsoft.com/office/drawing/2014/main" id="{9F914AC2-485E-4B41-B521-D05CE72C2047}"/>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E1E3941E-F9E2-4755-ABC2-F648E2FE01A2}"/>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6489DC3-6298-4464-8F33-71CF9FF49BD5}"/>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4E59F5FF-3E63-4C1D-938A-F3B142241BD5}"/>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1B8783B8-E835-48F0-A26B-1C85A90678CF}"/>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3DCC4E64-0E4A-468E-89F5-45961670C563}"/>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3D31AE19-4D13-4CD7-93EB-8C72BC37DA4B}"/>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F6326C3-ED2E-4FDE-A29E-B3F58AF123C1}"/>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3E3C5A44-55F5-4804-9C86-77F09CC976FD}"/>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D6321AFB-443B-4D8C-B953-4D06CF865B7D}"/>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50535E53-173B-44E5-83F2-77F0ED8B29D7}"/>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683F1A30-0081-4909-94C3-DDB72E47DF21}"/>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9DCF76D5-7F40-4AED-88A8-E84F8B608A5B}"/>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91C2FBCB-B413-4880-BBEB-2C05DAD4A3C7}"/>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EE322933-37D3-4028-81A2-81EFF70C381C}"/>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61163460-8D10-4EC8-BAB4-47747297BFD8}"/>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D5338C6C-8AF2-408D-8C0A-15B69BAF2856}"/>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32 / 33</a:t>
            </a:r>
          </a:p>
        </p:txBody>
      </p:sp>
      <p:sp>
        <p:nvSpPr>
          <p:cNvPr id="20" name="!!nav.prev">
            <ns0:hlinkClick xmlns:ns0="http://schemas.openxmlformats.org/drawingml/2006/main" xmlns:ns1="http://schemas.openxmlformats.org/officeDocument/2006/relationships" ns1:id="rIdNavSlide31" action="ppaction://hlinksldjump" tooltip="Slide 31: Shared information, models and tools"/>
            <a:extLst xmlns:a="http://schemas.openxmlformats.org/drawingml/2006/main">
              <a:ext uri="{FF2B5EF4-FFF2-40B4-BE49-F238E27FC236}">
                <a16:creationId xmlns:a16="http://schemas.microsoft.com/office/drawing/2014/main" id="{410365E1-7F56-4AEE-A694-4F89FE4E4403}"/>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3" action="ppaction://hlinksldjump" tooltip="Slide 33: Evaluating application use and task outcomes"/>
            <a:extLst xmlns:a="http://schemas.openxmlformats.org/drawingml/2006/main">
              <a:ext uri="{FF2B5EF4-FFF2-40B4-BE49-F238E27FC236}">
                <a16:creationId xmlns:a16="http://schemas.microsoft.com/office/drawing/2014/main" id="{91394B51-DC80-492D-840F-1637FA0CF4E5}"/>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Next</a:t>
            </a:r>
          </a:p>
        </p:txBody>
      </p:sp>
      <p:sp>
        <p:nvSpPr>
          <p:cNvPr id="22" name="!!footer.rule">
            <a:extLst xmlns:a="http://schemas.openxmlformats.org/drawingml/2006/main">
              <a:ext uri="{FF2B5EF4-FFF2-40B4-BE49-F238E27FC236}">
                <a16:creationId xmlns:a16="http://schemas.microsoft.com/office/drawing/2014/main" id="{C591A6DD-6679-4F1C-A4F8-0D7EE4246435}"/>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68D02071-0A34-46AD-B267-B6E53D522221}"/>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phase.0.number">
            <a:extLst xmlns:a="http://schemas.openxmlformats.org/drawingml/2006/main">
              <a:ext uri="{FF2B5EF4-FFF2-40B4-BE49-F238E27FC236}">
                <a16:creationId xmlns:a16="http://schemas.microsoft.com/office/drawing/2014/main" id="{DB71FABD-1BFF-46DC-B43C-FAB7AF51F6EA}"/>
              </a:ext>
            </a:extLst>
          </p:cNvPr>
          <p:cNvSpPr>
            <a:spLocks xmlns:a="http://schemas.openxmlformats.org/drawingml/2006/main" noGrp="1"/>
          </p:cNvSpPr>
          <p:nvPr/>
        </p:nvSpPr>
        <p:spPr>
          <a:xfrm xmlns:a="http://schemas.openxmlformats.org/drawingml/2006/main">
            <a:off x="4057650" y="219075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25" name="!!phase.0.title">
            <a:extLst xmlns:a="http://schemas.openxmlformats.org/drawingml/2006/main">
              <a:ext uri="{FF2B5EF4-FFF2-40B4-BE49-F238E27FC236}">
                <a16:creationId xmlns:a16="http://schemas.microsoft.com/office/drawing/2014/main" id="{CA35CDC4-30D1-4D37-B1B0-FA8F679750B9}"/>
              </a:ext>
            </a:extLst>
          </p:cNvPr>
          <p:cNvSpPr>
            <a:spLocks xmlns:a="http://schemas.openxmlformats.org/drawingml/2006/main" noGrp="1"/>
          </p:cNvSpPr>
          <p:nvPr/>
        </p:nvSpPr>
        <p:spPr>
          <a:xfrm xmlns:a="http://schemas.openxmlformats.org/drawingml/2006/main">
            <a:off x="4962525" y="224790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Research and client communications</a:t>
            </a:r>
          </a:p>
        </p:txBody>
      </p:sp>
      <p:sp>
        <p:nvSpPr>
          <p:cNvPr id="26" name="!!phase.0.role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4962525" y="3048000"/>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Research, sales,</a:t>
            </a:r>
          </a:p>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compliance and IT</a:t>
            </a:r>
          </a:p>
        </p:txBody>
      </p:sp>
      <p:sp>
        <p:nvSpPr>
          <p:cNvPr id="27" name="!!phase.0.outputs">
            <a:extLst xmlns:a="http://schemas.openxmlformats.org/drawingml/2006/main">
              <a:ext uri="{FF2B5EF4-FFF2-40B4-BE49-F238E27FC236}">
                <a16:creationId xmlns:a16="http://schemas.microsoft.com/office/drawing/2014/main" id="{18F76B1B-A44F-44E0-8BC3-6CBE9A9D5803}"/>
              </a:ext>
            </a:extLst>
          </p:cNvPr>
          <p:cNvSpPr>
            <a:spLocks xmlns:a="http://schemas.openxmlformats.org/drawingml/2006/main" noGrp="1"/>
          </p:cNvSpPr>
          <p:nvPr/>
        </p:nvSpPr>
        <p:spPr>
          <a:xfrm xmlns:a="http://schemas.openxmlformats.org/drawingml/2006/main">
            <a:off x="8572500" y="3048000"/>
            <a:ext cx="6019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Sample tasks, source inventory and initial applications</a:t>
            </a:r>
          </a:p>
        </p:txBody>
      </p:sp>
      <p:sp>
        <p:nvSpPr>
          <p:cNvPr id="28" name="!!phase.0.rule">
            <a:extLst xmlns:a="http://schemas.openxmlformats.org/drawingml/2006/main">
              <a:ext uri="{FF2B5EF4-FFF2-40B4-BE49-F238E27FC236}">
                <a16:creationId xmlns:a16="http://schemas.microsoft.com/office/drawing/2014/main" id="{E7AA0C28-705F-49C8-8301-4D6797AB5231}"/>
              </a:ext>
            </a:extLst>
          </p:cNvPr>
          <p:cNvSpPr>
            <a:spLocks xmlns:a="http://schemas.openxmlformats.org/drawingml/2006/main" noGrp="1"/>
          </p:cNvSpPr>
          <p:nvPr/>
        </p:nvSpPr>
        <p:spPr>
          <a:xfrm xmlns:a="http://schemas.openxmlformats.org/drawingml/2006/main" flipH="0" flipV="0">
            <a:off x="4962525" y="370522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29" name="!!phase.1.number">
            <a:extLst xmlns:a="http://schemas.openxmlformats.org/drawingml/2006/main">
              <a:ext uri="{FF2B5EF4-FFF2-40B4-BE49-F238E27FC236}">
                <a16:creationId xmlns:a16="http://schemas.microsoft.com/office/drawing/2014/main" id="{2B9CD7E9-9E3C-4502-B926-A0C2BF0E259D}"/>
              </a:ext>
            </a:extLst>
          </p:cNvPr>
          <p:cNvSpPr>
            <a:spLocks xmlns:a="http://schemas.openxmlformats.org/drawingml/2006/main" noGrp="1"/>
          </p:cNvSpPr>
          <p:nvPr/>
        </p:nvSpPr>
        <p:spPr>
          <a:xfrm xmlns:a="http://schemas.openxmlformats.org/drawingml/2006/main">
            <a:off x="4057650" y="388620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30" name="!!phase.1.title">
            <a:extLst xmlns:a="http://schemas.openxmlformats.org/drawingml/2006/main">
              <a:ext uri="{FF2B5EF4-FFF2-40B4-BE49-F238E27FC236}">
                <a16:creationId xmlns:a16="http://schemas.microsoft.com/office/drawing/2014/main" id="{9498F33A-3B01-4CD3-A1ED-ED18D5338D11}"/>
              </a:ext>
            </a:extLst>
          </p:cNvPr>
          <p:cNvSpPr>
            <a:spLocks xmlns:a="http://schemas.openxmlformats.org/drawingml/2006/main" noGrp="1"/>
          </p:cNvSpPr>
          <p:nvPr/>
        </p:nvSpPr>
        <p:spPr>
          <a:xfrm xmlns:a="http://schemas.openxmlformats.org/drawingml/2006/main">
            <a:off x="4962525" y="394335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Trading and operations integration</a:t>
            </a:r>
          </a:p>
        </p:txBody>
      </p:sp>
      <p:sp>
        <p:nvSpPr>
          <p:cNvPr id="31" name="!!phase.1.roles">
            <a:extLst xmlns:a="http://schemas.openxmlformats.org/drawingml/2006/main">
              <a:ext uri="{FF2B5EF4-FFF2-40B4-BE49-F238E27FC236}">
                <a16:creationId xmlns:a16="http://schemas.microsoft.com/office/drawing/2014/main" id="{2ED954D3-AA1F-4491-A2C0-E7F590BBE27E}"/>
              </a:ext>
            </a:extLst>
          </p:cNvPr>
          <p:cNvSpPr>
            <a:spLocks xmlns:a="http://schemas.openxmlformats.org/drawingml/2006/main" noGrp="1"/>
          </p:cNvSpPr>
          <p:nvPr/>
        </p:nvSpPr>
        <p:spPr>
          <a:xfrm xmlns:a="http://schemas.openxmlformats.org/drawingml/2006/main">
            <a:off x="4962525" y="4505325"/>
            <a:ext cx="318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Trading, operations, IT</a:t>
            </a:r>
          </a:p>
        </p:txBody>
      </p:sp>
      <p:sp>
        <p:nvSpPr>
          <p:cNvPr id="32" name="!!phase.1.outputs">
            <a:extLst xmlns:a="http://schemas.openxmlformats.org/drawingml/2006/main">
              <a:ext uri="{FF2B5EF4-FFF2-40B4-BE49-F238E27FC236}">
                <a16:creationId xmlns:a16="http://schemas.microsoft.com/office/drawing/2014/main" id="{4A919862-DB01-41C8-9BCD-DFDBCEC70DAB}"/>
              </a:ext>
            </a:extLst>
          </p:cNvPr>
          <p:cNvSpPr>
            <a:spLocks xmlns:a="http://schemas.openxmlformats.org/drawingml/2006/main" noGrp="1"/>
          </p:cNvSpPr>
          <p:nvPr/>
        </p:nvSpPr>
        <p:spPr>
          <a:xfrm xmlns:a="http://schemas.openxmlformats.org/drawingml/2006/main">
            <a:off x="8572500" y="4505325"/>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Data definitions, system query interfaces and document workflows</a:t>
            </a:r>
          </a:p>
        </p:txBody>
      </p:sp>
      <p:sp>
        <p:nvSpPr>
          <p:cNvPr id="33" name="!!phase.1.rule">
            <a:extLst xmlns:a="http://schemas.openxmlformats.org/drawingml/2006/main">
              <a:ext uri="{FF2B5EF4-FFF2-40B4-BE49-F238E27FC236}">
                <a16:creationId xmlns:a16="http://schemas.microsoft.com/office/drawing/2014/main" id="{89CD9E98-59ED-4DF3-AC09-2A67CD66EB18}"/>
              </a:ext>
            </a:extLst>
          </p:cNvPr>
          <p:cNvSpPr>
            <a:spLocks xmlns:a="http://schemas.openxmlformats.org/drawingml/2006/main" noGrp="1"/>
          </p:cNvSpPr>
          <p:nvPr/>
        </p:nvSpPr>
        <p:spPr>
          <a:xfrm xmlns:a="http://schemas.openxmlformats.org/drawingml/2006/main" flipH="0" flipV="0">
            <a:off x="4962525" y="526732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34" name="!!phase.2.number">
            <a:extLst xmlns:a="http://schemas.openxmlformats.org/drawingml/2006/main">
              <a:ext uri="{FF2B5EF4-FFF2-40B4-BE49-F238E27FC236}">
                <a16:creationId xmlns:a16="http://schemas.microsoft.com/office/drawing/2014/main" id="{C8134763-6F28-461D-B6B5-08547AB6A0D3}"/>
              </a:ext>
            </a:extLst>
          </p:cNvPr>
          <p:cNvSpPr>
            <a:spLocks xmlns:a="http://schemas.openxmlformats.org/drawingml/2006/main" noGrp="1"/>
          </p:cNvSpPr>
          <p:nvPr/>
        </p:nvSpPr>
        <p:spPr>
          <a:xfrm xmlns:a="http://schemas.openxmlformats.org/drawingml/2006/main">
            <a:off x="4057650" y="5581650"/>
            <a:ext cx="600075" cy="6000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325" b="1">
                <a:solidFill>
                  <a:srgbClr val="FFFFFF"/>
                </a:solidFill>
                <a:latin typeface="Arial"/>
                <a:ea typeface="Arial"/>
                <a:cs typeface="Arial"/>
              </a:defRPr>
            </a:defPPr>
            <a:lvl1pPr algn="ctr">
              <a:defRPr sz="2325" b="1">
                <a:solidFill>
                  <a:srgbClr val="FFFFFF"/>
                </a:solidFill>
                <a:latin typeface="Arial"/>
                <a:ea typeface="Arial"/>
                <a:cs typeface="Arial"/>
              </a:defRPr>
            </a:lvl1pPr>
            <a:lvl2pPr algn="ctr">
              <a:defRPr sz="2325" b="1">
                <a:solidFill>
                  <a:srgbClr val="FFFFFF"/>
                </a:solidFill>
                <a:latin typeface="Arial"/>
                <a:ea typeface="Arial"/>
                <a:cs typeface="Arial"/>
              </a:defRPr>
            </a:lvl2pPr>
            <a:lvl3pPr algn="ctr">
              <a:defRPr sz="2325" b="1">
                <a:solidFill>
                  <a:srgbClr val="FFFFFF"/>
                </a:solidFill>
                <a:latin typeface="Arial"/>
                <a:ea typeface="Arial"/>
                <a:cs typeface="Arial"/>
              </a:defRPr>
            </a:lvl3pPr>
            <a:lvl4pPr algn="ctr">
              <a:defRPr sz="2325" b="1">
                <a:solidFill>
                  <a:srgbClr val="FFFFFF"/>
                </a:solidFill>
                <a:latin typeface="Arial"/>
                <a:ea typeface="Arial"/>
                <a:cs typeface="Arial"/>
              </a:defRPr>
            </a:lvl4pPr>
            <a:lvl5pPr algn="ctr">
              <a:defRPr sz="2325" b="1">
                <a:solidFill>
                  <a:srgbClr val="FFFFFF"/>
                </a:solidFill>
                <a:latin typeface="Arial"/>
                <a:ea typeface="Arial"/>
                <a:cs typeface="Arial"/>
              </a:defRPr>
            </a:lvl5pPr>
            <a:lvl6pPr algn="ctr">
              <a:defRPr sz="2325" b="1">
                <a:solidFill>
                  <a:srgbClr val="FFFFFF"/>
                </a:solidFill>
                <a:latin typeface="Arial"/>
                <a:ea typeface="Arial"/>
                <a:cs typeface="Arial"/>
              </a:defRPr>
            </a:lvl6pPr>
            <a:lvl7pPr algn="ctr">
              <a:defRPr sz="2325" b="1">
                <a:solidFill>
                  <a:srgbClr val="FFFFFF"/>
                </a:solidFill>
                <a:latin typeface="Arial"/>
                <a:ea typeface="Arial"/>
                <a:cs typeface="Arial"/>
              </a:defRPr>
            </a:lvl7pPr>
            <a:lvl8pPr algn="ctr">
              <a:defRPr sz="2325" b="1">
                <a:solidFill>
                  <a:srgbClr val="FFFFFF"/>
                </a:solidFill>
                <a:latin typeface="Arial"/>
                <a:ea typeface="Arial"/>
                <a:cs typeface="Arial"/>
              </a:defRPr>
            </a:lvl8pPr>
            <a:lvl9pPr algn="ctr">
              <a:defRPr sz="2325" b="1">
                <a:solidFill>
                  <a:srgbClr val="FFFFFF"/>
                </a:solidFill>
                <a:latin typeface="Arial"/>
                <a:ea typeface="Arial"/>
                <a:cs typeface="Arial"/>
              </a:defRPr>
            </a:lvl9pPr>
          </a:lstStyle>
          <a:p xmlns:a="http://schemas.openxmlformats.org/drawingml/2006/main">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35" name="!!phase.2.title">
            <a:extLst xmlns:a="http://schemas.openxmlformats.org/drawingml/2006/main">
              <a:ext uri="{FF2B5EF4-FFF2-40B4-BE49-F238E27FC236}">
                <a16:creationId xmlns:a16="http://schemas.microsoft.com/office/drawing/2014/main" id="{D938AE4D-1220-4561-AC90-5ACA03D92671}"/>
              </a:ext>
            </a:extLst>
          </p:cNvPr>
          <p:cNvSpPr>
            <a:spLocks xmlns:a="http://schemas.openxmlformats.org/drawingml/2006/main" noGrp="1"/>
          </p:cNvSpPr>
          <p:nvPr/>
        </p:nvSpPr>
        <p:spPr>
          <a:xfrm xmlns:a="http://schemas.openxmlformats.org/drawingml/2006/main">
            <a:off x="4962525" y="5638800"/>
            <a:ext cx="962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5A9C"/>
                </a:solidFill>
                <a:latin typeface="Arial"/>
                <a:ea typeface="Arial"/>
                <a:cs typeface="Arial"/>
              </a:defRPr>
            </a:defPPr>
            <a:lvl1pPr algn="l">
              <a:defRPr sz="2325" b="1">
                <a:solidFill>
                  <a:srgbClr val="005A9C"/>
                </a:solidFill>
                <a:latin typeface="Arial"/>
                <a:ea typeface="Arial"/>
                <a:cs typeface="Arial"/>
              </a:defRPr>
            </a:lvl1pPr>
            <a:lvl2pPr algn="l">
              <a:defRPr sz="2325" b="1">
                <a:solidFill>
                  <a:srgbClr val="005A9C"/>
                </a:solidFill>
                <a:latin typeface="Arial"/>
                <a:ea typeface="Arial"/>
                <a:cs typeface="Arial"/>
              </a:defRPr>
            </a:lvl2pPr>
            <a:lvl3pPr algn="l">
              <a:defRPr sz="2325" b="1">
                <a:solidFill>
                  <a:srgbClr val="005A9C"/>
                </a:solidFill>
                <a:latin typeface="Arial"/>
                <a:ea typeface="Arial"/>
                <a:cs typeface="Arial"/>
              </a:defRPr>
            </a:lvl3pPr>
            <a:lvl4pPr algn="l">
              <a:defRPr sz="2325" b="1">
                <a:solidFill>
                  <a:srgbClr val="005A9C"/>
                </a:solidFill>
                <a:latin typeface="Arial"/>
                <a:ea typeface="Arial"/>
                <a:cs typeface="Arial"/>
              </a:defRPr>
            </a:lvl4pPr>
            <a:lvl5pPr algn="l">
              <a:defRPr sz="2325" b="1">
                <a:solidFill>
                  <a:srgbClr val="005A9C"/>
                </a:solidFill>
                <a:latin typeface="Arial"/>
                <a:ea typeface="Arial"/>
                <a:cs typeface="Arial"/>
              </a:defRPr>
            </a:lvl5pPr>
            <a:lvl6pPr algn="l">
              <a:defRPr sz="2325" b="1">
                <a:solidFill>
                  <a:srgbClr val="005A9C"/>
                </a:solidFill>
                <a:latin typeface="Arial"/>
                <a:ea typeface="Arial"/>
                <a:cs typeface="Arial"/>
              </a:defRPr>
            </a:lvl6pPr>
            <a:lvl7pPr algn="l">
              <a:defRPr sz="2325" b="1">
                <a:solidFill>
                  <a:srgbClr val="005A9C"/>
                </a:solidFill>
                <a:latin typeface="Arial"/>
                <a:ea typeface="Arial"/>
                <a:cs typeface="Arial"/>
              </a:defRPr>
            </a:lvl7pPr>
            <a:lvl8pPr algn="l">
              <a:defRPr sz="2325" b="1">
                <a:solidFill>
                  <a:srgbClr val="005A9C"/>
                </a:solidFill>
                <a:latin typeface="Arial"/>
                <a:ea typeface="Arial"/>
                <a:cs typeface="Arial"/>
              </a:defRPr>
            </a:lvl8pPr>
            <a:lvl9pPr algn="l">
              <a:defRPr sz="2325" b="1">
                <a:solidFill>
                  <a:srgbClr val="005A9C"/>
                </a:solidFill>
                <a:latin typeface="Arial"/>
                <a:ea typeface="Arial"/>
                <a:cs typeface="Arial"/>
              </a:defRPr>
            </a:lvl9pPr>
          </a:lstStyle>
          <a:p xmlns:a="http://schemas.openxmlformats.org/drawingml/2006/main">
            <a:pPr algn="l">
              <a:defRPr sz="2325" b="1">
                <a:solidFill>
                  <a:srgbClr val="005A9C"/>
                </a:solidFill>
                <a:latin typeface="Arial"/>
                <a:ea typeface="Arial"/>
                <a:cs typeface="Arial"/>
              </a:defRPr>
            </a:pPr>
            <a:r>
              <a:rPr sz="2325" b="1">
                <a:solidFill>
                  <a:srgbClr val="005A9C"/>
                </a:solidFill>
                <a:latin typeface="Arial"/>
                <a:ea typeface="Arial"/>
                <a:cs typeface="Arial"/>
              </a:rPr>
              <a:t>Development support and internal services</a:t>
            </a:r>
          </a:p>
        </p:txBody>
      </p:sp>
      <p:sp>
        <p:nvSpPr>
          <p:cNvPr id="36" name="!!phase.2.roles">
            <a:extLst xmlns:a="http://schemas.openxmlformats.org/drawingml/2006/main">
              <a:ext uri="{FF2B5EF4-FFF2-40B4-BE49-F238E27FC236}">
                <a16:creationId xmlns:a16="http://schemas.microsoft.com/office/drawing/2014/main" id="{F02A6387-3280-4E6C-A689-81C89E208D05}"/>
              </a:ext>
            </a:extLst>
          </p:cNvPr>
          <p:cNvSpPr>
            <a:spLocks xmlns:a="http://schemas.openxmlformats.org/drawingml/2006/main" noGrp="1"/>
          </p:cNvSpPr>
          <p:nvPr/>
        </p:nvSpPr>
        <p:spPr>
          <a:xfrm xmlns:a="http://schemas.openxmlformats.org/drawingml/2006/main">
            <a:off x="4962525" y="6200775"/>
            <a:ext cx="318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07C88"/>
                </a:solidFill>
                <a:latin typeface="Arial"/>
                <a:ea typeface="Arial"/>
                <a:cs typeface="Arial"/>
              </a:defRPr>
            </a:defPPr>
            <a:lvl1pPr algn="l">
              <a:defRPr sz="1875" b="0">
                <a:solidFill>
                  <a:srgbClr val="707C88"/>
                </a:solidFill>
                <a:latin typeface="Arial"/>
                <a:ea typeface="Arial"/>
                <a:cs typeface="Arial"/>
              </a:defRPr>
            </a:lvl1pPr>
            <a:lvl2pPr algn="l">
              <a:defRPr sz="1875" b="0">
                <a:solidFill>
                  <a:srgbClr val="707C88"/>
                </a:solidFill>
                <a:latin typeface="Arial"/>
                <a:ea typeface="Arial"/>
                <a:cs typeface="Arial"/>
              </a:defRPr>
            </a:lvl2pPr>
            <a:lvl3pPr algn="l">
              <a:defRPr sz="1875" b="0">
                <a:solidFill>
                  <a:srgbClr val="707C88"/>
                </a:solidFill>
                <a:latin typeface="Arial"/>
                <a:ea typeface="Arial"/>
                <a:cs typeface="Arial"/>
              </a:defRPr>
            </a:lvl3pPr>
            <a:lvl4pPr algn="l">
              <a:defRPr sz="1875" b="0">
                <a:solidFill>
                  <a:srgbClr val="707C88"/>
                </a:solidFill>
                <a:latin typeface="Arial"/>
                <a:ea typeface="Arial"/>
                <a:cs typeface="Arial"/>
              </a:defRPr>
            </a:lvl4pPr>
            <a:lvl5pPr algn="l">
              <a:defRPr sz="1875" b="0">
                <a:solidFill>
                  <a:srgbClr val="707C88"/>
                </a:solidFill>
                <a:latin typeface="Arial"/>
                <a:ea typeface="Arial"/>
                <a:cs typeface="Arial"/>
              </a:defRPr>
            </a:lvl5pPr>
            <a:lvl6pPr algn="l">
              <a:defRPr sz="1875" b="0">
                <a:solidFill>
                  <a:srgbClr val="707C88"/>
                </a:solidFill>
                <a:latin typeface="Arial"/>
                <a:ea typeface="Arial"/>
                <a:cs typeface="Arial"/>
              </a:defRPr>
            </a:lvl6pPr>
            <a:lvl7pPr algn="l">
              <a:defRPr sz="1875" b="0">
                <a:solidFill>
                  <a:srgbClr val="707C88"/>
                </a:solidFill>
                <a:latin typeface="Arial"/>
                <a:ea typeface="Arial"/>
                <a:cs typeface="Arial"/>
              </a:defRPr>
            </a:lvl7pPr>
            <a:lvl8pPr algn="l">
              <a:defRPr sz="1875" b="0">
                <a:solidFill>
                  <a:srgbClr val="707C88"/>
                </a:solidFill>
                <a:latin typeface="Arial"/>
                <a:ea typeface="Arial"/>
                <a:cs typeface="Arial"/>
              </a:defRPr>
            </a:lvl8pPr>
            <a:lvl9pPr algn="l">
              <a:defRPr sz="1875" b="0">
                <a:solidFill>
                  <a:srgbClr val="707C88"/>
                </a:solidFill>
                <a:latin typeface="Arial"/>
                <a:ea typeface="Arial"/>
                <a:cs typeface="Arial"/>
              </a:defRPr>
            </a:lvl9pPr>
          </a:lstStyle>
          <a:p xmlns:a="http://schemas.openxmlformats.org/drawingml/2006/main">
            <a:pPr algn="l">
              <a:defRPr sz="1875" b="0">
                <a:solidFill>
                  <a:srgbClr val="707C88"/>
                </a:solidFill>
                <a:latin typeface="Arial"/>
                <a:ea typeface="Arial"/>
                <a:cs typeface="Arial"/>
              </a:defRPr>
            </a:pPr>
            <a:r>
              <a:rPr sz="1875" b="0">
                <a:solidFill>
                  <a:srgbClr val="707C88"/>
                </a:solidFill>
                <a:latin typeface="Arial"/>
                <a:ea typeface="Arial"/>
                <a:cs typeface="Arial"/>
              </a:rPr>
              <a:t>Business teams, IT</a:t>
            </a:r>
          </a:p>
        </p:txBody>
      </p:sp>
      <p:sp>
        <p:nvSpPr>
          <p:cNvPr id="37" name="!!phase.2.outputs">
            <a:extLst xmlns:a="http://schemas.openxmlformats.org/drawingml/2006/main">
              <a:ext uri="{FF2B5EF4-FFF2-40B4-BE49-F238E27FC236}">
                <a16:creationId xmlns:a16="http://schemas.microsoft.com/office/drawing/2014/main" id="{BE27B3CE-3BF3-49C1-9E6C-AD57CFDB8D18}"/>
              </a:ext>
            </a:extLst>
          </p:cNvPr>
          <p:cNvSpPr>
            <a:spLocks xmlns:a="http://schemas.openxmlformats.org/drawingml/2006/main" noGrp="1"/>
          </p:cNvSpPr>
          <p:nvPr/>
        </p:nvSpPr>
        <p:spPr>
          <a:xfrm xmlns:a="http://schemas.openxmlformats.org/drawingml/2006/main">
            <a:off x="8572500" y="6200775"/>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62C"/>
                </a:solidFill>
                <a:latin typeface="Arial"/>
                <a:ea typeface="Arial"/>
                <a:cs typeface="Arial"/>
              </a:defRPr>
            </a:defPPr>
            <a:lvl1pPr algn="l">
              <a:defRPr sz="2025" b="0">
                <a:solidFill>
                  <a:srgbClr val="20262C"/>
                </a:solidFill>
                <a:latin typeface="Arial"/>
                <a:ea typeface="Arial"/>
                <a:cs typeface="Arial"/>
              </a:defRPr>
            </a:lvl1pPr>
            <a:lvl2pPr algn="l">
              <a:defRPr sz="2025" b="0">
                <a:solidFill>
                  <a:srgbClr val="20262C"/>
                </a:solidFill>
                <a:latin typeface="Arial"/>
                <a:ea typeface="Arial"/>
                <a:cs typeface="Arial"/>
              </a:defRPr>
            </a:lvl2pPr>
            <a:lvl3pPr algn="l">
              <a:defRPr sz="2025" b="0">
                <a:solidFill>
                  <a:srgbClr val="20262C"/>
                </a:solidFill>
                <a:latin typeface="Arial"/>
                <a:ea typeface="Arial"/>
                <a:cs typeface="Arial"/>
              </a:defRPr>
            </a:lvl3pPr>
            <a:lvl4pPr algn="l">
              <a:defRPr sz="2025" b="0">
                <a:solidFill>
                  <a:srgbClr val="20262C"/>
                </a:solidFill>
                <a:latin typeface="Arial"/>
                <a:ea typeface="Arial"/>
                <a:cs typeface="Arial"/>
              </a:defRPr>
            </a:lvl4pPr>
            <a:lvl5pPr algn="l">
              <a:defRPr sz="2025" b="0">
                <a:solidFill>
                  <a:srgbClr val="20262C"/>
                </a:solidFill>
                <a:latin typeface="Arial"/>
                <a:ea typeface="Arial"/>
                <a:cs typeface="Arial"/>
              </a:defRPr>
            </a:lvl5pPr>
            <a:lvl6pPr algn="l">
              <a:defRPr sz="2025" b="0">
                <a:solidFill>
                  <a:srgbClr val="20262C"/>
                </a:solidFill>
                <a:latin typeface="Arial"/>
                <a:ea typeface="Arial"/>
                <a:cs typeface="Arial"/>
              </a:defRPr>
            </a:lvl6pPr>
            <a:lvl7pPr algn="l">
              <a:defRPr sz="2025" b="0">
                <a:solidFill>
                  <a:srgbClr val="20262C"/>
                </a:solidFill>
                <a:latin typeface="Arial"/>
                <a:ea typeface="Arial"/>
                <a:cs typeface="Arial"/>
              </a:defRPr>
            </a:lvl7pPr>
            <a:lvl8pPr algn="l">
              <a:defRPr sz="2025" b="0">
                <a:solidFill>
                  <a:srgbClr val="20262C"/>
                </a:solidFill>
                <a:latin typeface="Arial"/>
                <a:ea typeface="Arial"/>
                <a:cs typeface="Arial"/>
              </a:defRPr>
            </a:lvl8pPr>
            <a:lvl9pPr algn="l">
              <a:defRPr sz="2025" b="0">
                <a:solidFill>
                  <a:srgbClr val="20262C"/>
                </a:solidFill>
                <a:latin typeface="Arial"/>
                <a:ea typeface="Arial"/>
                <a:cs typeface="Arial"/>
              </a:defRPr>
            </a:lvl9pPr>
          </a:lstStyle>
          <a:p xmlns:a="http://schemas.openxmlformats.org/drawingml/2006/main">
            <a:pPr algn="l">
              <a:defRPr sz="2025" b="0">
                <a:solidFill>
                  <a:srgbClr val="20262C"/>
                </a:solidFill>
                <a:latin typeface="Arial"/>
                <a:ea typeface="Arial"/>
                <a:cs typeface="Arial"/>
              </a:defRPr>
            </a:pPr>
            <a:r>
              <a:rPr sz="2025" b="0">
                <a:solidFill>
                  <a:srgbClr val="20262C"/>
                </a:solidFill>
                <a:latin typeface="Arial"/>
                <a:ea typeface="Arial"/>
                <a:cs typeface="Arial"/>
              </a:rPr>
              <a:t>Business tools, user guides and named maintenance owners</a:t>
            </a:r>
          </a:p>
        </p:txBody>
      </p:sp>
      <p:sp>
        <p:nvSpPr>
          <p:cNvPr id="38" name="!!phase.2.rule">
            <a:extLst xmlns:a="http://schemas.openxmlformats.org/drawingml/2006/main">
              <a:ext uri="{FF2B5EF4-FFF2-40B4-BE49-F238E27FC236}">
                <a16:creationId xmlns:a16="http://schemas.microsoft.com/office/drawing/2014/main" id="{3013EAD5-9D43-45D9-B5E0-97165D0FCD02}"/>
              </a:ext>
            </a:extLst>
          </p:cNvPr>
          <p:cNvSpPr>
            <a:spLocks xmlns:a="http://schemas.openxmlformats.org/drawingml/2006/main" noGrp="1"/>
          </p:cNvSpPr>
          <p:nvPr/>
        </p:nvSpPr>
        <p:spPr>
          <a:xfrm xmlns:a="http://schemas.openxmlformats.org/drawingml/2006/main" flipH="0" flipV="0">
            <a:off x="4962525" y="6962775"/>
            <a:ext cx="9629775" cy="953"/>
          </a:xfrm>
          <a:prstGeom xmlns:a="http://schemas.openxmlformats.org/drawingml/2006/main" prst="line">
            <a:avLst/>
          </a:prstGeom>
          <a:noFill xmlns:a="http://schemas.openxmlformats.org/drawingml/2006/main"/>
          <a:ln xmlns:a="http://schemas.openxmlformats.org/drawingml/2006/main" w="14288">
            <a:solidFill>
              <a:srgbClr val="BCC6CF"/>
            </a:solidFill>
            <a:prstDash val="solid"/>
          </a:ln>
        </p:spPr>
      </p:sp>
      <p:sp>
        <p:nvSpPr>
          <p:cNvPr id="9001" name="!!business.phase.team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4962525" y="2724150"/>
            <a:ext cx="3181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Participating teams</a:t>
            </a:r>
          </a:p>
        </p:txBody>
      </p:sp>
      <p:sp>
        <p:nvSpPr>
          <p:cNvPr id="9002" name="!!business.phase.outputs">
            <a:extLst xmlns:a="http://schemas.openxmlformats.org/drawingml/2006/main">
              <a:ext uri="{FF2B5EF4-FFF2-40B4-BE49-F238E27FC236}">
                <a16:creationId xmlns:a16="http://schemas.microsoft.com/office/drawing/2014/main" id="{D3229F6B-F7A9-4D89-90B6-AB4D63AAC457}"/>
              </a:ext>
            </a:extLst>
          </p:cNvPr>
          <p:cNvSpPr>
            <a:spLocks xmlns:a="http://schemas.openxmlformats.org/drawingml/2006/main" noGrp="1"/>
          </p:cNvSpPr>
          <p:nvPr/>
        </p:nvSpPr>
        <p:spPr>
          <a:xfrm xmlns:a="http://schemas.openxmlformats.org/drawingml/2006/main">
            <a:off x="8572500" y="2724150"/>
            <a:ext cx="601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07C88"/>
                </a:solidFill>
                <a:latin typeface="Arial"/>
                <a:ea typeface="Arial"/>
                <a:cs typeface="Arial"/>
              </a:defRPr>
            </a:defPPr>
            <a:lvl1pPr algn="l">
              <a:defRPr sz="1500" b="0">
                <a:solidFill>
                  <a:srgbClr val="707C88"/>
                </a:solidFill>
                <a:latin typeface="Arial"/>
                <a:ea typeface="Arial"/>
                <a:cs typeface="Arial"/>
              </a:defRPr>
            </a:lvl1pPr>
            <a:lvl2pPr algn="l">
              <a:defRPr sz="1500" b="0">
                <a:solidFill>
                  <a:srgbClr val="707C88"/>
                </a:solidFill>
                <a:latin typeface="Arial"/>
                <a:ea typeface="Arial"/>
                <a:cs typeface="Arial"/>
              </a:defRPr>
            </a:lvl2pPr>
            <a:lvl3pPr algn="l">
              <a:defRPr sz="1500" b="0">
                <a:solidFill>
                  <a:srgbClr val="707C88"/>
                </a:solidFill>
                <a:latin typeface="Arial"/>
                <a:ea typeface="Arial"/>
                <a:cs typeface="Arial"/>
              </a:defRPr>
            </a:lvl3pPr>
            <a:lvl4pPr algn="l">
              <a:defRPr sz="1500" b="0">
                <a:solidFill>
                  <a:srgbClr val="707C88"/>
                </a:solidFill>
                <a:latin typeface="Arial"/>
                <a:ea typeface="Arial"/>
                <a:cs typeface="Arial"/>
              </a:defRPr>
            </a:lvl4pPr>
            <a:lvl5pPr algn="l">
              <a:defRPr sz="1500" b="0">
                <a:solidFill>
                  <a:srgbClr val="707C88"/>
                </a:solidFill>
                <a:latin typeface="Arial"/>
                <a:ea typeface="Arial"/>
                <a:cs typeface="Arial"/>
              </a:defRPr>
            </a:lvl5pPr>
            <a:lvl6pPr algn="l">
              <a:defRPr sz="1500" b="0">
                <a:solidFill>
                  <a:srgbClr val="707C88"/>
                </a:solidFill>
                <a:latin typeface="Arial"/>
                <a:ea typeface="Arial"/>
                <a:cs typeface="Arial"/>
              </a:defRPr>
            </a:lvl6pPr>
            <a:lvl7pPr algn="l">
              <a:defRPr sz="1500" b="0">
                <a:solidFill>
                  <a:srgbClr val="707C88"/>
                </a:solidFill>
                <a:latin typeface="Arial"/>
                <a:ea typeface="Arial"/>
                <a:cs typeface="Arial"/>
              </a:defRPr>
            </a:lvl7pPr>
            <a:lvl8pPr algn="l">
              <a:defRPr sz="1500" b="0">
                <a:solidFill>
                  <a:srgbClr val="707C88"/>
                </a:solidFill>
                <a:latin typeface="Arial"/>
                <a:ea typeface="Arial"/>
                <a:cs typeface="Arial"/>
              </a:defRPr>
            </a:lvl8pPr>
            <a:lvl9pPr algn="l">
              <a:defRPr sz="1500" b="0">
                <a:solidFill>
                  <a:srgbClr val="707C88"/>
                </a:solidFill>
                <a:latin typeface="Arial"/>
                <a:ea typeface="Arial"/>
                <a:cs typeface="Arial"/>
              </a:defRPr>
            </a:lvl9pPr>
          </a:lstStyle>
          <a:p xmlns:a="http://schemas.openxmlformats.org/drawingml/2006/main">
            <a:pPr algn="l">
              <a:defRPr sz="1500" b="0">
                <a:solidFill>
                  <a:srgbClr val="707C88"/>
                </a:solidFill>
                <a:latin typeface="Arial"/>
                <a:ea typeface="Arial"/>
                <a:cs typeface="Arial"/>
              </a:defRPr>
            </a:pPr>
            <a:r>
              <a:rPr sz="1500" b="0">
                <a:solidFill>
                  <a:srgbClr val="707C88"/>
                </a:solidFill>
                <a:latin typeface="Arial"/>
                <a:ea typeface="Arial"/>
                <a:cs typeface="Arial"/>
              </a:rPr>
              <a:t>Deliverables</a:t>
            </a:r>
          </a:p>
        </p:txBody>
      </p:sp>
    </p:spTree>
    <p:extLst>
      <p:ext uri="{BB962C8B-B14F-4D97-AF65-F5344CB8AC3E}">
        <p14:creationId xmlns:p14="http://schemas.microsoft.com/office/powerpoint/2010/main" val="789156213"/>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grpId="0">
                            <p:stCondLst>
                              <p:cond delay="150"/>
                            </p:stCondLst>
                            <p:childTnLst>
                              <p:set>
                                <p:cBhvr>
                                  <p:cTn id="5" dur="1" fill="hold">
                                    <p:stCondLst>
                                      <p:cond delay="0"/>
                                    </p:stCondLst>
                                  </p:cTn>
                                  <p:tgtEl>
                                    <p:spTgt spid="24"/>
                                  </p:tgtEl>
                                  <p:attrNameLst>
                                    <p:attrName>style.visibility</p:attrName>
                                  </p:attrNameLst>
                                </p:cBhvr>
                                <p:to>
                                  <p:strVal val="visible"/>
                                </p:to>
                              </p:set>
                            </p:childTnLst>
                          </p:cTn>
                        </p:par>
                        <p:par>
                          <p:cTn id="6" presetID="1" presetClass="entr" presetSubtype="0" fill="hold" nodeType="withEffect" grpId="0">
                            <p:stCondLst>
                              <p:cond delay="150"/>
                            </p:stCondLst>
                            <p:childTnLst>
                              <p:set>
                                <p:cBhvr>
                                  <p:cTn id="7" dur="1" fill="hold">
                                    <p:stCondLst>
                                      <p:cond delay="0"/>
                                    </p:stCondLst>
                                  </p:cTn>
                                  <p:tgtEl>
                                    <p:spTgt spid="25"/>
                                  </p:tgtEl>
                                  <p:attrNameLst>
                                    <p:attrName>style.visibility</p:attrName>
                                  </p:attrNameLst>
                                </p:cBhvr>
                                <p:to>
                                  <p:strVal val="visible"/>
                                </p:to>
                              </p:set>
                            </p:childTnLst>
                          </p:cTn>
                        </p:par>
                        <p:par>
                          <p:cTn id="8" presetID="1" presetClass="entr" presetSubtype="0" fill="hold" nodeType="withEffect" grpId="0">
                            <p:stCondLst>
                              <p:cond delay="150"/>
                            </p:stCondLst>
                            <p:childTnLst>
                              <p:set>
                                <p:cBhvr>
                                  <p:cTn id="9" dur="1" fill="hold">
                                    <p:stCondLst>
                                      <p:cond delay="0"/>
                                    </p:stCondLst>
                                  </p:cTn>
                                  <p:tgtEl>
                                    <p:spTgt spid="26"/>
                                  </p:tgtEl>
                                  <p:attrNameLst>
                                    <p:attrName>style.visibility</p:attrName>
                                  </p:attrNameLst>
                                </p:cBhvr>
                                <p:to>
                                  <p:strVal val="visible"/>
                                </p:to>
                              </p:set>
                            </p:childTnLst>
                          </p:cTn>
                        </p:par>
                        <p:par>
                          <p:cTn id="10" presetID="1" presetClass="entr" presetSubtype="0" fill="hold" nodeType="withEffect" grpId="0">
                            <p:stCondLst>
                              <p:cond delay="15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nodeType="withEffect" grpId="0">
                            <p:stCondLst>
                              <p:cond delay="150"/>
                            </p:stCondLst>
                            <p:childTnLst>
                              <p:set>
                                <p:cBhvr>
                                  <p:cTn id="13" dur="1" fill="hold">
                                    <p:stCondLst>
                                      <p:cond delay="0"/>
                                    </p:stCondLst>
                                  </p:cTn>
                                  <p:tgtEl>
                                    <p:spTgt spid="28"/>
                                  </p:tgtEl>
                                  <p:attrNameLst>
                                    <p:attrName>style.visibility</p:attrName>
                                  </p:attrNameLst>
                                </p:cBhvr>
                                <p:to>
                                  <p:strVal val="visible"/>
                                </p:to>
                              </p:set>
                            </p:childTnLst>
                          </p:cTn>
                        </p:par>
                        <p:par>
                          <p:cTn id="14" presetID="1" presetClass="entr" presetSubtype="0" fill="hold" nodeType="withEffect" grpId="0">
                            <p:stCondLst>
                              <p:cond delay="700"/>
                            </p:stCondLst>
                            <p:childTnLst>
                              <p:set>
                                <p:cBhvr>
                                  <p:cTn id="15" dur="1" fill="hold">
                                    <p:stCondLst>
                                      <p:cond delay="0"/>
                                    </p:stCondLst>
                                  </p:cTn>
                                  <p:tgtEl>
                                    <p:spTgt spid="29"/>
                                  </p:tgtEl>
                                  <p:attrNameLst>
                                    <p:attrName>style.visibility</p:attrName>
                                  </p:attrNameLst>
                                </p:cBhvr>
                                <p:to>
                                  <p:strVal val="visible"/>
                                </p:to>
                              </p:set>
                            </p:childTnLst>
                          </p:cTn>
                        </p:par>
                        <p:par>
                          <p:cTn id="16" presetID="1" presetClass="entr" presetSubtype="0" fill="hold" nodeType="withEffect" grpId="0">
                            <p:stCondLst>
                              <p:cond delay="70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nodeType="withEffect" grpId="0">
                            <p:stCondLst>
                              <p:cond delay="70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grpId="0">
                            <p:stCondLst>
                              <p:cond delay="70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grpId="0">
                            <p:stCondLst>
                              <p:cond delay="700"/>
                            </p:stCondLst>
                            <p:childTnLst>
                              <p:set>
                                <p:cBhvr>
                                  <p:cTn id="23" dur="1" fill="hold">
                                    <p:stCondLst>
                                      <p:cond delay="0"/>
                                    </p:stCondLst>
                                  </p:cTn>
                                  <p:tgtEl>
                                    <p:spTgt spid="33"/>
                                  </p:tgtEl>
                                  <p:attrNameLst>
                                    <p:attrName>style.visibility</p:attrName>
                                  </p:attrNameLst>
                                </p:cBhvr>
                                <p:to>
                                  <p:strVal val="visible"/>
                                </p:to>
                              </p:set>
                            </p:childTnLst>
                          </p:cTn>
                        </p:par>
                        <p:par>
                          <p:cTn id="24" presetID="1" presetClass="entr" presetSubtype="0" fill="hold" nodeType="withEffect" grpId="0">
                            <p:stCondLst>
                              <p:cond delay="1250"/>
                            </p:stCondLst>
                            <p:childTnLst>
                              <p:set>
                                <p:cBhvr>
                                  <p:cTn id="25" dur="1" fill="hold">
                                    <p:stCondLst>
                                      <p:cond delay="0"/>
                                    </p:stCondLst>
                                  </p:cTn>
                                  <p:tgtEl>
                                    <p:spTgt spid="34"/>
                                  </p:tgtEl>
                                  <p:attrNameLst>
                                    <p:attrName>style.visibility</p:attrName>
                                  </p:attrNameLst>
                                </p:cBhvr>
                                <p:to>
                                  <p:strVal val="visible"/>
                                </p:to>
                              </p:set>
                            </p:childTnLst>
                          </p:cTn>
                        </p:par>
                        <p:par>
                          <p:cTn id="26" presetID="1" presetClass="entr" presetSubtype="0" fill="hold" nodeType="withEffect" grpId="0">
                            <p:stCondLst>
                              <p:cond delay="1250"/>
                            </p:stCondLst>
                            <p:childTnLst>
                              <p:set>
                                <p:cBhvr>
                                  <p:cTn id="27" dur="1" fill="hold">
                                    <p:stCondLst>
                                      <p:cond delay="0"/>
                                    </p:stCondLst>
                                  </p:cTn>
                                  <p:tgtEl>
                                    <p:spTgt spid="35"/>
                                  </p:tgtEl>
                                  <p:attrNameLst>
                                    <p:attrName>style.visibility</p:attrName>
                                  </p:attrNameLst>
                                </p:cBhvr>
                                <p:to>
                                  <p:strVal val="visible"/>
                                </p:to>
                              </p:set>
                            </p:childTnLst>
                          </p:cTn>
                        </p:par>
                        <p:par>
                          <p:cTn id="28" presetID="1" presetClass="entr" presetSubtype="0" fill="hold" nodeType="withEffect" grpId="0">
                            <p:stCondLst>
                              <p:cond delay="1250"/>
                            </p:stCondLst>
                            <p:childTnLst>
                              <p:set>
                                <p:cBhvr>
                                  <p:cTn id="29" dur="1" fill="hold">
                                    <p:stCondLst>
                                      <p:cond delay="0"/>
                                    </p:stCondLst>
                                  </p:cTn>
                                  <p:tgtEl>
                                    <p:spTgt spid="36"/>
                                  </p:tgtEl>
                                  <p:attrNameLst>
                                    <p:attrName>style.visibility</p:attrName>
                                  </p:attrNameLst>
                                </p:cBhvr>
                                <p:to>
                                  <p:strVal val="visible"/>
                                </p:to>
                              </p:set>
                            </p:childTnLst>
                          </p:cTn>
                        </p:par>
                        <p:par>
                          <p:cTn id="30" presetID="1" presetClass="entr" presetSubtype="0" fill="hold" nodeType="withEffect" grpId="0">
                            <p:stCondLst>
                              <p:cond delay="1250"/>
                            </p:stCondLst>
                            <p:childTnLst>
                              <p:set>
                                <p:cBhvr>
                                  <p:cTn id="31" dur="1" fill="hold">
                                    <p:stCondLst>
                                      <p:cond delay="0"/>
                                    </p:stCondLst>
                                  </p:cTn>
                                  <p:tgtEl>
                                    <p:spTgt spid="37"/>
                                  </p:tgtEl>
                                  <p:attrNameLst>
                                    <p:attrName>style.visibility</p:attrName>
                                  </p:attrNameLst>
                                </p:cBhvr>
                                <p:to>
                                  <p:strVal val="visible"/>
                                </p:to>
                              </p:set>
                            </p:childTnLst>
                          </p:cTn>
                        </p:par>
                        <p:par>
                          <p:cTn id="32" presetID="1" presetClass="entr" presetSubtype="0" fill="hold" nodeType="withEffect" grpId="0">
                            <p:stCondLst>
                              <p:cond delay="1250"/>
                            </p:stCondLst>
                            <p:childTnLst>
                              <p:set>
                                <p:cBhvr>
                                  <p:cTn id="33" dur="1" fill="hold">
                                    <p:stCondLst>
                                      <p:cond delay="0"/>
                                    </p:stCondLst>
                                  </p:cTn>
                                  <p:tgtEl>
                                    <p:spTgt spid="38"/>
                                  </p:tgtEl>
                                  <p:attrNameLst>
                                    <p:attrName>style.visibility</p:attrName>
                                  </p:attrNameLst>
                                </p:cBhvr>
                                <p:to>
                                  <p:strVal val="visible"/>
                                </p:to>
                              </p:set>
                            </p:childTnLst>
                          </p:cTn>
                        </p:par>
                        <p:par>
                          <p:cTn id="34" presetID="1" presetClass="entr" presetSubtype="0" fill="hold" nodeType="withEffect" grpId="0">
                            <p:stCondLst>
                              <p:cond delay="150"/>
                            </p:stCondLst>
                            <p:childTnLst>
                              <p:set>
                                <p:cBhvr>
                                  <p:cTn id="35" dur="1" fill="hold">
                                    <p:stCondLst>
                                      <p:cond delay="0"/>
                                    </p:stCondLst>
                                  </p:cTn>
                                  <p:tgtEl>
                                    <p:spTgt spid="9001"/>
                                  </p:tgtEl>
                                  <p:attrNameLst>
                                    <p:attrName>style.visibility</p:attrName>
                                  </p:attrNameLst>
                                </p:cBhvr>
                                <p:to>
                                  <p:strVal val="visible"/>
                                </p:to>
                              </p:set>
                            </p:childTnLst>
                          </p:cTn>
                        </p:par>
                        <p:par>
                          <p:cTn id="36" presetID="1" presetClass="entr" presetSubtype="0" fill="hold" nodeType="withEffect" grpId="0">
                            <p:stCondLst>
                              <p:cond delay="150"/>
                            </p:stCondLst>
                            <p:childTnLst>
                              <p:set>
                                <p:cBhvr>
                                  <p:cTn id="37" dur="1" fill="hold">
                                    <p:stCondLst>
                                      <p:cond delay="0"/>
                                    </p:stCondLst>
                                  </p:cTn>
                                  <p:tgtEl>
                                    <p:spTgt spid="900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heading">
            <a:extLst xmlns:a="http://schemas.openxmlformats.org/drawingml/2006/main">
              <a:ext uri="{FF2B5EF4-FFF2-40B4-BE49-F238E27FC236}">
                <a16:creationId xmlns:a16="http://schemas.microsoft.com/office/drawing/2014/main" id="{23DCD704-E1D5-487D-9925-506DF7526B1A}"/>
              </a:ext>
            </a:extLst>
          </p:cNvPr>
          <p:cNvSpPr>
            <a:spLocks xmlns:a="http://schemas.openxmlformats.org/drawingml/2006/main" noGrp="1"/>
          </p:cNvSpPr>
          <p:nvPr/>
        </p:nvSpPr>
        <p:spPr>
          <a:xfrm xmlns:a="http://schemas.openxmlformats.org/drawingml/2006/main">
            <a:off x="647700" y="428625"/>
            <a:ext cx="1394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62C"/>
                </a:solidFill>
                <a:latin typeface="Arial"/>
                <a:ea typeface="Arial"/>
                <a:cs typeface="Arial"/>
              </a:defRPr>
            </a:defPPr>
            <a:lvl1pPr algn="l">
              <a:defRPr sz="3300" b="1">
                <a:solidFill>
                  <a:srgbClr val="20262C"/>
                </a:solidFill>
                <a:latin typeface="Arial"/>
                <a:ea typeface="Arial"/>
                <a:cs typeface="Arial"/>
              </a:defRPr>
            </a:lvl1pPr>
            <a:lvl2pPr algn="l">
              <a:defRPr sz="3300" b="1">
                <a:solidFill>
                  <a:srgbClr val="20262C"/>
                </a:solidFill>
                <a:latin typeface="Arial"/>
                <a:ea typeface="Arial"/>
                <a:cs typeface="Arial"/>
              </a:defRPr>
            </a:lvl2pPr>
            <a:lvl3pPr algn="l">
              <a:defRPr sz="3300" b="1">
                <a:solidFill>
                  <a:srgbClr val="20262C"/>
                </a:solidFill>
                <a:latin typeface="Arial"/>
                <a:ea typeface="Arial"/>
                <a:cs typeface="Arial"/>
              </a:defRPr>
            </a:lvl3pPr>
            <a:lvl4pPr algn="l">
              <a:defRPr sz="3300" b="1">
                <a:solidFill>
                  <a:srgbClr val="20262C"/>
                </a:solidFill>
                <a:latin typeface="Arial"/>
                <a:ea typeface="Arial"/>
                <a:cs typeface="Arial"/>
              </a:defRPr>
            </a:lvl4pPr>
            <a:lvl5pPr algn="l">
              <a:defRPr sz="3300" b="1">
                <a:solidFill>
                  <a:srgbClr val="20262C"/>
                </a:solidFill>
                <a:latin typeface="Arial"/>
                <a:ea typeface="Arial"/>
                <a:cs typeface="Arial"/>
              </a:defRPr>
            </a:lvl5pPr>
            <a:lvl6pPr algn="l">
              <a:defRPr sz="3300" b="1">
                <a:solidFill>
                  <a:srgbClr val="20262C"/>
                </a:solidFill>
                <a:latin typeface="Arial"/>
                <a:ea typeface="Arial"/>
                <a:cs typeface="Arial"/>
              </a:defRPr>
            </a:lvl6pPr>
            <a:lvl7pPr algn="l">
              <a:defRPr sz="3300" b="1">
                <a:solidFill>
                  <a:srgbClr val="20262C"/>
                </a:solidFill>
                <a:latin typeface="Arial"/>
                <a:ea typeface="Arial"/>
                <a:cs typeface="Arial"/>
              </a:defRPr>
            </a:lvl7pPr>
            <a:lvl8pPr algn="l">
              <a:defRPr sz="3300" b="1">
                <a:solidFill>
                  <a:srgbClr val="20262C"/>
                </a:solidFill>
                <a:latin typeface="Arial"/>
                <a:ea typeface="Arial"/>
                <a:cs typeface="Arial"/>
              </a:defRPr>
            </a:lvl8pPr>
            <a:lvl9pPr algn="l">
              <a:defRPr sz="3300" b="1">
                <a:solidFill>
                  <a:srgbClr val="20262C"/>
                </a:solidFill>
                <a:latin typeface="Arial"/>
                <a:ea typeface="Arial"/>
                <a:cs typeface="Arial"/>
              </a:defRPr>
            </a:lvl9pPr>
          </a:lstStyle>
          <a:p xmlns:a="http://schemas.openxmlformats.org/drawingml/2006/main">
            <a:pPr algn="l">
              <a:defRPr sz="3300" b="1">
                <a:solidFill>
                  <a:srgbClr val="20262C"/>
                </a:solidFill>
                <a:latin typeface="Arial"/>
                <a:ea typeface="Arial"/>
                <a:cs typeface="Arial"/>
              </a:defRPr>
            </a:pPr>
            <a:r>
              <a:rPr sz="3300" b="1">
                <a:solidFill>
                  <a:srgbClr val="20262C"/>
                </a:solidFill>
                <a:latin typeface="Arial"/>
                <a:ea typeface="Arial"/>
                <a:cs typeface="Arial"/>
              </a:rPr>
              <a:t>Evaluating application use and task outcomes</a:t>
            </a:r>
          </a:p>
        </p:txBody>
      </p:sp>
      <p:sp>
        <p:nvSpPr>
          <p:cNvPr id="2" name="!!subtitle">
            <a:extLst xmlns:a="http://schemas.openxmlformats.org/drawingml/2006/main">
              <a:ext uri="{FF2B5EF4-FFF2-40B4-BE49-F238E27FC236}">
                <a16:creationId xmlns:a16="http://schemas.microsoft.com/office/drawing/2014/main" id="{5C2C4DC9-41E4-4EC6-9A70-AE6AB76DB864}"/>
              </a:ext>
            </a:extLst>
          </p:cNvPr>
          <p:cNvSpPr>
            <a:spLocks xmlns:a="http://schemas.openxmlformats.org/drawingml/2006/main" noGrp="1"/>
          </p:cNvSpPr>
          <p:nvPr/>
        </p:nvSpPr>
        <p:spPr>
          <a:xfrm xmlns:a="http://schemas.openxmlformats.org/drawingml/2006/main">
            <a:off x="647700" y="1190625"/>
            <a:ext cx="9829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5A9C"/>
                </a:solidFill>
                <a:latin typeface="Arial"/>
                <a:ea typeface="Arial"/>
                <a:cs typeface="Arial"/>
              </a:defRPr>
            </a:defPPr>
            <a:lvl1pPr algn="l">
              <a:defRPr sz="1875" b="0">
                <a:solidFill>
                  <a:srgbClr val="005A9C"/>
                </a:solidFill>
                <a:latin typeface="Arial"/>
                <a:ea typeface="Arial"/>
                <a:cs typeface="Arial"/>
              </a:defRPr>
            </a:lvl1pPr>
            <a:lvl2pPr algn="l">
              <a:defRPr sz="1875" b="0">
                <a:solidFill>
                  <a:srgbClr val="005A9C"/>
                </a:solidFill>
                <a:latin typeface="Arial"/>
                <a:ea typeface="Arial"/>
                <a:cs typeface="Arial"/>
              </a:defRPr>
            </a:lvl2pPr>
            <a:lvl3pPr algn="l">
              <a:defRPr sz="1875" b="0">
                <a:solidFill>
                  <a:srgbClr val="005A9C"/>
                </a:solidFill>
                <a:latin typeface="Arial"/>
                <a:ea typeface="Arial"/>
                <a:cs typeface="Arial"/>
              </a:defRPr>
            </a:lvl3pPr>
            <a:lvl4pPr algn="l">
              <a:defRPr sz="1875" b="0">
                <a:solidFill>
                  <a:srgbClr val="005A9C"/>
                </a:solidFill>
                <a:latin typeface="Arial"/>
                <a:ea typeface="Arial"/>
                <a:cs typeface="Arial"/>
              </a:defRPr>
            </a:lvl4pPr>
            <a:lvl5pPr algn="l">
              <a:defRPr sz="1875" b="0">
                <a:solidFill>
                  <a:srgbClr val="005A9C"/>
                </a:solidFill>
                <a:latin typeface="Arial"/>
                <a:ea typeface="Arial"/>
                <a:cs typeface="Arial"/>
              </a:defRPr>
            </a:lvl5pPr>
            <a:lvl6pPr algn="l">
              <a:defRPr sz="1875" b="0">
                <a:solidFill>
                  <a:srgbClr val="005A9C"/>
                </a:solidFill>
                <a:latin typeface="Arial"/>
                <a:ea typeface="Arial"/>
                <a:cs typeface="Arial"/>
              </a:defRPr>
            </a:lvl6pPr>
            <a:lvl7pPr algn="l">
              <a:defRPr sz="1875" b="0">
                <a:solidFill>
                  <a:srgbClr val="005A9C"/>
                </a:solidFill>
                <a:latin typeface="Arial"/>
                <a:ea typeface="Arial"/>
                <a:cs typeface="Arial"/>
              </a:defRPr>
            </a:lvl7pPr>
            <a:lvl8pPr algn="l">
              <a:defRPr sz="1875" b="0">
                <a:solidFill>
                  <a:srgbClr val="005A9C"/>
                </a:solidFill>
                <a:latin typeface="Arial"/>
                <a:ea typeface="Arial"/>
                <a:cs typeface="Arial"/>
              </a:defRPr>
            </a:lvl8pPr>
            <a:lvl9pPr algn="l">
              <a:defRPr sz="1875" b="0">
                <a:solidFill>
                  <a:srgbClr val="005A9C"/>
                </a:solidFill>
                <a:latin typeface="Arial"/>
                <a:ea typeface="Arial"/>
                <a:cs typeface="Arial"/>
              </a:defRPr>
            </a:lvl9pPr>
          </a:lstStyle>
          <a:p xmlns:a="http://schemas.openxmlformats.org/drawingml/2006/main">
            <a:pPr algn="l">
              <a:defRPr sz="1875" b="0">
                <a:solidFill>
                  <a:srgbClr val="005A9C"/>
                </a:solidFill>
                <a:latin typeface="Arial"/>
                <a:ea typeface="Arial"/>
                <a:cs typeface="Arial"/>
              </a:defRPr>
            </a:pPr>
            <a:r>
              <a:rPr sz="1875" b="0">
                <a:solidFill>
                  <a:srgbClr val="005A9C"/>
                </a:solidFill>
                <a:latin typeface="Arial"/>
                <a:ea typeface="Arial"/>
                <a:cs typeface="Arial"/>
              </a:rPr>
              <a:t>Evaluation</a:t>
            </a:r>
          </a:p>
        </p:txBody>
      </p:sp>
      <p:sp>
        <p:nvSpPr>
          <p:cNvPr id="3" name="!!heading.rule">
            <a:extLst xmlns:a="http://schemas.openxmlformats.org/drawingml/2006/main">
              <a:ext uri="{FF2B5EF4-FFF2-40B4-BE49-F238E27FC236}">
                <a16:creationId xmlns:a16="http://schemas.microsoft.com/office/drawing/2014/main" id="{E9221720-2744-4A58-8054-272045B15726}"/>
              </a:ext>
            </a:extLst>
          </p:cNvPr>
          <p:cNvSpPr>
            <a:spLocks xmlns:a="http://schemas.openxmlformats.org/drawingml/2006/main" noGrp="1"/>
          </p:cNvSpPr>
          <p:nvPr/>
        </p:nvSpPr>
        <p:spPr>
          <a:xfrm xmlns:a="http://schemas.openxmlformats.org/drawingml/2006/main" flipH="0" flipV="0">
            <a:off x="647700" y="1733550"/>
            <a:ext cx="13944600" cy="953"/>
          </a:xfrm>
          <a:prstGeom xmlns:a="http://schemas.openxmlformats.org/drawingml/2006/main" prst="line">
            <a:avLst/>
          </a:prstGeom>
          <a:noFill xmlns:a="http://schemas.openxmlformats.org/drawingml/2006/main"/>
          <a:ln xmlns:a="http://schemas.openxmlformats.org/drawingml/2006/main" w="11430">
            <a:solidFill>
              <a:srgbClr val="BCC6CF"/>
            </a:solidFill>
            <a:prstDash val="solid"/>
          </a:ln>
        </p:spPr>
      </p:sp>
      <p:sp>
        <p:nvSpPr>
          <p:cNvPr id="4" name="!!map.front">
            <a:extLst xmlns:a="http://schemas.openxmlformats.org/drawingml/2006/main">
              <a:ext uri="{FF2B5EF4-FFF2-40B4-BE49-F238E27FC236}">
                <a16:creationId xmlns:a16="http://schemas.microsoft.com/office/drawing/2014/main" id="{B8A6E357-B6C2-4CAF-8DBF-F58B309789F7}"/>
              </a:ext>
            </a:extLst>
          </p:cNvPr>
          <p:cNvSpPr>
            <a:spLocks xmlns:a="http://schemas.openxmlformats.org/drawingml/2006/main" noGrp="1"/>
          </p:cNvSpPr>
          <p:nvPr/>
        </p:nvSpPr>
        <p:spPr>
          <a:xfrm xmlns:a="http://schemas.openxmlformats.org/drawingml/2006/main">
            <a:off x="647700" y="199072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5" name="!!nav.front">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00B2A51A-959D-4E46-98FB-C38BCADE5BAC}"/>
              </a:ext>
            </a:extLst>
          </p:cNvPr>
          <p:cNvSpPr>
            <a:spLocks xmlns:a="http://schemas.openxmlformats.org/drawingml/2006/main" noGrp="1"/>
          </p:cNvSpPr>
          <p:nvPr/>
        </p:nvSpPr>
        <p:spPr>
          <a:xfrm xmlns:a="http://schemas.openxmlformats.org/drawingml/2006/main">
            <a:off x="647700" y="199072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Front office</a:t>
            </a:r>
          </a:p>
        </p:txBody>
      </p:sp>
      <p:sp>
        <p:nvSpPr>
          <p:cNvPr id="6" name="!!task.research">
            <ns0:hlinkClick xmlns:ns0="http://schemas.openxmlformats.org/drawingml/2006/main" xmlns:ns1="http://schemas.openxmlformats.org/officeDocument/2006/relationships" ns1:id="rIdNavSlide4" action="ppaction://hlinksldjump" tooltip="Slide 4: Company research: assessing revenue growth"/>
            <a:extLst xmlns:a="http://schemas.openxmlformats.org/drawingml/2006/main">
              <a:ext uri="{FF2B5EF4-FFF2-40B4-BE49-F238E27FC236}">
                <a16:creationId xmlns:a16="http://schemas.microsoft.com/office/drawing/2014/main" id="{C66B25E9-8A72-45EB-BD52-53D27F81DC32}"/>
              </a:ext>
            </a:extLst>
          </p:cNvPr>
          <p:cNvSpPr>
            <a:spLocks xmlns:a="http://schemas.openxmlformats.org/drawingml/2006/main" noGrp="1"/>
          </p:cNvSpPr>
          <p:nvPr/>
        </p:nvSpPr>
        <p:spPr>
          <a:xfrm xmlns:a="http://schemas.openxmlformats.org/drawingml/2006/main">
            <a:off x="762000" y="24955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Research</a:t>
            </a:r>
          </a:p>
        </p:txBody>
      </p:sp>
      <p:sp>
        <p:nvSpPr>
          <p:cNvPr id="7" name="!!task.trade">
            <ns0:hlinkClick xmlns:ns0="http://schemas.openxmlformats.org/drawingml/2006/main" xmlns:ns1="http://schemas.openxmlformats.org/officeDocument/2006/relationships" ns1:id="rIdNavSlide9" action="ppaction://hlinksldjump" tooltip="Slide 9: Preparing a bond quote request"/>
            <a:extLst xmlns:a="http://schemas.openxmlformats.org/drawingml/2006/main">
              <a:ext uri="{FF2B5EF4-FFF2-40B4-BE49-F238E27FC236}">
                <a16:creationId xmlns:a16="http://schemas.microsoft.com/office/drawing/2014/main" id="{0A1AC754-0394-4A8D-ABF6-9090F9FFBA9C}"/>
              </a:ext>
            </a:extLst>
          </p:cNvPr>
          <p:cNvSpPr>
            <a:spLocks xmlns:a="http://schemas.openxmlformats.org/drawingml/2006/main" noGrp="1"/>
          </p:cNvSpPr>
          <p:nvPr/>
        </p:nvSpPr>
        <p:spPr>
          <a:xfrm xmlns:a="http://schemas.openxmlformats.org/drawingml/2006/main">
            <a:off x="762000" y="280987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Trading support</a:t>
            </a:r>
          </a:p>
        </p:txBody>
      </p:sp>
      <p:sp>
        <p:nvSpPr>
          <p:cNvPr id="8" name="!!task.client">
            <ns0:hlinkClick xmlns:ns0="http://schemas.openxmlformats.org/drawingml/2006/main" xmlns:ns1="http://schemas.openxmlformats.org/officeDocument/2006/relationships" ns1:id="rIdNavSlide12" action="ppaction://hlinksldjump" tooltip="Slide 12: Preparing a quarterly client update"/>
            <a:extLst xmlns:a="http://schemas.openxmlformats.org/drawingml/2006/main">
              <a:ext uri="{FF2B5EF4-FFF2-40B4-BE49-F238E27FC236}">
                <a16:creationId xmlns:a16="http://schemas.microsoft.com/office/drawing/2014/main" id="{EFD716F7-D802-47F4-BAC7-9906E40C6268}"/>
              </a:ext>
            </a:extLst>
          </p:cNvPr>
          <p:cNvSpPr>
            <a:spLocks xmlns:a="http://schemas.openxmlformats.org/drawingml/2006/main" noGrp="1"/>
          </p:cNvSpPr>
          <p:nvPr/>
        </p:nvSpPr>
        <p:spPr>
          <a:xfrm xmlns:a="http://schemas.openxmlformats.org/drawingml/2006/main">
            <a:off x="762000" y="31242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Client materials</a:t>
            </a:r>
          </a:p>
        </p:txBody>
      </p:sp>
      <p:sp>
        <p:nvSpPr>
          <p:cNvPr id="9" name="!!map.middle">
            <a:extLst xmlns:a="http://schemas.openxmlformats.org/drawingml/2006/main">
              <a:ext uri="{FF2B5EF4-FFF2-40B4-BE49-F238E27FC236}">
                <a16:creationId xmlns:a16="http://schemas.microsoft.com/office/drawing/2014/main" id="{175F2D37-0761-42EA-A021-662C0BC185FF}"/>
              </a:ext>
            </a:extLst>
          </p:cNvPr>
          <p:cNvSpPr>
            <a:spLocks xmlns:a="http://schemas.openxmlformats.org/drawingml/2006/main" noGrp="1"/>
          </p:cNvSpPr>
          <p:nvPr/>
        </p:nvSpPr>
        <p:spPr>
          <a:xfrm xmlns:a="http://schemas.openxmlformats.org/drawingml/2006/main">
            <a:off x="647700" y="3657600"/>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0" name="!!nav.middle">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6D438967-61AF-462E-AA89-80317C53144F}"/>
              </a:ext>
            </a:extLst>
          </p:cNvPr>
          <p:cNvSpPr>
            <a:spLocks xmlns:a="http://schemas.openxmlformats.org/drawingml/2006/main" noGrp="1"/>
          </p:cNvSpPr>
          <p:nvPr/>
        </p:nvSpPr>
        <p:spPr>
          <a:xfrm xmlns:a="http://schemas.openxmlformats.org/drawingml/2006/main">
            <a:off x="647700" y="3657600"/>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Middle office</a:t>
            </a:r>
          </a:p>
        </p:txBody>
      </p:sp>
      <p:sp>
        <p:nvSpPr>
          <p:cNvPr id="11" name="!!task.review">
            <ns0:hlinkClick xmlns:ns0="http://schemas.openxmlformats.org/drawingml/2006/main" xmlns:ns1="http://schemas.openxmlformats.org/officeDocument/2006/relationships" ns1:id="rIdNavSlide16" action="ppaction://hlinksldjump" tooltip="Slide 16: Reviewing client communications"/>
            <a:extLst xmlns:a="http://schemas.openxmlformats.org/drawingml/2006/main">
              <a:ext uri="{FF2B5EF4-FFF2-40B4-BE49-F238E27FC236}">
                <a16:creationId xmlns:a16="http://schemas.microsoft.com/office/drawing/2014/main" id="{C0572919-3FF5-444A-8AED-1ABB938DA6D0}"/>
              </a:ext>
            </a:extLst>
          </p:cNvPr>
          <p:cNvSpPr>
            <a:spLocks xmlns:a="http://schemas.openxmlformats.org/drawingml/2006/main" noGrp="1"/>
          </p:cNvSpPr>
          <p:nvPr/>
        </p:nvSpPr>
        <p:spPr>
          <a:xfrm xmlns:a="http://schemas.openxmlformats.org/drawingml/2006/main">
            <a:off x="762000" y="41624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Content review</a:t>
            </a:r>
          </a:p>
        </p:txBody>
      </p:sp>
      <p:sp>
        <p:nvSpPr>
          <p:cNvPr id="12" name="!!task.risk">
            <ns0:hlinkClick xmlns:ns0="http://schemas.openxmlformats.org/drawingml/2006/main" xmlns:ns1="http://schemas.openxmlformats.org/officeDocument/2006/relationships" ns1:id="rIdNavSlide19" action="ppaction://hlinksldjump" tooltip="Slide 19: Investigating a risk alert"/>
            <a:extLst xmlns:a="http://schemas.openxmlformats.org/drawingml/2006/main">
              <a:ext uri="{FF2B5EF4-FFF2-40B4-BE49-F238E27FC236}">
                <a16:creationId xmlns:a16="http://schemas.microsoft.com/office/drawing/2014/main" id="{EF616360-5D21-44A5-8F25-5D09F703FA88}"/>
              </a:ext>
            </a:extLst>
          </p:cNvPr>
          <p:cNvSpPr>
            <a:spLocks xmlns:a="http://schemas.openxmlformats.org/drawingml/2006/main" noGrp="1"/>
          </p:cNvSpPr>
          <p:nvPr/>
        </p:nvSpPr>
        <p:spPr>
          <a:xfrm xmlns:a="http://schemas.openxmlformats.org/drawingml/2006/main">
            <a:off x="762000" y="447675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Risk analysis</a:t>
            </a:r>
          </a:p>
        </p:txBody>
      </p:sp>
      <p:sp>
        <p:nvSpPr>
          <p:cNvPr id="13" name="!!map.back">
            <a:extLst xmlns:a="http://schemas.openxmlformats.org/drawingml/2006/main">
              <a:ext uri="{FF2B5EF4-FFF2-40B4-BE49-F238E27FC236}">
                <a16:creationId xmlns:a16="http://schemas.microsoft.com/office/drawing/2014/main" id="{FDC53CE5-FD40-4481-8E3A-E127D67074C8}"/>
              </a:ext>
            </a:extLst>
          </p:cNvPr>
          <p:cNvSpPr>
            <a:spLocks xmlns:a="http://schemas.openxmlformats.org/drawingml/2006/main" noGrp="1"/>
          </p:cNvSpPr>
          <p:nvPr/>
        </p:nvSpPr>
        <p:spPr>
          <a:xfrm xmlns:a="http://schemas.openxmlformats.org/drawingml/2006/main">
            <a:off x="647700" y="5324475"/>
            <a:ext cx="2609850" cy="1524000"/>
          </a:xfrm>
          <a:prstGeom xmlns:a="http://schemas.openxmlformats.org/drawingml/2006/main" prst="rect">
            <a:avLst/>
          </a:prstGeom>
          <a:solidFill xmlns:a="http://schemas.openxmlformats.org/drawingml/2006/main">
            <a:srgbClr val="F3F7FA"/>
          </a:solidFill>
          <a:ln xmlns:a="http://schemas.openxmlformats.org/drawingml/2006/main" w="9525">
            <a:solidFill>
              <a:srgbClr val="BCC6CF"/>
            </a:solidFill>
            <a:prstDash val="solid"/>
          </a:ln>
        </p:spPr>
      </p:sp>
      <p:sp>
        <p:nvSpPr>
          <p:cNvPr id="14" name="!!nav.back">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B98146FB-BAB8-4410-A0C7-384114C0B1D6}"/>
              </a:ext>
            </a:extLst>
          </p:cNvPr>
          <p:cNvSpPr>
            <a:spLocks xmlns:a="http://schemas.openxmlformats.org/drawingml/2006/main" noGrp="1"/>
          </p:cNvSpPr>
          <p:nvPr/>
        </p:nvSpPr>
        <p:spPr>
          <a:xfrm xmlns:a="http://schemas.openxmlformats.org/drawingml/2006/main">
            <a:off x="647700" y="5324475"/>
            <a:ext cx="2609850" cy="409575"/>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Back office</a:t>
            </a:r>
          </a:p>
        </p:txBody>
      </p:sp>
      <p:sp>
        <p:nvSpPr>
          <p:cNvPr id="15" name="!!task.files">
            <ns0:hlinkClick xmlns:ns0="http://schemas.openxmlformats.org/drawingml/2006/main" xmlns:ns1="http://schemas.openxmlformats.org/officeDocument/2006/relationships" ns1:id="rIdNavSlide22" action="ppaction://hlinksldjump" tooltip="Slide 22: Processing operational documents"/>
            <a:extLst xmlns:a="http://schemas.openxmlformats.org/drawingml/2006/main">
              <a:ext uri="{FF2B5EF4-FFF2-40B4-BE49-F238E27FC236}">
                <a16:creationId xmlns:a16="http://schemas.microsoft.com/office/drawing/2014/main" id="{0AE07258-7999-423D-A966-6A7D7AF45087}"/>
              </a:ext>
            </a:extLst>
          </p:cNvPr>
          <p:cNvSpPr>
            <a:spLocks xmlns:a="http://schemas.openxmlformats.org/drawingml/2006/main" noGrp="1"/>
          </p:cNvSpPr>
          <p:nvPr/>
        </p:nvSpPr>
        <p:spPr>
          <a:xfrm xmlns:a="http://schemas.openxmlformats.org/drawingml/2006/main">
            <a:off x="762000" y="5829300"/>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Document processing</a:t>
            </a:r>
          </a:p>
        </p:txBody>
      </p:sp>
      <p:sp>
        <p:nvSpPr>
          <p:cNvPr id="16" name="!!task.dev">
            <ns0:hlinkClick xmlns:ns0="http://schemas.openxmlformats.org/drawingml/2006/main" xmlns:ns1="http://schemas.openxmlformats.org/officeDocument/2006/relationships" ns1:id="rIdNavSlide25" action="ppaction://hlinksldjump" tooltip="Slide 25: Developing a document comparison tool"/>
            <a:extLst xmlns:a="http://schemas.openxmlformats.org/drawingml/2006/main">
              <a:ext uri="{FF2B5EF4-FFF2-40B4-BE49-F238E27FC236}">
                <a16:creationId xmlns:a16="http://schemas.microsoft.com/office/drawing/2014/main" id="{F3507238-775C-47A3-930D-9A2366EF9D0D}"/>
              </a:ext>
            </a:extLst>
          </p:cNvPr>
          <p:cNvSpPr>
            <a:spLocks xmlns:a="http://schemas.openxmlformats.org/drawingml/2006/main" noGrp="1"/>
          </p:cNvSpPr>
          <p:nvPr/>
        </p:nvSpPr>
        <p:spPr>
          <a:xfrm xmlns:a="http://schemas.openxmlformats.org/drawingml/2006/main">
            <a:off x="762000" y="6143625"/>
            <a:ext cx="2381250" cy="3048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650" b="0">
                <a:solidFill>
                  <a:srgbClr val="707C88"/>
                </a:solidFill>
                <a:latin typeface="Arial"/>
                <a:ea typeface="Arial"/>
                <a:cs typeface="Arial"/>
              </a:defRPr>
            </a:defPPr>
            <a:lvl1pPr algn="ctr">
              <a:defRPr sz="1650" b="0">
                <a:solidFill>
                  <a:srgbClr val="707C88"/>
                </a:solidFill>
                <a:latin typeface="Arial"/>
                <a:ea typeface="Arial"/>
                <a:cs typeface="Arial"/>
              </a:defRPr>
            </a:lvl1pPr>
            <a:lvl2pPr algn="ctr">
              <a:defRPr sz="1650" b="0">
                <a:solidFill>
                  <a:srgbClr val="707C88"/>
                </a:solidFill>
                <a:latin typeface="Arial"/>
                <a:ea typeface="Arial"/>
                <a:cs typeface="Arial"/>
              </a:defRPr>
            </a:lvl2pPr>
            <a:lvl3pPr algn="ctr">
              <a:defRPr sz="1650" b="0">
                <a:solidFill>
                  <a:srgbClr val="707C88"/>
                </a:solidFill>
                <a:latin typeface="Arial"/>
                <a:ea typeface="Arial"/>
                <a:cs typeface="Arial"/>
              </a:defRPr>
            </a:lvl3pPr>
            <a:lvl4pPr algn="ctr">
              <a:defRPr sz="1650" b="0">
                <a:solidFill>
                  <a:srgbClr val="707C88"/>
                </a:solidFill>
                <a:latin typeface="Arial"/>
                <a:ea typeface="Arial"/>
                <a:cs typeface="Arial"/>
              </a:defRPr>
            </a:lvl4pPr>
            <a:lvl5pPr algn="ctr">
              <a:defRPr sz="1650" b="0">
                <a:solidFill>
                  <a:srgbClr val="707C88"/>
                </a:solidFill>
                <a:latin typeface="Arial"/>
                <a:ea typeface="Arial"/>
                <a:cs typeface="Arial"/>
              </a:defRPr>
            </a:lvl5pPr>
            <a:lvl6pPr algn="ctr">
              <a:defRPr sz="1650" b="0">
                <a:solidFill>
                  <a:srgbClr val="707C88"/>
                </a:solidFill>
                <a:latin typeface="Arial"/>
                <a:ea typeface="Arial"/>
                <a:cs typeface="Arial"/>
              </a:defRPr>
            </a:lvl6pPr>
            <a:lvl7pPr algn="ctr">
              <a:defRPr sz="1650" b="0">
                <a:solidFill>
                  <a:srgbClr val="707C88"/>
                </a:solidFill>
                <a:latin typeface="Arial"/>
                <a:ea typeface="Arial"/>
                <a:cs typeface="Arial"/>
              </a:defRPr>
            </a:lvl7pPr>
            <a:lvl8pPr algn="ctr">
              <a:defRPr sz="1650" b="0">
                <a:solidFill>
                  <a:srgbClr val="707C88"/>
                </a:solidFill>
                <a:latin typeface="Arial"/>
                <a:ea typeface="Arial"/>
                <a:cs typeface="Arial"/>
              </a:defRPr>
            </a:lvl8pPr>
            <a:lvl9pPr algn="ctr">
              <a:defRPr sz="1650" b="0">
                <a:solidFill>
                  <a:srgbClr val="707C88"/>
                </a:solidFill>
                <a:latin typeface="Arial"/>
                <a:ea typeface="Arial"/>
                <a:cs typeface="Arial"/>
              </a:defRPr>
            </a:lvl9pPr>
          </a:lstStyle>
          <a:p xmlns:a="http://schemas.openxmlformats.org/drawingml/2006/main">
            <a:pPr algn="ctr">
              <a:defRPr sz="1650" b="0">
                <a:solidFill>
                  <a:srgbClr val="707C88"/>
                </a:solidFill>
                <a:latin typeface="Arial"/>
                <a:ea typeface="Arial"/>
                <a:cs typeface="Arial"/>
              </a:defRPr>
            </a:pPr>
            <a:r>
              <a:rPr sz="1650" b="0">
                <a:solidFill>
                  <a:srgbClr val="707C88"/>
                </a:solidFill>
                <a:latin typeface="Arial"/>
                <a:ea typeface="Arial"/>
                <a:cs typeface="Arial"/>
              </a:rPr>
              <a:t>Tool development</a:t>
            </a:r>
          </a:p>
        </p:txBody>
      </p:sp>
      <p:sp>
        <p:nvSpPr>
          <p:cNvPr id="17" name="!!map.separator">
            <a:extLst xmlns:a="http://schemas.openxmlformats.org/drawingml/2006/main">
              <a:ext uri="{FF2B5EF4-FFF2-40B4-BE49-F238E27FC236}">
                <a16:creationId xmlns:a16="http://schemas.microsoft.com/office/drawing/2014/main" id="{752F4B69-2634-4965-9DF7-6F2897F1879F}"/>
              </a:ext>
            </a:extLst>
          </p:cNvPr>
          <p:cNvSpPr>
            <a:spLocks xmlns:a="http://schemas.openxmlformats.org/drawingml/2006/main" noGrp="1"/>
          </p:cNvSpPr>
          <p:nvPr/>
        </p:nvSpPr>
        <p:spPr>
          <a:xfrm xmlns:a="http://schemas.openxmlformats.org/drawingml/2006/main" flipH="0" flipV="0">
            <a:off x="3600450" y="1990725"/>
            <a:ext cx="953" cy="5076825"/>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18" name="!!nav.home">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AE4AB687-039B-470F-AF92-1B0A46D08269}"/>
              </a:ext>
            </a:extLst>
          </p:cNvPr>
          <p:cNvSpPr>
            <a:spLocks xmlns:a="http://schemas.openxmlformats.org/drawingml/2006/main" noGrp="1"/>
          </p:cNvSpPr>
          <p:nvPr/>
        </p:nvSpPr>
        <p:spPr>
          <a:xfrm xmlns:a="http://schemas.openxmlformats.org/drawingml/2006/main">
            <a:off x="647700" y="7496175"/>
            <a:ext cx="26098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CC6CF"/>
            </a:solidFill>
            <a:prstDash val="solid"/>
          </a:ln>
        </p:spPr>
        <p:txBody>
          <a:bodyPr xmlns:a="http://schemas.openxmlformats.org/drawingml/2006/main" wrap="square" lIns="114300" tIns="0" rIns="114300" bIns="0" anchor="ctr">
            <a:noAutofit/>
          </a:bodyPr>
          <a:lstStyle xmlns:a="http://schemas.openxmlformats.org/drawingml/2006/main">
            <a:defPPr algn="ctr">
              <a:defRPr sz="1800" b="1">
                <a:solidFill>
                  <a:srgbClr val="005A9C"/>
                </a:solidFill>
                <a:latin typeface="Arial"/>
                <a:ea typeface="Arial"/>
                <a:cs typeface="Arial"/>
              </a:defRPr>
            </a:defPPr>
            <a:lvl1pPr algn="ctr">
              <a:defRPr sz="1800" b="1">
                <a:solidFill>
                  <a:srgbClr val="005A9C"/>
                </a:solidFill>
                <a:latin typeface="Arial"/>
                <a:ea typeface="Arial"/>
                <a:cs typeface="Arial"/>
              </a:defRPr>
            </a:lvl1pPr>
            <a:lvl2pPr algn="ctr">
              <a:defRPr sz="1800" b="1">
                <a:solidFill>
                  <a:srgbClr val="005A9C"/>
                </a:solidFill>
                <a:latin typeface="Arial"/>
                <a:ea typeface="Arial"/>
                <a:cs typeface="Arial"/>
              </a:defRPr>
            </a:lvl2pPr>
            <a:lvl3pPr algn="ctr">
              <a:defRPr sz="1800" b="1">
                <a:solidFill>
                  <a:srgbClr val="005A9C"/>
                </a:solidFill>
                <a:latin typeface="Arial"/>
                <a:ea typeface="Arial"/>
                <a:cs typeface="Arial"/>
              </a:defRPr>
            </a:lvl3pPr>
            <a:lvl4pPr algn="ctr">
              <a:defRPr sz="1800" b="1">
                <a:solidFill>
                  <a:srgbClr val="005A9C"/>
                </a:solidFill>
                <a:latin typeface="Arial"/>
                <a:ea typeface="Arial"/>
                <a:cs typeface="Arial"/>
              </a:defRPr>
            </a:lvl4pPr>
            <a:lvl5pPr algn="ctr">
              <a:defRPr sz="1800" b="1">
                <a:solidFill>
                  <a:srgbClr val="005A9C"/>
                </a:solidFill>
                <a:latin typeface="Arial"/>
                <a:ea typeface="Arial"/>
                <a:cs typeface="Arial"/>
              </a:defRPr>
            </a:lvl5pPr>
            <a:lvl6pPr algn="ctr">
              <a:defRPr sz="1800" b="1">
                <a:solidFill>
                  <a:srgbClr val="005A9C"/>
                </a:solidFill>
                <a:latin typeface="Arial"/>
                <a:ea typeface="Arial"/>
                <a:cs typeface="Arial"/>
              </a:defRPr>
            </a:lvl6pPr>
            <a:lvl7pPr algn="ctr">
              <a:defRPr sz="1800" b="1">
                <a:solidFill>
                  <a:srgbClr val="005A9C"/>
                </a:solidFill>
                <a:latin typeface="Arial"/>
                <a:ea typeface="Arial"/>
                <a:cs typeface="Arial"/>
              </a:defRPr>
            </a:lvl7pPr>
            <a:lvl8pPr algn="ctr">
              <a:defRPr sz="1800" b="1">
                <a:solidFill>
                  <a:srgbClr val="005A9C"/>
                </a:solidFill>
                <a:latin typeface="Arial"/>
                <a:ea typeface="Arial"/>
                <a:cs typeface="Arial"/>
              </a:defRPr>
            </a:lvl8pPr>
            <a:lvl9pPr algn="ctr">
              <a:defRPr sz="1800" b="1">
                <a:solidFill>
                  <a:srgbClr val="005A9C"/>
                </a:solidFill>
                <a:latin typeface="Arial"/>
                <a:ea typeface="Arial"/>
                <a:cs typeface="Arial"/>
              </a:defRPr>
            </a:lvl9pPr>
          </a:lstStyle>
          <a:p xmlns:a="http://schemas.openxmlformats.org/drawingml/2006/main">
            <a:pPr algn="ctr">
              <a:defRPr sz="1800" b="1">
                <a:solidFill>
                  <a:srgbClr val="005A9C"/>
                </a:solidFill>
                <a:latin typeface="Arial"/>
                <a:ea typeface="Arial"/>
                <a:cs typeface="Arial"/>
              </a:defRPr>
            </a:pPr>
            <a:r>
              <a:rPr sz="1800" b="1">
                <a:solidFill>
                  <a:srgbClr val="005A9C"/>
                </a:solidFill>
                <a:latin typeface="Arial"/>
                <a:ea typeface="Arial"/>
                <a:cs typeface="Arial"/>
              </a:rPr>
              <a:t>Overview</a:t>
            </a:r>
          </a:p>
        </p:txBody>
      </p:sp>
      <p:sp>
        <p:nvSpPr>
          <p:cNvPr id="19" name="!!page">
            <a:extLst xmlns:a="http://schemas.openxmlformats.org/drawingml/2006/main">
              <a:ext uri="{FF2B5EF4-FFF2-40B4-BE49-F238E27FC236}">
                <a16:creationId xmlns:a16="http://schemas.microsoft.com/office/drawing/2014/main" id="{F7664845-8B41-4B20-8B97-2541F8C9284D}"/>
              </a:ext>
            </a:extLst>
          </p:cNvPr>
          <p:cNvSpPr>
            <a:spLocks xmlns:a="http://schemas.openxmlformats.org/drawingml/2006/main" noGrp="1"/>
          </p:cNvSpPr>
          <p:nvPr/>
        </p:nvSpPr>
        <p:spPr>
          <a:xfrm xmlns:a="http://schemas.openxmlformats.org/drawingml/2006/main">
            <a:off x="11144250" y="7591425"/>
            <a:ext cx="904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707C88"/>
                </a:solidFill>
                <a:latin typeface="Arial"/>
                <a:ea typeface="Arial"/>
                <a:cs typeface="Arial"/>
              </a:defRPr>
            </a:defPPr>
            <a:lvl1pPr algn="r">
              <a:defRPr sz="1650" b="0">
                <a:solidFill>
                  <a:srgbClr val="707C88"/>
                </a:solidFill>
                <a:latin typeface="Arial"/>
                <a:ea typeface="Arial"/>
                <a:cs typeface="Arial"/>
              </a:defRPr>
            </a:lvl1pPr>
            <a:lvl2pPr algn="r">
              <a:defRPr sz="1650" b="0">
                <a:solidFill>
                  <a:srgbClr val="707C88"/>
                </a:solidFill>
                <a:latin typeface="Arial"/>
                <a:ea typeface="Arial"/>
                <a:cs typeface="Arial"/>
              </a:defRPr>
            </a:lvl2pPr>
            <a:lvl3pPr algn="r">
              <a:defRPr sz="1650" b="0">
                <a:solidFill>
                  <a:srgbClr val="707C88"/>
                </a:solidFill>
                <a:latin typeface="Arial"/>
                <a:ea typeface="Arial"/>
                <a:cs typeface="Arial"/>
              </a:defRPr>
            </a:lvl3pPr>
            <a:lvl4pPr algn="r">
              <a:defRPr sz="1650" b="0">
                <a:solidFill>
                  <a:srgbClr val="707C88"/>
                </a:solidFill>
                <a:latin typeface="Arial"/>
                <a:ea typeface="Arial"/>
                <a:cs typeface="Arial"/>
              </a:defRPr>
            </a:lvl4pPr>
            <a:lvl5pPr algn="r">
              <a:defRPr sz="1650" b="0">
                <a:solidFill>
                  <a:srgbClr val="707C88"/>
                </a:solidFill>
                <a:latin typeface="Arial"/>
                <a:ea typeface="Arial"/>
                <a:cs typeface="Arial"/>
              </a:defRPr>
            </a:lvl5pPr>
            <a:lvl6pPr algn="r">
              <a:defRPr sz="1650" b="0">
                <a:solidFill>
                  <a:srgbClr val="707C88"/>
                </a:solidFill>
                <a:latin typeface="Arial"/>
                <a:ea typeface="Arial"/>
                <a:cs typeface="Arial"/>
              </a:defRPr>
            </a:lvl6pPr>
            <a:lvl7pPr algn="r">
              <a:defRPr sz="1650" b="0">
                <a:solidFill>
                  <a:srgbClr val="707C88"/>
                </a:solidFill>
                <a:latin typeface="Arial"/>
                <a:ea typeface="Arial"/>
                <a:cs typeface="Arial"/>
              </a:defRPr>
            </a:lvl7pPr>
            <a:lvl8pPr algn="r">
              <a:defRPr sz="1650" b="0">
                <a:solidFill>
                  <a:srgbClr val="707C88"/>
                </a:solidFill>
                <a:latin typeface="Arial"/>
                <a:ea typeface="Arial"/>
                <a:cs typeface="Arial"/>
              </a:defRPr>
            </a:lvl8pPr>
            <a:lvl9pPr algn="r">
              <a:defRPr sz="1650" b="0">
                <a:solidFill>
                  <a:srgbClr val="707C88"/>
                </a:solidFill>
                <a:latin typeface="Arial"/>
                <a:ea typeface="Arial"/>
                <a:cs typeface="Arial"/>
              </a:defRPr>
            </a:lvl9pPr>
          </a:lstStyle>
          <a:p xmlns:a="http://schemas.openxmlformats.org/drawingml/2006/main">
            <a:pPr algn="r">
              <a:defRPr sz="1650" b="0">
                <a:solidFill>
                  <a:srgbClr val="707C88"/>
                </a:solidFill>
                <a:latin typeface="Arial"/>
                <a:ea typeface="Arial"/>
                <a:cs typeface="Arial"/>
              </a:defRPr>
            </a:pPr>
            <a:r>
              <a:rPr sz="1650" b="0">
                <a:solidFill>
                  <a:srgbClr val="707C88"/>
                </a:solidFill>
                <a:latin typeface="Arial"/>
                <a:ea typeface="Arial"/>
                <a:cs typeface="Arial"/>
              </a:rPr>
              <a:t>33 / 33</a:t>
            </a:r>
          </a:p>
        </p:txBody>
      </p:sp>
      <p:sp>
        <p:nvSpPr>
          <p:cNvPr id="20" name="!!nav.prev">
            <ns0:hlinkClick xmlns:ns0="http://schemas.openxmlformats.org/drawingml/2006/main" xmlns:ns1="http://schemas.openxmlformats.org/officeDocument/2006/relationships" ns1:id="rIdNavSlide32" action="ppaction://hlinksldjump" tooltip="Slide 32: Proposed implementation sequence"/>
            <a:extLst xmlns:a="http://schemas.openxmlformats.org/drawingml/2006/main">
              <a:ext uri="{FF2B5EF4-FFF2-40B4-BE49-F238E27FC236}">
                <a16:creationId xmlns:a16="http://schemas.microsoft.com/office/drawing/2014/main" id="{2A34B8B9-3C45-4B40-B685-8BD6D502D1F7}"/>
              </a:ext>
            </a:extLst>
          </p:cNvPr>
          <p:cNvSpPr>
            <a:spLocks xmlns:a="http://schemas.openxmlformats.org/drawingml/2006/main" noGrp="1"/>
          </p:cNvSpPr>
          <p:nvPr/>
        </p:nvSpPr>
        <p:spPr>
          <a:xfrm xmlns:a="http://schemas.openxmlformats.org/drawingml/2006/main">
            <a:off x="12287250" y="7496175"/>
            <a:ext cx="1047750" cy="457200"/>
          </a:xfrm>
          <a:prstGeom xmlns:a="http://schemas.openxmlformats.org/drawingml/2006/main" prst="rect">
            <a:avLst/>
          </a:prstGeom>
          <a:solidFill xmlns:a="http://schemas.openxmlformats.org/drawingml/2006/main">
            <a:srgbClr val="F3F7FA"/>
          </a: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1725" b="1">
                <a:solidFill>
                  <a:srgbClr val="005A9C"/>
                </a:solidFill>
                <a:latin typeface="Arial"/>
                <a:ea typeface="Arial"/>
                <a:cs typeface="Arial"/>
              </a:defRPr>
            </a:defPPr>
            <a:lvl1pPr algn="ctr">
              <a:defRPr sz="1725" b="1">
                <a:solidFill>
                  <a:srgbClr val="005A9C"/>
                </a:solidFill>
                <a:latin typeface="Arial"/>
                <a:ea typeface="Arial"/>
                <a:cs typeface="Arial"/>
              </a:defRPr>
            </a:lvl1pPr>
            <a:lvl2pPr algn="ctr">
              <a:defRPr sz="1725" b="1">
                <a:solidFill>
                  <a:srgbClr val="005A9C"/>
                </a:solidFill>
                <a:latin typeface="Arial"/>
                <a:ea typeface="Arial"/>
                <a:cs typeface="Arial"/>
              </a:defRPr>
            </a:lvl2pPr>
            <a:lvl3pPr algn="ctr">
              <a:defRPr sz="1725" b="1">
                <a:solidFill>
                  <a:srgbClr val="005A9C"/>
                </a:solidFill>
                <a:latin typeface="Arial"/>
                <a:ea typeface="Arial"/>
                <a:cs typeface="Arial"/>
              </a:defRPr>
            </a:lvl3pPr>
            <a:lvl4pPr algn="ctr">
              <a:defRPr sz="1725" b="1">
                <a:solidFill>
                  <a:srgbClr val="005A9C"/>
                </a:solidFill>
                <a:latin typeface="Arial"/>
                <a:ea typeface="Arial"/>
                <a:cs typeface="Arial"/>
              </a:defRPr>
            </a:lvl4pPr>
            <a:lvl5pPr algn="ctr">
              <a:defRPr sz="1725" b="1">
                <a:solidFill>
                  <a:srgbClr val="005A9C"/>
                </a:solidFill>
                <a:latin typeface="Arial"/>
                <a:ea typeface="Arial"/>
                <a:cs typeface="Arial"/>
              </a:defRPr>
            </a:lvl5pPr>
            <a:lvl6pPr algn="ctr">
              <a:defRPr sz="1725" b="1">
                <a:solidFill>
                  <a:srgbClr val="005A9C"/>
                </a:solidFill>
                <a:latin typeface="Arial"/>
                <a:ea typeface="Arial"/>
                <a:cs typeface="Arial"/>
              </a:defRPr>
            </a:lvl6pPr>
            <a:lvl7pPr algn="ctr">
              <a:defRPr sz="1725" b="1">
                <a:solidFill>
                  <a:srgbClr val="005A9C"/>
                </a:solidFill>
                <a:latin typeface="Arial"/>
                <a:ea typeface="Arial"/>
                <a:cs typeface="Arial"/>
              </a:defRPr>
            </a:lvl7pPr>
            <a:lvl8pPr algn="ctr">
              <a:defRPr sz="1725" b="1">
                <a:solidFill>
                  <a:srgbClr val="005A9C"/>
                </a:solidFill>
                <a:latin typeface="Arial"/>
                <a:ea typeface="Arial"/>
                <a:cs typeface="Arial"/>
              </a:defRPr>
            </a:lvl8pPr>
            <a:lvl9pPr algn="ctr">
              <a:defRPr sz="1725" b="1">
                <a:solidFill>
                  <a:srgbClr val="005A9C"/>
                </a:solidFill>
                <a:latin typeface="Arial"/>
                <a:ea typeface="Arial"/>
                <a:cs typeface="Arial"/>
              </a:defRPr>
            </a:lvl9pPr>
          </a:lstStyle>
          <a:p xmlns:a="http://schemas.openxmlformats.org/drawingml/2006/main">
            <a:pPr algn="ctr">
              <a:defRPr sz="1725" b="1">
                <a:solidFill>
                  <a:srgbClr val="005A9C"/>
                </a:solidFill>
                <a:latin typeface="Arial"/>
                <a:ea typeface="Arial"/>
                <a:cs typeface="Arial"/>
              </a:defRPr>
            </a:pPr>
            <a:r>
              <a:rPr sz="1725" b="1">
                <a:solidFill>
                  <a:srgbClr val="005A9C"/>
                </a:solidFill>
                <a:latin typeface="Arial"/>
                <a:ea typeface="Arial"/>
                <a:cs typeface="Arial"/>
              </a:rPr>
              <a:t>Back</a:t>
            </a:r>
          </a:p>
        </p:txBody>
      </p:sp>
      <p:sp>
        <p:nvSpPr>
          <p:cNvPr id="21" name="!!nav.next">
            <ns0:hlinkClick xmlns:ns0="http://schemas.openxmlformats.org/drawingml/2006/main" xmlns:ns1="http://schemas.openxmlformats.org/officeDocument/2006/relationships" ns1:id="rIdNavSlide3" action="ppaction://hlinksldjump" tooltip="Slide 3: Seven application areas across the firm"/>
            <a:extLst xmlns:a="http://schemas.openxmlformats.org/drawingml/2006/main">
              <a:ext uri="{FF2B5EF4-FFF2-40B4-BE49-F238E27FC236}">
                <a16:creationId xmlns:a16="http://schemas.microsoft.com/office/drawing/2014/main" id="{882DD485-5DF8-4352-B97C-CEC3E56C740F}"/>
              </a:ext>
            </a:extLst>
          </p:cNvPr>
          <p:cNvSpPr>
            <a:spLocks xmlns:a="http://schemas.openxmlformats.org/drawingml/2006/main" noGrp="1"/>
          </p:cNvSpPr>
          <p:nvPr/>
        </p:nvSpPr>
        <p:spPr>
          <a:xfrm xmlns:a="http://schemas.openxmlformats.org/drawingml/2006/main">
            <a:off x="13506450" y="7496175"/>
            <a:ext cx="1085850" cy="457200"/>
          </a:xfrm>
          <a:prstGeom xmlns:a="http://schemas.openxmlformats.org/drawingml/2006/main" prst="rect">
            <a:avLst/>
          </a:prstGeom>
          <a:solidFill xmlns:a="http://schemas.openxmlformats.org/drawingml/2006/main">
            <a:srgbClr val="005A9C"/>
          </a:solidFill>
          <a:ln xmlns:a="http://schemas.openxmlformats.org/drawingml/2006/main" w="0">
            <a:noFill/>
            <a:prstDash val="solid"/>
          </a:ln>
        </p:spPr>
        <p:txBody>
          <a:bodyPr xmlns:a="http://schemas.openxmlformats.org/drawingml/2006/main" wrap="square" lIns="57150" tIns="0" rIns="57150" bIns="0" anchor="ctr">
            <a:noAutofit/>
          </a:bodyPr>
          <a:lstStyle xmlns:a="http://schemas.openxmlformats.org/drawingml/2006/main">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Overview</a:t>
            </a:r>
          </a:p>
        </p:txBody>
      </p:sp>
      <p:sp>
        <p:nvSpPr>
          <p:cNvPr id="22" name="!!footer.rule">
            <a:extLst xmlns:a="http://schemas.openxmlformats.org/drawingml/2006/main">
              <a:ext uri="{FF2B5EF4-FFF2-40B4-BE49-F238E27FC236}">
                <a16:creationId xmlns:a16="http://schemas.microsoft.com/office/drawing/2014/main" id="{F5B5C89A-0EFF-41CE-B6FA-0794313AB2BF}"/>
              </a:ext>
            </a:extLst>
          </p:cNvPr>
          <p:cNvSpPr>
            <a:spLocks xmlns:a="http://schemas.openxmlformats.org/drawingml/2006/main" noGrp="1"/>
          </p:cNvSpPr>
          <p:nvPr/>
        </p:nvSpPr>
        <p:spPr>
          <a:xfrm xmlns:a="http://schemas.openxmlformats.org/drawingml/2006/main" flipH="0" flipV="0">
            <a:off x="647700" y="8134350"/>
            <a:ext cx="13944600" cy="953"/>
          </a:xfrm>
          <a:prstGeom xmlns:a="http://schemas.openxmlformats.org/drawingml/2006/main" prst="line">
            <a:avLst/>
          </a:prstGeom>
          <a:noFill xmlns:a="http://schemas.openxmlformats.org/drawingml/2006/main"/>
          <a:ln xmlns:a="http://schemas.openxmlformats.org/drawingml/2006/main" w="9525">
            <a:solidFill>
              <a:srgbClr val="BCC6CF"/>
            </a:solidFill>
            <a:prstDash val="solid"/>
          </a:ln>
        </p:spPr>
      </p:sp>
      <p:sp>
        <p:nvSpPr>
          <p:cNvPr id="23" name="!!source">
            <a:extLst xmlns:a="http://schemas.openxmlformats.org/drawingml/2006/main">
              <a:ext uri="{FF2B5EF4-FFF2-40B4-BE49-F238E27FC236}">
                <a16:creationId xmlns:a16="http://schemas.microsoft.com/office/drawing/2014/main" id="{BC518237-6A0A-4C4C-86CA-645258E627FF}"/>
              </a:ext>
            </a:extLst>
          </p:cNvPr>
          <p:cNvSpPr>
            <a:spLocks xmlns:a="http://schemas.openxmlformats.org/drawingml/2006/main" noGrp="1"/>
          </p:cNvSpPr>
          <p:nvPr/>
        </p:nvSpPr>
        <p:spPr>
          <a:xfrm xmlns:a="http://schemas.openxmlformats.org/drawingml/2006/main">
            <a:off x="647700" y="8267700"/>
            <a:ext cx="1394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07C88"/>
                </a:solidFill>
                <a:latin typeface="Arial"/>
                <a:ea typeface="Arial"/>
                <a:cs typeface="Arial"/>
              </a:defRPr>
            </a:defPPr>
            <a:lvl1pPr algn="l">
              <a:defRPr sz="1050" b="0">
                <a:solidFill>
                  <a:srgbClr val="707C88"/>
                </a:solidFill>
                <a:latin typeface="Arial"/>
                <a:ea typeface="Arial"/>
                <a:cs typeface="Arial"/>
              </a:defRPr>
            </a:lvl1pPr>
            <a:lvl2pPr algn="l">
              <a:defRPr sz="1050" b="0">
                <a:solidFill>
                  <a:srgbClr val="707C88"/>
                </a:solidFill>
                <a:latin typeface="Arial"/>
                <a:ea typeface="Arial"/>
                <a:cs typeface="Arial"/>
              </a:defRPr>
            </a:lvl2pPr>
            <a:lvl3pPr algn="l">
              <a:defRPr sz="1050" b="0">
                <a:solidFill>
                  <a:srgbClr val="707C88"/>
                </a:solidFill>
                <a:latin typeface="Arial"/>
                <a:ea typeface="Arial"/>
                <a:cs typeface="Arial"/>
              </a:defRPr>
            </a:lvl3pPr>
            <a:lvl4pPr algn="l">
              <a:defRPr sz="1050" b="0">
                <a:solidFill>
                  <a:srgbClr val="707C88"/>
                </a:solidFill>
                <a:latin typeface="Arial"/>
                <a:ea typeface="Arial"/>
                <a:cs typeface="Arial"/>
              </a:defRPr>
            </a:lvl4pPr>
            <a:lvl5pPr algn="l">
              <a:defRPr sz="1050" b="0">
                <a:solidFill>
                  <a:srgbClr val="707C88"/>
                </a:solidFill>
                <a:latin typeface="Arial"/>
                <a:ea typeface="Arial"/>
                <a:cs typeface="Arial"/>
              </a:defRPr>
            </a:lvl5pPr>
            <a:lvl6pPr algn="l">
              <a:defRPr sz="1050" b="0">
                <a:solidFill>
                  <a:srgbClr val="707C88"/>
                </a:solidFill>
                <a:latin typeface="Arial"/>
                <a:ea typeface="Arial"/>
                <a:cs typeface="Arial"/>
              </a:defRPr>
            </a:lvl6pPr>
            <a:lvl7pPr algn="l">
              <a:defRPr sz="1050" b="0">
                <a:solidFill>
                  <a:srgbClr val="707C88"/>
                </a:solidFill>
                <a:latin typeface="Arial"/>
                <a:ea typeface="Arial"/>
                <a:cs typeface="Arial"/>
              </a:defRPr>
            </a:lvl7pPr>
            <a:lvl8pPr algn="l">
              <a:defRPr sz="1050" b="0">
                <a:solidFill>
                  <a:srgbClr val="707C88"/>
                </a:solidFill>
                <a:latin typeface="Arial"/>
                <a:ea typeface="Arial"/>
                <a:cs typeface="Arial"/>
              </a:defRPr>
            </a:lvl8pPr>
            <a:lvl9pPr algn="l">
              <a:defRPr sz="1050" b="0">
                <a:solidFill>
                  <a:srgbClr val="707C88"/>
                </a:solidFill>
                <a:latin typeface="Arial"/>
                <a:ea typeface="Arial"/>
                <a:cs typeface="Arial"/>
              </a:defRPr>
            </a:lvl9pPr>
          </a:lstStyle>
          <a:p xmlns:a="http://schemas.openxmlformats.org/drawingml/2006/main">
            <a:r>
              <a:t/>
            </a:r>
          </a:p>
        </p:txBody>
      </p:sp>
      <p:sp>
        <p:nvSpPr>
          <p:cNvPr id="24" name="!!evaluation.main">
            <a:extLst xmlns:a="http://schemas.openxmlformats.org/drawingml/2006/main">
              <a:ext uri="{FF2B5EF4-FFF2-40B4-BE49-F238E27FC236}">
                <a16:creationId xmlns:a16="http://schemas.microsoft.com/office/drawing/2014/main" id="{14A53AC5-37CB-43D0-919F-9E08BD81D091}"/>
              </a:ext>
            </a:extLst>
          </p:cNvPr>
          <p:cNvSpPr>
            <a:spLocks xmlns:a="http://schemas.openxmlformats.org/drawingml/2006/main" noGrp="1"/>
          </p:cNvSpPr>
          <p:nvPr/>
        </p:nvSpPr>
        <p:spPr>
          <a:xfrm xmlns:a="http://schemas.openxmlformats.org/drawingml/2006/main">
            <a:off x="4057650" y="2133600"/>
            <a:ext cx="1053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5A9C"/>
                </a:solidFill>
                <a:latin typeface="Arial"/>
                <a:ea typeface="Arial"/>
                <a:cs typeface="Arial"/>
              </a:defRPr>
            </a:defPPr>
            <a:lvl1pPr algn="l">
              <a:defRPr sz="2625" b="1">
                <a:solidFill>
                  <a:srgbClr val="005A9C"/>
                </a:solidFill>
                <a:latin typeface="Arial"/>
                <a:ea typeface="Arial"/>
                <a:cs typeface="Arial"/>
              </a:defRPr>
            </a:lvl1pPr>
            <a:lvl2pPr algn="l">
              <a:defRPr sz="2625" b="1">
                <a:solidFill>
                  <a:srgbClr val="005A9C"/>
                </a:solidFill>
                <a:latin typeface="Arial"/>
                <a:ea typeface="Arial"/>
                <a:cs typeface="Arial"/>
              </a:defRPr>
            </a:lvl2pPr>
            <a:lvl3pPr algn="l">
              <a:defRPr sz="2625" b="1">
                <a:solidFill>
                  <a:srgbClr val="005A9C"/>
                </a:solidFill>
                <a:latin typeface="Arial"/>
                <a:ea typeface="Arial"/>
                <a:cs typeface="Arial"/>
              </a:defRPr>
            </a:lvl3pPr>
            <a:lvl4pPr algn="l">
              <a:defRPr sz="2625" b="1">
                <a:solidFill>
                  <a:srgbClr val="005A9C"/>
                </a:solidFill>
                <a:latin typeface="Arial"/>
                <a:ea typeface="Arial"/>
                <a:cs typeface="Arial"/>
              </a:defRPr>
            </a:lvl4pPr>
            <a:lvl5pPr algn="l">
              <a:defRPr sz="2625" b="1">
                <a:solidFill>
                  <a:srgbClr val="005A9C"/>
                </a:solidFill>
                <a:latin typeface="Arial"/>
                <a:ea typeface="Arial"/>
                <a:cs typeface="Arial"/>
              </a:defRPr>
            </a:lvl5pPr>
            <a:lvl6pPr algn="l">
              <a:defRPr sz="2625" b="1">
                <a:solidFill>
                  <a:srgbClr val="005A9C"/>
                </a:solidFill>
                <a:latin typeface="Arial"/>
                <a:ea typeface="Arial"/>
                <a:cs typeface="Arial"/>
              </a:defRPr>
            </a:lvl6pPr>
            <a:lvl7pPr algn="l">
              <a:defRPr sz="2625" b="1">
                <a:solidFill>
                  <a:srgbClr val="005A9C"/>
                </a:solidFill>
                <a:latin typeface="Arial"/>
                <a:ea typeface="Arial"/>
                <a:cs typeface="Arial"/>
              </a:defRPr>
            </a:lvl7pPr>
            <a:lvl8pPr algn="l">
              <a:defRPr sz="2625" b="1">
                <a:solidFill>
                  <a:srgbClr val="005A9C"/>
                </a:solidFill>
                <a:latin typeface="Arial"/>
                <a:ea typeface="Arial"/>
                <a:cs typeface="Arial"/>
              </a:defRPr>
            </a:lvl8pPr>
            <a:lvl9pPr algn="l">
              <a:defRPr sz="2625" b="1">
                <a:solidFill>
                  <a:srgbClr val="005A9C"/>
                </a:solidFill>
                <a:latin typeface="Arial"/>
                <a:ea typeface="Arial"/>
                <a:cs typeface="Arial"/>
              </a:defRPr>
            </a:lvl9pPr>
          </a:lstStyle>
          <a:p xmlns:a="http://schemas.openxmlformats.org/drawingml/2006/main">
            <a:pPr algn="l">
              <a:defRPr sz="2625" b="1">
                <a:solidFill>
                  <a:srgbClr val="005A9C"/>
                </a:solidFill>
                <a:latin typeface="Arial"/>
                <a:ea typeface="Arial"/>
                <a:cs typeface="Arial"/>
              </a:defRPr>
            </a:pPr>
            <a:r>
              <a:rPr sz="2625" b="1">
                <a:solidFill>
                  <a:srgbClr val="005A9C"/>
                </a:solidFill>
                <a:latin typeface="Arial"/>
                <a:ea typeface="Arial"/>
                <a:cs typeface="Arial"/>
              </a:rPr>
              <a:t>Initial focus: research and client communications</a:t>
            </a:r>
          </a:p>
        </p:txBody>
      </p:sp>
      <p:sp>
        <p:nvSpPr>
          <p:cNvPr id="25" name="!!evaluation.flow.0">
            <a:extLst xmlns:a="http://schemas.openxmlformats.org/drawingml/2006/main">
              <a:ext uri="{FF2B5EF4-FFF2-40B4-BE49-F238E27FC236}">
                <a16:creationId xmlns:a16="http://schemas.microsoft.com/office/drawing/2014/main" id="{39E2447B-AF31-4D46-9C5D-BB870D98D2FE}"/>
              </a:ext>
            </a:extLst>
          </p:cNvPr>
          <p:cNvSpPr>
            <a:spLocks xmlns:a="http://schemas.openxmlformats.org/drawingml/2006/main" noGrp="1"/>
          </p:cNvSpPr>
          <p:nvPr/>
        </p:nvSpPr>
        <p:spPr>
          <a:xfrm xmlns:a="http://schemas.openxmlformats.org/drawingml/2006/main">
            <a:off x="4057650"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Establish a baseline</a:t>
            </a:r>
          </a:p>
        </p:txBody>
      </p:sp>
      <p:sp>
        <p:nvSpPr>
          <p:cNvPr id="26" name="!!evaluation.flow.link0.line">
            <a:extLst xmlns:a="http://schemas.openxmlformats.org/drawingml/2006/main">
              <a:ext uri="{FF2B5EF4-FFF2-40B4-BE49-F238E27FC236}">
                <a16:creationId xmlns:a16="http://schemas.microsoft.com/office/drawing/2014/main" id="{E922DCFA-66D9-4284-A6D0-65C8D2EFB7B7}"/>
              </a:ext>
            </a:extLst>
          </p:cNvPr>
          <p:cNvSpPr>
            <a:spLocks xmlns:a="http://schemas.openxmlformats.org/drawingml/2006/main" noGrp="1"/>
          </p:cNvSpPr>
          <p:nvPr/>
        </p:nvSpPr>
        <p:spPr>
          <a:xfrm xmlns:a="http://schemas.openxmlformats.org/drawingml/2006/main" flipH="0" flipV="0">
            <a:off x="6479381"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27" name="!!evaluation.flow.link0.tip">
            <a:extLst xmlns:a="http://schemas.openxmlformats.org/drawingml/2006/main">
              <a:ext uri="{FF2B5EF4-FFF2-40B4-BE49-F238E27FC236}">
                <a16:creationId xmlns:a16="http://schemas.microsoft.com/office/drawing/2014/main" id="{FCB11886-E159-4C6A-B3D3-6D315B965B78}"/>
              </a:ext>
            </a:extLst>
          </p:cNvPr>
          <p:cNvSpPr>
            <a:spLocks xmlns:a="http://schemas.openxmlformats.org/drawingml/2006/main" noGrp="1"/>
          </p:cNvSpPr>
          <p:nvPr/>
        </p:nvSpPr>
        <p:spPr>
          <a:xfrm xmlns:a="http://schemas.openxmlformats.org/drawingml/2006/main" rot="5400000">
            <a:off x="6631781"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28" name="!!evaluation.flow.1">
            <a:extLst xmlns:a="http://schemas.openxmlformats.org/drawingml/2006/main">
              <a:ext uri="{FF2B5EF4-FFF2-40B4-BE49-F238E27FC236}">
                <a16:creationId xmlns:a16="http://schemas.microsoft.com/office/drawing/2014/main" id="{0A4A9B83-C98D-45BB-94CB-1A476FB5DE68}"/>
              </a:ext>
            </a:extLst>
          </p:cNvPr>
          <p:cNvSpPr>
            <a:spLocks xmlns:a="http://schemas.openxmlformats.org/drawingml/2006/main" noGrp="1"/>
          </p:cNvSpPr>
          <p:nvPr/>
        </p:nvSpPr>
        <p:spPr>
          <a:xfrm xmlns:a="http://schemas.openxmlformats.org/drawingml/2006/main">
            <a:off x="6774656"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Use the application</a:t>
            </a:r>
          </a:p>
        </p:txBody>
      </p:sp>
      <p:sp>
        <p:nvSpPr>
          <p:cNvPr id="29" name="!!evaluation.flow.link1.line">
            <a:extLst xmlns:a="http://schemas.openxmlformats.org/drawingml/2006/main">
              <a:ext uri="{FF2B5EF4-FFF2-40B4-BE49-F238E27FC236}">
                <a16:creationId xmlns:a16="http://schemas.microsoft.com/office/drawing/2014/main" id="{F93B01BB-2859-43E5-821E-39F17D47B50F}"/>
              </a:ext>
            </a:extLst>
          </p:cNvPr>
          <p:cNvSpPr>
            <a:spLocks xmlns:a="http://schemas.openxmlformats.org/drawingml/2006/main" noGrp="1"/>
          </p:cNvSpPr>
          <p:nvPr/>
        </p:nvSpPr>
        <p:spPr>
          <a:xfrm xmlns:a="http://schemas.openxmlformats.org/drawingml/2006/main" flipH="0" flipV="0">
            <a:off x="9196388"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0" name="!!evaluation.flow.link1.tip">
            <a:extLst xmlns:a="http://schemas.openxmlformats.org/drawingml/2006/main">
              <a:ext uri="{FF2B5EF4-FFF2-40B4-BE49-F238E27FC236}">
                <a16:creationId xmlns:a16="http://schemas.microsoft.com/office/drawing/2014/main" id="{2010766D-B83F-469A-9045-8D099CFB1533}"/>
              </a:ext>
            </a:extLst>
          </p:cNvPr>
          <p:cNvSpPr>
            <a:spLocks xmlns:a="http://schemas.openxmlformats.org/drawingml/2006/main" noGrp="1"/>
          </p:cNvSpPr>
          <p:nvPr/>
        </p:nvSpPr>
        <p:spPr>
          <a:xfrm xmlns:a="http://schemas.openxmlformats.org/drawingml/2006/main" rot="5400000">
            <a:off x="9348788"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1" name="!!evaluation.flow.2">
            <a:extLst xmlns:a="http://schemas.openxmlformats.org/drawingml/2006/main">
              <a:ext uri="{FF2B5EF4-FFF2-40B4-BE49-F238E27FC236}">
                <a16:creationId xmlns:a16="http://schemas.microsoft.com/office/drawing/2014/main" id="{CFCC68A9-1E19-4402-845A-F4114599FDDC}"/>
              </a:ext>
            </a:extLst>
          </p:cNvPr>
          <p:cNvSpPr>
            <a:spLocks xmlns:a="http://schemas.openxmlformats.org/drawingml/2006/main" noGrp="1"/>
          </p:cNvSpPr>
          <p:nvPr/>
        </p:nvSpPr>
        <p:spPr>
          <a:xfrm xmlns:a="http://schemas.openxmlformats.org/drawingml/2006/main">
            <a:off x="9491663"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Record results</a:t>
            </a:r>
          </a:p>
        </p:txBody>
      </p:sp>
      <p:sp>
        <p:nvSpPr>
          <p:cNvPr id="32" name="!!evaluation.flow.link2.line">
            <a:extLst xmlns:a="http://schemas.openxmlformats.org/drawingml/2006/main">
              <a:ext uri="{FF2B5EF4-FFF2-40B4-BE49-F238E27FC236}">
                <a16:creationId xmlns:a16="http://schemas.microsoft.com/office/drawing/2014/main" id="{CE1C9824-4240-472B-9D84-7D24310E508D}"/>
              </a:ext>
            </a:extLst>
          </p:cNvPr>
          <p:cNvSpPr>
            <a:spLocks xmlns:a="http://schemas.openxmlformats.org/drawingml/2006/main" noGrp="1"/>
          </p:cNvSpPr>
          <p:nvPr/>
        </p:nvSpPr>
        <p:spPr>
          <a:xfrm xmlns:a="http://schemas.openxmlformats.org/drawingml/2006/main" flipH="0" flipV="0">
            <a:off x="11913394" y="3719513"/>
            <a:ext cx="209550" cy="953"/>
          </a:xfrm>
          <a:prstGeom xmlns:a="http://schemas.openxmlformats.org/drawingml/2006/main" prst="line">
            <a:avLst/>
          </a:prstGeom>
          <a:noFill xmlns:a="http://schemas.openxmlformats.org/drawingml/2006/main"/>
          <a:ln xmlns:a="http://schemas.openxmlformats.org/drawingml/2006/main" w="19050">
            <a:solidFill>
              <a:srgbClr val="005A9C"/>
            </a:solidFill>
            <a:prstDash val="solid"/>
          </a:ln>
        </p:spPr>
      </p:sp>
      <p:sp>
        <p:nvSpPr>
          <p:cNvPr id="33" name="!!evaluation.flow.link2.tip">
            <a:extLst xmlns:a="http://schemas.openxmlformats.org/drawingml/2006/main">
              <a:ext uri="{FF2B5EF4-FFF2-40B4-BE49-F238E27FC236}">
                <a16:creationId xmlns:a16="http://schemas.microsoft.com/office/drawing/2014/main" id="{AA385DE2-1886-424D-B8C8-7F2AC92B8E73}"/>
              </a:ext>
            </a:extLst>
          </p:cNvPr>
          <p:cNvSpPr>
            <a:spLocks xmlns:a="http://schemas.openxmlformats.org/drawingml/2006/main" noGrp="1"/>
          </p:cNvSpPr>
          <p:nvPr/>
        </p:nvSpPr>
        <p:spPr>
          <a:xfrm xmlns:a="http://schemas.openxmlformats.org/drawingml/2006/main" rot="5400000">
            <a:off x="12065794" y="3662363"/>
            <a:ext cx="114300" cy="114300"/>
          </a:xfrm>
          <a:prstGeom xmlns:a="http://schemas.openxmlformats.org/drawingml/2006/main" prst="triangle">
            <a:avLst/>
          </a:prstGeom>
          <a:solidFill xmlns:a="http://schemas.openxmlformats.org/drawingml/2006/main">
            <a:srgbClr val="005A9C"/>
          </a:solidFill>
          <a:ln xmlns:a="http://schemas.openxmlformats.org/drawingml/2006/main" w="0">
            <a:noFill/>
          </a:ln>
        </p:spPr>
      </p:sp>
      <p:sp>
        <p:nvSpPr>
          <p:cNvPr id="34" name="!!evaluation.flow.3">
            <a:extLst xmlns:a="http://schemas.openxmlformats.org/drawingml/2006/main">
              <a:ext uri="{FF2B5EF4-FFF2-40B4-BE49-F238E27FC236}">
                <a16:creationId xmlns:a16="http://schemas.microsoft.com/office/drawing/2014/main" id="{B1C2D01E-854D-4D49-BFAD-093F574A4D99}"/>
              </a:ext>
            </a:extLst>
          </p:cNvPr>
          <p:cNvSpPr>
            <a:spLocks xmlns:a="http://schemas.openxmlformats.org/drawingml/2006/main" noGrp="1"/>
          </p:cNvSpPr>
          <p:nvPr/>
        </p:nvSpPr>
        <p:spPr>
          <a:xfrm xmlns:a="http://schemas.openxmlformats.org/drawingml/2006/main">
            <a:off x="12208669" y="3286125"/>
            <a:ext cx="2383631" cy="866775"/>
          </a:xfrm>
          <a:prstGeom xmlns:a="http://schemas.openxmlformats.org/drawingml/2006/main" prst="rect">
            <a:avLst/>
          </a:prstGeom>
          <ns0:solidFill xmlns:ns0="http://schemas.openxmlformats.org/drawingml/2006/main">
            <ns0:srgbClr val="F3F7FA"/>
          </ns0:solidFill>
          <a:ln xmlns:a="http://schemas.openxmlformats.org/drawingml/2006/main" w="0">
            <a:noFill/>
            <a:prstDash val="solid"/>
          </a:ln>
        </p:spPr>
        <p:txBody>
          <a:bodyPr xmlns:a="http://schemas.openxmlformats.org/drawingml/2006/main" wrap="square" lIns="114300" tIns="0" rIns="114300" bIns="0" anchor="ctr">
            <a:noAutofit/>
          </a:bodyPr>
          <a:lstStyle xmlns:a="http://schemas.openxmlformats.org/drawingml/2006/main">
            <a:defPPr algn="ctr">
              <a:defRPr sz="2025" b="1">
                <a:solidFill>
                  <a:srgbClr val="20262C"/>
                </a:solidFill>
                <a:latin typeface="Arial"/>
                <a:ea typeface="Arial"/>
                <a:cs typeface="Arial"/>
              </a:defRPr>
            </a:defPPr>
            <a:lvl1pPr algn="ctr">
              <a:defRPr sz="2025" b="1">
                <a:solidFill>
                  <a:srgbClr val="20262C"/>
                </a:solidFill>
                <a:latin typeface="Arial"/>
                <a:ea typeface="Arial"/>
                <a:cs typeface="Arial"/>
              </a:defRPr>
            </a:lvl1pPr>
            <a:lvl2pPr algn="ctr">
              <a:defRPr sz="2025" b="1">
                <a:solidFill>
                  <a:srgbClr val="20262C"/>
                </a:solidFill>
                <a:latin typeface="Arial"/>
                <a:ea typeface="Arial"/>
                <a:cs typeface="Arial"/>
              </a:defRPr>
            </a:lvl2pPr>
            <a:lvl3pPr algn="ctr">
              <a:defRPr sz="2025" b="1">
                <a:solidFill>
                  <a:srgbClr val="20262C"/>
                </a:solidFill>
                <a:latin typeface="Arial"/>
                <a:ea typeface="Arial"/>
                <a:cs typeface="Arial"/>
              </a:defRPr>
            </a:lvl3pPr>
            <a:lvl4pPr algn="ctr">
              <a:defRPr sz="2025" b="1">
                <a:solidFill>
                  <a:srgbClr val="20262C"/>
                </a:solidFill>
                <a:latin typeface="Arial"/>
                <a:ea typeface="Arial"/>
                <a:cs typeface="Arial"/>
              </a:defRPr>
            </a:lvl4pPr>
            <a:lvl5pPr algn="ctr">
              <a:defRPr sz="2025" b="1">
                <a:solidFill>
                  <a:srgbClr val="20262C"/>
                </a:solidFill>
                <a:latin typeface="Arial"/>
                <a:ea typeface="Arial"/>
                <a:cs typeface="Arial"/>
              </a:defRPr>
            </a:lvl5pPr>
            <a:lvl6pPr algn="ctr">
              <a:defRPr sz="2025" b="1">
                <a:solidFill>
                  <a:srgbClr val="20262C"/>
                </a:solidFill>
                <a:latin typeface="Arial"/>
                <a:ea typeface="Arial"/>
                <a:cs typeface="Arial"/>
              </a:defRPr>
            </a:lvl6pPr>
            <a:lvl7pPr algn="ctr">
              <a:defRPr sz="2025" b="1">
                <a:solidFill>
                  <a:srgbClr val="20262C"/>
                </a:solidFill>
                <a:latin typeface="Arial"/>
                <a:ea typeface="Arial"/>
                <a:cs typeface="Arial"/>
              </a:defRPr>
            </a:lvl7pPr>
            <a:lvl8pPr algn="ctr">
              <a:defRPr sz="2025" b="1">
                <a:solidFill>
                  <a:srgbClr val="20262C"/>
                </a:solidFill>
                <a:latin typeface="Arial"/>
                <a:ea typeface="Arial"/>
                <a:cs typeface="Arial"/>
              </a:defRPr>
            </a:lvl8pPr>
            <a:lvl9pPr algn="ctr">
              <a:defRPr sz="2025" b="1">
                <a:solidFill>
                  <a:srgbClr val="20262C"/>
                </a:solidFill>
                <a:latin typeface="Arial"/>
                <a:ea typeface="Arial"/>
                <a:cs typeface="Arial"/>
              </a:defRPr>
            </a:lvl9pPr>
          </a:lstStyle>
          <a:p xmlns:a="http://schemas.openxmlformats.org/drawingml/2006/main">
            <a:pPr algn="ctr">
              <a:defRPr sz="2025" b="1">
                <a:solidFill>
                  <a:srgbClr val="20262C"/>
                </a:solidFill>
                <a:latin typeface="Arial"/>
                <a:ea typeface="Arial"/>
                <a:cs typeface="Arial"/>
              </a:defRPr>
            </a:pPr>
            <a:r>
              <a:rPr sz="2025" b="1">
                <a:solidFill>
                  <a:srgbClr val="20262C"/>
                </a:solidFill>
                <a:latin typeface="Arial"/>
                <a:ea typeface="Arial"/>
                <a:cs typeface="Arial"/>
              </a:rPr>
              <a:t>Refine the workflow</a:t>
            </a:r>
          </a:p>
        </p:txBody>
      </p:sp>
      <p:sp>
        <p:nvSpPr>
          <p:cNvPr id="35" name="!!evaluation.0.title">
            <a:extLst xmlns:a="http://schemas.openxmlformats.org/drawingml/2006/main">
              <a:ext uri="{FF2B5EF4-FFF2-40B4-BE49-F238E27FC236}">
                <a16:creationId xmlns:a16="http://schemas.microsoft.com/office/drawing/2014/main" id="{043CFC54-6227-4FF8-B1F3-366BEC20524C}"/>
              </a:ext>
            </a:extLst>
          </p:cNvPr>
          <p:cNvSpPr>
            <a:spLocks xmlns:a="http://schemas.openxmlformats.org/drawingml/2006/main" noGrp="1"/>
          </p:cNvSpPr>
          <p:nvPr/>
        </p:nvSpPr>
        <p:spPr>
          <a:xfrm xmlns:a="http://schemas.openxmlformats.org/drawingml/2006/main">
            <a:off x="4057650" y="47815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Task completion time</a:t>
            </a:r>
          </a:p>
        </p:txBody>
      </p:sp>
      <p:sp>
        <p:nvSpPr>
          <p:cNvPr id="36" name="!!evaluation.0.body">
            <a:extLst xmlns:a="http://schemas.openxmlformats.org/drawingml/2006/main">
              <a:ext uri="{FF2B5EF4-FFF2-40B4-BE49-F238E27FC236}">
                <a16:creationId xmlns:a16="http://schemas.microsoft.com/office/drawing/2014/main" id="{8F6A44EB-9549-4DB1-A687-97818BDFBDB6}"/>
              </a:ext>
            </a:extLst>
          </p:cNvPr>
          <p:cNvSpPr>
            <a:spLocks xmlns:a="http://schemas.openxmlformats.org/drawingml/2006/main" noGrp="1"/>
          </p:cNvSpPr>
          <p:nvPr/>
        </p:nvSpPr>
        <p:spPr>
          <a:xfrm xmlns:a="http://schemas.openxmlformats.org/drawingml/2006/main">
            <a:off x="4057650" y="5238750"/>
            <a:ext cx="5095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Time from starting the task</a:t>
            </a:r>
          </a:p>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to completing the output</a:t>
            </a:r>
          </a:p>
        </p:txBody>
      </p:sp>
      <p:sp>
        <p:nvSpPr>
          <p:cNvPr id="37" name="!!evaluation.1.title">
            <a:extLst xmlns:a="http://schemas.openxmlformats.org/drawingml/2006/main">
              <a:ext uri="{FF2B5EF4-FFF2-40B4-BE49-F238E27FC236}">
                <a16:creationId xmlns:a16="http://schemas.microsoft.com/office/drawing/2014/main" id="{2E8A7213-3FCF-42D7-8BE4-F3F735C657F2}"/>
              </a:ext>
            </a:extLst>
          </p:cNvPr>
          <p:cNvSpPr>
            <a:spLocks xmlns:a="http://schemas.openxmlformats.org/drawingml/2006/main" noGrp="1"/>
          </p:cNvSpPr>
          <p:nvPr/>
        </p:nvSpPr>
        <p:spPr>
          <a:xfrm xmlns:a="http://schemas.openxmlformats.org/drawingml/2006/main">
            <a:off x="9496425" y="47815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Use of outputs</a:t>
            </a:r>
          </a:p>
        </p:txBody>
      </p:sp>
      <p:sp>
        <p:nvSpPr>
          <p:cNvPr id="38" name="!!evaluation.1.body">
            <a:extLst xmlns:a="http://schemas.openxmlformats.org/drawingml/2006/main">
              <a:ext uri="{FF2B5EF4-FFF2-40B4-BE49-F238E27FC236}">
                <a16:creationId xmlns:a16="http://schemas.microsoft.com/office/drawing/2014/main" id="{1FAFA454-7859-4ED8-9E94-73E48BB8D8F1}"/>
              </a:ext>
            </a:extLst>
          </p:cNvPr>
          <p:cNvSpPr>
            <a:spLocks xmlns:a="http://schemas.openxmlformats.org/drawingml/2006/main" noGrp="1"/>
          </p:cNvSpPr>
          <p:nvPr/>
        </p:nvSpPr>
        <p:spPr>
          <a:xfrm xmlns:a="http://schemas.openxmlformats.org/drawingml/2006/main">
            <a:off x="9496425" y="5238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Whether teams use the analysis and materials</a:t>
            </a:r>
          </a:p>
        </p:txBody>
      </p:sp>
      <p:sp>
        <p:nvSpPr>
          <p:cNvPr id="39" name="!!evaluation.2.title">
            <a:extLst xmlns:a="http://schemas.openxmlformats.org/drawingml/2006/main">
              <a:ext uri="{FF2B5EF4-FFF2-40B4-BE49-F238E27FC236}">
                <a16:creationId xmlns:a16="http://schemas.microsoft.com/office/drawing/2014/main" id="{E6A48D5D-1A45-4C50-B110-ED0F01BA41BB}"/>
              </a:ext>
            </a:extLst>
          </p:cNvPr>
          <p:cNvSpPr>
            <a:spLocks xmlns:a="http://schemas.openxmlformats.org/drawingml/2006/main" noGrp="1"/>
          </p:cNvSpPr>
          <p:nvPr/>
        </p:nvSpPr>
        <p:spPr>
          <a:xfrm xmlns:a="http://schemas.openxmlformats.org/drawingml/2006/main">
            <a:off x="4057650" y="60388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Rework</a:t>
            </a:r>
          </a:p>
        </p:txBody>
      </p:sp>
      <p:sp>
        <p:nvSpPr>
          <p:cNvPr id="40" name="!!evaluation.2.body">
            <a:extLst xmlns:a="http://schemas.openxmlformats.org/drawingml/2006/main">
              <a:ext uri="{FF2B5EF4-FFF2-40B4-BE49-F238E27FC236}">
                <a16:creationId xmlns:a16="http://schemas.microsoft.com/office/drawing/2014/main" id="{9070DDE3-07CF-4493-8CE7-619C80DF8B2A}"/>
              </a:ext>
            </a:extLst>
          </p:cNvPr>
          <p:cNvSpPr>
            <a:spLocks xmlns:a="http://schemas.openxmlformats.org/drawingml/2006/main" noGrp="1"/>
          </p:cNvSpPr>
          <p:nvPr/>
        </p:nvSpPr>
        <p:spPr>
          <a:xfrm xmlns:a="http://schemas.openxmlformats.org/drawingml/2006/main">
            <a:off x="4057650" y="64960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707C88"/>
                </a:solidFill>
                <a:latin typeface="Arial"/>
                <a:ea typeface="Arial"/>
                <a:cs typeface="Arial"/>
              </a:defRPr>
            </a:defPPr>
            <a:lvl1pPr algn="l">
              <a:defRPr sz="1950" b="0">
                <a:solidFill>
                  <a:srgbClr val="707C88"/>
                </a:solidFill>
                <a:latin typeface="Arial"/>
                <a:ea typeface="Arial"/>
                <a:cs typeface="Arial"/>
              </a:defRPr>
            </a:lvl1pPr>
            <a:lvl2pPr algn="l">
              <a:defRPr sz="1950" b="0">
                <a:solidFill>
                  <a:srgbClr val="707C88"/>
                </a:solidFill>
                <a:latin typeface="Arial"/>
                <a:ea typeface="Arial"/>
                <a:cs typeface="Arial"/>
              </a:defRPr>
            </a:lvl2pPr>
            <a:lvl3pPr algn="l">
              <a:defRPr sz="1950" b="0">
                <a:solidFill>
                  <a:srgbClr val="707C88"/>
                </a:solidFill>
                <a:latin typeface="Arial"/>
                <a:ea typeface="Arial"/>
                <a:cs typeface="Arial"/>
              </a:defRPr>
            </a:lvl3pPr>
            <a:lvl4pPr algn="l">
              <a:defRPr sz="1950" b="0">
                <a:solidFill>
                  <a:srgbClr val="707C88"/>
                </a:solidFill>
                <a:latin typeface="Arial"/>
                <a:ea typeface="Arial"/>
                <a:cs typeface="Arial"/>
              </a:defRPr>
            </a:lvl4pPr>
            <a:lvl5pPr algn="l">
              <a:defRPr sz="1950" b="0">
                <a:solidFill>
                  <a:srgbClr val="707C88"/>
                </a:solidFill>
                <a:latin typeface="Arial"/>
                <a:ea typeface="Arial"/>
                <a:cs typeface="Arial"/>
              </a:defRPr>
            </a:lvl5pPr>
            <a:lvl6pPr algn="l">
              <a:defRPr sz="1950" b="0">
                <a:solidFill>
                  <a:srgbClr val="707C88"/>
                </a:solidFill>
                <a:latin typeface="Arial"/>
                <a:ea typeface="Arial"/>
                <a:cs typeface="Arial"/>
              </a:defRPr>
            </a:lvl6pPr>
            <a:lvl7pPr algn="l">
              <a:defRPr sz="1950" b="0">
                <a:solidFill>
                  <a:srgbClr val="707C88"/>
                </a:solidFill>
                <a:latin typeface="Arial"/>
                <a:ea typeface="Arial"/>
                <a:cs typeface="Arial"/>
              </a:defRPr>
            </a:lvl7pPr>
            <a:lvl8pPr algn="l">
              <a:defRPr sz="1950" b="0">
                <a:solidFill>
                  <a:srgbClr val="707C88"/>
                </a:solidFill>
                <a:latin typeface="Arial"/>
                <a:ea typeface="Arial"/>
                <a:cs typeface="Arial"/>
              </a:defRPr>
            </a:lvl8pPr>
            <a:lvl9pPr algn="l">
              <a:defRPr sz="1950" b="0">
                <a:solidFill>
                  <a:srgbClr val="707C88"/>
                </a:solidFill>
                <a:latin typeface="Arial"/>
                <a:ea typeface="Arial"/>
                <a:cs typeface="Arial"/>
              </a:defRPr>
            </a:lvl9pPr>
          </a:lstStyle>
          <a:p xmlns:a="http://schemas.openxmlformats.org/drawingml/2006/main">
            <a:pPr algn="l">
              <a:defRPr sz="1950" b="0">
                <a:solidFill>
                  <a:srgbClr val="707C88"/>
                </a:solidFill>
                <a:latin typeface="Arial"/>
                <a:ea typeface="Arial"/>
                <a:cs typeface="Arial"/>
              </a:defRPr>
            </a:pPr>
            <a:r>
              <a:rPr sz="1950" b="0">
                <a:solidFill>
                  <a:srgbClr val="707C88"/>
                </a:solidFill>
                <a:latin typeface="Arial"/>
                <a:ea typeface="Arial"/>
                <a:cs typeface="Arial"/>
              </a:rPr>
              <a:t>Revision rounds and repeated checks</a:t>
            </a:r>
          </a:p>
        </p:txBody>
      </p:sp>
      <p:sp>
        <p:nvSpPr>
          <p:cNvPr id="41" name="!!evaluation.3.title">
            <a:extLst xmlns:a="http://schemas.openxmlformats.org/drawingml/2006/main">
              <a:ext uri="{FF2B5EF4-FFF2-40B4-BE49-F238E27FC236}">
                <a16:creationId xmlns:a16="http://schemas.microsoft.com/office/drawing/2014/main" id="{6A250790-881E-439C-8DBE-00299794CC69}"/>
              </a:ext>
            </a:extLst>
          </p:cNvPr>
          <p:cNvSpPr>
            <a:spLocks xmlns:a="http://schemas.openxmlformats.org/drawingml/2006/main" noGrp="1"/>
          </p:cNvSpPr>
          <p:nvPr/>
        </p:nvSpPr>
        <p:spPr>
          <a:xfrm xmlns:a="http://schemas.openxmlformats.org/drawingml/2006/main">
            <a:off x="9496425" y="60388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5A9C"/>
                </a:solidFill>
                <a:latin typeface="Arial"/>
                <a:ea typeface="Arial"/>
                <a:cs typeface="Arial"/>
              </a:defRPr>
            </a:defPPr>
            <a:lvl1pPr algn="l">
              <a:defRPr sz="2175" b="1">
                <a:solidFill>
                  <a:srgbClr val="005A9C"/>
                </a:solidFill>
                <a:latin typeface="Arial"/>
                <a:ea typeface="Arial"/>
                <a:cs typeface="Arial"/>
              </a:defRPr>
            </a:lvl1pPr>
            <a:lvl2pPr algn="l">
              <a:defRPr sz="2175" b="1">
                <a:solidFill>
                  <a:srgbClr val="005A9C"/>
                </a:solidFill>
                <a:latin typeface="Arial"/>
                <a:ea typeface="Arial"/>
                <a:cs typeface="Arial"/>
              </a:defRPr>
            </a:lvl2pPr>
            <a:lvl3pPr algn="l">
              <a:defRPr sz="2175" b="1">
                <a:solidFill>
                  <a:srgbClr val="005A9C"/>
                </a:solidFill>
                <a:latin typeface="Arial"/>
                <a:ea typeface="Arial"/>
                <a:cs typeface="Arial"/>
              </a:defRPr>
            </a:lvl3pPr>
            <a:lvl4pPr algn="l">
              <a:defRPr sz="2175" b="1">
                <a:solidFill>
                  <a:srgbClr val="005A9C"/>
                </a:solidFill>
                <a:latin typeface="Arial"/>
                <a:ea typeface="Arial"/>
                <a:cs typeface="Arial"/>
              </a:defRPr>
            </a:lvl4pPr>
            <a:lvl5pPr algn="l">
              <a:defRPr sz="2175" b="1">
                <a:solidFill>
                  <a:srgbClr val="005A9C"/>
                </a:solidFill>
                <a:latin typeface="Arial"/>
                <a:ea typeface="Arial"/>
                <a:cs typeface="Arial"/>
              </a:defRPr>
            </a:lvl5pPr>
            <a:lvl6pPr algn="l">
              <a:defRPr sz="2175" b="1">
                <a:solidFill>
                  <a:srgbClr val="005A9C"/>
                </a:solidFill>
                <a:latin typeface="Arial"/>
                <a:ea typeface="Arial"/>
                <a:cs typeface="Arial"/>
              </a:defRPr>
            </a:lvl6pPr>
            <a:lvl7pPr algn="l">
              <a:defRPr sz="2175" b="1">
                <a:solidFill>
                  <a:srgbClr val="005A9C"/>
                </a:solidFill>
                <a:latin typeface="Arial"/>
                <a:ea typeface="Arial"/>
                <a:cs typeface="Arial"/>
              </a:defRPr>
            </a:lvl7pPr>
            <a:lvl8pPr algn="l">
              <a:defRPr sz="2175" b="1">
                <a:solidFill>
                  <a:srgbClr val="005A9C"/>
                </a:solidFill>
                <a:latin typeface="Arial"/>
                <a:ea typeface="Arial"/>
                <a:cs typeface="Arial"/>
              </a:defRPr>
            </a:lvl8pPr>
            <a:lvl9pPr algn="l">
              <a:defRPr sz="2175" b="1">
                <a:solidFill>
                  <a:srgbClr val="005A9C"/>
                </a:solidFill>
                <a:latin typeface="Arial"/>
                <a:ea typeface="Arial"/>
                <a:cs typeface="Arial"/>
              </a:defRPr>
            </a:lvl9pPr>
          </a:lstStyle>
          <a:p xmlns:a="http://schemas.openxmlformats.org/drawingml/2006/main">
            <a:pPr algn="l">
              <a:defRPr sz="2175" b="1">
                <a:solidFill>
                  <a:srgbClr val="005A9C"/>
                </a:solidFill>
                <a:latin typeface="Arial"/>
                <a:ea typeface="Arial"/>
                <a:cs typeface="Arial"/>
              </a:defRPr>
            </a:pPr>
            <a:r>
              <a:rPr sz="2175" b="1">
                <a:solidFill>
                  <a:srgbClr val="005A9C"/>
                </a:solidFill>
                <a:latin typeface="Arial"/>
                <a:ea typeface="Arial"/>
                <a:cs typeface="Arial"/>
              </a:rPr>
              <a:t>Repeat usage</a:t>
            </a:r>
          </a:p>
        </p:txBody>
      </p:sp>
      <p:sp>
        <p:nvSpPr>
          <p:cNvPr id="42" name="!!evaluation.3.body">
            <a:extLst xmlns:a="http://schemas.openxmlformats.org/drawingml/2006/main">
              <a:ext uri="{FF2B5EF4-FFF2-40B4-BE49-F238E27FC236}">
                <a16:creationId xmlns:a16="http://schemas.microsoft.com/office/drawing/2014/main" id="{ACDD1512-CDBE-4185-9B64-F3AA47DA8A48}"/>
              </a:ext>
            </a:extLst>
          </p:cNvPr>
          <p:cNvSpPr>
            <a:spLocks xmlns:a="http://schemas.openxmlformats.org/drawingml/2006/main" noGrp="1"/>
          </p:cNvSpPr>
          <p:nvPr/>
        </p:nvSpPr>
        <p:spPr>
          <a:xfrm xmlns:a="http://schemas.openxmlformats.org/drawingml/2006/main">
            <a:off x="9496425" y="64960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38" b="0">
                <a:solidFill>
                  <a:srgbClr val="707C88"/>
                </a:solidFill>
                <a:latin typeface="Arial"/>
                <a:ea typeface="Arial"/>
                <a:cs typeface="Arial"/>
              </a:defRPr>
            </a:defPPr>
            <a:lvl1pPr algn="l">
              <a:defRPr sz="1838" b="0">
                <a:solidFill>
                  <a:srgbClr val="707C88"/>
                </a:solidFill>
                <a:latin typeface="Arial"/>
                <a:ea typeface="Arial"/>
                <a:cs typeface="Arial"/>
              </a:defRPr>
            </a:lvl1pPr>
            <a:lvl2pPr algn="l">
              <a:defRPr sz="1838" b="0">
                <a:solidFill>
                  <a:srgbClr val="707C88"/>
                </a:solidFill>
                <a:latin typeface="Arial"/>
                <a:ea typeface="Arial"/>
                <a:cs typeface="Arial"/>
              </a:defRPr>
            </a:lvl2pPr>
            <a:lvl3pPr algn="l">
              <a:defRPr sz="1838" b="0">
                <a:solidFill>
                  <a:srgbClr val="707C88"/>
                </a:solidFill>
                <a:latin typeface="Arial"/>
                <a:ea typeface="Arial"/>
                <a:cs typeface="Arial"/>
              </a:defRPr>
            </a:lvl3pPr>
            <a:lvl4pPr algn="l">
              <a:defRPr sz="1838" b="0">
                <a:solidFill>
                  <a:srgbClr val="707C88"/>
                </a:solidFill>
                <a:latin typeface="Arial"/>
                <a:ea typeface="Arial"/>
                <a:cs typeface="Arial"/>
              </a:defRPr>
            </a:lvl4pPr>
            <a:lvl5pPr algn="l">
              <a:defRPr sz="1838" b="0">
                <a:solidFill>
                  <a:srgbClr val="707C88"/>
                </a:solidFill>
                <a:latin typeface="Arial"/>
                <a:ea typeface="Arial"/>
                <a:cs typeface="Arial"/>
              </a:defRPr>
            </a:lvl5pPr>
            <a:lvl6pPr algn="l">
              <a:defRPr sz="1838" b="0">
                <a:solidFill>
                  <a:srgbClr val="707C88"/>
                </a:solidFill>
                <a:latin typeface="Arial"/>
                <a:ea typeface="Arial"/>
                <a:cs typeface="Arial"/>
              </a:defRPr>
            </a:lvl6pPr>
            <a:lvl7pPr algn="l">
              <a:defRPr sz="1838" b="0">
                <a:solidFill>
                  <a:srgbClr val="707C88"/>
                </a:solidFill>
                <a:latin typeface="Arial"/>
                <a:ea typeface="Arial"/>
                <a:cs typeface="Arial"/>
              </a:defRPr>
            </a:lvl7pPr>
            <a:lvl8pPr algn="l">
              <a:defRPr sz="1838" b="0">
                <a:solidFill>
                  <a:srgbClr val="707C88"/>
                </a:solidFill>
                <a:latin typeface="Arial"/>
                <a:ea typeface="Arial"/>
                <a:cs typeface="Arial"/>
              </a:defRPr>
            </a:lvl8pPr>
            <a:lvl9pPr algn="l">
              <a:defRPr sz="1838" b="0">
                <a:solidFill>
                  <a:srgbClr val="707C88"/>
                </a:solidFill>
                <a:latin typeface="Arial"/>
                <a:ea typeface="Arial"/>
                <a:cs typeface="Arial"/>
              </a:defRPr>
            </a:lvl9pPr>
          </a:lstStyle>
          <a:p xmlns:a="http://schemas.openxmlformats.org/drawingml/2006/main">
            <a:pPr algn="l">
              <a:defRPr sz="1838" b="0">
                <a:solidFill>
                  <a:srgbClr val="707C88"/>
                </a:solidFill>
                <a:latin typeface="Arial"/>
                <a:ea typeface="Arial"/>
                <a:cs typeface="Arial"/>
              </a:defRPr>
            </a:pPr>
            <a:r>
              <a:rPr sz="1838" b="0">
                <a:solidFill>
                  <a:srgbClr val="707C88"/>
                </a:solidFill>
                <a:latin typeface="Arial"/>
                <a:ea typeface="Arial"/>
                <a:cs typeface="Arial"/>
              </a:rPr>
              <a:t>Whether employees continue to use the application</a:t>
            </a:r>
          </a:p>
        </p:txBody>
      </p:sp>
    </p:spTree>
    <p:extLst>
      <p:ext uri="{BB962C8B-B14F-4D97-AF65-F5344CB8AC3E}">
        <p14:creationId xmlns:p14="http://schemas.microsoft.com/office/powerpoint/2010/main" val="498959668"/>
      </p:ext>
    </p:extLst>
  </p:cSld>
  <mc:AlternateContent xmlns:mc="http://schemas.openxmlformats.org/markup-compatibility/2006">
    <mc:Choice xmlns:p159="http://schemas.microsoft.com/office/powerpoint/2015/09/main" Requires="p159">
      <p:transition xmlns:p14="http://schemas.microsoft.com/office/powerpoint/2010/main" spd="med" advClick="1" p14:dur="700">
        <p159:morph option="byObject"/>
      </p:transition>
    </mc:Choice>
    <mc:Fallback>
      <p:transition spd="fast" advClick="1">
        <p:fade/>
      </p:transition>
    </mc:Fallback>
  </mc:AlternateContent>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