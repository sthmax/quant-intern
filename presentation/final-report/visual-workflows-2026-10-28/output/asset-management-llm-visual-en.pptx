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38afd2b97543f6" /><Relationship Type="http://schemas.openxmlformats.org/officeDocument/2006/relationships/extended-properties" Target="/docProps/app.xml" Id="R2e395ede1c6d47ca" /><Relationship Type="http://schemas.openxmlformats.org/officeDocument/2006/relationships/officeDocument" Target="/ppt/presentation.xml" Id="Rad4ac5224e3f430e" /></Relationships>
</file>

<file path=ppt/presentation.xml><?xml version="1.0" encoding="utf-8"?>
<p:presentation xmlns:p="http://schemas.openxmlformats.org/presentationml/2006/main">
  <p:sldMasterIdLst>
    <p:sldMasterId xmlns:r="http://schemas.openxmlformats.org/officeDocument/2006/relationships" id="2147483648" r:id="R0e15fbe9e6a84748"/>
  </p:sldMasterIdLst>
  <p:notesMasterIdLst>
    <p:notesMasterId xmlns:r="http://schemas.openxmlformats.org/officeDocument/2006/relationships" r:id="R6e122c12f9644f44"/>
  </p:notesMasterIdLst>
  <p:sldIdLst>
    <p:sldId xmlns:r="http://schemas.openxmlformats.org/officeDocument/2006/relationships" id="256" r:id="R390636d39d7347d7"/>
    <p:sldId xmlns:r="http://schemas.openxmlformats.org/officeDocument/2006/relationships" id="257" r:id="R7b57c72efeb1497a"/>
    <p:sldId xmlns:r="http://schemas.openxmlformats.org/officeDocument/2006/relationships" id="258" r:id="Rcd4319cf7eb84535"/>
    <p:sldId xmlns:r="http://schemas.openxmlformats.org/officeDocument/2006/relationships" id="259" r:id="R07d0532394894932"/>
    <p:sldId xmlns:r="http://schemas.openxmlformats.org/officeDocument/2006/relationships" id="260" r:id="R820e715e6f194792"/>
    <p:sldId xmlns:r="http://schemas.openxmlformats.org/officeDocument/2006/relationships" id="261" r:id="Rb8cd7f2ed53f4e1b"/>
    <p:sldId xmlns:r="http://schemas.openxmlformats.org/officeDocument/2006/relationships" id="262" r:id="R474c0bf37edb4cea"/>
    <p:sldId xmlns:r="http://schemas.openxmlformats.org/officeDocument/2006/relationships" id="263" r:id="Rd5b7b06329bf4113"/>
    <p:sldId xmlns:r="http://schemas.openxmlformats.org/officeDocument/2006/relationships" id="264" r:id="R30f62b1981a84933"/>
    <p:sldId xmlns:r="http://schemas.openxmlformats.org/officeDocument/2006/relationships" id="265" r:id="R4699d77233174d36"/>
    <p:sldId xmlns:r="http://schemas.openxmlformats.org/officeDocument/2006/relationships" id="266" r:id="R31df87a8ac1346d0"/>
    <p:sldId xmlns:r="http://schemas.openxmlformats.org/officeDocument/2006/relationships" id="267" r:id="R9dfc38af7c1d45b8"/>
    <p:sldId xmlns:r="http://schemas.openxmlformats.org/officeDocument/2006/relationships" id="268" r:id="R795d7ff9988647cc"/>
    <p:sldId xmlns:r="http://schemas.openxmlformats.org/officeDocument/2006/relationships" id="269" r:id="Rcd259ea95bf14c96"/>
    <p:sldId xmlns:r="http://schemas.openxmlformats.org/officeDocument/2006/relationships" id="270" r:id="R1d7e6e39ec884ede"/>
    <p:sldId xmlns:r="http://schemas.openxmlformats.org/officeDocument/2006/relationships" id="271" r:id="R34a91606121040e0"/>
    <p:sldId xmlns:r="http://schemas.openxmlformats.org/officeDocument/2006/relationships" id="272" r:id="R33be6cf8668a4f60"/>
    <p:sldId xmlns:r="http://schemas.openxmlformats.org/officeDocument/2006/relationships" id="273" r:id="R15f9f4f2e7c94f74"/>
    <p:sldId xmlns:r="http://schemas.openxmlformats.org/officeDocument/2006/relationships" id="274" r:id="Raba3dadce42b4a2a"/>
    <p:sldId xmlns:r="http://schemas.openxmlformats.org/officeDocument/2006/relationships" id="275" r:id="R1510c5db4da84232"/>
    <p:sldId xmlns:r="http://schemas.openxmlformats.org/officeDocument/2006/relationships" id="276" r:id="R62bbc882b7d744a6"/>
    <p:sldId xmlns:r="http://schemas.openxmlformats.org/officeDocument/2006/relationships" id="277" r:id="R0284ad737b7e404e"/>
    <p:sldId xmlns:r="http://schemas.openxmlformats.org/officeDocument/2006/relationships" id="278" r:id="R0fe18bf047c8408c"/>
    <p:sldId xmlns:r="http://schemas.openxmlformats.org/officeDocument/2006/relationships" id="279" r:id="R1326405c89d34aca"/>
    <p:sldId xmlns:r="http://schemas.openxmlformats.org/officeDocument/2006/relationships" id="280" r:id="R97c87c600b474f37"/>
    <p:sldId xmlns:r="http://schemas.openxmlformats.org/officeDocument/2006/relationships" id="281" r:id="R9cf89a85407a4621"/>
    <p:sldId xmlns:r="http://schemas.openxmlformats.org/officeDocument/2006/relationships" id="282" r:id="Rff138eb52d014a01"/>
    <p:sldId xmlns:r="http://schemas.openxmlformats.org/officeDocument/2006/relationships" id="283" r:id="R7449c02aed4e4d1b"/>
    <p:sldId xmlns:r="http://schemas.openxmlformats.org/officeDocument/2006/relationships" id="284" r:id="Rcd365684a5e24dc5"/>
    <p:sldId xmlns:r="http://schemas.openxmlformats.org/officeDocument/2006/relationships" id="285" r:id="R480194aec177473a"/>
    <p:sldId xmlns:r="http://schemas.openxmlformats.org/officeDocument/2006/relationships" id="286" r:id="R4bd97497d5ad4616"/>
    <p:sldId xmlns:r="http://schemas.openxmlformats.org/officeDocument/2006/relationships" id="287" r:id="R69b30f86db62496c"/>
    <p:sldId xmlns:r="http://schemas.openxmlformats.org/officeDocument/2006/relationships" id="288" r:id="R755a343b797b4b9b"/>
  </p:sldIdLst>
  <p:sldSz cx="9144000" cy="5140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ec88309ce4449" /><Relationship Type="http://schemas.openxmlformats.org/officeDocument/2006/relationships/slideMaster" Target="/ppt/slideMasters/slideMaster1.xml" Id="R0e15fbe9e6a84748" /><Relationship Type="http://schemas.openxmlformats.org/officeDocument/2006/relationships/notesMaster" Target="/ppt/notesMasters/notesMaster1.xml" Id="R6e122c12f9644f44" /><Relationship Type="http://schemas.openxmlformats.org/officeDocument/2006/relationships/presProps" Target="/ppt/presProps.xml" Id="R13e92d9c7e2f420e" /><Relationship Type="http://schemas.openxmlformats.org/officeDocument/2006/relationships/tableStyles" Target="/ppt/tableStyles.xml" Id="Reab0ce6b86a24159" /><Relationship Type="http://schemas.openxmlformats.org/officeDocument/2006/relationships/slide" Target="/ppt/slides/slide1.xml" Id="R390636d39d7347d7" /><Relationship Type="http://schemas.openxmlformats.org/officeDocument/2006/relationships/slide" Target="/ppt/slides/slide2.xml" Id="R7b57c72efeb1497a" /><Relationship Type="http://schemas.openxmlformats.org/officeDocument/2006/relationships/slide" Target="/ppt/slides/slide3.xml" Id="Rcd4319cf7eb84535" /><Relationship Type="http://schemas.openxmlformats.org/officeDocument/2006/relationships/slide" Target="/ppt/slides/slide4.xml" Id="R07d0532394894932" /><Relationship Type="http://schemas.openxmlformats.org/officeDocument/2006/relationships/slide" Target="/ppt/slides/slide5.xml" Id="R820e715e6f194792" /><Relationship Type="http://schemas.openxmlformats.org/officeDocument/2006/relationships/slide" Target="/ppt/slides/slide6.xml" Id="Rb8cd7f2ed53f4e1b" /><Relationship Type="http://schemas.openxmlformats.org/officeDocument/2006/relationships/slide" Target="/ppt/slides/slide7.xml" Id="R474c0bf37edb4cea" /><Relationship Type="http://schemas.openxmlformats.org/officeDocument/2006/relationships/slide" Target="/ppt/slides/slide8.xml" Id="Rd5b7b06329bf4113" /><Relationship Type="http://schemas.openxmlformats.org/officeDocument/2006/relationships/slide" Target="/ppt/slides/slide9.xml" Id="R30f62b1981a84933" /><Relationship Type="http://schemas.openxmlformats.org/officeDocument/2006/relationships/slide" Target="/ppt/slides/slide10.xml" Id="R4699d77233174d36" /><Relationship Type="http://schemas.openxmlformats.org/officeDocument/2006/relationships/slide" Target="/ppt/slides/slide11.xml" Id="R31df87a8ac1346d0" /><Relationship Type="http://schemas.openxmlformats.org/officeDocument/2006/relationships/slide" Target="/ppt/slides/slide12.xml" Id="R9dfc38af7c1d45b8" /><Relationship Type="http://schemas.openxmlformats.org/officeDocument/2006/relationships/slide" Target="/ppt/slides/slide13.xml" Id="R795d7ff9988647cc" /><Relationship Type="http://schemas.openxmlformats.org/officeDocument/2006/relationships/slide" Target="/ppt/slides/slide14.xml" Id="Rcd259ea95bf14c96" /><Relationship Type="http://schemas.openxmlformats.org/officeDocument/2006/relationships/slide" Target="/ppt/slides/slide15.xml" Id="R1d7e6e39ec884ede" /><Relationship Type="http://schemas.openxmlformats.org/officeDocument/2006/relationships/slide" Target="/ppt/slides/slide16.xml" Id="R34a91606121040e0" /><Relationship Type="http://schemas.openxmlformats.org/officeDocument/2006/relationships/slide" Target="/ppt/slides/slide17.xml" Id="R33be6cf8668a4f60" /><Relationship Type="http://schemas.openxmlformats.org/officeDocument/2006/relationships/slide" Target="/ppt/slides/slide18.xml" Id="R15f9f4f2e7c94f74" /><Relationship Type="http://schemas.openxmlformats.org/officeDocument/2006/relationships/slide" Target="/ppt/slides/slide19.xml" Id="Raba3dadce42b4a2a" /><Relationship Type="http://schemas.openxmlformats.org/officeDocument/2006/relationships/slide" Target="/ppt/slides/slide20.xml" Id="R1510c5db4da84232" /><Relationship Type="http://schemas.openxmlformats.org/officeDocument/2006/relationships/slide" Target="/ppt/slides/slide21.xml" Id="R62bbc882b7d744a6" /><Relationship Type="http://schemas.openxmlformats.org/officeDocument/2006/relationships/slide" Target="/ppt/slides/slide22.xml" Id="R0284ad737b7e404e" /><Relationship Type="http://schemas.openxmlformats.org/officeDocument/2006/relationships/slide" Target="/ppt/slides/slide23.xml" Id="R0fe18bf047c8408c" /><Relationship Type="http://schemas.openxmlformats.org/officeDocument/2006/relationships/slide" Target="/ppt/slides/slide24.xml" Id="R1326405c89d34aca" /><Relationship Type="http://schemas.openxmlformats.org/officeDocument/2006/relationships/slide" Target="/ppt/slides/slide25.xml" Id="R97c87c600b474f37" /><Relationship Type="http://schemas.openxmlformats.org/officeDocument/2006/relationships/slide" Target="/ppt/slides/slide26.xml" Id="R9cf89a85407a4621" /><Relationship Type="http://schemas.openxmlformats.org/officeDocument/2006/relationships/slide" Target="/ppt/slides/slide27.xml" Id="Rff138eb52d014a01" /><Relationship Type="http://schemas.openxmlformats.org/officeDocument/2006/relationships/slide" Target="/ppt/slides/slide28.xml" Id="R7449c02aed4e4d1b" /><Relationship Type="http://schemas.openxmlformats.org/officeDocument/2006/relationships/slide" Target="/ppt/slides/slide29.xml" Id="Rcd365684a5e24dc5" /><Relationship Type="http://schemas.openxmlformats.org/officeDocument/2006/relationships/slide" Target="/ppt/slides/slide30.xml" Id="R480194aec177473a" /><Relationship Type="http://schemas.openxmlformats.org/officeDocument/2006/relationships/slide" Target="/ppt/slides/slide31.xml" Id="R4bd97497d5ad4616" /><Relationship Type="http://schemas.openxmlformats.org/officeDocument/2006/relationships/slide" Target="/ppt/slides/slide32.xml" Id="R69b30f86db62496c" /><Relationship Type="http://schemas.openxmlformats.org/officeDocument/2006/relationships/slide" Target="/ppt/slides/slide33.xml" Id="R755a343b797b4b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3e75bed1b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e8c43a76964bba" /><Relationship Type="http://schemas.openxmlformats.org/officeDocument/2006/relationships/notesMaster" Target="/ppt/notesMasters/notesMaster1.xml" Id="R1267af05228d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b590d33bd54b6e" /><Relationship Type="http://schemas.openxmlformats.org/officeDocument/2006/relationships/notesMaster" Target="/ppt/notesMasters/notesMaster1.xml" Id="Ra8076cb9326441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8e4fc8b9754270" /><Relationship Type="http://schemas.openxmlformats.org/officeDocument/2006/relationships/notesMaster" Target="/ppt/notesMasters/notesMaster1.xml" Id="R8a87eaa4155a41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4b80231341410a" /><Relationship Type="http://schemas.openxmlformats.org/officeDocument/2006/relationships/notesMaster" Target="/ppt/notesMasters/notesMaster1.xml" Id="Rff768ed1077f43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2244a968c6418e" /><Relationship Type="http://schemas.openxmlformats.org/officeDocument/2006/relationships/notesMaster" Target="/ppt/notesMasters/notesMaster1.xml" Id="R34e6eb2626db47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904232609e48fa" /><Relationship Type="http://schemas.openxmlformats.org/officeDocument/2006/relationships/notesMaster" Target="/ppt/notesMasters/notesMaster1.xml" Id="R8543c600a09949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ad268b2eb84cae" /><Relationship Type="http://schemas.openxmlformats.org/officeDocument/2006/relationships/notesMaster" Target="/ppt/notesMasters/notesMaster1.xml" Id="R3cca0745d0af43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28552aa6a44a86" /><Relationship Type="http://schemas.openxmlformats.org/officeDocument/2006/relationships/notesMaster" Target="/ppt/notesMasters/notesMaster1.xml" Id="Rd4936733361f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811690eb294ccb" /><Relationship Type="http://schemas.openxmlformats.org/officeDocument/2006/relationships/notesMaster" Target="/ppt/notesMasters/notesMaster1.xml" Id="R30bb608570ec44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936d0eb8a342bd" /><Relationship Type="http://schemas.openxmlformats.org/officeDocument/2006/relationships/notesMaster" Target="/ppt/notesMasters/notesMaster1.xml" Id="R50e4b7b1591d4b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a762bb0d7e40c4" /><Relationship Type="http://schemas.openxmlformats.org/officeDocument/2006/relationships/notesMaster" Target="/ppt/notesMasters/notesMaster1.xml" Id="R5aaa1151ed6547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c91a22259f4476" /><Relationship Type="http://schemas.openxmlformats.org/officeDocument/2006/relationships/notesMaster" Target="/ppt/notesMasters/notesMaster1.xml" Id="R4ba7ef46d4e748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c1fc75d0fb41b8" /><Relationship Type="http://schemas.openxmlformats.org/officeDocument/2006/relationships/notesMaster" Target="/ppt/notesMasters/notesMaster1.xml" Id="R8a1b86c8a08946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4b87e938224b4a" /><Relationship Type="http://schemas.openxmlformats.org/officeDocument/2006/relationships/notesMaster" Target="/ppt/notesMasters/notesMaster1.xml" Id="R7c22e128f68548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f1245d6a674ba8" /><Relationship Type="http://schemas.openxmlformats.org/officeDocument/2006/relationships/notesMaster" Target="/ppt/notesMasters/notesMaster1.xml" Id="Rbfded3aa384145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5a3f02b7684e62" /><Relationship Type="http://schemas.openxmlformats.org/officeDocument/2006/relationships/notesMaster" Target="/ppt/notesMasters/notesMaster1.xml" Id="R1b1b72ca127c4e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c59df0a159401e" /><Relationship Type="http://schemas.openxmlformats.org/officeDocument/2006/relationships/notesMaster" Target="/ppt/notesMasters/notesMaster1.xml" Id="R9bf09e1198db4b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8fa3945f294c79" /><Relationship Type="http://schemas.openxmlformats.org/officeDocument/2006/relationships/notesMaster" Target="/ppt/notesMasters/notesMaster1.xml" Id="Rc0190028b5064a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7f99c1e30f466c" /><Relationship Type="http://schemas.openxmlformats.org/officeDocument/2006/relationships/notesMaster" Target="/ppt/notesMasters/notesMaster1.xml" Id="Rb857b6ffd3644d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70ad63929c45d5" /><Relationship Type="http://schemas.openxmlformats.org/officeDocument/2006/relationships/notesMaster" Target="/ppt/notesMasters/notesMaster1.xml" Id="R51fa0d9cd7a245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542187faf845f5" /><Relationship Type="http://schemas.openxmlformats.org/officeDocument/2006/relationships/notesMaster" Target="/ppt/notesMasters/notesMaster1.xml" Id="R90174c87044946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bac1cfbaf541cd" /><Relationship Type="http://schemas.openxmlformats.org/officeDocument/2006/relationships/notesMaster" Target="/ppt/notesMasters/notesMaster1.xml" Id="Raf1a66534fc949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701a58377e4ce8" /><Relationship Type="http://schemas.openxmlformats.org/officeDocument/2006/relationships/notesMaster" Target="/ppt/notesMasters/notesMaster1.xml" Id="Rf19c1d8ccad34f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5e21a42b4c47f0" /><Relationship Type="http://schemas.openxmlformats.org/officeDocument/2006/relationships/notesMaster" Target="/ppt/notesMasters/notesMaster1.xml" Id="R11925fbe7f2a49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3744cba2cdd4ab0" /><Relationship Type="http://schemas.openxmlformats.org/officeDocument/2006/relationships/notesMaster" Target="/ppt/notesMasters/notesMaster1.xml" Id="R33d2d83d2d56401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1a163df44741b8" /><Relationship Type="http://schemas.openxmlformats.org/officeDocument/2006/relationships/notesMaster" Target="/ppt/notesMasters/notesMaster1.xml" Id="R2d8522b8d7ef43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4b34a60e34a4e50" /><Relationship Type="http://schemas.openxmlformats.org/officeDocument/2006/relationships/notesMaster" Target="/ppt/notesMasters/notesMaster1.xml" Id="Rd573492231c14c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5148a440a4f4964" /><Relationship Type="http://schemas.openxmlformats.org/officeDocument/2006/relationships/notesMaster" Target="/ppt/notesMasters/notesMaster1.xml" Id="R6a69c372c8c049b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cbc7c5ed8a4d79" /><Relationship Type="http://schemas.openxmlformats.org/officeDocument/2006/relationships/notesMaster" Target="/ppt/notesMasters/notesMaster1.xml" Id="R59ab481a89954ea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7fa5624e4c4b00" /><Relationship Type="http://schemas.openxmlformats.org/officeDocument/2006/relationships/notesMaster" Target="/ppt/notesMasters/notesMaster1.xml" Id="R5c136095bce142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27abb529f74fef" /><Relationship Type="http://schemas.openxmlformats.org/officeDocument/2006/relationships/notesMaster" Target="/ppt/notesMasters/notesMaster1.xml" Id="R9e9b2132482743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dff99aa2b4d45cc" /><Relationship Type="http://schemas.openxmlformats.org/officeDocument/2006/relationships/notesMaster" Target="/ppt/notesMasters/notesMaster1.xml" Id="Raa1fd34283c942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faafb0bd4074782" /><Relationship Type="http://schemas.openxmlformats.org/officeDocument/2006/relationships/notesMaster" Target="/ppt/notesMasters/notesMaster1.xml" Id="Red418545e974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This report considers where large language models could support employee work in a mainland asset manager. It follows employee work through the front office, middle office and back office. Industry examples show what peer institutions have reported. The company proposals then identify supplied information, the LLM's particular contribution, the operations performed by tools and the colleagues who use the output. Two examples recur throughout the report: Company A and a quarterly client update.</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Cover image: AI-generated illustration of an investment-research workspace.</ns4:t>
            </ns4:r>
          </ns4:p>
          <ns5:p xmlns:ns5="http://schemas.openxmlformats.org/drawingml/2006/main">
            <ns5:r>
              <ns5:rPr sz="1200">
                <ns5:latin typeface="Arial"/>
              </ns5:rPr>
              <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Documents, data, messages and business requests supply the information for different employee tasks. Depending on the task, an LLM retrieves and organizes information, calculates and explains results with tools, queries systems and runs tasks, or drafts documents and code. The distinction on this page is functional: the LLM reads, compares, explains and drafts, while tools retrieve data, query systems, perform calculations and execute operations. These combinations can produce company analysis, quote requests and comparisons, client materials and internal business tools. The proposals address specific employee tasks.</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seven application areas follow the firm's existing work. Front-office topics are research, trading support and client materials. Middle-office topics are content review and risk analysis. Back-office topics are document processing and tool development. Research prepares company analysis, trading support prepares quote requests, and client-facing teams prepare communications. Reviewers check claims against source material, risk teams link events to exposures, operations maintains document records and developers build internal tools. Company A connects the research, trading, risk and operations examples. The quarterly client update connects drafting, review and revision tracking. These tasks connect the firm's front, middle and back offices.</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analyst asks what drove Company A's revenue growth and whether that growth is sustainable. The financial table compares the prior and current quarter: revenue rises from RMB100 million to RMB110 million, while sales volume rises from 1.0 million to 1.1 million units. Meeting notes identify restocking as a shipment driver. One research report considers demand recovery sufficient to sustain growth, while the other considers continued restocking uncertain. The analyst must find relevant sources, extract data and calculate changes, compare these views and record the reasoning. Repeated searching, extraction and checking take time away from assessing the business. This page describes the existing human workflow, before introducing an LLM proposal.</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Revenue (RMB m): 100 / 110</ns4:t>
            </ns4:r>
          </ns4:p>
          <ns5:p xmlns:ns5="http://schemas.openxmlformats.org/drawingml/2006/main">
            <ns5:r>
              <ns5:rPr sz="1200">
                <ns5:latin typeface="Arial"/>
              </ns5:rPr>
              <ns5:t>Sales volume (m units):</ns5:t>
            </ns5:r>
          </ns5:p>
          <ns6:p xmlns:ns6="http://schemas.openxmlformats.org/drawingml/2006/main">
            <ns6:r>
              <ns6:rPr sz="1200">
                <ns6:latin typeface="Arial"/>
              </ns6:rPr>
              <ns6:t>1.0 / 1.1</ns6:t>
            </ns6:r>
          </ns6:p>
          <ns7:p xmlns:ns7="http://schemas.openxmlformats.org/drawingml/2006/main">
            <ns7:r>
              <ns7:rPr sz="1200">
                <ns7:latin typeface="Arial"/>
              </ns7:rPr>
              <ns7:t/>
            </ns7:r>
          </ns7:p>
          <ns8:p xmlns:ns8="http://schemas.openxmlformats.org/drawingml/2006/main">
            <ns8:r>
              <ns8:rPr sz="1200">
                <ns8:latin typeface="Arial"/>
              </ns8:rPr>
              <ns8:t>Restocking lifted shipments. Assess whether it will continue.</ns8:t>
            </ns8:r>
          </ns8:p>
          <ns9:p xmlns:ns9="http://schemas.openxmlformats.org/drawingml/2006/main">
            <ns9:r>
              <ns9:rPr sz="1200">
                <ns9:latin typeface="Arial"/>
              </ns9:rPr>
              <ns9:t/>
            </ns9:r>
          </ns9:p>
          <ns10:p xmlns:ns10="http://schemas.openxmlformats.org/drawingml/2006/main">
            <ns10:r>
              <ns10:rPr sz="1200">
                <ns10:latin typeface="Arial"/>
              </ns10:rPr>
              <ns10:t>Report A: demand recovery can sustain growth.</ns10:t>
            </ns10:r>
          </ns10:p>
          <ns11:p xmlns:ns11="http://schemas.openxmlformats.org/drawingml/2006/main">
            <ns11:r>
              <ns11:rPr sz="1200">
                <ns11:latin typeface="Arial"/>
              </ns11:rPr>
              <ns11:t>Report B: continued restocking is uncertain.</ns11:t>
            </ns11:r>
          </ns11:p>
          <ns12:p xmlns:ns12="http://schemas.openxmlformats.org/drawingml/2006/main">
            <ns12:r>
              <ns12:rPr sz="1200">
                <ns12:latin typeface="Arial"/>
              </ns12:rPr>
              <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Tianhong's reported approach separates structuring the analysis from obtaining data and making the investment judgment. The LLM organizes a change in net profit into revenue, cost of sales and expenses, then links those categories to operating drivers. Revenue depends on sales volume and selling price; materials and production costs affect cost of sales; distribution and selling costs affect expenses. Data feeds and calculation tools supply the evidence and numerical work. The decomposition connects each earnings category to its operating evidence. Analysts use the driver analysis to assess the quality and sustainability of earnings growth.</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
            </ns4:r>
          </ns4:p>
          <ns5:p xmlns:ns5="http://schemas.openxmlformats.org/drawingml/2006/main">
            <ns5:r>
              <ns5:rPr sz="1200">
                <ns5:latin typeface="Arial"/>
              </ns5:rPr>
              <ns5:t>https://www.amac.org.cn/xwfb/hydt/202601/P020260202337562370809.pdf</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Fullgoal uses LLMs to compare reports addressing a common research question. The workflow selects relevant reports, summarizes them by topic, then consolidates and reviews the summaries. In this illustration, the reports agree that higher volumes supported revenue. Their disagreement concerns sustainability: one points to demand recovery, while the other sees uncertainty over continued restocking. The useful output is therefore both an agreed finding and an unresolved question, with links back to source material. Analysts investigate the disagreement in the original reports and form their research view.</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Higher volumes lifted revenue.</ns4:t>
            </ns4:r>
          </ns4:p>
          <ns5:p xmlns:ns5="http://schemas.openxmlformats.org/drawingml/2006/main">
            <ns5:r>
              <ns5:rPr sz="1200">
                <ns5:latin typeface="Arial"/>
              </ns5:rPr>
              <ns5:t>Demand recovery can sustain growth.</ns5:t>
            </ns5:r>
          </ns5:p>
          <ns6:p xmlns:ns6="http://schemas.openxmlformats.org/drawingml/2006/main">
            <ns6:r>
              <ns6:rPr sz="1200">
                <ns6:latin typeface="Arial"/>
              </ns6:rPr>
              <ns6:t/>
            </ns6:r>
          </ns6:p>
          <ns7:p xmlns:ns7="http://schemas.openxmlformats.org/drawingml/2006/main">
            <ns7:r>
              <ns7:rPr sz="1200">
                <ns7:latin typeface="Arial"/>
              </ns7:rPr>
              <ns7:t>Channel restocking lifted shipments. Continued restocking remains uncertain.</ns7:t>
            </ns7:r>
          </ns7:p>
          <ns8:p xmlns:ns8="http://schemas.openxmlformats.org/drawingml/2006/main">
            <ns8:r>
              <ns8:rPr sz="1200">
                <ns8:latin typeface="Arial"/>
              </ns8:rPr>
              <ns8:t>https://www.amac.org.cn/xwfb/hydt/202601/P020260202337808067241.pdf</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Zhong Ou reports using LLMs to populate research templates from source material. Financials and calculations support the operating-performance entry, meeting notes support the business-driver entry, and research reports identify an open question. The illustrative template records a ten-percent increase in sales volume, restocking as the shipment driver, and the question of whether restocking will continue. The analyst checks the entries against their sources and adds an independent assessment. The reported approximately fifty-percent improvement concerns research-preparation efficiency, as reported by Zhong Ou as of May 2026.</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Research preparation efficiency: approximately 50% higher</ns4:t>
            </ns4:r>
          </ns4:p>
          <ns5:p xmlns:ns5="http://schemas.openxmlformats.org/drawingml/2006/main">
            <ns5:r>
              <ns5:rPr sz="1200">
                <ns5:latin typeface="Arial"/>
              </ns5:rPr>
              <ns5:t>Reported by Zhong Ou, as of May 2026</ns5:t>
            </ns5:r>
          </ns5:p>
          <ns6:p xmlns:ns6="http://schemas.openxmlformats.org/drawingml/2006/main">
            <ns6:r>
              <ns6:rPr sz="1200">
                <ns6:latin typeface="Arial"/>
              </ns6:rPr>
              <ns6:t>https://static.nfnews.com/content/202511/27/c11946239.html</ns6:t>
            </ns6:r>
          </ns6:p>
          <ns7:p xmlns:ns7="http://schemas.openxmlformats.org/drawingml/2006/main">
            <ns7:r>
              <ns7:rPr sz="1200">
                <ns7:latin typeface="Arial"/>
              </ns7:rPr>
              <ns7:t>https://mp.weixin.qq.com/s/rgMRw8HbZUhiu9PkUBM7vA</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Company A's revenue and sales volume both rose by ten percent from the prior quarter. The calculation tool establishes that average selling price was unchanged. The LLM compares that result with meeting notes and research reports. Restocking explains higher shipments, but the two reports disagree about whether growth will continue. The draft therefore distinguishes the observed volume increase from the uncertainty over continued restocking. Its source markers refer to the financials, meeting notes and research reports. The analyst checks those sources, tests the restocking thesis and forms the investment view, including follow-up on demand and input costs.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Revenue (RMB m): 100 / 110</ns4:t>
            </ns4:r>
          </ns4:p>
          <ns5:p xmlns:ns5="http://schemas.openxmlformats.org/drawingml/2006/main">
            <ns5:r>
              <ns5:rPr sz="1200">
                <ns5:latin typeface="Arial"/>
              </ns5:rPr>
              <ns5:t>Sales volume (m units):</ns5:t>
            </ns5:r>
          </ns5:p>
          <ns6:p xmlns:ns6="http://schemas.openxmlformats.org/drawingml/2006/main">
            <ns6:r>
              <ns6:rPr sz="1200">
                <ns6:latin typeface="Arial"/>
              </ns6:rPr>
              <ns6:t>1.0 / 1.1</ns6:t>
            </ns6:r>
          </ns6:p>
          <ns7:p xmlns:ns7="http://schemas.openxmlformats.org/drawingml/2006/main">
            <ns7:r>
              <ns7:rPr sz="1200">
                <ns7:latin typeface="Arial"/>
              </ns7:rPr>
              <ns7:t/>
            </ns7:r>
          </ns7:p>
          <ns8:p xmlns:ns8="http://schemas.openxmlformats.org/drawingml/2006/main">
            <ns8:r>
              <ns8:rPr sz="1200">
                <ns8:latin typeface="Arial"/>
              </ns8:rPr>
              <ns8:t>Restocking lifted shipments</ns8:t>
            </ns8:r>
          </ns8:p>
          <ns9:p xmlns:ns9="http://schemas.openxmlformats.org/drawingml/2006/main">
            <ns9:r>
              <ns9:rPr sz="1200">
                <ns9:latin typeface="Arial"/>
              </ns9:rPr>
              <ns9:t/>
            </ns9:r>
          </ns9:p>
          <ns10:p xmlns:ns10="http://schemas.openxmlformats.org/drawingml/2006/main">
            <ns10:r>
              <ns10:rPr sz="1200">
                <ns10:latin typeface="Arial"/>
              </ns10:rPr>
              <ns10:t>A: demand recovery can sustain growth</ns10:t>
            </ns10:r>
          </ns10:p>
          <ns11:p xmlns:ns11="http://schemas.openxmlformats.org/drawingml/2006/main">
            <ns11:r>
              <ns11:rPr sz="1200">
                <ns11:latin typeface="Arial"/>
              </ns11:rPr>
              <ns11:t>B: continued restocking is uncertain</ns11:t>
            </ns11:r>
          </ns11:p>
          <ns12:p xmlns:ns12="http://schemas.openxmlformats.org/drawingml/2006/main">
            <ns12:r>
              <ns12:rPr sz="1200">
                <ns12:latin typeface="Arial"/>
              </ns12:rPr>
              <ns12:t/>
            </ns12:r>
          </ns12:p>
          <ns13:p xmlns:ns13="http://schemas.openxmlformats.org/drawingml/2006/main">
            <ns13:r>
              <ns13:rPr sz="1200">
                <ns13:latin typeface="Arial"/>
              </ns13:rPr>
              <ns13:t>Sales volume drove revenue growth [1]. Restocking supported shipments [2], but research views differ on the sustainability of growth [3]. Monitor demand and input costs.</ns13:t>
            </ns13:r>
          </ns13:p>
          <ns14:p xmlns:ns14="http://schemas.openxmlformats.org/drawingml/2006/main">
            <ns14:r>
              <ns14:rPr sz="1200">
                <ns14:latin typeface="Arial"/>
              </ns14:rPr>
              <ns14:t>https://www.amac.org.cn/xwfb/hydt/202601/P020260202337562370809.pdf</ns14:t>
            </ns14:r>
          </ns14:p>
          <ns15:p xmlns:ns15="http://schemas.openxmlformats.org/drawingml/2006/main">
            <ns15:r>
              <ns15:rPr sz="1200">
                <ns15:latin typeface="Arial"/>
              </ns15:rPr>
              <ns15:t>https://www.amac.org.cn/xwfb/hydt/202601/P020260202337808067241.pdf</ns15:t>
            </ns15:r>
          </ns15:p>
          <ns16:p xmlns:ns16="http://schemas.openxmlformats.org/drawingml/2006/main">
            <ns16:r>
              <ns16:rPr sz="1200">
                <ns16:latin typeface="Arial"/>
              </ns16:rPr>
              <ns16:t>https://static.nfnews.com/content/202511/27/c11946239.html</ns16:t>
            </ns16:r>
          </ns16:p>
          <ns17:p xmlns:ns17="http://schemas.openxmlformats.org/drawingml/2006/main">
            <ns17:r>
              <ns17:rPr sz="1200">
                <ns17:latin typeface="Arial"/>
              </ns17:rPr>
              <ns17:t>https://www.amac.org.cn/xwfb/hydt/202601/P020260202337841539992.pdf</ns17:t>
            </ns17:r>
          </ns1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portfolio manager asks the trader to identify Company A bonds maturing within two years, check the portfolio's holdings and collect offer quotes. The trader queries market and holdings systems, records the data timestamp and then specifies the bonds and buying interest to counterparties. Counterparties return offer prices and available size. The trader summarizes the bonds and received quotes and discusses the next step with the portfolio manager. The trader and existing systems perform these steps in the current workflow. Repeated entry of filters, switching between systems and copying quote messages are the work to be addressed by the later proposal.</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Southern Asset Management's Xiaonan trading assistant supports queries, bond screening, trading instructions and notifications. The user supplies a request; the LLM interprets it and selects tools; systems perform the task and return a result; the user reviews the data and confirms the next step. Aegon-Industrial's reported use is different: AI extracts bond, side, price and size from Qtrade records, matches the relevant quote request and routes details to the trading system. The portfolio manager then submits the instruction. Systems execute requests, AI interprets language or extracts fields, and colleagues review results and submit instructions.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Xiaonan supports queries, bond screening, trading instructions and notifications</ns4:t>
            </ns4:r>
          </ns4:p>
          <ns5:p xmlns:ns5="http://schemas.openxmlformats.org/drawingml/2006/main">
            <ns5:r>
              <ns5:rPr sz="1200">
                <ns5:latin typeface="Arial"/>
              </ns5:rPr>
              <ns5:t>https://www.amac.org.cn/xwfb/hydt/202601/P020260202337849876845.pdf</ns5:t>
            </ns5:r>
          </ns5:p>
          <ns6:p xmlns:ns6="http://schemas.openxmlformats.org/drawingml/2006/main">
            <ns6:r>
              <ns6:rPr sz="1200">
                <ns6:latin typeface="Arial"/>
              </ns6:rPr>
              <ns6:t>https://www.amac.org.cn/xwfb/hydt/202601/P020260202337841539992.pdf</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portfolio manager asks for Company A bonds on the buy side, maturing within two years, with current holdings checked and offer quotes collected. The LLM identifies query criteria and systems return Bond A, which matures in 1.2 years, together with the current RMB 20 million face-value holding. The second input is separate: the trader supplies the received quote. The LLM extracts Bond A, a clean price of 100.20 per RMB 100 face value, and RMB 20 million face value available. It combines those fields in the summary table, retaining different columns for current holdings and available size. The trader verifies quote sources, timestamps and amounts; the portfolio manager reviews the summary with the trader. The trader supplies the received quote records and the LLM extracts their details.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Portfolio manager: check holdings and collect offers for Company A bonds maturing within two years</ns4:t>
            </ns4:r>
          </ns4:p>
          <ns5:p xmlns:ns5="http://schemas.openxmlformats.org/drawingml/2006/main">
            <ns5:r>
              <ns5:rPr sz="1200">
                <ns5:latin typeface="Arial"/>
              </ns5:rPr>
              <ns5:t/>
            </ns5:r>
          </ns5:p>
          <ns6:p xmlns:ns6="http://schemas.openxmlformats.org/drawingml/2006/main">
            <ns6:r>
              <ns6:rPr sz="1200">
                <ns6:latin typeface="Arial"/>
              </ns6:rPr>
              <ns6:t>Bond A (Company A)</ns6:t>
            </ns6:r>
          </ns6:p>
          <ns7:p xmlns:ns7="http://schemas.openxmlformats.org/drawingml/2006/main">
            <ns7:r>
              <ns7:rPr sz="1200">
                <ns7:latin typeface="Arial"/>
              </ns7:rPr>
              <ns7:t>Time to maturity: 1.2 years</ns7:t>
            </ns7:r>
          </ns7:p>
          <ns8:p xmlns:ns8="http://schemas.openxmlformats.org/drawingml/2006/main">
            <ns8:r>
              <ns8:rPr sz="1200">
                <ns8:latin typeface="Arial"/>
              </ns8:rPr>
              <ns8:t>Current holding:</ns8:t>
            </ns8:r>
          </ns8:p>
          <ns9:p xmlns:ns9="http://schemas.openxmlformats.org/drawingml/2006/main">
            <ns9:r>
              <ns9:rPr sz="1200">
                <ns9:latin typeface="Arial"/>
              </ns9:rPr>
              <ns9:t>RMB 20m face value</ns9:t>
            </ns9:r>
          </ns9:p>
          <ns10:p xmlns:ns10="http://schemas.openxmlformats.org/drawingml/2006/main">
            <ns10:r>
              <ns10:rPr sz="1200">
                <ns10:latin typeface="Arial"/>
              </ns10:rPr>
              <ns10:t/>
            </ns10:r>
          </ns10:p>
          <ns11:p xmlns:ns11="http://schemas.openxmlformats.org/drawingml/2006/main">
            <ns11:r>
              <ns11:rPr sz="1200">
                <ns11:latin typeface="Arial"/>
              </ns11:rPr>
              <ns11:t>The trader provides this quote:</ns11:t>
            </ns11:r>
          </ns11:p>
          <ns12:p xmlns:ns12="http://schemas.openxmlformats.org/drawingml/2006/main">
            <ns12:r>
              <ns12:rPr sz="1200">
                <ns12:latin typeface="Arial"/>
              </ns12:rPr>
              <ns12:t>Bond A: clean price 100.20</ns12:t>
            </ns12:r>
          </ns12:p>
          <ns13:p xmlns:ns13="http://schemas.openxmlformats.org/drawingml/2006/main">
            <ns13:r>
              <ns13:rPr sz="1200">
                <ns13:latin typeface="Arial"/>
              </ns13:rPr>
              <ns13:t>RMB 20m face value available</ns13:t>
            </ns13:r>
          </ns13:p>
          <ns14:p xmlns:ns14="http://schemas.openxmlformats.org/drawingml/2006/main">
            <ns14:r>
              <ns14:rPr sz="1200">
                <ns14:latin typeface="Arial"/>
              </ns14:rPr>
              <ns14:t>Extract bond, price, face value</ns14:t>
            </ns14:r>
          </ns14:p>
          <ns15:p xmlns:ns15="http://schemas.openxmlformats.org/drawingml/2006/main">
            <ns15:r>
              <ns15:rPr sz="1200">
                <ns15:latin typeface="Arial"/>
              </ns15:rPr>
              <ns15:t>https://www.amac.org.cn/xwfb/hydt/202601/P020260202337849876845.pdf</ns15:t>
            </ns15:r>
          </ns15:p>
          <ns16:p xmlns:ns16="http://schemas.openxmlformats.org/drawingml/2006/main">
            <ns16:r>
              <ns16:rPr sz="1200">
                <ns16:latin typeface="Arial"/>
              </ns16:rPr>
              <ns16:t>https://www.amac.org.cn/xwfb/hydt/202601/P020260202337841539992.pdf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A client relationship manager prepares a quarterly update using portfolio managers' investment views, product documentation and previous client communications. The client wants to know what changed in Company A's business during the quarter and what to watch next. The manager selects the relevant views, confirms the fund and reporting period and adapts the explanation to the client's questions. The same sources also support product questions and institutional RFP responses. Searching for the relevant material and repeating the checks for each update are the preparation work to be addressed by the later drafting proposal.</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Tianhong uses LLMs to consolidate recent investment views by portfolio manager or product. Presentations, commentary and reports may contain overlapping explanations. The LLM finds the relevant views, removes duplication and prepares a clear summary for client-facing colleagues. In the recurring Company A example, higher sales volume supported revenue growth and raw-material costs remain a focus. The client-facing team uses the summary with its source basis available for checking. Tianhong also applies the approach to weekly sector views and daily market commentary.</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“Company A’s revenue rose as sales volumes increased.</ns4:t>
            </ns4:r>
          </ns4:p>
          <ns5:p xmlns:ns5="http://schemas.openxmlformats.org/drawingml/2006/main">
            <ns5:r>
              <ns5:rPr sz="1200">
                <ns5:latin typeface="Arial"/>
              </ns5:rPr>
              <ns5:t>We are watching raw-material costs.”</ns5:t>
            </ns5:r>
          </ns5:p>
          <ns6:p xmlns:ns6="http://schemas.openxmlformats.org/drawingml/2006/main">
            <ns6:r>
              <ns6:rPr sz="1200">
                <ns6:latin typeface="Arial"/>
              </ns6:rPr>
              <ns6:t/>
            </ns6:r>
          </ns6:p>
          <ns7:p xmlns:ns7="http://schemas.openxmlformats.org/drawingml/2006/main">
            <ns7:r>
              <ns7:rPr sz="1200">
                <ns7:latin typeface="Arial"/>
              </ns7:rPr>
              <ns7:t>Higher sales volume supported revenue growth.</ns7:t>
            </ns7:r>
          </ns7:p>
          <ns8:p xmlns:ns8="http://schemas.openxmlformats.org/drawingml/2006/main">
            <ns8:r>
              <ns8:rPr sz="1200">
                <ns8:latin typeface="Arial"/>
              </ns8:rPr>
              <ns8:t>Raw-material costs remain a focus.</ns8:t>
            </ns8:r>
          </ns8:p>
          <ns9:p xmlns:ns9="http://schemas.openxmlformats.org/drawingml/2006/main">
            <ns9:r>
              <ns9:rPr sz="1200">
                <ns9:latin typeface="Arial"/>
              </ns9:rPr>
              <ns9:t>https://www.amac.org.cn/xwfb/hydt/202601/P020260202337562370809.pdf</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ICBCUBS FundGPT supports knowledge-base maintenance, question analysis, review and RFP drafting. An institutional client asks how investment research is organized. The supplied internal process description identifies analysts' company research and portfolio managers' discussion of the resulting view. The LLM retrieves that description, identifies responsibilities and drafts a response with a source reference. The business team checks the answer and its source, then addresses the client's specific requirements. This independent RFP example uses the same source-backed drafting principle as other client-material tasks.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Research process description:</ns4:t>
            </ns4:r>
          </ns4:p>
          <ns5:p xmlns:ns5="http://schemas.openxmlformats.org/drawingml/2006/main">
            <ns5:r>
              <ns5:rPr sz="1200">
                <ns5:latin typeface="Arial"/>
              </ns5:rPr>
              <ns5:t>Analysts prepare company research.</ns5:t>
            </ns5:r>
          </ns5:p>
          <ns6:p xmlns:ns6="http://schemas.openxmlformats.org/drawingml/2006/main">
            <ns6:r>
              <ns6:rPr sz="1200">
                <ns6:latin typeface="Arial"/>
              </ns6:rPr>
              <ns6:t>Portfolio managers discuss the view.</ns6:t>
            </ns6:r>
          </ns6:p>
          <ns7:p xmlns:ns7="http://schemas.openxmlformats.org/drawingml/2006/main">
            <ns7:r>
              <ns7:rPr sz="1200">
                <ns7:latin typeface="Arial"/>
              </ns7:rPr>
              <ns7:t/>
            </ns7:r>
          </ns7:p>
          <ns8:p xmlns:ns8="http://schemas.openxmlformats.org/drawingml/2006/main">
            <ns8:r>
              <ns8:rPr sz="1200">
                <ns8:latin typeface="Arial"/>
              </ns8:rPr>
              <ns8:t>Analysts conduct company research.</ns8:t>
            </ns8:r>
          </ns8:p>
          <ns9:p xmlns:ns9="http://schemas.openxmlformats.org/drawingml/2006/main">
            <ns9:r>
              <ns9:rPr sz="1200">
                <ns9:latin typeface="Arial"/>
              </ns9:rPr>
              <ns9:t>Portfolio managers discuss the resulting investment views.</ns9:t>
            </ns9:r>
          </ns9:p>
          <ns10:p xmlns:ns10="http://schemas.openxmlformats.org/drawingml/2006/main">
            <ns10:r>
              <ns10:rPr sz="1200">
                <ns10:latin typeface="Arial"/>
              </ns10:rPr>
              <ns10:t>Source: internal research process description.</ns10:t>
            </ns10:r>
          </ns10:p>
          <ns11:p xmlns:ns11="http://schemas.openxmlformats.org/drawingml/2006/main">
            <ns11:r>
              <ns11:rPr sz="1200">
                <ns11:latin typeface="Arial"/>
              </ns11:rPr>
              <ns11:t/>
            </ns11:r>
          </ns11:p>
          <ns12:p xmlns:ns12="http://schemas.openxmlformats.org/drawingml/2006/main">
            <ns12:r>
              <ns12:rPr sz="1200">
                <ns12:latin typeface="Arial"/>
              </ns12:rPr>
              <ns12:t>ICBCUBS FundGPT supports knowledge-base maintenance, question analysis, review and RFP drafting.</ns12:t>
            </ns12:r>
          </ns12:p>
          <ns13:p xmlns:ns13="http://schemas.openxmlformats.org/drawingml/2006/main">
            <ns13:r>
              <ns13:rPr sz="1200">
                <ns13:latin typeface="Arial"/>
              </ns13:rPr>
              <ns13:t>https://www.amac.org.cn/xwfb/hydt/202601/P020260202337848496316.pdf</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author supplies the client's question, the existing investment view and the relevant product information. The LLM selects source content and drafts the quarterly client update. V1 records the shorter fund name, the Q2 product-information source, the existing view that sales volume drove revenue growth and raw-material costs remain under monitoring, and the generic risk sentence. These fields create the material that colleagues will review next. The client team checks the investment view and submits V1 for review. The author retains responsibility for the supplied context and the draft's use with the client.</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Quarterly client update V1</ns4:t>
            </ns4:r>
          </ns4:p>
          <ns5:p xmlns:ns5="http://schemas.openxmlformats.org/drawingml/2006/main">
            <ns5:r>
              <ns5:rPr sz="1200">
                <ns5:latin typeface="Arial"/>
              </ns5:rPr>
              <ns5:t>Fund name: Product A Select</ns5:t>
            </ns5:r>
          </ns5:p>
          <ns6:p xmlns:ns6="http://schemas.openxmlformats.org/drawingml/2006/main">
            <ns6:r>
              <ns6:rPr sz="1200">
                <ns6:latin typeface="Arial"/>
              </ns6:rPr>
              <ns6:t>Source version: Q2 2026 product information, V1</ns6:t>
            </ns6:r>
          </ns6:p>
          <ns7:p xmlns:ns7="http://schemas.openxmlformats.org/drawingml/2006/main">
            <ns7:r>
              <ns7:rPr sz="1200">
                <ns7:latin typeface="Arial"/>
              </ns7:rPr>
              <ns7:t>Investment view: Higher sales volumes drove Company A’s revenue growth. We are monitoring raw-material costs.</ns7:t>
            </ns7:r>
          </ns7:p>
          <ns8:p xmlns:ns8="http://schemas.openxmlformats.org/drawingml/2006/main">
            <ns8:r>
              <ns8:rPr sz="1200">
                <ns8:latin typeface="Arial"/>
              </ns8:rPr>
              <ns8:t>Risk disclosure: Investing involves risk.</ns8:t>
            </ns8:r>
          </ns8:p>
          <ns9:p xmlns:ns9="http://schemas.openxmlformats.org/drawingml/2006/main">
            <ns9:r>
              <ns9:rPr sz="1200">
                <ns9:latin typeface="Arial"/>
              </ns9:rPr>
              <ns9:t>https://www.amac.org.cn/xwfb/hydt/202601/P020260202337562370809.pdf</ns9:t>
            </ns9:r>
          </ns9:p>
          <ns10:p xmlns:ns10="http://schemas.openxmlformats.org/drawingml/2006/main">
            <ns10:r>
              <ns10:rPr sz="1200">
                <ns10:latin typeface="Arial"/>
              </ns10:rPr>
              <ns10:t>https://www.amac.org.cn/xwfb/hydt/202601/P020260202337848496316.pdf</ns10:t>
            </ns10:r>
          </ns10:p>
          <ns11:p xmlns:ns11="http://schemas.openxmlformats.org/drawingml/2006/main">
            <ns11:r>
              <ns11:rPr sz="1200">
                <ns11:latin typeface="Arial"/>
              </ns11:rPr>
              <ns11:t>https://fund.10jqka.com.cn/20251111/c672391490.shtml</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reviewer compares the client's V1 investment view with the current portfolio-manager presentation. V1 states the observed sales-volume increase and retains raw-material-cost monitoring. The current source adds the specific driver, channel restocking, and uncertainty about its continuation. The review therefore asks whether the draft explains the growth driver and preserves the source's uncertainty. Fund details, source version and risk disclosure are also checked against current material. Reviewers check the draft’s statements against current sources.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Quarterly client update V1</ns4:t>
            </ns4:r>
          </ns4:p>
          <ns5:p xmlns:ns5="http://schemas.openxmlformats.org/drawingml/2006/main">
            <ns5:r>
              <ns5:rPr sz="1200">
                <ns5:latin typeface="Arial"/>
              </ns5:rPr>
              <ns5:t>Fund name: Product A Select</ns5:t>
            </ns5:r>
          </ns5:p>
          <ns6:p xmlns:ns6="http://schemas.openxmlformats.org/drawingml/2006/main">
            <ns6:r>
              <ns6:rPr sz="1200">
                <ns6:latin typeface="Arial"/>
              </ns6:rPr>
              <ns6:t>Source version: Q2 2026 product information, V1</ns6:t>
            </ns6:r>
          </ns6:p>
          <ns7:p xmlns:ns7="http://schemas.openxmlformats.org/drawingml/2006/main">
            <ns7:r>
              <ns7:rPr sz="1200">
                <ns7:latin typeface="Arial"/>
              </ns7:rPr>
              <ns7:t>Investment view: Higher sales volumes drove Company A’s revenue growth. We are monitoring raw-material costs.</ns7:t>
            </ns7:r>
          </ns7:p>
          <ns8:p xmlns:ns8="http://schemas.openxmlformats.org/drawingml/2006/main">
            <ns8:r>
              <ns8:rPr sz="1200">
                <ns8:latin typeface="Arial"/>
              </ns8:rPr>
              <ns8:t>Risk disclosure: Investing involves risk.</ns8:t>
            </ns8:r>
          </ns8:p>
          <ns9:p xmlns:ns9="http://schemas.openxmlformats.org/drawingml/2006/main">
            <ns9:r>
              <ns9:rPr sz="1200">
                <ns9:latin typeface="Arial"/>
              </ns9:rPr>
              <ns9:t/>
            </ns9:r>
          </ns9:p>
          <ns10:p xmlns:ns10="http://schemas.openxmlformats.org/drawingml/2006/main">
            <ns10:r>
              <ns10:rPr sz="1200">
                <ns10:latin typeface="Arial"/>
              </ns10:rPr>
              <ns10:t>Current portfolio-manager presentation: “Channel restocking lifted sales volumes. We are monitoring whether it will continue.”</ns10:t>
            </ns10:r>
          </ns10:p>
          <ns11:p xmlns:ns11="http://schemas.openxmlformats.org/drawingml/2006/main">
            <ns11:r>
              <ns11:rPr sz="1200">
                <ns11:latin typeface="Arial"/>
              </ns11:rPr>
              <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Penghua's reported use suggests edits using review rules. Yingmi's reported scope includes initial checks, revision and repeat review. Applied to the client-update example, the findings explain three issues: the full fund name and current reporting period, the restocking growth driver and uncertainty over continuation, and the product's specific NAV and capital-risk wording. The author revises the material and a repeat review checks the changes. Penghua's reported ninety-one percent figure concerns acceptance of suggested edits. Authors revise the material and reviewers check the changes again.</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Quarterly client update V1</ns4:t>
            </ns4:r>
          </ns4:p>
          <ns5:p xmlns:ns5="http://schemas.openxmlformats.org/drawingml/2006/main">
            <ns5:r>
              <ns5:rPr sz="1200">
                <ns5:latin typeface="Arial"/>
              </ns5:rPr>
              <ns5:t>Fund name: Product A Select</ns5:t>
            </ns5:r>
          </ns5:p>
          <ns6:p xmlns:ns6="http://schemas.openxmlformats.org/drawingml/2006/main">
            <ns6:r>
              <ns6:rPr sz="1200">
                <ns6:latin typeface="Arial"/>
              </ns6:rPr>
              <ns6:t>Source version: Q2 2026 product information, V1</ns6:t>
            </ns6:r>
          </ns6:p>
          <ns7:p xmlns:ns7="http://schemas.openxmlformats.org/drawingml/2006/main">
            <ns7:r>
              <ns7:rPr sz="1200">
                <ns7:latin typeface="Arial"/>
              </ns7:rPr>
              <ns7:t>Investment view: Higher sales volumes drove Company A’s revenue growth. We are monitoring raw-material costs.</ns7:t>
            </ns7:r>
          </ns7:p>
          <ns8:p xmlns:ns8="http://schemas.openxmlformats.org/drawingml/2006/main">
            <ns8:r>
              <ns8:rPr sz="1200">
                <ns8:latin typeface="Arial"/>
              </ns8:rPr>
              <ns8:t>Risk disclosure: Investing involves risk.</ns8:t>
            </ns8:r>
          </ns8:p>
          <ns9:p xmlns:ns9="http://schemas.openxmlformats.org/drawingml/2006/main">
            <ns9:r>
              <ns9:rPr sz="1200">
                <ns9:latin typeface="Arial"/>
              </ns9:rPr>
              <ns9:t/>
            </ns9:r>
          </ns9:p>
          <ns10:p xmlns:ns10="http://schemas.openxmlformats.org/drawingml/2006/main">
            <ns10:r>
              <ns10:rPr sz="1200">
                <ns10:latin typeface="Arial"/>
              </ns10:rPr>
              <ns10:t>Use the full fund name and current reporting period.</ns10:t>
            </ns10:r>
          </ns10:p>
          <ns11:p xmlns:ns11="http://schemas.openxmlformats.org/drawingml/2006/main">
            <ns11:r>
              <ns11:rPr sz="1200">
                <ns11:latin typeface="Arial"/>
              </ns11:rPr>
              <ns11:t/>
            </ns11:r>
          </ns11:p>
          <ns12:p xmlns:ns12="http://schemas.openxmlformats.org/drawingml/2006/main">
            <ns12:r>
              <ns12:rPr sz="1200">
                <ns12:latin typeface="Arial"/>
              </ns12:rPr>
              <ns12:t>Identify channel restocking as the sales volume driver. Retain uncertainty over its continuation.</ns12:t>
            </ns12:r>
          </ns12:p>
          <ns13:p xmlns:ns13="http://schemas.openxmlformats.org/drawingml/2006/main">
            <ns13:r>
              <ns13:rPr sz="1200">
                <ns13:latin typeface="Arial"/>
              </ns13:rPr>
              <ns13:t/>
            </ns13:r>
          </ns13:p>
          <ns14:p xmlns:ns14="http://schemas.openxmlformats.org/drawingml/2006/main">
            <ns14:r>
              <ns14:rPr sz="1200">
                <ns14:latin typeface="Arial"/>
              </ns14:rPr>
              <ns14:t>State that the fund’s NAV can fluctuate and investors may lose capital.</ns14:t>
            </ns14:r>
          </ns14:p>
          <ns15:p xmlns:ns15="http://schemas.openxmlformats.org/drawingml/2006/main">
            <ns15:r>
              <ns15:rPr sz="1200">
                <ns15:latin typeface="Arial"/>
              </ns15:rPr>
              <ns15:t/>
            </ns15:r>
          </ns15:p>
          <ns16:p xmlns:ns16="http://schemas.openxmlformats.org/drawingml/2006/main">
            <ns16:r>
              <ns16:rPr sz="1200">
                <ns16:latin typeface="Arial"/>
              </ns16:rPr>
              <ns16:t>Penghua’s reported91% figure concerns acceptance of suggested edits.</ns16:t>
            </ns16:r>
          </ns16:p>
          <ns17:p xmlns:ns17="http://schemas.openxmlformats.org/drawingml/2006/main">
            <ns17:r>
              <ns17:rPr sz="1200">
                <ns17:latin typeface="Arial"/>
              </ns17:rPr>
              <ns17:t>https://www.amac.org.cn/xwfb/hydt/202601/P020260202337850951100.pdf</ns17:t>
            </ns17:r>
          </ns17:p>
          <ns18:p xmlns:ns18="http://schemas.openxmlformats.org/drawingml/2006/main">
            <ns18:r>
              <ns18:rPr sz="1200">
                <ns18:latin typeface="Arial"/>
              </ns18:rPr>
              <ns18:t>https://www.yingmi-inc.com/archives/799</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author supplies V1 and current sources. The presentation states that restocking supported sales-volume growth and that continued restocking remains uncertain. Document tools match fund names, reporting periods and source passages. The LLM then explains the mismatches and proposes revisions. V2 adds the restocking driver, retains uncertainty over whether restocking continues and keeps raw-material-cost monitoring. It also uses the full fund name, the Q3 product source and the product's specific risk disclosure. The author approves the edits and the reviewer checks the sources, rationale and revised update.</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Quarterly client update V1</ns4:t>
            </ns4:r>
          </ns4:p>
          <ns5:p xmlns:ns5="http://schemas.openxmlformats.org/drawingml/2006/main">
            <ns5:r>
              <ns5:rPr sz="1200">
                <ns5:latin typeface="Arial"/>
              </ns5:rPr>
              <ns5:t>Fund name: Product A Select</ns5:t>
            </ns5:r>
          </ns5:p>
          <ns6:p xmlns:ns6="http://schemas.openxmlformats.org/drawingml/2006/main">
            <ns6:r>
              <ns6:rPr sz="1200">
                <ns6:latin typeface="Arial"/>
              </ns6:rPr>
              <ns6:t>Source version: Q2 2026 product information, V1</ns6:t>
            </ns6:r>
          </ns6:p>
          <ns7:p xmlns:ns7="http://schemas.openxmlformats.org/drawingml/2006/main">
            <ns7:r>
              <ns7:rPr sz="1200">
                <ns7:latin typeface="Arial"/>
              </ns7:rPr>
              <ns7:t>Investment view: Higher sales volumes drove Company A’s revenue growth. We are monitoring raw-material costs.</ns7:t>
            </ns7:r>
          </ns7:p>
          <ns8:p xmlns:ns8="http://schemas.openxmlformats.org/drawingml/2006/main">
            <ns8:r>
              <ns8:rPr sz="1200">
                <ns8:latin typeface="Arial"/>
              </ns8:rPr>
              <ns8:t>Risk disclosure: Investing involves risk.</ns8:t>
            </ns8:r>
          </ns8:p>
          <ns9:p xmlns:ns9="http://schemas.openxmlformats.org/drawingml/2006/main">
            <ns9:r>
              <ns9:rPr sz="1200">
                <ns9:latin typeface="Arial"/>
              </ns9:rPr>
              <ns9:t/>
            </ns9:r>
          </ns9:p>
          <ns10:p xmlns:ns10="http://schemas.openxmlformats.org/drawingml/2006/main">
            <ns10:r>
              <ns10:rPr sz="1200">
                <ns10:latin typeface="Arial"/>
              </ns10:rPr>
              <ns10:t>Quarterly client update V2</ns10:t>
            </ns10:r>
          </ns10:p>
          <ns11:p xmlns:ns11="http://schemas.openxmlformats.org/drawingml/2006/main">
            <ns11:r>
              <ns11:rPr sz="1200">
                <ns11:latin typeface="Arial"/>
              </ns11:rPr>
              <ns11:t>Fund name: Product A Select Mixed-Asset Fund</ns11:t>
            </ns11:r>
          </ns11:p>
          <ns12:p xmlns:ns12="http://schemas.openxmlformats.org/drawingml/2006/main">
            <ns12:r>
              <ns12:rPr sz="1200">
                <ns12:latin typeface="Arial"/>
              </ns12:rPr>
              <ns12:t>Source version: Q3 2026 product information, V2</ns12:t>
            </ns12:r>
          </ns12:p>
          <ns13:p xmlns:ns13="http://schemas.openxmlformats.org/drawingml/2006/main">
            <ns13:r>
              <ns13:rPr sz="1200">
                <ns13:latin typeface="Arial"/>
              </ns13:rPr>
              <ns13:t>Investment view: Channel restocking supported Company A’s sales volume growth. We are monitoring whether restocking continues, alongside raw-material costs.</ns13:t>
            </ns13:r>
          </ns13:p>
          <ns14:p xmlns:ns14="http://schemas.openxmlformats.org/drawingml/2006/main">
            <ns14:r>
              <ns14:rPr sz="1200">
                <ns14:latin typeface="Arial"/>
              </ns14:rPr>
              <ns14:t>Risk disclosure: The fund’s NAV fluctuates with market conditions. Capital is at risk.</ns14:t>
            </ns14:r>
          </ns14:p>
          <ns15:p xmlns:ns15="http://schemas.openxmlformats.org/drawingml/2006/main">
            <ns15:r>
              <ns15:rPr sz="1200">
                <ns15:latin typeface="Arial"/>
              </ns15:rPr>
              <ns15:t>https://www.amac.org.cn/xwfb/hydt/202601/P020260202337850951100.pdf</ns15:t>
            </ns15:r>
          </ns15:p>
          <ns16:p xmlns:ns16="http://schemas.openxmlformats.org/drawingml/2006/main">
            <ns16:r>
              <ns16:rPr sz="1200">
                <ns16:latin typeface="Arial"/>
              </ns16:rPr>
              <ns16:t>https://www.yingmi-inc.com/archives/799</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A risk analyst receives a Company A alert: the credit rating is on watch and operating cash flow is under pressure. The analyst gathers three types of evidence in parallel. Holdings identify the exposed funds and holding amounts. Contracts and internal policies identify applicable rules and clauses. Issuer research supports assessment of the event's impact. These searches repeatedly use the same issuer across systems and documents. The analyst brings the evidence together in an event assessment for risk work and discussion.</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Company A’s credit rating is on watch.</ns4:t>
            </ns4:r>
          </ns4:p>
          <ns5:p xmlns:ns5="http://schemas.openxmlformats.org/drawingml/2006/main">
            <ns5:r>
              <ns5:rPr sz="1200">
                <ns5:latin typeface="Arial"/>
              </ns5:rPr>
              <ns5:t>Operating cash flow is under pressure.</ns5:t>
            </ns5:r>
          </ns5:p>
          <ns6:p xmlns:ns6="http://schemas.openxmlformats.org/drawingml/2006/main">
            <ns6:r>
              <ns6:rPr sz="1200">
                <ns6:latin typeface="Arial"/>
              </ns6:rPr>
              <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China Universal uses LLMs to read custodian risk alerts, extract relevant risk information and route it to the risk team's workspace. A related function links monitoring rules with regulations, internal controls and contract terms. The LLM explains the source-text basis for a rule trigger. Tianhong uses event details, comparable past events, industry relationships and market sentiment to support an LLM-drafted event assessment. The assessment compares the event with past cases and outlines potential impacts and follow-up actions. Investment and risk teams discuss the implications. The source-grounded rule explanation and the event-comparison assessment are distinct reported functions.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Event details, comparable past events,</ns4:t>
            </ns4:r>
          </ns4:p>
          <ns5:p xmlns:ns5="http://schemas.openxmlformats.org/drawingml/2006/main">
            <ns5:r>
              <ns5:rPr sz="1200">
                <ns5:latin typeface="Arial"/>
              </ns5:rPr>
              <ns5:t>industry relationships and market sentiment</ns5:t>
            </ns5:r>
          </ns5:p>
          <ns6:p xmlns:ns6="http://schemas.openxmlformats.org/drawingml/2006/main">
            <ns6:r>
              <ns6:rPr sz="1200">
                <ns6:latin typeface="Arial"/>
              </ns6:rPr>
              <ns6:t>https://www.amac.org.cn/xwfb/hydt/202601/P020260202337837900594.pdf</ns6:t>
            </ns6:r>
          </ns6:p>
          <ns7:p xmlns:ns7="http://schemas.openxmlformats.org/drawingml/2006/main">
            <ns7:r>
              <ns7:rPr sz="1200">
                <ns7:latin typeface="Arial"/>
              </ns7:rPr>
              <ns7:t>https://www.amac.org.cn/xwfb/hydt/202601/P020260202337562370809.pdf</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proposal begins with supplied evidence: the Company A alert, a current holding record showing that Product A holds RMB 20 million face value of Company A bonds, and a requirement to update issuer research after a credit event. The LLM identifies the issuer, links fund exposure, reviews applicable clauses and issuer research, and drafts an assessment. Cash-flow pressure affects the issuer's capacity to service debt. The output identifies Product A and a research follow-up to assess cash-flow trends. Risk staff verify exposures and requirements, analysts update the credit assessment, and portfolio managers discuss the response.</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Company A: credit rating on watch.</ns4:t>
            </ns4:r>
          </ns4:p>
          <ns5:p xmlns:ns5="http://schemas.openxmlformats.org/drawingml/2006/main">
            <ns5:r>
              <ns5:rPr sz="1200">
                <ns5:latin typeface="Arial"/>
              </ns5:rPr>
              <ns5:t>Operating cash flow is under pressure.</ns5:t>
            </ns5:r>
          </ns5:p>
          <ns6:p xmlns:ns6="http://schemas.openxmlformats.org/drawingml/2006/main">
            <ns6:r>
              <ns6:rPr sz="1200">
                <ns6:latin typeface="Arial"/>
              </ns6:rPr>
              <ns6:t/>
            </ns6:r>
          </ns6:p>
          <ns7:p xmlns:ns7="http://schemas.openxmlformats.org/drawingml/2006/main">
            <ns7:r>
              <ns7:rPr sz="1200">
                <ns7:latin typeface="Arial"/>
              </ns7:rPr>
              <ns7:t>Product A holds</ns7:t>
            </ns7:r>
          </ns7:p>
          <ns8:p xmlns:ns8="http://schemas.openxmlformats.org/drawingml/2006/main">
            <ns8:r>
              <ns8:rPr sz="1200">
                <ns8:latin typeface="Arial"/>
              </ns8:rPr>
              <ns8:t>Company A bonds</ns8:t>
            </ns8:r>
          </ns8:p>
          <ns9:p xmlns:ns9="http://schemas.openxmlformats.org/drawingml/2006/main">
            <ns9:r>
              <ns9:rPr sz="1200">
                <ns9:latin typeface="Arial"/>
              </ns9:rPr>
              <ns9:t>Face value: RMB 20m</ns9:t>
            </ns9:r>
          </ns9:p>
          <ns10:p xmlns:ns10="http://schemas.openxmlformats.org/drawingml/2006/main">
            <ns10:r>
              <ns10:rPr sz="1200">
                <ns10:latin typeface="Arial"/>
              </ns10:rPr>
              <ns10:t/>
            </ns10:r>
          </ns10:p>
          <ns11:p xmlns:ns11="http://schemas.openxmlformats.org/drawingml/2006/main">
            <ns11:r>
              <ns11:rPr sz="1200">
                <ns11:latin typeface="Arial"/>
              </ns11:rPr>
              <ns11:t>Update issuer research following a credit event.</ns11:t>
            </ns11:r>
          </ns11:p>
          <ns12:p xmlns:ns12="http://schemas.openxmlformats.org/drawingml/2006/main">
            <ns12:r>
              <ns12:rPr sz="1200">
                <ns12:latin typeface="Arial"/>
              </ns12:rPr>
              <ns12:t/>
            </ns12:r>
          </ns12:p>
          <ns13:p xmlns:ns13="http://schemas.openxmlformats.org/drawingml/2006/main">
            <ns13:r>
              <ns13:rPr sz="1200">
                <ns13:latin typeface="Arial"/>
              </ns13:rPr>
              <ns13:t>Cash-flow pressure affects the issuer’s capacity to service debt.</ns13:t>
            </ns13:r>
          </ns13:p>
          <ns14:p xmlns:ns14="http://schemas.openxmlformats.org/drawingml/2006/main">
            <ns14:r>
              <ns14:rPr sz="1200">
                <ns14:latin typeface="Arial"/>
              </ns14:rPr>
              <ns14:t>Review the credit assessment.</ns14:t>
            </ns14:r>
          </ns14:p>
          <ns15:p xmlns:ns15="http://schemas.openxmlformats.org/drawingml/2006/main">
            <ns15:r>
              <ns15:rPr sz="1200">
                <ns15:latin typeface="Arial"/>
              </ns15:rPr>
              <ns15:t>Affected fund: Product A</ns15:t>
            </ns15:r>
          </ns15:p>
          <ns16:p xmlns:ns16="http://schemas.openxmlformats.org/drawingml/2006/main">
            <ns16:r>
              <ns16:rPr sz="1200">
                <ns16:latin typeface="Arial"/>
              </ns16:rPr>
              <ns16:t>Research follow-up: assess cash-flow trends</ns16:t>
            </ns16:r>
          </ns16:p>
          <ns17:p xmlns:ns17="http://schemas.openxmlformats.org/drawingml/2006/main">
            <ns17:r>
              <ns17:rPr sz="1200">
                <ns17:latin typeface="Arial"/>
              </ns17:rPr>
              <ns17:t>https://www.amac.org.cn/xwfb/hydt/202601/P020260202337837900594.pdf</ns17:t>
            </ns17:r>
          </ns17:p>
          <ns18:p xmlns:ns18="http://schemas.openxmlformats.org/drawingml/2006/main">
            <ns18:r>
              <ns18:rPr sz="1200">
                <ns18:latin typeface="Arial"/>
              </ns18:rPr>
              <ns18:t>https://www.amac.org.cn/xwfb/hydt/202601/P020260202337562370809.pdf</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Operations handles several forms of document work. For faxes and scans, colleagues read the material, enter fields, validate them and save a business record. For client-update versions, colleagues compare V1 and V2, interpret the differences and prepare a change summary. That summary then guides the same revision across related client files and product questions and answers. The related documents are inputs to the revision work, and updated materials are its output. Rekeying information and interpreting changes consume time in this current manual workflow.</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HuaAn reports automated data entry for more than eighty percent of faxes handled by its direct-sales counter. The model reads document content, extracts required fields and populates client-service records. ICBCUBS's document-comparison use starts with two existing versions in PDF, Word or scanned form. The model reads and compares them, highlights additions, checks typographical issues and supports export. In the client-update example, the result identifies the added restocking driver and the question of whether restocking continues, while raw-material-cost monitoring is retained. Both V1 and V2 are supplied inputs to comparison.</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HuaAn reports automated data entry for more than 80% of faxes handled by its direct-sales counter.</ns4:t>
            </ns4:r>
          </ns4:p>
          <ns5:p xmlns:ns5="http://schemas.openxmlformats.org/drawingml/2006/main">
            <ns5:r>
              <ns5:rPr sz="1200">
                <ns5:latin typeface="Arial"/>
              </ns5:rPr>
              <ns5:t/>
            </ns5:r>
          </ns5:p>
          <ns6:p xmlns:ns6="http://schemas.openxmlformats.org/drawingml/2006/main">
            <ns6:r>
              <ns6:rPr sz="1200">
                <ns6:latin typeface="Arial"/>
              </ns6:rPr>
              <ns6:t>V1 investment view: Higher sales volumes drove Company A’s revenue growth. We are monitoring raw-material costs.</ns6:t>
            </ns6:r>
          </ns6:p>
          <ns7:p xmlns:ns7="http://schemas.openxmlformats.org/drawingml/2006/main">
            <ns7:r>
              <ns7:rPr sz="1200">
                <ns7:latin typeface="Arial"/>
              </ns7:rPr>
              <ns7:t/>
            </ns7:r>
          </ns7:p>
          <ns8:p xmlns:ns8="http://schemas.openxmlformats.org/drawingml/2006/main">
            <ns8:r>
              <ns8:rPr sz="1200">
                <ns8:latin typeface="Arial"/>
              </ns8:rPr>
              <ns8:t>V2 investment view: Channel restocking supported Company A’s sales volume growth. We are monitoring whether restocking continues, alongside raw-material costs.</ns8:t>
            </ns8:r>
          </ns8:p>
          <ns9:p xmlns:ns9="http://schemas.openxmlformats.org/drawingml/2006/main">
            <ns9:r>
              <ns9:rPr sz="1200">
                <ns9:latin typeface="Arial"/>
              </ns9:rPr>
              <ns9:t>https://edc-book.ccf.org.cn/%E3%80%8A2025CCF%E4%BC%81%E4%B8%9A%E6%95%B0%E5%AD%97%E5%8C%96%E5%8F%91%E5%B1%95%E6%8E%A8%E8%8D%90%E6%A1%88%E4%BE%8B%E9%9B%86%E3%80%8B.pdf</ns9:t>
            </ns9:r>
          </ns9:p>
          <ns10:p xmlns:ns10="http://schemas.openxmlformats.org/drawingml/2006/main">
            <ns10:r>
              <ns10:rPr sz="1200">
                <ns10:latin typeface="Arial"/>
              </ns10:rPr>
              <ns10:t>https://www.amac.org.cn/xwfb/hydt/202601/P020260202337848496316.pdf</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Operations supplies both quarterly-update versions. Document tools identify matching passages and changes to the fund name, reporting period and wording. The LLM then explains what the changes mean, separating new and retained information. The semantic summary records restocking as the added growth driver, continuation of restocking as the added monitoring question, and raw-material costs as retained monitoring. Operations checks the summary, files it with V2 and identifies related client updates and product questions and answers that use the same investment view. Colleagues then apply the relevant revision to those materials.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Channel restocking supported sales volume growth</ns4:t>
            </ns4:r>
          </ns4:p>
          <ns5:p xmlns:ns5="http://schemas.openxmlformats.org/drawingml/2006/main">
            <ns5:r>
              <ns5:rPr sz="1200">
                <ns5:latin typeface="Arial"/>
              </ns5:rPr>
              <ns5:t/>
            </ns5:r>
          </ns5:p>
          <ns6:p xmlns:ns6="http://schemas.openxmlformats.org/drawingml/2006/main">
            <ns6:r>
              <ns6:rPr sz="1200">
                <ns6:latin typeface="Arial"/>
              </ns6:rPr>
              <ns6:t>Added: whether restocking continues.</ns6:t>
            </ns6:r>
          </ns6:p>
          <ns7:p xmlns:ns7="http://schemas.openxmlformats.org/drawingml/2006/main">
            <ns7:r>
              <ns7:rPr sz="1200">
                <ns7:latin typeface="Arial"/>
              </ns7:rPr>
              <ns7:t>Retained: raw-material cost monitoring.</ns7:t>
            </ns7:r>
          </ns7:p>
          <ns8:p xmlns:ns8="http://schemas.openxmlformats.org/drawingml/2006/main">
            <ns8:r>
              <ns8:rPr sz="1200">
                <ns8:latin typeface="Arial"/>
              </ns8:rPr>
              <ns8:t/>
            </ns8:r>
          </ns8:p>
          <ns9:p xmlns:ns9="http://schemas.openxmlformats.org/drawingml/2006/main">
            <ns9:r>
              <ns9:rPr sz="1200">
                <ns9:latin typeface="Arial"/>
              </ns9:rPr>
              <ns9:t>Other client updates and product Q&amp;A</ns9:t>
            </ns9:r>
          </ns9:p>
          <ns10:p xmlns:ns10="http://schemas.openxmlformats.org/drawingml/2006/main">
            <ns10:r>
              <ns10:rPr sz="1200">
                <ns10:latin typeface="Arial"/>
              </ns10:rPr>
              <ns10:t>using this investment view</ns10:t>
            </ns10:r>
          </ns10:p>
          <ns11:p xmlns:ns11="http://schemas.openxmlformats.org/drawingml/2006/main">
            <ns11:r>
              <ns11:rPr sz="1200">
                <ns11:latin typeface="Arial"/>
              </ns11:rPr>
              <ns11:t>https://edc-book.ccf.org.cn/%E3%80%8A2025CCF%E4%BC%81%E4%B8%9A%E6%95%B0%E5%AD%97%E5%8C%96%E5%8F%91%E5%B1%95%E6%8E%A8%E8%8D%90%E6%A1%88%E4%BE%8B%E9%9B%86%E3%80%8B.pdf</ns11:t>
            </ns11:r>
          </ns11:p>
          <ns12:p xmlns:ns12="http://schemas.openxmlformats.org/drawingml/2006/main">
            <ns12:r>
              <ns12:rPr sz="1200">
                <ns12:latin typeface="Arial"/>
              </ns12:rPr>
              <ns12:t>https://www.amac.org.cn/xwfb/hydt/202601/P020260202337848496316.pdf</ns12:t>
            </ns12:r>
          </ns12:p>
          <ns13:p xmlns:ns13="http://schemas.openxmlformats.org/drawingml/2006/main">
            <ns13:r>
              <ns13:rPr sz="1200">
                <ns13:latin typeface="Arial"/>
              </ns13:rPr>
              <ns13:t>https://finance.sina.com.cn/money/fund/jjh/2026-04-30/doc-inhwfyep1330822.shtml</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requested business tool compares two versions while ignoring repeated page headers. The developer translates that rule into requirements, including additions, deletions and edits to genuine body text. Code must read files, match paragraphs and locate the changes. Line and page breaks can disrupt matching, and a changed header can be flagged incorrectly. Testing exposes those false positives, which return to coding and debugging. A working comparison tool and its results follow repeated implementation, testing and correction. Separating repeated headers from genuine body changes is part of the developer’s testing criteria.</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Developer workflow</ns4:t>
            </ns4:r>
          </ns4:p>
          <ns5:p xmlns:ns5="http://schemas.openxmlformats.org/drawingml/2006/main">
            <ns5:r>
              <ns5:rPr sz="1200">
                <ns5:latin typeface="Arial"/>
              </ns5:rPr>
              <ns5:t>Business request: identify changes between the two report versions, excluding repeated page headers.</ns5:t>
            </ns5:r>
          </ns5:p>
          <ns6:p xmlns:ns6="http://schemas.openxmlformats.org/drawingml/2006/main">
            <ns6:r>
              <ns6:rPr sz="1200">
                <ns6:latin typeface="Arial"/>
              </ns6:rPr>
              <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E Fund uses LLMs in development and testing. A developer supplies examples, expected results and the required behavior. The LLM can draft processing code and tests, while the developer runs the code, checks results and supplies error details for refinement. Invesco Great Wall's quantitative team uses locally deployed models for coding support. The team's coding task and the model's assistance are followed by developer checking. The reported scopes differ, and both uses depend on colleagues specifying work and reviewing the output.</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Invesco Great Wall’s quantitative team uses locally deployed models for coding support.</ns4:t>
            </ns4:r>
          </ns4:p>
          <ns5:p xmlns:ns5="http://schemas.openxmlformats.org/drawingml/2006/main">
            <ns5:r>
              <ns5:rPr sz="1200">
                <ns5:latin typeface="Arial"/>
              </ns5:rPr>
              <ns5:t>https://www.amac.org.cn/xwfb/hydt/202601/P020260202337815959196.pdf</ns5:t>
            </ns5:r>
          </ns5:p>
          <ns6:p xmlns:ns6="http://schemas.openxmlformats.org/drawingml/2006/main">
            <ns6:r>
              <ns6:rPr sz="1200">
                <ns6:latin typeface="Arial"/>
              </ns6:rPr>
              <ns6:t>https://gifts.szu.edu.cn/info/1023/1364.htm</ns6:t>
            </ns6:r>
          </ns6:p>
          <ns7:p xmlns:ns7="http://schemas.openxmlformats.org/drawingml/2006/main">
            <ns7:r>
              <ns7:rPr sz="1200">
                <ns7:latin typeface="Arial"/>
              </ns7:rPr>
              <ns7:t>https://www.cls.cn/detail/2237261</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developer defines examples and expected differences using the quarterly-update V1 and V2. The requirement is to compare body text and ignore repeated headers. The LLM drafts paragraph-matching code and tests, and a test runner executes them. In the illustrated failure, body changes are detected but header changes are also flagged. The developer explains the distinction: exclude repeated page headers while retaining genuine body-text changes. The LLM revises the header filter and adds a regression test. The developer reviews and reruns the code, then delivers the tool and user guide after the checks.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Requirement: compare two reports, ignore repeated headers and flag changes to the body text</ns4:t>
            </ns4:r>
          </ns4:p>
          <ns5:p xmlns:ns5="http://schemas.openxmlformats.org/drawingml/2006/main">
            <ns5:r>
              <ns5:rPr sz="1200">
                <ns5:latin typeface="Arial"/>
              </ns5:rPr>
              <ns5:t>https://www.amac.org.cn/xwfb/hydt/202601/P020260202337815959196.pdf</ns5:t>
            </ns5:r>
          </ns5:p>
          <ns6:p xmlns:ns6="http://schemas.openxmlformats.org/drawingml/2006/main">
            <ns6:r>
              <ns6:rPr sz="1200">
                <ns6:latin typeface="Arial"/>
              </ns6:rPr>
              <ns6:t>https://www.cls.cn/detail/2237261</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Additional back-office uses combine language work with sources and execution tools. China Merchants Fund and Ping An Fund use LLMs to retrieve and explain guidance for employee policy and process questions. Maxwealth Fund's email-security use considers email content, attachments and links; the LLM assesses context and intent and invokes detection tools. In a China Universal patent proposal, the LLM interprets a business-analytics request, algorithms quantify contributions to the selected metric and the LLM drafts the analytical summary. The requested fund, period and metric remain the starting point, and quantitative computation belongs to the algorithms.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Method proposed in a China Universal patent</ns4:t>
            </ns4:r>
          </ns4:p>
          <ns5:p xmlns:ns5="http://schemas.openxmlformats.org/drawingml/2006/main">
            <ns5:r>
              <ns5:rPr sz="1200">
                <ns5:latin typeface="Arial"/>
              </ns5:rPr>
              <ns5:t>https://fund.10jqka.com.cn/20251111/c672391490.shtml</ns5:t>
            </ns5:r>
          </ns5:p>
          <ns6:p xmlns:ns6="http://schemas.openxmlformats.org/drawingml/2006/main">
            <ns6:r>
              <ns6:rPr sz="1200">
                <ns6:latin typeface="Arial"/>
              </ns6:rPr>
              <ns6:t>https://www.cs.com.cn/ssgs/gsxl/202602/t20260206_6537131.html</ns6:t>
            </ns6:r>
          </ns6:p>
          <ns7:p xmlns:ns7="http://schemas.openxmlformats.org/drawingml/2006/main">
            <ns7:r>
              <ns7:rPr sz="1200">
                <ns7:latin typeface="Arial"/>
              </ns7:rPr>
              <ns7:t>https://www.amac.org.cn/xwfb/hydt/202607/P020260701319545695145.pdf</ns7:t>
            </ns7:r>
          </ns7:p>
          <ns8:p xmlns:ns8="http://schemas.openxmlformats.org/drawingml/2006/main">
            <ns8:r>
              <ns8:rPr sz="1200">
                <ns8:latin typeface="Arial"/>
              </ns8:rPr>
              <ns8:t>https://patents.google.com/patent/CN121958380A/zh</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seven proposals produce identifiable outputs for colleagues. Analysts receive source-backed research summaries; traders receive bond and quote summaries; client-facing teams receive updates and responses. Reviewers receive explained findings and proposed revisions, risk teams receive assessments and follow-up items, operations receives records and change summaries, and developers receive code and test material. LLMs support reading, comparison and drafting across these tasks. Colleagues verify the output, use the relevant sources and exercise professional judgment in the business decision.</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
            </ns4:r>
          </ns4:p>
          <ns5:p xmlns:ns5="http://schemas.openxmlformats.org/drawingml/2006/main">
            <ns5:r>
              <ns5:rPr sz="1200">
                <ns5:latin typeface="Arial"/>
              </ns5:rPr>
              <ns5:t>https://www.amac.org.cn/xwfb/hydt/202601/P020260202337562370809.pdf</ns5:t>
            </ns5:r>
          </ns5:p>
          <ns6:p xmlns:ns6="http://schemas.openxmlformats.org/drawingml/2006/main">
            <ns6:r>
              <ns6:rPr sz="1200">
                <ns6:latin typeface="Arial"/>
              </ns6:rPr>
              <ns6:t>https://www.amac.org.cn/xwfb/hydt/202601/P020260202337849876845.pdf</ns6:t>
            </ns6:r>
          </ns6:p>
          <ns7:p xmlns:ns7="http://schemas.openxmlformats.org/drawingml/2006/main">
            <ns7:r>
              <ns7:rPr sz="1200">
                <ns7:latin typeface="Arial"/>
              </ns7:rPr>
              <ns7:t>https://www.amac.org.cn/xwfb/hydt/202601/P020260202337850951100.pdf</ns7:t>
            </ns7:r>
          </ns7:p>
          <ns8:p xmlns:ns8="http://schemas.openxmlformats.org/drawingml/2006/main">
            <ns8:r>
              <ns8:rPr sz="1200">
                <ns8:latin typeface="Arial"/>
              </ns8:rPr>
              <ns8:t>https://www.amac.org.cn/xwfb/hydt/202601/P020260202337837900594.pdf</ns8:t>
            </ns8:r>
          </ns8:p>
          <ns9:p xmlns:ns9="http://schemas.openxmlformats.org/drawingml/2006/main">
            <ns9:r>
              <ns9:rPr sz="1200">
                <ns9:latin typeface="Arial"/>
              </ns9:rPr>
              <ns9:t>https://www.amac.org.cn/xwfb/hydt/202601/P020260202337848496316.pdf</ns9:t>
            </ns9:r>
          </ns9:p>
          <ns10:p xmlns:ns10="http://schemas.openxmlformats.org/drawingml/2006/main">
            <ns10:r>
              <ns10:rPr sz="1200">
                <ns10:latin typeface="Arial"/>
              </ns10:rPr>
              <ns10:t>https://www.amac.org.cn/xwfb/hydt/202601/P020260202337815959196.pdf</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Company A provides a common issuer identity across research, trading support, risk work and document maintenance. Colleagues share company analysis, bond and quote summaries, event assessments, exposure information and related records. The same information supports several teams' work. The quarterly client update is a second recurring object: the client team prepares V1, author and reviewer produce the reviewed V2, and operations compares versions and updates related material. Shared sources and version history help colleagues avoid repeated searches and inconsistent explanations across the front, middle and back offices.</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Employees provide a business question and relevant material to an application supporting one of the seven tasks. The application combines language-model work with operational tools. The LLM interprets questions, compares sources and drafts content. Tools query systems, perform calculations, process files and run code or tests. Shared approved documents, knowledge bases and business data support both roles, with access controls, source references and version history. The application returns a concrete business output, such as a client-update draft, for staff to check and use. Qwen and DeepSeek are candidates for evaluation on the company's tasks.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Shared documents, knowledge bases and business data</ns4:t>
            </ns4:r>
          </ns4:p>
          <ns5:p xmlns:ns5="http://schemas.openxmlformats.org/drawingml/2006/main">
            <ns5:r>
              <ns5:rPr sz="1200">
                <ns5:latin typeface="Arial"/>
              </ns5:rPr>
              <ns5:t>with access controls, source references and version history</ns5:t>
            </ns5:r>
          </ns5:p>
          <ns6:p xmlns:ns6="http://schemas.openxmlformats.org/drawingml/2006/main">
            <ns6:r>
              <ns6:rPr sz="1200">
                <ns6:latin typeface="Arial"/>
              </ns6:rPr>
              <ns6:t/>
            </ns6:r>
          </ns6:p>
          <ns7:p xmlns:ns7="http://schemas.openxmlformats.org/drawingml/2006/main">
            <ns7:r>
              <ns7:rPr sz="1200">
                <ns7:latin typeface="Arial"/>
              </ns7:rPr>
              <ns7:t>Qwen and DeepSeek are candidates for evaluation on the firm’s tasks.</ns7:t>
            </ns7:r>
          </ns7:p>
          <ns8:p xmlns:ns8="http://schemas.openxmlformats.org/drawingml/2006/main">
            <ns8:r>
              <ns8:rPr sz="1200">
                <ns8:latin typeface="Arial"/>
              </ns8:rPr>
              <ns8:t>https://www.amac.org.cn/xwfb/hydt/202601/P020260202337562370809.pdf</ns8:t>
            </ns8:r>
          </ns8:p>
          <ns9:p xmlns:ns9="http://schemas.openxmlformats.org/drawingml/2006/main">
            <ns9:r>
              <ns9:rPr sz="1200">
                <ns9:latin typeface="Arial"/>
              </ns9:rPr>
              <ns9:t>https://www.amac.org.cn/xwfb/hydt/202601/P020260202337849876845.pdf</ns9:t>
            </ns9:r>
          </ns9:p>
          <ns10:p xmlns:ns10="http://schemas.openxmlformats.org/drawingml/2006/main">
            <ns10:r>
              <ns10:rPr sz="1200">
                <ns10:latin typeface="Arial"/>
              </ns10:rPr>
              <ns10:t>https://www.amac.org.cn/xwfb/hydt/202601/P020260202337848496316.pdf</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Implementation proceeds through three business-led phases. The first focuses on research and client communications, with research, sales, compliance and IT contributing sample tasks, a source inventory and initial applications. The second integrates trading and operations, with trading, operations and IT defining data, system-query interfaces and document workflows. The third expands development support and internal services, with business teams and IT delivering tools, user guides and named maintenance ownership. Each phase has an identifiable business scope and a usable deliverable. The work can be planned and assessed against those business deliverables.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Research and client communications</ns4:t>
            </ns4:r>
          </ns4:p>
          <ns5:p xmlns:ns5="http://schemas.openxmlformats.org/drawingml/2006/main">
            <ns5:r>
              <ns5:rPr sz="1200">
                <ns5:latin typeface="Arial"/>
              </ns5:rPr>
              <ns5:t>Participating teams: Research, sales, compliance and IT</ns5:t>
            </ns5:r>
          </ns5:p>
          <ns6:p xmlns:ns6="http://schemas.openxmlformats.org/drawingml/2006/main">
            <ns6:r>
              <ns6:rPr sz="1200">
                <ns6:latin typeface="Arial"/>
              </ns6:rPr>
              <ns6:t>Deliverables: Sample tasks, source inventory and initial applications</ns6:t>
            </ns6:r>
          </ns6:p>
          <ns7:p xmlns:ns7="http://schemas.openxmlformats.org/drawingml/2006/main">
            <ns7:r>
              <ns7:rPr sz="1200">
                <ns7:latin typeface="Arial"/>
              </ns7:rPr>
              <ns7:t/>
            </ns7:r>
          </ns7:p>
          <ns8:p xmlns:ns8="http://schemas.openxmlformats.org/drawingml/2006/main">
            <ns8:r>
              <ns8:rPr sz="1200">
                <ns8:latin typeface="Arial"/>
              </ns8:rPr>
              <ns8:t>Trading and operations integration</ns8:t>
            </ns8:r>
          </ns8:p>
          <ns9:p xmlns:ns9="http://schemas.openxmlformats.org/drawingml/2006/main">
            <ns9:r>
              <ns9:rPr sz="1200">
                <ns9:latin typeface="Arial"/>
              </ns9:rPr>
              <ns9:t>Participating teams: Trading, operations, IT</ns9:t>
            </ns9:r>
          </ns9:p>
          <ns10:p xmlns:ns10="http://schemas.openxmlformats.org/drawingml/2006/main">
            <ns10:r>
              <ns10:rPr sz="1200">
                <ns10:latin typeface="Arial"/>
              </ns10:rPr>
              <ns10:t>Deliverables: Data definitions, system query interfaces and document workflows</ns10:t>
            </ns10:r>
          </ns10:p>
          <ns11:p xmlns:ns11="http://schemas.openxmlformats.org/drawingml/2006/main">
            <ns11:r>
              <ns11:rPr sz="1200">
                <ns11:latin typeface="Arial"/>
              </ns11:rPr>
              <ns11:t/>
            </ns11:r>
          </ns11:p>
          <ns12:p xmlns:ns12="http://schemas.openxmlformats.org/drawingml/2006/main">
            <ns12:r>
              <ns12:rPr sz="1200">
                <ns12:latin typeface="Arial"/>
              </ns12:rPr>
              <ns12:t>Development support and internal services</ns12:t>
            </ns12:r>
          </ns12:p>
          <ns13:p xmlns:ns13="http://schemas.openxmlformats.org/drawingml/2006/main">
            <ns13:r>
              <ns13:rPr sz="1200">
                <ns13:latin typeface="Arial"/>
              </ns13:rPr>
              <ns13:t>Participating teams: Business teams, IT</ns13:t>
            </ns13:r>
          </ns13:p>
          <ns14:p xmlns:ns14="http://schemas.openxmlformats.org/drawingml/2006/main">
            <ns14:r>
              <ns14:rPr sz="1200">
                <ns14:latin typeface="Arial"/>
              </ns14:rPr>
              <ns14:t>Deliverables: Business tools, user guides and named maintenance owners</ns14:t>
            </ns14:r>
          </ns14:p>
          <ns15:p xmlns:ns15="http://schemas.openxmlformats.org/drawingml/2006/main">
            <ns15:r>
              <ns15:rPr sz="1200">
                <ns15:latin typeface="Arial"/>
              </ns15:rPr>
              <ns15:t/>
            </ns15:r>
          </ns1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Evaluation begins with a baseline for research and client-communications tasks. Colleagues use the application and record the outcome. Completion time runs from starting the task to completing its output. Output use records whether teams actually use the analysis and materials. Rework records revision rounds and repeated checks. Repeat usage records whether employees continue to use the application. The team compares those results with the baseline, reviews where the workflow needs improvement and refines it before subsequent use. The baseline comparison establishes the effect on actual employee work.</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Task completion time: Time from starting the task to completing the output</ns4:t>
            </ns4:r>
          </ns4:p>
          <ns5:p xmlns:ns5="http://schemas.openxmlformats.org/drawingml/2006/main">
            <ns5:r>
              <ns5:rPr sz="1200">
                <ns5:latin typeface="Arial"/>
              </ns5:rPr>
              <ns5:t/>
            </ns5:r>
          </ns5:p>
          <ns6:p xmlns:ns6="http://schemas.openxmlformats.org/drawingml/2006/main">
            <ns6:r>
              <ns6:rPr sz="1200">
                <ns6:latin typeface="Arial"/>
              </ns6:rPr>
              <ns6:t>Use of outputs: Whether teams use the analysis and materials</ns6:t>
            </ns6:r>
          </ns6:p>
          <ns7:p xmlns:ns7="http://schemas.openxmlformats.org/drawingml/2006/main">
            <ns7:r>
              <ns7:rPr sz="1200">
                <ns7:latin typeface="Arial"/>
              </ns7:rPr>
              <ns7:t/>
            </ns7:r>
          </ns7:p>
          <ns8:p xmlns:ns8="http://schemas.openxmlformats.org/drawingml/2006/main">
            <ns8:r>
              <ns8:rPr sz="1200">
                <ns8:latin typeface="Arial"/>
              </ns8:rPr>
              <ns8:t>Rework: Revision rounds and repeated checks</ns8:t>
            </ns8:r>
          </ns8:p>
          <ns9:p xmlns:ns9="http://schemas.openxmlformats.org/drawingml/2006/main">
            <ns9:r>
              <ns9:rPr sz="1200">
                <ns9:latin typeface="Arial"/>
              </ns9:rPr>
              <ns9:t/>
            </ns9:r>
          </ns9:p>
          <ns10:p xmlns:ns10="http://schemas.openxmlformats.org/drawingml/2006/main">
            <ns10:r>
              <ns10:rPr sz="1200">
                <ns10:latin typeface="Arial"/>
              </ns10:rPr>
              <ns10:t>Repeat usage: Whether employees continue to use the application</ns10:t>
            </ns10:r>
          </ns10:p>
          <ns11:p xmlns:ns11="http://schemas.openxmlformats.org/drawingml/2006/main">
            <ns11:r>
              <ns11:rPr sz="1200">
                <ns11:latin typeface="Arial"/>
              </ns11:rPr>
              <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cac25ae99f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4dc7a655ad4c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daa079051242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3dc999c68645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4aa2ea94bf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15d265b63148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89FD1-237E-4FFB-9EDC-E99B7E6302B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2F6503-E025-46AB-BFDE-DC6F30F8A82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ADE691-D2D0-4FD3-B05C-EB229AD3808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C735F-302C-4064-B236-46E3F9B7557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16C8DD-22A9-489C-89E9-1820486920E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200D55-E0D9-47D5-97BF-798F2EA1505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3AEA6-B25A-4B46-84AC-722E354ED8F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DCACC-44BB-4C20-8BB2-5D199370144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87A7E-8B85-4D8C-A05C-64DD0F6A7B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72F7AB-EA61-4AF7-9DD5-24531A56195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c6559d5654898" /><Relationship Type="http://schemas.openxmlformats.org/officeDocument/2006/relationships/slideLayout" Target="/ppt/slideLayouts/slideLayout1.xml" Id="R953961fca10546e6" /><Relationship Type="http://schemas.openxmlformats.org/officeDocument/2006/relationships/slideLayout" Target="/ppt/slideLayouts/slideLayout2.xml" Id="R86afab1696fe495a" /><Relationship Type="http://schemas.openxmlformats.org/officeDocument/2006/relationships/slideLayout" Target="/ppt/slideLayouts/slideLayout3.xml" Id="R07ddffa513f54013" /><Relationship Type="http://schemas.openxmlformats.org/officeDocument/2006/relationships/slideLayout" Target="/ppt/slideLayouts/slideLayout4.xml" Id="Ra2f48ef40dbf4d5d" /><Relationship Type="http://schemas.openxmlformats.org/officeDocument/2006/relationships/slideLayout" Target="/ppt/slideLayouts/slideLayout5.xml" Id="R57414f87ec0143b9" /><Relationship Type="http://schemas.openxmlformats.org/officeDocument/2006/relationships/slideLayout" Target="/ppt/slideLayouts/slideLayout6.xml" Id="Ra7ef067c64e34b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961fca10546e6"/>
    <p:sldLayoutId xmlns:r="http://schemas.openxmlformats.org/officeDocument/2006/relationships" id="2147483650" r:id="R86afab1696fe495a"/>
    <p:sldLayoutId xmlns:r="http://schemas.openxmlformats.org/officeDocument/2006/relationships" id="2147483651" r:id="R07ddffa513f54013"/>
    <p:sldLayoutId xmlns:r="http://schemas.openxmlformats.org/officeDocument/2006/relationships" id="2147483652" r:id="Ra2f48ef40dbf4d5d"/>
    <p:sldLayoutId xmlns:r="http://schemas.openxmlformats.org/officeDocument/2006/relationships" id="2147483653" r:id="R57414f87ec0143b9"/>
    <p:sldLayoutId xmlns:r="http://schemas.openxmlformats.org/officeDocument/2006/relationships" id="2147483654" r:id="Ra7ef067c64e34b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9c1de7e97624269"/><Relationship Type="http://schemas.openxmlformats.org/officeDocument/2006/relationships/image" Target="/ppt/media/image.png" Id="R433e7dc3e29946a7"/><Relationship Type="http://schemas.openxmlformats.org/officeDocument/2006/relationships/notesSlide" Target="/ppt/notesSlides/notesSlide1.xml" Id="R9ac16d97ce854a9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87bd5c0f9d74658"/><Relationship Type="http://schemas.openxmlformats.org/officeDocument/2006/relationships/notesSlide" Target="/ppt/notesSlides/notesSlide2.xml" Id="Rd0077cd79ca64c3a"/></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ded56dda69a4f0e"/><Relationship Type="http://schemas.openxmlformats.org/officeDocument/2006/relationships/notesSlide" Target="/ppt/notesSlides/notesSlide3.xml" Id="Rcce2cef2f943400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0573b4ab1774470"/><Relationship Type="http://schemas.openxmlformats.org/officeDocument/2006/relationships/notesSlide" Target="/ppt/notesSlides/notesSlide4.xml" Id="R8ac2a7c4baef477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41253688bc548cb"/><Relationship Type="http://schemas.openxmlformats.org/officeDocument/2006/relationships/notesSlide" Target="/ppt/notesSlides/notesSlide5.xml" Id="R5dd1d781eed7404e"/></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440c3e595044d09"/><Relationship Type="http://schemas.openxmlformats.org/officeDocument/2006/relationships/notesSlide" Target="/ppt/notesSlides/notesSlide6.xml" Id="R4d39fe890d4044b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32ae45926b34951"/><Relationship Type="http://schemas.openxmlformats.org/officeDocument/2006/relationships/notesSlide" Target="/ppt/notesSlides/notesSlide7.xml" Id="Rb90c125dd68c44e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22f437773af4469d"/><Relationship Type="http://schemas.openxmlformats.org/officeDocument/2006/relationships/notesSlide" Target="/ppt/notesSlides/notesSlide8.xml" Id="R224d7db8d8824f1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682d9ed0f1d0485f"/><Relationship Type="http://schemas.openxmlformats.org/officeDocument/2006/relationships/notesSlide" Target="/ppt/notesSlides/notesSlide9.xml" Id="Rb7ed4b85560b4dd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926eda7c631d4f89"/><Relationship Type="http://schemas.openxmlformats.org/officeDocument/2006/relationships/notesSlide" Target="/ppt/notesSlides/notesSlide10.xml" Id="Re70d6e70f15a4cc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b3d2eb64faa47a2"/><Relationship Type="http://schemas.openxmlformats.org/officeDocument/2006/relationships/notesSlide" Target="/ppt/notesSlides/notesSlide11.xml" Id="R5930b64dce294e5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c45548881724d3e"/><Relationship Type="http://schemas.openxmlformats.org/officeDocument/2006/relationships/notesSlide" Target="/ppt/notesSlides/notesSlide12.xml" Id="Raa3242d8ae77458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a4afa09e8a4947ba"/><Relationship Type="http://schemas.openxmlformats.org/officeDocument/2006/relationships/notesSlide" Target="/ppt/notesSlides/notesSlide13.xml" Id="R25f1c7c8428d4b8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ca58b97c0247453a"/><Relationship Type="http://schemas.openxmlformats.org/officeDocument/2006/relationships/notesSlide" Target="/ppt/notesSlides/notesSlide14.xml" Id="R193f4190a03b4ea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ef3208d926ea4706"/><Relationship Type="http://schemas.openxmlformats.org/officeDocument/2006/relationships/notesSlide" Target="/ppt/notesSlides/notesSlide15.xml" Id="R23824575497e4e5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1f71cae05eb430a"/><Relationship Type="http://schemas.openxmlformats.org/officeDocument/2006/relationships/notesSlide" Target="/ppt/notesSlides/notesSlide16.xml" Id="R8ed82f0f6d0a488b"/></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d7210c0a2e1a4f81"/><Relationship Type="http://schemas.openxmlformats.org/officeDocument/2006/relationships/notesSlide" Target="/ppt/notesSlides/notesSlide17.xml" Id="Rf79f4d1cf0b340ac"/></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8af1aa415e5845d9"/><Relationship Type="http://schemas.openxmlformats.org/officeDocument/2006/relationships/notesSlide" Target="/ppt/notesSlides/notesSlide18.xml" Id="R2d852cee189f48f6"/></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4001eb2a99e043ac"/><Relationship Type="http://schemas.openxmlformats.org/officeDocument/2006/relationships/notesSlide" Target="/ppt/notesSlides/notesSlide19.xml" Id="R1e9a460c87d8495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fb302cf9a6740dd"/><Relationship Type="http://schemas.openxmlformats.org/officeDocument/2006/relationships/notesSlide" Target="/ppt/notesSlides/notesSlide20.xml" Id="R0d71924c13174774"/></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1cf227bda824230"/><Relationship Type="http://schemas.openxmlformats.org/officeDocument/2006/relationships/notesSlide" Target="/ppt/notesSlides/notesSlide21.xml" Id="R0e0878aa8ed24f88"/></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bcf5ad67c65e41df"/><Relationship Type="http://schemas.openxmlformats.org/officeDocument/2006/relationships/notesSlide" Target="/ppt/notesSlides/notesSlide22.xml" Id="R1374e923b0134a82"/></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c7053a3a4244ae4"/><Relationship Type="http://schemas.openxmlformats.org/officeDocument/2006/relationships/notesSlide" Target="/ppt/notesSlides/notesSlide23.xml" Id="R4a511323866148b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338b0999d85f4863"/><Relationship Type="http://schemas.openxmlformats.org/officeDocument/2006/relationships/notesSlide" Target="/ppt/notesSlides/notesSlide24.xml" Id="R71173a4565634041"/></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4e7edce701e4b1f"/><Relationship Type="http://schemas.openxmlformats.org/officeDocument/2006/relationships/notesSlide" Target="/ppt/notesSlides/notesSlide25.xml" Id="Rb35669d9efaa4f29"/></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bc6aff22cd640f4"/><Relationship Type="http://schemas.openxmlformats.org/officeDocument/2006/relationships/notesSlide" Target="/ppt/notesSlides/notesSlide26.xml" Id="Rb7ee1265b5cf464a"/></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722816a6ad0a441e"/><Relationship Type="http://schemas.openxmlformats.org/officeDocument/2006/relationships/notesSlide" Target="/ppt/notesSlides/notesSlide27.xml" Id="R6ea6b6b85ed34a9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7692f7d257045b7"/><Relationship Type="http://schemas.openxmlformats.org/officeDocument/2006/relationships/notesSlide" Target="/ppt/notesSlides/notesSlide28.xml" Id="R3501c9cbe3c54793"/></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0f53c1959db46e2"/><Relationship Type="http://schemas.openxmlformats.org/officeDocument/2006/relationships/notesSlide" Target="/ppt/notesSlides/notesSlide29.xml" Id="R888b1c60126140c2"/></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79df8258edd4ea0"/><Relationship Type="http://schemas.openxmlformats.org/officeDocument/2006/relationships/notesSlide" Target="/ppt/notesSlides/notesSlide30.xml" Id="R7fb49fbaa1914544"/></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0ca87d761764146"/><Relationship Type="http://schemas.openxmlformats.org/officeDocument/2006/relationships/notesSlide" Target="/ppt/notesSlides/notesSlide31.xml" Id="Rb9ad0b5e390f415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a92c8c5714a14f5d"/><Relationship Type="http://schemas.openxmlformats.org/officeDocument/2006/relationships/notesSlide" Target="/ppt/notesSlides/notesSlide32.xml" Id="R71d82c28da8b4fe7"/></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a6911a07832a4a4d"/><Relationship Type="http://schemas.openxmlformats.org/officeDocument/2006/relationships/notesSlide" Target="/ppt/notesSlides/notesSlide33.xml" Id="R2415b65a7d5e495e"/></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LLMs in Asset Management</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Industry examples and proposed applications</ns13:t>
            </ns13:r>
          </ns13:p>
        </p:txBody>
      </p:sp>
      <p:pic>
        <p:nvPicPr>
          <p:cNvPr id="103" name="cover.business.scene">
            <a:extLst xmlns:a="http://schemas.openxmlformats.org/drawingml/2006/main">
              <a:ext uri="{FF2B5EF4-FFF2-40B4-BE49-F238E27FC236}">
                <a16:creationId xmlns:a16="http://schemas.microsoft.com/office/drawing/2014/main" id="{A178AB92-7B58-49B1-A775-E8357255FAAC}"/>
              </a:ext>
            </a:extLst>
          </p:cNvPr>
          <p:cNvPicPr>
            <a:picLocks xmlns:a="http://schemas.openxmlformats.org/drawingml/2006/main" noChangeAspect="1"/>
          </p:cNvPicPr>
          <p:nvPr/>
        </p:nvPicPr>
        <p:blipFill>
          <a:blip xmlns:r="http://schemas.openxmlformats.org/officeDocument/2006/relationships" xmlns:a="http://schemas.openxmlformats.org/drawingml/2006/main" r:embed="R433e7dc3e29946a7"/>
          <a:stretch xmlns:a="http://schemas.openxmlformats.org/drawingml/2006/main">
            <a:fillRect l="0" t="0" r="0" b="0"/>
          </a:stretch>
        </p:blipFill>
        <p:spPr>
          <a:xfrm xmlns:a="http://schemas.openxmlformats.org/drawingml/2006/main">
            <a:off x="4572000" y="1476000"/>
            <a:ext cx="4114800" cy="2743200"/>
          </a:xfrm>
          <a:prstGeom xmlns:a="http://schemas.openxmlformats.org/drawingml/2006/main" prst="rect">
            <a:avLst/>
          </a:prstGeom>
        </p:spPr>
      </p:pic>
      <p:sp>
        <p:nvSpPr>
          <p:cNvPr id="104" name="cover.scope"/>
          <p:cNvSpPr/>
          <p:nvPr/>
        </p:nvSpPr>
        <p:spPr>
          <ns14:xfrm xmlns:ns14="http://schemas.openxmlformats.org/drawingml/2006/main">
            <ns14:off x="457200" y="1602000"/>
            <ns14:ext cx="3744000" cy="288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600" b="0">
                <ns20:solidFill>
                  <ns20:srgbClr val="005A9C"/>
                </ns20:solidFill>
                <ns20:latin typeface="Arial"/>
                <ns20:ea typeface="Arial"/>
                <ns20:cs typeface="Arial"/>
              </ns20:defRPr>
            </ns20:pPr>
            <ns20:r>
              <ns20:rPr sz="1600" b="0">
                <ns20:solidFill>
                  <ns20:srgbClr val="005A9C"/>
                </ns20:solidFill>
                <ns20:latin typeface="Arial"/>
                <ns20:ea typeface="Arial"/>
                <ns20:cs typeface="Arial"/>
              </ns20:rPr>
              <ns20:t>Mainland asset management</ns20:t>
            </ns20:r>
          </ns20:p>
        </p:txBody>
      </p:sp>
      <p:sp>
        <p:nvSpPr>
          <p:cNvPr id="105" name="cover.date"/>
          <p:cNvSpPr/>
          <p:nvPr/>
        </p:nvSpPr>
        <p:spPr>
          <ns21:xfrm xmlns:ns21="http://schemas.openxmlformats.org/drawingml/2006/main">
            <ns21:off x="457200" y="3888000"/>
            <ns21:ext cx="3744000" cy="216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300" b="0">
                <ns27:solidFill>
                  <ns27:srgbClr val="65727D"/>
                </ns27:solidFill>
                <ns27:latin typeface="Arial"/>
                <ns27:ea typeface="Arial"/>
                <ns27:cs typeface="Arial"/>
              </ns27:defRPr>
            </ns27:pPr>
            <ns27:r>
              <ns27:rPr sz="1300" b="0">
                <ns27:solidFill>
                  <ns27:srgbClr val="65727D"/>
                </ns27:solidFill>
                <ns27:latin typeface="Arial"/>
                <ns27:ea typeface="Arial"/>
                <ns27:cs typeface="Arial"/>
              </ns27:rPr>
              <ns27:t>October 2026</ns27:t>
            </ns27:r>
          </ns27:p>
        </p:txBody>
      </p:sp>
    </p:spTree>
    <p:extLst>
      <p:ext uri="{BB962C8B-B14F-4D97-AF65-F5344CB8AC3E}">
        <p14:creationId xmlns:p14="http://schemas.microsoft.com/office/powerpoint/2010/main" val="15433753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Scope of proposed LLM applications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Application overview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105"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106"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107" name="map.task.focus.trade"/>
          <p:cNvSpPr/>
          <p:nvPr/>
        </p:nvSpPr>
        <p:spPr>
          <ns35:xfrm xmlns:ns35="http://schemas.openxmlformats.org/drawingml/2006/main">
            <ns35:off x="486000" y="1998000"/>
            <ns35:ext cx="1677600" cy="176400"/>
          </ns35:xfrm>
          <ns36:prstGeom xmlns:ns36="http://schemas.openxmlformats.org/drawingml/2006/main" prst="rect">
            <ns36:avLst/>
          </ns36:prstGeom>
          <ns37:solidFill xmlns:ns37="http://schemas.openxmlformats.org/drawingml/2006/main">
            <ns37:srgbClr val="D9EAF7"/>
          </ns37:solidFill>
          <ns38:ln xmlns:ns38="http://schemas.openxmlformats.org/drawingml/2006/main" w="0">
            <ns38:noFill/>
          </ns38:ln>
        </p:spPr>
      </p:sp>
      <p:sp>
        <p:nvSpPr>
          <p:cNvPr id="108" name="map.task.trade"/>
          <p:cNvSpPr/>
          <p:nvPr/>
        </p:nvSpPr>
        <p:spPr>
          <ns39:xfrm xmlns:ns39="http://schemas.openxmlformats.org/drawingml/2006/main">
            <ns39:off x="554400" y="2001600"/>
            <ns39:ext cx="1562400" cy="165600"/>
          </ns39:xfrm>
          <ns40:prstGeom xmlns:ns40="http://schemas.openxmlformats.org/drawingml/2006/main" prst="rect">
            <ns40:avLst/>
          </ns40:prstGeom>
          <ns41:noFill xmlns:ns41="http://schemas.openxmlformats.org/drawingml/2006/main"/>
          <ns42:ln xmlns:ns42="http://schemas.openxmlformats.org/drawingml/2006/main" w="0">
            <ns42:noFill/>
          </ns42:ln>
        </p:spPr>
        <p:txBody>
          <ns43:bodyPr xmlns:ns43="http://schemas.openxmlformats.org/drawingml/2006/main" wrap="square" lIns="0" rIns="0" tIns="0" bIns="0" anchor="t">
            <ns43:noAutofit/>
          </ns43:bodyPr>
          <ns44:lstStyle xmlns:ns44="http://schemas.openxmlformats.org/drawingml/2006/main"/>
          <ns45:p xmlns:ns45="http://schemas.openxmlformats.org/drawingml/2006/main">
            <ns45:pPr algn="l">
              <ns45:lnSpc>
                <ns45:spcPct val="105000"/>
              </ns45:lnSpc>
              <ns45:defRPr sz="1050" b="1">
                <ns45:solidFill>
                  <ns45:srgbClr val="005A9C"/>
                </ns45:solidFill>
                <ns45:latin typeface="Arial"/>
                <ns45:ea typeface="Arial"/>
                <ns45:cs typeface="Arial"/>
              </ns45:defRPr>
            </ns45:pPr>
            <ns45:r>
              <ns45:rPr sz="1050" b="1">
                <ns45:solidFill>
                  <ns45:srgbClr val="005A9C"/>
                </ns45:solidFill>
                <ns45:latin typeface="Arial"/>
                <ns45:ea typeface="Arial"/>
                <ns45:cs typeface="Arial"/>
              </ns45:rPr>
              <ns45:t>Trading support</ns45:t>
            </ns45:r>
          </ns45:p>
        </p:txBody>
      </p:sp>
      <p:sp>
        <p:nvSpPr>
          <p:cNvPr id="109" name="map.task.focus.client"/>
          <p:cNvSpPr/>
          <p:nvPr/>
        </p:nvSpPr>
        <p:spPr>
          <ns46:xfrm xmlns:ns46="http://schemas.openxmlformats.org/drawingml/2006/main">
            <ns46:off x="486000" y="2196000"/>
            <ns46:ext cx="1677600" cy="176400"/>
          </ns46:xfrm>
          <ns47:prstGeom xmlns:ns47="http://schemas.openxmlformats.org/drawingml/2006/main" prst="rect">
            <ns47:avLst/>
          </ns47:prstGeom>
          <ns48:solidFill xmlns:ns48="http://schemas.openxmlformats.org/drawingml/2006/main">
            <ns48:srgbClr val="D9EAF7"/>
          </ns48:solidFill>
          <ns49:ln xmlns:ns49="http://schemas.openxmlformats.org/drawingml/2006/main" w="0">
            <ns49:noFill/>
          </ns49:ln>
        </p:spPr>
      </p:sp>
      <p:sp>
        <p:nvSpPr>
          <p:cNvPr id="110" name="map.task.client"/>
          <p:cNvSpPr/>
          <p:nvPr/>
        </p:nvSpPr>
        <p:spPr>
          <ns50:xfrm xmlns:ns50="http://schemas.openxmlformats.org/drawingml/2006/main">
            <ns50:off x="554400" y="2199600"/>
            <ns50:ext cx="1562400" cy="165600"/>
          </ns50:xfrm>
          <ns51:prstGeom xmlns:ns51="http://schemas.openxmlformats.org/drawingml/2006/main" prst="rect">
            <ns51:avLst/>
          </ns51:prstGeom>
          <ns52:noFill xmlns:ns52="http://schemas.openxmlformats.org/drawingml/2006/main"/>
          <ns53:ln xmlns:ns53="http://schemas.openxmlformats.org/drawingml/2006/main" w="0">
            <ns53:noFill/>
          </ns53:ln>
        </p:spPr>
        <p:txBody>
          <ns54:bodyPr xmlns:ns54="http://schemas.openxmlformats.org/drawingml/2006/main" wrap="square" lIns="0" rIns="0" tIns="0" bIns="0" anchor="t">
            <ns54:noAutofit/>
          </ns54:bodyPr>
          <ns55:lstStyle xmlns:ns55="http://schemas.openxmlformats.org/drawingml/2006/main"/>
          <ns56:p xmlns:ns56="http://schemas.openxmlformats.org/drawingml/2006/main">
            <ns56:pPr algn="l">
              <ns56:lnSpc>
                <ns56:spcPct val="105000"/>
              </ns56:lnSpc>
              <ns56:defRPr sz="1050" b="1">
                <ns56:solidFill>
                  <ns56:srgbClr val="005A9C"/>
                </ns56:solidFill>
                <ns56:latin typeface="Arial"/>
                <ns56:ea typeface="Arial"/>
                <ns56:cs typeface="Arial"/>
              </ns56:defRPr>
            </ns56:pPr>
            <ns56:r>
              <ns56:rPr sz="1050" b="1">
                <ns56:solidFill>
                  <ns56:srgbClr val="005A9C"/>
                </ns56:solidFill>
                <ns56:latin typeface="Arial"/>
                <ns56:ea typeface="Arial"/>
                <ns56:cs typeface="Arial"/>
              </ns56:rPr>
              <ns56:t>Client materials</ns56:t>
            </ns56:r>
          </ns56:p>
        </p:txBody>
      </p:sp>
      <p:sp>
        <p:nvSpPr>
          <p:cNvPr id="111" name="map.office.1"/>
          <p:cNvSpPr/>
          <p:nvPr/>
        </p:nvSpPr>
        <p:spPr>
          <ns57:xfrm xmlns:ns57="http://schemas.openxmlformats.org/drawingml/2006/main">
            <ns57:off x="486000" y="2548800"/>
            <ns57:ext cx="1692000" cy="180000"/>
          </ns57:xfrm>
          <ns58:prstGeom xmlns:ns58="http://schemas.openxmlformats.org/drawingml/2006/main" prst="rect">
            <ns58:avLst/>
          </ns58:prstGeom>
          <ns59:noFill xmlns:ns59="http://schemas.openxmlformats.org/drawingml/2006/main"/>
          <ns60:ln xmlns:ns60="http://schemas.openxmlformats.org/drawingml/2006/main" w="0">
            <ns60:noFill/>
          </ns60:ln>
        </p:spPr>
        <p:txBody>
          <ns61:bodyPr xmlns:ns61="http://schemas.openxmlformats.org/drawingml/2006/main" wrap="square" lIns="0" rIns="0" tIns="0" bIns="0" anchor="t">
            <ns61:noAutofit/>
          </ns61:bodyPr>
          <ns62:lstStyle xmlns:ns62="http://schemas.openxmlformats.org/drawingml/2006/main"/>
          <ns63:p xmlns:ns63="http://schemas.openxmlformats.org/drawingml/2006/main">
            <ns63:pPr algn="l">
              <ns63:lnSpc>
                <ns63:spcPct val="105000"/>
              </ns63:lnSpc>
              <ns63:defRPr sz="1100" b="1">
                <ns63:solidFill>
                  <ns63:srgbClr val="005A9C"/>
                </ns63:solidFill>
                <ns63:latin typeface="Arial"/>
                <ns63:ea typeface="Arial"/>
                <ns63:cs typeface="Arial"/>
              </ns63:defRPr>
            </ns63:pPr>
            <ns63:r>
              <ns63:rPr sz="1100" b="1">
                <ns63:solidFill>
                  <ns63:srgbClr val="005A9C"/>
                </ns63:solidFill>
                <ns63:latin typeface="Arial"/>
                <ns63:ea typeface="Arial"/>
                <ns63:cs typeface="Arial"/>
              </ns63:rPr>
              <ns63:t>Middle office</ns63:t>
            </ns63:r>
          </ns63:p>
        </p:txBody>
      </p:sp>
      <p:cxnSp>
        <p:nvCxnSpPr>
          <p:cNvPr id="112" name="map.office.rule.1"/>
          <p:cNvCxnSpPr/>
          <p:nvPr/>
        </p:nvCxnSpPr>
        <p:spPr>
          <ns64:xfrm xmlns:ns64="http://schemas.openxmlformats.org/drawingml/2006/main">
            <ns64:off x="457200" y="2768400"/>
            <ns64:ext cx="1742400" cy="1"/>
          </ns64:xfrm>
          <ns65:prstGeom xmlns:ns65="http://schemas.openxmlformats.org/drawingml/2006/main" prst="line">
            <ns65:avLst/>
          </ns65:prstGeom>
          <ns66:ln xmlns:ns66="http://schemas.openxmlformats.org/drawingml/2006/main" w="7620">
            <ns66:solidFill>
              <ns66:srgbClr val="005A9C"/>
            </ns66:solidFill>
          </ns66:ln>
        </p:spPr>
      </p:cxnSp>
      <p:sp>
        <p:nvSpPr>
          <p:cNvPr id="113" name="map.task.focus.review"/>
          <p:cNvSpPr/>
          <p:nvPr/>
        </p:nvSpPr>
        <p:spPr>
          <ns67:xfrm xmlns:ns67="http://schemas.openxmlformats.org/drawingml/2006/main">
            <ns67:off x="486000" y="2844000"/>
            <ns67:ext cx="1677600" cy="176400"/>
          </ns67:xfrm>
          <ns68:prstGeom xmlns:ns68="http://schemas.openxmlformats.org/drawingml/2006/main" prst="rect">
            <ns68:avLst/>
          </ns68:prstGeom>
          <ns69:solidFill xmlns:ns69="http://schemas.openxmlformats.org/drawingml/2006/main">
            <ns69:srgbClr val="D9EAF7"/>
          </ns69:solidFill>
          <ns70:ln xmlns:ns70="http://schemas.openxmlformats.org/drawingml/2006/main" w="0">
            <ns70:noFill/>
          </ns70:ln>
        </p:spPr>
      </p:sp>
      <p:sp>
        <p:nvSpPr>
          <p:cNvPr id="114" name="map.task.review"/>
          <p:cNvSpPr/>
          <p:nvPr/>
        </p:nvSpPr>
        <p:spPr>
          <ns71:xfrm xmlns:ns71="http://schemas.openxmlformats.org/drawingml/2006/main">
            <ns71:off x="554400" y="2847600"/>
            <ns71:ext cx="1562400" cy="165600"/>
          </ns71:xfrm>
          <ns72:prstGeom xmlns:ns72="http://schemas.openxmlformats.org/drawingml/2006/main" prst="rect">
            <ns72:avLst/>
          </ns72:prstGeom>
          <ns73:noFill xmlns:ns73="http://schemas.openxmlformats.org/drawingml/2006/main"/>
          <ns74:ln xmlns:ns74="http://schemas.openxmlformats.org/drawingml/2006/main" w="0">
            <ns74:noFill/>
          </ns74:ln>
        </p:spPr>
        <p:txBody>
          <ns75:bodyPr xmlns:ns75="http://schemas.openxmlformats.org/drawingml/2006/main" wrap="square" lIns="0" rIns="0" tIns="0" bIns="0" anchor="t">
            <ns75:noAutofit/>
          </ns75:bodyPr>
          <ns76:lstStyle xmlns:ns76="http://schemas.openxmlformats.org/drawingml/2006/main"/>
          <ns77:p xmlns:ns77="http://schemas.openxmlformats.org/drawingml/2006/main">
            <ns77:pPr algn="l">
              <ns77:lnSpc>
                <ns77:spcPct val="105000"/>
              </ns77:lnSpc>
              <ns77:defRPr sz="1050" b="1">
                <ns77:solidFill>
                  <ns77:srgbClr val="005A9C"/>
                </ns77:solidFill>
                <ns77:latin typeface="Arial"/>
                <ns77:ea typeface="Arial"/>
                <ns77:cs typeface="Arial"/>
              </ns77:defRPr>
            </ns77:pPr>
            <ns77:r>
              <ns77:rPr sz="1050" b="1">
                <ns77:solidFill>
                  <ns77:srgbClr val="005A9C"/>
                </ns77:solidFill>
                <ns77:latin typeface="Arial"/>
                <ns77:ea typeface="Arial"/>
                <ns77:cs typeface="Arial"/>
              </ns77:rPr>
              <ns77:t>Content review</ns77:t>
            </ns77:r>
          </ns77:p>
        </p:txBody>
      </p:sp>
      <p:sp>
        <p:nvSpPr>
          <p:cNvPr id="115" name="map.task.focus.risk"/>
          <p:cNvSpPr/>
          <p:nvPr/>
        </p:nvSpPr>
        <p:spPr>
          <ns78:xfrm xmlns:ns78="http://schemas.openxmlformats.org/drawingml/2006/main">
            <ns78:off x="486000" y="3042000"/>
            <ns78:ext cx="1677600" cy="176400"/>
          </ns78:xfrm>
          <ns79:prstGeom xmlns:ns79="http://schemas.openxmlformats.org/drawingml/2006/main" prst="rect">
            <ns79:avLst/>
          </ns79:prstGeom>
          <ns80:solidFill xmlns:ns80="http://schemas.openxmlformats.org/drawingml/2006/main">
            <ns80:srgbClr val="D9EAF7"/>
          </ns80:solidFill>
          <ns81:ln xmlns:ns81="http://schemas.openxmlformats.org/drawingml/2006/main" w="0">
            <ns81:noFill/>
          </ns81:ln>
        </p:spPr>
      </p:sp>
      <p:sp>
        <p:nvSpPr>
          <p:cNvPr id="116" name="map.task.risk"/>
          <p:cNvSpPr/>
          <p:nvPr/>
        </p:nvSpPr>
        <p:spPr>
          <ns82:xfrm xmlns:ns82="http://schemas.openxmlformats.org/drawingml/2006/main">
            <ns82:off x="554400" y="3045600"/>
            <ns82:ext cx="1562400" cy="1656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5000"/>
              </ns88:lnSpc>
              <ns88:defRPr sz="1050" b="1">
                <ns88:solidFill>
                  <ns88:srgbClr val="005A9C"/>
                </ns88:solidFill>
                <ns88:latin typeface="Arial"/>
                <ns88:ea typeface="Arial"/>
                <ns88:cs typeface="Arial"/>
              </ns88:defRPr>
            </ns88:pPr>
            <ns88:r>
              <ns88:rPr sz="1050" b="1">
                <ns88:solidFill>
                  <ns88:srgbClr val="005A9C"/>
                </ns88:solidFill>
                <ns88:latin typeface="Arial"/>
                <ns88:ea typeface="Arial"/>
                <ns88:cs typeface="Arial"/>
              </ns88:rPr>
              <ns88:t>Risk analysis</ns88:t>
            </ns88:r>
          </ns88:p>
        </p:txBody>
      </p:sp>
      <p:sp>
        <p:nvSpPr>
          <p:cNvPr id="117" name="map.office.2"/>
          <p:cNvSpPr/>
          <p:nvPr/>
        </p:nvSpPr>
        <p:spPr>
          <ns89:xfrm xmlns:ns89="http://schemas.openxmlformats.org/drawingml/2006/main">
            <ns89:off x="486000" y="3391200"/>
            <ns89:ext cx="1692000" cy="1800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5000"/>
              </ns95:lnSpc>
              <ns95:defRPr sz="1100" b="1">
                <ns95:solidFill>
                  <ns95:srgbClr val="005A9C"/>
                </ns95:solidFill>
                <ns95:latin typeface="Arial"/>
                <ns95:ea typeface="Arial"/>
                <ns95:cs typeface="Arial"/>
              </ns95:defRPr>
            </ns95:pPr>
            <ns95:r>
              <ns95:rPr sz="1100" b="1">
                <ns95:solidFill>
                  <ns95:srgbClr val="005A9C"/>
                </ns95:solidFill>
                <ns95:latin typeface="Arial"/>
                <ns95:ea typeface="Arial"/>
                <ns95:cs typeface="Arial"/>
              </ns95:rPr>
              <ns95:t>Back office</ns95:t>
            </ns95:r>
          </ns95:p>
        </p:txBody>
      </p:sp>
      <p:cxnSp>
        <p:nvCxnSpPr>
          <p:cNvPr id="118" name="map.office.rule.2"/>
          <p:cNvCxnSpPr/>
          <p:nvPr/>
        </p:nvCxnSpPr>
        <p:spPr>
          <ns96:xfrm xmlns:ns96="http://schemas.openxmlformats.org/drawingml/2006/main">
            <ns96:off x="457200" y="3610800"/>
            <ns96:ext cx="1742400" cy="1"/>
          </ns96:xfrm>
          <ns97:prstGeom xmlns:ns97="http://schemas.openxmlformats.org/drawingml/2006/main" prst="line">
            <ns97:avLst/>
          </ns97:prstGeom>
          <ns98:ln xmlns:ns98="http://schemas.openxmlformats.org/drawingml/2006/main" w="7620">
            <ns98:solidFill>
              <ns98:srgbClr val="005A9C"/>
            </ns98:solidFill>
          </ns98:ln>
        </p:spPr>
      </p:cxnSp>
      <p:sp>
        <p:nvSpPr>
          <p:cNvPr id="119" name="map.task.focus.files"/>
          <p:cNvSpPr/>
          <p:nvPr/>
        </p:nvSpPr>
        <p:spPr>
          <ns99:xfrm xmlns:ns99="http://schemas.openxmlformats.org/drawingml/2006/main">
            <ns99:off x="486000" y="3686400"/>
            <ns99:ext cx="1677600" cy="176400"/>
          </ns99:xfrm>
          <ns100:prstGeom xmlns:ns100="http://schemas.openxmlformats.org/drawingml/2006/main" prst="rect">
            <ns100:avLst/>
          </ns100:prstGeom>
          <ns101:solidFill xmlns:ns101="http://schemas.openxmlformats.org/drawingml/2006/main">
            <ns101:srgbClr val="D9EAF7"/>
          </ns101:solidFill>
          <ns102:ln xmlns:ns102="http://schemas.openxmlformats.org/drawingml/2006/main" w="0">
            <ns102:noFill/>
          </ns102:ln>
        </p:spPr>
      </p:sp>
      <p:sp>
        <p:nvSpPr>
          <p:cNvPr id="120" name="map.task.files"/>
          <p:cNvSpPr/>
          <p:nvPr/>
        </p:nvSpPr>
        <p:spPr>
          <ns103:xfrm xmlns:ns103="http://schemas.openxmlformats.org/drawingml/2006/main">
            <ns103:off x="554400" y="3690000"/>
            <ns103:ext cx="1562400" cy="1656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5000"/>
              </ns109:lnSpc>
              <ns109:defRPr sz="1050" b="1">
                <ns109:solidFill>
                  <ns109:srgbClr val="005A9C"/>
                </ns109:solidFill>
                <ns109:latin typeface="Arial"/>
                <ns109:ea typeface="Arial"/>
                <ns109:cs typeface="Arial"/>
              </ns109:defRPr>
            </ns109:pPr>
            <ns109:r>
              <ns109:rPr sz="1050" b="1">
                <ns109:solidFill>
                  <ns109:srgbClr val="005A9C"/>
                </ns109:solidFill>
                <ns109:latin typeface="Arial"/>
                <ns109:ea typeface="Arial"/>
                <ns109:cs typeface="Arial"/>
              </ns109:rPr>
              <ns109:t>Document processing</ns109:t>
            </ns109:r>
          </ns109:p>
        </p:txBody>
      </p:sp>
      <p:sp>
        <p:nvSpPr>
          <p:cNvPr id="121" name="map.task.focus.dev"/>
          <p:cNvSpPr/>
          <p:nvPr/>
        </p:nvSpPr>
        <p:spPr>
          <ns110:xfrm xmlns:ns110="http://schemas.openxmlformats.org/drawingml/2006/main">
            <ns110:off x="486000" y="3884400"/>
            <ns110:ext cx="1677600" cy="176400"/>
          </ns110:xfrm>
          <ns111:prstGeom xmlns:ns111="http://schemas.openxmlformats.org/drawingml/2006/main" prst="rect">
            <ns111:avLst/>
          </ns111:prstGeom>
          <ns112:solidFill xmlns:ns112="http://schemas.openxmlformats.org/drawingml/2006/main">
            <ns112:srgbClr val="D9EAF7"/>
          </ns112:solidFill>
          <ns113:ln xmlns:ns113="http://schemas.openxmlformats.org/drawingml/2006/main" w="0">
            <ns113:noFill/>
          </ns113:ln>
        </p:spPr>
      </p:sp>
      <p:sp>
        <p:nvSpPr>
          <p:cNvPr id="122" name="map.task.dev"/>
          <p:cNvSpPr/>
          <p:nvPr/>
        </p:nvSpPr>
        <p:spPr>
          <ns114:xfrm xmlns:ns114="http://schemas.openxmlformats.org/drawingml/2006/main">
            <ns114:off x="554400" y="3888000"/>
            <ns114:ext cx="1562400" cy="165600"/>
          </ns114:xfrm>
          <ns115:prstGeom xmlns:ns115="http://schemas.openxmlformats.org/drawingml/2006/main" prst="rect">
            <ns115:avLst/>
          </ns115:prstGeom>
          <ns116:noFill xmlns:ns116="http://schemas.openxmlformats.org/drawingml/2006/main"/>
          <ns117:ln xmlns:ns117="http://schemas.openxmlformats.org/drawingml/2006/main" w="0">
            <ns117:noFill/>
          </ns117:ln>
        </p:spPr>
        <p:txBody>
          <ns118:bodyPr xmlns:ns118="http://schemas.openxmlformats.org/drawingml/2006/main" wrap="square" lIns="0" rIns="0" tIns="0" bIns="0" anchor="t">
            <ns118:noAutofit/>
          </ns118:bodyPr>
          <ns119:lstStyle xmlns:ns119="http://schemas.openxmlformats.org/drawingml/2006/main"/>
          <ns120:p xmlns:ns120="http://schemas.openxmlformats.org/drawingml/2006/main">
            <ns120:pPr algn="l">
              <ns120:lnSpc>
                <ns120:spcPct val="105000"/>
              </ns120:lnSpc>
              <ns120:defRPr sz="1050" b="1">
                <ns120:solidFill>
                  <ns120:srgbClr val="005A9C"/>
                </ns120:solidFill>
                <ns120:latin typeface="Arial"/>
                <ns120:ea typeface="Arial"/>
                <ns120:cs typeface="Arial"/>
              </ns120:defRPr>
            </ns120:pPr>
            <ns120:r>
              <ns120:rPr sz="1050" b="1">
                <ns120:solidFill>
                  <ns120:srgbClr val="005A9C"/>
                </ns120:solidFill>
                <ns120:latin typeface="Arial"/>
                <ns120:ea typeface="Arial"/>
                <ns120:cs typeface="Arial"/>
              </ns120:rPr>
              <ns120:t>Tool development</ns120:t>
            </ns120:r>
          </ns120:p>
        </p:txBody>
      </p:sp>
      <p:sp>
        <p:nvSpPr>
          <p:cNvPr id="123" name="map.legend"/>
          <p:cNvSpPr/>
          <p:nvPr/>
        </p:nvSpPr>
        <p:spPr>
          <ns121:xfrm xmlns:ns121="http://schemas.openxmlformats.org/drawingml/2006/main">
            <ns121:off x="486000" y="4363200"/>
            <ns121:ext cx="1684800" cy="162000"/>
          </ns121:xfrm>
          <ns122:prstGeom xmlns:ns122="http://schemas.openxmlformats.org/drawingml/2006/main" prst="rect">
            <ns122:avLst/>
          </ns122:prstGeom>
          <ns123:noFill xmlns:ns123="http://schemas.openxmlformats.org/drawingml/2006/main"/>
          <ns124:ln xmlns:ns124="http://schemas.openxmlformats.org/drawingml/2006/main" w="0">
            <ns124:noFill/>
          </ns124:ln>
        </p:spPr>
        <p:txBody>
          <ns125:bodyPr xmlns:ns125="http://schemas.openxmlformats.org/drawingml/2006/main" wrap="square" lIns="0" rIns="0" tIns="0" bIns="0" anchor="t">
            <ns125:noAutofit/>
          </ns125:bodyPr>
          <ns126:lstStyle xmlns:ns126="http://schemas.openxmlformats.org/drawingml/2006/main"/>
          <ns127:p xmlns:ns127="http://schemas.openxmlformats.org/drawingml/2006/main">
            <ns127:pPr algn="l">
              <ns127:lnSpc>
                <ns127:spcPct val="105000"/>
              </ns127:lnSpc>
              <ns127:defRPr sz="850" b="0">
                <ns127:solidFill>
                  <ns127:srgbClr val="65727D"/>
                </ns127:solidFill>
                <ns127:latin typeface="Arial"/>
                <ns127:ea typeface="Arial"/>
                <ns127:cs typeface="Arial"/>
              </ns127:defRPr>
            </ns127:pPr>
            <ns127:r>
              <ns127:rPr sz="850" b="0">
                <ns127:solidFill>
                  <ns127:srgbClr val="65727D"/>
                </ns127:solidFill>
                <ns127:latin typeface="Arial"/>
                <ns127:ea typeface="Arial"/>
                <ns127:cs typeface="Arial"/>
              </ns127:rPr>
              <ns127:t>Company workflow</ns127:t>
            </ns127:r>
          </ns127:p>
        </p:txBody>
      </p:sp>
      <p:sp>
        <p:nvSpPr>
          <p:cNvPr id="124" name="input.family.0"/>
          <p:cNvSpPr/>
          <p:nvPr/>
        </p:nvSpPr>
        <p:spPr>
          <ns128:xfrm xmlns:ns128="http://schemas.openxmlformats.org/drawingml/2006/main">
            <ns128:off x="2422800" y="1548000"/>
            <ns128:ext cx="1620000" cy="450000"/>
          </ns128:xfrm>
          <ns129:prstGeom xmlns:ns129="http://schemas.openxmlformats.org/drawingml/2006/main" prst="rect">
            <ns129:avLst/>
          </ns129:prstGeom>
          <ns130:solidFill xmlns:ns130="http://schemas.openxmlformats.org/drawingml/2006/main">
            <ns130:srgbClr val="F3F7FA"/>
          </ns130:solidFill>
          <ns131:ln xmlns:ns131="http://schemas.openxmlformats.org/drawingml/2006/main" w="9525">
            <ns131:solidFill>
              <ns131:srgbClr val="65727D"/>
            </ns131:solidFill>
          </ns131:ln>
        </p:spPr>
        <p:txBody>
          <ns132:bodyPr xmlns:ns132="http://schemas.openxmlformats.org/drawingml/2006/main" wrap="square" lIns="61200" rIns="61200" tIns="61200" bIns="61200" anchor="ctr">
            <ns132:noAutofit/>
          </ns132:bodyPr>
          <ns133:lstStyle xmlns:ns133="http://schemas.openxmlformats.org/drawingml/2006/main"/>
          <ns134:p xmlns:ns134="http://schemas.openxmlformats.org/drawingml/2006/main">
            <ns134:pPr algn="l">
              <ns134:lnSpc>
                <ns134:spcPct val="105000"/>
              </ns134:lnSpc>
              <ns134:defRPr sz="1300" b="1">
                <ns134:solidFill>
                  <ns134:srgbClr val="65727D"/>
                </ns134:solidFill>
                <ns134:latin typeface="Arial"/>
                <ns134:ea typeface="Arial"/>
                <ns134:cs typeface="Arial"/>
              </ns134:defRPr>
            </ns134:pPr>
            <ns134:r>
              <ns134:rPr sz="1300" b="1">
                <ns134:solidFill>
                  <ns134:srgbClr val="65727D"/>
                </ns134:solidFill>
                <ns134:latin typeface="Arial"/>
                <ns134:ea typeface="Arial"/>
                <ns134:cs typeface="Arial"/>
              </ns134:rPr>
              <ns134:t>Documents</ns134:t>
            </ns134:r>
          </ns134:p>
        </p:txBody>
      </p:sp>
      <p:sp>
        <p:nvSpPr>
          <p:cNvPr id="125" name="input.family.1"/>
          <p:cNvSpPr/>
          <p:nvPr/>
        </p:nvSpPr>
        <p:spPr>
          <ns135:xfrm xmlns:ns135="http://schemas.openxmlformats.org/drawingml/2006/main">
            <ns135:off x="2422800" y="2214000"/>
            <ns135:ext cx="1620000" cy="450000"/>
          </ns135:xfrm>
          <ns136:prstGeom xmlns:ns136="http://schemas.openxmlformats.org/drawingml/2006/main" prst="rect">
            <ns136:avLst/>
          </ns136:prstGeom>
          <ns137:solidFill xmlns:ns137="http://schemas.openxmlformats.org/drawingml/2006/main">
            <ns137:srgbClr val="F3F7FA"/>
          </ns137:solidFill>
          <ns138:ln xmlns:ns138="http://schemas.openxmlformats.org/drawingml/2006/main" w="9525">
            <ns138:solidFill>
              <ns138:srgbClr val="65727D"/>
            </ns138:solidFill>
          </ns138:ln>
        </p:spPr>
        <p:txBody>
          <ns139:bodyPr xmlns:ns139="http://schemas.openxmlformats.org/drawingml/2006/main" wrap="square" lIns="61200" rIns="61200" tIns="61200" bIns="61200" anchor="ctr">
            <ns139:noAutofit/>
          </ns139:bodyPr>
          <ns140:lstStyle xmlns:ns140="http://schemas.openxmlformats.org/drawingml/2006/main"/>
          <ns141:p xmlns:ns141="http://schemas.openxmlformats.org/drawingml/2006/main">
            <ns141:pPr algn="l">
              <ns141:lnSpc>
                <ns141:spcPct val="105000"/>
              </ns141:lnSpc>
              <ns141:defRPr sz="1300" b="1">
                <ns141:solidFill>
                  <ns141:srgbClr val="65727D"/>
                </ns141:solidFill>
                <ns141:latin typeface="Arial"/>
                <ns141:ea typeface="Arial"/>
                <ns141:cs typeface="Arial"/>
              </ns141:defRPr>
            </ns141:pPr>
            <ns141:r>
              <ns141:rPr sz="1300" b="1">
                <ns141:solidFill>
                  <ns141:srgbClr val="65727D"/>
                </ns141:solidFill>
                <ns141:latin typeface="Arial"/>
                <ns141:ea typeface="Arial"/>
                <ns141:cs typeface="Arial"/>
              </ns141:rPr>
              <ns141:t>Data</ns141:t>
            </ns141:r>
          </ns141:p>
        </p:txBody>
      </p:sp>
      <p:sp>
        <p:nvSpPr>
          <p:cNvPr id="126" name="input.family.2"/>
          <p:cNvSpPr/>
          <p:nvPr/>
        </p:nvSpPr>
        <p:spPr>
          <ns142:xfrm xmlns:ns142="http://schemas.openxmlformats.org/drawingml/2006/main">
            <ns142:off x="2422800" y="2880000"/>
            <ns142:ext cx="1620000" cy="450000"/>
          </ns142:xfrm>
          <ns143:prstGeom xmlns:ns143="http://schemas.openxmlformats.org/drawingml/2006/main" prst="rect">
            <ns143:avLst/>
          </ns143:prstGeom>
          <ns144:solidFill xmlns:ns144="http://schemas.openxmlformats.org/drawingml/2006/main">
            <ns144:srgbClr val="F3F7FA"/>
          </ns144:solidFill>
          <ns145:ln xmlns:ns145="http://schemas.openxmlformats.org/drawingml/2006/main" w="9525">
            <ns145:solidFill>
              <ns145:srgbClr val="65727D"/>
            </ns145:solidFill>
          </ns145:ln>
        </p:spPr>
        <p:txBody>
          <ns146:bodyPr xmlns:ns146="http://schemas.openxmlformats.org/drawingml/2006/main" wrap="square" lIns="61200" rIns="61200" tIns="61200" bIns="61200" anchor="ctr">
            <ns146:noAutofit/>
          </ns146:bodyPr>
          <ns147:lstStyle xmlns:ns147="http://schemas.openxmlformats.org/drawingml/2006/main"/>
          <ns148:p xmlns:ns148="http://schemas.openxmlformats.org/drawingml/2006/main">
            <ns148:pPr algn="l">
              <ns148:lnSpc>
                <ns148:spcPct val="105000"/>
              </ns148:lnSpc>
              <ns148:defRPr sz="1300" b="1">
                <ns148:solidFill>
                  <ns148:srgbClr val="65727D"/>
                </ns148:solidFill>
                <ns148:latin typeface="Arial"/>
                <ns148:ea typeface="Arial"/>
                <ns148:cs typeface="Arial"/>
              </ns148:defRPr>
            </ns148:pPr>
            <ns148:r>
              <ns148:rPr sz="1300" b="1">
                <ns148:solidFill>
                  <ns148:srgbClr val="65727D"/>
                </ns148:solidFill>
                <ns148:latin typeface="Arial"/>
                <ns148:ea typeface="Arial"/>
                <ns148:cs typeface="Arial"/>
              </ns148:rPr>
              <ns148:t>Messages</ns148:t>
            </ns148:r>
          </ns148:p>
        </p:txBody>
      </p:sp>
      <p:sp>
        <p:nvSpPr>
          <p:cNvPr id="127" name="input.family.3"/>
          <p:cNvSpPr/>
          <p:nvPr/>
        </p:nvSpPr>
        <p:spPr>
          <ns149:xfrm xmlns:ns149="http://schemas.openxmlformats.org/drawingml/2006/main">
            <ns149:off x="2422800" y="3546000"/>
            <ns149:ext cx="1620000" cy="450000"/>
          </ns149:xfrm>
          <ns150:prstGeom xmlns:ns150="http://schemas.openxmlformats.org/drawingml/2006/main" prst="rect">
            <ns150:avLst/>
          </ns150:prstGeom>
          <ns151:solidFill xmlns:ns151="http://schemas.openxmlformats.org/drawingml/2006/main">
            <ns151:srgbClr val="F3F7FA"/>
          </ns151:solidFill>
          <ns152:ln xmlns:ns152="http://schemas.openxmlformats.org/drawingml/2006/main" w="9525">
            <ns152:solidFill>
              <ns152:srgbClr val="65727D"/>
            </ns152:solidFill>
          </ns152:ln>
        </p:spPr>
        <p:txBody>
          <ns153:bodyPr xmlns:ns153="http://schemas.openxmlformats.org/drawingml/2006/main" wrap="square" lIns="61200" rIns="61200" tIns="61200" bIns="61200" anchor="ctr">
            <ns153:noAutofit/>
          </ns153:bodyPr>
          <ns154:lstStyle xmlns:ns154="http://schemas.openxmlformats.org/drawingml/2006/main"/>
          <ns155:p xmlns:ns155="http://schemas.openxmlformats.org/drawingml/2006/main">
            <ns155:pPr algn="l">
              <ns155:lnSpc>
                <ns155:spcPct val="105000"/>
              </ns155:lnSpc>
              <ns155:defRPr sz="1300" b="1">
                <ns155:solidFill>
                  <ns155:srgbClr val="65727D"/>
                </ns155:solidFill>
                <ns155:latin typeface="Arial"/>
                <ns155:ea typeface="Arial"/>
                <ns155:cs typeface="Arial"/>
              </ns155:defRPr>
            </ns155:pPr>
            <ns155:r>
              <ns155:rPr sz="1300" b="1">
                <ns155:solidFill>
                  <ns155:srgbClr val="65727D"/>
                </ns155:solidFill>
                <ns155:latin typeface="Arial"/>
                <ns155:ea typeface="Arial"/>
                <ns155:cs typeface="Arial"/>
              </ns155:rPr>
              <ns155:t>Business requests</ns155:t>
            </ns155:r>
          </ns155:p>
        </p:txBody>
      </p:sp>
      <p:sp>
        <p:nvSpPr>
          <p:cNvPr id="128" name="actor.llm"/>
          <p:cNvSpPr/>
          <p:nvPr/>
        </p:nvSpPr>
        <p:spPr>
          <ns156:xfrm xmlns:ns156="http://schemas.openxmlformats.org/drawingml/2006/main">
            <ns156:off x="4392000" y="2034000"/>
            <ns156:ext cx="1458000" cy="846000"/>
          </ns156:xfrm>
          <ns157:prstGeom xmlns:ns157="http://schemas.openxmlformats.org/drawingml/2006/main" prst="roundRect">
            <ns157:avLst/>
          </ns157:prstGeom>
          <ns158:solidFill xmlns:ns158="http://schemas.openxmlformats.org/drawingml/2006/main">
            <ns158:srgbClr val="EAF3FA"/>
          </ns158:solidFill>
          <ns159:ln xmlns:ns159="http://schemas.openxmlformats.org/drawingml/2006/main" w="9525">
            <ns159:solidFill>
              <ns159:srgbClr val="005A9C"/>
            </ns159:solidFill>
          </ns159:ln>
        </p:spPr>
        <p:txBody>
          <ns160:bodyPr xmlns:ns160="http://schemas.openxmlformats.org/drawingml/2006/main" wrap="square" lIns="61200" rIns="61200" tIns="61200" bIns="61200" anchor="ctr">
            <ns160:noAutofit/>
          </ns160:bodyPr>
          <ns161:lstStyle xmlns:ns161="http://schemas.openxmlformats.org/drawingml/2006/main"/>
          <ns162:p xmlns:ns162="http://schemas.openxmlformats.org/drawingml/2006/main">
            <ns162:pPr algn="l">
              <ns162:lnSpc>
                <ns162:spcPct val="105000"/>
              </ns162:lnSpc>
              <ns162:defRPr sz="1300" b="1">
                <ns162:solidFill>
                  <ns162:srgbClr val="005A9C"/>
                </ns162:solidFill>
                <ns162:latin typeface="Arial"/>
                <ns162:ea typeface="Arial"/>
                <ns162:cs typeface="Arial"/>
              </ns162:defRPr>
            </ns162:pPr>
            <ns162:r>
              <ns162:rPr sz="1300" b="1">
                <ns162:solidFill>
                  <ns162:srgbClr val="005A9C"/>
                </ns162:solidFill>
                <ns162:latin typeface="Arial"/>
                <ns162:ea typeface="Arial"/>
                <ns162:cs typeface="Arial"/>
              </ns162:rPr>
              <ns162:t>LLM</ns162:t>
            </ns162:r>
          </ns162:p>
          <ns163:p xmlns:ns163="http://schemas.openxmlformats.org/drawingml/2006/main">
            <ns163:pPr algn="l">
              <ns163:lnSpc>
                <ns163:spcPct val="105000"/>
              </ns163:lnSpc>
              <ns163:defRPr sz="1200" b="0">
                <ns163:solidFill>
                  <ns163:srgbClr val="20262C"/>
                </ns163:solidFill>
                <ns163:latin typeface="Arial"/>
                <ns163:ea typeface="Arial"/>
                <ns163:cs typeface="Arial"/>
              </ns163:defRPr>
            </ns163:pPr>
            <ns163:r>
              <ns163:rPr sz="1200" b="0">
                <ns163:solidFill>
                  <ns163:srgbClr val="20262C"/>
                </ns163:solidFill>
                <ns163:latin typeface="Arial"/>
                <ns163:ea typeface="Arial"/>
                <ns163:cs typeface="Arial"/>
              </ns163:rPr>
              <ns163:t>Read / compare</ns163:t>
            </ns163:r>
          </ns163:p>
          <ns164:p xmlns:ns164="http://schemas.openxmlformats.org/drawingml/2006/main">
            <ns164:pPr algn="l">
              <ns164:lnSpc>
                <ns164:spcPct val="105000"/>
              </ns164:lnSpc>
              <ns164:defRPr sz="1200" b="0">
                <ns164:solidFill>
                  <ns164:srgbClr val="20262C"/>
                </ns164:solidFill>
                <ns164:latin typeface="Arial"/>
                <ns164:ea typeface="Arial"/>
                <ns164:cs typeface="Arial"/>
              </ns164:defRPr>
            </ns164:pPr>
            <ns164:r>
              <ns164:rPr sz="1200" b="0">
                <ns164:solidFill>
                  <ns164:srgbClr val="20262C"/>
                </ns164:solidFill>
                <ns164:latin typeface="Arial"/>
                <ns164:ea typeface="Arial"/>
                <ns164:cs typeface="Arial"/>
              </ns164:rPr>
              <ns164:t>Explain / draft</ns164:t>
            </ns164:r>
          </ns164:p>
        </p:txBody>
      </p:sp>
      <p:sp>
        <p:nvSpPr>
          <p:cNvPr id="129" name="tool.operations"/>
          <p:cNvSpPr/>
          <p:nvPr/>
        </p:nvSpPr>
        <p:spPr>
          <ns165:xfrm xmlns:ns165="http://schemas.openxmlformats.org/drawingml/2006/main">
            <ns165:off x="4392000" y="3438000"/>
            <ns165:ext cx="1458000" cy="828000"/>
          </ns165:xfrm>
          <ns166:prstGeom xmlns:ns166="http://schemas.openxmlformats.org/drawingml/2006/main" prst="roundRect">
            <ns166:avLst/>
          </ns166:prstGeom>
          <ns167:solidFill xmlns:ns167="http://schemas.openxmlformats.org/drawingml/2006/main">
            <ns167:srgbClr val="F3F7FA"/>
          </ns167:solidFill>
          <ns168:ln xmlns:ns168="http://schemas.openxmlformats.org/drawingml/2006/main" w="9525">
            <ns168:solidFill>
              <ns168:srgbClr val="65727D"/>
            </ns168:solidFill>
          </ns168:ln>
        </p:spPr>
        <p:txBody>
          <ns169:bodyPr xmlns:ns169="http://schemas.openxmlformats.org/drawingml/2006/main" wrap="square" lIns="61200" rIns="61200" tIns="61200" bIns="61200" anchor="ctr">
            <ns169:noAutofit/>
          </ns169:bodyPr>
          <ns170:lstStyle xmlns:ns170="http://schemas.openxmlformats.org/drawingml/2006/main"/>
          <ns171:p xmlns:ns171="http://schemas.openxmlformats.org/drawingml/2006/main">
            <ns171:pPr algn="l">
              <ns171:lnSpc>
                <ns171:spcPct val="105000"/>
              </ns171:lnSpc>
              <ns171:defRPr sz="1300" b="1">
                <ns171:solidFill>
                  <ns171:srgbClr val="65727D"/>
                </ns171:solidFill>
                <ns171:latin typeface="Arial"/>
                <ns171:ea typeface="Arial"/>
                <ns171:cs typeface="Arial"/>
              </ns171:defRPr>
            </ns171:pPr>
            <ns171:r>
              <ns171:rPr sz="1300" b="1">
                <ns171:solidFill>
                  <ns171:srgbClr val="65727D"/>
                </ns171:solidFill>
                <ns171:latin typeface="Arial"/>
                <ns171:ea typeface="Arial"/>
                <ns171:cs typeface="Arial"/>
              </ns171:rPr>
              <ns171:t>Tools</ns171:t>
            </ns171:r>
          </ns171:p>
          <ns172:p xmlns:ns172="http://schemas.openxmlformats.org/drawingml/2006/main">
            <ns172:pPr algn="l">
              <ns172:lnSpc>
                <ns172:spcPct val="105000"/>
              </ns172:lnSpc>
              <ns172:defRPr sz="1200" b="0">
                <ns172:solidFill>
                  <ns172:srgbClr val="20262C"/>
                </ns172:solidFill>
                <ns172:latin typeface="Arial"/>
                <ns172:ea typeface="Arial"/>
                <ns172:cs typeface="Arial"/>
              </ns172:defRPr>
            </ns172:pPr>
            <ns172:r>
              <ns172:rPr sz="1200" b="0">
                <ns172:solidFill>
                  <ns172:srgbClr val="20262C"/>
                </ns172:solidFill>
                <ns172:latin typeface="Arial"/>
                <ns172:ea typeface="Arial"/>
                <ns172:cs typeface="Arial"/>
              </ns172:rPr>
              <ns172:t>Retrieve / query</ns172:t>
            </ns172:r>
          </ns172:p>
          <ns173:p xmlns:ns173="http://schemas.openxmlformats.org/drawingml/2006/main">
            <ns173:pPr algn="l">
              <ns173:lnSpc>
                <ns173:spcPct val="105000"/>
              </ns173:lnSpc>
              <ns173:defRPr sz="1200" b="0">
                <ns173:solidFill>
                  <ns173:srgbClr val="20262C"/>
                </ns173:solidFill>
                <ns173:latin typeface="Arial"/>
                <ns173:ea typeface="Arial"/>
                <ns173:cs typeface="Arial"/>
              </ns173:defRPr>
            </ns173:pPr>
            <ns173:r>
              <ns173:rPr sz="1200" b="0">
                <ns173:solidFill>
                  <ns173:srgbClr val="20262C"/>
                </ns173:solidFill>
                <ns173:latin typeface="Arial"/>
                <ns173:ea typeface="Arial"/>
                <ns173:cs typeface="Arial"/>
              </ns173:rPr>
              <ns173:t>Calculate / run</ns173:t>
            </ns173:r>
          </ns173:p>
        </p:txBody>
      </p:sp>
      <p:cxnSp>
        <p:nvCxnSpPr>
          <p:cNvPr id="130" name="flow.inputs.merge.source.0"/>
          <p:cNvCxnSpPr/>
          <p:nvPr/>
        </p:nvCxnSpPr>
        <p:spPr>
          <ns174:xfrm xmlns:ns174="http://schemas.openxmlformats.org/drawingml/2006/main">
            <ns174:off x="4042800" y="1773000"/>
            <ns174:ext cx="151200" cy="1"/>
          </ns174:xfrm>
          <ns175:prstGeom xmlns:ns175="http://schemas.openxmlformats.org/drawingml/2006/main" prst="line">
            <ns175:avLst/>
          </ns175:prstGeom>
          <ns176:ln xmlns:ns176="http://schemas.openxmlformats.org/drawingml/2006/main" w="9525">
            <ns176:solidFill>
              <ns176:srgbClr val="005A9C"/>
            </ns176:solidFill>
          </ns176:ln>
        </p:spPr>
      </p:cxnSp>
      <p:cxnSp>
        <p:nvCxnSpPr>
          <p:cNvPr id="131" name="flow.inputs.merge.source.1"/>
          <p:cNvCxnSpPr/>
          <p:nvPr/>
        </p:nvCxnSpPr>
        <p:spPr>
          <ns177:xfrm xmlns:ns177="http://schemas.openxmlformats.org/drawingml/2006/main">
            <ns177:off x="4042800" y="2439000"/>
            <ns177:ext cx="151200" cy="1"/>
          </ns177:xfrm>
          <ns178:prstGeom xmlns:ns178="http://schemas.openxmlformats.org/drawingml/2006/main" prst="line">
            <ns178:avLst/>
          </ns178:prstGeom>
          <ns179:ln xmlns:ns179="http://schemas.openxmlformats.org/drawingml/2006/main" w="9525">
            <ns179:solidFill>
              <ns179:srgbClr val="005A9C"/>
            </ns179:solidFill>
          </ns179:ln>
        </p:spPr>
      </p:cxnSp>
      <p:cxnSp>
        <p:nvCxnSpPr>
          <p:cNvPr id="132" name="flow.inputs.merge.source.2"/>
          <p:cNvCxnSpPr/>
          <p:nvPr/>
        </p:nvCxnSpPr>
        <p:spPr>
          <ns180:xfrm xmlns:ns180="http://schemas.openxmlformats.org/drawingml/2006/main">
            <ns180:off x="4042800" y="3105000"/>
            <ns180:ext cx="151200" cy="1"/>
          </ns180:xfrm>
          <ns181:prstGeom xmlns:ns181="http://schemas.openxmlformats.org/drawingml/2006/main" prst="line">
            <ns181:avLst/>
          </ns181:prstGeom>
          <ns182:ln xmlns:ns182="http://schemas.openxmlformats.org/drawingml/2006/main" w="9525">
            <ns182:solidFill>
              <ns182:srgbClr val="005A9C"/>
            </ns182:solidFill>
          </ns182:ln>
        </p:spPr>
      </p:cxnSp>
      <p:cxnSp>
        <p:nvCxnSpPr>
          <p:cNvPr id="133" name="flow.inputs.merge.source.3"/>
          <p:cNvCxnSpPr/>
          <p:nvPr/>
        </p:nvCxnSpPr>
        <p:spPr>
          <ns183:xfrm xmlns:ns183="http://schemas.openxmlformats.org/drawingml/2006/main">
            <ns183:off x="4042800" y="3771000"/>
            <ns183:ext cx="151200" cy="1"/>
          </ns183:xfrm>
          <ns184:prstGeom xmlns:ns184="http://schemas.openxmlformats.org/drawingml/2006/main" prst="line">
            <ns184:avLst/>
          </ns184:prstGeom>
          <ns185:ln xmlns:ns185="http://schemas.openxmlformats.org/drawingml/2006/main" w="9525">
            <ns185:solidFill>
              <ns185:srgbClr val="005A9C"/>
            </ns185:solidFill>
          </ns185:ln>
        </p:spPr>
      </p:cxnSp>
      <p:cxnSp>
        <p:nvCxnSpPr>
          <p:cNvPr id="134" name="flow.inputs.merge.bus"/>
          <p:cNvCxnSpPr/>
          <p:nvPr/>
        </p:nvCxnSpPr>
        <p:spPr>
          <ns186:xfrm xmlns:ns186="http://schemas.openxmlformats.org/drawingml/2006/main">
            <ns186:off x="4194000" y="1773000"/>
            <ns186:ext cx="1" cy="1998000"/>
          </ns186:xfrm>
          <ns187:prstGeom xmlns:ns187="http://schemas.openxmlformats.org/drawingml/2006/main" prst="line">
            <ns187:avLst/>
          </ns187:prstGeom>
          <ns188:ln xmlns:ns188="http://schemas.openxmlformats.org/drawingml/2006/main" w="9525">
            <ns188:solidFill>
              <ns188:srgbClr val="005A9C"/>
            </ns188:solidFill>
          </ns188:ln>
        </p:spPr>
      </p:cxnSp>
      <p:cxnSp>
        <p:nvCxnSpPr>
          <p:cNvPr id="135" name="flow.inputs.merge.target"/>
          <p:cNvCxnSpPr/>
          <p:nvPr/>
        </p:nvCxnSpPr>
        <p:spPr>
          <ns189:xfrm xmlns:ns189="http://schemas.openxmlformats.org/drawingml/2006/main">
            <ns189:off x="4194000" y="2457000"/>
            <ns189:ext cx="198000" cy="1"/>
          </ns189:xfrm>
          <ns190:prstGeom xmlns:ns190="http://schemas.openxmlformats.org/drawingml/2006/main" prst="line">
            <ns190:avLst/>
          </ns190:prstGeom>
          <ns191:ln xmlns:ns191="http://schemas.openxmlformats.org/drawingml/2006/main" w="11430">
            <ns191:solidFill>
              <ns191:srgbClr val="005A9C"/>
            </ns191:solidFill>
            <ns191:tailEnd type="triangle" w="sm" len="sm"/>
          </ns191:ln>
        </p:spPr>
      </p:cxnSp>
      <p:sp>
        <p:nvSpPr>
          <p:cNvPr id="136" name="output.family.0"/>
          <p:cNvSpPr/>
          <p:nvPr/>
        </p:nvSpPr>
        <p:spPr>
          <ns192:xfrm xmlns:ns192="http://schemas.openxmlformats.org/drawingml/2006/main">
            <ns192:off x="6127200" y="1548000"/>
            <ns192:ext cx="2559600" cy="450000"/>
          </ns192:xfrm>
          <ns193:prstGeom xmlns:ns193="http://schemas.openxmlformats.org/drawingml/2006/main" prst="rect">
            <ns193:avLst/>
          </ns193:prstGeom>
          <ns194:solidFill xmlns:ns194="http://schemas.openxmlformats.org/drawingml/2006/main">
            <ns194:srgbClr val="F3F7FA"/>
          </ns194:solidFill>
          <ns195:ln xmlns:ns195="http://schemas.openxmlformats.org/drawingml/2006/main" w="9525">
            <ns195:solidFill>
              <ns195:srgbClr val="65727D"/>
            </ns195:solidFill>
          </ns195:ln>
        </p:spPr>
        <p:txBody>
          <ns196:bodyPr xmlns:ns196="http://schemas.openxmlformats.org/drawingml/2006/main" wrap="square" lIns="61200" rIns="61200" tIns="61200" bIns="61200" anchor="ctr">
            <ns196:noAutofit/>
          </ns196:bodyPr>
          <ns197:lstStyle xmlns:ns197="http://schemas.openxmlformats.org/drawingml/2006/main"/>
          <ns198:p xmlns:ns198="http://schemas.openxmlformats.org/drawingml/2006/main">
            <ns198:pPr algn="l">
              <ns198:lnSpc>
                <ns198:spcPct val="105000"/>
              </ns198:lnSpc>
              <ns198:defRPr sz="1300" b="1">
                <ns198:solidFill>
                  <ns198:srgbClr val="65727D"/>
                </ns198:solidFill>
                <ns198:latin typeface="Arial"/>
                <ns198:ea typeface="Arial"/>
                <ns198:cs typeface="Arial"/>
              </ns198:defRPr>
            </ns198:pPr>
            <ns198:r>
              <ns198:rPr sz="1300" b="1">
                <ns198:solidFill>
                  <ns198:srgbClr val="65727D"/>
                </ns198:solidFill>
                <ns198:latin typeface="Arial"/>
                <ns198:ea typeface="Arial"/>
                <ns198:cs typeface="Arial"/>
              </ns198:rPr>
              <ns198:t>Company analysis</ns198:t>
            </ns198:r>
          </ns198:p>
        </p:txBody>
      </p:sp>
      <p:sp>
        <p:nvSpPr>
          <p:cNvPr id="137" name="output.family.1"/>
          <p:cNvSpPr/>
          <p:nvPr/>
        </p:nvSpPr>
        <p:spPr>
          <ns199:xfrm xmlns:ns199="http://schemas.openxmlformats.org/drawingml/2006/main">
            <ns199:off x="6127200" y="2214000"/>
            <ns199:ext cx="2559600" cy="450000"/>
          </ns199:xfrm>
          <ns200:prstGeom xmlns:ns200="http://schemas.openxmlformats.org/drawingml/2006/main" prst="rect">
            <ns200:avLst/>
          </ns200:prstGeom>
          <ns201:solidFill xmlns:ns201="http://schemas.openxmlformats.org/drawingml/2006/main">
            <ns201:srgbClr val="F3F7FA"/>
          </ns201:solidFill>
          <ns202:ln xmlns:ns202="http://schemas.openxmlformats.org/drawingml/2006/main" w="9525">
            <ns202:solidFill>
              <ns202:srgbClr val="65727D"/>
            </ns202:solidFill>
          </ns202:ln>
        </p:spPr>
        <p:txBody>
          <ns203:bodyPr xmlns:ns203="http://schemas.openxmlformats.org/drawingml/2006/main" wrap="square" lIns="61200" rIns="61200" tIns="61200" bIns="61200" anchor="ctr">
            <ns203:noAutofit/>
          </ns203:bodyPr>
          <ns204:lstStyle xmlns:ns204="http://schemas.openxmlformats.org/drawingml/2006/main"/>
          <ns205:p xmlns:ns205="http://schemas.openxmlformats.org/drawingml/2006/main">
            <ns205:pPr algn="l">
              <ns205:lnSpc>
                <ns205:spcPct val="105000"/>
              </ns205:lnSpc>
              <ns205:defRPr sz="1300" b="1">
                <ns205:solidFill>
                  <ns205:srgbClr val="65727D"/>
                </ns205:solidFill>
                <ns205:latin typeface="Arial"/>
                <ns205:ea typeface="Arial"/>
                <ns205:cs typeface="Arial"/>
              </ns205:defRPr>
            </ns205:pPr>
            <ns205:r>
              <ns205:rPr sz="1300" b="1">
                <ns205:solidFill>
                  <ns205:srgbClr val="65727D"/>
                </ns205:solidFill>
                <ns205:latin typeface="Arial"/>
                <ns205:ea typeface="Arial"/>
                <ns205:cs typeface="Arial"/>
              </ns205:rPr>
              <ns205:t>Quote requests / comparisons</ns205:t>
            </ns205:r>
          </ns205:p>
        </p:txBody>
      </p:sp>
      <p:sp>
        <p:nvSpPr>
          <p:cNvPr id="138" name="output.family.2"/>
          <p:cNvSpPr/>
          <p:nvPr/>
        </p:nvSpPr>
        <p:spPr>
          <ns206:xfrm xmlns:ns206="http://schemas.openxmlformats.org/drawingml/2006/main">
            <ns206:off x="6127200" y="2880000"/>
            <ns206:ext cx="2559600" cy="450000"/>
          </ns206:xfrm>
          <ns207:prstGeom xmlns:ns207="http://schemas.openxmlformats.org/drawingml/2006/main" prst="rect">
            <ns207:avLst/>
          </ns207:prstGeom>
          <ns208:solidFill xmlns:ns208="http://schemas.openxmlformats.org/drawingml/2006/main">
            <ns208:srgbClr val="F3F7FA"/>
          </ns208:solidFill>
          <ns209:ln xmlns:ns209="http://schemas.openxmlformats.org/drawingml/2006/main" w="9525">
            <ns209:solidFill>
              <ns209:srgbClr val="65727D"/>
            </ns209:solidFill>
          </ns209:ln>
        </p:spPr>
        <p:txBody>
          <ns210:bodyPr xmlns:ns210="http://schemas.openxmlformats.org/drawingml/2006/main" wrap="square" lIns="61200" rIns="61200" tIns="61200" bIns="61200" anchor="ctr">
            <ns210:noAutofit/>
          </ns210:bodyPr>
          <ns211:lstStyle xmlns:ns211="http://schemas.openxmlformats.org/drawingml/2006/main"/>
          <ns212:p xmlns:ns212="http://schemas.openxmlformats.org/drawingml/2006/main">
            <ns212:pPr algn="l">
              <ns212:lnSpc>
                <ns212:spcPct val="105000"/>
              </ns212:lnSpc>
              <ns212:defRPr sz="1300" b="1">
                <ns212:solidFill>
                  <ns212:srgbClr val="65727D"/>
                </ns212:solidFill>
                <ns212:latin typeface="Arial"/>
                <ns212:ea typeface="Arial"/>
                <ns212:cs typeface="Arial"/>
              </ns212:defRPr>
            </ns212:pPr>
            <ns212:r>
              <ns212:rPr sz="1300" b="1">
                <ns212:solidFill>
                  <ns212:srgbClr val="65727D"/>
                </ns212:solidFill>
                <ns212:latin typeface="Arial"/>
                <ns212:ea typeface="Arial"/>
                <ns212:cs typeface="Arial"/>
              </ns212:rPr>
              <ns212:t>Client materials</ns212:t>
            </ns212:r>
          </ns212:p>
        </p:txBody>
      </p:sp>
      <p:sp>
        <p:nvSpPr>
          <p:cNvPr id="139" name="output.family.3"/>
          <p:cNvSpPr/>
          <p:nvPr/>
        </p:nvSpPr>
        <p:spPr>
          <ns213:xfrm xmlns:ns213="http://schemas.openxmlformats.org/drawingml/2006/main">
            <ns213:off x="6127200" y="3546000"/>
            <ns213:ext cx="2559600" cy="450000"/>
          </ns213:xfrm>
          <ns214:prstGeom xmlns:ns214="http://schemas.openxmlformats.org/drawingml/2006/main" prst="rect">
            <ns214:avLst/>
          </ns214:prstGeom>
          <ns215:solidFill xmlns:ns215="http://schemas.openxmlformats.org/drawingml/2006/main">
            <ns215:srgbClr val="F3F7FA"/>
          </ns215:solidFill>
          <ns216:ln xmlns:ns216="http://schemas.openxmlformats.org/drawingml/2006/main" w="9525">
            <ns216:solidFill>
              <ns216:srgbClr val="65727D"/>
            </ns216:solidFill>
          </ns216:ln>
        </p:spPr>
        <p:txBody>
          <ns217:bodyPr xmlns:ns217="http://schemas.openxmlformats.org/drawingml/2006/main" wrap="square" lIns="61200" rIns="61200" tIns="61200" bIns="61200" anchor="ctr">
            <ns217:noAutofit/>
          </ns217:bodyPr>
          <ns218:lstStyle xmlns:ns218="http://schemas.openxmlformats.org/drawingml/2006/main"/>
          <ns219:p xmlns:ns219="http://schemas.openxmlformats.org/drawingml/2006/main">
            <ns219:pPr algn="l">
              <ns219:lnSpc>
                <ns219:spcPct val="105000"/>
              </ns219:lnSpc>
              <ns219:defRPr sz="1300" b="1">
                <ns219:solidFill>
                  <ns219:srgbClr val="65727D"/>
                </ns219:solidFill>
                <ns219:latin typeface="Arial"/>
                <ns219:ea typeface="Arial"/>
                <ns219:cs typeface="Arial"/>
              </ns219:defRPr>
            </ns219:pPr>
            <ns219:r>
              <ns219:rPr sz="1300" b="1">
                <ns219:solidFill>
                  <ns219:srgbClr val="65727D"/>
                </ns219:solidFill>
                <ns219:latin typeface="Arial"/>
                <ns219:ea typeface="Arial"/>
                <ns219:cs typeface="Arial"/>
              </ns219:rPr>
              <ns219:t>Business tools</ns219:t>
            </ns219:r>
          </ns219:p>
        </p:txBody>
      </p:sp>
      <p:cxnSp>
        <p:nvCxnSpPr>
          <p:cNvPr id="140" name="flow.llm.output.bus"/>
          <p:cNvCxnSpPr/>
          <p:nvPr/>
        </p:nvCxnSpPr>
        <p:spPr>
          <ns220:xfrm xmlns:ns220="http://schemas.openxmlformats.org/drawingml/2006/main">
            <ns220:off x="5850000" y="2457000"/>
            <ns220:ext cx="144000" cy="1"/>
          </ns220:xfrm>
          <ns221:prstGeom xmlns:ns221="http://schemas.openxmlformats.org/drawingml/2006/main" prst="line">
            <ns221:avLst/>
          </ns221:prstGeom>
          <ns222:ln xmlns:ns222="http://schemas.openxmlformats.org/drawingml/2006/main" w="11430">
            <ns222:solidFill>
              <ns222:srgbClr val="005A9C"/>
            </ns222:solidFill>
          </ns222:ln>
        </p:spPr>
      </p:cxnSp>
      <p:cxnSp>
        <p:nvCxnSpPr>
          <p:cNvPr id="141" name="flow.output.bus"/>
          <p:cNvCxnSpPr/>
          <p:nvPr/>
        </p:nvCxnSpPr>
        <p:spPr>
          <ns223:xfrm xmlns:ns223="http://schemas.openxmlformats.org/drawingml/2006/main">
            <ns223:off x="5994000" y="1773000"/>
            <ns223:ext cx="1" cy="1998000"/>
          </ns223:xfrm>
          <ns224:prstGeom xmlns:ns224="http://schemas.openxmlformats.org/drawingml/2006/main" prst="line">
            <ns224:avLst/>
          </ns224:prstGeom>
          <ns225:ln xmlns:ns225="http://schemas.openxmlformats.org/drawingml/2006/main" w="11430">
            <ns225:solidFill>
              <ns225:srgbClr val="005A9C"/>
            </ns225:solidFill>
          </ns225:ln>
        </p:spPr>
      </p:cxnSp>
      <p:cxnSp>
        <p:nvCxnSpPr>
          <p:cNvPr id="142" name="flow.output.fanout.0"/>
          <p:cNvCxnSpPr/>
          <p:nvPr/>
        </p:nvCxnSpPr>
        <p:spPr>
          <ns226:xfrm xmlns:ns226="http://schemas.openxmlformats.org/drawingml/2006/main">
            <ns226:off x="5994000" y="1773000"/>
            <ns226:ext cx="97200" cy="1"/>
          </ns226:xfrm>
          <ns227:prstGeom xmlns:ns227="http://schemas.openxmlformats.org/drawingml/2006/main" prst="line">
            <ns227:avLst/>
          </ns227:prstGeom>
          <ns228:ln xmlns:ns228="http://schemas.openxmlformats.org/drawingml/2006/main" w="11430">
            <ns228:solidFill>
              <ns228:srgbClr val="005A9C"/>
            </ns228:solidFill>
            <ns228:tailEnd type="triangle" w="sm" len="sm"/>
          </ns228:ln>
        </p:spPr>
      </p:cxnSp>
      <p:cxnSp>
        <p:nvCxnSpPr>
          <p:cNvPr id="143" name="flow.output.fanout.1"/>
          <p:cNvCxnSpPr/>
          <p:nvPr/>
        </p:nvCxnSpPr>
        <p:spPr>
          <ns229:xfrm xmlns:ns229="http://schemas.openxmlformats.org/drawingml/2006/main">
            <ns229:off x="5994000" y="2439000"/>
            <ns229:ext cx="97200" cy="1"/>
          </ns229:xfrm>
          <ns230:prstGeom xmlns:ns230="http://schemas.openxmlformats.org/drawingml/2006/main" prst="line">
            <ns230:avLst/>
          </ns230:prstGeom>
          <ns231:ln xmlns:ns231="http://schemas.openxmlformats.org/drawingml/2006/main" w="11430">
            <ns231:solidFill>
              <ns231:srgbClr val="005A9C"/>
            </ns231:solidFill>
            <ns231:tailEnd type="triangle" w="sm" len="sm"/>
          </ns231:ln>
        </p:spPr>
      </p:cxnSp>
      <p:cxnSp>
        <p:nvCxnSpPr>
          <p:cNvPr id="144" name="flow.output.fanout.2"/>
          <p:cNvCxnSpPr/>
          <p:nvPr/>
        </p:nvCxnSpPr>
        <p:spPr>
          <ns232:xfrm xmlns:ns232="http://schemas.openxmlformats.org/drawingml/2006/main">
            <ns232:off x="5994000" y="3105000"/>
            <ns232:ext cx="97200" cy="1"/>
          </ns232:xfrm>
          <ns233:prstGeom xmlns:ns233="http://schemas.openxmlformats.org/drawingml/2006/main" prst="line">
            <ns233:avLst/>
          </ns233:prstGeom>
          <ns234:ln xmlns:ns234="http://schemas.openxmlformats.org/drawingml/2006/main" w="11430">
            <ns234:solidFill>
              <ns234:srgbClr val="005A9C"/>
            </ns234:solidFill>
            <ns234:tailEnd type="triangle" w="sm" len="sm"/>
          </ns234:ln>
        </p:spPr>
      </p:cxnSp>
      <p:cxnSp>
        <p:nvCxnSpPr>
          <p:cNvPr id="145" name="flow.output.fanout.3"/>
          <p:cNvCxnSpPr/>
          <p:nvPr/>
        </p:nvCxnSpPr>
        <p:spPr>
          <ns235:xfrm xmlns:ns235="http://schemas.openxmlformats.org/drawingml/2006/main">
            <ns235:off x="5994000" y="3771000"/>
            <ns235:ext cx="97200" cy="1"/>
          </ns235:xfrm>
          <ns236:prstGeom xmlns:ns236="http://schemas.openxmlformats.org/drawingml/2006/main" prst="line">
            <ns236:avLst/>
          </ns236:prstGeom>
          <ns237:ln xmlns:ns237="http://schemas.openxmlformats.org/drawingml/2006/main" w="11430">
            <ns237:solidFill>
              <ns237:srgbClr val="005A9C"/>
            </ns237:solidFill>
            <ns237:tailEnd type="triangle" w="sm" len="sm"/>
          </ns237:ln>
        </p:spPr>
      </p:cxnSp>
      <p:cxnSp>
        <p:nvCxnSpPr>
          <p:cNvPr id="146" name="flow.llm.tool.request"/>
          <p:cNvCxnSpPr/>
          <p:nvPr/>
        </p:nvCxnSpPr>
        <p:spPr>
          <ns238:xfrm xmlns:ns238="http://schemas.openxmlformats.org/drawingml/2006/main">
            <ns238:off x="4716000" y="2916000"/>
            <ns238:ext cx="1" cy="486000"/>
          </ns238:xfrm>
          <ns239:prstGeom xmlns:ns239="http://schemas.openxmlformats.org/drawingml/2006/main" prst="line">
            <ns239:avLst/>
          </ns239:prstGeom>
          <ns240:ln xmlns:ns240="http://schemas.openxmlformats.org/drawingml/2006/main" w="11430">
            <ns240:solidFill>
              <ns240:srgbClr val="005A9C"/>
            </ns240:solidFill>
            <ns240:tailEnd type="triangle" w="sm" len="sm"/>
          </ns240:ln>
        </p:spPr>
      </p:cxnSp>
      <p:cxnSp>
        <p:nvCxnSpPr>
          <p:cNvPr id="147" name="flow.tool.llm.result"/>
          <p:cNvCxnSpPr/>
          <p:nvPr/>
        </p:nvCxnSpPr>
        <p:spPr>
          <ns241:xfrm xmlns:ns241="http://schemas.openxmlformats.org/drawingml/2006/main" flipV="1">
            <ns241:off x="5486400" y="2916000"/>
            <ns241:ext cx="1" cy="486000"/>
          </ns241:xfrm>
          <ns242:prstGeom xmlns:ns242="http://schemas.openxmlformats.org/drawingml/2006/main" prst="line">
            <ns242:avLst/>
          </ns242:prstGeom>
          <ns243:ln xmlns:ns243="http://schemas.openxmlformats.org/drawingml/2006/main" w="11430">
            <ns243:solidFill>
              <ns243:srgbClr val="005A9C"/>
            </ns243:solidFill>
            <ns243:tailEnd type="triangle" w="sm" len="sm"/>
          </ns243:ln>
        </p:spPr>
      </p:cxnSp>
      <p:sp>
        <p:nvSpPr>
          <p:cNvPr id="148" name="tool.request.label"/>
          <p:cNvSpPr/>
          <p:nvPr/>
        </p:nvSpPr>
        <p:spPr>
          <ns244:xfrm xmlns:ns244="http://schemas.openxmlformats.org/drawingml/2006/main">
            <ns244:off x="4374000" y="3114000"/>
            <ns244:ext cx="540000" cy="126000"/>
          </ns244:xfrm>
          <ns245:prstGeom xmlns:ns245="http://schemas.openxmlformats.org/drawingml/2006/main" prst="rect">
            <ns245:avLst/>
          </ns245:prstGeom>
          <ns246:noFill xmlns:ns246="http://schemas.openxmlformats.org/drawingml/2006/main"/>
          <ns247:ln xmlns:ns247="http://schemas.openxmlformats.org/drawingml/2006/main" w="0">
            <ns247:noFill/>
          </ns247:ln>
        </p:spPr>
        <p:txBody>
          <ns248:bodyPr xmlns:ns248="http://schemas.openxmlformats.org/drawingml/2006/main" wrap="square" lIns="0" rIns="0" tIns="0" bIns="0" anchor="t">
            <ns248:noAutofit/>
          </ns248:bodyPr>
          <ns249:lstStyle xmlns:ns249="http://schemas.openxmlformats.org/drawingml/2006/main"/>
          <ns250:p xmlns:ns250="http://schemas.openxmlformats.org/drawingml/2006/main">
            <ns250:pPr algn="l">
              <ns250:lnSpc>
                <ns250:spcPct val="105000"/>
              </ns250:lnSpc>
              <ns250:defRPr sz="850" b="0">
                <ns250:solidFill>
                  <ns250:srgbClr val="65727D"/>
                </ns250:solidFill>
                <ns250:latin typeface="Arial"/>
                <ns250:ea typeface="Arial"/>
                <ns250:cs typeface="Arial"/>
              </ns250:defRPr>
            </ns250:pPr>
            <ns250:r>
              <ns250:rPr sz="850" b="0">
                <ns250:solidFill>
                  <ns250:srgbClr val="65727D"/>
                </ns250:solidFill>
                <ns250:latin typeface="Arial"/>
                <ns250:ea typeface="Arial"/>
                <ns250:cs typeface="Arial"/>
              </ns250:rPr>
              <ns250:t>Request</ns250:t>
            </ns250:r>
          </ns250:p>
        </p:txBody>
      </p:sp>
      <p:sp>
        <p:nvSpPr>
          <p:cNvPr id="149" name="tool.result.label"/>
          <p:cNvSpPr/>
          <p:nvPr/>
        </p:nvSpPr>
        <p:spPr>
          <ns251:xfrm xmlns:ns251="http://schemas.openxmlformats.org/drawingml/2006/main">
            <ns251:off x="5274000" y="3114000"/>
            <ns251:ext cx="540000" cy="126000"/>
          </ns251:xfrm>
          <ns252:prstGeom xmlns:ns252="http://schemas.openxmlformats.org/drawingml/2006/main" prst="rect">
            <ns252:avLst/>
          </ns252:prstGeom>
          <ns253:noFill xmlns:ns253="http://schemas.openxmlformats.org/drawingml/2006/main"/>
          <ns254:ln xmlns:ns254="http://schemas.openxmlformats.org/drawingml/2006/main" w="0">
            <ns254:noFill/>
          </ns254:ln>
        </p:spPr>
        <p:txBody>
          <ns255:bodyPr xmlns:ns255="http://schemas.openxmlformats.org/drawingml/2006/main" wrap="square" lIns="0" rIns="0" tIns="0" bIns="0" anchor="t">
            <ns255:noAutofit/>
          </ns255:bodyPr>
          <ns256:lstStyle xmlns:ns256="http://schemas.openxmlformats.org/drawingml/2006/main"/>
          <ns257:p xmlns:ns257="http://schemas.openxmlformats.org/drawingml/2006/main">
            <ns257:pPr algn="l">
              <ns257:lnSpc>
                <ns257:spcPct val="105000"/>
              </ns257:lnSpc>
              <ns257:defRPr sz="850" b="0">
                <ns257:solidFill>
                  <ns257:srgbClr val="65727D"/>
                </ns257:solidFill>
                <ns257:latin typeface="Arial"/>
                <ns257:ea typeface="Arial"/>
                <ns257:cs typeface="Arial"/>
              </ns257:defRPr>
            </ns257:pPr>
            <ns257:r>
              <ns257:rPr sz="850" b="0">
                <ns257:solidFill>
                  <ns257:srgbClr val="65727D"/>
                </ns257:solidFill>
                <ns257:latin typeface="Arial"/>
                <ns257:ea typeface="Arial"/>
                <ns257:cs typeface="Arial"/>
              </ns257:rPr>
              <ns257:t>Result</ns257:t>
            </ns257:r>
          </ns257:p>
        </p:txBody>
      </p:sp>
      <p:sp>
        <p:nvSpPr>
          <p:cNvPr id="150" name="scope.purpose"/>
          <p:cNvSpPr/>
          <p:nvPr/>
        </p:nvSpPr>
        <p:spPr>
          <ns258:xfrm xmlns:ns258="http://schemas.openxmlformats.org/drawingml/2006/main">
            <ns258:off x="2422800" y="4384800"/>
            <ns258:ext cx="6264000" cy="172800"/>
          </ns258:xfrm>
          <ns259:prstGeom xmlns:ns259="http://schemas.openxmlformats.org/drawingml/2006/main" prst="rect">
            <ns259:avLst/>
          </ns259:prstGeom>
          <ns260:noFill xmlns:ns260="http://schemas.openxmlformats.org/drawingml/2006/main"/>
          <ns261:ln xmlns:ns261="http://schemas.openxmlformats.org/drawingml/2006/main" w="0">
            <ns261:noFill/>
          </ns261:ln>
        </p:spPr>
        <p:txBody>
          <ns262:bodyPr xmlns:ns262="http://schemas.openxmlformats.org/drawingml/2006/main" wrap="square" lIns="0" rIns="0" tIns="0" bIns="0" anchor="t">
            <ns262:noAutofit/>
          </ns262:bodyPr>
          <ns263:lstStyle xmlns:ns263="http://schemas.openxmlformats.org/drawingml/2006/main"/>
          <ns264:p xmlns:ns264="http://schemas.openxmlformats.org/drawingml/2006/main">
            <ns264:pPr algn="l">
              <ns264:lnSpc>
                <ns264:spcPct val="105000"/>
              </ns264:lnSpc>
              <ns264:defRPr sz="1100" b="0">
                <ns264:solidFill>
                  <ns264:srgbClr val="005A9C"/>
                </ns264:solidFill>
                <ns264:latin typeface="Arial"/>
                <ns264:ea typeface="Arial"/>
                <ns264:cs typeface="Arial"/>
              </ns264:defRPr>
            </ns264:pPr>
            <ns264:r>
              <ns264:rPr sz="1100" b="0">
                <ns264:solidFill>
                  <ns264:srgbClr val="005A9C"/>
                </ns264:solidFill>
                <ns264:latin typeface="Arial"/>
                <ns264:ea typeface="Arial"/>
                <ns264:cs typeface="Arial"/>
              </ns264:rPr>
              <ns264:t>Specific employee tasks determine the application</ns264:t>
            </ns264:r>
          </ns264:p>
        </p:txBody>
      </p:sp>
    </p:spTree>
    <p:extLst>
      <p:ext uri="{BB962C8B-B14F-4D97-AF65-F5344CB8AC3E}">
        <p14:creationId xmlns:p14="http://schemas.microsoft.com/office/powerpoint/2010/main" val="1366164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Seven application areas across the firm</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Application overview</ns13:t>
            </ns13:r>
          </ns13:p>
        </p:txBody>
      </p:sp>
      <p:sp>
        <p:nvSpPr>
          <p:cNvPr id="103" name="firm.root"/>
          <p:cNvSpPr/>
          <p:nvPr/>
        </p:nvSpPr>
        <p:spPr>
          <ns14:xfrm xmlns:ns14="http://schemas.openxmlformats.org/drawingml/2006/main">
            <ns14:off x="3294000" y="1454400"/>
            <ns14:ext cx="2556000" cy="342000"/>
          </ns14:xfrm>
          <ns15:prstGeom xmlns:ns15="http://schemas.openxmlformats.org/drawingml/2006/main" prst="roundRect">
            <ns15:avLst/>
          </ns15:prstGeom>
          <ns16:solidFill xmlns:ns16="http://schemas.openxmlformats.org/drawingml/2006/main">
            <ns16:srgbClr val="EAF3FA"/>
          </ns16:solidFill>
          <ns17:ln xmlns:ns17="http://schemas.openxmlformats.org/drawingml/2006/main" w="9525">
            <ns17:solidFill>
              <ns17:srgbClr val="005A9C"/>
            </ns17:solidFill>
          </ns17:ln>
        </p:spPr>
        <p:txBody>
          <ns18:bodyPr xmlns:ns18="http://schemas.openxmlformats.org/drawingml/2006/main" wrap="square" lIns="61200" rIns="61200" tIns="61200" bIns="61200" anchor="ctr">
            <ns18:noAutofit/>
          </ns18:bodyPr>
          <ns19:lstStyle xmlns:ns19="http://schemas.openxmlformats.org/drawingml/2006/main"/>
          <ns20:p xmlns:ns20="http://schemas.openxmlformats.org/drawingml/2006/main">
            <ns20:pPr algn="l">
              <ns20:lnSpc>
                <ns20:spcPct val="105000"/>
              </ns20:lnSpc>
              <ns20:defRPr sz="1300" b="1">
                <ns20:solidFill>
                  <ns20:srgbClr val="005A9C"/>
                </ns20:solidFill>
                <ns20:latin typeface="Arial"/>
                <ns20:ea typeface="Arial"/>
                <ns20:cs typeface="Arial"/>
              </ns20:defRPr>
            </ns20:pPr>
            <ns20:r>
              <ns20:rPr sz="1300" b="1">
                <ns20:solidFill>
                  <ns20:srgbClr val="005A9C"/>
                </ns20:solidFill>
                <ns20:latin typeface="Arial"/>
                <ns20:ea typeface="Arial"/>
                <ns20:cs typeface="Arial"/>
              </ns20:rPr>
              <ns20:t>Asset management firm</ns20:t>
            </ns20:r>
          </ns20:p>
        </p:txBody>
      </p:sp>
      <p:cxnSp>
        <p:nvCxnSpPr>
          <p:cNvPr id="104" name="firm.trunk"/>
          <p:cNvCxnSpPr/>
          <p:nvPr/>
        </p:nvCxnSpPr>
        <p:spPr>
          <ns21:xfrm xmlns:ns21="http://schemas.openxmlformats.org/drawingml/2006/main">
            <ns21:off x="4572000" y="1800000"/>
            <ns21:ext cx="1" cy="136800"/>
          </ns21:xfrm>
          <ns22:prstGeom xmlns:ns22="http://schemas.openxmlformats.org/drawingml/2006/main" prst="line">
            <ns22:avLst/>
          </ns22:prstGeom>
          <ns23:ln xmlns:ns23="http://schemas.openxmlformats.org/drawingml/2006/main" w="11430">
            <ns23:solidFill>
              <ns23:srgbClr val="005A9C"/>
            </ns23:solidFill>
          </ns23:ln>
        </p:spPr>
      </p:cxnSp>
      <p:cxnSp>
        <p:nvCxnSpPr>
          <p:cNvPr id="105" name="firm.branch"/>
          <p:cNvCxnSpPr/>
          <p:nvPr/>
        </p:nvCxnSpPr>
        <p:spPr>
          <ns24:xfrm xmlns:ns24="http://schemas.openxmlformats.org/drawingml/2006/main">
            <ns24:off x="1737000" y="1936800"/>
            <ns24:ext cx="5670000" cy="1"/>
          </ns24:xfrm>
          <ns25:prstGeom xmlns:ns25="http://schemas.openxmlformats.org/drawingml/2006/main" prst="line">
            <ns25:avLst/>
          </ns25:prstGeom>
          <ns26:ln xmlns:ns26="http://schemas.openxmlformats.org/drawingml/2006/main" w="11430">
            <ns26:solidFill>
              <ns26:srgbClr val="005A9C"/>
            </ns26:solidFill>
          </ns26:ln>
        </p:spPr>
      </p:cxnSp>
      <p:cxnSp>
        <p:nvCxnSpPr>
          <p:cNvPr id="106" name="firm.office.branch.0"/>
          <p:cNvCxnSpPr/>
          <p:nvPr/>
        </p:nvCxnSpPr>
        <p:spPr>
          <ns27:xfrm xmlns:ns27="http://schemas.openxmlformats.org/drawingml/2006/main">
            <ns27:off x="1737000" y="1936800"/>
            <ns27:ext cx="1" cy="93600"/>
          </ns27:xfrm>
          <ns28:prstGeom xmlns:ns28="http://schemas.openxmlformats.org/drawingml/2006/main" prst="line">
            <ns28:avLst/>
          </ns28:prstGeom>
          <ns29:ln xmlns:ns29="http://schemas.openxmlformats.org/drawingml/2006/main" w="11430">
            <ns29:solidFill>
              <ns29:srgbClr val="005A9C"/>
            </ns29:solidFill>
          </ns29:ln>
        </p:spPr>
      </p:cxnSp>
      <p:sp>
        <p:nvSpPr>
          <p:cNvPr id="107" name="firm.office.0"/>
          <p:cNvSpPr/>
          <p:nvPr/>
        </p:nvSpPr>
        <p:spPr>
          <ns30:xfrm xmlns:ns30="http://schemas.openxmlformats.org/drawingml/2006/main">
            <ns30:off x="457200" y="2059200"/>
            <ns30:ext cx="2559600" cy="342000"/>
          </ns30:xfrm>
          <ns31:prstGeom xmlns:ns31="http://schemas.openxmlformats.org/drawingml/2006/main" prst="roundRect">
            <ns31:avLst/>
          </ns31:prstGeom>
          <ns32:solidFill xmlns:ns32="http://schemas.openxmlformats.org/drawingml/2006/main">
            <ns32:srgbClr val="EAF3FA"/>
          </ns32:solidFill>
          <ns33:ln xmlns:ns33="http://schemas.openxmlformats.org/drawingml/2006/main" w="9525">
            <ns33:solidFill>
              <ns33:srgbClr val="005A9C"/>
            </ns33:solidFill>
          </ns33:ln>
        </p:spPr>
        <p:txBody>
          <ns34:bodyPr xmlns:ns34="http://schemas.openxmlformats.org/drawingml/2006/main" wrap="square" lIns="61200" rIns="61200" tIns="61200" bIns="61200" anchor="ctr">
            <ns34:noAutofit/>
          </ns34:bodyPr>
          <ns35:lstStyle xmlns:ns35="http://schemas.openxmlformats.org/drawingml/2006/main"/>
          <ns36:p xmlns:ns36="http://schemas.openxmlformats.org/drawingml/2006/main">
            <ns36:pPr algn="l">
              <ns36:lnSpc>
                <ns36:spcPct val="105000"/>
              </ns36:lnSpc>
              <ns36:defRPr sz="1300" b="1">
                <ns36:solidFill>
                  <ns36:srgbClr val="005A9C"/>
                </ns36:solidFill>
                <ns36:latin typeface="Arial"/>
                <ns36:ea typeface="Arial"/>
                <ns36:cs typeface="Arial"/>
              </ns36:defRPr>
            </ns36:pPr>
            <ns36:r>
              <ns36:rPr sz="1300" b="1">
                <ns36:solidFill>
                  <ns36:srgbClr val="005A9C"/>
                </ns36:solidFill>
                <ns36:latin typeface="Arial"/>
                <ns36:ea typeface="Arial"/>
                <ns36:cs typeface="Arial"/>
              </ns36:rPr>
              <ns36:t>Front office</ns36:t>
            </ns36:r>
          </ns36:p>
        </p:txBody>
      </p:sp>
      <p:sp>
        <p:nvSpPr>
          <p:cNvPr id="108" name="firm.task.0.0"/>
          <p:cNvSpPr/>
          <p:nvPr/>
        </p:nvSpPr>
        <p:spPr>
          <ns37:xfrm xmlns:ns37="http://schemas.openxmlformats.org/drawingml/2006/main">
            <ns37:off x="457200" y="2512800"/>
            <ns37:ext cx="2559600" cy="381600"/>
          </ns37:xfrm>
          <ns38:prstGeom xmlns:ns38="http://schemas.openxmlformats.org/drawingml/2006/main" prst="rect">
            <ns38:avLst/>
          </ns38:prstGeom>
          <ns39:solidFill xmlns:ns39="http://schemas.openxmlformats.org/drawingml/2006/main">
            <ns39:srgbClr val="F3F7FA"/>
          </ns39:solidFill>
          <ns40:ln xmlns:ns40="http://schemas.openxmlformats.org/drawingml/2006/main" w="9525">
            <ns40:solidFill>
              <ns40:srgbClr val="65727D"/>
            </ns40:solidFill>
          </ns40:ln>
        </p:spPr>
        <p:txBody>
          <ns41:bodyPr xmlns:ns41="http://schemas.openxmlformats.org/drawingml/2006/main" wrap="square" lIns="61200" rIns="61200" tIns="61200" bIns="61200" anchor="ctr">
            <ns41:noAutofit/>
          </ns41:bodyPr>
          <ns42:lstStyle xmlns:ns42="http://schemas.openxmlformats.org/drawingml/2006/main"/>
          <ns43:p xmlns:ns43="http://schemas.openxmlformats.org/drawingml/2006/main">
            <ns43:pPr algn="l">
              <ns43:lnSpc>
                <ns43:spcPct val="105000"/>
              </ns43:lnSpc>
              <ns43:defRPr sz="1300" b="1">
                <ns43:solidFill>
                  <ns43:srgbClr val="65727D"/>
                </ns43:solidFill>
                <ns43:latin typeface="Arial"/>
                <ns43:ea typeface="Arial"/>
                <ns43:cs typeface="Arial"/>
              </ns43:defRPr>
            </ns43:pPr>
            <ns43:r>
              <ns43:rPr sz="1300" b="1">
                <ns43:solidFill>
                  <ns43:srgbClr val="65727D"/>
                </ns43:solidFill>
                <ns43:latin typeface="Arial"/>
                <ns43:ea typeface="Arial"/>
                <ns43:cs typeface="Arial"/>
              </ns43:rPr>
              <ns43:t>Research</ns43:t>
            </ns43:r>
          </ns43:p>
          <ns44:p xmlns:ns44="http://schemas.openxmlformats.org/drawingml/2006/main">
            <ns44:pPr algn="l">
              <ns44:lnSpc>
                <ns44:spcPct val="105000"/>
              </ns44:lnSpc>
              <ns44:defRPr sz="1050" b="0">
                <ns44:solidFill>
                  <ns44:srgbClr val="20262C"/>
                </ns44:solidFill>
                <ns44:latin typeface="Arial"/>
                <ns44:ea typeface="Arial"/>
                <ns44:cs typeface="Arial"/>
              </ns44:defRPr>
            </ns44:pPr>
            <ns44:r>
              <ns44:rPr sz="1050" b="0">
                <ns44:solidFill>
                  <ns44:srgbClr val="20262C"/>
                </ns44:solidFill>
                <ns44:latin typeface="Arial"/>
                <ns44:ea typeface="Arial"/>
                <ns44:cs typeface="Arial"/>
              </ns44:rPr>
              <ns44:t>Company analysis</ns44:t>
            </ns44:r>
          </ns44:p>
        </p:txBody>
      </p:sp>
      <p:sp>
        <p:nvSpPr>
          <p:cNvPr id="109" name="firm.task.0.1"/>
          <p:cNvSpPr/>
          <p:nvPr/>
        </p:nvSpPr>
        <p:spPr>
          <ns45:xfrm xmlns:ns45="http://schemas.openxmlformats.org/drawingml/2006/main">
            <ns45:off x="457200" y="2948400"/>
            <ns45:ext cx="2559600" cy="381600"/>
          </ns45:xfrm>
          <ns46:prstGeom xmlns:ns46="http://schemas.openxmlformats.org/drawingml/2006/main" prst="rect">
            <ns46:avLst/>
          </ns46:prstGeom>
          <ns47:solidFill xmlns:ns47="http://schemas.openxmlformats.org/drawingml/2006/main">
            <ns47:srgbClr val="F3F7FA"/>
          </ns47:solidFill>
          <ns48:ln xmlns:ns48="http://schemas.openxmlformats.org/drawingml/2006/main" w="9525">
            <ns48:solidFill>
              <ns48:srgbClr val="65727D"/>
            </ns48:solidFill>
          </ns48:ln>
        </p:spPr>
        <p:txBody>
          <ns49:bodyPr xmlns:ns49="http://schemas.openxmlformats.org/drawingml/2006/main" wrap="square" lIns="61200" rIns="61200" tIns="61200" bIns="61200" anchor="ctr">
            <ns49:noAutofit/>
          </ns49:bodyPr>
          <ns50:lstStyle xmlns:ns50="http://schemas.openxmlformats.org/drawingml/2006/main"/>
          <ns51:p xmlns:ns51="http://schemas.openxmlformats.org/drawingml/2006/main">
            <ns51:pPr algn="l">
              <ns51:lnSpc>
                <ns51:spcPct val="105000"/>
              </ns51:lnSpc>
              <ns51:defRPr sz="1300" b="1">
                <ns51:solidFill>
                  <ns51:srgbClr val="65727D"/>
                </ns51:solidFill>
                <ns51:latin typeface="Arial"/>
                <ns51:ea typeface="Arial"/>
                <ns51:cs typeface="Arial"/>
              </ns51:defRPr>
            </ns51:pPr>
            <ns51:r>
              <ns51:rPr sz="1300" b="1">
                <ns51:solidFill>
                  <ns51:srgbClr val="65727D"/>
                </ns51:solidFill>
                <ns51:latin typeface="Arial"/>
                <ns51:ea typeface="Arial"/>
                <ns51:cs typeface="Arial"/>
              </ns51:rPr>
              <ns51:t>Trading support</ns51:t>
            </ns51:r>
          </ns51:p>
          <ns52:p xmlns:ns52="http://schemas.openxmlformats.org/drawingml/2006/main">
            <ns52:pPr algn="l">
              <ns52:lnSpc>
                <ns52:spcPct val="105000"/>
              </ns52:lnSpc>
              <ns52:defRPr sz="1050" b="0">
                <ns52:solidFill>
                  <ns52:srgbClr val="20262C"/>
                </ns52:solidFill>
                <ns52:latin typeface="Arial"/>
                <ns52:ea typeface="Arial"/>
                <ns52:cs typeface="Arial"/>
              </ns52:defRPr>
            </ns52:pPr>
            <ns52:r>
              <ns52:rPr sz="1050" b="0">
                <ns52:solidFill>
                  <ns52:srgbClr val="20262C"/>
                </ns52:solidFill>
                <ns52:latin typeface="Arial"/>
                <ns52:ea typeface="Arial"/>
                <ns52:cs typeface="Arial"/>
              </ns52:rPr>
              <ns52:t>Quote requests</ns52:t>
            </ns52:r>
          </ns52:p>
        </p:txBody>
      </p:sp>
      <p:sp>
        <p:nvSpPr>
          <p:cNvPr id="110" name="firm.task.0.2"/>
          <p:cNvSpPr/>
          <p:nvPr/>
        </p:nvSpPr>
        <p:spPr>
          <ns53:xfrm xmlns:ns53="http://schemas.openxmlformats.org/drawingml/2006/main">
            <ns53:off x="457200" y="3384000"/>
            <ns53:ext cx="2559600" cy="381600"/>
          </ns53:xfrm>
          <ns54:prstGeom xmlns:ns54="http://schemas.openxmlformats.org/drawingml/2006/main" prst="rect">
            <ns54:avLst/>
          </ns54:prstGeom>
          <ns55:solidFill xmlns:ns55="http://schemas.openxmlformats.org/drawingml/2006/main">
            <ns55:srgbClr val="F3F7FA"/>
          </ns55:solidFill>
          <ns56:ln xmlns:ns56="http://schemas.openxmlformats.org/drawingml/2006/main" w="9525">
            <ns56:solidFill>
              <ns56:srgbClr val="65727D"/>
            </ns56:solidFill>
          </ns56:ln>
        </p:spPr>
        <p:txBody>
          <ns57:bodyPr xmlns:ns57="http://schemas.openxmlformats.org/drawingml/2006/main" wrap="square" lIns="61200" rIns="61200" tIns="61200" bIns="61200" anchor="ctr">
            <ns57:noAutofit/>
          </ns57:bodyPr>
          <ns58:lstStyle xmlns:ns58="http://schemas.openxmlformats.org/drawingml/2006/main"/>
          <ns59:p xmlns:ns59="http://schemas.openxmlformats.org/drawingml/2006/main">
            <ns59:pPr algn="l">
              <ns59:lnSpc>
                <ns59:spcPct val="105000"/>
              </ns59:lnSpc>
              <ns59:defRPr sz="1300" b="1">
                <ns59:solidFill>
                  <ns59:srgbClr val="65727D"/>
                </ns59:solidFill>
                <ns59:latin typeface="Arial"/>
                <ns59:ea typeface="Arial"/>
                <ns59:cs typeface="Arial"/>
              </ns59:defRPr>
            </ns59:pPr>
            <ns59:r>
              <ns59:rPr sz="1300" b="1">
                <ns59:solidFill>
                  <ns59:srgbClr val="65727D"/>
                </ns59:solidFill>
                <ns59:latin typeface="Arial"/>
                <ns59:ea typeface="Arial"/>
                <ns59:cs typeface="Arial"/>
              </ns59:rPr>
              <ns59:t>Client materials</ns59:t>
            </ns59:r>
          </ns59:p>
          <ns60:p xmlns:ns60="http://schemas.openxmlformats.org/drawingml/2006/main">
            <ns60:pPr algn="l">
              <ns60:lnSpc>
                <ns60:spcPct val="105000"/>
              </ns60:lnSpc>
              <ns60:defRPr sz="1050" b="0">
                <ns60:solidFill>
                  <ns60:srgbClr val="20262C"/>
                </ns60:solidFill>
                <ns60:latin typeface="Arial"/>
                <ns60:ea typeface="Arial"/>
                <ns60:cs typeface="Arial"/>
              </ns60:defRPr>
            </ns60:pPr>
            <ns60:r>
              <ns60:rPr sz="1050" b="0">
                <ns60:solidFill>
                  <ns60:srgbClr val="20262C"/>
                </ns60:solidFill>
                <ns60:latin typeface="Arial"/>
                <ns60:ea typeface="Arial"/>
                <ns60:cs typeface="Arial"/>
              </ns60:rPr>
              <ns60:t>Client communications</ns60:t>
            </ns60:r>
          </ns60:p>
        </p:txBody>
      </p:sp>
      <p:cxnSp>
        <p:nvCxnSpPr>
          <p:cNvPr id="111" name="firm.office.branch.1"/>
          <p:cNvCxnSpPr/>
          <p:nvPr/>
        </p:nvCxnSpPr>
        <p:spPr>
          <ns61:xfrm xmlns:ns61="http://schemas.openxmlformats.org/drawingml/2006/main">
            <ns61:off x="4572000" y="1936800"/>
            <ns61:ext cx="1" cy="93600"/>
          </ns61:xfrm>
          <ns62:prstGeom xmlns:ns62="http://schemas.openxmlformats.org/drawingml/2006/main" prst="line">
            <ns62:avLst/>
          </ns62:prstGeom>
          <ns63:ln xmlns:ns63="http://schemas.openxmlformats.org/drawingml/2006/main" w="11430">
            <ns63:solidFill>
              <ns63:srgbClr val="005A9C"/>
            </ns63:solidFill>
          </ns63:ln>
        </p:spPr>
      </p:cxnSp>
      <p:sp>
        <p:nvSpPr>
          <p:cNvPr id="112" name="firm.office.1"/>
          <p:cNvSpPr/>
          <p:nvPr/>
        </p:nvSpPr>
        <p:spPr>
          <ns64:xfrm xmlns:ns64="http://schemas.openxmlformats.org/drawingml/2006/main">
            <ns64:off x="3294000" y="2059200"/>
            <ns64:ext cx="2556000" cy="342000"/>
          </ns64:xfrm>
          <ns65:prstGeom xmlns:ns65="http://schemas.openxmlformats.org/drawingml/2006/main" prst="roundRect">
            <ns65:avLst/>
          </ns65:prstGeom>
          <ns66:solidFill xmlns:ns66="http://schemas.openxmlformats.org/drawingml/2006/main">
            <ns66:srgbClr val="EAF3FA"/>
          </ns66:solidFill>
          <ns67:ln xmlns:ns67="http://schemas.openxmlformats.org/drawingml/2006/main" w="9525">
            <ns67:solidFill>
              <ns67:srgbClr val="005A9C"/>
            </ns67:solidFill>
          </ns67:ln>
        </p:spPr>
        <p:txBody>
          <ns68:bodyPr xmlns:ns68="http://schemas.openxmlformats.org/drawingml/2006/main" wrap="square" lIns="61200" rIns="61200" tIns="61200" bIns="61200" anchor="ctr">
            <ns68:noAutofit/>
          </ns68:bodyPr>
          <ns69:lstStyle xmlns:ns69="http://schemas.openxmlformats.org/drawingml/2006/main"/>
          <ns70:p xmlns:ns70="http://schemas.openxmlformats.org/drawingml/2006/main">
            <ns70:pPr algn="l">
              <ns70:lnSpc>
                <ns70:spcPct val="105000"/>
              </ns70:lnSpc>
              <ns70:defRPr sz="1300" b="1">
                <ns70:solidFill>
                  <ns70:srgbClr val="005A9C"/>
                </ns70:solidFill>
                <ns70:latin typeface="Arial"/>
                <ns70:ea typeface="Arial"/>
                <ns70:cs typeface="Arial"/>
              </ns70:defRPr>
            </ns70:pPr>
            <ns70:r>
              <ns70:rPr sz="1300" b="1">
                <ns70:solidFill>
                  <ns70:srgbClr val="005A9C"/>
                </ns70:solidFill>
                <ns70:latin typeface="Arial"/>
                <ns70:ea typeface="Arial"/>
                <ns70:cs typeface="Arial"/>
              </ns70:rPr>
              <ns70:t>Middle office</ns70:t>
            </ns70:r>
          </ns70:p>
        </p:txBody>
      </p:sp>
      <p:sp>
        <p:nvSpPr>
          <p:cNvPr id="113" name="firm.task.1.0"/>
          <p:cNvSpPr/>
          <p:nvPr/>
        </p:nvSpPr>
        <p:spPr>
          <ns71:xfrm xmlns:ns71="http://schemas.openxmlformats.org/drawingml/2006/main">
            <ns71:off x="3294000" y="2512800"/>
            <ns71:ext cx="2556000" cy="381600"/>
          </ns71:xfrm>
          <ns72:prstGeom xmlns:ns72="http://schemas.openxmlformats.org/drawingml/2006/main" prst="rect">
            <ns72:avLst/>
          </ns72:prstGeom>
          <ns73:solidFill xmlns:ns73="http://schemas.openxmlformats.org/drawingml/2006/main">
            <ns73:srgbClr val="F3F7FA"/>
          </ns73:solidFill>
          <ns74:ln xmlns:ns74="http://schemas.openxmlformats.org/drawingml/2006/main" w="9525">
            <ns74:solidFill>
              <ns74:srgbClr val="65727D"/>
            </ns74:solidFill>
          </ns74:ln>
        </p:spPr>
        <p:txBody>
          <ns75:bodyPr xmlns:ns75="http://schemas.openxmlformats.org/drawingml/2006/main" wrap="square" lIns="61200" rIns="61200" tIns="61200" bIns="61200" anchor="ctr">
            <ns75:noAutofit/>
          </ns75:bodyPr>
          <ns76:lstStyle xmlns:ns76="http://schemas.openxmlformats.org/drawingml/2006/main"/>
          <ns77:p xmlns:ns77="http://schemas.openxmlformats.org/drawingml/2006/main">
            <ns77:pPr algn="l">
              <ns77:lnSpc>
                <ns77:spcPct val="105000"/>
              </ns77:lnSpc>
              <ns77:defRPr sz="1300" b="1">
                <ns77:solidFill>
                  <ns77:srgbClr val="65727D"/>
                </ns77:solidFill>
                <ns77:latin typeface="Arial"/>
                <ns77:ea typeface="Arial"/>
                <ns77:cs typeface="Arial"/>
              </ns77:defRPr>
            </ns77:pPr>
            <ns77:r>
              <ns77:rPr sz="1300" b="1">
                <ns77:solidFill>
                  <ns77:srgbClr val="65727D"/>
                </ns77:solidFill>
                <ns77:latin typeface="Arial"/>
                <ns77:ea typeface="Arial"/>
                <ns77:cs typeface="Arial"/>
              </ns77:rPr>
              <ns77:t>Content review</ns77:t>
            </ns77:r>
          </ns77:p>
          <ns78:p xmlns:ns78="http://schemas.openxmlformats.org/drawingml/2006/main">
            <ns78:pPr algn="l">
              <ns78:lnSpc>
                <ns78:spcPct val="105000"/>
              </ns78:lnSpc>
              <ns78:defRPr sz="1050" b="0">
                <ns78:solidFill>
                  <ns78:srgbClr val="20262C"/>
                </ns78:solidFill>
                <ns78:latin typeface="Arial"/>
                <ns78:ea typeface="Arial"/>
                <ns78:cs typeface="Arial"/>
              </ns78:defRPr>
            </ns78:pPr>
            <ns78:r>
              <ns78:rPr sz="1050" b="0">
                <ns78:solidFill>
                  <ns78:srgbClr val="20262C"/>
                </ns78:solidFill>
                <ns78:latin typeface="Arial"/>
                <ns78:ea typeface="Arial"/>
                <ns78:cs typeface="Arial"/>
              </ns78:rPr>
              <ns78:t>Source-based checks</ns78:t>
            </ns78:r>
          </ns78:p>
        </p:txBody>
      </p:sp>
      <p:sp>
        <p:nvSpPr>
          <p:cNvPr id="114" name="firm.task.1.1"/>
          <p:cNvSpPr/>
          <p:nvPr/>
        </p:nvSpPr>
        <p:spPr>
          <ns79:xfrm xmlns:ns79="http://schemas.openxmlformats.org/drawingml/2006/main">
            <ns79:off x="3294000" y="2948400"/>
            <ns79:ext cx="2556000" cy="381600"/>
          </ns79:xfrm>
          <ns80:prstGeom xmlns:ns80="http://schemas.openxmlformats.org/drawingml/2006/main" prst="rect">
            <ns80:avLst/>
          </ns80:prstGeom>
          <ns81:solidFill xmlns:ns81="http://schemas.openxmlformats.org/drawingml/2006/main">
            <ns81:srgbClr val="F3F7FA"/>
          </ns81:solidFill>
          <ns82:ln xmlns:ns82="http://schemas.openxmlformats.org/drawingml/2006/main" w="9525">
            <ns82:solidFill>
              <ns82:srgbClr val="65727D"/>
            </ns82:solidFill>
          </ns82:ln>
        </p:spPr>
        <p:txBody>
          <ns83:bodyPr xmlns:ns83="http://schemas.openxmlformats.org/drawingml/2006/main" wrap="square" lIns="61200" rIns="61200" tIns="61200" bIns="61200" anchor="ctr">
            <ns83:noAutofit/>
          </ns83:bodyPr>
          <ns84:lstStyle xmlns:ns84="http://schemas.openxmlformats.org/drawingml/2006/main"/>
          <ns85:p xmlns:ns85="http://schemas.openxmlformats.org/drawingml/2006/main">
            <ns85:pPr algn="l">
              <ns85:lnSpc>
                <ns85:spcPct val="105000"/>
              </ns85:lnSpc>
              <ns85:defRPr sz="1300" b="1">
                <ns85:solidFill>
                  <ns85:srgbClr val="65727D"/>
                </ns85:solidFill>
                <ns85:latin typeface="Arial"/>
                <ns85:ea typeface="Arial"/>
                <ns85:cs typeface="Arial"/>
              </ns85:defRPr>
            </ns85:pPr>
            <ns85:r>
              <ns85:rPr sz="1300" b="1">
                <ns85:solidFill>
                  <ns85:srgbClr val="65727D"/>
                </ns85:solidFill>
                <ns85:latin typeface="Arial"/>
                <ns85:ea typeface="Arial"/>
                <ns85:cs typeface="Arial"/>
              </ns85:rPr>
              <ns85:t>Risk analysis</ns85:t>
            </ns85:r>
          </ns85:p>
          <ns86:p xmlns:ns86="http://schemas.openxmlformats.org/drawingml/2006/main">
            <ns86:pPr algn="l">
              <ns86:lnSpc>
                <ns86:spcPct val="105000"/>
              </ns86:lnSpc>
              <ns86:defRPr sz="1050" b="0">
                <ns86:solidFill>
                  <ns86:srgbClr val="20262C"/>
                </ns86:solidFill>
                <ns86:latin typeface="Arial"/>
                <ns86:ea typeface="Arial"/>
                <ns86:cs typeface="Arial"/>
              </ns86:defRPr>
            </ns86:pPr>
            <ns86:r>
              <ns86:rPr sz="1050" b="0">
                <ns86:solidFill>
                  <ns86:srgbClr val="20262C"/>
                </ns86:solidFill>
                <ns86:latin typeface="Arial"/>
                <ns86:ea typeface="Arial"/>
                <ns86:cs typeface="Arial"/>
              </ns86:rPr>
              <ns86:t>Exposure / impact</ns86:t>
            </ns86:r>
          </ns86:p>
        </p:txBody>
      </p:sp>
      <p:cxnSp>
        <p:nvCxnSpPr>
          <p:cNvPr id="115" name="firm.office.branch.2"/>
          <p:cNvCxnSpPr/>
          <p:nvPr/>
        </p:nvCxnSpPr>
        <p:spPr>
          <ns87:xfrm xmlns:ns87="http://schemas.openxmlformats.org/drawingml/2006/main">
            <ns87:off x="7407000" y="1936800"/>
            <ns87:ext cx="1" cy="93600"/>
          </ns87:xfrm>
          <ns88:prstGeom xmlns:ns88="http://schemas.openxmlformats.org/drawingml/2006/main" prst="line">
            <ns88:avLst/>
          </ns88:prstGeom>
          <ns89:ln xmlns:ns89="http://schemas.openxmlformats.org/drawingml/2006/main" w="11430">
            <ns89:solidFill>
              <ns89:srgbClr val="005A9C"/>
            </ns89:solidFill>
          </ns89:ln>
        </p:spPr>
      </p:cxnSp>
      <p:sp>
        <p:nvSpPr>
          <p:cNvPr id="116" name="firm.office.2"/>
          <p:cNvSpPr/>
          <p:nvPr/>
        </p:nvSpPr>
        <p:spPr>
          <ns90:xfrm xmlns:ns90="http://schemas.openxmlformats.org/drawingml/2006/main">
            <ns90:off x="6127200" y="2059200"/>
            <ns90:ext cx="2559600" cy="342000"/>
          </ns90:xfrm>
          <ns91:prstGeom xmlns:ns91="http://schemas.openxmlformats.org/drawingml/2006/main" prst="roundRect">
            <ns91:avLst/>
          </ns91:prstGeom>
          <ns92:solidFill xmlns:ns92="http://schemas.openxmlformats.org/drawingml/2006/main">
            <ns92:srgbClr val="EAF3FA"/>
          </ns92:solidFill>
          <ns93:ln xmlns:ns93="http://schemas.openxmlformats.org/drawingml/2006/main" w="9525">
            <ns93:solidFill>
              <ns93:srgbClr val="005A9C"/>
            </ns93:solidFill>
          </ns93:ln>
        </p:spPr>
        <p:txBody>
          <ns94:bodyPr xmlns:ns94="http://schemas.openxmlformats.org/drawingml/2006/main" wrap="square" lIns="61200" rIns="61200" tIns="61200" bIns="61200" anchor="ctr">
            <ns94:noAutofit/>
          </ns94:bodyPr>
          <ns95:lstStyle xmlns:ns95="http://schemas.openxmlformats.org/drawingml/2006/main"/>
          <ns96:p xmlns:ns96="http://schemas.openxmlformats.org/drawingml/2006/main">
            <ns96:pPr algn="l">
              <ns96:lnSpc>
                <ns96:spcPct val="105000"/>
              </ns96:lnSpc>
              <ns96:defRPr sz="1300" b="1">
                <ns96:solidFill>
                  <ns96:srgbClr val="005A9C"/>
                </ns96:solidFill>
                <ns96:latin typeface="Arial"/>
                <ns96:ea typeface="Arial"/>
                <ns96:cs typeface="Arial"/>
              </ns96:defRPr>
            </ns96:pPr>
            <ns96:r>
              <ns96:rPr sz="1300" b="1">
                <ns96:solidFill>
                  <ns96:srgbClr val="005A9C"/>
                </ns96:solidFill>
                <ns96:latin typeface="Arial"/>
                <ns96:ea typeface="Arial"/>
                <ns96:cs typeface="Arial"/>
              </ns96:rPr>
              <ns96:t>Back office</ns96:t>
            </ns96:r>
          </ns96:p>
        </p:txBody>
      </p:sp>
      <p:sp>
        <p:nvSpPr>
          <p:cNvPr id="117" name="firm.task.2.0"/>
          <p:cNvSpPr/>
          <p:nvPr/>
        </p:nvSpPr>
        <p:spPr>
          <ns97:xfrm xmlns:ns97="http://schemas.openxmlformats.org/drawingml/2006/main">
            <ns97:off x="6127200" y="2512800"/>
            <ns97:ext cx="2559600" cy="381600"/>
          </ns97:xfrm>
          <ns98:prstGeom xmlns:ns98="http://schemas.openxmlformats.org/drawingml/2006/main" prst="rect">
            <ns98:avLst/>
          </ns98:prstGeom>
          <ns99:solidFill xmlns:ns99="http://schemas.openxmlformats.org/drawingml/2006/main">
            <ns99:srgbClr val="F3F7FA"/>
          </ns99:solidFill>
          <ns100:ln xmlns:ns100="http://schemas.openxmlformats.org/drawingml/2006/main" w="9525">
            <ns100:solidFill>
              <ns100:srgbClr val="65727D"/>
            </ns100:solidFill>
          </ns100:ln>
        </p:spPr>
        <p:txBody>
          <ns101:bodyPr xmlns:ns101="http://schemas.openxmlformats.org/drawingml/2006/main" wrap="square" lIns="61200" rIns="61200" tIns="61200" bIns="61200" anchor="ctr">
            <ns101:noAutofit/>
          </ns101:bodyPr>
          <ns102:lstStyle xmlns:ns102="http://schemas.openxmlformats.org/drawingml/2006/main"/>
          <ns103:p xmlns:ns103="http://schemas.openxmlformats.org/drawingml/2006/main">
            <ns103:pPr algn="l">
              <ns103:lnSpc>
                <ns103:spcPct val="105000"/>
              </ns103:lnSpc>
              <ns103:defRPr sz="1300" b="1">
                <ns103:solidFill>
                  <ns103:srgbClr val="65727D"/>
                </ns103:solidFill>
                <ns103:latin typeface="Arial"/>
                <ns103:ea typeface="Arial"/>
                <ns103:cs typeface="Arial"/>
              </ns103:defRPr>
            </ns103:pPr>
            <ns103:r>
              <ns103:rPr sz="1300" b="1">
                <ns103:solidFill>
                  <ns103:srgbClr val="65727D"/>
                </ns103:solidFill>
                <ns103:latin typeface="Arial"/>
                <ns103:ea typeface="Arial"/>
                <ns103:cs typeface="Arial"/>
              </ns103:rPr>
              <ns103:t>Document processing</ns103:t>
            </ns103:r>
          </ns103:p>
          <ns104:p xmlns:ns104="http://schemas.openxmlformats.org/drawingml/2006/main">
            <ns104:pPr algn="l">
              <ns104:lnSpc>
                <ns104:spcPct val="105000"/>
              </ns104:lnSpc>
              <ns104:defRPr sz="1050" b="0">
                <ns104:solidFill>
                  <ns104:srgbClr val="20262C"/>
                </ns104:solidFill>
                <ns104:latin typeface="Arial"/>
                <ns104:ea typeface="Arial"/>
                <ns104:cs typeface="Arial"/>
              </ns104:defRPr>
            </ns104:pPr>
            <ns104:r>
              <ns104:rPr sz="1050" b="0">
                <ns104:solidFill>
                  <ns104:srgbClr val="20262C"/>
                </ns104:solidFill>
                <ns104:latin typeface="Arial"/>
                <ns104:ea typeface="Arial"/>
                <ns104:cs typeface="Arial"/>
              </ns104:rPr>
              <ns104:t>Records / revisions</ns104:t>
            </ns104:r>
          </ns104:p>
        </p:txBody>
      </p:sp>
      <p:sp>
        <p:nvSpPr>
          <p:cNvPr id="118" name="firm.task.2.1"/>
          <p:cNvSpPr/>
          <p:nvPr/>
        </p:nvSpPr>
        <p:spPr>
          <ns105:xfrm xmlns:ns105="http://schemas.openxmlformats.org/drawingml/2006/main">
            <ns105:off x="6127200" y="2948400"/>
            <ns105:ext cx="2559600" cy="381600"/>
          </ns105:xfrm>
          <ns106:prstGeom xmlns:ns106="http://schemas.openxmlformats.org/drawingml/2006/main" prst="rect">
            <ns106:avLst/>
          </ns106:prstGeom>
          <ns107:solidFill xmlns:ns107="http://schemas.openxmlformats.org/drawingml/2006/main">
            <ns107:srgbClr val="F3F7FA"/>
          </ns107:solidFill>
          <ns108:ln xmlns:ns108="http://schemas.openxmlformats.org/drawingml/2006/main" w="9525">
            <ns108:solidFill>
              <ns108:srgbClr val="65727D"/>
            </ns108:solidFill>
          </ns108:ln>
        </p:spPr>
        <p:txBody>
          <ns109:bodyPr xmlns:ns109="http://schemas.openxmlformats.org/drawingml/2006/main" wrap="square" lIns="61200" rIns="61200" tIns="61200" bIns="61200" anchor="ctr">
            <ns109:noAutofit/>
          </ns109:bodyPr>
          <ns110:lstStyle xmlns:ns110="http://schemas.openxmlformats.org/drawingml/2006/main"/>
          <ns111:p xmlns:ns111="http://schemas.openxmlformats.org/drawingml/2006/main">
            <ns111:pPr algn="l">
              <ns111:lnSpc>
                <ns111:spcPct val="105000"/>
              </ns111:lnSpc>
              <ns111:defRPr sz="1300" b="1">
                <ns111:solidFill>
                  <ns111:srgbClr val="65727D"/>
                </ns111:solidFill>
                <ns111:latin typeface="Arial"/>
                <ns111:ea typeface="Arial"/>
                <ns111:cs typeface="Arial"/>
              </ns111:defRPr>
            </ns111:pPr>
            <ns111:r>
              <ns111:rPr sz="1300" b="1">
                <ns111:solidFill>
                  <ns111:srgbClr val="65727D"/>
                </ns111:solidFill>
                <ns111:latin typeface="Arial"/>
                <ns111:ea typeface="Arial"/>
                <ns111:cs typeface="Arial"/>
              </ns111:rPr>
              <ns111:t>Tool development</ns111:t>
            </ns111:r>
          </ns111:p>
          <ns112:p xmlns:ns112="http://schemas.openxmlformats.org/drawingml/2006/main">
            <ns112:pPr algn="l">
              <ns112:lnSpc>
                <ns112:spcPct val="105000"/>
              </ns112:lnSpc>
              <ns112:defRPr sz="1050" b="0">
                <ns112:solidFill>
                  <ns112:srgbClr val="20262C"/>
                </ns112:solidFill>
                <ns112:latin typeface="Arial"/>
                <ns112:ea typeface="Arial"/>
                <ns112:cs typeface="Arial"/>
              </ns112:defRPr>
            </ns112:pPr>
            <ns112:r>
              <ns112:rPr sz="1050" b="0">
                <ns112:solidFill>
                  <ns112:srgbClr val="20262C"/>
                </ns112:solidFill>
                <ns112:latin typeface="Arial"/>
                <ns112:ea typeface="Arial"/>
                <ns112:cs typeface="Arial"/>
              </ns112:rPr>
              <ns112:t>Internal business tools</ns112:t>
            </ns112:r>
          </ns112:p>
        </p:txBody>
      </p:sp>
      <p:sp>
        <p:nvSpPr>
          <p:cNvPr id="119" name="story.issuer"/>
          <p:cNvSpPr/>
          <p:nvPr/>
        </p:nvSpPr>
        <p:spPr>
          <ns113:xfrm xmlns:ns113="http://schemas.openxmlformats.org/drawingml/2006/main">
            <ns113:off x="457200" y="4089600"/>
            <ns113:ext cx="3934800" cy="414000"/>
          </ns113:xfrm>
          <ns114:prstGeom xmlns:ns114="http://schemas.openxmlformats.org/drawingml/2006/main" prst="rect">
            <ns114:avLst/>
          </ns114:prstGeom>
          <ns115:solidFill xmlns:ns115="http://schemas.openxmlformats.org/drawingml/2006/main">
            <ns115:srgbClr val="EFF6F4"/>
          </ns115:solidFill>
          <ns116:ln xmlns:ns116="http://schemas.openxmlformats.org/drawingml/2006/main" w="9525">
            <ns116:solidFill>
              <ns116:srgbClr val="317F7B"/>
            </ns116:solidFill>
          </ns116:ln>
        </p:spPr>
        <p:txBody>
          <ns117:bodyPr xmlns:ns117="http://schemas.openxmlformats.org/drawingml/2006/main" wrap="square" lIns="61200" rIns="61200" tIns="61200" bIns="61200" anchor="ctr">
            <ns117:noAutofit/>
          </ns117:bodyPr>
          <ns118:lstStyle xmlns:ns118="http://schemas.openxmlformats.org/drawingml/2006/main"/>
          <ns119:p xmlns:ns119="http://schemas.openxmlformats.org/drawingml/2006/main">
            <ns119:pPr algn="l">
              <ns119:lnSpc>
                <ns119:spcPct val="105000"/>
              </ns119:lnSpc>
              <ns119:defRPr sz="1300" b="1">
                <ns119:solidFill>
                  <ns119:srgbClr val="317F7B"/>
                </ns119:solidFill>
                <ns119:latin typeface="Arial"/>
                <ns119:ea typeface="Arial"/>
                <ns119:cs typeface="Arial"/>
              </ns119:defRPr>
            </ns119:pPr>
            <ns119:r>
              <ns119:rPr sz="1300" b="1">
                <ns119:solidFill>
                  <ns119:srgbClr val="317F7B"/>
                </ns119:solidFill>
                <ns119:latin typeface="Arial"/>
                <ns119:ea typeface="Arial"/>
                <ns119:cs typeface="Arial"/>
              </ns119:rPr>
              <ns119:t>Company A</ns119:t>
            </ns119:r>
          </ns119:p>
          <ns120:p xmlns:ns120="http://schemas.openxmlformats.org/drawingml/2006/main">
            <ns120:pPr algn="l">
              <ns120:lnSpc>
                <ns120:spcPct val="105000"/>
              </ns120:lnSpc>
              <ns120:defRPr sz="1050" b="0">
                <ns120:solidFill>
                  <ns120:srgbClr val="20262C"/>
                </ns120:solidFill>
                <ns120:latin typeface="Arial"/>
                <ns120:ea typeface="Arial"/>
                <ns120:cs typeface="Arial"/>
              </ns120:defRPr>
            </ns120:pPr>
            <ns120:r>
              <ns120:rPr sz="1050" b="0">
                <ns120:solidFill>
                  <ns120:srgbClr val="20262C"/>
                </ns120:solidFill>
                <ns120:latin typeface="Arial"/>
                <ns120:ea typeface="Arial"/>
                <ns120:cs typeface="Arial"/>
              </ns120:rPr>
              <ns120:t>Research / trading / risk / operations</ns120:t>
            </ns120:r>
          </ns120:p>
        </p:txBody>
      </p:sp>
      <p:sp>
        <p:nvSpPr>
          <p:cNvPr id="120" name="story.client"/>
          <p:cNvSpPr/>
          <p:nvPr/>
        </p:nvSpPr>
        <p:spPr>
          <ns121:xfrm xmlns:ns121="http://schemas.openxmlformats.org/drawingml/2006/main">
            <ns121:off x="4752000" y="4089600"/>
            <ns121:ext cx="3934800" cy="414000"/>
          </ns121:xfrm>
          <ns122:prstGeom xmlns:ns122="http://schemas.openxmlformats.org/drawingml/2006/main" prst="rect">
            <ns122:avLst/>
          </ns122:prstGeom>
          <ns123:solidFill xmlns:ns123="http://schemas.openxmlformats.org/drawingml/2006/main">
            <ns123:srgbClr val="F7F4FB"/>
          </ns123:solidFill>
          <ns124:ln xmlns:ns124="http://schemas.openxmlformats.org/drawingml/2006/main" w="9525">
            <ns124:solidFill>
              <ns124:srgbClr val="7363A6"/>
            </ns124:solidFill>
          </ns124:ln>
        </p:spPr>
        <p:txBody>
          <ns125:bodyPr xmlns:ns125="http://schemas.openxmlformats.org/drawingml/2006/main" wrap="square" lIns="61200" rIns="61200" tIns="61200" bIns="61200" anchor="ctr">
            <ns125:noAutofit/>
          </ns125:bodyPr>
          <ns126:lstStyle xmlns:ns126="http://schemas.openxmlformats.org/drawingml/2006/main"/>
          <ns127:p xmlns:ns127="http://schemas.openxmlformats.org/drawingml/2006/main">
            <ns127:pPr algn="l">
              <ns127:lnSpc>
                <ns127:spcPct val="105000"/>
              </ns127:lnSpc>
              <ns127:defRPr sz="1300" b="1">
                <ns127:solidFill>
                  <ns127:srgbClr val="7363A6"/>
                </ns127:solidFill>
                <ns127:latin typeface="Arial"/>
                <ns127:ea typeface="Arial"/>
                <ns127:cs typeface="Arial"/>
              </ns127:defRPr>
            </ns127:pPr>
            <ns127:r>
              <ns127:rPr sz="1300" b="1">
                <ns127:solidFill>
                  <ns127:srgbClr val="7363A6"/>
                </ns127:solidFill>
                <ns127:latin typeface="Arial"/>
                <ns127:ea typeface="Arial"/>
                <ns127:cs typeface="Arial"/>
              </ns127:rPr>
              <ns127:t>Quarterly client update</ns127:t>
            </ns127:r>
          </ns127:p>
          <ns128:p xmlns:ns128="http://schemas.openxmlformats.org/drawingml/2006/main">
            <ns128:pPr algn="l">
              <ns128:lnSpc>
                <ns128:spcPct val="105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Drafting / review / change tracking</ns128:t>
            </ns128:r>
          </ns128:p>
        </p:txBody>
      </p:sp>
    </p:spTree>
    <p:extLst>
      <p:ext uri="{BB962C8B-B14F-4D97-AF65-F5344CB8AC3E}">
        <p14:creationId xmlns:p14="http://schemas.microsoft.com/office/powerpoint/2010/main" val="1693129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Company research: assessing revenue growth</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Investment research / Current workflow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105"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106"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107" name="map.task.trade"/>
          <p:cNvSpPr/>
          <p:nvPr/>
        </p:nvSpPr>
        <p:spPr>
          <ns35:xfrm xmlns:ns35="http://schemas.openxmlformats.org/drawingml/2006/main">
            <ns35:off x="554400" y="2001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0">
                <ns41:solidFill>
                  <ns41:srgbClr val="65727D"/>
                </ns41:solidFill>
                <ns41:latin typeface="Arial"/>
                <ns41:ea typeface="Arial"/>
                <ns41:cs typeface="Arial"/>
              </ns41:defRPr>
            </ns41:pPr>
            <ns41:r>
              <ns41:rPr sz="1050" b="0">
                <ns41:solidFill>
                  <ns41:srgbClr val="65727D"/>
                </ns41:solidFill>
                <ns41:latin typeface="Arial"/>
                <ns41:ea typeface="Arial"/>
                <ns41:cs typeface="Arial"/>
              </ns41:rPr>
              <ns41:t>Trading support</ns41:t>
            </ns41:r>
          </ns41:p>
        </p:txBody>
      </p:sp>
      <p:sp>
        <p:nvSpPr>
          <p:cNvPr id="108" name="map.task.client"/>
          <p:cNvSpPr/>
          <p:nvPr/>
        </p:nvSpPr>
        <p:spPr>
          <ns42:xfrm xmlns:ns42="http://schemas.openxmlformats.org/drawingml/2006/main">
            <ns42:off x="554400" y="2199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Client materials</ns48:t>
            </ns48:r>
          </ns48:p>
        </p:txBody>
      </p:sp>
      <p:sp>
        <p:nvSpPr>
          <p:cNvPr id="109" name="map.office.1"/>
          <p:cNvSpPr/>
          <p:nvPr/>
        </p:nvSpPr>
        <p:spPr>
          <ns49:xfrm xmlns:ns49="http://schemas.openxmlformats.org/drawingml/2006/main">
            <ns49:off x="486000" y="2548800"/>
            <ns49:ext cx="1692000" cy="1800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100" b="1">
                <ns55:solidFill>
                  <ns55:srgbClr val="65727D"/>
                </ns55:solidFill>
                <ns55:latin typeface="Arial"/>
                <ns55:ea typeface="Arial"/>
                <ns55:cs typeface="Arial"/>
              </ns55:defRPr>
            </ns55:pPr>
            <ns55:r>
              <ns55:rPr sz="1100" b="1">
                <ns55:solidFill>
                  <ns55:srgbClr val="65727D"/>
                </ns55:solidFill>
                <ns55:latin typeface="Arial"/>
                <ns55:ea typeface="Arial"/>
                <ns55:cs typeface="Arial"/>
              </ns55:rPr>
              <ns55:t>Middle office</ns55:t>
            </ns55:r>
          </ns55:p>
        </p:txBody>
      </p:sp>
      <p:cxnSp>
        <p:nvCxnSpPr>
          <p:cNvPr id="110" name="map.office.rule.1"/>
          <p:cNvCxnSpPr/>
          <p:nvPr/>
        </p:nvCxnSpPr>
        <p:spPr>
          <ns56:xfrm xmlns:ns56="http://schemas.openxmlformats.org/drawingml/2006/main">
            <ns56:off x="457200" y="2768400"/>
            <ns56:ext cx="1742400" cy="1"/>
          </ns56:xfrm>
          <ns57:prstGeom xmlns:ns57="http://schemas.openxmlformats.org/drawingml/2006/main" prst="line">
            <ns57:avLst/>
          </ns57:prstGeom>
          <ns58:ln xmlns:ns58="http://schemas.openxmlformats.org/drawingml/2006/main" w="7620">
            <ns58:solidFill>
              <ns58:srgbClr val="CBD4DA"/>
            </ns58:solidFill>
          </ns58:ln>
        </p:spPr>
      </p:cxnSp>
      <p:sp>
        <p:nvSpPr>
          <p:cNvPr id="111" name="map.task.review"/>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0">
                <ns65:solidFill>
                  <ns65:srgbClr val="65727D"/>
                </ns65:solidFill>
                <ns65:latin typeface="Arial"/>
                <ns65:ea typeface="Arial"/>
                <ns65:cs typeface="Arial"/>
              </ns65:defRPr>
            </ns65:pPr>
            <ns65:r>
              <ns65:rPr sz="1050" b="0">
                <ns65:solidFill>
                  <ns65:srgbClr val="65727D"/>
                </ns65:solidFill>
                <ns65:latin typeface="Arial"/>
                <ns65:ea typeface="Arial"/>
                <ns65:cs typeface="Arial"/>
              </ns65:rPr>
              <ns65:t>Content review</ns65:t>
            </ns65:r>
          </ns65:p>
        </p:txBody>
      </p:sp>
      <p:sp>
        <p:nvSpPr>
          <p:cNvPr id="112" name="map.task.risk"/>
          <p:cNvSpPr/>
          <p:nvPr/>
        </p:nvSpPr>
        <p:spPr>
          <ns66:xfrm xmlns:ns66="http://schemas.openxmlformats.org/drawingml/2006/main">
            <ns66:off x="554400" y="3045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13"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14"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15" name="map.task.file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Document processing</ns89:t>
            </ns89:r>
          </ns89:p>
        </p:txBody>
      </p:sp>
      <p:sp>
        <p:nvSpPr>
          <p:cNvPr id="116"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17" name="map.legend"/>
          <p:cNvSpPr/>
          <p:nvPr/>
        </p:nvSpPr>
        <p:spPr>
          <ns97:xfrm xmlns:ns97="http://schemas.openxmlformats.org/drawingml/2006/main">
            <ns97:off x="486000" y="4363200"/>
            <ns97:ext cx="16848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850" b="0">
                <ns103:solidFill>
                  <ns103:srgbClr val="65727D"/>
                </ns103:solidFill>
                <ns103:latin typeface="Arial"/>
                <ns103:ea typeface="Arial"/>
                <ns103:cs typeface="Arial"/>
              </ns103:defRPr>
            </ns103:pPr>
            <ns103:r>
              <ns103:rPr sz="850" b="0">
                <ns103:solidFill>
                  <ns103:srgbClr val="65727D"/>
                </ns103:solidFill>
                <ns103:latin typeface="Arial"/>
                <ns103:ea typeface="Arial"/>
                <ns103:cs typeface="Arial"/>
              </ns103:rPr>
              <ns103:t>Company workflow</ns103:t>
            </ns103:r>
          </ns103:p>
        </p:txBody>
      </p:sp>
      <p:sp>
        <p:nvSpPr>
          <p:cNvPr id="118" name="research.source.financials.paper"/>
          <p:cNvSpPr/>
          <p:nvPr/>
        </p:nvSpPr>
        <p:spPr>
          <ns104:xfrm xmlns:ns104="http://schemas.openxmlformats.org/drawingml/2006/main">
            <ns104:off x="2422800" y="1504800"/>
            <ns104:ext cx="1620000" cy="1080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317F7B"/>
            </ns107:solidFill>
          </ns107:ln>
        </p:spPr>
      </p:sp>
      <p:sp>
        <p:nvSpPr>
          <p:cNvPr id="119" name="research.source.financials.title"/>
          <p:cNvSpPr/>
          <p:nvPr/>
        </p:nvSpPr>
        <p:spPr>
          <ns108:xfrm xmlns:ns108="http://schemas.openxmlformats.org/drawingml/2006/main">
            <ns108:off x="2476800" y="1548000"/>
            <ns108:ext cx="1440000" cy="162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317F7B"/>
                </ns114:solidFill>
                <ns114:latin typeface="Arial"/>
                <ns114:ea typeface="Arial"/>
                <ns114:cs typeface="Arial"/>
              </ns114:defRPr>
            </ns114:pPr>
            <ns114:r>
              <ns114:rPr sz="1250" b="1">
                <ns114:solidFill>
                  <ns114:srgbClr val="317F7B"/>
                </ns114:solidFill>
                <ns114:latin typeface="Arial"/>
                <ns114:ea typeface="Arial"/>
                <ns114:cs typeface="Arial"/>
              </ns114:rPr>
              <ns114:t>[1] Company A</ns114:t>
            </ns114:r>
          </ns114:p>
        </p:txBody>
      </p:sp>
      <p:sp>
        <p:nvSpPr>
          <p:cNvPr id="120" name="research.source.financials.period"/>
          <p:cNvSpPr/>
          <p:nvPr/>
        </p:nvSpPr>
        <p:spPr>
          <ns115:xfrm xmlns:ns115="http://schemas.openxmlformats.org/drawingml/2006/main">
            <ns115:off x="2476800" y="1735200"/>
            <ns115:ext cx="1512000" cy="162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950" b="0">
                <ns121:solidFill>
                  <ns121:srgbClr val="65727D"/>
                </ns121:solidFill>
                <ns121:latin typeface="Arial"/>
                <ns121:ea typeface="Arial"/>
                <ns121:cs typeface="Arial"/>
              </ns121:defRPr>
            </ns121:pPr>
            <ns121:r>
              <ns121:rPr sz="950" b="0">
                <ns121:solidFill>
                  <ns121:srgbClr val="65727D"/>
                </ns121:solidFill>
                <ns121:latin typeface="Arial"/>
                <ns121:ea typeface="Arial"/>
                <ns121:cs typeface="Arial"/>
              </ns121:rPr>
              <ns121:t>Prior / current quarter</ns121:t>
            </ns121:r>
          </ns121:p>
        </p:txBody>
      </p:sp>
      <p:sp>
        <p:nvSpPr>
          <p:cNvPr id="121" name="research.source.financials.revenue.label"/>
          <p:cNvSpPr/>
          <p:nvPr/>
        </p:nvSpPr>
        <p:spPr>
          <ns122:xfrm xmlns:ns122="http://schemas.openxmlformats.org/drawingml/2006/main">
            <ns122:off x="2476800" y="1893600"/>
            <ns122:ext cx="846000" cy="3420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5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Revenue</ns128:t>
            </ns128:r>
          </ns128:p>
          <ns129:p xmlns:ns129="http://schemas.openxmlformats.org/drawingml/2006/main">
            <ns129:pPr algn="l">
              <ns129:lnSpc>
                <ns129:spcPct val="105000"/>
              </ns129:lnSpc>
              <ns129:defRPr sz="1050" b="0">
                <ns129:solidFill>
                  <ns129:srgbClr val="20262C"/>
                </ns129:solidFill>
                <ns129:latin typeface="Arial"/>
                <ns129:ea typeface="Arial"/>
                <ns129:cs typeface="Arial"/>
              </ns129:defRPr>
            </ns129:pPr>
            <ns129:r>
              <ns129:rPr sz="1050" b="0">
                <ns129:solidFill>
                  <ns129:srgbClr val="20262C"/>
                </ns129:solidFill>
                <ns129:latin typeface="Arial"/>
                <ns129:ea typeface="Arial"/>
                <ns129:cs typeface="Arial"/>
              </ns129:rPr>
              <ns129:t>(RMB m)</ns129:t>
            </ns129:r>
          </ns129:p>
        </p:txBody>
      </p:sp>
      <p:sp>
        <p:nvSpPr>
          <p:cNvPr id="122" name="research.source.financials.revenue.values"/>
          <p:cNvSpPr/>
          <p:nvPr/>
        </p:nvSpPr>
        <p:spPr>
          <ns130:xfrm xmlns:ns130="http://schemas.openxmlformats.org/drawingml/2006/main">
            <ns130:off x="3322800" y="1922400"/>
            <ns130:ext cx="666000" cy="198000"/>
          </ns130:xfrm>
          <ns131:prstGeom xmlns:ns131="http://schemas.openxmlformats.org/drawingml/2006/main" prst="rect">
            <ns131:avLst/>
          </ns131:prstGeom>
          <ns132:noFill xmlns:ns132="http://schemas.openxmlformats.org/drawingml/2006/main"/>
          <ns133:ln xmlns:ns133="http://schemas.openxmlformats.org/drawingml/2006/main" w="0">
            <ns133:noFill/>
          </ns133:ln>
        </p:spPr>
        <p:txBody>
          <ns134:bodyPr xmlns:ns134="http://schemas.openxmlformats.org/drawingml/2006/main" wrap="square" lIns="0" rIns="0" tIns="0" bIns="0" anchor="t">
            <ns134:noAutofit/>
          </ns134:bodyPr>
          <ns135:lstStyle xmlns:ns135="http://schemas.openxmlformats.org/drawingml/2006/main"/>
          <ns136:p xmlns:ns136="http://schemas.openxmlformats.org/drawingml/2006/main">
            <ns136:pPr algn="l">
              <ns136:lnSpc>
                <ns136:spcPct val="105000"/>
              </ns136:lnSpc>
              <ns136:defRPr sz="1200" b="1">
                <ns136:solidFill>
                  <ns136:srgbClr val="317F7B"/>
                </ns136:solidFill>
                <ns136:latin typeface="Arial"/>
                <ns136:ea typeface="Arial"/>
                <ns136:cs typeface="Arial"/>
              </ns136:defRPr>
            </ns136:pPr>
            <ns136:r>
              <ns136:rPr sz="1200" b="1">
                <ns136:solidFill>
                  <ns136:srgbClr val="317F7B"/>
                </ns136:solidFill>
                <ns136:latin typeface="Arial"/>
                <ns136:ea typeface="Arial"/>
                <ns136:cs typeface="Arial"/>
              </ns136:rPr>
              <ns136:t>100 / 110</ns136:t>
            </ns136:r>
          </ns136:p>
        </p:txBody>
      </p:sp>
      <p:sp>
        <p:nvSpPr>
          <p:cNvPr id="123" name="research.source.financials.volume.label"/>
          <p:cNvSpPr/>
          <p:nvPr/>
        </p:nvSpPr>
        <p:spPr>
          <ns137:xfrm xmlns:ns137="http://schemas.openxmlformats.org/drawingml/2006/main">
            <ns137:off x="2476800" y="2192400"/>
            <ns137:ext cx="846000" cy="3420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5000"/>
              </ns143:lnSpc>
              <ns143:defRPr sz="1050" b="0">
                <ns143:solidFill>
                  <ns143:srgbClr val="20262C"/>
                </ns143:solidFill>
                <ns143:latin typeface="Arial"/>
                <ns143:ea typeface="Arial"/>
                <ns143:cs typeface="Arial"/>
              </ns143:defRPr>
            </ns143:pPr>
            <ns143:r>
              <ns143:rPr sz="1050" b="0">
                <ns143:solidFill>
                  <ns143:srgbClr val="20262C"/>
                </ns143:solidFill>
                <ns143:latin typeface="Arial"/>
                <ns143:ea typeface="Arial"/>
                <ns143:cs typeface="Arial"/>
              </ns143:rPr>
              <ns143:t>Sales volume</ns143:t>
            </ns143:r>
          </ns143:p>
          <ns144:p xmlns:ns144="http://schemas.openxmlformats.org/drawingml/2006/main">
            <ns144:pPr algn="l">
              <ns144:lnSpc>
                <ns144:spcPct val="105000"/>
              </ns144:lnSpc>
              <ns144:defRPr sz="1050" b="0">
                <ns144:solidFill>
                  <ns144:srgbClr val="20262C"/>
                </ns144:solidFill>
                <ns144:latin typeface="Arial"/>
                <ns144:ea typeface="Arial"/>
                <ns144:cs typeface="Arial"/>
              </ns144:defRPr>
            </ns144:pPr>
            <ns144:r>
              <ns144:rPr sz="1050" b="0">
                <ns144:solidFill>
                  <ns144:srgbClr val="20262C"/>
                </ns144:solidFill>
                <ns144:latin typeface="Arial"/>
                <ns144:ea typeface="Arial"/>
                <ns144:cs typeface="Arial"/>
              </ns144:rPr>
              <ns144:t>(m units)</ns144:t>
            </ns144:r>
          </ns144:p>
        </p:txBody>
      </p:sp>
      <p:sp>
        <p:nvSpPr>
          <p:cNvPr id="124" name="research.source.financials.volume.values"/>
          <p:cNvSpPr/>
          <p:nvPr/>
        </p:nvSpPr>
        <p:spPr>
          <ns145:xfrm xmlns:ns145="http://schemas.openxmlformats.org/drawingml/2006/main">
            <ns145:off x="3322800" y="2221200"/>
            <ns145:ext cx="666000" cy="198000"/>
          </ns145:xfrm>
          <ns146:prstGeom xmlns:ns146="http://schemas.openxmlformats.org/drawingml/2006/main" prst="rect">
            <ns146:avLst/>
          </ns146:prstGeom>
          <ns147:noFill xmlns:ns147="http://schemas.openxmlformats.org/drawingml/2006/main"/>
          <ns148:ln xmlns:ns148="http://schemas.openxmlformats.org/drawingml/2006/main" w="0">
            <ns148:noFill/>
          </ns148:ln>
        </p:spPr>
        <p:txBody>
          <ns149:bodyPr xmlns:ns149="http://schemas.openxmlformats.org/drawingml/2006/main" wrap="square" lIns="0" rIns="0" tIns="0" bIns="0" anchor="t">
            <ns149:noAutofit/>
          </ns149:bodyPr>
          <ns150:lstStyle xmlns:ns150="http://schemas.openxmlformats.org/drawingml/2006/main"/>
          <ns151:p xmlns:ns151="http://schemas.openxmlformats.org/drawingml/2006/main">
            <ns151:pPr algn="l">
              <ns151:lnSpc>
                <ns151:spcPct val="105000"/>
              </ns151:lnSpc>
              <ns151:defRPr sz="1200" b="1">
                <ns151:solidFill>
                  <ns151:srgbClr val="317F7B"/>
                </ns151:solidFill>
                <ns151:latin typeface="Arial"/>
                <ns151:ea typeface="Arial"/>
                <ns151:cs typeface="Arial"/>
              </ns151:defRPr>
            </ns151:pPr>
            <ns151:r>
              <ns151:rPr sz="1200" b="1">
                <ns151:solidFill>
                  <ns151:srgbClr val="317F7B"/>
                </ns151:solidFill>
                <ns151:latin typeface="Arial"/>
                <ns151:ea typeface="Arial"/>
                <ns151:cs typeface="Arial"/>
              </ns151:rPr>
              <ns151:t>1.0 / 1.1</ns151:t>
            </ns151:r>
          </ns151:p>
        </p:txBody>
      </p:sp>
      <p:sp>
        <p:nvSpPr>
          <p:cNvPr id="125" name="research.source.meeting.paper"/>
          <p:cNvSpPr/>
          <p:nvPr/>
        </p:nvSpPr>
        <p:spPr>
          <ns152:xfrm xmlns:ns152="http://schemas.openxmlformats.org/drawingml/2006/main">
            <ns152:off x="4392000" y="1504800"/>
            <ns152:ext cx="1458000" cy="1116000"/>
          </ns152:xfrm>
          <ns153:prstGeom xmlns:ns153="http://schemas.openxmlformats.org/drawingml/2006/main" prst="foldedCorner">
            <ns153:avLst/>
          </ns153:prstGeom>
          <ns154:solidFill xmlns:ns154="http://schemas.openxmlformats.org/drawingml/2006/main">
            <ns154:srgbClr val="FFFFFF"/>
          </ns154:solidFill>
          <ns155:ln xmlns:ns155="http://schemas.openxmlformats.org/drawingml/2006/main" w="9525">
            <ns155:solidFill>
              <ns155:srgbClr val="317F7B"/>
            </ns155:solidFill>
          </ns155:ln>
        </p:spPr>
      </p:sp>
      <p:sp>
        <p:nvSpPr>
          <p:cNvPr id="126" name="research.source.meeting.title"/>
          <p:cNvSpPr/>
          <p:nvPr/>
        </p:nvSpPr>
        <p:spPr>
          <ns156:xfrm xmlns:ns156="http://schemas.openxmlformats.org/drawingml/2006/main">
            <ns156:off x="4456800" y="1548000"/>
            <ns156:ext cx="1260000" cy="198000"/>
          </ns156:xfrm>
          <ns157:prstGeom xmlns:ns157="http://schemas.openxmlformats.org/drawingml/2006/main" prst="rect">
            <ns157:avLst/>
          </ns157:prstGeom>
          <ns158:noFill xmlns:ns158="http://schemas.openxmlformats.org/drawingml/2006/main"/>
          <ns159:ln xmlns:ns159="http://schemas.openxmlformats.org/drawingml/2006/main" w="0">
            <ns159:noFill/>
          </ns159:ln>
        </p:spPr>
        <p:txBody>
          <ns160:bodyPr xmlns:ns160="http://schemas.openxmlformats.org/drawingml/2006/main" wrap="square" lIns="0" rIns="0" tIns="0" bIns="0" anchor="t">
            <ns160:noAutofit/>
          </ns160:bodyPr>
          <ns161:lstStyle xmlns:ns161="http://schemas.openxmlformats.org/drawingml/2006/main"/>
          <ns162:p xmlns:ns162="http://schemas.openxmlformats.org/drawingml/2006/main">
            <ns162:pPr algn="l">
              <ns162:lnSpc>
                <ns162:spcPct val="105000"/>
              </ns162:lnSpc>
              <ns162:defRPr sz="1250" b="1">
                <ns162:solidFill>
                  <ns162:srgbClr val="317F7B"/>
                </ns162:solidFill>
                <ns162:latin typeface="Arial"/>
                <ns162:ea typeface="Arial"/>
                <ns162:cs typeface="Arial"/>
              </ns162:defRPr>
            </ns162:pPr>
            <ns162:r>
              <ns162:rPr sz="1250" b="1">
                <ns162:solidFill>
                  <ns162:srgbClr val="317F7B"/>
                </ns162:solidFill>
                <ns162:latin typeface="Arial"/>
                <ns162:ea typeface="Arial"/>
                <ns162:cs typeface="Arial"/>
              </ns162:rPr>
              <ns162:t>Meeting notes</ns162:t>
            </ns162:r>
          </ns162:p>
        </p:txBody>
      </p:sp>
      <p:sp>
        <p:nvSpPr>
          <p:cNvPr id="127" name="research.source.meeting.content"/>
          <p:cNvSpPr/>
          <p:nvPr/>
        </p:nvSpPr>
        <p:spPr>
          <ns163:xfrm xmlns:ns163="http://schemas.openxmlformats.org/drawingml/2006/main">
            <ns163:off x="4456800" y="1764000"/>
            <ns163:ext cx="1328400" cy="806400"/>
          </ns163:xfrm>
          <ns164:prstGeom xmlns:ns164="http://schemas.openxmlformats.org/drawingml/2006/main" prst="rect">
            <ns164:avLst/>
          </ns164:prstGeom>
          <ns165:noFill xmlns:ns165="http://schemas.openxmlformats.org/drawingml/2006/main"/>
          <ns166:ln xmlns:ns166="http://schemas.openxmlformats.org/drawingml/2006/main" w="0">
            <ns166:noFill/>
          </ns166:ln>
        </p:spPr>
        <p:txBody>
          <ns167:bodyPr xmlns:ns167="http://schemas.openxmlformats.org/drawingml/2006/main" wrap="square" lIns="0" rIns="0" tIns="0" bIns="0" anchor="t">
            <ns167:noAutofit/>
          </ns167:bodyPr>
          <ns168:lstStyle xmlns:ns168="http://schemas.openxmlformats.org/drawingml/2006/main"/>
          <ns169:p xmlns:ns169="http://schemas.openxmlformats.org/drawingml/2006/main">
            <ns169:pPr algn="l">
              <ns169:lnSpc>
                <ns169:spcPct val="100000"/>
              </ns169:lnSpc>
              <ns169:defRPr sz="1050" b="0">
                <ns169:solidFill>
                  <ns169:srgbClr val="20262C"/>
                </ns169:solidFill>
                <ns169:latin typeface="Arial"/>
                <ns169:ea typeface="Arial"/>
                <ns169:cs typeface="Arial"/>
              </ns169:defRPr>
            </ns169:pPr>
            <ns169:r>
              <ns169:rPr sz="1050" b="0">
                <ns169:solidFill>
                  <ns169:srgbClr val="20262C"/>
                </ns169:solidFill>
                <ns169:latin typeface="Arial"/>
                <ns169:ea typeface="Arial"/>
                <ns169:cs typeface="Arial"/>
              </ns169:rPr>
              <ns169:t>Restocking lifted</ns169:t>
            </ns169:r>
          </ns169:p>
          <ns170:p xmlns:ns170="http://schemas.openxmlformats.org/drawingml/2006/main">
            <ns170:pPr algn="l">
              <ns170:lnSpc>
                <ns170:spcPct val="100000"/>
              </ns170:lnSpc>
              <ns170:defRPr sz="1050" b="0">
                <ns170:solidFill>
                  <ns170:srgbClr val="20262C"/>
                </ns170:solidFill>
                <ns170:latin typeface="Arial"/>
                <ns170:ea typeface="Arial"/>
                <ns170:cs typeface="Arial"/>
              </ns170:defRPr>
            </ns170:pPr>
            <ns170:r>
              <ns170:rPr sz="1050" b="0">
                <ns170:solidFill>
                  <ns170:srgbClr val="20262C"/>
                </ns170:solidFill>
                <ns170:latin typeface="Arial"/>
                <ns170:ea typeface="Arial"/>
                <ns170:cs typeface="Arial"/>
              </ns170:rPr>
              <ns170:t>shipments.</ns170:t>
            </ns170:r>
          </ns170:p>
          <ns171:p xmlns:ns171="http://schemas.openxmlformats.org/drawingml/2006/main">
            <ns171:pPr algn="l">
              <ns171:lnSpc>
                <ns171:spcPct val="100000"/>
              </ns171:lnSpc>
              <ns171:defRPr sz="1050" b="0">
                <ns171:solidFill>
                  <ns171:srgbClr val="20262C"/>
                </ns171:solidFill>
                <ns171:latin typeface="Arial"/>
                <ns171:ea typeface="Arial"/>
                <ns171:cs typeface="Arial"/>
              </ns171:defRPr>
            </ns171:pPr>
            <ns171:r>
              <ns171:rPr sz="1050" b="0">
                <ns171:solidFill>
                  <ns171:srgbClr val="20262C"/>
                </ns171:solidFill>
                <ns171:latin typeface="Arial"/>
                <ns171:ea typeface="Arial"/>
                <ns171:cs typeface="Arial"/>
              </ns171:rPr>
              <ns171:t>Assess continuation.</ns171:t>
            </ns171:r>
          </ns171:p>
        </p:txBody>
      </p:sp>
      <p:sp>
        <p:nvSpPr>
          <p:cNvPr id="128" name="research.source.reports.paper"/>
          <p:cNvSpPr/>
          <p:nvPr/>
        </p:nvSpPr>
        <p:spPr>
          <ns172:xfrm xmlns:ns172="http://schemas.openxmlformats.org/drawingml/2006/main">
            <ns172:off x="6127200" y="1504800"/>
            <ns172:ext cx="2559600" cy="1116000"/>
          </ns172:xfrm>
          <ns173:prstGeom xmlns:ns173="http://schemas.openxmlformats.org/drawingml/2006/main" prst="foldedCorner">
            <ns173:avLst/>
          </ns173:prstGeom>
          <ns174:solidFill xmlns:ns174="http://schemas.openxmlformats.org/drawingml/2006/main">
            <ns174:srgbClr val="FFFFFF"/>
          </ns174:solidFill>
          <ns175:ln xmlns:ns175="http://schemas.openxmlformats.org/drawingml/2006/main" w="9525">
            <ns175:solidFill>
              <ns175:srgbClr val="317F7B"/>
            </ns175:solidFill>
          </ns175:ln>
        </p:spPr>
      </p:sp>
      <p:sp>
        <p:nvSpPr>
          <p:cNvPr id="129" name="research.source.reports.title"/>
          <p:cNvSpPr/>
          <p:nvPr/>
        </p:nvSpPr>
        <p:spPr>
          <ns176:xfrm xmlns:ns176="http://schemas.openxmlformats.org/drawingml/2006/main">
            <ns176:off x="6192000" y="1548000"/>
            <ns176:ext cx="2361600" cy="198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5000"/>
              </ns182:lnSpc>
              <ns182:defRPr sz="1250" b="1">
                <ns182:solidFill>
                  <ns182:srgbClr val="317F7B"/>
                </ns182:solidFill>
                <ns182:latin typeface="Arial"/>
                <ns182:ea typeface="Arial"/>
                <ns182:cs typeface="Arial"/>
              </ns182:defRPr>
            </ns182:pPr>
            <ns182:r>
              <ns182:rPr sz="1250" b="1">
                <ns182:solidFill>
                  <ns182:srgbClr val="317F7B"/>
                </ns182:solidFill>
                <ns182:latin typeface="Arial"/>
                <ns182:ea typeface="Arial"/>
                <ns182:cs typeface="Arial"/>
              </ns182:rPr>
              <ns182:t>Two research reports</ns182:t>
            </ns182:r>
          </ns182:p>
        </p:txBody>
      </p:sp>
      <p:sp>
        <p:nvSpPr>
          <p:cNvPr id="130" name="research.source.reports.content"/>
          <p:cNvSpPr/>
          <p:nvPr/>
        </p:nvSpPr>
        <p:spPr>
          <ns183:xfrm xmlns:ns183="http://schemas.openxmlformats.org/drawingml/2006/main">
            <ns183:off x="6192000" y="1764000"/>
            <ns183:ext cx="2430000" cy="806400"/>
          </ns183:xfrm>
          <ns184:prstGeom xmlns:ns184="http://schemas.openxmlformats.org/drawingml/2006/main" prst="rect">
            <ns184:avLst/>
          </ns184:prstGeom>
          <ns185:noFill xmlns:ns185="http://schemas.openxmlformats.org/drawingml/2006/main"/>
          <ns186:ln xmlns:ns186="http://schemas.openxmlformats.org/drawingml/2006/main" w="0">
            <ns186:noFill/>
          </ns186:ln>
        </p:spPr>
        <p:txBody>
          <ns187:bodyPr xmlns:ns187="http://schemas.openxmlformats.org/drawingml/2006/main" wrap="square" lIns="0" rIns="0" tIns="0" bIns="0" anchor="t">
            <ns187:noAutofit/>
          </ns187:bodyPr>
          <ns188:lstStyle xmlns:ns188="http://schemas.openxmlformats.org/drawingml/2006/main"/>
          <ns189:p xmlns:ns189="http://schemas.openxmlformats.org/drawingml/2006/main">
            <ns189:pPr algn="l">
              <ns189:lnSpc>
                <ns189:spcPct val="100000"/>
              </ns189:lnSpc>
              <ns189:defRPr sz="1150" b="0">
                <ns189:solidFill>
                  <ns189:srgbClr val="20262C"/>
                </ns189:solidFill>
                <ns189:latin typeface="Arial"/>
                <ns189:ea typeface="Arial"/>
                <ns189:cs typeface="Arial"/>
              </ns189:defRPr>
            </ns189:pPr>
            <ns189:r>
              <ns189:rPr sz="1150" b="0">
                <ns189:solidFill>
                  <ns189:srgbClr val="20262C"/>
                </ns189:solidFill>
                <ns189:latin typeface="Arial"/>
                <ns189:ea typeface="Arial"/>
                <ns189:cs typeface="Arial"/>
              </ns189:rPr>
              <ns189:t>A: demand recovery can</ns189:t>
            </ns189:r>
          </ns189:p>
          <ns190:p xmlns:ns190="http://schemas.openxmlformats.org/drawingml/2006/main">
            <ns190:pPr algn="l">
              <ns190:lnSpc>
                <ns190:spcPct val="100000"/>
              </ns190:lnSpc>
              <ns190:defRPr sz="1150" b="0">
                <ns190:solidFill>
                  <ns190:srgbClr val="20262C"/>
                </ns190:solidFill>
                <ns190:latin typeface="Arial"/>
                <ns190:ea typeface="Arial"/>
                <ns190:cs typeface="Arial"/>
              </ns190:defRPr>
            </ns190:pPr>
            <ns190:r>
              <ns190:rPr sz="1150" b="0">
                <ns190:solidFill>
                  <ns190:srgbClr val="20262C"/>
                </ns190:solidFill>
                <ns190:latin typeface="Arial"/>
                <ns190:ea typeface="Arial"/>
                <ns190:cs typeface="Arial"/>
              </ns190:rPr>
              <ns190:t>sustain growth.</ns190:t>
            </ns190:r>
          </ns190:p>
          <ns191:p xmlns:ns191="http://schemas.openxmlformats.org/drawingml/2006/main">
            <ns191:pPr algn="l">
              <ns191:lnSpc>
                <ns191:spcPct val="100000"/>
              </ns191:lnSpc>
              <ns191:defRPr sz="1150" b="0">
                <ns191:solidFill>
                  <ns191:srgbClr val="20262C"/>
                </ns191:solidFill>
                <ns191:latin typeface="Arial"/>
                <ns191:ea typeface="Arial"/>
                <ns191:cs typeface="Arial"/>
              </ns191:defRPr>
            </ns191:pPr>
            <ns191:r>
              <ns191:rPr sz="1150" b="0">
                <ns191:solidFill>
                  <ns191:srgbClr val="20262C"/>
                </ns191:solidFill>
                <ns191:latin typeface="Arial"/>
                <ns191:ea typeface="Arial"/>
                <ns191:cs typeface="Arial"/>
              </ns191:rPr>
              <ns191:t>B: continued restocking</ns191:t>
            </ns191:r>
          </ns191:p>
          <ns192:p xmlns:ns192="http://schemas.openxmlformats.org/drawingml/2006/main">
            <ns192:pPr algn="l">
              <ns192:lnSpc>
                <ns192:spcPct val="100000"/>
              </ns192:lnSpc>
              <ns192:defRPr sz="1150" b="0">
                <ns192:solidFill>
                  <ns192:srgbClr val="20262C"/>
                </ns192:solidFill>
                <ns192:latin typeface="Arial"/>
                <ns192:ea typeface="Arial"/>
                <ns192:cs typeface="Arial"/>
              </ns192:defRPr>
            </ns192:pPr>
            <ns192:r>
              <ns192:rPr sz="1150" b="0">
                <ns192:solidFill>
                  <ns192:srgbClr val="20262C"/>
                </ns192:solidFill>
                <ns192:latin typeface="Arial"/>
                <ns192:ea typeface="Arial"/>
                <ns192:cs typeface="Arial"/>
              </ns192:rPr>
              <ns192:t>is uncertain.</ns192:t>
            </ns192:r>
          </ns192:p>
        </p:txBody>
      </p:sp>
      <p:cxnSp>
        <p:nvCxnSpPr>
          <p:cNvPr id="131" name="source.collection.8.98"/>
          <p:cNvCxnSpPr/>
          <p:nvPr/>
        </p:nvCxnSpPr>
        <p:spPr>
          <ns193:xfrm xmlns:ns193="http://schemas.openxmlformats.org/drawingml/2006/main">
            <ns193:off x="3232800" y="2584800"/>
            <ns193:ext cx="1" cy="169200"/>
          </ns193:xfrm>
          <ns194:prstGeom xmlns:ns194="http://schemas.openxmlformats.org/drawingml/2006/main" prst="line">
            <ns194:avLst/>
          </ns194:prstGeom>
          <ns195:ln xmlns:ns195="http://schemas.openxmlformats.org/drawingml/2006/main" w="9525">
            <ns195:solidFill>
              <ns195:srgbClr val="317F7B"/>
            </ns195:solidFill>
          </ns195:ln>
        </p:spPr>
      </p:cxnSp>
      <p:cxnSp>
        <p:nvCxnSpPr>
          <p:cNvPr id="132" name="source.collection.14.225"/>
          <p:cNvCxnSpPr/>
          <p:nvPr/>
        </p:nvCxnSpPr>
        <p:spPr>
          <ns196:xfrm xmlns:ns196="http://schemas.openxmlformats.org/drawingml/2006/main">
            <ns196:off x="5121000" y="2620800"/>
            <ns196:ext cx="1" cy="133200"/>
          </ns196:xfrm>
          <ns197:prstGeom xmlns:ns197="http://schemas.openxmlformats.org/drawingml/2006/main" prst="line">
            <ns197:avLst/>
          </ns197:prstGeom>
          <ns198:ln xmlns:ns198="http://schemas.openxmlformats.org/drawingml/2006/main" w="9525">
            <ns198:solidFill>
              <ns198:srgbClr val="317F7B"/>
            </ns198:solidFill>
          </ns198:ln>
        </p:spPr>
      </p:cxnSp>
      <p:cxnSp>
        <p:nvCxnSpPr>
          <p:cNvPr id="133" name="source.collection.20.575"/>
          <p:cNvCxnSpPr/>
          <p:nvPr/>
        </p:nvCxnSpPr>
        <p:spPr>
          <ns199:xfrm xmlns:ns199="http://schemas.openxmlformats.org/drawingml/2006/main">
            <ns199:off x="7407000" y="2620800"/>
            <ns199:ext cx="1" cy="133200"/>
          </ns199:xfrm>
          <ns200:prstGeom xmlns:ns200="http://schemas.openxmlformats.org/drawingml/2006/main" prst="line">
            <ns200:avLst/>
          </ns200:prstGeom>
          <ns201:ln xmlns:ns201="http://schemas.openxmlformats.org/drawingml/2006/main" w="9525">
            <ns201:solidFill>
              <ns201:srgbClr val="317F7B"/>
            </ns201:solidFill>
          </ns201:ln>
        </p:spPr>
      </p:cxnSp>
      <p:cxnSp>
        <p:nvCxnSpPr>
          <p:cNvPr id="134" name="research.collection.bus"/>
          <p:cNvCxnSpPr/>
          <p:nvPr/>
        </p:nvCxnSpPr>
        <p:spPr>
          <ns202:xfrm xmlns:ns202="http://schemas.openxmlformats.org/drawingml/2006/main">
            <ns202:off x="3114000" y="2754000"/>
            <ns202:ext cx="4293000" cy="1"/>
          </ns202:xfrm>
          <ns203:prstGeom xmlns:ns203="http://schemas.openxmlformats.org/drawingml/2006/main" prst="line">
            <ns203:avLst/>
          </ns203:prstGeom>
          <ns204:ln xmlns:ns204="http://schemas.openxmlformats.org/drawingml/2006/main" w="9525">
            <ns204:solidFill>
              <ns204:srgbClr val="317F7B"/>
            </ns204:solidFill>
          </ns204:ln>
        </p:spPr>
      </p:cxnSp>
      <p:cxnSp>
        <p:nvCxnSpPr>
          <p:cNvPr id="135" name="research.collection.to.analyst"/>
          <p:cNvCxnSpPr/>
          <p:nvPr/>
        </p:nvCxnSpPr>
        <p:spPr>
          <ns205:xfrm xmlns:ns205="http://schemas.openxmlformats.org/drawingml/2006/main">
            <ns205:off x="3114000" y="2754000"/>
            <ns205:ext cx="1" cy="252000"/>
          </ns205:xfrm>
          <ns206:prstGeom xmlns:ns206="http://schemas.openxmlformats.org/drawingml/2006/main" prst="line">
            <ns206:avLst/>
          </ns206:prstGeom>
          <ns207:ln xmlns:ns207="http://schemas.openxmlformats.org/drawingml/2006/main" w="11430">
            <ns207:solidFill>
              <ns207:srgbClr val="317F7B"/>
            </ns207:solidFill>
            <ns207:tailEnd type="triangle" w="sm" len="sm"/>
          </ns207:ln>
        </p:spPr>
      </p:cxnSp>
      <p:sp>
        <p:nvSpPr>
          <p:cNvPr id="136" name="analyst.sequence.label"/>
          <p:cNvSpPr/>
          <p:nvPr/>
        </p:nvSpPr>
        <p:spPr>
          <ns208:xfrm xmlns:ns208="http://schemas.openxmlformats.org/drawingml/2006/main">
            <ns208:off x="4050000" y="2851200"/>
            <ns208:ext cx="4636800" cy="162000"/>
          </ns208:xfrm>
          <ns209:prstGeom xmlns:ns209="http://schemas.openxmlformats.org/drawingml/2006/main" prst="rect">
            <ns209:avLst/>
          </ns209:prstGeom>
          <ns210:noFill xmlns:ns210="http://schemas.openxmlformats.org/drawingml/2006/main"/>
          <ns211:ln xmlns:ns211="http://schemas.openxmlformats.org/drawingml/2006/main" w="0">
            <ns211:noFill/>
          </ns211:ln>
        </p:spPr>
        <p:txBody>
          <ns212:bodyPr xmlns:ns212="http://schemas.openxmlformats.org/drawingml/2006/main" wrap="square" lIns="0" rIns="0" tIns="0" bIns="0" anchor="t">
            <ns212:noAutofit/>
          </ns212:bodyPr>
          <ns213:lstStyle xmlns:ns213="http://schemas.openxmlformats.org/drawingml/2006/main"/>
          <ns214:p xmlns:ns214="http://schemas.openxmlformats.org/drawingml/2006/main">
            <ns214:pPr algn="l">
              <ns214:lnSpc>
                <ns214:spcPct val="105000"/>
              </ns214:lnSpc>
              <ns214:defRPr sz="1150" b="0">
                <ns214:solidFill>
                  <ns214:srgbClr val="005A9C"/>
                </ns214:solidFill>
                <ns214:latin typeface="Arial"/>
                <ns214:ea typeface="Arial"/>
                <ns214:cs typeface="Arial"/>
              </ns214:defRPr>
            </ns214:pPr>
            <ns214:r>
              <ns214:rPr sz="1150" b="0">
                <ns214:solidFill>
                  <ns214:srgbClr val="005A9C"/>
                </ns214:solidFill>
                <ns214:latin typeface="Arial"/>
                <ns214:ea typeface="Arial"/>
                <ns214:cs typeface="Arial"/>
              </ns214:rPr>
              <ns214:t>Analyst preparation</ns214:t>
            </ns214:r>
          </ns214:p>
        </p:txBody>
      </p:sp>
      <p:sp>
        <p:nvSpPr>
          <p:cNvPr id="137" name="analyst.action.0"/>
          <p:cNvSpPr/>
          <p:nvPr/>
        </p:nvSpPr>
        <p:spPr>
          <ns215:xfrm xmlns:ns215="http://schemas.openxmlformats.org/drawingml/2006/main">
            <ns215:off x="2422800" y="3060000"/>
            <ns215:ext cx="1382400" cy="522000"/>
          </ns215:xfrm>
          <ns216:prstGeom xmlns:ns216="http://schemas.openxmlformats.org/drawingml/2006/main" prst="roundRect">
            <ns216:avLst/>
          </ns216:prstGeom>
          <ns217:solidFill xmlns:ns217="http://schemas.openxmlformats.org/drawingml/2006/main">
            <ns217:srgbClr val="F3F7FA"/>
          </ns217:solidFill>
          <ns218:ln xmlns:ns218="http://schemas.openxmlformats.org/drawingml/2006/main" w="9525">
            <ns218:solidFill>
              <ns218:srgbClr val="65727D"/>
            </ns218:solidFill>
          </ns218:ln>
        </p:spPr>
        <p:txBody>
          <ns219:bodyPr xmlns:ns219="http://schemas.openxmlformats.org/drawingml/2006/main" wrap="square" lIns="61200" rIns="61200" tIns="61200" bIns="61200" anchor="ctr">
            <ns219:noAutofit/>
          </ns219:bodyPr>
          <ns220:lstStyle xmlns:ns220="http://schemas.openxmlformats.org/drawingml/2006/main"/>
          <ns221:p xmlns:ns221="http://schemas.openxmlformats.org/drawingml/2006/main">
            <ns221:pPr algn="l">
              <ns221:lnSpc>
                <ns221:spcPct val="105000"/>
              </ns221:lnSpc>
              <ns221:defRPr sz="1300" b="1">
                <ns221:solidFill>
                  <ns221:srgbClr val="65727D"/>
                </ns221:solidFill>
                <ns221:latin typeface="Arial"/>
                <ns221:ea typeface="Arial"/>
                <ns221:cs typeface="Arial"/>
              </ns221:defRPr>
            </ns221:pPr>
            <ns221:r>
              <ns221:rPr sz="1300" b="1">
                <ns221:solidFill>
                  <ns221:srgbClr val="65727D"/>
                </ns221:solidFill>
                <ns221:latin typeface="Arial"/>
                <ns221:ea typeface="Arial"/>
                <ns221:cs typeface="Arial"/>
              </ns221:rPr>
              <ns221:t>Find sources</ns221:t>
            </ns221:r>
          </ns221:p>
        </p:txBody>
      </p:sp>
      <p:cxnSp>
        <p:nvCxnSpPr>
          <p:cNvPr id="138" name="analyst.sequence.0"/>
          <p:cNvCxnSpPr/>
          <p:nvPr/>
        </p:nvCxnSpPr>
        <p:spPr>
          <ns222:xfrm xmlns:ns222="http://schemas.openxmlformats.org/drawingml/2006/main">
            <ns222:off x="3830400" y="3321000"/>
            <ns222:ext cx="183600" cy="1"/>
          </ns222:xfrm>
          <ns223:prstGeom xmlns:ns223="http://schemas.openxmlformats.org/drawingml/2006/main" prst="line">
            <ns223:avLst/>
          </ns223:prstGeom>
          <ns224:ln xmlns:ns224="http://schemas.openxmlformats.org/drawingml/2006/main" w="11430">
            <ns224:solidFill>
              <ns224:srgbClr val="005A9C"/>
            </ns224:solidFill>
            <ns224:tailEnd type="triangle" w="sm" len="sm"/>
          </ns224:ln>
        </p:spPr>
      </p:cxnSp>
      <p:sp>
        <p:nvSpPr>
          <p:cNvPr id="139" name="analyst.action.1"/>
          <p:cNvSpPr/>
          <p:nvPr/>
        </p:nvSpPr>
        <p:spPr>
          <ns225:xfrm xmlns:ns225="http://schemas.openxmlformats.org/drawingml/2006/main">
            <ns225:off x="4050000" y="3060000"/>
            <ns225:ext cx="1382400" cy="522000"/>
          </ns225:xfrm>
          <ns226:prstGeom xmlns:ns226="http://schemas.openxmlformats.org/drawingml/2006/main" prst="roundRect">
            <ns226:avLst/>
          </ns226:prstGeom>
          <ns227:solidFill xmlns:ns227="http://schemas.openxmlformats.org/drawingml/2006/main">
            <ns227:srgbClr val="F3F7FA"/>
          </ns227:solidFill>
          <ns228:ln xmlns:ns228="http://schemas.openxmlformats.org/drawingml/2006/main" w="9525">
            <ns228:solidFill>
              <ns228:srgbClr val="65727D"/>
            </ns228:solidFill>
          </ns228:ln>
        </p:spPr>
        <p:txBody>
          <ns229:bodyPr xmlns:ns229="http://schemas.openxmlformats.org/drawingml/2006/main" wrap="square" lIns="61200" rIns="61200" tIns="61200" bIns="61200" anchor="ctr">
            <ns229:noAutofit/>
          </ns229:bodyPr>
          <ns230:lstStyle xmlns:ns230="http://schemas.openxmlformats.org/drawingml/2006/main"/>
          <ns231:p xmlns:ns231="http://schemas.openxmlformats.org/drawingml/2006/main">
            <ns231:pPr algn="l">
              <ns231:lnSpc>
                <ns231:spcPct val="105000"/>
              </ns231:lnSpc>
              <ns231:defRPr sz="1300" b="1">
                <ns231:solidFill>
                  <ns231:srgbClr val="65727D"/>
                </ns231:solidFill>
                <ns231:latin typeface="Arial"/>
                <ns231:ea typeface="Arial"/>
                <ns231:cs typeface="Arial"/>
              </ns231:defRPr>
            </ns231:pPr>
            <ns231:r>
              <ns231:rPr sz="1300" b="1">
                <ns231:solidFill>
                  <ns231:srgbClr val="65727D"/>
                </ns231:solidFill>
                <ns231:latin typeface="Arial"/>
                <ns231:ea typeface="Arial"/>
                <ns231:cs typeface="Arial"/>
              </ns231:rPr>
              <ns231:t>Extract / calculate</ns231:t>
            </ns231:r>
          </ns231:p>
        </p:txBody>
      </p:sp>
      <p:cxnSp>
        <p:nvCxnSpPr>
          <p:cNvPr id="140" name="analyst.sequence.1"/>
          <p:cNvCxnSpPr/>
          <p:nvPr/>
        </p:nvCxnSpPr>
        <p:spPr>
          <ns232:xfrm xmlns:ns232="http://schemas.openxmlformats.org/drawingml/2006/main">
            <ns232:off x="5457600" y="3321000"/>
            <ns232:ext cx="183600" cy="1"/>
          </ns232:xfrm>
          <ns233:prstGeom xmlns:ns233="http://schemas.openxmlformats.org/drawingml/2006/main" prst="line">
            <ns233:avLst/>
          </ns233:prstGeom>
          <ns234:ln xmlns:ns234="http://schemas.openxmlformats.org/drawingml/2006/main" w="11430">
            <ns234:solidFill>
              <ns234:srgbClr val="005A9C"/>
            </ns234:solidFill>
            <ns234:tailEnd type="triangle" w="sm" len="sm"/>
          </ns234:ln>
        </p:spPr>
      </p:cxnSp>
      <p:sp>
        <p:nvSpPr>
          <p:cNvPr id="141" name="analyst.action.2"/>
          <p:cNvSpPr/>
          <p:nvPr/>
        </p:nvSpPr>
        <p:spPr>
          <ns235:xfrm xmlns:ns235="http://schemas.openxmlformats.org/drawingml/2006/main">
            <ns235:off x="5677200" y="3060000"/>
            <ns235:ext cx="1382400" cy="522000"/>
          </ns235:xfrm>
          <ns236:prstGeom xmlns:ns236="http://schemas.openxmlformats.org/drawingml/2006/main" prst="roundRect">
            <ns236:avLst/>
          </ns236:prstGeom>
          <ns237:solidFill xmlns:ns237="http://schemas.openxmlformats.org/drawingml/2006/main">
            <ns237:srgbClr val="F3F7FA"/>
          </ns237:solidFill>
          <ns238:ln xmlns:ns238="http://schemas.openxmlformats.org/drawingml/2006/main" w="9525">
            <ns238:solidFill>
              <ns238:srgbClr val="65727D"/>
            </ns238:solidFill>
          </ns238:ln>
        </p:spPr>
        <p:txBody>
          <ns239:bodyPr xmlns:ns239="http://schemas.openxmlformats.org/drawingml/2006/main" wrap="square" lIns="61200" rIns="61200" tIns="61200" bIns="61200" anchor="ctr">
            <ns239:noAutofit/>
          </ns239:bodyPr>
          <ns240:lstStyle xmlns:ns240="http://schemas.openxmlformats.org/drawingml/2006/main"/>
          <ns241:p xmlns:ns241="http://schemas.openxmlformats.org/drawingml/2006/main">
            <ns241:pPr algn="l">
              <ns241:lnSpc>
                <ns241:spcPct val="105000"/>
              </ns241:lnSpc>
              <ns241:defRPr sz="1300" b="1">
                <ns241:solidFill>
                  <ns241:srgbClr val="65727D"/>
                </ns241:solidFill>
                <ns241:latin typeface="Arial"/>
                <ns241:ea typeface="Arial"/>
                <ns241:cs typeface="Arial"/>
              </ns241:defRPr>
            </ns241:pPr>
            <ns241:r>
              <ns241:rPr sz="1300" b="1">
                <ns241:solidFill>
                  <ns241:srgbClr val="65727D"/>
                </ns241:solidFill>
                <ns241:latin typeface="Arial"/>
                <ns241:ea typeface="Arial"/>
                <ns241:cs typeface="Arial"/>
              </ns241:rPr>
              <ns241:t>Compare views</ns241:t>
            </ns241:r>
          </ns241:p>
        </p:txBody>
      </p:sp>
      <p:cxnSp>
        <p:nvCxnSpPr>
          <p:cNvPr id="142" name="analyst.sequence.2"/>
          <p:cNvCxnSpPr/>
          <p:nvPr/>
        </p:nvCxnSpPr>
        <p:spPr>
          <ns242:xfrm xmlns:ns242="http://schemas.openxmlformats.org/drawingml/2006/main">
            <ns242:off x="7084800" y="3321000"/>
            <ns242:ext cx="183600" cy="1"/>
          </ns242:xfrm>
          <ns243:prstGeom xmlns:ns243="http://schemas.openxmlformats.org/drawingml/2006/main" prst="line">
            <ns243:avLst/>
          </ns243:prstGeom>
          <ns244:ln xmlns:ns244="http://schemas.openxmlformats.org/drawingml/2006/main" w="11430">
            <ns244:solidFill>
              <ns244:srgbClr val="005A9C"/>
            </ns244:solidFill>
            <ns244:tailEnd type="triangle" w="sm" len="sm"/>
          </ns244:ln>
        </p:spPr>
      </p:cxnSp>
      <p:sp>
        <p:nvSpPr>
          <p:cNvPr id="143" name="analyst.action.3"/>
          <p:cNvSpPr/>
          <p:nvPr/>
        </p:nvSpPr>
        <p:spPr>
          <ns245:xfrm xmlns:ns245="http://schemas.openxmlformats.org/drawingml/2006/main">
            <ns245:off x="7304400" y="3060000"/>
            <ns245:ext cx="1382400" cy="522000"/>
          </ns245:xfrm>
          <ns246:prstGeom xmlns:ns246="http://schemas.openxmlformats.org/drawingml/2006/main" prst="roundRect">
            <ns246:avLst/>
          </ns246:prstGeom>
          <ns247:solidFill xmlns:ns247="http://schemas.openxmlformats.org/drawingml/2006/main">
            <ns247:srgbClr val="F3F7FA"/>
          </ns247:solidFill>
          <ns248:ln xmlns:ns248="http://schemas.openxmlformats.org/drawingml/2006/main" w="9525">
            <ns248:solidFill>
              <ns248:srgbClr val="65727D"/>
            </ns248:solidFill>
          </ns248:ln>
        </p:spPr>
        <p:txBody>
          <ns249:bodyPr xmlns:ns249="http://schemas.openxmlformats.org/drawingml/2006/main" wrap="square" lIns="61200" rIns="61200" tIns="61200" bIns="61200" anchor="ctr">
            <ns249:noAutofit/>
          </ns249:bodyPr>
          <ns250:lstStyle xmlns:ns250="http://schemas.openxmlformats.org/drawingml/2006/main"/>
          <ns251:p xmlns:ns251="http://schemas.openxmlformats.org/drawingml/2006/main">
            <ns251:pPr algn="l">
              <ns251:lnSpc>
                <ns251:spcPct val="105000"/>
              </ns251:lnSpc>
              <ns251:defRPr sz="1300" b="1">
                <ns251:solidFill>
                  <ns251:srgbClr val="65727D"/>
                </ns251:solidFill>
                <ns251:latin typeface="Arial"/>
                <ns251:ea typeface="Arial"/>
                <ns251:cs typeface="Arial"/>
              </ns251:defRPr>
            </ns251:pPr>
            <ns251:r>
              <ns251:rPr sz="1300" b="1">
                <ns251:solidFill>
                  <ns251:srgbClr val="65727D"/>
                </ns251:solidFill>
                <ns251:latin typeface="Arial"/>
                <ns251:ea typeface="Arial"/>
                <ns251:cs typeface="Arial"/>
              </ns251:rPr>
              <ns251:t>Record reasoning</ns251:t>
            </ns251:r>
          </ns251:p>
        </p:txBody>
      </p:sp>
      <p:sp>
        <p:nvSpPr>
          <p:cNvPr id="144" name="output.research.view"/>
          <p:cNvSpPr/>
          <p:nvPr/>
        </p:nvSpPr>
        <p:spPr>
          <ns252:xfrm xmlns:ns252="http://schemas.openxmlformats.org/drawingml/2006/main">
            <ns252:off x="4392000" y="3924000"/>
            <ns252:ext cx="2556000" cy="547200"/>
          </ns252:xfrm>
          <ns253:prstGeom xmlns:ns253="http://schemas.openxmlformats.org/drawingml/2006/main" prst="rect">
            <ns253:avLst/>
          </ns253:prstGeom>
          <ns254:solidFill xmlns:ns254="http://schemas.openxmlformats.org/drawingml/2006/main">
            <ns254:srgbClr val="EFF6F4"/>
          </ns254:solidFill>
          <ns255:ln xmlns:ns255="http://schemas.openxmlformats.org/drawingml/2006/main" w="9525">
            <ns255:solidFill>
              <ns255:srgbClr val="317F7B"/>
            </ns255:solidFill>
          </ns255:ln>
        </p:spPr>
        <p:txBody>
          <ns256:bodyPr xmlns:ns256="http://schemas.openxmlformats.org/drawingml/2006/main" wrap="square" lIns="61200" rIns="61200" tIns="61200" bIns="61200" anchor="ctr">
            <ns256:noAutofit/>
          </ns256:bodyPr>
          <ns257:lstStyle xmlns:ns257="http://schemas.openxmlformats.org/drawingml/2006/main"/>
          <ns258:p xmlns:ns258="http://schemas.openxmlformats.org/drawingml/2006/main">
            <ns258:pPr algn="l">
              <ns258:lnSpc>
                <ns258:spcPct val="105000"/>
              </ns258:lnSpc>
              <ns258:defRPr sz="1300" b="1">
                <ns258:solidFill>
                  <ns258:srgbClr val="317F7B"/>
                </ns258:solidFill>
                <ns258:latin typeface="Arial"/>
                <ns258:ea typeface="Arial"/>
                <ns258:cs typeface="Arial"/>
              </ns258:defRPr>
            </ns258:pPr>
            <ns258:r>
              <ns258:rPr sz="1300" b="1">
                <ns258:solidFill>
                  <ns258:srgbClr val="317F7B"/>
                </ns258:solidFill>
                <ns258:latin typeface="Arial"/>
                <ns258:ea typeface="Arial"/>
                <ns258:cs typeface="Arial"/>
              </ns258:rPr>
              <ns258:t>Research view</ns258:t>
            </ns258:r>
          </ns258:p>
          <ns259:p xmlns:ns259="http://schemas.openxmlformats.org/drawingml/2006/main">
            <ns259:pPr algn="l">
              <ns259:lnSpc>
                <ns259:spcPct val="105000"/>
              </ns259:lnSpc>
              <ns259:defRPr sz="1150" b="0">
                <ns259:solidFill>
                  <ns259:srgbClr val="20262C"/>
                </ns259:solidFill>
                <ns259:latin typeface="Arial"/>
                <ns259:ea typeface="Arial"/>
                <ns259:cs typeface="Arial"/>
              </ns259:defRPr>
            </ns259:pPr>
            <ns259:r>
              <ns259:rPr sz="1150" b="0">
                <ns259:solidFill>
                  <ns259:srgbClr val="20262C"/>
                </ns259:solidFill>
                <ns259:latin typeface="Arial"/>
                <ns259:ea typeface="Arial"/>
                <ns259:cs typeface="Arial"/>
              </ns259:rPr>
              <ns259:t>Is growth sustainable?</ns259:t>
            </ns259:r>
          </ns259:p>
        </p:txBody>
      </p:sp>
      <p:cxnSp>
        <p:nvCxnSpPr>
          <p:cNvPr id="145" name="analysis.to.view.0"/>
          <p:cNvCxnSpPr/>
          <p:nvPr/>
        </p:nvCxnSpPr>
        <p:spPr>
          <ns260:xfrm xmlns:ns260="http://schemas.openxmlformats.org/drawingml/2006/main">
            <ns260:off x="7995600" y="3607200"/>
            <ns260:ext cx="1" cy="590400"/>
          </ns260:xfrm>
          <ns261:prstGeom xmlns:ns261="http://schemas.openxmlformats.org/drawingml/2006/main" prst="line">
            <ns261:avLst/>
          </ns261:prstGeom>
          <ns262:ln xmlns:ns262="http://schemas.openxmlformats.org/drawingml/2006/main" w="11430">
            <ns262:solidFill>
              <ns262:srgbClr val="317F7B"/>
            </ns262:solidFill>
          </ns262:ln>
        </p:spPr>
      </p:cxnSp>
      <p:cxnSp>
        <p:nvCxnSpPr>
          <p:cNvPr id="146" name="analysis.to.view.1"/>
          <p:cNvCxnSpPr/>
          <p:nvPr/>
        </p:nvCxnSpPr>
        <p:spPr>
          <ns263:xfrm xmlns:ns263="http://schemas.openxmlformats.org/drawingml/2006/main" flipH="1">
            <ns263:off x="6984000" y="4197600"/>
            <ns263:ext cx="1011600" cy="1"/>
          </ns263:xfrm>
          <ns264:prstGeom xmlns:ns264="http://schemas.openxmlformats.org/drawingml/2006/main" prst="line">
            <ns264:avLst/>
          </ns264:prstGeom>
          <ns265:ln xmlns:ns265="http://schemas.openxmlformats.org/drawingml/2006/main" w="11430">
            <ns265:solidFill>
              <ns265:srgbClr val="317F7B"/>
            </ns265:solidFill>
            <ns265:tailEnd type="triangle" w="sm" len="sm"/>
          </ns265:ln>
        </p:spPr>
      </p:cxnSp>
    </p:spTree>
    <p:extLst>
      <p:ext uri="{BB962C8B-B14F-4D97-AF65-F5344CB8AC3E}">
        <p14:creationId xmlns:p14="http://schemas.microsoft.com/office/powerpoint/2010/main" val="2368056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Tianhong: analyzing earnings drivers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Investment research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Tianhong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107"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108"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role.llm.structure"/>
          <p:cNvSpPr/>
          <p:nvPr/>
        </p:nvSpPr>
        <p:spPr>
          <ns111:xfrm xmlns:ns111="http://schemas.openxmlformats.org/drawingml/2006/main">
            <ns111:off x="2422800" y="1476000"/>
            <ns111:ext cx="6264000" cy="424800"/>
          </ns111:xfrm>
          <ns112:prstGeom xmlns:ns112="http://schemas.openxmlformats.org/drawingml/2006/main" prst="roundRect">
            <ns112:avLst/>
          </ns112:prstGeom>
          <ns113:solidFill xmlns:ns113="http://schemas.openxmlformats.org/drawingml/2006/main">
            <ns113:srgbClr val="EAF3FA"/>
          </ns113:solidFill>
          <ns114:ln xmlns:ns114="http://schemas.openxmlformats.org/drawingml/2006/main" w="9525">
            <ns114:solidFill>
              <ns114:srgbClr val="005A9C"/>
            </ns114:solidFill>
          </ns114:ln>
        </p:spPr>
        <p:txBody>
          <ns115:bodyPr xmlns:ns115="http://schemas.openxmlformats.org/drawingml/2006/main" wrap="square" lIns="61200" rIns="61200" tIns="61200" bIns="61200" anchor="ctr">
            <ns115:noAutofit/>
          </ns115:bodyPr>
          <ns116:lstStyle xmlns:ns116="http://schemas.openxmlformats.org/drawingml/2006/main"/>
          <ns117:p xmlns:ns117="http://schemas.openxmlformats.org/drawingml/2006/main">
            <ns117:pPr algn="l">
              <ns117:lnSpc>
                <ns117:spcPct val="105000"/>
              </ns117:lnSpc>
              <ns117:defRPr sz="1300" b="1">
                <ns117:solidFill>
                  <ns117:srgbClr val="005A9C"/>
                </ns117:solidFill>
                <ns117:latin typeface="Arial"/>
                <ns117:ea typeface="Arial"/>
                <ns117:cs typeface="Arial"/>
              </ns117:defRPr>
            </ns117:pPr>
            <ns117:r>
              <ns117:rPr sz="1300" b="1">
                <ns117:solidFill>
                  <ns117:srgbClr val="005A9C"/>
                </ns117:solidFill>
                <ns117:latin typeface="Arial"/>
                <ns117:ea typeface="Arial"/>
                <ns117:cs typeface="Arial"/>
              </ns117:rPr>
              <ns117:t>LLM structures the analysis</ns117:t>
            </ns117:r>
          </ns117:p>
          <ns118:p xmlns:ns118="http://schemas.openxmlformats.org/drawingml/2006/main">
            <ns118:pPr algn="l">
              <ns118:lnSpc>
                <ns118:spcPct val="105000"/>
              </ns118:lnSpc>
              <ns118:defRPr sz="1150" b="0">
                <ns118:solidFill>
                  <ns118:srgbClr val="20262C"/>
                </ns118:solidFill>
                <ns118:latin typeface="Arial"/>
                <ns118:ea typeface="Arial"/>
                <ns118:cs typeface="Arial"/>
              </ns118:defRPr>
            </ns118:pPr>
            <ns118:r>
              <ns118:rPr sz="1150" b="0">
                <ns118:solidFill>
                  <ns118:srgbClr val="20262C"/>
                </ns118:solidFill>
                <ns118:latin typeface="Arial"/>
                <ns118:ea typeface="Arial"/>
                <ns118:cs typeface="Arial"/>
              </ns118:rPr>
              <ns118:t>Link operating drivers to earnings changes</ns118:t>
            </ns118:r>
          </ns118:p>
        </p:txBody>
      </p:sp>
      <p:sp>
        <p:nvSpPr>
          <p:cNvPr id="120" name="analysis.net.profit"/>
          <p:cNvSpPr/>
          <p:nvPr/>
        </p:nvSpPr>
        <p:spPr>
          <ns119:xfrm xmlns:ns119="http://schemas.openxmlformats.org/drawingml/2006/main">
            <ns119:off x="2422800" y="2552400"/>
            <ns119:ext cx="1224000" cy="522000"/>
          </ns119:xfrm>
          <ns120:prstGeom xmlns:ns120="http://schemas.openxmlformats.org/drawingml/2006/main" prst="roundRect">
            <ns120:avLst/>
          </ns120:prstGeom>
          <ns121:solidFill xmlns:ns121="http://schemas.openxmlformats.org/drawingml/2006/main">
            <ns121:srgbClr val="EAF3FA"/>
          </ns121:solidFill>
          <ns122:ln xmlns:ns122="http://schemas.openxmlformats.org/drawingml/2006/main" w="9525">
            <ns122:solidFill>
              <ns122:srgbClr val="005A9C"/>
            </ns122:solidFill>
          </ns122:ln>
        </p:spPr>
        <p:txBody>
          <ns123:bodyPr xmlns:ns123="http://schemas.openxmlformats.org/drawingml/2006/main" wrap="square" lIns="61200" rIns="61200" tIns="61200" bIns="61200" anchor="ctr">
            <ns123:noAutofit/>
          </ns123:bodyPr>
          <ns124:lstStyle xmlns:ns124="http://schemas.openxmlformats.org/drawingml/2006/main"/>
          <ns125:p xmlns:ns125="http://schemas.openxmlformats.org/drawingml/2006/main">
            <ns125:pPr algn="l">
              <ns125:lnSpc>
                <ns125:spcPct val="105000"/>
              </ns125:lnSpc>
              <ns125:defRPr sz="1300" b="1">
                <ns125:solidFill>
                  <ns125:srgbClr val="005A9C"/>
                </ns125:solidFill>
                <ns125:latin typeface="Arial"/>
                <ns125:ea typeface="Arial"/>
                <ns125:cs typeface="Arial"/>
              </ns125:defRPr>
            </ns125:pPr>
            <ns125:r>
              <ns125:rPr sz="1300" b="1">
                <ns125:solidFill>
                  <ns125:srgbClr val="005A9C"/>
                </ns125:solidFill>
                <ns125:latin typeface="Arial"/>
                <ns125:ea typeface="Arial"/>
                <ns125:cs typeface="Arial"/>
              </ns125:rPr>
              <ns125:t>Change in net profit</ns125:t>
            </ns125:r>
          </ns125:p>
        </p:txBody>
      </p:sp>
      <p:cxnSp>
        <p:nvCxnSpPr>
          <p:cNvPr id="121" name="earnings.trunk"/>
          <p:cNvCxnSpPr/>
          <p:nvPr/>
        </p:nvCxnSpPr>
        <p:spPr>
          <ns126:xfrm xmlns:ns126="http://schemas.openxmlformats.org/drawingml/2006/main">
            <ns126:off x="3852000" y="2304000"/>
            <ns126:ext cx="1" cy="1296000"/>
          </ns126:xfrm>
          <ns127:prstGeom xmlns:ns127="http://schemas.openxmlformats.org/drawingml/2006/main" prst="line">
            <ns127:avLst/>
          </ns127:prstGeom>
          <ns128:ln xmlns:ns128="http://schemas.openxmlformats.org/drawingml/2006/main" w="11430">
            <ns128:solidFill>
              <ns128:srgbClr val="005A9C"/>
            </ns128:solidFill>
          </ns128:ln>
        </p:spPr>
      </p:cxnSp>
      <p:cxnSp>
        <p:nvCxnSpPr>
          <p:cNvPr id="122" name="earnings.root.link"/>
          <p:cNvCxnSpPr/>
          <p:nvPr/>
        </p:nvCxnSpPr>
        <p:spPr>
          <ns129:xfrm xmlns:ns129="http://schemas.openxmlformats.org/drawingml/2006/main">
            <ns129:off x="3646800" y="2813400"/>
            <ns129:ext cx="205200" cy="1"/>
          </ns129:xfrm>
          <ns130:prstGeom xmlns:ns130="http://schemas.openxmlformats.org/drawingml/2006/main" prst="line">
            <ns130:avLst/>
          </ns130:prstGeom>
          <ns131:ln xmlns:ns131="http://schemas.openxmlformats.org/drawingml/2006/main" w="11430">
            <ns131:solidFill>
              <ns131:srgbClr val="005A9C"/>
            </ns131:solidFill>
          </ns131:ln>
        </p:spPr>
      </p:cxnSp>
      <p:cxnSp>
        <p:nvCxnSpPr>
          <p:cNvPr id="123" name="earnings.branch.0"/>
          <p:cNvCxnSpPr/>
          <p:nvPr/>
        </p:nvCxnSpPr>
        <p:spPr>
          <ns132:xfrm xmlns:ns132="http://schemas.openxmlformats.org/drawingml/2006/main">
            <ns132:off x="3852000" y="2304000"/>
            <ns132:ext cx="144000" cy="1"/>
          </ns132:xfrm>
          <ns133:prstGeom xmlns:ns133="http://schemas.openxmlformats.org/drawingml/2006/main" prst="line">
            <ns133:avLst/>
          </ns133:prstGeom>
          <ns134:ln xmlns:ns134="http://schemas.openxmlformats.org/drawingml/2006/main" w="11430">
            <ns134:solidFill>
              <ns134:srgbClr val="005A9C"/>
            </ns134:solidFill>
          </ns134:ln>
        </p:spPr>
      </p:cxnSp>
      <p:sp>
        <p:nvSpPr>
          <p:cNvPr id="124" name="earnings.category.0"/>
          <p:cNvSpPr/>
          <p:nvPr/>
        </p:nvSpPr>
        <p:spPr>
          <ns135:xfrm xmlns:ns135="http://schemas.openxmlformats.org/drawingml/2006/main">
            <ns135:off x="3996000" y="2088000"/>
            <ns135:ext cx="1188000" cy="432000"/>
          </ns135:xfrm>
          <ns136:prstGeom xmlns:ns136="http://schemas.openxmlformats.org/drawingml/2006/main" prst="rect">
            <ns136:avLst/>
          </ns136:prstGeom>
          <ns137:solidFill xmlns:ns137="http://schemas.openxmlformats.org/drawingml/2006/main">
            <ns137:srgbClr val="F3F7FA"/>
          </ns137:solidFill>
          <ns138:ln xmlns:ns138="http://schemas.openxmlformats.org/drawingml/2006/main" w="9525">
            <ns138:solidFill>
              <ns138:srgbClr val="65727D"/>
            </ns138:solidFill>
          </ns138:ln>
        </p:spPr>
        <p:txBody>
          <ns139:bodyPr xmlns:ns139="http://schemas.openxmlformats.org/drawingml/2006/main" wrap="square" lIns="61200" rIns="61200" tIns="61200" bIns="61200" anchor="ctr">
            <ns139:noAutofit/>
          </ns139:bodyPr>
          <ns140:lstStyle xmlns:ns140="http://schemas.openxmlformats.org/drawingml/2006/main"/>
          <ns141:p xmlns:ns141="http://schemas.openxmlformats.org/drawingml/2006/main">
            <ns141:pPr algn="l">
              <ns141:lnSpc>
                <ns141:spcPct val="105000"/>
              </ns141:lnSpc>
              <ns141:defRPr sz="1300" b="1">
                <ns141:solidFill>
                  <ns141:srgbClr val="65727D"/>
                </ns141:solidFill>
                <ns141:latin typeface="Arial"/>
                <ns141:ea typeface="Arial"/>
                <ns141:cs typeface="Arial"/>
              </ns141:defRPr>
            </ns141:pPr>
            <ns141:r>
              <ns141:rPr sz="1300" b="1">
                <ns141:solidFill>
                  <ns141:srgbClr val="65727D"/>
                </ns141:solidFill>
                <ns141:latin typeface="Arial"/>
                <ns141:ea typeface="Arial"/>
                <ns141:cs typeface="Arial"/>
              </ns141:rPr>
              <ns141:t>Revenue</ns141:t>
            </ns141:r>
          </ns141:p>
        </p:txBody>
      </p:sp>
      <p:cxnSp>
        <p:nvCxnSpPr>
          <p:cNvPr id="125" name="earnings.driver.link.0"/>
          <p:cNvCxnSpPr/>
          <p:nvPr/>
        </p:nvCxnSpPr>
        <p:spPr>
          <ns142:xfrm xmlns:ns142="http://schemas.openxmlformats.org/drawingml/2006/main">
            <ns142:off x="5184000" y="2304000"/>
            <ns142:ext cx="270000" cy="1"/>
          </ns142:xfrm>
          <ns143:prstGeom xmlns:ns143="http://schemas.openxmlformats.org/drawingml/2006/main" prst="line">
            <ns143:avLst/>
          </ns143:prstGeom>
          <ns144:ln xmlns:ns144="http://schemas.openxmlformats.org/drawingml/2006/main" w="11430">
            <ns144:solidFill>
              <ns144:srgbClr val="005A9C"/>
            </ns144:solidFill>
          </ns144:ln>
        </p:spPr>
      </p:cxnSp>
      <p:sp>
        <p:nvSpPr>
          <p:cNvPr id="126" name="earnings.driver.0"/>
          <p:cNvSpPr/>
          <p:nvPr/>
        </p:nvSpPr>
        <p:spPr>
          <ns145:xfrm xmlns:ns145="http://schemas.openxmlformats.org/drawingml/2006/main">
            <ns145:off x="5490000" y="2088000"/>
            <ns145:ext cx="1638000" cy="432000"/>
          </ns145:xfrm>
          <ns146:prstGeom xmlns:ns146="http://schemas.openxmlformats.org/drawingml/2006/main" prst="rect">
            <ns146:avLst/>
          </ns146:prstGeom>
          <ns147:solidFill xmlns:ns147="http://schemas.openxmlformats.org/drawingml/2006/main">
            <ns147:srgbClr val="F3F7FA"/>
          </ns147:solidFill>
          <ns148:ln xmlns:ns148="http://schemas.openxmlformats.org/drawingml/2006/main" w="9525">
            <ns148:solidFill>
              <ns148:srgbClr val="65727D"/>
            </ns148:solidFill>
          </ns148:ln>
        </p:spPr>
        <p:txBody>
          <ns149:bodyPr xmlns:ns149="http://schemas.openxmlformats.org/drawingml/2006/main" wrap="square" lIns="61200" rIns="61200" tIns="61200" bIns="61200" anchor="ctr">
            <ns149:noAutofit/>
          </ns149:bodyPr>
          <ns150:lstStyle xmlns:ns150="http://schemas.openxmlformats.org/drawingml/2006/main"/>
          <ns151:p xmlns:ns151="http://schemas.openxmlformats.org/drawingml/2006/main">
            <ns151:pPr algn="l">
              <ns151:lnSpc>
                <ns151:spcPct val="105000"/>
              </ns151:lnSpc>
              <ns151:defRPr sz="1300" b="1">
                <ns151:solidFill>
                  <ns151:srgbClr val="65727D"/>
                </ns151:solidFill>
                <ns151:latin typeface="Arial"/>
                <ns151:ea typeface="Arial"/>
                <ns151:cs typeface="Arial"/>
              </ns151:defRPr>
            </ns151:pPr>
            <ns151:r>
              <ns151:rPr sz="1300" b="1">
                <ns151:solidFill>
                  <ns151:srgbClr val="65727D"/>
                </ns151:solidFill>
                <ns151:latin typeface="Arial"/>
                <ns151:ea typeface="Arial"/>
                <ns151:cs typeface="Arial"/>
              </ns151:rPr>
              <ns151:t>Volume / price</ns151:t>
            </ns151:r>
          </ns151:p>
        </p:txBody>
      </p:sp>
      <p:cxnSp>
        <p:nvCxnSpPr>
          <p:cNvPr id="127" name="earnings.branch.1"/>
          <p:cNvCxnSpPr/>
          <p:nvPr/>
        </p:nvCxnSpPr>
        <p:spPr>
          <ns152:xfrm xmlns:ns152="http://schemas.openxmlformats.org/drawingml/2006/main">
            <ns152:off x="3852000" y="2952000"/>
            <ns152:ext cx="144000" cy="1"/>
          </ns152:xfrm>
          <ns153:prstGeom xmlns:ns153="http://schemas.openxmlformats.org/drawingml/2006/main" prst="line">
            <ns153:avLst/>
          </ns153:prstGeom>
          <ns154:ln xmlns:ns154="http://schemas.openxmlformats.org/drawingml/2006/main" w="11430">
            <ns154:solidFill>
              <ns154:srgbClr val="005A9C"/>
            </ns154:solidFill>
          </ns154:ln>
        </p:spPr>
      </p:cxnSp>
      <p:sp>
        <p:nvSpPr>
          <p:cNvPr id="128" name="earnings.category.1"/>
          <p:cNvSpPr/>
          <p:nvPr/>
        </p:nvSpPr>
        <p:spPr>
          <ns155:xfrm xmlns:ns155="http://schemas.openxmlformats.org/drawingml/2006/main">
            <ns155:off x="3996000" y="2736000"/>
            <ns155:ext cx="1188000" cy="432000"/>
          </ns155:xfrm>
          <ns156:prstGeom xmlns:ns156="http://schemas.openxmlformats.org/drawingml/2006/main" prst="rect">
            <ns156:avLst/>
          </ns156:prstGeom>
          <ns157:solidFill xmlns:ns157="http://schemas.openxmlformats.org/drawingml/2006/main">
            <ns157:srgbClr val="F3F7FA"/>
          </ns157:solidFill>
          <ns158:ln xmlns:ns158="http://schemas.openxmlformats.org/drawingml/2006/main" w="9525">
            <ns158:solidFill>
              <ns158:srgbClr val="65727D"/>
            </ns158:solidFill>
          </ns158:ln>
        </p:spPr>
        <p:txBody>
          <ns159:bodyPr xmlns:ns159="http://schemas.openxmlformats.org/drawingml/2006/main" wrap="square" lIns="61200" rIns="61200" tIns="61200" bIns="61200" anchor="ctr">
            <ns159:noAutofit/>
          </ns159:bodyPr>
          <ns160:lstStyle xmlns:ns160="http://schemas.openxmlformats.org/drawingml/2006/main"/>
          <ns161:p xmlns:ns161="http://schemas.openxmlformats.org/drawingml/2006/main">
            <ns161:pPr algn="l">
              <ns161:lnSpc>
                <ns161:spcPct val="105000"/>
              </ns161:lnSpc>
              <ns161:defRPr sz="1300" b="1">
                <ns161:solidFill>
                  <ns161:srgbClr val="65727D"/>
                </ns161:solidFill>
                <ns161:latin typeface="Arial"/>
                <ns161:ea typeface="Arial"/>
                <ns161:cs typeface="Arial"/>
              </ns161:defRPr>
            </ns161:pPr>
            <ns161:r>
              <ns161:rPr sz="1300" b="1">
                <ns161:solidFill>
                  <ns161:srgbClr val="65727D"/>
                </ns161:solidFill>
                <ns161:latin typeface="Arial"/>
                <ns161:ea typeface="Arial"/>
                <ns161:cs typeface="Arial"/>
              </ns161:rPr>
              <ns161:t>Cost of sales</ns161:t>
            </ns161:r>
          </ns161:p>
        </p:txBody>
      </p:sp>
      <p:cxnSp>
        <p:nvCxnSpPr>
          <p:cNvPr id="129" name="earnings.driver.link.1"/>
          <p:cNvCxnSpPr/>
          <p:nvPr/>
        </p:nvCxnSpPr>
        <p:spPr>
          <ns162:xfrm xmlns:ns162="http://schemas.openxmlformats.org/drawingml/2006/main">
            <ns162:off x="5184000" y="2952000"/>
            <ns162:ext cx="270000" cy="1"/>
          </ns162:xfrm>
          <ns163:prstGeom xmlns:ns163="http://schemas.openxmlformats.org/drawingml/2006/main" prst="line">
            <ns163:avLst/>
          </ns163:prstGeom>
          <ns164:ln xmlns:ns164="http://schemas.openxmlformats.org/drawingml/2006/main" w="11430">
            <ns164:solidFill>
              <ns164:srgbClr val="005A9C"/>
            </ns164:solidFill>
          </ns164:ln>
        </p:spPr>
      </p:cxnSp>
      <p:sp>
        <p:nvSpPr>
          <p:cNvPr id="130" name="earnings.driver.1"/>
          <p:cNvSpPr/>
          <p:nvPr/>
        </p:nvSpPr>
        <p:spPr>
          <ns165:xfrm xmlns:ns165="http://schemas.openxmlformats.org/drawingml/2006/main">
            <ns165:off x="5490000" y="2736000"/>
            <ns165:ext cx="1638000" cy="432000"/>
          </ns165:xfrm>
          <ns166:prstGeom xmlns:ns166="http://schemas.openxmlformats.org/drawingml/2006/main" prst="rect">
            <ns166:avLst/>
          </ns166:prstGeom>
          <ns167:solidFill xmlns:ns167="http://schemas.openxmlformats.org/drawingml/2006/main">
            <ns167:srgbClr val="F3F7FA"/>
          </ns167:solidFill>
          <ns168:ln xmlns:ns168="http://schemas.openxmlformats.org/drawingml/2006/main" w="9525">
            <ns168:solidFill>
              <ns168:srgbClr val="65727D"/>
            </ns168:solidFill>
          </ns168:ln>
        </p:spPr>
        <p:txBody>
          <ns169:bodyPr xmlns:ns169="http://schemas.openxmlformats.org/drawingml/2006/main" wrap="square" lIns="61200" rIns="61200" tIns="61200" bIns="61200" anchor="ctr">
            <ns169:noAutofit/>
          </ns169:bodyPr>
          <ns170:lstStyle xmlns:ns170="http://schemas.openxmlformats.org/drawingml/2006/main"/>
          <ns171:p xmlns:ns171="http://schemas.openxmlformats.org/drawingml/2006/main">
            <ns171:pPr algn="l">
              <ns171:lnSpc>
                <ns171:spcPct val="105000"/>
              </ns171:lnSpc>
              <ns171:defRPr sz="1300" b="1">
                <ns171:solidFill>
                  <ns171:srgbClr val="65727D"/>
                </ns171:solidFill>
                <ns171:latin typeface="Arial"/>
                <ns171:ea typeface="Arial"/>
                <ns171:cs typeface="Arial"/>
              </ns171:defRPr>
            </ns171:pPr>
            <ns171:r>
              <ns171:rPr sz="1300" b="1">
                <ns171:solidFill>
                  <ns171:srgbClr val="65727D"/>
                </ns171:solidFill>
                <ns171:latin typeface="Arial"/>
                <ns171:ea typeface="Arial"/>
                <ns171:cs typeface="Arial"/>
              </ns171:rPr>
              <ns171:t>Materials / production</ns171:t>
            </ns171:r>
          </ns171:p>
        </p:txBody>
      </p:sp>
      <p:cxnSp>
        <p:nvCxnSpPr>
          <p:cNvPr id="131" name="earnings.branch.2"/>
          <p:cNvCxnSpPr/>
          <p:nvPr/>
        </p:nvCxnSpPr>
        <p:spPr>
          <ns172:xfrm xmlns:ns172="http://schemas.openxmlformats.org/drawingml/2006/main">
            <ns172:off x="3852000" y="3600000"/>
            <ns172:ext cx="144000" cy="1"/>
          </ns172:xfrm>
          <ns173:prstGeom xmlns:ns173="http://schemas.openxmlformats.org/drawingml/2006/main" prst="line">
            <ns173:avLst/>
          </ns173:prstGeom>
          <ns174:ln xmlns:ns174="http://schemas.openxmlformats.org/drawingml/2006/main" w="11430">
            <ns174:solidFill>
              <ns174:srgbClr val="005A9C"/>
            </ns174:solidFill>
          </ns174:ln>
        </p:spPr>
      </p:cxnSp>
      <p:sp>
        <p:nvSpPr>
          <p:cNvPr id="132" name="earnings.category.2"/>
          <p:cNvSpPr/>
          <p:nvPr/>
        </p:nvSpPr>
        <p:spPr>
          <ns175:xfrm xmlns:ns175="http://schemas.openxmlformats.org/drawingml/2006/main">
            <ns175:off x="3996000" y="3384000"/>
            <ns175:ext cx="1188000" cy="432000"/>
          </ns175:xfrm>
          <ns176:prstGeom xmlns:ns176="http://schemas.openxmlformats.org/drawingml/2006/main" prst="rect">
            <ns176:avLst/>
          </ns176:prstGeom>
          <ns177:solidFill xmlns:ns177="http://schemas.openxmlformats.org/drawingml/2006/main">
            <ns177:srgbClr val="F3F7FA"/>
          </ns177:solidFill>
          <ns178:ln xmlns:ns178="http://schemas.openxmlformats.org/drawingml/2006/main" w="9525">
            <ns178:solidFill>
              <ns178:srgbClr val="65727D"/>
            </ns178:solidFill>
          </ns178:ln>
        </p:spPr>
        <p:txBody>
          <ns179:bodyPr xmlns:ns179="http://schemas.openxmlformats.org/drawingml/2006/main" wrap="square" lIns="61200" rIns="61200" tIns="61200" bIns="61200" anchor="ctr">
            <ns179:noAutofit/>
          </ns179:bodyPr>
          <ns180:lstStyle xmlns:ns180="http://schemas.openxmlformats.org/drawingml/2006/main"/>
          <ns181:p xmlns:ns181="http://schemas.openxmlformats.org/drawingml/2006/main">
            <ns181:pPr algn="l">
              <ns181:lnSpc>
                <ns181:spcPct val="105000"/>
              </ns181:lnSpc>
              <ns181:defRPr sz="1300" b="1">
                <ns181:solidFill>
                  <ns181:srgbClr val="65727D"/>
                </ns181:solidFill>
                <ns181:latin typeface="Arial"/>
                <ns181:ea typeface="Arial"/>
                <ns181:cs typeface="Arial"/>
              </ns181:defRPr>
            </ns181:pPr>
            <ns181:r>
              <ns181:rPr sz="1300" b="1">
                <ns181:solidFill>
                  <ns181:srgbClr val="65727D"/>
                </ns181:solidFill>
                <ns181:latin typeface="Arial"/>
                <ns181:ea typeface="Arial"/>
                <ns181:cs typeface="Arial"/>
              </ns181:rPr>
              <ns181:t>Expenses</ns181:t>
            </ns181:r>
          </ns181:p>
        </p:txBody>
      </p:sp>
      <p:cxnSp>
        <p:nvCxnSpPr>
          <p:cNvPr id="133" name="earnings.driver.link.2"/>
          <p:cNvCxnSpPr/>
          <p:nvPr/>
        </p:nvCxnSpPr>
        <p:spPr>
          <ns182:xfrm xmlns:ns182="http://schemas.openxmlformats.org/drawingml/2006/main">
            <ns182:off x="5184000" y="3600000"/>
            <ns182:ext cx="270000" cy="1"/>
          </ns182:xfrm>
          <ns183:prstGeom xmlns:ns183="http://schemas.openxmlformats.org/drawingml/2006/main" prst="line">
            <ns183:avLst/>
          </ns183:prstGeom>
          <ns184:ln xmlns:ns184="http://schemas.openxmlformats.org/drawingml/2006/main" w="11430">
            <ns184:solidFill>
              <ns184:srgbClr val="005A9C"/>
            </ns184:solidFill>
          </ns184:ln>
        </p:spPr>
      </p:cxnSp>
      <p:sp>
        <p:nvSpPr>
          <p:cNvPr id="134" name="earnings.driver.2"/>
          <p:cNvSpPr/>
          <p:nvPr/>
        </p:nvSpPr>
        <p:spPr>
          <ns185:xfrm xmlns:ns185="http://schemas.openxmlformats.org/drawingml/2006/main">
            <ns185:off x="5490000" y="3384000"/>
            <ns185:ext cx="1638000" cy="432000"/>
          </ns185:xfrm>
          <ns186:prstGeom xmlns:ns186="http://schemas.openxmlformats.org/drawingml/2006/main" prst="rect">
            <ns186:avLst/>
          </ns186:prstGeom>
          <ns187:solidFill xmlns:ns187="http://schemas.openxmlformats.org/drawingml/2006/main">
            <ns187:srgbClr val="F3F7FA"/>
          </ns187:solidFill>
          <ns188:ln xmlns:ns188="http://schemas.openxmlformats.org/drawingml/2006/main" w="9525">
            <ns188:solidFill>
              <ns188:srgbClr val="65727D"/>
            </ns188:solidFill>
          </ns188:ln>
        </p:spPr>
        <p:txBody>
          <ns189:bodyPr xmlns:ns189="http://schemas.openxmlformats.org/drawingml/2006/main" wrap="square" lIns="61200" rIns="61200" tIns="61200" bIns="61200" anchor="ctr">
            <ns189:noAutofit/>
          </ns189:bodyPr>
          <ns190:lstStyle xmlns:ns190="http://schemas.openxmlformats.org/drawingml/2006/main"/>
          <ns191:p xmlns:ns191="http://schemas.openxmlformats.org/drawingml/2006/main">
            <ns191:pPr algn="l">
              <ns191:lnSpc>
                <ns191:spcPct val="105000"/>
              </ns191:lnSpc>
              <ns191:defRPr sz="1300" b="1">
                <ns191:solidFill>
                  <ns191:srgbClr val="65727D"/>
                </ns191:solidFill>
                <ns191:latin typeface="Arial"/>
                <ns191:ea typeface="Arial"/>
                <ns191:cs typeface="Arial"/>
              </ns191:defRPr>
            </ns191:pPr>
            <ns191:r>
              <ns191:rPr sz="1300" b="1">
                <ns191:solidFill>
                  <ns191:srgbClr val="65727D"/>
                </ns191:solidFill>
                <ns191:latin typeface="Arial"/>
                <ns191:ea typeface="Arial"/>
                <ns191:cs typeface="Arial"/>
              </ns191:rPr>
              <ns191:t>Distribution / selling</ns191:t>
            </ns191:r>
          </ns191:p>
        </p:txBody>
      </p:sp>
      <p:sp>
        <p:nvSpPr>
          <p:cNvPr id="135" name="tool.data.calculation"/>
          <p:cNvSpPr/>
          <p:nvPr/>
        </p:nvSpPr>
        <p:spPr>
          <ns192:xfrm xmlns:ns192="http://schemas.openxmlformats.org/drawingml/2006/main">
            <ns192:off x="7405200" y="2088000"/>
            <ns192:ext cx="1281600" cy="1728000"/>
          </ns192:xfrm>
          <ns193:prstGeom xmlns:ns193="http://schemas.openxmlformats.org/drawingml/2006/main" prst="roundRect">
            <ns193:avLst/>
          </ns193:prstGeom>
          <ns194:solidFill xmlns:ns194="http://schemas.openxmlformats.org/drawingml/2006/main">
            <ns194:srgbClr val="F3F7FA"/>
          </ns194:solidFill>
          <ns195:ln xmlns:ns195="http://schemas.openxmlformats.org/drawingml/2006/main" w="9525">
            <ns195:solidFill>
              <ns195:srgbClr val="65727D"/>
            </ns195:solidFill>
          </ns195:ln>
        </p:spPr>
        <p:txBody>
          <ns196:bodyPr xmlns:ns196="http://schemas.openxmlformats.org/drawingml/2006/main" wrap="square" lIns="61200" rIns="61200" tIns="61200" bIns="61200" anchor="ctr">
            <ns196:noAutofit/>
          </ns196:bodyPr>
          <ns197:lstStyle xmlns:ns197="http://schemas.openxmlformats.org/drawingml/2006/main"/>
          <ns198:p xmlns:ns198="http://schemas.openxmlformats.org/drawingml/2006/main">
            <ns198:pPr algn="l">
              <ns198:lnSpc>
                <ns198:spcPct val="105000"/>
              </ns198:lnSpc>
              <ns198:defRPr sz="1300" b="1">
                <ns198:solidFill>
                  <ns198:srgbClr val="65727D"/>
                </ns198:solidFill>
                <ns198:latin typeface="Arial"/>
                <ns198:ea typeface="Arial"/>
                <ns198:cs typeface="Arial"/>
              </ns198:defRPr>
            </ns198:pPr>
            <ns198:r>
              <ns198:rPr sz="1300" b="1">
                <ns198:solidFill>
                  <ns198:srgbClr val="65727D"/>
                </ns198:solidFill>
                <ns198:latin typeface="Arial"/>
                <ns198:ea typeface="Arial"/>
                <ns198:cs typeface="Arial"/>
              </ns198:rPr>
              <ns198:t>Data / calculation tools</ns198:t>
            </ns198:r>
          </ns198:p>
          <ns199:p xmlns:ns199="http://schemas.openxmlformats.org/drawingml/2006/main">
            <ns199:pPr algn="l">
              <ns199:lnSpc>
                <ns199:spcPct val="105000"/>
              </ns199:lnSpc>
              <ns199:defRPr sz="1100" b="0">
                <ns199:solidFill>
                  <ns199:srgbClr val="20262C"/>
                </ns199:solidFill>
                <ns199:latin typeface="Arial"/>
                <ns199:ea typeface="Arial"/>
                <ns199:cs typeface="Arial"/>
              </ns199:defRPr>
            </ns199:pPr>
            <ns199:r>
              <ns199:rPr sz="1100" b="0">
                <ns199:solidFill>
                  <ns199:srgbClr val="20262C"/>
                </ns199:solidFill>
                <ns199:latin typeface="Arial"/>
                <ns199:ea typeface="Arial"/>
                <ns199:cs typeface="Arial"/>
              </ns199:rPr>
              <ns199:t>Retrieve data</ns199:t>
            </ns199:r>
          </ns199:p>
          <ns200:p xmlns:ns200="http://schemas.openxmlformats.org/drawingml/2006/main">
            <ns200:pPr algn="l">
              <ns200:lnSpc>
                <ns200:spcPct val="105000"/>
              </ns200:lnSpc>
              <ns200:defRPr sz="1100" b="0">
                <ns200:solidFill>
                  <ns200:srgbClr val="20262C"/>
                </ns200:solidFill>
                <ns200:latin typeface="Arial"/>
                <ns200:ea typeface="Arial"/>
                <ns200:cs typeface="Arial"/>
              </ns200:defRPr>
            </ns200:pPr>
            <ns200:r>
              <ns200:rPr sz="1100" b="0">
                <ns200:solidFill>
                  <ns200:srgbClr val="20262C"/>
                </ns200:solidFill>
                <ns200:latin typeface="Arial"/>
                <ns200:ea typeface="Arial"/>
                <ns200:cs typeface="Arial"/>
              </ns200:rPr>
              <ns200:t>Calculate changes</ns200:t>
            </ns200:r>
          </ns200:p>
        </p:txBody>
      </p:sp>
      <p:cxnSp>
        <p:nvCxnSpPr>
          <p:cNvPr id="136" name="tool.support.entry"/>
          <p:cNvCxnSpPr/>
          <p:nvPr/>
        </p:nvCxnSpPr>
        <p:spPr>
          <ns201:xfrm xmlns:ns201="http://schemas.openxmlformats.org/drawingml/2006/main" flipH="1">
            <ns201:off x="7243200" y="2952000"/>
            <ns201:ext cx="126000" cy="1"/>
          </ns201:xfrm>
          <ns202:prstGeom xmlns:ns202="http://schemas.openxmlformats.org/drawingml/2006/main" prst="line">
            <ns202:avLst/>
          </ns202:prstGeom>
          <ns203:ln xmlns:ns203="http://schemas.openxmlformats.org/drawingml/2006/main" w="11430">
            <ns203:solidFill>
              <ns203:srgbClr val="005A9C"/>
            </ns203:solidFill>
          </ns203:ln>
        </p:spPr>
      </p:cxnSp>
      <p:cxnSp>
        <p:nvCxnSpPr>
          <p:cNvPr id="137" name="tool.support.bus"/>
          <p:cNvCxnSpPr/>
          <p:nvPr/>
        </p:nvCxnSpPr>
        <p:spPr>
          <ns204:xfrm xmlns:ns204="http://schemas.openxmlformats.org/drawingml/2006/main">
            <ns204:off x="7243200" y="2304000"/>
            <ns204:ext cx="1" cy="1296000"/>
          </ns204:xfrm>
          <ns205:prstGeom xmlns:ns205="http://schemas.openxmlformats.org/drawingml/2006/main" prst="line">
            <ns205:avLst/>
          </ns205:prstGeom>
          <ns206:ln xmlns:ns206="http://schemas.openxmlformats.org/drawingml/2006/main" w="11430">
            <ns206:solidFill>
              <ns206:srgbClr val="005A9C"/>
            </ns206:solidFill>
          </ns206:ln>
        </p:spPr>
      </p:cxnSp>
      <p:cxnSp>
        <p:nvCxnSpPr>
          <p:cNvPr id="138" name="tool.driver.support.0"/>
          <p:cNvCxnSpPr/>
          <p:nvPr/>
        </p:nvCxnSpPr>
        <p:spPr>
          <ns207:xfrm xmlns:ns207="http://schemas.openxmlformats.org/drawingml/2006/main" flipH="1">
            <ns207:off x="7164000" y="2304000"/>
            <ns207:ext cx="79200" cy="1"/>
          </ns207:xfrm>
          <ns208:prstGeom xmlns:ns208="http://schemas.openxmlformats.org/drawingml/2006/main" prst="line">
            <ns208:avLst/>
          </ns208:prstGeom>
          <ns209:ln xmlns:ns209="http://schemas.openxmlformats.org/drawingml/2006/main" w="9525">
            <ns209:solidFill>
              <ns209:srgbClr val="65727D"/>
            </ns209:solidFill>
            <ns209:tailEnd type="triangle" w="sm" len="sm"/>
          </ns209:ln>
        </p:spPr>
      </p:cxnSp>
      <p:cxnSp>
        <p:nvCxnSpPr>
          <p:cNvPr id="139" name="tool.driver.support.1"/>
          <p:cNvCxnSpPr/>
          <p:nvPr/>
        </p:nvCxnSpPr>
        <p:spPr>
          <ns210:xfrm xmlns:ns210="http://schemas.openxmlformats.org/drawingml/2006/main" flipH="1">
            <ns210:off x="7164000" y="2952000"/>
            <ns210:ext cx="79200" cy="1"/>
          </ns210:xfrm>
          <ns211:prstGeom xmlns:ns211="http://schemas.openxmlformats.org/drawingml/2006/main" prst="line">
            <ns211:avLst/>
          </ns211:prstGeom>
          <ns212:ln xmlns:ns212="http://schemas.openxmlformats.org/drawingml/2006/main" w="9525">
            <ns212:solidFill>
              <ns212:srgbClr val="65727D"/>
            </ns212:solidFill>
            <ns212:tailEnd type="triangle" w="sm" len="sm"/>
          </ns212:ln>
        </p:spPr>
      </p:cxnSp>
      <p:cxnSp>
        <p:nvCxnSpPr>
          <p:cNvPr id="140" name="tool.driver.support.2"/>
          <p:cNvCxnSpPr/>
          <p:nvPr/>
        </p:nvCxnSpPr>
        <p:spPr>
          <ns213:xfrm xmlns:ns213="http://schemas.openxmlformats.org/drawingml/2006/main" flipH="1">
            <ns213:off x="7164000" y="3600000"/>
            <ns213:ext cx="79200" cy="1"/>
          </ns213:xfrm>
          <ns214:prstGeom xmlns:ns214="http://schemas.openxmlformats.org/drawingml/2006/main" prst="line">
            <ns214:avLst/>
          </ns214:prstGeom>
          <ns215:ln xmlns:ns215="http://schemas.openxmlformats.org/drawingml/2006/main" w="9525">
            <ns215:solidFill>
              <ns215:srgbClr val="65727D"/>
            </ns215:solidFill>
            <ns215:tailEnd type="triangle" w="sm" len="sm"/>
          </ns215:ln>
        </p:spPr>
      </p:cxnSp>
      <p:sp>
        <p:nvSpPr>
          <p:cNvPr id="141" name="human.analyst.quality"/>
          <p:cNvSpPr/>
          <p:nvPr/>
        </p:nvSpPr>
        <p:spPr>
          <ns216:xfrm xmlns:ns216="http://schemas.openxmlformats.org/drawingml/2006/main">
            <ns216:off x="3996000" y="4122000"/>
            <ns216:ext cx="4690800" cy="360000"/>
          </ns216:xfrm>
          <ns217:prstGeom xmlns:ns217="http://schemas.openxmlformats.org/drawingml/2006/main" prst="roundRect">
            <ns217:avLst/>
          </ns217:prstGeom>
          <ns218:solidFill xmlns:ns218="http://schemas.openxmlformats.org/drawingml/2006/main">
            <ns218:srgbClr val="F3F7FA"/>
          </ns218:solidFill>
          <ns219:ln xmlns:ns219="http://schemas.openxmlformats.org/drawingml/2006/main" w="9525">
            <ns219:solidFill>
              <ns219:srgbClr val="65727D"/>
            </ns219:solidFill>
          </ns219:ln>
        </p:spPr>
        <p:txBody>
          <ns220:bodyPr xmlns:ns220="http://schemas.openxmlformats.org/drawingml/2006/main" wrap="square" lIns="61200" rIns="61200" tIns="61200" bIns="61200" anchor="ctr">
            <ns220:noAutofit/>
          </ns220:bodyPr>
          <ns221:lstStyle xmlns:ns221="http://schemas.openxmlformats.org/drawingml/2006/main"/>
          <ns222:p xmlns:ns222="http://schemas.openxmlformats.org/drawingml/2006/main">
            <ns222:pPr algn="l">
              <ns222:lnSpc>
                <ns222:spcPct val="105000"/>
              </ns222:lnSpc>
              <ns222:defRPr sz="1300" b="1">
                <ns222:solidFill>
                  <ns222:srgbClr val="65727D"/>
                </ns222:solidFill>
                <ns222:latin typeface="Arial"/>
                <ns222:ea typeface="Arial"/>
                <ns222:cs typeface="Arial"/>
              </ns222:defRPr>
            </ns222:pPr>
            <ns222:r>
              <ns222:rPr sz="1300" b="1">
                <ns222:solidFill>
                  <ns222:srgbClr val="65727D"/>
                </ns222:solidFill>
                <ns222:latin typeface="Arial"/>
                <ns222:ea typeface="Arial"/>
                <ns222:cs typeface="Arial"/>
              </ns222:rPr>
              <ns222:t>Analyst assesses quality of growth</ns222:t>
            </ns222:r>
          </ns222:p>
        </p:txBody>
      </p:sp>
      <p:sp>
        <p:nvSpPr>
          <p:cNvPr id="142" name="analysis.driver.structure"/>
          <p:cNvSpPr/>
          <p:nvPr/>
        </p:nvSpPr>
        <p:spPr>
          <ns223:xfrm xmlns:ns223="http://schemas.openxmlformats.org/drawingml/2006/main">
            <ns223:off x="2422800" y="1998000"/>
            <ns223:ext cx="4770000" cy="1908000"/>
          </ns223:xfrm>
          <ns224:prstGeom xmlns:ns224="http://schemas.openxmlformats.org/drawingml/2006/main" prst="rect">
            <ns224:avLst/>
          </ns224:prstGeom>
          <ns225:noFill xmlns:ns225="http://schemas.openxmlformats.org/drawingml/2006/main"/>
          <ns226:ln xmlns:ns226="http://schemas.openxmlformats.org/drawingml/2006/main" w="6350">
            <ns226:solidFill>
              <ns226:srgbClr val="CBD4DA"/>
            </ns226:solidFill>
          </ns226:ln>
        </p:spPr>
      </p:sp>
      <p:cxnSp>
        <p:nvCxnSpPr>
          <p:cNvPr id="143" name="analysis.to.quality"/>
          <p:cNvCxnSpPr/>
          <p:nvPr/>
        </p:nvCxnSpPr>
        <p:spPr>
          <ns227:xfrm xmlns:ns227="http://schemas.openxmlformats.org/drawingml/2006/main">
            <ns227:off x="4807800" y="3942000"/>
            <ns227:ext cx="1" cy="144000"/>
          </ns227:xfrm>
          <ns228:prstGeom xmlns:ns228="http://schemas.openxmlformats.org/drawingml/2006/main" prst="line">
            <ns228:avLst/>
          </ns228:prstGeom>
          <ns229:ln xmlns:ns229="http://schemas.openxmlformats.org/drawingml/2006/main" w="11430">
            <ns229:solidFill>
              <ns229:srgbClr val="005A9C"/>
            </ns229:solidFill>
            <ns229:tailEnd type="triangle" w="sm" len="sm"/>
          </ns229:ln>
        </p:spPr>
      </p:cxnSp>
    </p:spTree>
    <p:extLst>
      <p:ext uri="{BB962C8B-B14F-4D97-AF65-F5344CB8AC3E}">
        <p14:creationId xmlns:p14="http://schemas.microsoft.com/office/powerpoint/2010/main" val="1112885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Fullgoal: comparing research views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Investment research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Fullgoal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107"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108"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source.report.a.paper"/>
          <p:cNvSpPr/>
          <p:nvPr/>
        </p:nvSpPr>
        <p:spPr>
          <ns111:xfrm xmlns:ns111="http://schemas.openxmlformats.org/drawingml/2006/main">
            <ns111:off x="2422800" y="1530000"/>
            <ns111:ext cx="1620000" cy="1098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317F7B"/>
            </ns114:solidFill>
          </ns114:ln>
        </p:spPr>
      </p:sp>
      <p:sp>
        <p:nvSpPr>
          <p:cNvPr id="120" name="source.report.a.title"/>
          <p:cNvSpPr/>
          <p:nvPr/>
        </p:nvSpPr>
        <p:spPr>
          <ns115:xfrm xmlns:ns115="http://schemas.openxmlformats.org/drawingml/2006/main">
            <ns115:off x="2487600" y="1573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317F7B"/>
                </ns121:solidFill>
                <ns121:latin typeface="Arial"/>
                <ns121:ea typeface="Arial"/>
                <ns121:cs typeface="Arial"/>
              </ns121:defRPr>
            </ns121:pPr>
            <ns121:r>
              <ns121:rPr sz="1250" b="1">
                <ns121:solidFill>
                  <ns121:srgbClr val="317F7B"/>
                </ns121:solidFill>
                <ns121:latin typeface="Arial"/>
                <ns121:ea typeface="Arial"/>
                <ns121:cs typeface="Arial"/>
              </ns121:rPr>
              <ns121:t>Report A</ns121:t>
            </ns121:r>
          </ns121:p>
        </p:txBody>
      </p:sp>
      <p:sp>
        <p:nvSpPr>
          <p:cNvPr id="121" name="source.report.a.content"/>
          <p:cNvSpPr/>
          <p:nvPr/>
        </p:nvSpPr>
        <p:spPr>
          <ns122:xfrm xmlns:ns122="http://schemas.openxmlformats.org/drawingml/2006/main">
            <ns122:off x="2487600" y="1789200"/>
            <ns122:ext cx="1490400" cy="788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100" b="0">
                <ns128:solidFill>
                  <ns128:srgbClr val="20262C"/>
                </ns128:solidFill>
                <ns128:latin typeface="Arial"/>
                <ns128:ea typeface="Arial"/>
                <ns128:cs typeface="Arial"/>
              </ns128:defRPr>
            </ns128:pPr>
            <ns128:r>
              <ns128:rPr sz="1100" b="0">
                <ns128:solidFill>
                  <ns128:srgbClr val="20262C"/>
                </ns128:solidFill>
                <ns128:latin typeface="Arial"/>
                <ns128:ea typeface="Arial"/>
                <ns128:cs typeface="Arial"/>
              </ns128:rPr>
              <ns128:t>Higher volume lifted</ns128:t>
            </ns128:r>
          </ns128:p>
          <ns129:p xmlns:ns129="http://schemas.openxmlformats.org/drawingml/2006/main">
            <ns129:pPr algn="l">
              <ns129:lnSpc>
                <ns129:spcPct val="100000"/>
              </ns129:lnSpc>
              <ns129:defRPr sz="1100" b="0">
                <ns129:solidFill>
                  <ns129:srgbClr val="20262C"/>
                </ns129:solidFill>
                <ns129:latin typeface="Arial"/>
                <ns129:ea typeface="Arial"/>
                <ns129:cs typeface="Arial"/>
              </ns129:defRPr>
            </ns129:pPr>
            <ns129:r>
              <ns129:rPr sz="1100" b="0">
                <ns129:solidFill>
                  <ns129:srgbClr val="20262C"/>
                </ns129:solidFill>
                <ns129:latin typeface="Arial"/>
                <ns129:ea typeface="Arial"/>
                <ns129:cs typeface="Arial"/>
              </ns129:rPr>
              <ns129:t>revenue.</ns129:t>
            </ns129:r>
          </ns129:p>
          <ns130:p xmlns:ns130="http://schemas.openxmlformats.org/drawingml/2006/main">
            <ns130:pPr algn="l">
              <ns130:lnSpc>
                <ns130:spcPct val="100000"/>
              </ns130:lnSpc>
              <ns130:defRPr sz="1100" b="0">
                <ns130:solidFill>
                  <ns130:srgbClr val="20262C"/>
                </ns130:solidFill>
                <ns130:latin typeface="Arial"/>
                <ns130:ea typeface="Arial"/>
                <ns130:cs typeface="Arial"/>
              </ns130:defRPr>
            </ns130:pPr>
            <ns130:r>
              <ns130:rPr sz="1100" b="0">
                <ns130:solidFill>
                  <ns130:srgbClr val="20262C"/>
                </ns130:solidFill>
                <ns130:latin typeface="Arial"/>
                <ns130:ea typeface="Arial"/>
                <ns130:cs typeface="Arial"/>
              </ns130:rPr>
              <ns130:t>Demand recovery can</ns130:t>
            </ns130:r>
          </ns130:p>
          <ns131:p xmlns:ns131="http://schemas.openxmlformats.org/drawingml/2006/main">
            <ns131:pPr algn="l">
              <ns131:lnSpc>
                <ns131:spcPct val="100000"/>
              </ns131:lnSpc>
              <ns131:defRPr sz="1100" b="0">
                <ns131:solidFill>
                  <ns131:srgbClr val="20262C"/>
                </ns131:solidFill>
                <ns131:latin typeface="Arial"/>
                <ns131:ea typeface="Arial"/>
                <ns131:cs typeface="Arial"/>
              </ns131:defRPr>
            </ns131:pPr>
            <ns131:r>
              <ns131:rPr sz="1100" b="0">
                <ns131:solidFill>
                  <ns131:srgbClr val="20262C"/>
                </ns131:solidFill>
                <ns131:latin typeface="Arial"/>
                <ns131:ea typeface="Arial"/>
                <ns131:cs typeface="Arial"/>
              </ns131:rPr>
              <ns131:t>sustain growth.</ns131:t>
            </ns131:r>
          </ns131:p>
        </p:txBody>
      </p:sp>
      <p:sp>
        <p:nvSpPr>
          <p:cNvPr id="122" name="source.report.b.paper"/>
          <p:cNvSpPr/>
          <p:nvPr/>
        </p:nvSpPr>
        <p:spPr>
          <ns132:xfrm xmlns:ns132="http://schemas.openxmlformats.org/drawingml/2006/main">
            <ns132:off x="2422800" y="2934000"/>
            <ns132:ext cx="1620000" cy="1098000"/>
          </ns132:xfrm>
          <ns133:prstGeom xmlns:ns133="http://schemas.openxmlformats.org/drawingml/2006/main" prst="foldedCorner">
            <ns133:avLst/>
          </ns133:prstGeom>
          <ns134:solidFill xmlns:ns134="http://schemas.openxmlformats.org/drawingml/2006/main">
            <ns134:srgbClr val="FFFFFF"/>
          </ns134:solidFill>
          <ns135:ln xmlns:ns135="http://schemas.openxmlformats.org/drawingml/2006/main" w="9525">
            <ns135:solidFill>
              <ns135:srgbClr val="317F7B"/>
            </ns135:solidFill>
          </ns135:ln>
        </p:spPr>
      </p:sp>
      <p:sp>
        <p:nvSpPr>
          <p:cNvPr id="123" name="source.report.b.title"/>
          <p:cNvSpPr/>
          <p:nvPr/>
        </p:nvSpPr>
        <p:spPr>
          <ns136:xfrm xmlns:ns136="http://schemas.openxmlformats.org/drawingml/2006/main">
            <ns136:off x="2487600" y="2977200"/>
            <ns136:ext cx="1422000" cy="1980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5000"/>
              </ns142:lnSpc>
              <ns142:defRPr sz="1250" b="1">
                <ns142:solidFill>
                  <ns142:srgbClr val="317F7B"/>
                </ns142:solidFill>
                <ns142:latin typeface="Arial"/>
                <ns142:ea typeface="Arial"/>
                <ns142:cs typeface="Arial"/>
              </ns142:defRPr>
            </ns142:pPr>
            <ns142:r>
              <ns142:rPr sz="1250" b="1">
                <ns142:solidFill>
                  <ns142:srgbClr val="317F7B"/>
                </ns142:solidFill>
                <ns142:latin typeface="Arial"/>
                <ns142:ea typeface="Arial"/>
                <ns142:cs typeface="Arial"/>
              </ns142:rPr>
              <ns142:t>Report B</ns142:t>
            </ns142:r>
          </ns142:p>
        </p:txBody>
      </p:sp>
      <p:sp>
        <p:nvSpPr>
          <p:cNvPr id="124" name="source.report.b.content"/>
          <p:cNvSpPr/>
          <p:nvPr/>
        </p:nvSpPr>
        <p:spPr>
          <ns143:xfrm xmlns:ns143="http://schemas.openxmlformats.org/drawingml/2006/main">
            <ns143:off x="2487600" y="3193200"/>
            <ns143:ext cx="1490400" cy="7884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0000"/>
              </ns149:lnSpc>
              <ns149:defRPr sz="1100" b="0">
                <ns149:solidFill>
                  <ns149:srgbClr val="20262C"/>
                </ns149:solidFill>
                <ns149:latin typeface="Arial"/>
                <ns149:ea typeface="Arial"/>
                <ns149:cs typeface="Arial"/>
              </ns149:defRPr>
            </ns149:pPr>
            <ns149:r>
              <ns149:rPr sz="1100" b="0">
                <ns149:solidFill>
                  <ns149:srgbClr val="20262C"/>
                </ns149:solidFill>
                <ns149:latin typeface="Arial"/>
                <ns149:ea typeface="Arial"/>
                <ns149:cs typeface="Arial"/>
              </ns149:rPr>
              <ns149:t>Restocking lifted</ns149:t>
            </ns149:r>
          </ns149:p>
          <ns150:p xmlns:ns150="http://schemas.openxmlformats.org/drawingml/2006/main">
            <ns150:pPr algn="l">
              <ns150:lnSpc>
                <ns150:spcPct val="100000"/>
              </ns150:lnSpc>
              <ns150:defRPr sz="1100" b="0">
                <ns150:solidFill>
                  <ns150:srgbClr val="20262C"/>
                </ns150:solidFill>
                <ns150:latin typeface="Arial"/>
                <ns150:ea typeface="Arial"/>
                <ns150:cs typeface="Arial"/>
              </ns150:defRPr>
            </ns150:pPr>
            <ns150:r>
              <ns150:rPr sz="1100" b="0">
                <ns150:solidFill>
                  <ns150:srgbClr val="20262C"/>
                </ns150:solidFill>
                <ns150:latin typeface="Arial"/>
                <ns150:ea typeface="Arial"/>
                <ns150:cs typeface="Arial"/>
              </ns150:rPr>
              <ns150:t>shipments.</ns150:t>
            </ns150:r>
          </ns150:p>
          <ns151:p xmlns:ns151="http://schemas.openxmlformats.org/drawingml/2006/main">
            <ns151:pPr algn="l">
              <ns151:lnSpc>
                <ns151:spcPct val="100000"/>
              </ns151:lnSpc>
              <ns151:defRPr sz="1100" b="0">
                <ns151:solidFill>
                  <ns151:srgbClr val="20262C"/>
                </ns151:solidFill>
                <ns151:latin typeface="Arial"/>
                <ns151:ea typeface="Arial"/>
                <ns151:cs typeface="Arial"/>
              </ns151:defRPr>
            </ns151:pPr>
            <ns151:r>
              <ns151:rPr sz="1100" b="0">
                <ns151:solidFill>
                  <ns151:srgbClr val="20262C"/>
                </ns151:solidFill>
                <ns151:latin typeface="Arial"/>
                <ns151:ea typeface="Arial"/>
                <ns151:cs typeface="Arial"/>
              </ns151:rPr>
              <ns151:t>Continued restocking</ns151:t>
            </ns151:r>
          </ns151:p>
          <ns152:p xmlns:ns152="http://schemas.openxmlformats.org/drawingml/2006/main">
            <ns152:pPr algn="l">
              <ns152:lnSpc>
                <ns152:spcPct val="100000"/>
              </ns152:lnSpc>
              <ns152:defRPr sz="1100" b="0">
                <ns152:solidFill>
                  <ns152:srgbClr val="20262C"/>
                </ns152:solidFill>
                <ns152:latin typeface="Arial"/>
                <ns152:ea typeface="Arial"/>
                <ns152:cs typeface="Arial"/>
              </ns152:defRPr>
            </ns152:pPr>
            <ns152:r>
              <ns152:rPr sz="1100" b="0">
                <ns152:solidFill>
                  <ns152:srgbClr val="20262C"/>
                </ns152:solidFill>
                <ns152:latin typeface="Arial"/>
                <ns152:ea typeface="Arial"/>
                <ns152:cs typeface="Arial"/>
              </ns152:rPr>
              <ns152:t>remains uncertain.</ns152:t>
            </ns152:r>
          </ns152:p>
        </p:txBody>
      </p:sp>
      <p:sp>
        <p:nvSpPr>
          <p:cNvPr id="125" name="role.llm.compare"/>
          <p:cNvSpPr/>
          <p:nvPr/>
        </p:nvSpPr>
        <p:spPr>
          <ns153:xfrm xmlns:ns153="http://schemas.openxmlformats.org/drawingml/2006/main">
            <ns153:off x="4392000" y="2304000"/>
            <ns153:ext cx="1458000" cy="792000"/>
          </ns153:xfrm>
          <ns154:prstGeom xmlns:ns154="http://schemas.openxmlformats.org/drawingml/2006/main" prst="roundRect">
            <ns154:avLst/>
          </ns154:prstGeom>
          <ns155:solidFill xmlns:ns155="http://schemas.openxmlformats.org/drawingml/2006/main">
            <ns155:srgbClr val="EAF3FA"/>
          </ns155:solidFill>
          <ns156:ln xmlns:ns156="http://schemas.openxmlformats.org/drawingml/2006/main" w="9525">
            <ns156:solidFill>
              <ns156:srgbClr val="005A9C"/>
            </ns156:solidFill>
          </ns156:ln>
        </p:spPr>
        <p:txBody>
          <ns157:bodyPr xmlns:ns157="http://schemas.openxmlformats.org/drawingml/2006/main" wrap="square" lIns="61200" rIns="61200" tIns="61200" bIns="61200" anchor="ctr">
            <ns157:noAutofit/>
          </ns157:bodyPr>
          <ns158:lstStyle xmlns:ns158="http://schemas.openxmlformats.org/drawingml/2006/main"/>
          <ns159:p xmlns:ns159="http://schemas.openxmlformats.org/drawingml/2006/main">
            <ns159:pPr algn="l">
              <ns159:lnSpc>
                <ns159:spcPct val="105000"/>
              </ns159:lnSpc>
              <ns159:defRPr sz="1300" b="1">
                <ns159:solidFill>
                  <ns159:srgbClr val="005A9C"/>
                </ns159:solidFill>
                <ns159:latin typeface="Arial"/>
                <ns159:ea typeface="Arial"/>
                <ns159:cs typeface="Arial"/>
              </ns159:defRPr>
            </ns159:pPr>
            <ns159:r>
              <ns159:rPr sz="1300" b="1">
                <ns159:solidFill>
                  <ns159:srgbClr val="005A9C"/>
                </ns159:solidFill>
                <ns159:latin typeface="Arial"/>
                <ns159:ea typeface="Arial"/>
                <ns159:cs typeface="Arial"/>
              </ns159:rPr>
              <ns159:t>LLM compares views</ns159:t>
            </ns159:r>
          </ns159:p>
          <ns160:p xmlns:ns160="http://schemas.openxmlformats.org/drawingml/2006/main">
            <ns160:pPr algn="l">
              <ns160:lnSpc>
                <ns160:spcPct val="105000"/>
              </ns160:lnSpc>
              <ns160:defRPr sz="1150" b="0">
                <ns160:solidFill>
                  <ns160:srgbClr val="20262C"/>
                </ns160:solidFill>
                <ns160:latin typeface="Arial"/>
                <ns160:ea typeface="Arial"/>
                <ns160:cs typeface="Arial"/>
              </ns160:defRPr>
            </ns160:pPr>
            <ns160:r>
              <ns160:rPr sz="1150" b="0">
                <ns160:solidFill>
                  <ns160:srgbClr val="20262C"/>
                </ns160:solidFill>
                <ns160:latin typeface="Arial"/>
                <ns160:ea typeface="Arial"/>
                <ns160:cs typeface="Arial"/>
              </ns160:rPr>
              <ns160:t>Find agreement</ns160:t>
            </ns160:r>
          </ns160:p>
          <ns161:p xmlns:ns161="http://schemas.openxmlformats.org/drawingml/2006/main">
            <ns161:pPr algn="l">
              <ns161:lnSpc>
                <ns161:spcPct val="105000"/>
              </ns161:lnSpc>
              <ns161:defRPr sz="1150" b="0">
                <ns161:solidFill>
                  <ns161:srgbClr val="20262C"/>
                </ns161:solidFill>
                <ns161:latin typeface="Arial"/>
                <ns161:ea typeface="Arial"/>
                <ns161:cs typeface="Arial"/>
              </ns161:defRPr>
            </ns161:pPr>
            <ns161:r>
              <ns161:rPr sz="1150" b="0">
                <ns161:solidFill>
                  <ns161:srgbClr val="20262C"/>
                </ns161:solidFill>
                <ns161:latin typeface="Arial"/>
                <ns161:ea typeface="Arial"/>
                <ns161:cs typeface="Arial"/>
              </ns161:rPr>
              <ns161:t>Identify difference</ns161:t>
            </ns161:r>
          </ns161:p>
        </p:txBody>
      </p:sp>
      <p:cxnSp>
        <p:nvCxnSpPr>
          <p:cNvPr id="126" name="reports.to.comparison.source.0"/>
          <p:cNvCxnSpPr/>
          <p:nvPr/>
        </p:nvCxnSpPr>
        <p:spPr>
          <ns162:xfrm xmlns:ns162="http://schemas.openxmlformats.org/drawingml/2006/main">
            <ns162:off x="4042800" y="2079000"/>
            <ns162:ext cx="151200" cy="1"/>
          </ns162:xfrm>
          <ns163:prstGeom xmlns:ns163="http://schemas.openxmlformats.org/drawingml/2006/main" prst="line">
            <ns163:avLst/>
          </ns163:prstGeom>
          <ns164:ln xmlns:ns164="http://schemas.openxmlformats.org/drawingml/2006/main" w="9525">
            <ns164:solidFill>
              <ns164:srgbClr val="317F7B"/>
            </ns164:solidFill>
          </ns164:ln>
        </p:spPr>
      </p:cxnSp>
      <p:cxnSp>
        <p:nvCxnSpPr>
          <p:cNvPr id="127" name="reports.to.comparison.source.1"/>
          <p:cNvCxnSpPr/>
          <p:nvPr/>
        </p:nvCxnSpPr>
        <p:spPr>
          <ns165:xfrm xmlns:ns165="http://schemas.openxmlformats.org/drawingml/2006/main">
            <ns165:off x="4042800" y="3483000"/>
            <ns165:ext cx="151200" cy="1"/>
          </ns165:xfrm>
          <ns166:prstGeom xmlns:ns166="http://schemas.openxmlformats.org/drawingml/2006/main" prst="line">
            <ns166:avLst/>
          </ns166:prstGeom>
          <ns167:ln xmlns:ns167="http://schemas.openxmlformats.org/drawingml/2006/main" w="9525">
            <ns167:solidFill>
              <ns167:srgbClr val="317F7B"/>
            </ns167:solidFill>
          </ns167:ln>
        </p:spPr>
      </p:cxnSp>
      <p:cxnSp>
        <p:nvCxnSpPr>
          <p:cNvPr id="128" name="reports.to.comparison.bus"/>
          <p:cNvCxnSpPr/>
          <p:nvPr/>
        </p:nvCxnSpPr>
        <p:spPr>
          <ns168:xfrm xmlns:ns168="http://schemas.openxmlformats.org/drawingml/2006/main">
            <ns168:off x="4194000" y="2079000"/>
            <ns168:ext cx="1" cy="1404000"/>
          </ns168:xfrm>
          <ns169:prstGeom xmlns:ns169="http://schemas.openxmlformats.org/drawingml/2006/main" prst="line">
            <ns169:avLst/>
          </ns169:prstGeom>
          <ns170:ln xmlns:ns170="http://schemas.openxmlformats.org/drawingml/2006/main" w="9525">
            <ns170:solidFill>
              <ns170:srgbClr val="317F7B"/>
            </ns170:solidFill>
          </ns170:ln>
        </p:spPr>
      </p:cxnSp>
      <p:cxnSp>
        <p:nvCxnSpPr>
          <p:cNvPr id="129" name="reports.to.comparison.target"/>
          <p:cNvCxnSpPr/>
          <p:nvPr/>
        </p:nvCxnSpPr>
        <p:spPr>
          <ns171:xfrm xmlns:ns171="http://schemas.openxmlformats.org/drawingml/2006/main">
            <ns171:off x="4194000" y="2700000"/>
            <ns171:ext cx="198000" cy="1"/>
          </ns171:xfrm>
          <ns172:prstGeom xmlns:ns172="http://schemas.openxmlformats.org/drawingml/2006/main" prst="line">
            <ns172:avLst/>
          </ns172:prstGeom>
          <ns173:ln xmlns:ns173="http://schemas.openxmlformats.org/drawingml/2006/main" w="11430">
            <ns173:solidFill>
              <ns173:srgbClr val="317F7B"/>
            </ns173:solidFill>
            <ns173:tailEnd type="triangle" w="sm" len="sm"/>
          </ns173:ln>
        </p:spPr>
      </p:cxnSp>
      <p:sp>
        <p:nvSpPr>
          <p:cNvPr id="130" name="output.shared.finding"/>
          <p:cNvSpPr/>
          <p:nvPr/>
        </p:nvSpPr>
        <p:spPr>
          <ns174:xfrm xmlns:ns174="http://schemas.openxmlformats.org/drawingml/2006/main">
            <ns174:off x="6127200" y="1710000"/>
            <ns174:ext cx="2559600" cy="738000"/>
          </ns174:xfrm>
          <ns175:prstGeom xmlns:ns175="http://schemas.openxmlformats.org/drawingml/2006/main" prst="rect">
            <ns175:avLst/>
          </ns175:prstGeom>
          <ns176:solidFill xmlns:ns176="http://schemas.openxmlformats.org/drawingml/2006/main">
            <ns176:srgbClr val="EFF6F4"/>
          </ns176:solidFill>
          <ns177:ln xmlns:ns177="http://schemas.openxmlformats.org/drawingml/2006/main" w="9525">
            <ns177:solidFill>
              <ns177:srgbClr val="317F7B"/>
            </ns177:solidFill>
          </ns177:ln>
        </p:spPr>
        <p:txBody>
          <ns178:bodyPr xmlns:ns178="http://schemas.openxmlformats.org/drawingml/2006/main" wrap="square" lIns="61200" rIns="61200" tIns="61200" bIns="61200" anchor="ctr">
            <ns178:noAutofit/>
          </ns178:bodyPr>
          <ns179:lstStyle xmlns:ns179="http://schemas.openxmlformats.org/drawingml/2006/main"/>
          <ns180:p xmlns:ns180="http://schemas.openxmlformats.org/drawingml/2006/main">
            <ns180:pPr algn="l">
              <ns180:lnSpc>
                <ns180:spcPct val="105000"/>
              </ns180:lnSpc>
              <ns180:defRPr sz="1300" b="1">
                <ns180:solidFill>
                  <ns180:srgbClr val="317F7B"/>
                </ns180:solidFill>
                <ns180:latin typeface="Arial"/>
                <ns180:ea typeface="Arial"/>
                <ns180:cs typeface="Arial"/>
              </ns180:defRPr>
            </ns180:pPr>
            <ns180:r>
              <ns180:rPr sz="1300" b="1">
                <ns180:solidFill>
                  <ns180:srgbClr val="317F7B"/>
                </ns180:solidFill>
                <ns180:latin typeface="Arial"/>
                <ns180:ea typeface="Arial"/>
                <ns180:cs typeface="Arial"/>
              </ns180:rPr>
              <ns180:t>Shared finding</ns180:t>
            </ns180:r>
          </ns180:p>
          <ns181:p xmlns:ns181="http://schemas.openxmlformats.org/drawingml/2006/main">
            <ns181:pPr algn="l">
              <ns181:lnSpc>
                <ns181:spcPct val="105000"/>
              </ns181:lnSpc>
              <ns181:defRPr sz="1200" b="0">
                <ns181:solidFill>
                  <ns181:srgbClr val="20262C"/>
                </ns181:solidFill>
                <ns181:latin typeface="Arial"/>
                <ns181:ea typeface="Arial"/>
                <ns181:cs typeface="Arial"/>
              </ns181:defRPr>
            </ns181:pPr>
            <ns181:r>
              <ns181:rPr sz="1200" b="0">
                <ns181:solidFill>
                  <ns181:srgbClr val="20262C"/>
                </ns181:solidFill>
                <ns181:latin typeface="Arial"/>
                <ns181:ea typeface="Arial"/>
                <ns181:cs typeface="Arial"/>
              </ns181:rPr>
              <ns181:t>Higher volumes</ns181:t>
            </ns181:r>
          </ns181:p>
          <ns182:p xmlns:ns182="http://schemas.openxmlformats.org/drawingml/2006/main">
            <ns182:pPr algn="l">
              <ns182:lnSpc>
                <ns182:spcPct val="105000"/>
              </ns182:lnSpc>
              <ns182:defRPr sz="1200" b="0">
                <ns182:solidFill>
                  <ns182:srgbClr val="20262C"/>
                </ns182:solidFill>
                <ns182:latin typeface="Arial"/>
                <ns182:ea typeface="Arial"/>
                <ns182:cs typeface="Arial"/>
              </ns182:defRPr>
            </ns182:pPr>
            <ns182:r>
              <ns182:rPr sz="1200" b="0">
                <ns182:solidFill>
                  <ns182:srgbClr val="20262C"/>
                </ns182:solidFill>
                <ns182:latin typeface="Arial"/>
                <ns182:ea typeface="Arial"/>
                <ns182:cs typeface="Arial"/>
              </ns182:rPr>
              <ns182:t>supported revenue</ns182:t>
            </ns182:r>
          </ns182:p>
        </p:txBody>
      </p:sp>
      <p:sp>
        <p:nvSpPr>
          <p:cNvPr id="131" name="output.open.question"/>
          <p:cNvSpPr/>
          <p:nvPr/>
        </p:nvSpPr>
        <p:spPr>
          <ns183:xfrm xmlns:ns183="http://schemas.openxmlformats.org/drawingml/2006/main">
            <ns183:off x="6127200" y="2898000"/>
            <ns183:ext cx="2559600" cy="738000"/>
          </ns183:xfrm>
          <ns184:prstGeom xmlns:ns184="http://schemas.openxmlformats.org/drawingml/2006/main" prst="rect">
            <ns184:avLst/>
          </ns184:prstGeom>
          <ns185:solidFill xmlns:ns185="http://schemas.openxmlformats.org/drawingml/2006/main">
            <ns185:srgbClr val="EFF6F4"/>
          </ns185:solidFill>
          <ns186:ln xmlns:ns186="http://schemas.openxmlformats.org/drawingml/2006/main" w="9525">
            <ns186:solidFill>
              <ns186:srgbClr val="317F7B"/>
            </ns186:solidFill>
          </ns186:ln>
        </p:spPr>
        <p:txBody>
          <ns187:bodyPr xmlns:ns187="http://schemas.openxmlformats.org/drawingml/2006/main" wrap="square" lIns="61200" rIns="61200" tIns="61200" bIns="61200" anchor="ctr">
            <ns187:noAutofit/>
          </ns187:bodyPr>
          <ns188:lstStyle xmlns:ns188="http://schemas.openxmlformats.org/drawingml/2006/main"/>
          <ns189:p xmlns:ns189="http://schemas.openxmlformats.org/drawingml/2006/main">
            <ns189:pPr algn="l">
              <ns189:lnSpc>
                <ns189:spcPct val="105000"/>
              </ns189:lnSpc>
              <ns189:defRPr sz="1300" b="1">
                <ns189:solidFill>
                  <ns189:srgbClr val="317F7B"/>
                </ns189:solidFill>
                <ns189:latin typeface="Arial"/>
                <ns189:ea typeface="Arial"/>
                <ns189:cs typeface="Arial"/>
              </ns189:defRPr>
            </ns189:pPr>
            <ns189:r>
              <ns189:rPr sz="1300" b="1">
                <ns189:solidFill>
                  <ns189:srgbClr val="317F7B"/>
                </ns189:solidFill>
                <ns189:latin typeface="Arial"/>
                <ns189:ea typeface="Arial"/>
                <ns189:cs typeface="Arial"/>
              </ns189:rPr>
              <ns189:t>Open question</ns189:t>
            </ns189:r>
          </ns189:p>
          <ns190:p xmlns:ns190="http://schemas.openxmlformats.org/drawingml/2006/main">
            <ns190:pPr algn="l">
              <ns190:lnSpc>
                <ns190:spcPct val="105000"/>
              </ns190:lnSpc>
              <ns190:defRPr sz="1200" b="0">
                <ns190:solidFill>
                  <ns190:srgbClr val="20262C"/>
                </ns190:solidFill>
                <ns190:latin typeface="Arial"/>
                <ns190:ea typeface="Arial"/>
                <ns190:cs typeface="Arial"/>
              </ns190:defRPr>
            </ns190:pPr>
            <ns190:r>
              <ns190:rPr sz="1200" b="0">
                <ns190:solidFill>
                  <ns190:srgbClr val="20262C"/>
                </ns190:solidFill>
                <ns190:latin typeface="Arial"/>
                <ns190:ea typeface="Arial"/>
                <ns190:cs typeface="Arial"/>
              </ns190:rPr>
              <ns190:t>Is volume growth</ns190:t>
            </ns190:r>
          </ns190:p>
          <ns191:p xmlns:ns191="http://schemas.openxmlformats.org/drawingml/2006/main">
            <ns191:pPr algn="l">
              <ns191:lnSpc>
                <ns191:spcPct val="105000"/>
              </ns191:lnSpc>
              <ns191:defRPr sz="1200" b="0">
                <ns191:solidFill>
                  <ns191:srgbClr val="20262C"/>
                </ns191:solidFill>
                <ns191:latin typeface="Arial"/>
                <ns191:ea typeface="Arial"/>
                <ns191:cs typeface="Arial"/>
              </ns191:defRPr>
            </ns191:pPr>
            <ns191:r>
              <ns191:rPr sz="1200" b="0">
                <ns191:solidFill>
                  <ns191:srgbClr val="20262C"/>
                </ns191:solidFill>
                <ns191:latin typeface="Arial"/>
                <ns191:ea typeface="Arial"/>
                <ns191:cs typeface="Arial"/>
              </ns191:rPr>
              <ns191:t>sustainable?</ns191:t>
            </ns191:r>
          </ns191:p>
        </p:txBody>
      </p:sp>
      <p:cxnSp>
        <p:nvCxnSpPr>
          <p:cNvPr id="132" name="comparison.findings.entry"/>
          <p:cNvCxnSpPr/>
          <p:nvPr/>
        </p:nvCxnSpPr>
        <p:spPr>
          <ns192:xfrm xmlns:ns192="http://schemas.openxmlformats.org/drawingml/2006/main">
            <ns192:off x="5850000" y="2700000"/>
            <ns192:ext cx="144000" cy="1"/>
          </ns192:xfrm>
          <ns193:prstGeom xmlns:ns193="http://schemas.openxmlformats.org/drawingml/2006/main" prst="line">
            <ns193:avLst/>
          </ns193:prstGeom>
          <ns194:ln xmlns:ns194="http://schemas.openxmlformats.org/drawingml/2006/main" w="11430">
            <ns194:solidFill>
              <ns194:srgbClr val="005A9C"/>
            </ns194:solidFill>
          </ns194:ln>
        </p:spPr>
      </p:cxnSp>
      <p:cxnSp>
        <p:nvCxnSpPr>
          <p:cNvPr id="133" name="comparison.findings.bus"/>
          <p:cNvCxnSpPr/>
          <p:nvPr/>
        </p:nvCxnSpPr>
        <p:spPr>
          <ns195:xfrm xmlns:ns195="http://schemas.openxmlformats.org/drawingml/2006/main">
            <ns195:off x="5994000" y="2079000"/>
            <ns195:ext cx="1" cy="1188000"/>
          </ns195:xfrm>
          <ns196:prstGeom xmlns:ns196="http://schemas.openxmlformats.org/drawingml/2006/main" prst="line">
            <ns196:avLst/>
          </ns196:prstGeom>
          <ns197:ln xmlns:ns197="http://schemas.openxmlformats.org/drawingml/2006/main" w="11430">
            <ns197:solidFill>
              <ns197:srgbClr val="005A9C"/>
            </ns197:solidFill>
          </ns197:ln>
        </p:spPr>
      </p:cxnSp>
      <p:cxnSp>
        <p:nvCxnSpPr>
          <p:cNvPr id="134" name="comparison.shared"/>
          <p:cNvCxnSpPr/>
          <p:nvPr/>
        </p:nvCxnSpPr>
        <p:spPr>
          <ns198:xfrm xmlns:ns198="http://schemas.openxmlformats.org/drawingml/2006/main">
            <ns198:off x="5994000" y="2079000"/>
            <ns198:ext cx="97200" cy="1"/>
          </ns198:xfrm>
          <ns199:prstGeom xmlns:ns199="http://schemas.openxmlformats.org/drawingml/2006/main" prst="line">
            <ns199:avLst/>
          </ns199:prstGeom>
          <ns200:ln xmlns:ns200="http://schemas.openxmlformats.org/drawingml/2006/main" w="11430">
            <ns200:solidFill>
              <ns200:srgbClr val="005A9C"/>
            </ns200:solidFill>
            <ns200:tailEnd type="triangle" w="sm" len="sm"/>
          </ns200:ln>
        </p:spPr>
      </p:cxnSp>
      <p:cxnSp>
        <p:nvCxnSpPr>
          <p:cNvPr id="135" name="comparison.open"/>
          <p:cNvCxnSpPr/>
          <p:nvPr/>
        </p:nvCxnSpPr>
        <p:spPr>
          <ns201:xfrm xmlns:ns201="http://schemas.openxmlformats.org/drawingml/2006/main">
            <ns201:off x="5994000" y="3267000"/>
            <ns201:ext cx="97200" cy="1"/>
          </ns201:xfrm>
          <ns202:prstGeom xmlns:ns202="http://schemas.openxmlformats.org/drawingml/2006/main" prst="line">
            <ns202:avLst/>
          </ns202:prstGeom>
          <ns203:ln xmlns:ns203="http://schemas.openxmlformats.org/drawingml/2006/main" w="11430">
            <ns203:solidFill>
              <ns203:srgbClr val="005A9C"/>
            </ns203:solidFill>
            <ns203:tailEnd type="triangle" w="sm" len="sm"/>
          </ns203:ln>
        </p:spPr>
      </p:cxnSp>
      <p:sp>
        <p:nvSpPr>
          <p:cNvPr id="136" name="human.analyst.investigates"/>
          <p:cNvSpPr/>
          <p:nvPr/>
        </p:nvSpPr>
        <p:spPr>
          <ns204:xfrm xmlns:ns204="http://schemas.openxmlformats.org/drawingml/2006/main">
            <ns204:off x="6127200" y="4039200"/>
            <ns204:ext cx="2559600" cy="403200"/>
          </ns204:xfrm>
          <ns205:prstGeom xmlns:ns205="http://schemas.openxmlformats.org/drawingml/2006/main" prst="roundRect">
            <ns205:avLst/>
          </ns205:prstGeom>
          <ns206:solidFill xmlns:ns206="http://schemas.openxmlformats.org/drawingml/2006/main">
            <ns206:srgbClr val="F3F7FA"/>
          </ns206:solidFill>
          <ns207:ln xmlns:ns207="http://schemas.openxmlformats.org/drawingml/2006/main" w="9525">
            <ns207:solidFill>
              <ns207:srgbClr val="65727D"/>
            </ns207:solidFill>
          </ns207:ln>
        </p:spPr>
        <p:txBody>
          <ns208:bodyPr xmlns:ns208="http://schemas.openxmlformats.org/drawingml/2006/main" wrap="square" lIns="61200" rIns="61200" tIns="61200" bIns="61200" anchor="ctr">
            <ns208:noAutofit/>
          </ns208:bodyPr>
          <ns209:lstStyle xmlns:ns209="http://schemas.openxmlformats.org/drawingml/2006/main"/>
          <ns210:p xmlns:ns210="http://schemas.openxmlformats.org/drawingml/2006/main">
            <ns210:pPr algn="l">
              <ns210:lnSpc>
                <ns210:spcPct val="105000"/>
              </ns210:lnSpc>
              <ns210:defRPr sz="1300" b="1">
                <ns210:solidFill>
                  <ns210:srgbClr val="65727D"/>
                </ns210:solidFill>
                <ns210:latin typeface="Arial"/>
                <ns210:ea typeface="Arial"/>
                <ns210:cs typeface="Arial"/>
              </ns210:defRPr>
            </ns210:pPr>
            <ns210:r>
              <ns210:rPr sz="1300" b="1">
                <ns210:solidFill>
                  <ns210:srgbClr val="65727D"/>
                </ns210:solidFill>
                <ns210:latin typeface="Arial"/>
                <ns210:ea typeface="Arial"/>
                <ns210:cs typeface="Arial"/>
              </ns210:rPr>
              <ns210:t>Analyst investigates disagreement</ns210:t>
            </ns210:r>
          </ns210:p>
        </p:txBody>
      </p:sp>
      <p:cxnSp>
        <p:nvCxnSpPr>
          <p:cNvPr id="137" name="open.to.analyst"/>
          <p:cNvCxnSpPr/>
          <p:nvPr/>
        </p:nvCxnSpPr>
        <p:spPr>
          <ns211:xfrm xmlns:ns211="http://schemas.openxmlformats.org/drawingml/2006/main">
            <ns211:off x="7405200" y="3672000"/>
            <ns211:ext cx="1" cy="331200"/>
          </ns211:xfrm>
          <ns212:prstGeom xmlns:ns212="http://schemas.openxmlformats.org/drawingml/2006/main" prst="line">
            <ns212:avLst/>
          </ns212:prstGeom>
          <ns213:ln xmlns:ns213="http://schemas.openxmlformats.org/drawingml/2006/main" w="11430">
            <ns213:solidFill>
              <ns213:srgbClr val="005A9C"/>
            </ns213:solidFill>
            <ns213:tailEnd type="triangle" w="sm" len="sm"/>
          </ns213:ln>
        </p:spPr>
      </p:cxnSp>
      <p:cxnSp>
        <p:nvCxnSpPr>
          <p:cNvPr id="138" name="analyst.source.check.return.0"/>
          <p:cNvCxnSpPr/>
          <p:nvPr/>
        </p:nvCxnSpPr>
        <p:spPr>
          <ns214:xfrm xmlns:ns214="http://schemas.openxmlformats.org/drawingml/2006/main">
            <ns214:off x="7407000" y="4478400"/>
            <ns214:ext cx="1" cy="21600"/>
          </ns214:xfrm>
          <ns215:prstGeom xmlns:ns215="http://schemas.openxmlformats.org/drawingml/2006/main" prst="line">
            <ns215:avLst/>
          </ns215:prstGeom>
          <ns216:ln xmlns:ns216="http://schemas.openxmlformats.org/drawingml/2006/main" w="8890">
            <ns216:solidFill>
              <ns216:srgbClr val="65727D"/>
            </ns216:solidFill>
          </ns216:ln>
        </p:spPr>
      </p:cxnSp>
      <p:cxnSp>
        <p:nvCxnSpPr>
          <p:cNvPr id="139" name="analyst.source.check.return.1"/>
          <p:cNvCxnSpPr/>
          <p:nvPr/>
        </p:nvCxnSpPr>
        <p:spPr>
          <ns217:xfrm xmlns:ns217="http://schemas.openxmlformats.org/drawingml/2006/main" flipH="1">
            <ns217:off x="2332800" y="4500000"/>
            <ns217:ext cx="5074200" cy="1"/>
          </ns217:xfrm>
          <ns218:prstGeom xmlns:ns218="http://schemas.openxmlformats.org/drawingml/2006/main" prst="line">
            <ns218:avLst/>
          </ns218:prstGeom>
          <ns219:ln xmlns:ns219="http://schemas.openxmlformats.org/drawingml/2006/main" w="8890">
            <ns219:solidFill>
              <ns219:srgbClr val="65727D"/>
            </ns219:solidFill>
          </ns219:ln>
        </p:spPr>
      </p:cxnSp>
      <p:cxnSp>
        <p:nvCxnSpPr>
          <p:cNvPr id="140" name="analyst.source.check.return.2"/>
          <p:cNvCxnSpPr/>
          <p:nvPr/>
        </p:nvCxnSpPr>
        <p:spPr>
          <ns220:xfrm xmlns:ns220="http://schemas.openxmlformats.org/drawingml/2006/main" flipV="1">
            <ns220:off x="2332800" y="2079000"/>
            <ns220:ext cx="1" cy="2421000"/>
          </ns220:xfrm>
          <ns221:prstGeom xmlns:ns221="http://schemas.openxmlformats.org/drawingml/2006/main" prst="line">
            <ns221:avLst/>
          </ns221:prstGeom>
          <ns222:ln xmlns:ns222="http://schemas.openxmlformats.org/drawingml/2006/main" w="8890">
            <ns222:solidFill>
              <ns222:srgbClr val="65727D"/>
            </ns222:solidFill>
          </ns222:ln>
        </p:spPr>
      </p:cxnSp>
      <p:cxnSp>
        <p:nvCxnSpPr>
          <p:cNvPr id="141" name="analyst.check.report.a"/>
          <p:cNvCxnSpPr/>
          <p:nvPr/>
        </p:nvCxnSpPr>
        <p:spPr>
          <ns223:xfrm xmlns:ns223="http://schemas.openxmlformats.org/drawingml/2006/main">
            <ns223:off x="2332800" y="2079000"/>
            <ns223:ext cx="54000" cy="1"/>
          </ns223:xfrm>
          <ns224:prstGeom xmlns:ns224="http://schemas.openxmlformats.org/drawingml/2006/main" prst="line">
            <ns224:avLst/>
          </ns224:prstGeom>
          <ns225:ln xmlns:ns225="http://schemas.openxmlformats.org/drawingml/2006/main" w="8890">
            <ns225:solidFill>
              <ns225:srgbClr val="65727D"/>
            </ns225:solidFill>
            <ns225:tailEnd type="triangle" w="sm" len="sm"/>
          </ns225:ln>
        </p:spPr>
      </p:cxnSp>
      <p:cxnSp>
        <p:nvCxnSpPr>
          <p:cNvPr id="142" name="analyst.check.report.b"/>
          <p:cNvCxnSpPr/>
          <p:nvPr/>
        </p:nvCxnSpPr>
        <p:spPr>
          <ns226:xfrm xmlns:ns226="http://schemas.openxmlformats.org/drawingml/2006/main">
            <ns226:off x="2332800" y="3483000"/>
            <ns226:ext cx="54000" cy="1"/>
          </ns226:xfrm>
          <ns227:prstGeom xmlns:ns227="http://schemas.openxmlformats.org/drawingml/2006/main" prst="line">
            <ns227:avLst/>
          </ns227:prstGeom>
          <ns228:ln xmlns:ns228="http://schemas.openxmlformats.org/drawingml/2006/main" w="8890">
            <ns228:solidFill>
              <ns228:srgbClr val="65727D"/>
            </ns228:solidFill>
            <ns228:tailEnd type="triangle" w="sm" len="sm"/>
          </ns228:ln>
        </p:spPr>
      </p:cxnSp>
      <p:sp>
        <p:nvSpPr>
          <p:cNvPr id="143" name="source.check.label"/>
          <p:cNvSpPr/>
          <p:nvPr/>
        </p:nvSpPr>
        <p:spPr>
          <ns229:xfrm xmlns:ns229="http://schemas.openxmlformats.org/drawingml/2006/main">
            <ns229:off x="4374000" y="4320000"/>
            <ns229:ext cx="1620000" cy="162000"/>
          </ns229:xfrm>
          <ns230:prstGeom xmlns:ns230="http://schemas.openxmlformats.org/drawingml/2006/main" prst="rect">
            <ns230:avLst/>
          </ns230:prstGeom>
          <ns231:noFill xmlns:ns231="http://schemas.openxmlformats.org/drawingml/2006/main"/>
          <ns232:ln xmlns:ns232="http://schemas.openxmlformats.org/drawingml/2006/main" w="0">
            <ns232:noFill/>
          </ns232:ln>
        </p:spPr>
        <p:txBody>
          <ns233:bodyPr xmlns:ns233="http://schemas.openxmlformats.org/drawingml/2006/main" wrap="square" lIns="0" rIns="0" tIns="0" bIns="0" anchor="t">
            <ns233:noAutofit/>
          </ns233:bodyPr>
          <ns234:lstStyle xmlns:ns234="http://schemas.openxmlformats.org/drawingml/2006/main"/>
          <ns235:p xmlns:ns235="http://schemas.openxmlformats.org/drawingml/2006/main">
            <ns235:pPr algn="l">
              <ns235:lnSpc>
                <ns235:spcPct val="105000"/>
              </ns235:lnSpc>
              <ns235:defRPr sz="950" b="0">
                <ns235:solidFill>
                  <ns235:srgbClr val="65727D"/>
                </ns235:solidFill>
                <ns235:latin typeface="Arial"/>
                <ns235:ea typeface="Arial"/>
                <ns235:cs typeface="Arial"/>
              </ns235:defRPr>
            </ns235:pPr>
            <ns235:r>
              <ns235:rPr sz="950" b="0">
                <ns235:solidFill>
                  <ns235:srgbClr val="65727D"/>
                </ns235:solidFill>
                <ns235:latin typeface="Arial"/>
                <ns235:ea typeface="Arial"/>
                <ns235:cs typeface="Arial"/>
              </ns235:rPr>
              <ns235:t>Source check</ns235:t>
            </ns235:r>
          </ns235:p>
        </p:txBody>
      </p:sp>
    </p:spTree>
    <p:extLst>
      <p:ext uri="{BB962C8B-B14F-4D97-AF65-F5344CB8AC3E}">
        <p14:creationId xmlns:p14="http://schemas.microsoft.com/office/powerpoint/2010/main" val="702526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Zhong Ou: populating research templates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Investment research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Zhong Ou / Nanfang Plus and forum coverage</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107"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108"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source.template.0"/>
          <p:cNvSpPr/>
          <p:nvPr/>
        </p:nvSpPr>
        <p:spPr>
          <ns111:xfrm xmlns:ns111="http://schemas.openxmlformats.org/drawingml/2006/main">
            <ns111:off x="2422800" y="1584000"/>
            <ns111:ext cx="1440000" cy="594000"/>
          </ns111:xfrm>
          <ns112:prstGeom xmlns:ns112="http://schemas.openxmlformats.org/drawingml/2006/main" prst="rect">
            <ns112:avLst/>
          </ns112:prstGeom>
          <ns113:solidFill xmlns:ns113="http://schemas.openxmlformats.org/drawingml/2006/main">
            <ns113:srgbClr val="EFF6F4"/>
          </ns113:solidFill>
          <ns114:ln xmlns:ns114="http://schemas.openxmlformats.org/drawingml/2006/main" w="9525">
            <ns114:solidFill>
              <ns114:srgbClr val="317F7B"/>
            </ns114:solidFill>
          </ns114:ln>
        </p:spPr>
        <p:txBody>
          <ns115:bodyPr xmlns:ns115="http://schemas.openxmlformats.org/drawingml/2006/main" wrap="square" lIns="61200" rIns="61200" tIns="61200" bIns="61200" anchor="ctr">
            <ns115:noAutofit/>
          </ns115:bodyPr>
          <ns116:lstStyle xmlns:ns116="http://schemas.openxmlformats.org/drawingml/2006/main"/>
          <ns117:p xmlns:ns117="http://schemas.openxmlformats.org/drawingml/2006/main">
            <ns117:pPr algn="l">
              <ns117:lnSpc>
                <ns117:spcPct val="105000"/>
              </ns117:lnSpc>
              <ns117:defRPr sz="1300" b="1">
                <ns117:solidFill>
                  <ns117:srgbClr val="317F7B"/>
                </ns117:solidFill>
                <ns117:latin typeface="Arial"/>
                <ns117:ea typeface="Arial"/>
                <ns117:cs typeface="Arial"/>
              </ns117:defRPr>
            </ns117:pPr>
            <ns117:r>
              <ns117:rPr sz="1300" b="1">
                <ns117:solidFill>
                  <ns117:srgbClr val="317F7B"/>
                </ns117:solidFill>
                <ns117:latin typeface="Arial"/>
                <ns117:ea typeface="Arial"/>
                <ns117:cs typeface="Arial"/>
              </ns117:rPr>
              <ns117:t>Financials</ns117:t>
            </ns117:r>
          </ns117:p>
          <ns118:p xmlns:ns118="http://schemas.openxmlformats.org/drawingml/2006/main">
            <ns118:pPr algn="l">
              <ns118:lnSpc>
                <ns118:spcPct val="105000"/>
              </ns118:lnSpc>
              <ns118:defRPr sz="1050" b="0">
                <ns118:solidFill>
                  <ns118:srgbClr val="20262C"/>
                </ns118:solidFill>
                <ns118:latin typeface="Arial"/>
                <ns118:ea typeface="Arial"/>
                <ns118:cs typeface="Arial"/>
              </ns118:defRPr>
            </ns118:pPr>
            <ns118:r>
              <ns118:rPr sz="1050" b="0">
                <ns118:solidFill>
                  <ns118:srgbClr val="20262C"/>
                </ns118:solidFill>
                <ns118:latin typeface="Arial"/>
                <ns118:ea typeface="Arial"/>
                <ns118:cs typeface="Arial"/>
              </ns118:rPr>
              <ns118:t>Data / calculations</ns118:t>
            </ns118:r>
          </ns118:p>
        </p:txBody>
      </p:sp>
      <p:sp>
        <p:nvSpPr>
          <p:cNvPr id="120" name="source.template.1"/>
          <p:cNvSpPr/>
          <p:nvPr/>
        </p:nvSpPr>
        <p:spPr>
          <ns119:xfrm xmlns:ns119="http://schemas.openxmlformats.org/drawingml/2006/main">
            <ns119:off x="2422800" y="2358000"/>
            <ns119:ext cx="1440000" cy="594000"/>
          </ns119:xfrm>
          <ns120:prstGeom xmlns:ns120="http://schemas.openxmlformats.org/drawingml/2006/main" prst="rect">
            <ns120:avLst/>
          </ns120:prstGeom>
          <ns121:solidFill xmlns:ns121="http://schemas.openxmlformats.org/drawingml/2006/main">
            <ns121:srgbClr val="EFF6F4"/>
          </ns121:solidFill>
          <ns122:ln xmlns:ns122="http://schemas.openxmlformats.org/drawingml/2006/main" w="9525">
            <ns122:solidFill>
              <ns122:srgbClr val="317F7B"/>
            </ns122:solidFill>
          </ns122:ln>
        </p:spPr>
        <p:txBody>
          <ns123:bodyPr xmlns:ns123="http://schemas.openxmlformats.org/drawingml/2006/main" wrap="square" lIns="61200" rIns="61200" tIns="61200" bIns="61200" anchor="ctr">
            <ns123:noAutofit/>
          </ns123:bodyPr>
          <ns124:lstStyle xmlns:ns124="http://schemas.openxmlformats.org/drawingml/2006/main"/>
          <ns125:p xmlns:ns125="http://schemas.openxmlformats.org/drawingml/2006/main">
            <ns125:pPr algn="l">
              <ns125:lnSpc>
                <ns125:spcPct val="105000"/>
              </ns125:lnSpc>
              <ns125:defRPr sz="1300" b="1">
                <ns125:solidFill>
                  <ns125:srgbClr val="317F7B"/>
                </ns125:solidFill>
                <ns125:latin typeface="Arial"/>
                <ns125:ea typeface="Arial"/>
                <ns125:cs typeface="Arial"/>
              </ns125:defRPr>
            </ns125:pPr>
            <ns125:r>
              <ns125:rPr sz="1300" b="1">
                <ns125:solidFill>
                  <ns125:srgbClr val="317F7B"/>
                </ns125:solidFill>
                <ns125:latin typeface="Arial"/>
                <ns125:ea typeface="Arial"/>
                <ns125:cs typeface="Arial"/>
              </ns125:rPr>
              <ns125:t>Meeting notes</ns125:t>
            </ns125:r>
          </ns125:p>
          <ns126:p xmlns:ns126="http://schemas.openxmlformats.org/drawingml/2006/main">
            <ns126:pPr algn="l">
              <ns126:lnSpc>
                <ns126:spcPct val="105000"/>
              </ns126:lnSpc>
              <ns126:defRPr sz="1050" b="0">
                <ns126:solidFill>
                  <ns126:srgbClr val="20262C"/>
                </ns126:solidFill>
                <ns126:latin typeface="Arial"/>
                <ns126:ea typeface="Arial"/>
                <ns126:cs typeface="Arial"/>
              </ns126:defRPr>
            </ns126:pPr>
            <ns126:r>
              <ns126:rPr sz="1050" b="0">
                <ns126:solidFill>
                  <ns126:srgbClr val="20262C"/>
                </ns126:solidFill>
                <ns126:latin typeface="Arial"/>
                <ns126:ea typeface="Arial"/>
                <ns126:cs typeface="Arial"/>
              </ns126:rPr>
              <ns126:t>Restocking context</ns126:t>
            </ns126:r>
          </ns126:p>
        </p:txBody>
      </p:sp>
      <p:sp>
        <p:nvSpPr>
          <p:cNvPr id="121" name="source.template.2"/>
          <p:cNvSpPr/>
          <p:nvPr/>
        </p:nvSpPr>
        <p:spPr>
          <ns127:xfrm xmlns:ns127="http://schemas.openxmlformats.org/drawingml/2006/main">
            <ns127:off x="2422800" y="3132000"/>
            <ns127:ext cx="1440000" cy="594000"/>
          </ns127:xfrm>
          <ns128:prstGeom xmlns:ns128="http://schemas.openxmlformats.org/drawingml/2006/main" prst="rect">
            <ns128:avLst/>
          </ns128:prstGeom>
          <ns129:solidFill xmlns:ns129="http://schemas.openxmlformats.org/drawingml/2006/main">
            <ns129:srgbClr val="EFF6F4"/>
          </ns129:solidFill>
          <ns130:ln xmlns:ns130="http://schemas.openxmlformats.org/drawingml/2006/main" w="9525">
            <ns130:solidFill>
              <ns130:srgbClr val="317F7B"/>
            </ns130:solidFill>
          </ns130:ln>
        </p:spPr>
        <p:txBody>
          <ns131:bodyPr xmlns:ns131="http://schemas.openxmlformats.org/drawingml/2006/main" wrap="square" lIns="61200" rIns="61200" tIns="61200" bIns="61200" anchor="ctr">
            <ns131:noAutofit/>
          </ns131:bodyPr>
          <ns132:lstStyle xmlns:ns132="http://schemas.openxmlformats.org/drawingml/2006/main"/>
          <ns133:p xmlns:ns133="http://schemas.openxmlformats.org/drawingml/2006/main">
            <ns133:pPr algn="l">
              <ns133:lnSpc>
                <ns133:spcPct val="105000"/>
              </ns133:lnSpc>
              <ns133:defRPr sz="1300" b="1">
                <ns133:solidFill>
                  <ns133:srgbClr val="317F7B"/>
                </ns133:solidFill>
                <ns133:latin typeface="Arial"/>
                <ns133:ea typeface="Arial"/>
                <ns133:cs typeface="Arial"/>
              </ns133:defRPr>
            </ns133:pPr>
            <ns133:r>
              <ns133:rPr sz="1300" b="1">
                <ns133:solidFill>
                  <ns133:srgbClr val="317F7B"/>
                </ns133:solidFill>
                <ns133:latin typeface="Arial"/>
                <ns133:ea typeface="Arial"/>
                <ns133:cs typeface="Arial"/>
              </ns133:rPr>
              <ns133:t>Research reports</ns133:t>
            </ns133:r>
          </ns133:p>
          <ns134:p xmlns:ns134="http://schemas.openxmlformats.org/drawingml/2006/main">
            <ns134:pPr algn="l">
              <ns134:lnSpc>
                <ns134:spcPct val="105000"/>
              </ns134:lnSpc>
              <ns134:defRPr sz="1050" b="0">
                <ns134:solidFill>
                  <ns134:srgbClr val="20262C"/>
                </ns134:solidFill>
                <ns134:latin typeface="Arial"/>
                <ns134:ea typeface="Arial"/>
                <ns134:cs typeface="Arial"/>
              </ns134:defRPr>
            </ns134:pPr>
            <ns134:r>
              <ns134:rPr sz="1050" b="0">
                <ns134:solidFill>
                  <ns134:srgbClr val="20262C"/>
                </ns134:solidFill>
                <ns134:latin typeface="Arial"/>
                <ns134:ea typeface="Arial"/>
                <ns134:cs typeface="Arial"/>
              </ns134:rPr>
              <ns134:t>Continuation question</ns134:t>
            </ns134:r>
          </ns134:p>
        </p:txBody>
      </p:sp>
      <p:sp>
        <p:nvSpPr>
          <p:cNvPr id="122" name="role.llm.populate"/>
          <p:cNvSpPr/>
          <p:nvPr/>
        </p:nvSpPr>
        <p:spPr>
          <ns135:xfrm xmlns:ns135="http://schemas.openxmlformats.org/drawingml/2006/main">
            <ns135:off x="4114800" y="2358000"/>
            <ns135:ext cx="1440000" cy="738000"/>
          </ns135:xfrm>
          <ns136:prstGeom xmlns:ns136="http://schemas.openxmlformats.org/drawingml/2006/main" prst="roundRect">
            <ns136:avLst/>
          </ns136:prstGeom>
          <ns137:solidFill xmlns:ns137="http://schemas.openxmlformats.org/drawingml/2006/main">
            <ns137:srgbClr val="EAF3FA"/>
          </ns137:solidFill>
          <ns138:ln xmlns:ns138="http://schemas.openxmlformats.org/drawingml/2006/main" w="9525">
            <ns138:solidFill>
              <ns138:srgbClr val="005A9C"/>
            </ns138:solidFill>
          </ns138:ln>
        </p:spPr>
        <p:txBody>
          <ns139:bodyPr xmlns:ns139="http://schemas.openxmlformats.org/drawingml/2006/main" wrap="square" lIns="61200" rIns="61200" tIns="61200" bIns="61200" anchor="ctr">
            <ns139:noAutofit/>
          </ns139:bodyPr>
          <ns140:lstStyle xmlns:ns140="http://schemas.openxmlformats.org/drawingml/2006/main"/>
          <ns141:p xmlns:ns141="http://schemas.openxmlformats.org/drawingml/2006/main">
            <ns141:pPr algn="l">
              <ns141:lnSpc>
                <ns141:spcPct val="105000"/>
              </ns141:lnSpc>
              <ns141:defRPr sz="1300" b="1">
                <ns141:solidFill>
                  <ns141:srgbClr val="005A9C"/>
                </ns141:solidFill>
                <ns141:latin typeface="Arial"/>
                <ns141:ea typeface="Arial"/>
                <ns141:cs typeface="Arial"/>
              </ns141:defRPr>
            </ns141:pPr>
            <ns141:r>
              <ns141:rPr sz="1300" b="1">
                <ns141:solidFill>
                  <ns141:srgbClr val="005A9C"/>
                </ns141:solidFill>
                <ns141:latin typeface="Arial"/>
                <ns141:ea typeface="Arial"/>
                <ns141:cs typeface="Arial"/>
              </ns141:rPr>
              <ns141:t>LLM</ns141:t>
            </ns141:r>
          </ns141:p>
          <ns142:p xmlns:ns142="http://schemas.openxmlformats.org/drawingml/2006/main">
            <ns142:pPr algn="l">
              <ns142:lnSpc>
                <ns142:spcPct val="105000"/>
              </ns142:lnSpc>
              <ns142:defRPr sz="1200" b="0">
                <ns142:solidFill>
                  <ns142:srgbClr val="20262C"/>
                </ns142:solidFill>
                <ns142:latin typeface="Arial"/>
                <ns142:ea typeface="Arial"/>
                <ns142:cs typeface="Arial"/>
              </ns142:defRPr>
            </ns142:pPr>
            <ns142:r>
              <ns142:rPr sz="1200" b="0">
                <ns142:solidFill>
                  <ns142:srgbClr val="20262C"/>
                </ns142:solidFill>
                <ns142:latin typeface="Arial"/>
                <ns142:ea typeface="Arial"/>
                <ns142:cs typeface="Arial"/>
              </ns142:rPr>
              <ns142:t>Populate template</ns142:t>
            </ns142:r>
          </ns142:p>
        </p:txBody>
      </p:sp>
      <p:cxnSp>
        <p:nvCxnSpPr>
          <p:cNvPr id="123" name="template.sources.merge.source.0"/>
          <p:cNvCxnSpPr/>
          <p:nvPr/>
        </p:nvCxnSpPr>
        <p:spPr>
          <ns143:xfrm xmlns:ns143="http://schemas.openxmlformats.org/drawingml/2006/main">
            <ns143:off x="3862800" y="1881000"/>
            <ns143:ext cx="126000" cy="1"/>
          </ns143:xfrm>
          <ns144:prstGeom xmlns:ns144="http://schemas.openxmlformats.org/drawingml/2006/main" prst="line">
            <ns144:avLst/>
          </ns144:prstGeom>
          <ns145:ln xmlns:ns145="http://schemas.openxmlformats.org/drawingml/2006/main" w="9525">
            <ns145:solidFill>
              <ns145:srgbClr val="317F7B"/>
            </ns145:solidFill>
          </ns145:ln>
        </p:spPr>
      </p:cxnSp>
      <p:cxnSp>
        <p:nvCxnSpPr>
          <p:cNvPr id="124" name="template.sources.merge.source.1"/>
          <p:cNvCxnSpPr/>
          <p:nvPr/>
        </p:nvCxnSpPr>
        <p:spPr>
          <ns146:xfrm xmlns:ns146="http://schemas.openxmlformats.org/drawingml/2006/main">
            <ns146:off x="3862800" y="2655000"/>
            <ns146:ext cx="126000" cy="1"/>
          </ns146:xfrm>
          <ns147:prstGeom xmlns:ns147="http://schemas.openxmlformats.org/drawingml/2006/main" prst="line">
            <ns147:avLst/>
          </ns147:prstGeom>
          <ns148:ln xmlns:ns148="http://schemas.openxmlformats.org/drawingml/2006/main" w="9525">
            <ns148:solidFill>
              <ns148:srgbClr val="317F7B"/>
            </ns148:solidFill>
          </ns148:ln>
        </p:spPr>
      </p:cxnSp>
      <p:cxnSp>
        <p:nvCxnSpPr>
          <p:cNvPr id="125" name="template.sources.merge.source.2"/>
          <p:cNvCxnSpPr/>
          <p:nvPr/>
        </p:nvCxnSpPr>
        <p:spPr>
          <ns149:xfrm xmlns:ns149="http://schemas.openxmlformats.org/drawingml/2006/main">
            <ns149:off x="3862800" y="3429000"/>
            <ns149:ext cx="126000" cy="1"/>
          </ns149:xfrm>
          <ns150:prstGeom xmlns:ns150="http://schemas.openxmlformats.org/drawingml/2006/main" prst="line">
            <ns150:avLst/>
          </ns150:prstGeom>
          <ns151:ln xmlns:ns151="http://schemas.openxmlformats.org/drawingml/2006/main" w="9525">
            <ns151:solidFill>
              <ns151:srgbClr val="317F7B"/>
            </ns151:solidFill>
          </ns151:ln>
        </p:spPr>
      </p:cxnSp>
      <p:cxnSp>
        <p:nvCxnSpPr>
          <p:cNvPr id="126" name="template.sources.merge.bus"/>
          <p:cNvCxnSpPr/>
          <p:nvPr/>
        </p:nvCxnSpPr>
        <p:spPr>
          <ns152:xfrm xmlns:ns152="http://schemas.openxmlformats.org/drawingml/2006/main">
            <ns152:off x="3988800" y="1881000"/>
            <ns152:ext cx="1" cy="1548000"/>
          </ns152:xfrm>
          <ns153:prstGeom xmlns:ns153="http://schemas.openxmlformats.org/drawingml/2006/main" prst="line">
            <ns153:avLst/>
          </ns153:prstGeom>
          <ns154:ln xmlns:ns154="http://schemas.openxmlformats.org/drawingml/2006/main" w="9525">
            <ns154:solidFill>
              <ns154:srgbClr val="317F7B"/>
            </ns154:solidFill>
          </ns154:ln>
        </p:spPr>
      </p:cxnSp>
      <p:cxnSp>
        <p:nvCxnSpPr>
          <p:cNvPr id="127" name="template.sources.merge.target"/>
          <p:cNvCxnSpPr/>
          <p:nvPr/>
        </p:nvCxnSpPr>
        <p:spPr>
          <ns155:xfrm xmlns:ns155="http://schemas.openxmlformats.org/drawingml/2006/main">
            <ns155:off x="3988800" y="2727000"/>
            <ns155:ext cx="126000" cy="1"/>
          </ns155:xfrm>
          <ns156:prstGeom xmlns:ns156="http://schemas.openxmlformats.org/drawingml/2006/main" prst="line">
            <ns156:avLst/>
          </ns156:prstGeom>
          <ns157:ln xmlns:ns157="http://schemas.openxmlformats.org/drawingml/2006/main" w="11430">
            <ns157:solidFill>
              <ns157:srgbClr val="317F7B"/>
            </ns157:solidFill>
            <ns157:tailEnd type="triangle" w="sm" len="sm"/>
          </ns157:ln>
        </p:spPr>
      </p:cxnSp>
      <p:sp>
        <p:nvSpPr>
          <p:cNvPr id="128" name="output.research.template.paper"/>
          <p:cNvSpPr/>
          <p:nvPr/>
        </p:nvSpPr>
        <p:spPr>
          <ns158:xfrm xmlns:ns158="http://schemas.openxmlformats.org/drawingml/2006/main">
            <ns158:off x="5850000" y="1584000"/>
            <ns158:ext cx="2836800" cy="2131200"/>
          </ns158:xfrm>
          <ns159:prstGeom xmlns:ns159="http://schemas.openxmlformats.org/drawingml/2006/main" prst="foldedCorner">
            <ns159:avLst/>
          </ns159:prstGeom>
          <ns160:solidFill xmlns:ns160="http://schemas.openxmlformats.org/drawingml/2006/main">
            <ns160:srgbClr val="FFFFFF"/>
          </ns160:solidFill>
          <ns161:ln xmlns:ns161="http://schemas.openxmlformats.org/drawingml/2006/main" w="9525">
            <ns161:solidFill>
              <ns161:srgbClr val="317F7B"/>
            </ns161:solidFill>
          </ns161:ln>
        </p:spPr>
      </p:sp>
      <p:sp>
        <p:nvSpPr>
          <p:cNvPr id="129" name="output.research.template.title"/>
          <p:cNvSpPr/>
          <p:nvPr/>
        </p:nvSpPr>
        <p:spPr>
          <ns162:xfrm xmlns:ns162="http://schemas.openxmlformats.org/drawingml/2006/main">
            <ns162:off x="5914800" y="1627200"/>
            <ns162:ext cx="2638800" cy="198000"/>
          </ns162:xfrm>
          <ns163:prstGeom xmlns:ns163="http://schemas.openxmlformats.org/drawingml/2006/main" prst="rect">
            <ns163:avLst/>
          </ns163:prstGeom>
          <ns164:noFill xmlns:ns164="http://schemas.openxmlformats.org/drawingml/2006/main"/>
          <ns165:ln xmlns:ns165="http://schemas.openxmlformats.org/drawingml/2006/main" w="0">
            <ns165:noFill/>
          </ns165:ln>
        </p:spPr>
        <p:txBody>
          <ns166:bodyPr xmlns:ns166="http://schemas.openxmlformats.org/drawingml/2006/main" wrap="square" lIns="0" rIns="0" tIns="0" bIns="0" anchor="t">
            <ns166:noAutofit/>
          </ns166:bodyPr>
          <ns167:lstStyle xmlns:ns167="http://schemas.openxmlformats.org/drawingml/2006/main"/>
          <ns168:p xmlns:ns168="http://schemas.openxmlformats.org/drawingml/2006/main">
            <ns168:pPr algn="l">
              <ns168:lnSpc>
                <ns168:spcPct val="105000"/>
              </ns168:lnSpc>
              <ns168:defRPr sz="1250" b="1">
                <ns168:solidFill>
                  <ns168:srgbClr val="317F7B"/>
                </ns168:solidFill>
                <ns168:latin typeface="Arial"/>
                <ns168:ea typeface="Arial"/>
                <ns168:cs typeface="Arial"/>
              </ns168:defRPr>
            </ns168:pPr>
            <ns168:r>
              <ns168:rPr sz="1250" b="1">
                <ns168:solidFill>
                  <ns168:srgbClr val="317F7B"/>
                </ns168:solidFill>
                <ns168:latin typeface="Arial"/>
                <ns168:ea typeface="Arial"/>
                <ns168:cs typeface="Arial"/>
              </ns168:rPr>
              <ns168:t>Research template</ns168:t>
            </ns168:r>
          </ns168:p>
        </p:txBody>
      </p:sp>
      <p:sp>
        <p:nvSpPr>
          <p:cNvPr id="130" name="output.research.template.content"/>
          <p:cNvSpPr/>
          <p:nvPr/>
        </p:nvSpPr>
        <p:spPr>
          <ns169:xfrm xmlns:ns169="http://schemas.openxmlformats.org/drawingml/2006/main">
            <ns169:off x="5914800" y="1843200"/>
            <ns169:ext cx="2707200" cy="1821600"/>
          </ns169:xfrm>
          <ns170:prstGeom xmlns:ns170="http://schemas.openxmlformats.org/drawingml/2006/main" prst="rect">
            <ns170:avLst/>
          </ns170:prstGeom>
          <ns171:noFill xmlns:ns171="http://schemas.openxmlformats.org/drawingml/2006/main"/>
          <ns172:ln xmlns:ns172="http://schemas.openxmlformats.org/drawingml/2006/main" w="0">
            <ns172:noFill/>
          </ns172:ln>
        </p:spPr>
        <p:txBody>
          <ns173:bodyPr xmlns:ns173="http://schemas.openxmlformats.org/drawingml/2006/main" wrap="square" lIns="0" rIns="0" tIns="0" bIns="0" anchor="t">
            <ns173:noAutofit/>
          </ns173:bodyPr>
          <ns174:lstStyle xmlns:ns174="http://schemas.openxmlformats.org/drawingml/2006/main"/>
          <ns175:p xmlns:ns175="http://schemas.openxmlformats.org/drawingml/2006/main">
            <ns175:pPr algn="l">
              <ns175:lnSpc>
                <ns175:spcPct val="100000"/>
              </ns175:lnSpc>
              <ns175:defRPr sz="1200" b="0">
                <ns175:solidFill>
                  <ns175:srgbClr val="20262C"/>
                </ns175:solidFill>
                <ns175:latin typeface="Arial"/>
                <ns175:ea typeface="Arial"/>
                <ns175:cs typeface="Arial"/>
              </ns175:defRPr>
            </ns175:pPr>
            <ns175:r>
              <ns175:rPr sz="1200" b="0">
                <ns175:solidFill>
                  <ns175:srgbClr val="20262C"/>
                </ns175:solidFill>
                <ns175:latin typeface="Arial"/>
                <ns175:ea typeface="Arial"/>
                <ns175:cs typeface="Arial"/>
              </ns175:rPr>
              <ns175:t/>
            </ns175:r>
          </ns175:p>
        </p:txBody>
      </p:sp>
      <p:sp>
        <p:nvSpPr>
          <p:cNvPr id="131" name="template.field.0"/>
          <p:cNvSpPr/>
          <p:nvPr/>
        </p:nvSpPr>
        <p:spPr>
          <ns176:xfrm xmlns:ns176="http://schemas.openxmlformats.org/drawingml/2006/main">
            <ns176:off x="5947200" y="2023200"/>
            <ns176:ext cx="2638800" cy="180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5000"/>
              </ns182:lnSpc>
              <ns182:defRPr sz="1050" b="1">
                <ns182:solidFill>
                  <ns182:srgbClr val="005A9C"/>
                </ns182:solidFill>
                <ns182:latin typeface="Arial"/>
                <ns182:ea typeface="Arial"/>
                <ns182:cs typeface="Arial"/>
              </ns182:defRPr>
            </ns182:pPr>
            <ns182:r>
              <ns182:rPr sz="1050" b="1">
                <ns182:solidFill>
                  <ns182:srgbClr val="005A9C"/>
                </ns182:solidFill>
                <ns182:latin typeface="Arial"/>
                <ns182:ea typeface="Arial"/>
                <ns182:cs typeface="Arial"/>
              </ns182:rPr>
              <ns182:t>Operating performance</ns182:t>
            </ns182:r>
          </ns182:p>
        </p:txBody>
      </p:sp>
      <p:sp>
        <p:nvSpPr>
          <p:cNvPr id="132" name="template.value.0"/>
          <p:cNvSpPr/>
          <p:nvPr/>
        </p:nvSpPr>
        <p:spPr>
          <ns183:xfrm xmlns:ns183="http://schemas.openxmlformats.org/drawingml/2006/main">
            <ns183:off x="5947200" y="2228400"/>
            <ns183:ext cx="2638800" cy="226800"/>
          </ns183:xfrm>
          <ns184:prstGeom xmlns:ns184="http://schemas.openxmlformats.org/drawingml/2006/main" prst="rect">
            <ns184:avLst/>
          </ns184:prstGeom>
          <ns185:noFill xmlns:ns185="http://schemas.openxmlformats.org/drawingml/2006/main"/>
          <ns186:ln xmlns:ns186="http://schemas.openxmlformats.org/drawingml/2006/main" w="0">
            <ns186:noFill/>
          </ns186:ln>
        </p:spPr>
        <p:txBody>
          <ns187:bodyPr xmlns:ns187="http://schemas.openxmlformats.org/drawingml/2006/main" wrap="square" lIns="0" rIns="0" tIns="0" bIns="0" anchor="t">
            <ns187:noAutofit/>
          </ns187:bodyPr>
          <ns188:lstStyle xmlns:ns188="http://schemas.openxmlformats.org/drawingml/2006/main"/>
          <ns189:p xmlns:ns189="http://schemas.openxmlformats.org/drawingml/2006/main">
            <ns189:pPr algn="l">
              <ns189:lnSpc>
                <ns189:spcPct val="105000"/>
              </ns189:lnSpc>
              <ns189:defRPr sz="1200" b="0">
                <ns189:solidFill>
                  <ns189:srgbClr val="20262C"/>
                </ns189:solidFill>
                <ns189:latin typeface="Arial"/>
                <ns189:ea typeface="Arial"/>
                <ns189:cs typeface="Arial"/>
              </ns189:defRPr>
            </ns189:pPr>
            <ns189:r>
              <ns189:rPr sz="1200" b="0">
                <ns189:solidFill>
                  <ns189:srgbClr val="20262C"/>
                </ns189:solidFill>
                <ns189:latin typeface="Arial"/>
                <ns189:ea typeface="Arial"/>
                <ns189:cs typeface="Arial"/>
              </ns189:rPr>
              <ns189:t>Sales volume up 10%</ns189:t>
            </ns189:r>
          </ns189:p>
        </p:txBody>
      </p:sp>
      <p:cxnSp>
        <p:nvCxnSpPr>
          <p:cNvPr id="133" name="template.row.rule.0"/>
          <p:cNvCxnSpPr/>
          <p:nvPr/>
        </p:nvCxnSpPr>
        <p:spPr>
          <ns190:xfrm xmlns:ns190="http://schemas.openxmlformats.org/drawingml/2006/main">
            <ns190:off x="5947200" y="2473200"/>
            <ns190:ext cx="2642400" cy="1"/>
          </ns190:xfrm>
          <ns191:prstGeom xmlns:ns191="http://schemas.openxmlformats.org/drawingml/2006/main" prst="line">
            <ns191:avLst/>
          </ns191:prstGeom>
          <ns192:ln xmlns:ns192="http://schemas.openxmlformats.org/drawingml/2006/main" w="6350">
            <ns192:solidFill>
              <ns192:srgbClr val="CBD4DA"/>
            </ns192:solidFill>
          </ns192:ln>
        </p:spPr>
      </p:cxnSp>
      <p:sp>
        <p:nvSpPr>
          <p:cNvPr id="134" name="template.field.1"/>
          <p:cNvSpPr/>
          <p:nvPr/>
        </p:nvSpPr>
        <p:spPr>
          <ns193:xfrm xmlns:ns193="http://schemas.openxmlformats.org/drawingml/2006/main">
            <ns193:off x="5947200" y="2527200"/>
            <ns193:ext cx="2638800" cy="180000"/>
          </ns193:xfrm>
          <ns194:prstGeom xmlns:ns194="http://schemas.openxmlformats.org/drawingml/2006/main" prst="rect">
            <ns194:avLst/>
          </ns194:prstGeom>
          <ns195:noFill xmlns:ns195="http://schemas.openxmlformats.org/drawingml/2006/main"/>
          <ns196:ln xmlns:ns196="http://schemas.openxmlformats.org/drawingml/2006/main" w="0">
            <ns196:noFill/>
          </ns196:ln>
        </p:spPr>
        <p:txBody>
          <ns197:bodyPr xmlns:ns197="http://schemas.openxmlformats.org/drawingml/2006/main" wrap="square" lIns="0" rIns="0" tIns="0" bIns="0" anchor="t">
            <ns197:noAutofit/>
          </ns197:bodyPr>
          <ns198:lstStyle xmlns:ns198="http://schemas.openxmlformats.org/drawingml/2006/main"/>
          <ns199:p xmlns:ns199="http://schemas.openxmlformats.org/drawingml/2006/main">
            <ns199:pPr algn="l">
              <ns199:lnSpc>
                <ns199:spcPct val="105000"/>
              </ns199:lnSpc>
              <ns199:defRPr sz="1050" b="1">
                <ns199:solidFill>
                  <ns199:srgbClr val="005A9C"/>
                </ns199:solidFill>
                <ns199:latin typeface="Arial"/>
                <ns199:ea typeface="Arial"/>
                <ns199:cs typeface="Arial"/>
              </ns199:defRPr>
            </ns199:pPr>
            <ns199:r>
              <ns199:rPr sz="1050" b="1">
                <ns199:solidFill>
                  <ns199:srgbClr val="005A9C"/>
                </ns199:solidFill>
                <ns199:latin typeface="Arial"/>
                <ns199:ea typeface="Arial"/>
                <ns199:cs typeface="Arial"/>
              </ns199:rPr>
              <ns199:t>Business driver</ns199:t>
            </ns199:r>
          </ns199:p>
        </p:txBody>
      </p:sp>
      <p:sp>
        <p:nvSpPr>
          <p:cNvPr id="135" name="template.value.1"/>
          <p:cNvSpPr/>
          <p:nvPr/>
        </p:nvSpPr>
        <p:spPr>
          <ns200:xfrm xmlns:ns200="http://schemas.openxmlformats.org/drawingml/2006/main">
            <ns200:off x="5947200" y="2732400"/>
            <ns200:ext cx="2638800" cy="226800"/>
          </ns200:xfrm>
          <ns201:prstGeom xmlns:ns201="http://schemas.openxmlformats.org/drawingml/2006/main" prst="rect">
            <ns201:avLst/>
          </ns201:prstGeom>
          <ns202:noFill xmlns:ns202="http://schemas.openxmlformats.org/drawingml/2006/main"/>
          <ns203:ln xmlns:ns203="http://schemas.openxmlformats.org/drawingml/2006/main" w="0">
            <ns203:noFill/>
          </ns203:ln>
        </p:spPr>
        <p:txBody>
          <ns204:bodyPr xmlns:ns204="http://schemas.openxmlformats.org/drawingml/2006/main" wrap="square" lIns="0" rIns="0" tIns="0" bIns="0" anchor="t">
            <ns204:noAutofit/>
          </ns204:bodyPr>
          <ns205:lstStyle xmlns:ns205="http://schemas.openxmlformats.org/drawingml/2006/main"/>
          <ns206:p xmlns:ns206="http://schemas.openxmlformats.org/drawingml/2006/main">
            <ns206:pPr algn="l">
              <ns206:lnSpc>
                <ns206:spcPct val="105000"/>
              </ns206:lnSpc>
              <ns206:defRPr sz="1200" b="0">
                <ns206:solidFill>
                  <ns206:srgbClr val="20262C"/>
                </ns206:solidFill>
                <ns206:latin typeface="Arial"/>
                <ns206:ea typeface="Arial"/>
                <ns206:cs typeface="Arial"/>
              </ns206:defRPr>
            </ns206:pPr>
            <ns206:r>
              <ns206:rPr sz="1200" b="0">
                <ns206:solidFill>
                  <ns206:srgbClr val="20262C"/>
                </ns206:solidFill>
                <ns206:latin typeface="Arial"/>
                <ns206:ea typeface="Arial"/>
                <ns206:cs typeface="Arial"/>
              </ns206:rPr>
              <ns206:t>Restocking lifted shipments</ns206:t>
            </ns206:r>
          </ns206:p>
        </p:txBody>
      </p:sp>
      <p:cxnSp>
        <p:nvCxnSpPr>
          <p:cNvPr id="136" name="template.row.rule.1"/>
          <p:cNvCxnSpPr/>
          <p:nvPr/>
        </p:nvCxnSpPr>
        <p:spPr>
          <ns207:xfrm xmlns:ns207="http://schemas.openxmlformats.org/drawingml/2006/main">
            <ns207:off x="5947200" y="2977200"/>
            <ns207:ext cx="2642400" cy="1"/>
          </ns207:xfrm>
          <ns208:prstGeom xmlns:ns208="http://schemas.openxmlformats.org/drawingml/2006/main" prst="line">
            <ns208:avLst/>
          </ns208:prstGeom>
          <ns209:ln xmlns:ns209="http://schemas.openxmlformats.org/drawingml/2006/main" w="6350">
            <ns209:solidFill>
              <ns209:srgbClr val="CBD4DA"/>
            </ns209:solidFill>
          </ns209:ln>
        </p:spPr>
      </p:cxnSp>
      <p:sp>
        <p:nvSpPr>
          <p:cNvPr id="137" name="template.field.2"/>
          <p:cNvSpPr/>
          <p:nvPr/>
        </p:nvSpPr>
        <p:spPr>
          <ns210:xfrm xmlns:ns210="http://schemas.openxmlformats.org/drawingml/2006/main">
            <ns210:off x="5947200" y="3031200"/>
            <ns210:ext cx="2638800" cy="180000"/>
          </ns210:xfrm>
          <ns211:prstGeom xmlns:ns211="http://schemas.openxmlformats.org/drawingml/2006/main" prst="rect">
            <ns211:avLst/>
          </ns211:prstGeom>
          <ns212:noFill xmlns:ns212="http://schemas.openxmlformats.org/drawingml/2006/main"/>
          <ns213:ln xmlns:ns213="http://schemas.openxmlformats.org/drawingml/2006/main" w="0">
            <ns213:noFill/>
          </ns213:ln>
        </p:spPr>
        <p:txBody>
          <ns214:bodyPr xmlns:ns214="http://schemas.openxmlformats.org/drawingml/2006/main" wrap="square" lIns="0" rIns="0" tIns="0" bIns="0" anchor="t">
            <ns214:noAutofit/>
          </ns214:bodyPr>
          <ns215:lstStyle xmlns:ns215="http://schemas.openxmlformats.org/drawingml/2006/main"/>
          <ns216:p xmlns:ns216="http://schemas.openxmlformats.org/drawingml/2006/main">
            <ns216:pPr algn="l">
              <ns216:lnSpc>
                <ns216:spcPct val="105000"/>
              </ns216:lnSpc>
              <ns216:defRPr sz="1050" b="1">
                <ns216:solidFill>
                  <ns216:srgbClr val="005A9C"/>
                </ns216:solidFill>
                <ns216:latin typeface="Arial"/>
                <ns216:ea typeface="Arial"/>
                <ns216:cs typeface="Arial"/>
              </ns216:defRPr>
            </ns216:pPr>
            <ns216:r>
              <ns216:rPr sz="1050" b="1">
                <ns216:solidFill>
                  <ns216:srgbClr val="005A9C"/>
                </ns216:solidFill>
                <ns216:latin typeface="Arial"/>
                <ns216:ea typeface="Arial"/>
                <ns216:cs typeface="Arial"/>
              </ns216:rPr>
              <ns216:t>Open question</ns216:t>
            </ns216:r>
          </ns216:p>
        </p:txBody>
      </p:sp>
      <p:sp>
        <p:nvSpPr>
          <p:cNvPr id="138" name="template.value.2"/>
          <p:cNvSpPr/>
          <p:nvPr/>
        </p:nvSpPr>
        <p:spPr>
          <ns217:xfrm xmlns:ns217="http://schemas.openxmlformats.org/drawingml/2006/main">
            <ns217:off x="5947200" y="3236400"/>
            <ns217:ext cx="2638800" cy="226800"/>
          </ns217:xfrm>
          <ns218:prstGeom xmlns:ns218="http://schemas.openxmlformats.org/drawingml/2006/main" prst="rect">
            <ns218:avLst/>
          </ns218:prstGeom>
          <ns219:noFill xmlns:ns219="http://schemas.openxmlformats.org/drawingml/2006/main"/>
          <ns220:ln xmlns:ns220="http://schemas.openxmlformats.org/drawingml/2006/main" w="0">
            <ns220:noFill/>
          </ns220:ln>
        </p:spPr>
        <p:txBody>
          <ns221:bodyPr xmlns:ns221="http://schemas.openxmlformats.org/drawingml/2006/main" wrap="square" lIns="0" rIns="0" tIns="0" bIns="0" anchor="t">
            <ns221:noAutofit/>
          </ns221:bodyPr>
          <ns222:lstStyle xmlns:ns222="http://schemas.openxmlformats.org/drawingml/2006/main"/>
          <ns223:p xmlns:ns223="http://schemas.openxmlformats.org/drawingml/2006/main">
            <ns223:pPr algn="l">
              <ns223:lnSpc>
                <ns223:spcPct val="105000"/>
              </ns223:lnSpc>
              <ns223:defRPr sz="1200" b="0">
                <ns223:solidFill>
                  <ns223:srgbClr val="20262C"/>
                </ns223:solidFill>
                <ns223:latin typeface="Arial"/>
                <ns223:ea typeface="Arial"/>
                <ns223:cs typeface="Arial"/>
              </ns223:defRPr>
            </ns223:pPr>
            <ns223:r>
              <ns223:rPr sz="1200" b="0">
                <ns223:solidFill>
                  <ns223:srgbClr val="20262C"/>
                </ns223:solidFill>
                <ns223:latin typeface="Arial"/>
                <ns223:ea typeface="Arial"/>
                <ns223:cs typeface="Arial"/>
              </ns223:rPr>
              <ns223:t>Will restocking continue?</ns223:t>
            </ns223:r>
          </ns223:p>
        </p:txBody>
      </p:sp>
      <p:cxnSp>
        <p:nvCxnSpPr>
          <p:cNvPr id="139" name="llm.to.template"/>
          <p:cNvCxnSpPr/>
          <p:nvPr/>
        </p:nvCxnSpPr>
        <p:spPr>
          <ns224:xfrm xmlns:ns224="http://schemas.openxmlformats.org/drawingml/2006/main">
            <ns224:off x="5590800" y="2727000"/>
            <ns224:ext cx="223200" cy="1"/>
          </ns224:xfrm>
          <ns225:prstGeom xmlns:ns225="http://schemas.openxmlformats.org/drawingml/2006/main" prst="line">
            <ns225:avLst/>
          </ns225:prstGeom>
          <ns226:ln xmlns:ns226="http://schemas.openxmlformats.org/drawingml/2006/main" w="11430">
            <ns226:solidFill>
              <ns226:srgbClr val="005A9C"/>
            </ns226:solidFill>
            <ns226:tailEnd type="triangle" w="sm" len="sm"/>
          </ns226:ln>
        </p:spPr>
      </p:cxnSp>
      <p:sp>
        <p:nvSpPr>
          <p:cNvPr id="140" name="human.analyst.template.check"/>
          <p:cNvSpPr/>
          <p:nvPr/>
        </p:nvSpPr>
        <p:spPr>
          <ns227:xfrm xmlns:ns227="http://schemas.openxmlformats.org/drawingml/2006/main">
            <ns227:off x="5850000" y="4006800"/>
            <ns227:ext cx="2836800" cy="468000"/>
          </ns227:xfrm>
          <ns228:prstGeom xmlns:ns228="http://schemas.openxmlformats.org/drawingml/2006/main" prst="roundRect">
            <ns228:avLst/>
          </ns228:prstGeom>
          <ns229:solidFill xmlns:ns229="http://schemas.openxmlformats.org/drawingml/2006/main">
            <ns229:srgbClr val="F3F7FA"/>
          </ns229:solidFill>
          <ns230:ln xmlns:ns230="http://schemas.openxmlformats.org/drawingml/2006/main" w="9525">
            <ns230:solidFill>
              <ns230:srgbClr val="65727D"/>
            </ns230:solidFill>
          </ns230:ln>
        </p:spPr>
        <p:txBody>
          <ns231:bodyPr xmlns:ns231="http://schemas.openxmlformats.org/drawingml/2006/main" wrap="square" lIns="61200" rIns="61200" tIns="61200" bIns="61200" anchor="ctr">
            <ns231:noAutofit/>
          </ns231:bodyPr>
          <ns232:lstStyle xmlns:ns232="http://schemas.openxmlformats.org/drawingml/2006/main"/>
          <ns233:p xmlns:ns233="http://schemas.openxmlformats.org/drawingml/2006/main">
            <ns233:pPr algn="l">
              <ns233:lnSpc>
                <ns233:spcPct val="105000"/>
              </ns233:lnSpc>
              <ns233:defRPr sz="1300" b="1">
                <ns233:solidFill>
                  <ns233:srgbClr val="65727D"/>
                </ns233:solidFill>
                <ns233:latin typeface="Arial"/>
                <ns233:ea typeface="Arial"/>
                <ns233:cs typeface="Arial"/>
              </ns233:defRPr>
            </ns233:pPr>
            <ns233:r>
              <ns233:rPr sz="1300" b="1">
                <ns233:solidFill>
                  <ns233:srgbClr val="65727D"/>
                </ns233:solidFill>
                <ns233:latin typeface="Arial"/>
                <ns233:ea typeface="Arial"/>
                <ns233:cs typeface="Arial"/>
              </ns233:rPr>
              <ns233:t>Analyst</ns233:t>
            </ns233:r>
          </ns233:p>
          <ns234:p xmlns:ns234="http://schemas.openxmlformats.org/drawingml/2006/main">
            <ns234:pPr algn="l">
              <ns234:lnSpc>
                <ns234:spcPct val="105000"/>
              </ns234:lnSpc>
              <ns234:defRPr sz="1050" b="0">
                <ns234:solidFill>
                  <ns234:srgbClr val="20262C"/>
                </ns234:solidFill>
                <ns234:latin typeface="Arial"/>
                <ns234:ea typeface="Arial"/>
                <ns234:cs typeface="Arial"/>
              </ns234:defRPr>
            </ns234:pPr>
            <ns234:r>
              <ns234:rPr sz="1050" b="0">
                <ns234:solidFill>
                  <ns234:srgbClr val="20262C"/>
                </ns234:solidFill>
                <ns234:latin typeface="Arial"/>
                <ns234:ea typeface="Arial"/>
                <ns234:cs typeface="Arial"/>
              </ns234:rPr>
              <ns234:t>Check entries / add assessment</ns234:t>
            </ns234:r>
          </ns234:p>
        </p:txBody>
      </p:sp>
      <p:cxnSp>
        <p:nvCxnSpPr>
          <p:cNvPr id="141" name="template.to.analyst"/>
          <p:cNvCxnSpPr/>
          <p:nvPr/>
        </p:nvCxnSpPr>
        <p:spPr>
          <ns235:xfrm xmlns:ns235="http://schemas.openxmlformats.org/drawingml/2006/main">
            <ns235:off x="7268400" y="3751200"/>
            <ns235:ext cx="1" cy="219600"/>
          </ns235:xfrm>
          <ns236:prstGeom xmlns:ns236="http://schemas.openxmlformats.org/drawingml/2006/main" prst="line">
            <ns236:avLst/>
          </ns236:prstGeom>
          <ns237:ln xmlns:ns237="http://schemas.openxmlformats.org/drawingml/2006/main" w="11430">
            <ns237:solidFill>
              <ns237:srgbClr val="317F7B"/>
            </ns237:solidFill>
            <ns237:tailEnd type="triangle" w="sm" len="sm"/>
          </ns237:ln>
        </p:spPr>
      </p:cxnSp>
      <p:sp>
        <p:nvSpPr>
          <p:cNvPr id="142" name="evidence.efficiency"/>
          <p:cNvSpPr/>
          <p:nvPr/>
        </p:nvSpPr>
        <p:spPr>
          <ns238:xfrm xmlns:ns238="http://schemas.openxmlformats.org/drawingml/2006/main">
            <ns238:off x="2422800" y="3974400"/>
            <ns238:ext cx="3175200" cy="522000"/>
          </ns238:xfrm>
          <ns239:prstGeom xmlns:ns239="http://schemas.openxmlformats.org/drawingml/2006/main" prst="rect">
            <ns239:avLst/>
          </ns239:prstGeom>
          <ns240:noFill xmlns:ns240="http://schemas.openxmlformats.org/drawingml/2006/main"/>
          <ns241:ln xmlns:ns241="http://schemas.openxmlformats.org/drawingml/2006/main" w="0">
            <ns241:noFill/>
          </ns241:ln>
        </p:spPr>
        <p:txBody>
          <ns242:bodyPr xmlns:ns242="http://schemas.openxmlformats.org/drawingml/2006/main" wrap="square" lIns="0" rIns="0" tIns="0" bIns="0" anchor="t">
            <ns242:noAutofit/>
          </ns242:bodyPr>
          <ns243:lstStyle xmlns:ns243="http://schemas.openxmlformats.org/drawingml/2006/main"/>
          <ns244:p xmlns:ns244="http://schemas.openxmlformats.org/drawingml/2006/main">
            <ns244:pPr algn="l">
              <ns244:lnSpc>
                <ns244:spcPct val="105000"/>
              </ns244:lnSpc>
              <ns244:defRPr sz="1300" b="1">
                <ns244:solidFill>
                  <ns244:srgbClr val="005A9C"/>
                </ns244:solidFill>
                <ns244:latin typeface="Arial"/>
                <ns244:ea typeface="Arial"/>
                <ns244:cs typeface="Arial"/>
              </ns244:defRPr>
            </ns244:pPr>
            <ns244:r>
              <ns244:rPr sz="1300" b="1">
                <ns244:solidFill>
                  <ns244:srgbClr val="005A9C"/>
                </ns244:solidFill>
                <ns244:latin typeface="Arial"/>
                <ns244:ea typeface="Arial"/>
                <ns244:cs typeface="Arial"/>
              </ns244:rPr>
              <ns244:t>Approximately 50% higher</ns244:t>
            </ns244:r>
          </ns244:p>
          <ns245:p xmlns:ns245="http://schemas.openxmlformats.org/drawingml/2006/main">
            <ns245:pPr algn="l">
              <ns245:lnSpc>
                <ns245:spcPct val="105000"/>
              </ns245:lnSpc>
              <ns245:defRPr sz="1000" b="0">
                <ns245:solidFill>
                  <ns245:srgbClr val="20262C"/>
                </ns245:solidFill>
                <ns245:latin typeface="Arial"/>
                <ns245:ea typeface="Arial"/>
                <ns245:cs typeface="Arial"/>
              </ns245:defRPr>
            </ns245:pPr>
            <ns245:r>
              <ns245:rPr sz="1000" b="0">
                <ns245:solidFill>
                  <ns245:srgbClr val="20262C"/>
                </ns245:solidFill>
                <ns245:latin typeface="Arial"/>
                <ns245:ea typeface="Arial"/>
                <ns245:cs typeface="Arial"/>
              </ns245:rPr>
              <ns245:t>Research-preparation efficiency</ns245:t>
            </ns245:r>
          </ns245:p>
          <ns246:p xmlns:ns246="http://schemas.openxmlformats.org/drawingml/2006/main">
            <ns246:pPr algn="l">
              <ns246:lnSpc>
                <ns246:spcPct val="105000"/>
              </ns246:lnSpc>
              <ns246:defRPr sz="950" b="0">
                <ns246:solidFill>
                  <ns246:srgbClr val="65727D"/>
                </ns246:solidFill>
                <ns246:latin typeface="Arial"/>
                <ns246:ea typeface="Arial"/>
                <ns246:cs typeface="Arial"/>
              </ns246:defRPr>
            </ns246:pPr>
            <ns246:r>
              <ns246:rPr sz="950" b="0">
                <ns246:solidFill>
                  <ns246:srgbClr val="65727D"/>
                </ns246:solidFill>
                <ns246:latin typeface="Arial"/>
                <ns246:ea typeface="Arial"/>
                <ns246:cs typeface="Arial"/>
              </ns246:rPr>
              <ns246:t>Reported by Zhong Ou, May 2026</ns246:t>
            </ns246:r>
          </ns246:p>
        </p:txBody>
      </p:sp>
    </p:spTree>
    <p:extLst>
      <p:ext uri="{BB962C8B-B14F-4D97-AF65-F5344CB8AC3E}">
        <p14:creationId xmlns:p14="http://schemas.microsoft.com/office/powerpoint/2010/main" val="5840056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application: company research</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Investment research / Proposed application</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Tianhong; Fullgoal; Zhong Ou; Aegon-Industrial</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107"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108"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research.scope"/>
          <p:cNvSpPr/>
          <p:nvPr/>
        </p:nvSpPr>
        <p:spPr>
          <ns111:xfrm xmlns:ns111="http://schemas.openxmlformats.org/drawingml/2006/main">
            <ns111:off x="2422800" y="1454400"/>
            <ns111:ext cx="6264000" cy="198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200" b="0">
                <ns117:solidFill>
                  <ns117:srgbClr val="005A9C"/>
                </ns117:solidFill>
                <ns117:latin typeface="Arial"/>
                <ns117:ea typeface="Arial"/>
                <ns117:cs typeface="Arial"/>
              </ns117:defRPr>
            </ns117:pPr>
            <ns117:r>
              <ns117:rPr sz="1200" b="0">
                <ns117:solidFill>
                  <ns117:srgbClr val="005A9C"/>
                </ns117:solidFill>
                <ns117:latin typeface="Arial"/>
                <ns117:ea typeface="Arial"/>
                <ns117:cs typeface="Arial"/>
              </ns117:rPr>
              <ns117:t>Company A: quarterly growth and sustainability</ns117:t>
            </ns117:r>
          </ns117:p>
        </p:txBody>
      </p:sp>
      <p:sp>
        <p:nvSpPr>
          <p:cNvPr id="120" name="input.quarter.results.paper"/>
          <p:cNvSpPr/>
          <p:nvPr/>
        </p:nvSpPr>
        <p:spPr>
          <ns118:xfrm xmlns:ns118="http://schemas.openxmlformats.org/drawingml/2006/main">
            <ns118:off x="2422800" y="1692000"/>
            <ns118:ext cx="1620000" cy="1080000"/>
          </ns118:xfrm>
          <ns119:prstGeom xmlns:ns119="http://schemas.openxmlformats.org/drawingml/2006/main" prst="foldedCorner">
            <ns119:avLst/>
          </ns119:prstGeom>
          <ns120:solidFill xmlns:ns120="http://schemas.openxmlformats.org/drawingml/2006/main">
            <ns120:srgbClr val="FFFFFF"/>
          </ns120:solidFill>
          <ns121:ln xmlns:ns121="http://schemas.openxmlformats.org/drawingml/2006/main" w="9525">
            <ns121:solidFill>
              <ns121:srgbClr val="317F7B"/>
            </ns121:solidFill>
          </ns121:ln>
        </p:spPr>
      </p:sp>
      <p:sp>
        <p:nvSpPr>
          <p:cNvPr id="121" name="input.quarter.results.title"/>
          <p:cNvSpPr/>
          <p:nvPr/>
        </p:nvSpPr>
        <p:spPr>
          <ns122:xfrm xmlns:ns122="http://schemas.openxmlformats.org/drawingml/2006/main">
            <ns122:off x="2476800" y="1735200"/>
            <ns122:ext cx="1440000" cy="1620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5000"/>
              </ns128:lnSpc>
              <ns128:defRPr sz="1250" b="1">
                <ns128:solidFill>
                  <ns128:srgbClr val="317F7B"/>
                </ns128:solidFill>
                <ns128:latin typeface="Arial"/>
                <ns128:ea typeface="Arial"/>
                <ns128:cs typeface="Arial"/>
              </ns128:defRPr>
            </ns128:pPr>
            <ns128:r>
              <ns128:rPr sz="1250" b="1">
                <ns128:solidFill>
                  <ns128:srgbClr val="317F7B"/>
                </ns128:solidFill>
                <ns128:latin typeface="Arial"/>
                <ns128:ea typeface="Arial"/>
                <ns128:cs typeface="Arial"/>
              </ns128:rPr>
              <ns128:t>[1] Company A</ns128:t>
            </ns128:r>
          </ns128:p>
        </p:txBody>
      </p:sp>
      <p:sp>
        <p:nvSpPr>
          <p:cNvPr id="122" name="input.quarter.results.period"/>
          <p:cNvSpPr/>
          <p:nvPr/>
        </p:nvSpPr>
        <p:spPr>
          <ns129:xfrm xmlns:ns129="http://schemas.openxmlformats.org/drawingml/2006/main">
            <ns129:off x="2476800" y="1922400"/>
            <ns129:ext cx="1512000" cy="162000"/>
          </ns129:xfrm>
          <ns130:prstGeom xmlns:ns130="http://schemas.openxmlformats.org/drawingml/2006/main" prst="rect">
            <ns130:avLst/>
          </ns130:prstGeom>
          <ns131:noFill xmlns:ns131="http://schemas.openxmlformats.org/drawingml/2006/main"/>
          <ns132:ln xmlns:ns132="http://schemas.openxmlformats.org/drawingml/2006/main" w="0">
            <ns132:noFill/>
          </ns132:ln>
        </p:spPr>
        <p:txBody>
          <ns133:bodyPr xmlns:ns133="http://schemas.openxmlformats.org/drawingml/2006/main" wrap="square" lIns="0" rIns="0" tIns="0" bIns="0" anchor="t">
            <ns133:noAutofit/>
          </ns133:bodyPr>
          <ns134:lstStyle xmlns:ns134="http://schemas.openxmlformats.org/drawingml/2006/main"/>
          <ns135:p xmlns:ns135="http://schemas.openxmlformats.org/drawingml/2006/main">
            <ns135:pPr algn="l">
              <ns135:lnSpc>
                <ns135:spcPct val="105000"/>
              </ns135:lnSpc>
              <ns135:defRPr sz="950" b="0">
                <ns135:solidFill>
                  <ns135:srgbClr val="65727D"/>
                </ns135:solidFill>
                <ns135:latin typeface="Arial"/>
                <ns135:ea typeface="Arial"/>
                <ns135:cs typeface="Arial"/>
              </ns135:defRPr>
            </ns135:pPr>
            <ns135:r>
              <ns135:rPr sz="950" b="0">
                <ns135:solidFill>
                  <ns135:srgbClr val="65727D"/>
                </ns135:solidFill>
                <ns135:latin typeface="Arial"/>
                <ns135:ea typeface="Arial"/>
                <ns135:cs typeface="Arial"/>
              </ns135:rPr>
              <ns135:t>Prior / current quarter</ns135:t>
            </ns135:r>
          </ns135:p>
        </p:txBody>
      </p:sp>
      <p:sp>
        <p:nvSpPr>
          <p:cNvPr id="123" name="input.quarter.results.revenue.label"/>
          <p:cNvSpPr/>
          <p:nvPr/>
        </p:nvSpPr>
        <p:spPr>
          <ns136:xfrm xmlns:ns136="http://schemas.openxmlformats.org/drawingml/2006/main">
            <ns136:off x="2476800" y="2080800"/>
            <ns136:ext cx="846000" cy="3420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5000"/>
              </ns142:lnSpc>
              <ns142:defRPr sz="1050" b="0">
                <ns142:solidFill>
                  <ns142:srgbClr val="20262C"/>
                </ns142:solidFill>
                <ns142:latin typeface="Arial"/>
                <ns142:ea typeface="Arial"/>
                <ns142:cs typeface="Arial"/>
              </ns142:defRPr>
            </ns142:pPr>
            <ns142:r>
              <ns142:rPr sz="1050" b="0">
                <ns142:solidFill>
                  <ns142:srgbClr val="20262C"/>
                </ns142:solidFill>
                <ns142:latin typeface="Arial"/>
                <ns142:ea typeface="Arial"/>
                <ns142:cs typeface="Arial"/>
              </ns142:rPr>
              <ns142:t>Revenue</ns142:t>
            </ns142:r>
          </ns142:p>
          <ns143:p xmlns:ns143="http://schemas.openxmlformats.org/drawingml/2006/main">
            <ns143:pPr algn="l">
              <ns143:lnSpc>
                <ns143:spcPct val="105000"/>
              </ns143:lnSpc>
              <ns143:defRPr sz="1050" b="0">
                <ns143:solidFill>
                  <ns143:srgbClr val="20262C"/>
                </ns143:solidFill>
                <ns143:latin typeface="Arial"/>
                <ns143:ea typeface="Arial"/>
                <ns143:cs typeface="Arial"/>
              </ns143:defRPr>
            </ns143:pPr>
            <ns143:r>
              <ns143:rPr sz="1050" b="0">
                <ns143:solidFill>
                  <ns143:srgbClr val="20262C"/>
                </ns143:solidFill>
                <ns143:latin typeface="Arial"/>
                <ns143:ea typeface="Arial"/>
                <ns143:cs typeface="Arial"/>
              </ns143:rPr>
              <ns143:t>(RMB m)</ns143:t>
            </ns143:r>
          </ns143:p>
        </p:txBody>
      </p:sp>
      <p:sp>
        <p:nvSpPr>
          <p:cNvPr id="124" name="input.quarter.results.revenue.values"/>
          <p:cNvSpPr/>
          <p:nvPr/>
        </p:nvSpPr>
        <p:spPr>
          <ns144:xfrm xmlns:ns144="http://schemas.openxmlformats.org/drawingml/2006/main">
            <ns144:off x="3322800" y="2109600"/>
            <ns144:ext cx="666000" cy="198000"/>
          </ns144:xfrm>
          <ns145:prstGeom xmlns:ns145="http://schemas.openxmlformats.org/drawingml/2006/main" prst="rect">
            <ns145:avLst/>
          </ns145:prstGeom>
          <ns146:noFill xmlns:ns146="http://schemas.openxmlformats.org/drawingml/2006/main"/>
          <ns147:ln xmlns:ns147="http://schemas.openxmlformats.org/drawingml/2006/main" w="0">
            <ns147:noFill/>
          </ns147:ln>
        </p:spPr>
        <p:txBody>
          <ns148:bodyPr xmlns:ns148="http://schemas.openxmlformats.org/drawingml/2006/main" wrap="square" lIns="0" rIns="0" tIns="0" bIns="0" anchor="t">
            <ns148:noAutofit/>
          </ns148:bodyPr>
          <ns149:lstStyle xmlns:ns149="http://schemas.openxmlformats.org/drawingml/2006/main"/>
          <ns150:p xmlns:ns150="http://schemas.openxmlformats.org/drawingml/2006/main">
            <ns150:pPr algn="l">
              <ns150:lnSpc>
                <ns150:spcPct val="105000"/>
              </ns150:lnSpc>
              <ns150:defRPr sz="1200" b="1">
                <ns150:solidFill>
                  <ns150:srgbClr val="317F7B"/>
                </ns150:solidFill>
                <ns150:latin typeface="Arial"/>
                <ns150:ea typeface="Arial"/>
                <ns150:cs typeface="Arial"/>
              </ns150:defRPr>
            </ns150:pPr>
            <ns150:r>
              <ns150:rPr sz="1200" b="1">
                <ns150:solidFill>
                  <ns150:srgbClr val="317F7B"/>
                </ns150:solidFill>
                <ns150:latin typeface="Arial"/>
                <ns150:ea typeface="Arial"/>
                <ns150:cs typeface="Arial"/>
              </ns150:rPr>
              <ns150:t>100 / 110</ns150:t>
            </ns150:r>
          </ns150:p>
        </p:txBody>
      </p:sp>
      <p:sp>
        <p:nvSpPr>
          <p:cNvPr id="125" name="input.quarter.results.volume.label"/>
          <p:cNvSpPr/>
          <p:nvPr/>
        </p:nvSpPr>
        <p:spPr>
          <ns151:xfrm xmlns:ns151="http://schemas.openxmlformats.org/drawingml/2006/main">
            <ns151:off x="2476800" y="2379600"/>
            <ns151:ext cx="846000" cy="3420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5000"/>
              </ns157:lnSpc>
              <ns157:defRPr sz="1050" b="0">
                <ns157:solidFill>
                  <ns157:srgbClr val="20262C"/>
                </ns157:solidFill>
                <ns157:latin typeface="Arial"/>
                <ns157:ea typeface="Arial"/>
                <ns157:cs typeface="Arial"/>
              </ns157:defRPr>
            </ns157:pPr>
            <ns157:r>
              <ns157:rPr sz="1050" b="0">
                <ns157:solidFill>
                  <ns157:srgbClr val="20262C"/>
                </ns157:solidFill>
                <ns157:latin typeface="Arial"/>
                <ns157:ea typeface="Arial"/>
                <ns157:cs typeface="Arial"/>
              </ns157:rPr>
              <ns157:t>Sales volume</ns157:t>
            </ns157:r>
          </ns157:p>
          <ns158:p xmlns:ns158="http://schemas.openxmlformats.org/drawingml/2006/main">
            <ns158:pPr algn="l">
              <ns158:lnSpc>
                <ns158:spcPct val="105000"/>
              </ns158:lnSpc>
              <ns158:defRPr sz="1050" b="0">
                <ns158:solidFill>
                  <ns158:srgbClr val="20262C"/>
                </ns158:solidFill>
                <ns158:latin typeface="Arial"/>
                <ns158:ea typeface="Arial"/>
                <ns158:cs typeface="Arial"/>
              </ns158:defRPr>
            </ns158:pPr>
            <ns158:r>
              <ns158:rPr sz="1050" b="0">
                <ns158:solidFill>
                  <ns158:srgbClr val="20262C"/>
                </ns158:solidFill>
                <ns158:latin typeface="Arial"/>
                <ns158:ea typeface="Arial"/>
                <ns158:cs typeface="Arial"/>
              </ns158:rPr>
              <ns158:t>(m units)</ns158:t>
            </ns158:r>
          </ns158:p>
        </p:txBody>
      </p:sp>
      <p:sp>
        <p:nvSpPr>
          <p:cNvPr id="126" name="input.quarter.results.volume.values"/>
          <p:cNvSpPr/>
          <p:nvPr/>
        </p:nvSpPr>
        <p:spPr>
          <ns159:xfrm xmlns:ns159="http://schemas.openxmlformats.org/drawingml/2006/main">
            <ns159:off x="3322800" y="2408400"/>
            <ns159:ext cx="666000" cy="198000"/>
          </ns159:xfrm>
          <ns160:prstGeom xmlns:ns160="http://schemas.openxmlformats.org/drawingml/2006/main" prst="rect">
            <ns160:avLst/>
          </ns160:prstGeom>
          <ns161:noFill xmlns:ns161="http://schemas.openxmlformats.org/drawingml/2006/main"/>
          <ns162:ln xmlns:ns162="http://schemas.openxmlformats.org/drawingml/2006/main" w="0">
            <ns162:noFill/>
          </ns162:ln>
        </p:spPr>
        <p:txBody>
          <ns163:bodyPr xmlns:ns163="http://schemas.openxmlformats.org/drawingml/2006/main" wrap="square" lIns="0" rIns="0" tIns="0" bIns="0" anchor="t">
            <ns163:noAutofit/>
          </ns163:bodyPr>
          <ns164:lstStyle xmlns:ns164="http://schemas.openxmlformats.org/drawingml/2006/main"/>
          <ns165:p xmlns:ns165="http://schemas.openxmlformats.org/drawingml/2006/main">
            <ns165:pPr algn="l">
              <ns165:lnSpc>
                <ns165:spcPct val="105000"/>
              </ns165:lnSpc>
              <ns165:defRPr sz="1200" b="1">
                <ns165:solidFill>
                  <ns165:srgbClr val="317F7B"/>
                </ns165:solidFill>
                <ns165:latin typeface="Arial"/>
                <ns165:ea typeface="Arial"/>
                <ns165:cs typeface="Arial"/>
              </ns165:defRPr>
            </ns165:pPr>
            <ns165:r>
              <ns165:rPr sz="1200" b="1">
                <ns165:solidFill>
                  <ns165:srgbClr val="317F7B"/>
                </ns165:solidFill>
                <ns165:latin typeface="Arial"/>
                <ns165:ea typeface="Arial"/>
                <ns165:cs typeface="Arial"/>
              </ns165:rPr>
              <ns165:t>1.0 / 1.1</ns165:t>
            </ns165:r>
          </ns165:p>
        </p:txBody>
      </p:sp>
      <p:sp>
        <p:nvSpPr>
          <p:cNvPr id="127" name="input.meeting.notes.paper"/>
          <p:cNvSpPr/>
          <p:nvPr/>
        </p:nvSpPr>
        <p:spPr>
          <ns166:xfrm xmlns:ns166="http://schemas.openxmlformats.org/drawingml/2006/main">
            <ns166:off x="2422800" y="2862000"/>
            <ns166:ext cx="1620000" cy="666000"/>
          </ns166:xfrm>
          <ns167:prstGeom xmlns:ns167="http://schemas.openxmlformats.org/drawingml/2006/main" prst="foldedCorner">
            <ns167:avLst/>
          </ns167:prstGeom>
          <ns168:solidFill xmlns:ns168="http://schemas.openxmlformats.org/drawingml/2006/main">
            <ns168:srgbClr val="FFFFFF"/>
          </ns168:solidFill>
          <ns169:ln xmlns:ns169="http://schemas.openxmlformats.org/drawingml/2006/main" w="9525">
            <ns169:solidFill>
              <ns169:srgbClr val="317F7B"/>
            </ns169:solidFill>
          </ns169:ln>
        </p:spPr>
      </p:sp>
      <p:sp>
        <p:nvSpPr>
          <p:cNvPr id="128" name="input.meeting.notes.title"/>
          <p:cNvSpPr/>
          <p:nvPr/>
        </p:nvSpPr>
        <p:spPr>
          <ns170:xfrm xmlns:ns170="http://schemas.openxmlformats.org/drawingml/2006/main">
            <ns170:off x="2487600" y="2905200"/>
            <ns170:ext cx="1422000" cy="198000"/>
          </ns170:xfrm>
          <ns171:prstGeom xmlns:ns171="http://schemas.openxmlformats.org/drawingml/2006/main" prst="rect">
            <ns171:avLst/>
          </ns171:prstGeom>
          <ns172:noFill xmlns:ns172="http://schemas.openxmlformats.org/drawingml/2006/main"/>
          <ns173:ln xmlns:ns173="http://schemas.openxmlformats.org/drawingml/2006/main" w="0">
            <ns173:noFill/>
          </ns173:ln>
        </p:spPr>
        <p:txBody>
          <ns174:bodyPr xmlns:ns174="http://schemas.openxmlformats.org/drawingml/2006/main" wrap="square" lIns="0" rIns="0" tIns="0" bIns="0" anchor="t">
            <ns174:noAutofit/>
          </ns174:bodyPr>
          <ns175:lstStyle xmlns:ns175="http://schemas.openxmlformats.org/drawingml/2006/main"/>
          <ns176:p xmlns:ns176="http://schemas.openxmlformats.org/drawingml/2006/main">
            <ns176:pPr algn="l">
              <ns176:lnSpc>
                <ns176:spcPct val="105000"/>
              </ns176:lnSpc>
              <ns176:defRPr sz="1250" b="1">
                <ns176:solidFill>
                  <ns176:srgbClr val="317F7B"/>
                </ns176:solidFill>
                <ns176:latin typeface="Arial"/>
                <ns176:ea typeface="Arial"/>
                <ns176:cs typeface="Arial"/>
              </ns176:defRPr>
            </ns176:pPr>
            <ns176:r>
              <ns176:rPr sz="1250" b="1">
                <ns176:solidFill>
                  <ns176:srgbClr val="317F7B"/>
                </ns176:solidFill>
                <ns176:latin typeface="Arial"/>
                <ns176:ea typeface="Arial"/>
                <ns176:cs typeface="Arial"/>
              </ns176:rPr>
              <ns176:t>[2] Meeting notes</ns176:t>
            </ns176:r>
          </ns176:p>
        </p:txBody>
      </p:sp>
      <p:sp>
        <p:nvSpPr>
          <p:cNvPr id="129" name="input.meeting.notes.content"/>
          <p:cNvSpPr/>
          <p:nvPr/>
        </p:nvSpPr>
        <p:spPr>
          <ns177:xfrm xmlns:ns177="http://schemas.openxmlformats.org/drawingml/2006/main">
            <ns177:off x="2487600" y="3121200"/>
            <ns177:ext cx="1490400" cy="356400"/>
          </ns177:xfrm>
          <ns178:prstGeom xmlns:ns178="http://schemas.openxmlformats.org/drawingml/2006/main" prst="rect">
            <ns178:avLst/>
          </ns178:prstGeom>
          <ns179:noFill xmlns:ns179="http://schemas.openxmlformats.org/drawingml/2006/main"/>
          <ns180:ln xmlns:ns180="http://schemas.openxmlformats.org/drawingml/2006/main" w="0">
            <ns180:noFill/>
          </ns180:ln>
        </p:spPr>
        <p:txBody>
          <ns181:bodyPr xmlns:ns181="http://schemas.openxmlformats.org/drawingml/2006/main" wrap="square" lIns="0" rIns="0" tIns="0" bIns="0" anchor="t">
            <ns181:noAutofit/>
          </ns181:bodyPr>
          <ns182:lstStyle xmlns:ns182="http://schemas.openxmlformats.org/drawingml/2006/main"/>
          <ns183:p xmlns:ns183="http://schemas.openxmlformats.org/drawingml/2006/main">
            <ns183:pPr algn="l">
              <ns183:lnSpc>
                <ns183:spcPct val="100000"/>
              </ns183:lnSpc>
              <ns183:defRPr sz="1150" b="0">
                <ns183:solidFill>
                  <ns183:srgbClr val="20262C"/>
                </ns183:solidFill>
                <ns183:latin typeface="Arial"/>
                <ns183:ea typeface="Arial"/>
                <ns183:cs typeface="Arial"/>
              </ns183:defRPr>
            </ns183:pPr>
            <ns183:r>
              <ns183:rPr sz="1150" b="0">
                <ns183:solidFill>
                  <ns183:srgbClr val="20262C"/>
                </ns183:solidFill>
                <ns183:latin typeface="Arial"/>
                <ns183:ea typeface="Arial"/>
                <ns183:cs typeface="Arial"/>
              </ns183:rPr>
              <ns183:t>Restocking lifted</ns183:t>
            </ns183:r>
          </ns183:p>
          <ns184:p xmlns:ns184="http://schemas.openxmlformats.org/drawingml/2006/main">
            <ns184:pPr algn="l">
              <ns184:lnSpc>
                <ns184:spcPct val="100000"/>
              </ns184:lnSpc>
              <ns184:defRPr sz="1150" b="0">
                <ns184:solidFill>
                  <ns184:srgbClr val="20262C"/>
                </ns184:solidFill>
                <ns184:latin typeface="Arial"/>
                <ns184:ea typeface="Arial"/>
                <ns184:cs typeface="Arial"/>
              </ns184:defRPr>
            </ns184:pPr>
            <ns184:r>
              <ns184:rPr sz="1150" b="0">
                <ns184:solidFill>
                  <ns184:srgbClr val="20262C"/>
                </ns184:solidFill>
                <ns184:latin typeface="Arial"/>
                <ns184:ea typeface="Arial"/>
                <ns184:cs typeface="Arial"/>
              </ns184:rPr>
              <ns184:t>shipments</ns184:t>
            </ns184:r>
          </ns184:p>
        </p:txBody>
      </p:sp>
      <p:sp>
        <p:nvSpPr>
          <p:cNvPr id="130" name="input.research.reports.paper"/>
          <p:cNvSpPr/>
          <p:nvPr/>
        </p:nvSpPr>
        <p:spPr>
          <ns185:xfrm xmlns:ns185="http://schemas.openxmlformats.org/drawingml/2006/main">
            <ns185:off x="2422800" y="3618000"/>
            <ns185:ext cx="1620000" cy="928800"/>
          </ns185:xfrm>
          <ns186:prstGeom xmlns:ns186="http://schemas.openxmlformats.org/drawingml/2006/main" prst="foldedCorner">
            <ns186:avLst/>
          </ns186:prstGeom>
          <ns187:solidFill xmlns:ns187="http://schemas.openxmlformats.org/drawingml/2006/main">
            <ns187:srgbClr val="FFFFFF"/>
          </ns187:solidFill>
          <ns188:ln xmlns:ns188="http://schemas.openxmlformats.org/drawingml/2006/main" w="9525">
            <ns188:solidFill>
              <ns188:srgbClr val="317F7B"/>
            </ns188:solidFill>
          </ns188:ln>
        </p:spPr>
      </p:sp>
      <p:sp>
        <p:nvSpPr>
          <p:cNvPr id="131" name="input.research.reports.title"/>
          <p:cNvSpPr/>
          <p:nvPr/>
        </p:nvSpPr>
        <p:spPr>
          <ns189:xfrm xmlns:ns189="http://schemas.openxmlformats.org/drawingml/2006/main">
            <ns189:off x="2487600" y="3661200"/>
            <ns189:ext cx="1422000" cy="198000"/>
          </ns189:xfrm>
          <ns190:prstGeom xmlns:ns190="http://schemas.openxmlformats.org/drawingml/2006/main" prst="rect">
            <ns190:avLst/>
          </ns190:prstGeom>
          <ns191:noFill xmlns:ns191="http://schemas.openxmlformats.org/drawingml/2006/main"/>
          <ns192:ln xmlns:ns192="http://schemas.openxmlformats.org/drawingml/2006/main" w="0">
            <ns192:noFill/>
          </ns192:ln>
        </p:spPr>
        <p:txBody>
          <ns193:bodyPr xmlns:ns193="http://schemas.openxmlformats.org/drawingml/2006/main" wrap="square" lIns="0" rIns="0" tIns="0" bIns="0" anchor="t">
            <ns193:noAutofit/>
          </ns193:bodyPr>
          <ns194:lstStyle xmlns:ns194="http://schemas.openxmlformats.org/drawingml/2006/main"/>
          <ns195:p xmlns:ns195="http://schemas.openxmlformats.org/drawingml/2006/main">
            <ns195:pPr algn="l">
              <ns195:lnSpc>
                <ns195:spcPct val="105000"/>
              </ns195:lnSpc>
              <ns195:defRPr sz="1250" b="1">
                <ns195:solidFill>
                  <ns195:srgbClr val="317F7B"/>
                </ns195:solidFill>
                <ns195:latin typeface="Arial"/>
                <ns195:ea typeface="Arial"/>
                <ns195:cs typeface="Arial"/>
              </ns195:defRPr>
            </ns195:pPr>
            <ns195:r>
              <ns195:rPr sz="1250" b="1">
                <ns195:solidFill>
                  <ns195:srgbClr val="317F7B"/>
                </ns195:solidFill>
                <ns195:latin typeface="Arial"/>
                <ns195:ea typeface="Arial"/>
                <ns195:cs typeface="Arial"/>
              </ns195:rPr>
              <ns195:t>[3] Reports</ns195:t>
            </ns195:r>
          </ns195:p>
        </p:txBody>
      </p:sp>
      <p:sp>
        <p:nvSpPr>
          <p:cNvPr id="132" name="input.research.reports.content"/>
          <p:cNvSpPr/>
          <p:nvPr/>
        </p:nvSpPr>
        <p:spPr>
          <ns196:xfrm xmlns:ns196="http://schemas.openxmlformats.org/drawingml/2006/main">
            <ns196:off x="2487600" y="3877200"/>
            <ns196:ext cx="1490400" cy="619200"/>
          </ns196:xfrm>
          <ns197:prstGeom xmlns:ns197="http://schemas.openxmlformats.org/drawingml/2006/main" prst="rect">
            <ns197:avLst/>
          </ns197:prstGeom>
          <ns198:noFill xmlns:ns198="http://schemas.openxmlformats.org/drawingml/2006/main"/>
          <ns199:ln xmlns:ns199="http://schemas.openxmlformats.org/drawingml/2006/main" w="0">
            <ns199:noFill/>
          </ns199:ln>
        </p:spPr>
        <p:txBody>
          <ns200:bodyPr xmlns:ns200="http://schemas.openxmlformats.org/drawingml/2006/main" wrap="square" lIns="0" rIns="0" tIns="0" bIns="0" anchor="t">
            <ns200:noAutofit/>
          </ns200:bodyPr>
          <ns201:lstStyle xmlns:ns201="http://schemas.openxmlformats.org/drawingml/2006/main"/>
          <ns202:p xmlns:ns202="http://schemas.openxmlformats.org/drawingml/2006/main">
            <ns202:pPr algn="l">
              <ns202:lnSpc>
                <ns202:spcPct val="100000"/>
              </ns202:lnSpc>
              <ns202:defRPr sz="1050" b="0">
                <ns202:solidFill>
                  <ns202:srgbClr val="20262C"/>
                </ns202:solidFill>
                <ns202:latin typeface="Arial"/>
                <ns202:ea typeface="Arial"/>
                <ns202:cs typeface="Arial"/>
              </ns202:defRPr>
            </ns202:pPr>
            <ns202:r>
              <ns202:rPr sz="1050" b="0">
                <ns202:solidFill>
                  <ns202:srgbClr val="20262C"/>
                </ns202:solidFill>
                <ns202:latin typeface="Arial"/>
                <ns202:ea typeface="Arial"/>
                <ns202:cs typeface="Arial"/>
              </ns202:rPr>
              <ns202:t>A: demand recovery</ns202:t>
            </ns202:r>
          </ns202:p>
          <ns203:p xmlns:ns203="http://schemas.openxmlformats.org/drawingml/2006/main">
            <ns203:pPr algn="l">
              <ns203:lnSpc>
                <ns203:spcPct val="100000"/>
              </ns203:lnSpc>
              <ns203:defRPr sz="1050" b="0">
                <ns203:solidFill>
                  <ns203:srgbClr val="20262C"/>
                </ns203:solidFill>
                <ns203:latin typeface="Arial"/>
                <ns203:ea typeface="Arial"/>
                <ns203:cs typeface="Arial"/>
              </ns203:defRPr>
            </ns203:pPr>
            <ns203:r>
              <ns203:rPr sz="1050" b="0">
                <ns203:solidFill>
                  <ns203:srgbClr val="20262C"/>
                </ns203:solidFill>
                <ns203:latin typeface="Arial"/>
                <ns203:ea typeface="Arial"/>
                <ns203:cs typeface="Arial"/>
              </ns203:rPr>
              <ns203:t>can sustain growth</ns203:t>
            </ns203:r>
          </ns203:p>
          <ns204:p xmlns:ns204="http://schemas.openxmlformats.org/drawingml/2006/main">
            <ns204:pPr algn="l">
              <ns204:lnSpc>
                <ns204:spcPct val="100000"/>
              </ns204:lnSpc>
              <ns204:defRPr sz="1050" b="0">
                <ns204:solidFill>
                  <ns204:srgbClr val="20262C"/>
                </ns204:solidFill>
                <ns204:latin typeface="Arial"/>
                <ns204:ea typeface="Arial"/>
                <ns204:cs typeface="Arial"/>
              </ns204:defRPr>
            </ns204:pPr>
            <ns204:r>
              <ns204:rPr sz="1050" b="0">
                <ns204:solidFill>
                  <ns204:srgbClr val="20262C"/>
                </ns204:solidFill>
                <ns204:latin typeface="Arial"/>
                <ns204:ea typeface="Arial"/>
                <ns204:cs typeface="Arial"/>
              </ns204:rPr>
              <ns204:t>B: continued restocking</ns204:t>
            </ns204:r>
          </ns204:p>
          <ns205:p xmlns:ns205="http://schemas.openxmlformats.org/drawingml/2006/main">
            <ns205:pPr algn="l">
              <ns205:lnSpc>
                <ns205:spcPct val="100000"/>
              </ns205:lnSpc>
              <ns205:defRPr sz="1050" b="0">
                <ns205:solidFill>
                  <ns205:srgbClr val="20262C"/>
                </ns205:solidFill>
                <ns205:latin typeface="Arial"/>
                <ns205:ea typeface="Arial"/>
                <ns205:cs typeface="Arial"/>
              </ns205:defRPr>
            </ns205:pPr>
            <ns205:r>
              <ns205:rPr sz="1050" b="0">
                <ns205:solidFill>
                  <ns205:srgbClr val="20262C"/>
                </ns205:solidFill>
                <ns205:latin typeface="Arial"/>
                <ns205:ea typeface="Arial"/>
                <ns205:cs typeface="Arial"/>
              </ns205:rPr>
              <ns205:t>is uncertain</ns205:t>
            </ns205:r>
          </ns205:p>
        </p:txBody>
      </p:sp>
      <p:sp>
        <p:nvSpPr>
          <p:cNvPr id="133" name="actor.llm"/>
          <p:cNvSpPr/>
          <p:nvPr/>
        </p:nvSpPr>
        <p:spPr>
          <ns206:xfrm xmlns:ns206="http://schemas.openxmlformats.org/drawingml/2006/main">
            <ns206:off x="4392000" y="1890000"/>
            <ns206:ext cx="1458000" cy="972000"/>
          </ns206:xfrm>
          <ns207:prstGeom xmlns:ns207="http://schemas.openxmlformats.org/drawingml/2006/main" prst="roundRect">
            <ns207:avLst/>
          </ns207:prstGeom>
          <ns208:solidFill xmlns:ns208="http://schemas.openxmlformats.org/drawingml/2006/main">
            <ns208:srgbClr val="EAF3FA"/>
          </ns208:solidFill>
          <ns209:ln xmlns:ns209="http://schemas.openxmlformats.org/drawingml/2006/main" w="9525">
            <ns209:solidFill>
              <ns209:srgbClr val="005A9C"/>
            </ns209:solidFill>
          </ns209:ln>
        </p:spPr>
        <p:txBody>
          <ns210:bodyPr xmlns:ns210="http://schemas.openxmlformats.org/drawingml/2006/main" wrap="square" lIns="61200" rIns="61200" tIns="61200" bIns="61200" anchor="ctr">
            <ns210:noAutofit/>
          </ns210:bodyPr>
          <ns211:lstStyle xmlns:ns211="http://schemas.openxmlformats.org/drawingml/2006/main"/>
          <ns212:p xmlns:ns212="http://schemas.openxmlformats.org/drawingml/2006/main">
            <ns212:pPr algn="l">
              <ns212:lnSpc>
                <ns212:spcPct val="105000"/>
              </ns212:lnSpc>
              <ns212:defRPr sz="1300" b="1">
                <ns212:solidFill>
                  <ns212:srgbClr val="005A9C"/>
                </ns212:solidFill>
                <ns212:latin typeface="Arial"/>
                <ns212:ea typeface="Arial"/>
                <ns212:cs typeface="Arial"/>
              </ns212:defRPr>
            </ns212:pPr>
            <ns212:r>
              <ns212:rPr sz="1300" b="1">
                <ns212:solidFill>
                  <ns212:srgbClr val="005A9C"/>
                </ns212:solidFill>
                <ns212:latin typeface="Arial"/>
                <ns212:ea typeface="Arial"/>
                <ns212:cs typeface="Arial"/>
              </ns212:rPr>
              <ns212:t>LLM</ns212:t>
            </ns212:r>
          </ns212:p>
          <ns213:p xmlns:ns213="http://schemas.openxmlformats.org/drawingml/2006/main">
            <ns213:pPr algn="l">
              <ns213:lnSpc>
                <ns213:spcPct val="105000"/>
              </ns213:lnSpc>
              <ns213:defRPr sz="1150" b="0">
                <ns213:solidFill>
                  <ns213:srgbClr val="20262C"/>
                </ns213:solidFill>
                <ns213:latin typeface="Arial"/>
                <ns213:ea typeface="Arial"/>
                <ns213:cs typeface="Arial"/>
              </ns213:defRPr>
            </ns213:pPr>
            <ns213:r>
              <ns213:rPr sz="1150" b="0">
                <ns213:solidFill>
                  <ns213:srgbClr val="20262C"/>
                </ns213:solidFill>
                <ns213:latin typeface="Arial"/>
                <ns213:ea typeface="Arial"/>
                <ns213:cs typeface="Arial"/>
              </ns213:rPr>
              <ns213:t>Compare sources</ns213:t>
            </ns213:r>
          </ns213:p>
          <ns214:p xmlns:ns214="http://schemas.openxmlformats.org/drawingml/2006/main">
            <ns214:pPr algn="l">
              <ns214:lnSpc>
                <ns214:spcPct val="105000"/>
              </ns214:lnSpc>
              <ns214:defRPr sz="1150" b="0">
                <ns214:solidFill>
                  <ns214:srgbClr val="20262C"/>
                </ns214:solidFill>
                <ns214:latin typeface="Arial"/>
                <ns214:ea typeface="Arial"/>
                <ns214:cs typeface="Arial"/>
              </ns214:defRPr>
            </ns214:pPr>
            <ns214:r>
              <ns214:rPr sz="1150" b="0">
                <ns214:solidFill>
                  <ns214:srgbClr val="20262C"/>
                </ns214:solidFill>
                <ns214:latin typeface="Arial"/>
                <ns214:ea typeface="Arial"/>
                <ns214:cs typeface="Arial"/>
              </ns214:rPr>
              <ns214:t>Link drivers</ns214:t>
            </ns214:r>
          </ns214:p>
          <ns215:p xmlns:ns215="http://schemas.openxmlformats.org/drawingml/2006/main">
            <ns215:pPr algn="l">
              <ns215:lnSpc>
                <ns215:spcPct val="105000"/>
              </ns215:lnSpc>
              <ns215:defRPr sz="1150" b="0">
                <ns215:solidFill>
                  <ns215:srgbClr val="20262C"/>
                </ns215:solidFill>
                <ns215:latin typeface="Arial"/>
                <ns215:ea typeface="Arial"/>
                <ns215:cs typeface="Arial"/>
              </ns215:defRPr>
            </ns215:pPr>
            <ns215:r>
              <ns215:rPr sz="1150" b="0">
                <ns215:solidFill>
                  <ns215:srgbClr val="20262C"/>
                </ns215:solidFill>
                <ns215:latin typeface="Arial"/>
                <ns215:ea typeface="Arial"/>
                <ns215:cs typeface="Arial"/>
              </ns215:rPr>
              <ns215:t>Compare views</ns215:t>
            </ns215:r>
          </ns215:p>
        </p:txBody>
      </p:sp>
      <p:cxnSp>
        <p:nvCxnSpPr>
          <p:cNvPr id="134" name="flow.sources.to.llm.source.0"/>
          <p:cNvCxnSpPr/>
          <p:nvPr/>
        </p:nvCxnSpPr>
        <p:spPr>
          <ns216:xfrm xmlns:ns216="http://schemas.openxmlformats.org/drawingml/2006/main">
            <ns216:off x="4042800" y="2232000"/>
            <ns216:ext cx="151200" cy="1"/>
          </ns216:xfrm>
          <ns217:prstGeom xmlns:ns217="http://schemas.openxmlformats.org/drawingml/2006/main" prst="line">
            <ns217:avLst/>
          </ns217:prstGeom>
          <ns218:ln xmlns:ns218="http://schemas.openxmlformats.org/drawingml/2006/main" w="9525">
            <ns218:solidFill>
              <ns218:srgbClr val="317F7B"/>
            </ns218:solidFill>
          </ns218:ln>
        </p:spPr>
      </p:cxnSp>
      <p:cxnSp>
        <p:nvCxnSpPr>
          <p:cNvPr id="135" name="flow.sources.to.llm.source.1"/>
          <p:cNvCxnSpPr/>
          <p:nvPr/>
        </p:nvCxnSpPr>
        <p:spPr>
          <ns219:xfrm xmlns:ns219="http://schemas.openxmlformats.org/drawingml/2006/main">
            <ns219:off x="4042800" y="3195000"/>
            <ns219:ext cx="151200" cy="1"/>
          </ns219:xfrm>
          <ns220:prstGeom xmlns:ns220="http://schemas.openxmlformats.org/drawingml/2006/main" prst="line">
            <ns220:avLst/>
          </ns220:prstGeom>
          <ns221:ln xmlns:ns221="http://schemas.openxmlformats.org/drawingml/2006/main" w="9525">
            <ns221:solidFill>
              <ns221:srgbClr val="317F7B"/>
            </ns221:solidFill>
          </ns221:ln>
        </p:spPr>
      </p:cxnSp>
      <p:cxnSp>
        <p:nvCxnSpPr>
          <p:cNvPr id="136" name="flow.sources.to.llm.source.2"/>
          <p:cNvCxnSpPr/>
          <p:nvPr/>
        </p:nvCxnSpPr>
        <p:spPr>
          <ns222:xfrm xmlns:ns222="http://schemas.openxmlformats.org/drawingml/2006/main">
            <ns222:off x="4042800" y="4064400"/>
            <ns222:ext cx="151200" cy="1"/>
          </ns222:xfrm>
          <ns223:prstGeom xmlns:ns223="http://schemas.openxmlformats.org/drawingml/2006/main" prst="line">
            <ns223:avLst/>
          </ns223:prstGeom>
          <ns224:ln xmlns:ns224="http://schemas.openxmlformats.org/drawingml/2006/main" w="9525">
            <ns224:solidFill>
              <ns224:srgbClr val="317F7B"/>
            </ns224:solidFill>
          </ns224:ln>
        </p:spPr>
      </p:cxnSp>
      <p:cxnSp>
        <p:nvCxnSpPr>
          <p:cNvPr id="137" name="flow.sources.to.llm.bus"/>
          <p:cNvCxnSpPr/>
          <p:nvPr/>
        </p:nvCxnSpPr>
        <p:spPr>
          <ns225:xfrm xmlns:ns225="http://schemas.openxmlformats.org/drawingml/2006/main">
            <ns225:off x="4194000" y="2232000"/>
            <ns225:ext cx="1" cy="1832400"/>
          </ns225:xfrm>
          <ns226:prstGeom xmlns:ns226="http://schemas.openxmlformats.org/drawingml/2006/main" prst="line">
            <ns226:avLst/>
          </ns226:prstGeom>
          <ns227:ln xmlns:ns227="http://schemas.openxmlformats.org/drawingml/2006/main" w="9525">
            <ns227:solidFill>
              <ns227:srgbClr val="317F7B"/>
            </ns227:solidFill>
          </ns227:ln>
        </p:spPr>
      </p:cxnSp>
      <p:cxnSp>
        <p:nvCxnSpPr>
          <p:cNvPr id="138" name="flow.sources.to.llm.target"/>
          <p:cNvCxnSpPr/>
          <p:nvPr/>
        </p:nvCxnSpPr>
        <p:spPr>
          <ns228:xfrm xmlns:ns228="http://schemas.openxmlformats.org/drawingml/2006/main">
            <ns228:off x="4194000" y="2376000"/>
            <ns228:ext cx="198000" cy="1"/>
          </ns228:xfrm>
          <ns229:prstGeom xmlns:ns229="http://schemas.openxmlformats.org/drawingml/2006/main" prst="line">
            <ns229:avLst/>
          </ns229:prstGeom>
          <ns230:ln xmlns:ns230="http://schemas.openxmlformats.org/drawingml/2006/main" w="11430">
            <ns230:solidFill>
              <ns230:srgbClr val="317F7B"/>
            </ns230:solidFill>
            <ns230:tailEnd type="triangle" w="sm" len="sm"/>
          </ns230:ln>
        </p:spPr>
      </p:cxnSp>
      <p:sp>
        <p:nvSpPr>
          <p:cNvPr id="139" name="tool.calculation"/>
          <p:cNvSpPr/>
          <p:nvPr/>
        </p:nvSpPr>
        <p:spPr>
          <ns231:xfrm xmlns:ns231="http://schemas.openxmlformats.org/drawingml/2006/main">
            <ns231:off x="4392000" y="3348000"/>
            <ns231:ext cx="1602000" cy="1152000"/>
          </ns231:xfrm>
          <ns232:prstGeom xmlns:ns232="http://schemas.openxmlformats.org/drawingml/2006/main" prst="roundRect">
            <ns232:avLst/>
          </ns232:prstGeom>
          <ns233:solidFill xmlns:ns233="http://schemas.openxmlformats.org/drawingml/2006/main">
            <ns233:srgbClr val="F3F7FA"/>
          </ns233:solidFill>
          <ns234:ln xmlns:ns234="http://schemas.openxmlformats.org/drawingml/2006/main" w="9525">
            <ns234:solidFill>
              <ns234:srgbClr val="65727D"/>
            </ns234:solidFill>
          </ns234:ln>
        </p:spPr>
        <p:txBody>
          <ns235:bodyPr xmlns:ns235="http://schemas.openxmlformats.org/drawingml/2006/main" wrap="square" lIns="61200" rIns="61200" tIns="61200" bIns="61200" anchor="ctr">
            <ns235:noAutofit/>
          </ns235:bodyPr>
          <ns236:lstStyle xmlns:ns236="http://schemas.openxmlformats.org/drawingml/2006/main"/>
          <ns237:p xmlns:ns237="http://schemas.openxmlformats.org/drawingml/2006/main">
            <ns237:pPr algn="l">
              <ns237:lnSpc>
                <ns237:spcPct val="105000"/>
              </ns237:lnSpc>
              <ns237:defRPr sz="1300" b="1">
                <ns237:solidFill>
                  <ns237:srgbClr val="65727D"/>
                </ns237:solidFill>
                <ns237:latin typeface="Arial"/>
                <ns237:ea typeface="Arial"/>
                <ns237:cs typeface="Arial"/>
              </ns237:defRPr>
            </ns237:pPr>
            <ns237:r>
              <ns237:rPr sz="1300" b="1">
                <ns237:solidFill>
                  <ns237:srgbClr val="65727D"/>
                </ns237:solidFill>
                <ns237:latin typeface="Arial"/>
                <ns237:ea typeface="Arial"/>
                <ns237:cs typeface="Arial"/>
              </ns237:rPr>
              <ns237:t>Tools</ns237:t>
            </ns237:r>
          </ns237:p>
          <ns238:p xmlns:ns238="http://schemas.openxmlformats.org/drawingml/2006/main">
            <ns238:pPr algn="l">
              <ns238:lnSpc>
                <ns238:spcPct val="105000"/>
              </ns238:lnSpc>
              <ns238:defRPr sz="1150" b="0">
                <ns238:solidFill>
                  <ns238:srgbClr val="20262C"/>
                </ns238:solidFill>
                <ns238:latin typeface="Arial"/>
                <ns238:ea typeface="Arial"/>
                <ns238:cs typeface="Arial"/>
              </ns238:defRPr>
            </ns238:pPr>
            <ns238:r>
              <ns238:rPr sz="1150" b="0">
                <ns238:solidFill>
                  <ns238:srgbClr val="20262C"/>
                </ns238:solidFill>
                <ns238:latin typeface="Arial"/>
                <ns238:ea typeface="Arial"/>
                <ns238:cs typeface="Arial"/>
              </ns238:rPr>
              <ns238:t>Revenue +10%</ns238:t>
            </ns238:r>
          </ns238:p>
          <ns239:p xmlns:ns239="http://schemas.openxmlformats.org/drawingml/2006/main">
            <ns239:pPr algn="l">
              <ns239:lnSpc>
                <ns239:spcPct val="105000"/>
              </ns239:lnSpc>
              <ns239:defRPr sz="1150" b="0">
                <ns239:solidFill>
                  <ns239:srgbClr val="20262C"/>
                </ns239:solidFill>
                <ns239:latin typeface="Arial"/>
                <ns239:ea typeface="Arial"/>
                <ns239:cs typeface="Arial"/>
              </ns239:defRPr>
            </ns239:pPr>
            <ns239:r>
              <ns239:rPr sz="1150" b="0">
                <ns239:solidFill>
                  <ns239:srgbClr val="20262C"/>
                </ns239:solidFill>
                <ns239:latin typeface="Arial"/>
                <ns239:ea typeface="Arial"/>
                <ns239:cs typeface="Arial"/>
              </ns239:rPr>
              <ns239:t>Sales volume +10%</ns239:t>
            </ns239:r>
          </ns239:p>
          <ns240:p xmlns:ns240="http://schemas.openxmlformats.org/drawingml/2006/main">
            <ns240:pPr algn="l">
              <ns240:lnSpc>
                <ns240:spcPct val="105000"/>
              </ns240:lnSpc>
              <ns240:defRPr sz="1150" b="0">
                <ns240:solidFill>
                  <ns240:srgbClr val="20262C"/>
                </ns240:solidFill>
                <ns240:latin typeface="Arial"/>
                <ns240:ea typeface="Arial"/>
                <ns240:cs typeface="Arial"/>
              </ns240:defRPr>
            </ns240:pPr>
            <ns240:r>
              <ns240:rPr sz="1150" b="0">
                <ns240:solidFill>
                  <ns240:srgbClr val="20262C"/>
                </ns240:solidFill>
                <ns240:latin typeface="Arial"/>
                <ns240:ea typeface="Arial"/>
                <ns240:cs typeface="Arial"/>
              </ns240:rPr>
              <ns240:t>Average price unchanged</ns240:t>
            </ns240:r>
          </ns240:p>
        </p:txBody>
      </p:sp>
      <p:cxnSp>
        <p:nvCxnSpPr>
          <p:cNvPr id="140" name="flow.llm.calculate.request"/>
          <p:cNvCxnSpPr/>
          <p:nvPr/>
        </p:nvCxnSpPr>
        <p:spPr>
          <ns241:xfrm xmlns:ns241="http://schemas.openxmlformats.org/drawingml/2006/main">
            <ns241:off x="4716000" y="2887200"/>
            <ns241:ext cx="1" cy="424800"/>
          </ns241:xfrm>
          <ns242:prstGeom xmlns:ns242="http://schemas.openxmlformats.org/drawingml/2006/main" prst="line">
            <ns242:avLst/>
          </ns242:prstGeom>
          <ns243:ln xmlns:ns243="http://schemas.openxmlformats.org/drawingml/2006/main" w="11430">
            <ns243:solidFill>
              <ns243:srgbClr val="005A9C"/>
            </ns243:solidFill>
            <ns243:tailEnd type="triangle" w="sm" len="sm"/>
          </ns243:ln>
        </p:spPr>
      </p:cxnSp>
      <p:cxnSp>
        <p:nvCxnSpPr>
          <p:cNvPr id="141" name="flow.calculate.result.return"/>
          <p:cNvCxnSpPr/>
          <p:nvPr/>
        </p:nvCxnSpPr>
        <p:spPr>
          <ns244:xfrm xmlns:ns244="http://schemas.openxmlformats.org/drawingml/2006/main" flipV="1">
            <ns244:off x="5486400" y="2887200"/>
            <ns244:ext cx="1" cy="424800"/>
          </ns244:xfrm>
          <ns245:prstGeom xmlns:ns245="http://schemas.openxmlformats.org/drawingml/2006/main" prst="line">
            <ns245:avLst/>
          </ns245:prstGeom>
          <ns246:ln xmlns:ns246="http://schemas.openxmlformats.org/drawingml/2006/main" w="11430">
            <ns246:solidFill>
              <ns246:srgbClr val="005A9C"/>
            </ns246:solidFill>
            <ns246:tailEnd type="triangle" w="sm" len="sm"/>
          </ns246:ln>
        </p:spPr>
      </p:cxnSp>
      <p:sp>
        <p:nvSpPr>
          <p:cNvPr id="142" name="calculate.request.label"/>
          <p:cNvSpPr/>
          <p:nvPr/>
        </p:nvSpPr>
        <p:spPr>
          <ns247:xfrm xmlns:ns247="http://schemas.openxmlformats.org/drawingml/2006/main">
            <ns247:off x="4366800" y="3034800"/>
            <ns247:ext cx="558000" cy="136800"/>
          </ns247:xfrm>
          <ns248:prstGeom xmlns:ns248="http://schemas.openxmlformats.org/drawingml/2006/main" prst="rect">
            <ns248:avLst/>
          </ns248:prstGeom>
          <ns249:noFill xmlns:ns249="http://schemas.openxmlformats.org/drawingml/2006/main"/>
          <ns250:ln xmlns:ns250="http://schemas.openxmlformats.org/drawingml/2006/main" w="0">
            <ns250:noFill/>
          </ns250:ln>
        </p:spPr>
        <p:txBody>
          <ns251:bodyPr xmlns:ns251="http://schemas.openxmlformats.org/drawingml/2006/main" wrap="square" lIns="0" rIns="0" tIns="0" bIns="0" anchor="t">
            <ns251:noAutofit/>
          </ns251:bodyPr>
          <ns252:lstStyle xmlns:ns252="http://schemas.openxmlformats.org/drawingml/2006/main"/>
          <ns253:p xmlns:ns253="http://schemas.openxmlformats.org/drawingml/2006/main">
            <ns253:pPr algn="l">
              <ns253:lnSpc>
                <ns253:spcPct val="105000"/>
              </ns253:lnSpc>
              <ns253:defRPr sz="850" b="0">
                <ns253:solidFill>
                  <ns253:srgbClr val="65727D"/>
                </ns253:solidFill>
                <ns253:latin typeface="Arial"/>
                <ns253:ea typeface="Arial"/>
                <ns253:cs typeface="Arial"/>
              </ns253:defRPr>
            </ns253:pPr>
            <ns253:r>
              <ns253:rPr sz="850" b="0">
                <ns253:solidFill>
                  <ns253:srgbClr val="65727D"/>
                </ns253:solidFill>
                <ns253:latin typeface="Arial"/>
                <ns253:ea typeface="Arial"/>
                <ns253:cs typeface="Arial"/>
              </ns253:rPr>
              <ns253:t>Calculate</ns253:t>
            </ns253:r>
          </ns253:p>
        </p:txBody>
      </p:sp>
      <p:sp>
        <p:nvSpPr>
          <p:cNvPr id="143" name="calculate.return.label"/>
          <p:cNvSpPr/>
          <p:nvPr/>
        </p:nvSpPr>
        <p:spPr>
          <ns254:xfrm xmlns:ns254="http://schemas.openxmlformats.org/drawingml/2006/main">
            <ns254:off x="5263200" y="3034800"/>
            <ns254:ext cx="558000" cy="136800"/>
          </ns254:xfrm>
          <ns255:prstGeom xmlns:ns255="http://schemas.openxmlformats.org/drawingml/2006/main" prst="rect">
            <ns255:avLst/>
          </ns255:prstGeom>
          <ns256:noFill xmlns:ns256="http://schemas.openxmlformats.org/drawingml/2006/main"/>
          <ns257:ln xmlns:ns257="http://schemas.openxmlformats.org/drawingml/2006/main" w="0">
            <ns257:noFill/>
          </ns257:ln>
        </p:spPr>
        <p:txBody>
          <ns258:bodyPr xmlns:ns258="http://schemas.openxmlformats.org/drawingml/2006/main" wrap="square" lIns="0" rIns="0" tIns="0" bIns="0" anchor="t">
            <ns258:noAutofit/>
          </ns258:bodyPr>
          <ns259:lstStyle xmlns:ns259="http://schemas.openxmlformats.org/drawingml/2006/main"/>
          <ns260:p xmlns:ns260="http://schemas.openxmlformats.org/drawingml/2006/main">
            <ns260:pPr algn="l">
              <ns260:lnSpc>
                <ns260:spcPct val="105000"/>
              </ns260:lnSpc>
              <ns260:defRPr sz="850" b="0">
                <ns260:solidFill>
                  <ns260:srgbClr val="65727D"/>
                </ns260:solidFill>
                <ns260:latin typeface="Arial"/>
                <ns260:ea typeface="Arial"/>
                <ns260:cs typeface="Arial"/>
              </ns260:defRPr>
            </ns260:pPr>
            <ns260:r>
              <ns260:rPr sz="850" b="0">
                <ns260:solidFill>
                  <ns260:srgbClr val="65727D"/>
                </ns260:solidFill>
                <ns260:latin typeface="Arial"/>
                <ns260:ea typeface="Arial"/>
                <ns260:cs typeface="Arial"/>
              </ns260:rPr>
              <ns260:t>Result</ns260:t>
            </ns260:r>
          </ns260:p>
        </p:txBody>
      </p:sp>
      <p:sp>
        <p:nvSpPr>
          <p:cNvPr id="144" name="output.research.draft.paper"/>
          <p:cNvSpPr/>
          <p:nvPr/>
        </p:nvSpPr>
        <p:spPr>
          <ns261:xfrm xmlns:ns261="http://schemas.openxmlformats.org/drawingml/2006/main">
            <ns261:off x="6127200" y="1778400"/>
            <ns261:ext cx="2559600" cy="1476000"/>
          </ns261:xfrm>
          <ns262:prstGeom xmlns:ns262="http://schemas.openxmlformats.org/drawingml/2006/main" prst="foldedCorner">
            <ns262:avLst/>
          </ns262:prstGeom>
          <ns263:solidFill xmlns:ns263="http://schemas.openxmlformats.org/drawingml/2006/main">
            <ns263:srgbClr val="FFFFFF"/>
          </ns263:solidFill>
          <ns264:ln xmlns:ns264="http://schemas.openxmlformats.org/drawingml/2006/main" w="9525">
            <ns264:solidFill>
              <ns264:srgbClr val="317F7B"/>
            </ns264:solidFill>
          </ns264:ln>
        </p:spPr>
      </p:sp>
      <p:sp>
        <p:nvSpPr>
          <p:cNvPr id="145" name="output.research.draft.title"/>
          <p:cNvSpPr/>
          <p:nvPr/>
        </p:nvSpPr>
        <p:spPr>
          <ns265:xfrm xmlns:ns265="http://schemas.openxmlformats.org/drawingml/2006/main">
            <ns265:off x="6192000" y="1821600"/>
            <ns265:ext cx="2361600" cy="198000"/>
          </ns265:xfrm>
          <ns266:prstGeom xmlns:ns266="http://schemas.openxmlformats.org/drawingml/2006/main" prst="rect">
            <ns266:avLst/>
          </ns266:prstGeom>
          <ns267:noFill xmlns:ns267="http://schemas.openxmlformats.org/drawingml/2006/main"/>
          <ns268:ln xmlns:ns268="http://schemas.openxmlformats.org/drawingml/2006/main" w="0">
            <ns268:noFill/>
          </ns268:ln>
        </p:spPr>
        <p:txBody>
          <ns269:bodyPr xmlns:ns269="http://schemas.openxmlformats.org/drawingml/2006/main" wrap="square" lIns="0" rIns="0" tIns="0" bIns="0" anchor="t">
            <ns269:noAutofit/>
          </ns269:bodyPr>
          <ns270:lstStyle xmlns:ns270="http://schemas.openxmlformats.org/drawingml/2006/main"/>
          <ns271:p xmlns:ns271="http://schemas.openxmlformats.org/drawingml/2006/main">
            <ns271:pPr algn="l">
              <ns271:lnSpc>
                <ns271:spcPct val="105000"/>
              </ns271:lnSpc>
              <ns271:defRPr sz="1250" b="1">
                <ns271:solidFill>
                  <ns271:srgbClr val="317F7B"/>
                </ns271:solidFill>
                <ns271:latin typeface="Arial"/>
                <ns271:ea typeface="Arial"/>
                <ns271:cs typeface="Arial"/>
              </ns271:defRPr>
            </ns271:pPr>
            <ns271:r>
              <ns271:rPr sz="1250" b="1">
                <ns271:solidFill>
                  <ns271:srgbClr val="317F7B"/>
                </ns271:solidFill>
                <ns271:latin typeface="Arial"/>
                <ns271:ea typeface="Arial"/>
                <ns271:cs typeface="Arial"/>
              </ns271:rPr>
              <ns271:t>Draft research view</ns271:t>
            </ns271:r>
          </ns271:p>
        </p:txBody>
      </p:sp>
      <p:sp>
        <p:nvSpPr>
          <p:cNvPr id="146" name="output.research.draft.content"/>
          <p:cNvSpPr/>
          <p:nvPr/>
        </p:nvSpPr>
        <p:spPr>
          <ns272:xfrm xmlns:ns272="http://schemas.openxmlformats.org/drawingml/2006/main">
            <ns272:off x="6192000" y="2037600"/>
            <ns272:ext cx="2430000" cy="1166400"/>
          </ns272:xfrm>
          <ns273:prstGeom xmlns:ns273="http://schemas.openxmlformats.org/drawingml/2006/main" prst="rect">
            <ns273:avLst/>
          </ns273:prstGeom>
          <ns274:noFill xmlns:ns274="http://schemas.openxmlformats.org/drawingml/2006/main"/>
          <ns275:ln xmlns:ns275="http://schemas.openxmlformats.org/drawingml/2006/main" w="0">
            <ns275:noFill/>
          </ns275:ln>
        </p:spPr>
        <p:txBody>
          <ns276:bodyPr xmlns:ns276="http://schemas.openxmlformats.org/drawingml/2006/main" wrap="square" lIns="0" rIns="0" tIns="0" bIns="0" anchor="t">
            <ns276:noAutofit/>
          </ns276:bodyPr>
          <ns277:lstStyle xmlns:ns277="http://schemas.openxmlformats.org/drawingml/2006/main"/>
          <ns278:p xmlns:ns278="http://schemas.openxmlformats.org/drawingml/2006/main">
            <ns278:pPr algn="l">
              <ns278:lnSpc>
                <ns278:spcPct val="100000"/>
              </ns278:lnSpc>
              <ns278:defRPr sz="1200" b="0">
                <ns278:solidFill>
                  <ns278:srgbClr val="20262C"/>
                </ns278:solidFill>
                <ns278:latin typeface="Arial"/>
                <ns278:ea typeface="Arial"/>
                <ns278:cs typeface="Arial"/>
              </ns278:defRPr>
            </ns278:pPr>
            <ns278:r>
              <ns278:rPr sz="1200" b="0">
                <ns278:solidFill>
                  <ns278:srgbClr val="20262C"/>
                </ns278:solidFill>
                <ns278:latin typeface="Arial"/>
                <ns278:ea typeface="Arial"/>
                <ns278:cs typeface="Arial"/>
              </ns278:rPr>
              <ns278:t>Volume drove growth [1]</ns278:t>
            </ns278:r>
          </ns278:p>
          <ns279:p xmlns:ns279="http://schemas.openxmlformats.org/drawingml/2006/main">
            <ns279:pPr algn="l">
              <ns279:lnSpc>
                <ns279:spcPct val="100000"/>
              </ns279:lnSpc>
              <ns279:defRPr sz="1200" b="0">
                <ns279:solidFill>
                  <ns279:srgbClr val="20262C"/>
                </ns279:solidFill>
                <ns279:latin typeface="Arial"/>
                <ns279:ea typeface="Arial"/>
                <ns279:cs typeface="Arial"/>
              </ns279:defRPr>
            </ns279:pPr>
            <ns279:r>
              <ns279:rPr sz="1200" b="0">
                <ns279:solidFill>
                  <ns279:srgbClr val="20262C"/>
                </ns279:solidFill>
                <ns279:latin typeface="Arial"/>
                <ns279:ea typeface="Arial"/>
                <ns279:cs typeface="Arial"/>
              </ns279:rPr>
              <ns279:t>Restocking supported shipments [2]</ns279:t>
            </ns279:r>
          </ns279:p>
          <ns280:p xmlns:ns280="http://schemas.openxmlformats.org/drawingml/2006/main">
            <ns280:pPr algn="l">
              <ns280:lnSpc>
                <ns280:spcPct val="100000"/>
              </ns280:lnSpc>
              <ns280:defRPr sz="1200" b="0">
                <ns280:solidFill>
                  <ns280:srgbClr val="20262C"/>
                </ns280:solidFill>
                <ns280:latin typeface="Arial"/>
                <ns280:ea typeface="Arial"/>
                <ns280:cs typeface="Arial"/>
              </ns280:defRPr>
            </ns280:pPr>
            <ns280:r>
              <ns280:rPr sz="1200" b="0">
                <ns280:solidFill>
                  <ns280:srgbClr val="20262C"/>
                </ns280:solidFill>
                <ns280:latin typeface="Arial"/>
                <ns280:ea typeface="Arial"/>
                <ns280:cs typeface="Arial"/>
              </ns280:rPr>
              <ns280:t>Sustainability: views differ [3]</ns280:t>
            </ns280:r>
          </ns280:p>
          <ns281:p xmlns:ns281="http://schemas.openxmlformats.org/drawingml/2006/main">
            <ns281:pPr algn="l">
              <ns281:lnSpc>
                <ns281:spcPct val="100000"/>
              </ns281:lnSpc>
              <ns281:defRPr sz="1200" b="0">
                <ns281:solidFill>
                  <ns281:srgbClr val="20262C"/>
                </ns281:solidFill>
                <ns281:latin typeface="Arial"/>
                <ns281:ea typeface="Arial"/>
                <ns281:cs typeface="Arial"/>
              </ns281:defRPr>
            </ns281:pPr>
            <ns281:r>
              <ns281:rPr sz="1200" b="0">
                <ns281:solidFill>
                  <ns281:srgbClr val="20262C"/>
                </ns281:solidFill>
                <ns281:latin typeface="Arial"/>
                <ns281:ea typeface="Arial"/>
                <ns281:cs typeface="Arial"/>
              </ns281:rPr>
              <ns281:t>Watch demand and input costs</ns281:t>
            </ns281:r>
          </ns281:p>
        </p:txBody>
      </p:sp>
      <p:cxnSp>
        <p:nvCxnSpPr>
          <p:cNvPr id="147" name="flow.llm.to.research.draft"/>
          <p:cNvCxnSpPr/>
          <p:nvPr/>
        </p:nvCxnSpPr>
        <p:spPr>
          <ns282:xfrm xmlns:ns282="http://schemas.openxmlformats.org/drawingml/2006/main">
            <ns282:off x="5850000" y="2376000"/>
            <ns282:ext cx="241200" cy="1"/>
          </ns282:xfrm>
          <ns283:prstGeom xmlns:ns283="http://schemas.openxmlformats.org/drawingml/2006/main" prst="line">
            <ns283:avLst/>
          </ns283:prstGeom>
          <ns284:ln xmlns:ns284="http://schemas.openxmlformats.org/drawingml/2006/main" w="11430">
            <ns284:solidFill>
              <ns284:srgbClr val="005A9C"/>
            </ns284:solidFill>
            <ns284:tailEnd type="triangle" w="sm" len="sm"/>
          </ns284:ln>
        </p:spPr>
      </p:cxnSp>
      <p:sp>
        <p:nvSpPr>
          <p:cNvPr id="148" name="human.analyst.judgment"/>
          <p:cNvSpPr/>
          <p:nvPr/>
        </p:nvSpPr>
        <p:spPr>
          <ns285:xfrm xmlns:ns285="http://schemas.openxmlformats.org/drawingml/2006/main">
            <ns285:off x="6127200" y="3564000"/>
            <ns285:ext cx="2559600" cy="864000"/>
          </ns285:xfrm>
          <ns286:prstGeom xmlns:ns286="http://schemas.openxmlformats.org/drawingml/2006/main" prst="roundRect">
            <ns286:avLst/>
          </ns286:prstGeom>
          <ns287:solidFill xmlns:ns287="http://schemas.openxmlformats.org/drawingml/2006/main">
            <ns287:srgbClr val="F3F7FA"/>
          </ns287:solidFill>
          <ns288:ln xmlns:ns288="http://schemas.openxmlformats.org/drawingml/2006/main" w="9525">
            <ns288:solidFill>
              <ns288:srgbClr val="65727D"/>
            </ns288:solidFill>
          </ns288:ln>
        </p:spPr>
        <p:txBody>
          <ns289:bodyPr xmlns:ns289="http://schemas.openxmlformats.org/drawingml/2006/main" wrap="square" lIns="61200" rIns="61200" tIns="61200" bIns="61200" anchor="ctr">
            <ns289:noAutofit/>
          </ns289:bodyPr>
          <ns290:lstStyle xmlns:ns290="http://schemas.openxmlformats.org/drawingml/2006/main"/>
          <ns291:p xmlns:ns291="http://schemas.openxmlformats.org/drawingml/2006/main">
            <ns291:pPr algn="l">
              <ns291:lnSpc>
                <ns291:spcPct val="105000"/>
              </ns291:lnSpc>
              <ns291:defRPr sz="1300" b="1">
                <ns291:solidFill>
                  <ns291:srgbClr val="65727D"/>
                </ns291:solidFill>
                <ns291:latin typeface="Arial"/>
                <ns291:ea typeface="Arial"/>
                <ns291:cs typeface="Arial"/>
              </ns291:defRPr>
            </ns291:pPr>
            <ns291:r>
              <ns291:rPr sz="1300" b="1">
                <ns291:solidFill>
                  <ns291:srgbClr val="65727D"/>
                </ns291:solidFill>
                <ns291:latin typeface="Arial"/>
                <ns291:ea typeface="Arial"/>
                <ns291:cs typeface="Arial"/>
              </ns291:rPr>
              <ns291:t>Analyst</ns291:t>
            </ns291:r>
          </ns291:p>
          <ns292:p xmlns:ns292="http://schemas.openxmlformats.org/drawingml/2006/main">
            <ns292:pPr algn="l">
              <ns292:lnSpc>
                <ns292:spcPct val="105000"/>
              </ns292:lnSpc>
              <ns292:defRPr sz="1150" b="0">
                <ns292:solidFill>
                  <ns292:srgbClr val="20262C"/>
                </ns292:solidFill>
                <ns292:latin typeface="Arial"/>
                <ns292:ea typeface="Arial"/>
                <ns292:cs typeface="Arial"/>
              </ns292:defRPr>
            </ns292:pPr>
            <ns292:r>
              <ns292:rPr sz="1150" b="0">
                <ns292:solidFill>
                  <ns292:srgbClr val="20262C"/>
                </ns292:solidFill>
                <ns292:latin typeface="Arial"/>
                <ns292:ea typeface="Arial"/>
                <ns292:cs typeface="Arial"/>
              </ns292:rPr>
              <ns292:t>Check sources</ns292:t>
            </ns292:r>
          </ns292:p>
          <ns293:p xmlns:ns293="http://schemas.openxmlformats.org/drawingml/2006/main">
            <ns293:pPr algn="l">
              <ns293:lnSpc>
                <ns293:spcPct val="105000"/>
              </ns293:lnSpc>
              <ns293:defRPr sz="1150" b="0">
                <ns293:solidFill>
                  <ns293:srgbClr val="20262C"/>
                </ns293:solidFill>
                <ns293:latin typeface="Arial"/>
                <ns293:ea typeface="Arial"/>
                <ns293:cs typeface="Arial"/>
              </ns293:defRPr>
            </ns293:pPr>
            <ns293:r>
              <ns293:rPr sz="1150" b="0">
                <ns293:solidFill>
                  <ns293:srgbClr val="20262C"/>
                </ns293:solidFill>
                <ns293:latin typeface="Arial"/>
                <ns293:ea typeface="Arial"/>
                <ns293:cs typeface="Arial"/>
              </ns293:rPr>
              <ns293:t>Test thesis</ns293:t>
            </ns293:r>
          </ns293:p>
          <ns294:p xmlns:ns294="http://schemas.openxmlformats.org/drawingml/2006/main">
            <ns294:pPr algn="l">
              <ns294:lnSpc>
                <ns294:spcPct val="105000"/>
              </ns294:lnSpc>
              <ns294:defRPr sz="1150" b="0">
                <ns294:solidFill>
                  <ns294:srgbClr val="20262C"/>
                </ns294:solidFill>
                <ns294:latin typeface="Arial"/>
                <ns294:ea typeface="Arial"/>
                <ns294:cs typeface="Arial"/>
              </ns294:defRPr>
            </ns294:pPr>
            <ns294:r>
              <ns294:rPr sz="1150" b="0">
                <ns294:solidFill>
                  <ns294:srgbClr val="20262C"/>
                </ns294:solidFill>
                <ns294:latin typeface="Arial"/>
                <ns294:ea typeface="Arial"/>
                <ns294:cs typeface="Arial"/>
              </ns294:rPr>
              <ns294:t>Form view</ns294:t>
            </ns294:r>
          </ns294:p>
        </p:txBody>
      </p:sp>
      <p:cxnSp>
        <p:nvCxnSpPr>
          <p:cNvPr id="149" name="flow.draft.to.analyst"/>
          <p:cNvCxnSpPr/>
          <p:nvPr/>
        </p:nvCxnSpPr>
        <p:spPr>
          <ns295:xfrm xmlns:ns295="http://schemas.openxmlformats.org/drawingml/2006/main">
            <ns295:off x="7405200" y="3276000"/>
            <ns295:ext cx="1" cy="252000"/>
          </ns295:xfrm>
          <ns296:prstGeom xmlns:ns296="http://schemas.openxmlformats.org/drawingml/2006/main" prst="line">
            <ns296:avLst/>
          </ns296:prstGeom>
          <ns297:ln xmlns:ns297="http://schemas.openxmlformats.org/drawingml/2006/main" w="11430">
            <ns297:solidFill>
              <ns297:srgbClr val="317F7B"/>
            </ns297:solidFill>
            <ns297:tailEnd type="triangle" w="sm" len="sm"/>
          </ns297:ln>
        </p:spPr>
      </p:cxnSp>
    </p:spTree>
    <p:extLst>
      <p:ext uri="{BB962C8B-B14F-4D97-AF65-F5344CB8AC3E}">
        <p14:creationId xmlns:p14="http://schemas.microsoft.com/office/powerpoint/2010/main" val="9517909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Preparing a bond quote request</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Trading support / Current workflow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105"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106" name="map.task.focus.trade"/>
          <p:cNvSpPr/>
          <p:nvPr/>
        </p:nvSpPr>
        <p:spPr>
          <ns31:xfrm xmlns:ns31="http://schemas.openxmlformats.org/drawingml/2006/main">
            <ns31:off x="486000" y="1998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107" name="map.task.trade"/>
          <p:cNvSpPr/>
          <p:nvPr/>
        </p:nvSpPr>
        <p:spPr>
          <ns35:xfrm xmlns:ns35="http://schemas.openxmlformats.org/drawingml/2006/main">
            <ns35:off x="554400" y="2001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Trading support</ns41:t>
            </ns41:r>
          </ns41:p>
        </p:txBody>
      </p:sp>
      <p:sp>
        <p:nvSpPr>
          <p:cNvPr id="108" name="map.task.client"/>
          <p:cNvSpPr/>
          <p:nvPr/>
        </p:nvSpPr>
        <p:spPr>
          <ns42:xfrm xmlns:ns42="http://schemas.openxmlformats.org/drawingml/2006/main">
            <ns42:off x="554400" y="2199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Client materials</ns48:t>
            </ns48:r>
          </ns48:p>
        </p:txBody>
      </p:sp>
      <p:sp>
        <p:nvSpPr>
          <p:cNvPr id="109" name="map.office.1"/>
          <p:cNvSpPr/>
          <p:nvPr/>
        </p:nvSpPr>
        <p:spPr>
          <ns49:xfrm xmlns:ns49="http://schemas.openxmlformats.org/drawingml/2006/main">
            <ns49:off x="486000" y="2548800"/>
            <ns49:ext cx="1692000" cy="1800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100" b="1">
                <ns55:solidFill>
                  <ns55:srgbClr val="65727D"/>
                </ns55:solidFill>
                <ns55:latin typeface="Arial"/>
                <ns55:ea typeface="Arial"/>
                <ns55:cs typeface="Arial"/>
              </ns55:defRPr>
            </ns55:pPr>
            <ns55:r>
              <ns55:rPr sz="1100" b="1">
                <ns55:solidFill>
                  <ns55:srgbClr val="65727D"/>
                </ns55:solidFill>
                <ns55:latin typeface="Arial"/>
                <ns55:ea typeface="Arial"/>
                <ns55:cs typeface="Arial"/>
              </ns55:rPr>
              <ns55:t>Middle office</ns55:t>
            </ns55:r>
          </ns55:p>
        </p:txBody>
      </p:sp>
      <p:cxnSp>
        <p:nvCxnSpPr>
          <p:cNvPr id="110" name="map.office.rule.1"/>
          <p:cNvCxnSpPr/>
          <p:nvPr/>
        </p:nvCxnSpPr>
        <p:spPr>
          <ns56:xfrm xmlns:ns56="http://schemas.openxmlformats.org/drawingml/2006/main">
            <ns56:off x="457200" y="2768400"/>
            <ns56:ext cx="1742400" cy="1"/>
          </ns56:xfrm>
          <ns57:prstGeom xmlns:ns57="http://schemas.openxmlformats.org/drawingml/2006/main" prst="line">
            <ns57:avLst/>
          </ns57:prstGeom>
          <ns58:ln xmlns:ns58="http://schemas.openxmlformats.org/drawingml/2006/main" w="7620">
            <ns58:solidFill>
              <ns58:srgbClr val="CBD4DA"/>
            </ns58:solidFill>
          </ns58:ln>
        </p:spPr>
      </p:cxnSp>
      <p:sp>
        <p:nvSpPr>
          <p:cNvPr id="111" name="map.task.review"/>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0">
                <ns65:solidFill>
                  <ns65:srgbClr val="65727D"/>
                </ns65:solidFill>
                <ns65:latin typeface="Arial"/>
                <ns65:ea typeface="Arial"/>
                <ns65:cs typeface="Arial"/>
              </ns65:defRPr>
            </ns65:pPr>
            <ns65:r>
              <ns65:rPr sz="1050" b="0">
                <ns65:solidFill>
                  <ns65:srgbClr val="65727D"/>
                </ns65:solidFill>
                <ns65:latin typeface="Arial"/>
                <ns65:ea typeface="Arial"/>
                <ns65:cs typeface="Arial"/>
              </ns65:rPr>
              <ns65:t>Content review</ns65:t>
            </ns65:r>
          </ns65:p>
        </p:txBody>
      </p:sp>
      <p:sp>
        <p:nvSpPr>
          <p:cNvPr id="112" name="map.task.risk"/>
          <p:cNvSpPr/>
          <p:nvPr/>
        </p:nvSpPr>
        <p:spPr>
          <ns66:xfrm xmlns:ns66="http://schemas.openxmlformats.org/drawingml/2006/main">
            <ns66:off x="554400" y="3045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13"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14"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15" name="map.task.file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Document processing</ns89:t>
            </ns89:r>
          </ns89:p>
        </p:txBody>
      </p:sp>
      <p:sp>
        <p:nvSpPr>
          <p:cNvPr id="116"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17" name="map.legend"/>
          <p:cNvSpPr/>
          <p:nvPr/>
        </p:nvSpPr>
        <p:spPr>
          <ns97:xfrm xmlns:ns97="http://schemas.openxmlformats.org/drawingml/2006/main">
            <ns97:off x="486000" y="4363200"/>
            <ns97:ext cx="16848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850" b="0">
                <ns103:solidFill>
                  <ns103:srgbClr val="65727D"/>
                </ns103:solidFill>
                <ns103:latin typeface="Arial"/>
                <ns103:ea typeface="Arial"/>
                <ns103:cs typeface="Arial"/>
              </ns103:defRPr>
            </ns103:pPr>
            <ns103:r>
              <ns103:rPr sz="850" b="0">
                <ns103:solidFill>
                  <ns103:srgbClr val="65727D"/>
                </ns103:solidFill>
                <ns103:latin typeface="Arial"/>
                <ns103:ea typeface="Arial"/>
                <ns103:cs typeface="Arial"/>
              </ns103:rPr>
              <ns103:t>Company workflow</ns103:t>
            </ns103:r>
          </ns103:p>
        </p:txBody>
      </p:sp>
      <p:sp>
        <p:nvSpPr>
          <p:cNvPr id="118" name="material.manager.request.paper"/>
          <p:cNvSpPr/>
          <p:nvPr/>
        </p:nvSpPr>
        <p:spPr>
          <ns104:xfrm xmlns:ns104="http://schemas.openxmlformats.org/drawingml/2006/main">
            <ns104:off x="2422800" y="1504800"/>
            <ns104:ext cx="1969200" cy="882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317F7B"/>
            </ns107:solidFill>
          </ns107:ln>
        </p:spPr>
      </p:sp>
      <p:sp>
        <p:nvSpPr>
          <p:cNvPr id="119" name="material.manager.request.title"/>
          <p:cNvSpPr/>
          <p:nvPr/>
        </p:nvSpPr>
        <p:spPr>
          <ns108:xfrm xmlns:ns108="http://schemas.openxmlformats.org/drawingml/2006/main">
            <ns108:off x="2487600" y="1548000"/>
            <ns108:ext cx="17712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317F7B"/>
                </ns114:solidFill>
                <ns114:latin typeface="Arial"/>
                <ns114:ea typeface="Arial"/>
                <ns114:cs typeface="Arial"/>
              </ns114:defRPr>
            </ns114:pPr>
            <ns114:r>
              <ns114:rPr sz="1250" b="1">
                <ns114:solidFill>
                  <ns114:srgbClr val="317F7B"/>
                </ns114:solidFill>
                <ns114:latin typeface="Arial"/>
                <ns114:ea typeface="Arial"/>
                <ns114:cs typeface="Arial"/>
              </ns114:rPr>
              <ns114:t>Company A bonds</ns114:t>
            </ns114:r>
          </ns114:p>
        </p:txBody>
      </p:sp>
      <p:sp>
        <p:nvSpPr>
          <p:cNvPr id="120" name="material.manager.request.content"/>
          <p:cNvSpPr/>
          <p:nvPr/>
        </p:nvSpPr>
        <p:spPr>
          <ns115:xfrm xmlns:ns115="http://schemas.openxmlformats.org/drawingml/2006/main">
            <ns115:off x="2487600" y="1764000"/>
            <ns115:ext cx="1839600" cy="572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150" b="0">
                <ns121:solidFill>
                  <ns121:srgbClr val="20262C"/>
                </ns121:solidFill>
                <ns121:latin typeface="Arial"/>
                <ns121:ea typeface="Arial"/>
                <ns121:cs typeface="Arial"/>
              </ns121:defRPr>
            </ns121:pPr>
            <ns121:r>
              <ns121:rPr sz="1150" b="0">
                <ns121:solidFill>
                  <ns121:srgbClr val="20262C"/>
                </ns121:solidFill>
                <ns121:latin typeface="Arial"/>
                <ns121:ea typeface="Arial"/>
                <ns121:cs typeface="Arial"/>
              </ns121:rPr>
              <ns121:t>Maturity: within two years</ns121:t>
            </ns121:r>
          </ns121:p>
          <ns122:p xmlns:ns122="http://schemas.openxmlformats.org/drawingml/2006/main">
            <ns122:pPr algn="l">
              <ns122:lnSpc>
                <ns122:spcPct val="100000"/>
              </ns122:lnSpc>
              <ns122:defRPr sz="1150" b="0">
                <ns122:solidFill>
                  <ns122:srgbClr val="20262C"/>
                </ns122:solidFill>
                <ns122:latin typeface="Arial"/>
                <ns122:ea typeface="Arial"/>
                <ns122:cs typeface="Arial"/>
              </ns122:defRPr>
            </ns122:pPr>
            <ns122:r>
              <ns122:rPr sz="1150" b="0">
                <ns122:solidFill>
                  <ns122:srgbClr val="20262C"/>
                </ns122:solidFill>
                <ns122:latin typeface="Arial"/>
                <ns122:ea typeface="Arial"/>
                <ns122:cs typeface="Arial"/>
              </ns122:rPr>
              <ns122:t>Check holdings</ns122:t>
            </ns122:r>
          </ns122:p>
          <ns123:p xmlns:ns123="http://schemas.openxmlformats.org/drawingml/2006/main">
            <ns123:pPr algn="l">
              <ns123:lnSpc>
                <ns123:spcPct val="100000"/>
              </ns123:lnSpc>
              <ns123:defRPr sz="1150" b="0">
                <ns123:solidFill>
                  <ns123:srgbClr val="20262C"/>
                </ns123:solidFill>
                <ns123:latin typeface="Arial"/>
                <ns123:ea typeface="Arial"/>
                <ns123:cs typeface="Arial"/>
              </ns123:defRPr>
            </ns123:pPr>
            <ns123:r>
              <ns123:rPr sz="1150" b="0">
                <ns123:solidFill>
                  <ns123:srgbClr val="20262C"/>
                </ns123:solidFill>
                <ns123:latin typeface="Arial"/>
                <ns123:ea typeface="Arial"/>
                <ns123:cs typeface="Arial"/>
              </ns123:rPr>
              <ns123:t>Collect offer quotes</ns123:t>
            </ns123:r>
          </ns123:p>
        </p:txBody>
      </p:sp>
      <p:sp>
        <p:nvSpPr>
          <p:cNvPr id="121" name="actor.portfolio.manager"/>
          <p:cNvSpPr/>
          <p:nvPr/>
        </p:nvSpPr>
        <p:spPr>
          <ns124:xfrm xmlns:ns124="http://schemas.openxmlformats.org/drawingml/2006/main">
            <ns124:off x="2422800" y="2599200"/>
            <ns124:ext cx="1620000" cy="540000"/>
          </ns124:xfrm>
          <ns125:prstGeom xmlns:ns125="http://schemas.openxmlformats.org/drawingml/2006/main" prst="roundRect">
            <ns125:avLst/>
          </ns125:prstGeom>
          <ns126:solidFill xmlns:ns126="http://schemas.openxmlformats.org/drawingml/2006/main">
            <ns126:srgbClr val="F3F7FA"/>
          </ns126:solidFill>
          <ns127:ln xmlns:ns127="http://schemas.openxmlformats.org/drawingml/2006/main" w="9525">
            <ns127:solidFill>
              <ns127:srgbClr val="65727D"/>
            </ns127:solidFill>
          </ns127:ln>
        </p:spPr>
        <p:txBody>
          <ns128:bodyPr xmlns:ns128="http://schemas.openxmlformats.org/drawingml/2006/main" wrap="square" lIns="61200" rIns="61200" tIns="61200" bIns="61200" anchor="ctr">
            <ns128:noAutofit/>
          </ns128:bodyPr>
          <ns129:lstStyle xmlns:ns129="http://schemas.openxmlformats.org/drawingml/2006/main"/>
          <ns130:p xmlns:ns130="http://schemas.openxmlformats.org/drawingml/2006/main">
            <ns130:pPr algn="l">
              <ns130:lnSpc>
                <ns130:spcPct val="105000"/>
              </ns130:lnSpc>
              <ns130:defRPr sz="1300" b="1">
                <ns130:solidFill>
                  <ns130:srgbClr val="65727D"/>
                </ns130:solidFill>
                <ns130:latin typeface="Arial"/>
                <ns130:ea typeface="Arial"/>
                <ns130:cs typeface="Arial"/>
              </ns130:defRPr>
            </ns130:pPr>
            <ns130:r>
              <ns130:rPr sz="1300" b="1">
                <ns130:solidFill>
                  <ns130:srgbClr val="65727D"/>
                </ns130:solidFill>
                <ns130:latin typeface="Arial"/>
                <ns130:ea typeface="Arial"/>
                <ns130:cs typeface="Arial"/>
              </ns130:rPr>
              <ns130:t>Portfolio manager</ns130:t>
            </ns130:r>
          </ns130:p>
          <ns131:p xmlns:ns131="http://schemas.openxmlformats.org/drawingml/2006/main">
            <ns131:pPr algn="l">
              <ns131:lnSpc>
                <ns131:spcPct val="105000"/>
              </ns131:lnSpc>
              <ns131:defRPr sz="1200" b="0">
                <ns131:solidFill>
                  <ns131:srgbClr val="20262C"/>
                </ns131:solidFill>
                <ns131:latin typeface="Arial"/>
                <ns131:ea typeface="Arial"/>
                <ns131:cs typeface="Arial"/>
              </ns131:defRPr>
            </ns131:pPr>
            <ns131:r>
              <ns131:rPr sz="1200" b="0">
                <ns131:solidFill>
                  <ns131:srgbClr val="20262C"/>
                </ns131:solidFill>
                <ns131:latin typeface="Arial"/>
                <ns131:ea typeface="Arial"/>
                <ns131:cs typeface="Arial"/>
              </ns131:rPr>
              <ns131:t>Define request</ns131:t>
            </ns131:r>
          </ns131:p>
        </p:txBody>
      </p:sp>
      <p:sp>
        <p:nvSpPr>
          <p:cNvPr id="122" name="actor.trader"/>
          <p:cNvSpPr/>
          <p:nvPr/>
        </p:nvSpPr>
        <p:spPr>
          <ns132:xfrm xmlns:ns132="http://schemas.openxmlformats.org/drawingml/2006/main">
            <ns132:off x="4752000" y="2599200"/>
            <ns132:ext cx="1548000" cy="540000"/>
          </ns132:xfrm>
          <ns133:prstGeom xmlns:ns133="http://schemas.openxmlformats.org/drawingml/2006/main" prst="roundRect">
            <ns133:avLst/>
          </ns133:prstGeom>
          <ns134:solidFill xmlns:ns134="http://schemas.openxmlformats.org/drawingml/2006/main">
            <ns134:srgbClr val="F3F7FA"/>
          </ns134:solidFill>
          <ns135:ln xmlns:ns135="http://schemas.openxmlformats.org/drawingml/2006/main" w="9525">
            <ns135:solidFill>
              <ns135:srgbClr val="65727D"/>
            </ns135:solidFill>
          </ns135:ln>
        </p:spPr>
        <p:txBody>
          <ns136:bodyPr xmlns:ns136="http://schemas.openxmlformats.org/drawingml/2006/main" wrap="square" lIns="61200" rIns="61200" tIns="61200" bIns="61200" anchor="ctr">
            <ns136:noAutofit/>
          </ns136:bodyPr>
          <ns137:lstStyle xmlns:ns137="http://schemas.openxmlformats.org/drawingml/2006/main"/>
          <ns138:p xmlns:ns138="http://schemas.openxmlformats.org/drawingml/2006/main">
            <ns138:pPr algn="l">
              <ns138:lnSpc>
                <ns138:spcPct val="105000"/>
              </ns138:lnSpc>
              <ns138:defRPr sz="1300" b="1">
                <ns138:solidFill>
                  <ns138:srgbClr val="65727D"/>
                </ns138:solidFill>
                <ns138:latin typeface="Arial"/>
                <ns138:ea typeface="Arial"/>
                <ns138:cs typeface="Arial"/>
              </ns138:defRPr>
            </ns138:pPr>
            <ns138:r>
              <ns138:rPr sz="1300" b="1">
                <ns138:solidFill>
                  <ns138:srgbClr val="65727D"/>
                </ns138:solidFill>
                <ns138:latin typeface="Arial"/>
                <ns138:ea typeface="Arial"/>
                <ns138:cs typeface="Arial"/>
              </ns138:rPr>
              <ns138:t>Trader</ns138:t>
            </ns138:r>
          </ns138:p>
          <ns139:p xmlns:ns139="http://schemas.openxmlformats.org/drawingml/2006/main">
            <ns139:pPr algn="l">
              <ns139:lnSpc>
                <ns139:spcPct val="105000"/>
              </ns139:lnSpc>
              <ns139:defRPr sz="1050" b="0">
                <ns139:solidFill>
                  <ns139:srgbClr val="20262C"/>
                </ns139:solidFill>
                <ns139:latin typeface="Arial"/>
                <ns139:ea typeface="Arial"/>
                <ns139:cs typeface="Arial"/>
              </ns139:defRPr>
            </ns139:pPr>
            <ns139:r>
              <ns139:rPr sz="1050" b="0">
                <ns139:solidFill>
                  <ns139:srgbClr val="20262C"/>
                </ns139:solidFill>
                <ns139:latin typeface="Arial"/>
                <ns139:ea typeface="Arial"/>
                <ns139:cs typeface="Arial"/>
              </ns139:rPr>
              <ns139:t>Screen / request / summarize</ns139:t>
            </ns139:r>
          </ns139:p>
        </p:txBody>
      </p:sp>
      <p:sp>
        <p:nvSpPr>
          <p:cNvPr id="123" name="actor.market.holdings.systems"/>
          <p:cNvSpPr/>
          <p:nvPr/>
        </p:nvSpPr>
        <p:spPr>
          <ns140:xfrm xmlns:ns140="http://schemas.openxmlformats.org/drawingml/2006/main">
            <ns140:off x="6901200" y="1504800"/>
            <ns140:ext cx="1785600" cy="792000"/>
          </ns140:xfrm>
          <ns141:prstGeom xmlns:ns141="http://schemas.openxmlformats.org/drawingml/2006/main" prst="roundRect">
            <ns141:avLst/>
          </ns141:prstGeom>
          <ns142:solidFill xmlns:ns142="http://schemas.openxmlformats.org/drawingml/2006/main">
            <ns142:srgbClr val="F3F7FA"/>
          </ns142:solidFill>
          <ns143:ln xmlns:ns143="http://schemas.openxmlformats.org/drawingml/2006/main" w="9525">
            <ns143:solidFill>
              <ns143:srgbClr val="65727D"/>
            </ns143:solidFill>
          </ns143:ln>
        </p:spPr>
        <p:txBody>
          <ns144:bodyPr xmlns:ns144="http://schemas.openxmlformats.org/drawingml/2006/main" wrap="square" lIns="61200" rIns="61200" tIns="61200" bIns="61200" anchor="ctr">
            <ns144:noAutofit/>
          </ns144:bodyPr>
          <ns145:lstStyle xmlns:ns145="http://schemas.openxmlformats.org/drawingml/2006/main"/>
          <ns146:p xmlns:ns146="http://schemas.openxmlformats.org/drawingml/2006/main">
            <ns146:pPr algn="l">
              <ns146:lnSpc>
                <ns146:spcPct val="105000"/>
              </ns146:lnSpc>
              <ns146:defRPr sz="1300" b="1">
                <ns146:solidFill>
                  <ns146:srgbClr val="65727D"/>
                </ns146:solidFill>
                <ns146:latin typeface="Arial"/>
                <ns146:ea typeface="Arial"/>
                <ns146:cs typeface="Arial"/>
              </ns146:defRPr>
            </ns146:pPr>
            <ns146:r>
              <ns146:rPr sz="1300" b="1">
                <ns146:solidFill>
                  <ns146:srgbClr val="65727D"/>
                </ns146:solidFill>
                <ns146:latin typeface="Arial"/>
                <ns146:ea typeface="Arial"/>
                <ns146:cs typeface="Arial"/>
              </ns146:rPr>
              <ns146:t>Market / holdings systems</ns146:t>
            </ns146:r>
          </ns146:p>
          <ns147:p xmlns:ns147="http://schemas.openxmlformats.org/drawingml/2006/main">
            <ns147:pPr algn="l">
              <ns147:lnSpc>
                <ns147:spcPct val="105000"/>
              </ns147:lnSpc>
              <ns147:defRPr sz="1150" b="0">
                <ns147:solidFill>
                  <ns147:srgbClr val="20262C"/>
                </ns147:solidFill>
                <ns147:latin typeface="Arial"/>
                <ns147:ea typeface="Arial"/>
                <ns147:cs typeface="Arial"/>
              </ns147:defRPr>
            </ns147:pPr>
            <ns147:r>
              <ns147:rPr sz="1150" b="0">
                <ns147:solidFill>
                  <ns147:srgbClr val="20262C"/>
                </ns147:solidFill>
                <ns147:latin typeface="Arial"/>
                <ns147:ea typeface="Arial"/>
                <ns147:cs typeface="Arial"/>
              </ns147:rPr>
              <ns147:t>Bonds and holdings</ns147:t>
            </ns147:r>
          </ns147:p>
          <ns148:p xmlns:ns148="http://schemas.openxmlformats.org/drawingml/2006/main">
            <ns148:pPr algn="l">
              <ns148:lnSpc>
                <ns148:spcPct val="105000"/>
              </ns148:lnSpc>
              <ns148:defRPr sz="1150" b="0">
                <ns148:solidFill>
                  <ns148:srgbClr val="20262C"/>
                </ns148:solidFill>
                <ns148:latin typeface="Arial"/>
                <ns148:ea typeface="Arial"/>
                <ns148:cs typeface="Arial"/>
              </ns148:defRPr>
            </ns148:pPr>
            <ns148:r>
              <ns148:rPr sz="1150" b="0">
                <ns148:solidFill>
                  <ns148:srgbClr val="20262C"/>
                </ns148:solidFill>
                <ns148:latin typeface="Arial"/>
                <ns148:ea typeface="Arial"/>
                <ns148:cs typeface="Arial"/>
              </ns148:rPr>
              <ns148:t>Data timestamp</ns148:t>
            </ns148:r>
          </ns148:p>
        </p:txBody>
      </p:sp>
      <p:sp>
        <p:nvSpPr>
          <p:cNvPr id="124" name="actor.counterparty"/>
          <p:cNvSpPr/>
          <p:nvPr/>
        </p:nvSpPr>
        <p:spPr>
          <ns149:xfrm xmlns:ns149="http://schemas.openxmlformats.org/drawingml/2006/main">
            <ns149:off x="6901200" y="3618000"/>
            <ns149:ext cx="1785600" cy="756000"/>
          </ns149:xfrm>
          <ns150:prstGeom xmlns:ns150="http://schemas.openxmlformats.org/drawingml/2006/main" prst="roundRect">
            <ns150:avLst/>
          </ns150:prstGeom>
          <ns151:solidFill xmlns:ns151="http://schemas.openxmlformats.org/drawingml/2006/main">
            <ns151:srgbClr val="F3F7FA"/>
          </ns151:solidFill>
          <ns152:ln xmlns:ns152="http://schemas.openxmlformats.org/drawingml/2006/main" w="9525">
            <ns152:solidFill>
              <ns152:srgbClr val="65727D"/>
            </ns152:solidFill>
          </ns152:ln>
        </p:spPr>
        <p:txBody>
          <ns153:bodyPr xmlns:ns153="http://schemas.openxmlformats.org/drawingml/2006/main" wrap="square" lIns="61200" rIns="61200" tIns="61200" bIns="61200" anchor="ctr">
            <ns153:noAutofit/>
          </ns153:bodyPr>
          <ns154:lstStyle xmlns:ns154="http://schemas.openxmlformats.org/drawingml/2006/main"/>
          <ns155:p xmlns:ns155="http://schemas.openxmlformats.org/drawingml/2006/main">
            <ns155:pPr algn="l">
              <ns155:lnSpc>
                <ns155:spcPct val="105000"/>
              </ns155:lnSpc>
              <ns155:defRPr sz="1300" b="1">
                <ns155:solidFill>
                  <ns155:srgbClr val="65727D"/>
                </ns155:solidFill>
                <ns155:latin typeface="Arial"/>
                <ns155:ea typeface="Arial"/>
                <ns155:cs typeface="Arial"/>
              </ns155:defRPr>
            </ns155:pPr>
            <ns155:r>
              <ns155:rPr sz="1300" b="1">
                <ns155:solidFill>
                  <ns155:srgbClr val="65727D"/>
                </ns155:solidFill>
                <ns155:latin typeface="Arial"/>
                <ns155:ea typeface="Arial"/>
                <ns155:cs typeface="Arial"/>
              </ns155:rPr>
              <ns155:t>Counterparty</ns155:t>
            </ns155:r>
          </ns155:p>
          <ns156:p xmlns:ns156="http://schemas.openxmlformats.org/drawingml/2006/main">
            <ns156:pPr algn="l">
              <ns156:lnSpc>
                <ns156:spcPct val="105000"/>
              </ns156:lnSpc>
              <ns156:defRPr sz="1150" b="0">
                <ns156:solidFill>
                  <ns156:srgbClr val="20262C"/>
                </ns156:solidFill>
                <ns156:latin typeface="Arial"/>
                <ns156:ea typeface="Arial"/>
                <ns156:cs typeface="Arial"/>
              </ns156:defRPr>
            </ns156:pPr>
            <ns156:r>
              <ns156:rPr sz="1150" b="0">
                <ns156:solidFill>
                  <ns156:srgbClr val="20262C"/>
                </ns156:solidFill>
                <ns156:latin typeface="Arial"/>
                <ns156:ea typeface="Arial"/>
                <ns156:cs typeface="Arial"/>
              </ns156:rPr>
              <ns156:t>Offer price</ns156:t>
            </ns156:r>
          </ns156:p>
          <ns157:p xmlns:ns157="http://schemas.openxmlformats.org/drawingml/2006/main">
            <ns157:pPr algn="l">
              <ns157:lnSpc>
                <ns157:spcPct val="105000"/>
              </ns157:lnSpc>
              <ns157:defRPr sz="1150" b="0">
                <ns157:solidFill>
                  <ns157:srgbClr val="20262C"/>
                </ns157:solidFill>
                <ns157:latin typeface="Arial"/>
                <ns157:ea typeface="Arial"/>
                <ns157:cs typeface="Arial"/>
              </ns157:defRPr>
            </ns157:pPr>
            <ns157:r>
              <ns157:rPr sz="1150" b="0">
                <ns157:solidFill>
                  <ns157:srgbClr val="20262C"/>
                </ns157:solidFill>
                <ns157:latin typeface="Arial"/>
                <ns157:ea typeface="Arial"/>
                <ns157:cs typeface="Arial"/>
              </ns157:rPr>
              <ns157:t>Available size</ns157:t>
            </ns157:r>
          </ns157:p>
        </p:txBody>
      </p:sp>
      <p:cxnSp>
        <p:nvCxnSpPr>
          <p:cNvPr id="125" name="flow.manager.defines.request"/>
          <p:cNvCxnSpPr/>
          <p:nvPr/>
        </p:nvCxnSpPr>
        <p:spPr>
          <ns158:xfrm xmlns:ns158="http://schemas.openxmlformats.org/drawingml/2006/main" flipV="1">
            <ns158:off x="3232800" y="2422800"/>
            <ns158:ext cx="1" cy="140400"/>
          </ns158:xfrm>
          <ns159:prstGeom xmlns:ns159="http://schemas.openxmlformats.org/drawingml/2006/main" prst="line">
            <ns159:avLst/>
          </ns159:prstGeom>
          <ns160:ln xmlns:ns160="http://schemas.openxmlformats.org/drawingml/2006/main" w="11430">
            <ns160:solidFill>
              <ns160:srgbClr val="005A9C"/>
            </ns160:solidFill>
            <ns160:tailEnd type="triangle" w="sm" len="sm"/>
          </ns160:ln>
        </p:spPr>
      </p:cxnSp>
      <p:cxnSp>
        <p:nvCxnSpPr>
          <p:cNvPr id="126" name="flow.request.to.trader.0"/>
          <p:cNvCxnSpPr/>
          <p:nvPr/>
        </p:nvCxnSpPr>
        <p:spPr>
          <ns161:xfrm xmlns:ns161="http://schemas.openxmlformats.org/drawingml/2006/main">
            <ns161:off x="4392000" y="1944000"/>
            <ns161:ext cx="180000" cy="1"/>
          </ns161:xfrm>
          <ns162:prstGeom xmlns:ns162="http://schemas.openxmlformats.org/drawingml/2006/main" prst="line">
            <ns162:avLst/>
          </ns162:prstGeom>
          <ns163:ln xmlns:ns163="http://schemas.openxmlformats.org/drawingml/2006/main" w="11430">
            <ns163:solidFill>
              <ns163:srgbClr val="317F7B"/>
            </ns163:solidFill>
          </ns163:ln>
        </p:spPr>
      </p:cxnSp>
      <p:cxnSp>
        <p:nvCxnSpPr>
          <p:cNvPr id="127" name="flow.request.to.trader.1"/>
          <p:cNvCxnSpPr/>
          <p:nvPr/>
        </p:nvCxnSpPr>
        <p:spPr>
          <ns164:xfrm xmlns:ns164="http://schemas.openxmlformats.org/drawingml/2006/main">
            <ns164:off x="4572000" y="1944000"/>
            <ns164:ext cx="1" cy="781200"/>
          </ns164:xfrm>
          <ns165:prstGeom xmlns:ns165="http://schemas.openxmlformats.org/drawingml/2006/main" prst="line">
            <ns165:avLst/>
          </ns165:prstGeom>
          <ns166:ln xmlns:ns166="http://schemas.openxmlformats.org/drawingml/2006/main" w="11430">
            <ns166:solidFill>
              <ns166:srgbClr val="317F7B"/>
            </ns166:solidFill>
          </ns166:ln>
        </p:spPr>
      </p:cxnSp>
      <p:cxnSp>
        <p:nvCxnSpPr>
          <p:cNvPr id="128" name="flow.request.to.trader.2"/>
          <p:cNvCxnSpPr/>
          <p:nvPr/>
        </p:nvCxnSpPr>
        <p:spPr>
          <ns167:xfrm xmlns:ns167="http://schemas.openxmlformats.org/drawingml/2006/main">
            <ns167:off x="4572000" y="2725200"/>
            <ns167:ext cx="144000" cy="1"/>
          </ns167:xfrm>
          <ns168:prstGeom xmlns:ns168="http://schemas.openxmlformats.org/drawingml/2006/main" prst="line">
            <ns168:avLst/>
          </ns168:prstGeom>
          <ns169:ln xmlns:ns169="http://schemas.openxmlformats.org/drawingml/2006/main" w="11430">
            <ns169:solidFill>
              <ns169:srgbClr val="317F7B"/>
            </ns169:solidFill>
            <ns169:tailEnd type="triangle" w="sm" len="sm"/>
          </ns169:ln>
        </p:spPr>
      </p:cxnSp>
      <p:cxnSp>
        <p:nvCxnSpPr>
          <p:cNvPr id="129" name="flow.trader.query.0"/>
          <p:cNvCxnSpPr/>
          <p:nvPr/>
        </p:nvCxnSpPr>
        <p:spPr>
          <ns170:xfrm xmlns:ns170="http://schemas.openxmlformats.org/drawingml/2006/main" flipV="1">
            <ns170:off x="5472000" y="1818000"/>
            <ns170:ext cx="1" cy="745200"/>
          </ns170:xfrm>
          <ns171:prstGeom xmlns:ns171="http://schemas.openxmlformats.org/drawingml/2006/main" prst="line">
            <ns171:avLst/>
          </ns171:prstGeom>
          <ns172:ln xmlns:ns172="http://schemas.openxmlformats.org/drawingml/2006/main" w="11430">
            <ns172:solidFill>
              <ns172:srgbClr val="005A9C"/>
            </ns172:solidFill>
          </ns172:ln>
        </p:spPr>
      </p:cxnSp>
      <p:cxnSp>
        <p:nvCxnSpPr>
          <p:cNvPr id="130" name="flow.trader.query.1"/>
          <p:cNvCxnSpPr/>
          <p:nvPr/>
        </p:nvCxnSpPr>
        <p:spPr>
          <ns173:xfrm xmlns:ns173="http://schemas.openxmlformats.org/drawingml/2006/main">
            <ns173:off x="5472000" y="1818000"/>
            <ns173:ext cx="1393200" cy="1"/>
          </ns173:xfrm>
          <ns174:prstGeom xmlns:ns174="http://schemas.openxmlformats.org/drawingml/2006/main" prst="line">
            <ns174:avLst/>
          </ns174:prstGeom>
          <ns175:ln xmlns:ns175="http://schemas.openxmlformats.org/drawingml/2006/main" w="11430">
            <ns175:solidFill>
              <ns175:srgbClr val="005A9C"/>
            </ns175:solidFill>
            <ns175:tailEnd type="triangle" w="sm" len="sm"/>
          </ns175:ln>
        </p:spPr>
      </p:cxnSp>
      <p:sp>
        <p:nvSpPr>
          <p:cNvPr id="131" name="query.label"/>
          <p:cNvSpPr/>
          <p:nvPr/>
        </p:nvSpPr>
        <p:spPr>
          <ns176:xfrm xmlns:ns176="http://schemas.openxmlformats.org/drawingml/2006/main">
            <ns176:off x="5886000" y="1630800"/>
            <ns176:ext cx="828000" cy="162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5000"/>
              </ns182:lnSpc>
              <ns182:defRPr sz="1050" b="0">
                <ns182:solidFill>
                  <ns182:srgbClr val="65727D"/>
                </ns182:solidFill>
                <ns182:latin typeface="Arial"/>
                <ns182:ea typeface="Arial"/>
                <ns182:cs typeface="Arial"/>
              </ns182:defRPr>
            </ns182:pPr>
            <ns182:r>
              <ns182:rPr sz="1050" b="0">
                <ns182:solidFill>
                  <ns182:srgbClr val="65727D"/>
                </ns182:solidFill>
                <ns182:latin typeface="Arial"/>
                <ns182:ea typeface="Arial"/>
                <ns182:cs typeface="Arial"/>
              </ns182:rPr>
              <ns182:t>Query</ns182:t>
            </ns182:r>
          </ns182:p>
        </p:txBody>
      </p:sp>
      <p:cxnSp>
        <p:nvCxnSpPr>
          <p:cNvPr id="132" name="flow.systems.query.result.0"/>
          <p:cNvCxnSpPr/>
          <p:nvPr/>
        </p:nvCxnSpPr>
        <p:spPr>
          <ns183:xfrm xmlns:ns183="http://schemas.openxmlformats.org/drawingml/2006/main">
            <ns183:off x="7722000" y="2332800"/>
            <ns183:ext cx="1" cy="129600"/>
          </ns183:xfrm>
          <ns184:prstGeom xmlns:ns184="http://schemas.openxmlformats.org/drawingml/2006/main" prst="line">
            <ns184:avLst/>
          </ns184:prstGeom>
          <ns185:ln xmlns:ns185="http://schemas.openxmlformats.org/drawingml/2006/main" w="11430">
            <ns185:solidFill>
              <ns185:srgbClr val="005A9C"/>
            </ns185:solidFill>
          </ns185:ln>
        </p:spPr>
      </p:cxnSp>
      <p:cxnSp>
        <p:nvCxnSpPr>
          <p:cNvPr id="133" name="flow.systems.query.result.1"/>
          <p:cNvCxnSpPr/>
          <p:nvPr/>
        </p:nvCxnSpPr>
        <p:spPr>
          <ns186:xfrm xmlns:ns186="http://schemas.openxmlformats.org/drawingml/2006/main" flipH="1">
            <ns186:off x="5824800" y="2462400"/>
            <ns186:ext cx="1897200" cy="1"/>
          </ns186:xfrm>
          <ns187:prstGeom xmlns:ns187="http://schemas.openxmlformats.org/drawingml/2006/main" prst="line">
            <ns187:avLst/>
          </ns187:prstGeom>
          <ns188:ln xmlns:ns188="http://schemas.openxmlformats.org/drawingml/2006/main" w="11430">
            <ns188:solidFill>
              <ns188:srgbClr val="005A9C"/>
            </ns188:solidFill>
          </ns188:ln>
        </p:spPr>
      </p:cxnSp>
      <p:cxnSp>
        <p:nvCxnSpPr>
          <p:cNvPr id="134" name="flow.systems.query.result.2"/>
          <p:cNvCxnSpPr/>
          <p:nvPr/>
        </p:nvCxnSpPr>
        <p:spPr>
          <ns189:xfrm xmlns:ns189="http://schemas.openxmlformats.org/drawingml/2006/main">
            <ns189:off x="5824800" y="2462400"/>
            <ns189:ext cx="1" cy="100800"/>
          </ns189:xfrm>
          <ns190:prstGeom xmlns:ns190="http://schemas.openxmlformats.org/drawingml/2006/main" prst="line">
            <ns190:avLst/>
          </ns190:prstGeom>
          <ns191:ln xmlns:ns191="http://schemas.openxmlformats.org/drawingml/2006/main" w="11430">
            <ns191:solidFill>
              <ns191:srgbClr val="005A9C"/>
            </ns191:solidFill>
            <ns191:tailEnd type="triangle" w="sm" len="sm"/>
          </ns191:ln>
        </p:spPr>
      </p:cxnSp>
      <p:sp>
        <p:nvSpPr>
          <p:cNvPr id="135" name="query.result.label"/>
          <p:cNvSpPr/>
          <p:nvPr/>
        </p:nvSpPr>
        <p:spPr>
          <ns192:xfrm xmlns:ns192="http://schemas.openxmlformats.org/drawingml/2006/main">
            <ns192:off x="6156000" y="2264400"/>
            <ns192:ext cx="1728000" cy="162000"/>
          </ns192:xfrm>
          <ns193:prstGeom xmlns:ns193="http://schemas.openxmlformats.org/drawingml/2006/main" prst="rect">
            <ns193:avLst/>
          </ns193:prstGeom>
          <ns194:noFill xmlns:ns194="http://schemas.openxmlformats.org/drawingml/2006/main"/>
          <ns195:ln xmlns:ns195="http://schemas.openxmlformats.org/drawingml/2006/main" w="0">
            <ns195:noFill/>
          </ns195:ln>
        </p:spPr>
        <p:txBody>
          <ns196:bodyPr xmlns:ns196="http://schemas.openxmlformats.org/drawingml/2006/main" wrap="square" lIns="0" rIns="0" tIns="0" bIns="0" anchor="t">
            <ns196:noAutofit/>
          </ns196:bodyPr>
          <ns197:lstStyle xmlns:ns197="http://schemas.openxmlformats.org/drawingml/2006/main"/>
          <ns198:p xmlns:ns198="http://schemas.openxmlformats.org/drawingml/2006/main">
            <ns198:pPr algn="l">
              <ns198:lnSpc>
                <ns198:spcPct val="105000"/>
              </ns198:lnSpc>
              <ns198:defRPr sz="1000" b="0">
                <ns198:solidFill>
                  <ns198:srgbClr val="65727D"/>
                </ns198:solidFill>
                <ns198:latin typeface="Arial"/>
                <ns198:ea typeface="Arial"/>
                <ns198:cs typeface="Arial"/>
              </ns198:defRPr>
            </ns198:pPr>
            <ns198:r>
              <ns198:rPr sz="1000" b="0">
                <ns198:solidFill>
                  <ns198:srgbClr val="65727D"/>
                </ns198:solidFill>
                <ns198:latin typeface="Arial"/>
                <ns198:ea typeface="Arial"/>
                <ns198:cs typeface="Arial"/>
              </ns198:rPr>
              <ns198:t>Bonds + holdings</ns198:t>
            </ns198:r>
          </ns198:p>
        </p:txBody>
      </p:sp>
      <p:cxnSp>
        <p:nvCxnSpPr>
          <p:cNvPr id="136" name="flow.trader.requests.offers.0"/>
          <p:cNvCxnSpPr/>
          <p:nvPr/>
        </p:nvCxnSpPr>
        <p:spPr>
          <ns199:xfrm xmlns:ns199="http://schemas.openxmlformats.org/drawingml/2006/main">
            <ns199:off x="6336000" y="2754000"/>
            <ns199:ext cx="306000" cy="1"/>
          </ns199:xfrm>
          <ns200:prstGeom xmlns:ns200="http://schemas.openxmlformats.org/drawingml/2006/main" prst="line">
            <ns200:avLst/>
          </ns200:prstGeom>
          <ns201:ln xmlns:ns201="http://schemas.openxmlformats.org/drawingml/2006/main" w="11430">
            <ns201:solidFill>
              <ns201:srgbClr val="005A9C"/>
            </ns201:solidFill>
          </ns201:ln>
        </p:spPr>
      </p:cxnSp>
      <p:cxnSp>
        <p:nvCxnSpPr>
          <p:cNvPr id="137" name="flow.trader.requests.offers.1"/>
          <p:cNvCxnSpPr/>
          <p:nvPr/>
        </p:nvCxnSpPr>
        <p:spPr>
          <ns202:xfrm xmlns:ns202="http://schemas.openxmlformats.org/drawingml/2006/main">
            <ns202:off x="6642000" y="2754000"/>
            <ns202:ext cx="1" cy="1044000"/>
          </ns202:xfrm>
          <ns203:prstGeom xmlns:ns203="http://schemas.openxmlformats.org/drawingml/2006/main" prst="line">
            <ns203:avLst/>
          </ns203:prstGeom>
          <ns204:ln xmlns:ns204="http://schemas.openxmlformats.org/drawingml/2006/main" w="11430">
            <ns204:solidFill>
              <ns204:srgbClr val="005A9C"/>
            </ns204:solidFill>
          </ns204:ln>
        </p:spPr>
      </p:cxnSp>
      <p:cxnSp>
        <p:nvCxnSpPr>
          <p:cNvPr id="138" name="flow.trader.requests.offers.2"/>
          <p:cNvCxnSpPr/>
          <p:nvPr/>
        </p:nvCxnSpPr>
        <p:spPr>
          <ns205:xfrm xmlns:ns205="http://schemas.openxmlformats.org/drawingml/2006/main">
            <ns205:off x="6642000" y="3798000"/>
            <ns205:ext cx="223200" cy="1"/>
          </ns205:xfrm>
          <ns206:prstGeom xmlns:ns206="http://schemas.openxmlformats.org/drawingml/2006/main" prst="line">
            <ns206:avLst/>
          </ns206:prstGeom>
          <ns207:ln xmlns:ns207="http://schemas.openxmlformats.org/drawingml/2006/main" w="11430">
            <ns207:solidFill>
              <ns207:srgbClr val="005A9C"/>
            </ns207:solidFill>
            <ns207:tailEnd type="triangle" w="sm" len="sm"/>
          </ns207:ln>
        </p:spPr>
      </p:cxnSp>
      <p:sp>
        <p:nvSpPr>
          <p:cNvPr id="139" name="offer.request.label"/>
          <p:cNvSpPr/>
          <p:nvPr/>
        </p:nvSpPr>
        <p:spPr>
          <ns208:xfrm xmlns:ns208="http://schemas.openxmlformats.org/drawingml/2006/main">
            <ns208:off x="5472000" y="3434400"/>
            <ns208:ext cx="936000" cy="162000"/>
          </ns208:xfrm>
          <ns209:prstGeom xmlns:ns209="http://schemas.openxmlformats.org/drawingml/2006/main" prst="rect">
            <ns209:avLst/>
          </ns209:prstGeom>
          <ns210:noFill xmlns:ns210="http://schemas.openxmlformats.org/drawingml/2006/main"/>
          <ns211:ln xmlns:ns211="http://schemas.openxmlformats.org/drawingml/2006/main" w="0">
            <ns211:noFill/>
          </ns211:ln>
        </p:spPr>
        <p:txBody>
          <ns212:bodyPr xmlns:ns212="http://schemas.openxmlformats.org/drawingml/2006/main" wrap="square" lIns="0" rIns="0" tIns="0" bIns="0" anchor="t">
            <ns212:noAutofit/>
          </ns212:bodyPr>
          <ns213:lstStyle xmlns:ns213="http://schemas.openxmlformats.org/drawingml/2006/main"/>
          <ns214:p xmlns:ns214="http://schemas.openxmlformats.org/drawingml/2006/main">
            <ns214:pPr algn="l">
              <ns214:lnSpc>
                <ns214:spcPct val="105000"/>
              </ns214:lnSpc>
              <ns214:defRPr sz="950" b="0">
                <ns214:solidFill>
                  <ns214:srgbClr val="65727D"/>
                </ns214:solidFill>
                <ns214:latin typeface="Arial"/>
                <ns214:ea typeface="Arial"/>
                <ns214:cs typeface="Arial"/>
              </ns214:defRPr>
            </ns214:pPr>
            <ns214:r>
              <ns214:rPr sz="950" b="0">
                <ns214:solidFill>
                  <ns214:srgbClr val="65727D"/>
                </ns214:solidFill>
                <ns214:latin typeface="Arial"/>
                <ns214:ea typeface="Arial"/>
                <ns214:cs typeface="Arial"/>
              </ns214:rPr>
              <ns214:t>Request offers</ns214:t>
            </ns214:r>
          </ns214:p>
        </p:txBody>
      </p:sp>
      <p:cxnSp>
        <p:nvCxnSpPr>
          <p:cNvPr id="140" name="flow.counterparty.returns.quotes.0"/>
          <p:cNvCxnSpPr/>
          <p:nvPr/>
        </p:nvCxnSpPr>
        <p:spPr>
          <ns215:xfrm xmlns:ns215="http://schemas.openxmlformats.org/drawingml/2006/main" flipH="1">
            <ns215:off x="6462000" y="4060800"/>
            <ns215:ext cx="403200" cy="1"/>
          </ns215:xfrm>
          <ns216:prstGeom xmlns:ns216="http://schemas.openxmlformats.org/drawingml/2006/main" prst="line">
            <ns216:avLst/>
          </ns216:prstGeom>
          <ns217:ln xmlns:ns217="http://schemas.openxmlformats.org/drawingml/2006/main" w="11430">
            <ns217:solidFill>
              <ns217:srgbClr val="005A9C"/>
            </ns217:solidFill>
          </ns217:ln>
        </p:spPr>
      </p:cxnSp>
      <p:cxnSp>
        <p:nvCxnSpPr>
          <p:cNvPr id="141" name="flow.counterparty.returns.quotes.1"/>
          <p:cNvCxnSpPr/>
          <p:nvPr/>
        </p:nvCxnSpPr>
        <p:spPr>
          <ns218:xfrm xmlns:ns218="http://schemas.openxmlformats.org/drawingml/2006/main" flipV="1">
            <ns218:off x="6462000" y="2988000"/>
            <ns218:ext cx="1" cy="1072800"/>
          </ns218:xfrm>
          <ns219:prstGeom xmlns:ns219="http://schemas.openxmlformats.org/drawingml/2006/main" prst="line">
            <ns219:avLst/>
          </ns219:prstGeom>
          <ns220:ln xmlns:ns220="http://schemas.openxmlformats.org/drawingml/2006/main" w="11430">
            <ns220:solidFill>
              <ns220:srgbClr val="005A9C"/>
            </ns220:solidFill>
          </ns220:ln>
        </p:spPr>
      </p:cxnSp>
      <p:cxnSp>
        <p:nvCxnSpPr>
          <p:cNvPr id="142" name="flow.counterparty.returns.quotes.2"/>
          <p:cNvCxnSpPr/>
          <p:nvPr/>
        </p:nvCxnSpPr>
        <p:spPr>
          <ns221:xfrm xmlns:ns221="http://schemas.openxmlformats.org/drawingml/2006/main" flipH="1">
            <ns221:off x="6336000" y="2988000"/>
            <ns221:ext cx="126000" cy="1"/>
          </ns221:xfrm>
          <ns222:prstGeom xmlns:ns222="http://schemas.openxmlformats.org/drawingml/2006/main" prst="line">
            <ns222:avLst/>
          </ns222:prstGeom>
          <ns223:ln xmlns:ns223="http://schemas.openxmlformats.org/drawingml/2006/main" w="11430">
            <ns223:solidFill>
              <ns223:srgbClr val="005A9C"/>
            </ns223:solidFill>
            <ns223:tailEnd type="triangle" w="sm" len="sm"/>
          </ns223:ln>
        </p:spPr>
      </p:cxnSp>
      <p:sp>
        <p:nvSpPr>
          <p:cNvPr id="143" name="offer.return.label"/>
          <p:cNvSpPr/>
          <p:nvPr/>
        </p:nvSpPr>
        <p:spPr>
          <ns224:xfrm xmlns:ns224="http://schemas.openxmlformats.org/drawingml/2006/main">
            <ns224:off x="5464800" y="4086000"/>
            <ns224:ext cx="936000" cy="162000"/>
          </ns224:xfrm>
          <ns225:prstGeom xmlns:ns225="http://schemas.openxmlformats.org/drawingml/2006/main" prst="rect">
            <ns225:avLst/>
          </ns225:prstGeom>
          <ns226:noFill xmlns:ns226="http://schemas.openxmlformats.org/drawingml/2006/main"/>
          <ns227:ln xmlns:ns227="http://schemas.openxmlformats.org/drawingml/2006/main" w="0">
            <ns227:noFill/>
          </ns227:ln>
        </p:spPr>
        <p:txBody>
          <ns228:bodyPr xmlns:ns228="http://schemas.openxmlformats.org/drawingml/2006/main" wrap="square" lIns="0" rIns="0" tIns="0" bIns="0" anchor="t">
            <ns228:noAutofit/>
          </ns228:bodyPr>
          <ns229:lstStyle xmlns:ns229="http://schemas.openxmlformats.org/drawingml/2006/main"/>
          <ns230:p xmlns:ns230="http://schemas.openxmlformats.org/drawingml/2006/main">
            <ns230:pPr algn="l">
              <ns230:lnSpc>
                <ns230:spcPct val="105000"/>
              </ns230:lnSpc>
              <ns230:defRPr sz="950" b="0">
                <ns230:solidFill>
                  <ns230:srgbClr val="65727D"/>
                </ns230:solidFill>
                <ns230:latin typeface="Arial"/>
                <ns230:ea typeface="Arial"/>
                <ns230:cs typeface="Arial"/>
              </ns230:defRPr>
            </ns230:pPr>
            <ns230:r>
              <ns230:rPr sz="950" b="0">
                <ns230:solidFill>
                  <ns230:srgbClr val="65727D"/>
                </ns230:solidFill>
                <ns230:latin typeface="Arial"/>
                <ns230:ea typeface="Arial"/>
                <ns230:cs typeface="Arial"/>
              </ns230:rPr>
              <ns230:t>Offer quotes</ns230:t>
            </ns230:r>
          </ns230:p>
        </p:txBody>
      </p:sp>
      <p:cxnSp>
        <p:nvCxnSpPr>
          <p:cNvPr id="144" name="flow.trader.summary.to.manager.0"/>
          <p:cNvCxnSpPr/>
          <p:nvPr/>
        </p:nvCxnSpPr>
        <p:spPr>
          <ns231:xfrm xmlns:ns231="http://schemas.openxmlformats.org/drawingml/2006/main">
            <ns231:off x="5119200" y="3175200"/>
            <ns231:ext cx="1" cy="266400"/>
          </ns231:xfrm>
          <ns232:prstGeom xmlns:ns232="http://schemas.openxmlformats.org/drawingml/2006/main" prst="line">
            <ns232:avLst/>
          </ns232:prstGeom>
          <ns233:ln xmlns:ns233="http://schemas.openxmlformats.org/drawingml/2006/main" w="11430">
            <ns233:solidFill>
              <ns233:srgbClr val="005A9C"/>
            </ns233:solidFill>
          </ns233:ln>
        </p:spPr>
      </p:cxnSp>
      <p:cxnSp>
        <p:nvCxnSpPr>
          <p:cNvPr id="145" name="flow.trader.summary.to.manager.1"/>
          <p:cNvCxnSpPr/>
          <p:nvPr/>
        </p:nvCxnSpPr>
        <p:spPr>
          <ns234:xfrm xmlns:ns234="http://schemas.openxmlformats.org/drawingml/2006/main" flipH="1">
            <ns234:off x="3232800" y="3441600"/>
            <ns234:ext cx="1886400" cy="1"/>
          </ns234:xfrm>
          <ns235:prstGeom xmlns:ns235="http://schemas.openxmlformats.org/drawingml/2006/main" prst="line">
            <ns235:avLst/>
          </ns235:prstGeom>
          <ns236:ln xmlns:ns236="http://schemas.openxmlformats.org/drawingml/2006/main" w="11430">
            <ns236:solidFill>
              <ns236:srgbClr val="005A9C"/>
            </ns236:solidFill>
          </ns236:ln>
        </p:spPr>
      </p:cxnSp>
      <p:cxnSp>
        <p:nvCxnSpPr>
          <p:cNvPr id="146" name="flow.trader.summary.to.manager.2"/>
          <p:cNvCxnSpPr/>
          <p:nvPr/>
        </p:nvCxnSpPr>
        <p:spPr>
          <ns237:xfrm xmlns:ns237="http://schemas.openxmlformats.org/drawingml/2006/main" flipV="1">
            <ns237:off x="3232800" y="3175200"/>
            <ns237:ext cx="1" cy="266400"/>
          </ns237:xfrm>
          <ns238:prstGeom xmlns:ns238="http://schemas.openxmlformats.org/drawingml/2006/main" prst="line">
            <ns238:avLst/>
          </ns238:prstGeom>
          <ns239:ln xmlns:ns239="http://schemas.openxmlformats.org/drawingml/2006/main" w="11430">
            <ns239:solidFill>
              <ns239:srgbClr val="005A9C"/>
            </ns239:solidFill>
            <ns239:tailEnd type="triangle" w="sm" len="sm"/>
          </ns239:ln>
        </p:spPr>
      </p:cxnSp>
      <p:sp>
        <p:nvSpPr>
          <p:cNvPr id="147" name="summary.return.label"/>
          <p:cNvSpPr/>
          <p:nvPr/>
        </p:nvSpPr>
        <p:spPr>
          <ns240:xfrm xmlns:ns240="http://schemas.openxmlformats.org/drawingml/2006/main">
            <ns240:off x="3600000" y="3520800"/>
            <ns240:ext cx="2088000" cy="162000"/>
          </ns240:xfrm>
          <ns241:prstGeom xmlns:ns241="http://schemas.openxmlformats.org/drawingml/2006/main" prst="rect">
            <ns241:avLst/>
          </ns241:prstGeom>
          <ns242:noFill xmlns:ns242="http://schemas.openxmlformats.org/drawingml/2006/main"/>
          <ns243:ln xmlns:ns243="http://schemas.openxmlformats.org/drawingml/2006/main" w="0">
            <ns243:noFill/>
          </ns243:ln>
        </p:spPr>
        <p:txBody>
          <ns244:bodyPr xmlns:ns244="http://schemas.openxmlformats.org/drawingml/2006/main" wrap="square" lIns="0" rIns="0" tIns="0" bIns="0" anchor="t">
            <ns244:noAutofit/>
          </ns244:bodyPr>
          <ns245:lstStyle xmlns:ns245="http://schemas.openxmlformats.org/drawingml/2006/main"/>
          <ns246:p xmlns:ns246="http://schemas.openxmlformats.org/drawingml/2006/main">
            <ns246:pPr algn="l">
              <ns246:lnSpc>
                <ns246:spcPct val="105000"/>
              </ns246:lnSpc>
              <ns246:defRPr sz="1050" b="0">
                <ns246:solidFill>
                  <ns246:srgbClr val="65727D"/>
                </ns246:solidFill>
                <ns246:latin typeface="Arial"/>
                <ns246:ea typeface="Arial"/>
                <ns246:cs typeface="Arial"/>
              </ns246:defRPr>
            </ns246:pPr>
            <ns246:r>
              <ns246:rPr sz="1050" b="0">
                <ns246:solidFill>
                  <ns246:srgbClr val="65727D"/>
                </ns246:solidFill>
                <ns246:latin typeface="Arial"/>
                <ns246:ea typeface="Arial"/>
                <ns246:cs typeface="Arial"/>
              </ns246:rPr>
              <ns246:t>Bond / quote summary</ns246:t>
            </ns246:r>
          </ns246:p>
        </p:txBody>
      </p:sp>
      <p:sp>
        <p:nvSpPr>
          <p:cNvPr id="148" name="work.repetition"/>
          <p:cNvSpPr/>
          <p:nvPr/>
        </p:nvSpPr>
        <p:spPr>
          <ns247:xfrm xmlns:ns247="http://schemas.openxmlformats.org/drawingml/2006/main">
            <ns247:off x="2422800" y="4327200"/>
            <ns247:ext cx="6264000" cy="180000"/>
          </ns247:xfrm>
          <ns248:prstGeom xmlns:ns248="http://schemas.openxmlformats.org/drawingml/2006/main" prst="rect">
            <ns248:avLst/>
          </ns248:prstGeom>
          <ns249:noFill xmlns:ns249="http://schemas.openxmlformats.org/drawingml/2006/main"/>
          <ns250:ln xmlns:ns250="http://schemas.openxmlformats.org/drawingml/2006/main" w="0">
            <ns250:noFill/>
          </ns250:ln>
        </p:spPr>
        <p:txBody>
          <ns251:bodyPr xmlns:ns251="http://schemas.openxmlformats.org/drawingml/2006/main" wrap="square" lIns="0" rIns="0" tIns="0" bIns="0" anchor="t">
            <ns251:noAutofit/>
          </ns251:bodyPr>
          <ns252:lstStyle xmlns:ns252="http://schemas.openxmlformats.org/drawingml/2006/main"/>
          <ns253:p xmlns:ns253="http://schemas.openxmlformats.org/drawingml/2006/main">
            <ns253:pPr algn="l">
              <ns253:lnSpc>
                <ns253:spcPct val="105000"/>
              </ns253:lnSpc>
              <ns253:defRPr sz="1050" b="0">
                <ns253:solidFill>
                  <ns253:srgbClr val="65727D"/>
                </ns253:solidFill>
                <ns253:latin typeface="Arial"/>
                <ns253:ea typeface="Arial"/>
                <ns253:cs typeface="Arial"/>
              </ns253:defRPr>
            </ns253:pPr>
            <ns253:r>
              <ns253:rPr sz="1050" b="0">
                <ns253:solidFill>
                  <ns253:srgbClr val="65727D"/>
                </ns253:solidFill>
                <ns253:latin typeface="Arial"/>
                <ns253:ea typeface="Arial"/>
                <ns253:cs typeface="Arial"/>
              </ns253:rPr>
              <ns253:t>Repeated filters, system switches and message copying</ns253:t>
            </ns253:r>
          </ns253:p>
        </p:txBody>
      </p:sp>
    </p:spTree>
    <p:extLst>
      <p:ext uri="{BB962C8B-B14F-4D97-AF65-F5344CB8AC3E}">
        <p14:creationId xmlns:p14="http://schemas.microsoft.com/office/powerpoint/2010/main" val="10937266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Trading support at Southern and Aegon-Industrial</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Trading support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Southern Asset Management; Aegon-Industrial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focus.trade"/>
          <p:cNvSpPr/>
          <p:nvPr/>
        </p:nvSpPr>
        <p:spPr>
          <ns38:xfrm xmlns:ns38="http://schemas.openxmlformats.org/drawingml/2006/main">
            <ns38:off x="486000" y="1998000"/>
            <ns38:ext cx="1677600" cy="176400"/>
          </ns38:xfrm>
          <ns39:prstGeom xmlns:ns39="http://schemas.openxmlformats.org/drawingml/2006/main" prst="rect">
            <ns39:avLst/>
          </ns39:prstGeom>
          <ns40:solidFill xmlns:ns40="http://schemas.openxmlformats.org/drawingml/2006/main">
            <ns40:srgbClr val="D9EAF7"/>
          </ns40:solidFill>
          <ns41:ln xmlns:ns41="http://schemas.openxmlformats.org/drawingml/2006/main" w="0">
            <ns41:noFill/>
          </ns41:ln>
        </p:spPr>
      </p:sp>
      <p:sp>
        <p:nvSpPr>
          <p:cNvPr id="108"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1">
                <ns48:solidFill>
                  <ns48:srgbClr val="005A9C"/>
                </ns48:solidFill>
                <ns48:latin typeface="Arial"/>
                <ns48:ea typeface="Arial"/>
                <ns48:cs typeface="Arial"/>
              </ns48:defRPr>
            </ns48:pPr>
            <ns48:r>
              <ns48:rPr sz="1050" b="1">
                <ns48:solidFill>
                  <ns48:srgbClr val="005A9C"/>
                </ns48:solidFill>
                <ns48:latin typeface="Arial"/>
                <ns48:ea typeface="Arial"/>
                <ns48:cs typeface="Arial"/>
              </ns48:rPr>
              <ns48:t>Trading support</ns48:t>
            </ns48:r>
          </ns48:p>
        </p:txBody>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peer.label.0"/>
          <p:cNvSpPr/>
          <p:nvPr/>
        </p:nvSpPr>
        <p:spPr>
          <ns111:xfrm xmlns:ns111="http://schemas.openxmlformats.org/drawingml/2006/main">
            <ns111:off x="2422800" y="1504800"/>
            <ns111:ext cx="6264000" cy="216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250" b="0">
                <ns117:solidFill>
                  <ns117:srgbClr val="005A9C"/>
                </ns117:solidFill>
                <ns117:latin typeface="Arial"/>
                <ns117:ea typeface="Arial"/>
                <ns117:cs typeface="Arial"/>
              </ns117:defRPr>
            </ns117:pPr>
            <ns117:r>
              <ns117:rPr sz="1250" b="0">
                <ns117:solidFill>
                  <ns117:srgbClr val="005A9C"/>
                </ns117:solidFill>
                <ns117:latin typeface="Arial"/>
                <ns117:ea typeface="Arial"/>
                <ns117:cs typeface="Arial"/>
              </ns117:rPr>
              <ns117:t>Southern / Xiaonan</ns117:t>
            </ns117:r>
          </ns117:p>
        </p:txBody>
      </p:sp>
      <p:sp>
        <p:nvSpPr>
          <p:cNvPr id="120" name="peer.0.step.0"/>
          <p:cNvSpPr/>
          <p:nvPr/>
        </p:nvSpPr>
        <p:spPr>
          <ns118:xfrm xmlns:ns118="http://schemas.openxmlformats.org/drawingml/2006/main">
            <ns118:off x="2422800" y="1828800"/>
            <ns118:ext cx="1332000" cy="756000"/>
          </ns118:xfrm>
          <ns119:prstGeom xmlns:ns119="http://schemas.openxmlformats.org/drawingml/2006/main" prst="roundRect">
            <ns119:avLst/>
          </ns119:prstGeom>
          <ns120:solidFill xmlns:ns120="http://schemas.openxmlformats.org/drawingml/2006/main">
            <ns120:srgbClr val="F3F7FA"/>
          </ns120:solidFill>
          <ns121:ln xmlns:ns121="http://schemas.openxmlformats.org/drawingml/2006/main" w="9525">
            <ns121:solidFill>
              <ns121:srgbClr val="65727D"/>
            </ns121:solidFill>
          </ns121:ln>
        </p:spPr>
        <p:txBody>
          <ns122:bodyPr xmlns:ns122="http://schemas.openxmlformats.org/drawingml/2006/main" wrap="square" lIns="61200" rIns="61200" tIns="61200" bIns="61200" anchor="ctr">
            <ns122:noAutofit/>
          </ns122:bodyPr>
          <ns123:lstStyle xmlns:ns123="http://schemas.openxmlformats.org/drawingml/2006/main"/>
          <ns124:p xmlns:ns124="http://schemas.openxmlformats.org/drawingml/2006/main">
            <ns124:pPr algn="l">
              <ns124:lnSpc>
                <ns124:spcPct val="105000"/>
              </ns124:lnSpc>
              <ns124:defRPr sz="1300" b="1">
                <ns124:solidFill>
                  <ns124:srgbClr val="65727D"/>
                </ns124:solidFill>
                <ns124:latin typeface="Arial"/>
                <ns124:ea typeface="Arial"/>
                <ns124:cs typeface="Arial"/>
              </ns124:defRPr>
            </ns124:pPr>
            <ns124:r>
              <ns124:rPr sz="1300" b="1">
                <ns124:solidFill>
                  <ns124:srgbClr val="65727D"/>
                </ns124:solidFill>
                <ns124:latin typeface="Arial"/>
                <ns124:ea typeface="Arial"/>
                <ns124:cs typeface="Arial"/>
              </ns124:rPr>
              <ns124:t>User request</ns124:t>
            </ns124:r>
          </ns124:p>
          <ns125:p xmlns:ns125="http://schemas.openxmlformats.org/drawingml/2006/main">
            <ns125:pPr algn="l">
              <ns125:lnSpc>
                <ns125:spcPct val="105000"/>
              </ns125:lnSpc>
              <ns125:defRPr sz="1050" b="0">
                <ns125:solidFill>
                  <ns125:srgbClr val="20262C"/>
                </ns125:solidFill>
                <ns125:latin typeface="Arial"/>
                <ns125:ea typeface="Arial"/>
                <ns125:cs typeface="Arial"/>
              </ns125:defRPr>
            </ns125:pPr>
            <ns125:r>
              <ns125:rPr sz="1050" b="0">
                <ns125:solidFill>
                  <ns125:srgbClr val="20262C"/>
                </ns125:solidFill>
                <ns125:latin typeface="Arial"/>
                <ns125:ea typeface="Arial"/>
                <ns125:cs typeface="Arial"/>
              </ns125:rPr>
              <ns125:t>Bond query / task</ns125:t>
            </ns125:r>
          </ns125:p>
        </p:txBody>
      </p:sp>
      <p:cxnSp>
        <p:nvCxnSpPr>
          <p:cNvPr id="121" name="peer.0.flow.0"/>
          <p:cNvCxnSpPr/>
          <p:nvPr/>
        </p:nvCxnSpPr>
        <p:spPr>
          <ns126:xfrm xmlns:ns126="http://schemas.openxmlformats.org/drawingml/2006/main">
            <ns126:off x="3783600" y="2206800"/>
            <ns126:ext cx="230400" cy="1"/>
          </ns126:xfrm>
          <ns127:prstGeom xmlns:ns127="http://schemas.openxmlformats.org/drawingml/2006/main" prst="line">
            <ns127:avLst/>
          </ns127:prstGeom>
          <ns128:ln xmlns:ns128="http://schemas.openxmlformats.org/drawingml/2006/main" w="11430">
            <ns128:solidFill>
              <ns128:srgbClr val="005A9C"/>
            </ns128:solidFill>
            <ns128:tailEnd type="triangle" w="sm" len="sm"/>
          </ns128:ln>
        </p:spPr>
      </p:cxnSp>
      <p:sp>
        <p:nvSpPr>
          <p:cNvPr id="122" name="peer.0.step.1"/>
          <p:cNvSpPr/>
          <p:nvPr/>
        </p:nvSpPr>
        <p:spPr>
          <ns129:xfrm xmlns:ns129="http://schemas.openxmlformats.org/drawingml/2006/main">
            <ns129:off x="4050000" y="1828800"/>
            <ns129:ext cx="1332000" cy="756000"/>
          </ns129:xfrm>
          <ns130:prstGeom xmlns:ns130="http://schemas.openxmlformats.org/drawingml/2006/main" prst="roundRect">
            <ns130:avLst/>
          </ns130:prstGeom>
          <ns131:solidFill xmlns:ns131="http://schemas.openxmlformats.org/drawingml/2006/main">
            <ns131:srgbClr val="EAF3FA"/>
          </ns131:solidFill>
          <ns132:ln xmlns:ns132="http://schemas.openxmlformats.org/drawingml/2006/main" w="9525">
            <ns132:solidFill>
              <ns132:srgbClr val="005A9C"/>
            </ns132:solidFill>
          </ns132:ln>
        </p:spPr>
        <p:txBody>
          <ns133:bodyPr xmlns:ns133="http://schemas.openxmlformats.org/drawingml/2006/main" wrap="square" lIns="61200" rIns="61200" tIns="61200" bIns="61200" anchor="ctr">
            <ns133:noAutofit/>
          </ns133:bodyPr>
          <ns134:lstStyle xmlns:ns134="http://schemas.openxmlformats.org/drawingml/2006/main"/>
          <ns135:p xmlns:ns135="http://schemas.openxmlformats.org/drawingml/2006/main">
            <ns135:pPr algn="l">
              <ns135:lnSpc>
                <ns135:spcPct val="105000"/>
              </ns135:lnSpc>
              <ns135:defRPr sz="1300" b="1">
                <ns135:solidFill>
                  <ns135:srgbClr val="005A9C"/>
                </ns135:solidFill>
                <ns135:latin typeface="Arial"/>
                <ns135:ea typeface="Arial"/>
                <ns135:cs typeface="Arial"/>
              </ns135:defRPr>
            </ns135:pPr>
            <ns135:r>
              <ns135:rPr sz="1300" b="1">
                <ns135:solidFill>
                  <ns135:srgbClr val="005A9C"/>
                </ns135:solidFill>
                <ns135:latin typeface="Arial"/>
                <ns135:ea typeface="Arial"/>
                <ns135:cs typeface="Arial"/>
              </ns135:rPr>
              <ns135:t>LLM</ns135:t>
            </ns135:r>
          </ns135:p>
          <ns136:p xmlns:ns136="http://schemas.openxmlformats.org/drawingml/2006/main">
            <ns136:pPr algn="l">
              <ns136:lnSpc>
                <ns136:spcPct val="105000"/>
              </ns136:lnSpc>
              <ns136:defRPr sz="1050" b="0">
                <ns136:solidFill>
                  <ns136:srgbClr val="20262C"/>
                </ns136:solidFill>
                <ns136:latin typeface="Arial"/>
                <ns136:ea typeface="Arial"/>
                <ns136:cs typeface="Arial"/>
              </ns136:defRPr>
            </ns136:pPr>
            <ns136:r>
              <ns136:rPr sz="1050" b="0">
                <ns136:solidFill>
                  <ns136:srgbClr val="20262C"/>
                </ns136:solidFill>
                <ns136:latin typeface="Arial"/>
                <ns136:ea typeface="Arial"/>
                <ns136:cs typeface="Arial"/>
              </ns136:rPr>
              <ns136:t>Interpret / select tools</ns136:t>
            </ns136:r>
          </ns136:p>
        </p:txBody>
      </p:sp>
      <p:cxnSp>
        <p:nvCxnSpPr>
          <p:cNvPr id="123" name="peer.0.flow.1"/>
          <p:cNvCxnSpPr/>
          <p:nvPr/>
        </p:nvCxnSpPr>
        <p:spPr>
          <ns137:xfrm xmlns:ns137="http://schemas.openxmlformats.org/drawingml/2006/main">
            <ns137:off x="5410800" y="2206800"/>
            <ns137:ext cx="230400" cy="1"/>
          </ns137:xfrm>
          <ns138:prstGeom xmlns:ns138="http://schemas.openxmlformats.org/drawingml/2006/main" prst="line">
            <ns138:avLst/>
          </ns138:prstGeom>
          <ns139:ln xmlns:ns139="http://schemas.openxmlformats.org/drawingml/2006/main" w="11430">
            <ns139:solidFill>
              <ns139:srgbClr val="005A9C"/>
            </ns139:solidFill>
            <ns139:tailEnd type="triangle" w="sm" len="sm"/>
          </ns139:ln>
        </p:spPr>
      </p:cxnSp>
      <p:sp>
        <p:nvSpPr>
          <p:cNvPr id="124" name="peer.0.step.2"/>
          <p:cNvSpPr/>
          <p:nvPr/>
        </p:nvSpPr>
        <p:spPr>
          <ns140:xfrm xmlns:ns140="http://schemas.openxmlformats.org/drawingml/2006/main">
            <ns140:off x="5677200" y="1828800"/>
            <ns140:ext cx="1332000" cy="756000"/>
          </ns140:xfrm>
          <ns141:prstGeom xmlns:ns141="http://schemas.openxmlformats.org/drawingml/2006/main" prst="roundRect">
            <ns141:avLst/>
          </ns141:prstGeom>
          <ns142:solidFill xmlns:ns142="http://schemas.openxmlformats.org/drawingml/2006/main">
            <ns142:srgbClr val="F3F7FA"/>
          </ns142:solidFill>
          <ns143:ln xmlns:ns143="http://schemas.openxmlformats.org/drawingml/2006/main" w="9525">
            <ns143:solidFill>
              <ns143:srgbClr val="65727D"/>
            </ns143:solidFill>
          </ns143:ln>
        </p:spPr>
        <p:txBody>
          <ns144:bodyPr xmlns:ns144="http://schemas.openxmlformats.org/drawingml/2006/main" wrap="square" lIns="61200" rIns="61200" tIns="61200" bIns="61200" anchor="ctr">
            <ns144:noAutofit/>
          </ns144:bodyPr>
          <ns145:lstStyle xmlns:ns145="http://schemas.openxmlformats.org/drawingml/2006/main"/>
          <ns146:p xmlns:ns146="http://schemas.openxmlformats.org/drawingml/2006/main">
            <ns146:pPr algn="l">
              <ns146:lnSpc>
                <ns146:spcPct val="105000"/>
              </ns146:lnSpc>
              <ns146:defRPr sz="1300" b="1">
                <ns146:solidFill>
                  <ns146:srgbClr val="65727D"/>
                </ns146:solidFill>
                <ns146:latin typeface="Arial"/>
                <ns146:ea typeface="Arial"/>
                <ns146:cs typeface="Arial"/>
              </ns146:defRPr>
            </ns146:pPr>
            <ns146:r>
              <ns146:rPr sz="1300" b="1">
                <ns146:solidFill>
                  <ns146:srgbClr val="65727D"/>
                </ns146:solidFill>
                <ns146:latin typeface="Arial"/>
                <ns146:ea typeface="Arial"/>
                <ns146:cs typeface="Arial"/>
              </ns146:rPr>
              <ns146:t>Systems</ns146:t>
            </ns146:r>
          </ns146:p>
          <ns147:p xmlns:ns147="http://schemas.openxmlformats.org/drawingml/2006/main">
            <ns147:pPr algn="l">
              <ns147:lnSpc>
                <ns147:spcPct val="105000"/>
              </ns147:lnSpc>
              <ns147:defRPr sz="1050" b="0">
                <ns147:solidFill>
                  <ns147:srgbClr val="20262C"/>
                </ns147:solidFill>
                <ns147:latin typeface="Arial"/>
                <ns147:ea typeface="Arial"/>
                <ns147:cs typeface="Arial"/>
              </ns147:defRPr>
            </ns147:pPr>
            <ns147:r>
              <ns147:rPr sz="1050" b="0">
                <ns147:solidFill>
                  <ns147:srgbClr val="20262C"/>
                </ns147:solidFill>
                <ns147:latin typeface="Arial"/>
                <ns147:ea typeface="Arial"/>
                <ns147:cs typeface="Arial"/>
              </ns147:rPr>
              <ns147:t>Run / return result</ns147:t>
            </ns147:r>
          </ns147:p>
        </p:txBody>
      </p:sp>
      <p:cxnSp>
        <p:nvCxnSpPr>
          <p:cNvPr id="125" name="peer.0.flow.2"/>
          <p:cNvCxnSpPr/>
          <p:nvPr/>
        </p:nvCxnSpPr>
        <p:spPr>
          <ns148:xfrm xmlns:ns148="http://schemas.openxmlformats.org/drawingml/2006/main">
            <ns148:off x="7038000" y="2206800"/>
            <ns148:ext cx="230400" cy="1"/>
          </ns148:xfrm>
          <ns149:prstGeom xmlns:ns149="http://schemas.openxmlformats.org/drawingml/2006/main" prst="line">
            <ns149:avLst/>
          </ns149:prstGeom>
          <ns150:ln xmlns:ns150="http://schemas.openxmlformats.org/drawingml/2006/main" w="11430">
            <ns150:solidFill>
              <ns150:srgbClr val="005A9C"/>
            </ns150:solidFill>
            <ns150:tailEnd type="triangle" w="sm" len="sm"/>
          </ns150:ln>
        </p:spPr>
      </p:cxnSp>
      <p:sp>
        <p:nvSpPr>
          <p:cNvPr id="126" name="peer.0.step.3"/>
          <p:cNvSpPr/>
          <p:nvPr/>
        </p:nvSpPr>
        <p:spPr>
          <ns151:xfrm xmlns:ns151="http://schemas.openxmlformats.org/drawingml/2006/main">
            <ns151:off x="7304400" y="1828800"/>
            <ns151:ext cx="1382400" cy="756000"/>
          </ns151:xfrm>
          <ns152:prstGeom xmlns:ns152="http://schemas.openxmlformats.org/drawingml/2006/main" prst="roundRect">
            <ns152:avLst/>
          </ns152:prstGeom>
          <ns153:solidFill xmlns:ns153="http://schemas.openxmlformats.org/drawingml/2006/main">
            <ns153:srgbClr val="F3F7FA"/>
          </ns153:solidFill>
          <ns154:ln xmlns:ns154="http://schemas.openxmlformats.org/drawingml/2006/main" w="9525">
            <ns154:solidFill>
              <ns154:srgbClr val="65727D"/>
            </ns154:solidFill>
          </ns154:ln>
        </p:spPr>
        <p:txBody>
          <ns155:bodyPr xmlns:ns155="http://schemas.openxmlformats.org/drawingml/2006/main" wrap="square" lIns="61200" rIns="61200" tIns="61200" bIns="61200" anchor="ctr">
            <ns155:noAutofit/>
          </ns155:bodyPr>
          <ns156:lstStyle xmlns:ns156="http://schemas.openxmlformats.org/drawingml/2006/main"/>
          <ns157:p xmlns:ns157="http://schemas.openxmlformats.org/drawingml/2006/main">
            <ns157:pPr algn="l">
              <ns157:lnSpc>
                <ns157:spcPct val="105000"/>
              </ns157:lnSpc>
              <ns157:defRPr sz="1300" b="1">
                <ns157:solidFill>
                  <ns157:srgbClr val="65727D"/>
                </ns157:solidFill>
                <ns157:latin typeface="Arial"/>
                <ns157:ea typeface="Arial"/>
                <ns157:cs typeface="Arial"/>
              </ns157:defRPr>
            </ns157:pPr>
            <ns157:r>
              <ns157:rPr sz="1300" b="1">
                <ns157:solidFill>
                  <ns157:srgbClr val="65727D"/>
                </ns157:solidFill>
                <ns157:latin typeface="Arial"/>
                <ns157:ea typeface="Arial"/>
                <ns157:cs typeface="Arial"/>
              </ns157:rPr>
              <ns157:t>User</ns157:t>
            </ns157:r>
          </ns157:p>
          <ns158:p xmlns:ns158="http://schemas.openxmlformats.org/drawingml/2006/main">
            <ns158:pPr algn="l">
              <ns158:lnSpc>
                <ns158:spcPct val="105000"/>
              </ns158:lnSpc>
              <ns158:defRPr sz="1050" b="0">
                <ns158:solidFill>
                  <ns158:srgbClr val="20262C"/>
                </ns158:solidFill>
                <ns158:latin typeface="Arial"/>
                <ns158:ea typeface="Arial"/>
                <ns158:cs typeface="Arial"/>
              </ns158:defRPr>
            </ns158:pPr>
            <ns158:r>
              <ns158:rPr sz="1050" b="0">
                <ns158:solidFill>
                  <ns158:srgbClr val="20262C"/>
                </ns158:solidFill>
                <ns158:latin typeface="Arial"/>
                <ns158:ea typeface="Arial"/>
                <ns158:cs typeface="Arial"/>
              </ns158:rPr>
              <ns158:t>Review / confirm</ns158:t>
            </ns158:r>
          </ns158:p>
        </p:txBody>
      </p:sp>
      <p:sp>
        <p:nvSpPr>
          <p:cNvPr id="127" name="peer.label.1"/>
          <p:cNvSpPr/>
          <p:nvPr/>
        </p:nvSpPr>
        <p:spPr>
          <ns159:xfrm xmlns:ns159="http://schemas.openxmlformats.org/drawingml/2006/main">
            <ns159:off x="2422800" y="2887200"/>
            <ns159:ext cx="6264000" cy="216000"/>
          </ns159:xfrm>
          <ns160:prstGeom xmlns:ns160="http://schemas.openxmlformats.org/drawingml/2006/main" prst="rect">
            <ns160:avLst/>
          </ns160:prstGeom>
          <ns161:noFill xmlns:ns161="http://schemas.openxmlformats.org/drawingml/2006/main"/>
          <ns162:ln xmlns:ns162="http://schemas.openxmlformats.org/drawingml/2006/main" w="0">
            <ns162:noFill/>
          </ns162:ln>
        </p:spPr>
        <p:txBody>
          <ns163:bodyPr xmlns:ns163="http://schemas.openxmlformats.org/drawingml/2006/main" wrap="square" lIns="0" rIns="0" tIns="0" bIns="0" anchor="t">
            <ns163:noAutofit/>
          </ns163:bodyPr>
          <ns164:lstStyle xmlns:ns164="http://schemas.openxmlformats.org/drawingml/2006/main"/>
          <ns165:p xmlns:ns165="http://schemas.openxmlformats.org/drawingml/2006/main">
            <ns165:pPr algn="l">
              <ns165:lnSpc>
                <ns165:spcPct val="105000"/>
              </ns165:lnSpc>
              <ns165:defRPr sz="1250" b="0">
                <ns165:solidFill>
                  <ns165:srgbClr val="005A9C"/>
                </ns165:solidFill>
                <ns165:latin typeface="Arial"/>
                <ns165:ea typeface="Arial"/>
                <ns165:cs typeface="Arial"/>
              </ns165:defRPr>
            </ns165:pPr>
            <ns165:r>
              <ns165:rPr sz="1250" b="0">
                <ns165:solidFill>
                  <ns165:srgbClr val="005A9C"/>
                </ns165:solidFill>
                <ns165:latin typeface="Arial"/>
                <ns165:ea typeface="Arial"/>
                <ns165:cs typeface="Arial"/>
              </ns165:rPr>
              <ns165:t>Aegon-Industrial / Qtrade</ns165:t>
            </ns165:r>
          </ns165:p>
        </p:txBody>
      </p:sp>
      <p:sp>
        <p:nvSpPr>
          <p:cNvPr id="128" name="peer.1.step.0"/>
          <p:cNvSpPr/>
          <p:nvPr/>
        </p:nvSpPr>
        <p:spPr>
          <ns166:xfrm xmlns:ns166="http://schemas.openxmlformats.org/drawingml/2006/main">
            <ns166:off x="2422800" y="3211200"/>
            <ns166:ext cx="1044000" cy="936000"/>
          </ns166:xfrm>
          <ns167:prstGeom xmlns:ns167="http://schemas.openxmlformats.org/drawingml/2006/main" prst="rect">
            <ns167:avLst/>
          </ns167:prstGeom>
          <ns168:solidFill xmlns:ns168="http://schemas.openxmlformats.org/drawingml/2006/main">
            <ns168:srgbClr val="F3F7FA"/>
          </ns168:solidFill>
          <ns169:ln xmlns:ns169="http://schemas.openxmlformats.org/drawingml/2006/main" w="9525">
            <ns169:solidFill>
              <ns169:srgbClr val="65727D"/>
            </ns169:solidFill>
          </ns169:ln>
        </p:spPr>
        <p:txBody>
          <ns170:bodyPr xmlns:ns170="http://schemas.openxmlformats.org/drawingml/2006/main" wrap="square" lIns="61200" rIns="61200" tIns="61200" bIns="61200" anchor="ctr">
            <ns170:noAutofit/>
          </ns170:bodyPr>
          <ns171:lstStyle xmlns:ns171="http://schemas.openxmlformats.org/drawingml/2006/main"/>
          <ns172:p xmlns:ns172="http://schemas.openxmlformats.org/drawingml/2006/main">
            <ns172:pPr algn="l">
              <ns172:lnSpc>
                <ns172:spcPct val="105000"/>
              </ns172:lnSpc>
              <ns172:defRPr sz="1300" b="1">
                <ns172:solidFill>
                  <ns172:srgbClr val="65727D"/>
                </ns172:solidFill>
                <ns172:latin typeface="Arial"/>
                <ns172:ea typeface="Arial"/>
                <ns172:cs typeface="Arial"/>
              </ns172:defRPr>
            </ns172:pPr>
            <ns172:r>
              <ns172:rPr sz="1300" b="1">
                <ns172:solidFill>
                  <ns172:srgbClr val="65727D"/>
                </ns172:solidFill>
                <ns172:latin typeface="Arial"/>
                <ns172:ea typeface="Arial"/>
                <ns172:cs typeface="Arial"/>
              </ns172:rPr>
              <ns172:t>Qtrade records</ns172:t>
            </ns172:r>
          </ns172:p>
          <ns173:p xmlns:ns173="http://schemas.openxmlformats.org/drawingml/2006/main">
            <ns173:pPr algn="l">
              <ns173:lnSpc>
                <ns173:spcPct val="105000"/>
              </ns173:lnSpc>
              <ns173:defRPr sz="1050" b="0">
                <ns173:solidFill>
                  <ns173:srgbClr val="20262C"/>
                </ns173:solidFill>
                <ns173:latin typeface="Arial"/>
                <ns173:ea typeface="Arial"/>
                <ns173:cs typeface="Arial"/>
              </ns173:defRPr>
            </ns173:pPr>
            <ns173:r>
              <ns173:rPr sz="1050" b="0">
                <ns173:solidFill>
                  <ns173:srgbClr val="20262C"/>
                </ns173:solidFill>
                <ns173:latin typeface="Arial"/>
                <ns173:ea typeface="Arial"/>
                <ns173:cs typeface="Arial"/>
              </ns173:rPr>
              <ns173:t>Bond / side</ns173:t>
            </ns173:r>
          </ns173:p>
          <ns174:p xmlns:ns174="http://schemas.openxmlformats.org/drawingml/2006/main">
            <ns174:pPr algn="l">
              <ns174:lnSpc>
                <ns174:spcPct val="105000"/>
              </ns174:lnSpc>
              <ns174:defRPr sz="1050" b="0">
                <ns174:solidFill>
                  <ns174:srgbClr val="20262C"/>
                </ns174:solidFill>
                <ns174:latin typeface="Arial"/>
                <ns174:ea typeface="Arial"/>
                <ns174:cs typeface="Arial"/>
              </ns174:defRPr>
            </ns174:pPr>
            <ns174:r>
              <ns174:rPr sz="1050" b="0">
                <ns174:solidFill>
                  <ns174:srgbClr val="20262C"/>
                </ns174:solidFill>
                <ns174:latin typeface="Arial"/>
                <ns174:ea typeface="Arial"/>
                <ns174:cs typeface="Arial"/>
              </ns174:rPr>
              <ns174:t>Price / size</ns174:t>
            </ns174:r>
          </ns174:p>
        </p:txBody>
      </p:sp>
      <p:cxnSp>
        <p:nvCxnSpPr>
          <p:cNvPr id="129" name="peer.1.flow.0"/>
          <p:cNvCxnSpPr/>
          <p:nvPr/>
        </p:nvCxnSpPr>
        <p:spPr>
          <ns175:xfrm xmlns:ns175="http://schemas.openxmlformats.org/drawingml/2006/main">
            <ns175:off x="3495600" y="3589200"/>
            <ns175:ext cx="196200" cy="1"/>
          </ns175:xfrm>
          <ns176:prstGeom xmlns:ns176="http://schemas.openxmlformats.org/drawingml/2006/main" prst="line">
            <ns176:avLst/>
          </ns176:prstGeom>
          <ns177:ln xmlns:ns177="http://schemas.openxmlformats.org/drawingml/2006/main" w="11430">
            <ns177:solidFill>
              <ns177:srgbClr val="005A9C"/>
            </ns177:solidFill>
            <ns177:tailEnd type="triangle" w="sm" len="sm"/>
          </ns177:ln>
        </p:spPr>
      </p:cxnSp>
      <p:sp>
        <p:nvSpPr>
          <p:cNvPr id="130" name="peer.1.step.1"/>
          <p:cNvSpPr/>
          <p:nvPr/>
        </p:nvSpPr>
        <p:spPr>
          <ns178:xfrm xmlns:ns178="http://schemas.openxmlformats.org/drawingml/2006/main">
            <ns178:off x="3727800" y="3211200"/>
            <ns178:ext cx="1044000" cy="936000"/>
          </ns178:xfrm>
          <ns179:prstGeom xmlns:ns179="http://schemas.openxmlformats.org/drawingml/2006/main" prst="roundRect">
            <ns179:avLst/>
          </ns179:prstGeom>
          <ns180:solidFill xmlns:ns180="http://schemas.openxmlformats.org/drawingml/2006/main">
            <ns180:srgbClr val="EAF3FA"/>
          </ns180:solidFill>
          <ns181:ln xmlns:ns181="http://schemas.openxmlformats.org/drawingml/2006/main" w="9525">
            <ns181:solidFill>
              <ns181:srgbClr val="005A9C"/>
            </ns181:solidFill>
          </ns181:ln>
        </p:spPr>
        <p:txBody>
          <ns182:bodyPr xmlns:ns182="http://schemas.openxmlformats.org/drawingml/2006/main" wrap="square" lIns="61200" rIns="61200" tIns="61200" bIns="61200" anchor="ctr">
            <ns182:noAutofit/>
          </ns182:bodyPr>
          <ns183:lstStyle xmlns:ns183="http://schemas.openxmlformats.org/drawingml/2006/main"/>
          <ns184:p xmlns:ns184="http://schemas.openxmlformats.org/drawingml/2006/main">
            <ns184:pPr algn="l">
              <ns184:lnSpc>
                <ns184:spcPct val="105000"/>
              </ns184:lnSpc>
              <ns184:defRPr sz="1300" b="1">
                <ns184:solidFill>
                  <ns184:srgbClr val="005A9C"/>
                </ns184:solidFill>
                <ns184:latin typeface="Arial"/>
                <ns184:ea typeface="Arial"/>
                <ns184:cs typeface="Arial"/>
              </ns184:defRPr>
            </ns184:pPr>
            <ns184:r>
              <ns184:rPr sz="1300" b="1">
                <ns184:solidFill>
                  <ns184:srgbClr val="005A9C"/>
                </ns184:solidFill>
                <ns184:latin typeface="Arial"/>
                <ns184:ea typeface="Arial"/>
                <ns184:cs typeface="Arial"/>
              </ns184:rPr>
              <ns184:t>AI</ns184:t>
            </ns184:r>
          </ns184:p>
          <ns185:p xmlns:ns185="http://schemas.openxmlformats.org/drawingml/2006/main">
            <ns185:pPr algn="l">
              <ns185:lnSpc>
                <ns185:spcPct val="105000"/>
              </ns185:lnSpc>
              <ns185:defRPr sz="1050" b="0">
                <ns185:solidFill>
                  <ns185:srgbClr val="20262C"/>
                </ns185:solidFill>
                <ns185:latin typeface="Arial"/>
                <ns185:ea typeface="Arial"/>
                <ns185:cs typeface="Arial"/>
              </ns185:defRPr>
            </ns185:pPr>
            <ns185:r>
              <ns185:rPr sz="1050" b="0">
                <ns185:solidFill>
                  <ns185:srgbClr val="20262C"/>
                </ns185:solidFill>
                <ns185:latin typeface="Arial"/>
                <ns185:ea typeface="Arial"/>
                <ns185:cs typeface="Arial"/>
              </ns185:rPr>
              <ns185:t>Extract fields</ns185:t>
            </ns185:r>
          </ns185:p>
        </p:txBody>
      </p:sp>
      <p:cxnSp>
        <p:nvCxnSpPr>
          <p:cNvPr id="131" name="peer.1.flow.1"/>
          <p:cNvCxnSpPr/>
          <p:nvPr/>
        </p:nvCxnSpPr>
        <p:spPr>
          <ns186:xfrm xmlns:ns186="http://schemas.openxmlformats.org/drawingml/2006/main">
            <ns186:off x="4800600" y="3589200"/>
            <ns186:ext cx="196200" cy="1"/>
          </ns186:xfrm>
          <ns187:prstGeom xmlns:ns187="http://schemas.openxmlformats.org/drawingml/2006/main" prst="line">
            <ns187:avLst/>
          </ns187:prstGeom>
          <ns188:ln xmlns:ns188="http://schemas.openxmlformats.org/drawingml/2006/main" w="11430">
            <ns188:solidFill>
              <ns188:srgbClr val="005A9C"/>
            </ns188:solidFill>
            <ns188:tailEnd type="triangle" w="sm" len="sm"/>
          </ns188:ln>
        </p:spPr>
      </p:cxnSp>
      <p:sp>
        <p:nvSpPr>
          <p:cNvPr id="132" name="peer.1.step.2"/>
          <p:cNvSpPr/>
          <p:nvPr/>
        </p:nvSpPr>
        <p:spPr>
          <ns189:xfrm xmlns:ns189="http://schemas.openxmlformats.org/drawingml/2006/main">
            <ns189:off x="5032800" y="3211200"/>
            <ns189:ext cx="1044000" cy="936000"/>
          </ns189:xfrm>
          <ns190:prstGeom xmlns:ns190="http://schemas.openxmlformats.org/drawingml/2006/main" prst="roundRect">
            <ns190:avLst/>
          </ns190:prstGeom>
          <ns191:solidFill xmlns:ns191="http://schemas.openxmlformats.org/drawingml/2006/main">
            <ns191:srgbClr val="F3F7FA"/>
          </ns191:solidFill>
          <ns192:ln xmlns:ns192="http://schemas.openxmlformats.org/drawingml/2006/main" w="9525">
            <ns192:solidFill>
              <ns192:srgbClr val="65727D"/>
            </ns192:solidFill>
          </ns192:ln>
        </p:spPr>
        <p:txBody>
          <ns193:bodyPr xmlns:ns193="http://schemas.openxmlformats.org/drawingml/2006/main" wrap="square" lIns="61200" rIns="61200" tIns="61200" bIns="61200" anchor="ctr">
            <ns193:noAutofit/>
          </ns193:bodyPr>
          <ns194:lstStyle xmlns:ns194="http://schemas.openxmlformats.org/drawingml/2006/main"/>
          <ns195:p xmlns:ns195="http://schemas.openxmlformats.org/drawingml/2006/main">
            <ns195:pPr algn="l">
              <ns195:lnSpc>
                <ns195:spcPct val="105000"/>
              </ns195:lnSpc>
              <ns195:defRPr sz="1300" b="1">
                <ns195:solidFill>
                  <ns195:srgbClr val="65727D"/>
                </ns195:solidFill>
                <ns195:latin typeface="Arial"/>
                <ns195:ea typeface="Arial"/>
                <ns195:cs typeface="Arial"/>
              </ns195:defRPr>
            </ns195:pPr>
            <ns195:r>
              <ns195:rPr sz="1300" b="1">
                <ns195:solidFill>
                  <ns195:srgbClr val="65727D"/>
                </ns195:solidFill>
                <ns195:latin typeface="Arial"/>
                <ns195:ea typeface="Arial"/>
                <ns195:cs typeface="Arial"/>
              </ns195:rPr>
              <ns195:t>Match / route</ns195:t>
            </ns195:r>
          </ns195:p>
          <ns196:p xmlns:ns196="http://schemas.openxmlformats.org/drawingml/2006/main">
            <ns196:pPr algn="l">
              <ns196:lnSpc>
                <ns196:spcPct val="105000"/>
              </ns196:lnSpc>
              <ns196:defRPr sz="1050" b="0">
                <ns196:solidFill>
                  <ns196:srgbClr val="20262C"/>
                </ns196:solidFill>
                <ns196:latin typeface="Arial"/>
                <ns196:ea typeface="Arial"/>
                <ns196:cs typeface="Arial"/>
              </ns196:defRPr>
            </ns196:pPr>
            <ns196:r>
              <ns196:rPr sz="1050" b="0">
                <ns196:solidFill>
                  <ns196:srgbClr val="20262C"/>
                </ns196:solidFill>
                <ns196:latin typeface="Arial"/>
                <ns196:ea typeface="Arial"/>
                <ns196:cs typeface="Arial"/>
              </ns196:rPr>
              <ns196:t>Match request</ns196:t>
            </ns196:r>
          </ns196:p>
          <ns197:p xmlns:ns197="http://schemas.openxmlformats.org/drawingml/2006/main">
            <ns197:pPr algn="l">
              <ns197:lnSpc>
                <ns197:spcPct val="105000"/>
              </ns197:lnSpc>
              <ns197:defRPr sz="1050" b="0">
                <ns197:solidFill>
                  <ns197:srgbClr val="20262C"/>
                </ns197:solidFill>
                <ns197:latin typeface="Arial"/>
                <ns197:ea typeface="Arial"/>
                <ns197:cs typeface="Arial"/>
              </ns197:defRPr>
            </ns197:pPr>
            <ns197:r>
              <ns197:rPr sz="1050" b="0">
                <ns197:solidFill>
                  <ns197:srgbClr val="20262C"/>
                </ns197:solidFill>
                <ns197:latin typeface="Arial"/>
                <ns197:ea typeface="Arial"/>
                <ns197:cs typeface="Arial"/>
              </ns197:rPr>
              <ns197:t>Route details</ns197:t>
            </ns197:r>
          </ns197:p>
        </p:txBody>
      </p:sp>
      <p:cxnSp>
        <p:nvCxnSpPr>
          <p:cNvPr id="133" name="peer.1.flow.2"/>
          <p:cNvCxnSpPr/>
          <p:nvPr/>
        </p:nvCxnSpPr>
        <p:spPr>
          <ns198:xfrm xmlns:ns198="http://schemas.openxmlformats.org/drawingml/2006/main">
            <ns198:off x="6105600" y="3589200"/>
            <ns198:ext cx="196200" cy="1"/>
          </ns198:xfrm>
          <ns199:prstGeom xmlns:ns199="http://schemas.openxmlformats.org/drawingml/2006/main" prst="line">
            <ns199:avLst/>
          </ns199:prstGeom>
          <ns200:ln xmlns:ns200="http://schemas.openxmlformats.org/drawingml/2006/main" w="11430">
            <ns200:solidFill>
              <ns200:srgbClr val="005A9C"/>
            </ns200:solidFill>
            <ns200:tailEnd type="triangle" w="sm" len="sm"/>
          </ns200:ln>
        </p:spPr>
      </p:cxnSp>
      <p:sp>
        <p:nvSpPr>
          <p:cNvPr id="134" name="peer.1.step.3"/>
          <p:cNvSpPr/>
          <p:nvPr/>
        </p:nvSpPr>
        <p:spPr>
          <ns201:xfrm xmlns:ns201="http://schemas.openxmlformats.org/drawingml/2006/main">
            <ns201:off x="6337800" y="3211200"/>
            <ns201:ext cx="1044000" cy="936000"/>
          </ns201:xfrm>
          <ns202:prstGeom xmlns:ns202="http://schemas.openxmlformats.org/drawingml/2006/main" prst="roundRect">
            <ns202:avLst/>
          </ns202:prstGeom>
          <ns203:solidFill xmlns:ns203="http://schemas.openxmlformats.org/drawingml/2006/main">
            <ns203:srgbClr val="F3F7FA"/>
          </ns203:solidFill>
          <ns204:ln xmlns:ns204="http://schemas.openxmlformats.org/drawingml/2006/main" w="9525">
            <ns204:solidFill>
              <ns204:srgbClr val="65727D"/>
            </ns204:solidFill>
          </ns204:ln>
        </p:spPr>
        <p:txBody>
          <ns205:bodyPr xmlns:ns205="http://schemas.openxmlformats.org/drawingml/2006/main" wrap="square" lIns="61200" rIns="61200" tIns="61200" bIns="61200" anchor="ctr">
            <ns205:noAutofit/>
          </ns205:bodyPr>
          <ns206:lstStyle xmlns:ns206="http://schemas.openxmlformats.org/drawingml/2006/main"/>
          <ns207:p xmlns:ns207="http://schemas.openxmlformats.org/drawingml/2006/main">
            <ns207:pPr algn="l">
              <ns207:lnSpc>
                <ns207:spcPct val="105000"/>
              </ns207:lnSpc>
              <ns207:defRPr sz="1300" b="1">
                <ns207:solidFill>
                  <ns207:srgbClr val="65727D"/>
                </ns207:solidFill>
                <ns207:latin typeface="Arial"/>
                <ns207:ea typeface="Arial"/>
                <ns207:cs typeface="Arial"/>
              </ns207:defRPr>
            </ns207:pPr>
            <ns207:r>
              <ns207:rPr sz="1300" b="1">
                <ns207:solidFill>
                  <ns207:srgbClr val="65727D"/>
                </ns207:solidFill>
                <ns207:latin typeface="Arial"/>
                <ns207:ea typeface="Arial"/>
                <ns207:cs typeface="Arial"/>
              </ns207:rPr>
              <ns207:t>Trading system</ns207:t>
            </ns207:r>
          </ns207:p>
          <ns208:p xmlns:ns208="http://schemas.openxmlformats.org/drawingml/2006/main">
            <ns208:pPr algn="l">
              <ns208:lnSpc>
                <ns208:spcPct val="105000"/>
              </ns208:lnSpc>
              <ns208:defRPr sz="1050" b="0">
                <ns208:solidFill>
                  <ns208:srgbClr val="20262C"/>
                </ns208:solidFill>
                <ns208:latin typeface="Arial"/>
                <ns208:ea typeface="Arial"/>
                <ns208:cs typeface="Arial"/>
              </ns208:defRPr>
            </ns208:pPr>
            <ns208:r>
              <ns208:rPr sz="1050" b="0">
                <ns208:solidFill>
                  <ns208:srgbClr val="20262C"/>
                </ns208:solidFill>
                <ns208:latin typeface="Arial"/>
                <ns208:ea typeface="Arial"/>
                <ns208:cs typeface="Arial"/>
              </ns208:rPr>
              <ns208:t>Receive details</ns208:t>
            </ns208:r>
          </ns208:p>
        </p:txBody>
      </p:sp>
      <p:cxnSp>
        <p:nvCxnSpPr>
          <p:cNvPr id="135" name="peer.1.flow.3"/>
          <p:cNvCxnSpPr/>
          <p:nvPr/>
        </p:nvCxnSpPr>
        <p:spPr>
          <ns209:xfrm xmlns:ns209="http://schemas.openxmlformats.org/drawingml/2006/main">
            <ns209:off x="7410600" y="3589200"/>
            <ns209:ext cx="196200" cy="1"/>
          </ns209:xfrm>
          <ns210:prstGeom xmlns:ns210="http://schemas.openxmlformats.org/drawingml/2006/main" prst="line">
            <ns210:avLst/>
          </ns210:prstGeom>
          <ns211:ln xmlns:ns211="http://schemas.openxmlformats.org/drawingml/2006/main" w="11430">
            <ns211:solidFill>
              <ns211:srgbClr val="005A9C"/>
            </ns211:solidFill>
            <ns211:tailEnd type="triangle" w="sm" len="sm"/>
          </ns211:ln>
        </p:spPr>
      </p:cxnSp>
      <p:sp>
        <p:nvSpPr>
          <p:cNvPr id="136" name="peer.1.step.4"/>
          <p:cNvSpPr/>
          <p:nvPr/>
        </p:nvSpPr>
        <p:spPr>
          <ns212:xfrm xmlns:ns212="http://schemas.openxmlformats.org/drawingml/2006/main">
            <ns212:off x="7642800" y="3211200"/>
            <ns212:ext cx="1044000" cy="936000"/>
          </ns212:xfrm>
          <ns213:prstGeom xmlns:ns213="http://schemas.openxmlformats.org/drawingml/2006/main" prst="roundRect">
            <ns213:avLst/>
          </ns213:prstGeom>
          <ns214:solidFill xmlns:ns214="http://schemas.openxmlformats.org/drawingml/2006/main">
            <ns214:srgbClr val="F3F7FA"/>
          </ns214:solidFill>
          <ns215:ln xmlns:ns215="http://schemas.openxmlformats.org/drawingml/2006/main" w="9525">
            <ns215:solidFill>
              <ns215:srgbClr val="65727D"/>
            </ns215:solidFill>
          </ns215:ln>
        </p:spPr>
        <p:txBody>
          <ns216:bodyPr xmlns:ns216="http://schemas.openxmlformats.org/drawingml/2006/main" wrap="square" lIns="61200" rIns="61200" tIns="61200" bIns="61200" anchor="ctr">
            <ns216:noAutofit/>
          </ns216:bodyPr>
          <ns217:lstStyle xmlns:ns217="http://schemas.openxmlformats.org/drawingml/2006/main"/>
          <ns218:p xmlns:ns218="http://schemas.openxmlformats.org/drawingml/2006/main">
            <ns218:pPr algn="l">
              <ns218:lnSpc>
                <ns218:spcPct val="105000"/>
              </ns218:lnSpc>
              <ns218:defRPr sz="1300" b="1">
                <ns218:solidFill>
                  <ns218:srgbClr val="65727D"/>
                </ns218:solidFill>
                <ns218:latin typeface="Arial"/>
                <ns218:ea typeface="Arial"/>
                <ns218:cs typeface="Arial"/>
              </ns218:defRPr>
            </ns218:pPr>
            <ns218:r>
              <ns218:rPr sz="1300" b="1">
                <ns218:solidFill>
                  <ns218:srgbClr val="65727D"/>
                </ns218:solidFill>
                <ns218:latin typeface="Arial"/>
                <ns218:ea typeface="Arial"/>
                <ns218:cs typeface="Arial"/>
              </ns218:rPr>
              <ns218:t>Portfolio manager</ns218:t>
            </ns218:r>
          </ns218:p>
          <ns219:p xmlns:ns219="http://schemas.openxmlformats.org/drawingml/2006/main">
            <ns219:pPr algn="l">
              <ns219:lnSpc>
                <ns219:spcPct val="105000"/>
              </ns219:lnSpc>
              <ns219:defRPr sz="1050" b="0">
                <ns219:solidFill>
                  <ns219:srgbClr val="20262C"/>
                </ns219:solidFill>
                <ns219:latin typeface="Arial"/>
                <ns219:ea typeface="Arial"/>
                <ns219:cs typeface="Arial"/>
              </ns219:defRPr>
            </ns219:pPr>
            <ns219:r>
              <ns219:rPr sz="1050" b="0">
                <ns219:solidFill>
                  <ns219:srgbClr val="20262C"/>
                </ns219:solidFill>
                <ns219:latin typeface="Arial"/>
                <ns219:ea typeface="Arial"/>
                <ns219:cs typeface="Arial"/>
              </ns219:rPr>
              <ns219:t>Submit instruction</ns219:t>
            </ns219:r>
          </ns219:p>
        </p:txBody>
      </p:sp>
      <p:sp>
        <p:nvSpPr>
          <p:cNvPr id="137" name="xiaonan.scope"/>
          <p:cNvSpPr/>
          <p:nvPr/>
        </p:nvSpPr>
        <p:spPr>
          <ns220:xfrm xmlns:ns220="http://schemas.openxmlformats.org/drawingml/2006/main">
            <ns220:off x="2422800" y="2646000"/>
            <ns220:ext cx="6264000" cy="162000"/>
          </ns220:xfrm>
          <ns221:prstGeom xmlns:ns221="http://schemas.openxmlformats.org/drawingml/2006/main" prst="rect">
            <ns221:avLst/>
          </ns221:prstGeom>
          <ns222:noFill xmlns:ns222="http://schemas.openxmlformats.org/drawingml/2006/main"/>
          <ns223:ln xmlns:ns223="http://schemas.openxmlformats.org/drawingml/2006/main" w="0">
            <ns223:noFill/>
          </ns223:ln>
        </p:spPr>
        <p:txBody>
          <ns224:bodyPr xmlns:ns224="http://schemas.openxmlformats.org/drawingml/2006/main" wrap="square" lIns="0" rIns="0" tIns="0" bIns="0" anchor="t">
            <ns224:noAutofit/>
          </ns224:bodyPr>
          <ns225:lstStyle xmlns:ns225="http://schemas.openxmlformats.org/drawingml/2006/main"/>
          <ns226:p xmlns:ns226="http://schemas.openxmlformats.org/drawingml/2006/main">
            <ns226:pPr algn="l">
              <ns226:lnSpc>
                <ns226:spcPct val="105000"/>
              </ns226:lnSpc>
              <ns226:defRPr sz="1050" b="0">
                <ns226:solidFill>
                  <ns226:srgbClr val="65727D"/>
                </ns226:solidFill>
                <ns226:latin typeface="Arial"/>
                <ns226:ea typeface="Arial"/>
                <ns226:cs typeface="Arial"/>
              </ns226:defRPr>
            </ns226:pPr>
            <ns226:r>
              <ns226:rPr sz="1050" b="0">
                <ns226:solidFill>
                  <ns226:srgbClr val="65727D"/>
                </ns226:solidFill>
                <ns226:latin typeface="Arial"/>
                <ns226:ea typeface="Arial"/>
                <ns226:cs typeface="Arial"/>
              </ns226:rPr>
              <ns226:t>Queries / screening / instructions / notifications</ns226:t>
            </ns226:r>
          </ns226:p>
        </p:txBody>
      </p:sp>
    </p:spTree>
    <p:extLst>
      <p:ext uri="{BB962C8B-B14F-4D97-AF65-F5344CB8AC3E}">
        <p14:creationId xmlns:p14="http://schemas.microsoft.com/office/powerpoint/2010/main" val="12882049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application: bond quote preparation</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Trading support / Proposed application</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Southern Asset Management; Aegon-Industrial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focus.trade"/>
          <p:cNvSpPr/>
          <p:nvPr/>
        </p:nvSpPr>
        <p:spPr>
          <ns38:xfrm xmlns:ns38="http://schemas.openxmlformats.org/drawingml/2006/main">
            <ns38:off x="486000" y="1998000"/>
            <ns38:ext cx="1677600" cy="176400"/>
          </ns38:xfrm>
          <ns39:prstGeom xmlns:ns39="http://schemas.openxmlformats.org/drawingml/2006/main" prst="rect">
            <ns39:avLst/>
          </ns39:prstGeom>
          <ns40:solidFill xmlns:ns40="http://schemas.openxmlformats.org/drawingml/2006/main">
            <ns40:srgbClr val="D9EAF7"/>
          </ns40:solidFill>
          <ns41:ln xmlns:ns41="http://schemas.openxmlformats.org/drawingml/2006/main" w="0">
            <ns41:noFill/>
          </ns41:ln>
        </p:spPr>
      </p:sp>
      <p:sp>
        <p:nvSpPr>
          <p:cNvPr id="108"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1">
                <ns48:solidFill>
                  <ns48:srgbClr val="005A9C"/>
                </ns48:solidFill>
                <ns48:latin typeface="Arial"/>
                <ns48:ea typeface="Arial"/>
                <ns48:cs typeface="Arial"/>
              </ns48:defRPr>
            </ns48:pPr>
            <ns48:r>
              <ns48:rPr sz="1050" b="1">
                <ns48:solidFill>
                  <ns48:srgbClr val="005A9C"/>
                </ns48:solidFill>
                <ns48:latin typeface="Arial"/>
                <ns48:ea typeface="Arial"/>
                <ns48:cs typeface="Arial"/>
              </ns48:rPr>
              <ns48:t>Trading support</ns48:t>
            </ns48:r>
          </ns48:p>
        </p:txBody>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bond.request.paper"/>
          <p:cNvSpPr/>
          <p:nvPr/>
        </p:nvSpPr>
        <p:spPr>
          <ns111:xfrm xmlns:ns111="http://schemas.openxmlformats.org/drawingml/2006/main">
            <ns111:off x="2422800" y="1504800"/>
            <ns111:ext cx="1785600" cy="900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317F7B"/>
            </ns114:solidFill>
          </ns114:ln>
        </p:spPr>
      </p:sp>
      <p:sp>
        <p:nvSpPr>
          <p:cNvPr id="120" name="input.bond.request.title"/>
          <p:cNvSpPr/>
          <p:nvPr/>
        </p:nvSpPr>
        <p:spPr>
          <ns115:xfrm xmlns:ns115="http://schemas.openxmlformats.org/drawingml/2006/main">
            <ns115:off x="2487600" y="1548000"/>
            <ns115:ext cx="15876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317F7B"/>
                </ns121:solidFill>
                <ns121:latin typeface="Arial"/>
                <ns121:ea typeface="Arial"/>
                <ns121:cs typeface="Arial"/>
              </ns121:defRPr>
            </ns121:pPr>
            <ns121:r>
              <ns121:rPr sz="1250" b="1">
                <ns121:solidFill>
                  <ns121:srgbClr val="317F7B"/>
                </ns121:solidFill>
                <ns121:latin typeface="Arial"/>
                <ns121:ea typeface="Arial"/>
                <ns121:cs typeface="Arial"/>
              </ns121:rPr>
              <ns121:t>Manager request</ns121:t>
            </ns121:r>
          </ns121:p>
        </p:txBody>
      </p:sp>
      <p:sp>
        <p:nvSpPr>
          <p:cNvPr id="121" name="input.bond.request.content"/>
          <p:cNvSpPr/>
          <p:nvPr/>
        </p:nvSpPr>
        <p:spPr>
          <ns122:xfrm xmlns:ns122="http://schemas.openxmlformats.org/drawingml/2006/main">
            <ns122:off x="2487600" y="1764000"/>
            <ns122:ext cx="1656000" cy="590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200" b="0">
                <ns128:solidFill>
                  <ns128:srgbClr val="20262C"/>
                </ns128:solidFill>
                <ns128:latin typeface="Arial"/>
                <ns128:ea typeface="Arial"/>
                <ns128:cs typeface="Arial"/>
              </ns128:defRPr>
            </ns128:pPr>
            <ns128:r>
              <ns128:rPr sz="1200" b="0">
                <ns128:solidFill>
                  <ns128:srgbClr val="20262C"/>
                </ns128:solidFill>
                <ns128:latin typeface="Arial"/>
                <ns128:ea typeface="Arial"/>
                <ns128:cs typeface="Arial"/>
              </ns128:rPr>
              <ns128:t>Company A / buy</ns128:t>
            </ns128:r>
          </ns128:p>
          <ns129:p xmlns:ns129="http://schemas.openxmlformats.org/drawingml/2006/main">
            <ns129:pPr algn="l">
              <ns129:lnSpc>
                <ns129:spcPct val="100000"/>
              </ns129:lnSpc>
              <ns129:defRPr sz="1200" b="0">
                <ns129:solidFill>
                  <ns129:srgbClr val="20262C"/>
                </ns129:solidFill>
                <ns129:latin typeface="Arial"/>
                <ns129:ea typeface="Arial"/>
                <ns129:cs typeface="Arial"/>
              </ns129:defRPr>
            </ns129:pPr>
            <ns129:r>
              <ns129:rPr sz="1200" b="0">
                <ns129:solidFill>
                  <ns129:srgbClr val="20262C"/>
                </ns129:solidFill>
                <ns129:latin typeface="Arial"/>
                <ns129:ea typeface="Arial"/>
                <ns129:cs typeface="Arial"/>
              </ns129:rPr>
              <ns129:t>Within two years</ns129:t>
            </ns129:r>
          </ns129:p>
        </p:txBody>
      </p:sp>
      <p:sp>
        <p:nvSpPr>
          <p:cNvPr id="122" name="role.llm.criteria"/>
          <p:cNvSpPr/>
          <p:nvPr/>
        </p:nvSpPr>
        <p:spPr>
          <ns130:xfrm xmlns:ns130="http://schemas.openxmlformats.org/drawingml/2006/main">
            <ns130:off x="4392000" y="1504800"/>
            <ns130:ext cx="1458000" cy="900000"/>
          </ns130:xfrm>
          <ns131:prstGeom xmlns:ns131="http://schemas.openxmlformats.org/drawingml/2006/main" prst="roundRect">
            <ns131:avLst/>
          </ns131:prstGeom>
          <ns132:solidFill xmlns:ns132="http://schemas.openxmlformats.org/drawingml/2006/main">
            <ns132:srgbClr val="EAF3FA"/>
          </ns132:solidFill>
          <ns133:ln xmlns:ns133="http://schemas.openxmlformats.org/drawingml/2006/main" w="9525">
            <ns133:solidFill>
              <ns133:srgbClr val="005A9C"/>
            </ns133:solidFill>
          </ns133:ln>
        </p:spPr>
        <p:txBody>
          <ns134:bodyPr xmlns:ns134="http://schemas.openxmlformats.org/drawingml/2006/main" wrap="square" lIns="61200" rIns="61200" tIns="61200" bIns="61200" anchor="ctr">
            <ns134:noAutofit/>
          </ns134:bodyPr>
          <ns135:lstStyle xmlns:ns135="http://schemas.openxmlformats.org/drawingml/2006/main"/>
          <ns136:p xmlns:ns136="http://schemas.openxmlformats.org/drawingml/2006/main">
            <ns136:pPr algn="l">
              <ns136:lnSpc>
                <ns136:spcPct val="105000"/>
              </ns136:lnSpc>
              <ns136:defRPr sz="1300" b="1">
                <ns136:solidFill>
                  <ns136:srgbClr val="005A9C"/>
                </ns136:solidFill>
                <ns136:latin typeface="Arial"/>
                <ns136:ea typeface="Arial"/>
                <ns136:cs typeface="Arial"/>
              </ns136:defRPr>
            </ns136:pPr>
            <ns136:r>
              <ns136:rPr sz="1300" b="1">
                <ns136:solidFill>
                  <ns136:srgbClr val="005A9C"/>
                </ns136:solidFill>
                <ns136:latin typeface="Arial"/>
                <ns136:ea typeface="Arial"/>
                <ns136:cs typeface="Arial"/>
              </ns136:rPr>
              <ns136:t>LLM criteria</ns136:t>
            </ns136:r>
          </ns136:p>
          <ns137:p xmlns:ns137="http://schemas.openxmlformats.org/drawingml/2006/main">
            <ns137:pPr algn="l">
              <ns137:lnSpc>
                <ns137:spcPct val="105000"/>
              </ns137:lnSpc>
              <ns137:defRPr sz="1100" b="0">
                <ns137:solidFill>
                  <ns137:srgbClr val="20262C"/>
                </ns137:solidFill>
                <ns137:latin typeface="Arial"/>
                <ns137:ea typeface="Arial"/>
                <ns137:cs typeface="Arial"/>
              </ns137:defRPr>
            </ns137:pPr>
            <ns137:r>
              <ns137:rPr sz="1100" b="0">
                <ns137:solidFill>
                  <ns137:srgbClr val="20262C"/>
                </ns137:solidFill>
                <ns137:latin typeface="Arial"/>
                <ns137:ea typeface="Arial"/>
                <ns137:cs typeface="Arial"/>
              </ns137:rPr>
              <ns137:t>Issuer / side / maturity</ns137:t>
            </ns137:r>
          </ns137:p>
        </p:txBody>
      </p:sp>
      <p:sp>
        <p:nvSpPr>
          <p:cNvPr id="123" name="tool.holdings.result"/>
          <p:cNvSpPr/>
          <p:nvPr/>
        </p:nvSpPr>
        <p:spPr>
          <ns138:xfrm xmlns:ns138="http://schemas.openxmlformats.org/drawingml/2006/main">
            <ns138:off x="6127200" y="1504800"/>
            <ns138:ext cx="2559600" cy="900000"/>
          </ns138:xfrm>
          <ns139:prstGeom xmlns:ns139="http://schemas.openxmlformats.org/drawingml/2006/main" prst="roundRect">
            <ns139:avLst/>
          </ns139:prstGeom>
          <ns140:solidFill xmlns:ns140="http://schemas.openxmlformats.org/drawingml/2006/main">
            <ns140:srgbClr val="F3F7FA"/>
          </ns140:solidFill>
          <ns141:ln xmlns:ns141="http://schemas.openxmlformats.org/drawingml/2006/main" w="9525">
            <ns141:solidFill>
              <ns141:srgbClr val="65727D"/>
            </ns141:solidFill>
          </ns141:ln>
        </p:spPr>
        <p:txBody>
          <ns142:bodyPr xmlns:ns142="http://schemas.openxmlformats.org/drawingml/2006/main" wrap="square" lIns="61200" rIns="61200" tIns="61200" bIns="61200" anchor="ctr">
            <ns142:noAutofit/>
          </ns142:bodyPr>
          <ns143:lstStyle xmlns:ns143="http://schemas.openxmlformats.org/drawingml/2006/main"/>
          <ns144:p xmlns:ns144="http://schemas.openxmlformats.org/drawingml/2006/main">
            <ns144:pPr algn="l">
              <ns144:lnSpc>
                <ns144:spcPct val="105000"/>
              </ns144:lnSpc>
              <ns144:defRPr sz="1300" b="1">
                <ns144:solidFill>
                  <ns144:srgbClr val="65727D"/>
                </ns144:solidFill>
                <ns144:latin typeface="Arial"/>
                <ns144:ea typeface="Arial"/>
                <ns144:cs typeface="Arial"/>
              </ns144:defRPr>
            </ns144:pPr>
            <ns144:r>
              <ns144:rPr sz="1300" b="1">
                <ns144:solidFill>
                  <ns144:srgbClr val="65727D"/>
                </ns144:solidFill>
                <ns144:latin typeface="Arial"/>
                <ns144:ea typeface="Arial"/>
                <ns144:cs typeface="Arial"/>
              </ns144:rPr>
              <ns144:t>Systems result</ns144:t>
            </ns144:r>
          </ns144:p>
          <ns145:p xmlns:ns145="http://schemas.openxmlformats.org/drawingml/2006/main">
            <ns145:pPr algn="l">
              <ns145:lnSpc>
                <ns145:spcPct val="105000"/>
              </ns145:lnSpc>
              <ns145:defRPr sz="1150" b="0">
                <ns145:solidFill>
                  <ns145:srgbClr val="20262C"/>
                </ns145:solidFill>
                <ns145:latin typeface="Arial"/>
                <ns145:ea typeface="Arial"/>
                <ns145:cs typeface="Arial"/>
              </ns145:defRPr>
            </ns145:pPr>
            <ns145:r>
              <ns145:rPr sz="1150" b="0">
                <ns145:solidFill>
                  <ns145:srgbClr val="20262C"/>
                </ns145:solidFill>
                <ns145:latin typeface="Arial"/>
                <ns145:ea typeface="Arial"/>
                <ns145:cs typeface="Arial"/>
              </ns145:rPr>
              <ns145:t>Bond A: 1.2 years</ns145:t>
            </ns145:r>
          </ns145:p>
          <ns146:p xmlns:ns146="http://schemas.openxmlformats.org/drawingml/2006/main">
            <ns146:pPr algn="l">
              <ns146:lnSpc>
                <ns146:spcPct val="105000"/>
              </ns146:lnSpc>
              <ns146:defRPr sz="1150" b="0">
                <ns146:solidFill>
                  <ns146:srgbClr val="20262C"/>
                </ns146:solidFill>
                <ns146:latin typeface="Arial"/>
                <ns146:ea typeface="Arial"/>
                <ns146:cs typeface="Arial"/>
              </ns146:defRPr>
            </ns146:pPr>
            <ns146:r>
              <ns146:rPr sz="1150" b="0">
                <ns146:solidFill>
                  <ns146:srgbClr val="20262C"/>
                </ns146:solidFill>
                <ns146:latin typeface="Arial"/>
                <ns146:ea typeface="Arial"/>
                <ns146:cs typeface="Arial"/>
              </ns146:rPr>
              <ns146:t>Holding: RMB 20m</ns146:t>
            </ns146:r>
          </ns146:p>
          <ns147:p xmlns:ns147="http://schemas.openxmlformats.org/drawingml/2006/main">
            <ns147:pPr algn="l">
              <ns147:lnSpc>
                <ns147:spcPct val="105000"/>
              </ns147:lnSpc>
              <ns147:defRPr sz="1150" b="0">
                <ns147:solidFill>
                  <ns147:srgbClr val="20262C"/>
                </ns147:solidFill>
                <ns147:latin typeface="Arial"/>
                <ns147:ea typeface="Arial"/>
                <ns147:cs typeface="Arial"/>
              </ns147:defRPr>
            </ns147:pPr>
            <ns147:r>
              <ns147:rPr sz="1150" b="0">
                <ns147:solidFill>
                  <ns147:srgbClr val="20262C"/>
                </ns147:solidFill>
                <ns147:latin typeface="Arial"/>
                <ns147:ea typeface="Arial"/>
                <ns147:cs typeface="Arial"/>
              </ns147:rPr>
              <ns147:t>face value</ns147:t>
            </ns147:r>
          </ns147:p>
        </p:txBody>
      </p:sp>
      <p:cxnSp>
        <p:nvCxnSpPr>
          <p:cNvPr id="124" name="request.to.criteria"/>
          <p:cNvCxnSpPr/>
          <p:nvPr/>
        </p:nvCxnSpPr>
        <p:spPr>
          <ns148:xfrm xmlns:ns148="http://schemas.openxmlformats.org/drawingml/2006/main">
            <ns148:off x="4244400" y="1954800"/>
            <ns148:ext cx="111600" cy="1"/>
          </ns148:xfrm>
          <ns149:prstGeom xmlns:ns149="http://schemas.openxmlformats.org/drawingml/2006/main" prst="line">
            <ns149:avLst/>
          </ns149:prstGeom>
          <ns150:ln xmlns:ns150="http://schemas.openxmlformats.org/drawingml/2006/main" w="11430">
            <ns150:solidFill>
              <ns150:srgbClr val="317F7B"/>
            </ns150:solidFill>
            <ns150:tailEnd type="triangle" w="sm" len="sm"/>
          </ns150:ln>
        </p:spPr>
      </p:cxnSp>
      <p:cxnSp>
        <p:nvCxnSpPr>
          <p:cNvPr id="125" name="criteria.query"/>
          <p:cNvCxnSpPr/>
          <p:nvPr/>
        </p:nvCxnSpPr>
        <p:spPr>
          <ns151:xfrm xmlns:ns151="http://schemas.openxmlformats.org/drawingml/2006/main">
            <ns151:off x="5886000" y="1821600"/>
            <ns151:ext cx="205200" cy="1"/>
          </ns151:xfrm>
          <ns152:prstGeom xmlns:ns152="http://schemas.openxmlformats.org/drawingml/2006/main" prst="line">
            <ns152:avLst/>
          </ns152:prstGeom>
          <ns153:ln xmlns:ns153="http://schemas.openxmlformats.org/drawingml/2006/main" w="11430">
            <ns153:solidFill>
              <ns153:srgbClr val="005A9C"/>
            </ns153:solidFill>
            <ns153:tailEnd type="triangle" w="sm" len="sm"/>
          </ns153:ln>
        </p:spPr>
      </p:cxnSp>
      <p:cxnSp>
        <p:nvCxnSpPr>
          <p:cNvPr id="126" name="systems.return"/>
          <p:cNvCxnSpPr/>
          <p:nvPr/>
        </p:nvCxnSpPr>
        <p:spPr>
          <ns154:xfrm xmlns:ns154="http://schemas.openxmlformats.org/drawingml/2006/main" flipH="1">
            <ns154:off x="5886000" y="2178000"/>
            <ns154:ext cx="205200" cy="1"/>
          </ns154:xfrm>
          <ns155:prstGeom xmlns:ns155="http://schemas.openxmlformats.org/drawingml/2006/main" prst="line">
            <ns155:avLst/>
          </ns155:prstGeom>
          <ns156:ln xmlns:ns156="http://schemas.openxmlformats.org/drawingml/2006/main" w="11430">
            <ns156:solidFill>
              <ns156:srgbClr val="005A9C"/>
            </ns156:solidFill>
            <ns156:tailEnd type="triangle" w="sm" len="sm"/>
          </ns156:ln>
        </p:spPr>
      </p:cxnSp>
      <p:sp>
        <p:nvSpPr>
          <p:cNvPr id="127" name="input.trader.quote.paper"/>
          <p:cNvSpPr/>
          <p:nvPr/>
        </p:nvSpPr>
        <p:spPr>
          <ns157:xfrm xmlns:ns157="http://schemas.openxmlformats.org/drawingml/2006/main">
            <ns157:off x="2422800" y="2473200"/>
            <ns157:ext cx="1785600" cy="630000"/>
          </ns157:xfrm>
          <ns158:prstGeom xmlns:ns158="http://schemas.openxmlformats.org/drawingml/2006/main" prst="foldedCorner">
            <ns158:avLst/>
          </ns158:prstGeom>
          <ns159:solidFill xmlns:ns159="http://schemas.openxmlformats.org/drawingml/2006/main">
            <ns159:srgbClr val="FFFFFF"/>
          </ns159:solidFill>
          <ns160:ln xmlns:ns160="http://schemas.openxmlformats.org/drawingml/2006/main" w="9525">
            <ns160:solidFill>
              <ns160:srgbClr val="317F7B"/>
            </ns160:solidFill>
          </ns160:ln>
        </p:spPr>
      </p:sp>
      <p:sp>
        <p:nvSpPr>
          <p:cNvPr id="128" name="input.trader.quote.title"/>
          <p:cNvSpPr/>
          <p:nvPr/>
        </p:nvSpPr>
        <p:spPr>
          <ns161:xfrm xmlns:ns161="http://schemas.openxmlformats.org/drawingml/2006/main">
            <ns161:off x="2487600" y="2516400"/>
            <ns161:ext cx="1587600" cy="198000"/>
          </ns161:xfrm>
          <ns162:prstGeom xmlns:ns162="http://schemas.openxmlformats.org/drawingml/2006/main" prst="rect">
            <ns162:avLst/>
          </ns162:prstGeom>
          <ns163:noFill xmlns:ns163="http://schemas.openxmlformats.org/drawingml/2006/main"/>
          <ns164:ln xmlns:ns164="http://schemas.openxmlformats.org/drawingml/2006/main" w="0">
            <ns164:noFill/>
          </ns164:ln>
        </p:spPr>
        <p:txBody>
          <ns165:bodyPr xmlns:ns165="http://schemas.openxmlformats.org/drawingml/2006/main" wrap="square" lIns="0" rIns="0" tIns="0" bIns="0" anchor="t">
            <ns165:noAutofit/>
          </ns165:bodyPr>
          <ns166:lstStyle xmlns:ns166="http://schemas.openxmlformats.org/drawingml/2006/main"/>
          <ns167:p xmlns:ns167="http://schemas.openxmlformats.org/drawingml/2006/main">
            <ns167:pPr algn="l">
              <ns167:lnSpc>
                <ns167:spcPct val="105000"/>
              </ns167:lnSpc>
              <ns167:defRPr sz="1250" b="1">
                <ns167:solidFill>
                  <ns167:srgbClr val="317F7B"/>
                </ns167:solidFill>
                <ns167:latin typeface="Arial"/>
                <ns167:ea typeface="Arial"/>
                <ns167:cs typeface="Arial"/>
              </ns167:defRPr>
            </ns167:pPr>
            <ns167:r>
              <ns167:rPr sz="1250" b="1">
                <ns167:solidFill>
                  <ns167:srgbClr val="317F7B"/>
                </ns167:solidFill>
                <ns167:latin typeface="Arial"/>
                <ns167:ea typeface="Arial"/>
                <ns167:cs typeface="Arial"/>
              </ns167:rPr>
              <ns167:t>Quote from trader</ns167:t>
            </ns167:r>
          </ns167:p>
        </p:txBody>
      </p:sp>
      <p:sp>
        <p:nvSpPr>
          <p:cNvPr id="129" name="input.trader.quote.content"/>
          <p:cNvSpPr/>
          <p:nvPr/>
        </p:nvSpPr>
        <p:spPr>
          <ns168:xfrm xmlns:ns168="http://schemas.openxmlformats.org/drawingml/2006/main">
            <ns168:off x="2487600" y="2732400"/>
            <ns168:ext cx="1656000" cy="320400"/>
          </ns168:xfrm>
          <ns169:prstGeom xmlns:ns169="http://schemas.openxmlformats.org/drawingml/2006/main" prst="rect">
            <ns169:avLst/>
          </ns169:prstGeom>
          <ns170:noFill xmlns:ns170="http://schemas.openxmlformats.org/drawingml/2006/main"/>
          <ns171:ln xmlns:ns171="http://schemas.openxmlformats.org/drawingml/2006/main" w="0">
            <ns171:noFill/>
          </ns171:ln>
        </p:spPr>
        <p:txBody>
          <ns172:bodyPr xmlns:ns172="http://schemas.openxmlformats.org/drawingml/2006/main" wrap="square" lIns="0" rIns="0" tIns="0" bIns="0" anchor="t">
            <ns172:noAutofit/>
          </ns172:bodyPr>
          <ns173:lstStyle xmlns:ns173="http://schemas.openxmlformats.org/drawingml/2006/main"/>
          <ns174:p xmlns:ns174="http://schemas.openxmlformats.org/drawingml/2006/main">
            <ns174:pPr algn="l">
              <ns174:lnSpc>
                <ns174:spcPct val="100000"/>
              </ns174:lnSpc>
              <ns174:defRPr sz="1050" b="0">
                <ns174:solidFill>
                  <ns174:srgbClr val="20262C"/>
                </ns174:solidFill>
                <ns174:latin typeface="Arial"/>
                <ns174:ea typeface="Arial"/>
                <ns174:cs typeface="Arial"/>
              </ns174:defRPr>
            </ns174:pPr>
            <ns174:r>
              <ns174:rPr sz="1050" b="0">
                <ns174:solidFill>
                  <ns174:srgbClr val="20262C"/>
                </ns174:solidFill>
                <ns174:latin typeface="Arial"/>
                <ns174:ea typeface="Arial"/>
                <ns174:cs typeface="Arial"/>
              </ns174:rPr>
              <ns174:t>Bond A: 100.20</ns174:t>
            </ns174:r>
          </ns174:p>
          <ns175:p xmlns:ns175="http://schemas.openxmlformats.org/drawingml/2006/main">
            <ns175:pPr algn="l">
              <ns175:lnSpc>
                <ns175:spcPct val="100000"/>
              </ns175:lnSpc>
              <ns175:defRPr sz="1050" b="0">
                <ns175:solidFill>
                  <ns175:srgbClr val="20262C"/>
                </ns175:solidFill>
                <ns175:latin typeface="Arial"/>
                <ns175:ea typeface="Arial"/>
                <ns175:cs typeface="Arial"/>
              </ns175:defRPr>
            </ns175:pPr>
            <ns175:r>
              <ns175:rPr sz="1050" b="0">
                <ns175:solidFill>
                  <ns175:srgbClr val="20262C"/>
                </ns175:solidFill>
                <ns175:latin typeface="Arial"/>
                <ns175:ea typeface="Arial"/>
                <ns175:cs typeface="Arial"/>
              </ns175:rPr>
              <ns175:t>Available: RMB 20m face</ns175:t>
            </ns175:r>
          </ns175:p>
        </p:txBody>
      </p:sp>
      <p:sp>
        <p:nvSpPr>
          <p:cNvPr id="130" name="role.llm.quote.extraction"/>
          <p:cNvSpPr/>
          <p:nvPr/>
        </p:nvSpPr>
        <p:spPr>
          <ns176:xfrm xmlns:ns176="http://schemas.openxmlformats.org/drawingml/2006/main">
            <ns176:off x="4392000" y="2473200"/>
            <ns176:ext cx="1458000" cy="630000"/>
          </ns176:xfrm>
          <ns177:prstGeom xmlns:ns177="http://schemas.openxmlformats.org/drawingml/2006/main" prst="roundRect">
            <ns177:avLst/>
          </ns177:prstGeom>
          <ns178:solidFill xmlns:ns178="http://schemas.openxmlformats.org/drawingml/2006/main">
            <ns178:srgbClr val="EAF3FA"/>
          </ns178:solidFill>
          <ns179:ln xmlns:ns179="http://schemas.openxmlformats.org/drawingml/2006/main" w="9525">
            <ns179:solidFill>
              <ns179:srgbClr val="005A9C"/>
            </ns179:solidFill>
          </ns179:ln>
        </p:spPr>
        <p:txBody>
          <ns180:bodyPr xmlns:ns180="http://schemas.openxmlformats.org/drawingml/2006/main" wrap="square" lIns="61200" rIns="61200" tIns="61200" bIns="61200" anchor="ctr">
            <ns180:noAutofit/>
          </ns180:bodyPr>
          <ns181:lstStyle xmlns:ns181="http://schemas.openxmlformats.org/drawingml/2006/main"/>
          <ns182:p xmlns:ns182="http://schemas.openxmlformats.org/drawingml/2006/main">
            <ns182:pPr algn="l">
              <ns182:lnSpc>
                <ns182:spcPct val="105000"/>
              </ns182:lnSpc>
              <ns182:defRPr sz="1300" b="1">
                <ns182:solidFill>
                  <ns182:srgbClr val="005A9C"/>
                </ns182:solidFill>
                <ns182:latin typeface="Arial"/>
                <ns182:ea typeface="Arial"/>
                <ns182:cs typeface="Arial"/>
              </ns182:defRPr>
            </ns182:pPr>
            <ns182:r>
              <ns182:rPr sz="1300" b="1">
                <ns182:solidFill>
                  <ns182:srgbClr val="005A9C"/>
                </ns182:solidFill>
                <ns182:latin typeface="Arial"/>
                <ns182:ea typeface="Arial"/>
                <ns182:cs typeface="Arial"/>
              </ns182:rPr>
              <ns182:t>LLM extracts</ns182:t>
            </ns182:r>
          </ns182:p>
          <ns183:p xmlns:ns183="http://schemas.openxmlformats.org/drawingml/2006/main">
            <ns183:pPr algn="l">
              <ns183:lnSpc>
                <ns183:spcPct val="105000"/>
              </ns183:lnSpc>
              <ns183:defRPr sz="1050" b="0">
                <ns183:solidFill>
                  <ns183:srgbClr val="20262C"/>
                </ns183:solidFill>
                <ns183:latin typeface="Arial"/>
                <ns183:ea typeface="Arial"/>
                <ns183:cs typeface="Arial"/>
              </ns183:defRPr>
            </ns183:pPr>
            <ns183:r>
              <ns183:rPr sz="1050" b="0">
                <ns183:solidFill>
                  <ns183:srgbClr val="20262C"/>
                </ns183:solidFill>
                <ns183:latin typeface="Arial"/>
                <ns183:ea typeface="Arial"/>
                <ns183:cs typeface="Arial"/>
              </ns183:rPr>
              <ns183:t>Bond / price / size</ns183:t>
            </ns183:r>
          </ns183:p>
        </p:txBody>
      </p:sp>
      <p:cxnSp>
        <p:nvCxnSpPr>
          <p:cNvPr id="131" name="quote.to.extraction"/>
          <p:cNvCxnSpPr/>
          <p:nvPr/>
        </p:nvCxnSpPr>
        <p:spPr>
          <ns184:xfrm xmlns:ns184="http://schemas.openxmlformats.org/drawingml/2006/main">
            <ns184:off x="4244400" y="2788200"/>
            <ns184:ext cx="111600" cy="1"/>
          </ns184:xfrm>
          <ns185:prstGeom xmlns:ns185="http://schemas.openxmlformats.org/drawingml/2006/main" prst="line">
            <ns185:avLst/>
          </ns185:prstGeom>
          <ns186:ln xmlns:ns186="http://schemas.openxmlformats.org/drawingml/2006/main" w="11430">
            <ns186:solidFill>
              <ns186:srgbClr val="317F7B"/>
            </ns186:solidFill>
            <ns186:tailEnd type="triangle" w="sm" len="sm"/>
          </ns186:ln>
        </p:spPr>
      </p:cxnSp>
      <p:sp>
        <p:nvSpPr>
          <p:cNvPr id="132" name="role.llm.common.summary"/>
          <p:cNvSpPr/>
          <p:nvPr/>
        </p:nvSpPr>
        <p:spPr>
          <ns187:xfrm xmlns:ns187="http://schemas.openxmlformats.org/drawingml/2006/main">
            <ns187:off x="2422800" y="3150000"/>
            <ns187:ext cx="6264000" cy="180000"/>
          </ns187:xfrm>
          <ns188:prstGeom xmlns:ns188="http://schemas.openxmlformats.org/drawingml/2006/main" prst="rect">
            <ns188:avLst/>
          </ns188:prstGeom>
          <ns189:solidFill xmlns:ns189="http://schemas.openxmlformats.org/drawingml/2006/main">
            <ns189:srgbClr val="EAF3FA"/>
          </ns189:solidFill>
          <ns190:ln xmlns:ns190="http://schemas.openxmlformats.org/drawingml/2006/main" w="9525">
            <ns190:solidFill>
              <ns190:srgbClr val="005A9C"/>
            </ns190:solidFill>
          </ns190:ln>
        </p:spPr>
        <p:txBody>
          <ns191:bodyPr xmlns:ns191="http://schemas.openxmlformats.org/drawingml/2006/main" wrap="square" lIns="7200" rIns="7200" tIns="7200" bIns="7200" anchor="ctr">
            <ns191:noAutofit/>
          </ns191:bodyPr>
          <ns192:lstStyle xmlns:ns192="http://schemas.openxmlformats.org/drawingml/2006/main"/>
          <ns193:p xmlns:ns193="http://schemas.openxmlformats.org/drawingml/2006/main">
            <ns193:pPr algn="ctr">
              <ns193:lnSpc>
                <ns193:spcPct val="105000"/>
              </ns193:lnSpc>
              <ns193:defRPr sz="1200" b="1">
                <ns193:solidFill>
                  <ns193:srgbClr val="005A9C"/>
                </ns193:solidFill>
                <ns193:latin typeface="Arial"/>
                <ns193:ea typeface="Arial"/>
                <ns193:cs typeface="Arial"/>
              </ns193:defRPr>
            </ns193:pPr>
            <ns193:r>
              <ns193:rPr sz="1200" b="1">
                <ns193:solidFill>
                  <ns193:srgbClr val="005A9C"/>
                </ns193:solidFill>
                <ns193:latin typeface="Arial"/>
                <ns193:ea typeface="Arial"/>
                <ns193:cs typeface="Arial"/>
              </ns193:rPr>
              <ns193:t>LLM prepares the summary</ns193:t>
            </ns193:r>
          </ns193:p>
        </p:txBody>
      </p:sp>
      <p:cxnSp>
        <p:nvCxnSpPr>
          <p:cNvPr id="133" name="quote.fields.to.summary"/>
          <p:cNvCxnSpPr/>
          <p:nvPr/>
        </p:nvCxnSpPr>
        <p:spPr>
          <ns194:xfrm xmlns:ns194="http://schemas.openxmlformats.org/drawingml/2006/main">
            <ns194:off x="5121000" y="3117600"/>
            <ns194:ext cx="1" cy="21600"/>
          </ns194:xfrm>
          <ns195:prstGeom xmlns:ns195="http://schemas.openxmlformats.org/drawingml/2006/main" prst="line">
            <ns195:avLst/>
          </ns195:prstGeom>
          <ns196:ln xmlns:ns196="http://schemas.openxmlformats.org/drawingml/2006/main" w="11430">
            <ns196:solidFill>
              <ns196:srgbClr val="005A9C"/>
            </ns196:solidFill>
            <ns196:tailEnd type="triangle" w="sm" len="sm"/>
          </ns196:ln>
        </p:spPr>
      </p:cxnSp>
      <p:cxnSp>
        <p:nvCxnSpPr>
          <p:cNvPr id="134" name="holdings.to.summary"/>
          <p:cNvCxnSpPr/>
          <p:nvPr/>
        </p:nvCxnSpPr>
        <p:spPr>
          <ns197:xfrm xmlns:ns197="http://schemas.openxmlformats.org/drawingml/2006/main">
            <ns197:off x="7407000" y="2440800"/>
            <ns197:ext cx="1" cy="698400"/>
          </ns197:xfrm>
          <ns198:prstGeom xmlns:ns198="http://schemas.openxmlformats.org/drawingml/2006/main" prst="line">
            <ns198:avLst/>
          </ns198:prstGeom>
          <ns199:ln xmlns:ns199="http://schemas.openxmlformats.org/drawingml/2006/main" w="11430">
            <ns199:solidFill>
              <ns199:srgbClr val="005A9C"/>
            </ns199:solidFill>
            <ns199:tailEnd type="triangle" w="sm" len="sm"/>
          </ns199:ln>
        </p:spPr>
      </p:cxnSp>
      <p:sp>
        <p:nvSpPr>
          <p:cNvPr id="135" name="holdings.path.label"/>
          <p:cNvSpPr/>
          <p:nvPr/>
        </p:nvSpPr>
        <p:spPr>
          <ns200:xfrm xmlns:ns200="http://schemas.openxmlformats.org/drawingml/2006/main">
            <ns200:off x="7560000" y="2923200"/>
            <ns200:ext cx="1080000" cy="162000"/>
          </ns200:xfrm>
          <ns201:prstGeom xmlns:ns201="http://schemas.openxmlformats.org/drawingml/2006/main" prst="rect">
            <ns201:avLst/>
          </ns201:prstGeom>
          <ns202:noFill xmlns:ns202="http://schemas.openxmlformats.org/drawingml/2006/main"/>
          <ns203:ln xmlns:ns203="http://schemas.openxmlformats.org/drawingml/2006/main" w="0">
            <ns203:noFill/>
          </ns203:ln>
        </p:spPr>
        <p:txBody>
          <ns204:bodyPr xmlns:ns204="http://schemas.openxmlformats.org/drawingml/2006/main" wrap="square" lIns="0" rIns="0" tIns="0" bIns="0" anchor="t">
            <ns204:noAutofit/>
          </ns204:bodyPr>
          <ns205:lstStyle xmlns:ns205="http://schemas.openxmlformats.org/drawingml/2006/main"/>
          <ns206:p xmlns:ns206="http://schemas.openxmlformats.org/drawingml/2006/main">
            <ns206:pPr algn="l">
              <ns206:lnSpc>
                <ns206:spcPct val="105000"/>
              </ns206:lnSpc>
              <ns206:defRPr sz="1050" b="0">
                <ns206:solidFill>
                  <ns206:srgbClr val="65727D"/>
                </ns206:solidFill>
                <ns206:latin typeface="Arial"/>
                <ns206:ea typeface="Arial"/>
                <ns206:cs typeface="Arial"/>
              </ns206:defRPr>
            </ns206:pPr>
            <ns206:r>
              <ns206:rPr sz="1050" b="0">
                <ns206:solidFill>
                  <ns206:srgbClr val="65727D"/>
                </ns206:solidFill>
                <ns206:latin typeface="Arial"/>
                <ns206:ea typeface="Arial"/>
                <ns206:cs typeface="Arial"/>
              </ns206:rPr>
              <ns206:t>Holdings</ns206:t>
            </ns206:r>
          </ns206:p>
        </p:txBody>
      </p:sp>
      <p:graphicFrame>
        <p:nvGraphicFramePr>
          <p:cNvPr id="136" name="output.bond.quote.table">
            <a:extLst xmlns:a="http://schemas.openxmlformats.org/drawingml/2006/main">
              <a:ext uri="{FF2B5EF4-FFF2-40B4-BE49-F238E27FC236}">
                <a16:creationId xmlns:a16="http://schemas.microsoft.com/office/drawing/2014/main" id="{5468D175-A76B-485C-BBD7-6E86EE98C9A0}"/>
              </a:ext>
            </a:extLst>
          </p:cNvPr>
          <p:cNvGraphicFramePr/>
          <p:nvPr/>
        </p:nvGraphicFramePr>
        <p:xfrm>
          <a:off xmlns:a="http://schemas.openxmlformats.org/drawingml/2006/main" x="2422800" y="3348000"/>
          <a:ext xmlns:a="http://schemas.openxmlformats.org/drawingml/2006/main" cx="6264000" cy="954000"/>
        </p:xfrm>
        <a:graphic xmlns:a="http://schemas.openxmlformats.org/drawingml/2006/main">
          <a:graphicData uri="http://schemas.openxmlformats.org/drawingml/2006/table">
            <a:tbl>
              <a:tblPr/>
              <a:tblGrid>
                <a:gridCol w="1224000"/>
                <a:gridCol w="1548000"/>
                <a:gridCol w="1944000"/>
                <a:gridCol w="1548000"/>
              </a:tblGrid>
              <a:tr h="504000">
                <a:tc>
                  <a:txBody>
                    <a:bodyPr/>
                    <a:lstStyle/>
                    <a:p>
                      <a:r>
                        <a:rPr sz="1200" b="1">
                          <a:solidFill>
                            <a:srgbClr val="FFFFFF"/>
                          </a:solidFill>
                          <a:latin typeface="Arial"/>
                          <a:ea typeface="Arial"/>
                          <a:cs typeface="Arial"/>
                        </a:rPr>
                        <a:t>Bond / time to maturity</a:t>
                      </a:r>
                    </a:p>
                  </a:txBody>
                  <a:tcPr marL="43200" marR="43200" marT="28800" marB="28800" anchor="ctr">
                    <a:lnL w="6350">
                      <a:solidFill>
                        <a:srgbClr val="BCC6CF"/>
                      </a:solidFill>
                      <a:prstDash val="solid"/>
                    </a:lnL>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200" b="1">
                          <a:solidFill>
                            <a:srgbClr val="FFFFFF"/>
                          </a:solidFill>
                          <a:latin typeface="Arial"/>
                          <a:ea typeface="Arial"/>
                          <a:cs typeface="Arial"/>
                        </a:rPr>
                        <a:t>Current holding</a:t>
                      </a:r>
                    </a:p>
                    <a:p>
                      <a:r>
                        <a:rPr sz="1200" b="1">
                          <a:solidFill>
                            <a:srgbClr val="FFFFFF"/>
                          </a:solidFill>
                          <a:latin typeface="Arial"/>
                          <a:ea typeface="Arial"/>
                          <a:cs typeface="Arial"/>
                        </a:rPr>
                        <a:t>(RMB m face value)</a:t>
                      </a:r>
                    </a:p>
                  </a:txBody>
                  <a:tcPr marL="43200" marR="432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200" b="1">
                          <a:solidFill>
                            <a:srgbClr val="FFFFFF"/>
                          </a:solidFill>
                          <a:latin typeface="Arial"/>
                          <a:ea typeface="Arial"/>
                          <a:cs typeface="Arial"/>
                        </a:rPr>
                        <a:t>Clean price</a:t>
                      </a:r>
                    </a:p>
                    <a:p>
                      <a:r>
                        <a:rPr sz="1200" b="1">
                          <a:solidFill>
                            <a:srgbClr val="FFFFFF"/>
                          </a:solidFill>
                          <a:latin typeface="Arial"/>
                          <a:ea typeface="Arial"/>
                          <a:cs typeface="Arial"/>
                        </a:rPr>
                        <a:t>per RMB 100 face value</a:t>
                      </a:r>
                    </a:p>
                  </a:txBody>
                  <a:tcPr marL="43200" marR="432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200" b="1">
                          <a:solidFill>
                            <a:srgbClr val="FFFFFF"/>
                          </a:solidFill>
                          <a:latin typeface="Arial"/>
                          <a:ea typeface="Arial"/>
                          <a:cs typeface="Arial"/>
                        </a:rPr>
                        <a:t>Available size</a:t>
                      </a:r>
                    </a:p>
                    <a:p>
                      <a:r>
                        <a:rPr sz="1200" b="1">
                          <a:solidFill>
                            <a:srgbClr val="FFFFFF"/>
                          </a:solidFill>
                          <a:latin typeface="Arial"/>
                          <a:ea typeface="Arial"/>
                          <a:cs typeface="Arial"/>
                        </a:rPr>
                        <a:t>(RMB m face value)</a:t>
                      </a:r>
                    </a:p>
                  </a:txBody>
                  <a:tcPr marL="43200" marR="432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r>
              <a:tr h="450000">
                <a:tc>
                  <a:txBody>
                    <a:bodyPr/>
                    <a:lstStyle/>
                    <a:p>
                      <a:r>
                        <a:rPr sz="1200">
                          <a:solidFill>
                            <a:srgbClr val="20262C"/>
                          </a:solidFill>
                          <a:latin typeface="Arial"/>
                          <a:ea typeface="Arial"/>
                          <a:cs typeface="Arial"/>
                        </a:rPr>
                        <a:t>Bond A / 1.2 years</a:t>
                      </a:r>
                    </a:p>
                  </a:txBody>
                  <a:tcPr marL="43200" marR="43200" marT="28800" marB="28800" anchor="ctr">
                    <a:lnL w="6350">
                      <a:solidFill>
                        <a:srgbClr val="BCC6CF"/>
                      </a:solidFill>
                      <a:prstDash val="solid"/>
                    </a:lnL>
                    <a:lnR w="6350">
                      <a:solidFill>
                        <a:srgbClr val="BCC6CF"/>
                      </a:solidFill>
                      <a:prstDash val="solid"/>
                    </a:lnR>
                    <a:lnB w="6350">
                      <a:solidFill>
                        <a:srgbClr val="BCC6CF"/>
                      </a:solidFill>
                      <a:prstDash val="solid"/>
                    </a:lnB>
                    <a:solidFill>
                      <a:srgbClr val="FFFFFF"/>
                    </a:solidFill>
                  </a:tcPr>
                </a:tc>
                <a:tc>
                  <a:txBody>
                    <a:bodyPr/>
                    <a:lstStyle/>
                    <a:p>
                      <a:r>
                        <a:rPr sz="1200">
                          <a:solidFill>
                            <a:srgbClr val="20262C"/>
                          </a:solidFill>
                          <a:latin typeface="Arial"/>
                          <a:ea typeface="Arial"/>
                          <a:cs typeface="Arial"/>
                        </a:rPr>
                        <a:t>20</a:t>
                      </a:r>
                    </a:p>
                  </a:txBody>
                  <a:tcPr marL="43200" marR="43200" marT="28800" marB="28800" anchor="ctr">
                    <a:lnR w="6350">
                      <a:solidFill>
                        <a:srgbClr val="BCC6CF"/>
                      </a:solidFill>
                      <a:prstDash val="solid"/>
                    </a:lnR>
                    <a:lnB w="6350">
                      <a:solidFill>
                        <a:srgbClr val="BCC6CF"/>
                      </a:solidFill>
                      <a:prstDash val="solid"/>
                    </a:lnB>
                    <a:solidFill>
                      <a:srgbClr val="FFFFFF"/>
                    </a:solidFill>
                  </a:tcPr>
                </a:tc>
                <a:tc>
                  <a:txBody>
                    <a:bodyPr/>
                    <a:lstStyle/>
                    <a:p>
                      <a:r>
                        <a:rPr sz="1200">
                          <a:solidFill>
                            <a:srgbClr val="20262C"/>
                          </a:solidFill>
                          <a:latin typeface="Arial"/>
                          <a:ea typeface="Arial"/>
                          <a:cs typeface="Arial"/>
                        </a:rPr>
                        <a:t>100.20</a:t>
                      </a:r>
                    </a:p>
                  </a:txBody>
                  <a:tcPr marL="43200" marR="43200" marT="28800" marB="28800" anchor="ctr">
                    <a:lnR w="6350">
                      <a:solidFill>
                        <a:srgbClr val="BCC6CF"/>
                      </a:solidFill>
                      <a:prstDash val="solid"/>
                    </a:lnR>
                    <a:lnB w="6350">
                      <a:solidFill>
                        <a:srgbClr val="BCC6CF"/>
                      </a:solidFill>
                      <a:prstDash val="solid"/>
                    </a:lnB>
                    <a:solidFill>
                      <a:srgbClr val="FFFFFF"/>
                    </a:solidFill>
                  </a:tcPr>
                </a:tc>
                <a:tc>
                  <a:txBody>
                    <a:bodyPr/>
                    <a:lstStyle/>
                    <a:p>
                      <a:r>
                        <a:rPr sz="1200">
                          <a:solidFill>
                            <a:srgbClr val="20262C"/>
                          </a:solidFill>
                          <a:latin typeface="Arial"/>
                          <a:ea typeface="Arial"/>
                          <a:cs typeface="Arial"/>
                        </a:rPr>
                        <a:t>20</a:t>
                      </a:r>
                    </a:p>
                  </a:txBody>
                  <a:tcPr marL="43200" marR="43200" marT="28800" marB="28800" anchor="ctr">
                    <a:lnR w="6350">
                      <a:solidFill>
                        <a:srgbClr val="BCC6CF"/>
                      </a:solidFill>
                      <a:prstDash val="solid"/>
                    </a:lnR>
                    <a:lnB w="6350">
                      <a:solidFill>
                        <a:srgbClr val="BCC6CF"/>
                      </a:solidFill>
                      <a:prstDash val="solid"/>
                    </a:lnB>
                    <a:solidFill>
                      <a:srgbClr val="FFFFFF"/>
                    </a:solidFill>
                  </a:tcPr>
                </a:tc>
              </a:tr>
            </a:tbl>
          </a:graphicData>
        </a:graphic>
      </p:graphicFrame>
      <p:sp>
        <p:nvSpPr>
          <p:cNvPr id="137" name="human.trader.verifies"/>
          <p:cNvSpPr/>
          <p:nvPr/>
        </p:nvSpPr>
        <p:spPr>
          <ns207:xfrm xmlns:ns207="http://schemas.openxmlformats.org/drawingml/2006/main">
            <ns207:off x="2422800" y="4384800"/>
            <ns207:ext cx="2556000" cy="169200"/>
          </ns207:xfrm>
          <ns208:prstGeom xmlns:ns208="http://schemas.openxmlformats.org/drawingml/2006/main" prst="rect">
            <ns208:avLst/>
          </ns208:prstGeom>
          <ns209:solidFill xmlns:ns209="http://schemas.openxmlformats.org/drawingml/2006/main">
            <ns209:srgbClr val="F3F7FA"/>
          </ns209:solidFill>
          <ns210:ln xmlns:ns210="http://schemas.openxmlformats.org/drawingml/2006/main" w="9525">
            <ns210:solidFill>
              <ns210:srgbClr val="65727D"/>
            </ns210:solidFill>
          </ns210:ln>
        </p:spPr>
        <p:txBody>
          <ns211:bodyPr xmlns:ns211="http://schemas.openxmlformats.org/drawingml/2006/main" wrap="square" lIns="10800" rIns="10800" tIns="10800" bIns="10800" anchor="ctr">
            <ns211:noAutofit/>
          </ns211:bodyPr>
          <ns212:lstStyle xmlns:ns212="http://schemas.openxmlformats.org/drawingml/2006/main"/>
          <ns213:p xmlns:ns213="http://schemas.openxmlformats.org/drawingml/2006/main">
            <ns213:pPr algn="l">
              <ns213:lnSpc>
                <ns213:spcPct val="105000"/>
              </ns213:lnSpc>
              <ns213:defRPr sz="1100" b="1">
                <ns213:solidFill>
                  <ns213:srgbClr val="20262C"/>
                </ns213:solidFill>
                <ns213:latin typeface="Arial"/>
                <ns213:ea typeface="Arial"/>
                <ns213:cs typeface="Arial"/>
              </ns213:defRPr>
            </ns213:pPr>
            <ns213:r>
              <ns213:rPr sz="1100" b="1">
                <ns213:solidFill>
                  <ns213:srgbClr val="20262C"/>
                </ns213:solidFill>
                <ns213:latin typeface="Arial"/>
                <ns213:ea typeface="Arial"/>
                <ns213:cs typeface="Arial"/>
              </ns213:rPr>
              <ns213:t>Trader verifies</ns213:t>
            </ns213:r>
          </ns213:p>
        </p:txBody>
      </p:sp>
      <p:sp>
        <p:nvSpPr>
          <p:cNvPr id="138" name="human.manager.reviews"/>
          <p:cNvSpPr/>
          <p:nvPr/>
        </p:nvSpPr>
        <p:spPr>
          <ns214:xfrm xmlns:ns214="http://schemas.openxmlformats.org/drawingml/2006/main">
            <ns214:off x="5443200" y="4384800"/>
            <ns214:ext cx="3243600" cy="169200"/>
          </ns214:xfrm>
          <ns215:prstGeom xmlns:ns215="http://schemas.openxmlformats.org/drawingml/2006/main" prst="rect">
            <ns215:avLst/>
          </ns215:prstGeom>
          <ns216:solidFill xmlns:ns216="http://schemas.openxmlformats.org/drawingml/2006/main">
            <ns216:srgbClr val="F3F7FA"/>
          </ns216:solidFill>
          <ns217:ln xmlns:ns217="http://schemas.openxmlformats.org/drawingml/2006/main" w="9525">
            <ns217:solidFill>
              <ns217:srgbClr val="65727D"/>
            </ns217:solidFill>
          </ns217:ln>
        </p:spPr>
        <p:txBody>
          <ns218:bodyPr xmlns:ns218="http://schemas.openxmlformats.org/drawingml/2006/main" wrap="square" lIns="10800" rIns="10800" tIns="10800" bIns="10800" anchor="ctr">
            <ns218:noAutofit/>
          </ns218:bodyPr>
          <ns219:lstStyle xmlns:ns219="http://schemas.openxmlformats.org/drawingml/2006/main"/>
          <ns220:p xmlns:ns220="http://schemas.openxmlformats.org/drawingml/2006/main">
            <ns220:pPr algn="l">
              <ns220:lnSpc>
                <ns220:spcPct val="105000"/>
              </ns220:lnSpc>
              <ns220:defRPr sz="1100" b="1">
                <ns220:solidFill>
                  <ns220:srgbClr val="20262C"/>
                </ns220:solidFill>
                <ns220:latin typeface="Arial"/>
                <ns220:ea typeface="Arial"/>
                <ns220:cs typeface="Arial"/>
              </ns220:defRPr>
            </ns220:pPr>
            <ns220:r>
              <ns220:rPr sz="1100" b="1">
                <ns220:solidFill>
                  <ns220:srgbClr val="20262C"/>
                </ns220:solidFill>
                <ns220:latin typeface="Arial"/>
                <ns220:ea typeface="Arial"/>
                <ns220:cs typeface="Arial"/>
              </ns220:rPr>
              <ns220:t>Manager reviews with trader</ns220:t>
            </ns220:r>
          </ns220:p>
        </p:txBody>
      </p:sp>
      <p:cxnSp>
        <p:nvCxnSpPr>
          <p:cNvPr id="139" name="table.to.trader"/>
          <p:cNvCxnSpPr/>
          <p:nvPr/>
        </p:nvCxnSpPr>
        <p:spPr>
          <ns221:xfrm xmlns:ns221="http://schemas.openxmlformats.org/drawingml/2006/main">
            <ns221:off x="3700800" y="4327200"/>
            <ns221:ext cx="1" cy="39600"/>
          </ns221:xfrm>
          <ns222:prstGeom xmlns:ns222="http://schemas.openxmlformats.org/drawingml/2006/main" prst="line">
            <ns222:avLst/>
          </ns222:prstGeom>
          <ns223:ln xmlns:ns223="http://schemas.openxmlformats.org/drawingml/2006/main" w="11430">
            <ns223:solidFill>
              <ns223:srgbClr val="005A9C"/>
            </ns223:solidFill>
            <ns223:tailEnd type="triangle" w="sm" len="sm"/>
          </ns223:ln>
        </p:spPr>
      </p:cxnSp>
      <p:cxnSp>
        <p:nvCxnSpPr>
          <p:cNvPr id="140" name="trader.to.manager.review"/>
          <p:cNvCxnSpPr/>
          <p:nvPr/>
        </p:nvCxnSpPr>
        <p:spPr>
          <ns224:xfrm xmlns:ns224="http://schemas.openxmlformats.org/drawingml/2006/main">
            <ns224:off x="5014800" y="4469400"/>
            <ns224:ext cx="392400" cy="1"/>
          </ns224:xfrm>
          <ns225:prstGeom xmlns:ns225="http://schemas.openxmlformats.org/drawingml/2006/main" prst="line">
            <ns225:avLst/>
          </ns225:prstGeom>
          <ns226:ln xmlns:ns226="http://schemas.openxmlformats.org/drawingml/2006/main" w="11430">
            <ns226:solidFill>
              <ns226:srgbClr val="005A9C"/>
            </ns226:solidFill>
            <ns226:tailEnd type="triangle" w="sm" len="sm"/>
          </ns226:ln>
        </p:spPr>
      </p:cxnSp>
    </p:spTree>
    <p:extLst>
      <p:ext uri="{BB962C8B-B14F-4D97-AF65-F5344CB8AC3E}">
        <p14:creationId xmlns:p14="http://schemas.microsoft.com/office/powerpoint/2010/main" val="3544095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Preparing a quarterly client update</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Client communications / Current workflow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105"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106"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107" name="map.task.focus.client"/>
          <p:cNvSpPr/>
          <p:nvPr/>
        </p:nvSpPr>
        <p:spPr>
          <ns38:xfrm xmlns:ns38="http://schemas.openxmlformats.org/drawingml/2006/main">
            <ns38:off x="486000" y="2196000"/>
            <ns38:ext cx="1677600" cy="176400"/>
          </ns38:xfrm>
          <ns39:prstGeom xmlns:ns39="http://schemas.openxmlformats.org/drawingml/2006/main" prst="rect">
            <ns39:avLst/>
          </ns39:prstGeom>
          <ns40:solidFill xmlns:ns40="http://schemas.openxmlformats.org/drawingml/2006/main">
            <ns40:srgbClr val="D9EAF7"/>
          </ns40:solidFill>
          <ns41:ln xmlns:ns41="http://schemas.openxmlformats.org/drawingml/2006/main" w="0">
            <ns41:noFill/>
          </ns41:ln>
        </p:spPr>
      </p:sp>
      <p:sp>
        <p:nvSpPr>
          <p:cNvPr id="108" name="map.task.client"/>
          <p:cNvSpPr/>
          <p:nvPr/>
        </p:nvSpPr>
        <p:spPr>
          <ns42:xfrm xmlns:ns42="http://schemas.openxmlformats.org/drawingml/2006/main">
            <ns42:off x="554400" y="2199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1">
                <ns48:solidFill>
                  <ns48:srgbClr val="005A9C"/>
                </ns48:solidFill>
                <ns48:latin typeface="Arial"/>
                <ns48:ea typeface="Arial"/>
                <ns48:cs typeface="Arial"/>
              </ns48:defRPr>
            </ns48:pPr>
            <ns48:r>
              <ns48:rPr sz="1050" b="1">
                <ns48:solidFill>
                  <ns48:srgbClr val="005A9C"/>
                </ns48:solidFill>
                <ns48:latin typeface="Arial"/>
                <ns48:ea typeface="Arial"/>
                <ns48:cs typeface="Arial"/>
              </ns48:rPr>
              <ns48:t>Client materials</ns48:t>
            </ns48:r>
          </ns48:p>
        </p:txBody>
      </p:sp>
      <p:sp>
        <p:nvSpPr>
          <p:cNvPr id="109" name="map.office.1"/>
          <p:cNvSpPr/>
          <p:nvPr/>
        </p:nvSpPr>
        <p:spPr>
          <ns49:xfrm xmlns:ns49="http://schemas.openxmlformats.org/drawingml/2006/main">
            <ns49:off x="486000" y="2548800"/>
            <ns49:ext cx="1692000" cy="1800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100" b="1">
                <ns55:solidFill>
                  <ns55:srgbClr val="65727D"/>
                </ns55:solidFill>
                <ns55:latin typeface="Arial"/>
                <ns55:ea typeface="Arial"/>
                <ns55:cs typeface="Arial"/>
              </ns55:defRPr>
            </ns55:pPr>
            <ns55:r>
              <ns55:rPr sz="1100" b="1">
                <ns55:solidFill>
                  <ns55:srgbClr val="65727D"/>
                </ns55:solidFill>
                <ns55:latin typeface="Arial"/>
                <ns55:ea typeface="Arial"/>
                <ns55:cs typeface="Arial"/>
              </ns55:rPr>
              <ns55:t>Middle office</ns55:t>
            </ns55:r>
          </ns55:p>
        </p:txBody>
      </p:sp>
      <p:cxnSp>
        <p:nvCxnSpPr>
          <p:cNvPr id="110" name="map.office.rule.1"/>
          <p:cNvCxnSpPr/>
          <p:nvPr/>
        </p:nvCxnSpPr>
        <p:spPr>
          <ns56:xfrm xmlns:ns56="http://schemas.openxmlformats.org/drawingml/2006/main">
            <ns56:off x="457200" y="2768400"/>
            <ns56:ext cx="1742400" cy="1"/>
          </ns56:xfrm>
          <ns57:prstGeom xmlns:ns57="http://schemas.openxmlformats.org/drawingml/2006/main" prst="line">
            <ns57:avLst/>
          </ns57:prstGeom>
          <ns58:ln xmlns:ns58="http://schemas.openxmlformats.org/drawingml/2006/main" w="7620">
            <ns58:solidFill>
              <ns58:srgbClr val="CBD4DA"/>
            </ns58:solidFill>
          </ns58:ln>
        </p:spPr>
      </p:cxnSp>
      <p:sp>
        <p:nvSpPr>
          <p:cNvPr id="111" name="map.task.review"/>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0">
                <ns65:solidFill>
                  <ns65:srgbClr val="65727D"/>
                </ns65:solidFill>
                <ns65:latin typeface="Arial"/>
                <ns65:ea typeface="Arial"/>
                <ns65:cs typeface="Arial"/>
              </ns65:defRPr>
            </ns65:pPr>
            <ns65:r>
              <ns65:rPr sz="1050" b="0">
                <ns65:solidFill>
                  <ns65:srgbClr val="65727D"/>
                </ns65:solidFill>
                <ns65:latin typeface="Arial"/>
                <ns65:ea typeface="Arial"/>
                <ns65:cs typeface="Arial"/>
              </ns65:rPr>
              <ns65:t>Content review</ns65:t>
            </ns65:r>
          </ns65:p>
        </p:txBody>
      </p:sp>
      <p:sp>
        <p:nvSpPr>
          <p:cNvPr id="112" name="map.task.risk"/>
          <p:cNvSpPr/>
          <p:nvPr/>
        </p:nvSpPr>
        <p:spPr>
          <ns66:xfrm xmlns:ns66="http://schemas.openxmlformats.org/drawingml/2006/main">
            <ns66:off x="554400" y="3045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13"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14"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15" name="map.task.file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Document processing</ns89:t>
            </ns89:r>
          </ns89:p>
        </p:txBody>
      </p:sp>
      <p:sp>
        <p:nvSpPr>
          <p:cNvPr id="116"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17" name="map.legend"/>
          <p:cNvSpPr/>
          <p:nvPr/>
        </p:nvSpPr>
        <p:spPr>
          <ns97:xfrm xmlns:ns97="http://schemas.openxmlformats.org/drawingml/2006/main">
            <ns97:off x="486000" y="4363200"/>
            <ns97:ext cx="16848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850" b="0">
                <ns103:solidFill>
                  <ns103:srgbClr val="65727D"/>
                </ns103:solidFill>
                <ns103:latin typeface="Arial"/>
                <ns103:ea typeface="Arial"/>
                <ns103:cs typeface="Arial"/>
              </ns103:defRPr>
            </ns103:pPr>
            <ns103:r>
              <ns103:rPr sz="850" b="0">
                <ns103:solidFill>
                  <ns103:srgbClr val="65727D"/>
                </ns103:solidFill>
                <ns103:latin typeface="Arial"/>
                <ns103:ea typeface="Arial"/>
                <ns103:cs typeface="Arial"/>
              </ns103:rPr>
              <ns103:t>Company workflow</ns103:t>
            </ns103:r>
          </ns103:p>
        </p:txBody>
      </p:sp>
      <p:sp>
        <p:nvSpPr>
          <p:cNvPr id="118" name="input.client.question"/>
          <p:cNvSpPr/>
          <p:nvPr/>
        </p:nvSpPr>
        <p:spPr>
          <ns104:xfrm xmlns:ns104="http://schemas.openxmlformats.org/drawingml/2006/main">
            <ns104:off x="2422800" y="1504800"/>
            <ns104:ext cx="1620000" cy="846000"/>
          </ns104:xfrm>
          <ns105:prstGeom xmlns:ns105="http://schemas.openxmlformats.org/drawingml/2006/main" prst="rect">
            <ns105:avLst/>
          </ns105:prstGeom>
          <ns106:solidFill xmlns:ns106="http://schemas.openxmlformats.org/drawingml/2006/main">
            <ns106:srgbClr val="F7F4FB"/>
          </ns106:solidFill>
          <ns107:ln xmlns:ns107="http://schemas.openxmlformats.org/drawingml/2006/main" w="9525">
            <ns107:solidFill>
              <ns107:srgbClr val="7363A6"/>
            </ns107:solidFill>
          </ns107:ln>
        </p:spPr>
        <p:txBody>
          <ns108:bodyPr xmlns:ns108="http://schemas.openxmlformats.org/drawingml/2006/main" wrap="square" lIns="61200" rIns="61200" tIns="61200" bIns="61200" anchor="ctr">
            <ns108:noAutofit/>
          </ns108:bodyPr>
          <ns109:lstStyle xmlns:ns109="http://schemas.openxmlformats.org/drawingml/2006/main"/>
          <ns110:p xmlns:ns110="http://schemas.openxmlformats.org/drawingml/2006/main">
            <ns110:pPr algn="l">
              <ns110:lnSpc>
                <ns110:spcPct val="105000"/>
              </ns110:lnSpc>
              <ns110:defRPr sz="1300" b="1">
                <ns110:solidFill>
                  <ns110:srgbClr val="7363A6"/>
                </ns110:solidFill>
                <ns110:latin typeface="Arial"/>
                <ns110:ea typeface="Arial"/>
                <ns110:cs typeface="Arial"/>
              </ns110:defRPr>
            </ns110:pPr>
            <ns110:r>
              <ns110:rPr sz="1300" b="1">
                <ns110:solidFill>
                  <ns110:srgbClr val="7363A6"/>
                </ns110:solidFill>
                <ns110:latin typeface="Arial"/>
                <ns110:ea typeface="Arial"/>
                <ns110:cs typeface="Arial"/>
              </ns110:rPr>
              <ns110:t>Client question</ns110:t>
            </ns110:r>
          </ns110:p>
          <ns111:p xmlns:ns111="http://schemas.openxmlformats.org/drawingml/2006/main">
            <ns111:pPr algn="l">
              <ns111:lnSpc>
                <ns111:spcPct val="105000"/>
              </ns111:lnSpc>
              <ns111:defRPr sz="1100" b="0">
                <ns111:solidFill>
                  <ns111:srgbClr val="20262C"/>
                </ns111:solidFill>
                <ns111:latin typeface="Arial"/>
                <ns111:ea typeface="Arial"/>
                <ns111:cs typeface="Arial"/>
              </ns111:defRPr>
            </ns111:pPr>
            <ns111:r>
              <ns111:rPr sz="1100" b="0">
                <ns111:solidFill>
                  <ns111:srgbClr val="20262C"/>
                </ns111:solidFill>
                <ns111:latin typeface="Arial"/>
                <ns111:ea typeface="Arial"/>
                <ns111:cs typeface="Arial"/>
              </ns111:rPr>
              <ns111:t>Company A</ns111:t>
            </ns111:r>
          </ns111:p>
          <ns112:p xmlns:ns112="http://schemas.openxmlformats.org/drawingml/2006/main">
            <ns112:pPr algn="l">
              <ns112:lnSpc>
                <ns112:spcPct val="105000"/>
              </ns112:lnSpc>
              <ns112:defRPr sz="1100" b="0">
                <ns112:solidFill>
                  <ns112:srgbClr val="20262C"/>
                </ns112:solidFill>
                <ns112:latin typeface="Arial"/>
                <ns112:ea typeface="Arial"/>
                <ns112:cs typeface="Arial"/>
              </ns112:defRPr>
            </ns112:pPr>
            <ns112:r>
              <ns112:rPr sz="1100" b="0">
                <ns112:solidFill>
                  <ns112:srgbClr val="20262C"/>
                </ns112:solidFill>
                <ns112:latin typeface="Arial"/>
                <ns112:ea typeface="Arial"/>
                <ns112:cs typeface="Arial"/>
              </ns112:rPr>
              <ns112:t>What changed?</ns112:t>
            </ns112:r>
          </ns112:p>
          <ns113:p xmlns:ns113="http://schemas.openxmlformats.org/drawingml/2006/main">
            <ns113:pPr algn="l">
              <ns113:lnSpc>
                <ns113:spcPct val="105000"/>
              </ns113:lnSpc>
              <ns113:defRPr sz="1100" b="0">
                <ns113:solidFill>
                  <ns113:srgbClr val="20262C"/>
                </ns113:solidFill>
                <ns113:latin typeface="Arial"/>
                <ns113:ea typeface="Arial"/>
                <ns113:cs typeface="Arial"/>
              </ns113:defRPr>
            </ns113:pPr>
            <ns113:r>
              <ns113:rPr sz="1100" b="0">
                <ns113:solidFill>
                  <ns113:srgbClr val="20262C"/>
                </ns113:solidFill>
                <ns113:latin typeface="Arial"/>
                <ns113:ea typeface="Arial"/>
                <ns113:cs typeface="Arial"/>
              </ns113:rPr>
              <ns113:t>What to watch?</ns113:t>
            </ns113:r>
          </ns113:p>
        </p:txBody>
      </p:sp>
      <p:sp>
        <p:nvSpPr>
          <p:cNvPr id="119" name="input.client.source.0"/>
          <p:cNvSpPr/>
          <p:nvPr/>
        </p:nvSpPr>
        <p:spPr>
          <ns114:xfrm xmlns:ns114="http://schemas.openxmlformats.org/drawingml/2006/main">
            <ns114:off x="2422800" y="2440800"/>
            <ns114:ext cx="1620000" cy="504000"/>
          </ns114:xfrm>
          <ns115:prstGeom xmlns:ns115="http://schemas.openxmlformats.org/drawingml/2006/main" prst="rect">
            <ns115:avLst/>
          </ns115:prstGeom>
          <ns116:solidFill xmlns:ns116="http://schemas.openxmlformats.org/drawingml/2006/main">
            <ns116:srgbClr val="F7F4FB"/>
          </ns116:solidFill>
          <ns117:ln xmlns:ns117="http://schemas.openxmlformats.org/drawingml/2006/main" w="9525">
            <ns117:solidFill>
              <ns117:srgbClr val="7363A6"/>
            </ns117:solidFill>
          </ns117:ln>
        </p:spPr>
        <p:txBody>
          <ns118:bodyPr xmlns:ns118="http://schemas.openxmlformats.org/drawingml/2006/main" wrap="square" lIns="61200" rIns="61200" tIns="61200" bIns="61200" anchor="ctr">
            <ns118:noAutofit/>
          </ns118:bodyPr>
          <ns119:lstStyle xmlns:ns119="http://schemas.openxmlformats.org/drawingml/2006/main"/>
          <ns120:p xmlns:ns120="http://schemas.openxmlformats.org/drawingml/2006/main">
            <ns120:pPr algn="l">
              <ns120:lnSpc>
                <ns120:spcPct val="105000"/>
              </ns120:lnSpc>
              <ns120:defRPr sz="1300" b="1">
                <ns120:solidFill>
                  <ns120:srgbClr val="7363A6"/>
                </ns120:solidFill>
                <ns120:latin typeface="Arial"/>
                <ns120:ea typeface="Arial"/>
                <ns120:cs typeface="Arial"/>
              </ns120:defRPr>
            </ns120:pPr>
            <ns120:r>
              <ns120:rPr sz="1300" b="1">
                <ns120:solidFill>
                  <ns120:srgbClr val="7363A6"/>
                </ns120:solidFill>
                <ns120:latin typeface="Arial"/>
                <ns120:ea typeface="Arial"/>
                <ns120:cs typeface="Arial"/>
              </ns120:rPr>
              <ns120:t>PM views</ns120:t>
            </ns120:r>
          </ns120:p>
          <ns121:p xmlns:ns121="http://schemas.openxmlformats.org/drawingml/2006/main">
            <ns121:pPr algn="l">
              <ns121:lnSpc>
                <ns121:spcPct val="105000"/>
              </ns121:lnSpc>
              <ns121:defRPr sz="1050" b="0">
                <ns121:solidFill>
                  <ns121:srgbClr val="20262C"/>
                </ns121:solidFill>
                <ns121:latin typeface="Arial"/>
                <ns121:ea typeface="Arial"/>
                <ns121:cs typeface="Arial"/>
              </ns121:defRPr>
            </ns121:pPr>
            <ns121:r>
              <ns121:rPr sz="1050" b="0">
                <ns121:solidFill>
                  <ns121:srgbClr val="20262C"/>
                </ns121:solidFill>
                <ns121:latin typeface="Arial"/>
                <ns121:ea typeface="Arial"/>
                <ns121:cs typeface="Arial"/>
              </ns121:rPr>
              <ns121:t>Investment views</ns121:t>
            </ns121:r>
          </ns121:p>
        </p:txBody>
      </p:sp>
      <p:sp>
        <p:nvSpPr>
          <p:cNvPr id="120" name="input.client.source.1"/>
          <p:cNvSpPr/>
          <p:nvPr/>
        </p:nvSpPr>
        <p:spPr>
          <ns122:xfrm xmlns:ns122="http://schemas.openxmlformats.org/drawingml/2006/main">
            <ns122:off x="2422800" y="3034800"/>
            <ns122:ext cx="1620000" cy="504000"/>
          </ns122:xfrm>
          <ns123:prstGeom xmlns:ns123="http://schemas.openxmlformats.org/drawingml/2006/main" prst="rect">
            <ns123:avLst/>
          </ns123:prstGeom>
          <ns124:solidFill xmlns:ns124="http://schemas.openxmlformats.org/drawingml/2006/main">
            <ns124:srgbClr val="F7F4FB"/>
          </ns124:solidFill>
          <ns125:ln xmlns:ns125="http://schemas.openxmlformats.org/drawingml/2006/main" w="9525">
            <ns125:solidFill>
              <ns125:srgbClr val="7363A6"/>
            </ns125:solidFill>
          </ns125:ln>
        </p:spPr>
        <p:txBody>
          <ns126:bodyPr xmlns:ns126="http://schemas.openxmlformats.org/drawingml/2006/main" wrap="square" lIns="61200" rIns="61200" tIns="61200" bIns="61200" anchor="ctr">
            <ns126:noAutofit/>
          </ns126:bodyPr>
          <ns127:lstStyle xmlns:ns127="http://schemas.openxmlformats.org/drawingml/2006/main"/>
          <ns128:p xmlns:ns128="http://schemas.openxmlformats.org/drawingml/2006/main">
            <ns128:pPr algn="l">
              <ns128:lnSpc>
                <ns128:spcPct val="105000"/>
              </ns128:lnSpc>
              <ns128:defRPr sz="1300" b="1">
                <ns128:solidFill>
                  <ns128:srgbClr val="7363A6"/>
                </ns128:solidFill>
                <ns128:latin typeface="Arial"/>
                <ns128:ea typeface="Arial"/>
                <ns128:cs typeface="Arial"/>
              </ns128:defRPr>
            </ns128:pPr>
            <ns128:r>
              <ns128:rPr sz="1300" b="1">
                <ns128:solidFill>
                  <ns128:srgbClr val="7363A6"/>
                </ns128:solidFill>
                <ns128:latin typeface="Arial"/>
                <ns128:ea typeface="Arial"/>
                <ns128:cs typeface="Arial"/>
              </ns128:rPr>
              <ns128:t>Product sources</ns128:t>
            </ns128:r>
          </ns128:p>
          <ns129:p xmlns:ns129="http://schemas.openxmlformats.org/drawingml/2006/main">
            <ns129:pPr algn="l">
              <ns129:lnSpc>
                <ns129:spcPct val="105000"/>
              </ns129:lnSpc>
              <ns129:defRPr sz="1050" b="0">
                <ns129:solidFill>
                  <ns129:srgbClr val="20262C"/>
                </ns129:solidFill>
                <ns129:latin typeface="Arial"/>
                <ns129:ea typeface="Arial"/>
                <ns129:cs typeface="Arial"/>
              </ns129:defRPr>
            </ns129:pPr>
            <ns129:r>
              <ns129:rPr sz="1050" b="0">
                <ns129:solidFill>
                  <ns129:srgbClr val="20262C"/>
                </ns129:solidFill>
                <ns129:latin typeface="Arial"/>
                <ns129:ea typeface="Arial"/>
                <ns129:cs typeface="Arial"/>
              </ns129:rPr>
              <ns129:t>Fund / period</ns129:t>
            </ns129:r>
          </ns129:p>
        </p:txBody>
      </p:sp>
      <p:sp>
        <p:nvSpPr>
          <p:cNvPr id="121" name="input.client.source.2"/>
          <p:cNvSpPr/>
          <p:nvPr/>
        </p:nvSpPr>
        <p:spPr>
          <ns130:xfrm xmlns:ns130="http://schemas.openxmlformats.org/drawingml/2006/main">
            <ns130:off x="2422800" y="3628800"/>
            <ns130:ext cx="1620000" cy="504000"/>
          </ns130:xfrm>
          <ns131:prstGeom xmlns:ns131="http://schemas.openxmlformats.org/drawingml/2006/main" prst="rect">
            <ns131:avLst/>
          </ns131:prstGeom>
          <ns132:solidFill xmlns:ns132="http://schemas.openxmlformats.org/drawingml/2006/main">
            <ns132:srgbClr val="F7F4FB"/>
          </ns132:solidFill>
          <ns133:ln xmlns:ns133="http://schemas.openxmlformats.org/drawingml/2006/main" w="9525">
            <ns133:solidFill>
              <ns133:srgbClr val="7363A6"/>
            </ns133:solidFill>
          </ns133:ln>
        </p:spPr>
        <p:txBody>
          <ns134:bodyPr xmlns:ns134="http://schemas.openxmlformats.org/drawingml/2006/main" wrap="square" lIns="61200" rIns="61200" tIns="61200" bIns="61200" anchor="ctr">
            <ns134:noAutofit/>
          </ns134:bodyPr>
          <ns135:lstStyle xmlns:ns135="http://schemas.openxmlformats.org/drawingml/2006/main"/>
          <ns136:p xmlns:ns136="http://schemas.openxmlformats.org/drawingml/2006/main">
            <ns136:pPr algn="l">
              <ns136:lnSpc>
                <ns136:spcPct val="105000"/>
              </ns136:lnSpc>
              <ns136:defRPr sz="1300" b="1">
                <ns136:solidFill>
                  <ns136:srgbClr val="7363A6"/>
                </ns136:solidFill>
                <ns136:latin typeface="Arial"/>
                <ns136:ea typeface="Arial"/>
                <ns136:cs typeface="Arial"/>
              </ns136:defRPr>
            </ns136:pPr>
            <ns136:r>
              <ns136:rPr sz="1300" b="1">
                <ns136:solidFill>
                  <ns136:srgbClr val="7363A6"/>
                </ns136:solidFill>
                <ns136:latin typeface="Arial"/>
                <ns136:ea typeface="Arial"/>
                <ns136:cs typeface="Arial"/>
              </ns136:rPr>
              <ns136:t>Previous updates</ns136:t>
            </ns136:r>
          </ns136:p>
          <ns137:p xmlns:ns137="http://schemas.openxmlformats.org/drawingml/2006/main">
            <ns137:pPr algn="l">
              <ns137:lnSpc>
                <ns137:spcPct val="105000"/>
              </ns137:lnSpc>
              <ns137:defRPr sz="1050" b="0">
                <ns137:solidFill>
                  <ns137:srgbClr val="20262C"/>
                </ns137:solidFill>
                <ns137:latin typeface="Arial"/>
                <ns137:ea typeface="Arial"/>
                <ns137:cs typeface="Arial"/>
              </ns137:defRPr>
            </ns137:pPr>
            <ns137:r>
              <ns137:rPr sz="1050" b="0">
                <ns137:solidFill>
                  <ns137:srgbClr val="20262C"/>
                </ns137:solidFill>
                <ns137:latin typeface="Arial"/>
                <ns137:ea typeface="Arial"/>
                <ns137:cs typeface="Arial"/>
              </ns137:rPr>
              <ns137:t>Client wording</ns137:t>
            </ns137:r>
          </ns137:p>
        </p:txBody>
      </p:sp>
      <p:sp>
        <p:nvSpPr>
          <p:cNvPr id="122" name="actor.relationship.manager"/>
          <p:cNvSpPr/>
          <p:nvPr/>
        </p:nvSpPr>
        <p:spPr>
          <ns138:xfrm xmlns:ns138="http://schemas.openxmlformats.org/drawingml/2006/main">
            <ns138:off x="4392000" y="2232000"/>
            <ns138:ext cx="1458000" cy="1026000"/>
          </ns138:xfrm>
          <ns139:prstGeom xmlns:ns139="http://schemas.openxmlformats.org/drawingml/2006/main" prst="roundRect">
            <ns139:avLst/>
          </ns139:prstGeom>
          <ns140:solidFill xmlns:ns140="http://schemas.openxmlformats.org/drawingml/2006/main">
            <ns140:srgbClr val="F3F7FA"/>
          </ns140:solidFill>
          <ns141:ln xmlns:ns141="http://schemas.openxmlformats.org/drawingml/2006/main" w="9525">
            <ns141:solidFill>
              <ns141:srgbClr val="65727D"/>
            </ns141:solidFill>
          </ns141:ln>
        </p:spPr>
        <p:txBody>
          <ns142:bodyPr xmlns:ns142="http://schemas.openxmlformats.org/drawingml/2006/main" wrap="square" lIns="61200" rIns="61200" tIns="61200" bIns="61200" anchor="ctr">
            <ns142:noAutofit/>
          </ns142:bodyPr>
          <ns143:lstStyle xmlns:ns143="http://schemas.openxmlformats.org/drawingml/2006/main"/>
          <ns144:p xmlns:ns144="http://schemas.openxmlformats.org/drawingml/2006/main">
            <ns144:pPr algn="l">
              <ns144:lnSpc>
                <ns144:spcPct val="105000"/>
              </ns144:lnSpc>
              <ns144:defRPr sz="1300" b="1">
                <ns144:solidFill>
                  <ns144:srgbClr val="65727D"/>
                </ns144:solidFill>
                <ns144:latin typeface="Arial"/>
                <ns144:ea typeface="Arial"/>
                <ns144:cs typeface="Arial"/>
              </ns144:defRPr>
            </ns144:pPr>
            <ns144:r>
              <ns144:rPr sz="1300" b="1">
                <ns144:solidFill>
                  <ns144:srgbClr val="65727D"/>
                </ns144:solidFill>
                <ns144:latin typeface="Arial"/>
                <ns144:ea typeface="Arial"/>
                <ns144:cs typeface="Arial"/>
              </ns144:rPr>
              <ns144:t>Relationship manager</ns144:t>
            </ns144:r>
          </ns144:p>
          <ns145:p xmlns:ns145="http://schemas.openxmlformats.org/drawingml/2006/main">
            <ns145:pPr algn="l">
              <ns145:lnSpc>
                <ns145:spcPct val="105000"/>
              </ns145:lnSpc>
              <ns145:defRPr sz="1150" b="0">
                <ns145:solidFill>
                  <ns145:srgbClr val="20262C"/>
                </ns145:solidFill>
                <ns145:latin typeface="Arial"/>
                <ns145:ea typeface="Arial"/>
                <ns145:cs typeface="Arial"/>
              </ns145:defRPr>
            </ns145:pPr>
            <ns145:r>
              <ns145:rPr sz="1150" b="0">
                <ns145:solidFill>
                  <ns145:srgbClr val="20262C"/>
                </ns145:solidFill>
                <ns145:latin typeface="Arial"/>
                <ns145:ea typeface="Arial"/>
                <ns145:cs typeface="Arial"/>
              </ns145:rPr>
              <ns145:t>Select / check</ns145:t>
            </ns145:r>
          </ns145:p>
          <ns146:p xmlns:ns146="http://schemas.openxmlformats.org/drawingml/2006/main">
            <ns146:pPr algn="l">
              <ns146:lnSpc>
                <ns146:spcPct val="105000"/>
              </ns146:lnSpc>
              <ns146:defRPr sz="1150" b="0">
                <ns146:solidFill>
                  <ns146:srgbClr val="20262C"/>
                </ns146:solidFill>
                <ns146:latin typeface="Arial"/>
                <ns146:ea typeface="Arial"/>
                <ns146:cs typeface="Arial"/>
              </ns146:defRPr>
            </ns146:pPr>
            <ns146:r>
              <ns146:rPr sz="1150" b="0">
                <ns146:solidFill>
                  <ns146:srgbClr val="20262C"/>
                </ns146:solidFill>
                <ns146:latin typeface="Arial"/>
                <ns146:ea typeface="Arial"/>
                <ns146:cs typeface="Arial"/>
              </ns146:rPr>
              <ns146:t>Adapt</ns146:t>
            </ns146:r>
          </ns146:p>
        </p:txBody>
      </p:sp>
      <p:cxnSp>
        <p:nvCxnSpPr>
          <p:cNvPr id="123" name="client.sources.merge.source.0"/>
          <p:cNvCxnSpPr/>
          <p:nvPr/>
        </p:nvCxnSpPr>
        <p:spPr>
          <ns147:xfrm xmlns:ns147="http://schemas.openxmlformats.org/drawingml/2006/main">
            <ns147:off x="4042800" y="1927800"/>
            <ns147:ext cx="151200" cy="1"/>
          </ns147:xfrm>
          <ns148:prstGeom xmlns:ns148="http://schemas.openxmlformats.org/drawingml/2006/main" prst="line">
            <ns148:avLst/>
          </ns148:prstGeom>
          <ns149:ln xmlns:ns149="http://schemas.openxmlformats.org/drawingml/2006/main" w="9525">
            <ns149:solidFill>
              <ns149:srgbClr val="7363A6"/>
            </ns149:solidFill>
          </ns149:ln>
        </p:spPr>
      </p:cxnSp>
      <p:cxnSp>
        <p:nvCxnSpPr>
          <p:cNvPr id="124" name="client.sources.merge.source.1"/>
          <p:cNvCxnSpPr/>
          <p:nvPr/>
        </p:nvCxnSpPr>
        <p:spPr>
          <ns150:xfrm xmlns:ns150="http://schemas.openxmlformats.org/drawingml/2006/main">
            <ns150:off x="4042800" y="2692800"/>
            <ns150:ext cx="151200" cy="1"/>
          </ns150:xfrm>
          <ns151:prstGeom xmlns:ns151="http://schemas.openxmlformats.org/drawingml/2006/main" prst="line">
            <ns151:avLst/>
          </ns151:prstGeom>
          <ns152:ln xmlns:ns152="http://schemas.openxmlformats.org/drawingml/2006/main" w="9525">
            <ns152:solidFill>
              <ns152:srgbClr val="7363A6"/>
            </ns152:solidFill>
          </ns152:ln>
        </p:spPr>
      </p:cxnSp>
      <p:cxnSp>
        <p:nvCxnSpPr>
          <p:cNvPr id="125" name="client.sources.merge.source.2"/>
          <p:cNvCxnSpPr/>
          <p:nvPr/>
        </p:nvCxnSpPr>
        <p:spPr>
          <ns153:xfrm xmlns:ns153="http://schemas.openxmlformats.org/drawingml/2006/main">
            <ns153:off x="4042800" y="3286800"/>
            <ns153:ext cx="151200" cy="1"/>
          </ns153:xfrm>
          <ns154:prstGeom xmlns:ns154="http://schemas.openxmlformats.org/drawingml/2006/main" prst="line">
            <ns154:avLst/>
          </ns154:prstGeom>
          <ns155:ln xmlns:ns155="http://schemas.openxmlformats.org/drawingml/2006/main" w="9525">
            <ns155:solidFill>
              <ns155:srgbClr val="7363A6"/>
            </ns155:solidFill>
          </ns155:ln>
        </p:spPr>
      </p:cxnSp>
      <p:cxnSp>
        <p:nvCxnSpPr>
          <p:cNvPr id="126" name="client.sources.merge.source.3"/>
          <p:cNvCxnSpPr/>
          <p:nvPr/>
        </p:nvCxnSpPr>
        <p:spPr>
          <ns156:xfrm xmlns:ns156="http://schemas.openxmlformats.org/drawingml/2006/main">
            <ns156:off x="4042800" y="3880800"/>
            <ns156:ext cx="151200" cy="1"/>
          </ns156:xfrm>
          <ns157:prstGeom xmlns:ns157="http://schemas.openxmlformats.org/drawingml/2006/main" prst="line">
            <ns157:avLst/>
          </ns157:prstGeom>
          <ns158:ln xmlns:ns158="http://schemas.openxmlformats.org/drawingml/2006/main" w="9525">
            <ns158:solidFill>
              <ns158:srgbClr val="7363A6"/>
            </ns158:solidFill>
          </ns158:ln>
        </p:spPr>
      </p:cxnSp>
      <p:cxnSp>
        <p:nvCxnSpPr>
          <p:cNvPr id="127" name="client.sources.merge.bus"/>
          <p:cNvCxnSpPr/>
          <p:nvPr/>
        </p:nvCxnSpPr>
        <p:spPr>
          <ns159:xfrm xmlns:ns159="http://schemas.openxmlformats.org/drawingml/2006/main">
            <ns159:off x="4194000" y="1927800"/>
            <ns159:ext cx="1" cy="1953000"/>
          </ns159:xfrm>
          <ns160:prstGeom xmlns:ns160="http://schemas.openxmlformats.org/drawingml/2006/main" prst="line">
            <ns160:avLst/>
          </ns160:prstGeom>
          <ns161:ln xmlns:ns161="http://schemas.openxmlformats.org/drawingml/2006/main" w="9525">
            <ns161:solidFill>
              <ns161:srgbClr val="7363A6"/>
            </ns161:solidFill>
          </ns161:ln>
        </p:spPr>
      </p:cxnSp>
      <p:cxnSp>
        <p:nvCxnSpPr>
          <p:cNvPr id="128" name="client.sources.merge.target"/>
          <p:cNvCxnSpPr/>
          <p:nvPr/>
        </p:nvCxnSpPr>
        <p:spPr>
          <ns162:xfrm xmlns:ns162="http://schemas.openxmlformats.org/drawingml/2006/main">
            <ns162:off x="4194000" y="2745000"/>
            <ns162:ext cx="198000" cy="1"/>
          </ns162:xfrm>
          <ns163:prstGeom xmlns:ns163="http://schemas.openxmlformats.org/drawingml/2006/main" prst="line">
            <ns163:avLst/>
          </ns163:prstGeom>
          <ns164:ln xmlns:ns164="http://schemas.openxmlformats.org/drawingml/2006/main" w="11430">
            <ns164:solidFill>
              <ns164:srgbClr val="7363A6"/>
            </ns164:solidFill>
            <ns164:tailEnd type="triangle" w="sm" len="sm"/>
          </ns164:ln>
        </p:spPr>
      </p:cxnSp>
      <p:sp>
        <p:nvSpPr>
          <p:cNvPr id="129" name="output.quarterly.update.paper"/>
          <p:cNvSpPr/>
          <p:nvPr/>
        </p:nvSpPr>
        <p:spPr>
          <ns165:xfrm xmlns:ns165="http://schemas.openxmlformats.org/drawingml/2006/main">
            <ns165:off x="6127200" y="1962000"/>
            <ns165:ext cx="2559600" cy="1008000"/>
          </ns165:xfrm>
          <ns166:prstGeom xmlns:ns166="http://schemas.openxmlformats.org/drawingml/2006/main" prst="foldedCorner">
            <ns166:avLst/>
          </ns166:prstGeom>
          <ns167:solidFill xmlns:ns167="http://schemas.openxmlformats.org/drawingml/2006/main">
            <ns167:srgbClr val="FFFFFF"/>
          </ns167:solidFill>
          <ns168:ln xmlns:ns168="http://schemas.openxmlformats.org/drawingml/2006/main" w="9525">
            <ns168:solidFill>
              <ns168:srgbClr val="7363A6"/>
            </ns168:solidFill>
          </ns168:ln>
        </p:spPr>
      </p:sp>
      <p:sp>
        <p:nvSpPr>
          <p:cNvPr id="130" name="output.quarterly.update.title"/>
          <p:cNvSpPr/>
          <p:nvPr/>
        </p:nvSpPr>
        <p:spPr>
          <ns169:xfrm xmlns:ns169="http://schemas.openxmlformats.org/drawingml/2006/main">
            <ns169:off x="6192000" y="2005200"/>
            <ns169:ext cx="2361600" cy="198000"/>
          </ns169:xfrm>
          <ns170:prstGeom xmlns:ns170="http://schemas.openxmlformats.org/drawingml/2006/main" prst="rect">
            <ns170:avLst/>
          </ns170:prstGeom>
          <ns171:noFill xmlns:ns171="http://schemas.openxmlformats.org/drawingml/2006/main"/>
          <ns172:ln xmlns:ns172="http://schemas.openxmlformats.org/drawingml/2006/main" w="0">
            <ns172:noFill/>
          </ns172:ln>
        </p:spPr>
        <p:txBody>
          <ns173:bodyPr xmlns:ns173="http://schemas.openxmlformats.org/drawingml/2006/main" wrap="square" lIns="0" rIns="0" tIns="0" bIns="0" anchor="t">
            <ns173:noAutofit/>
          </ns173:bodyPr>
          <ns174:lstStyle xmlns:ns174="http://schemas.openxmlformats.org/drawingml/2006/main"/>
          <ns175:p xmlns:ns175="http://schemas.openxmlformats.org/drawingml/2006/main">
            <ns175:pPr algn="l">
              <ns175:lnSpc>
                <ns175:spcPct val="105000"/>
              </ns175:lnSpc>
              <ns175:defRPr sz="1250" b="1">
                <ns175:solidFill>
                  <ns175:srgbClr val="7363A6"/>
                </ns175:solidFill>
                <ns175:latin typeface="Arial"/>
                <ns175:ea typeface="Arial"/>
                <ns175:cs typeface="Arial"/>
              </ns175:defRPr>
            </ns175:pPr>
            <ns175:r>
              <ns175:rPr sz="1250" b="1">
                <ns175:solidFill>
                  <ns175:srgbClr val="7363A6"/>
                </ns175:solidFill>
                <ns175:latin typeface="Arial"/>
                <ns175:ea typeface="Arial"/>
                <ns175:cs typeface="Arial"/>
              </ns175:rPr>
              <ns175:t>Quarterly update</ns175:t>
            </ns175:r>
          </ns175:p>
        </p:txBody>
      </p:sp>
      <p:sp>
        <p:nvSpPr>
          <p:cNvPr id="131" name="output.quarterly.update.content"/>
          <p:cNvSpPr/>
          <p:nvPr/>
        </p:nvSpPr>
        <p:spPr>
          <ns176:xfrm xmlns:ns176="http://schemas.openxmlformats.org/drawingml/2006/main">
            <ns176:off x="6192000" y="2221200"/>
            <ns176:ext cx="2430000" cy="6984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0000"/>
              </ns182:lnSpc>
              <ns182:defRPr sz="1200" b="0">
                <ns182:solidFill>
                  <ns182:srgbClr val="20262C"/>
                </ns182:solidFill>
                <ns182:latin typeface="Arial"/>
                <ns182:ea typeface="Arial"/>
                <ns182:cs typeface="Arial"/>
              </ns182:defRPr>
            </ns182:pPr>
            <ns182:r>
              <ns182:rPr sz="1200" b="0">
                <ns182:solidFill>
                  <ns182:srgbClr val="20262C"/>
                </ns182:solidFill>
                <ns182:latin typeface="Arial"/>
                <ns182:ea typeface="Arial"/>
                <ns182:cs typeface="Arial"/>
              </ns182:rPr>
              <ns182:t>Company A</ns182:t>
            </ns182:r>
          </ns182:p>
          <ns183:p xmlns:ns183="http://schemas.openxmlformats.org/drawingml/2006/main">
            <ns183:pPr algn="l">
              <ns183:lnSpc>
                <ns183:spcPct val="100000"/>
              </ns183:lnSpc>
              <ns183:defRPr sz="1200" b="0">
                <ns183:solidFill>
                  <ns183:srgbClr val="20262C"/>
                </ns183:solidFill>
                <ns183:latin typeface="Arial"/>
                <ns183:ea typeface="Arial"/>
                <ns183:cs typeface="Arial"/>
              </ns183:defRPr>
            </ns183:pPr>
            <ns183:r>
              <ns183:rPr sz="1200" b="0">
                <ns183:solidFill>
                  <ns183:srgbClr val="20262C"/>
                </ns183:solidFill>
                <ns183:latin typeface="Arial"/>
                <ns183:ea typeface="Arial"/>
                <ns183:cs typeface="Arial"/>
              </ns183:rPr>
              <ns183:t>Quarterly explanation</ns183:t>
            </ns183:r>
          </ns183:p>
        </p:txBody>
      </p:sp>
      <p:sp>
        <p:nvSpPr>
          <p:cNvPr id="132" name="output.related.responses"/>
          <p:cNvSpPr/>
          <p:nvPr/>
        </p:nvSpPr>
        <p:spPr>
          <ns184:xfrm xmlns:ns184="http://schemas.openxmlformats.org/drawingml/2006/main">
            <ns184:off x="6127200" y="3528000"/>
            <ns184:ext cx="2559600" cy="648000"/>
          </ns184:xfrm>
          <ns185:prstGeom xmlns:ns185="http://schemas.openxmlformats.org/drawingml/2006/main" prst="rect">
            <ns185:avLst/>
          </ns185:prstGeom>
          <ns186:solidFill xmlns:ns186="http://schemas.openxmlformats.org/drawingml/2006/main">
            <ns186:srgbClr val="F3F7FA"/>
          </ns186:solidFill>
          <ns187:ln xmlns:ns187="http://schemas.openxmlformats.org/drawingml/2006/main" w="9525">
            <ns187:solidFill>
              <ns187:srgbClr val="65727D"/>
            </ns187:solidFill>
          </ns187:ln>
        </p:spPr>
        <p:txBody>
          <ns188:bodyPr xmlns:ns188="http://schemas.openxmlformats.org/drawingml/2006/main" wrap="square" lIns="61200" rIns="61200" tIns="61200" bIns="61200" anchor="ctr">
            <ns188:noAutofit/>
          </ns188:bodyPr>
          <ns189:lstStyle xmlns:ns189="http://schemas.openxmlformats.org/drawingml/2006/main"/>
          <ns190:p xmlns:ns190="http://schemas.openxmlformats.org/drawingml/2006/main">
            <ns190:pPr algn="l">
              <ns190:lnSpc>
                <ns190:spcPct val="105000"/>
              </ns190:lnSpc>
              <ns190:defRPr sz="1300" b="1">
                <ns190:solidFill>
                  <ns190:srgbClr val="65727D"/>
                </ns190:solidFill>
                <ns190:latin typeface="Arial"/>
                <ns190:ea typeface="Arial"/>
                <ns190:cs typeface="Arial"/>
              </ns190:defRPr>
            </ns190:pPr>
            <ns190:r>
              <ns190:rPr sz="1300" b="1">
                <ns190:solidFill>
                  <ns190:srgbClr val="65727D"/>
                </ns190:solidFill>
                <ns190:latin typeface="Arial"/>
                <ns190:ea typeface="Arial"/>
                <ns190:cs typeface="Arial"/>
              </ns190:rPr>
              <ns190:t>Related responses</ns190:t>
            </ns190:r>
          </ns190:p>
          <ns191:p xmlns:ns191="http://schemas.openxmlformats.org/drawingml/2006/main">
            <ns191:pPr algn="l">
              <ns191:lnSpc>
                <ns191:spcPct val="105000"/>
              </ns191:lnSpc>
              <ns191:defRPr sz="1200" b="0">
                <ns191:solidFill>
                  <ns191:srgbClr val="20262C"/>
                </ns191:solidFill>
                <ns191:latin typeface="Arial"/>
                <ns191:ea typeface="Arial"/>
                <ns191:cs typeface="Arial"/>
              </ns191:defRPr>
            </ns191:pPr>
            <ns191:r>
              <ns191:rPr sz="1200" b="0">
                <ns191:solidFill>
                  <ns191:srgbClr val="20262C"/>
                </ns191:solidFill>
                <ns191:latin typeface="Arial"/>
                <ns191:ea typeface="Arial"/>
                <ns191:cs typeface="Arial"/>
              </ns191:rPr>
              <ns191:t>Product Q&amp;A / RFPs</ns191:t>
            </ns191:r>
          </ns191:p>
        </p:txBody>
      </p:sp>
      <p:cxnSp>
        <p:nvCxnSpPr>
          <p:cNvPr id="133" name="client.output.entry"/>
          <p:cNvCxnSpPr/>
          <p:nvPr/>
        </p:nvCxnSpPr>
        <p:spPr>
          <ns192:xfrm xmlns:ns192="http://schemas.openxmlformats.org/drawingml/2006/main">
            <ns192:off x="5850000" y="2745000"/>
            <ns192:ext cx="144000" cy="1"/>
          </ns192:xfrm>
          <ns193:prstGeom xmlns:ns193="http://schemas.openxmlformats.org/drawingml/2006/main" prst="line">
            <ns193:avLst/>
          </ns193:prstGeom>
          <ns194:ln xmlns:ns194="http://schemas.openxmlformats.org/drawingml/2006/main" w="11430">
            <ns194:solidFill>
              <ns194:srgbClr val="005A9C"/>
            </ns194:solidFill>
          </ns194:ln>
        </p:spPr>
      </p:cxnSp>
      <p:cxnSp>
        <p:nvCxnSpPr>
          <p:cNvPr id="134" name="client.output.branch"/>
          <p:cNvCxnSpPr/>
          <p:nvPr/>
        </p:nvCxnSpPr>
        <p:spPr>
          <ns195:xfrm xmlns:ns195="http://schemas.openxmlformats.org/drawingml/2006/main">
            <ns195:off x="5994000" y="2466000"/>
            <ns195:ext cx="1" cy="1386000"/>
          </ns195:xfrm>
          <ns196:prstGeom xmlns:ns196="http://schemas.openxmlformats.org/drawingml/2006/main" prst="line">
            <ns196:avLst/>
          </ns196:prstGeom>
          <ns197:ln xmlns:ns197="http://schemas.openxmlformats.org/drawingml/2006/main" w="11430">
            <ns197:solidFill>
              <ns197:srgbClr val="005A9C"/>
            </ns197:solidFill>
          </ns197:ln>
        </p:spPr>
      </p:cxnSp>
      <p:cxnSp>
        <p:nvCxnSpPr>
          <p:cNvPr id="135" name="client.output.update"/>
          <p:cNvCxnSpPr/>
          <p:nvPr/>
        </p:nvCxnSpPr>
        <p:spPr>
          <ns198:xfrm xmlns:ns198="http://schemas.openxmlformats.org/drawingml/2006/main">
            <ns198:off x="5994000" y="2466000"/>
            <ns198:ext cx="97200" cy="1"/>
          </ns198:xfrm>
          <ns199:prstGeom xmlns:ns199="http://schemas.openxmlformats.org/drawingml/2006/main" prst="line">
            <ns199:avLst/>
          </ns199:prstGeom>
          <ns200:ln xmlns:ns200="http://schemas.openxmlformats.org/drawingml/2006/main" w="11430">
            <ns200:solidFill>
              <ns200:srgbClr val="7363A6"/>
            </ns200:solidFill>
            <ns200:tailEnd type="triangle" w="sm" len="sm"/>
          </ns200:ln>
        </p:spPr>
      </p:cxnSp>
      <p:cxnSp>
        <p:nvCxnSpPr>
          <p:cNvPr id="136" name="client.output.related"/>
          <p:cNvCxnSpPr/>
          <p:nvPr/>
        </p:nvCxnSpPr>
        <p:spPr>
          <ns201:xfrm xmlns:ns201="http://schemas.openxmlformats.org/drawingml/2006/main">
            <ns201:off x="5994000" y="3852000"/>
            <ns201:ext cx="97200" cy="1"/>
          </ns201:xfrm>
          <ns202:prstGeom xmlns:ns202="http://schemas.openxmlformats.org/drawingml/2006/main" prst="line">
            <ns202:avLst/>
          </ns202:prstGeom>
          <ns203:ln xmlns:ns203="http://schemas.openxmlformats.org/drawingml/2006/main" w="11430">
            <ns203:solidFill>
              <ns203:srgbClr val="005A9C"/>
            </ns203:solidFill>
            <ns203:tailEnd type="triangle" w="sm" len="sm"/>
          </ns203:ln>
        </p:spPr>
      </p:cxnSp>
    </p:spTree>
    <p:extLst>
      <p:ext uri="{BB962C8B-B14F-4D97-AF65-F5344CB8AC3E}">
        <p14:creationId xmlns:p14="http://schemas.microsoft.com/office/powerpoint/2010/main" val="13401618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Tianhong: investment views and market commentary</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Client communications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Tianhong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focus.client"/>
          <p:cNvSpPr/>
          <p:nvPr/>
        </p:nvSpPr>
        <p:spPr>
          <ns45:xfrm xmlns:ns45="http://schemas.openxmlformats.org/drawingml/2006/main">
            <ns45:off x="486000" y="2196000"/>
            <ns45:ext cx="1677600" cy="176400"/>
          </ns45:xfrm>
          <ns46:prstGeom xmlns:ns46="http://schemas.openxmlformats.org/drawingml/2006/main" prst="rect">
            <ns46:avLst/>
          </ns46:prstGeom>
          <ns47:solidFill xmlns:ns47="http://schemas.openxmlformats.org/drawingml/2006/main">
            <ns47:srgbClr val="D9EAF7"/>
          </ns47:solidFill>
          <ns48:ln xmlns:ns48="http://schemas.openxmlformats.org/drawingml/2006/main" w="0">
            <ns48:noFill/>
          </ns48:ln>
        </p:spPr>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1">
                <ns55:solidFill>
                  <ns55:srgbClr val="005A9C"/>
                </ns55:solidFill>
                <ns55:latin typeface="Arial"/>
                <ns55:ea typeface="Arial"/>
                <ns55:cs typeface="Arial"/>
              </ns55:defRPr>
            </ns55:pPr>
            <ns55:r>
              <ns55:rPr sz="1050" b="1">
                <ns55:solidFill>
                  <ns55:srgbClr val="005A9C"/>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views.0.paper"/>
          <p:cNvSpPr/>
          <p:nvPr/>
        </p:nvSpPr>
        <p:spPr>
          <ns111:xfrm xmlns:ns111="http://schemas.openxmlformats.org/drawingml/2006/main">
            <ns111:off x="2422800" y="1566000"/>
            <ns111:ext cx="1620000" cy="540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65727D"/>
            </ns114:solidFill>
          </ns114:ln>
        </p:spPr>
      </p:sp>
      <p:sp>
        <p:nvSpPr>
          <p:cNvPr id="120" name="input.views.0.title"/>
          <p:cNvSpPr/>
          <p:nvPr/>
        </p:nvSpPr>
        <p:spPr>
          <ns115:xfrm xmlns:ns115="http://schemas.openxmlformats.org/drawingml/2006/main">
            <ns115:off x="2487600" y="1609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65727D"/>
                </ns121:solidFill>
                <ns121:latin typeface="Arial"/>
                <ns121:ea typeface="Arial"/>
                <ns121:cs typeface="Arial"/>
              </ns121:defRPr>
            </ns121:pPr>
            <ns121:r>
              <ns121:rPr sz="1250" b="1">
                <ns121:solidFill>
                  <ns121:srgbClr val="65727D"/>
                </ns121:solidFill>
                <ns121:latin typeface="Arial"/>
                <ns121:ea typeface="Arial"/>
                <ns121:cs typeface="Arial"/>
              </ns121:rPr>
              <ns121:t>Presentations</ns121:t>
            </ns121:r>
          </ns121:p>
        </p:txBody>
      </p:sp>
      <p:sp>
        <p:nvSpPr>
          <p:cNvPr id="121" name="input.views.0.content"/>
          <p:cNvSpPr/>
          <p:nvPr/>
        </p:nvSpPr>
        <p:spPr>
          <ns122:xfrm xmlns:ns122="http://schemas.openxmlformats.org/drawingml/2006/main">
            <ns122:off x="2487600" y="1825200"/>
            <ns122:ext cx="1490400" cy="230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200" b="0">
                <ns128:solidFill>
                  <ns128:srgbClr val="20262C"/>
                </ns128:solidFill>
                <ns128:latin typeface="Arial"/>
                <ns128:ea typeface="Arial"/>
                <ns128:cs typeface="Arial"/>
              </ns128:defRPr>
            </ns128:pPr>
            <ns128:r>
              <ns128:rPr sz="1200" b="0">
                <ns128:solidFill>
                  <ns128:srgbClr val="20262C"/>
                </ns128:solidFill>
                <ns128:latin typeface="Arial"/>
                <ns128:ea typeface="Arial"/>
                <ns128:cs typeface="Arial"/>
              </ns128:rPr>
              <ns128:t/>
            </ns128:r>
          </ns128:p>
        </p:txBody>
      </p:sp>
      <p:sp>
        <p:nvSpPr>
          <p:cNvPr id="122" name="input.views.1.paper"/>
          <p:cNvSpPr/>
          <p:nvPr/>
        </p:nvSpPr>
        <p:spPr>
          <ns129:xfrm xmlns:ns129="http://schemas.openxmlformats.org/drawingml/2006/main">
            <ns129:off x="2422800" y="2358000"/>
            <ns129:ext cx="1620000" cy="540000"/>
          </ns129:xfrm>
          <ns130:prstGeom xmlns:ns130="http://schemas.openxmlformats.org/drawingml/2006/main" prst="foldedCorner">
            <ns130:avLst/>
          </ns130:prstGeom>
          <ns131:solidFill xmlns:ns131="http://schemas.openxmlformats.org/drawingml/2006/main">
            <ns131:srgbClr val="FFFFFF"/>
          </ns131:solidFill>
          <ns132:ln xmlns:ns132="http://schemas.openxmlformats.org/drawingml/2006/main" w="9525">
            <ns132:solidFill>
              <ns132:srgbClr val="65727D"/>
            </ns132:solidFill>
          </ns132:ln>
        </p:spPr>
      </p:sp>
      <p:sp>
        <p:nvSpPr>
          <p:cNvPr id="123" name="input.views.1.title"/>
          <p:cNvSpPr/>
          <p:nvPr/>
        </p:nvSpPr>
        <p:spPr>
          <ns133:xfrm xmlns:ns133="http://schemas.openxmlformats.org/drawingml/2006/main">
            <ns133:off x="2487600" y="2401200"/>
            <ns133:ext cx="1422000" cy="1980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5000"/>
              </ns139:lnSpc>
              <ns139:defRPr sz="1250" b="1">
                <ns139:solidFill>
                  <ns139:srgbClr val="65727D"/>
                </ns139:solidFill>
                <ns139:latin typeface="Arial"/>
                <ns139:ea typeface="Arial"/>
                <ns139:cs typeface="Arial"/>
              </ns139:defRPr>
            </ns139:pPr>
            <ns139:r>
              <ns139:rPr sz="1250" b="1">
                <ns139:solidFill>
                  <ns139:srgbClr val="65727D"/>
                </ns139:solidFill>
                <ns139:latin typeface="Arial"/>
                <ns139:ea typeface="Arial"/>
                <ns139:cs typeface="Arial"/>
              </ns139:rPr>
              <ns139:t>Commentary</ns139:t>
            </ns139:r>
          </ns139:p>
        </p:txBody>
      </p:sp>
      <p:sp>
        <p:nvSpPr>
          <p:cNvPr id="124" name="input.views.1.content"/>
          <p:cNvSpPr/>
          <p:nvPr/>
        </p:nvSpPr>
        <p:spPr>
          <ns140:xfrm xmlns:ns140="http://schemas.openxmlformats.org/drawingml/2006/main">
            <ns140:off x="2487600" y="2617200"/>
            <ns140:ext cx="1490400" cy="230400"/>
          </ns140:xfrm>
          <ns141:prstGeom xmlns:ns141="http://schemas.openxmlformats.org/drawingml/2006/main" prst="rect">
            <ns141:avLst/>
          </ns141:prstGeom>
          <ns142:noFill xmlns:ns142="http://schemas.openxmlformats.org/drawingml/2006/main"/>
          <ns143:ln xmlns:ns143="http://schemas.openxmlformats.org/drawingml/2006/main" w="0">
            <ns143:noFill/>
          </ns143:ln>
        </p:spPr>
        <p:txBody>
          <ns144:bodyPr xmlns:ns144="http://schemas.openxmlformats.org/drawingml/2006/main" wrap="square" lIns="0" rIns="0" tIns="0" bIns="0" anchor="t">
            <ns144:noAutofit/>
          </ns144:bodyPr>
          <ns145:lstStyle xmlns:ns145="http://schemas.openxmlformats.org/drawingml/2006/main"/>
          <ns146:p xmlns:ns146="http://schemas.openxmlformats.org/drawingml/2006/main">
            <ns146:pPr algn="l">
              <ns146:lnSpc>
                <ns146:spcPct val="100000"/>
              </ns146:lnSpc>
              <ns146:defRPr sz="1200" b="0">
                <ns146:solidFill>
                  <ns146:srgbClr val="20262C"/>
                </ns146:solidFill>
                <ns146:latin typeface="Arial"/>
                <ns146:ea typeface="Arial"/>
                <ns146:cs typeface="Arial"/>
              </ns146:defRPr>
            </ns146:pPr>
            <ns146:r>
              <ns146:rPr sz="1200" b="0">
                <ns146:solidFill>
                  <ns146:srgbClr val="20262C"/>
                </ns146:solidFill>
                <ns146:latin typeface="Arial"/>
                <ns146:ea typeface="Arial"/>
                <ns146:cs typeface="Arial"/>
              </ns146:rPr>
              <ns146:t/>
            </ns146:r>
          </ns146:p>
        </p:txBody>
      </p:sp>
      <p:sp>
        <p:nvSpPr>
          <p:cNvPr id="125" name="input.views.2.paper"/>
          <p:cNvSpPr/>
          <p:nvPr/>
        </p:nvSpPr>
        <p:spPr>
          <ns147:xfrm xmlns:ns147="http://schemas.openxmlformats.org/drawingml/2006/main">
            <ns147:off x="2422800" y="3150000"/>
            <ns147:ext cx="1620000" cy="540000"/>
          </ns147:xfrm>
          <ns148:prstGeom xmlns:ns148="http://schemas.openxmlformats.org/drawingml/2006/main" prst="foldedCorner">
            <ns148:avLst/>
          </ns148:prstGeom>
          <ns149:solidFill xmlns:ns149="http://schemas.openxmlformats.org/drawingml/2006/main">
            <ns149:srgbClr val="FFFFFF"/>
          </ns149:solidFill>
          <ns150:ln xmlns:ns150="http://schemas.openxmlformats.org/drawingml/2006/main" w="9525">
            <ns150:solidFill>
              <ns150:srgbClr val="65727D"/>
            </ns150:solidFill>
          </ns150:ln>
        </p:spPr>
      </p:sp>
      <p:sp>
        <p:nvSpPr>
          <p:cNvPr id="126" name="input.views.2.title"/>
          <p:cNvSpPr/>
          <p:nvPr/>
        </p:nvSpPr>
        <p:spPr>
          <ns151:xfrm xmlns:ns151="http://schemas.openxmlformats.org/drawingml/2006/main">
            <ns151:off x="2487600" y="3193200"/>
            <ns151:ext cx="1422000" cy="1980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5000"/>
              </ns157:lnSpc>
              <ns157:defRPr sz="1250" b="1">
                <ns157:solidFill>
                  <ns157:srgbClr val="65727D"/>
                </ns157:solidFill>
                <ns157:latin typeface="Arial"/>
                <ns157:ea typeface="Arial"/>
                <ns157:cs typeface="Arial"/>
              </ns157:defRPr>
            </ns157:pPr>
            <ns157:r>
              <ns157:rPr sz="1250" b="1">
                <ns157:solidFill>
                  <ns157:srgbClr val="65727D"/>
                </ns157:solidFill>
                <ns157:latin typeface="Arial"/>
                <ns157:ea typeface="Arial"/>
                <ns157:cs typeface="Arial"/>
              </ns157:rPr>
              <ns157:t>Research reports</ns157:t>
            </ns157:r>
          </ns157:p>
        </p:txBody>
      </p:sp>
      <p:sp>
        <p:nvSpPr>
          <p:cNvPr id="127" name="input.views.2.content"/>
          <p:cNvSpPr/>
          <p:nvPr/>
        </p:nvSpPr>
        <p:spPr>
          <ns158:xfrm xmlns:ns158="http://schemas.openxmlformats.org/drawingml/2006/main">
            <ns158:off x="2487600" y="3409200"/>
            <ns158:ext cx="1490400" cy="230400"/>
          </ns158:xfrm>
          <ns159:prstGeom xmlns:ns159="http://schemas.openxmlformats.org/drawingml/2006/main" prst="rect">
            <ns159:avLst/>
          </ns159:prstGeom>
          <ns160:noFill xmlns:ns160="http://schemas.openxmlformats.org/drawingml/2006/main"/>
          <ns161:ln xmlns:ns161="http://schemas.openxmlformats.org/drawingml/2006/main" w="0">
            <ns161:noFill/>
          </ns161:ln>
        </p:spPr>
        <p:txBody>
          <ns162:bodyPr xmlns:ns162="http://schemas.openxmlformats.org/drawingml/2006/main" wrap="square" lIns="0" rIns="0" tIns="0" bIns="0" anchor="t">
            <ns162:noAutofit/>
          </ns162:bodyPr>
          <ns163:lstStyle xmlns:ns163="http://schemas.openxmlformats.org/drawingml/2006/main"/>
          <ns164:p xmlns:ns164="http://schemas.openxmlformats.org/drawingml/2006/main">
            <ns164:pPr algn="l">
              <ns164:lnSpc>
                <ns164:spcPct val="100000"/>
              </ns164:lnSpc>
              <ns164:defRPr sz="1200" b="0">
                <ns164:solidFill>
                  <ns164:srgbClr val="20262C"/>
                </ns164:solidFill>
                <ns164:latin typeface="Arial"/>
                <ns164:ea typeface="Arial"/>
                <ns164:cs typeface="Arial"/>
              </ns164:defRPr>
            </ns164:pPr>
            <ns164:r>
              <ns164:rPr sz="1200" b="0">
                <ns164:solidFill>
                  <ns164:srgbClr val="20262C"/>
                </ns164:solidFill>
                <ns164:latin typeface="Arial"/>
                <ns164:ea typeface="Arial"/>
                <ns164:cs typeface="Arial"/>
              </ns164:rPr>
              <ns164:t/>
            </ns164:r>
          </ns164:p>
        </p:txBody>
      </p:sp>
      <p:sp>
        <p:nvSpPr>
          <p:cNvPr id="128" name="role.llm.consolidates"/>
          <p:cNvSpPr/>
          <p:nvPr/>
        </p:nvSpPr>
        <p:spPr>
          <ns165:xfrm xmlns:ns165="http://schemas.openxmlformats.org/drawingml/2006/main">
            <ns165:off x="4392000" y="2214000"/>
            <ns165:ext cx="1458000" cy="972000"/>
          </ns165:xfrm>
          <ns166:prstGeom xmlns:ns166="http://schemas.openxmlformats.org/drawingml/2006/main" prst="roundRect">
            <ns166:avLst/>
          </ns166:prstGeom>
          <ns167:solidFill xmlns:ns167="http://schemas.openxmlformats.org/drawingml/2006/main">
            <ns167:srgbClr val="EAF3FA"/>
          </ns167:solidFill>
          <ns168:ln xmlns:ns168="http://schemas.openxmlformats.org/drawingml/2006/main" w="9525">
            <ns168:solidFill>
              <ns168:srgbClr val="005A9C"/>
            </ns168:solidFill>
          </ns168:ln>
        </p:spPr>
        <p:txBody>
          <ns169:bodyPr xmlns:ns169="http://schemas.openxmlformats.org/drawingml/2006/main" wrap="square" lIns="61200" rIns="61200" tIns="61200" bIns="61200" anchor="ctr">
            <ns169:noAutofit/>
          </ns169:bodyPr>
          <ns170:lstStyle xmlns:ns170="http://schemas.openxmlformats.org/drawingml/2006/main"/>
          <ns171:p xmlns:ns171="http://schemas.openxmlformats.org/drawingml/2006/main">
            <ns171:pPr algn="l">
              <ns171:lnSpc>
                <ns171:spcPct val="105000"/>
              </ns171:lnSpc>
              <ns171:defRPr sz="1300" b="1">
                <ns171:solidFill>
                  <ns171:srgbClr val="005A9C"/>
                </ns171:solidFill>
                <ns171:latin typeface="Arial"/>
                <ns171:ea typeface="Arial"/>
                <ns171:cs typeface="Arial"/>
              </ns171:defRPr>
            </ns171:pPr>
            <ns171:r>
              <ns171:rPr sz="1300" b="1">
                <ns171:solidFill>
                  <ns171:srgbClr val="005A9C"/>
                </ns171:solidFill>
                <ns171:latin typeface="Arial"/>
                <ns171:ea typeface="Arial"/>
                <ns171:cs typeface="Arial"/>
              </ns171:rPr>
              <ns171:t>LLM</ns171:t>
            </ns171:r>
          </ns171:p>
          <ns172:p xmlns:ns172="http://schemas.openxmlformats.org/drawingml/2006/main">
            <ns172:pPr algn="l">
              <ns172:lnSpc>
                <ns172:spcPct val="105000"/>
              </ns172:lnSpc>
              <ns172:defRPr sz="1200" b="0">
                <ns172:solidFill>
                  <ns172:srgbClr val="20262C"/>
                </ns172:solidFill>
                <ns172:latin typeface="Arial"/>
                <ns172:ea typeface="Arial"/>
                <ns172:cs typeface="Arial"/>
              </ns172:defRPr>
            </ns172:pPr>
            <ns172:r>
              <ns172:rPr sz="1200" b="0">
                <ns172:solidFill>
                  <ns172:srgbClr val="20262C"/>
                </ns172:solidFill>
                <ns172:latin typeface="Arial"/>
                <ns172:ea typeface="Arial"/>
                <ns172:cs typeface="Arial"/>
              </ns172:rPr>
              <ns172:t>Find</ns172:t>
            </ns172:r>
          </ns172:p>
          <ns173:p xmlns:ns173="http://schemas.openxmlformats.org/drawingml/2006/main">
            <ns173:pPr algn="l">
              <ns173:lnSpc>
                <ns173:spcPct val="105000"/>
              </ns173:lnSpc>
              <ns173:defRPr sz="1200" b="0">
                <ns173:solidFill>
                  <ns173:srgbClr val="20262C"/>
                </ns173:solidFill>
                <ns173:latin typeface="Arial"/>
                <ns173:ea typeface="Arial"/>
                <ns173:cs typeface="Arial"/>
              </ns173:defRPr>
            </ns173:pPr>
            <ns173:r>
              <ns173:rPr sz="1200" b="0">
                <ns173:solidFill>
                  <ns173:srgbClr val="20262C"/>
                </ns173:solidFill>
                <ns173:latin typeface="Arial"/>
                <ns173:ea typeface="Arial"/>
                <ns173:cs typeface="Arial"/>
              </ns173:rPr>
              <ns173:t>Deduplicate</ns173:t>
            </ns173:r>
          </ns173:p>
          <ns174:p xmlns:ns174="http://schemas.openxmlformats.org/drawingml/2006/main">
            <ns174:pPr algn="l">
              <ns174:lnSpc>
                <ns174:spcPct val="105000"/>
              </ns174:lnSpc>
              <ns174:defRPr sz="1200" b="0">
                <ns174:solidFill>
                  <ns174:srgbClr val="20262C"/>
                </ns174:solidFill>
                <ns174:latin typeface="Arial"/>
                <ns174:ea typeface="Arial"/>
                <ns174:cs typeface="Arial"/>
              </ns174:defRPr>
            </ns174:pPr>
            <ns174:r>
              <ns174:rPr sz="1200" b="0">
                <ns174:solidFill>
                  <ns174:srgbClr val="20262C"/>
                </ns174:solidFill>
                <ns174:latin typeface="Arial"/>
                <ns174:ea typeface="Arial"/>
                <ns174:cs typeface="Arial"/>
              </ns174:rPr>
              <ns174:t>Summarize</ns174:t>
            </ns174:r>
          </ns174:p>
        </p:txBody>
      </p:sp>
      <p:cxnSp>
        <p:nvCxnSpPr>
          <p:cNvPr id="129" name="views.sources.merge.source.0"/>
          <p:cNvCxnSpPr/>
          <p:nvPr/>
        </p:nvCxnSpPr>
        <p:spPr>
          <ns175:xfrm xmlns:ns175="http://schemas.openxmlformats.org/drawingml/2006/main">
            <ns175:off x="4042800" y="1836000"/>
            <ns175:ext cx="151200" cy="1"/>
          </ns175:xfrm>
          <ns176:prstGeom xmlns:ns176="http://schemas.openxmlformats.org/drawingml/2006/main" prst="line">
            <ns176:avLst/>
          </ns176:prstGeom>
          <ns177:ln xmlns:ns177="http://schemas.openxmlformats.org/drawingml/2006/main" w="9525">
            <ns177:solidFill>
              <ns177:srgbClr val="005A9C"/>
            </ns177:solidFill>
          </ns177:ln>
        </p:spPr>
      </p:cxnSp>
      <p:cxnSp>
        <p:nvCxnSpPr>
          <p:cNvPr id="130" name="views.sources.merge.source.1"/>
          <p:cNvCxnSpPr/>
          <p:nvPr/>
        </p:nvCxnSpPr>
        <p:spPr>
          <ns178:xfrm xmlns:ns178="http://schemas.openxmlformats.org/drawingml/2006/main">
            <ns178:off x="4042800" y="2628000"/>
            <ns178:ext cx="151200" cy="1"/>
          </ns178:xfrm>
          <ns179:prstGeom xmlns:ns179="http://schemas.openxmlformats.org/drawingml/2006/main" prst="line">
            <ns179:avLst/>
          </ns179:prstGeom>
          <ns180:ln xmlns:ns180="http://schemas.openxmlformats.org/drawingml/2006/main" w="9525">
            <ns180:solidFill>
              <ns180:srgbClr val="005A9C"/>
            </ns180:solidFill>
          </ns180:ln>
        </p:spPr>
      </p:cxnSp>
      <p:cxnSp>
        <p:nvCxnSpPr>
          <p:cNvPr id="131" name="views.sources.merge.source.2"/>
          <p:cNvCxnSpPr/>
          <p:nvPr/>
        </p:nvCxnSpPr>
        <p:spPr>
          <ns181:xfrm xmlns:ns181="http://schemas.openxmlformats.org/drawingml/2006/main">
            <ns181:off x="4042800" y="3420000"/>
            <ns181:ext cx="151200" cy="1"/>
          </ns181:xfrm>
          <ns182:prstGeom xmlns:ns182="http://schemas.openxmlformats.org/drawingml/2006/main" prst="line">
            <ns182:avLst/>
          </ns182:prstGeom>
          <ns183:ln xmlns:ns183="http://schemas.openxmlformats.org/drawingml/2006/main" w="9525">
            <ns183:solidFill>
              <ns183:srgbClr val="005A9C"/>
            </ns183:solidFill>
          </ns183:ln>
        </p:spPr>
      </p:cxnSp>
      <p:cxnSp>
        <p:nvCxnSpPr>
          <p:cNvPr id="132" name="views.sources.merge.bus"/>
          <p:cNvCxnSpPr/>
          <p:nvPr/>
        </p:nvCxnSpPr>
        <p:spPr>
          <ns184:xfrm xmlns:ns184="http://schemas.openxmlformats.org/drawingml/2006/main">
            <ns184:off x="4194000" y="1836000"/>
            <ns184:ext cx="1" cy="1584000"/>
          </ns184:xfrm>
          <ns185:prstGeom xmlns:ns185="http://schemas.openxmlformats.org/drawingml/2006/main" prst="line">
            <ns185:avLst/>
          </ns185:prstGeom>
          <ns186:ln xmlns:ns186="http://schemas.openxmlformats.org/drawingml/2006/main" w="9525">
            <ns186:solidFill>
              <ns186:srgbClr val="005A9C"/>
            </ns186:solidFill>
          </ns186:ln>
        </p:spPr>
      </p:cxnSp>
      <p:cxnSp>
        <p:nvCxnSpPr>
          <p:cNvPr id="133" name="views.sources.merge.target"/>
          <p:cNvCxnSpPr/>
          <p:nvPr/>
        </p:nvCxnSpPr>
        <p:spPr>
          <ns187:xfrm xmlns:ns187="http://schemas.openxmlformats.org/drawingml/2006/main">
            <ns187:off x="4194000" y="2700000"/>
            <ns187:ext cx="198000" cy="1"/>
          </ns187:xfrm>
          <ns188:prstGeom xmlns:ns188="http://schemas.openxmlformats.org/drawingml/2006/main" prst="line">
            <ns188:avLst/>
          </ns188:prstGeom>
          <ns189:ln xmlns:ns189="http://schemas.openxmlformats.org/drawingml/2006/main" w="11430">
            <ns189:solidFill>
              <ns189:srgbClr val="005A9C"/>
            </ns189:solidFill>
            <ns189:tailEnd type="triangle" w="sm" len="sm"/>
          </ns189:ln>
        </p:spPr>
      </p:cxnSp>
      <p:sp>
        <p:nvSpPr>
          <p:cNvPr id="134" name="output.client.summary.paper"/>
          <p:cNvSpPr/>
          <p:nvPr/>
        </p:nvSpPr>
        <p:spPr>
          <ns190:xfrm xmlns:ns190="http://schemas.openxmlformats.org/drawingml/2006/main">
            <ns190:off x="6127200" y="1692000"/>
            <ns190:ext cx="2559600" cy="1656000"/>
          </ns190:xfrm>
          <ns191:prstGeom xmlns:ns191="http://schemas.openxmlformats.org/drawingml/2006/main" prst="foldedCorner">
            <ns191:avLst/>
          </ns191:prstGeom>
          <ns192:solidFill xmlns:ns192="http://schemas.openxmlformats.org/drawingml/2006/main">
            <ns192:srgbClr val="FFFFFF"/>
          </ns192:solidFill>
          <ns193:ln xmlns:ns193="http://schemas.openxmlformats.org/drawingml/2006/main" w="9525">
            <ns193:solidFill>
              <ns193:srgbClr val="7363A6"/>
            </ns193:solidFill>
          </ns193:ln>
        </p:spPr>
      </p:sp>
      <p:sp>
        <p:nvSpPr>
          <p:cNvPr id="135" name="output.client.summary.title"/>
          <p:cNvSpPr/>
          <p:nvPr/>
        </p:nvSpPr>
        <p:spPr>
          <ns194:xfrm xmlns:ns194="http://schemas.openxmlformats.org/drawingml/2006/main">
            <ns194:off x="6192000" y="1735200"/>
            <ns194:ext cx="2361600" cy="198000"/>
          </ns194:xfrm>
          <ns195:prstGeom xmlns:ns195="http://schemas.openxmlformats.org/drawingml/2006/main" prst="rect">
            <ns195:avLst/>
          </ns195:prstGeom>
          <ns196:noFill xmlns:ns196="http://schemas.openxmlformats.org/drawingml/2006/main"/>
          <ns197:ln xmlns:ns197="http://schemas.openxmlformats.org/drawingml/2006/main" w="0">
            <ns197:noFill/>
          </ns197:ln>
        </p:spPr>
        <p:txBody>
          <ns198:bodyPr xmlns:ns198="http://schemas.openxmlformats.org/drawingml/2006/main" wrap="square" lIns="0" rIns="0" tIns="0" bIns="0" anchor="t">
            <ns198:noAutofit/>
          </ns198:bodyPr>
          <ns199:lstStyle xmlns:ns199="http://schemas.openxmlformats.org/drawingml/2006/main"/>
          <ns200:p xmlns:ns200="http://schemas.openxmlformats.org/drawingml/2006/main">
            <ns200:pPr algn="l">
              <ns200:lnSpc>
                <ns200:spcPct val="105000"/>
              </ns200:lnSpc>
              <ns200:defRPr sz="1250" b="1">
                <ns200:solidFill>
                  <ns200:srgbClr val="7363A6"/>
                </ns200:solidFill>
                <ns200:latin typeface="Arial"/>
                <ns200:ea typeface="Arial"/>
                <ns200:cs typeface="Arial"/>
              </ns200:defRPr>
            </ns200:pPr>
            <ns200:r>
              <ns200:rPr sz="1250" b="1">
                <ns200:solidFill>
                  <ns200:srgbClr val="7363A6"/>
                </ns200:solidFill>
                <ns200:latin typeface="Arial"/>
                <ns200:ea typeface="Arial"/>
                <ns200:cs typeface="Arial"/>
              </ns200:rPr>
              <ns200:t>Client-team summary</ns200:t>
            </ns200:r>
          </ns200:p>
        </p:txBody>
      </p:sp>
      <p:sp>
        <p:nvSpPr>
          <p:cNvPr id="136" name="output.client.summary.content"/>
          <p:cNvSpPr/>
          <p:nvPr/>
        </p:nvSpPr>
        <p:spPr>
          <ns201:xfrm xmlns:ns201="http://schemas.openxmlformats.org/drawingml/2006/main">
            <ns201:off x="6192000" y="1951200"/>
            <ns201:ext cx="2430000" cy="1346400"/>
          </ns201:xfrm>
          <ns202:prstGeom xmlns:ns202="http://schemas.openxmlformats.org/drawingml/2006/main" prst="rect">
            <ns202:avLst/>
          </ns202:prstGeom>
          <ns203:noFill xmlns:ns203="http://schemas.openxmlformats.org/drawingml/2006/main"/>
          <ns204:ln xmlns:ns204="http://schemas.openxmlformats.org/drawingml/2006/main" w="0">
            <ns204:noFill/>
          </ns204:ln>
        </p:spPr>
        <p:txBody>
          <ns205:bodyPr xmlns:ns205="http://schemas.openxmlformats.org/drawingml/2006/main" wrap="square" lIns="0" rIns="0" tIns="0" bIns="0" anchor="t">
            <ns205:noAutofit/>
          </ns205:bodyPr>
          <ns206:lstStyle xmlns:ns206="http://schemas.openxmlformats.org/drawingml/2006/main"/>
          <ns207:p xmlns:ns207="http://schemas.openxmlformats.org/drawingml/2006/main">
            <ns207:pPr algn="l">
              <ns207:lnSpc>
                <ns207:spcPct val="100000"/>
              </ns207:lnSpc>
              <ns207:defRPr sz="1200" b="0">
                <ns207:solidFill>
                  <ns207:srgbClr val="20262C"/>
                </ns207:solidFill>
                <ns207:latin typeface="Arial"/>
                <ns207:ea typeface="Arial"/>
                <ns207:cs typeface="Arial"/>
              </ns207:defRPr>
            </ns207:pPr>
            <ns207:r>
              <ns207:rPr sz="1200" b="0">
                <ns207:solidFill>
                  <ns207:srgbClr val="20262C"/>
                </ns207:solidFill>
                <ns207:latin typeface="Arial"/>
                <ns207:ea typeface="Arial"/>
                <ns207:cs typeface="Arial"/>
              </ns207:rPr>
              <ns207:t>Company A</ns207:t>
            </ns207:r>
          </ns207:p>
          <ns208:p xmlns:ns208="http://schemas.openxmlformats.org/drawingml/2006/main">
            <ns208:pPr algn="l">
              <ns208:lnSpc>
                <ns208:spcPct val="100000"/>
              </ns208:lnSpc>
              <ns208:defRPr sz="1200" b="0">
                <ns208:solidFill>
                  <ns208:srgbClr val="20262C"/>
                </ns208:solidFill>
                <ns208:latin typeface="Arial"/>
                <ns208:ea typeface="Arial"/>
                <ns208:cs typeface="Arial"/>
              </ns208:defRPr>
            </ns208:pPr>
            <ns208:r>
              <ns208:rPr sz="1200" b="0">
                <ns208:solidFill>
                  <ns208:srgbClr val="20262C"/>
                </ns208:solidFill>
                <ns208:latin typeface="Arial"/>
                <ns208:ea typeface="Arial"/>
                <ns208:cs typeface="Arial"/>
              </ns208:rPr>
              <ns208:t>Higher sales volume</ns208:t>
            </ns208:r>
          </ns208:p>
          <ns209:p xmlns:ns209="http://schemas.openxmlformats.org/drawingml/2006/main">
            <ns209:pPr algn="l">
              <ns209:lnSpc>
                <ns209:spcPct val="100000"/>
              </ns209:lnSpc>
              <ns209:defRPr sz="1200" b="0">
                <ns209:solidFill>
                  <ns209:srgbClr val="20262C"/>
                </ns209:solidFill>
                <ns209:latin typeface="Arial"/>
                <ns209:ea typeface="Arial"/>
                <ns209:cs typeface="Arial"/>
              </ns209:defRPr>
            </ns209:pPr>
            <ns209:r>
              <ns209:rPr sz="1200" b="0">
                <ns209:solidFill>
                  <ns209:srgbClr val="20262C"/>
                </ns209:solidFill>
                <ns209:latin typeface="Arial"/>
                <ns209:ea typeface="Arial"/>
                <ns209:cs typeface="Arial"/>
              </ns209:rPr>
              <ns209:t>supported revenue growth.</ns209:t>
            </ns209:r>
          </ns209:p>
          <ns210:p xmlns:ns210="http://schemas.openxmlformats.org/drawingml/2006/main">
            <ns210:pPr algn="l">
              <ns210:lnSpc>
                <ns210:spcPct val="100000"/>
              </ns210:lnSpc>
              <ns210:defRPr sz="1200" b="0">
                <ns210:solidFill>
                  <ns210:srgbClr val="20262C"/>
                </ns210:solidFill>
                <ns210:latin typeface="Arial"/>
                <ns210:ea typeface="Arial"/>
                <ns210:cs typeface="Arial"/>
              </ns210:defRPr>
            </ns210:pPr>
            <ns210:r>
              <ns210:rPr sz="1200" b="0">
                <ns210:solidFill>
                  <ns210:srgbClr val="20262C"/>
                </ns210:solidFill>
                <ns210:latin typeface="Arial"/>
                <ns210:ea typeface="Arial"/>
                <ns210:cs typeface="Arial"/>
              </ns210:rPr>
              <ns210:t>Raw-material costs</ns210:t>
            </ns210:r>
          </ns210:p>
          <ns211:p xmlns:ns211="http://schemas.openxmlformats.org/drawingml/2006/main">
            <ns211:pPr algn="l">
              <ns211:lnSpc>
                <ns211:spcPct val="100000"/>
              </ns211:lnSpc>
              <ns211:defRPr sz="1200" b="0">
                <ns211:solidFill>
                  <ns211:srgbClr val="20262C"/>
                </ns211:solidFill>
                <ns211:latin typeface="Arial"/>
                <ns211:ea typeface="Arial"/>
                <ns211:cs typeface="Arial"/>
              </ns211:defRPr>
            </ns211:pPr>
            <ns211:r>
              <ns211:rPr sz="1200" b="0">
                <ns211:solidFill>
                  <ns211:srgbClr val="20262C"/>
                </ns211:solidFill>
                <ns211:latin typeface="Arial"/>
                <ns211:ea typeface="Arial"/>
                <ns211:cs typeface="Arial"/>
              </ns211:rPr>
              <ns211:t>remain a focus.</ns211:t>
            </ns211:r>
          </ns211:p>
        </p:txBody>
      </p:sp>
      <p:cxnSp>
        <p:nvCxnSpPr>
          <p:cNvPr id="137" name="llm.client.summary"/>
          <p:cNvCxnSpPr/>
          <p:nvPr/>
        </p:nvCxnSpPr>
        <p:spPr>
          <ns212:xfrm xmlns:ns212="http://schemas.openxmlformats.org/drawingml/2006/main">
            <ns212:off x="5850000" y="2700000"/>
            <ns212:ext cx="241200" cy="1"/>
          </ns212:xfrm>
          <ns213:prstGeom xmlns:ns213="http://schemas.openxmlformats.org/drawingml/2006/main" prst="line">
            <ns213:avLst/>
          </ns213:prstGeom>
          <ns214:ln xmlns:ns214="http://schemas.openxmlformats.org/drawingml/2006/main" w="11430">
            <ns214:solidFill>
              <ns214:srgbClr val="7363A6"/>
            </ns214:solidFill>
            <ns214:tailEnd type="triangle" w="sm" len="sm"/>
          </ns214:ln>
        </p:spPr>
      </p:cxnSp>
      <p:sp>
        <p:nvSpPr>
          <p:cNvPr id="138" name="human.client.team"/>
          <p:cNvSpPr/>
          <p:nvPr/>
        </p:nvSpPr>
        <p:spPr>
          <ns215:xfrm xmlns:ns215="http://schemas.openxmlformats.org/drawingml/2006/main">
            <ns215:off x="6127200" y="3726000"/>
            <ns215:ext cx="2559600" cy="648000"/>
          </ns215:xfrm>
          <ns216:prstGeom xmlns:ns216="http://schemas.openxmlformats.org/drawingml/2006/main" prst="roundRect">
            <ns216:avLst/>
          </ns216:prstGeom>
          <ns217:solidFill xmlns:ns217="http://schemas.openxmlformats.org/drawingml/2006/main">
            <ns217:srgbClr val="F3F7FA"/>
          </ns217:solidFill>
          <ns218:ln xmlns:ns218="http://schemas.openxmlformats.org/drawingml/2006/main" w="9525">
            <ns218:solidFill>
              <ns218:srgbClr val="65727D"/>
            </ns218:solidFill>
          </ns218:ln>
        </p:spPr>
        <p:txBody>
          <ns219:bodyPr xmlns:ns219="http://schemas.openxmlformats.org/drawingml/2006/main" wrap="square" lIns="61200" rIns="61200" tIns="61200" bIns="61200" anchor="ctr">
            <ns219:noAutofit/>
          </ns219:bodyPr>
          <ns220:lstStyle xmlns:ns220="http://schemas.openxmlformats.org/drawingml/2006/main"/>
          <ns221:p xmlns:ns221="http://schemas.openxmlformats.org/drawingml/2006/main">
            <ns221:pPr algn="l">
              <ns221:lnSpc>
                <ns221:spcPct val="105000"/>
              </ns221:lnSpc>
              <ns221:defRPr sz="1300" b="1">
                <ns221:solidFill>
                  <ns221:srgbClr val="65727D"/>
                </ns221:solidFill>
                <ns221:latin typeface="Arial"/>
                <ns221:ea typeface="Arial"/>
                <ns221:cs typeface="Arial"/>
              </ns221:defRPr>
            </ns221:pPr>
            <ns221:r>
              <ns221:rPr sz="1300" b="1">
                <ns221:solidFill>
                  <ns221:srgbClr val="65727D"/>
                </ns221:solidFill>
                <ns221:latin typeface="Arial"/>
                <ns221:ea typeface="Arial"/>
                <ns221:cs typeface="Arial"/>
              </ns221:rPr>
              <ns221:t>Client-facing team</ns221:t>
            </ns221:r>
          </ns221:p>
          <ns222:p xmlns:ns222="http://schemas.openxmlformats.org/drawingml/2006/main">
            <ns222:pPr algn="l">
              <ns222:lnSpc>
                <ns222:spcPct val="105000"/>
              </ns222:lnSpc>
              <ns222:defRPr sz="1200" b="0">
                <ns222:solidFill>
                  <ns222:srgbClr val="20262C"/>
                </ns222:solidFill>
                <ns222:latin typeface="Arial"/>
                <ns222:ea typeface="Arial"/>
                <ns222:cs typeface="Arial"/>
              </ns222:defRPr>
            </ns222:pPr>
            <ns222:r>
              <ns222:rPr sz="1200" b="0">
                <ns222:solidFill>
                  <ns222:srgbClr val="20262C"/>
                </ns222:solidFill>
                <ns222:latin typeface="Arial"/>
                <ns222:ea typeface="Arial"/>
                <ns222:cs typeface="Arial"/>
              </ns222:rPr>
              <ns222:t>Use summary</ns222:t>
            </ns222:r>
          </ns222:p>
        </p:txBody>
      </p:sp>
      <p:cxnSp>
        <p:nvCxnSpPr>
          <p:cNvPr id="139" name="summary.to.team"/>
          <p:cNvCxnSpPr/>
          <p:nvPr/>
        </p:nvCxnSpPr>
        <p:spPr>
          <ns223:xfrm xmlns:ns223="http://schemas.openxmlformats.org/drawingml/2006/main">
            <ns223:off x="7407000" y="3384000"/>
            <ns223:ext cx="1" cy="306000"/>
          </ns223:xfrm>
          <ns224:prstGeom xmlns:ns224="http://schemas.openxmlformats.org/drawingml/2006/main" prst="line">
            <ns224:avLst/>
          </ns224:prstGeom>
          <ns225:ln xmlns:ns225="http://schemas.openxmlformats.org/drawingml/2006/main" w="11430">
            <ns225:solidFill>
              <ns225:srgbClr val="7363A6"/>
            </ns225:solidFill>
            <ns225:tailEnd type="triangle" w="sm" len="sm"/>
          </ns225:ln>
        </p:spPr>
      </p:cxnSp>
      <p:sp>
        <p:nvSpPr>
          <p:cNvPr id="140" name="related.commentary.scope"/>
          <p:cNvSpPr/>
          <p:nvPr/>
        </p:nvSpPr>
        <p:spPr>
          <ns226:xfrm xmlns:ns226="http://schemas.openxmlformats.org/drawingml/2006/main">
            <ns226:off x="2422800" y="4248000"/>
            <ns226:ext cx="3492000" cy="180000"/>
          </ns226:xfrm>
          <ns227:prstGeom xmlns:ns227="http://schemas.openxmlformats.org/drawingml/2006/main" prst="rect">
            <ns227:avLst/>
          </ns227:prstGeom>
          <ns228:noFill xmlns:ns228="http://schemas.openxmlformats.org/drawingml/2006/main"/>
          <ns229:ln xmlns:ns229="http://schemas.openxmlformats.org/drawingml/2006/main" w="0">
            <ns229:noFill/>
          </ns229:ln>
        </p:spPr>
        <p:txBody>
          <ns230:bodyPr xmlns:ns230="http://schemas.openxmlformats.org/drawingml/2006/main" wrap="square" lIns="0" rIns="0" tIns="0" bIns="0" anchor="t">
            <ns230:noAutofit/>
          </ns230:bodyPr>
          <ns231:lstStyle xmlns:ns231="http://schemas.openxmlformats.org/drawingml/2006/main"/>
          <ns232:p xmlns:ns232="http://schemas.openxmlformats.org/drawingml/2006/main">
            <ns232:pPr algn="l">
              <ns232:lnSpc>
                <ns232:spcPct val="105000"/>
              </ns232:lnSpc>
              <ns232:defRPr sz="1050" b="0">
                <ns232:solidFill>
                  <ns232:srgbClr val="65727D"/>
                </ns232:solidFill>
                <ns232:latin typeface="Arial"/>
                <ns232:ea typeface="Arial"/>
                <ns232:cs typeface="Arial"/>
              </ns232:defRPr>
            </ns232:pPr>
            <ns232:r>
              <ns232:rPr sz="1050" b="0">
                <ns232:solidFill>
                  <ns232:srgbClr val="65727D"/>
                </ns232:solidFill>
                <ns232:latin typeface="Arial"/>
                <ns232:ea typeface="Arial"/>
                <ns232:cs typeface="Arial"/>
              </ns232:rPr>
              <ns232:t>Weekly sector views / daily market commentary</ns232:t>
            </ns232:r>
          </ns232:p>
        </p:txBody>
      </p:sp>
    </p:spTree>
    <p:extLst>
      <p:ext uri="{BB962C8B-B14F-4D97-AF65-F5344CB8AC3E}">
        <p14:creationId xmlns:p14="http://schemas.microsoft.com/office/powerpoint/2010/main" val="20589325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ICBCUBS: drafting institutional RFP responses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Client communications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ICBCUBS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focus.client"/>
          <p:cNvSpPr/>
          <p:nvPr/>
        </p:nvSpPr>
        <p:spPr>
          <ns45:xfrm xmlns:ns45="http://schemas.openxmlformats.org/drawingml/2006/main">
            <ns45:off x="486000" y="2196000"/>
            <ns45:ext cx="1677600" cy="176400"/>
          </ns45:xfrm>
          <ns46:prstGeom xmlns:ns46="http://schemas.openxmlformats.org/drawingml/2006/main" prst="rect">
            <ns46:avLst/>
          </ns46:prstGeom>
          <ns47:solidFill xmlns:ns47="http://schemas.openxmlformats.org/drawingml/2006/main">
            <ns47:srgbClr val="D9EAF7"/>
          </ns47:solidFill>
          <ns48:ln xmlns:ns48="http://schemas.openxmlformats.org/drawingml/2006/main" w="0">
            <ns48:noFill/>
          </ns48:ln>
        </p:spPr>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1">
                <ns55:solidFill>
                  <ns55:srgbClr val="005A9C"/>
                </ns55:solidFill>
                <ns55:latin typeface="Arial"/>
                <ns55:ea typeface="Arial"/>
                <ns55:cs typeface="Arial"/>
              </ns55:defRPr>
            </ns55:pPr>
            <ns55:r>
              <ns55:rPr sz="1050" b="1">
                <ns55:solidFill>
                  <ns55:srgbClr val="005A9C"/>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rfp.question.paper"/>
          <p:cNvSpPr/>
          <p:nvPr/>
        </p:nvSpPr>
        <p:spPr>
          <ns111:xfrm xmlns:ns111="http://schemas.openxmlformats.org/drawingml/2006/main">
            <ns111:off x="2422800" y="1566000"/>
            <ns111:ext cx="1620000" cy="792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65727D"/>
            </ns114:solidFill>
          </ns114:ln>
        </p:spPr>
      </p:sp>
      <p:sp>
        <p:nvSpPr>
          <p:cNvPr id="120" name="input.rfp.question.title"/>
          <p:cNvSpPr/>
          <p:nvPr/>
        </p:nvSpPr>
        <p:spPr>
          <ns115:xfrm xmlns:ns115="http://schemas.openxmlformats.org/drawingml/2006/main">
            <ns115:off x="2487600" y="1609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65727D"/>
                </ns121:solidFill>
                <ns121:latin typeface="Arial"/>
                <ns121:ea typeface="Arial"/>
                <ns121:cs typeface="Arial"/>
              </ns121:defRPr>
            </ns121:pPr>
            <ns121:r>
              <ns121:rPr sz="1250" b="1">
                <ns121:solidFill>
                  <ns121:srgbClr val="65727D"/>
                </ns121:solidFill>
                <ns121:latin typeface="Arial"/>
                <ns121:ea typeface="Arial"/>
                <ns121:cs typeface="Arial"/>
              </ns121:rPr>
              <ns121:t>Client question</ns121:t>
            </ns121:r>
          </ns121:p>
        </p:txBody>
      </p:sp>
      <p:sp>
        <p:nvSpPr>
          <p:cNvPr id="121" name="input.rfp.question.content"/>
          <p:cNvSpPr/>
          <p:nvPr/>
        </p:nvSpPr>
        <p:spPr>
          <ns122:xfrm xmlns:ns122="http://schemas.openxmlformats.org/drawingml/2006/main">
            <ns122:off x="2487600" y="1825200"/>
            <ns122:ext cx="1490400" cy="482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150" b="0">
                <ns128:solidFill>
                  <ns128:srgbClr val="20262C"/>
                </ns128:solidFill>
                <ns128:latin typeface="Arial"/>
                <ns128:ea typeface="Arial"/>
                <ns128:cs typeface="Arial"/>
              </ns128:defRPr>
            </ns128:pPr>
            <ns128:r>
              <ns128:rPr sz="1150" b="0">
                <ns128:solidFill>
                  <ns128:srgbClr val="20262C"/>
                </ns128:solidFill>
                <ns128:latin typeface="Arial"/>
                <ns128:ea typeface="Arial"/>
                <ns128:cs typeface="Arial"/>
              </ns128:rPr>
              <ns128:t>How is investment</ns128:t>
            </ns128:r>
          </ns128:p>
          <ns129:p xmlns:ns129="http://schemas.openxmlformats.org/drawingml/2006/main">
            <ns129:pPr algn="l">
              <ns129:lnSpc>
                <ns129:spcPct val="100000"/>
              </ns129:lnSpc>
              <ns129:defRPr sz="1150" b="0">
                <ns129:solidFill>
                  <ns129:srgbClr val="20262C"/>
                </ns129:solidFill>
                <ns129:latin typeface="Arial"/>
                <ns129:ea typeface="Arial"/>
                <ns129:cs typeface="Arial"/>
              </ns129:defRPr>
            </ns129:pPr>
            <ns129:r>
              <ns129:rPr sz="1150" b="0">
                <ns129:solidFill>
                  <ns129:srgbClr val="20262C"/>
                </ns129:solidFill>
                <ns129:latin typeface="Arial"/>
                <ns129:ea typeface="Arial"/>
                <ns129:cs typeface="Arial"/>
              </ns129:rPr>
              <ns129:t>research organized?</ns129:t>
            </ns129:r>
          </ns129:p>
        </p:txBody>
      </p:sp>
      <p:sp>
        <p:nvSpPr>
          <p:cNvPr id="122" name="input.internal.process.paper"/>
          <p:cNvSpPr/>
          <p:nvPr/>
        </p:nvSpPr>
        <p:spPr>
          <ns130:xfrm xmlns:ns130="http://schemas.openxmlformats.org/drawingml/2006/main">
            <ns130:off x="2422800" y="2610000"/>
            <ns130:ext cx="1620000" cy="1206000"/>
          </ns130:xfrm>
          <ns131:prstGeom xmlns:ns131="http://schemas.openxmlformats.org/drawingml/2006/main" prst="foldedCorner">
            <ns131:avLst/>
          </ns131:prstGeom>
          <ns132:solidFill xmlns:ns132="http://schemas.openxmlformats.org/drawingml/2006/main">
            <ns132:srgbClr val="FFFFFF"/>
          </ns132:solidFill>
          <ns133:ln xmlns:ns133="http://schemas.openxmlformats.org/drawingml/2006/main" w="9525">
            <ns133:solidFill>
              <ns133:srgbClr val="65727D"/>
            </ns133:solidFill>
          </ns133:ln>
        </p:spPr>
      </p:sp>
      <p:sp>
        <p:nvSpPr>
          <p:cNvPr id="123" name="input.internal.process.title"/>
          <p:cNvSpPr/>
          <p:nvPr/>
        </p:nvSpPr>
        <p:spPr>
          <ns134:xfrm xmlns:ns134="http://schemas.openxmlformats.org/drawingml/2006/main">
            <ns134:off x="2487600" y="2653200"/>
            <ns134:ext cx="1422000" cy="198000"/>
          </ns134:xfrm>
          <ns135:prstGeom xmlns:ns135="http://schemas.openxmlformats.org/drawingml/2006/main" prst="rect">
            <ns135:avLst/>
          </ns135:prstGeom>
          <ns136:noFill xmlns:ns136="http://schemas.openxmlformats.org/drawingml/2006/main"/>
          <ns137:ln xmlns:ns137="http://schemas.openxmlformats.org/drawingml/2006/main" w="0">
            <ns137:noFill/>
          </ns137:ln>
        </p:spPr>
        <p:txBody>
          <ns138:bodyPr xmlns:ns138="http://schemas.openxmlformats.org/drawingml/2006/main" wrap="square" lIns="0" rIns="0" tIns="0" bIns="0" anchor="t">
            <ns138:noAutofit/>
          </ns138:bodyPr>
          <ns139:lstStyle xmlns:ns139="http://schemas.openxmlformats.org/drawingml/2006/main"/>
          <ns140:p xmlns:ns140="http://schemas.openxmlformats.org/drawingml/2006/main">
            <ns140:pPr algn="l">
              <ns140:lnSpc>
                <ns140:spcPct val="105000"/>
              </ns140:lnSpc>
              <ns140:defRPr sz="1250" b="1">
                <ns140:solidFill>
                  <ns140:srgbClr val="65727D"/>
                </ns140:solidFill>
                <ns140:latin typeface="Arial"/>
                <ns140:ea typeface="Arial"/>
                <ns140:cs typeface="Arial"/>
              </ns140:defRPr>
            </ns140:pPr>
            <ns140:r>
              <ns140:rPr sz="1250" b="1">
                <ns140:solidFill>
                  <ns140:srgbClr val="65727D"/>
                </ns140:solidFill>
                <ns140:latin typeface="Arial"/>
                <ns140:ea typeface="Arial"/>
                <ns140:cs typeface="Arial"/>
              </ns140:rPr>
              <ns140:t>Internal process</ns140:t>
            </ns140:r>
          </ns140:p>
        </p:txBody>
      </p:sp>
      <p:sp>
        <p:nvSpPr>
          <p:cNvPr id="124" name="input.internal.process.content"/>
          <p:cNvSpPr/>
          <p:nvPr/>
        </p:nvSpPr>
        <p:spPr>
          <ns141:xfrm xmlns:ns141="http://schemas.openxmlformats.org/drawingml/2006/main">
            <ns141:off x="2487600" y="2869200"/>
            <ns141:ext cx="1490400" cy="896400"/>
          </ns141:xfrm>
          <ns142:prstGeom xmlns:ns142="http://schemas.openxmlformats.org/drawingml/2006/main" prst="rect">
            <ns142:avLst/>
          </ns142:prstGeom>
          <ns143:noFill xmlns:ns143="http://schemas.openxmlformats.org/drawingml/2006/main"/>
          <ns144:ln xmlns:ns144="http://schemas.openxmlformats.org/drawingml/2006/main" w="0">
            <ns144:noFill/>
          </ns144:ln>
        </p:spPr>
        <p:txBody>
          <ns145:bodyPr xmlns:ns145="http://schemas.openxmlformats.org/drawingml/2006/main" wrap="square" lIns="0" rIns="0" tIns="0" bIns="0" anchor="t">
            <ns145:noAutofit/>
          </ns145:bodyPr>
          <ns146:lstStyle xmlns:ns146="http://schemas.openxmlformats.org/drawingml/2006/main"/>
          <ns147:p xmlns:ns147="http://schemas.openxmlformats.org/drawingml/2006/main">
            <ns147:pPr algn="l">
              <ns147:lnSpc>
                <ns147:spcPct val="100000"/>
              </ns147:lnSpc>
              <ns147:defRPr sz="1200" b="0">
                <ns147:solidFill>
                  <ns147:srgbClr val="20262C"/>
                </ns147:solidFill>
                <ns147:latin typeface="Arial"/>
                <ns147:ea typeface="Arial"/>
                <ns147:cs typeface="Arial"/>
              </ns147:defRPr>
            </ns147:pPr>
            <ns147:r>
              <ns147:rPr sz="1200" b="0">
                <ns147:solidFill>
                  <ns147:srgbClr val="20262C"/>
                </ns147:solidFill>
                <ns147:latin typeface="Arial"/>
                <ns147:ea typeface="Arial"/>
                <ns147:cs typeface="Arial"/>
              </ns147:rPr>
              <ns147:t/>
            </ns147:r>
          </ns147:p>
        </p:txBody>
      </p:sp>
      <p:sp>
        <p:nvSpPr>
          <p:cNvPr id="125" name="process.source.step.0"/>
          <p:cNvSpPr/>
          <p:nvPr/>
        </p:nvSpPr>
        <p:spPr>
          <ns148:xfrm xmlns:ns148="http://schemas.openxmlformats.org/drawingml/2006/main">
            <ns148:off x="2494800" y="2923200"/>
            <ns148:ext cx="1476000" cy="187200"/>
          </ns148:xfrm>
          <ns149:prstGeom xmlns:ns149="http://schemas.openxmlformats.org/drawingml/2006/main" prst="rect">
            <ns149:avLst/>
          </ns149:prstGeom>
          <ns150:solidFill xmlns:ns150="http://schemas.openxmlformats.org/drawingml/2006/main">
            <ns150:srgbClr val="F3F7FA"/>
          </ns150:solidFill>
          <ns151:ln xmlns:ns151="http://schemas.openxmlformats.org/drawingml/2006/main" w="9525">
            <ns151:solidFill>
              <ns151:srgbClr val="65727D"/>
            </ns151:solidFill>
          </ns151:ln>
        </p:spPr>
        <p:txBody>
          <ns152:bodyPr xmlns:ns152="http://schemas.openxmlformats.org/drawingml/2006/main" wrap="square" lIns="7200" rIns="7200" tIns="7200" bIns="7200" anchor="t">
            <ns152:noAutofit/>
          </ns152:bodyPr>
          <ns153:lstStyle xmlns:ns153="http://schemas.openxmlformats.org/drawingml/2006/main"/>
          <ns154:p xmlns:ns154="http://schemas.openxmlformats.org/drawingml/2006/main">
            <ns154:pPr algn="ctr">
              <ns154:lnSpc>
                <ns154:spcPct val="105000"/>
              </ns154:lnSpc>
              <ns154:defRPr sz="1050" b="1">
                <ns154:solidFill>
                  <ns154:srgbClr val="20262C"/>
                </ns154:solidFill>
                <ns154:latin typeface="Arial"/>
                <ns154:ea typeface="Arial"/>
                <ns154:cs typeface="Arial"/>
              </ns154:defRPr>
            </ns154:pPr>
            <ns154:r>
              <ns154:rPr sz="1050" b="1">
                <ns154:solidFill>
                  <ns154:srgbClr val="20262C"/>
                </ns154:solidFill>
                <ns154:latin typeface="Arial"/>
                <ns154:ea typeface="Arial"/>
                <ns154:cs typeface="Arial"/>
              </ns154:rPr>
              <ns154:t>Analyst</ns154:t>
            </ns154:r>
          </ns154:p>
        </p:txBody>
      </p:sp>
      <p:cxnSp>
        <p:nvCxnSpPr>
          <p:cNvPr id="126" name="process.source.link.0"/>
          <p:cNvCxnSpPr/>
          <p:nvPr/>
        </p:nvCxnSpPr>
        <p:spPr>
          <ns155:xfrm xmlns:ns155="http://schemas.openxmlformats.org/drawingml/2006/main">
            <ns155:off x="3232800" y="3128400"/>
            <ns155:ext cx="1" cy="57600"/>
          </ns155:xfrm>
          <ns156:prstGeom xmlns:ns156="http://schemas.openxmlformats.org/drawingml/2006/main" prst="line">
            <ns156:avLst/>
          </ns156:prstGeom>
          <ns157:ln xmlns:ns157="http://schemas.openxmlformats.org/drawingml/2006/main" w="8255">
            <ns157:solidFill>
              <ns157:srgbClr val="65727D"/>
            </ns157:solidFill>
            <ns157:tailEnd type="triangle" w="sm" len="sm"/>
          </ns157:ln>
        </p:spPr>
      </p:cxnSp>
      <p:sp>
        <p:nvSpPr>
          <p:cNvPr id="127" name="process.source.step.1"/>
          <p:cNvSpPr/>
          <p:nvPr/>
        </p:nvSpPr>
        <p:spPr>
          <ns158:xfrm xmlns:ns158="http://schemas.openxmlformats.org/drawingml/2006/main">
            <ns158:off x="2494800" y="3204000"/>
            <ns158:ext cx="1476000" cy="187200"/>
          </ns158:xfrm>
          <ns159:prstGeom xmlns:ns159="http://schemas.openxmlformats.org/drawingml/2006/main" prst="rect">
            <ns159:avLst/>
          </ns159:prstGeom>
          <ns160:solidFill xmlns:ns160="http://schemas.openxmlformats.org/drawingml/2006/main">
            <ns160:srgbClr val="F3F7FA"/>
          </ns160:solidFill>
          <ns161:ln xmlns:ns161="http://schemas.openxmlformats.org/drawingml/2006/main" w="9525">
            <ns161:solidFill>
              <ns161:srgbClr val="65727D"/>
            </ns161:solidFill>
          </ns161:ln>
        </p:spPr>
        <p:txBody>
          <ns162:bodyPr xmlns:ns162="http://schemas.openxmlformats.org/drawingml/2006/main" wrap="square" lIns="7200" rIns="7200" tIns="7200" bIns="7200" anchor="t">
            <ns162:noAutofit/>
          </ns162:bodyPr>
          <ns163:lstStyle xmlns:ns163="http://schemas.openxmlformats.org/drawingml/2006/main"/>
          <ns164:p xmlns:ns164="http://schemas.openxmlformats.org/drawingml/2006/main">
            <ns164:pPr algn="ctr">
              <ns164:lnSpc>
                <ns164:spcPct val="105000"/>
              </ns164:lnSpc>
              <ns164:defRPr sz="1050" b="1">
                <ns164:solidFill>
                  <ns164:srgbClr val="20262C"/>
                </ns164:solidFill>
                <ns164:latin typeface="Arial"/>
                <ns164:ea typeface="Arial"/>
                <ns164:cs typeface="Arial"/>
              </ns164:defRPr>
            </ns164:pPr>
            <ns164:r>
              <ns164:rPr sz="1050" b="1">
                <ns164:solidFill>
                  <ns164:srgbClr val="20262C"/>
                </ns164:solidFill>
                <ns164:latin typeface="Arial"/>
                <ns164:ea typeface="Arial"/>
                <ns164:cs typeface="Arial"/>
              </ns164:rPr>
              <ns164:t>Company research</ns164:t>
            </ns164:r>
          </ns164:p>
        </p:txBody>
      </p:sp>
      <p:cxnSp>
        <p:nvCxnSpPr>
          <p:cNvPr id="128" name="process.source.link.1"/>
          <p:cNvCxnSpPr/>
          <p:nvPr/>
        </p:nvCxnSpPr>
        <p:spPr>
          <ns165:xfrm xmlns:ns165="http://schemas.openxmlformats.org/drawingml/2006/main">
            <ns165:off x="3232800" y="3409200"/>
            <ns165:ext cx="1" cy="57600"/>
          </ns165:xfrm>
          <ns166:prstGeom xmlns:ns166="http://schemas.openxmlformats.org/drawingml/2006/main" prst="line">
            <ns166:avLst/>
          </ns166:prstGeom>
          <ns167:ln xmlns:ns167="http://schemas.openxmlformats.org/drawingml/2006/main" w="8255">
            <ns167:solidFill>
              <ns167:srgbClr val="65727D"/>
            </ns167:solidFill>
            <ns167:tailEnd type="triangle" w="sm" len="sm"/>
          </ns167:ln>
        </p:spPr>
      </p:cxnSp>
      <p:sp>
        <p:nvSpPr>
          <p:cNvPr id="129" name="process.source.step.2"/>
          <p:cNvSpPr/>
          <p:nvPr/>
        </p:nvSpPr>
        <p:spPr>
          <ns168:xfrm xmlns:ns168="http://schemas.openxmlformats.org/drawingml/2006/main">
            <ns168:off x="2494800" y="3484800"/>
            <ns168:ext cx="1476000" cy="187200"/>
          </ns168:xfrm>
          <ns169:prstGeom xmlns:ns169="http://schemas.openxmlformats.org/drawingml/2006/main" prst="rect">
            <ns169:avLst/>
          </ns169:prstGeom>
          <ns170:solidFill xmlns:ns170="http://schemas.openxmlformats.org/drawingml/2006/main">
            <ns170:srgbClr val="F3F7FA"/>
          </ns170:solidFill>
          <ns171:ln xmlns:ns171="http://schemas.openxmlformats.org/drawingml/2006/main" w="9525">
            <ns171:solidFill>
              <ns171:srgbClr val="65727D"/>
            </ns171:solidFill>
          </ns171:ln>
        </p:spPr>
        <p:txBody>
          <ns172:bodyPr xmlns:ns172="http://schemas.openxmlformats.org/drawingml/2006/main" wrap="square" lIns="7200" rIns="7200" tIns="7200" bIns="7200" anchor="t">
            <ns172:noAutofit/>
          </ns172:bodyPr>
          <ns173:lstStyle xmlns:ns173="http://schemas.openxmlformats.org/drawingml/2006/main"/>
          <ns174:p xmlns:ns174="http://schemas.openxmlformats.org/drawingml/2006/main">
            <ns174:pPr algn="ctr">
              <ns174:lnSpc>
                <ns174:spcPct val="105000"/>
              </ns174:lnSpc>
              <ns174:defRPr sz="1050" b="1">
                <ns174:solidFill>
                  <ns174:srgbClr val="20262C"/>
                </ns174:solidFill>
                <ns174:latin typeface="Arial"/>
                <ns174:ea typeface="Arial"/>
                <ns174:cs typeface="Arial"/>
              </ns174:defRPr>
            </ns174:pPr>
            <ns174:r>
              <ns174:rPr sz="1050" b="1">
                <ns174:solidFill>
                  <ns174:srgbClr val="20262C"/>
                </ns174:solidFill>
                <ns174:latin typeface="Arial"/>
                <ns174:ea typeface="Arial"/>
                <ns174:cs typeface="Arial"/>
              </ns174:rPr>
              <ns174:t>PM discussion</ns174:t>
            </ns174:r>
          </ns174:p>
        </p:txBody>
      </p:sp>
      <p:sp>
        <p:nvSpPr>
          <p:cNvPr id="130" name="role.llm.rfp"/>
          <p:cNvSpPr/>
          <p:nvPr/>
        </p:nvSpPr>
        <p:spPr>
          <ns175:xfrm xmlns:ns175="http://schemas.openxmlformats.org/drawingml/2006/main">
            <ns175:off x="4392000" y="2250000"/>
            <ns175:ext cx="1458000" cy="954000"/>
          </ns175:xfrm>
          <ns176:prstGeom xmlns:ns176="http://schemas.openxmlformats.org/drawingml/2006/main" prst="roundRect">
            <ns176:avLst/>
          </ns176:prstGeom>
          <ns177:solidFill xmlns:ns177="http://schemas.openxmlformats.org/drawingml/2006/main">
            <ns177:srgbClr val="EAF3FA"/>
          </ns177:solidFill>
          <ns178:ln xmlns:ns178="http://schemas.openxmlformats.org/drawingml/2006/main" w="9525">
            <ns178:solidFill>
              <ns178:srgbClr val="005A9C"/>
            </ns178:solidFill>
          </ns178:ln>
        </p:spPr>
        <p:txBody>
          <ns179:bodyPr xmlns:ns179="http://schemas.openxmlformats.org/drawingml/2006/main" wrap="square" lIns="61200" rIns="61200" tIns="61200" bIns="61200" anchor="ctr">
            <ns179:noAutofit/>
          </ns179:bodyPr>
          <ns180:lstStyle xmlns:ns180="http://schemas.openxmlformats.org/drawingml/2006/main"/>
          <ns181:p xmlns:ns181="http://schemas.openxmlformats.org/drawingml/2006/main">
            <ns181:pPr algn="l">
              <ns181:lnSpc>
                <ns181:spcPct val="105000"/>
              </ns181:lnSpc>
              <ns181:defRPr sz="1300" b="1">
                <ns181:solidFill>
                  <ns181:srgbClr val="005A9C"/>
                </ns181:solidFill>
                <ns181:latin typeface="Arial"/>
                <ns181:ea typeface="Arial"/>
                <ns181:cs typeface="Arial"/>
              </ns181:defRPr>
            </ns181:pPr>
            <ns181:r>
              <ns181:rPr sz="1300" b="1">
                <ns181:solidFill>
                  <ns181:srgbClr val="005A9C"/>
                </ns181:solidFill>
                <ns181:latin typeface="Arial"/>
                <ns181:ea typeface="Arial"/>
                <ns181:cs typeface="Arial"/>
              </ns181:rPr>
              <ns181:t>LLM</ns181:t>
            </ns181:r>
          </ns181:p>
          <ns182:p xmlns:ns182="http://schemas.openxmlformats.org/drawingml/2006/main">
            <ns182:pPr algn="l">
              <ns182:lnSpc>
                <ns182:spcPct val="105000"/>
              </ns182:lnSpc>
              <ns182:defRPr sz="1150" b="0">
                <ns182:solidFill>
                  <ns182:srgbClr val="20262C"/>
                </ns182:solidFill>
                <ns182:latin typeface="Arial"/>
                <ns182:ea typeface="Arial"/>
                <ns182:cs typeface="Arial"/>
              </ns182:defRPr>
            </ns182:pPr>
            <ns182:r>
              <ns182:rPr sz="1150" b="0">
                <ns182:solidFill>
                  <ns182:srgbClr val="20262C"/>
                </ns182:solidFill>
                <ns182:latin typeface="Arial"/>
                <ns182:ea typeface="Arial"/>
                <ns182:cs typeface="Arial"/>
              </ns182:rPr>
              <ns182:t>Retrieve</ns182:t>
            </ns182:r>
          </ns182:p>
          <ns183:p xmlns:ns183="http://schemas.openxmlformats.org/drawingml/2006/main">
            <ns183:pPr algn="l">
              <ns183:lnSpc>
                <ns183:spcPct val="105000"/>
              </ns183:lnSpc>
              <ns183:defRPr sz="1150" b="0">
                <ns183:solidFill>
                  <ns183:srgbClr val="20262C"/>
                </ns183:solidFill>
                <ns183:latin typeface="Arial"/>
                <ns183:ea typeface="Arial"/>
                <ns183:cs typeface="Arial"/>
              </ns183:defRPr>
            </ns183:pPr>
            <ns183:r>
              <ns183:rPr sz="1150" b="0">
                <ns183:solidFill>
                  <ns183:srgbClr val="20262C"/>
                </ns183:solidFill>
                <ns183:latin typeface="Arial"/>
                <ns183:ea typeface="Arial"/>
                <ns183:cs typeface="Arial"/>
              </ns183:rPr>
              <ns183:t>Identify roles</ns183:t>
            </ns183:r>
          </ns183:p>
          <ns184:p xmlns:ns184="http://schemas.openxmlformats.org/drawingml/2006/main">
            <ns184:pPr algn="l">
              <ns184:lnSpc>
                <ns184:spcPct val="105000"/>
              </ns184:lnSpc>
              <ns184:defRPr sz="1150" b="0">
                <ns184:solidFill>
                  <ns184:srgbClr val="20262C"/>
                </ns184:solidFill>
                <ns184:latin typeface="Arial"/>
                <ns184:ea typeface="Arial"/>
                <ns184:cs typeface="Arial"/>
              </ns184:defRPr>
            </ns184:pPr>
            <ns184:r>
              <ns184:rPr sz="1150" b="0">
                <ns184:solidFill>
                  <ns184:srgbClr val="20262C"/>
                </ns184:solidFill>
                <ns184:latin typeface="Arial"/>
                <ns184:ea typeface="Arial"/>
                <ns184:cs typeface="Arial"/>
              </ns184:rPr>
              <ns184:t>Draft</ns184:t>
            </ns184:r>
          </ns184:p>
        </p:txBody>
      </p:sp>
      <p:cxnSp>
        <p:nvCxnSpPr>
          <p:cNvPr id="131" name="rfp.inputs.merge.source.0"/>
          <p:cNvCxnSpPr/>
          <p:nvPr/>
        </p:nvCxnSpPr>
        <p:spPr>
          <ns185:xfrm xmlns:ns185="http://schemas.openxmlformats.org/drawingml/2006/main">
            <ns185:off x="4042800" y="1962000"/>
            <ns185:ext cx="151200" cy="1"/>
          </ns185:xfrm>
          <ns186:prstGeom xmlns:ns186="http://schemas.openxmlformats.org/drawingml/2006/main" prst="line">
            <ns186:avLst/>
          </ns186:prstGeom>
          <ns187:ln xmlns:ns187="http://schemas.openxmlformats.org/drawingml/2006/main" w="9525">
            <ns187:solidFill>
              <ns187:srgbClr val="005A9C"/>
            </ns187:solidFill>
          </ns187:ln>
        </p:spPr>
      </p:cxnSp>
      <p:cxnSp>
        <p:nvCxnSpPr>
          <p:cNvPr id="132" name="rfp.inputs.merge.source.1"/>
          <p:cNvCxnSpPr/>
          <p:nvPr/>
        </p:nvCxnSpPr>
        <p:spPr>
          <ns188:xfrm xmlns:ns188="http://schemas.openxmlformats.org/drawingml/2006/main">
            <ns188:off x="4042800" y="3213000"/>
            <ns188:ext cx="151200" cy="1"/>
          </ns188:xfrm>
          <ns189:prstGeom xmlns:ns189="http://schemas.openxmlformats.org/drawingml/2006/main" prst="line">
            <ns189:avLst/>
          </ns189:prstGeom>
          <ns190:ln xmlns:ns190="http://schemas.openxmlformats.org/drawingml/2006/main" w="9525">
            <ns190:solidFill>
              <ns190:srgbClr val="005A9C"/>
            </ns190:solidFill>
          </ns190:ln>
        </p:spPr>
      </p:cxnSp>
      <p:cxnSp>
        <p:nvCxnSpPr>
          <p:cNvPr id="133" name="rfp.inputs.merge.bus"/>
          <p:cNvCxnSpPr/>
          <p:nvPr/>
        </p:nvCxnSpPr>
        <p:spPr>
          <ns191:xfrm xmlns:ns191="http://schemas.openxmlformats.org/drawingml/2006/main">
            <ns191:off x="4194000" y="1962000"/>
            <ns191:ext cx="1" cy="1251000"/>
          </ns191:xfrm>
          <ns192:prstGeom xmlns:ns192="http://schemas.openxmlformats.org/drawingml/2006/main" prst="line">
            <ns192:avLst/>
          </ns192:prstGeom>
          <ns193:ln xmlns:ns193="http://schemas.openxmlformats.org/drawingml/2006/main" w="9525">
            <ns193:solidFill>
              <ns193:srgbClr val="005A9C"/>
            </ns193:solidFill>
          </ns193:ln>
        </p:spPr>
      </p:cxnSp>
      <p:cxnSp>
        <p:nvCxnSpPr>
          <p:cNvPr id="134" name="rfp.inputs.merge.target"/>
          <p:cNvCxnSpPr/>
          <p:nvPr/>
        </p:nvCxnSpPr>
        <p:spPr>
          <ns194:xfrm xmlns:ns194="http://schemas.openxmlformats.org/drawingml/2006/main">
            <ns194:off x="4194000" y="2727000"/>
            <ns194:ext cx="198000" cy="1"/>
          </ns194:xfrm>
          <ns195:prstGeom xmlns:ns195="http://schemas.openxmlformats.org/drawingml/2006/main" prst="line">
            <ns195:avLst/>
          </ns195:prstGeom>
          <ns196:ln xmlns:ns196="http://schemas.openxmlformats.org/drawingml/2006/main" w="11430">
            <ns196:solidFill>
              <ns196:srgbClr val="005A9C"/>
            </ns196:solidFill>
            <ns196:tailEnd type="triangle" w="sm" len="sm"/>
          </ns196:ln>
        </p:spPr>
      </p:cxnSp>
      <p:sp>
        <p:nvSpPr>
          <p:cNvPr id="135" name="output.rfp.response.paper"/>
          <p:cNvSpPr/>
          <p:nvPr/>
        </p:nvSpPr>
        <p:spPr>
          <ns197:xfrm xmlns:ns197="http://schemas.openxmlformats.org/drawingml/2006/main">
            <ns197:off x="6127200" y="1566000"/>
            <ns197:ext cx="2559600" cy="2070000"/>
          </ns197:xfrm>
          <ns198:prstGeom xmlns:ns198="http://schemas.openxmlformats.org/drawingml/2006/main" prst="foldedCorner">
            <ns198:avLst/>
          </ns198:prstGeom>
          <ns199:solidFill xmlns:ns199="http://schemas.openxmlformats.org/drawingml/2006/main">
            <ns199:srgbClr val="FFFFFF"/>
          </ns199:solidFill>
          <ns200:ln xmlns:ns200="http://schemas.openxmlformats.org/drawingml/2006/main" w="9525">
            <ns200:solidFill>
              <ns200:srgbClr val="005A9C"/>
            </ns200:solidFill>
          </ns200:ln>
        </p:spPr>
      </p:sp>
      <p:sp>
        <p:nvSpPr>
          <p:cNvPr id="136" name="output.rfp.response.title"/>
          <p:cNvSpPr/>
          <p:nvPr/>
        </p:nvSpPr>
        <p:spPr>
          <ns201:xfrm xmlns:ns201="http://schemas.openxmlformats.org/drawingml/2006/main">
            <ns201:off x="6192000" y="1609200"/>
            <ns201:ext cx="2361600" cy="198000"/>
          </ns201:xfrm>
          <ns202:prstGeom xmlns:ns202="http://schemas.openxmlformats.org/drawingml/2006/main" prst="rect">
            <ns202:avLst/>
          </ns202:prstGeom>
          <ns203:noFill xmlns:ns203="http://schemas.openxmlformats.org/drawingml/2006/main"/>
          <ns204:ln xmlns:ns204="http://schemas.openxmlformats.org/drawingml/2006/main" w="0">
            <ns204:noFill/>
          </ns204:ln>
        </p:spPr>
        <p:txBody>
          <ns205:bodyPr xmlns:ns205="http://schemas.openxmlformats.org/drawingml/2006/main" wrap="square" lIns="0" rIns="0" tIns="0" bIns="0" anchor="t">
            <ns205:noAutofit/>
          </ns205:bodyPr>
          <ns206:lstStyle xmlns:ns206="http://schemas.openxmlformats.org/drawingml/2006/main"/>
          <ns207:p xmlns:ns207="http://schemas.openxmlformats.org/drawingml/2006/main">
            <ns207:pPr algn="l">
              <ns207:lnSpc>
                <ns207:spcPct val="105000"/>
              </ns207:lnSpc>
              <ns207:defRPr sz="1250" b="1">
                <ns207:solidFill>
                  <ns207:srgbClr val="005A9C"/>
                </ns207:solidFill>
                <ns207:latin typeface="Arial"/>
                <ns207:ea typeface="Arial"/>
                <ns207:cs typeface="Arial"/>
              </ns207:defRPr>
            </ns207:pPr>
            <ns207:r>
              <ns207:rPr sz="1250" b="1">
                <ns207:solidFill>
                  <ns207:srgbClr val="005A9C"/>
                </ns207:solidFill>
                <ns207:latin typeface="Arial"/>
                <ns207:ea typeface="Arial"/>
                <ns207:cs typeface="Arial"/>
              </ns207:rPr>
              <ns207:t>Draft RFP response</ns207:t>
            </ns207:r>
          </ns207:p>
        </p:txBody>
      </p:sp>
      <p:sp>
        <p:nvSpPr>
          <p:cNvPr id="137" name="output.rfp.response.content"/>
          <p:cNvSpPr/>
          <p:nvPr/>
        </p:nvSpPr>
        <p:spPr>
          <ns208:xfrm xmlns:ns208="http://schemas.openxmlformats.org/drawingml/2006/main">
            <ns208:off x="6192000" y="1825200"/>
            <ns208:ext cx="2430000" cy="1760400"/>
          </ns208:xfrm>
          <ns209:prstGeom xmlns:ns209="http://schemas.openxmlformats.org/drawingml/2006/main" prst="rect">
            <ns209:avLst/>
          </ns209:prstGeom>
          <ns210:noFill xmlns:ns210="http://schemas.openxmlformats.org/drawingml/2006/main"/>
          <ns211:ln xmlns:ns211="http://schemas.openxmlformats.org/drawingml/2006/main" w="0">
            <ns211:noFill/>
          </ns211:ln>
        </p:spPr>
        <p:txBody>
          <ns212:bodyPr xmlns:ns212="http://schemas.openxmlformats.org/drawingml/2006/main" wrap="square" lIns="0" rIns="0" tIns="0" bIns="0" anchor="t">
            <ns212:noAutofit/>
          </ns212:bodyPr>
          <ns213:lstStyle xmlns:ns213="http://schemas.openxmlformats.org/drawingml/2006/main"/>
          <ns214:p xmlns:ns214="http://schemas.openxmlformats.org/drawingml/2006/main">
            <ns214:pPr algn="l">
              <ns214:lnSpc>
                <ns214:spcPct val="100000"/>
              </ns214:lnSpc>
              <ns214:defRPr sz="1150" b="0">
                <ns214:solidFill>
                  <ns214:srgbClr val="20262C"/>
                </ns214:solidFill>
                <ns214:latin typeface="Arial"/>
                <ns214:ea typeface="Arial"/>
                <ns214:cs typeface="Arial"/>
              </ns214:defRPr>
            </ns214:pPr>
            <ns214:r>
              <ns214:rPr sz="1150" b="0">
                <ns214:solidFill>
                  <ns214:srgbClr val="20262C"/>
                </ns214:solidFill>
                <ns214:latin typeface="Arial"/>
                <ns214:ea typeface="Arial"/>
                <ns214:cs typeface="Arial"/>
              </ns214:rPr>
              <ns214:t>Analysts conduct company research.</ns214:t>
            </ns214:r>
          </ns214:p>
          <ns215:p xmlns:ns215="http://schemas.openxmlformats.org/drawingml/2006/main">
            <ns215:pPr algn="l">
              <ns215:lnSpc>
                <ns215:spcPct val="100000"/>
              </ns215:lnSpc>
              <ns215:defRPr sz="1150" b="0">
                <ns215:solidFill>
                  <ns215:srgbClr val="20262C"/>
                </ns215:solidFill>
                <ns215:latin typeface="Arial"/>
                <ns215:ea typeface="Arial"/>
                <ns215:cs typeface="Arial"/>
              </ns215:defRPr>
            </ns215:pPr>
            <ns215:r>
              <ns215:rPr sz="1150" b="0">
                <ns215:solidFill>
                  <ns215:srgbClr val="20262C"/>
                </ns215:solidFill>
                <ns215:latin typeface="Arial"/>
                <ns215:ea typeface="Arial"/>
                <ns215:cs typeface="Arial"/>
              </ns215:rPr>
              <ns215:t>Portfolio managers discuss the resulting investment views.</ns215:t>
            </ns215:r>
          </ns215:p>
          <ns216:p xmlns:ns216="http://schemas.openxmlformats.org/drawingml/2006/main">
            <ns216:pPr algn="l">
              <ns216:lnSpc>
                <ns216:spcPct val="100000"/>
              </ns216:lnSpc>
              <ns216:defRPr sz="1150" b="0">
                <ns216:solidFill>
                  <ns216:srgbClr val="20262C"/>
                </ns216:solidFill>
                <ns216:latin typeface="Arial"/>
                <ns216:ea typeface="Arial"/>
                <ns216:cs typeface="Arial"/>
              </ns216:defRPr>
            </ns216:pPr>
            <ns216:r>
              <ns216:rPr sz="1150" b="0">
                <ns216:solidFill>
                  <ns216:srgbClr val="20262C"/>
                </ns216:solidFill>
                <ns216:latin typeface="Arial"/>
                <ns216:ea typeface="Arial"/>
                <ns216:cs typeface="Arial"/>
              </ns216:rPr>
              <ns216:t/>
            </ns216:r>
          </ns216:p>
          <ns217:p xmlns:ns217="http://schemas.openxmlformats.org/drawingml/2006/main">
            <ns217:pPr algn="l">
              <ns217:lnSpc>
                <ns217:spcPct val="100000"/>
              </ns217:lnSpc>
              <ns217:defRPr sz="1150" b="0">
                <ns217:solidFill>
                  <ns217:srgbClr val="20262C"/>
                </ns217:solidFill>
                <ns217:latin typeface="Arial"/>
                <ns217:ea typeface="Arial"/>
                <ns217:cs typeface="Arial"/>
              </ns217:defRPr>
            </ns217:pPr>
            <ns217:r>
              <ns217:rPr sz="1150" b="0">
                <ns217:solidFill>
                  <ns217:srgbClr val="20262C"/>
                </ns217:solidFill>
                <ns217:latin typeface="Arial"/>
                <ns217:ea typeface="Arial"/>
                <ns217:cs typeface="Arial"/>
              </ns217:rPr>
              <ns217:t>Source: internal research process description.</ns217:t>
            </ns217:r>
          </ns217:p>
        </p:txBody>
      </p:sp>
      <p:cxnSp>
        <p:nvCxnSpPr>
          <p:cNvPr id="138" name="rfp.draft.flow"/>
          <p:cNvCxnSpPr/>
          <p:nvPr/>
        </p:nvCxnSpPr>
        <p:spPr>
          <ns218:xfrm xmlns:ns218="http://schemas.openxmlformats.org/drawingml/2006/main">
            <ns218:off x="5850000" y="2727000"/>
            <ns218:ext cx="241200" cy="1"/>
          </ns218:xfrm>
          <ns219:prstGeom xmlns:ns219="http://schemas.openxmlformats.org/drawingml/2006/main" prst="line">
            <ns219:avLst/>
          </ns219:prstGeom>
          <ns220:ln xmlns:ns220="http://schemas.openxmlformats.org/drawingml/2006/main" w="11430">
            <ns220:solidFill>
              <ns220:srgbClr val="005A9C"/>
            </ns220:solidFill>
            <ns220:tailEnd type="triangle" w="sm" len="sm"/>
          </ns220:ln>
        </p:spPr>
      </p:cxnSp>
      <p:sp>
        <p:nvSpPr>
          <p:cNvPr id="139" name="human.rfp.business.check"/>
          <p:cNvSpPr/>
          <p:nvPr/>
        </p:nvSpPr>
        <p:spPr>
          <ns221:xfrm xmlns:ns221="http://schemas.openxmlformats.org/drawingml/2006/main">
            <ns221:off x="6127200" y="3942000"/>
            <ns221:ext cx="2559600" cy="540000"/>
          </ns221:xfrm>
          <ns222:prstGeom xmlns:ns222="http://schemas.openxmlformats.org/drawingml/2006/main" prst="roundRect">
            <ns222:avLst/>
          </ns222:prstGeom>
          <ns223:solidFill xmlns:ns223="http://schemas.openxmlformats.org/drawingml/2006/main">
            <ns223:srgbClr val="F3F7FA"/>
          </ns223:solidFill>
          <ns224:ln xmlns:ns224="http://schemas.openxmlformats.org/drawingml/2006/main" w="9525">
            <ns224:solidFill>
              <ns224:srgbClr val="65727D"/>
            </ns224:solidFill>
          </ns224:ln>
        </p:spPr>
        <p:txBody>
          <ns225:bodyPr xmlns:ns225="http://schemas.openxmlformats.org/drawingml/2006/main" wrap="square" lIns="61200" rIns="61200" tIns="61200" bIns="61200" anchor="ctr">
            <ns225:noAutofit/>
          </ns225:bodyPr>
          <ns226:lstStyle xmlns:ns226="http://schemas.openxmlformats.org/drawingml/2006/main"/>
          <ns227:p xmlns:ns227="http://schemas.openxmlformats.org/drawingml/2006/main">
            <ns227:pPr algn="l">
              <ns227:lnSpc>
                <ns227:spcPct val="105000"/>
              </ns227:lnSpc>
              <ns227:defRPr sz="1300" b="1">
                <ns227:solidFill>
                  <ns227:srgbClr val="65727D"/>
                </ns227:solidFill>
                <ns227:latin typeface="Arial"/>
                <ns227:ea typeface="Arial"/>
                <ns227:cs typeface="Arial"/>
              </ns227:defRPr>
            </ns227:pPr>
            <ns227:r>
              <ns227:rPr sz="1300" b="1">
                <ns227:solidFill>
                  <ns227:srgbClr val="65727D"/>
                </ns227:solidFill>
                <ns227:latin typeface="Arial"/>
                <ns227:ea typeface="Arial"/>
                <ns227:cs typeface="Arial"/>
              </ns227:rPr>
              <ns227:t>Business team</ns227:t>
            </ns227:r>
          </ns227:p>
          <ns228:p xmlns:ns228="http://schemas.openxmlformats.org/drawingml/2006/main">
            <ns228:pPr algn="l">
              <ns228:lnSpc>
                <ns228:spcPct val="105000"/>
              </ns228:lnSpc>
              <ns228:defRPr sz="1150" b="0">
                <ns228:solidFill>
                  <ns228:srgbClr val="20262C"/>
                </ns228:solidFill>
                <ns228:latin typeface="Arial"/>
                <ns228:ea typeface="Arial"/>
                <ns228:cs typeface="Arial"/>
              </ns228:defRPr>
            </ns228:pPr>
            <ns228:r>
              <ns228:rPr sz="1150" b="0">
                <ns228:solidFill>
                  <ns228:srgbClr val="20262C"/>
                </ns228:solidFill>
                <ns228:latin typeface="Arial"/>
                <ns228:ea typeface="Arial"/>
                <ns228:cs typeface="Arial"/>
              </ns228:rPr>
              <ns228:t>Check / tailor answer</ns228:t>
            </ns228:r>
          </ns228:p>
        </p:txBody>
      </p:sp>
      <p:cxnSp>
        <p:nvCxnSpPr>
          <p:cNvPr id="140" name="rfp.answer.check"/>
          <p:cNvCxnSpPr/>
          <p:nvPr/>
        </p:nvCxnSpPr>
        <p:spPr>
          <ns229:xfrm xmlns:ns229="http://schemas.openxmlformats.org/drawingml/2006/main">
            <ns229:off x="7407000" y="3672000"/>
            <ns229:ext cx="1" cy="234000"/>
          </ns229:xfrm>
          <ns230:prstGeom xmlns:ns230="http://schemas.openxmlformats.org/drawingml/2006/main" prst="line">
            <ns230:avLst/>
          </ns230:prstGeom>
          <ns231:ln xmlns:ns231="http://schemas.openxmlformats.org/drawingml/2006/main" w="11430">
            <ns231:solidFill>
              <ns231:srgbClr val="005A9C"/>
            </ns231:solidFill>
            <ns231:tailEnd type="triangle" w="sm" len="sm"/>
          </ns231:ln>
        </p:spPr>
      </p:cxnSp>
    </p:spTree>
    <p:extLst>
      <p:ext uri="{BB962C8B-B14F-4D97-AF65-F5344CB8AC3E}">
        <p14:creationId xmlns:p14="http://schemas.microsoft.com/office/powerpoint/2010/main" val="12856268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application: drafting client updates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office / Client communications / Proposed application</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Tianhong; ICBCUBS; China Merchants Fund</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focus.client"/>
          <p:cNvSpPr/>
          <p:nvPr/>
        </p:nvSpPr>
        <p:spPr>
          <ns45:xfrm xmlns:ns45="http://schemas.openxmlformats.org/drawingml/2006/main">
            <ns45:off x="486000" y="2196000"/>
            <ns45:ext cx="1677600" cy="176400"/>
          </ns45:xfrm>
          <ns46:prstGeom xmlns:ns46="http://schemas.openxmlformats.org/drawingml/2006/main" prst="rect">
            <ns46:avLst/>
          </ns46:prstGeom>
          <ns47:solidFill xmlns:ns47="http://schemas.openxmlformats.org/drawingml/2006/main">
            <ns47:srgbClr val="D9EAF7"/>
          </ns47:solidFill>
          <ns48:ln xmlns:ns48="http://schemas.openxmlformats.org/drawingml/2006/main" w="0">
            <ns48:noFill/>
          </ns48:ln>
        </p:spPr>
      </p:sp>
      <p:sp>
        <p:nvSpPr>
          <p:cNvPr id="109"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1">
                <ns55:solidFill>
                  <ns55:srgbClr val="005A9C"/>
                </ns55:solidFill>
                <ns55:latin typeface="Arial"/>
                <ns55:ea typeface="Arial"/>
                <ns55:cs typeface="Arial"/>
              </ns55:defRPr>
            </ns55:pPr>
            <ns55:r>
              <ns55:rPr sz="1050" b="1">
                <ns55:solidFill>
                  <ns55:srgbClr val="005A9C"/>
                </ns55:solidFill>
                <ns55:latin typeface="Arial"/>
                <ns55:ea typeface="Arial"/>
                <ns55:cs typeface="Arial"/>
              </ns55:rPr>
              <ns55:t>Client materials</ns55:t>
            </ns55:r>
          </ns55:p>
        </p:txBody>
      </p:sp>
      <p:sp>
        <p:nvSpPr>
          <p:cNvPr id="110"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11"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drafting.0.paper"/>
          <p:cNvSpPr/>
          <p:nvPr/>
        </p:nvSpPr>
        <p:spPr>
          <ns111:xfrm xmlns:ns111="http://schemas.openxmlformats.org/drawingml/2006/main">
            <ns111:off x="2422800" y="1548000"/>
            <ns111:ext cx="1440000" cy="648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7363A6"/>
            </ns114:solidFill>
          </ns114:ln>
        </p:spPr>
      </p:sp>
      <p:sp>
        <p:nvSpPr>
          <p:cNvPr id="120" name="input.drafting.0.title"/>
          <p:cNvSpPr/>
          <p:nvPr/>
        </p:nvSpPr>
        <p:spPr>
          <ns115:xfrm xmlns:ns115="http://schemas.openxmlformats.org/drawingml/2006/main">
            <ns115:off x="2487600" y="1591200"/>
            <ns115:ext cx="124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7363A6"/>
                </ns121:solidFill>
                <ns121:latin typeface="Arial"/>
                <ns121:ea typeface="Arial"/>
                <ns121:cs typeface="Arial"/>
              </ns121:defRPr>
            </ns121:pPr>
            <ns121:r>
              <ns121:rPr sz="1250" b="1">
                <ns121:solidFill>
                  <ns121:srgbClr val="7363A6"/>
                </ns121:solidFill>
                <ns121:latin typeface="Arial"/>
                <ns121:ea typeface="Arial"/>
                <ns121:cs typeface="Arial"/>
              </ns121:rPr>
              <ns121:t>Client question</ns121:t>
            </ns121:r>
          </ns121:p>
        </p:txBody>
      </p:sp>
      <p:sp>
        <p:nvSpPr>
          <p:cNvPr id="121" name="input.drafting.0.content"/>
          <p:cNvSpPr/>
          <p:nvPr/>
        </p:nvSpPr>
        <p:spPr>
          <ns122:xfrm xmlns:ns122="http://schemas.openxmlformats.org/drawingml/2006/main">
            <ns122:off x="2487600" y="1807200"/>
            <ns122:ext cx="1310400" cy="338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What matters this quarter?</ns128:t>
            </ns128:r>
          </ns128:p>
        </p:txBody>
      </p:sp>
      <p:sp>
        <p:nvSpPr>
          <p:cNvPr id="122" name="input.drafting.1.paper"/>
          <p:cNvSpPr/>
          <p:nvPr/>
        </p:nvSpPr>
        <p:spPr>
          <ns129:xfrm xmlns:ns129="http://schemas.openxmlformats.org/drawingml/2006/main">
            <ns129:off x="2422800" y="2358000"/>
            <ns129:ext cx="1440000" cy="648000"/>
          </ns129:xfrm>
          <ns130:prstGeom xmlns:ns130="http://schemas.openxmlformats.org/drawingml/2006/main" prst="foldedCorner">
            <ns130:avLst/>
          </ns130:prstGeom>
          <ns131:solidFill xmlns:ns131="http://schemas.openxmlformats.org/drawingml/2006/main">
            <ns131:srgbClr val="FFFFFF"/>
          </ns131:solidFill>
          <ns132:ln xmlns:ns132="http://schemas.openxmlformats.org/drawingml/2006/main" w="9525">
            <ns132:solidFill>
              <ns132:srgbClr val="7363A6"/>
            </ns132:solidFill>
          </ns132:ln>
        </p:spPr>
      </p:sp>
      <p:sp>
        <p:nvSpPr>
          <p:cNvPr id="123" name="input.drafting.1.title"/>
          <p:cNvSpPr/>
          <p:nvPr/>
        </p:nvSpPr>
        <p:spPr>
          <ns133:xfrm xmlns:ns133="http://schemas.openxmlformats.org/drawingml/2006/main">
            <ns133:off x="2487600" y="2401200"/>
            <ns133:ext cx="1242000" cy="1980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5000"/>
              </ns139:lnSpc>
              <ns139:defRPr sz="1250" b="1">
                <ns139:solidFill>
                  <ns139:srgbClr val="7363A6"/>
                </ns139:solidFill>
                <ns139:latin typeface="Arial"/>
                <ns139:ea typeface="Arial"/>
                <ns139:cs typeface="Arial"/>
              </ns139:defRPr>
            </ns139:pPr>
            <ns139:r>
              <ns139:rPr sz="1250" b="1">
                <ns139:solidFill>
                  <ns139:srgbClr val="7363A6"/>
                </ns139:solidFill>
                <ns139:latin typeface="Arial"/>
                <ns139:ea typeface="Arial"/>
                <ns139:cs typeface="Arial"/>
              </ns139:rPr>
              <ns139:t>Investment view</ns139:t>
            </ns139:r>
          </ns139:p>
        </p:txBody>
      </p:sp>
      <p:sp>
        <p:nvSpPr>
          <p:cNvPr id="124" name="input.drafting.1.content"/>
          <p:cNvSpPr/>
          <p:nvPr/>
        </p:nvSpPr>
        <p:spPr>
          <ns140:xfrm xmlns:ns140="http://schemas.openxmlformats.org/drawingml/2006/main">
            <ns140:off x="2487600" y="2617200"/>
            <ns140:ext cx="1310400" cy="338400"/>
          </ns140:xfrm>
          <ns141:prstGeom xmlns:ns141="http://schemas.openxmlformats.org/drawingml/2006/main" prst="rect">
            <ns141:avLst/>
          </ns141:prstGeom>
          <ns142:noFill xmlns:ns142="http://schemas.openxmlformats.org/drawingml/2006/main"/>
          <ns143:ln xmlns:ns143="http://schemas.openxmlformats.org/drawingml/2006/main" w="0">
            <ns143:noFill/>
          </ns143:ln>
        </p:spPr>
        <p:txBody>
          <ns144:bodyPr xmlns:ns144="http://schemas.openxmlformats.org/drawingml/2006/main" wrap="square" lIns="0" rIns="0" tIns="0" bIns="0" anchor="t">
            <ns144:noAutofit/>
          </ns144:bodyPr>
          <ns145:lstStyle xmlns:ns145="http://schemas.openxmlformats.org/drawingml/2006/main"/>
          <ns146:p xmlns:ns146="http://schemas.openxmlformats.org/drawingml/2006/main">
            <ns146:pPr algn="l">
              <ns146:lnSpc>
                <ns146:spcPct val="100000"/>
              </ns146:lnSpc>
              <ns146:defRPr sz="1050" b="0">
                <ns146:solidFill>
                  <ns146:srgbClr val="20262C"/>
                </ns146:solidFill>
                <ns146:latin typeface="Arial"/>
                <ns146:ea typeface="Arial"/>
                <ns146:cs typeface="Arial"/>
              </ns146:defRPr>
            </ns146:pPr>
            <ns146:r>
              <ns146:rPr sz="1050" b="0">
                <ns146:solidFill>
                  <ns146:srgbClr val="20262C"/>
                </ns146:solidFill>
                <ns146:latin typeface="Arial"/>
                <ns146:ea typeface="Arial"/>
                <ns146:cs typeface="Arial"/>
              </ns146:rPr>
              <ns146:t>Sales volume / input costs</ns146:t>
            </ns146:r>
          </ns146:p>
        </p:txBody>
      </p:sp>
      <p:sp>
        <p:nvSpPr>
          <p:cNvPr id="125" name="input.drafting.2.paper"/>
          <p:cNvSpPr/>
          <p:nvPr/>
        </p:nvSpPr>
        <p:spPr>
          <ns147:xfrm xmlns:ns147="http://schemas.openxmlformats.org/drawingml/2006/main">
            <ns147:off x="2422800" y="3168000"/>
            <ns147:ext cx="1440000" cy="648000"/>
          </ns147:xfrm>
          <ns148:prstGeom xmlns:ns148="http://schemas.openxmlformats.org/drawingml/2006/main" prst="foldedCorner">
            <ns148:avLst/>
          </ns148:prstGeom>
          <ns149:solidFill xmlns:ns149="http://schemas.openxmlformats.org/drawingml/2006/main">
            <ns149:srgbClr val="FFFFFF"/>
          </ns149:solidFill>
          <ns150:ln xmlns:ns150="http://schemas.openxmlformats.org/drawingml/2006/main" w="9525">
            <ns150:solidFill>
              <ns150:srgbClr val="7363A6"/>
            </ns150:solidFill>
          </ns150:ln>
        </p:spPr>
      </p:sp>
      <p:sp>
        <p:nvSpPr>
          <p:cNvPr id="126" name="input.drafting.2.title"/>
          <p:cNvSpPr/>
          <p:nvPr/>
        </p:nvSpPr>
        <p:spPr>
          <ns151:xfrm xmlns:ns151="http://schemas.openxmlformats.org/drawingml/2006/main">
            <ns151:off x="2487600" y="3211200"/>
            <ns151:ext cx="1242000" cy="1980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5000"/>
              </ns157:lnSpc>
              <ns157:defRPr sz="1250" b="1">
                <ns157:solidFill>
                  <ns157:srgbClr val="7363A6"/>
                </ns157:solidFill>
                <ns157:latin typeface="Arial"/>
                <ns157:ea typeface="Arial"/>
                <ns157:cs typeface="Arial"/>
              </ns157:defRPr>
            </ns157:pPr>
            <ns157:r>
              <ns157:rPr sz="1250" b="1">
                <ns157:solidFill>
                  <ns157:srgbClr val="7363A6"/>
                </ns157:solidFill>
                <ns157:latin typeface="Arial"/>
                <ns157:ea typeface="Arial"/>
                <ns157:cs typeface="Arial"/>
              </ns157:rPr>
              <ns157:t>Product source</ns157:t>
            </ns157:r>
          </ns157:p>
        </p:txBody>
      </p:sp>
      <p:sp>
        <p:nvSpPr>
          <p:cNvPr id="127" name="input.drafting.2.content"/>
          <p:cNvSpPr/>
          <p:nvPr/>
        </p:nvSpPr>
        <p:spPr>
          <ns158:xfrm xmlns:ns158="http://schemas.openxmlformats.org/drawingml/2006/main">
            <ns158:off x="2487600" y="3427200"/>
            <ns158:ext cx="1310400" cy="338400"/>
          </ns158:xfrm>
          <ns159:prstGeom xmlns:ns159="http://schemas.openxmlformats.org/drawingml/2006/main" prst="rect">
            <ns159:avLst/>
          </ns159:prstGeom>
          <ns160:noFill xmlns:ns160="http://schemas.openxmlformats.org/drawingml/2006/main"/>
          <ns161:ln xmlns:ns161="http://schemas.openxmlformats.org/drawingml/2006/main" w="0">
            <ns161:noFill/>
          </ns161:ln>
        </p:spPr>
        <p:txBody>
          <ns162:bodyPr xmlns:ns162="http://schemas.openxmlformats.org/drawingml/2006/main" wrap="square" lIns="0" rIns="0" tIns="0" bIns="0" anchor="t">
            <ns162:noAutofit/>
          </ns162:bodyPr>
          <ns163:lstStyle xmlns:ns163="http://schemas.openxmlformats.org/drawingml/2006/main"/>
          <ns164:p xmlns:ns164="http://schemas.openxmlformats.org/drawingml/2006/main">
            <ns164:pPr algn="l">
              <ns164:lnSpc>
                <ns164:spcPct val="100000"/>
              </ns164:lnSpc>
              <ns164:defRPr sz="1050" b="0">
                <ns164:solidFill>
                  <ns164:srgbClr val="20262C"/>
                </ns164:solidFill>
                <ns164:latin typeface="Arial"/>
                <ns164:ea typeface="Arial"/>
                <ns164:cs typeface="Arial"/>
              </ns164:defRPr>
            </ns164:pPr>
            <ns164:r>
              <ns164:rPr sz="1050" b="0">
                <ns164:solidFill>
                  <ns164:srgbClr val="20262C"/>
                </ns164:solidFill>
                <ns164:latin typeface="Arial"/>
                <ns164:ea typeface="Arial"/>
                <ns164:cs typeface="Arial"/>
              </ns164:rPr>
              <ns164:t>Q2 2026 / V1</ns164:t>
            </ns164:r>
          </ns164:p>
        </p:txBody>
      </p:sp>
      <p:sp>
        <p:nvSpPr>
          <p:cNvPr id="128" name="role.llm.drafting"/>
          <p:cNvSpPr/>
          <p:nvPr/>
        </p:nvSpPr>
        <p:spPr>
          <ns165:xfrm xmlns:ns165="http://schemas.openxmlformats.org/drawingml/2006/main">
            <ns165:off x="4114800" y="2376000"/>
            <ns165:ext cx="1458000" cy="918000"/>
          </ns165:xfrm>
          <ns166:prstGeom xmlns:ns166="http://schemas.openxmlformats.org/drawingml/2006/main" prst="roundRect">
            <ns166:avLst/>
          </ns166:prstGeom>
          <ns167:solidFill xmlns:ns167="http://schemas.openxmlformats.org/drawingml/2006/main">
            <ns167:srgbClr val="EAF3FA"/>
          </ns167:solidFill>
          <ns168:ln xmlns:ns168="http://schemas.openxmlformats.org/drawingml/2006/main" w="9525">
            <ns168:solidFill>
              <ns168:srgbClr val="005A9C"/>
            </ns168:solidFill>
          </ns168:ln>
        </p:spPr>
        <p:txBody>
          <ns169:bodyPr xmlns:ns169="http://schemas.openxmlformats.org/drawingml/2006/main" wrap="square" lIns="61200" rIns="61200" tIns="61200" bIns="61200" anchor="ctr">
            <ns169:noAutofit/>
          </ns169:bodyPr>
          <ns170:lstStyle xmlns:ns170="http://schemas.openxmlformats.org/drawingml/2006/main"/>
          <ns171:p xmlns:ns171="http://schemas.openxmlformats.org/drawingml/2006/main">
            <ns171:pPr algn="l">
              <ns171:lnSpc>
                <ns171:spcPct val="105000"/>
              </ns171:lnSpc>
              <ns171:defRPr sz="1300" b="1">
                <ns171:solidFill>
                  <ns171:srgbClr val="005A9C"/>
                </ns171:solidFill>
                <ns171:latin typeface="Arial"/>
                <ns171:ea typeface="Arial"/>
                <ns171:cs typeface="Arial"/>
              </ns171:defRPr>
            </ns171:pPr>
            <ns171:r>
              <ns171:rPr sz="1300" b="1">
                <ns171:solidFill>
                  <ns171:srgbClr val="005A9C"/>
                </ns171:solidFill>
                <ns171:latin typeface="Arial"/>
                <ns171:ea typeface="Arial"/>
                <ns171:cs typeface="Arial"/>
              </ns171:rPr>
              <ns171:t>LLM</ns171:t>
            </ns171:r>
          </ns171:p>
          <ns172:p xmlns:ns172="http://schemas.openxmlformats.org/drawingml/2006/main">
            <ns172:pPr algn="l">
              <ns172:lnSpc>
                <ns172:spcPct val="105000"/>
              </ns172:lnSpc>
              <ns172:defRPr sz="1200" b="0">
                <ns172:solidFill>
                  <ns172:srgbClr val="20262C"/>
                </ns172:solidFill>
                <ns172:latin typeface="Arial"/>
                <ns172:ea typeface="Arial"/>
                <ns172:cs typeface="Arial"/>
              </ns172:defRPr>
            </ns172:pPr>
            <ns172:r>
              <ns172:rPr sz="1200" b="0">
                <ns172:solidFill>
                  <ns172:srgbClr val="20262C"/>
                </ns172:solidFill>
                <ns172:latin typeface="Arial"/>
                <ns172:ea typeface="Arial"/>
                <ns172:cs typeface="Arial"/>
              </ns172:rPr>
              <ns172:t>Select sources</ns172:t>
            </ns172:r>
          </ns172:p>
          <ns173:p xmlns:ns173="http://schemas.openxmlformats.org/drawingml/2006/main">
            <ns173:pPr algn="l">
              <ns173:lnSpc>
                <ns173:spcPct val="105000"/>
              </ns173:lnSpc>
              <ns173:defRPr sz="1200" b="0">
                <ns173:solidFill>
                  <ns173:srgbClr val="20262C"/>
                </ns173:solidFill>
                <ns173:latin typeface="Arial"/>
                <ns173:ea typeface="Arial"/>
                <ns173:cs typeface="Arial"/>
              </ns173:defRPr>
            </ns173:pPr>
            <ns173:r>
              <ns173:rPr sz="1200" b="0">
                <ns173:solidFill>
                  <ns173:srgbClr val="20262C"/>
                </ns173:solidFill>
                <ns173:latin typeface="Arial"/>
                <ns173:ea typeface="Arial"/>
                <ns173:cs typeface="Arial"/>
              </ns173:rPr>
              <ns173:t>Draft update</ns173:t>
            </ns173:r>
          </ns173:p>
        </p:txBody>
      </p:sp>
      <p:cxnSp>
        <p:nvCxnSpPr>
          <p:cNvPr id="129" name="draft.inputs.merge.source.0"/>
          <p:cNvCxnSpPr/>
          <p:nvPr/>
        </p:nvCxnSpPr>
        <p:spPr>
          <ns174:xfrm xmlns:ns174="http://schemas.openxmlformats.org/drawingml/2006/main">
            <ns174:off x="3862800" y="1872000"/>
            <ns174:ext cx="126000" cy="1"/>
          </ns174:xfrm>
          <ns175:prstGeom xmlns:ns175="http://schemas.openxmlformats.org/drawingml/2006/main" prst="line">
            <ns175:avLst/>
          </ns175:prstGeom>
          <ns176:ln xmlns:ns176="http://schemas.openxmlformats.org/drawingml/2006/main" w="9525">
            <ns176:solidFill>
              <ns176:srgbClr val="7363A6"/>
            </ns176:solidFill>
          </ns176:ln>
        </p:spPr>
      </p:cxnSp>
      <p:cxnSp>
        <p:nvCxnSpPr>
          <p:cNvPr id="130" name="draft.inputs.merge.source.1"/>
          <p:cNvCxnSpPr/>
          <p:nvPr/>
        </p:nvCxnSpPr>
        <p:spPr>
          <ns177:xfrm xmlns:ns177="http://schemas.openxmlformats.org/drawingml/2006/main">
            <ns177:off x="3862800" y="2682000"/>
            <ns177:ext cx="126000" cy="1"/>
          </ns177:xfrm>
          <ns178:prstGeom xmlns:ns178="http://schemas.openxmlformats.org/drawingml/2006/main" prst="line">
            <ns178:avLst/>
          </ns178:prstGeom>
          <ns179:ln xmlns:ns179="http://schemas.openxmlformats.org/drawingml/2006/main" w="9525">
            <ns179:solidFill>
              <ns179:srgbClr val="7363A6"/>
            </ns179:solidFill>
          </ns179:ln>
        </p:spPr>
      </p:cxnSp>
      <p:cxnSp>
        <p:nvCxnSpPr>
          <p:cNvPr id="131" name="draft.inputs.merge.source.2"/>
          <p:cNvCxnSpPr/>
          <p:nvPr/>
        </p:nvCxnSpPr>
        <p:spPr>
          <ns180:xfrm xmlns:ns180="http://schemas.openxmlformats.org/drawingml/2006/main">
            <ns180:off x="3862800" y="3492000"/>
            <ns180:ext cx="126000" cy="1"/>
          </ns180:xfrm>
          <ns181:prstGeom xmlns:ns181="http://schemas.openxmlformats.org/drawingml/2006/main" prst="line">
            <ns181:avLst/>
          </ns181:prstGeom>
          <ns182:ln xmlns:ns182="http://schemas.openxmlformats.org/drawingml/2006/main" w="9525">
            <ns182:solidFill>
              <ns182:srgbClr val="7363A6"/>
            </ns182:solidFill>
          </ns182:ln>
        </p:spPr>
      </p:cxnSp>
      <p:cxnSp>
        <p:nvCxnSpPr>
          <p:cNvPr id="132" name="draft.inputs.merge.bus"/>
          <p:cNvCxnSpPr/>
          <p:nvPr/>
        </p:nvCxnSpPr>
        <p:spPr>
          <ns183:xfrm xmlns:ns183="http://schemas.openxmlformats.org/drawingml/2006/main">
            <ns183:off x="3988800" y="1872000"/>
            <ns183:ext cx="1" cy="1620000"/>
          </ns183:xfrm>
          <ns184:prstGeom xmlns:ns184="http://schemas.openxmlformats.org/drawingml/2006/main" prst="line">
            <ns184:avLst/>
          </ns184:prstGeom>
          <ns185:ln xmlns:ns185="http://schemas.openxmlformats.org/drawingml/2006/main" w="9525">
            <ns185:solidFill>
              <ns185:srgbClr val="7363A6"/>
            </ns185:solidFill>
          </ns185:ln>
        </p:spPr>
      </p:cxnSp>
      <p:cxnSp>
        <p:nvCxnSpPr>
          <p:cNvPr id="133" name="draft.inputs.merge.target"/>
          <p:cNvCxnSpPr/>
          <p:nvPr/>
        </p:nvCxnSpPr>
        <p:spPr>
          <ns186:xfrm xmlns:ns186="http://schemas.openxmlformats.org/drawingml/2006/main">
            <ns186:off x="3988800" y="2835000"/>
            <ns186:ext cx="126000" cy="1"/>
          </ns186:xfrm>
          <ns187:prstGeom xmlns:ns187="http://schemas.openxmlformats.org/drawingml/2006/main" prst="line">
            <ns187:avLst/>
          </ns187:prstGeom>
          <ns188:ln xmlns:ns188="http://schemas.openxmlformats.org/drawingml/2006/main" w="11430">
            <ns188:solidFill>
              <ns188:srgbClr val="7363A6"/>
            </ns188:solidFill>
            <ns188:tailEnd type="triangle" w="sm" len="sm"/>
          </ns188:ln>
        </p:spPr>
      </p:cxnSp>
      <p:sp>
        <p:nvSpPr>
          <p:cNvPr id="134" name="output.client.v1.paper"/>
          <p:cNvSpPr/>
          <p:nvPr/>
        </p:nvSpPr>
        <p:spPr>
          <ns189:xfrm xmlns:ns189="http://schemas.openxmlformats.org/drawingml/2006/main">
            <ns189:off x="5850000" y="1548000"/>
            <ns189:ext cx="2836800" cy="2322000"/>
          </ns189:xfrm>
          <ns190:prstGeom xmlns:ns190="http://schemas.openxmlformats.org/drawingml/2006/main" prst="rect">
            <ns190:avLst/>
          </ns190:prstGeom>
          <ns191:solidFill xmlns:ns191="http://schemas.openxmlformats.org/drawingml/2006/main">
            <ns191:srgbClr val="FFFFFF"/>
          </ns191:solidFill>
          <ns192:ln xmlns:ns192="http://schemas.openxmlformats.org/drawingml/2006/main" w="10160">
            <ns192:solidFill>
              <ns192:srgbClr val="7363A6"/>
            </ns192:solidFill>
          </ns192:ln>
        </p:spPr>
      </p:sp>
      <p:sp>
        <p:nvSpPr>
          <p:cNvPr id="135" name="output.client.v1.title"/>
          <p:cNvSpPr/>
          <p:nvPr/>
        </p:nvSpPr>
        <p:spPr>
          <ns193:xfrm xmlns:ns193="http://schemas.openxmlformats.org/drawingml/2006/main">
            <ns193:off x="5922000" y="1598400"/>
            <ns193:ext cx="2692800" cy="223200"/>
          </ns193:xfrm>
          <ns194:prstGeom xmlns:ns194="http://schemas.openxmlformats.org/drawingml/2006/main" prst="rect">
            <ns194:avLst/>
          </ns194:prstGeom>
          <ns195:noFill xmlns:ns195="http://schemas.openxmlformats.org/drawingml/2006/main"/>
          <ns196:ln xmlns:ns196="http://schemas.openxmlformats.org/drawingml/2006/main" w="0">
            <ns196:noFill/>
          </ns196:ln>
        </p:spPr>
        <p:txBody>
          <ns197:bodyPr xmlns:ns197="http://schemas.openxmlformats.org/drawingml/2006/main" wrap="square" lIns="0" rIns="0" tIns="0" bIns="0" anchor="t">
            <ns197:noAutofit/>
          </ns197:bodyPr>
          <ns198:lstStyle xmlns:ns198="http://schemas.openxmlformats.org/drawingml/2006/main"/>
          <ns199:p xmlns:ns199="http://schemas.openxmlformats.org/drawingml/2006/main">
            <ns199:pPr algn="l">
              <ns199:lnSpc>
                <ns199:spcPct val="105000"/>
              </ns199:lnSpc>
              <ns199:defRPr sz="1300" b="1">
                <ns199:solidFill>
                  <ns199:srgbClr val="7363A6"/>
                </ns199:solidFill>
                <ns199:latin typeface="Arial"/>
                <ns199:ea typeface="Arial"/>
                <ns199:cs typeface="Arial"/>
              </ns199:defRPr>
            </ns199:pPr>
            <ns199:r>
              <ns199:rPr sz="1300" b="1">
                <ns199:solidFill>
                  <ns199:srgbClr val="7363A6"/>
                </ns199:solidFill>
                <ns199:latin typeface="Arial"/>
                <ns199:ea typeface="Arial"/>
                <ns199:cs typeface="Arial"/>
              </ns199:rPr>
              <ns199:t>Quarterly client update V1</ns199:t>
            </ns199:r>
          </ns199:p>
        </p:txBody>
      </p:sp>
      <p:sp>
        <p:nvSpPr>
          <p:cNvPr id="136" name="output.client.v1.fund"/>
          <p:cNvSpPr/>
          <p:nvPr/>
        </p:nvSpPr>
        <p:spPr>
          <ns200:xfrm xmlns:ns200="http://schemas.openxmlformats.org/drawingml/2006/main">
            <ns200:off x="5922000" y="1897200"/>
            <ns200:ext cx="2692800" cy="198000"/>
          </ns200:xfrm>
          <ns201:prstGeom xmlns:ns201="http://schemas.openxmlformats.org/drawingml/2006/main" prst="rect">
            <ns201:avLst/>
          </ns201:prstGeom>
          <ns202:noFill xmlns:ns202="http://schemas.openxmlformats.org/drawingml/2006/main"/>
          <ns203:ln xmlns:ns203="http://schemas.openxmlformats.org/drawingml/2006/main" w="0">
            <ns203:noFill/>
          </ns203:ln>
        </p:spPr>
        <p:txBody>
          <ns204:bodyPr xmlns:ns204="http://schemas.openxmlformats.org/drawingml/2006/main" wrap="square" lIns="0" rIns="0" tIns="0" bIns="0" anchor="t">
            <ns204:noAutofit/>
          </ns204:bodyPr>
          <ns205:lstStyle xmlns:ns205="http://schemas.openxmlformats.org/drawingml/2006/main"/>
          <ns206:p xmlns:ns206="http://schemas.openxmlformats.org/drawingml/2006/main">
            <ns206:pPr algn="l">
              <ns206:lnSpc>
                <ns206:spcPct val="105000"/>
              </ns206:lnSpc>
              <ns206:defRPr sz="1050" b="0">
                <ns206:solidFill>
                  <ns206:srgbClr val="20262C"/>
                </ns206:solidFill>
                <ns206:latin typeface="Arial"/>
                <ns206:ea typeface="Arial"/>
                <ns206:cs typeface="Arial"/>
              </ns206:defRPr>
            </ns206:pPr>
            <ns206:r>
              <ns206:rPr sz="1050" b="0">
                <ns206:solidFill>
                  <ns206:srgbClr val="20262C"/>
                </ns206:solidFill>
                <ns206:latin typeface="Arial"/>
                <ns206:ea typeface="Arial"/>
                <ns206:cs typeface="Arial"/>
              </ns206:rPr>
              <ns206:t>Product A Select</ns206:t>
            </ns206:r>
          </ns206:p>
        </p:txBody>
      </p:sp>
      <p:sp>
        <p:nvSpPr>
          <p:cNvPr id="137" name="output.client.v1.source"/>
          <p:cNvSpPr/>
          <p:nvPr/>
        </p:nvSpPr>
        <p:spPr>
          <ns207:xfrm xmlns:ns207="http://schemas.openxmlformats.org/drawingml/2006/main">
            <ns207:off x="5922000" y="2134800"/>
            <ns207:ext cx="2692800" cy="198000"/>
          </ns207:xfrm>
          <ns208:prstGeom xmlns:ns208="http://schemas.openxmlformats.org/drawingml/2006/main" prst="rect">
            <ns208:avLst/>
          </ns208:prstGeom>
          <ns209:noFill xmlns:ns209="http://schemas.openxmlformats.org/drawingml/2006/main"/>
          <ns210:ln xmlns:ns210="http://schemas.openxmlformats.org/drawingml/2006/main" w="0">
            <ns210:noFill/>
          </ns210:ln>
        </p:spPr>
        <p:txBody>
          <ns211:bodyPr xmlns:ns211="http://schemas.openxmlformats.org/drawingml/2006/main" wrap="square" lIns="0" rIns="0" tIns="0" bIns="0" anchor="t">
            <ns211:noAutofit/>
          </ns211:bodyPr>
          <ns212:lstStyle xmlns:ns212="http://schemas.openxmlformats.org/drawingml/2006/main"/>
          <ns213:p xmlns:ns213="http://schemas.openxmlformats.org/drawingml/2006/main">
            <ns213:pPr algn="l">
              <ns213:lnSpc>
                <ns213:spcPct val="105000"/>
              </ns213:lnSpc>
              <ns213:defRPr sz="1050" b="0">
                <ns213:solidFill>
                  <ns213:srgbClr val="65727D"/>
                </ns213:solidFill>
                <ns213:latin typeface="Arial"/>
                <ns213:ea typeface="Arial"/>
                <ns213:cs typeface="Arial"/>
              </ns213:defRPr>
            </ns213:pPr>
            <ns213:r>
              <ns213:rPr sz="1050" b="0">
                <ns213:solidFill>
                  <ns213:srgbClr val="65727D"/>
                </ns213:solidFill>
                <ns213:latin typeface="Arial"/>
                <ns213:ea typeface="Arial"/>
                <ns213:cs typeface="Arial"/>
              </ns213:rPr>
              <ns213:t>Product source: Q2 2026, V1</ns213:t>
            </ns213:r>
          </ns213:p>
        </p:txBody>
      </p:sp>
      <p:sp>
        <p:nvSpPr>
          <p:cNvPr id="138" name="output.client.v1.view.label"/>
          <p:cNvSpPr/>
          <p:nvPr/>
        </p:nvSpPr>
        <p:spPr>
          <ns214:xfrm xmlns:ns214="http://schemas.openxmlformats.org/drawingml/2006/main">
            <ns214:off x="5922000" y="2412000"/>
            <ns214:ext cx="2692800" cy="162000"/>
          </ns214:xfrm>
          <ns215:prstGeom xmlns:ns215="http://schemas.openxmlformats.org/drawingml/2006/main" prst="rect">
            <ns215:avLst/>
          </ns215:prstGeom>
          <ns216:noFill xmlns:ns216="http://schemas.openxmlformats.org/drawingml/2006/main"/>
          <ns217:ln xmlns:ns217="http://schemas.openxmlformats.org/drawingml/2006/main" w="0">
            <ns217:noFill/>
          </ns217:ln>
        </p:spPr>
        <p:txBody>
          <ns218:bodyPr xmlns:ns218="http://schemas.openxmlformats.org/drawingml/2006/main" wrap="square" lIns="0" rIns="0" tIns="0" bIns="0" anchor="t">
            <ns218:noAutofit/>
          </ns218:bodyPr>
          <ns219:lstStyle xmlns:ns219="http://schemas.openxmlformats.org/drawingml/2006/main"/>
          <ns220:p xmlns:ns220="http://schemas.openxmlformats.org/drawingml/2006/main">
            <ns220:pPr algn="l">
              <ns220:lnSpc>
                <ns220:spcPct val="105000"/>
              </ns220:lnSpc>
              <ns220:defRPr sz="1050" b="1">
                <ns220:solidFill>
                  <ns220:srgbClr val="20262C"/>
                </ns220:solidFill>
                <ns220:latin typeface="Arial"/>
                <ns220:ea typeface="Arial"/>
                <ns220:cs typeface="Arial"/>
              </ns220:defRPr>
            </ns220:pPr>
            <ns220:r>
              <ns220:rPr sz="1050" b="1">
                <ns220:solidFill>
                  <ns220:srgbClr val="20262C"/>
                </ns220:solidFill>
                <ns220:latin typeface="Arial"/>
                <ns220:ea typeface="Arial"/>
                <ns220:cs typeface="Arial"/>
              </ns220:rPr>
              <ns220:t>Investment view</ns220:t>
            </ns220:r>
          </ns220:p>
        </p:txBody>
      </p:sp>
      <p:sp>
        <p:nvSpPr>
          <p:cNvPr id="139" name="output.client.v1.view.line.0.0"/>
          <p:cNvSpPr/>
          <p:nvPr/>
        </p:nvSpPr>
        <p:spPr>
          <ns221:xfrm xmlns:ns221="http://schemas.openxmlformats.org/drawingml/2006/main">
            <ns221:off x="5922000" y="2617200"/>
            <ns221:ext cx="2692800" cy="208800"/>
          </ns221:xfrm>
          <ns222:prstGeom xmlns:ns222="http://schemas.openxmlformats.org/drawingml/2006/main" prst="rect">
            <ns222:avLst/>
          </ns222:prstGeom>
          <ns223:noFill xmlns:ns223="http://schemas.openxmlformats.org/drawingml/2006/main"/>
          <ns224:ln xmlns:ns224="http://schemas.openxmlformats.org/drawingml/2006/main" w="0">
            <ns224:noFill/>
          </ns224:ln>
        </p:spPr>
        <p:txBody>
          <ns225:bodyPr xmlns:ns225="http://schemas.openxmlformats.org/drawingml/2006/main" wrap="square" lIns="0" rIns="0" tIns="0" bIns="0" anchor="t">
            <ns225:noAutofit/>
          </ns225:bodyPr>
          <ns226:lstStyle xmlns:ns226="http://schemas.openxmlformats.org/drawingml/2006/main"/>
          <ns227:p xmlns:ns227="http://schemas.openxmlformats.org/drawingml/2006/main">
            <ns227:pPr algn="l">
              <ns227:lnSpc>
                <ns227:spcPct val="100000"/>
              </ns227:lnSpc>
              <ns227:defRPr sz="1200" b="0">
                <ns227:solidFill>
                  <ns227:srgbClr val="20262C"/>
                </ns227:solidFill>
                <ns227:latin typeface="Arial"/>
                <ns227:ea typeface="Arial"/>
                <ns227:cs typeface="Arial"/>
              </ns227:defRPr>
            </ns227:pPr>
            <ns227:r>
              <ns227:rPr sz="1200" b="0">
                <ns227:solidFill>
                  <ns227:srgbClr val="20262C"/>
                </ns227:solidFill>
                <ns227:latin typeface="Arial"/>
                <ns227:ea typeface="Arial"/>
                <ns227:cs typeface="Arial"/>
              </ns227:rPr>
              <ns227:t>Higher sales volumes drove Company</ns227:t>
            </ns227:r>
          </ns227:p>
        </p:txBody>
      </p:sp>
      <p:sp>
        <p:nvSpPr>
          <p:cNvPr id="140" name="output.client.v1.view.line.0.1"/>
          <p:cNvSpPr/>
          <p:nvPr/>
        </p:nvSpPr>
        <p:spPr>
          <ns228:xfrm xmlns:ns228="http://schemas.openxmlformats.org/drawingml/2006/main">
            <ns228:off x="5922000" y="2826000"/>
            <ns228:ext cx="2692800" cy="208800"/>
          </ns228:xfrm>
          <ns229:prstGeom xmlns:ns229="http://schemas.openxmlformats.org/drawingml/2006/main" prst="rect">
            <ns229:avLst/>
          </ns229:prstGeom>
          <ns230:noFill xmlns:ns230="http://schemas.openxmlformats.org/drawingml/2006/main"/>
          <ns231:ln xmlns:ns231="http://schemas.openxmlformats.org/drawingml/2006/main" w="0">
            <ns231:noFill/>
          </ns231:ln>
        </p:spPr>
        <p:txBody>
          <ns232:bodyPr xmlns:ns232="http://schemas.openxmlformats.org/drawingml/2006/main" wrap="square" lIns="0" rIns="0" tIns="0" bIns="0" anchor="t">
            <ns232:noAutofit/>
          </ns232:bodyPr>
          <ns233:lstStyle xmlns:ns233="http://schemas.openxmlformats.org/drawingml/2006/main"/>
          <ns234:p xmlns:ns234="http://schemas.openxmlformats.org/drawingml/2006/main">
            <ns234:pPr algn="l">
              <ns234:lnSpc>
                <ns234:spcPct val="100000"/>
              </ns234:lnSpc>
              <ns234:defRPr sz="1200" b="0">
                <ns234:solidFill>
                  <ns234:srgbClr val="20262C"/>
                </ns234:solidFill>
                <ns234:latin typeface="Arial"/>
                <ns234:ea typeface="Arial"/>
                <ns234:cs typeface="Arial"/>
              </ns234:defRPr>
            </ns234:pPr>
            <ns234:r>
              <ns234:rPr sz="1200" b="0">
                <ns234:solidFill>
                  <ns234:srgbClr val="20262C"/>
                </ns234:solidFill>
                <ns234:latin typeface="Arial"/>
                <ns234:ea typeface="Arial"/>
                <ns234:cs typeface="Arial"/>
              </ns234:rPr>
              <ns234:t>A’s revenue growth.</ns234:t>
            </ns234:r>
          </ns234:p>
        </p:txBody>
      </p:sp>
      <p:sp>
        <p:nvSpPr>
          <p:cNvPr id="141" name="output.client.v1.view.line.1.0"/>
          <p:cNvSpPr/>
          <p:nvPr/>
        </p:nvSpPr>
        <p:spPr>
          <ns235:xfrm xmlns:ns235="http://schemas.openxmlformats.org/drawingml/2006/main">
            <ns235:off x="5922000" y="3070800"/>
            <ns235:ext cx="2692800" cy="208800"/>
          </ns235:xfrm>
          <ns236:prstGeom xmlns:ns236="http://schemas.openxmlformats.org/drawingml/2006/main" prst="rect">
            <ns236:avLst/>
          </ns236:prstGeom>
          <ns237:noFill xmlns:ns237="http://schemas.openxmlformats.org/drawingml/2006/main"/>
          <ns238:ln xmlns:ns238="http://schemas.openxmlformats.org/drawingml/2006/main" w="0">
            <ns238:noFill/>
          </ns238:ln>
        </p:spPr>
        <p:txBody>
          <ns239:bodyPr xmlns:ns239="http://schemas.openxmlformats.org/drawingml/2006/main" wrap="square" lIns="0" rIns="0" tIns="0" bIns="0" anchor="t">
            <ns239:noAutofit/>
          </ns239:bodyPr>
          <ns240:lstStyle xmlns:ns240="http://schemas.openxmlformats.org/drawingml/2006/main"/>
          <ns241:p xmlns:ns241="http://schemas.openxmlformats.org/drawingml/2006/main">
            <ns241:pPr algn="l">
              <ns241:lnSpc>
                <ns241:spcPct val="100000"/>
              </ns241:lnSpc>
              <ns241:defRPr sz="1200" b="0">
                <ns241:solidFill>
                  <ns241:srgbClr val="20262C"/>
                </ns241:solidFill>
                <ns241:latin typeface="Arial"/>
                <ns241:ea typeface="Arial"/>
                <ns241:cs typeface="Arial"/>
              </ns241:defRPr>
            </ns241:pPr>
            <ns241:r>
              <ns241:rPr sz="1200" b="0">
                <ns241:solidFill>
                  <ns241:srgbClr val="20262C"/>
                </ns241:solidFill>
                <ns241:latin typeface="Arial"/>
                <ns241:ea typeface="Arial"/>
                <ns241:cs typeface="Arial"/>
              </ns241:rPr>
              <ns241:t>We are monitoring raw-material costs.</ns241:t>
            </ns241:r>
          </ns241:p>
        </p:txBody>
      </p:sp>
      <p:sp>
        <p:nvSpPr>
          <p:cNvPr id="142" name="output.client.v1.risk.label"/>
          <p:cNvSpPr/>
          <p:nvPr/>
        </p:nvSpPr>
        <p:spPr>
          <ns242:xfrm xmlns:ns242="http://schemas.openxmlformats.org/drawingml/2006/main">
            <ns242:off x="5922000" y="3394800"/>
            <ns242:ext cx="2692800" cy="162000"/>
          </ns242:xfrm>
          <ns243:prstGeom xmlns:ns243="http://schemas.openxmlformats.org/drawingml/2006/main" prst="rect">
            <ns243:avLst/>
          </ns243:prstGeom>
          <ns244:noFill xmlns:ns244="http://schemas.openxmlformats.org/drawingml/2006/main"/>
          <ns245:ln xmlns:ns245="http://schemas.openxmlformats.org/drawingml/2006/main" w="0">
            <ns245:noFill/>
          </ns245:ln>
        </p:spPr>
        <p:txBody>
          <ns246:bodyPr xmlns:ns246="http://schemas.openxmlformats.org/drawingml/2006/main" wrap="square" lIns="0" rIns="0" tIns="0" bIns="0" anchor="t">
            <ns246:noAutofit/>
          </ns246:bodyPr>
          <ns247:lstStyle xmlns:ns247="http://schemas.openxmlformats.org/drawingml/2006/main"/>
          <ns248:p xmlns:ns248="http://schemas.openxmlformats.org/drawingml/2006/main">
            <ns248:pPr algn="l">
              <ns248:lnSpc>
                <ns248:spcPct val="105000"/>
              </ns248:lnSpc>
              <ns248:defRPr sz="1050" b="1">
                <ns248:solidFill>
                  <ns248:srgbClr val="20262C"/>
                </ns248:solidFill>
                <ns248:latin typeface="Arial"/>
                <ns248:ea typeface="Arial"/>
                <ns248:cs typeface="Arial"/>
              </ns248:defRPr>
            </ns248:pPr>
            <ns248:r>
              <ns248:rPr sz="1050" b="1">
                <ns248:solidFill>
                  <ns248:srgbClr val="20262C"/>
                </ns248:solidFill>
                <ns248:latin typeface="Arial"/>
                <ns248:ea typeface="Arial"/>
                <ns248:cs typeface="Arial"/>
              </ns248:rPr>
              <ns248:t>Risk disclosure</ns248:t>
            </ns248:r>
          </ns248:p>
        </p:txBody>
      </p:sp>
      <p:sp>
        <p:nvSpPr>
          <p:cNvPr id="143" name="output.client.v1.risk.line.0.0"/>
          <p:cNvSpPr/>
          <p:nvPr/>
        </p:nvSpPr>
        <p:spPr>
          <ns249:xfrm xmlns:ns249="http://schemas.openxmlformats.org/drawingml/2006/main">
            <ns249:off x="5922000" y="3592800"/>
            <ns249:ext cx="2692800" cy="208800"/>
          </ns249:xfrm>
          <ns250:prstGeom xmlns:ns250="http://schemas.openxmlformats.org/drawingml/2006/main" prst="rect">
            <ns250:avLst/>
          </ns250:prstGeom>
          <ns251:noFill xmlns:ns251="http://schemas.openxmlformats.org/drawingml/2006/main"/>
          <ns252:ln xmlns:ns252="http://schemas.openxmlformats.org/drawingml/2006/main" w="0">
            <ns252:noFill/>
          </ns252:ln>
        </p:spPr>
        <p:txBody>
          <ns253:bodyPr xmlns:ns253="http://schemas.openxmlformats.org/drawingml/2006/main" wrap="square" lIns="0" rIns="0" tIns="0" bIns="0" anchor="t">
            <ns253:noAutofit/>
          </ns253:bodyPr>
          <ns254:lstStyle xmlns:ns254="http://schemas.openxmlformats.org/drawingml/2006/main"/>
          <ns255:p xmlns:ns255="http://schemas.openxmlformats.org/drawingml/2006/main">
            <ns255:pPr algn="l">
              <ns255:lnSpc>
                <ns255:spcPct val="100000"/>
              </ns255:lnSpc>
              <ns255:defRPr sz="1050" b="0">
                <ns255:solidFill>
                  <ns255:srgbClr val="20262C"/>
                </ns255:solidFill>
                <ns255:latin typeface="Arial"/>
                <ns255:ea typeface="Arial"/>
                <ns255:cs typeface="Arial"/>
              </ns255:defRPr>
            </ns255:pPr>
            <ns255:r>
              <ns255:rPr sz="1050" b="0">
                <ns255:solidFill>
                  <ns255:srgbClr val="20262C"/>
                </ns255:solidFill>
                <ns255:latin typeface="Arial"/>
                <ns255:ea typeface="Arial"/>
                <ns255:cs typeface="Arial"/>
              </ns255:rPr>
              <ns255:t>Investing involves risk.</ns255:t>
            </ns255:r>
          </ns255:p>
        </p:txBody>
      </p:sp>
      <p:cxnSp>
        <p:nvCxnSpPr>
          <p:cNvPr id="144" name="llm.to.v1"/>
          <p:cNvCxnSpPr/>
          <p:nvPr/>
        </p:nvCxnSpPr>
        <p:spPr>
          <ns256:xfrm xmlns:ns256="http://schemas.openxmlformats.org/drawingml/2006/main">
            <ns256:off x="5572800" y="2835000"/>
            <ns256:ext cx="241200" cy="1"/>
          </ns256:xfrm>
          <ns257:prstGeom xmlns:ns257="http://schemas.openxmlformats.org/drawingml/2006/main" prst="line">
            <ns257:avLst/>
          </ns257:prstGeom>
          <ns258:ln xmlns:ns258="http://schemas.openxmlformats.org/drawingml/2006/main" w="11430">
            <ns258:solidFill>
              <ns258:srgbClr val="7363A6"/>
            </ns258:solidFill>
            <ns258:tailEnd type="triangle" w="sm" len="sm"/>
          </ns258:ln>
        </p:spPr>
      </p:cxnSp>
      <p:sp>
        <p:nvSpPr>
          <p:cNvPr id="145" name="human.client.submission"/>
          <p:cNvSpPr/>
          <p:nvPr/>
        </p:nvSpPr>
        <p:spPr>
          <ns259:xfrm xmlns:ns259="http://schemas.openxmlformats.org/drawingml/2006/main">
            <ns259:off x="5850000" y="4086000"/>
            <ns259:ext cx="2836800" cy="360000"/>
          </ns259:xfrm>
          <ns260:prstGeom xmlns:ns260="http://schemas.openxmlformats.org/drawingml/2006/main" prst="roundRect">
            <ns260:avLst/>
          </ns260:prstGeom>
          <ns261:solidFill xmlns:ns261="http://schemas.openxmlformats.org/drawingml/2006/main">
            <ns261:srgbClr val="F3F7FA"/>
          </ns261:solidFill>
          <ns262:ln xmlns:ns262="http://schemas.openxmlformats.org/drawingml/2006/main" w="9525">
            <ns262:solidFill>
              <ns262:srgbClr val="65727D"/>
            </ns262:solidFill>
          </ns262:ln>
        </p:spPr>
        <p:txBody>
          <ns263:bodyPr xmlns:ns263="http://schemas.openxmlformats.org/drawingml/2006/main" wrap="square" lIns="61200" rIns="61200" tIns="61200" bIns="61200" anchor="ctr">
            <ns263:noAutofit/>
          </ns263:bodyPr>
          <ns264:lstStyle xmlns:ns264="http://schemas.openxmlformats.org/drawingml/2006/main"/>
          <ns265:p xmlns:ns265="http://schemas.openxmlformats.org/drawingml/2006/main">
            <ns265:pPr algn="l">
              <ns265:lnSpc>
                <ns265:spcPct val="105000"/>
              </ns265:lnSpc>
              <ns265:defRPr sz="1300" b="1">
                <ns265:solidFill>
                  <ns265:srgbClr val="65727D"/>
                </ns265:solidFill>
                <ns265:latin typeface="Arial"/>
                <ns265:ea typeface="Arial"/>
                <ns265:cs typeface="Arial"/>
              </ns265:defRPr>
            </ns265:pPr>
            <ns265:r>
              <ns265:rPr sz="1300" b="1">
                <ns265:solidFill>
                  <ns265:srgbClr val="65727D"/>
                </ns265:solidFill>
                <ns265:latin typeface="Arial"/>
                <ns265:ea typeface="Arial"/>
                <ns265:cs typeface="Arial"/>
              </ns265:rPr>
              <ns265:t>Client team: check / submit V1</ns265:t>
            </ns265:r>
          </ns265:p>
        </p:txBody>
      </p:sp>
      <p:cxnSp>
        <p:nvCxnSpPr>
          <p:cNvPr id="146" name="v1.to.client.check"/>
          <p:cNvCxnSpPr/>
          <p:nvPr/>
        </p:nvCxnSpPr>
        <p:spPr>
          <ns266:xfrm xmlns:ns266="http://schemas.openxmlformats.org/drawingml/2006/main">
            <ns266:off x="7268400" y="3906000"/>
            <ns266:ext cx="1" cy="144000"/>
          </ns266:xfrm>
          <ns267:prstGeom xmlns:ns267="http://schemas.openxmlformats.org/drawingml/2006/main" prst="line">
            <ns267:avLst/>
          </ns267:prstGeom>
          <ns268:ln xmlns:ns268="http://schemas.openxmlformats.org/drawingml/2006/main" w="11430">
            <ns268:solidFill>
              <ns268:srgbClr val="7363A6"/>
            </ns268:solidFill>
            <ns268:tailEnd type="triangle" w="sm" len="sm"/>
          </ns268:ln>
        </p:spPr>
      </p:cxnSp>
    </p:spTree>
    <p:extLst>
      <p:ext uri="{BB962C8B-B14F-4D97-AF65-F5344CB8AC3E}">
        <p14:creationId xmlns:p14="http://schemas.microsoft.com/office/powerpoint/2010/main" val="11856962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Reviewing client communications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Middle office / Client-material review / Current workflow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65727D"/>
                </ns20:solidFill>
                <ns20:latin typeface="Arial"/>
                <ns20:ea typeface="Arial"/>
                <ns20:cs typeface="Arial"/>
              </ns20:defRPr>
            </ns20:pPr>
            <ns20:r>
              <ns20:rPr sz="1100" b="1">
                <ns20:solidFill>
                  <ns20:srgbClr val="65727D"/>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CBD4DA"/>
            </ns23:solidFill>
          </ns23:ln>
        </p:spPr>
      </p:cxnSp>
      <p:sp>
        <p:nvSpPr>
          <p:cNvPr id="105"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106"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107" name="map.task.client"/>
          <p:cNvSpPr/>
          <p:nvPr/>
        </p:nvSpPr>
        <p:spPr>
          <ns38:xfrm xmlns:ns38="http://schemas.openxmlformats.org/drawingml/2006/main">
            <ns38:off x="554400" y="2199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Client materials</ns44:t>
            </ns44:r>
          </ns44:p>
        </p:txBody>
      </p:sp>
      <p:sp>
        <p:nvSpPr>
          <p:cNvPr id="108" name="map.office.1"/>
          <p:cNvSpPr/>
          <p:nvPr/>
        </p:nvSpPr>
        <p:spPr>
          <ns45:xfrm xmlns:ns45="http://schemas.openxmlformats.org/drawingml/2006/main">
            <ns45:off x="486000" y="2548800"/>
            <ns45:ext cx="1692000" cy="180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100" b="1">
                <ns51:solidFill>
                  <ns51:srgbClr val="005A9C"/>
                </ns51:solidFill>
                <ns51:latin typeface="Arial"/>
                <ns51:ea typeface="Arial"/>
                <ns51:cs typeface="Arial"/>
              </ns51:defRPr>
            </ns51:pPr>
            <ns51:r>
              <ns51:rPr sz="1100" b="1">
                <ns51:solidFill>
                  <ns51:srgbClr val="005A9C"/>
                </ns51:solidFill>
                <ns51:latin typeface="Arial"/>
                <ns51:ea typeface="Arial"/>
                <ns51:cs typeface="Arial"/>
              </ns51:rPr>
              <ns51:t>Middle office</ns51:t>
            </ns51:r>
          </ns51:p>
        </p:txBody>
      </p:sp>
      <p:cxnSp>
        <p:nvCxnSpPr>
          <p:cNvPr id="109" name="map.office.rule.1"/>
          <p:cNvCxnSpPr/>
          <p:nvPr/>
        </p:nvCxnSpPr>
        <p:spPr>
          <ns52:xfrm xmlns:ns52="http://schemas.openxmlformats.org/drawingml/2006/main">
            <ns52:off x="457200" y="2768400"/>
            <ns52:ext cx="1742400" cy="1"/>
          </ns52:xfrm>
          <ns53:prstGeom xmlns:ns53="http://schemas.openxmlformats.org/drawingml/2006/main" prst="line">
            <ns53:avLst/>
          </ns53:prstGeom>
          <ns54:ln xmlns:ns54="http://schemas.openxmlformats.org/drawingml/2006/main" w="7620">
            <ns54:solidFill>
              <ns54:srgbClr val="005A9C"/>
            </ns54:solidFill>
          </ns54:ln>
        </p:spPr>
      </p:cxnSp>
      <p:sp>
        <p:nvSpPr>
          <p:cNvPr id="110" name="map.task.focus.review"/>
          <p:cNvSpPr/>
          <p:nvPr/>
        </p:nvSpPr>
        <p:spPr>
          <ns55:xfrm xmlns:ns55="http://schemas.openxmlformats.org/drawingml/2006/main">
            <ns55:off x="486000" y="2844000"/>
            <ns55:ext cx="1677600" cy="176400"/>
          </ns55:xfrm>
          <ns56:prstGeom xmlns:ns56="http://schemas.openxmlformats.org/drawingml/2006/main" prst="rect">
            <ns56:avLst/>
          </ns56:prstGeom>
          <ns57:solidFill xmlns:ns57="http://schemas.openxmlformats.org/drawingml/2006/main">
            <ns57:srgbClr val="D9EAF7"/>
          </ns57:solidFill>
          <ns58:ln xmlns:ns58="http://schemas.openxmlformats.org/drawingml/2006/main" w="0">
            <ns58:noFill/>
          </ns58:ln>
        </p:spPr>
      </p:sp>
      <p:sp>
        <p:nvSpPr>
          <p:cNvPr id="111" name="map.task.review"/>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1">
                <ns65:solidFill>
                  <ns65:srgbClr val="005A9C"/>
                </ns65:solidFill>
                <ns65:latin typeface="Arial"/>
                <ns65:ea typeface="Arial"/>
                <ns65:cs typeface="Arial"/>
              </ns65:defRPr>
            </ns65:pPr>
            <ns65:r>
              <ns65:rPr sz="1050" b="1">
                <ns65:solidFill>
                  <ns65:srgbClr val="005A9C"/>
                </ns65:solidFill>
                <ns65:latin typeface="Arial"/>
                <ns65:ea typeface="Arial"/>
                <ns65:cs typeface="Arial"/>
              </ns65:rPr>
              <ns65:t>Content review</ns65:t>
            </ns65:r>
          </ns65:p>
        </p:txBody>
      </p:sp>
      <p:sp>
        <p:nvSpPr>
          <p:cNvPr id="112" name="map.task.risk"/>
          <p:cNvSpPr/>
          <p:nvPr/>
        </p:nvSpPr>
        <p:spPr>
          <ns66:xfrm xmlns:ns66="http://schemas.openxmlformats.org/drawingml/2006/main">
            <ns66:off x="554400" y="3045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13"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14"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15" name="map.task.file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Document processing</ns89:t>
            </ns89:r>
          </ns89:p>
        </p:txBody>
      </p:sp>
      <p:sp>
        <p:nvSpPr>
          <p:cNvPr id="116"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17" name="map.legend"/>
          <p:cNvSpPr/>
          <p:nvPr/>
        </p:nvSpPr>
        <p:spPr>
          <ns97:xfrm xmlns:ns97="http://schemas.openxmlformats.org/drawingml/2006/main">
            <ns97:off x="486000" y="4363200"/>
            <ns97:ext cx="16848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850" b="0">
                <ns103:solidFill>
                  <ns103:srgbClr val="65727D"/>
                </ns103:solidFill>
                <ns103:latin typeface="Arial"/>
                <ns103:ea typeface="Arial"/>
                <ns103:cs typeface="Arial"/>
              </ns103:defRPr>
            </ns103:pPr>
            <ns103:r>
              <ns103:rPr sz="850" b="0">
                <ns103:solidFill>
                  <ns103:srgbClr val="65727D"/>
                </ns103:solidFill>
                <ns103:latin typeface="Arial"/>
                <ns103:ea typeface="Arial"/>
                <ns103:cs typeface="Arial"/>
              </ns103:rPr>
              <ns103:t>Company workflow</ns103:t>
            </ns103:r>
          </ns103:p>
        </p:txBody>
      </p:sp>
      <p:sp>
        <p:nvSpPr>
          <p:cNvPr id="118" name="evidence.v1.view.paper"/>
          <p:cNvSpPr/>
          <p:nvPr/>
        </p:nvSpPr>
        <p:spPr>
          <ns104:xfrm xmlns:ns104="http://schemas.openxmlformats.org/drawingml/2006/main">
            <ns104:off x="2422800" y="1548000"/>
            <ns104:ext cx="2559600" cy="1494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7363A6"/>
            </ns107:solidFill>
          </ns107:ln>
        </p:spPr>
      </p:sp>
      <p:sp>
        <p:nvSpPr>
          <p:cNvPr id="119" name="evidence.v1.view.title"/>
          <p:cNvSpPr/>
          <p:nvPr/>
        </p:nvSpPr>
        <p:spPr>
          <ns108:xfrm xmlns:ns108="http://schemas.openxmlformats.org/drawingml/2006/main">
            <ns108:off x="2487600" y="1591200"/>
            <ns108:ext cx="23616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7363A6"/>
                </ns114:solidFill>
                <ns114:latin typeface="Arial"/>
                <ns114:ea typeface="Arial"/>
                <ns114:cs typeface="Arial"/>
              </ns114:defRPr>
            </ns114:pPr>
            <ns114:r>
              <ns114:rPr sz="1250" b="1">
                <ns114:solidFill>
                  <ns114:srgbClr val="7363A6"/>
                </ns114:solidFill>
                <ns114:latin typeface="Arial"/>
                <ns114:ea typeface="Arial"/>
                <ns114:cs typeface="Arial"/>
              </ns114:rPr>
              <ns114:t>V1 investment view</ns114:t>
            </ns114:r>
          </ns114:p>
        </p:txBody>
      </p:sp>
      <p:sp>
        <p:nvSpPr>
          <p:cNvPr id="120" name="evidence.v1.view.content"/>
          <p:cNvSpPr/>
          <p:nvPr/>
        </p:nvSpPr>
        <p:spPr>
          <ns115:xfrm xmlns:ns115="http://schemas.openxmlformats.org/drawingml/2006/main">
            <ns115:off x="2487600" y="1807200"/>
            <ns115:ext cx="2430000" cy="1184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200" b="0">
                <ns121:solidFill>
                  <ns121:srgbClr val="20262C"/>
                </ns121:solidFill>
                <ns121:latin typeface="Arial"/>
                <ns121:ea typeface="Arial"/>
                <ns121:cs typeface="Arial"/>
              </ns121:defRPr>
            </ns121:pPr>
            <ns121:r>
              <ns121:rPr sz="1200" b="0">
                <ns121:solidFill>
                  <ns121:srgbClr val="20262C"/>
                </ns121:solidFill>
                <ns121:latin typeface="Arial"/>
                <ns121:ea typeface="Arial"/>
                <ns121:cs typeface="Arial"/>
              </ns121:rPr>
              <ns121:t>Higher sales volumes drove Company A’s revenue growth.</ns121:t>
            </ns121:r>
          </ns121:p>
          <ns122:p xmlns:ns122="http://schemas.openxmlformats.org/drawingml/2006/main">
            <ns122:pPr algn="l">
              <ns122:lnSpc>
                <ns122:spcPct val="100000"/>
              </ns122:lnSpc>
              <ns122:defRPr sz="1200" b="0">
                <ns122:solidFill>
                  <ns122:srgbClr val="20262C"/>
                </ns122:solidFill>
                <ns122:latin typeface="Arial"/>
                <ns122:ea typeface="Arial"/>
                <ns122:cs typeface="Arial"/>
              </ns122:defRPr>
            </ns122:pPr>
            <ns122:r>
              <ns122:rPr sz="1200" b="0">
                <ns122:solidFill>
                  <ns122:srgbClr val="20262C"/>
                </ns122:solidFill>
                <ns122:latin typeface="Arial"/>
                <ns122:ea typeface="Arial"/>
                <ns122:cs typeface="Arial"/>
              </ns122:rPr>
              <ns122:t>We are monitoring raw-material costs.</ns122:t>
            </ns122:r>
          </ns122:p>
        </p:txBody>
      </p:sp>
      <p:sp>
        <p:nvSpPr>
          <p:cNvPr id="121" name="evidence.pm.source.paper"/>
          <p:cNvSpPr/>
          <p:nvPr/>
        </p:nvSpPr>
        <p:spPr>
          <ns123:xfrm xmlns:ns123="http://schemas.openxmlformats.org/drawingml/2006/main">
            <ns123:off x="6127200" y="1548000"/>
            <ns123:ext cx="2559600" cy="1494000"/>
          </ns123:xfrm>
          <ns124:prstGeom xmlns:ns124="http://schemas.openxmlformats.org/drawingml/2006/main" prst="foldedCorner">
            <ns124:avLst/>
          </ns124:prstGeom>
          <ns125:solidFill xmlns:ns125="http://schemas.openxmlformats.org/drawingml/2006/main">
            <ns125:srgbClr val="FFFFFF"/>
          </ns125:solidFill>
          <ns126:ln xmlns:ns126="http://schemas.openxmlformats.org/drawingml/2006/main" w="9525">
            <ns126:solidFill>
              <ns126:srgbClr val="65727D"/>
            </ns126:solidFill>
          </ns126:ln>
        </p:spPr>
      </p:sp>
      <p:sp>
        <p:nvSpPr>
          <p:cNvPr id="122" name="evidence.pm.source.title"/>
          <p:cNvSpPr/>
          <p:nvPr/>
        </p:nvSpPr>
        <p:spPr>
          <ns127:xfrm xmlns:ns127="http://schemas.openxmlformats.org/drawingml/2006/main">
            <ns127:off x="6192000" y="1591200"/>
            <ns127:ext cx="2361600" cy="198000"/>
          </ns127:xfrm>
          <ns128:prstGeom xmlns:ns128="http://schemas.openxmlformats.org/drawingml/2006/main" prst="rect">
            <ns128:avLst/>
          </ns128:prstGeom>
          <ns129:noFill xmlns:ns129="http://schemas.openxmlformats.org/drawingml/2006/main"/>
          <ns130:ln xmlns:ns130="http://schemas.openxmlformats.org/drawingml/2006/main" w="0">
            <ns130:noFill/>
          </ns130:ln>
        </p:spPr>
        <p:txBody>
          <ns131:bodyPr xmlns:ns131="http://schemas.openxmlformats.org/drawingml/2006/main" wrap="square" lIns="0" rIns="0" tIns="0" bIns="0" anchor="t">
            <ns131:noAutofit/>
          </ns131:bodyPr>
          <ns132:lstStyle xmlns:ns132="http://schemas.openxmlformats.org/drawingml/2006/main"/>
          <ns133:p xmlns:ns133="http://schemas.openxmlformats.org/drawingml/2006/main">
            <ns133:pPr algn="l">
              <ns133:lnSpc>
                <ns133:spcPct val="105000"/>
              </ns133:lnSpc>
              <ns133:defRPr sz="1250" b="1">
                <ns133:solidFill>
                  <ns133:srgbClr val="65727D"/>
                </ns133:solidFill>
                <ns133:latin typeface="Arial"/>
                <ns133:ea typeface="Arial"/>
                <ns133:cs typeface="Arial"/>
              </ns133:defRPr>
            </ns133:pPr>
            <ns133:r>
              <ns133:rPr sz="1250" b="1">
                <ns133:solidFill>
                  <ns133:srgbClr val="65727D"/>
                </ns133:solidFill>
                <ns133:latin typeface="Arial"/>
                <ns133:ea typeface="Arial"/>
                <ns133:cs typeface="Arial"/>
              </ns133:rPr>
              <ns133:t>Current PM source</ns133:t>
            </ns133:r>
          </ns133:p>
        </p:txBody>
      </p:sp>
      <p:sp>
        <p:nvSpPr>
          <p:cNvPr id="123" name="evidence.pm.source.content"/>
          <p:cNvSpPr/>
          <p:nvPr/>
        </p:nvSpPr>
        <p:spPr>
          <ns134:xfrm xmlns:ns134="http://schemas.openxmlformats.org/drawingml/2006/main">
            <ns134:off x="6192000" y="1807200"/>
            <ns134:ext cx="2430000" cy="1184400"/>
          </ns134:xfrm>
          <ns135:prstGeom xmlns:ns135="http://schemas.openxmlformats.org/drawingml/2006/main" prst="rect">
            <ns135:avLst/>
          </ns135:prstGeom>
          <ns136:noFill xmlns:ns136="http://schemas.openxmlformats.org/drawingml/2006/main"/>
          <ns137:ln xmlns:ns137="http://schemas.openxmlformats.org/drawingml/2006/main" w="0">
            <ns137:noFill/>
          </ns137:ln>
        </p:spPr>
        <p:txBody>
          <ns138:bodyPr xmlns:ns138="http://schemas.openxmlformats.org/drawingml/2006/main" wrap="square" lIns="0" rIns="0" tIns="0" bIns="0" anchor="t">
            <ns138:noAutofit/>
          </ns138:bodyPr>
          <ns139:lstStyle xmlns:ns139="http://schemas.openxmlformats.org/drawingml/2006/main"/>
          <ns140:p xmlns:ns140="http://schemas.openxmlformats.org/drawingml/2006/main">
            <ns140:pPr algn="l">
              <ns140:lnSpc>
                <ns140:spcPct val="100000"/>
              </ns140:lnSpc>
              <ns140:defRPr sz="1200" b="0">
                <ns140:solidFill>
                  <ns140:srgbClr val="20262C"/>
                </ns140:solidFill>
                <ns140:latin typeface="Arial"/>
                <ns140:ea typeface="Arial"/>
                <ns140:cs typeface="Arial"/>
              </ns140:defRPr>
            </ns140:pPr>
            <ns140:r>
              <ns140:rPr sz="1200" b="0">
                <ns140:solidFill>
                  <ns140:srgbClr val="20262C"/>
                </ns140:solidFill>
                <ns140:latin typeface="Arial"/>
                <ns140:ea typeface="Arial"/>
                <ns140:cs typeface="Arial"/>
              </ns140:rPr>
              <ns140:t>Channel restocking lifted sales volumes.</ns140:t>
            </ns140:r>
          </ns140:p>
          <ns141:p xmlns:ns141="http://schemas.openxmlformats.org/drawingml/2006/main">
            <ns141:pPr algn="l">
              <ns141:lnSpc>
                <ns141:spcPct val="100000"/>
              </ns141:lnSpc>
              <ns141:defRPr sz="1200" b="0">
                <ns141:solidFill>
                  <ns141:srgbClr val="20262C"/>
                </ns141:solidFill>
                <ns141:latin typeface="Arial"/>
                <ns141:ea typeface="Arial"/>
                <ns141:cs typeface="Arial"/>
              </ns141:defRPr>
            </ns141:pPr>
            <ns141:r>
              <ns141:rPr sz="1200" b="0">
                <ns141:solidFill>
                  <ns141:srgbClr val="20262C"/>
                </ns141:solidFill>
                <ns141:latin typeface="Arial"/>
                <ns141:ea typeface="Arial"/>
                <ns141:cs typeface="Arial"/>
              </ns141:rPr>
              <ns141:t>We are monitoring whether it will continue.</ns141:t>
            </ns141:r>
          </ns141:p>
        </p:txBody>
      </p:sp>
      <p:cxnSp>
        <p:nvCxnSpPr>
          <p:cNvPr id="124" name="review.focus.v1"/>
          <p:cNvCxnSpPr/>
          <p:nvPr/>
        </p:nvCxnSpPr>
        <p:spPr>
          <ns142:xfrm xmlns:ns142="http://schemas.openxmlformats.org/drawingml/2006/main">
            <ns142:off x="2458800" y="1861200"/>
            <ns142:ext cx="1" cy="910800"/>
          </ns142:xfrm>
          <ns143:prstGeom xmlns:ns143="http://schemas.openxmlformats.org/drawingml/2006/main" prst="line">
            <ns143:avLst/>
          </ns143:prstGeom>
          <ns144:ln xmlns:ns144="http://schemas.openxmlformats.org/drawingml/2006/main" w="25400">
            <ns144:solidFill>
              <ns144:srgbClr val="65727D"/>
            </ns144:solidFill>
          </ns144:ln>
        </p:spPr>
      </p:cxnSp>
      <p:cxnSp>
        <p:nvCxnSpPr>
          <p:cNvPr id="125" name="review.focus.source"/>
          <p:cNvCxnSpPr/>
          <p:nvPr/>
        </p:nvCxnSpPr>
        <p:spPr>
          <ns145:xfrm xmlns:ns145="http://schemas.openxmlformats.org/drawingml/2006/main">
            <ns145:off x="6163200" y="1861200"/>
            <ns145:ext cx="1" cy="910800"/>
          </ns145:xfrm>
          <ns146:prstGeom xmlns:ns146="http://schemas.openxmlformats.org/drawingml/2006/main" prst="line">
            <ns146:avLst/>
          </ns146:prstGeom>
          <ns147:ln xmlns:ns147="http://schemas.openxmlformats.org/drawingml/2006/main" w="25400">
            <ns147:solidFill>
              <ns147:srgbClr val="65727D"/>
            </ns147:solidFill>
          </ns147:ln>
        </p:spPr>
      </p:cxnSp>
      <p:cxnSp>
        <p:nvCxnSpPr>
          <p:cNvPr id="126" name="comparison.input.10.285.0"/>
          <p:cNvCxnSpPr/>
          <p:nvPr/>
        </p:nvCxnSpPr>
        <p:spPr>
          <ns148:xfrm xmlns:ns148="http://schemas.openxmlformats.org/drawingml/2006/main">
            <ns148:off x="3702600" y="3078000"/>
            <ns148:ext cx="1" cy="126000"/>
          </ns148:xfrm>
          <ns149:prstGeom xmlns:ns149="http://schemas.openxmlformats.org/drawingml/2006/main" prst="line">
            <ns149:avLst/>
          </ns149:prstGeom>
          <ns150:ln xmlns:ns150="http://schemas.openxmlformats.org/drawingml/2006/main" w="9525">
            <ns150:solidFill>
              <ns150:srgbClr val="65727D"/>
            </ns150:solidFill>
          </ns150:ln>
        </p:spPr>
      </p:cxnSp>
      <p:cxnSp>
        <p:nvCxnSpPr>
          <p:cNvPr id="127" name="comparison.input.10.285.1"/>
          <p:cNvCxnSpPr/>
          <p:nvPr/>
        </p:nvCxnSpPr>
        <p:spPr>
          <ns151:xfrm xmlns:ns151="http://schemas.openxmlformats.org/drawingml/2006/main">
            <ns151:off x="3702600" y="3204000"/>
            <ns151:ext cx="1852200" cy="1"/>
          </ns151:xfrm>
          <ns152:prstGeom xmlns:ns152="http://schemas.openxmlformats.org/drawingml/2006/main" prst="line">
            <ns152:avLst/>
          </ns152:prstGeom>
          <ns153:ln xmlns:ns153="http://schemas.openxmlformats.org/drawingml/2006/main" w="9525">
            <ns153:solidFill>
              <ns153:srgbClr val="65727D"/>
            </ns153:solidFill>
          </ns153:ln>
        </p:spPr>
      </p:cxnSp>
      <p:cxnSp>
        <p:nvCxnSpPr>
          <p:cNvPr id="128" name="comparison.input.20.575.0"/>
          <p:cNvCxnSpPr/>
          <p:nvPr/>
        </p:nvCxnSpPr>
        <p:spPr>
          <ns154:xfrm xmlns:ns154="http://schemas.openxmlformats.org/drawingml/2006/main">
            <ns154:off x="7407000" y="3078000"/>
            <ns154:ext cx="1" cy="126000"/>
          </ns154:xfrm>
          <ns155:prstGeom xmlns:ns155="http://schemas.openxmlformats.org/drawingml/2006/main" prst="line">
            <ns155:avLst/>
          </ns155:prstGeom>
          <ns156:ln xmlns:ns156="http://schemas.openxmlformats.org/drawingml/2006/main" w="9525">
            <ns156:solidFill>
              <ns156:srgbClr val="65727D"/>
            </ns156:solidFill>
          </ns156:ln>
        </p:spPr>
      </p:cxnSp>
      <p:cxnSp>
        <p:nvCxnSpPr>
          <p:cNvPr id="129" name="comparison.input.20.575.1"/>
          <p:cNvCxnSpPr/>
          <p:nvPr/>
        </p:nvCxnSpPr>
        <p:spPr>
          <ns157:xfrm xmlns:ns157="http://schemas.openxmlformats.org/drawingml/2006/main" flipH="1">
            <ns157:off x="5554800" y="3204000"/>
            <ns157:ext cx="1852200" cy="1"/>
          </ns157:xfrm>
          <ns158:prstGeom xmlns:ns158="http://schemas.openxmlformats.org/drawingml/2006/main" prst="line">
            <ns158:avLst/>
          </ns158:prstGeom>
          <ns159:ln xmlns:ns159="http://schemas.openxmlformats.org/drawingml/2006/main" w="9525">
            <ns159:solidFill>
              <ns159:srgbClr val="65727D"/>
            </ns159:solidFill>
          </ns159:ln>
        </p:spPr>
      </p:cxnSp>
      <p:sp>
        <p:nvSpPr>
          <p:cNvPr id="130" name="human.reviewer.compares"/>
          <p:cNvSpPr/>
          <p:nvPr/>
        </p:nvSpPr>
        <p:spPr>
          <ns160:xfrm xmlns:ns160="http://schemas.openxmlformats.org/drawingml/2006/main">
            <ns160:off x="4392000" y="3348000"/>
            <ns160:ext cx="2325600" cy="684000"/>
          </ns160:xfrm>
          <ns161:prstGeom xmlns:ns161="http://schemas.openxmlformats.org/drawingml/2006/main" prst="roundRect">
            <ns161:avLst/>
          </ns161:prstGeom>
          <ns162:solidFill xmlns:ns162="http://schemas.openxmlformats.org/drawingml/2006/main">
            <ns162:srgbClr val="F3F7FA"/>
          </ns162:solidFill>
          <ns163:ln xmlns:ns163="http://schemas.openxmlformats.org/drawingml/2006/main" w="9525">
            <ns163:solidFill>
              <ns163:srgbClr val="65727D"/>
            </ns163:solidFill>
          </ns163:ln>
        </p:spPr>
        <p:txBody>
          <ns164:bodyPr xmlns:ns164="http://schemas.openxmlformats.org/drawingml/2006/main" wrap="square" lIns="61200" rIns="61200" tIns="61200" bIns="61200" anchor="ctr">
            <ns164:noAutofit/>
          </ns164:bodyPr>
          <ns165:lstStyle xmlns:ns165="http://schemas.openxmlformats.org/drawingml/2006/main"/>
          <ns166:p xmlns:ns166="http://schemas.openxmlformats.org/drawingml/2006/main">
            <ns166:pPr algn="l">
              <ns166:lnSpc>
                <ns166:spcPct val="105000"/>
              </ns166:lnSpc>
              <ns166:defRPr sz="1300" b="1">
                <ns166:solidFill>
                  <ns166:srgbClr val="65727D"/>
                </ns166:solidFill>
                <ns166:latin typeface="Arial"/>
                <ns166:ea typeface="Arial"/>
                <ns166:cs typeface="Arial"/>
              </ns166:defRPr>
            </ns166:pPr>
            <ns166:r>
              <ns166:rPr sz="1300" b="1">
                <ns166:solidFill>
                  <ns166:srgbClr val="65727D"/>
                </ns166:solidFill>
                <ns166:latin typeface="Arial"/>
                <ns166:ea typeface="Arial"/>
                <ns166:cs typeface="Arial"/>
              </ns166:rPr>
              <ns166:t>Reviewer compares</ns166:t>
            </ns166:r>
          </ns166:p>
          <ns167:p xmlns:ns167="http://schemas.openxmlformats.org/drawingml/2006/main">
            <ns167:pPr algn="l">
              <ns167:lnSpc>
                <ns167:spcPct val="105000"/>
              </ns167:lnSpc>
              <ns167:defRPr sz="1150" b="0">
                <ns167:solidFill>
                  <ns167:srgbClr val="20262C"/>
                </ns167:solidFill>
                <ns167:latin typeface="Arial"/>
                <ns167:ea typeface="Arial"/>
                <ns167:cs typeface="Arial"/>
              </ns167:defRPr>
            </ns167:pPr>
            <ns167:r>
              <ns167:rPr sz="1150" b="0">
                <ns167:solidFill>
                  <ns167:srgbClr val="20262C"/>
                </ns167:solidFill>
                <ns167:latin typeface="Arial"/>
                <ns167:ea typeface="Arial"/>
                <ns167:cs typeface="Arial"/>
              </ns167:rPr>
              <ns167:t>Growth driver included?</ns167:t>
            </ns167:r>
          </ns167:p>
          <ns168:p xmlns:ns168="http://schemas.openxmlformats.org/drawingml/2006/main">
            <ns168:pPr algn="l">
              <ns168:lnSpc>
                <ns168:spcPct val="105000"/>
              </ns168:lnSpc>
              <ns168:defRPr sz="1150" b="0">
                <ns168:solidFill>
                  <ns168:srgbClr val="20262C"/>
                </ns168:solidFill>
                <ns168:latin typeface="Arial"/>
                <ns168:ea typeface="Arial"/>
                <ns168:cs typeface="Arial"/>
              </ns168:defRPr>
            </ns168:pPr>
            <ns168:r>
              <ns168:rPr sz="1150" b="0">
                <ns168:solidFill>
                  <ns168:srgbClr val="20262C"/>
                </ns168:solidFill>
                <ns168:latin typeface="Arial"/>
                <ns168:ea typeface="Arial"/>
                <ns168:cs typeface="Arial"/>
              </ns168:rPr>
              <ns168:t>Uncertainty retained?</ns168:t>
            </ns168:r>
          </ns168:p>
        </p:txBody>
      </p:sp>
      <p:cxnSp>
        <p:nvCxnSpPr>
          <p:cNvPr id="131" name="claims.to.reviewer"/>
          <p:cNvCxnSpPr/>
          <p:nvPr/>
        </p:nvCxnSpPr>
        <p:spPr>
          <ns169:xfrm xmlns:ns169="http://schemas.openxmlformats.org/drawingml/2006/main">
            <ns169:off x="5554800" y="3204000"/>
            <ns169:ext cx="1" cy="108000"/>
          </ns169:xfrm>
          <ns170:prstGeom xmlns:ns170="http://schemas.openxmlformats.org/drawingml/2006/main" prst="line">
            <ns170:avLst/>
          </ns170:prstGeom>
          <ns171:ln xmlns:ns171="http://schemas.openxmlformats.org/drawingml/2006/main" w="11430">
            <ns171:solidFill>
              <ns171:srgbClr val="005A9C"/>
            </ns171:solidFill>
            <ns171:tailEnd type="triangle" w="sm" len="sm"/>
          </ns171:ln>
        </p:spPr>
      </p:cxnSp>
      <p:sp>
        <p:nvSpPr>
          <p:cNvPr id="132" name="finding.driver"/>
          <p:cNvSpPr/>
          <p:nvPr/>
        </p:nvSpPr>
        <p:spPr>
          <ns172:xfrm xmlns:ns172="http://schemas.openxmlformats.org/drawingml/2006/main">
            <ns172:off x="2422800" y="4240800"/>
            <ns172:ext cx="2934000" cy="237600"/>
          </ns172:xfrm>
          <ns173:prstGeom xmlns:ns173="http://schemas.openxmlformats.org/drawingml/2006/main" prst="rect">
            <ns173:avLst/>
          </ns173:prstGeom>
          <ns174:solidFill xmlns:ns174="http://schemas.openxmlformats.org/drawingml/2006/main">
            <ns174:srgbClr val="F3F7FA"/>
          </ns174:solidFill>
          <ns175:ln xmlns:ns175="http://schemas.openxmlformats.org/drawingml/2006/main" w="9525">
            <ns175:solidFill>
              <ns175:srgbClr val="65727D"/>
            </ns175:solidFill>
          </ns175:ln>
        </p:spPr>
        <p:txBody>
          <ns176:bodyPr xmlns:ns176="http://schemas.openxmlformats.org/drawingml/2006/main" wrap="square" lIns="18000" rIns="18000" tIns="18000" bIns="18000" anchor="ctr">
            <ns176:noAutofit/>
          </ns176:bodyPr>
          <ns177:lstStyle xmlns:ns177="http://schemas.openxmlformats.org/drawingml/2006/main"/>
          <ns178:p xmlns:ns178="http://schemas.openxmlformats.org/drawingml/2006/main">
            <ns178:pPr algn="l">
              <ns178:lnSpc>
                <ns178:spcPct val="105000"/>
              </ns178:lnSpc>
              <ns178:defRPr sz="1150" b="1">
                <ns178:solidFill>
                  <ns178:srgbClr val="20262C"/>
                </ns178:solidFill>
                <ns178:latin typeface="Arial"/>
                <ns178:ea typeface="Arial"/>
                <ns178:cs typeface="Arial"/>
              </ns178:defRPr>
            </ns178:pPr>
            <ns178:r>
              <ns178:rPr sz="1150" b="1">
                <ns178:solidFill>
                  <ns178:srgbClr val="20262C"/>
                </ns178:solidFill>
                <ns178:latin typeface="Arial"/>
                <ns178:ea typeface="Arial"/>
                <ns178:cs typeface="Arial"/>
              </ns178:rPr>
              <ns178:t>Restocking driver absent</ns178:t>
            </ns178:r>
          </ns178:p>
        </p:txBody>
      </p:sp>
      <p:sp>
        <p:nvSpPr>
          <p:cNvPr id="133" name="finding.uncertainty"/>
          <p:cNvSpPr/>
          <p:nvPr/>
        </p:nvSpPr>
        <p:spPr>
          <ns179:xfrm xmlns:ns179="http://schemas.openxmlformats.org/drawingml/2006/main">
            <ns179:off x="5623200" y="4240800"/>
            <ns179:ext cx="3063600" cy="237600"/>
          </ns179:xfrm>
          <ns180:prstGeom xmlns:ns180="http://schemas.openxmlformats.org/drawingml/2006/main" prst="rect">
            <ns180:avLst/>
          </ns180:prstGeom>
          <ns181:solidFill xmlns:ns181="http://schemas.openxmlformats.org/drawingml/2006/main">
            <ns181:srgbClr val="F3F7FA"/>
          </ns181:solidFill>
          <ns182:ln xmlns:ns182="http://schemas.openxmlformats.org/drawingml/2006/main" w="9525">
            <ns182:solidFill>
              <ns182:srgbClr val="65727D"/>
            </ns182:solidFill>
          </ns182:ln>
        </p:spPr>
        <p:txBody>
          <ns183:bodyPr xmlns:ns183="http://schemas.openxmlformats.org/drawingml/2006/main" wrap="square" lIns="18000" rIns="18000" tIns="18000" bIns="18000" anchor="ctr">
            <ns183:noAutofit/>
          </ns183:bodyPr>
          <ns184:lstStyle xmlns:ns184="http://schemas.openxmlformats.org/drawingml/2006/main"/>
          <ns185:p xmlns:ns185="http://schemas.openxmlformats.org/drawingml/2006/main">
            <ns185:pPr algn="l">
              <ns185:lnSpc>
                <ns185:spcPct val="105000"/>
              </ns185:lnSpc>
              <ns185:defRPr sz="1150" b="1">
                <ns185:solidFill>
                  <ns185:srgbClr val="20262C"/>
                </ns185:solidFill>
                <ns185:latin typeface="Arial"/>
                <ns185:ea typeface="Arial"/>
                <ns185:cs typeface="Arial"/>
              </ns185:defRPr>
            </ns185:pPr>
            <ns185:r>
              <ns185:rPr sz="1150" b="1">
                <ns185:solidFill>
                  <ns185:srgbClr val="20262C"/>
                </ns185:solidFill>
                <ns185:latin typeface="Arial"/>
                <ns185:ea typeface="Arial"/>
                <ns185:cs typeface="Arial"/>
              </ns185:rPr>
              <ns185:t>Continuation uncertainty absent</ns185:t>
            </ns185:r>
          </ns185:p>
        </p:txBody>
      </p:sp>
      <p:cxnSp>
        <p:nvCxnSpPr>
          <p:cNvPr id="134" name="comparison.findings.trunk"/>
          <p:cNvCxnSpPr/>
          <p:nvPr/>
        </p:nvCxnSpPr>
        <p:spPr>
          <ns186:xfrm xmlns:ns186="http://schemas.openxmlformats.org/drawingml/2006/main">
            <ns186:off x="5554800" y="4068000"/>
            <ns186:ext cx="1" cy="90000"/>
          </ns186:xfrm>
          <ns187:prstGeom xmlns:ns187="http://schemas.openxmlformats.org/drawingml/2006/main" prst="line">
            <ns187:avLst/>
          </ns187:prstGeom>
          <ns188:ln xmlns:ns188="http://schemas.openxmlformats.org/drawingml/2006/main" w="11430">
            <ns188:solidFill>
              <ns188:srgbClr val="005A9C"/>
            </ns188:solidFill>
          </ns188:ln>
        </p:spPr>
      </p:cxnSp>
      <p:cxnSp>
        <p:nvCxnSpPr>
          <p:cNvPr id="135" name="comparison.findings.fork"/>
          <p:cNvCxnSpPr/>
          <p:nvPr/>
        </p:nvCxnSpPr>
        <p:spPr>
          <ns189:xfrm xmlns:ns189="http://schemas.openxmlformats.org/drawingml/2006/main">
            <ns189:off x="3889800" y="4158000"/>
            <ns189:ext cx="3265200" cy="1"/>
          </ns189:xfrm>
          <ns190:prstGeom xmlns:ns190="http://schemas.openxmlformats.org/drawingml/2006/main" prst="line">
            <ns190:avLst/>
          </ns190:prstGeom>
          <ns191:ln xmlns:ns191="http://schemas.openxmlformats.org/drawingml/2006/main" w="11430">
            <ns191:solidFill>
              <ns191:srgbClr val="005A9C"/>
            </ns191:solidFill>
          </ns191:ln>
        </p:spPr>
      </p:cxnSp>
      <p:cxnSp>
        <p:nvCxnSpPr>
          <p:cNvPr id="136" name="comparison.finding.driver"/>
          <p:cNvCxnSpPr/>
          <p:nvPr/>
        </p:nvCxnSpPr>
        <p:spPr>
          <ns192:xfrm xmlns:ns192="http://schemas.openxmlformats.org/drawingml/2006/main">
            <ns192:off x="3889800" y="4158000"/>
            <ns192:ext cx="1" cy="46800"/>
          </ns192:xfrm>
          <ns193:prstGeom xmlns:ns193="http://schemas.openxmlformats.org/drawingml/2006/main" prst="line">
            <ns193:avLst/>
          </ns193:prstGeom>
          <ns194:ln xmlns:ns194="http://schemas.openxmlformats.org/drawingml/2006/main" w="11430">
            <ns194:solidFill>
              <ns194:srgbClr val="005A9C"/>
            </ns194:solidFill>
            <ns194:tailEnd type="triangle" w="sm" len="sm"/>
          </ns194:ln>
        </p:spPr>
      </p:cxnSp>
      <p:cxnSp>
        <p:nvCxnSpPr>
          <p:cNvPr id="137" name="comparison.finding.uncertainty"/>
          <p:cNvCxnSpPr/>
          <p:nvPr/>
        </p:nvCxnSpPr>
        <p:spPr>
          <ns195:xfrm xmlns:ns195="http://schemas.openxmlformats.org/drawingml/2006/main">
            <ns195:off x="7155000" y="4158000"/>
            <ns195:ext cx="1" cy="46800"/>
          </ns195:xfrm>
          <ns196:prstGeom xmlns:ns196="http://schemas.openxmlformats.org/drawingml/2006/main" prst="line">
            <ns196:avLst/>
          </ns196:prstGeom>
          <ns197:ln xmlns:ns197="http://schemas.openxmlformats.org/drawingml/2006/main" w="11430">
            <ns197:solidFill>
              <ns197:srgbClr val="005A9C"/>
            </ns197:solidFill>
            <ns197:tailEnd type="triangle" w="sm" len="sm"/>
          </ns197:ln>
        </p:spPr>
      </p:cxnSp>
    </p:spTree>
    <p:extLst>
      <p:ext uri="{BB962C8B-B14F-4D97-AF65-F5344CB8AC3E}">
        <p14:creationId xmlns:p14="http://schemas.microsoft.com/office/powerpoint/2010/main" val="5430286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Penghua and Yingmi: reviewing client materials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Middle office / Client-material review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Penghua / AMAC; Yingmi</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005A9C"/>
                </ns58:solidFill>
                <ns58:latin typeface="Arial"/>
                <ns58:ea typeface="Arial"/>
                <ns58:cs typeface="Arial"/>
              </ns58:defRPr>
            </ns58:pPr>
            <ns58:r>
              <ns58:rPr sz="1100" b="1">
                <ns58:solidFill>
                  <ns58:srgbClr val="005A9C"/>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005A9C"/>
            </ns61:solidFill>
          </ns61:ln>
        </p:spPr>
      </p:cxnSp>
      <p:sp>
        <p:nvSpPr>
          <p:cNvPr id="111" name="map.task.focus.review"/>
          <p:cNvSpPr/>
          <p:nvPr/>
        </p:nvSpPr>
        <p:spPr>
          <ns62:xfrm xmlns:ns62="http://schemas.openxmlformats.org/drawingml/2006/main">
            <ns62:off x="486000" y="2844000"/>
            <ns62:ext cx="1677600" cy="176400"/>
          </ns62:xfrm>
          <ns63:prstGeom xmlns:ns63="http://schemas.openxmlformats.org/drawingml/2006/main" prst="rect">
            <ns63:avLst/>
          </ns63:prstGeom>
          <ns64:solidFill xmlns:ns64="http://schemas.openxmlformats.org/drawingml/2006/main">
            <ns64:srgbClr val="D9EAF7"/>
          </ns64:solidFill>
          <ns65:ln xmlns:ns65="http://schemas.openxmlformats.org/drawingml/2006/main" w="0">
            <ns65:noFill/>
          </ns65:ln>
        </p:spPr>
      </p: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1">
                <ns72:solidFill>
                  <ns72:srgbClr val="005A9C"/>
                </ns72:solidFill>
                <ns72:latin typeface="Arial"/>
                <ns72:ea typeface="Arial"/>
                <ns72:cs typeface="Arial"/>
              </ns72:defRPr>
            </ns72:pPr>
            <ns72:r>
              <ns72:rPr sz="1050" b="1">
                <ns72:solidFill>
                  <ns72:srgbClr val="005A9C"/>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review.v1.paper"/>
          <p:cNvSpPr/>
          <p:nvPr/>
        </p:nvSpPr>
        <p:spPr>
          <ns111:xfrm xmlns:ns111="http://schemas.openxmlformats.org/drawingml/2006/main">
            <ns111:off x="2422800" y="1548000"/>
            <ns111:ext cx="1620000" cy="684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7363A6"/>
            </ns114:solidFill>
          </ns114:ln>
        </p:spPr>
      </p:sp>
      <p:sp>
        <p:nvSpPr>
          <p:cNvPr id="120" name="input.review.v1.title"/>
          <p:cNvSpPr/>
          <p:nvPr/>
        </p:nvSpPr>
        <p:spPr>
          <ns115:xfrm xmlns:ns115="http://schemas.openxmlformats.org/drawingml/2006/main">
            <ns115:off x="2487600" y="1591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7363A6"/>
                </ns121:solidFill>
                <ns121:latin typeface="Arial"/>
                <ns121:ea typeface="Arial"/>
                <ns121:cs typeface="Arial"/>
              </ns121:defRPr>
            </ns121:pPr>
            <ns121:r>
              <ns121:rPr sz="1250" b="1">
                <ns121:solidFill>
                  <ns121:srgbClr val="7363A6"/>
                </ns121:solidFill>
                <ns121:latin typeface="Arial"/>
                <ns121:ea typeface="Arial"/>
                <ns121:cs typeface="Arial"/>
              </ns121:rPr>
              <ns121:t>V1 material</ns121:t>
            </ns121:r>
          </ns121:p>
        </p:txBody>
      </p:sp>
      <p:sp>
        <p:nvSpPr>
          <p:cNvPr id="121" name="input.review.v1.content"/>
          <p:cNvSpPr/>
          <p:nvPr/>
        </p:nvSpPr>
        <p:spPr>
          <ns122:xfrm xmlns:ns122="http://schemas.openxmlformats.org/drawingml/2006/main">
            <ns122:off x="2487600" y="1807200"/>
            <ns122:ext cx="1490400" cy="374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100" b="0">
                <ns128:solidFill>
                  <ns128:srgbClr val="20262C"/>
                </ns128:solidFill>
                <ns128:latin typeface="Arial"/>
                <ns128:ea typeface="Arial"/>
                <ns128:cs typeface="Arial"/>
              </ns128:defRPr>
            </ns128:pPr>
            <ns128:r>
              <ns128:rPr sz="1100" b="0">
                <ns128:solidFill>
                  <ns128:srgbClr val="20262C"/>
                </ns128:solidFill>
                <ns128:latin typeface="Arial"/>
                <ns128:ea typeface="Arial"/>
                <ns128:cs typeface="Arial"/>
              </ns128:rPr>
              <ns128:t>Fund / source</ns128:t>
            </ns128:r>
          </ns128:p>
          <ns129:p xmlns:ns129="http://schemas.openxmlformats.org/drawingml/2006/main">
            <ns129:pPr algn="l">
              <ns129:lnSpc>
                <ns129:spcPct val="100000"/>
              </ns129:lnSpc>
              <ns129:defRPr sz="1100" b="0">
                <ns129:solidFill>
                  <ns129:srgbClr val="20262C"/>
                </ns129:solidFill>
                <ns129:latin typeface="Arial"/>
                <ns129:ea typeface="Arial"/>
                <ns129:cs typeface="Arial"/>
              </ns129:defRPr>
            </ns129:pPr>
            <ns129:r>
              <ns129:rPr sz="1100" b="0">
                <ns129:solidFill>
                  <ns129:srgbClr val="20262C"/>
                </ns129:solidFill>
                <ns129:latin typeface="Arial"/>
                <ns129:ea typeface="Arial"/>
                <ns129:cs typeface="Arial"/>
              </ns129:rPr>
              <ns129:t>Investment view / risk</ns129:t>
            </ns129:r>
          </ns129:p>
        </p:txBody>
      </p:sp>
      <p:sp>
        <p:nvSpPr>
          <p:cNvPr id="122" name="input.review.rules.paper"/>
          <p:cNvSpPr/>
          <p:nvPr/>
        </p:nvSpPr>
        <p:spPr>
          <ns130:xfrm xmlns:ns130="http://schemas.openxmlformats.org/drawingml/2006/main">
            <ns130:off x="2422800" y="2412000"/>
            <ns130:ext cx="1620000" cy="774000"/>
          </ns130:xfrm>
          <ns131:prstGeom xmlns:ns131="http://schemas.openxmlformats.org/drawingml/2006/main" prst="foldedCorner">
            <ns131:avLst/>
          </ns131:prstGeom>
          <ns132:solidFill xmlns:ns132="http://schemas.openxmlformats.org/drawingml/2006/main">
            <ns132:srgbClr val="FFFFFF"/>
          </ns132:solidFill>
          <ns133:ln xmlns:ns133="http://schemas.openxmlformats.org/drawingml/2006/main" w="9525">
            <ns133:solidFill>
              <ns133:srgbClr val="65727D"/>
            </ns133:solidFill>
          </ns133:ln>
        </p:spPr>
      </p:sp>
      <p:sp>
        <p:nvSpPr>
          <p:cNvPr id="123" name="input.review.rules.title"/>
          <p:cNvSpPr/>
          <p:nvPr/>
        </p:nvSpPr>
        <p:spPr>
          <ns134:xfrm xmlns:ns134="http://schemas.openxmlformats.org/drawingml/2006/main">
            <ns134:off x="2487600" y="2455200"/>
            <ns134:ext cx="1422000" cy="198000"/>
          </ns134:xfrm>
          <ns135:prstGeom xmlns:ns135="http://schemas.openxmlformats.org/drawingml/2006/main" prst="rect">
            <ns135:avLst/>
          </ns135:prstGeom>
          <ns136:noFill xmlns:ns136="http://schemas.openxmlformats.org/drawingml/2006/main"/>
          <ns137:ln xmlns:ns137="http://schemas.openxmlformats.org/drawingml/2006/main" w="0">
            <ns137:noFill/>
          </ns137:ln>
        </p:spPr>
        <p:txBody>
          <ns138:bodyPr xmlns:ns138="http://schemas.openxmlformats.org/drawingml/2006/main" wrap="square" lIns="0" rIns="0" tIns="0" bIns="0" anchor="t">
            <ns138:noAutofit/>
          </ns138:bodyPr>
          <ns139:lstStyle xmlns:ns139="http://schemas.openxmlformats.org/drawingml/2006/main"/>
          <ns140:p xmlns:ns140="http://schemas.openxmlformats.org/drawingml/2006/main">
            <ns140:pPr algn="l">
              <ns140:lnSpc>
                <ns140:spcPct val="105000"/>
              </ns140:lnSpc>
              <ns140:defRPr sz="1250" b="1">
                <ns140:solidFill>
                  <ns140:srgbClr val="65727D"/>
                </ns140:solidFill>
                <ns140:latin typeface="Arial"/>
                <ns140:ea typeface="Arial"/>
                <ns140:cs typeface="Arial"/>
              </ns140:defRPr>
            </ns140:pPr>
            <ns140:r>
              <ns140:rPr sz="1250" b="1">
                <ns140:solidFill>
                  <ns140:srgbClr val="65727D"/>
                </ns140:solidFill>
                <ns140:latin typeface="Arial"/>
                <ns140:ea typeface="Arial"/>
                <ns140:cs typeface="Arial"/>
              </ns140:rPr>
              <ns140:t>Sources / rules</ns140:t>
            </ns140:r>
          </ns140:p>
        </p:txBody>
      </p:sp>
      <p:sp>
        <p:nvSpPr>
          <p:cNvPr id="124" name="input.review.rules.content"/>
          <p:cNvSpPr/>
          <p:nvPr/>
        </p:nvSpPr>
        <p:spPr>
          <ns141:xfrm xmlns:ns141="http://schemas.openxmlformats.org/drawingml/2006/main">
            <ns141:off x="2487600" y="2671200"/>
            <ns141:ext cx="1490400" cy="464400"/>
          </ns141:xfrm>
          <ns142:prstGeom xmlns:ns142="http://schemas.openxmlformats.org/drawingml/2006/main" prst="rect">
            <ns142:avLst/>
          </ns142:prstGeom>
          <ns143:noFill xmlns:ns143="http://schemas.openxmlformats.org/drawingml/2006/main"/>
          <ns144:ln xmlns:ns144="http://schemas.openxmlformats.org/drawingml/2006/main" w="0">
            <ns144:noFill/>
          </ns144:ln>
        </p:spPr>
        <p:txBody>
          <ns145:bodyPr xmlns:ns145="http://schemas.openxmlformats.org/drawingml/2006/main" wrap="square" lIns="0" rIns="0" tIns="0" bIns="0" anchor="t">
            <ns145:noAutofit/>
          </ns145:bodyPr>
          <ns146:lstStyle xmlns:ns146="http://schemas.openxmlformats.org/drawingml/2006/main"/>
          <ns147:p xmlns:ns147="http://schemas.openxmlformats.org/drawingml/2006/main">
            <ns147:pPr algn="l">
              <ns147:lnSpc>
                <ns147:spcPct val="100000"/>
              </ns147:lnSpc>
              <ns147:defRPr sz="1100" b="0">
                <ns147:solidFill>
                  <ns147:srgbClr val="20262C"/>
                </ns147:solidFill>
                <ns147:latin typeface="Arial"/>
                <ns147:ea typeface="Arial"/>
                <ns147:cs typeface="Arial"/>
              </ns147:defRPr>
            </ns147:pPr>
            <ns147:r>
              <ns147:rPr sz="1100" b="0">
                <ns147:solidFill>
                  <ns147:srgbClr val="20262C"/>
                </ns147:solidFill>
                <ns147:latin typeface="Arial"/>
                <ns147:ea typeface="Arial"/>
                <ns147:cs typeface="Arial"/>
              </ns147:rPr>
              <ns147:t>Current product sources</ns147:t>
            </ns147:r>
          </ns147:p>
          <ns148:p xmlns:ns148="http://schemas.openxmlformats.org/drawingml/2006/main">
            <ns148:pPr algn="l">
              <ns148:lnSpc>
                <ns148:spcPct val="100000"/>
              </ns148:lnSpc>
              <ns148:defRPr sz="1100" b="0">
                <ns148:solidFill>
                  <ns148:srgbClr val="20262C"/>
                </ns148:solidFill>
                <ns148:latin typeface="Arial"/>
                <ns148:ea typeface="Arial"/>
                <ns148:cs typeface="Arial"/>
              </ns148:defRPr>
            </ns148:pPr>
            <ns148:r>
              <ns148:rPr sz="1100" b="0">
                <ns148:solidFill>
                  <ns148:srgbClr val="20262C"/>
                </ns148:solidFill>
                <ns148:latin typeface="Arial"/>
                <ns148:ea typeface="Arial"/>
                <ns148:cs typeface="Arial"/>
              </ns148:rPr>
              <ns148:t>Review requirements</ns148:t>
            </ns148:r>
          </ns148:p>
        </p:txBody>
      </p:sp>
      <p:sp>
        <p:nvSpPr>
          <p:cNvPr id="125" name="role.llm.review"/>
          <p:cNvSpPr/>
          <p:nvPr/>
        </p:nvSpPr>
        <p:spPr>
          <ns149:xfrm xmlns:ns149="http://schemas.openxmlformats.org/drawingml/2006/main">
            <ns149:off x="4392000" y="1998000"/>
            <ns149:ext cx="1458000" cy="756000"/>
          </ns149:xfrm>
          <ns150:prstGeom xmlns:ns150="http://schemas.openxmlformats.org/drawingml/2006/main" prst="roundRect">
            <ns150:avLst/>
          </ns150:prstGeom>
          <ns151:solidFill xmlns:ns151="http://schemas.openxmlformats.org/drawingml/2006/main">
            <ns151:srgbClr val="EAF3FA"/>
          </ns151:solidFill>
          <ns152:ln xmlns:ns152="http://schemas.openxmlformats.org/drawingml/2006/main" w="9525">
            <ns152:solidFill>
              <ns152:srgbClr val="005A9C"/>
            </ns152:solidFill>
          </ns152:ln>
        </p:spPr>
        <p:txBody>
          <ns153:bodyPr xmlns:ns153="http://schemas.openxmlformats.org/drawingml/2006/main" wrap="square" lIns="61200" rIns="61200" tIns="61200" bIns="61200" anchor="ctr">
            <ns153:noAutofit/>
          </ns153:bodyPr>
          <ns154:lstStyle xmlns:ns154="http://schemas.openxmlformats.org/drawingml/2006/main"/>
          <ns155:p xmlns:ns155="http://schemas.openxmlformats.org/drawingml/2006/main">
            <ns155:pPr algn="l">
              <ns155:lnSpc>
                <ns155:spcPct val="105000"/>
              </ns155:lnSpc>
              <ns155:defRPr sz="1300" b="1">
                <ns155:solidFill>
                  <ns155:srgbClr val="005A9C"/>
                </ns155:solidFill>
                <ns155:latin typeface="Arial"/>
                <ns155:ea typeface="Arial"/>
                <ns155:cs typeface="Arial"/>
              </ns155:defRPr>
            </ns155:pPr>
            <ns155:r>
              <ns155:rPr sz="1300" b="1">
                <ns155:solidFill>
                  <ns155:srgbClr val="005A9C"/>
                </ns155:solidFill>
                <ns155:latin typeface="Arial"/>
                <ns155:ea typeface="Arial"/>
                <ns155:cs typeface="Arial"/>
              </ns155:rPr>
              <ns155:t>LLM review</ns155:t>
            </ns155:r>
          </ns155:p>
          <ns156:p xmlns:ns156="http://schemas.openxmlformats.org/drawingml/2006/main">
            <ns156:pPr algn="l">
              <ns156:lnSpc>
                <ns156:spcPct val="105000"/>
              </ns156:lnSpc>
              <ns156:defRPr sz="1100" b="0">
                <ns156:solidFill>
                  <ns156:srgbClr val="20262C"/>
                </ns156:solidFill>
                <ns156:latin typeface="Arial"/>
                <ns156:ea typeface="Arial"/>
                <ns156:cs typeface="Arial"/>
              </ns156:defRPr>
            </ns156:pPr>
            <ns156:r>
              <ns156:rPr sz="1100" b="0">
                <ns156:solidFill>
                  <ns156:srgbClr val="20262C"/>
                </ns156:solidFill>
                <ns156:latin typeface="Arial"/>
                <ns156:ea typeface="Arial"/>
                <ns156:cs typeface="Arial"/>
              </ns156:rPr>
              <ns156:t>Explain suggested edits</ns156:t>
            </ns156:r>
          </ns156:p>
        </p:txBody>
      </p:sp>
      <p:cxnSp>
        <p:nvCxnSpPr>
          <p:cNvPr id="126" name="review.inputs.merge.source.0"/>
          <p:cNvCxnSpPr/>
          <p:nvPr/>
        </p:nvCxnSpPr>
        <p:spPr>
          <ns157:xfrm xmlns:ns157="http://schemas.openxmlformats.org/drawingml/2006/main">
            <ns157:off x="4042800" y="1890000"/>
            <ns157:ext cx="151200" cy="1"/>
          </ns157:xfrm>
          <ns158:prstGeom xmlns:ns158="http://schemas.openxmlformats.org/drawingml/2006/main" prst="line">
            <ns158:avLst/>
          </ns158:prstGeom>
          <ns159:ln xmlns:ns159="http://schemas.openxmlformats.org/drawingml/2006/main" w="9525">
            <ns159:solidFill>
              <ns159:srgbClr val="005A9C"/>
            </ns159:solidFill>
          </ns159:ln>
        </p:spPr>
      </p:cxnSp>
      <p:cxnSp>
        <p:nvCxnSpPr>
          <p:cNvPr id="127" name="review.inputs.merge.source.1"/>
          <p:cNvCxnSpPr/>
          <p:nvPr/>
        </p:nvCxnSpPr>
        <p:spPr>
          <ns160:xfrm xmlns:ns160="http://schemas.openxmlformats.org/drawingml/2006/main">
            <ns160:off x="4042800" y="2799000"/>
            <ns160:ext cx="151200" cy="1"/>
          </ns160:xfrm>
          <ns161:prstGeom xmlns:ns161="http://schemas.openxmlformats.org/drawingml/2006/main" prst="line">
            <ns161:avLst/>
          </ns161:prstGeom>
          <ns162:ln xmlns:ns162="http://schemas.openxmlformats.org/drawingml/2006/main" w="9525">
            <ns162:solidFill>
              <ns162:srgbClr val="005A9C"/>
            </ns162:solidFill>
          </ns162:ln>
        </p:spPr>
      </p:cxnSp>
      <p:cxnSp>
        <p:nvCxnSpPr>
          <p:cNvPr id="128" name="review.inputs.merge.bus"/>
          <p:cNvCxnSpPr/>
          <p:nvPr/>
        </p:nvCxnSpPr>
        <p:spPr>
          <ns163:xfrm xmlns:ns163="http://schemas.openxmlformats.org/drawingml/2006/main">
            <ns163:off x="4194000" y="1890000"/>
            <ns163:ext cx="1" cy="909000"/>
          </ns163:xfrm>
          <ns164:prstGeom xmlns:ns164="http://schemas.openxmlformats.org/drawingml/2006/main" prst="line">
            <ns164:avLst/>
          </ns164:prstGeom>
          <ns165:ln xmlns:ns165="http://schemas.openxmlformats.org/drawingml/2006/main" w="9525">
            <ns165:solidFill>
              <ns165:srgbClr val="005A9C"/>
            </ns165:solidFill>
          </ns165:ln>
        </p:spPr>
      </p:cxnSp>
      <p:cxnSp>
        <p:nvCxnSpPr>
          <p:cNvPr id="129" name="review.inputs.merge.target"/>
          <p:cNvCxnSpPr/>
          <p:nvPr/>
        </p:nvCxnSpPr>
        <p:spPr>
          <ns166:xfrm xmlns:ns166="http://schemas.openxmlformats.org/drawingml/2006/main">
            <ns166:off x="4194000" y="2376000"/>
            <ns166:ext cx="198000" cy="1"/>
          </ns166:xfrm>
          <ns167:prstGeom xmlns:ns167="http://schemas.openxmlformats.org/drawingml/2006/main" prst="line">
            <ns167:avLst/>
          </ns167:prstGeom>
          <ns168:ln xmlns:ns168="http://schemas.openxmlformats.org/drawingml/2006/main" w="11430">
            <ns168:solidFill>
              <ns168:srgbClr val="005A9C"/>
            </ns168:solidFill>
            <ns168:tailEnd type="triangle" w="sm" len="sm"/>
          </ns168:ln>
        </p:spPr>
      </p:cxnSp>
      <p:sp>
        <p:nvSpPr>
          <p:cNvPr id="130" name="peer.penghua"/>
          <p:cNvSpPr/>
          <p:nvPr/>
        </p:nvSpPr>
        <p:spPr>
          <ns169:xfrm xmlns:ns169="http://schemas.openxmlformats.org/drawingml/2006/main">
            <ns169:off x="4392000" y="1609200"/>
            <ns169:ext cx="1674000" cy="180000"/>
          </ns169:xfrm>
          <ns170:prstGeom xmlns:ns170="http://schemas.openxmlformats.org/drawingml/2006/main" prst="rect">
            <ns170:avLst/>
          </ns170:prstGeom>
          <ns171:noFill xmlns:ns171="http://schemas.openxmlformats.org/drawingml/2006/main"/>
          <ns172:ln xmlns:ns172="http://schemas.openxmlformats.org/drawingml/2006/main" w="0">
            <ns172:noFill/>
          </ns172:ln>
        </p:spPr>
        <p:txBody>
          <ns173:bodyPr xmlns:ns173="http://schemas.openxmlformats.org/drawingml/2006/main" wrap="square" lIns="0" rIns="0" tIns="0" bIns="0" anchor="t">
            <ns173:noAutofit/>
          </ns173:bodyPr>
          <ns174:lstStyle xmlns:ns174="http://schemas.openxmlformats.org/drawingml/2006/main"/>
          <ns175:p xmlns:ns175="http://schemas.openxmlformats.org/drawingml/2006/main">
            <ns175:pPr algn="l">
              <ns175:lnSpc>
                <ns175:spcPct val="105000"/>
              </ns175:lnSpc>
              <ns175:defRPr sz="1050" b="0">
                <ns175:solidFill>
                  <ns175:srgbClr val="005A9C"/>
                </ns175:solidFill>
                <ns175:latin typeface="Arial"/>
                <ns175:ea typeface="Arial"/>
                <ns175:cs typeface="Arial"/>
              </ns175:defRPr>
            </ns175:pPr>
            <ns175:r>
              <ns175:rPr sz="1050" b="0">
                <ns175:solidFill>
                  <ns175:srgbClr val="005A9C"/>
                </ns175:solidFill>
                <ns175:latin typeface="Arial"/>
                <ns175:ea typeface="Arial"/>
                <ns175:cs typeface="Arial"/>
              </ns175:rPr>
              <ns175:t>Penghua: suggested edits</ns175:t>
            </ns175:r>
          </ns175:p>
        </p:txBody>
      </p:sp>
      <p:sp>
        <p:nvSpPr>
          <p:cNvPr id="131" name="output.review.finding.0"/>
          <p:cNvSpPr/>
          <p:nvPr/>
        </p:nvSpPr>
        <p:spPr>
          <ns176:xfrm xmlns:ns176="http://schemas.openxmlformats.org/drawingml/2006/main">
            <ns176:off x="6127200" y="1512000"/>
            <ns176:ext cx="2559600" cy="666000"/>
          </ns176:xfrm>
          <ns177:prstGeom xmlns:ns177="http://schemas.openxmlformats.org/drawingml/2006/main" prst="rect">
            <ns177:avLst/>
          </ns177:prstGeom>
          <ns178:solidFill xmlns:ns178="http://schemas.openxmlformats.org/drawingml/2006/main">
            <ns178:srgbClr val="F3F7FA"/>
          </ns178:solidFill>
          <ns179:ln xmlns:ns179="http://schemas.openxmlformats.org/drawingml/2006/main" w="9525">
            <ns179:solidFill>
              <ns179:srgbClr val="65727D"/>
            </ns179:solidFill>
          </ns179:ln>
        </p:spPr>
        <p:txBody>
          <ns180:bodyPr xmlns:ns180="http://schemas.openxmlformats.org/drawingml/2006/main" wrap="square" lIns="61200" rIns="61200" tIns="61200" bIns="61200" anchor="ctr">
            <ns180:noAutofit/>
          </ns180:bodyPr>
          <ns181:lstStyle xmlns:ns181="http://schemas.openxmlformats.org/drawingml/2006/main"/>
          <ns182:p xmlns:ns182="http://schemas.openxmlformats.org/drawingml/2006/main">
            <ns182:pPr algn="l">
              <ns182:lnSpc>
                <ns182:spcPct val="105000"/>
              </ns182:lnSpc>
              <ns182:defRPr sz="1300" b="1">
                <ns182:solidFill>
                  <ns182:srgbClr val="65727D"/>
                </ns182:solidFill>
                <ns182:latin typeface="Arial"/>
                <ns182:ea typeface="Arial"/>
                <ns182:cs typeface="Arial"/>
              </ns182:defRPr>
            </ns182:pPr>
            <ns182:r>
              <ns182:rPr sz="1300" b="1">
                <ns182:solidFill>
                  <ns182:srgbClr val="65727D"/>
                </ns182:solidFill>
                <ns182:latin typeface="Arial"/>
                <ns182:ea typeface="Arial"/>
                <ns182:cs typeface="Arial"/>
              </ns182:rPr>
              <ns182:t>Fund / period</ns182:t>
            </ns182:r>
          </ns182:p>
          <ns183:p xmlns:ns183="http://schemas.openxmlformats.org/drawingml/2006/main">
            <ns183:pPr algn="l">
              <ns183:lnSpc>
                <ns183:spcPct val="105000"/>
              </ns183:lnSpc>
              <ns183:defRPr sz="1100" b="0">
                <ns183:solidFill>
                  <ns183:srgbClr val="20262C"/>
                </ns183:solidFill>
                <ns183:latin typeface="Arial"/>
                <ns183:ea typeface="Arial"/>
                <ns183:cs typeface="Arial"/>
              </ns183:defRPr>
            </ns183:pPr>
            <ns183:r>
              <ns183:rPr sz="1100" b="0">
                <ns183:solidFill>
                  <ns183:srgbClr val="20262C"/>
                </ns183:solidFill>
                <ns183:latin typeface="Arial"/>
                <ns183:ea typeface="Arial"/>
                <ns183:cs typeface="Arial"/>
              </ns183:rPr>
              <ns183:t>Full fund name</ns183:t>
            </ns183:r>
          </ns183:p>
          <ns184:p xmlns:ns184="http://schemas.openxmlformats.org/drawingml/2006/main">
            <ns184:pPr algn="l">
              <ns184:lnSpc>
                <ns184:spcPct val="105000"/>
              </ns184:lnSpc>
              <ns184:defRPr sz="1100" b="0">
                <ns184:solidFill>
                  <ns184:srgbClr val="20262C"/>
                </ns184:solidFill>
                <ns184:latin typeface="Arial"/>
                <ns184:ea typeface="Arial"/>
                <ns184:cs typeface="Arial"/>
              </ns184:defRPr>
            </ns184:pPr>
            <ns184:r>
              <ns184:rPr sz="1100" b="0">
                <ns184:solidFill>
                  <ns184:srgbClr val="20262C"/>
                </ns184:solidFill>
                <ns184:latin typeface="Arial"/>
                <ns184:ea typeface="Arial"/>
                <ns184:cs typeface="Arial"/>
              </ns184:rPr>
              <ns184:t>Current reporting period</ns184:t>
            </ns184:r>
          </ns184:p>
        </p:txBody>
      </p:sp>
      <p:sp>
        <p:nvSpPr>
          <p:cNvPr id="132" name="output.review.finding.1"/>
          <p:cNvSpPr/>
          <p:nvPr/>
        </p:nvSpPr>
        <p:spPr>
          <ns185:xfrm xmlns:ns185="http://schemas.openxmlformats.org/drawingml/2006/main">
            <ns185:off x="6127200" y="2322000"/>
            <ns185:ext cx="2559600" cy="666000"/>
          </ns185:xfrm>
          <ns186:prstGeom xmlns:ns186="http://schemas.openxmlformats.org/drawingml/2006/main" prst="rect">
            <ns186:avLst/>
          </ns186:prstGeom>
          <ns187:solidFill xmlns:ns187="http://schemas.openxmlformats.org/drawingml/2006/main">
            <ns187:srgbClr val="F3F7FA"/>
          </ns187:solidFill>
          <ns188:ln xmlns:ns188="http://schemas.openxmlformats.org/drawingml/2006/main" w="9525">
            <ns188:solidFill>
              <ns188:srgbClr val="65727D"/>
            </ns188:solidFill>
          </ns188:ln>
        </p:spPr>
        <p:txBody>
          <ns189:bodyPr xmlns:ns189="http://schemas.openxmlformats.org/drawingml/2006/main" wrap="square" lIns="61200" rIns="61200" tIns="61200" bIns="61200" anchor="ctr">
            <ns189:noAutofit/>
          </ns189:bodyPr>
          <ns190:lstStyle xmlns:ns190="http://schemas.openxmlformats.org/drawingml/2006/main"/>
          <ns191:p xmlns:ns191="http://schemas.openxmlformats.org/drawingml/2006/main">
            <ns191:pPr algn="l">
              <ns191:lnSpc>
                <ns191:spcPct val="105000"/>
              </ns191:lnSpc>
              <ns191:defRPr sz="1300" b="1">
                <ns191:solidFill>
                  <ns191:srgbClr val="65727D"/>
                </ns191:solidFill>
                <ns191:latin typeface="Arial"/>
                <ns191:ea typeface="Arial"/>
                <ns191:cs typeface="Arial"/>
              </ns191:defRPr>
            </ns191:pPr>
            <ns191:r>
              <ns191:rPr sz="1300" b="1">
                <ns191:solidFill>
                  <ns191:srgbClr val="65727D"/>
                </ns191:solidFill>
                <ns191:latin typeface="Arial"/>
                <ns191:ea typeface="Arial"/>
                <ns191:cs typeface="Arial"/>
              </ns191:rPr>
              <ns191:t>Investment rationale</ns191:t>
            </ns191:r>
          </ns191:p>
          <ns192:p xmlns:ns192="http://schemas.openxmlformats.org/drawingml/2006/main">
            <ns192:pPr algn="l">
              <ns192:lnSpc>
                <ns192:spcPct val="105000"/>
              </ns192:lnSpc>
              <ns192:defRPr sz="1100" b="0">
                <ns192:solidFill>
                  <ns192:srgbClr val="20262C"/>
                </ns192:solidFill>
                <ns192:latin typeface="Arial"/>
                <ns192:ea typeface="Arial"/>
                <ns192:cs typeface="Arial"/>
              </ns192:defRPr>
            </ns192:pPr>
            <ns192:r>
              <ns192:rPr sz="1100" b="0">
                <ns192:solidFill>
                  <ns192:srgbClr val="20262C"/>
                </ns192:solidFill>
                <ns192:latin typeface="Arial"/>
                <ns192:ea typeface="Arial"/>
                <ns192:cs typeface="Arial"/>
              </ns192:rPr>
              <ns192:t>Restocking driver</ns192:t>
            </ns192:r>
          </ns192:p>
          <ns193:p xmlns:ns193="http://schemas.openxmlformats.org/drawingml/2006/main">
            <ns193:pPr algn="l">
              <ns193:lnSpc>
                <ns193:spcPct val="105000"/>
              </ns193:lnSpc>
              <ns193:defRPr sz="1100" b="0">
                <ns193:solidFill>
                  <ns193:srgbClr val="20262C"/>
                </ns193:solidFill>
                <ns193:latin typeface="Arial"/>
                <ns193:ea typeface="Arial"/>
                <ns193:cs typeface="Arial"/>
              </ns193:defRPr>
            </ns193:pPr>
            <ns193:r>
              <ns193:rPr sz="1100" b="0">
                <ns193:solidFill>
                  <ns193:srgbClr val="20262C"/>
                </ns193:solidFill>
                <ns193:latin typeface="Arial"/>
                <ns193:ea typeface="Arial"/>
                <ns193:cs typeface="Arial"/>
              </ns193:rPr>
              <ns193:t>Continuation uncertainty</ns193:t>
            </ns193:r>
          </ns193:p>
        </p:txBody>
      </p:sp>
      <p:sp>
        <p:nvSpPr>
          <p:cNvPr id="133" name="output.review.finding.2"/>
          <p:cNvSpPr/>
          <p:nvPr/>
        </p:nvSpPr>
        <p:spPr>
          <ns194:xfrm xmlns:ns194="http://schemas.openxmlformats.org/drawingml/2006/main">
            <ns194:off x="6127200" y="3132000"/>
            <ns194:ext cx="2559600" cy="666000"/>
          </ns194:xfrm>
          <ns195:prstGeom xmlns:ns195="http://schemas.openxmlformats.org/drawingml/2006/main" prst="rect">
            <ns195:avLst/>
          </ns195:prstGeom>
          <ns196:solidFill xmlns:ns196="http://schemas.openxmlformats.org/drawingml/2006/main">
            <ns196:srgbClr val="F3F7FA"/>
          </ns196:solidFill>
          <ns197:ln xmlns:ns197="http://schemas.openxmlformats.org/drawingml/2006/main" w="9525">
            <ns197:solidFill>
              <ns197:srgbClr val="65727D"/>
            </ns197:solidFill>
          </ns197:ln>
        </p:spPr>
        <p:txBody>
          <ns198:bodyPr xmlns:ns198="http://schemas.openxmlformats.org/drawingml/2006/main" wrap="square" lIns="61200" rIns="61200" tIns="61200" bIns="61200" anchor="ctr">
            <ns198:noAutofit/>
          </ns198:bodyPr>
          <ns199:lstStyle xmlns:ns199="http://schemas.openxmlformats.org/drawingml/2006/main"/>
          <ns200:p xmlns:ns200="http://schemas.openxmlformats.org/drawingml/2006/main">
            <ns200:pPr algn="l">
              <ns200:lnSpc>
                <ns200:spcPct val="105000"/>
              </ns200:lnSpc>
              <ns200:defRPr sz="1300" b="1">
                <ns200:solidFill>
                  <ns200:srgbClr val="65727D"/>
                </ns200:solidFill>
                <ns200:latin typeface="Arial"/>
                <ns200:ea typeface="Arial"/>
                <ns200:cs typeface="Arial"/>
              </ns200:defRPr>
            </ns200:pPr>
            <ns200:r>
              <ns200:rPr sz="1300" b="1">
                <ns200:solidFill>
                  <ns200:srgbClr val="65727D"/>
                </ns200:solidFill>
                <ns200:latin typeface="Arial"/>
                <ns200:ea typeface="Arial"/>
                <ns200:cs typeface="Arial"/>
              </ns200:rPr>
              <ns200:t>Risk wording</ns200:t>
            </ns200:r>
          </ns200:p>
          <ns201:p xmlns:ns201="http://schemas.openxmlformats.org/drawingml/2006/main">
            <ns201:pPr algn="l">
              <ns201:lnSpc>
                <ns201:spcPct val="105000"/>
              </ns201:lnSpc>
              <ns201:defRPr sz="1100" b="0">
                <ns201:solidFill>
                  <ns201:srgbClr val="20262C"/>
                </ns201:solidFill>
                <ns201:latin typeface="Arial"/>
                <ns201:ea typeface="Arial"/>
                <ns201:cs typeface="Arial"/>
              </ns201:defRPr>
            </ns201:pPr>
            <ns201:r>
              <ns201:rPr sz="1100" b="0">
                <ns201:solidFill>
                  <ns201:srgbClr val="20262C"/>
                </ns201:solidFill>
                <ns201:latin typeface="Arial"/>
                <ns201:ea typeface="Arial"/>
                <ns201:cs typeface="Arial"/>
              </ns201:rPr>
              <ns201:t>NAV fluctuation</ns201:t>
            </ns201:r>
          </ns201:p>
          <ns202:p xmlns:ns202="http://schemas.openxmlformats.org/drawingml/2006/main">
            <ns202:pPr algn="l">
              <ns202:lnSpc>
                <ns202:spcPct val="105000"/>
              </ns202:lnSpc>
              <ns202:defRPr sz="1100" b="0">
                <ns202:solidFill>
                  <ns202:srgbClr val="20262C"/>
                </ns202:solidFill>
                <ns202:latin typeface="Arial"/>
                <ns202:ea typeface="Arial"/>
                <ns202:cs typeface="Arial"/>
              </ns202:defRPr>
            </ns202:pPr>
            <ns202:r>
              <ns202:rPr sz="1100" b="0">
                <ns202:solidFill>
                  <ns202:srgbClr val="20262C"/>
                </ns202:solidFill>
                <ns202:latin typeface="Arial"/>
                <ns202:ea typeface="Arial"/>
                <ns202:cs typeface="Arial"/>
              </ns202:rPr>
              <ns202:t>Capital at risk</ns202:t>
            </ns202:r>
          </ns202:p>
        </p:txBody>
      </p:sp>
      <p:cxnSp>
        <p:nvCxnSpPr>
          <p:cNvPr id="134" name="review.findings.entry"/>
          <p:cNvCxnSpPr/>
          <p:nvPr/>
        </p:nvCxnSpPr>
        <p:spPr>
          <ns203:xfrm xmlns:ns203="http://schemas.openxmlformats.org/drawingml/2006/main">
            <ns203:off x="5850000" y="2376000"/>
            <ns203:ext cx="144000" cy="1"/>
          </ns203:xfrm>
          <ns204:prstGeom xmlns:ns204="http://schemas.openxmlformats.org/drawingml/2006/main" prst="line">
            <ns204:avLst/>
          </ns204:prstGeom>
          <ns205:ln xmlns:ns205="http://schemas.openxmlformats.org/drawingml/2006/main" w="11430">
            <ns205:solidFill>
              <ns205:srgbClr val="005A9C"/>
            </ns205:solidFill>
          </ns205:ln>
        </p:spPr>
      </p:cxnSp>
      <p:cxnSp>
        <p:nvCxnSpPr>
          <p:cNvPr id="135" name="review.findings.bus"/>
          <p:cNvCxnSpPr/>
          <p:nvPr/>
        </p:nvCxnSpPr>
        <p:spPr>
          <ns206:xfrm xmlns:ns206="http://schemas.openxmlformats.org/drawingml/2006/main">
            <ns206:off x="5994000" y="1845000"/>
            <ns206:ext cx="1" cy="1620000"/>
          </ns206:xfrm>
          <ns207:prstGeom xmlns:ns207="http://schemas.openxmlformats.org/drawingml/2006/main" prst="line">
            <ns207:avLst/>
          </ns207:prstGeom>
          <ns208:ln xmlns:ns208="http://schemas.openxmlformats.org/drawingml/2006/main" w="11430">
            <ns208:solidFill>
              <ns208:srgbClr val="005A9C"/>
            </ns208:solidFill>
          </ns208:ln>
        </p:spPr>
      </p:cxnSp>
      <p:cxnSp>
        <p:nvCxnSpPr>
          <p:cNvPr id="136" name="review.finding.branch.0"/>
          <p:cNvCxnSpPr/>
          <p:nvPr/>
        </p:nvCxnSpPr>
        <p:spPr>
          <ns209:xfrm xmlns:ns209="http://schemas.openxmlformats.org/drawingml/2006/main">
            <ns209:off x="5994000" y="1845000"/>
            <ns209:ext cx="97200" cy="1"/>
          </ns209:xfrm>
          <ns210:prstGeom xmlns:ns210="http://schemas.openxmlformats.org/drawingml/2006/main" prst="line">
            <ns210:avLst/>
          </ns210:prstGeom>
          <ns211:ln xmlns:ns211="http://schemas.openxmlformats.org/drawingml/2006/main" w="11430">
            <ns211:solidFill>
              <ns211:srgbClr val="005A9C"/>
            </ns211:solidFill>
            <ns211:tailEnd type="triangle" w="sm" len="sm"/>
          </ns211:ln>
        </p:spPr>
      </p:cxnSp>
      <p:cxnSp>
        <p:nvCxnSpPr>
          <p:cNvPr id="137" name="review.finding.branch.1"/>
          <p:cNvCxnSpPr/>
          <p:nvPr/>
        </p:nvCxnSpPr>
        <p:spPr>
          <ns212:xfrm xmlns:ns212="http://schemas.openxmlformats.org/drawingml/2006/main">
            <ns212:off x="5994000" y="2655000"/>
            <ns212:ext cx="97200" cy="1"/>
          </ns212:xfrm>
          <ns213:prstGeom xmlns:ns213="http://schemas.openxmlformats.org/drawingml/2006/main" prst="line">
            <ns213:avLst/>
          </ns213:prstGeom>
          <ns214:ln xmlns:ns214="http://schemas.openxmlformats.org/drawingml/2006/main" w="11430">
            <ns214:solidFill>
              <ns214:srgbClr val="005A9C"/>
            </ns214:solidFill>
            <ns214:tailEnd type="triangle" w="sm" len="sm"/>
          </ns214:ln>
        </p:spPr>
      </p:cxnSp>
      <p:cxnSp>
        <p:nvCxnSpPr>
          <p:cNvPr id="138" name="review.finding.branch.2"/>
          <p:cNvCxnSpPr/>
          <p:nvPr/>
        </p:nvCxnSpPr>
        <p:spPr>
          <ns215:xfrm xmlns:ns215="http://schemas.openxmlformats.org/drawingml/2006/main">
            <ns215:off x="5994000" y="3465000"/>
            <ns215:ext cx="97200" cy="1"/>
          </ns215:xfrm>
          <ns216:prstGeom xmlns:ns216="http://schemas.openxmlformats.org/drawingml/2006/main" prst="line">
            <ns216:avLst/>
          </ns216:prstGeom>
          <ns217:ln xmlns:ns217="http://schemas.openxmlformats.org/drawingml/2006/main" w="11430">
            <ns217:solidFill>
              <ns217:srgbClr val="005A9C"/>
            </ns217:solidFill>
            <ns217:tailEnd type="triangle" w="sm" len="sm"/>
          </ns217:ln>
        </p:spPr>
      </p:cxnSp>
      <p:sp>
        <p:nvSpPr>
          <p:cNvPr id="139" name="review.findings.group"/>
          <p:cNvSpPr/>
          <p:nvPr/>
        </p:nvSpPr>
        <p:spPr>
          <ns218:xfrm xmlns:ns218="http://schemas.openxmlformats.org/drawingml/2006/main">
            <ns218:off x="6066000" y="1454400"/>
            <ns218:ext cx="2620800" cy="2401200"/>
          </ns218:xfrm>
          <ns219:prstGeom xmlns:ns219="http://schemas.openxmlformats.org/drawingml/2006/main" prst="rect">
            <ns219:avLst/>
          </ns219:prstGeom>
          <ns220:noFill xmlns:ns220="http://schemas.openxmlformats.org/drawingml/2006/main"/>
          <ns221:ln xmlns:ns221="http://schemas.openxmlformats.org/drawingml/2006/main" w="6350">
            <ns221:solidFill>
              <ns221:srgbClr val="CBD4DA"/>
            </ns221:solidFill>
          </ns221:ln>
        </p:spPr>
      </p:sp>
      <p:sp>
        <p:nvSpPr>
          <p:cNvPr id="140" name="peer.yingmi"/>
          <p:cNvSpPr/>
          <p:nvPr/>
        </p:nvSpPr>
        <p:spPr>
          <ns222:xfrm xmlns:ns222="http://schemas.openxmlformats.org/drawingml/2006/main">
            <ns222:off x="2422800" y="3438000"/>
            <ns222:ext cx="1620000" cy="522000"/>
          </ns222:xfrm>
          <ns223:prstGeom xmlns:ns223="http://schemas.openxmlformats.org/drawingml/2006/main" prst="rect">
            <ns223:avLst/>
          </ns223:prstGeom>
          <ns224:noFill xmlns:ns224="http://schemas.openxmlformats.org/drawingml/2006/main"/>
          <ns225:ln xmlns:ns225="http://schemas.openxmlformats.org/drawingml/2006/main" w="0">
            <ns225:noFill/>
          </ns225:ln>
        </p:spPr>
        <p:txBody>
          <ns226:bodyPr xmlns:ns226="http://schemas.openxmlformats.org/drawingml/2006/main" wrap="square" lIns="0" rIns="0" tIns="0" bIns="0" anchor="t">
            <ns226:noAutofit/>
          </ns226:bodyPr>
          <ns227:lstStyle xmlns:ns227="http://schemas.openxmlformats.org/drawingml/2006/main"/>
          <ns228:p xmlns:ns228="http://schemas.openxmlformats.org/drawingml/2006/main">
            <ns228:pPr algn="l">
              <ns228:lnSpc>
                <ns228:spcPct val="105000"/>
              </ns228:lnSpc>
              <ns228:defRPr sz="1050" b="0">
                <ns228:solidFill>
                  <ns228:srgbClr val="005A9C"/>
                </ns228:solidFill>
                <ns228:latin typeface="Arial"/>
                <ns228:ea typeface="Arial"/>
                <ns228:cs typeface="Arial"/>
              </ns228:defRPr>
            </ns228:pPr>
            <ns228:r>
              <ns228:rPr sz="1050" b="0">
                <ns228:solidFill>
                  <ns228:srgbClr val="005A9C"/>
                </ns228:solidFill>
                <ns228:latin typeface="Arial"/>
                <ns228:ea typeface="Arial"/>
                <ns228:cs typeface="Arial"/>
              </ns228:rPr>
              <ns228:t>Yingmi</ns228:t>
            </ns228:r>
          </ns228:p>
          <ns229:p xmlns:ns229="http://schemas.openxmlformats.org/drawingml/2006/main">
            <ns229:pPr algn="l">
              <ns229:lnSpc>
                <ns229:spcPct val="105000"/>
              </ns229:lnSpc>
              <ns229:defRPr sz="1050" b="0">
                <ns229:solidFill>
                  <ns229:srgbClr val="005A9C"/>
                </ns229:solidFill>
                <ns229:latin typeface="Arial"/>
                <ns229:ea typeface="Arial"/>
                <ns229:cs typeface="Arial"/>
              </ns229:defRPr>
            </ns229:pPr>
            <ns229:r>
              <ns229:rPr sz="1050" b="0">
                <ns229:solidFill>
                  <ns229:srgbClr val="005A9C"/>
                </ns229:solidFill>
                <ns229:latin typeface="Arial"/>
                <ns229:ea typeface="Arial"/>
                <ns229:cs typeface="Arial"/>
              </ns229:rPr>
              <ns229:t>Review / revision /</ns229:t>
            </ns229:r>
          </ns229:p>
          <ns230:p xmlns:ns230="http://schemas.openxmlformats.org/drawingml/2006/main">
            <ns230:pPr algn="l">
              <ns230:lnSpc>
                <ns230:spcPct val="105000"/>
              </ns230:lnSpc>
              <ns230:defRPr sz="1050" b="0">
                <ns230:solidFill>
                  <ns230:srgbClr val="005A9C"/>
                </ns230:solidFill>
                <ns230:latin typeface="Arial"/>
                <ns230:ea typeface="Arial"/>
                <ns230:cs typeface="Arial"/>
              </ns230:defRPr>
            </ns230:pPr>
            <ns230:r>
              <ns230:rPr sz="1050" b="0">
                <ns230:solidFill>
                  <ns230:srgbClr val="005A9C"/>
                </ns230:solidFill>
                <ns230:latin typeface="Arial"/>
                <ns230:ea typeface="Arial"/>
                <ns230:cs typeface="Arial"/>
              </ns230:rPr>
              <ns230:t>repeat review</ns230:t>
            </ns230:r>
          </ns230:p>
        </p:txBody>
      </p:sp>
      <p:sp>
        <p:nvSpPr>
          <p:cNvPr id="141" name="human.author.revises"/>
          <p:cNvSpPr/>
          <p:nvPr/>
        </p:nvSpPr>
        <p:spPr>
          <ns231:xfrm xmlns:ns231="http://schemas.openxmlformats.org/drawingml/2006/main">
            <ns231:off x="4392000" y="4068000"/>
            <ns231:ext cx="1458000" cy="396000"/>
          </ns231:xfrm>
          <ns232:prstGeom xmlns:ns232="http://schemas.openxmlformats.org/drawingml/2006/main" prst="roundRect">
            <ns232:avLst/>
          </ns232:prstGeom>
          <ns233:solidFill xmlns:ns233="http://schemas.openxmlformats.org/drawingml/2006/main">
            <ns233:srgbClr val="F3F7FA"/>
          </ns233:solidFill>
          <ns234:ln xmlns:ns234="http://schemas.openxmlformats.org/drawingml/2006/main" w="9525">
            <ns234:solidFill>
              <ns234:srgbClr val="65727D"/>
            </ns234:solidFill>
          </ns234:ln>
        </p:spPr>
        <p:txBody>
          <ns235:bodyPr xmlns:ns235="http://schemas.openxmlformats.org/drawingml/2006/main" wrap="square" lIns="61200" rIns="61200" tIns="61200" bIns="61200" anchor="ctr">
            <ns235:noAutofit/>
          </ns235:bodyPr>
          <ns236:lstStyle xmlns:ns236="http://schemas.openxmlformats.org/drawingml/2006/main"/>
          <ns237:p xmlns:ns237="http://schemas.openxmlformats.org/drawingml/2006/main">
            <ns237:pPr algn="l">
              <ns237:lnSpc>
                <ns237:spcPct val="105000"/>
              </ns237:lnSpc>
              <ns237:defRPr sz="1300" b="1">
                <ns237:solidFill>
                  <ns237:srgbClr val="65727D"/>
                </ns237:solidFill>
                <ns237:latin typeface="Arial"/>
                <ns237:ea typeface="Arial"/>
                <ns237:cs typeface="Arial"/>
              </ns237:defRPr>
            </ns237:pPr>
            <ns237:r>
              <ns237:rPr sz="1300" b="1">
                <ns237:solidFill>
                  <ns237:srgbClr val="65727D"/>
                </ns237:solidFill>
                <ns237:latin typeface="Arial"/>
                <ns237:ea typeface="Arial"/>
                <ns237:cs typeface="Arial"/>
              </ns237:rPr>
              <ns237:t>Author revises</ns237:t>
            </ns237:r>
          </ns237:p>
        </p:txBody>
      </p:sp>
      <p:sp>
        <p:nvSpPr>
          <p:cNvPr id="142" name="human.review.recheck"/>
          <p:cNvSpPr/>
          <p:nvPr/>
        </p:nvSpPr>
        <p:spPr>
          <ns238:xfrm xmlns:ns238="http://schemas.openxmlformats.org/drawingml/2006/main">
            <ns238:off x="6127200" y="4068000"/>
            <ns238:ext cx="2559600" cy="396000"/>
          </ns238:xfrm>
          <ns239:prstGeom xmlns:ns239="http://schemas.openxmlformats.org/drawingml/2006/main" prst="roundRect">
            <ns239:avLst/>
          </ns239:prstGeom>
          <ns240:solidFill xmlns:ns240="http://schemas.openxmlformats.org/drawingml/2006/main">
            <ns240:srgbClr val="F3F7FA"/>
          </ns240:solidFill>
          <ns241:ln xmlns:ns241="http://schemas.openxmlformats.org/drawingml/2006/main" w="9525">
            <ns241:solidFill>
              <ns241:srgbClr val="65727D"/>
            </ns241:solidFill>
          </ns241:ln>
        </p:spPr>
        <p:txBody>
          <ns242:bodyPr xmlns:ns242="http://schemas.openxmlformats.org/drawingml/2006/main" wrap="square" lIns="61200" rIns="61200" tIns="61200" bIns="61200" anchor="ctr">
            <ns242:noAutofit/>
          </ns242:bodyPr>
          <ns243:lstStyle xmlns:ns243="http://schemas.openxmlformats.org/drawingml/2006/main"/>
          <ns244:p xmlns:ns244="http://schemas.openxmlformats.org/drawingml/2006/main">
            <ns244:pPr algn="l">
              <ns244:lnSpc>
                <ns244:spcPct val="105000"/>
              </ns244:lnSpc>
              <ns244:defRPr sz="1300" b="1">
                <ns244:solidFill>
                  <ns244:srgbClr val="65727D"/>
                </ns244:solidFill>
                <ns244:latin typeface="Arial"/>
                <ns244:ea typeface="Arial"/>
                <ns244:cs typeface="Arial"/>
              </ns244:defRPr>
            </ns244:pPr>
            <ns244:r>
              <ns244:rPr sz="1300" b="1">
                <ns244:solidFill>
                  <ns244:srgbClr val="65727D"/>
                </ns244:solidFill>
                <ns244:latin typeface="Arial"/>
                <ns244:ea typeface="Arial"/>
                <ns244:cs typeface="Arial"/>
              </ns244:rPr>
              <ns244:t>Repeat review</ns244:t>
            </ns244:r>
          </ns244:p>
        </p:txBody>
      </p:sp>
      <p:cxnSp>
        <p:nvCxnSpPr>
          <p:cNvPr id="143" name="findings.to.author.0"/>
          <p:cNvCxnSpPr/>
          <p:nvPr/>
        </p:nvCxnSpPr>
        <p:spPr>
          <ns245:xfrm xmlns:ns245="http://schemas.openxmlformats.org/drawingml/2006/main">
            <ns245:off x="7376400" y="3891600"/>
            <ns245:ext cx="1" cy="61200"/>
          </ns245:xfrm>
          <ns246:prstGeom xmlns:ns246="http://schemas.openxmlformats.org/drawingml/2006/main" prst="line">
            <ns246:avLst/>
          </ns246:prstGeom>
          <ns247:ln xmlns:ns247="http://schemas.openxmlformats.org/drawingml/2006/main" w="11430">
            <ns247:solidFill>
              <ns247:srgbClr val="005A9C"/>
            </ns247:solidFill>
          </ns247:ln>
        </p:spPr>
      </p:cxnSp>
      <p:cxnSp>
        <p:nvCxnSpPr>
          <p:cNvPr id="144" name="findings.to.author.1"/>
          <p:cNvCxnSpPr/>
          <p:nvPr/>
        </p:nvCxnSpPr>
        <p:spPr>
          <ns248:xfrm xmlns:ns248="http://schemas.openxmlformats.org/drawingml/2006/main" flipH="1">
            <ns248:off x="5121000" y="3952800"/>
            <ns248:ext cx="2255400" cy="1"/>
          </ns248:xfrm>
          <ns249:prstGeom xmlns:ns249="http://schemas.openxmlformats.org/drawingml/2006/main" prst="line">
            <ns249:avLst/>
          </ns249:prstGeom>
          <ns250:ln xmlns:ns250="http://schemas.openxmlformats.org/drawingml/2006/main" w="11430">
            <ns250:solidFill>
              <ns250:srgbClr val="005A9C"/>
            </ns250:solidFill>
          </ns250:ln>
        </p:spPr>
      </p:cxnSp>
      <p:cxnSp>
        <p:nvCxnSpPr>
          <p:cNvPr id="145" name="findings.to.author.2"/>
          <p:cNvCxnSpPr/>
          <p:nvPr/>
        </p:nvCxnSpPr>
        <p:spPr>
          <ns251:xfrm xmlns:ns251="http://schemas.openxmlformats.org/drawingml/2006/main">
            <ns251:off x="5121000" y="3952800"/>
            <ns251:ext cx="1" cy="79200"/>
          </ns251:xfrm>
          <ns252:prstGeom xmlns:ns252="http://schemas.openxmlformats.org/drawingml/2006/main" prst="line">
            <ns252:avLst/>
          </ns252:prstGeom>
          <ns253:ln xmlns:ns253="http://schemas.openxmlformats.org/drawingml/2006/main" w="11430">
            <ns253:solidFill>
              <ns253:srgbClr val="005A9C"/>
            </ns253:solidFill>
            <ns253:tailEnd type="triangle" w="sm" len="sm"/>
          </ns253:ln>
        </p:spPr>
      </p:cxnSp>
      <p:cxnSp>
        <p:nvCxnSpPr>
          <p:cNvPr id="146" name="author.to.recheck"/>
          <p:cNvCxnSpPr/>
          <p:nvPr/>
        </p:nvCxnSpPr>
        <p:spPr>
          <ns254:xfrm xmlns:ns254="http://schemas.openxmlformats.org/drawingml/2006/main">
            <ns254:off x="5886000" y="4266000"/>
            <ns254:ext cx="205200" cy="1"/>
          </ns254:xfrm>
          <ns255:prstGeom xmlns:ns255="http://schemas.openxmlformats.org/drawingml/2006/main" prst="line">
            <ns255:avLst/>
          </ns255:prstGeom>
          <ns256:ln xmlns:ns256="http://schemas.openxmlformats.org/drawingml/2006/main" w="11430">
            <ns256:solidFill>
              <ns256:srgbClr val="005A9C"/>
            </ns256:solidFill>
            <ns256:tailEnd type="triangle" w="sm" len="sm"/>
          </ns256:ln>
        </p:spPr>
      </p:cxnSp>
      <p:cxnSp>
        <p:nvCxnSpPr>
          <p:cNvPr id="147" name="recheck.return.0"/>
          <p:cNvCxnSpPr/>
          <p:nvPr/>
        </p:nvCxnSpPr>
        <p:spPr>
          <ns257:xfrm xmlns:ns257="http://schemas.openxmlformats.org/drawingml/2006/main">
            <ns257:off x="7407000" y="4482000"/>
            <ns257:ext cx="1" cy="36000"/>
          </ns257:xfrm>
          <ns258:prstGeom xmlns:ns258="http://schemas.openxmlformats.org/drawingml/2006/main" prst="line">
            <ns258:avLst/>
          </ns258:prstGeom>
          <ns259:ln xmlns:ns259="http://schemas.openxmlformats.org/drawingml/2006/main" w="8890">
            <ns259:solidFill>
              <ns259:srgbClr val="65727D"/>
            </ns259:solidFill>
          </ns259:ln>
        </p:spPr>
      </p:cxnSp>
      <p:cxnSp>
        <p:nvCxnSpPr>
          <p:cNvPr id="148" name="recheck.return.1"/>
          <p:cNvCxnSpPr/>
          <p:nvPr/>
        </p:nvCxnSpPr>
        <p:spPr>
          <ns260:xfrm xmlns:ns260="http://schemas.openxmlformats.org/drawingml/2006/main" flipH="1">
            <ns260:off x="4114800" y="4518000"/>
            <ns260:ext cx="3292200" cy="1"/>
          </ns260:xfrm>
          <ns261:prstGeom xmlns:ns261="http://schemas.openxmlformats.org/drawingml/2006/main" prst="line">
            <ns261:avLst/>
          </ns261:prstGeom>
          <ns262:ln xmlns:ns262="http://schemas.openxmlformats.org/drawingml/2006/main" w="8890">
            <ns262:solidFill>
              <ns262:srgbClr val="65727D"/>
            </ns262:solidFill>
          </ns262:ln>
        </p:spPr>
      </p:cxnSp>
      <p:cxnSp>
        <p:nvCxnSpPr>
          <p:cNvPr id="149" name="recheck.return.2"/>
          <p:cNvCxnSpPr/>
          <p:nvPr/>
        </p:nvCxnSpPr>
        <p:spPr>
          <ns263:xfrm xmlns:ns263="http://schemas.openxmlformats.org/drawingml/2006/main" flipV="1">
            <ns263:off x="4114800" y="2628000"/>
            <ns263:ext cx="1" cy="1890000"/>
          </ns263:xfrm>
          <ns264:prstGeom xmlns:ns264="http://schemas.openxmlformats.org/drawingml/2006/main" prst="line">
            <ns264:avLst/>
          </ns264:prstGeom>
          <ns265:ln xmlns:ns265="http://schemas.openxmlformats.org/drawingml/2006/main" w="8890">
            <ns265:solidFill>
              <ns265:srgbClr val="65727D"/>
            </ns265:solidFill>
          </ns265:ln>
        </p:spPr>
      </p:cxnSp>
      <p:cxnSp>
        <p:nvCxnSpPr>
          <p:cNvPr id="150" name="recheck.return.3"/>
          <p:cNvCxnSpPr/>
          <p:nvPr/>
        </p:nvCxnSpPr>
        <p:spPr>
          <ns266:xfrm xmlns:ns266="http://schemas.openxmlformats.org/drawingml/2006/main">
            <ns266:off x="4114800" y="2628000"/>
            <ns266:ext cx="241200" cy="1"/>
          </ns266:xfrm>
          <ns267:prstGeom xmlns:ns267="http://schemas.openxmlformats.org/drawingml/2006/main" prst="line">
            <ns267:avLst/>
          </ns267:prstGeom>
          <ns268:ln xmlns:ns268="http://schemas.openxmlformats.org/drawingml/2006/main" w="8890">
            <ns268:solidFill>
              <ns268:srgbClr val="65727D"/>
            </ns268:solidFill>
            <ns268:tailEnd type="triangle" w="sm" len="sm"/>
          </ns268:ln>
        </p:spPr>
      </p:cxnSp>
    </p:spTree>
    <p:extLst>
      <p:ext uri="{BB962C8B-B14F-4D97-AF65-F5344CB8AC3E}">
        <p14:creationId xmlns:p14="http://schemas.microsoft.com/office/powerpoint/2010/main" val="9102692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application: reviewing client updates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Middle office / Client-material review / Proposed application</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Penghua / AMAC; Yingmi</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005A9C"/>
                </ns58:solidFill>
                <ns58:latin typeface="Arial"/>
                <ns58:ea typeface="Arial"/>
                <ns58:cs typeface="Arial"/>
              </ns58:defRPr>
            </ns58:pPr>
            <ns58:r>
              <ns58:rPr sz="1100" b="1">
                <ns58:solidFill>
                  <ns58:srgbClr val="005A9C"/>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005A9C"/>
            </ns61:solidFill>
          </ns61:ln>
        </p:spPr>
      </p:cxnSp>
      <p:sp>
        <p:nvSpPr>
          <p:cNvPr id="111" name="map.task.focus.review"/>
          <p:cNvSpPr/>
          <p:nvPr/>
        </p:nvSpPr>
        <p:spPr>
          <ns62:xfrm xmlns:ns62="http://schemas.openxmlformats.org/drawingml/2006/main">
            <ns62:off x="486000" y="2844000"/>
            <ns62:ext cx="1677600" cy="176400"/>
          </ns62:xfrm>
          <ns63:prstGeom xmlns:ns63="http://schemas.openxmlformats.org/drawingml/2006/main" prst="rect">
            <ns63:avLst/>
          </ns63:prstGeom>
          <ns64:solidFill xmlns:ns64="http://schemas.openxmlformats.org/drawingml/2006/main">
            <ns64:srgbClr val="D9EAF7"/>
          </ns64:solidFill>
          <ns65:ln xmlns:ns65="http://schemas.openxmlformats.org/drawingml/2006/main" w="0">
            <ns65:noFill/>
          </ns65:ln>
        </p:spPr>
      </p:sp>
      <p:sp>
        <p:nvSpPr>
          <p:cNvPr id="112" name="map.task.review"/>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1">
                <ns72:solidFill>
                  <ns72:srgbClr val="005A9C"/>
                </ns72:solidFill>
                <ns72:latin typeface="Arial"/>
                <ns72:ea typeface="Arial"/>
                <ns72:cs typeface="Arial"/>
              </ns72:defRPr>
            </ns72:pPr>
            <ns72:r>
              <ns72:rPr sz="1050" b="1">
                <ns72:solidFill>
                  <ns72:srgbClr val="005A9C"/>
                </ns72:solidFill>
                <ns72:latin typeface="Arial"/>
                <ns72:ea typeface="Arial"/>
                <ns72:cs typeface="Arial"/>
              </ns72:rPr>
              <ns72:t>Content review</ns72:t>
            </ns72:r>
          </ns72:p>
        </p:txBody>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0">
                <ns79:solidFill>
                  <ns79:srgbClr val="65727D"/>
                </ns79:solidFill>
                <ns79:latin typeface="Arial"/>
                <ns79:ea typeface="Arial"/>
                <ns79:cs typeface="Arial"/>
              </ns79:defRPr>
            </ns79:pPr>
            <ns79:r>
              <ns79:rPr sz="1050" b="0">
                <ns79:solidFill>
                  <ns79:srgbClr val="65727D"/>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revision.v1.paper"/>
          <p:cNvSpPr/>
          <p:nvPr/>
        </p:nvSpPr>
        <p:spPr>
          <ns111:xfrm xmlns:ns111="http://schemas.openxmlformats.org/drawingml/2006/main">
            <ns111:off x="2422800" y="1548000"/>
            <ns111:ext cx="1465200" cy="576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7363A6"/>
            </ns114:solidFill>
          </ns114:ln>
        </p:spPr>
      </p:sp>
      <p:sp>
        <p:nvSpPr>
          <p:cNvPr id="120" name="input.revision.v1.title"/>
          <p:cNvSpPr/>
          <p:nvPr/>
        </p:nvSpPr>
        <p:spPr>
          <ns115:xfrm xmlns:ns115="http://schemas.openxmlformats.org/drawingml/2006/main">
            <ns115:off x="2487600" y="1591200"/>
            <ns115:ext cx="12672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7363A6"/>
                </ns121:solidFill>
                <ns121:latin typeface="Arial"/>
                <ns121:ea typeface="Arial"/>
                <ns121:cs typeface="Arial"/>
              </ns121:defRPr>
            </ns121:pPr>
            <ns121:r>
              <ns121:rPr sz="1250" b="1">
                <ns121:solidFill>
                  <ns121:srgbClr val="7363A6"/>
                </ns121:solidFill>
                <ns121:latin typeface="Arial"/>
                <ns121:ea typeface="Arial"/>
                <ns121:cs typeface="Arial"/>
              </ns121:rPr>
              <ns121:t>V1 material</ns121:t>
            </ns121:r>
          </ns121:p>
        </p:txBody>
      </p:sp>
      <p:sp>
        <p:nvSpPr>
          <p:cNvPr id="121" name="input.revision.v1.content"/>
          <p:cNvSpPr/>
          <p:nvPr/>
        </p:nvSpPr>
        <p:spPr>
          <ns122:xfrm xmlns:ns122="http://schemas.openxmlformats.org/drawingml/2006/main">
            <ns122:off x="2487600" y="1807200"/>
            <ns122:ext cx="1335600" cy="266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Q2 product source</ns128:t>
            </ns128:r>
          </ns128:p>
        </p:txBody>
      </p:sp>
      <p:sp>
        <p:nvSpPr>
          <p:cNvPr id="122" name="input.revision.source.paper"/>
          <p:cNvSpPr/>
          <p:nvPr/>
        </p:nvSpPr>
        <p:spPr>
          <ns129:xfrm xmlns:ns129="http://schemas.openxmlformats.org/drawingml/2006/main">
            <ns129:off x="2422800" y="2250000"/>
            <ns129:ext cx="1465200" cy="954000"/>
          </ns129:xfrm>
          <ns130:prstGeom xmlns:ns130="http://schemas.openxmlformats.org/drawingml/2006/main" prst="foldedCorner">
            <ns130:avLst/>
          </ns130:prstGeom>
          <ns131:solidFill xmlns:ns131="http://schemas.openxmlformats.org/drawingml/2006/main">
            <ns131:srgbClr val="FFFFFF"/>
          </ns131:solidFill>
          <ns132:ln xmlns:ns132="http://schemas.openxmlformats.org/drawingml/2006/main" w="9525">
            <ns132:solidFill>
              <ns132:srgbClr val="65727D"/>
            </ns132:solidFill>
          </ns132:ln>
        </p:spPr>
      </p:sp>
      <p:sp>
        <p:nvSpPr>
          <p:cNvPr id="123" name="input.revision.source.title"/>
          <p:cNvSpPr/>
          <p:nvPr/>
        </p:nvSpPr>
        <p:spPr>
          <ns133:xfrm xmlns:ns133="http://schemas.openxmlformats.org/drawingml/2006/main">
            <ns133:off x="2487600" y="2293200"/>
            <ns133:ext cx="1267200" cy="1980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5000"/>
              </ns139:lnSpc>
              <ns139:defRPr sz="1250" b="1">
                <ns139:solidFill>
                  <ns139:srgbClr val="65727D"/>
                </ns139:solidFill>
                <ns139:latin typeface="Arial"/>
                <ns139:ea typeface="Arial"/>
                <ns139:cs typeface="Arial"/>
              </ns139:defRPr>
            </ns139:pPr>
            <ns139:r>
              <ns139:rPr sz="1250" b="1">
                <ns139:solidFill>
                  <ns139:srgbClr val="65727D"/>
                </ns139:solidFill>
                <ns139:latin typeface="Arial"/>
                <ns139:ea typeface="Arial"/>
                <ns139:cs typeface="Arial"/>
              </ns139:rPr>
              <ns139:t>Current source</ns139:t>
            </ns139:r>
          </ns139:p>
        </p:txBody>
      </p:sp>
      <p:sp>
        <p:nvSpPr>
          <p:cNvPr id="124" name="input.revision.source.content"/>
          <p:cNvSpPr/>
          <p:nvPr/>
        </p:nvSpPr>
        <p:spPr>
          <ns140:xfrm xmlns:ns140="http://schemas.openxmlformats.org/drawingml/2006/main">
            <ns140:off x="2487600" y="2509200"/>
            <ns140:ext cx="1335600" cy="644400"/>
          </ns140:xfrm>
          <ns141:prstGeom xmlns:ns141="http://schemas.openxmlformats.org/drawingml/2006/main" prst="rect">
            <ns141:avLst/>
          </ns141:prstGeom>
          <ns142:noFill xmlns:ns142="http://schemas.openxmlformats.org/drawingml/2006/main"/>
          <ns143:ln xmlns:ns143="http://schemas.openxmlformats.org/drawingml/2006/main" w="0">
            <ns143:noFill/>
          </ns143:ln>
        </p:spPr>
        <p:txBody>
          <ns144:bodyPr xmlns:ns144="http://schemas.openxmlformats.org/drawingml/2006/main" wrap="square" lIns="0" rIns="0" tIns="0" bIns="0" anchor="t">
            <ns144:noAutofit/>
          </ns144:bodyPr>
          <ns145:lstStyle xmlns:ns145="http://schemas.openxmlformats.org/drawingml/2006/main"/>
          <ns146:p xmlns:ns146="http://schemas.openxmlformats.org/drawingml/2006/main">
            <ns146:pPr algn="l">
              <ns146:lnSpc>
                <ns146:spcPct val="100000"/>
              </ns146:lnSpc>
              <ns146:defRPr sz="1050" b="0">
                <ns146:solidFill>
                  <ns146:srgbClr val="20262C"/>
                </ns146:solidFill>
                <ns146:latin typeface="Arial"/>
                <ns146:ea typeface="Arial"/>
                <ns146:cs typeface="Arial"/>
              </ns146:defRPr>
            </ns146:pPr>
            <ns146:r>
              <ns146:rPr sz="1050" b="0">
                <ns146:solidFill>
                  <ns146:srgbClr val="20262C"/>
                </ns146:solidFill>
                <ns146:latin typeface="Arial"/>
                <ns146:ea typeface="Arial"/>
                <ns146:cs typeface="Arial"/>
              </ns146:rPr>
              <ns146:t>Restocking lifted volume</ns146:t>
            </ns146:r>
          </ns146:p>
          <ns147:p xmlns:ns147="http://schemas.openxmlformats.org/drawingml/2006/main">
            <ns147:pPr algn="l">
              <ns147:lnSpc>
                <ns147:spcPct val="100000"/>
              </ns147:lnSpc>
              <ns147:defRPr sz="1050" b="0">
                <ns147:solidFill>
                  <ns147:srgbClr val="20262C"/>
                </ns147:solidFill>
                <ns147:latin typeface="Arial"/>
                <ns147:ea typeface="Arial"/>
                <ns147:cs typeface="Arial"/>
              </ns147:defRPr>
            </ns147:pPr>
            <ns147:r>
              <ns147:rPr sz="1050" b="0">
                <ns147:solidFill>
                  <ns147:srgbClr val="20262C"/>
                </ns147:solidFill>
                <ns147:latin typeface="Arial"/>
                <ns147:ea typeface="Arial"/>
                <ns147:cs typeface="Arial"/>
              </ns147:rPr>
              <ns147:t>Continuation uncertain</ns147:t>
            </ns147:r>
          </ns147:p>
        </p:txBody>
      </p:sp>
      <p:sp>
        <p:nvSpPr>
          <p:cNvPr id="125" name="tool.document.matching"/>
          <p:cNvSpPr/>
          <p:nvPr/>
        </p:nvSpPr>
        <p:spPr>
          <ns148:xfrm xmlns:ns148="http://schemas.openxmlformats.org/drawingml/2006/main">
            <ns148:off x="2422800" y="3384000"/>
            <ns148:ext cx="1465200" cy="612000"/>
          </ns148:xfrm>
          <ns149:prstGeom xmlns:ns149="http://schemas.openxmlformats.org/drawingml/2006/main" prst="roundRect">
            <ns149:avLst/>
          </ns149:prstGeom>
          <ns150:solidFill xmlns:ns150="http://schemas.openxmlformats.org/drawingml/2006/main">
            <ns150:srgbClr val="F3F7FA"/>
          </ns150:solidFill>
          <ns151:ln xmlns:ns151="http://schemas.openxmlformats.org/drawingml/2006/main" w="9525">
            <ns151:solidFill>
              <ns151:srgbClr val="65727D"/>
            </ns151:solidFill>
          </ns151:ln>
        </p:spPr>
        <p:txBody>
          <ns152:bodyPr xmlns:ns152="http://schemas.openxmlformats.org/drawingml/2006/main" wrap="square" lIns="61200" rIns="61200" tIns="61200" bIns="61200" anchor="ctr">
            <ns152:noAutofit/>
          </ns152:bodyPr>
          <ns153:lstStyle xmlns:ns153="http://schemas.openxmlformats.org/drawingml/2006/main"/>
          <ns154:p xmlns:ns154="http://schemas.openxmlformats.org/drawingml/2006/main">
            <ns154:pPr algn="l">
              <ns154:lnSpc>
                <ns154:spcPct val="105000"/>
              </ns154:lnSpc>
              <ns154:defRPr sz="1300" b="1">
                <ns154:solidFill>
                  <ns154:srgbClr val="65727D"/>
                </ns154:solidFill>
                <ns154:latin typeface="Arial"/>
                <ns154:ea typeface="Arial"/>
                <ns154:cs typeface="Arial"/>
              </ns154:defRPr>
            </ns154:pPr>
            <ns154:r>
              <ns154:rPr sz="1300" b="1">
                <ns154:solidFill>
                  <ns154:srgbClr val="65727D"/>
                </ns154:solidFill>
                <ns154:latin typeface="Arial"/>
                <ns154:ea typeface="Arial"/>
                <ns154:cs typeface="Arial"/>
              </ns154:rPr>
              <ns154:t>Document tools</ns154:t>
            </ns154:r>
          </ns154:p>
          <ns155:p xmlns:ns155="http://schemas.openxmlformats.org/drawingml/2006/main">
            <ns155:pPr algn="l">
              <ns155:lnSpc>
                <ns155:spcPct val="105000"/>
              </ns155:lnSpc>
              <ns155:defRPr sz="1150" b="0">
                <ns155:solidFill>
                  <ns155:srgbClr val="20262C"/>
                </ns155:solidFill>
                <ns155:latin typeface="Arial"/>
                <ns155:ea typeface="Arial"/>
                <ns155:cs typeface="Arial"/>
              </ns155:defRPr>
            </ns155:pPr>
            <ns155:r>
              <ns155:rPr sz="1150" b="0">
                <ns155:solidFill>
                  <ns155:srgbClr val="20262C"/>
                </ns155:solidFill>
                <ns155:latin typeface="Arial"/>
                <ns155:ea typeface="Arial"/>
                <ns155:cs typeface="Arial"/>
              </ns155:rPr>
              <ns155:t>Match passages</ns155:t>
            </ns155:r>
          </ns155:p>
        </p:txBody>
      </p:sp>
      <p:cxnSp>
        <p:nvCxnSpPr>
          <p:cNvPr id="126" name="revision.sources.collect.source.0"/>
          <p:cNvCxnSpPr/>
          <p:nvPr/>
        </p:nvCxnSpPr>
        <p:spPr>
          <ns156:xfrm xmlns:ns156="http://schemas.openxmlformats.org/drawingml/2006/main">
            <ns156:off x="3888000" y="1836000"/>
            <ns156:ext cx="108000" cy="1"/>
          </ns156:xfrm>
          <ns157:prstGeom xmlns:ns157="http://schemas.openxmlformats.org/drawingml/2006/main" prst="line">
            <ns157:avLst/>
          </ns157:prstGeom>
          <ns158:ln xmlns:ns158="http://schemas.openxmlformats.org/drawingml/2006/main" w="9525">
            <ns158:solidFill>
              <ns158:srgbClr val="65727D"/>
            </ns158:solidFill>
          </ns158:ln>
        </p:spPr>
      </p:cxnSp>
      <p:cxnSp>
        <p:nvCxnSpPr>
          <p:cNvPr id="127" name="revision.sources.collect.source.1"/>
          <p:cNvCxnSpPr/>
          <p:nvPr/>
        </p:nvCxnSpPr>
        <p:spPr>
          <ns159:xfrm xmlns:ns159="http://schemas.openxmlformats.org/drawingml/2006/main">
            <ns159:off x="3888000" y="2727000"/>
            <ns159:ext cx="108000" cy="1"/>
          </ns159:xfrm>
          <ns160:prstGeom xmlns:ns160="http://schemas.openxmlformats.org/drawingml/2006/main" prst="line">
            <ns160:avLst/>
          </ns160:prstGeom>
          <ns161:ln xmlns:ns161="http://schemas.openxmlformats.org/drawingml/2006/main" w="9525">
            <ns161:solidFill>
              <ns161:srgbClr val="65727D"/>
            </ns161:solidFill>
          </ns161:ln>
        </p:spPr>
      </p:cxnSp>
      <p:cxnSp>
        <p:nvCxnSpPr>
          <p:cNvPr id="128" name="revision.sources.collect.bus"/>
          <p:cNvCxnSpPr/>
          <p:nvPr/>
        </p:nvCxnSpPr>
        <p:spPr>
          <ns162:xfrm xmlns:ns162="http://schemas.openxmlformats.org/drawingml/2006/main">
            <ns162:off x="3996000" y="1836000"/>
            <ns162:ext cx="1" cy="1400400"/>
          </ns162:xfrm>
          <ns163:prstGeom xmlns:ns163="http://schemas.openxmlformats.org/drawingml/2006/main" prst="line">
            <ns163:avLst/>
          </ns163:prstGeom>
          <ns164:ln xmlns:ns164="http://schemas.openxmlformats.org/drawingml/2006/main" w="9525">
            <ns164:solidFill>
              <ns164:srgbClr val="65727D"/>
            </ns164:solidFill>
          </ns164:ln>
        </p:spPr>
      </p:cxnSp>
      <p:cxnSp>
        <p:nvCxnSpPr>
          <p:cNvPr id="129" name="revision.sources.collect.target"/>
          <p:cNvCxnSpPr/>
          <p:nvPr/>
        </p:nvCxnSpPr>
        <p:spPr>
          <ns165:xfrm xmlns:ns165="http://schemas.openxmlformats.org/drawingml/2006/main">
            <ns165:off x="3996000" y="3236400"/>
            <ns165:ext cx="1" cy="1"/>
          </ns165:xfrm>
          <ns166:prstGeom xmlns:ns166="http://schemas.openxmlformats.org/drawingml/2006/main" prst="line">
            <ns166:avLst/>
          </ns166:prstGeom>
          <ns167:ln xmlns:ns167="http://schemas.openxmlformats.org/drawingml/2006/main" w="11430">
            <ns167:solidFill>
              <ns167:srgbClr val="65727D"/>
            </ns167:solidFill>
            <ns167:tailEnd type="triangle" w="sm" len="sm"/>
          </ns167:ln>
        </p:spPr>
      </p:cxnSp>
      <p:cxnSp>
        <p:nvCxnSpPr>
          <p:cNvPr id="130" name="collected.to.matching.0"/>
          <p:cNvCxnSpPr/>
          <p:nvPr/>
        </p:nvCxnSpPr>
        <p:spPr>
          <ns168:xfrm xmlns:ns168="http://schemas.openxmlformats.org/drawingml/2006/main" flipH="1">
            <ns168:off x="3155400" y="3236400"/>
            <ns168:ext cx="840600" cy="1"/>
          </ns168:xfrm>
          <ns169:prstGeom xmlns:ns169="http://schemas.openxmlformats.org/drawingml/2006/main" prst="line">
            <ns169:avLst/>
          </ns169:prstGeom>
          <ns170:ln xmlns:ns170="http://schemas.openxmlformats.org/drawingml/2006/main" w="11430">
            <ns170:solidFill>
              <ns170:srgbClr val="65727D"/>
            </ns170:solidFill>
          </ns170:ln>
        </p:spPr>
      </p:cxnSp>
      <p:cxnSp>
        <p:nvCxnSpPr>
          <p:cNvPr id="131" name="collected.to.matching.1"/>
          <p:cNvCxnSpPr/>
          <p:nvPr/>
        </p:nvCxnSpPr>
        <p:spPr>
          <ns171:xfrm xmlns:ns171="http://schemas.openxmlformats.org/drawingml/2006/main">
            <ns171:off x="3155400" y="3236400"/>
            <ns171:ext cx="1" cy="111600"/>
          </ns171:xfrm>
          <ns172:prstGeom xmlns:ns172="http://schemas.openxmlformats.org/drawingml/2006/main" prst="line">
            <ns172:avLst/>
          </ns172:prstGeom>
          <ns173:ln xmlns:ns173="http://schemas.openxmlformats.org/drawingml/2006/main" w="11430">
            <ns173:solidFill>
              <ns173:srgbClr val="65727D"/>
            </ns173:solidFill>
            <ns173:tailEnd type="triangle" w="sm" len="sm"/>
          </ns173:ln>
        </p:spPr>
      </p:cxnSp>
      <p:sp>
        <p:nvSpPr>
          <p:cNvPr id="132" name="role.llm.revisions"/>
          <p:cNvSpPr/>
          <p:nvPr/>
        </p:nvSpPr>
        <p:spPr>
          <ns174:xfrm xmlns:ns174="http://schemas.openxmlformats.org/drawingml/2006/main">
            <ns174:off x="4114800" y="3384000"/>
            <ns174:ext cx="1008000" cy="738000"/>
          </ns174:xfrm>
          <ns175:prstGeom xmlns:ns175="http://schemas.openxmlformats.org/drawingml/2006/main" prst="roundRect">
            <ns175:avLst/>
          </ns175:prstGeom>
          <ns176:solidFill xmlns:ns176="http://schemas.openxmlformats.org/drawingml/2006/main">
            <ns176:srgbClr val="EAF3FA"/>
          </ns176:solidFill>
          <ns177:ln xmlns:ns177="http://schemas.openxmlformats.org/drawingml/2006/main" w="9525">
            <ns177:solidFill>
              <ns177:srgbClr val="005A9C"/>
            </ns177:solidFill>
          </ns177:ln>
        </p:spPr>
        <p:txBody>
          <ns178:bodyPr xmlns:ns178="http://schemas.openxmlformats.org/drawingml/2006/main" wrap="square" lIns="61200" rIns="61200" tIns="61200" bIns="61200" anchor="ctr">
            <ns178:noAutofit/>
          </ns178:bodyPr>
          <ns179:lstStyle xmlns:ns179="http://schemas.openxmlformats.org/drawingml/2006/main"/>
          <ns180:p xmlns:ns180="http://schemas.openxmlformats.org/drawingml/2006/main">
            <ns180:pPr algn="l">
              <ns180:lnSpc>
                <ns180:spcPct val="105000"/>
              </ns180:lnSpc>
              <ns180:defRPr sz="1300" b="1">
                <ns180:solidFill>
                  <ns180:srgbClr val="005A9C"/>
                </ns180:solidFill>
                <ns180:latin typeface="Arial"/>
                <ns180:ea typeface="Arial"/>
                <ns180:cs typeface="Arial"/>
              </ns180:defRPr>
            </ns180:pPr>
            <ns180:r>
              <ns180:rPr sz="1300" b="1">
                <ns180:solidFill>
                  <ns180:srgbClr val="005A9C"/>
                </ns180:solidFill>
                <ns180:latin typeface="Arial"/>
                <ns180:ea typeface="Arial"/>
                <ns180:cs typeface="Arial"/>
              </ns180:rPr>
              <ns180:t>LLM</ns180:t>
            </ns180:r>
          </ns180:p>
          <ns181:p xmlns:ns181="http://schemas.openxmlformats.org/drawingml/2006/main">
            <ns181:pPr algn="l">
              <ns181:lnSpc>
                <ns181:spcPct val="105000"/>
              </ns181:lnSpc>
              <ns181:defRPr sz="1100" b="0">
                <ns181:solidFill>
                  <ns181:srgbClr val="20262C"/>
                </ns181:solidFill>
                <ns181:latin typeface="Arial"/>
                <ns181:ea typeface="Arial"/>
                <ns181:cs typeface="Arial"/>
              </ns181:defRPr>
            </ns181:pPr>
            <ns181:r>
              <ns181:rPr sz="1100" b="0">
                <ns181:solidFill>
                  <ns181:srgbClr val="20262C"/>
                </ns181:solidFill>
                <ns181:latin typeface="Arial"/>
                <ns181:ea typeface="Arial"/>
                <ns181:cs typeface="Arial"/>
              </ns181:rPr>
              <ns181:t>Explain</ns181:t>
            </ns181:r>
          </ns181:p>
          <ns182:p xmlns:ns182="http://schemas.openxmlformats.org/drawingml/2006/main">
            <ns182:pPr algn="l">
              <ns182:lnSpc>
                <ns182:spcPct val="105000"/>
              </ns182:lnSpc>
              <ns182:defRPr sz="1100" b="0">
                <ns182:solidFill>
                  <ns182:srgbClr val="20262C"/>
                </ns182:solidFill>
                <ns182:latin typeface="Arial"/>
                <ns182:ea typeface="Arial"/>
                <ns182:cs typeface="Arial"/>
              </ns182:defRPr>
            </ns182:pPr>
            <ns182:r>
              <ns182:rPr sz="1100" b="0">
                <ns182:solidFill>
                  <ns182:srgbClr val="20262C"/>
                </ns182:solidFill>
                <ns182:latin typeface="Arial"/>
                <ns182:ea typeface="Arial"/>
                <ns182:cs typeface="Arial"/>
              </ns182:rPr>
              <ns182:t>Propose edits</ns182:t>
            </ns182:r>
          </ns182:p>
        </p:txBody>
      </p:sp>
      <p:cxnSp>
        <p:nvCxnSpPr>
          <p:cNvPr id="133" name="matching.to.explanation"/>
          <p:cNvCxnSpPr/>
          <p:nvPr/>
        </p:nvCxnSpPr>
        <p:spPr>
          <ns183:xfrm xmlns:ns183="http://schemas.openxmlformats.org/drawingml/2006/main">
            <ns183:off x="3924000" y="3690000"/>
            <ns183:ext cx="154800" cy="1"/>
          </ns183:xfrm>
          <ns184:prstGeom xmlns:ns184="http://schemas.openxmlformats.org/drawingml/2006/main" prst="line">
            <ns184:avLst/>
          </ns184:prstGeom>
          <ns185:ln xmlns:ns185="http://schemas.openxmlformats.org/drawingml/2006/main" w="11430">
            <ns185:solidFill>
              <ns185:srgbClr val="005A9C"/>
            </ns185:solidFill>
            <ns185:tailEnd type="triangle" w="sm" len="sm"/>
          </ns185:ln>
        </p:spPr>
      </p:cxnSp>
      <p:sp>
        <p:nvSpPr>
          <p:cNvPr id="134" name="output.client.v2.paper"/>
          <p:cNvSpPr/>
          <p:nvPr/>
        </p:nvSpPr>
        <p:spPr>
          <ns186:xfrm xmlns:ns186="http://schemas.openxmlformats.org/drawingml/2006/main">
            <ns186:off x="5328000" y="1548000"/>
            <ns186:ext cx="3358800" cy="2574000"/>
          </ns186:xfrm>
          <ns187:prstGeom xmlns:ns187="http://schemas.openxmlformats.org/drawingml/2006/main" prst="rect">
            <ns187:avLst/>
          </ns187:prstGeom>
          <ns188:solidFill xmlns:ns188="http://schemas.openxmlformats.org/drawingml/2006/main">
            <ns188:srgbClr val="FFFFFF"/>
          </ns188:solidFill>
          <ns189:ln xmlns:ns189="http://schemas.openxmlformats.org/drawingml/2006/main" w="10160">
            <ns189:solidFill>
              <ns189:srgbClr val="7363A6"/>
            </ns189:solidFill>
          </ns189:ln>
        </p:spPr>
      </p:sp>
      <p:sp>
        <p:nvSpPr>
          <p:cNvPr id="135" name="output.client.v2.title"/>
          <p:cNvSpPr/>
          <p:nvPr/>
        </p:nvSpPr>
        <p:spPr>
          <ns190:xfrm xmlns:ns190="http://schemas.openxmlformats.org/drawingml/2006/main">
            <ns190:off x="5400000" y="1598400"/>
            <ns190:ext cx="3214800" cy="223200"/>
          </ns190:xfrm>
          <ns191:prstGeom xmlns:ns191="http://schemas.openxmlformats.org/drawingml/2006/main" prst="rect">
            <ns191:avLst/>
          </ns191:prstGeom>
          <ns192:noFill xmlns:ns192="http://schemas.openxmlformats.org/drawingml/2006/main"/>
          <ns193:ln xmlns:ns193="http://schemas.openxmlformats.org/drawingml/2006/main" w="0">
            <ns193:noFill/>
          </ns193:ln>
        </p:spPr>
        <p:txBody>
          <ns194:bodyPr xmlns:ns194="http://schemas.openxmlformats.org/drawingml/2006/main" wrap="square" lIns="0" rIns="0" tIns="0" bIns="0" anchor="t">
            <ns194:noAutofit/>
          </ns194:bodyPr>
          <ns195:lstStyle xmlns:ns195="http://schemas.openxmlformats.org/drawingml/2006/main"/>
          <ns196:p xmlns:ns196="http://schemas.openxmlformats.org/drawingml/2006/main">
            <ns196:pPr algn="l">
              <ns196:lnSpc>
                <ns196:spcPct val="105000"/>
              </ns196:lnSpc>
              <ns196:defRPr sz="1300" b="1">
                <ns196:solidFill>
                  <ns196:srgbClr val="7363A6"/>
                </ns196:solidFill>
                <ns196:latin typeface="Arial"/>
                <ns196:ea typeface="Arial"/>
                <ns196:cs typeface="Arial"/>
              </ns196:defRPr>
            </ns196:pPr>
            <ns196:r>
              <ns196:rPr sz="1300" b="1">
                <ns196:solidFill>
                  <ns196:srgbClr val="7363A6"/>
                </ns196:solidFill>
                <ns196:latin typeface="Arial"/>
                <ns196:ea typeface="Arial"/>
                <ns196:cs typeface="Arial"/>
              </ns196:rPr>
              <ns196:t>Quarterly client update V2</ns196:t>
            </ns196:r>
          </ns196:p>
        </p:txBody>
      </p:sp>
      <p:sp>
        <p:nvSpPr>
          <p:cNvPr id="136" name="output.client.v2.fund"/>
          <p:cNvSpPr/>
          <p:nvPr/>
        </p:nvSpPr>
        <p:spPr>
          <ns197:xfrm xmlns:ns197="http://schemas.openxmlformats.org/drawingml/2006/main">
            <ns197:off x="5400000" y="1897200"/>
            <ns197:ext cx="3214800" cy="198000"/>
          </ns197:xfrm>
          <ns198:prstGeom xmlns:ns198="http://schemas.openxmlformats.org/drawingml/2006/main" prst="rect">
            <ns198:avLst/>
          </ns198:prstGeom>
          <ns199:noFill xmlns:ns199="http://schemas.openxmlformats.org/drawingml/2006/main"/>
          <ns200:ln xmlns:ns200="http://schemas.openxmlformats.org/drawingml/2006/main" w="0">
            <ns200:noFill/>
          </ns200:ln>
        </p:spPr>
        <p:txBody>
          <ns201:bodyPr xmlns:ns201="http://schemas.openxmlformats.org/drawingml/2006/main" wrap="square" lIns="0" rIns="0" tIns="0" bIns="0" anchor="t">
            <ns201:noAutofit/>
          </ns201:bodyPr>
          <ns202:lstStyle xmlns:ns202="http://schemas.openxmlformats.org/drawingml/2006/main"/>
          <ns203:p xmlns:ns203="http://schemas.openxmlformats.org/drawingml/2006/main">
            <ns203:pPr algn="l">
              <ns203:lnSpc>
                <ns203:spcPct val="105000"/>
              </ns203:lnSpc>
              <ns203:defRPr sz="1050" b="0">
                <ns203:solidFill>
                  <ns203:srgbClr val="20262C"/>
                </ns203:solidFill>
                <ns203:latin typeface="Arial"/>
                <ns203:ea typeface="Arial"/>
                <ns203:cs typeface="Arial"/>
              </ns203:defRPr>
            </ns203:pPr>
            <ns203:r>
              <ns203:rPr sz="1050" b="0">
                <ns203:solidFill>
                  <ns203:srgbClr val="20262C"/>
                </ns203:solidFill>
                <ns203:latin typeface="Arial"/>
                <ns203:ea typeface="Arial"/>
                <ns203:cs typeface="Arial"/>
              </ns203:rPr>
              <ns203:t>Product A Select Mixed-Asset Fund</ns203:t>
            </ns203:r>
          </ns203:p>
        </p:txBody>
      </p:sp>
      <p:sp>
        <p:nvSpPr>
          <p:cNvPr id="137" name="output.client.v2.source"/>
          <p:cNvSpPr/>
          <p:nvPr/>
        </p:nvSpPr>
        <p:spPr>
          <ns204:xfrm xmlns:ns204="http://schemas.openxmlformats.org/drawingml/2006/main">
            <ns204:off x="5400000" y="2134800"/>
            <ns204:ext cx="3214800" cy="198000"/>
          </ns204:xfrm>
          <ns205:prstGeom xmlns:ns205="http://schemas.openxmlformats.org/drawingml/2006/main" prst="rect">
            <ns205:avLst/>
          </ns205:prstGeom>
          <ns206:noFill xmlns:ns206="http://schemas.openxmlformats.org/drawingml/2006/main"/>
          <ns207:ln xmlns:ns207="http://schemas.openxmlformats.org/drawingml/2006/main" w="0">
            <ns207:noFill/>
          </ns207:ln>
        </p:spPr>
        <p:txBody>
          <ns208:bodyPr xmlns:ns208="http://schemas.openxmlformats.org/drawingml/2006/main" wrap="square" lIns="0" rIns="0" tIns="0" bIns="0" anchor="t">
            <ns208:noAutofit/>
          </ns208:bodyPr>
          <ns209:lstStyle xmlns:ns209="http://schemas.openxmlformats.org/drawingml/2006/main"/>
          <ns210:p xmlns:ns210="http://schemas.openxmlformats.org/drawingml/2006/main">
            <ns210:pPr algn="l">
              <ns210:lnSpc>
                <ns210:spcPct val="105000"/>
              </ns210:lnSpc>
              <ns210:defRPr sz="1050" b="0">
                <ns210:solidFill>
                  <ns210:srgbClr val="65727D"/>
                </ns210:solidFill>
                <ns210:latin typeface="Arial"/>
                <ns210:ea typeface="Arial"/>
                <ns210:cs typeface="Arial"/>
              </ns210:defRPr>
            </ns210:pPr>
            <ns210:r>
              <ns210:rPr sz="1050" b="0">
                <ns210:solidFill>
                  <ns210:srgbClr val="65727D"/>
                </ns210:solidFill>
                <ns210:latin typeface="Arial"/>
                <ns210:ea typeface="Arial"/>
                <ns210:cs typeface="Arial"/>
              </ns210:rPr>
              <ns210:t>Product source: Q3 2026, V2</ns210:t>
            </ns210:r>
          </ns210:p>
        </p:txBody>
      </p:sp>
      <p:sp>
        <p:nvSpPr>
          <p:cNvPr id="138" name="output.client.v2.view.label"/>
          <p:cNvSpPr/>
          <p:nvPr/>
        </p:nvSpPr>
        <p:spPr>
          <ns211:xfrm xmlns:ns211="http://schemas.openxmlformats.org/drawingml/2006/main">
            <ns211:off x="5400000" y="2412000"/>
            <ns211:ext cx="3214800" cy="162000"/>
          </ns211:xfrm>
          <ns212:prstGeom xmlns:ns212="http://schemas.openxmlformats.org/drawingml/2006/main" prst="rect">
            <ns212:avLst/>
          </ns212:prstGeom>
          <ns213:noFill xmlns:ns213="http://schemas.openxmlformats.org/drawingml/2006/main"/>
          <ns214:ln xmlns:ns214="http://schemas.openxmlformats.org/drawingml/2006/main" w="0">
            <ns214:noFill/>
          </ns214:ln>
        </p:spPr>
        <p:txBody>
          <ns215:bodyPr xmlns:ns215="http://schemas.openxmlformats.org/drawingml/2006/main" wrap="square" lIns="0" rIns="0" tIns="0" bIns="0" anchor="t">
            <ns215:noAutofit/>
          </ns215:bodyPr>
          <ns216:lstStyle xmlns:ns216="http://schemas.openxmlformats.org/drawingml/2006/main"/>
          <ns217:p xmlns:ns217="http://schemas.openxmlformats.org/drawingml/2006/main">
            <ns217:pPr algn="l">
              <ns217:lnSpc>
                <ns217:spcPct val="105000"/>
              </ns217:lnSpc>
              <ns217:defRPr sz="1050" b="1">
                <ns217:solidFill>
                  <ns217:srgbClr val="20262C"/>
                </ns217:solidFill>
                <ns217:latin typeface="Arial"/>
                <ns217:ea typeface="Arial"/>
                <ns217:cs typeface="Arial"/>
              </ns217:defRPr>
            </ns217:pPr>
            <ns217:r>
              <ns217:rPr sz="1050" b="1">
                <ns217:solidFill>
                  <ns217:srgbClr val="20262C"/>
                </ns217:solidFill>
                <ns217:latin typeface="Arial"/>
                <ns217:ea typeface="Arial"/>
                <ns217:cs typeface="Arial"/>
              </ns217:rPr>
              <ns217:t>Investment view</ns217:t>
            </ns217:r>
          </ns217:p>
        </p:txBody>
      </p:sp>
      <p:sp>
        <p:nvSpPr>
          <p:cNvPr id="139" name="output.client.v2.view.highlight.0.0.0"/>
          <p:cNvSpPr/>
          <p:nvPr/>
        </p:nvSpPr>
        <p:spPr>
          <ns218:xfrm xmlns:ns218="http://schemas.openxmlformats.org/drawingml/2006/main">
            <ns218:off x="5400000" y="2642400"/>
            <ns218:ext cx="2038350" cy="169200"/>
          </ns218:xfrm>
          <ns219:prstGeom xmlns:ns219="http://schemas.openxmlformats.org/drawingml/2006/main" prst="rect">
            <ns219:avLst/>
          </ns219:prstGeom>
          <ns220:solidFill xmlns:ns220="http://schemas.openxmlformats.org/drawingml/2006/main">
            <ns220:srgbClr val="FFF0BE"/>
          </ns220:solidFill>
          <ns221:ln xmlns:ns221="http://schemas.openxmlformats.org/drawingml/2006/main" w="0">
            <ns221:noFill/>
          </ns221:ln>
        </p:spPr>
      </p:sp>
      <p:sp>
        <p:nvSpPr>
          <p:cNvPr id="140" name="output.client.v2.view.line.0.0"/>
          <p:cNvSpPr/>
          <p:nvPr/>
        </p:nvSpPr>
        <p:spPr>
          <ns222:xfrm xmlns:ns222="http://schemas.openxmlformats.org/drawingml/2006/main">
            <ns222:off x="5400000" y="2617200"/>
            <ns222:ext cx="3214800" cy="208800"/>
          </ns222:xfrm>
          <ns223:prstGeom xmlns:ns223="http://schemas.openxmlformats.org/drawingml/2006/main" prst="rect">
            <ns223:avLst/>
          </ns223:prstGeom>
          <ns224:noFill xmlns:ns224="http://schemas.openxmlformats.org/drawingml/2006/main"/>
          <ns225:ln xmlns:ns225="http://schemas.openxmlformats.org/drawingml/2006/main" w="0">
            <ns225:noFill/>
          </ns225:ln>
        </p:spPr>
        <p:txBody>
          <ns226:bodyPr xmlns:ns226="http://schemas.openxmlformats.org/drawingml/2006/main" wrap="square" lIns="0" rIns="0" tIns="0" bIns="0" anchor="t">
            <ns226:noAutofit/>
          </ns226:bodyPr>
          <ns227:lstStyle xmlns:ns227="http://schemas.openxmlformats.org/drawingml/2006/main"/>
          <ns228:p xmlns:ns228="http://schemas.openxmlformats.org/drawingml/2006/main">
            <ns228:pPr algn="l">
              <ns228:lnSpc>
                <ns228:spcPct val="100000"/>
              </ns228:lnSpc>
              <ns228:defRPr sz="1200" b="0">
                <ns228:solidFill>
                  <ns228:srgbClr val="20262C"/>
                </ns228:solidFill>
                <ns228:latin typeface="Arial"/>
                <ns228:ea typeface="Arial"/>
                <ns228:cs typeface="Arial"/>
              </ns228:defRPr>
            </ns228:pPr>
            <ns228:r>
              <ns228:rPr sz="1200" b="0">
                <ns228:solidFill>
                  <ns228:srgbClr val="20262C"/>
                </ns228:solidFill>
                <ns228:latin typeface="Arial"/>
                <ns228:ea typeface="Arial"/>
                <ns228:cs typeface="Arial"/>
              </ns228:rPr>
              <ns228:t>Channel restocking supported Company A’s</ns228:t>
            </ns228:r>
          </ns228:p>
        </p:txBody>
      </p:sp>
      <p:sp>
        <p:nvSpPr>
          <p:cNvPr id="141" name="output.client.v2.view.highlight.0.1.1"/>
          <p:cNvSpPr/>
          <p:nvPr/>
        </p:nvSpPr>
        <p:spPr>
          <ns229:xfrm xmlns:ns229="http://schemas.openxmlformats.org/drawingml/2006/main">
            <ns229:off x="5400000" y="2851200"/>
            <ns229:ext cx="892969" cy="169200"/>
          </ns229:xfrm>
          <ns230:prstGeom xmlns:ns230="http://schemas.openxmlformats.org/drawingml/2006/main" prst="rect">
            <ns230:avLst/>
          </ns230:prstGeom>
          <ns231:solidFill xmlns:ns231="http://schemas.openxmlformats.org/drawingml/2006/main">
            <ns231:srgbClr val="FFF0BE"/>
          </ns231:solidFill>
          <ns232:ln xmlns:ns232="http://schemas.openxmlformats.org/drawingml/2006/main" w="0">
            <ns232:noFill/>
          </ns232:ln>
        </p:spPr>
      </p:sp>
      <p:sp>
        <p:nvSpPr>
          <p:cNvPr id="142" name="output.client.v2.view.line.0.1"/>
          <p:cNvSpPr/>
          <p:nvPr/>
        </p:nvSpPr>
        <p:spPr>
          <ns233:xfrm xmlns:ns233="http://schemas.openxmlformats.org/drawingml/2006/main">
            <ns233:off x="5400000" y="2826000"/>
            <ns233:ext cx="3214800" cy="208800"/>
          </ns233:xfrm>
          <ns234:prstGeom xmlns:ns234="http://schemas.openxmlformats.org/drawingml/2006/main" prst="rect">
            <ns234:avLst/>
          </ns234:prstGeom>
          <ns235:noFill xmlns:ns235="http://schemas.openxmlformats.org/drawingml/2006/main"/>
          <ns236:ln xmlns:ns236="http://schemas.openxmlformats.org/drawingml/2006/main" w="0">
            <ns236:noFill/>
          </ns236:ln>
        </p:spPr>
        <p:txBody>
          <ns237:bodyPr xmlns:ns237="http://schemas.openxmlformats.org/drawingml/2006/main" wrap="square" lIns="0" rIns="0" tIns="0" bIns="0" anchor="t">
            <ns237:noAutofit/>
          </ns237:bodyPr>
          <ns238:lstStyle xmlns:ns238="http://schemas.openxmlformats.org/drawingml/2006/main"/>
          <ns239:p xmlns:ns239="http://schemas.openxmlformats.org/drawingml/2006/main">
            <ns239:pPr algn="l">
              <ns239:lnSpc>
                <ns239:spcPct val="100000"/>
              </ns239:lnSpc>
              <ns239:defRPr sz="1200" b="0">
                <ns239:solidFill>
                  <ns239:srgbClr val="20262C"/>
                </ns239:solidFill>
                <ns239:latin typeface="Arial"/>
                <ns239:ea typeface="Arial"/>
                <ns239:cs typeface="Arial"/>
              </ns239:defRPr>
            </ns239:pPr>
            <ns239:r>
              <ns239:rPr sz="1200" b="0">
                <ns239:solidFill>
                  <ns239:srgbClr val="20262C"/>
                </ns239:solidFill>
                <ns239:latin typeface="Arial"/>
                <ns239:ea typeface="Arial"/>
                <ns239:cs typeface="Arial"/>
              </ns239:rPr>
              <ns239:t>sales volume growth.</ns239:t>
            </ns239:r>
          </ns239:p>
        </p:txBody>
      </p:sp>
      <p:sp>
        <p:nvSpPr>
          <p:cNvPr id="143" name="output.client.v2.view.highlight.1.0.0"/>
          <p:cNvSpPr/>
          <p:nvPr/>
        </p:nvSpPr>
        <p:spPr>
          <ns240:xfrm xmlns:ns240="http://schemas.openxmlformats.org/drawingml/2006/main">
            <ns240:off x="6692982" y="3096000"/>
            <ns240:ext cx="1285875" cy="169200"/>
          </ns240:xfrm>
          <ns241:prstGeom xmlns:ns241="http://schemas.openxmlformats.org/drawingml/2006/main" prst="rect">
            <ns241:avLst/>
          </ns241:prstGeom>
          <ns242:solidFill xmlns:ns242="http://schemas.openxmlformats.org/drawingml/2006/main">
            <ns242:srgbClr val="FFF0BE"/>
          </ns242:solidFill>
          <ns243:ln xmlns:ns243="http://schemas.openxmlformats.org/drawingml/2006/main" w="0">
            <ns243:noFill/>
          </ns243:ln>
        </p:spPr>
      </p:sp>
      <p:sp>
        <p:nvSpPr>
          <p:cNvPr id="144" name="output.client.v2.view.line.1.0"/>
          <p:cNvSpPr/>
          <p:nvPr/>
        </p:nvSpPr>
        <p:spPr>
          <ns244:xfrm xmlns:ns244="http://schemas.openxmlformats.org/drawingml/2006/main">
            <ns244:off x="5400000" y="3070800"/>
            <ns244:ext cx="3214800" cy="208800"/>
          </ns244:xfrm>
          <ns245:prstGeom xmlns:ns245="http://schemas.openxmlformats.org/drawingml/2006/main" prst="rect">
            <ns245:avLst/>
          </ns245:prstGeom>
          <ns246:noFill xmlns:ns246="http://schemas.openxmlformats.org/drawingml/2006/main"/>
          <ns247:ln xmlns:ns247="http://schemas.openxmlformats.org/drawingml/2006/main" w="0">
            <ns247:noFill/>
          </ns247:ln>
        </p:spPr>
        <p:txBody>
          <ns248:bodyPr xmlns:ns248="http://schemas.openxmlformats.org/drawingml/2006/main" wrap="square" lIns="0" rIns="0" tIns="0" bIns="0" anchor="t">
            <ns248:noAutofit/>
          </ns248:bodyPr>
          <ns249:lstStyle xmlns:ns249="http://schemas.openxmlformats.org/drawingml/2006/main"/>
          <ns250:p xmlns:ns250="http://schemas.openxmlformats.org/drawingml/2006/main">
            <ns250:pPr algn="l">
              <ns250:lnSpc>
                <ns250:spcPct val="100000"/>
              </ns250:lnSpc>
              <ns250:defRPr sz="1200" b="0">
                <ns250:solidFill>
                  <ns250:srgbClr val="20262C"/>
                </ns250:solidFill>
                <ns250:latin typeface="Arial"/>
                <ns250:ea typeface="Arial"/>
                <ns250:cs typeface="Arial"/>
              </ns250:defRPr>
            </ns250:pPr>
            <ns250:r>
              <ns250:rPr sz="1200" b="0">
                <ns250:solidFill>
                  <ns250:srgbClr val="20262C"/>
                </ns250:solidFill>
                <ns250:latin typeface="Arial"/>
                <ns250:ea typeface="Arial"/>
                <ns250:cs typeface="Arial"/>
              </ns250:rPr>
              <ns250:t>We are monitoring whether restocking</ns250:t>
            </ns250:r>
          </ns250:p>
        </p:txBody>
      </p:sp>
      <p:sp>
        <p:nvSpPr>
          <p:cNvPr id="145" name="output.client.v2.view.highlight.1.1.0"/>
          <p:cNvSpPr/>
          <p:nvPr/>
        </p:nvSpPr>
        <p:spPr>
          <ns251:xfrm xmlns:ns251="http://schemas.openxmlformats.org/drawingml/2006/main">
            <ns251:off x="5400000" y="3304800"/>
            <ns251:ext cx="1400175" cy="169200"/>
          </ns251:xfrm>
          <ns252:prstGeom xmlns:ns252="http://schemas.openxmlformats.org/drawingml/2006/main" prst="rect">
            <ns252:avLst/>
          </ns252:prstGeom>
          <ns253:solidFill xmlns:ns253="http://schemas.openxmlformats.org/drawingml/2006/main">
            <ns253:srgbClr val="FFF0BE"/>
          </ns253:solidFill>
          <ns254:ln xmlns:ns254="http://schemas.openxmlformats.org/drawingml/2006/main" w="0">
            <ns254:noFill/>
          </ns254:ln>
        </p:spPr>
      </p:sp>
      <p:sp>
        <p:nvSpPr>
          <p:cNvPr id="146" name="output.client.v2.view.line.1.1"/>
          <p:cNvSpPr/>
          <p:nvPr/>
        </p:nvSpPr>
        <p:spPr>
          <ns255:xfrm xmlns:ns255="http://schemas.openxmlformats.org/drawingml/2006/main">
            <ns255:off x="5400000" y="3279600"/>
            <ns255:ext cx="3214800" cy="208800"/>
          </ns255:xfrm>
          <ns256:prstGeom xmlns:ns256="http://schemas.openxmlformats.org/drawingml/2006/main" prst="rect">
            <ns256:avLst/>
          </ns256:prstGeom>
          <ns257:noFill xmlns:ns257="http://schemas.openxmlformats.org/drawingml/2006/main"/>
          <ns258:ln xmlns:ns258="http://schemas.openxmlformats.org/drawingml/2006/main" w="0">
            <ns258:noFill/>
          </ns258:ln>
        </p:spPr>
        <p:txBody>
          <ns259:bodyPr xmlns:ns259="http://schemas.openxmlformats.org/drawingml/2006/main" wrap="square" lIns="0" rIns="0" tIns="0" bIns="0" anchor="t">
            <ns259:noAutofit/>
          </ns259:bodyPr>
          <ns260:lstStyle xmlns:ns260="http://schemas.openxmlformats.org/drawingml/2006/main"/>
          <ns261:p xmlns:ns261="http://schemas.openxmlformats.org/drawingml/2006/main">
            <ns261:pPr algn="l">
              <ns261:lnSpc>
                <ns261:spcPct val="100000"/>
              </ns261:lnSpc>
              <ns261:defRPr sz="1200" b="0">
                <ns261:solidFill>
                  <ns261:srgbClr val="20262C"/>
                </ns261:solidFill>
                <ns261:latin typeface="Arial"/>
                <ns261:ea typeface="Arial"/>
                <ns261:cs typeface="Arial"/>
              </ns261:defRPr>
            </ns261:pPr>
            <ns261:r>
              <ns261:rPr sz="1200" b="0">
                <ns261:solidFill>
                  <ns261:srgbClr val="20262C"/>
                </ns261:solidFill>
                <ns261:latin typeface="Arial"/>
                <ns261:ea typeface="Arial"/>
                <ns261:cs typeface="Arial"/>
              </ns261:rPr>
              <ns261:t>continues, alongside raw-material costs.</ns261:t>
            </ns261:r>
          </ns261:p>
        </p:txBody>
      </p:sp>
      <p:cxnSp>
        <p:nvCxnSpPr>
          <p:cNvPr id="147" name="explanation.to.v2"/>
          <p:cNvCxnSpPr/>
          <p:nvPr/>
        </p:nvCxnSpPr>
        <p:spPr>
          <ns262:xfrm xmlns:ns262="http://schemas.openxmlformats.org/drawingml/2006/main">
            <ns262:off x="5158800" y="3690000"/>
            <ns262:ext cx="133200" cy="1"/>
          </ns262:xfrm>
          <ns263:prstGeom xmlns:ns263="http://schemas.openxmlformats.org/drawingml/2006/main" prst="line">
            <ns263:avLst/>
          </ns263:prstGeom>
          <ns264:ln xmlns:ns264="http://schemas.openxmlformats.org/drawingml/2006/main" w="11430">
            <ns264:solidFill>
              <ns264:srgbClr val="7363A6"/>
            </ns264:solidFill>
            <ns264:tailEnd type="triangle" w="sm" len="sm"/>
          </ns264:ln>
        </p:spPr>
      </p:cxnSp>
      <p:sp>
        <p:nvSpPr>
          <p:cNvPr id="148" name="human.author.approves"/>
          <p:cNvSpPr/>
          <p:nvPr/>
        </p:nvSpPr>
        <p:spPr>
          <ns265:xfrm xmlns:ns265="http://schemas.openxmlformats.org/drawingml/2006/main">
            <ns265:off x="5328000" y="4266000"/>
            <ns265:ext cx="1476000" cy="223200"/>
          </ns265:xfrm>
          <ns266:prstGeom xmlns:ns266="http://schemas.openxmlformats.org/drawingml/2006/main" prst="rect">
            <ns266:avLst/>
          </ns266:prstGeom>
          <ns267:solidFill xmlns:ns267="http://schemas.openxmlformats.org/drawingml/2006/main">
            <ns267:srgbClr val="F3F7FA"/>
          </ns267:solidFill>
          <ns268:ln xmlns:ns268="http://schemas.openxmlformats.org/drawingml/2006/main" w="9525">
            <ns268:solidFill>
              <ns268:srgbClr val="65727D"/>
            </ns268:solidFill>
          </ns268:ln>
        </p:spPr>
        <p:txBody>
          <ns269:bodyPr xmlns:ns269="http://schemas.openxmlformats.org/drawingml/2006/main" wrap="square" lIns="14400" rIns="14400" tIns="14400" bIns="14400" anchor="ctr">
            <ns269:noAutofit/>
          </ns269:bodyPr>
          <ns270:lstStyle xmlns:ns270="http://schemas.openxmlformats.org/drawingml/2006/main"/>
          <ns271:p xmlns:ns271="http://schemas.openxmlformats.org/drawingml/2006/main">
            <ns271:pPr algn="l">
              <ns271:lnSpc>
                <ns271:spcPct val="105000"/>
              </ns271:lnSpc>
              <ns271:defRPr sz="1150" b="1">
                <ns271:solidFill>
                  <ns271:srgbClr val="20262C"/>
                </ns271:solidFill>
                <ns271:latin typeface="Arial"/>
                <ns271:ea typeface="Arial"/>
                <ns271:cs typeface="Arial"/>
              </ns271:defRPr>
            </ns271:pPr>
            <ns271:r>
              <ns271:rPr sz="1150" b="1">
                <ns271:solidFill>
                  <ns271:srgbClr val="20262C"/>
                </ns271:solidFill>
                <ns271:latin typeface="Arial"/>
                <ns271:ea typeface="Arial"/>
                <ns271:cs typeface="Arial"/>
              </ns271:rPr>
              <ns271:t>Author approves</ns271:t>
            </ns271:r>
          </ns271:p>
        </p:txBody>
      </p:sp>
      <p:sp>
        <p:nvSpPr>
          <p:cNvPr id="149" name="human.reviewer.checks"/>
          <p:cNvSpPr/>
          <p:nvPr/>
        </p:nvSpPr>
        <p:spPr>
          <ns272:xfrm xmlns:ns272="http://schemas.openxmlformats.org/drawingml/2006/main">
            <ns272:off x="7236000" y="4266000"/>
            <ns272:ext cx="1450800" cy="223200"/>
          </ns272:xfrm>
          <ns273:prstGeom xmlns:ns273="http://schemas.openxmlformats.org/drawingml/2006/main" prst="rect">
            <ns273:avLst/>
          </ns273:prstGeom>
          <ns274:solidFill xmlns:ns274="http://schemas.openxmlformats.org/drawingml/2006/main">
            <ns274:srgbClr val="F3F7FA"/>
          </ns274:solidFill>
          <ns275:ln xmlns:ns275="http://schemas.openxmlformats.org/drawingml/2006/main" w="9525">
            <ns275:solidFill>
              <ns275:srgbClr val="65727D"/>
            </ns275:solidFill>
          </ns275:ln>
        </p:spPr>
        <p:txBody>
          <ns276:bodyPr xmlns:ns276="http://schemas.openxmlformats.org/drawingml/2006/main" wrap="square" lIns="14400" rIns="14400" tIns="14400" bIns="14400" anchor="ctr">
            <ns276:noAutofit/>
          </ns276:bodyPr>
          <ns277:lstStyle xmlns:ns277="http://schemas.openxmlformats.org/drawingml/2006/main"/>
          <ns278:p xmlns:ns278="http://schemas.openxmlformats.org/drawingml/2006/main">
            <ns278:pPr algn="l">
              <ns278:lnSpc>
                <ns278:spcPct val="105000"/>
              </ns278:lnSpc>
              <ns278:defRPr sz="1150" b="1">
                <ns278:solidFill>
                  <ns278:srgbClr val="20262C"/>
                </ns278:solidFill>
                <ns278:latin typeface="Arial"/>
                <ns278:ea typeface="Arial"/>
                <ns278:cs typeface="Arial"/>
              </ns278:defRPr>
            </ns278:pPr>
            <ns278:r>
              <ns278:rPr sz="1150" b="1">
                <ns278:solidFill>
                  <ns278:srgbClr val="20262C"/>
                </ns278:solidFill>
                <ns278:latin typeface="Arial"/>
                <ns278:ea typeface="Arial"/>
                <ns278:cs typeface="Arial"/>
              </ns278:rPr>
              <ns278:t>Reviewer checks</ns278:t>
            </ns278:r>
          </ns278:p>
        </p:txBody>
      </p:sp>
      <p:cxnSp>
        <p:nvCxnSpPr>
          <p:cNvPr id="150" name="v2.to.approval.0"/>
          <p:cNvCxnSpPr/>
          <p:nvPr/>
        </p:nvCxnSpPr>
        <p:spPr>
          <ns279:xfrm xmlns:ns279="http://schemas.openxmlformats.org/drawingml/2006/main">
            <ns279:off x="7007400" y="4158000"/>
            <ns279:ext cx="1" cy="54000"/>
          </ns279:xfrm>
          <ns280:prstGeom xmlns:ns280="http://schemas.openxmlformats.org/drawingml/2006/main" prst="line">
            <ns280:avLst/>
          </ns280:prstGeom>
          <ns281:ln xmlns:ns281="http://schemas.openxmlformats.org/drawingml/2006/main" w="11430">
            <ns281:solidFill>
              <ns281:srgbClr val="7363A6"/>
            </ns281:solidFill>
          </ns281:ln>
        </p:spPr>
      </p:cxnSp>
      <p:cxnSp>
        <p:nvCxnSpPr>
          <p:cNvPr id="151" name="v2.to.approval.1"/>
          <p:cNvCxnSpPr/>
          <p:nvPr/>
        </p:nvCxnSpPr>
        <p:spPr>
          <ns282:xfrm xmlns:ns282="http://schemas.openxmlformats.org/drawingml/2006/main" flipH="1">
            <ns282:off x="6066000" y="4212000"/>
            <ns282:ext cx="941400" cy="1"/>
          </ns282:xfrm>
          <ns283:prstGeom xmlns:ns283="http://schemas.openxmlformats.org/drawingml/2006/main" prst="line">
            <ns283:avLst/>
          </ns283:prstGeom>
          <ns284:ln xmlns:ns284="http://schemas.openxmlformats.org/drawingml/2006/main" w="11430">
            <ns284:solidFill>
              <ns284:srgbClr val="7363A6"/>
            </ns284:solidFill>
          </ns284:ln>
        </p:spPr>
      </p:cxnSp>
      <p:cxnSp>
        <p:nvCxnSpPr>
          <p:cNvPr id="152" name="v2.to.approval.2"/>
          <p:cNvCxnSpPr/>
          <p:nvPr/>
        </p:nvCxnSpPr>
        <p:spPr>
          <ns285:xfrm xmlns:ns285="http://schemas.openxmlformats.org/drawingml/2006/main">
            <ns285:off x="6066000" y="4212000"/>
            <ns285:ext cx="1" cy="36000"/>
          </ns285:xfrm>
          <ns286:prstGeom xmlns:ns286="http://schemas.openxmlformats.org/drawingml/2006/main" prst="line">
            <ns286:avLst/>
          </ns286:prstGeom>
          <ns287:ln xmlns:ns287="http://schemas.openxmlformats.org/drawingml/2006/main" w="11430">
            <ns287:solidFill>
              <ns287:srgbClr val="7363A6"/>
            </ns287:solidFill>
            <ns287:tailEnd type="triangle" w="sm" len="sm"/>
          </ns287:ln>
        </p:spPr>
      </p:cxnSp>
      <p:cxnSp>
        <p:nvCxnSpPr>
          <p:cNvPr id="153" name="approval.to.check"/>
          <p:cNvCxnSpPr/>
          <p:nvPr/>
        </p:nvCxnSpPr>
        <p:spPr>
          <ns288:xfrm xmlns:ns288="http://schemas.openxmlformats.org/drawingml/2006/main">
            <ns288:off x="6840000" y="4377600"/>
            <ns288:ext cx="360000" cy="1"/>
          </ns288:xfrm>
          <ns289:prstGeom xmlns:ns289="http://schemas.openxmlformats.org/drawingml/2006/main" prst="line">
            <ns289:avLst/>
          </ns289:prstGeom>
          <ns290:ln xmlns:ns290="http://schemas.openxmlformats.org/drawingml/2006/main" w="11430">
            <ns290:solidFill>
              <ns290:srgbClr val="005A9C"/>
            </ns290:solidFill>
            <ns290:tailEnd type="triangle" w="sm" len="sm"/>
          </ns290:ln>
        </p:spPr>
      </p:cxnSp>
    </p:spTree>
    <p:extLst>
      <p:ext uri="{BB962C8B-B14F-4D97-AF65-F5344CB8AC3E}">
        <p14:creationId xmlns:p14="http://schemas.microsoft.com/office/powerpoint/2010/main" val="17261152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Investigating a risk alert</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Middle office / Risk analysis / Current workflow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65727D"/>
                </ns20:solidFill>
                <ns20:latin typeface="Arial"/>
                <ns20:ea typeface="Arial"/>
                <ns20:cs typeface="Arial"/>
              </ns20:defRPr>
            </ns20:pPr>
            <ns20:r>
              <ns20:rPr sz="1100" b="1">
                <ns20:solidFill>
                  <ns20:srgbClr val="65727D"/>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CBD4DA"/>
            </ns23:solidFill>
          </ns23:ln>
        </p:spPr>
      </p:cxnSp>
      <p:sp>
        <p:nvSpPr>
          <p:cNvPr id="105"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106"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107" name="map.task.client"/>
          <p:cNvSpPr/>
          <p:nvPr/>
        </p:nvSpPr>
        <p:spPr>
          <ns38:xfrm xmlns:ns38="http://schemas.openxmlformats.org/drawingml/2006/main">
            <ns38:off x="554400" y="2199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Client materials</ns44:t>
            </ns44:r>
          </ns44:p>
        </p:txBody>
      </p:sp>
      <p:sp>
        <p:nvSpPr>
          <p:cNvPr id="108" name="map.office.1"/>
          <p:cNvSpPr/>
          <p:nvPr/>
        </p:nvSpPr>
        <p:spPr>
          <ns45:xfrm xmlns:ns45="http://schemas.openxmlformats.org/drawingml/2006/main">
            <ns45:off x="486000" y="2548800"/>
            <ns45:ext cx="1692000" cy="180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100" b="1">
                <ns51:solidFill>
                  <ns51:srgbClr val="005A9C"/>
                </ns51:solidFill>
                <ns51:latin typeface="Arial"/>
                <ns51:ea typeface="Arial"/>
                <ns51:cs typeface="Arial"/>
              </ns51:defRPr>
            </ns51:pPr>
            <ns51:r>
              <ns51:rPr sz="1100" b="1">
                <ns51:solidFill>
                  <ns51:srgbClr val="005A9C"/>
                </ns51:solidFill>
                <ns51:latin typeface="Arial"/>
                <ns51:ea typeface="Arial"/>
                <ns51:cs typeface="Arial"/>
              </ns51:rPr>
              <ns51:t>Middle office</ns51:t>
            </ns51:r>
          </ns51:p>
        </p:txBody>
      </p:sp>
      <p:cxnSp>
        <p:nvCxnSpPr>
          <p:cNvPr id="109" name="map.office.rule.1"/>
          <p:cNvCxnSpPr/>
          <p:nvPr/>
        </p:nvCxnSpPr>
        <p:spPr>
          <ns52:xfrm xmlns:ns52="http://schemas.openxmlformats.org/drawingml/2006/main">
            <ns52:off x="457200" y="2768400"/>
            <ns52:ext cx="1742400" cy="1"/>
          </ns52:xfrm>
          <ns53:prstGeom xmlns:ns53="http://schemas.openxmlformats.org/drawingml/2006/main" prst="line">
            <ns53:avLst/>
          </ns53:prstGeom>
          <ns54:ln xmlns:ns54="http://schemas.openxmlformats.org/drawingml/2006/main" w="7620">
            <ns54:solidFill>
              <ns54:srgbClr val="005A9C"/>
            </ns54:solidFill>
          </ns54:ln>
        </p:spPr>
      </p:cxnSp>
      <p:sp>
        <p:nvSpPr>
          <p:cNvPr id="110" name="map.task.review"/>
          <p:cNvSpPr/>
          <p:nvPr/>
        </p:nvSpPr>
        <p:spPr>
          <ns55:xfrm xmlns:ns55="http://schemas.openxmlformats.org/drawingml/2006/main">
            <ns55:off x="554400" y="2847600"/>
            <ns55:ext cx="1562400" cy="1656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5000"/>
              </ns61:lnSpc>
              <ns61:defRPr sz="1050" b="0">
                <ns61:solidFill>
                  <ns61:srgbClr val="65727D"/>
                </ns61:solidFill>
                <ns61:latin typeface="Arial"/>
                <ns61:ea typeface="Arial"/>
                <ns61:cs typeface="Arial"/>
              </ns61:defRPr>
            </ns61:pPr>
            <ns61:r>
              <ns61:rPr sz="1050" b="0">
                <ns61:solidFill>
                  <ns61:srgbClr val="65727D"/>
                </ns61:solidFill>
                <ns61:latin typeface="Arial"/>
                <ns61:ea typeface="Arial"/>
                <ns61:cs typeface="Arial"/>
              </ns61:rPr>
              <ns61:t>Content review</ns61:t>
            </ns61:r>
          </ns61:p>
        </p:txBody>
      </p:sp>
      <p:sp>
        <p:nvSpPr>
          <p:cNvPr id="111" name="map.task.focus.risk"/>
          <p:cNvSpPr/>
          <p:nvPr/>
        </p:nvSpPr>
        <p:spPr>
          <ns62:xfrm xmlns:ns62="http://schemas.openxmlformats.org/drawingml/2006/main">
            <ns62:off x="486000" y="3042000"/>
            <ns62:ext cx="1677600" cy="176400"/>
          </ns62:xfrm>
          <ns63:prstGeom xmlns:ns63="http://schemas.openxmlformats.org/drawingml/2006/main" prst="rect">
            <ns63:avLst/>
          </ns63:prstGeom>
          <ns64:solidFill xmlns:ns64="http://schemas.openxmlformats.org/drawingml/2006/main">
            <ns64:srgbClr val="D9EAF7"/>
          </ns64:solidFill>
          <ns65:ln xmlns:ns65="http://schemas.openxmlformats.org/drawingml/2006/main" w="0">
            <ns65:noFill/>
          </ns65:ln>
        </p:spPr>
      </p:sp>
      <p:sp>
        <p:nvSpPr>
          <p:cNvPr id="112" name="map.task.risk"/>
          <p:cNvSpPr/>
          <p:nvPr/>
        </p:nvSpPr>
        <p:spPr>
          <ns66:xfrm xmlns:ns66="http://schemas.openxmlformats.org/drawingml/2006/main">
            <ns66:off x="554400" y="3045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1">
                <ns72:solidFill>
                  <ns72:srgbClr val="005A9C"/>
                </ns72:solidFill>
                <ns72:latin typeface="Arial"/>
                <ns72:ea typeface="Arial"/>
                <ns72:cs typeface="Arial"/>
              </ns72:defRPr>
            </ns72:pPr>
            <ns72:r>
              <ns72:rPr sz="1050" b="1">
                <ns72:solidFill>
                  <ns72:srgbClr val="005A9C"/>
                </ns72:solidFill>
                <ns72:latin typeface="Arial"/>
                <ns72:ea typeface="Arial"/>
                <ns72:cs typeface="Arial"/>
              </ns72:rPr>
              <ns72:t>Risk analysis</ns72:t>
            </ns72:r>
          </ns72:p>
        </p:txBody>
      </p:sp>
      <p:sp>
        <p:nvSpPr>
          <p:cNvPr id="113"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14"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15" name="map.task.file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Document processing</ns89:t>
            </ns89:r>
          </ns89:p>
        </p:txBody>
      </p:sp>
      <p:sp>
        <p:nvSpPr>
          <p:cNvPr id="116"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17" name="map.legend"/>
          <p:cNvSpPr/>
          <p:nvPr/>
        </p:nvSpPr>
        <p:spPr>
          <ns97:xfrm xmlns:ns97="http://schemas.openxmlformats.org/drawingml/2006/main">
            <ns97:off x="486000" y="4363200"/>
            <ns97:ext cx="16848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850" b="0">
                <ns103:solidFill>
                  <ns103:srgbClr val="65727D"/>
                </ns103:solidFill>
                <ns103:latin typeface="Arial"/>
                <ns103:ea typeface="Arial"/>
                <ns103:cs typeface="Arial"/>
              </ns103:defRPr>
            </ns103:pPr>
            <ns103:r>
              <ns103:rPr sz="850" b="0">
                <ns103:solidFill>
                  <ns103:srgbClr val="65727D"/>
                </ns103:solidFill>
                <ns103:latin typeface="Arial"/>
                <ns103:ea typeface="Arial"/>
                <ns103:cs typeface="Arial"/>
              </ns103:rPr>
              <ns103:t>Company workflow</ns103:t>
            </ns103:r>
          </ns103:p>
        </p:txBody>
      </p:sp>
      <p:sp>
        <p:nvSpPr>
          <p:cNvPr id="118" name="input.risk.alert"/>
          <p:cNvSpPr/>
          <p:nvPr/>
        </p:nvSpPr>
        <p:spPr>
          <ns104:xfrm xmlns:ns104="http://schemas.openxmlformats.org/drawingml/2006/main">
            <ns104:off x="2422800" y="1530000"/>
            <ns104:ext cx="6264000" cy="648000"/>
          </ns104:xfrm>
          <ns105:prstGeom xmlns:ns105="http://schemas.openxmlformats.org/drawingml/2006/main" prst="rect">
            <ns105:avLst/>
          </ns105:prstGeom>
          <ns106:solidFill xmlns:ns106="http://schemas.openxmlformats.org/drawingml/2006/main">
            <ns106:srgbClr val="EFF6F4"/>
          </ns106:solidFill>
          <ns107:ln xmlns:ns107="http://schemas.openxmlformats.org/drawingml/2006/main" w="9525">
            <ns107:solidFill>
              <ns107:srgbClr val="317F7B"/>
            </ns107:solidFill>
          </ns107:ln>
        </p:spPr>
        <p:txBody>
          <ns108:bodyPr xmlns:ns108="http://schemas.openxmlformats.org/drawingml/2006/main" wrap="square" lIns="61200" rIns="61200" tIns="61200" bIns="61200" anchor="ctr">
            <ns108:noAutofit/>
          </ns108:bodyPr>
          <ns109:lstStyle xmlns:ns109="http://schemas.openxmlformats.org/drawingml/2006/main"/>
          <ns110:p xmlns:ns110="http://schemas.openxmlformats.org/drawingml/2006/main">
            <ns110:pPr algn="l">
              <ns110:lnSpc>
                <ns110:spcPct val="105000"/>
              </ns110:lnSpc>
              <ns110:defRPr sz="1300" b="1">
                <ns110:solidFill>
                  <ns110:srgbClr val="317F7B"/>
                </ns110:solidFill>
                <ns110:latin typeface="Arial"/>
                <ns110:ea typeface="Arial"/>
                <ns110:cs typeface="Arial"/>
              </ns110:defRPr>
            </ns110:pPr>
            <ns110:r>
              <ns110:rPr sz="1300" b="1">
                <ns110:solidFill>
                  <ns110:srgbClr val="317F7B"/>
                </ns110:solidFill>
                <ns110:latin typeface="Arial"/>
                <ns110:ea typeface="Arial"/>
                <ns110:cs typeface="Arial"/>
              </ns110:rPr>
              <ns110:t>Company A alert</ns110:t>
            </ns110:r>
          </ns110:p>
          <ns111:p xmlns:ns111="http://schemas.openxmlformats.org/drawingml/2006/main">
            <ns111:pPr algn="l">
              <ns111:lnSpc>
                <ns111:spcPct val="105000"/>
              </ns111:lnSpc>
              <ns111:defRPr sz="1200" b="0">
                <ns111:solidFill>
                  <ns111:srgbClr val="20262C"/>
                </ns111:solidFill>
                <ns111:latin typeface="Arial"/>
                <ns111:ea typeface="Arial"/>
                <ns111:cs typeface="Arial"/>
              </ns111:defRPr>
            </ns111:pPr>
            <ns111:r>
              <ns111:rPr sz="1200" b="0">
                <ns111:solidFill>
                  <ns111:srgbClr val="20262C"/>
                </ns111:solidFill>
                <ns111:latin typeface="Arial"/>
                <ns111:ea typeface="Arial"/>
                <ns111:cs typeface="Arial"/>
              </ns111:rPr>
              <ns111:t>Credit rating on watch</ns111:t>
            </ns111:r>
          </ns111:p>
          <ns112:p xmlns:ns112="http://schemas.openxmlformats.org/drawingml/2006/main">
            <ns112:pPr algn="l">
              <ns112:lnSpc>
                <ns112:spcPct val="105000"/>
              </ns112:lnSpc>
              <ns112:defRPr sz="1200" b="0">
                <ns112:solidFill>
                  <ns112:srgbClr val="20262C"/>
                </ns112:solidFill>
                <ns112:latin typeface="Arial"/>
                <ns112:ea typeface="Arial"/>
                <ns112:cs typeface="Arial"/>
              </ns112:defRPr>
            </ns112:pPr>
            <ns112:r>
              <ns112:rPr sz="1200" b="0">
                <ns112:solidFill>
                  <ns112:srgbClr val="20262C"/>
                </ns112:solidFill>
                <ns112:latin typeface="Arial"/>
                <ns112:ea typeface="Arial"/>
                <ns112:cs typeface="Arial"/>
              </ns112:rPr>
              <ns112:t>Operating cash flow under pressure</ns112:t>
            </ns112:r>
          </ns112:p>
        </p:txBody>
      </p:sp>
      <p:sp>
        <p:nvSpPr>
          <p:cNvPr id="119" name="human.risk.analyst"/>
          <p:cNvSpPr/>
          <p:nvPr/>
        </p:nvSpPr>
        <p:spPr>
          <ns113:xfrm xmlns:ns113="http://schemas.openxmlformats.org/drawingml/2006/main">
            <ns113:off x="2422800" y="2520000"/>
            <ns113:ext cx="1620000" cy="594000"/>
          </ns113:xfrm>
          <ns114:prstGeom xmlns:ns114="http://schemas.openxmlformats.org/drawingml/2006/main" prst="roundRect">
            <ns114:avLst/>
          </ns114:prstGeom>
          <ns115:solidFill xmlns:ns115="http://schemas.openxmlformats.org/drawingml/2006/main">
            <ns115:srgbClr val="F3F7FA"/>
          </ns115:solidFill>
          <ns116:ln xmlns:ns116="http://schemas.openxmlformats.org/drawingml/2006/main" w="9525">
            <ns116:solidFill>
              <ns116:srgbClr val="65727D"/>
            </ns116:solidFill>
          </ns116:ln>
        </p:spPr>
        <p:txBody>
          <ns117:bodyPr xmlns:ns117="http://schemas.openxmlformats.org/drawingml/2006/main" wrap="square" lIns="61200" rIns="61200" tIns="61200" bIns="61200" anchor="ctr">
            <ns117:noAutofit/>
          </ns117:bodyPr>
          <ns118:lstStyle xmlns:ns118="http://schemas.openxmlformats.org/drawingml/2006/main"/>
          <ns119:p xmlns:ns119="http://schemas.openxmlformats.org/drawingml/2006/main">
            <ns119:pPr algn="l">
              <ns119:lnSpc>
                <ns119:spcPct val="105000"/>
              </ns119:lnSpc>
              <ns119:defRPr sz="1300" b="1">
                <ns119:solidFill>
                  <ns119:srgbClr val="65727D"/>
                </ns119:solidFill>
                <ns119:latin typeface="Arial"/>
                <ns119:ea typeface="Arial"/>
                <ns119:cs typeface="Arial"/>
              </ns119:defRPr>
            </ns119:pPr>
            <ns119:r>
              <ns119:rPr sz="1300" b="1">
                <ns119:solidFill>
                  <ns119:srgbClr val="65727D"/>
                </ns119:solidFill>
                <ns119:latin typeface="Arial"/>
                <ns119:ea typeface="Arial"/>
                <ns119:cs typeface="Arial"/>
              </ns119:rPr>
              <ns119:t>Risk analyst</ns119:t>
            </ns119:r>
          </ns119:p>
          <ns120:p xmlns:ns120="http://schemas.openxmlformats.org/drawingml/2006/main">
            <ns120:pPr algn="l">
              <ns120:lnSpc>
                <ns120:spcPct val="105000"/>
              </ns120:lnSpc>
              <ns120:defRPr sz="1200" b="0">
                <ns120:solidFill>
                  <ns120:srgbClr val="20262C"/>
                </ns120:solidFill>
                <ns120:latin typeface="Arial"/>
                <ns120:ea typeface="Arial"/>
                <ns120:cs typeface="Arial"/>
              </ns120:defRPr>
            </ns120:pPr>
            <ns120:r>
              <ns120:rPr sz="1200" b="0">
                <ns120:solidFill>
                  <ns120:srgbClr val="20262C"/>
                </ns120:solidFill>
                <ns120:latin typeface="Arial"/>
                <ns120:ea typeface="Arial"/>
                <ns120:cs typeface="Arial"/>
              </ns120:rPr>
              <ns120:t>Gather evidence</ns120:t>
            </ns120:r>
          </ns120:p>
        </p:txBody>
      </p:sp>
      <p:sp>
        <p:nvSpPr>
          <p:cNvPr id="120" name="source.risk.0"/>
          <p:cNvSpPr/>
          <p:nvPr/>
        </p:nvSpPr>
        <p:spPr>
          <ns121:xfrm xmlns:ns121="http://schemas.openxmlformats.org/drawingml/2006/main">
            <ns121:off x="4392000" y="2376000"/>
            <ns121:ext cx="1458000" cy="594000"/>
          </ns121:xfrm>
          <ns122:prstGeom xmlns:ns122="http://schemas.openxmlformats.org/drawingml/2006/main" prst="rect">
            <ns122:avLst/>
          </ns122:prstGeom>
          <ns123:solidFill xmlns:ns123="http://schemas.openxmlformats.org/drawingml/2006/main">
            <ns123:srgbClr val="F3F7FA"/>
          </ns123:solidFill>
          <ns124:ln xmlns:ns124="http://schemas.openxmlformats.org/drawingml/2006/main" w="9525">
            <ns124:solidFill>
              <ns124:srgbClr val="65727D"/>
            </ns124:solidFill>
          </ns124:ln>
        </p:spPr>
        <p:txBody>
          <ns125:bodyPr xmlns:ns125="http://schemas.openxmlformats.org/drawingml/2006/main" wrap="square" lIns="61200" rIns="61200" tIns="61200" bIns="61200" anchor="ctr">
            <ns125:noAutofit/>
          </ns125:bodyPr>
          <ns126:lstStyle xmlns:ns126="http://schemas.openxmlformats.org/drawingml/2006/main"/>
          <ns127:p xmlns:ns127="http://schemas.openxmlformats.org/drawingml/2006/main">
            <ns127:pPr algn="l">
              <ns127:lnSpc>
                <ns127:spcPct val="105000"/>
              </ns127:lnSpc>
              <ns127:defRPr sz="1300" b="1">
                <ns127:solidFill>
                  <ns127:srgbClr val="65727D"/>
                </ns127:solidFill>
                <ns127:latin typeface="Arial"/>
                <ns127:ea typeface="Arial"/>
                <ns127:cs typeface="Arial"/>
              </ns127:defRPr>
            </ns127:pPr>
            <ns127:r>
              <ns127:rPr sz="1300" b="1">
                <ns127:solidFill>
                  <ns127:srgbClr val="65727D"/>
                </ns127:solidFill>
                <ns127:latin typeface="Arial"/>
                <ns127:ea typeface="Arial"/>
                <ns127:cs typeface="Arial"/>
              </ns127:rPr>
              <ns127:t>Holdings</ns127:t>
            </ns127:r>
          </ns127:p>
          <ns128:p xmlns:ns128="http://schemas.openxmlformats.org/drawingml/2006/main">
            <ns128:pPr algn="l">
              <ns128:lnSpc>
                <ns128:spcPct val="105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Exposed funds?</ns128:t>
            </ns128:r>
          </ns128:p>
        </p:txBody>
      </p:sp>
      <p:sp>
        <p:nvSpPr>
          <p:cNvPr id="121" name="source.risk.1"/>
          <p:cNvSpPr/>
          <p:nvPr/>
        </p:nvSpPr>
        <p:spPr>
          <ns129:xfrm xmlns:ns129="http://schemas.openxmlformats.org/drawingml/2006/main">
            <ns129:off x="4392000" y="3139200"/>
            <ns129:ext cx="1458000" cy="594000"/>
          </ns129:xfrm>
          <ns130:prstGeom xmlns:ns130="http://schemas.openxmlformats.org/drawingml/2006/main" prst="rect">
            <ns130:avLst/>
          </ns130:prstGeom>
          <ns131:solidFill xmlns:ns131="http://schemas.openxmlformats.org/drawingml/2006/main">
            <ns131:srgbClr val="F3F7FA"/>
          </ns131:solidFill>
          <ns132:ln xmlns:ns132="http://schemas.openxmlformats.org/drawingml/2006/main" w="9525">
            <ns132:solidFill>
              <ns132:srgbClr val="65727D"/>
            </ns132:solidFill>
          </ns132:ln>
        </p:spPr>
        <p:txBody>
          <ns133:bodyPr xmlns:ns133="http://schemas.openxmlformats.org/drawingml/2006/main" wrap="square" lIns="61200" rIns="61200" tIns="61200" bIns="61200" anchor="ctr">
            <ns133:noAutofit/>
          </ns133:bodyPr>
          <ns134:lstStyle xmlns:ns134="http://schemas.openxmlformats.org/drawingml/2006/main"/>
          <ns135:p xmlns:ns135="http://schemas.openxmlformats.org/drawingml/2006/main">
            <ns135:pPr algn="l">
              <ns135:lnSpc>
                <ns135:spcPct val="105000"/>
              </ns135:lnSpc>
              <ns135:defRPr sz="1300" b="1">
                <ns135:solidFill>
                  <ns135:srgbClr val="65727D"/>
                </ns135:solidFill>
                <ns135:latin typeface="Arial"/>
                <ns135:ea typeface="Arial"/>
                <ns135:cs typeface="Arial"/>
              </ns135:defRPr>
            </ns135:pPr>
            <ns135:r>
              <ns135:rPr sz="1300" b="1">
                <ns135:solidFill>
                  <ns135:srgbClr val="65727D"/>
                </ns135:solidFill>
                <ns135:latin typeface="Arial"/>
                <ns135:ea typeface="Arial"/>
                <ns135:cs typeface="Arial"/>
              </ns135:rPr>
              <ns135:t>Contracts / policies</ns135:t>
            </ns135:r>
          </ns135:p>
          <ns136:p xmlns:ns136="http://schemas.openxmlformats.org/drawingml/2006/main">
            <ns136:pPr algn="l">
              <ns136:lnSpc>
                <ns136:spcPct val="105000"/>
              </ns136:lnSpc>
              <ns136:defRPr sz="1050" b="0">
                <ns136:solidFill>
                  <ns136:srgbClr val="20262C"/>
                </ns136:solidFill>
                <ns136:latin typeface="Arial"/>
                <ns136:ea typeface="Arial"/>
                <ns136:cs typeface="Arial"/>
              </ns136:defRPr>
            </ns136:pPr>
            <ns136:r>
              <ns136:rPr sz="1050" b="0">
                <ns136:solidFill>
                  <ns136:srgbClr val="20262C"/>
                </ns136:solidFill>
                <ns136:latin typeface="Arial"/>
                <ns136:ea typeface="Arial"/>
                <ns136:cs typeface="Arial"/>
              </ns136:rPr>
              <ns136:t>Applicable rules?</ns136:t>
            </ns136:r>
          </ns136:p>
        </p:txBody>
      </p:sp>
      <p:sp>
        <p:nvSpPr>
          <p:cNvPr id="122" name="source.risk.2"/>
          <p:cNvSpPr/>
          <p:nvPr/>
        </p:nvSpPr>
        <p:spPr>
          <ns137:xfrm xmlns:ns137="http://schemas.openxmlformats.org/drawingml/2006/main">
            <ns137:off x="4392000" y="3902400"/>
            <ns137:ext cx="1458000" cy="594000"/>
          </ns137:xfrm>
          <ns138:prstGeom xmlns:ns138="http://schemas.openxmlformats.org/drawingml/2006/main" prst="rect">
            <ns138:avLst/>
          </ns138:prstGeom>
          <ns139:solidFill xmlns:ns139="http://schemas.openxmlformats.org/drawingml/2006/main">
            <ns139:srgbClr val="F3F7FA"/>
          </ns139:solidFill>
          <ns140:ln xmlns:ns140="http://schemas.openxmlformats.org/drawingml/2006/main" w="9525">
            <ns140:solidFill>
              <ns140:srgbClr val="65727D"/>
            </ns140:solidFill>
          </ns140:ln>
        </p:spPr>
        <p:txBody>
          <ns141:bodyPr xmlns:ns141="http://schemas.openxmlformats.org/drawingml/2006/main" wrap="square" lIns="61200" rIns="61200" tIns="61200" bIns="61200" anchor="ctr">
            <ns141:noAutofit/>
          </ns141:bodyPr>
          <ns142:lstStyle xmlns:ns142="http://schemas.openxmlformats.org/drawingml/2006/main"/>
          <ns143:p xmlns:ns143="http://schemas.openxmlformats.org/drawingml/2006/main">
            <ns143:pPr algn="l">
              <ns143:lnSpc>
                <ns143:spcPct val="105000"/>
              </ns143:lnSpc>
              <ns143:defRPr sz="1300" b="1">
                <ns143:solidFill>
                  <ns143:srgbClr val="65727D"/>
                </ns143:solidFill>
                <ns143:latin typeface="Arial"/>
                <ns143:ea typeface="Arial"/>
                <ns143:cs typeface="Arial"/>
              </ns143:defRPr>
            </ns143:pPr>
            <ns143:r>
              <ns143:rPr sz="1300" b="1">
                <ns143:solidFill>
                  <ns143:srgbClr val="65727D"/>
                </ns143:solidFill>
                <ns143:latin typeface="Arial"/>
                <ns143:ea typeface="Arial"/>
                <ns143:cs typeface="Arial"/>
              </ns143:rPr>
              <ns143:t>Issuer research</ns143:t>
            </ns143:r>
          </ns143:p>
          <ns144:p xmlns:ns144="http://schemas.openxmlformats.org/drawingml/2006/main">
            <ns144:pPr algn="l">
              <ns144:lnSpc>
                <ns144:spcPct val="105000"/>
              </ns144:lnSpc>
              <ns144:defRPr sz="1050" b="0">
                <ns144:solidFill>
                  <ns144:srgbClr val="20262C"/>
                </ns144:solidFill>
                <ns144:latin typeface="Arial"/>
                <ns144:ea typeface="Arial"/>
                <ns144:cs typeface="Arial"/>
              </ns144:defRPr>
            </ns144:pPr>
            <ns144:r>
              <ns144:rPr sz="1050" b="0">
                <ns144:solidFill>
                  <ns144:srgbClr val="20262C"/>
                </ns144:solidFill>
                <ns144:latin typeface="Arial"/>
                <ns144:ea typeface="Arial"/>
                <ns144:cs typeface="Arial"/>
              </ns144:rPr>
              <ns144:t>Event impact?</ns144:t>
            </ns144:r>
          </ns144:p>
        </p:txBody>
      </p:sp>
      <p:cxnSp>
        <p:nvCxnSpPr>
          <p:cNvPr id="123" name="alert.to.analyst"/>
          <p:cNvCxnSpPr/>
          <p:nvPr/>
        </p:nvCxnSpPr>
        <p:spPr>
          <ns145:xfrm xmlns:ns145="http://schemas.openxmlformats.org/drawingml/2006/main">
            <ns145:off x="3232800" y="2214000"/>
            <ns145:ext cx="1" cy="270000"/>
          </ns145:xfrm>
          <ns146:prstGeom xmlns:ns146="http://schemas.openxmlformats.org/drawingml/2006/main" prst="line">
            <ns146:avLst/>
          </ns146:prstGeom>
          <ns147:ln xmlns:ns147="http://schemas.openxmlformats.org/drawingml/2006/main" w="11430">
            <ns147:solidFill>
              <ns147:srgbClr val="317F7B"/>
            </ns147:solidFill>
            <ns147:tailEnd type="triangle" w="sm" len="sm"/>
          </ns147:ln>
        </p:spPr>
      </p:cxnSp>
      <p:cxnSp>
        <p:nvCxnSpPr>
          <p:cNvPr id="124" name="analyst.evidence.entry"/>
          <p:cNvCxnSpPr/>
          <p:nvPr/>
        </p:nvCxnSpPr>
        <p:spPr>
          <ns148:xfrm xmlns:ns148="http://schemas.openxmlformats.org/drawingml/2006/main">
            <ns148:off x="4078800" y="2817000"/>
            <ns148:ext cx="115200" cy="1"/>
          </ns148:xfrm>
          <ns149:prstGeom xmlns:ns149="http://schemas.openxmlformats.org/drawingml/2006/main" prst="line">
            <ns149:avLst/>
          </ns149:prstGeom>
          <ns150:ln xmlns:ns150="http://schemas.openxmlformats.org/drawingml/2006/main" w="11430">
            <ns150:solidFill>
              <ns150:srgbClr val="005A9C"/>
            </ns150:solidFill>
          </ns150:ln>
        </p:spPr>
      </p:cxnSp>
      <p:cxnSp>
        <p:nvCxnSpPr>
          <p:cNvPr id="125" name="analyst.evidence.branch"/>
          <p:cNvCxnSpPr/>
          <p:nvPr/>
        </p:nvCxnSpPr>
        <p:spPr>
          <ns151:xfrm xmlns:ns151="http://schemas.openxmlformats.org/drawingml/2006/main">
            <ns151:off x="4194000" y="2673000"/>
            <ns151:ext cx="1" cy="1526400"/>
          </ns151:xfrm>
          <ns152:prstGeom xmlns:ns152="http://schemas.openxmlformats.org/drawingml/2006/main" prst="line">
            <ns152:avLst/>
          </ns152:prstGeom>
          <ns153:ln xmlns:ns153="http://schemas.openxmlformats.org/drawingml/2006/main" w="11430">
            <ns153:solidFill>
              <ns153:srgbClr val="005A9C"/>
            </ns153:solidFill>
          </ns153:ln>
        </p:spPr>
      </p:cxnSp>
      <p:cxnSp>
        <p:nvCxnSpPr>
          <p:cNvPr id="126" name="risk.parallel.search.0"/>
          <p:cNvCxnSpPr/>
          <p:nvPr/>
        </p:nvCxnSpPr>
        <p:spPr>
          <ns154:xfrm xmlns:ns154="http://schemas.openxmlformats.org/drawingml/2006/main">
            <ns154:off x="4194000" y="2673000"/>
            <ns154:ext cx="162000" cy="1"/>
          </ns154:xfrm>
          <ns155:prstGeom xmlns:ns155="http://schemas.openxmlformats.org/drawingml/2006/main" prst="line">
            <ns155:avLst/>
          </ns155:prstGeom>
          <ns156:ln xmlns:ns156="http://schemas.openxmlformats.org/drawingml/2006/main" w="11430">
            <ns156:solidFill>
              <ns156:srgbClr val="005A9C"/>
            </ns156:solidFill>
            <ns156:tailEnd type="triangle" w="sm" len="sm"/>
          </ns156:ln>
        </p:spPr>
      </p:cxnSp>
      <p:cxnSp>
        <p:nvCxnSpPr>
          <p:cNvPr id="127" name="risk.parallel.search.1"/>
          <p:cNvCxnSpPr/>
          <p:nvPr/>
        </p:nvCxnSpPr>
        <p:spPr>
          <ns157:xfrm xmlns:ns157="http://schemas.openxmlformats.org/drawingml/2006/main">
            <ns157:off x="4194000" y="3436200"/>
            <ns157:ext cx="162000" cy="1"/>
          </ns157:xfrm>
          <ns158:prstGeom xmlns:ns158="http://schemas.openxmlformats.org/drawingml/2006/main" prst="line">
            <ns158:avLst/>
          </ns158:prstGeom>
          <ns159:ln xmlns:ns159="http://schemas.openxmlformats.org/drawingml/2006/main" w="11430">
            <ns159:solidFill>
              <ns159:srgbClr val="005A9C"/>
            </ns159:solidFill>
            <ns159:tailEnd type="triangle" w="sm" len="sm"/>
          </ns159:ln>
        </p:spPr>
      </p:cxnSp>
      <p:cxnSp>
        <p:nvCxnSpPr>
          <p:cNvPr id="128" name="risk.parallel.search.2"/>
          <p:cNvCxnSpPr/>
          <p:nvPr/>
        </p:nvCxnSpPr>
        <p:spPr>
          <ns160:xfrm xmlns:ns160="http://schemas.openxmlformats.org/drawingml/2006/main">
            <ns160:off x="4194000" y="4199400"/>
            <ns160:ext cx="162000" cy="1"/>
          </ns160:xfrm>
          <ns161:prstGeom xmlns:ns161="http://schemas.openxmlformats.org/drawingml/2006/main" prst="line">
            <ns161:avLst/>
          </ns161:prstGeom>
          <ns162:ln xmlns:ns162="http://schemas.openxmlformats.org/drawingml/2006/main" w="11430">
            <ns162:solidFill>
              <ns162:srgbClr val="005A9C"/>
            </ns162:solidFill>
            <ns162:tailEnd type="triangle" w="sm" len="sm"/>
          </ns162:ln>
        </p:spPr>
      </p:cxnSp>
      <p:sp>
        <p:nvSpPr>
          <p:cNvPr id="129" name="output.human.assessment"/>
          <p:cNvSpPr/>
          <p:nvPr/>
        </p:nvSpPr>
        <p:spPr>
          <ns163:xfrm xmlns:ns163="http://schemas.openxmlformats.org/drawingml/2006/main">
            <ns163:off x="6127200" y="2952000"/>
            <ns163:ext cx="2559600" cy="810000"/>
          </ns163:xfrm>
          <ns164:prstGeom xmlns:ns164="http://schemas.openxmlformats.org/drawingml/2006/main" prst="rect">
            <ns164:avLst/>
          </ns164:prstGeom>
          <ns165:solidFill xmlns:ns165="http://schemas.openxmlformats.org/drawingml/2006/main">
            <ns165:srgbClr val="F3F7FA"/>
          </ns165:solidFill>
          <ns166:ln xmlns:ns166="http://schemas.openxmlformats.org/drawingml/2006/main" w="9525">
            <ns166:solidFill>
              <ns166:srgbClr val="65727D"/>
            </ns166:solidFill>
          </ns166:ln>
        </p:spPr>
        <p:txBody>
          <ns167:bodyPr xmlns:ns167="http://schemas.openxmlformats.org/drawingml/2006/main" wrap="square" lIns="61200" rIns="61200" tIns="61200" bIns="61200" anchor="ctr">
            <ns167:noAutofit/>
          </ns167:bodyPr>
          <ns168:lstStyle xmlns:ns168="http://schemas.openxmlformats.org/drawingml/2006/main"/>
          <ns169:p xmlns:ns169="http://schemas.openxmlformats.org/drawingml/2006/main">
            <ns169:pPr algn="l">
              <ns169:lnSpc>
                <ns169:spcPct val="105000"/>
              </ns169:lnSpc>
              <ns169:defRPr sz="1300" b="1">
                <ns169:solidFill>
                  <ns169:srgbClr val="65727D"/>
                </ns169:solidFill>
                <ns169:latin typeface="Arial"/>
                <ns169:ea typeface="Arial"/>
                <ns169:cs typeface="Arial"/>
              </ns169:defRPr>
            </ns169:pPr>
            <ns169:r>
              <ns169:rPr sz="1300" b="1">
                <ns169:solidFill>
                  <ns169:srgbClr val="65727D"/>
                </ns169:solidFill>
                <ns169:latin typeface="Arial"/>
                <ns169:ea typeface="Arial"/>
                <ns169:cs typeface="Arial"/>
              </ns169:rPr>
              <ns169:t>Event assessment</ns169:t>
            </ns169:r>
          </ns169:p>
          <ns170:p xmlns:ns170="http://schemas.openxmlformats.org/drawingml/2006/main">
            <ns170:pPr algn="l">
              <ns170:lnSpc>
                <ns170:spcPct val="105000"/>
              </ns170:lnSpc>
              <ns170:defRPr sz="1150" b="0">
                <ns170:solidFill>
                  <ns170:srgbClr val="20262C"/>
                </ns170:solidFill>
                <ns170:latin typeface="Arial"/>
                <ns170:ea typeface="Arial"/>
                <ns170:cs typeface="Arial"/>
              </ns170:defRPr>
            </ns170:pPr>
            <ns170:r>
              <ns170:rPr sz="1150" b="0">
                <ns170:solidFill>
                  <ns170:srgbClr val="20262C"/>
                </ns170:solidFill>
                <ns170:latin typeface="Arial"/>
                <ns170:ea typeface="Arial"/>
                <ns170:cs typeface="Arial"/>
              </ns170:rPr>
              <ns170:t>Exposure / rules / impact</ns170:t>
            </ns170:r>
          </ns170:p>
        </p:txBody>
      </p:sp>
      <p:cxnSp>
        <p:nvCxnSpPr>
          <p:cNvPr id="130" name="risk.evidence.converges.source.0"/>
          <p:cNvCxnSpPr/>
          <p:nvPr/>
        </p:nvCxnSpPr>
        <p:spPr>
          <ns171:xfrm xmlns:ns171="http://schemas.openxmlformats.org/drawingml/2006/main">
            <ns171:off x="5850000" y="2673000"/>
            <ns171:ext cx="144000" cy="1"/>
          </ns171:xfrm>
          <ns172:prstGeom xmlns:ns172="http://schemas.openxmlformats.org/drawingml/2006/main" prst="line">
            <ns172:avLst/>
          </ns172:prstGeom>
          <ns173:ln xmlns:ns173="http://schemas.openxmlformats.org/drawingml/2006/main" w="9525">
            <ns173:solidFill>
              <ns173:srgbClr val="005A9C"/>
            </ns173:solidFill>
          </ns173:ln>
        </p:spPr>
      </p:cxnSp>
      <p:cxnSp>
        <p:nvCxnSpPr>
          <p:cNvPr id="131" name="risk.evidence.converges.source.1"/>
          <p:cNvCxnSpPr/>
          <p:nvPr/>
        </p:nvCxnSpPr>
        <p:spPr>
          <ns174:xfrm xmlns:ns174="http://schemas.openxmlformats.org/drawingml/2006/main">
            <ns174:off x="5850000" y="3436200"/>
            <ns174:ext cx="144000" cy="1"/>
          </ns174:xfrm>
          <ns175:prstGeom xmlns:ns175="http://schemas.openxmlformats.org/drawingml/2006/main" prst="line">
            <ns175:avLst/>
          </ns175:prstGeom>
          <ns176:ln xmlns:ns176="http://schemas.openxmlformats.org/drawingml/2006/main" w="9525">
            <ns176:solidFill>
              <ns176:srgbClr val="005A9C"/>
            </ns176:solidFill>
          </ns176:ln>
        </p:spPr>
      </p:cxnSp>
      <p:cxnSp>
        <p:nvCxnSpPr>
          <p:cNvPr id="132" name="risk.evidence.converges.source.2"/>
          <p:cNvCxnSpPr/>
          <p:nvPr/>
        </p:nvCxnSpPr>
        <p:spPr>
          <ns177:xfrm xmlns:ns177="http://schemas.openxmlformats.org/drawingml/2006/main">
            <ns177:off x="5850000" y="4199400"/>
            <ns177:ext cx="144000" cy="1"/>
          </ns177:xfrm>
          <ns178:prstGeom xmlns:ns178="http://schemas.openxmlformats.org/drawingml/2006/main" prst="line">
            <ns178:avLst/>
          </ns178:prstGeom>
          <ns179:ln xmlns:ns179="http://schemas.openxmlformats.org/drawingml/2006/main" w="9525">
            <ns179:solidFill>
              <ns179:srgbClr val="005A9C"/>
            </ns179:solidFill>
          </ns179:ln>
        </p:spPr>
      </p:cxnSp>
      <p:cxnSp>
        <p:nvCxnSpPr>
          <p:cNvPr id="133" name="risk.evidence.converges.bus"/>
          <p:cNvCxnSpPr/>
          <p:nvPr/>
        </p:nvCxnSpPr>
        <p:spPr>
          <ns180:xfrm xmlns:ns180="http://schemas.openxmlformats.org/drawingml/2006/main">
            <ns180:off x="5994000" y="2673000"/>
            <ns180:ext cx="1" cy="1526400"/>
          </ns180:xfrm>
          <ns181:prstGeom xmlns:ns181="http://schemas.openxmlformats.org/drawingml/2006/main" prst="line">
            <ns181:avLst/>
          </ns181:prstGeom>
          <ns182:ln xmlns:ns182="http://schemas.openxmlformats.org/drawingml/2006/main" w="9525">
            <ns182:solidFill>
              <ns182:srgbClr val="005A9C"/>
            </ns182:solidFill>
          </ns182:ln>
        </p:spPr>
      </p:cxnSp>
      <p:cxnSp>
        <p:nvCxnSpPr>
          <p:cNvPr id="134" name="risk.evidence.converges.target"/>
          <p:cNvCxnSpPr/>
          <p:nvPr/>
        </p:nvCxnSpPr>
        <p:spPr>
          <ns183:xfrm xmlns:ns183="http://schemas.openxmlformats.org/drawingml/2006/main">
            <ns183:off x="5994000" y="3357000"/>
            <ns183:ext cx="133200" cy="1"/>
          </ns183:xfrm>
          <ns184:prstGeom xmlns:ns184="http://schemas.openxmlformats.org/drawingml/2006/main" prst="line">
            <ns184:avLst/>
          </ns184:prstGeom>
          <ns185:ln xmlns:ns185="http://schemas.openxmlformats.org/drawingml/2006/main" w="11430">
            <ns185:solidFill>
              <ns185:srgbClr val="005A9C"/>
            </ns185:solidFill>
            <ns185:tailEnd type="triangle" w="sm" len="sm"/>
          </ns185:ln>
        </p:spPr>
      </p:cxnSp>
    </p:spTree>
    <p:extLst>
      <p:ext uri="{BB962C8B-B14F-4D97-AF65-F5344CB8AC3E}">
        <p14:creationId xmlns:p14="http://schemas.microsoft.com/office/powerpoint/2010/main" val="3894480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Risk analysis at China Universal and Tianhong</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Middle office / Risk analysis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China Universal; Tianhong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005A9C"/>
                </ns58:solidFill>
                <ns58:latin typeface="Arial"/>
                <ns58:ea typeface="Arial"/>
                <ns58:cs typeface="Arial"/>
              </ns58:defRPr>
            </ns58:pPr>
            <ns58:r>
              <ns58:rPr sz="1100" b="1">
                <ns58:solidFill>
                  <ns58:srgbClr val="005A9C"/>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005A9C"/>
            </ns61:solidFill>
          </ns61:ln>
        </p:spPr>
      </p:cxnSp>
      <p:sp>
        <p:nvSpPr>
          <p:cNvPr id="111" name="map.task.review"/>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Content review</ns68:t>
            </ns68:r>
          </ns68:p>
        </p:txBody>
      </p:sp>
      <p:sp>
        <p:nvSpPr>
          <p:cNvPr id="112" name="map.task.focus.risk"/>
          <p:cNvSpPr/>
          <p:nvPr/>
        </p:nvSpPr>
        <p:spPr>
          <ns69:xfrm xmlns:ns69="http://schemas.openxmlformats.org/drawingml/2006/main">
            <ns69:off x="486000" y="3042000"/>
            <ns69:ext cx="1677600" cy="176400"/>
          </ns69:xfrm>
          <ns70:prstGeom xmlns:ns70="http://schemas.openxmlformats.org/drawingml/2006/main" prst="rect">
            <ns70:avLst/>
          </ns70:prstGeom>
          <ns71:solidFill xmlns:ns71="http://schemas.openxmlformats.org/drawingml/2006/main">
            <ns71:srgbClr val="D9EAF7"/>
          </ns71:solidFill>
          <ns72:ln xmlns:ns72="http://schemas.openxmlformats.org/drawingml/2006/main" w="0">
            <ns72:noFill/>
          </ns72:ln>
        </p:spPr>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1">
                <ns79:solidFill>
                  <ns79:srgbClr val="005A9C"/>
                </ns79:solidFill>
                <ns79:latin typeface="Arial"/>
                <ns79:ea typeface="Arial"/>
                <ns79:cs typeface="Arial"/>
              </ns79:defRPr>
            </ns79:pPr>
            <ns79:r>
              <ns79:rPr sz="1050" b="1">
                <ns79:solidFill>
                  <ns79:srgbClr val="005A9C"/>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peer.china.universal"/>
          <p:cNvSpPr/>
          <p:nvPr/>
        </p:nvSpPr>
        <p:spPr>
          <ns111:xfrm xmlns:ns111="http://schemas.openxmlformats.org/drawingml/2006/main">
            <ns111:off x="2422800" y="1458000"/>
            <ns111:ext cx="3067200" cy="216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300" b="0">
                <ns117:solidFill>
                  <ns117:srgbClr val="005A9C"/>
                </ns117:solidFill>
                <ns117:latin typeface="Arial"/>
                <ns117:ea typeface="Arial"/>
                <ns117:cs typeface="Arial"/>
              </ns117:defRPr>
            </ns117:pPr>
            <ns117:r>
              <ns117:rPr sz="1300" b="0">
                <ns117:solidFill>
                  <ns117:srgbClr val="005A9C"/>
                </ns117:solidFill>
                <ns117:latin typeface="Arial"/>
                <ns117:ea typeface="Arial"/>
                <ns117:cs typeface="Arial"/>
              </ns117:rPr>
              <ns117:t>China Universal</ns117:t>
            </ns117:r>
          </ns117:p>
        </p:txBody>
      </p:sp>
      <p:sp>
        <p:nvSpPr>
          <p:cNvPr id="120" name="peer.tianhong"/>
          <p:cNvSpPr/>
          <p:nvPr/>
        </p:nvSpPr>
        <p:spPr>
          <ns118:xfrm xmlns:ns118="http://schemas.openxmlformats.org/drawingml/2006/main">
            <ns118:off x="5850000" y="1458000"/>
            <ns118:ext cx="2836800" cy="216000"/>
          </ns118:xfrm>
          <ns119:prstGeom xmlns:ns119="http://schemas.openxmlformats.org/drawingml/2006/main" prst="rect">
            <ns119:avLst/>
          </ns119:prstGeom>
          <ns120:noFill xmlns:ns120="http://schemas.openxmlformats.org/drawingml/2006/main"/>
          <ns121:ln xmlns:ns121="http://schemas.openxmlformats.org/drawingml/2006/main" w="0">
            <ns121:noFill/>
          </ns121:ln>
        </p:spPr>
        <p:txBody>
          <ns122:bodyPr xmlns:ns122="http://schemas.openxmlformats.org/drawingml/2006/main" wrap="square" lIns="0" rIns="0" tIns="0" bIns="0" anchor="t">
            <ns122:noAutofit/>
          </ns122:bodyPr>
          <ns123:lstStyle xmlns:ns123="http://schemas.openxmlformats.org/drawingml/2006/main"/>
          <ns124:p xmlns:ns124="http://schemas.openxmlformats.org/drawingml/2006/main">
            <ns124:pPr algn="l">
              <ns124:lnSpc>
                <ns124:spcPct val="105000"/>
              </ns124:lnSpc>
              <ns124:defRPr sz="1300" b="0">
                <ns124:solidFill>
                  <ns124:srgbClr val="005A9C"/>
                </ns124:solidFill>
                <ns124:latin typeface="Arial"/>
                <ns124:ea typeface="Arial"/>
                <ns124:cs typeface="Arial"/>
              </ns124:defRPr>
            </ns124:pPr>
            <ns124:r>
              <ns124:rPr sz="1300" b="0">
                <ns124:solidFill>
                  <ns124:srgbClr val="005A9C"/>
                </ns124:solidFill>
                <ns124:latin typeface="Arial"/>
                <ns124:ea typeface="Arial"/>
                <ns124:cs typeface="Arial"/>
              </ns124:rPr>
              <ns124:t>Tianhong</ns124:t>
            </ns124:r>
          </ns124:p>
        </p:txBody>
      </p:sp>
      <p:sp>
        <p:nvSpPr>
          <p:cNvPr id="121" name="input.custodian.alert"/>
          <p:cNvSpPr/>
          <p:nvPr/>
        </p:nvSpPr>
        <p:spPr>
          <ns125:xfrm xmlns:ns125="http://schemas.openxmlformats.org/drawingml/2006/main">
            <ns125:off x="2422800" y="1818000"/>
            <ns125:ext cx="1188000" cy="540000"/>
          </ns125:xfrm>
          <ns126:prstGeom xmlns:ns126="http://schemas.openxmlformats.org/drawingml/2006/main" prst="rect">
            <ns126:avLst/>
          </ns126:prstGeom>
          <ns127:solidFill xmlns:ns127="http://schemas.openxmlformats.org/drawingml/2006/main">
            <ns127:srgbClr val="F3F7FA"/>
          </ns127:solidFill>
          <ns128:ln xmlns:ns128="http://schemas.openxmlformats.org/drawingml/2006/main" w="9525">
            <ns128:solidFill>
              <ns128:srgbClr val="65727D"/>
            </ns128:solidFill>
          </ns128:ln>
        </p:spPr>
        <p:txBody>
          <ns129:bodyPr xmlns:ns129="http://schemas.openxmlformats.org/drawingml/2006/main" wrap="square" lIns="61200" rIns="61200" tIns="61200" bIns="61200" anchor="ctr">
            <ns129:noAutofit/>
          </ns129:bodyPr>
          <ns130:lstStyle xmlns:ns130="http://schemas.openxmlformats.org/drawingml/2006/main"/>
          <ns131:p xmlns:ns131="http://schemas.openxmlformats.org/drawingml/2006/main">
            <ns131:pPr algn="l">
              <ns131:lnSpc>
                <ns131:spcPct val="105000"/>
              </ns131:lnSpc>
              <ns131:defRPr sz="1300" b="1">
                <ns131:solidFill>
                  <ns131:srgbClr val="65727D"/>
                </ns131:solidFill>
                <ns131:latin typeface="Arial"/>
                <ns131:ea typeface="Arial"/>
                <ns131:cs typeface="Arial"/>
              </ns131:defRPr>
            </ns131:pPr>
            <ns131:r>
              <ns131:rPr sz="1300" b="1">
                <ns131:solidFill>
                  <ns131:srgbClr val="65727D"/>
                </ns131:solidFill>
                <ns131:latin typeface="Arial"/>
                <ns131:ea typeface="Arial"/>
                <ns131:cs typeface="Arial"/>
              </ns131:rPr>
              <ns131:t>Custodian alert</ns131:t>
            </ns131:r>
          </ns131:p>
        </p:txBody>
      </p:sp>
      <p:sp>
        <p:nvSpPr>
          <p:cNvPr id="122" name="role.alert.extraction"/>
          <p:cNvSpPr/>
          <p:nvPr/>
        </p:nvSpPr>
        <p:spPr>
          <ns132:xfrm xmlns:ns132="http://schemas.openxmlformats.org/drawingml/2006/main">
            <ns132:off x="3942000" y="1818000"/>
            <ns132:ext cx="1368000" cy="540000"/>
          </ns132:xfrm>
          <ns133:prstGeom xmlns:ns133="http://schemas.openxmlformats.org/drawingml/2006/main" prst="roundRect">
            <ns133:avLst/>
          </ns133:prstGeom>
          <ns134:solidFill xmlns:ns134="http://schemas.openxmlformats.org/drawingml/2006/main">
            <ns134:srgbClr val="EAF3FA"/>
          </ns134:solidFill>
          <ns135:ln xmlns:ns135="http://schemas.openxmlformats.org/drawingml/2006/main" w="9525">
            <ns135:solidFill>
              <ns135:srgbClr val="005A9C"/>
            </ns135:solidFill>
          </ns135:ln>
        </p:spPr>
        <p:txBody>
          <ns136:bodyPr xmlns:ns136="http://schemas.openxmlformats.org/drawingml/2006/main" wrap="square" lIns="61200" rIns="61200" tIns="61200" bIns="61200" anchor="ctr">
            <ns136:noAutofit/>
          </ns136:bodyPr>
          <ns137:lstStyle xmlns:ns137="http://schemas.openxmlformats.org/drawingml/2006/main"/>
          <ns138:p xmlns:ns138="http://schemas.openxmlformats.org/drawingml/2006/main">
            <ns138:pPr algn="l">
              <ns138:lnSpc>
                <ns138:spcPct val="105000"/>
              </ns138:lnSpc>
              <ns138:defRPr sz="1300" b="1">
                <ns138:solidFill>
                  <ns138:srgbClr val="005A9C"/>
                </ns138:solidFill>
                <ns138:latin typeface="Arial"/>
                <ns138:ea typeface="Arial"/>
                <ns138:cs typeface="Arial"/>
              </ns138:defRPr>
            </ns138:pPr>
            <ns138:r>
              <ns138:rPr sz="1300" b="1">
                <ns138:solidFill>
                  <ns138:srgbClr val="005A9C"/>
                </ns138:solidFill>
                <ns138:latin typeface="Arial"/>
                <ns138:ea typeface="Arial"/>
                <ns138:cs typeface="Arial"/>
              </ns138:rPr>
              <ns138:t>LLM</ns138:t>
            </ns138:r>
          </ns138:p>
          <ns139:p xmlns:ns139="http://schemas.openxmlformats.org/drawingml/2006/main">
            <ns139:pPr algn="l">
              <ns139:lnSpc>
                <ns139:spcPct val="105000"/>
              </ns139:lnSpc>
              <ns139:defRPr sz="1050" b="0">
                <ns139:solidFill>
                  <ns139:srgbClr val="20262C"/>
                </ns139:solidFill>
                <ns139:latin typeface="Arial"/>
                <ns139:ea typeface="Arial"/>
                <ns139:cs typeface="Arial"/>
              </ns139:defRPr>
            </ns139:pPr>
            <ns139:r>
              <ns139:rPr sz="1050" b="0">
                <ns139:solidFill>
                  <ns139:srgbClr val="20262C"/>
                </ns139:solidFill>
                <ns139:latin typeface="Arial"/>
                <ns139:ea typeface="Arial"/>
                <ns139:cs typeface="Arial"/>
              </ns139:rPr>
              <ns139:t>Extract / route</ns139:t>
            </ns139:r>
          </ns139:p>
        </p:txBody>
      </p:sp>
      <p:cxnSp>
        <p:nvCxnSpPr>
          <p:cNvPr id="123" name="custodian.to.extraction"/>
          <p:cNvCxnSpPr/>
          <p:nvPr/>
        </p:nvCxnSpPr>
        <p:spPr>
          <ns140:xfrm xmlns:ns140="http://schemas.openxmlformats.org/drawingml/2006/main">
            <ns140:off x="3646800" y="2088000"/>
            <ns140:ext cx="259200" cy="1"/>
          </ns140:xfrm>
          <ns141:prstGeom xmlns:ns141="http://schemas.openxmlformats.org/drawingml/2006/main" prst="line">
            <ns141:avLst/>
          </ns141:prstGeom>
          <ns142:ln xmlns:ns142="http://schemas.openxmlformats.org/drawingml/2006/main" w="11430">
            <ns142:solidFill>
              <ns142:srgbClr val="005A9C"/>
            </ns142:solidFill>
            <ns142:tailEnd type="triangle" w="sm" len="sm"/>
          </ns142:ln>
        </p:spPr>
      </p:cxnSp>
      <p:sp>
        <p:nvSpPr>
          <p:cNvPr id="124" name="output.risk.workspace"/>
          <p:cNvSpPr/>
          <p:nvPr/>
        </p:nvSpPr>
        <p:spPr>
          <ns143:xfrm xmlns:ns143="http://schemas.openxmlformats.org/drawingml/2006/main">
            <ns143:off x="2422800" y="2556000"/>
            <ns143:ext cx="2887200" cy="342000"/>
          </ns143:xfrm>
          <ns144:prstGeom xmlns:ns144="http://schemas.openxmlformats.org/drawingml/2006/main" prst="rect">
            <ns144:avLst/>
          </ns144:prstGeom>
          <ns145:solidFill xmlns:ns145="http://schemas.openxmlformats.org/drawingml/2006/main">
            <ns145:srgbClr val="F3F7FA"/>
          </ns145:solidFill>
          <ns146:ln xmlns:ns146="http://schemas.openxmlformats.org/drawingml/2006/main" w="9525">
            <ns146:solidFill>
              <ns146:srgbClr val="65727D"/>
            </ns146:solidFill>
          </ns146:ln>
        </p:spPr>
        <p:txBody>
          <ns147:bodyPr xmlns:ns147="http://schemas.openxmlformats.org/drawingml/2006/main" wrap="square" lIns="61200" rIns="61200" tIns="61200" bIns="61200" anchor="ctr">
            <ns147:noAutofit/>
          </ns147:bodyPr>
          <ns148:lstStyle xmlns:ns148="http://schemas.openxmlformats.org/drawingml/2006/main"/>
          <ns149:p xmlns:ns149="http://schemas.openxmlformats.org/drawingml/2006/main">
            <ns149:pPr algn="l">
              <ns149:lnSpc>
                <ns149:spcPct val="105000"/>
              </ns149:lnSpc>
              <ns149:defRPr sz="1300" b="1">
                <ns149:solidFill>
                  <ns149:srgbClr val="65727D"/>
                </ns149:solidFill>
                <ns149:latin typeface="Arial"/>
                <ns149:ea typeface="Arial"/>
                <ns149:cs typeface="Arial"/>
              </ns149:defRPr>
            </ns149:pPr>
            <ns149:r>
              <ns149:rPr sz="1300" b="1">
                <ns149:solidFill>
                  <ns149:srgbClr val="65727D"/>
                </ns149:solidFill>
                <ns149:latin typeface="Arial"/>
                <ns149:ea typeface="Arial"/>
                <ns149:cs typeface="Arial"/>
              </ns149:rPr>
              <ns149:t>Risk workspace</ns149:t>
            </ns149:r>
          </ns149:p>
        </p:txBody>
      </p:sp>
      <p:cxnSp>
        <p:nvCxnSpPr>
          <p:cNvPr id="125" name="alert.to.workspace"/>
          <p:cNvCxnSpPr/>
          <p:nvPr/>
        </p:nvCxnSpPr>
        <p:spPr>
          <ns150:xfrm xmlns:ns150="http://schemas.openxmlformats.org/drawingml/2006/main">
            <ns150:off x="4626000" y="2394000"/>
            <ns150:ext cx="1" cy="126000"/>
          </ns150:xfrm>
          <ns151:prstGeom xmlns:ns151="http://schemas.openxmlformats.org/drawingml/2006/main" prst="line">
            <ns151:avLst/>
          </ns151:prstGeom>
          <ns152:ln xmlns:ns152="http://schemas.openxmlformats.org/drawingml/2006/main" w="11430">
            <ns152:solidFill>
              <ns152:srgbClr val="005A9C"/>
            </ns152:solidFill>
            <ns152:tailEnd type="triangle" w="sm" len="sm"/>
          </ns152:ln>
        </p:spPr>
      </p:cxnSp>
      <p:sp>
        <p:nvSpPr>
          <p:cNvPr id="126" name="input.rule.sources.paper"/>
          <p:cNvSpPr/>
          <p:nvPr/>
        </p:nvSpPr>
        <p:spPr>
          <ns153:xfrm xmlns:ns153="http://schemas.openxmlformats.org/drawingml/2006/main">
            <ns153:off x="2422800" y="3132000"/>
            <ns153:ext cx="1188000" cy="792000"/>
          </ns153:xfrm>
          <ns154:prstGeom xmlns:ns154="http://schemas.openxmlformats.org/drawingml/2006/main" prst="foldedCorner">
            <ns154:avLst/>
          </ns154:prstGeom>
          <ns155:solidFill xmlns:ns155="http://schemas.openxmlformats.org/drawingml/2006/main">
            <ns155:srgbClr val="FFFFFF"/>
          </ns155:solidFill>
          <ns156:ln xmlns:ns156="http://schemas.openxmlformats.org/drawingml/2006/main" w="9525">
            <ns156:solidFill>
              <ns156:srgbClr val="65727D"/>
            </ns156:solidFill>
          </ns156:ln>
        </p:spPr>
      </p:sp>
      <p:sp>
        <p:nvSpPr>
          <p:cNvPr id="127" name="input.rule.sources.title"/>
          <p:cNvSpPr/>
          <p:nvPr/>
        </p:nvSpPr>
        <p:spPr>
          <ns157:xfrm xmlns:ns157="http://schemas.openxmlformats.org/drawingml/2006/main">
            <ns157:off x="2487600" y="3175200"/>
            <ns157:ext cx="990000" cy="198000"/>
          </ns157:xfrm>
          <ns158:prstGeom xmlns:ns158="http://schemas.openxmlformats.org/drawingml/2006/main" prst="rect">
            <ns158:avLst/>
          </ns158:prstGeom>
          <ns159:noFill xmlns:ns159="http://schemas.openxmlformats.org/drawingml/2006/main"/>
          <ns160:ln xmlns:ns160="http://schemas.openxmlformats.org/drawingml/2006/main" w="0">
            <ns160:noFill/>
          </ns160:ln>
        </p:spPr>
        <p:txBody>
          <ns161:bodyPr xmlns:ns161="http://schemas.openxmlformats.org/drawingml/2006/main" wrap="square" lIns="0" rIns="0" tIns="0" bIns="0" anchor="t">
            <ns161:noAutofit/>
          </ns161:bodyPr>
          <ns162:lstStyle xmlns:ns162="http://schemas.openxmlformats.org/drawingml/2006/main"/>
          <ns163:p xmlns:ns163="http://schemas.openxmlformats.org/drawingml/2006/main">
            <ns163:pPr algn="l">
              <ns163:lnSpc>
                <ns163:spcPct val="105000"/>
              </ns163:lnSpc>
              <ns163:defRPr sz="1250" b="1">
                <ns163:solidFill>
                  <ns163:srgbClr val="65727D"/>
                </ns163:solidFill>
                <ns163:latin typeface="Arial"/>
                <ns163:ea typeface="Arial"/>
                <ns163:cs typeface="Arial"/>
              </ns163:defRPr>
            </ns163:pPr>
            <ns163:r>
              <ns163:rPr sz="1250" b="1">
                <ns163:solidFill>
                  <ns163:srgbClr val="65727D"/>
                </ns163:solidFill>
                <ns163:latin typeface="Arial"/>
                <ns163:ea typeface="Arial"/>
                <ns163:cs typeface="Arial"/>
              </ns163:rPr>
              <ns163:t>Sources</ns163:t>
            </ns163:r>
          </ns163:p>
        </p:txBody>
      </p:sp>
      <p:sp>
        <p:nvSpPr>
          <p:cNvPr id="128" name="input.rule.sources.content"/>
          <p:cNvSpPr/>
          <p:nvPr/>
        </p:nvSpPr>
        <p:spPr>
          <ns164:xfrm xmlns:ns164="http://schemas.openxmlformats.org/drawingml/2006/main">
            <ns164:off x="2487600" y="3391200"/>
            <ns164:ext cx="1058400" cy="482400"/>
          </ns164:xfrm>
          <ns165:prstGeom xmlns:ns165="http://schemas.openxmlformats.org/drawingml/2006/main" prst="rect">
            <ns165:avLst/>
          </ns165:prstGeom>
          <ns166:noFill xmlns:ns166="http://schemas.openxmlformats.org/drawingml/2006/main"/>
          <ns167:ln xmlns:ns167="http://schemas.openxmlformats.org/drawingml/2006/main" w="0">
            <ns167:noFill/>
          </ns167:ln>
        </p:spPr>
        <p:txBody>
          <ns168:bodyPr xmlns:ns168="http://schemas.openxmlformats.org/drawingml/2006/main" wrap="square" lIns="0" rIns="0" tIns="0" bIns="0" anchor="t">
            <ns168:noAutofit/>
          </ns168:bodyPr>
          <ns169:lstStyle xmlns:ns169="http://schemas.openxmlformats.org/drawingml/2006/main"/>
          <ns170:p xmlns:ns170="http://schemas.openxmlformats.org/drawingml/2006/main">
            <ns170:pPr algn="l">
              <ns170:lnSpc>
                <ns170:spcPct val="100000"/>
              </ns170:lnSpc>
              <ns170:defRPr sz="1050" b="0">
                <ns170:solidFill>
                  <ns170:srgbClr val="20262C"/>
                </ns170:solidFill>
                <ns170:latin typeface="Arial"/>
                <ns170:ea typeface="Arial"/>
                <ns170:cs typeface="Arial"/>
              </ns170:defRPr>
            </ns170:pPr>
            <ns170:r>
              <ns170:rPr sz="1050" b="0">
                <ns170:solidFill>
                  <ns170:srgbClr val="20262C"/>
                </ns170:solidFill>
                <ns170:latin typeface="Arial"/>
                <ns170:ea typeface="Arial"/>
                <ns170:cs typeface="Arial"/>
              </ns170:rPr>
              <ns170:t>Regulations</ns170:t>
            </ns170:r>
          </ns170:p>
          <ns171:p xmlns:ns171="http://schemas.openxmlformats.org/drawingml/2006/main">
            <ns171:pPr algn="l">
              <ns171:lnSpc>
                <ns171:spcPct val="100000"/>
              </ns171:lnSpc>
              <ns171:defRPr sz="1050" b="0">
                <ns171:solidFill>
                  <ns171:srgbClr val="20262C"/>
                </ns171:solidFill>
                <ns171:latin typeface="Arial"/>
                <ns171:ea typeface="Arial"/>
                <ns171:cs typeface="Arial"/>
              </ns171:defRPr>
            </ns171:pPr>
            <ns171:r>
              <ns171:rPr sz="1050" b="0">
                <ns171:solidFill>
                  <ns171:srgbClr val="20262C"/>
                </ns171:solidFill>
                <ns171:latin typeface="Arial"/>
                <ns171:ea typeface="Arial"/>
                <ns171:cs typeface="Arial"/>
              </ns171:rPr>
              <ns171:t>Controls</ns171:t>
            </ns171:r>
          </ns171:p>
          <ns172:p xmlns:ns172="http://schemas.openxmlformats.org/drawingml/2006/main">
            <ns172:pPr algn="l">
              <ns172:lnSpc>
                <ns172:spcPct val="100000"/>
              </ns172:lnSpc>
              <ns172:defRPr sz="1050" b="0">
                <ns172:solidFill>
                  <ns172:srgbClr val="20262C"/>
                </ns172:solidFill>
                <ns172:latin typeface="Arial"/>
                <ns172:ea typeface="Arial"/>
                <ns172:cs typeface="Arial"/>
              </ns172:defRPr>
            </ns172:pPr>
            <ns172:r>
              <ns172:rPr sz="1050" b="0">
                <ns172:solidFill>
                  <ns172:srgbClr val="20262C"/>
                </ns172:solidFill>
                <ns172:latin typeface="Arial"/>
                <ns172:ea typeface="Arial"/>
                <ns172:cs typeface="Arial"/>
              </ns172:rPr>
              <ns172:t>Contracts</ns172:t>
            </ns172:r>
          </ns172:p>
        </p:txBody>
      </p:sp>
      <p:sp>
        <p:nvSpPr>
          <p:cNvPr id="129" name="tool.rule.links"/>
          <p:cNvSpPr/>
          <p:nvPr/>
        </p:nvSpPr>
        <p:spPr>
          <ns173:xfrm xmlns:ns173="http://schemas.openxmlformats.org/drawingml/2006/main">
            <ns173:off x="3942000" y="3132000"/>
            <ns173:ext cx="1368000" cy="684000"/>
          </ns173:xfrm>
          <ns174:prstGeom xmlns:ns174="http://schemas.openxmlformats.org/drawingml/2006/main" prst="roundRect">
            <ns174:avLst/>
          </ns174:prstGeom>
          <ns175:solidFill xmlns:ns175="http://schemas.openxmlformats.org/drawingml/2006/main">
            <ns175:srgbClr val="F3F7FA"/>
          </ns175:solidFill>
          <ns176:ln xmlns:ns176="http://schemas.openxmlformats.org/drawingml/2006/main" w="9525">
            <ns176:solidFill>
              <ns176:srgbClr val="65727D"/>
            </ns176:solidFill>
          </ns176:ln>
        </p:spPr>
        <p:txBody>
          <ns177:bodyPr xmlns:ns177="http://schemas.openxmlformats.org/drawingml/2006/main" wrap="square" lIns="61200" rIns="61200" tIns="61200" bIns="61200" anchor="ctr">
            <ns177:noAutofit/>
          </ns177:bodyPr>
          <ns178:lstStyle xmlns:ns178="http://schemas.openxmlformats.org/drawingml/2006/main"/>
          <ns179:p xmlns:ns179="http://schemas.openxmlformats.org/drawingml/2006/main">
            <ns179:pPr algn="l">
              <ns179:lnSpc>
                <ns179:spcPct val="105000"/>
              </ns179:lnSpc>
              <ns179:defRPr sz="1300" b="1">
                <ns179:solidFill>
                  <ns179:srgbClr val="65727D"/>
                </ns179:solidFill>
                <ns179:latin typeface="Arial"/>
                <ns179:ea typeface="Arial"/>
                <ns179:cs typeface="Arial"/>
              </ns179:defRPr>
            </ns179:pPr>
            <ns179:r>
              <ns179:rPr sz="1300" b="1">
                <ns179:solidFill>
                  <ns179:srgbClr val="65727D"/>
                </ns179:solidFill>
                <ns179:latin typeface="Arial"/>
                <ns179:ea typeface="Arial"/>
                <ns179:cs typeface="Arial"/>
              </ns179:rPr>
              <ns179:t>System</ns179:t>
            </ns179:r>
          </ns179:p>
          <ns180:p xmlns:ns180="http://schemas.openxmlformats.org/drawingml/2006/main">
            <ns180:pPr algn="l">
              <ns180:lnSpc>
                <ns180:spcPct val="105000"/>
              </ns180:lnSpc>
              <ns180:defRPr sz="1050" b="0">
                <ns180:solidFill>
                  <ns180:srgbClr val="20262C"/>
                </ns180:solidFill>
                <ns180:latin typeface="Arial"/>
                <ns180:ea typeface="Arial"/>
                <ns180:cs typeface="Arial"/>
              </ns180:defRPr>
            </ns180:pPr>
            <ns180:r>
              <ns180:rPr sz="1050" b="0">
                <ns180:solidFill>
                  <ns180:srgbClr val="20262C"/>
                </ns180:solidFill>
                <ns180:latin typeface="Arial"/>
                <ns180:ea typeface="Arial"/>
                <ns180:cs typeface="Arial"/>
              </ns180:rPr>
              <ns180:t>Link rules to source</ns180:t>
            </ns180:r>
          </ns180:p>
        </p:txBody>
      </p:sp>
      <p:cxnSp>
        <p:nvCxnSpPr>
          <p:cNvPr id="130" name="source.rule.links"/>
          <p:cNvCxnSpPr/>
          <p:nvPr/>
        </p:nvCxnSpPr>
        <p:spPr>
          <ns181:xfrm xmlns:ns181="http://schemas.openxmlformats.org/drawingml/2006/main">
            <ns181:off x="3646800" y="3474000"/>
            <ns181:ext cx="259200" cy="1"/>
          </ns181:xfrm>
          <ns182:prstGeom xmlns:ns182="http://schemas.openxmlformats.org/drawingml/2006/main" prst="line">
            <ns182:avLst/>
          </ns182:prstGeom>
          <ns183:ln xmlns:ns183="http://schemas.openxmlformats.org/drawingml/2006/main" w="11430">
            <ns183:solidFill>
              <ns183:srgbClr val="005A9C"/>
            </ns183:solidFill>
            <ns183:tailEnd type="triangle" w="sm" len="sm"/>
          </ns183:ln>
        </p:spPr>
      </p:cxnSp>
      <p:sp>
        <p:nvSpPr>
          <p:cNvPr id="131" name="output.rule.explanation"/>
          <p:cNvSpPr/>
          <p:nvPr/>
        </p:nvSpPr>
        <p:spPr>
          <ns184:xfrm xmlns:ns184="http://schemas.openxmlformats.org/drawingml/2006/main">
            <ns184:off x="2422800" y="3978000"/>
            <ns184:ext cx="2887200" cy="522000"/>
          </ns184:xfrm>
          <ns185:prstGeom xmlns:ns185="http://schemas.openxmlformats.org/drawingml/2006/main" prst="roundRect">
            <ns185:avLst/>
          </ns185:prstGeom>
          <ns186:solidFill xmlns:ns186="http://schemas.openxmlformats.org/drawingml/2006/main">
            <ns186:srgbClr val="EAF3FA"/>
          </ns186:solidFill>
          <ns187:ln xmlns:ns187="http://schemas.openxmlformats.org/drawingml/2006/main" w="9525">
            <ns187:solidFill>
              <ns187:srgbClr val="005A9C"/>
            </ns187:solidFill>
          </ns187:ln>
        </p:spPr>
        <p:txBody>
          <ns188:bodyPr xmlns:ns188="http://schemas.openxmlformats.org/drawingml/2006/main" wrap="square" lIns="61200" rIns="61200" tIns="61200" bIns="61200" anchor="ctr">
            <ns188:noAutofit/>
          </ns188:bodyPr>
          <ns189:lstStyle xmlns:ns189="http://schemas.openxmlformats.org/drawingml/2006/main"/>
          <ns190:p xmlns:ns190="http://schemas.openxmlformats.org/drawingml/2006/main">
            <ns190:pPr algn="l">
              <ns190:lnSpc>
                <ns190:spcPct val="105000"/>
              </ns190:lnSpc>
              <ns190:defRPr sz="1300" b="1">
                <ns190:solidFill>
                  <ns190:srgbClr val="005A9C"/>
                </ns190:solidFill>
                <ns190:latin typeface="Arial"/>
                <ns190:ea typeface="Arial"/>
                <ns190:cs typeface="Arial"/>
              </ns190:defRPr>
            </ns190:pPr>
            <ns190:r>
              <ns190:rPr sz="1300" b="1">
                <ns190:solidFill>
                  <ns190:srgbClr val="005A9C"/>
                </ns190:solidFill>
                <ns190:latin typeface="Arial"/>
                <ns190:ea typeface="Arial"/>
                <ns190:cs typeface="Arial"/>
              </ns190:rPr>
              <ns190:t>LLM trigger explanation</ns190:t>
            </ns190:r>
          </ns190:p>
          <ns191:p xmlns:ns191="http://schemas.openxmlformats.org/drawingml/2006/main">
            <ns191:pPr algn="l">
              <ns191:lnSpc>
                <ns191:spcPct val="105000"/>
              </ns191:lnSpc>
              <ns191:defRPr sz="1050" b="0">
                <ns191:solidFill>
                  <ns191:srgbClr val="20262C"/>
                </ns191:solidFill>
                <ns191:latin typeface="Arial"/>
                <ns191:ea typeface="Arial"/>
                <ns191:cs typeface="Arial"/>
              </ns191:defRPr>
            </ns191:pPr>
            <ns191:r>
              <ns191:rPr sz="1050" b="0">
                <ns191:solidFill>
                  <ns191:srgbClr val="20262C"/>
                </ns191:solidFill>
                <ns191:latin typeface="Arial"/>
                <ns191:ea typeface="Arial"/>
                <ns191:cs typeface="Arial"/>
              </ns191:rPr>
              <ns191:t>Source basis</ns191:t>
            </ns191:r>
          </ns191:p>
        </p:txBody>
      </p:sp>
      <p:cxnSp>
        <p:nvCxnSpPr>
          <p:cNvPr id="132" name="rule.link.explanation"/>
          <p:cNvCxnSpPr/>
          <p:nvPr/>
        </p:nvCxnSpPr>
        <p:spPr>
          <ns192:xfrm xmlns:ns192="http://schemas.openxmlformats.org/drawingml/2006/main">
            <ns192:off x="4626000" y="3852000"/>
            <ns192:ext cx="1" cy="90000"/>
          </ns192:xfrm>
          <ns193:prstGeom xmlns:ns193="http://schemas.openxmlformats.org/drawingml/2006/main" prst="line">
            <ns193:avLst/>
          </ns193:prstGeom>
          <ns194:ln xmlns:ns194="http://schemas.openxmlformats.org/drawingml/2006/main" w="11430">
            <ns194:solidFill>
              <ns194:srgbClr val="005A9C"/>
            </ns194:solidFill>
            <ns194:tailEnd type="triangle" w="sm" len="sm"/>
          </ns194:ln>
        </p:spPr>
      </p:cxnSp>
      <p:sp>
        <p:nvSpPr>
          <p:cNvPr id="133" name="input.event.cases.paper"/>
          <p:cNvSpPr/>
          <p:nvPr/>
        </p:nvSpPr>
        <p:spPr>
          <ns195:xfrm xmlns:ns195="http://schemas.openxmlformats.org/drawingml/2006/main">
            <ns195:off x="5850000" y="1818000"/>
            <ns195:ext cx="2836800" cy="756000"/>
          </ns195:xfrm>
          <ns196:prstGeom xmlns:ns196="http://schemas.openxmlformats.org/drawingml/2006/main" prst="foldedCorner">
            <ns196:avLst/>
          </ns196:prstGeom>
          <ns197:solidFill xmlns:ns197="http://schemas.openxmlformats.org/drawingml/2006/main">
            <ns197:srgbClr val="FFFFFF"/>
          </ns197:solidFill>
          <ns198:ln xmlns:ns198="http://schemas.openxmlformats.org/drawingml/2006/main" w="9525">
            <ns198:solidFill>
              <ns198:srgbClr val="65727D"/>
            </ns198:solidFill>
          </ns198:ln>
        </p:spPr>
      </p:sp>
      <p:sp>
        <p:nvSpPr>
          <p:cNvPr id="134" name="input.event.cases.title"/>
          <p:cNvSpPr/>
          <p:nvPr/>
        </p:nvSpPr>
        <p:spPr>
          <ns199:xfrm xmlns:ns199="http://schemas.openxmlformats.org/drawingml/2006/main">
            <ns199:off x="5914800" y="1861200"/>
            <ns199:ext cx="2638800" cy="198000"/>
          </ns199:xfrm>
          <ns200:prstGeom xmlns:ns200="http://schemas.openxmlformats.org/drawingml/2006/main" prst="rect">
            <ns200:avLst/>
          </ns200:prstGeom>
          <ns201:noFill xmlns:ns201="http://schemas.openxmlformats.org/drawingml/2006/main"/>
          <ns202:ln xmlns:ns202="http://schemas.openxmlformats.org/drawingml/2006/main" w="0">
            <ns202:noFill/>
          </ns202:ln>
        </p:spPr>
        <p:txBody>
          <ns203:bodyPr xmlns:ns203="http://schemas.openxmlformats.org/drawingml/2006/main" wrap="square" lIns="0" rIns="0" tIns="0" bIns="0" anchor="t">
            <ns203:noAutofit/>
          </ns203:bodyPr>
          <ns204:lstStyle xmlns:ns204="http://schemas.openxmlformats.org/drawingml/2006/main"/>
          <ns205:p xmlns:ns205="http://schemas.openxmlformats.org/drawingml/2006/main">
            <ns205:pPr algn="l">
              <ns205:lnSpc>
                <ns205:spcPct val="105000"/>
              </ns205:lnSpc>
              <ns205:defRPr sz="1250" b="1">
                <ns205:solidFill>
                  <ns205:srgbClr val="65727D"/>
                </ns205:solidFill>
                <ns205:latin typeface="Arial"/>
                <ns205:ea typeface="Arial"/>
                <ns205:cs typeface="Arial"/>
              </ns205:defRPr>
            </ns205:pPr>
            <ns205:r>
              <ns205:rPr sz="1250" b="1">
                <ns205:solidFill>
                  <ns205:srgbClr val="65727D"/>
                </ns205:solidFill>
                <ns205:latin typeface="Arial"/>
                <ns205:ea typeface="Arial"/>
                <ns205:cs typeface="Arial"/>
              </ns205:rPr>
              <ns205:t>Event / past cases</ns205:t>
            </ns205:r>
          </ns205:p>
        </p:txBody>
      </p:sp>
      <p:sp>
        <p:nvSpPr>
          <p:cNvPr id="135" name="input.event.cases.content"/>
          <p:cNvSpPr/>
          <p:nvPr/>
        </p:nvSpPr>
        <p:spPr>
          <ns206:xfrm xmlns:ns206="http://schemas.openxmlformats.org/drawingml/2006/main">
            <ns206:off x="5914800" y="2077200"/>
            <ns206:ext cx="2707200" cy="446400"/>
          </ns206:xfrm>
          <ns207:prstGeom xmlns:ns207="http://schemas.openxmlformats.org/drawingml/2006/main" prst="rect">
            <ns207:avLst/>
          </ns207:prstGeom>
          <ns208:noFill xmlns:ns208="http://schemas.openxmlformats.org/drawingml/2006/main"/>
          <ns209:ln xmlns:ns209="http://schemas.openxmlformats.org/drawingml/2006/main" w="0">
            <ns209:noFill/>
          </ns209:ln>
        </p:spPr>
        <p:txBody>
          <ns210:bodyPr xmlns:ns210="http://schemas.openxmlformats.org/drawingml/2006/main" wrap="square" lIns="0" rIns="0" tIns="0" bIns="0" anchor="t">
            <ns210:noAutofit/>
          </ns210:bodyPr>
          <ns211:lstStyle xmlns:ns211="http://schemas.openxmlformats.org/drawingml/2006/main"/>
          <ns212:p xmlns:ns212="http://schemas.openxmlformats.org/drawingml/2006/main">
            <ns212:pPr algn="l">
              <ns212:lnSpc>
                <ns212:spcPct val="100000"/>
              </ns212:lnSpc>
              <ns212:defRPr sz="1150" b="0">
                <ns212:solidFill>
                  <ns212:srgbClr val="20262C"/>
                </ns212:solidFill>
                <ns212:latin typeface="Arial"/>
                <ns212:ea typeface="Arial"/>
                <ns212:cs typeface="Arial"/>
              </ns212:defRPr>
            </ns212:pPr>
            <ns212:r>
              <ns212:rPr sz="1150" b="0">
                <ns212:solidFill>
                  <ns212:srgbClr val="20262C"/>
                </ns212:solidFill>
                <ns212:latin typeface="Arial"/>
                <ns212:ea typeface="Arial"/>
                <ns212:cs typeface="Arial"/>
              </ns212:rPr>
              <ns212:t>Event details</ns212:t>
            </ns212:r>
          </ns212:p>
          <ns213:p xmlns:ns213="http://schemas.openxmlformats.org/drawingml/2006/main">
            <ns213:pPr algn="l">
              <ns213:lnSpc>
                <ns213:spcPct val="100000"/>
              </ns213:lnSpc>
              <ns213:defRPr sz="1150" b="0">
                <ns213:solidFill>
                  <ns213:srgbClr val="20262C"/>
                </ns213:solidFill>
                <ns213:latin typeface="Arial"/>
                <ns213:ea typeface="Arial"/>
                <ns213:cs typeface="Arial"/>
              </ns213:defRPr>
            </ns213:pPr>
            <ns213:r>
              <ns213:rPr sz="1150" b="0">
                <ns213:solidFill>
                  <ns213:srgbClr val="20262C"/>
                </ns213:solidFill>
                <ns213:latin typeface="Arial"/>
                <ns213:ea typeface="Arial"/>
                <ns213:cs typeface="Arial"/>
              </ns213:rPr>
              <ns213:t>Comparable events</ns213:t>
            </ns213:r>
          </ns213:p>
        </p:txBody>
      </p:sp>
      <p:sp>
        <p:nvSpPr>
          <p:cNvPr id="136" name="role.event.assessment"/>
          <p:cNvSpPr/>
          <p:nvPr/>
        </p:nvSpPr>
        <p:spPr>
          <ns214:xfrm xmlns:ns214="http://schemas.openxmlformats.org/drawingml/2006/main">
            <ns214:off x="5850000" y="2826000"/>
            <ns214:ext cx="2836800" cy="756000"/>
          </ns214:xfrm>
          <ns215:prstGeom xmlns:ns215="http://schemas.openxmlformats.org/drawingml/2006/main" prst="roundRect">
            <ns215:avLst/>
          </ns215:prstGeom>
          <ns216:solidFill xmlns:ns216="http://schemas.openxmlformats.org/drawingml/2006/main">
            <ns216:srgbClr val="EAF3FA"/>
          </ns216:solidFill>
          <ns217:ln xmlns:ns217="http://schemas.openxmlformats.org/drawingml/2006/main" w="9525">
            <ns217:solidFill>
              <ns217:srgbClr val="005A9C"/>
            </ns217:solidFill>
          </ns217:ln>
        </p:spPr>
        <p:txBody>
          <ns218:bodyPr xmlns:ns218="http://schemas.openxmlformats.org/drawingml/2006/main" wrap="square" lIns="61200" rIns="61200" tIns="61200" bIns="61200" anchor="ctr">
            <ns218:noAutofit/>
          </ns218:bodyPr>
          <ns219:lstStyle xmlns:ns219="http://schemas.openxmlformats.org/drawingml/2006/main"/>
          <ns220:p xmlns:ns220="http://schemas.openxmlformats.org/drawingml/2006/main">
            <ns220:pPr algn="l">
              <ns220:lnSpc>
                <ns220:spcPct val="105000"/>
              </ns220:lnSpc>
              <ns220:defRPr sz="1300" b="1">
                <ns220:solidFill>
                  <ns220:srgbClr val="005A9C"/>
                </ns220:solidFill>
                <ns220:latin typeface="Arial"/>
                <ns220:ea typeface="Arial"/>
                <ns220:cs typeface="Arial"/>
              </ns220:defRPr>
            </ns220:pPr>
            <ns220:r>
              <ns220:rPr sz="1300" b="1">
                <ns220:solidFill>
                  <ns220:srgbClr val="005A9C"/>
                </ns220:solidFill>
                <ns220:latin typeface="Arial"/>
                <ns220:ea typeface="Arial"/>
                <ns220:cs typeface="Arial"/>
              </ns220:rPr>
              <ns220:t>LLM assessment</ns220:t>
            </ns220:r>
          </ns220:p>
          <ns221:p xmlns:ns221="http://schemas.openxmlformats.org/drawingml/2006/main">
            <ns221:pPr algn="l">
              <ns221:lnSpc>
                <ns221:spcPct val="105000"/>
              </ns221:lnSpc>
              <ns221:defRPr sz="1150" b="0">
                <ns221:solidFill>
                  <ns221:srgbClr val="20262C"/>
                </ns221:solidFill>
                <ns221:latin typeface="Arial"/>
                <ns221:ea typeface="Arial"/>
                <ns221:cs typeface="Arial"/>
              </ns221:defRPr>
            </ns221:pPr>
            <ns221:r>
              <ns221:rPr sz="1150" b="0">
                <ns221:solidFill>
                  <ns221:srgbClr val="20262C"/>
                </ns221:solidFill>
                <ns221:latin typeface="Arial"/>
                <ns221:ea typeface="Arial"/>
                <ns221:cs typeface="Arial"/>
              </ns221:rPr>
              <ns221:t>Compare cases</ns221:t>
            </ns221:r>
          </ns221:p>
          <ns222:p xmlns:ns222="http://schemas.openxmlformats.org/drawingml/2006/main">
            <ns222:pPr algn="l">
              <ns222:lnSpc>
                <ns222:spcPct val="105000"/>
              </ns222:lnSpc>
              <ns222:defRPr sz="1150" b="0">
                <ns222:solidFill>
                  <ns222:srgbClr val="20262C"/>
                </ns222:solidFill>
                <ns222:latin typeface="Arial"/>
                <ns222:ea typeface="Arial"/>
                <ns222:cs typeface="Arial"/>
              </ns222:defRPr>
            </ns222:pPr>
            <ns222:r>
              <ns222:rPr sz="1150" b="0">
                <ns222:solidFill>
                  <ns222:srgbClr val="20262C"/>
                </ns222:solidFill>
                <ns222:latin typeface="Arial"/>
                <ns222:ea typeface="Arial"/>
                <ns222:cs typeface="Arial"/>
              </ns222:rPr>
              <ns222:t>Outline impact / follow-up</ns222:t>
            </ns222:r>
          </ns222:p>
        </p:txBody>
      </p:sp>
      <p:cxnSp>
        <p:nvCxnSpPr>
          <p:cNvPr id="137" name="events.to.assessment"/>
          <p:cNvCxnSpPr/>
          <p:nvPr/>
        </p:nvCxnSpPr>
        <p:spPr>
          <ns223:xfrm xmlns:ns223="http://schemas.openxmlformats.org/drawingml/2006/main">
            <ns223:off x="7268400" y="2610000"/>
            <ns223:ext cx="1" cy="180000"/>
          </ns223:xfrm>
          <ns224:prstGeom xmlns:ns224="http://schemas.openxmlformats.org/drawingml/2006/main" prst="line">
            <ns224:avLst/>
          </ns224:prstGeom>
          <ns225:ln xmlns:ns225="http://schemas.openxmlformats.org/drawingml/2006/main" w="11430">
            <ns225:solidFill>
              <ns225:srgbClr val="005A9C"/>
            </ns225:solidFill>
            <ns225:tailEnd type="triangle" w="sm" len="sm"/>
          </ns225:ln>
        </p:spPr>
      </p:cxnSp>
      <p:sp>
        <p:nvSpPr>
          <p:cNvPr id="138" name="human.event.discussion"/>
          <p:cNvSpPr/>
          <p:nvPr/>
        </p:nvSpPr>
        <p:spPr>
          <ns226:xfrm xmlns:ns226="http://schemas.openxmlformats.org/drawingml/2006/main">
            <ns226:off x="5850000" y="3834000"/>
            <ns226:ext cx="2836800" cy="648000"/>
          </ns226:xfrm>
          <ns227:prstGeom xmlns:ns227="http://schemas.openxmlformats.org/drawingml/2006/main" prst="roundRect">
            <ns227:avLst/>
          </ns227:prstGeom>
          <ns228:solidFill xmlns:ns228="http://schemas.openxmlformats.org/drawingml/2006/main">
            <ns228:srgbClr val="F3F7FA"/>
          </ns228:solidFill>
          <ns229:ln xmlns:ns229="http://schemas.openxmlformats.org/drawingml/2006/main" w="9525">
            <ns229:solidFill>
              <ns229:srgbClr val="65727D"/>
            </ns229:solidFill>
          </ns229:ln>
        </p:spPr>
        <p:txBody>
          <ns230:bodyPr xmlns:ns230="http://schemas.openxmlformats.org/drawingml/2006/main" wrap="square" lIns="61200" rIns="61200" tIns="61200" bIns="61200" anchor="ctr">
            <ns230:noAutofit/>
          </ns230:bodyPr>
          <ns231:lstStyle xmlns:ns231="http://schemas.openxmlformats.org/drawingml/2006/main"/>
          <ns232:p xmlns:ns232="http://schemas.openxmlformats.org/drawingml/2006/main">
            <ns232:pPr algn="l">
              <ns232:lnSpc>
                <ns232:spcPct val="105000"/>
              </ns232:lnSpc>
              <ns232:defRPr sz="1300" b="1">
                <ns232:solidFill>
                  <ns232:srgbClr val="65727D"/>
                </ns232:solidFill>
                <ns232:latin typeface="Arial"/>
                <ns232:ea typeface="Arial"/>
                <ns232:cs typeface="Arial"/>
              </ns232:defRPr>
            </ns232:pPr>
            <ns232:r>
              <ns232:rPr sz="1300" b="1">
                <ns232:solidFill>
                  <ns232:srgbClr val="65727D"/>
                </ns232:solidFill>
                <ns232:latin typeface="Arial"/>
                <ns232:ea typeface="Arial"/>
                <ns232:cs typeface="Arial"/>
              </ns232:rPr>
              <ns232:t>Investment / risk teams</ns232:t>
            </ns232:r>
          </ns232:p>
          <ns233:p xmlns:ns233="http://schemas.openxmlformats.org/drawingml/2006/main">
            <ns233:pPr algn="l">
              <ns233:lnSpc>
                <ns233:spcPct val="105000"/>
              </ns233:lnSpc>
              <ns233:defRPr sz="1150" b="0">
                <ns233:solidFill>
                  <ns233:srgbClr val="20262C"/>
                </ns233:solidFill>
                <ns233:latin typeface="Arial"/>
                <ns233:ea typeface="Arial"/>
                <ns233:cs typeface="Arial"/>
              </ns233:defRPr>
            </ns233:pPr>
            <ns233:r>
              <ns233:rPr sz="1150" b="0">
                <ns233:solidFill>
                  <ns233:srgbClr val="20262C"/>
                </ns233:solidFill>
                <ns233:latin typeface="Arial"/>
                <ns233:ea typeface="Arial"/>
                <ns233:cs typeface="Arial"/>
              </ns233:rPr>
              <ns233:t>Discuss implications</ns233:t>
            </ns233:r>
          </ns233:p>
        </p:txBody>
      </p:sp>
      <p:cxnSp>
        <p:nvCxnSpPr>
          <p:cNvPr id="139" name="assessment.to.discussion"/>
          <p:cNvCxnSpPr/>
          <p:nvPr/>
        </p:nvCxnSpPr>
        <p:spPr>
          <ns234:xfrm xmlns:ns234="http://schemas.openxmlformats.org/drawingml/2006/main">
            <ns234:off x="7268400" y="3618000"/>
            <ns234:ext cx="1" cy="180000"/>
          </ns234:xfrm>
          <ns235:prstGeom xmlns:ns235="http://schemas.openxmlformats.org/drawingml/2006/main" prst="line">
            <ns235:avLst/>
          </ns235:prstGeom>
          <ns236:ln xmlns:ns236="http://schemas.openxmlformats.org/drawingml/2006/main" w="11430">
            <ns236:solidFill>
              <ns236:srgbClr val="005A9C"/>
            </ns236:solidFill>
            <ns236:tailEnd type="triangle" w="sm" len="sm"/>
          </ns236:ln>
        </p:spPr>
      </p:cxnSp>
    </p:spTree>
    <p:extLst>
      <p:ext uri="{BB962C8B-B14F-4D97-AF65-F5344CB8AC3E}">
        <p14:creationId xmlns:p14="http://schemas.microsoft.com/office/powerpoint/2010/main" val="76617004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application: credit-risk assessment</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Middle office / Risk analysis / Proposed application</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China Universal; Tianhong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005A9C"/>
                </ns58:solidFill>
                <ns58:latin typeface="Arial"/>
                <ns58:ea typeface="Arial"/>
                <ns58:cs typeface="Arial"/>
              </ns58:defRPr>
            </ns58:pPr>
            <ns58:r>
              <ns58:rPr sz="1100" b="1">
                <ns58:solidFill>
                  <ns58:srgbClr val="005A9C"/>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005A9C"/>
            </ns61:solidFill>
          </ns61:ln>
        </p:spPr>
      </p:cxnSp>
      <p:sp>
        <p:nvSpPr>
          <p:cNvPr id="111" name="map.task.review"/>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Content review</ns68:t>
            </ns68:r>
          </ns68:p>
        </p:txBody>
      </p:sp>
      <p:sp>
        <p:nvSpPr>
          <p:cNvPr id="112" name="map.task.focus.risk"/>
          <p:cNvSpPr/>
          <p:nvPr/>
        </p:nvSpPr>
        <p:spPr>
          <ns69:xfrm xmlns:ns69="http://schemas.openxmlformats.org/drawingml/2006/main">
            <ns69:off x="486000" y="3042000"/>
            <ns69:ext cx="1677600" cy="176400"/>
          </ns69:xfrm>
          <ns70:prstGeom xmlns:ns70="http://schemas.openxmlformats.org/drawingml/2006/main" prst="rect">
            <ns70:avLst/>
          </ns70:prstGeom>
          <ns71:solidFill xmlns:ns71="http://schemas.openxmlformats.org/drawingml/2006/main">
            <ns71:srgbClr val="D9EAF7"/>
          </ns71:solidFill>
          <ns72:ln xmlns:ns72="http://schemas.openxmlformats.org/drawingml/2006/main" w="0">
            <ns72:noFill/>
          </ns72:ln>
        </p:spPr>
      </p:sp>
      <p:sp>
        <p:nvSpPr>
          <p:cNvPr id="113" name="map.task.risk"/>
          <p:cNvSpPr/>
          <p:nvPr/>
        </p:nvSpPr>
        <p:spPr>
          <ns73:xfrm xmlns:ns73="http://schemas.openxmlformats.org/drawingml/2006/main">
            <ns73:off x="554400" y="3045600"/>
            <ns73:ext cx="1562400" cy="1656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050" b="1">
                <ns79:solidFill>
                  <ns79:srgbClr val="005A9C"/>
                </ns79:solidFill>
                <ns79:latin typeface="Arial"/>
                <ns79:ea typeface="Arial"/>
                <ns79:cs typeface="Arial"/>
              </ns79:defRPr>
            </ns79:pPr>
            <ns79:r>
              <ns79:rPr sz="1050" b="1">
                <ns79:solidFill>
                  <ns79:srgbClr val="005A9C"/>
                </ns79:solidFill>
                <ns79:latin typeface="Arial"/>
                <ns79:ea typeface="Arial"/>
                <ns79:cs typeface="Arial"/>
              </ns79:rPr>
              <ns79:t>Risk analysis</ns79:t>
            </ns79:r>
          </ns79:p>
        </p:txBody>
      </p:sp>
      <p:sp>
        <p:nvSpPr>
          <p:cNvPr id="114" name="map.office.2"/>
          <p:cNvSpPr/>
          <p:nvPr/>
        </p:nvSpPr>
        <p:spPr>
          <ns80:xfrm xmlns:ns80="http://schemas.openxmlformats.org/drawingml/2006/main">
            <ns80:off x="486000" y="3391200"/>
            <ns80:ext cx="1692000" cy="1800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100" b="1">
                <ns86:solidFill>
                  <ns86:srgbClr val="65727D"/>
                </ns86:solidFill>
                <ns86:latin typeface="Arial"/>
                <ns86:ea typeface="Arial"/>
                <ns86:cs typeface="Arial"/>
              </ns86:defRPr>
            </ns86:pPr>
            <ns86:r>
              <ns86:rPr sz="1100" b="1">
                <ns86:solidFill>
                  <ns86:srgbClr val="65727D"/>
                </ns86:solidFill>
                <ns86:latin typeface="Arial"/>
                <ns86:ea typeface="Arial"/>
                <ns86:cs typeface="Arial"/>
              </ns86:rPr>
              <ns86:t>Back office</ns86:t>
            </ns86:r>
          </ns86:p>
        </p:txBody>
      </p:sp>
      <p:cxnSp>
        <p:nvCxnSpPr>
          <p:cNvPr id="115" name="map.office.rule.2"/>
          <p:cNvCxnSpPr/>
          <p:nvPr/>
        </p:nvCxnSpPr>
        <p:spPr>
          <ns87:xfrm xmlns:ns87="http://schemas.openxmlformats.org/drawingml/2006/main">
            <ns87:off x="457200" y="3610800"/>
            <ns87:ext cx="1742400" cy="1"/>
          </ns87:xfrm>
          <ns88:prstGeom xmlns:ns88="http://schemas.openxmlformats.org/drawingml/2006/main" prst="line">
            <ns88:avLst/>
          </ns88:prstGeom>
          <ns89:ln xmlns:ns89="http://schemas.openxmlformats.org/drawingml/2006/main" w="7620">
            <ns89:solidFill>
              <ns89:srgbClr val="CBD4DA"/>
            </ns89:solidFill>
          </ns89:ln>
        </p:spPr>
      </p:cxn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alert.paper"/>
          <p:cNvSpPr/>
          <p:nvPr/>
        </p:nvSpPr>
        <p:spPr>
          <ns111:xfrm xmlns:ns111="http://schemas.openxmlformats.org/drawingml/2006/main">
            <ns111:off x="2422800" y="1512000"/>
            <ns111:ext cx="1620000" cy="720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317F7B"/>
            </ns114:solidFill>
          </ns114:ln>
        </p:spPr>
      </p:sp>
      <p:sp>
        <p:nvSpPr>
          <p:cNvPr id="120" name="input.alert.title"/>
          <p:cNvSpPr/>
          <p:nvPr/>
        </p:nvSpPr>
        <p:spPr>
          <ns115:xfrm xmlns:ns115="http://schemas.openxmlformats.org/drawingml/2006/main">
            <ns115:off x="2487600" y="1555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317F7B"/>
                </ns121:solidFill>
                <ns121:latin typeface="Arial"/>
                <ns121:ea typeface="Arial"/>
                <ns121:cs typeface="Arial"/>
              </ns121:defRPr>
            </ns121:pPr>
            <ns121:r>
              <ns121:rPr sz="1250" b="1">
                <ns121:solidFill>
                  <ns121:srgbClr val="317F7B"/>
                </ns121:solidFill>
                <ns121:latin typeface="Arial"/>
                <ns121:ea typeface="Arial"/>
                <ns121:cs typeface="Arial"/>
              </ns121:rPr>
              <ns121:t>Company A alert</ns121:t>
            </ns121:r>
          </ns121:p>
        </p:txBody>
      </p:sp>
      <p:sp>
        <p:nvSpPr>
          <p:cNvPr id="121" name="input.alert.content"/>
          <p:cNvSpPr/>
          <p:nvPr/>
        </p:nvSpPr>
        <p:spPr>
          <ns122:xfrm xmlns:ns122="http://schemas.openxmlformats.org/drawingml/2006/main">
            <ns122:off x="2487600" y="1771200"/>
            <ns122:ext cx="1490400" cy="410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150" b="0">
                <ns128:solidFill>
                  <ns128:srgbClr val="20262C"/>
                </ns128:solidFill>
                <ns128:latin typeface="Arial"/>
                <ns128:ea typeface="Arial"/>
                <ns128:cs typeface="Arial"/>
              </ns128:defRPr>
            </ns128:pPr>
            <ns128:r>
              <ns128:rPr sz="1150" b="0">
                <ns128:solidFill>
                  <ns128:srgbClr val="20262C"/>
                </ns128:solidFill>
                <ns128:latin typeface="Arial"/>
                <ns128:ea typeface="Arial"/>
                <ns128:cs typeface="Arial"/>
              </ns128:rPr>
              <ns128:t>Credit watch</ns128:t>
            </ns128:r>
          </ns128:p>
          <ns129:p xmlns:ns129="http://schemas.openxmlformats.org/drawingml/2006/main">
            <ns129:pPr algn="l">
              <ns129:lnSpc>
                <ns129:spcPct val="100000"/>
              </ns129:lnSpc>
              <ns129:defRPr sz="1150" b="0">
                <ns129:solidFill>
                  <ns129:srgbClr val="20262C"/>
                </ns129:solidFill>
                <ns129:latin typeface="Arial"/>
                <ns129:ea typeface="Arial"/>
                <ns129:cs typeface="Arial"/>
              </ns129:defRPr>
            </ns129:pPr>
            <ns129:r>
              <ns129:rPr sz="1150" b="0">
                <ns129:solidFill>
                  <ns129:srgbClr val="20262C"/>
                </ns129:solidFill>
                <ns129:latin typeface="Arial"/>
                <ns129:ea typeface="Arial"/>
                <ns129:cs typeface="Arial"/>
              </ns129:rPr>
              <ns129:t>Cash-flow pressure</ns129:t>
            </ns129:r>
          </ns129:p>
        </p:txBody>
      </p:sp>
      <p:sp>
        <p:nvSpPr>
          <p:cNvPr id="122" name="input.holdings.record.paper"/>
          <p:cNvSpPr/>
          <p:nvPr/>
        </p:nvSpPr>
        <p:spPr>
          <ns130:xfrm xmlns:ns130="http://schemas.openxmlformats.org/drawingml/2006/main">
            <ns130:off x="2422800" y="2304000"/>
            <ns130:ext cx="1620000" cy="828000"/>
          </ns130:xfrm>
          <ns131:prstGeom xmlns:ns131="http://schemas.openxmlformats.org/drawingml/2006/main" prst="foldedCorner">
            <ns131:avLst/>
          </ns131:prstGeom>
          <ns132:solidFill xmlns:ns132="http://schemas.openxmlformats.org/drawingml/2006/main">
            <ns132:srgbClr val="FFFFFF"/>
          </ns132:solidFill>
          <ns133:ln xmlns:ns133="http://schemas.openxmlformats.org/drawingml/2006/main" w="9525">
            <ns133:solidFill>
              <ns133:srgbClr val="317F7B"/>
            </ns133:solidFill>
          </ns133:ln>
        </p:spPr>
      </p:sp>
      <p:sp>
        <p:nvSpPr>
          <p:cNvPr id="123" name="input.holdings.record.title"/>
          <p:cNvSpPr/>
          <p:nvPr/>
        </p:nvSpPr>
        <p:spPr>
          <ns134:xfrm xmlns:ns134="http://schemas.openxmlformats.org/drawingml/2006/main">
            <ns134:off x="2487600" y="2347200"/>
            <ns134:ext cx="1422000" cy="198000"/>
          </ns134:xfrm>
          <ns135:prstGeom xmlns:ns135="http://schemas.openxmlformats.org/drawingml/2006/main" prst="rect">
            <ns135:avLst/>
          </ns135:prstGeom>
          <ns136:noFill xmlns:ns136="http://schemas.openxmlformats.org/drawingml/2006/main"/>
          <ns137:ln xmlns:ns137="http://schemas.openxmlformats.org/drawingml/2006/main" w="0">
            <ns137:noFill/>
          </ns137:ln>
        </p:spPr>
        <p:txBody>
          <ns138:bodyPr xmlns:ns138="http://schemas.openxmlformats.org/drawingml/2006/main" wrap="square" lIns="0" rIns="0" tIns="0" bIns="0" anchor="t">
            <ns138:noAutofit/>
          </ns138:bodyPr>
          <ns139:lstStyle xmlns:ns139="http://schemas.openxmlformats.org/drawingml/2006/main"/>
          <ns140:p xmlns:ns140="http://schemas.openxmlformats.org/drawingml/2006/main">
            <ns140:pPr algn="l">
              <ns140:lnSpc>
                <ns140:spcPct val="105000"/>
              </ns140:lnSpc>
              <ns140:defRPr sz="1250" b="1">
                <ns140:solidFill>
                  <ns140:srgbClr val="317F7B"/>
                </ns140:solidFill>
                <ns140:latin typeface="Arial"/>
                <ns140:ea typeface="Arial"/>
                <ns140:cs typeface="Arial"/>
              </ns140:defRPr>
            </ns140:pPr>
            <ns140:r>
              <ns140:rPr sz="1250" b="1">
                <ns140:solidFill>
                  <ns140:srgbClr val="317F7B"/>
                </ns140:solidFill>
                <ns140:latin typeface="Arial"/>
                <ns140:ea typeface="Arial"/>
                <ns140:cs typeface="Arial"/>
              </ns140:rPr>
              <ns140:t>Holdings record</ns140:t>
            </ns140:r>
          </ns140:p>
        </p:txBody>
      </p:sp>
      <p:sp>
        <p:nvSpPr>
          <p:cNvPr id="124" name="input.holdings.record.content"/>
          <p:cNvSpPr/>
          <p:nvPr/>
        </p:nvSpPr>
        <p:spPr>
          <ns141:xfrm xmlns:ns141="http://schemas.openxmlformats.org/drawingml/2006/main">
            <ns141:off x="2487600" y="2563200"/>
            <ns141:ext cx="1490400" cy="518400"/>
          </ns141:xfrm>
          <ns142:prstGeom xmlns:ns142="http://schemas.openxmlformats.org/drawingml/2006/main" prst="rect">
            <ns142:avLst/>
          </ns142:prstGeom>
          <ns143:noFill xmlns:ns143="http://schemas.openxmlformats.org/drawingml/2006/main"/>
          <ns144:ln xmlns:ns144="http://schemas.openxmlformats.org/drawingml/2006/main" w="0">
            <ns144:noFill/>
          </ns144:ln>
        </p:spPr>
        <p:txBody>
          <ns145:bodyPr xmlns:ns145="http://schemas.openxmlformats.org/drawingml/2006/main" wrap="square" lIns="0" rIns="0" tIns="0" bIns="0" anchor="t">
            <ns145:noAutofit/>
          </ns145:bodyPr>
          <ns146:lstStyle xmlns:ns146="http://schemas.openxmlformats.org/drawingml/2006/main"/>
          <ns147:p xmlns:ns147="http://schemas.openxmlformats.org/drawingml/2006/main">
            <ns147:pPr algn="l">
              <ns147:lnSpc>
                <ns147:spcPct val="100000"/>
              </ns147:lnSpc>
              <ns147:defRPr sz="1100" b="0">
                <ns147:solidFill>
                  <ns147:srgbClr val="20262C"/>
                </ns147:solidFill>
                <ns147:latin typeface="Arial"/>
                <ns147:ea typeface="Arial"/>
                <ns147:cs typeface="Arial"/>
              </ns147:defRPr>
            </ns147:pPr>
            <ns147:r>
              <ns147:rPr sz="1100" b="0">
                <ns147:solidFill>
                  <ns147:srgbClr val="20262C"/>
                </ns147:solidFill>
                <ns147:latin typeface="Arial"/>
                <ns147:ea typeface="Arial"/>
                <ns147:cs typeface="Arial"/>
              </ns147:rPr>
              <ns147:t>Product A holds</ns147:t>
            </ns147:r>
          </ns147:p>
          <ns148:p xmlns:ns148="http://schemas.openxmlformats.org/drawingml/2006/main">
            <ns148:pPr algn="l">
              <ns148:lnSpc>
                <ns148:spcPct val="100000"/>
              </ns148:lnSpc>
              <ns148:defRPr sz="1100" b="0">
                <ns148:solidFill>
                  <ns148:srgbClr val="20262C"/>
                </ns148:solidFill>
                <ns148:latin typeface="Arial"/>
                <ns148:ea typeface="Arial"/>
                <ns148:cs typeface="Arial"/>
              </ns148:defRPr>
            </ns148:pPr>
            <ns148:r>
              <ns148:rPr sz="1100" b="0">
                <ns148:solidFill>
                  <ns148:srgbClr val="20262C"/>
                </ns148:solidFill>
                <ns148:latin typeface="Arial"/>
                <ns148:ea typeface="Arial"/>
                <ns148:cs typeface="Arial"/>
              </ns148:rPr>
              <ns148:t>Company A bonds</ns148:t>
            </ns148:r>
          </ns148:p>
          <ns149:p xmlns:ns149="http://schemas.openxmlformats.org/drawingml/2006/main">
            <ns149:pPr algn="l">
              <ns149:lnSpc>
                <ns149:spcPct val="100000"/>
              </ns149:lnSpc>
              <ns149:defRPr sz="1100" b="0">
                <ns149:solidFill>
                  <ns149:srgbClr val="20262C"/>
                </ns149:solidFill>
                <ns149:latin typeface="Arial"/>
                <ns149:ea typeface="Arial"/>
                <ns149:cs typeface="Arial"/>
              </ns149:defRPr>
            </ns149:pPr>
            <ns149:r>
              <ns149:rPr sz="1100" b="0">
                <ns149:solidFill>
                  <ns149:srgbClr val="20262C"/>
                </ns149:solidFill>
                <ns149:latin typeface="Arial"/>
                <ns149:ea typeface="Arial"/>
                <ns149:cs typeface="Arial"/>
              </ns149:rPr>
              <ns149:t>RMB 20m face value</ns149:t>
            </ns149:r>
          </ns149:p>
        </p:txBody>
      </p:sp>
      <p:sp>
        <p:nvSpPr>
          <p:cNvPr id="125" name="input.monitoring.rule.paper"/>
          <p:cNvSpPr/>
          <p:nvPr/>
        </p:nvSpPr>
        <p:spPr>
          <ns150:xfrm xmlns:ns150="http://schemas.openxmlformats.org/drawingml/2006/main">
            <ns150:off x="2422800" y="3222000"/>
            <ns150:ext cx="1620000" cy="666000"/>
          </ns150:xfrm>
          <ns151:prstGeom xmlns:ns151="http://schemas.openxmlformats.org/drawingml/2006/main" prst="foldedCorner">
            <ns151:avLst/>
          </ns151:prstGeom>
          <ns152:solidFill xmlns:ns152="http://schemas.openxmlformats.org/drawingml/2006/main">
            <ns152:srgbClr val="FFFFFF"/>
          </ns152:solidFill>
          <ns153:ln xmlns:ns153="http://schemas.openxmlformats.org/drawingml/2006/main" w="9525">
            <ns153:solidFill>
              <ns153:srgbClr val="65727D"/>
            </ns153:solidFill>
          </ns153:ln>
        </p:spPr>
      </p:sp>
      <p:sp>
        <p:nvSpPr>
          <p:cNvPr id="126" name="input.monitoring.rule.title"/>
          <p:cNvSpPr/>
          <p:nvPr/>
        </p:nvSpPr>
        <p:spPr>
          <ns154:xfrm xmlns:ns154="http://schemas.openxmlformats.org/drawingml/2006/main">
            <ns154:off x="2487600" y="3265200"/>
            <ns154:ext cx="1422000" cy="198000"/>
          </ns154:xfrm>
          <ns155:prstGeom xmlns:ns155="http://schemas.openxmlformats.org/drawingml/2006/main" prst="rect">
            <ns155:avLst/>
          </ns155:prstGeom>
          <ns156:noFill xmlns:ns156="http://schemas.openxmlformats.org/drawingml/2006/main"/>
          <ns157:ln xmlns:ns157="http://schemas.openxmlformats.org/drawingml/2006/main" w="0">
            <ns157:noFill/>
          </ns157:ln>
        </p:spPr>
        <p:txBody>
          <ns158:bodyPr xmlns:ns158="http://schemas.openxmlformats.org/drawingml/2006/main" wrap="square" lIns="0" rIns="0" tIns="0" bIns="0" anchor="t">
            <ns158:noAutofit/>
          </ns158:bodyPr>
          <ns159:lstStyle xmlns:ns159="http://schemas.openxmlformats.org/drawingml/2006/main"/>
          <ns160:p xmlns:ns160="http://schemas.openxmlformats.org/drawingml/2006/main">
            <ns160:pPr algn="l">
              <ns160:lnSpc>
                <ns160:spcPct val="105000"/>
              </ns160:lnSpc>
              <ns160:defRPr sz="1250" b="1">
                <ns160:solidFill>
                  <ns160:srgbClr val="65727D"/>
                </ns160:solidFill>
                <ns160:latin typeface="Arial"/>
                <ns160:ea typeface="Arial"/>
                <ns160:cs typeface="Arial"/>
              </ns160:defRPr>
            </ns160:pPr>
            <ns160:r>
              <ns160:rPr sz="1250" b="1">
                <ns160:solidFill>
                  <ns160:srgbClr val="65727D"/>
                </ns160:solidFill>
                <ns160:latin typeface="Arial"/>
                <ns160:ea typeface="Arial"/>
                <ns160:cs typeface="Arial"/>
              </ns160:rPr>
              <ns160:t>Requirement</ns160:t>
            </ns160:r>
          </ns160:p>
        </p:txBody>
      </p:sp>
      <p:sp>
        <p:nvSpPr>
          <p:cNvPr id="127" name="input.monitoring.rule.content"/>
          <p:cNvSpPr/>
          <p:nvPr/>
        </p:nvSpPr>
        <p:spPr>
          <ns161:xfrm xmlns:ns161="http://schemas.openxmlformats.org/drawingml/2006/main">
            <ns161:off x="2487600" y="3481200"/>
            <ns161:ext cx="1490400" cy="356400"/>
          </ns161:xfrm>
          <ns162:prstGeom xmlns:ns162="http://schemas.openxmlformats.org/drawingml/2006/main" prst="rect">
            <ns162:avLst/>
          </ns162:prstGeom>
          <ns163:noFill xmlns:ns163="http://schemas.openxmlformats.org/drawingml/2006/main"/>
          <ns164:ln xmlns:ns164="http://schemas.openxmlformats.org/drawingml/2006/main" w="0">
            <ns164:noFill/>
          </ns164:ln>
        </p:spPr>
        <p:txBody>
          <ns165:bodyPr xmlns:ns165="http://schemas.openxmlformats.org/drawingml/2006/main" wrap="square" lIns="0" rIns="0" tIns="0" bIns="0" anchor="t">
            <ns165:noAutofit/>
          </ns165:bodyPr>
          <ns166:lstStyle xmlns:ns166="http://schemas.openxmlformats.org/drawingml/2006/main"/>
          <ns167:p xmlns:ns167="http://schemas.openxmlformats.org/drawingml/2006/main">
            <ns167:pPr algn="l">
              <ns167:lnSpc>
                <ns167:spcPct val="100000"/>
              </ns167:lnSpc>
              <ns167:defRPr sz="1100" b="0">
                <ns167:solidFill>
                  <ns167:srgbClr val="20262C"/>
                </ns167:solidFill>
                <ns167:latin typeface="Arial"/>
                <ns167:ea typeface="Arial"/>
                <ns167:cs typeface="Arial"/>
              </ns167:defRPr>
            </ns167:pPr>
            <ns167:r>
              <ns167:rPr sz="1100" b="0">
                <ns167:solidFill>
                  <ns167:srgbClr val="20262C"/>
                </ns167:solidFill>
                <ns167:latin typeface="Arial"/>
                <ns167:ea typeface="Arial"/>
                <ns167:cs typeface="Arial"/>
              </ns167:rPr>
              <ns167:t>Update issuer research</ns167:t>
            </ns167:r>
          </ns167:p>
          <ns168:p xmlns:ns168="http://schemas.openxmlformats.org/drawingml/2006/main">
            <ns168:pPr algn="l">
              <ns168:lnSpc>
                <ns168:spcPct val="100000"/>
              </ns168:lnSpc>
              <ns168:defRPr sz="1100" b="0">
                <ns168:solidFill>
                  <ns168:srgbClr val="20262C"/>
                </ns168:solidFill>
                <ns168:latin typeface="Arial"/>
                <ns168:ea typeface="Arial"/>
                <ns168:cs typeface="Arial"/>
              </ns168:defRPr>
            </ns168:pPr>
            <ns168:r>
              <ns168:rPr sz="1100" b="0">
                <ns168:solidFill>
                  <ns168:srgbClr val="20262C"/>
                </ns168:solidFill>
                <ns168:latin typeface="Arial"/>
                <ns168:ea typeface="Arial"/>
                <ns168:cs typeface="Arial"/>
              </ns168:rPr>
              <ns168:t>after a credit event</ns168:t>
            </ns168:r>
          </ns168:p>
        </p:txBody>
      </p:sp>
      <p:sp>
        <p:nvSpPr>
          <p:cNvPr id="128" name="role.llm.link.evidence"/>
          <p:cNvSpPr/>
          <p:nvPr/>
        </p:nvSpPr>
        <p:spPr>
          <ns169:xfrm xmlns:ns169="http://schemas.openxmlformats.org/drawingml/2006/main">
            <ns169:off x="4392000" y="2304000"/>
            <ns169:ext cx="1458000" cy="1080000"/>
          </ns169:xfrm>
          <ns170:prstGeom xmlns:ns170="http://schemas.openxmlformats.org/drawingml/2006/main" prst="roundRect">
            <ns170:avLst/>
          </ns170:prstGeom>
          <ns171:solidFill xmlns:ns171="http://schemas.openxmlformats.org/drawingml/2006/main">
            <ns171:srgbClr val="EAF3FA"/>
          </ns171:solidFill>
          <ns172:ln xmlns:ns172="http://schemas.openxmlformats.org/drawingml/2006/main" w="9525">
            <ns172:solidFill>
              <ns172:srgbClr val="005A9C"/>
            </ns172:solidFill>
          </ns172:ln>
        </p:spPr>
        <p:txBody>
          <ns173:bodyPr xmlns:ns173="http://schemas.openxmlformats.org/drawingml/2006/main" wrap="square" lIns="61200" rIns="61200" tIns="61200" bIns="61200" anchor="ctr">
            <ns173:noAutofit/>
          </ns173:bodyPr>
          <ns174:lstStyle xmlns:ns174="http://schemas.openxmlformats.org/drawingml/2006/main"/>
          <ns175:p xmlns:ns175="http://schemas.openxmlformats.org/drawingml/2006/main">
            <ns175:pPr algn="l">
              <ns175:lnSpc>
                <ns175:spcPct val="105000"/>
              </ns175:lnSpc>
              <ns175:defRPr sz="1300" b="1">
                <ns175:solidFill>
                  <ns175:srgbClr val="005A9C"/>
                </ns175:solidFill>
                <ns175:latin typeface="Arial"/>
                <ns175:ea typeface="Arial"/>
                <ns175:cs typeface="Arial"/>
              </ns175:defRPr>
            </ns175:pPr>
            <ns175:r>
              <ns175:rPr sz="1300" b="1">
                <ns175:solidFill>
                  <ns175:srgbClr val="005A9C"/>
                </ns175:solidFill>
                <ns175:latin typeface="Arial"/>
                <ns175:ea typeface="Arial"/>
                <ns175:cs typeface="Arial"/>
              </ns175:rPr>
              <ns175:t>LLM</ns175:t>
            </ns175:r>
          </ns175:p>
          <ns176:p xmlns:ns176="http://schemas.openxmlformats.org/drawingml/2006/main">
            <ns176:pPr algn="l">
              <ns176:lnSpc>
                <ns176:spcPct val="105000"/>
              </ns176:lnSpc>
              <ns176:defRPr sz="1050" b="0">
                <ns176:solidFill>
                  <ns176:srgbClr val="20262C"/>
                </ns176:solidFill>
                <ns176:latin typeface="Arial"/>
                <ns176:ea typeface="Arial"/>
                <ns176:cs typeface="Arial"/>
              </ns176:defRPr>
            </ns176:pPr>
            <ns176:r>
              <ns176:rPr sz="1050" b="0">
                <ns176:solidFill>
                  <ns176:srgbClr val="20262C"/>
                </ns176:solidFill>
                <ns176:latin typeface="Arial"/>
                <ns176:ea typeface="Arial"/>
                <ns176:cs typeface="Arial"/>
              </ns176:rPr>
              <ns176:t>Match issuer / exposure</ns176:t>
            </ns176:r>
          </ns176:p>
          <ns177:p xmlns:ns177="http://schemas.openxmlformats.org/drawingml/2006/main">
            <ns177:pPr algn="l">
              <ns177:lnSpc>
                <ns177:spcPct val="105000"/>
              </ns177:lnSpc>
              <ns177:defRPr sz="1050" b="0">
                <ns177:solidFill>
                  <ns177:srgbClr val="20262C"/>
                </ns177:solidFill>
                <ns177:latin typeface="Arial"/>
                <ns177:ea typeface="Arial"/>
                <ns177:cs typeface="Arial"/>
              </ns177:defRPr>
            </ns177:pPr>
            <ns177:r>
              <ns177:rPr sz="1050" b="0">
                <ns177:solidFill>
                  <ns177:srgbClr val="20262C"/>
                </ns177:solidFill>
                <ns177:latin typeface="Arial"/>
                <ns177:ea typeface="Arial"/>
                <ns177:cs typeface="Arial"/>
              </ns177:rPr>
              <ns177:t>Interpret clauses / research</ns177:t>
            </ns177:r>
          </ns177:p>
          <ns178:p xmlns:ns178="http://schemas.openxmlformats.org/drawingml/2006/main">
            <ns178:pPr algn="l">
              <ns178:lnSpc>
                <ns178:spcPct val="105000"/>
              </ns178:lnSpc>
              <ns178:defRPr sz="1050" b="0">
                <ns178:solidFill>
                  <ns178:srgbClr val="20262C"/>
                </ns178:solidFill>
                <ns178:latin typeface="Arial"/>
                <ns178:ea typeface="Arial"/>
                <ns178:cs typeface="Arial"/>
              </ns178:defRPr>
            </ns178:pPr>
            <ns178:r>
              <ns178:rPr sz="1050" b="0">
                <ns178:solidFill>
                  <ns178:srgbClr val="20262C"/>
                </ns178:solidFill>
                <ns178:latin typeface="Arial"/>
                <ns178:ea typeface="Arial"/>
                <ns178:cs typeface="Arial"/>
              </ns178:rPr>
              <ns178:t>Draft assessment</ns178:t>
            </ns178:r>
          </ns178:p>
        </p:txBody>
      </p:sp>
      <p:cxnSp>
        <p:nvCxnSpPr>
          <p:cNvPr id="129" name="credit.inputs.merge.source.0"/>
          <p:cNvCxnSpPr/>
          <p:nvPr/>
        </p:nvCxnSpPr>
        <p:spPr>
          <ns179:xfrm xmlns:ns179="http://schemas.openxmlformats.org/drawingml/2006/main">
            <ns179:off x="4042800" y="1872000"/>
            <ns179:ext cx="151200" cy="1"/>
          </ns179:xfrm>
          <ns180:prstGeom xmlns:ns180="http://schemas.openxmlformats.org/drawingml/2006/main" prst="line">
            <ns180:avLst/>
          </ns180:prstGeom>
          <ns181:ln xmlns:ns181="http://schemas.openxmlformats.org/drawingml/2006/main" w="9525">
            <ns181:solidFill>
              <ns181:srgbClr val="317F7B"/>
            </ns181:solidFill>
          </ns181:ln>
        </p:spPr>
      </p:cxnSp>
      <p:cxnSp>
        <p:nvCxnSpPr>
          <p:cNvPr id="130" name="credit.inputs.merge.source.1"/>
          <p:cNvCxnSpPr/>
          <p:nvPr/>
        </p:nvCxnSpPr>
        <p:spPr>
          <ns182:xfrm xmlns:ns182="http://schemas.openxmlformats.org/drawingml/2006/main">
            <ns182:off x="4042800" y="2718000"/>
            <ns182:ext cx="151200" cy="1"/>
          </ns182:xfrm>
          <ns183:prstGeom xmlns:ns183="http://schemas.openxmlformats.org/drawingml/2006/main" prst="line">
            <ns183:avLst/>
          </ns183:prstGeom>
          <ns184:ln xmlns:ns184="http://schemas.openxmlformats.org/drawingml/2006/main" w="9525">
            <ns184:solidFill>
              <ns184:srgbClr val="317F7B"/>
            </ns184:solidFill>
          </ns184:ln>
        </p:spPr>
      </p:cxnSp>
      <p:cxnSp>
        <p:nvCxnSpPr>
          <p:cNvPr id="131" name="credit.inputs.merge.source.2"/>
          <p:cNvCxnSpPr/>
          <p:nvPr/>
        </p:nvCxnSpPr>
        <p:spPr>
          <ns185:xfrm xmlns:ns185="http://schemas.openxmlformats.org/drawingml/2006/main">
            <ns185:off x="4042800" y="3555000"/>
            <ns185:ext cx="151200" cy="1"/>
          </ns185:xfrm>
          <ns186:prstGeom xmlns:ns186="http://schemas.openxmlformats.org/drawingml/2006/main" prst="line">
            <ns186:avLst/>
          </ns186:prstGeom>
          <ns187:ln xmlns:ns187="http://schemas.openxmlformats.org/drawingml/2006/main" w="9525">
            <ns187:solidFill>
              <ns187:srgbClr val="317F7B"/>
            </ns187:solidFill>
          </ns187:ln>
        </p:spPr>
      </p:cxnSp>
      <p:cxnSp>
        <p:nvCxnSpPr>
          <p:cNvPr id="132" name="credit.inputs.merge.bus"/>
          <p:cNvCxnSpPr/>
          <p:nvPr/>
        </p:nvCxnSpPr>
        <p:spPr>
          <ns188:xfrm xmlns:ns188="http://schemas.openxmlformats.org/drawingml/2006/main">
            <ns188:off x="4194000" y="1872000"/>
            <ns188:ext cx="1" cy="1683000"/>
          </ns188:xfrm>
          <ns189:prstGeom xmlns:ns189="http://schemas.openxmlformats.org/drawingml/2006/main" prst="line">
            <ns189:avLst/>
          </ns189:prstGeom>
          <ns190:ln xmlns:ns190="http://schemas.openxmlformats.org/drawingml/2006/main" w="9525">
            <ns190:solidFill>
              <ns190:srgbClr val="317F7B"/>
            </ns190:solidFill>
          </ns190:ln>
        </p:spPr>
      </p:cxnSp>
      <p:cxnSp>
        <p:nvCxnSpPr>
          <p:cNvPr id="133" name="credit.inputs.merge.target"/>
          <p:cNvCxnSpPr/>
          <p:nvPr/>
        </p:nvCxnSpPr>
        <p:spPr>
          <ns191:xfrm xmlns:ns191="http://schemas.openxmlformats.org/drawingml/2006/main">
            <ns191:off x="4194000" y="2844000"/>
            <ns191:ext cx="198000" cy="1"/>
          </ns191:xfrm>
          <ns192:prstGeom xmlns:ns192="http://schemas.openxmlformats.org/drawingml/2006/main" prst="line">
            <ns192:avLst/>
          </ns192:prstGeom>
          <ns193:ln xmlns:ns193="http://schemas.openxmlformats.org/drawingml/2006/main" w="11430">
            <ns193:solidFill>
              <ns193:srgbClr val="317F7B"/>
            </ns193:solidFill>
            <ns193:tailEnd type="triangle" w="sm" len="sm"/>
          </ns193:ln>
        </p:spPr>
      </p:cxnSp>
      <p:sp>
        <p:nvSpPr>
          <p:cNvPr id="134" name="output.credit.assessment.paper"/>
          <p:cNvSpPr/>
          <p:nvPr/>
        </p:nvSpPr>
        <p:spPr>
          <ns194:xfrm xmlns:ns194="http://schemas.openxmlformats.org/drawingml/2006/main">
            <ns194:off x="6127200" y="1512000"/>
            <ns194:ext cx="2559600" cy="2214000"/>
          </ns194:xfrm>
          <ns195:prstGeom xmlns:ns195="http://schemas.openxmlformats.org/drawingml/2006/main" prst="foldedCorner">
            <ns195:avLst/>
          </ns195:prstGeom>
          <ns196:solidFill xmlns:ns196="http://schemas.openxmlformats.org/drawingml/2006/main">
            <ns196:srgbClr val="FFFFFF"/>
          </ns196:solidFill>
          <ns197:ln xmlns:ns197="http://schemas.openxmlformats.org/drawingml/2006/main" w="9525">
            <ns197:solidFill>
              <ns197:srgbClr val="317F7B"/>
            </ns197:solidFill>
          </ns197:ln>
        </p:spPr>
      </p:sp>
      <p:sp>
        <p:nvSpPr>
          <p:cNvPr id="135" name="output.credit.assessment.title"/>
          <p:cNvSpPr/>
          <p:nvPr/>
        </p:nvSpPr>
        <p:spPr>
          <ns198:xfrm xmlns:ns198="http://schemas.openxmlformats.org/drawingml/2006/main">
            <ns198:off x="6192000" y="1555200"/>
            <ns198:ext cx="2361600" cy="198000"/>
          </ns198:xfrm>
          <ns199:prstGeom xmlns:ns199="http://schemas.openxmlformats.org/drawingml/2006/main" prst="rect">
            <ns199:avLst/>
          </ns199:prstGeom>
          <ns200:noFill xmlns:ns200="http://schemas.openxmlformats.org/drawingml/2006/main"/>
          <ns201:ln xmlns:ns201="http://schemas.openxmlformats.org/drawingml/2006/main" w="0">
            <ns201:noFill/>
          </ns201:ln>
        </p:spPr>
        <p:txBody>
          <ns202:bodyPr xmlns:ns202="http://schemas.openxmlformats.org/drawingml/2006/main" wrap="square" lIns="0" rIns="0" tIns="0" bIns="0" anchor="t">
            <ns202:noAutofit/>
          </ns202:bodyPr>
          <ns203:lstStyle xmlns:ns203="http://schemas.openxmlformats.org/drawingml/2006/main"/>
          <ns204:p xmlns:ns204="http://schemas.openxmlformats.org/drawingml/2006/main">
            <ns204:pPr algn="l">
              <ns204:lnSpc>
                <ns204:spcPct val="105000"/>
              </ns204:lnSpc>
              <ns204:defRPr sz="1250" b="1">
                <ns204:solidFill>
                  <ns204:srgbClr val="317F7B"/>
                </ns204:solidFill>
                <ns204:latin typeface="Arial"/>
                <ns204:ea typeface="Arial"/>
                <ns204:cs typeface="Arial"/>
              </ns204:defRPr>
            </ns204:pPr>
            <ns204:r>
              <ns204:rPr sz="1250" b="1">
                <ns204:solidFill>
                  <ns204:srgbClr val="317F7B"/>
                </ns204:solidFill>
                <ns204:latin typeface="Arial"/>
                <ns204:ea typeface="Arial"/>
                <ns204:cs typeface="Arial"/>
              </ns204:rPr>
              <ns204:t>Assessment / follow-up</ns204:t>
            </ns204:r>
          </ns204:p>
        </p:txBody>
      </p:sp>
      <p:sp>
        <p:nvSpPr>
          <p:cNvPr id="136" name="output.credit.assessment.content"/>
          <p:cNvSpPr/>
          <p:nvPr/>
        </p:nvSpPr>
        <p:spPr>
          <ns205:xfrm xmlns:ns205="http://schemas.openxmlformats.org/drawingml/2006/main">
            <ns205:off x="6192000" y="1771200"/>
            <ns205:ext cx="2430000" cy="1904400"/>
          </ns205:xfrm>
          <ns206:prstGeom xmlns:ns206="http://schemas.openxmlformats.org/drawingml/2006/main" prst="rect">
            <ns206:avLst/>
          </ns206:prstGeom>
          <ns207:noFill xmlns:ns207="http://schemas.openxmlformats.org/drawingml/2006/main"/>
          <ns208:ln xmlns:ns208="http://schemas.openxmlformats.org/drawingml/2006/main" w="0">
            <ns208:noFill/>
          </ns208:ln>
        </p:spPr>
        <p:txBody>
          <ns209:bodyPr xmlns:ns209="http://schemas.openxmlformats.org/drawingml/2006/main" wrap="square" lIns="0" rIns="0" tIns="0" bIns="0" anchor="t">
            <ns209:noAutofit/>
          </ns209:bodyPr>
          <ns210:lstStyle xmlns:ns210="http://schemas.openxmlformats.org/drawingml/2006/main"/>
          <ns211:p xmlns:ns211="http://schemas.openxmlformats.org/drawingml/2006/main">
            <ns211:pPr algn="l">
              <ns211:lnSpc>
                <ns211:spcPct val="100000"/>
              </ns211:lnSpc>
              <ns211:defRPr sz="1150" b="0">
                <ns211:solidFill>
                  <ns211:srgbClr val="20262C"/>
                </ns211:solidFill>
                <ns211:latin typeface="Arial"/>
                <ns211:ea typeface="Arial"/>
                <ns211:cs typeface="Arial"/>
              </ns211:defRPr>
            </ns211:pPr>
            <ns211:r>
              <ns211:rPr sz="1150" b="0">
                <ns211:solidFill>
                  <ns211:srgbClr val="20262C"/>
                </ns211:solidFill>
                <ns211:latin typeface="Arial"/>
                <ns211:ea typeface="Arial"/>
                <ns211:cs typeface="Arial"/>
              </ns211:rPr>
              <ns211:t>Cash-flow pressure affects</ns211:t>
            </ns211:r>
          </ns211:p>
          <ns212:p xmlns:ns212="http://schemas.openxmlformats.org/drawingml/2006/main">
            <ns212:pPr algn="l">
              <ns212:lnSpc>
                <ns212:spcPct val="100000"/>
              </ns212:lnSpc>
              <ns212:defRPr sz="1150" b="0">
                <ns212:solidFill>
                  <ns212:srgbClr val="20262C"/>
                </ns212:solidFill>
                <ns212:latin typeface="Arial"/>
                <ns212:ea typeface="Arial"/>
                <ns212:cs typeface="Arial"/>
              </ns212:defRPr>
            </ns212:pPr>
            <ns212:r>
              <ns212:rPr sz="1150" b="0">
                <ns212:solidFill>
                  <ns212:srgbClr val="20262C"/>
                </ns212:solidFill>
                <ns212:latin typeface="Arial"/>
                <ns212:ea typeface="Arial"/>
                <ns212:cs typeface="Arial"/>
              </ns212:rPr>
              <ns212:t>capacity to service debt.</ns212:t>
            </ns212:r>
          </ns212:p>
          <ns213:p xmlns:ns213="http://schemas.openxmlformats.org/drawingml/2006/main">
            <ns213:pPr algn="l">
              <ns213:lnSpc>
                <ns213:spcPct val="100000"/>
              </ns213:lnSpc>
              <ns213:defRPr sz="1150" b="0">
                <ns213:solidFill>
                  <ns213:srgbClr val="20262C"/>
                </ns213:solidFill>
                <ns213:latin typeface="Arial"/>
                <ns213:ea typeface="Arial"/>
                <ns213:cs typeface="Arial"/>
              </ns213:defRPr>
            </ns213:pPr>
            <ns213:r>
              <ns213:rPr sz="1150" b="0">
                <ns213:solidFill>
                  <ns213:srgbClr val="20262C"/>
                </ns213:solidFill>
                <ns213:latin typeface="Arial"/>
                <ns213:ea typeface="Arial"/>
                <ns213:cs typeface="Arial"/>
              </ns213:rPr>
              <ns213:t/>
            </ns213:r>
          </ns213:p>
          <ns214:p xmlns:ns214="http://schemas.openxmlformats.org/drawingml/2006/main">
            <ns214:pPr algn="l">
              <ns214:lnSpc>
                <ns214:spcPct val="100000"/>
              </ns214:lnSpc>
              <ns214:defRPr sz="1150" b="0">
                <ns214:solidFill>
                  <ns214:srgbClr val="20262C"/>
                </ns214:solidFill>
                <ns214:latin typeface="Arial"/>
                <ns214:ea typeface="Arial"/>
                <ns214:cs typeface="Arial"/>
              </ns214:defRPr>
            </ns214:pPr>
            <ns214:r>
              <ns214:rPr sz="1150" b="0">
                <ns214:solidFill>
                  <ns214:srgbClr val="20262C"/>
                </ns214:solidFill>
                <ns214:latin typeface="Arial"/>
                <ns214:ea typeface="Arial"/>
                <ns214:cs typeface="Arial"/>
              </ns214:rPr>
              <ns214:t>Affected fund: Product A</ns214:t>
            </ns214:r>
          </ns214:p>
          <ns215:p xmlns:ns215="http://schemas.openxmlformats.org/drawingml/2006/main">
            <ns215:pPr algn="l">
              <ns215:lnSpc>
                <ns215:spcPct val="100000"/>
              </ns215:lnSpc>
              <ns215:defRPr sz="1150" b="0">
                <ns215:solidFill>
                  <ns215:srgbClr val="20262C"/>
                </ns215:solidFill>
                <ns215:latin typeface="Arial"/>
                <ns215:ea typeface="Arial"/>
                <ns215:cs typeface="Arial"/>
              </ns215:defRPr>
            </ns215:pPr>
            <ns215:r>
              <ns215:rPr sz="1150" b="0">
                <ns215:solidFill>
                  <ns215:srgbClr val="20262C"/>
                </ns215:solidFill>
                <ns215:latin typeface="Arial"/>
                <ns215:ea typeface="Arial"/>
                <ns215:cs typeface="Arial"/>
              </ns215:rPr>
              <ns215:t>Research follow-up:</ns215:t>
            </ns215:r>
          </ns215:p>
          <ns216:p xmlns:ns216="http://schemas.openxmlformats.org/drawingml/2006/main">
            <ns216:pPr algn="l">
              <ns216:lnSpc>
                <ns216:spcPct val="100000"/>
              </ns216:lnSpc>
              <ns216:defRPr sz="1150" b="0">
                <ns216:solidFill>
                  <ns216:srgbClr val="20262C"/>
                </ns216:solidFill>
                <ns216:latin typeface="Arial"/>
                <ns216:ea typeface="Arial"/>
                <ns216:cs typeface="Arial"/>
              </ns216:defRPr>
            </ns216:pPr>
            <ns216:r>
              <ns216:rPr sz="1150" b="0">
                <ns216:solidFill>
                  <ns216:srgbClr val="20262C"/>
                </ns216:solidFill>
                <ns216:latin typeface="Arial"/>
                <ns216:ea typeface="Arial"/>
                <ns216:cs typeface="Arial"/>
              </ns216:rPr>
              <ns216:t>assess cash-flow trends</ns216:t>
            </ns216:r>
          </ns216:p>
        </p:txBody>
      </p:sp>
      <p:cxnSp>
        <p:nvCxnSpPr>
          <p:cNvPr id="137" name="llm.credit.output"/>
          <p:cNvCxnSpPr/>
          <p:nvPr/>
        </p:nvCxnSpPr>
        <p:spPr>
          <ns217:xfrm xmlns:ns217="http://schemas.openxmlformats.org/drawingml/2006/main">
            <ns217:off x="5850000" y="2844000"/>
            <ns217:ext cx="241200" cy="1"/>
          </ns217:xfrm>
          <ns218:prstGeom xmlns:ns218="http://schemas.openxmlformats.org/drawingml/2006/main" prst="line">
            <ns218:avLst/>
          </ns218:prstGeom>
          <ns219:ln xmlns:ns219="http://schemas.openxmlformats.org/drawingml/2006/main" w="11430">
            <ns219:solidFill>
              <ns219:srgbClr val="005A9C"/>
            </ns219:solidFill>
            <ns219:tailEnd type="triangle" w="sm" len="sm"/>
          </ns219:ln>
        </p:spPr>
      </p:cxnSp>
      <p:sp>
        <p:nvSpPr>
          <p:cNvPr id="138" name="human.credit.action.0"/>
          <p:cNvSpPr/>
          <p:nvPr/>
        </p:nvSpPr>
        <p:spPr>
          <ns220:xfrm xmlns:ns220="http://schemas.openxmlformats.org/drawingml/2006/main">
            <ns220:off x="2422800" y="4032000"/>
            <ns220:ext cx="2005200" cy="468000"/>
          </ns220:xfrm>
          <ns221:prstGeom xmlns:ns221="http://schemas.openxmlformats.org/drawingml/2006/main" prst="roundRect">
            <ns221:avLst/>
          </ns221:prstGeom>
          <ns222:solidFill xmlns:ns222="http://schemas.openxmlformats.org/drawingml/2006/main">
            <ns222:srgbClr val="F3F7FA"/>
          </ns222:solidFill>
          <ns223:ln xmlns:ns223="http://schemas.openxmlformats.org/drawingml/2006/main" w="9525">
            <ns223:solidFill>
              <ns223:srgbClr val="65727D"/>
            </ns223:solidFill>
          </ns223:ln>
        </p:spPr>
        <p:txBody>
          <ns224:bodyPr xmlns:ns224="http://schemas.openxmlformats.org/drawingml/2006/main" wrap="square" lIns="61200" rIns="61200" tIns="61200" bIns="61200" anchor="ctr">
            <ns224:noAutofit/>
          </ns224:bodyPr>
          <ns225:lstStyle xmlns:ns225="http://schemas.openxmlformats.org/drawingml/2006/main"/>
          <ns226:p xmlns:ns226="http://schemas.openxmlformats.org/drawingml/2006/main">
            <ns226:pPr algn="l">
              <ns226:lnSpc>
                <ns226:spcPct val="105000"/>
              </ns226:lnSpc>
              <ns226:defRPr sz="1300" b="1">
                <ns226:solidFill>
                  <ns226:srgbClr val="65727D"/>
                </ns226:solidFill>
                <ns226:latin typeface="Arial"/>
                <ns226:ea typeface="Arial"/>
                <ns226:cs typeface="Arial"/>
              </ns226:defRPr>
            </ns226:pPr>
            <ns226:r>
              <ns226:rPr sz="1300" b="1">
                <ns226:solidFill>
                  <ns226:srgbClr val="65727D"/>
                </ns226:solidFill>
                <ns226:latin typeface="Arial"/>
                <ns226:ea typeface="Arial"/>
                <ns226:cs typeface="Arial"/>
              </ns226:rPr>
              <ns226:t>Risk staff</ns226:t>
            </ns226:r>
          </ns226:p>
          <ns227:p xmlns:ns227="http://schemas.openxmlformats.org/drawingml/2006/main">
            <ns227:pPr algn="l">
              <ns227:lnSpc>
                <ns227:spcPct val="105000"/>
              </ns227:lnSpc>
              <ns227:defRPr sz="1050" b="0">
                <ns227:solidFill>
                  <ns227:srgbClr val="20262C"/>
                </ns227:solidFill>
                <ns227:latin typeface="Arial"/>
                <ns227:ea typeface="Arial"/>
                <ns227:cs typeface="Arial"/>
              </ns227:defRPr>
            </ns227:pPr>
            <ns227:r>
              <ns227:rPr sz="1050" b="0">
                <ns227:solidFill>
                  <ns227:srgbClr val="20262C"/>
                </ns227:solidFill>
                <ns227:latin typeface="Arial"/>
                <ns227:ea typeface="Arial"/>
                <ns227:cs typeface="Arial"/>
              </ns227:rPr>
              <ns227:t>Verify</ns227:t>
            </ns227:r>
          </ns227:p>
        </p:txBody>
      </p:sp>
      <p:cxnSp>
        <p:nvCxnSpPr>
          <p:cNvPr id="139" name="human.credit.handoff.0"/>
          <p:cNvCxnSpPr/>
          <p:nvPr/>
        </p:nvCxnSpPr>
        <p:spPr>
          <ns228:xfrm xmlns:ns228="http://schemas.openxmlformats.org/drawingml/2006/main">
            <ns228:off x="4456800" y="4266000"/>
            <ns228:ext cx="61200" cy="1"/>
          </ns228:xfrm>
          <ns229:prstGeom xmlns:ns229="http://schemas.openxmlformats.org/drawingml/2006/main" prst="line">
            <ns229:avLst/>
          </ns229:prstGeom>
          <ns230:ln xmlns:ns230="http://schemas.openxmlformats.org/drawingml/2006/main" w="11430">
            <ns230:solidFill>
              <ns230:srgbClr val="005A9C"/>
            </ns230:solidFill>
            <ns230:tailEnd type="triangle" w="sm" len="sm"/>
          </ns230:ln>
        </p:spPr>
      </p:cxnSp>
      <p:sp>
        <p:nvSpPr>
          <p:cNvPr id="140" name="human.credit.action.1"/>
          <p:cNvSpPr/>
          <p:nvPr/>
        </p:nvSpPr>
        <p:spPr>
          <ns231:xfrm xmlns:ns231="http://schemas.openxmlformats.org/drawingml/2006/main">
            <ns231:off x="4554000" y="4032000"/>
            <ns231:ext cx="2005200" cy="468000"/>
          </ns231:xfrm>
          <ns232:prstGeom xmlns:ns232="http://schemas.openxmlformats.org/drawingml/2006/main" prst="roundRect">
            <ns232:avLst/>
          </ns232:prstGeom>
          <ns233:solidFill xmlns:ns233="http://schemas.openxmlformats.org/drawingml/2006/main">
            <ns233:srgbClr val="F3F7FA"/>
          </ns233:solidFill>
          <ns234:ln xmlns:ns234="http://schemas.openxmlformats.org/drawingml/2006/main" w="9525">
            <ns234:solidFill>
              <ns234:srgbClr val="65727D"/>
            </ns234:solidFill>
          </ns234:ln>
        </p:spPr>
        <p:txBody>
          <ns235:bodyPr xmlns:ns235="http://schemas.openxmlformats.org/drawingml/2006/main" wrap="square" lIns="61200" rIns="61200" tIns="61200" bIns="61200" anchor="ctr">
            <ns235:noAutofit/>
          </ns235:bodyPr>
          <ns236:lstStyle xmlns:ns236="http://schemas.openxmlformats.org/drawingml/2006/main"/>
          <ns237:p xmlns:ns237="http://schemas.openxmlformats.org/drawingml/2006/main">
            <ns237:pPr algn="l">
              <ns237:lnSpc>
                <ns237:spcPct val="105000"/>
              </ns237:lnSpc>
              <ns237:defRPr sz="1300" b="1">
                <ns237:solidFill>
                  <ns237:srgbClr val="65727D"/>
                </ns237:solidFill>
                <ns237:latin typeface="Arial"/>
                <ns237:ea typeface="Arial"/>
                <ns237:cs typeface="Arial"/>
              </ns237:defRPr>
            </ns237:pPr>
            <ns237:r>
              <ns237:rPr sz="1300" b="1">
                <ns237:solidFill>
                  <ns237:srgbClr val="65727D"/>
                </ns237:solidFill>
                <ns237:latin typeface="Arial"/>
                <ns237:ea typeface="Arial"/>
                <ns237:cs typeface="Arial"/>
              </ns237:rPr>
              <ns237:t>Analyst</ns237:t>
            </ns237:r>
          </ns237:p>
          <ns238:p xmlns:ns238="http://schemas.openxmlformats.org/drawingml/2006/main">
            <ns238:pPr algn="l">
              <ns238:lnSpc>
                <ns238:spcPct val="105000"/>
              </ns238:lnSpc>
              <ns238:defRPr sz="1050" b="0">
                <ns238:solidFill>
                  <ns238:srgbClr val="20262C"/>
                </ns238:solidFill>
                <ns238:latin typeface="Arial"/>
                <ns238:ea typeface="Arial"/>
                <ns238:cs typeface="Arial"/>
              </ns238:defRPr>
            </ns238:pPr>
            <ns238:r>
              <ns238:rPr sz="1050" b="0">
                <ns238:solidFill>
                  <ns238:srgbClr val="20262C"/>
                </ns238:solidFill>
                <ns238:latin typeface="Arial"/>
                <ns238:ea typeface="Arial"/>
                <ns238:cs typeface="Arial"/>
              </ns238:rPr>
              <ns238:t>Update assessment</ns238:t>
            </ns238:r>
          </ns238:p>
        </p:txBody>
      </p:sp>
      <p:cxnSp>
        <p:nvCxnSpPr>
          <p:cNvPr id="141" name="human.credit.handoff.1"/>
          <p:cNvCxnSpPr/>
          <p:nvPr/>
        </p:nvCxnSpPr>
        <p:spPr>
          <ns239:xfrm xmlns:ns239="http://schemas.openxmlformats.org/drawingml/2006/main">
            <ns239:off x="6588000" y="4266000"/>
            <ns239:ext cx="61200" cy="1"/>
          </ns239:xfrm>
          <ns240:prstGeom xmlns:ns240="http://schemas.openxmlformats.org/drawingml/2006/main" prst="line">
            <ns240:avLst/>
          </ns240:prstGeom>
          <ns241:ln xmlns:ns241="http://schemas.openxmlformats.org/drawingml/2006/main" w="11430">
            <ns241:solidFill>
              <ns241:srgbClr val="005A9C"/>
            </ns241:solidFill>
            <ns241:tailEnd type="triangle" w="sm" len="sm"/>
          </ns241:ln>
        </p:spPr>
      </p:cxnSp>
      <p:sp>
        <p:nvSpPr>
          <p:cNvPr id="142" name="human.credit.action.2"/>
          <p:cNvSpPr/>
          <p:nvPr/>
        </p:nvSpPr>
        <p:spPr>
          <ns242:xfrm xmlns:ns242="http://schemas.openxmlformats.org/drawingml/2006/main">
            <ns242:off x="6685200" y="4032000"/>
            <ns242:ext cx="2001600" cy="468000"/>
          </ns242:xfrm>
          <ns243:prstGeom xmlns:ns243="http://schemas.openxmlformats.org/drawingml/2006/main" prst="roundRect">
            <ns243:avLst/>
          </ns243:prstGeom>
          <ns244:solidFill xmlns:ns244="http://schemas.openxmlformats.org/drawingml/2006/main">
            <ns244:srgbClr val="F3F7FA"/>
          </ns244:solidFill>
          <ns245:ln xmlns:ns245="http://schemas.openxmlformats.org/drawingml/2006/main" w="9525">
            <ns245:solidFill>
              <ns245:srgbClr val="65727D"/>
            </ns245:solidFill>
          </ns245:ln>
        </p:spPr>
        <p:txBody>
          <ns246:bodyPr xmlns:ns246="http://schemas.openxmlformats.org/drawingml/2006/main" wrap="square" lIns="61200" rIns="61200" tIns="61200" bIns="61200" anchor="ctr">
            <ns246:noAutofit/>
          </ns246:bodyPr>
          <ns247:lstStyle xmlns:ns247="http://schemas.openxmlformats.org/drawingml/2006/main"/>
          <ns248:p xmlns:ns248="http://schemas.openxmlformats.org/drawingml/2006/main">
            <ns248:pPr algn="l">
              <ns248:lnSpc>
                <ns248:spcPct val="105000"/>
              </ns248:lnSpc>
              <ns248:defRPr sz="1300" b="1">
                <ns248:solidFill>
                  <ns248:srgbClr val="65727D"/>
                </ns248:solidFill>
                <ns248:latin typeface="Arial"/>
                <ns248:ea typeface="Arial"/>
                <ns248:cs typeface="Arial"/>
              </ns248:defRPr>
            </ns248:pPr>
            <ns248:r>
              <ns248:rPr sz="1300" b="1">
                <ns248:solidFill>
                  <ns248:srgbClr val="65727D"/>
                </ns248:solidFill>
                <ns248:latin typeface="Arial"/>
                <ns248:ea typeface="Arial"/>
                <ns248:cs typeface="Arial"/>
              </ns248:rPr>
              <ns248:t>Portfolio manager</ns248:t>
            </ns248:r>
          </ns248:p>
          <ns249:p xmlns:ns249="http://schemas.openxmlformats.org/drawingml/2006/main">
            <ns249:pPr algn="l">
              <ns249:lnSpc>
                <ns249:spcPct val="105000"/>
              </ns249:lnSpc>
              <ns249:defRPr sz="1050" b="0">
                <ns249:solidFill>
                  <ns249:srgbClr val="20262C"/>
                </ns249:solidFill>
                <ns249:latin typeface="Arial"/>
                <ns249:ea typeface="Arial"/>
                <ns249:cs typeface="Arial"/>
              </ns249:defRPr>
            </ns249:pPr>
            <ns249:r>
              <ns249:rPr sz="1050" b="0">
                <ns249:solidFill>
                  <ns249:srgbClr val="20262C"/>
                </ns249:solidFill>
                <ns249:latin typeface="Arial"/>
                <ns249:ea typeface="Arial"/>
                <ns249:cs typeface="Arial"/>
              </ns249:rPr>
              <ns249:t>Discuss response</ns249:t>
            </ns249:r>
          </ns249:p>
        </p:txBody>
      </p:sp>
      <p:cxnSp>
        <p:nvCxnSpPr>
          <p:cNvPr id="143" name="assessment.to.risk.staff.0"/>
          <p:cNvCxnSpPr/>
          <p:nvPr/>
        </p:nvCxnSpPr>
        <p:spPr>
          <ns250:xfrm xmlns:ns250="http://schemas.openxmlformats.org/drawingml/2006/main">
            <ns250:off x="7407000" y="3762000"/>
            <ns250:ext cx="1" cy="198000"/>
          </ns250:xfrm>
          <ns251:prstGeom xmlns:ns251="http://schemas.openxmlformats.org/drawingml/2006/main" prst="line">
            <ns251:avLst/>
          </ns251:prstGeom>
          <ns252:ln xmlns:ns252="http://schemas.openxmlformats.org/drawingml/2006/main" w="11430">
            <ns252:solidFill>
              <ns252:srgbClr val="317F7B"/>
            </ns252:solidFill>
          </ns252:ln>
        </p:spPr>
      </p:cxnSp>
      <p:cxnSp>
        <p:nvCxnSpPr>
          <p:cNvPr id="144" name="assessment.to.risk.staff.1"/>
          <p:cNvCxnSpPr/>
          <p:nvPr/>
        </p:nvCxnSpPr>
        <p:spPr>
          <ns253:xfrm xmlns:ns253="http://schemas.openxmlformats.org/drawingml/2006/main" flipH="1">
            <ns253:off x="3425400" y="3960000"/>
            <ns253:ext cx="3981600" cy="1"/>
          </ns253:xfrm>
          <ns254:prstGeom xmlns:ns254="http://schemas.openxmlformats.org/drawingml/2006/main" prst="line">
            <ns254:avLst/>
          </ns254:prstGeom>
          <ns255:ln xmlns:ns255="http://schemas.openxmlformats.org/drawingml/2006/main" w="11430">
            <ns255:solidFill>
              <ns255:srgbClr val="317F7B"/>
            </ns255:solidFill>
          </ns255:ln>
        </p:spPr>
      </p:cxnSp>
      <p:cxnSp>
        <p:nvCxnSpPr>
          <p:cNvPr id="145" name="assessment.to.risk.staff.2"/>
          <p:cNvCxnSpPr/>
          <p:nvPr/>
        </p:nvCxnSpPr>
        <p:spPr>
          <ns256:xfrm xmlns:ns256="http://schemas.openxmlformats.org/drawingml/2006/main">
            <ns256:off x="3425400" y="3960000"/>
            <ns256:ext cx="1" cy="36000"/>
          </ns256:xfrm>
          <ns257:prstGeom xmlns:ns257="http://schemas.openxmlformats.org/drawingml/2006/main" prst="line">
            <ns257:avLst/>
          </ns257:prstGeom>
          <ns258:ln xmlns:ns258="http://schemas.openxmlformats.org/drawingml/2006/main" w="11430">
            <ns258:solidFill>
              <ns258:srgbClr val="317F7B"/>
            </ns258:solidFill>
            <ns258:tailEnd type="triangle" w="sm" len="sm"/>
          </ns258:ln>
        </p:spPr>
      </p:cxnSp>
    </p:spTree>
    <p:extLst>
      <p:ext uri="{BB962C8B-B14F-4D97-AF65-F5344CB8AC3E}">
        <p14:creationId xmlns:p14="http://schemas.microsoft.com/office/powerpoint/2010/main" val="20765208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Processing operational documents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Back office / Document processing / Current workflow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65727D"/>
                </ns20:solidFill>
                <ns20:latin typeface="Arial"/>
                <ns20:ea typeface="Arial"/>
                <ns20:cs typeface="Arial"/>
              </ns20:defRPr>
            </ns20:pPr>
            <ns20:r>
              <ns20:rPr sz="1100" b="1">
                <ns20:solidFill>
                  <ns20:srgbClr val="65727D"/>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CBD4DA"/>
            </ns23:solidFill>
          </ns23:ln>
        </p:spPr>
      </p:cxnSp>
      <p:sp>
        <p:nvSpPr>
          <p:cNvPr id="105"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106"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107" name="map.task.client"/>
          <p:cNvSpPr/>
          <p:nvPr/>
        </p:nvSpPr>
        <p:spPr>
          <ns38:xfrm xmlns:ns38="http://schemas.openxmlformats.org/drawingml/2006/main">
            <ns38:off x="554400" y="2199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Client materials</ns44:t>
            </ns44:r>
          </ns44:p>
        </p:txBody>
      </p:sp>
      <p:sp>
        <p:nvSpPr>
          <p:cNvPr id="108" name="map.office.1"/>
          <p:cNvSpPr/>
          <p:nvPr/>
        </p:nvSpPr>
        <p:spPr>
          <ns45:xfrm xmlns:ns45="http://schemas.openxmlformats.org/drawingml/2006/main">
            <ns45:off x="486000" y="2548800"/>
            <ns45:ext cx="1692000" cy="180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100" b="1">
                <ns51:solidFill>
                  <ns51:srgbClr val="65727D"/>
                </ns51:solidFill>
                <ns51:latin typeface="Arial"/>
                <ns51:ea typeface="Arial"/>
                <ns51:cs typeface="Arial"/>
              </ns51:defRPr>
            </ns51:pPr>
            <ns51:r>
              <ns51:rPr sz="1100" b="1">
                <ns51:solidFill>
                  <ns51:srgbClr val="65727D"/>
                </ns51:solidFill>
                <ns51:latin typeface="Arial"/>
                <ns51:ea typeface="Arial"/>
                <ns51:cs typeface="Arial"/>
              </ns51:rPr>
              <ns51:t>Middle office</ns51:t>
            </ns51:r>
          </ns51:p>
        </p:txBody>
      </p:sp>
      <p:cxnSp>
        <p:nvCxnSpPr>
          <p:cNvPr id="109" name="map.office.rule.1"/>
          <p:cNvCxnSpPr/>
          <p:nvPr/>
        </p:nvCxnSpPr>
        <p:spPr>
          <ns52:xfrm xmlns:ns52="http://schemas.openxmlformats.org/drawingml/2006/main">
            <ns52:off x="457200" y="2768400"/>
            <ns52:ext cx="1742400" cy="1"/>
          </ns52:xfrm>
          <ns53:prstGeom xmlns:ns53="http://schemas.openxmlformats.org/drawingml/2006/main" prst="line">
            <ns53:avLst/>
          </ns53:prstGeom>
          <ns54:ln xmlns:ns54="http://schemas.openxmlformats.org/drawingml/2006/main" w="7620">
            <ns54:solidFill>
              <ns54:srgbClr val="CBD4DA"/>
            </ns54:solidFill>
          </ns54:ln>
        </p:spPr>
      </p:cxnSp>
      <p:sp>
        <p:nvSpPr>
          <p:cNvPr id="110" name="map.task.review"/>
          <p:cNvSpPr/>
          <p:nvPr/>
        </p:nvSpPr>
        <p:spPr>
          <ns55:xfrm xmlns:ns55="http://schemas.openxmlformats.org/drawingml/2006/main">
            <ns55:off x="554400" y="2847600"/>
            <ns55:ext cx="1562400" cy="1656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5000"/>
              </ns61:lnSpc>
              <ns61:defRPr sz="1050" b="0">
                <ns61:solidFill>
                  <ns61:srgbClr val="65727D"/>
                </ns61:solidFill>
                <ns61:latin typeface="Arial"/>
                <ns61:ea typeface="Arial"/>
                <ns61:cs typeface="Arial"/>
              </ns61:defRPr>
            </ns61:pPr>
            <ns61:r>
              <ns61:rPr sz="1050" b="0">
                <ns61:solidFill>
                  <ns61:srgbClr val="65727D"/>
                </ns61:solidFill>
                <ns61:latin typeface="Arial"/>
                <ns61:ea typeface="Arial"/>
                <ns61:cs typeface="Arial"/>
              </ns61:rPr>
              <ns61:t>Content review</ns61:t>
            </ns61:r>
          </ns61:p>
        </p:txBody>
      </p:sp>
      <p:sp>
        <p:nvSpPr>
          <p:cNvPr id="111" name="map.task.risk"/>
          <p:cNvSpPr/>
          <p:nvPr/>
        </p:nvSpPr>
        <p:spPr>
          <ns62:xfrm xmlns:ns62="http://schemas.openxmlformats.org/drawingml/2006/main">
            <ns62:off x="554400" y="3045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Risk analysis</ns68:t>
            </ns68:r>
          </ns68:p>
        </p:txBody>
      </p:sp>
      <p:sp>
        <p:nvSpPr>
          <p:cNvPr id="112" name="map.office.2"/>
          <p:cNvSpPr/>
          <p:nvPr/>
        </p:nvSpPr>
        <p:spPr>
          <ns69:xfrm xmlns:ns69="http://schemas.openxmlformats.org/drawingml/2006/main">
            <ns69:off x="486000" y="3391200"/>
            <ns69:ext cx="1692000" cy="180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100" b="1">
                <ns75:solidFill>
                  <ns75:srgbClr val="005A9C"/>
                </ns75:solidFill>
                <ns75:latin typeface="Arial"/>
                <ns75:ea typeface="Arial"/>
                <ns75:cs typeface="Arial"/>
              </ns75:defRPr>
            </ns75:pPr>
            <ns75:r>
              <ns75:rPr sz="1100" b="1">
                <ns75:solidFill>
                  <ns75:srgbClr val="005A9C"/>
                </ns75:solidFill>
                <ns75:latin typeface="Arial"/>
                <ns75:ea typeface="Arial"/>
                <ns75:cs typeface="Arial"/>
              </ns75:rPr>
              <ns75:t>Back office</ns75:t>
            </ns75:r>
          </ns75:p>
        </p:txBody>
      </p:sp>
      <p:cxnSp>
        <p:nvCxnSpPr>
          <p:cNvPr id="113" name="map.office.rule.2"/>
          <p:cNvCxnSpPr/>
          <p:nvPr/>
        </p:nvCxnSpPr>
        <p:spPr>
          <ns76:xfrm xmlns:ns76="http://schemas.openxmlformats.org/drawingml/2006/main">
            <ns76:off x="457200" y="3610800"/>
            <ns76:ext cx="1742400" cy="1"/>
          </ns76:xfrm>
          <ns77:prstGeom xmlns:ns77="http://schemas.openxmlformats.org/drawingml/2006/main" prst="line">
            <ns77:avLst/>
          </ns77:prstGeom>
          <ns78:ln xmlns:ns78="http://schemas.openxmlformats.org/drawingml/2006/main" w="7620">
            <ns78:solidFill>
              <ns78:srgbClr val="005A9C"/>
            </ns78:solidFill>
          </ns78:ln>
        </p:spPr>
      </p:cxnSp>
      <p:sp>
        <p:nvSpPr>
          <p:cNvPr id="114" name="map.task.focus.files"/>
          <p:cNvSpPr/>
          <p:nvPr/>
        </p:nvSpPr>
        <p:spPr>
          <ns79:xfrm xmlns:ns79="http://schemas.openxmlformats.org/drawingml/2006/main">
            <ns79:off x="486000" y="3686400"/>
            <ns79:ext cx="1677600" cy="176400"/>
          </ns79:xfrm>
          <ns80:prstGeom xmlns:ns80="http://schemas.openxmlformats.org/drawingml/2006/main" prst="rect">
            <ns80:avLst/>
          </ns80:prstGeom>
          <ns81:solidFill xmlns:ns81="http://schemas.openxmlformats.org/drawingml/2006/main">
            <ns81:srgbClr val="D9EAF7"/>
          </ns81:solidFill>
          <ns82:ln xmlns:ns82="http://schemas.openxmlformats.org/drawingml/2006/main" w="0">
            <ns82:noFill/>
          </ns82:ln>
        </p:spPr>
      </p:sp>
      <p:sp>
        <p:nvSpPr>
          <p:cNvPr id="115" name="map.task.file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1">
                <ns89:solidFill>
                  <ns89:srgbClr val="005A9C"/>
                </ns89:solidFill>
                <ns89:latin typeface="Arial"/>
                <ns89:ea typeface="Arial"/>
                <ns89:cs typeface="Arial"/>
              </ns89:defRPr>
            </ns89:pPr>
            <ns89:r>
              <ns89:rPr sz="1050" b="1">
                <ns89:solidFill>
                  <ns89:srgbClr val="005A9C"/>
                </ns89:solidFill>
                <ns89:latin typeface="Arial"/>
                <ns89:ea typeface="Arial"/>
                <ns89:cs typeface="Arial"/>
              </ns89:rPr>
              <ns89:t>Document processing</ns89:t>
            </ns89:r>
          </ns89:p>
        </p:txBody>
      </p:sp>
      <p:sp>
        <p:nvSpPr>
          <p:cNvPr id="116"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17" name="map.legend"/>
          <p:cNvSpPr/>
          <p:nvPr/>
        </p:nvSpPr>
        <p:spPr>
          <ns97:xfrm xmlns:ns97="http://schemas.openxmlformats.org/drawingml/2006/main">
            <ns97:off x="486000" y="4363200"/>
            <ns97:ext cx="16848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850" b="0">
                <ns103:solidFill>
                  <ns103:srgbClr val="65727D"/>
                </ns103:solidFill>
                <ns103:latin typeface="Arial"/>
                <ns103:ea typeface="Arial"/>
                <ns103:cs typeface="Arial"/>
              </ns103:defRPr>
            </ns103:pPr>
            <ns103:r>
              <ns103:rPr sz="850" b="0">
                <ns103:solidFill>
                  <ns103:srgbClr val="65727D"/>
                </ns103:solidFill>
                <ns103:latin typeface="Arial"/>
                <ns103:ea typeface="Arial"/>
                <ns103:cs typeface="Arial"/>
              </ns103:rPr>
              <ns103:t>Company workflow</ns103:t>
            </ns103:r>
          </ns103:p>
        </p:txBody>
      </p:sp>
      <p:sp>
        <p:nvSpPr>
          <p:cNvPr id="118" name="input.fax.scan.paper"/>
          <p:cNvSpPr/>
          <p:nvPr/>
        </p:nvSpPr>
        <p:spPr>
          <ns104:xfrm xmlns:ns104="http://schemas.openxmlformats.org/drawingml/2006/main">
            <ns104:off x="2422800" y="1548000"/>
            <ns104:ext cx="1620000" cy="576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65727D"/>
            </ns107:solidFill>
          </ns107:ln>
        </p:spPr>
      </p:sp>
      <p:sp>
        <p:nvSpPr>
          <p:cNvPr id="119" name="input.fax.scan.title"/>
          <p:cNvSpPr/>
          <p:nvPr/>
        </p:nvSpPr>
        <p:spPr>
          <ns108:xfrm xmlns:ns108="http://schemas.openxmlformats.org/drawingml/2006/main">
            <ns108:off x="2487600" y="1591200"/>
            <ns108:ext cx="14220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65727D"/>
                </ns114:solidFill>
                <ns114:latin typeface="Arial"/>
                <ns114:ea typeface="Arial"/>
                <ns114:cs typeface="Arial"/>
              </ns114:defRPr>
            </ns114:pPr>
            <ns114:r>
              <ns114:rPr sz="1250" b="1">
                <ns114:solidFill>
                  <ns114:srgbClr val="65727D"/>
                </ns114:solidFill>
                <ns114:latin typeface="Arial"/>
                <ns114:ea typeface="Arial"/>
                <ns114:cs typeface="Arial"/>
              </ns114:rPr>
              <ns114:t>Fax / scan</ns114:t>
            </ns114:r>
          </ns114:p>
        </p:txBody>
      </p:sp>
      <p:sp>
        <p:nvSpPr>
          <p:cNvPr id="120" name="input.fax.scan.content"/>
          <p:cNvSpPr/>
          <p:nvPr/>
        </p:nvSpPr>
        <p:spPr>
          <ns115:xfrm xmlns:ns115="http://schemas.openxmlformats.org/drawingml/2006/main">
            <ns115:off x="2487600" y="1807200"/>
            <ns115:ext cx="1490400" cy="266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200" b="0">
                <ns121:solidFill>
                  <ns121:srgbClr val="20262C"/>
                </ns121:solidFill>
                <ns121:latin typeface="Arial"/>
                <ns121:ea typeface="Arial"/>
                <ns121:cs typeface="Arial"/>
              </ns121:defRPr>
            </ns121:pPr>
            <ns121:r>
              <ns121:rPr sz="1200" b="0">
                <ns121:solidFill>
                  <ns121:srgbClr val="20262C"/>
                </ns121:solidFill>
                <ns121:latin typeface="Arial"/>
                <ns121:ea typeface="Arial"/>
                <ns121:cs typeface="Arial"/>
              </ns121:rPr>
              <ns121:t/>
            </ns121:r>
          </ns121:p>
        </p:txBody>
      </p:sp>
      <p:sp>
        <p:nvSpPr>
          <p:cNvPr id="121" name="human.ops.entry"/>
          <p:cNvSpPr/>
          <p:nvPr/>
        </p:nvSpPr>
        <p:spPr>
          <ns122:xfrm xmlns:ns122="http://schemas.openxmlformats.org/drawingml/2006/main">
            <ns122:off x="4392000" y="1548000"/>
            <ns122:ext cx="1458000" cy="576000"/>
          </ns122:xfrm>
          <ns123:prstGeom xmlns:ns123="http://schemas.openxmlformats.org/drawingml/2006/main" prst="roundRect">
            <ns123:avLst/>
          </ns123:prstGeom>
          <ns124:solidFill xmlns:ns124="http://schemas.openxmlformats.org/drawingml/2006/main">
            <ns124:srgbClr val="F3F7FA"/>
          </ns124:solidFill>
          <ns125:ln xmlns:ns125="http://schemas.openxmlformats.org/drawingml/2006/main" w="9525">
            <ns125:solidFill>
              <ns125:srgbClr val="65727D"/>
            </ns125:solidFill>
          </ns125:ln>
        </p:spPr>
        <p:txBody>
          <ns126:bodyPr xmlns:ns126="http://schemas.openxmlformats.org/drawingml/2006/main" wrap="square" lIns="61200" rIns="61200" tIns="61200" bIns="61200" anchor="ctr">
            <ns126:noAutofit/>
          </ns126:bodyPr>
          <ns127:lstStyle xmlns:ns127="http://schemas.openxmlformats.org/drawingml/2006/main"/>
          <ns128:p xmlns:ns128="http://schemas.openxmlformats.org/drawingml/2006/main">
            <ns128:pPr algn="l">
              <ns128:lnSpc>
                <ns128:spcPct val="105000"/>
              </ns128:lnSpc>
              <ns128:defRPr sz="1300" b="1">
                <ns128:solidFill>
                  <ns128:srgbClr val="65727D"/>
                </ns128:solidFill>
                <ns128:latin typeface="Arial"/>
                <ns128:ea typeface="Arial"/>
                <ns128:cs typeface="Arial"/>
              </ns128:defRPr>
            </ns128:pPr>
            <ns128:r>
              <ns128:rPr sz="1300" b="1">
                <ns128:solidFill>
                  <ns128:srgbClr val="65727D"/>
                </ns128:solidFill>
                <ns128:latin typeface="Arial"/>
                <ns128:ea typeface="Arial"/>
                <ns128:cs typeface="Arial"/>
              </ns128:rPr>
              <ns128:t>Operations</ns128:t>
            </ns128:r>
          </ns128:p>
          <ns129:p xmlns:ns129="http://schemas.openxmlformats.org/drawingml/2006/main">
            <ns129:pPr algn="l">
              <ns129:lnSpc>
                <ns129:spcPct val="105000"/>
              </ns129:lnSpc>
              <ns129:defRPr sz="1100" b="0">
                <ns129:solidFill>
                  <ns129:srgbClr val="20262C"/>
                </ns129:solidFill>
                <ns129:latin typeface="Arial"/>
                <ns129:ea typeface="Arial"/>
                <ns129:cs typeface="Arial"/>
              </ns129:defRPr>
            </ns129:pPr>
            <ns129:r>
              <ns129:rPr sz="1100" b="0">
                <ns129:solidFill>
                  <ns129:srgbClr val="20262C"/>
                </ns129:solidFill>
                <ns129:latin typeface="Arial"/>
                <ns129:ea typeface="Arial"/>
                <ns129:cs typeface="Arial"/>
              </ns129:rPr>
              <ns129:t>Enter / validate</ns129:t>
            </ns129:r>
          </ns129:p>
        </p:txBody>
      </p:sp>
      <p:sp>
        <p:nvSpPr>
          <p:cNvPr id="122" name="output.business.record"/>
          <p:cNvSpPr/>
          <p:nvPr/>
        </p:nvSpPr>
        <p:spPr>
          <ns130:xfrm xmlns:ns130="http://schemas.openxmlformats.org/drawingml/2006/main">
            <ns130:off x="6127200" y="1548000"/>
            <ns130:ext cx="2559600" cy="576000"/>
          </ns130:xfrm>
          <ns131:prstGeom xmlns:ns131="http://schemas.openxmlformats.org/drawingml/2006/main" prst="rect">
            <ns131:avLst/>
          </ns131:prstGeom>
          <ns132:solidFill xmlns:ns132="http://schemas.openxmlformats.org/drawingml/2006/main">
            <ns132:srgbClr val="F3F7FA"/>
          </ns132:solidFill>
          <ns133:ln xmlns:ns133="http://schemas.openxmlformats.org/drawingml/2006/main" w="9525">
            <ns133:solidFill>
              <ns133:srgbClr val="65727D"/>
            </ns133:solidFill>
          </ns133:ln>
        </p:spPr>
        <p:txBody>
          <ns134:bodyPr xmlns:ns134="http://schemas.openxmlformats.org/drawingml/2006/main" wrap="square" lIns="61200" rIns="61200" tIns="61200" bIns="61200" anchor="ctr">
            <ns134:noAutofit/>
          </ns134:bodyPr>
          <ns135:lstStyle xmlns:ns135="http://schemas.openxmlformats.org/drawingml/2006/main"/>
          <ns136:p xmlns:ns136="http://schemas.openxmlformats.org/drawingml/2006/main">
            <ns136:pPr algn="l">
              <ns136:lnSpc>
                <ns136:spcPct val="105000"/>
              </ns136:lnSpc>
              <ns136:defRPr sz="1300" b="1">
                <ns136:solidFill>
                  <ns136:srgbClr val="65727D"/>
                </ns136:solidFill>
                <ns136:latin typeface="Arial"/>
                <ns136:ea typeface="Arial"/>
                <ns136:cs typeface="Arial"/>
              </ns136:defRPr>
            </ns136:pPr>
            <ns136:r>
              <ns136:rPr sz="1300" b="1">
                <ns136:solidFill>
                  <ns136:srgbClr val="65727D"/>
                </ns136:solidFill>
                <ns136:latin typeface="Arial"/>
                <ns136:ea typeface="Arial"/>
                <ns136:cs typeface="Arial"/>
              </ns136:rPr>
              <ns136:t>Business record</ns136:t>
            </ns136:r>
          </ns136:p>
        </p:txBody>
      </p:sp>
      <p:cxnSp>
        <p:nvCxnSpPr>
          <p:cNvPr id="123" name="fax.to.ops"/>
          <p:cNvCxnSpPr/>
          <p:nvPr/>
        </p:nvCxnSpPr>
        <p:spPr>
          <ns137:xfrm xmlns:ns137="http://schemas.openxmlformats.org/drawingml/2006/main">
            <ns137:off x="4078800" y="1836000"/>
            <ns137:ext cx="277200" cy="1"/>
          </ns137:xfrm>
          <ns138:prstGeom xmlns:ns138="http://schemas.openxmlformats.org/drawingml/2006/main" prst="line">
            <ns138:avLst/>
          </ns138:prstGeom>
          <ns139:ln xmlns:ns139="http://schemas.openxmlformats.org/drawingml/2006/main" w="11430">
            <ns139:solidFill>
              <ns139:srgbClr val="005A9C"/>
            </ns139:solidFill>
            <ns139:tailEnd type="triangle" w="sm" len="sm"/>
          </ns139:ln>
        </p:spPr>
      </p:cxnSp>
      <p:cxnSp>
        <p:nvCxnSpPr>
          <p:cNvPr id="124" name="ops.to.record"/>
          <p:cNvCxnSpPr/>
          <p:nvPr/>
        </p:nvCxnSpPr>
        <p:spPr>
          <ns140:xfrm xmlns:ns140="http://schemas.openxmlformats.org/drawingml/2006/main">
            <ns140:off x="5886000" y="1836000"/>
            <ns140:ext cx="205200" cy="1"/>
          </ns140:xfrm>
          <ns141:prstGeom xmlns:ns141="http://schemas.openxmlformats.org/drawingml/2006/main" prst="line">
            <ns141:avLst/>
          </ns141:prstGeom>
          <ns142:ln xmlns:ns142="http://schemas.openxmlformats.org/drawingml/2006/main" w="11430">
            <ns142:solidFill>
              <ns142:srgbClr val="005A9C"/>
            </ns142:solidFill>
            <ns142:tailEnd type="triangle" w="sm" len="sm"/>
          </ns142:ln>
        </p:spPr>
      </p:cxnSp>
      <p:sp>
        <p:nvSpPr>
          <p:cNvPr id="125" name="input.existing.versions.paper"/>
          <p:cNvSpPr/>
          <p:nvPr/>
        </p:nvSpPr>
        <p:spPr>
          <ns143:xfrm xmlns:ns143="http://schemas.openxmlformats.org/drawingml/2006/main">
            <ns143:off x="2422800" y="2556000"/>
            <ns143:ext cx="1620000" cy="612000"/>
          </ns143:xfrm>
          <ns144:prstGeom xmlns:ns144="http://schemas.openxmlformats.org/drawingml/2006/main" prst="foldedCorner">
            <ns144:avLst/>
          </ns144:prstGeom>
          <ns145:solidFill xmlns:ns145="http://schemas.openxmlformats.org/drawingml/2006/main">
            <ns145:srgbClr val="FFFFFF"/>
          </ns145:solidFill>
          <ns146:ln xmlns:ns146="http://schemas.openxmlformats.org/drawingml/2006/main" w="9525">
            <ns146:solidFill>
              <ns146:srgbClr val="7363A6"/>
            </ns146:solidFill>
          </ns146:ln>
        </p:spPr>
      </p:sp>
      <p:sp>
        <p:nvSpPr>
          <p:cNvPr id="126" name="input.existing.versions.title"/>
          <p:cNvSpPr/>
          <p:nvPr/>
        </p:nvSpPr>
        <p:spPr>
          <ns147:xfrm xmlns:ns147="http://schemas.openxmlformats.org/drawingml/2006/main">
            <ns147:off x="2487600" y="2599200"/>
            <ns147:ext cx="1422000" cy="198000"/>
          </ns147:xfrm>
          <ns148:prstGeom xmlns:ns148="http://schemas.openxmlformats.org/drawingml/2006/main" prst="rect">
            <ns148:avLst/>
          </ns148:prstGeom>
          <ns149:noFill xmlns:ns149="http://schemas.openxmlformats.org/drawingml/2006/main"/>
          <ns150:ln xmlns:ns150="http://schemas.openxmlformats.org/drawingml/2006/main" w="0">
            <ns150:noFill/>
          </ns150:ln>
        </p:spPr>
        <p:txBody>
          <ns151:bodyPr xmlns:ns151="http://schemas.openxmlformats.org/drawingml/2006/main" wrap="square" lIns="0" rIns="0" tIns="0" bIns="0" anchor="t">
            <ns151:noAutofit/>
          </ns151:bodyPr>
          <ns152:lstStyle xmlns:ns152="http://schemas.openxmlformats.org/drawingml/2006/main"/>
          <ns153:p xmlns:ns153="http://schemas.openxmlformats.org/drawingml/2006/main">
            <ns153:pPr algn="l">
              <ns153:lnSpc>
                <ns153:spcPct val="105000"/>
              </ns153:lnSpc>
              <ns153:defRPr sz="1250" b="1">
                <ns153:solidFill>
                  <ns153:srgbClr val="7363A6"/>
                </ns153:solidFill>
                <ns153:latin typeface="Arial"/>
                <ns153:ea typeface="Arial"/>
                <ns153:cs typeface="Arial"/>
              </ns153:defRPr>
            </ns153:pPr>
            <ns153:r>
              <ns153:rPr sz="1250" b="1">
                <ns153:solidFill>
                  <ns153:srgbClr val="7363A6"/>
                </ns153:solidFill>
                <ns153:latin typeface="Arial"/>
                <ns153:ea typeface="Arial"/>
                <ns153:cs typeface="Arial"/>
              </ns153:rPr>
              <ns153:t>Existing V1 / V2</ns153:t>
            </ns153:r>
          </ns153:p>
        </p:txBody>
      </p:sp>
      <p:sp>
        <p:nvSpPr>
          <p:cNvPr id="127" name="input.existing.versions.content"/>
          <p:cNvSpPr/>
          <p:nvPr/>
        </p:nvSpPr>
        <p:spPr>
          <ns154:xfrm xmlns:ns154="http://schemas.openxmlformats.org/drawingml/2006/main">
            <ns154:off x="2487600" y="2815200"/>
            <ns154:ext cx="1490400" cy="302400"/>
          </ns154:xfrm>
          <ns155:prstGeom xmlns:ns155="http://schemas.openxmlformats.org/drawingml/2006/main" prst="rect">
            <ns155:avLst/>
          </ns155:prstGeom>
          <ns156:noFill xmlns:ns156="http://schemas.openxmlformats.org/drawingml/2006/main"/>
          <ns157:ln xmlns:ns157="http://schemas.openxmlformats.org/drawingml/2006/main" w="0">
            <ns157:noFill/>
          </ns157:ln>
        </p:spPr>
        <p:txBody>
          <ns158:bodyPr xmlns:ns158="http://schemas.openxmlformats.org/drawingml/2006/main" wrap="square" lIns="0" rIns="0" tIns="0" bIns="0" anchor="t">
            <ns158:noAutofit/>
          </ns158:bodyPr>
          <ns159:lstStyle xmlns:ns159="http://schemas.openxmlformats.org/drawingml/2006/main"/>
          <ns160:p xmlns:ns160="http://schemas.openxmlformats.org/drawingml/2006/main">
            <ns160:pPr algn="l">
              <ns160:lnSpc>
                <ns160:spcPct val="100000"/>
              </ns160:lnSpc>
              <ns160:defRPr sz="1050" b="0">
                <ns160:solidFill>
                  <ns160:srgbClr val="20262C"/>
                </ns160:solidFill>
                <ns160:latin typeface="Arial"/>
                <ns160:ea typeface="Arial"/>
                <ns160:cs typeface="Arial"/>
              </ns160:defRPr>
            </ns160:pPr>
            <ns160:r>
              <ns160:rPr sz="1050" b="0">
                <ns160:solidFill>
                  <ns160:srgbClr val="20262C"/>
                </ns160:solidFill>
                <ns160:latin typeface="Arial"/>
                <ns160:ea typeface="Arial"/>
                <ns160:cs typeface="Arial"/>
              </ns160:rPr>
              <ns160:t>Quarterly client update</ns160:t>
            </ns160:r>
          </ns160:p>
        </p:txBody>
      </p:sp>
      <p:sp>
        <p:nvSpPr>
          <p:cNvPr id="128" name="human.ops.compare"/>
          <p:cNvSpPr/>
          <p:nvPr/>
        </p:nvSpPr>
        <p:spPr>
          <ns161:xfrm xmlns:ns161="http://schemas.openxmlformats.org/drawingml/2006/main">
            <ns161:off x="4392000" y="2556000"/>
            <ns161:ext cx="1458000" cy="612000"/>
          </ns161:xfrm>
          <ns162:prstGeom xmlns:ns162="http://schemas.openxmlformats.org/drawingml/2006/main" prst="roundRect">
            <ns162:avLst/>
          </ns162:prstGeom>
          <ns163:solidFill xmlns:ns163="http://schemas.openxmlformats.org/drawingml/2006/main">
            <ns163:srgbClr val="F3F7FA"/>
          </ns163:solidFill>
          <ns164:ln xmlns:ns164="http://schemas.openxmlformats.org/drawingml/2006/main" w="9525">
            <ns164:solidFill>
              <ns164:srgbClr val="65727D"/>
            </ns164:solidFill>
          </ns164:ln>
        </p:spPr>
        <p:txBody>
          <ns165:bodyPr xmlns:ns165="http://schemas.openxmlformats.org/drawingml/2006/main" wrap="square" lIns="61200" rIns="61200" tIns="61200" bIns="61200" anchor="ctr">
            <ns165:noAutofit/>
          </ns165:bodyPr>
          <ns166:lstStyle xmlns:ns166="http://schemas.openxmlformats.org/drawingml/2006/main"/>
          <ns167:p xmlns:ns167="http://schemas.openxmlformats.org/drawingml/2006/main">
            <ns167:pPr algn="l">
              <ns167:lnSpc>
                <ns167:spcPct val="105000"/>
              </ns167:lnSpc>
              <ns167:defRPr sz="1300" b="1">
                <ns167:solidFill>
                  <ns167:srgbClr val="65727D"/>
                </ns167:solidFill>
                <ns167:latin typeface="Arial"/>
                <ns167:ea typeface="Arial"/>
                <ns167:cs typeface="Arial"/>
              </ns167:defRPr>
            </ns167:pPr>
            <ns167:r>
              <ns167:rPr sz="1300" b="1">
                <ns167:solidFill>
                  <ns167:srgbClr val="65727D"/>
                </ns167:solidFill>
                <ns167:latin typeface="Arial"/>
                <ns167:ea typeface="Arial"/>
                <ns167:cs typeface="Arial"/>
              </ns167:rPr>
              <ns167:t>Operations</ns167:t>
            </ns167:r>
          </ns167:p>
          <ns168:p xmlns:ns168="http://schemas.openxmlformats.org/drawingml/2006/main">
            <ns168:pPr algn="l">
              <ns168:lnSpc>
                <ns168:spcPct val="105000"/>
              </ns168:lnSpc>
              <ns168:defRPr sz="1100" b="0">
                <ns168:solidFill>
                  <ns168:srgbClr val="20262C"/>
                </ns168:solidFill>
                <ns168:latin typeface="Arial"/>
                <ns168:ea typeface="Arial"/>
                <ns168:cs typeface="Arial"/>
              </ns168:defRPr>
            </ns168:pPr>
            <ns168:r>
              <ns168:rPr sz="1100" b="0">
                <ns168:solidFill>
                  <ns168:srgbClr val="20262C"/>
                </ns168:solidFill>
                <ns168:latin typeface="Arial"/>
                <ns168:ea typeface="Arial"/>
                <ns168:cs typeface="Arial"/>
              </ns168:rPr>
              <ns168:t>Compare versions</ns168:t>
            </ns168:r>
          </ns168:p>
        </p:txBody>
      </p:sp>
      <p:sp>
        <p:nvSpPr>
          <p:cNvPr id="129" name="output.manual.change.summary.paper"/>
          <p:cNvSpPr/>
          <p:nvPr/>
        </p:nvSpPr>
        <p:spPr>
          <ns169:xfrm xmlns:ns169="http://schemas.openxmlformats.org/drawingml/2006/main">
            <ns169:off x="6127200" y="2556000"/>
            <ns169:ext cx="2559600" cy="612000"/>
          </ns169:xfrm>
          <ns170:prstGeom xmlns:ns170="http://schemas.openxmlformats.org/drawingml/2006/main" prst="foldedCorner">
            <ns170:avLst/>
          </ns170:prstGeom>
          <ns171:solidFill xmlns:ns171="http://schemas.openxmlformats.org/drawingml/2006/main">
            <ns171:srgbClr val="FFFFFF"/>
          </ns171:solidFill>
          <ns172:ln xmlns:ns172="http://schemas.openxmlformats.org/drawingml/2006/main" w="9525">
            <ns172:solidFill>
              <ns172:srgbClr val="7363A6"/>
            </ns172:solidFill>
          </ns172:ln>
        </p:spPr>
      </p:sp>
      <p:sp>
        <p:nvSpPr>
          <p:cNvPr id="130" name="output.manual.change.summary.title"/>
          <p:cNvSpPr/>
          <p:nvPr/>
        </p:nvSpPr>
        <p:spPr>
          <ns173:xfrm xmlns:ns173="http://schemas.openxmlformats.org/drawingml/2006/main">
            <ns173:off x="6192000" y="2599200"/>
            <ns173:ext cx="2361600" cy="198000"/>
          </ns173:xfrm>
          <ns174:prstGeom xmlns:ns174="http://schemas.openxmlformats.org/drawingml/2006/main" prst="rect">
            <ns174:avLst/>
          </ns174:prstGeom>
          <ns175:noFill xmlns:ns175="http://schemas.openxmlformats.org/drawingml/2006/main"/>
          <ns176:ln xmlns:ns176="http://schemas.openxmlformats.org/drawingml/2006/main" w="0">
            <ns176:noFill/>
          </ns176:ln>
        </p:spPr>
        <p:txBody>
          <ns177:bodyPr xmlns:ns177="http://schemas.openxmlformats.org/drawingml/2006/main" wrap="square" lIns="0" rIns="0" tIns="0" bIns="0" anchor="t">
            <ns177:noAutofit/>
          </ns177:bodyPr>
          <ns178:lstStyle xmlns:ns178="http://schemas.openxmlformats.org/drawingml/2006/main"/>
          <ns179:p xmlns:ns179="http://schemas.openxmlformats.org/drawingml/2006/main">
            <ns179:pPr algn="l">
              <ns179:lnSpc>
                <ns179:spcPct val="105000"/>
              </ns179:lnSpc>
              <ns179:defRPr sz="1250" b="1">
                <ns179:solidFill>
                  <ns179:srgbClr val="7363A6"/>
                </ns179:solidFill>
                <ns179:latin typeface="Arial"/>
                <ns179:ea typeface="Arial"/>
                <ns179:cs typeface="Arial"/>
              </ns179:defRPr>
            </ns179:pPr>
            <ns179:r>
              <ns179:rPr sz="1250" b="1">
                <ns179:solidFill>
                  <ns179:srgbClr val="7363A6"/>
                </ns179:solidFill>
                <ns179:latin typeface="Arial"/>
                <ns179:ea typeface="Arial"/>
                <ns179:cs typeface="Arial"/>
              </ns179:rPr>
              <ns179:t>Change summary</ns179:t>
            </ns179:r>
          </ns179:p>
        </p:txBody>
      </p:sp>
      <p:sp>
        <p:nvSpPr>
          <p:cNvPr id="131" name="output.manual.change.summary.content"/>
          <p:cNvSpPr/>
          <p:nvPr/>
        </p:nvSpPr>
        <p:spPr>
          <ns180:xfrm xmlns:ns180="http://schemas.openxmlformats.org/drawingml/2006/main">
            <ns180:off x="6192000" y="2815200"/>
            <ns180:ext cx="2430000" cy="302400"/>
          </ns180:xfrm>
          <ns181:prstGeom xmlns:ns181="http://schemas.openxmlformats.org/drawingml/2006/main" prst="rect">
            <ns181:avLst/>
          </ns181:prstGeom>
          <ns182:noFill xmlns:ns182="http://schemas.openxmlformats.org/drawingml/2006/main"/>
          <ns183:ln xmlns:ns183="http://schemas.openxmlformats.org/drawingml/2006/main" w="0">
            <ns183:noFill/>
          </ns183:ln>
        </p:spPr>
        <p:txBody>
          <ns184:bodyPr xmlns:ns184="http://schemas.openxmlformats.org/drawingml/2006/main" wrap="square" lIns="0" rIns="0" tIns="0" bIns="0" anchor="t">
            <ns184:noAutofit/>
          </ns184:bodyPr>
          <ns185:lstStyle xmlns:ns185="http://schemas.openxmlformats.org/drawingml/2006/main"/>
          <ns186:p xmlns:ns186="http://schemas.openxmlformats.org/drawingml/2006/main">
            <ns186:pPr algn="l">
              <ns186:lnSpc>
                <ns186:spcPct val="100000"/>
              </ns186:lnSpc>
              <ns186:defRPr sz="1100" b="0">
                <ns186:solidFill>
                  <ns186:srgbClr val="20262C"/>
                </ns186:solidFill>
                <ns186:latin typeface="Arial"/>
                <ns186:ea typeface="Arial"/>
                <ns186:cs typeface="Arial"/>
              </ns186:defRPr>
            </ns186:pPr>
            <ns186:r>
              <ns186:rPr sz="1100" b="0">
                <ns186:solidFill>
                  <ns186:srgbClr val="20262C"/>
                </ns186:solidFill>
                <ns186:latin typeface="Arial"/>
                <ns186:ea typeface="Arial"/>
                <ns186:cs typeface="Arial"/>
              </ns186:rPr>
              <ns186:t>Detected differences</ns186:t>
            </ns186:r>
          </ns186:p>
        </p:txBody>
      </p:sp>
      <p:cxnSp>
        <p:nvCxnSpPr>
          <p:cNvPr id="132" name="versions.to.compare"/>
          <p:cNvCxnSpPr/>
          <p:nvPr/>
        </p:nvCxnSpPr>
        <p:spPr>
          <ns187:xfrm xmlns:ns187="http://schemas.openxmlformats.org/drawingml/2006/main">
            <ns187:off x="4078800" y="2862000"/>
            <ns187:ext cx="277200" cy="1"/>
          </ns187:xfrm>
          <ns188:prstGeom xmlns:ns188="http://schemas.openxmlformats.org/drawingml/2006/main" prst="line">
            <ns188:avLst/>
          </ns188:prstGeom>
          <ns189:ln xmlns:ns189="http://schemas.openxmlformats.org/drawingml/2006/main" w="11430">
            <ns189:solidFill>
              <ns189:srgbClr val="7363A6"/>
            </ns189:solidFill>
            <ns189:tailEnd type="triangle" w="sm" len="sm"/>
          </ns189:ln>
        </p:spPr>
      </p:cxnSp>
      <p:cxnSp>
        <p:nvCxnSpPr>
          <p:cNvPr id="133" name="comparison.to.summary"/>
          <p:cNvCxnSpPr/>
          <p:nvPr/>
        </p:nvCxnSpPr>
        <p:spPr>
          <ns190:xfrm xmlns:ns190="http://schemas.openxmlformats.org/drawingml/2006/main">
            <ns190:off x="5886000" y="2862000"/>
            <ns190:ext cx="205200" cy="1"/>
          </ns190:xfrm>
          <ns191:prstGeom xmlns:ns191="http://schemas.openxmlformats.org/drawingml/2006/main" prst="line">
            <ns191:avLst/>
          </ns191:prstGeom>
          <ns192:ln xmlns:ns192="http://schemas.openxmlformats.org/drawingml/2006/main" w="11430">
            <ns192:solidFill>
              <ns192:srgbClr val="7363A6"/>
            </ns192:solidFill>
            <ns192:tailEnd type="triangle" w="sm" len="sm"/>
          </ns192:ln>
        </p:spPr>
      </p:cxnSp>
      <p:sp>
        <p:nvSpPr>
          <p:cNvPr id="134" name="input.related.documents.paper"/>
          <p:cNvSpPr/>
          <p:nvPr/>
        </p:nvSpPr>
        <p:spPr>
          <ns193:xfrm xmlns:ns193="http://schemas.openxmlformats.org/drawingml/2006/main">
            <ns193:off x="2422800" y="3726000"/>
            <ns193:ext cx="1620000" cy="666000"/>
          </ns193:xfrm>
          <ns194:prstGeom xmlns:ns194="http://schemas.openxmlformats.org/drawingml/2006/main" prst="foldedCorner">
            <ns194:avLst/>
          </ns194:prstGeom>
          <ns195:solidFill xmlns:ns195="http://schemas.openxmlformats.org/drawingml/2006/main">
            <ns195:srgbClr val="FFFFFF"/>
          </ns195:solidFill>
          <ns196:ln xmlns:ns196="http://schemas.openxmlformats.org/drawingml/2006/main" w="9525">
            <ns196:solidFill>
              <ns196:srgbClr val="65727D"/>
            </ns196:solidFill>
          </ns196:ln>
        </p:spPr>
      </p:sp>
      <p:sp>
        <p:nvSpPr>
          <p:cNvPr id="135" name="input.related.documents.title"/>
          <p:cNvSpPr/>
          <p:nvPr/>
        </p:nvSpPr>
        <p:spPr>
          <ns197:xfrm xmlns:ns197="http://schemas.openxmlformats.org/drawingml/2006/main">
            <ns197:off x="2487600" y="3769200"/>
            <ns197:ext cx="1422000" cy="198000"/>
          </ns197:xfrm>
          <ns198:prstGeom xmlns:ns198="http://schemas.openxmlformats.org/drawingml/2006/main" prst="rect">
            <ns198:avLst/>
          </ns198:prstGeom>
          <ns199:noFill xmlns:ns199="http://schemas.openxmlformats.org/drawingml/2006/main"/>
          <ns200:ln xmlns:ns200="http://schemas.openxmlformats.org/drawingml/2006/main" w="0">
            <ns200:noFill/>
          </ns200:ln>
        </p:spPr>
        <p:txBody>
          <ns201:bodyPr xmlns:ns201="http://schemas.openxmlformats.org/drawingml/2006/main" wrap="square" lIns="0" rIns="0" tIns="0" bIns="0" anchor="t">
            <ns201:noAutofit/>
          </ns201:bodyPr>
          <ns202:lstStyle xmlns:ns202="http://schemas.openxmlformats.org/drawingml/2006/main"/>
          <ns203:p xmlns:ns203="http://schemas.openxmlformats.org/drawingml/2006/main">
            <ns203:pPr algn="l">
              <ns203:lnSpc>
                <ns203:spcPct val="105000"/>
              </ns203:lnSpc>
              <ns203:defRPr sz="1250" b="1">
                <ns203:solidFill>
                  <ns203:srgbClr val="65727D"/>
                </ns203:solidFill>
                <ns203:latin typeface="Arial"/>
                <ns203:ea typeface="Arial"/>
                <ns203:cs typeface="Arial"/>
              </ns203:defRPr>
            </ns203:pPr>
            <ns203:r>
              <ns203:rPr sz="1250" b="1">
                <ns203:solidFill>
                  <ns203:srgbClr val="65727D"/>
                </ns203:solidFill>
                <ns203:latin typeface="Arial"/>
                <ns203:ea typeface="Arial"/>
                <ns203:cs typeface="Arial"/>
              </ns203:rPr>
              <ns203:t>Related docs</ns203:t>
            </ns203:r>
          </ns203:p>
        </p:txBody>
      </p:sp>
      <p:sp>
        <p:nvSpPr>
          <p:cNvPr id="136" name="input.related.documents.content"/>
          <p:cNvSpPr/>
          <p:nvPr/>
        </p:nvSpPr>
        <p:spPr>
          <ns204:xfrm xmlns:ns204="http://schemas.openxmlformats.org/drawingml/2006/main">
            <ns204:off x="2487600" y="3985200"/>
            <ns204:ext cx="1490400" cy="356400"/>
          </ns204:xfrm>
          <ns205:prstGeom xmlns:ns205="http://schemas.openxmlformats.org/drawingml/2006/main" prst="rect">
            <ns205:avLst/>
          </ns205:prstGeom>
          <ns206:noFill xmlns:ns206="http://schemas.openxmlformats.org/drawingml/2006/main"/>
          <ns207:ln xmlns:ns207="http://schemas.openxmlformats.org/drawingml/2006/main" w="0">
            <ns207:noFill/>
          </ns207:ln>
        </p:spPr>
        <p:txBody>
          <ns208:bodyPr xmlns:ns208="http://schemas.openxmlformats.org/drawingml/2006/main" wrap="square" lIns="0" rIns="0" tIns="0" bIns="0" anchor="t">
            <ns208:noAutofit/>
          </ns208:bodyPr>
          <ns209:lstStyle xmlns:ns209="http://schemas.openxmlformats.org/drawingml/2006/main"/>
          <ns210:p xmlns:ns210="http://schemas.openxmlformats.org/drawingml/2006/main">
            <ns210:pPr algn="l">
              <ns210:lnSpc>
                <ns210:spcPct val="100000"/>
              </ns210:lnSpc>
              <ns210:defRPr sz="1050" b="0">
                <ns210:solidFill>
                  <ns210:srgbClr val="20262C"/>
                </ns210:solidFill>
                <ns210:latin typeface="Arial"/>
                <ns210:ea typeface="Arial"/>
                <ns210:cs typeface="Arial"/>
              </ns210:defRPr>
            </ns210:pPr>
            <ns210:r>
              <ns210:rPr sz="1050" b="0">
                <ns210:solidFill>
                  <ns210:srgbClr val="20262C"/>
                </ns210:solidFill>
                <ns210:latin typeface="Arial"/>
                <ns210:ea typeface="Arial"/>
                <ns210:cs typeface="Arial"/>
              </ns210:rPr>
              <ns210:t>Client files / Q&amp;A</ns210:t>
            </ns210:r>
          </ns210:p>
        </p:txBody>
      </p:sp>
      <p:sp>
        <p:nvSpPr>
          <p:cNvPr id="137" name="human.ops.revise"/>
          <p:cNvSpPr/>
          <p:nvPr/>
        </p:nvSpPr>
        <p:spPr>
          <ns211:xfrm xmlns:ns211="http://schemas.openxmlformats.org/drawingml/2006/main">
            <ns211:off x="4392000" y="3726000"/>
            <ns211:ext cx="1458000" cy="666000"/>
          </ns211:xfrm>
          <ns212:prstGeom xmlns:ns212="http://schemas.openxmlformats.org/drawingml/2006/main" prst="roundRect">
            <ns212:avLst/>
          </ns212:prstGeom>
          <ns213:solidFill xmlns:ns213="http://schemas.openxmlformats.org/drawingml/2006/main">
            <ns213:srgbClr val="F3F7FA"/>
          </ns213:solidFill>
          <ns214:ln xmlns:ns214="http://schemas.openxmlformats.org/drawingml/2006/main" w="9525">
            <ns214:solidFill>
              <ns214:srgbClr val="65727D"/>
            </ns214:solidFill>
          </ns214:ln>
        </p:spPr>
        <p:txBody>
          <ns215:bodyPr xmlns:ns215="http://schemas.openxmlformats.org/drawingml/2006/main" wrap="square" lIns="61200" rIns="61200" tIns="61200" bIns="61200" anchor="ctr">
            <ns215:noAutofit/>
          </ns215:bodyPr>
          <ns216:lstStyle xmlns:ns216="http://schemas.openxmlformats.org/drawingml/2006/main"/>
          <ns217:p xmlns:ns217="http://schemas.openxmlformats.org/drawingml/2006/main">
            <ns217:pPr algn="l">
              <ns217:lnSpc>
                <ns217:spcPct val="105000"/>
              </ns217:lnSpc>
              <ns217:defRPr sz="1300" b="1">
                <ns217:solidFill>
                  <ns217:srgbClr val="65727D"/>
                </ns217:solidFill>
                <ns217:latin typeface="Arial"/>
                <ns217:ea typeface="Arial"/>
                <ns217:cs typeface="Arial"/>
              </ns217:defRPr>
            </ns217:pPr>
            <ns217:r>
              <ns217:rPr sz="1300" b="1">
                <ns217:solidFill>
                  <ns217:srgbClr val="65727D"/>
                </ns217:solidFill>
                <ns217:latin typeface="Arial"/>
                <ns217:ea typeface="Arial"/>
                <ns217:cs typeface="Arial"/>
              </ns217:rPr>
              <ns217:t>Operations</ns217:t>
            </ns217:r>
          </ns217:p>
          <ns218:p xmlns:ns218="http://schemas.openxmlformats.org/drawingml/2006/main">
            <ns218:pPr algn="l">
              <ns218:lnSpc>
                <ns218:spcPct val="105000"/>
              </ns218:lnSpc>
              <ns218:defRPr sz="1100" b="0">
                <ns218:solidFill>
                  <ns218:srgbClr val="20262C"/>
                </ns218:solidFill>
                <ns218:latin typeface="Arial"/>
                <ns218:ea typeface="Arial"/>
                <ns218:cs typeface="Arial"/>
              </ns218:defRPr>
            </ns218:pPr>
            <ns218:r>
              <ns218:rPr sz="1100" b="0">
                <ns218:solidFill>
                  <ns218:srgbClr val="20262C"/>
                </ns218:solidFill>
                <ns218:latin typeface="Arial"/>
                <ns218:ea typeface="Arial"/>
                <ns218:cs typeface="Arial"/>
              </ns218:rPr>
              <ns218:t>Apply changes</ns218:t>
            </ns218:r>
          </ns218:p>
        </p:txBody>
      </p:sp>
      <p:sp>
        <p:nvSpPr>
          <p:cNvPr id="138" name="output.updated.materials"/>
          <p:cNvSpPr/>
          <p:nvPr/>
        </p:nvSpPr>
        <p:spPr>
          <ns219:xfrm xmlns:ns219="http://schemas.openxmlformats.org/drawingml/2006/main">
            <ns219:off x="6127200" y="3726000"/>
            <ns219:ext cx="2559600" cy="666000"/>
          </ns219:xfrm>
          <ns220:prstGeom xmlns:ns220="http://schemas.openxmlformats.org/drawingml/2006/main" prst="rect">
            <ns220:avLst/>
          </ns220:prstGeom>
          <ns221:solidFill xmlns:ns221="http://schemas.openxmlformats.org/drawingml/2006/main">
            <ns221:srgbClr val="F3F7FA"/>
          </ns221:solidFill>
          <ns222:ln xmlns:ns222="http://schemas.openxmlformats.org/drawingml/2006/main" w="9525">
            <ns222:solidFill>
              <ns222:srgbClr val="65727D"/>
            </ns222:solidFill>
          </ns222:ln>
        </p:spPr>
        <p:txBody>
          <ns223:bodyPr xmlns:ns223="http://schemas.openxmlformats.org/drawingml/2006/main" wrap="square" lIns="61200" rIns="61200" tIns="61200" bIns="61200" anchor="ctr">
            <ns223:noAutofit/>
          </ns223:bodyPr>
          <ns224:lstStyle xmlns:ns224="http://schemas.openxmlformats.org/drawingml/2006/main"/>
          <ns225:p xmlns:ns225="http://schemas.openxmlformats.org/drawingml/2006/main">
            <ns225:pPr algn="l">
              <ns225:lnSpc>
                <ns225:spcPct val="105000"/>
              </ns225:lnSpc>
              <ns225:defRPr sz="1300" b="1">
                <ns225:solidFill>
                  <ns225:srgbClr val="65727D"/>
                </ns225:solidFill>
                <ns225:latin typeface="Arial"/>
                <ns225:ea typeface="Arial"/>
                <ns225:cs typeface="Arial"/>
              </ns225:defRPr>
            </ns225:pPr>
            <ns225:r>
              <ns225:rPr sz="1300" b="1">
                <ns225:solidFill>
                  <ns225:srgbClr val="65727D"/>
                </ns225:solidFill>
                <ns225:latin typeface="Arial"/>
                <ns225:ea typeface="Arial"/>
                <ns225:cs typeface="Arial"/>
              </ns225:rPr>
              <ns225:t>Updated materials</ns225:t>
            </ns225:r>
          </ns225:p>
          <ns226:p xmlns:ns226="http://schemas.openxmlformats.org/drawingml/2006/main">
            <ns226:pPr algn="l">
              <ns226:lnSpc>
                <ns226:spcPct val="105000"/>
              </ns226:lnSpc>
              <ns226:defRPr sz="1100" b="0">
                <ns226:solidFill>
                  <ns226:srgbClr val="20262C"/>
                </ns226:solidFill>
                <ns226:latin typeface="Arial"/>
                <ns226:ea typeface="Arial"/>
                <ns226:cs typeface="Arial"/>
              </ns226:defRPr>
            </ns226:pPr>
            <ns226:r>
              <ns226:rPr sz="1100" b="0">
                <ns226:solidFill>
                  <ns226:srgbClr val="20262C"/>
                </ns226:solidFill>
                <ns226:latin typeface="Arial"/>
                <ns226:ea typeface="Arial"/>
                <ns226:cs typeface="Arial"/>
              </ns226:rPr>
              <ns226:t>Related files / Q&amp;A</ns226:t>
            </ns226:r>
          </ns226:p>
        </p:txBody>
      </p:sp>
      <p:cxnSp>
        <p:nvCxnSpPr>
          <p:cNvPr id="139" name="summary.guides.related.revision.0"/>
          <p:cNvCxnSpPr/>
          <p:nvPr/>
        </p:nvCxnSpPr>
        <p:spPr>
          <ns227:xfrm xmlns:ns227="http://schemas.openxmlformats.org/drawingml/2006/main">
            <ns227:off x="7407000" y="3204000"/>
            <ns227:ext cx="1" cy="234000"/>
          </ns227:xfrm>
          <ns228:prstGeom xmlns:ns228="http://schemas.openxmlformats.org/drawingml/2006/main" prst="line">
            <ns228:avLst/>
          </ns228:prstGeom>
          <ns229:ln xmlns:ns229="http://schemas.openxmlformats.org/drawingml/2006/main" w="11430">
            <ns229:solidFill>
              <ns229:srgbClr val="7363A6"/>
            </ns229:solidFill>
          </ns229:ln>
        </p:spPr>
      </p:cxnSp>
      <p:cxnSp>
        <p:nvCxnSpPr>
          <p:cNvPr id="140" name="summary.guides.related.revision.1"/>
          <p:cNvCxnSpPr/>
          <p:nvPr/>
        </p:nvCxnSpPr>
        <p:spPr>
          <ns230:xfrm xmlns:ns230="http://schemas.openxmlformats.org/drawingml/2006/main" flipH="1">
            <ns230:off x="5121000" y="3438000"/>
            <ns230:ext cx="2286000" cy="1"/>
          </ns230:xfrm>
          <ns231:prstGeom xmlns:ns231="http://schemas.openxmlformats.org/drawingml/2006/main" prst="line">
            <ns231:avLst/>
          </ns231:prstGeom>
          <ns232:ln xmlns:ns232="http://schemas.openxmlformats.org/drawingml/2006/main" w="11430">
            <ns232:solidFill>
              <ns232:srgbClr val="7363A6"/>
            </ns232:solidFill>
          </ns232:ln>
        </p:spPr>
      </p:cxnSp>
      <p:cxnSp>
        <p:nvCxnSpPr>
          <p:cNvPr id="141" name="summary.guides.related.revision.2"/>
          <p:cNvCxnSpPr/>
          <p:nvPr/>
        </p:nvCxnSpPr>
        <p:spPr>
          <ns233:xfrm xmlns:ns233="http://schemas.openxmlformats.org/drawingml/2006/main">
            <ns233:off x="5121000" y="3438000"/>
            <ns233:ext cx="1" cy="252000"/>
          </ns233:xfrm>
          <ns234:prstGeom xmlns:ns234="http://schemas.openxmlformats.org/drawingml/2006/main" prst="line">
            <ns234:avLst/>
          </ns234:prstGeom>
          <ns235:ln xmlns:ns235="http://schemas.openxmlformats.org/drawingml/2006/main" w="11430">
            <ns235:solidFill>
              <ns235:srgbClr val="7363A6"/>
            </ns235:solidFill>
            <ns235:tailEnd type="triangle" w="sm" len="sm"/>
          </ns235:ln>
        </p:spPr>
      </p:cxnSp>
      <p:cxnSp>
        <p:nvCxnSpPr>
          <p:cNvPr id="142" name="related.docs.to.revision"/>
          <p:cNvCxnSpPr/>
          <p:nvPr/>
        </p:nvCxnSpPr>
        <p:spPr>
          <ns236:xfrm xmlns:ns236="http://schemas.openxmlformats.org/drawingml/2006/main">
            <ns236:off x="4078800" y="4059000"/>
            <ns236:ext cx="277200" cy="1"/>
          </ns236:xfrm>
          <ns237:prstGeom xmlns:ns237="http://schemas.openxmlformats.org/drawingml/2006/main" prst="line">
            <ns237:avLst/>
          </ns237:prstGeom>
          <ns238:ln xmlns:ns238="http://schemas.openxmlformats.org/drawingml/2006/main" w="11430">
            <ns238:solidFill>
              <ns238:srgbClr val="7363A6"/>
            </ns238:solidFill>
            <ns238:tailEnd type="triangle" w="sm" len="sm"/>
          </ns238:ln>
        </p:spPr>
      </p:cxnSp>
      <p:cxnSp>
        <p:nvCxnSpPr>
          <p:cNvPr id="143" name="revision.to.materials"/>
          <p:cNvCxnSpPr/>
          <p:nvPr/>
        </p:nvCxnSpPr>
        <p:spPr>
          <ns239:xfrm xmlns:ns239="http://schemas.openxmlformats.org/drawingml/2006/main">
            <ns239:off x="5886000" y="4059000"/>
            <ns239:ext cx="205200" cy="1"/>
          </ns239:xfrm>
          <ns240:prstGeom xmlns:ns240="http://schemas.openxmlformats.org/drawingml/2006/main" prst="line">
            <ns240:avLst/>
          </ns240:prstGeom>
          <ns241:ln xmlns:ns241="http://schemas.openxmlformats.org/drawingml/2006/main" w="11430">
            <ns241:solidFill>
              <ns241:srgbClr val="7363A6"/>
            </ns241:solidFill>
            <ns241:tailEnd type="triangle" w="sm" len="sm"/>
          </ns241:ln>
        </p:spPr>
      </p:cxnSp>
    </p:spTree>
    <p:extLst>
      <p:ext uri="{BB962C8B-B14F-4D97-AF65-F5344CB8AC3E}">
        <p14:creationId xmlns:p14="http://schemas.microsoft.com/office/powerpoint/2010/main" val="121410002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HuaAn and ICBCUBS: document processing</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Back office / Document processing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HuaAn / CCF; ICBCUBS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11" name="map.task.review"/>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Content review</ns68:t>
            </ns68:r>
          </ns68:p>
        </p:txBody>
      </p:sp>
      <p:sp>
        <p:nvSpPr>
          <p:cNvPr id="112" name="map.task.risk"/>
          <p:cNvSpPr/>
          <p:nvPr/>
        </p:nvSpPr>
        <p:spPr>
          <ns69:xfrm xmlns:ns69="http://schemas.openxmlformats.org/drawingml/2006/main">
            <ns69:off x="554400" y="3045600"/>
            <ns69:ext cx="1562400" cy="1656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050" b="0">
                <ns75:solidFill>
                  <ns75:srgbClr val="65727D"/>
                </ns75:solidFill>
                <ns75:latin typeface="Arial"/>
                <ns75:ea typeface="Arial"/>
                <ns75:cs typeface="Arial"/>
              </ns75:defRPr>
            </ns75:pPr>
            <ns75:r>
              <ns75:rPr sz="1050" b="0">
                <ns75:solidFill>
                  <ns75:srgbClr val="65727D"/>
                </ns75:solidFill>
                <ns75:latin typeface="Arial"/>
                <ns75:ea typeface="Arial"/>
                <ns75:cs typeface="Arial"/>
              </ns75:rPr>
              <ns75:t>Risk analysis</ns75:t>
            </ns75:r>
          </ns75:p>
        </p:txBody>
      </p:sp>
      <p:sp>
        <p:nvSpPr>
          <p:cNvPr id="113" name="map.office.2"/>
          <p:cNvSpPr/>
          <p:nvPr/>
        </p:nvSpPr>
        <p:spPr>
          <ns76:xfrm xmlns:ns76="http://schemas.openxmlformats.org/drawingml/2006/main">
            <ns76:off x="486000" y="3391200"/>
            <ns76:ext cx="1692000" cy="180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100" b="1">
                <ns82:solidFill>
                  <ns82:srgbClr val="005A9C"/>
                </ns82:solidFill>
                <ns82:latin typeface="Arial"/>
                <ns82:ea typeface="Arial"/>
                <ns82:cs typeface="Arial"/>
              </ns82:defRPr>
            </ns82:pPr>
            <ns82:r>
              <ns82:rPr sz="1100" b="1">
                <ns82:solidFill>
                  <ns82:srgbClr val="005A9C"/>
                </ns82:solidFill>
                <ns82:latin typeface="Arial"/>
                <ns82:ea typeface="Arial"/>
                <ns82:cs typeface="Arial"/>
              </ns82:rPr>
              <ns82:t>Back office</ns82:t>
            </ns82:r>
          </ns82:p>
        </p:txBody>
      </p:sp>
      <p:cxnSp>
        <p:nvCxnSpPr>
          <p:cNvPr id="114" name="map.office.rule.2"/>
          <p:cNvCxnSpPr/>
          <p:nvPr/>
        </p:nvCxnSpPr>
        <p:spPr>
          <ns83:xfrm xmlns:ns83="http://schemas.openxmlformats.org/drawingml/2006/main">
            <ns83:off x="457200" y="3610800"/>
            <ns83:ext cx="1742400" cy="1"/>
          </ns83:xfrm>
          <ns84:prstGeom xmlns:ns84="http://schemas.openxmlformats.org/drawingml/2006/main" prst="line">
            <ns84:avLst/>
          </ns84:prstGeom>
          <ns85:ln xmlns:ns85="http://schemas.openxmlformats.org/drawingml/2006/main" w="7620">
            <ns85:solidFill>
              <ns85:srgbClr val="005A9C"/>
            </ns85:solidFill>
          </ns85:ln>
        </p:spPr>
      </p:cxnSp>
      <p:sp>
        <p:nvSpPr>
          <p:cNvPr id="115" name="map.task.focus.files"/>
          <p:cNvSpPr/>
          <p:nvPr/>
        </p:nvSpPr>
        <p:spPr>
          <ns86:xfrm xmlns:ns86="http://schemas.openxmlformats.org/drawingml/2006/main">
            <ns86:off x="486000" y="3686400"/>
            <ns86:ext cx="1677600" cy="176400"/>
          </ns86:xfrm>
          <ns87:prstGeom xmlns:ns87="http://schemas.openxmlformats.org/drawingml/2006/main" prst="rect">
            <ns87:avLst/>
          </ns87:prstGeom>
          <ns88:solidFill xmlns:ns88="http://schemas.openxmlformats.org/drawingml/2006/main">
            <ns88:srgbClr val="D9EAF7"/>
          </ns88:solidFill>
          <ns89:ln xmlns:ns89="http://schemas.openxmlformats.org/drawingml/2006/main" w="0">
            <ns89:noFill/>
          </ns89:ln>
        </p:spPr>
      </p: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1">
                <ns96:solidFill>
                  <ns96:srgbClr val="005A9C"/>
                </ns96:solidFill>
                <ns96:latin typeface="Arial"/>
                <ns96:ea typeface="Arial"/>
                <ns96:cs typeface="Arial"/>
              </ns96:defRPr>
            </ns96:pPr>
            <ns96:r>
              <ns96:rPr sz="1050" b="1">
                <ns96:solidFill>
                  <ns96:srgbClr val="005A9C"/>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peer.huaan"/>
          <p:cNvSpPr/>
          <p:nvPr/>
        </p:nvSpPr>
        <p:spPr>
          <ns111:xfrm xmlns:ns111="http://schemas.openxmlformats.org/drawingml/2006/main">
            <ns111:off x="2422800" y="1440000"/>
            <ns111:ext cx="6264000" cy="216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250" b="0">
                <ns117:solidFill>
                  <ns117:srgbClr val="005A9C"/>
                </ns117:solidFill>
                <ns117:latin typeface="Arial"/>
                <ns117:ea typeface="Arial"/>
                <ns117:cs typeface="Arial"/>
              </ns117:defRPr>
            </ns117:pPr>
            <ns117:r>
              <ns117:rPr sz="1250" b="0">
                <ns117:solidFill>
                  <ns117:srgbClr val="005A9C"/>
                </ns117:solidFill>
                <ns117:latin typeface="Arial"/>
                <ns117:ea typeface="Arial"/>
                <ns117:cs typeface="Arial"/>
              </ns117:rPr>
              <ns117:t>HuaAn: automated entry</ns117:t>
            </ns117:r>
          </ns117:p>
        </p:txBody>
      </p:sp>
      <p:sp>
        <p:nvSpPr>
          <p:cNvPr id="120" name="input.huaan.form.paper"/>
          <p:cNvSpPr/>
          <p:nvPr/>
        </p:nvSpPr>
        <p:spPr>
          <ns118:xfrm xmlns:ns118="http://schemas.openxmlformats.org/drawingml/2006/main">
            <ns118:off x="2422800" y="1674000"/>
            <ns118:ext cx="1620000" cy="396000"/>
          </ns118:xfrm>
          <ns119:prstGeom xmlns:ns119="http://schemas.openxmlformats.org/drawingml/2006/main" prst="foldedCorner">
            <ns119:avLst/>
          </ns119:prstGeom>
          <ns120:solidFill xmlns:ns120="http://schemas.openxmlformats.org/drawingml/2006/main">
            <ns120:srgbClr val="FFFFFF"/>
          </ns120:solidFill>
          <ns121:ln xmlns:ns121="http://schemas.openxmlformats.org/drawingml/2006/main" w="9525">
            <ns121:solidFill>
              <ns121:srgbClr val="65727D"/>
            </ns121:solidFill>
          </ns121:ln>
        </p:spPr>
      </p:sp>
      <p:sp>
        <p:nvSpPr>
          <p:cNvPr id="121" name="input.huaan.form.title"/>
          <p:cNvSpPr/>
          <p:nvPr/>
        </p:nvSpPr>
        <p:spPr>
          <ns122:xfrm xmlns:ns122="http://schemas.openxmlformats.org/drawingml/2006/main">
            <ns122:off x="2487600" y="1717200"/>
            <ns122:ext cx="1422000" cy="1980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5000"/>
              </ns128:lnSpc>
              <ns128:defRPr sz="1250" b="1">
                <ns128:solidFill>
                  <ns128:srgbClr val="65727D"/>
                </ns128:solidFill>
                <ns128:latin typeface="Arial"/>
                <ns128:ea typeface="Arial"/>
                <ns128:cs typeface="Arial"/>
              </ns128:defRPr>
            </ns128:pPr>
            <ns128:r>
              <ns128:rPr sz="1250" b="1">
                <ns128:solidFill>
                  <ns128:srgbClr val="65727D"/>
                </ns128:solidFill>
                <ns128:latin typeface="Arial"/>
                <ns128:ea typeface="Arial"/>
                <ns128:cs typeface="Arial"/>
              </ns128:rPr>
              <ns128:t>Fax / form</ns128:t>
            </ns128:r>
          </ns128:p>
        </p:txBody>
      </p:sp>
      <p:sp>
        <p:nvSpPr>
          <p:cNvPr id="122" name="input.huaan.form.content"/>
          <p:cNvSpPr/>
          <p:nvPr/>
        </p:nvSpPr>
        <p:spPr>
          <ns129:xfrm xmlns:ns129="http://schemas.openxmlformats.org/drawingml/2006/main">
            <ns129:off x="2487600" y="1933200"/>
            <ns129:ext cx="1490400" cy="86400"/>
          </ns129:xfrm>
          <ns130:prstGeom xmlns:ns130="http://schemas.openxmlformats.org/drawingml/2006/main" prst="rect">
            <ns130:avLst/>
          </ns130:prstGeom>
          <ns131:noFill xmlns:ns131="http://schemas.openxmlformats.org/drawingml/2006/main"/>
          <ns132:ln xmlns:ns132="http://schemas.openxmlformats.org/drawingml/2006/main" w="0">
            <ns132:noFill/>
          </ns132:ln>
        </p:spPr>
        <p:txBody>
          <ns133:bodyPr xmlns:ns133="http://schemas.openxmlformats.org/drawingml/2006/main" wrap="square" lIns="0" rIns="0" tIns="0" bIns="0" anchor="t">
            <ns133:noAutofit/>
          </ns133:bodyPr>
          <ns134:lstStyle xmlns:ns134="http://schemas.openxmlformats.org/drawingml/2006/main"/>
          <ns135:p xmlns:ns135="http://schemas.openxmlformats.org/drawingml/2006/main">
            <ns135:pPr algn="l">
              <ns135:lnSpc>
                <ns135:spcPct val="100000"/>
              </ns135:lnSpc>
              <ns135:defRPr sz="1200" b="0">
                <ns135:solidFill>
                  <ns135:srgbClr val="20262C"/>
                </ns135:solidFill>
                <ns135:latin typeface="Arial"/>
                <ns135:ea typeface="Arial"/>
                <ns135:cs typeface="Arial"/>
              </ns135:defRPr>
            </ns135:pPr>
            <ns135:r>
              <ns135:rPr sz="1200" b="0">
                <ns135:solidFill>
                  <ns135:srgbClr val="20262C"/>
                </ns135:solidFill>
                <ns135:latin typeface="Arial"/>
                <ns135:ea typeface="Arial"/>
                <ns135:cs typeface="Arial"/>
              </ns135:rPr>
              <ns135:t/>
            </ns135:r>
          </ns135:p>
        </p:txBody>
      </p:sp>
      <p:sp>
        <p:nvSpPr>
          <p:cNvPr id="123" name="role.form.extraction"/>
          <p:cNvSpPr/>
          <p:nvPr/>
        </p:nvSpPr>
        <p:spPr>
          <ns136:xfrm xmlns:ns136="http://schemas.openxmlformats.org/drawingml/2006/main">
            <ns136:off x="4392000" y="1674000"/>
            <ns136:ext cx="1458000" cy="396000"/>
          </ns136:xfrm>
          <ns137:prstGeom xmlns:ns137="http://schemas.openxmlformats.org/drawingml/2006/main" prst="roundRect">
            <ns137:avLst/>
          </ns137:prstGeom>
          <ns138:solidFill xmlns:ns138="http://schemas.openxmlformats.org/drawingml/2006/main">
            <ns138:srgbClr val="EAF3FA"/>
          </ns138:solidFill>
          <ns139:ln xmlns:ns139="http://schemas.openxmlformats.org/drawingml/2006/main" w="9525">
            <ns139:solidFill>
              <ns139:srgbClr val="005A9C"/>
            </ns139:solidFill>
          </ns139:ln>
        </p:spPr>
        <p:txBody>
          <ns140:bodyPr xmlns:ns140="http://schemas.openxmlformats.org/drawingml/2006/main" wrap="square" lIns="61200" rIns="61200" tIns="61200" bIns="61200" anchor="ctr">
            <ns140:noAutofit/>
          </ns140:bodyPr>
          <ns141:lstStyle xmlns:ns141="http://schemas.openxmlformats.org/drawingml/2006/main"/>
          <ns142:p xmlns:ns142="http://schemas.openxmlformats.org/drawingml/2006/main">
            <ns142:pPr algn="l">
              <ns142:lnSpc>
                <ns142:spcPct val="105000"/>
              </ns142:lnSpc>
              <ns142:defRPr sz="1300" b="1">
                <ns142:solidFill>
                  <ns142:srgbClr val="005A9C"/>
                </ns142:solidFill>
                <ns142:latin typeface="Arial"/>
                <ns142:ea typeface="Arial"/>
                <ns142:cs typeface="Arial"/>
              </ns142:defRPr>
            </ns142:pPr>
            <ns142:r>
              <ns142:rPr sz="1300" b="1">
                <ns142:solidFill>
                  <ns142:srgbClr val="005A9C"/>
                </ns142:solidFill>
                <ns142:latin typeface="Arial"/>
                <ns142:ea typeface="Arial"/>
                <ns142:cs typeface="Arial"/>
              </ns142:rPr>
              <ns142:t>Model extracts</ns142:t>
            </ns142:r>
          </ns142:p>
        </p:txBody>
      </p:sp>
      <p:sp>
        <p:nvSpPr>
          <p:cNvPr id="124" name="output.client.service.record"/>
          <p:cNvSpPr/>
          <p:nvPr/>
        </p:nvSpPr>
        <p:spPr>
          <ns143:xfrm xmlns:ns143="http://schemas.openxmlformats.org/drawingml/2006/main">
            <ns143:off x="6127200" y="1674000"/>
            <ns143:ext cx="2559600" cy="396000"/>
          </ns143:xfrm>
          <ns144:prstGeom xmlns:ns144="http://schemas.openxmlformats.org/drawingml/2006/main" prst="rect">
            <ns144:avLst/>
          </ns144:prstGeom>
          <ns145:solidFill xmlns:ns145="http://schemas.openxmlformats.org/drawingml/2006/main">
            <ns145:srgbClr val="F3F7FA"/>
          </ns145:solidFill>
          <ns146:ln xmlns:ns146="http://schemas.openxmlformats.org/drawingml/2006/main" w="9525">
            <ns146:solidFill>
              <ns146:srgbClr val="65727D"/>
            </ns146:solidFill>
          </ns146:ln>
        </p:spPr>
        <p:txBody>
          <ns147:bodyPr xmlns:ns147="http://schemas.openxmlformats.org/drawingml/2006/main" wrap="square" lIns="61200" rIns="61200" tIns="61200" bIns="61200" anchor="ctr">
            <ns147:noAutofit/>
          </ns147:bodyPr>
          <ns148:lstStyle xmlns:ns148="http://schemas.openxmlformats.org/drawingml/2006/main"/>
          <ns149:p xmlns:ns149="http://schemas.openxmlformats.org/drawingml/2006/main">
            <ns149:pPr algn="l">
              <ns149:lnSpc>
                <ns149:spcPct val="105000"/>
              </ns149:lnSpc>
              <ns149:defRPr sz="1300" b="1">
                <ns149:solidFill>
                  <ns149:srgbClr val="65727D"/>
                </ns149:solidFill>
                <ns149:latin typeface="Arial"/>
                <ns149:ea typeface="Arial"/>
                <ns149:cs typeface="Arial"/>
              </ns149:defRPr>
            </ns149:pPr>
            <ns149:r>
              <ns149:rPr sz="1300" b="1">
                <ns149:solidFill>
                  <ns149:srgbClr val="65727D"/>
                </ns149:solidFill>
                <ns149:latin typeface="Arial"/>
                <ns149:ea typeface="Arial"/>
                <ns149:cs typeface="Arial"/>
              </ns149:rPr>
              <ns149:t>Client-service record</ns149:t>
            </ns149:r>
          </ns149:p>
        </p:txBody>
      </p:sp>
      <p:cxnSp>
        <p:nvCxnSpPr>
          <p:cNvPr id="125" name="fax.model"/>
          <p:cNvCxnSpPr/>
          <p:nvPr/>
        </p:nvCxnSpPr>
        <p:spPr>
          <ns150:xfrm xmlns:ns150="http://schemas.openxmlformats.org/drawingml/2006/main">
            <ns150:off x="4078800" y="1872000"/>
            <ns150:ext cx="277200" cy="1"/>
          </ns150:xfrm>
          <ns151:prstGeom xmlns:ns151="http://schemas.openxmlformats.org/drawingml/2006/main" prst="line">
            <ns151:avLst/>
          </ns151:prstGeom>
          <ns152:ln xmlns:ns152="http://schemas.openxmlformats.org/drawingml/2006/main" w="11430">
            <ns152:solidFill>
              <ns152:srgbClr val="005A9C"/>
            </ns152:solidFill>
            <ns152:tailEnd type="triangle" w="sm" len="sm"/>
          </ns152:ln>
        </p:spPr>
      </p:cxnSp>
      <p:cxnSp>
        <p:nvCxnSpPr>
          <p:cNvPr id="126" name="model.record"/>
          <p:cNvCxnSpPr/>
          <p:nvPr/>
        </p:nvCxnSpPr>
        <p:spPr>
          <ns153:xfrm xmlns:ns153="http://schemas.openxmlformats.org/drawingml/2006/main">
            <ns153:off x="5886000" y="1872000"/>
            <ns153:ext cx="205200" cy="1"/>
          </ns153:xfrm>
          <ns154:prstGeom xmlns:ns154="http://schemas.openxmlformats.org/drawingml/2006/main" prst="line">
            <ns154:avLst/>
          </ns154:prstGeom>
          <ns155:ln xmlns:ns155="http://schemas.openxmlformats.org/drawingml/2006/main" w="11430">
            <ns155:solidFill>
              <ns155:srgbClr val="005A9C"/>
            </ns155:solidFill>
            <ns155:tailEnd type="triangle" w="sm" len="sm"/>
          </ns155:ln>
        </p:spPr>
      </p:cxnSp>
      <p:sp>
        <p:nvSpPr>
          <p:cNvPr id="127" name="evidence.huaan.scope"/>
          <p:cNvSpPr/>
          <p:nvPr/>
        </p:nvSpPr>
        <p:spPr>
          <ns156:xfrm xmlns:ns156="http://schemas.openxmlformats.org/drawingml/2006/main">
            <ns156:off x="2422800" y="2152800"/>
            <ns156:ext cx="6264000" cy="180000"/>
          </ns156:xfrm>
          <ns157:prstGeom xmlns:ns157="http://schemas.openxmlformats.org/drawingml/2006/main" prst="rect">
            <ns157:avLst/>
          </ns157:prstGeom>
          <ns158:noFill xmlns:ns158="http://schemas.openxmlformats.org/drawingml/2006/main"/>
          <ns159:ln xmlns:ns159="http://schemas.openxmlformats.org/drawingml/2006/main" w="0">
            <ns159:noFill/>
          </ns159:ln>
        </p:spPr>
        <p:txBody>
          <ns160:bodyPr xmlns:ns160="http://schemas.openxmlformats.org/drawingml/2006/main" wrap="square" lIns="0" rIns="0" tIns="0" bIns="0" anchor="t">
            <ns160:noAutofit/>
          </ns160:bodyPr>
          <ns161:lstStyle xmlns:ns161="http://schemas.openxmlformats.org/drawingml/2006/main"/>
          <ns162:p xmlns:ns162="http://schemas.openxmlformats.org/drawingml/2006/main">
            <ns162:pPr algn="l">
              <ns162:lnSpc>
                <ns162:spcPct val="105000"/>
              </ns162:lnSpc>
              <ns162:defRPr sz="1050" b="0">
                <ns162:solidFill>
                  <ns162:srgbClr val="005A9C"/>
                </ns162:solidFill>
                <ns162:latin typeface="Arial"/>
                <ns162:ea typeface="Arial"/>
                <ns162:cs typeface="Arial"/>
              </ns162:defRPr>
            </ns162:pPr>
            <ns162:r>
              <ns162:rPr sz="1050" b="0">
                <ns162:solidFill>
                  <ns162:srgbClr val="005A9C"/>
                </ns162:solidFill>
                <ns162:latin typeface="Arial"/>
                <ns162:ea typeface="Arial"/>
                <ns162:cs typeface="Arial"/>
              </ns162:rPr>
              <ns162:t>Direct-sales counter: more than 80% of faxes entered automatically</ns162:t>
            </ns162:r>
          </ns162:p>
        </p:txBody>
      </p:sp>
      <p:sp>
        <p:nvSpPr>
          <p:cNvPr id="128" name="peer.icbcubs"/>
          <p:cNvSpPr/>
          <p:nvPr/>
        </p:nvSpPr>
        <p:spPr>
          <ns163:xfrm xmlns:ns163="http://schemas.openxmlformats.org/drawingml/2006/main">
            <ns163:off x="2422800" y="2458800"/>
            <ns163:ext cx="2790000" cy="198000"/>
          </ns163:xfrm>
          <ns164:prstGeom xmlns:ns164="http://schemas.openxmlformats.org/drawingml/2006/main" prst="rect">
            <ns164:avLst/>
          </ns164:prstGeom>
          <ns165:noFill xmlns:ns165="http://schemas.openxmlformats.org/drawingml/2006/main"/>
          <ns166:ln xmlns:ns166="http://schemas.openxmlformats.org/drawingml/2006/main" w="0">
            <ns166:noFill/>
          </ns166:ln>
        </p:spPr>
        <p:txBody>
          <ns167:bodyPr xmlns:ns167="http://schemas.openxmlformats.org/drawingml/2006/main" wrap="square" lIns="0" rIns="0" tIns="0" bIns="0" anchor="t">
            <ns167:noAutofit/>
          </ns167:bodyPr>
          <ns168:lstStyle xmlns:ns168="http://schemas.openxmlformats.org/drawingml/2006/main"/>
          <ns169:p xmlns:ns169="http://schemas.openxmlformats.org/drawingml/2006/main">
            <ns169:pPr algn="l">
              <ns169:lnSpc>
                <ns169:spcPct val="105000"/>
              </ns169:lnSpc>
              <ns169:defRPr sz="1150" b="0">
                <ns169:solidFill>
                  <ns169:srgbClr val="005A9C"/>
                </ns169:solidFill>
                <ns169:latin typeface="Arial"/>
                <ns169:ea typeface="Arial"/>
                <ns169:cs typeface="Arial"/>
              </ns169:defRPr>
            </ns169:pPr>
            <ns169:r>
              <ns169:rPr sz="1150" b="0">
                <ns169:solidFill>
                  <ns169:srgbClr val="005A9C"/>
                </ns169:solidFill>
                <ns169:latin typeface="Arial"/>
                <ns169:ea typeface="Arial"/>
                <ns169:cs typeface="Arial"/>
              </ns169:rPr>
              <ns169:t>ICBCUBS: compare existing versions</ns169:t>
            </ns169:r>
          </ns169:p>
        </p:txBody>
      </p:sp>
      <p:sp>
        <p:nvSpPr>
          <p:cNvPr id="129" name="input.compare.v1.paper"/>
          <p:cNvSpPr/>
          <p:nvPr/>
        </p:nvSpPr>
        <p:spPr>
          <ns170:xfrm xmlns:ns170="http://schemas.openxmlformats.org/drawingml/2006/main">
            <ns170:off x="2422800" y="2754000"/>
            <ns170:ext cx="1296000" cy="486000"/>
          </ns170:xfrm>
          <ns171:prstGeom xmlns:ns171="http://schemas.openxmlformats.org/drawingml/2006/main" prst="foldedCorner">
            <ns171:avLst/>
          </ns171:prstGeom>
          <ns172:solidFill xmlns:ns172="http://schemas.openxmlformats.org/drawingml/2006/main">
            <ns172:srgbClr val="FFFFFF"/>
          </ns172:solidFill>
          <ns173:ln xmlns:ns173="http://schemas.openxmlformats.org/drawingml/2006/main" w="9525">
            <ns173:solidFill>
              <ns173:srgbClr val="7363A6"/>
            </ns173:solidFill>
          </ns173:ln>
        </p:spPr>
      </p:sp>
      <p:sp>
        <p:nvSpPr>
          <p:cNvPr id="130" name="input.compare.v1.title"/>
          <p:cNvSpPr/>
          <p:nvPr/>
        </p:nvSpPr>
        <p:spPr>
          <ns174:xfrm xmlns:ns174="http://schemas.openxmlformats.org/drawingml/2006/main">
            <ns174:off x="2487600" y="2797200"/>
            <ns174:ext cx="1098000" cy="198000"/>
          </ns174:xfrm>
          <ns175:prstGeom xmlns:ns175="http://schemas.openxmlformats.org/drawingml/2006/main" prst="rect">
            <ns175:avLst/>
          </ns175:prstGeom>
          <ns176:noFill xmlns:ns176="http://schemas.openxmlformats.org/drawingml/2006/main"/>
          <ns177:ln xmlns:ns177="http://schemas.openxmlformats.org/drawingml/2006/main" w="0">
            <ns177:noFill/>
          </ns177:ln>
        </p:spPr>
        <p:txBody>
          <ns178:bodyPr xmlns:ns178="http://schemas.openxmlformats.org/drawingml/2006/main" wrap="square" lIns="0" rIns="0" tIns="0" bIns="0" anchor="t">
            <ns178:noAutofit/>
          </ns178:bodyPr>
          <ns179:lstStyle xmlns:ns179="http://schemas.openxmlformats.org/drawingml/2006/main"/>
          <ns180:p xmlns:ns180="http://schemas.openxmlformats.org/drawingml/2006/main">
            <ns180:pPr algn="l">
              <ns180:lnSpc>
                <ns180:spcPct val="105000"/>
              </ns180:lnSpc>
              <ns180:defRPr sz="1250" b="1">
                <ns180:solidFill>
                  <ns180:srgbClr val="7363A6"/>
                </ns180:solidFill>
                <ns180:latin typeface="Arial"/>
                <ns180:ea typeface="Arial"/>
                <ns180:cs typeface="Arial"/>
              </ns180:defRPr>
            </ns180:pPr>
            <ns180:r>
              <ns180:rPr sz="1250" b="1">
                <ns180:solidFill>
                  <ns180:srgbClr val="7363A6"/>
                </ns180:solidFill>
                <ns180:latin typeface="Arial"/>
                <ns180:ea typeface="Arial"/>
                <ns180:cs typeface="Arial"/>
              </ns180:rPr>
              <ns180:t>Existing V1</ns180:t>
            </ns180:r>
          </ns180:p>
        </p:txBody>
      </p:sp>
      <p:sp>
        <p:nvSpPr>
          <p:cNvPr id="131" name="input.compare.v1.content"/>
          <p:cNvSpPr/>
          <p:nvPr/>
        </p:nvSpPr>
        <p:spPr>
          <ns181:xfrm xmlns:ns181="http://schemas.openxmlformats.org/drawingml/2006/main">
            <ns181:off x="2487600" y="3013200"/>
            <ns181:ext cx="1166400" cy="176400"/>
          </ns181:xfrm>
          <ns182:prstGeom xmlns:ns182="http://schemas.openxmlformats.org/drawingml/2006/main" prst="rect">
            <ns182:avLst/>
          </ns182:prstGeom>
          <ns183:noFill xmlns:ns183="http://schemas.openxmlformats.org/drawingml/2006/main"/>
          <ns184:ln xmlns:ns184="http://schemas.openxmlformats.org/drawingml/2006/main" w="0">
            <ns184:noFill/>
          </ns184:ln>
        </p:spPr>
        <p:txBody>
          <ns185:bodyPr xmlns:ns185="http://schemas.openxmlformats.org/drawingml/2006/main" wrap="square" lIns="0" rIns="0" tIns="0" bIns="0" anchor="t">
            <ns185:noAutofit/>
          </ns185:bodyPr>
          <ns186:lstStyle xmlns:ns186="http://schemas.openxmlformats.org/drawingml/2006/main"/>
          <ns187:p xmlns:ns187="http://schemas.openxmlformats.org/drawingml/2006/main">
            <ns187:pPr algn="l">
              <ns187:lnSpc>
                <ns187:spcPct val="100000"/>
              </ns187:lnSpc>
              <ns187:defRPr sz="1200" b="0">
                <ns187:solidFill>
                  <ns187:srgbClr val="20262C"/>
                </ns187:solidFill>
                <ns187:latin typeface="Arial"/>
                <ns187:ea typeface="Arial"/>
                <ns187:cs typeface="Arial"/>
              </ns187:defRPr>
            </ns187:pPr>
            <ns187:r>
              <ns187:rPr sz="1200" b="0">
                <ns187:solidFill>
                  <ns187:srgbClr val="20262C"/>
                </ns187:solidFill>
                <ns187:latin typeface="Arial"/>
                <ns187:ea typeface="Arial"/>
                <ns187:cs typeface="Arial"/>
              </ns187:rPr>
              <ns187:t/>
            </ns187:r>
          </ns187:p>
        </p:txBody>
      </p:sp>
      <p:sp>
        <p:nvSpPr>
          <p:cNvPr id="132" name="input.compare.v2.paper"/>
          <p:cNvSpPr/>
          <p:nvPr/>
        </p:nvSpPr>
        <p:spPr>
          <ns188:xfrm xmlns:ns188="http://schemas.openxmlformats.org/drawingml/2006/main">
            <ns188:off x="2422800" y="3366000"/>
            <ns188:ext cx="1296000" cy="486000"/>
          </ns188:xfrm>
          <ns189:prstGeom xmlns:ns189="http://schemas.openxmlformats.org/drawingml/2006/main" prst="foldedCorner">
            <ns189:avLst/>
          </ns189:prstGeom>
          <ns190:solidFill xmlns:ns190="http://schemas.openxmlformats.org/drawingml/2006/main">
            <ns190:srgbClr val="FFFFFF"/>
          </ns190:solidFill>
          <ns191:ln xmlns:ns191="http://schemas.openxmlformats.org/drawingml/2006/main" w="9525">
            <ns191:solidFill>
              <ns191:srgbClr val="7363A6"/>
            </ns191:solidFill>
          </ns191:ln>
        </p:spPr>
      </p:sp>
      <p:sp>
        <p:nvSpPr>
          <p:cNvPr id="133" name="input.compare.v2.title"/>
          <p:cNvSpPr/>
          <p:nvPr/>
        </p:nvSpPr>
        <p:spPr>
          <ns192:xfrm xmlns:ns192="http://schemas.openxmlformats.org/drawingml/2006/main">
            <ns192:off x="2487600" y="3409200"/>
            <ns192:ext cx="1098000" cy="198000"/>
          </ns192:xfrm>
          <ns193:prstGeom xmlns:ns193="http://schemas.openxmlformats.org/drawingml/2006/main" prst="rect">
            <ns193:avLst/>
          </ns193:prstGeom>
          <ns194:noFill xmlns:ns194="http://schemas.openxmlformats.org/drawingml/2006/main"/>
          <ns195:ln xmlns:ns195="http://schemas.openxmlformats.org/drawingml/2006/main" w="0">
            <ns195:noFill/>
          </ns195:ln>
        </p:spPr>
        <p:txBody>
          <ns196:bodyPr xmlns:ns196="http://schemas.openxmlformats.org/drawingml/2006/main" wrap="square" lIns="0" rIns="0" tIns="0" bIns="0" anchor="t">
            <ns196:noAutofit/>
          </ns196:bodyPr>
          <ns197:lstStyle xmlns:ns197="http://schemas.openxmlformats.org/drawingml/2006/main"/>
          <ns198:p xmlns:ns198="http://schemas.openxmlformats.org/drawingml/2006/main">
            <ns198:pPr algn="l">
              <ns198:lnSpc>
                <ns198:spcPct val="105000"/>
              </ns198:lnSpc>
              <ns198:defRPr sz="1250" b="1">
                <ns198:solidFill>
                  <ns198:srgbClr val="7363A6"/>
                </ns198:solidFill>
                <ns198:latin typeface="Arial"/>
                <ns198:ea typeface="Arial"/>
                <ns198:cs typeface="Arial"/>
              </ns198:defRPr>
            </ns198:pPr>
            <ns198:r>
              <ns198:rPr sz="1250" b="1">
                <ns198:solidFill>
                  <ns198:srgbClr val="7363A6"/>
                </ns198:solidFill>
                <ns198:latin typeface="Arial"/>
                <ns198:ea typeface="Arial"/>
                <ns198:cs typeface="Arial"/>
              </ns198:rPr>
              <ns198:t>Existing V2</ns198:t>
            </ns198:r>
          </ns198:p>
        </p:txBody>
      </p:sp>
      <p:sp>
        <p:nvSpPr>
          <p:cNvPr id="134" name="input.compare.v2.content"/>
          <p:cNvSpPr/>
          <p:nvPr/>
        </p:nvSpPr>
        <p:spPr>
          <ns199:xfrm xmlns:ns199="http://schemas.openxmlformats.org/drawingml/2006/main">
            <ns199:off x="2487600" y="3625200"/>
            <ns199:ext cx="1166400" cy="176400"/>
          </ns199:xfrm>
          <ns200:prstGeom xmlns:ns200="http://schemas.openxmlformats.org/drawingml/2006/main" prst="rect">
            <ns200:avLst/>
          </ns200:prstGeom>
          <ns201:noFill xmlns:ns201="http://schemas.openxmlformats.org/drawingml/2006/main"/>
          <ns202:ln xmlns:ns202="http://schemas.openxmlformats.org/drawingml/2006/main" w="0">
            <ns202:noFill/>
          </ns202:ln>
        </p:spPr>
        <p:txBody>
          <ns203:bodyPr xmlns:ns203="http://schemas.openxmlformats.org/drawingml/2006/main" wrap="square" lIns="0" rIns="0" tIns="0" bIns="0" anchor="t">
            <ns203:noAutofit/>
          </ns203:bodyPr>
          <ns204:lstStyle xmlns:ns204="http://schemas.openxmlformats.org/drawingml/2006/main"/>
          <ns205:p xmlns:ns205="http://schemas.openxmlformats.org/drawingml/2006/main">
            <ns205:pPr algn="l">
              <ns205:lnSpc>
                <ns205:spcPct val="100000"/>
              </ns205:lnSpc>
              <ns205:defRPr sz="1200" b="0">
                <ns205:solidFill>
                  <ns205:srgbClr val="20262C"/>
                </ns205:solidFill>
                <ns205:latin typeface="Arial"/>
                <ns205:ea typeface="Arial"/>
                <ns205:cs typeface="Arial"/>
              </ns205:defRPr>
            </ns205:pPr>
            <ns205:r>
              <ns205:rPr sz="1200" b="0">
                <ns205:solidFill>
                  <ns205:srgbClr val="20262C"/>
                </ns205:solidFill>
                <ns205:latin typeface="Arial"/>
                <ns205:ea typeface="Arial"/>
                <ns205:cs typeface="Arial"/>
              </ns205:rPr>
              <ns205:t/>
            </ns205:r>
          </ns205:p>
        </p:txBody>
      </p:sp>
      <p:sp>
        <p:nvSpPr>
          <p:cNvPr id="135" name="role.model.compares"/>
          <p:cNvSpPr/>
          <p:nvPr/>
        </p:nvSpPr>
        <p:spPr>
          <ns206:xfrm xmlns:ns206="http://schemas.openxmlformats.org/drawingml/2006/main">
            <ns206:off x="3996000" y="2988000"/>
            <ns206:ext cx="1098000" cy="756000"/>
          </ns206:xfrm>
          <ns207:prstGeom xmlns:ns207="http://schemas.openxmlformats.org/drawingml/2006/main" prst="roundRect">
            <ns207:avLst/>
          </ns207:prstGeom>
          <ns208:solidFill xmlns:ns208="http://schemas.openxmlformats.org/drawingml/2006/main">
            <ns208:srgbClr val="EAF3FA"/>
          </ns208:solidFill>
          <ns209:ln xmlns:ns209="http://schemas.openxmlformats.org/drawingml/2006/main" w="9525">
            <ns209:solidFill>
              <ns209:srgbClr val="005A9C"/>
            </ns209:solidFill>
          </ns209:ln>
        </p:spPr>
        <p:txBody>
          <ns210:bodyPr xmlns:ns210="http://schemas.openxmlformats.org/drawingml/2006/main" wrap="square" lIns="61200" rIns="61200" tIns="61200" bIns="61200" anchor="ctr">
            <ns210:noAutofit/>
          </ns210:bodyPr>
          <ns211:lstStyle xmlns:ns211="http://schemas.openxmlformats.org/drawingml/2006/main"/>
          <ns212:p xmlns:ns212="http://schemas.openxmlformats.org/drawingml/2006/main">
            <ns212:pPr algn="l">
              <ns212:lnSpc>
                <ns212:spcPct val="105000"/>
              </ns212:lnSpc>
              <ns212:defRPr sz="1300" b="1">
                <ns212:solidFill>
                  <ns212:srgbClr val="005A9C"/>
                </ns212:solidFill>
                <ns212:latin typeface="Arial"/>
                <ns212:ea typeface="Arial"/>
                <ns212:cs typeface="Arial"/>
              </ns212:defRPr>
            </ns212:pPr>
            <ns212:r>
              <ns212:rPr sz="1300" b="1">
                <ns212:solidFill>
                  <ns212:srgbClr val="005A9C"/>
                </ns212:solidFill>
                <ns212:latin typeface="Arial"/>
                <ns212:ea typeface="Arial"/>
                <ns212:cs typeface="Arial"/>
              </ns212:rPr>
              <ns212:t>Model</ns212:t>
            </ns212:r>
          </ns212:p>
          <ns213:p xmlns:ns213="http://schemas.openxmlformats.org/drawingml/2006/main">
            <ns213:pPr algn="l">
              <ns213:lnSpc>
                <ns213:spcPct val="105000"/>
              </ns213:lnSpc>
              <ns213:defRPr sz="1050" b="0">
                <ns213:solidFill>
                  <ns213:srgbClr val="20262C"/>
                </ns213:solidFill>
                <ns213:latin typeface="Arial"/>
                <ns213:ea typeface="Arial"/>
                <ns213:cs typeface="Arial"/>
              </ns213:defRPr>
            </ns213:pPr>
            <ns213:r>
              <ns213:rPr sz="1050" b="0">
                <ns213:solidFill>
                  <ns213:srgbClr val="20262C"/>
                </ns213:solidFill>
                <ns213:latin typeface="Arial"/>
                <ns213:ea typeface="Arial"/>
                <ns213:cs typeface="Arial"/>
              </ns213:rPr>
              <ns213:t>Compare versions</ns213:t>
            </ns213:r>
          </ns213:p>
        </p:txBody>
      </p:sp>
      <p:cxnSp>
        <p:nvCxnSpPr>
          <p:cNvPr id="136" name="existing.versions.merge.source.0"/>
          <p:cNvCxnSpPr/>
          <p:nvPr/>
        </p:nvCxnSpPr>
        <p:spPr>
          <ns214:xfrm xmlns:ns214="http://schemas.openxmlformats.org/drawingml/2006/main">
            <ns214:off x="3718800" y="2997000"/>
            <ns214:ext cx="133200" cy="1"/>
          </ns214:xfrm>
          <ns215:prstGeom xmlns:ns215="http://schemas.openxmlformats.org/drawingml/2006/main" prst="line">
            <ns215:avLst/>
          </ns215:prstGeom>
          <ns216:ln xmlns:ns216="http://schemas.openxmlformats.org/drawingml/2006/main" w="9525">
            <ns216:solidFill>
              <ns216:srgbClr val="7363A6"/>
            </ns216:solidFill>
          </ns216:ln>
        </p:spPr>
      </p:cxnSp>
      <p:cxnSp>
        <p:nvCxnSpPr>
          <p:cNvPr id="137" name="existing.versions.merge.source.1"/>
          <p:cNvCxnSpPr/>
          <p:nvPr/>
        </p:nvCxnSpPr>
        <p:spPr>
          <ns217:xfrm xmlns:ns217="http://schemas.openxmlformats.org/drawingml/2006/main">
            <ns217:off x="3718800" y="3609000"/>
            <ns217:ext cx="133200" cy="1"/>
          </ns217:xfrm>
          <ns218:prstGeom xmlns:ns218="http://schemas.openxmlformats.org/drawingml/2006/main" prst="line">
            <ns218:avLst/>
          </ns218:prstGeom>
          <ns219:ln xmlns:ns219="http://schemas.openxmlformats.org/drawingml/2006/main" w="9525">
            <ns219:solidFill>
              <ns219:srgbClr val="7363A6"/>
            </ns219:solidFill>
          </ns219:ln>
        </p:spPr>
      </p:cxnSp>
      <p:cxnSp>
        <p:nvCxnSpPr>
          <p:cNvPr id="138" name="existing.versions.merge.bus"/>
          <p:cNvCxnSpPr/>
          <p:nvPr/>
        </p:nvCxnSpPr>
        <p:spPr>
          <ns220:xfrm xmlns:ns220="http://schemas.openxmlformats.org/drawingml/2006/main">
            <ns220:off x="3852000" y="2997000"/>
            <ns220:ext cx="1" cy="612000"/>
          </ns220:xfrm>
          <ns221:prstGeom xmlns:ns221="http://schemas.openxmlformats.org/drawingml/2006/main" prst="line">
            <ns221:avLst/>
          </ns221:prstGeom>
          <ns222:ln xmlns:ns222="http://schemas.openxmlformats.org/drawingml/2006/main" w="9525">
            <ns222:solidFill>
              <ns222:srgbClr val="7363A6"/>
            </ns222:solidFill>
          </ns222:ln>
        </p:spPr>
      </p:cxnSp>
      <p:cxnSp>
        <p:nvCxnSpPr>
          <p:cNvPr id="139" name="existing.versions.merge.target"/>
          <p:cNvCxnSpPr/>
          <p:nvPr/>
        </p:nvCxnSpPr>
        <p:spPr>
          <ns223:xfrm xmlns:ns223="http://schemas.openxmlformats.org/drawingml/2006/main">
            <ns223:off x="3852000" y="3366000"/>
            <ns223:ext cx="144000" cy="1"/>
          </ns223:xfrm>
          <ns224:prstGeom xmlns:ns224="http://schemas.openxmlformats.org/drawingml/2006/main" prst="line">
            <ns224:avLst/>
          </ns224:prstGeom>
          <ns225:ln xmlns:ns225="http://schemas.openxmlformats.org/drawingml/2006/main" w="11430">
            <ns225:solidFill>
              <ns225:srgbClr val="7363A6"/>
            </ns225:solidFill>
            <ns225:tailEnd type="triangle" w="sm" len="sm"/>
          </ns225:ln>
        </p:spPr>
      </p:cxnSp>
      <p:sp>
        <p:nvSpPr>
          <p:cNvPr id="140" name="output.comparison.paper"/>
          <p:cNvSpPr/>
          <p:nvPr/>
        </p:nvSpPr>
        <p:spPr>
          <ns226:xfrm xmlns:ns226="http://schemas.openxmlformats.org/drawingml/2006/main">
            <ns226:off x="5328000" y="2358000"/>
            <ns226:ext cx="3358800" cy="2178000"/>
          </ns226:xfrm>
          <ns227:prstGeom xmlns:ns227="http://schemas.openxmlformats.org/drawingml/2006/main" prst="rect">
            <ns227:avLst/>
          </ns227:prstGeom>
          <ns228:solidFill xmlns:ns228="http://schemas.openxmlformats.org/drawingml/2006/main">
            <ns228:srgbClr val="FFFFFF"/>
          </ns228:solidFill>
          <ns229:ln xmlns:ns229="http://schemas.openxmlformats.org/drawingml/2006/main" w="10160">
            <ns229:solidFill>
              <ns229:srgbClr val="7363A6"/>
            </ns229:solidFill>
          </ns229:ln>
        </p:spPr>
      </p:sp>
      <p:sp>
        <p:nvSpPr>
          <p:cNvPr id="141" name="output.comparison.title"/>
          <p:cNvSpPr/>
          <p:nvPr/>
        </p:nvSpPr>
        <p:spPr>
          <ns230:xfrm xmlns:ns230="http://schemas.openxmlformats.org/drawingml/2006/main">
            <ns230:off x="5400000" y="2412000"/>
            <ns230:ext cx="3214800" cy="198000"/>
          </ns230:xfrm>
          <ns231:prstGeom xmlns:ns231="http://schemas.openxmlformats.org/drawingml/2006/main" prst="rect">
            <ns231:avLst/>
          </ns231:prstGeom>
          <ns232:noFill xmlns:ns232="http://schemas.openxmlformats.org/drawingml/2006/main"/>
          <ns233:ln xmlns:ns233="http://schemas.openxmlformats.org/drawingml/2006/main" w="0">
            <ns233:noFill/>
          </ns233:ln>
        </p:spPr>
        <p:txBody>
          <ns234:bodyPr xmlns:ns234="http://schemas.openxmlformats.org/drawingml/2006/main" wrap="square" lIns="0" rIns="0" tIns="0" bIns="0" anchor="t">
            <ns234:noAutofit/>
          </ns234:bodyPr>
          <ns235:lstStyle xmlns:ns235="http://schemas.openxmlformats.org/drawingml/2006/main"/>
          <ns236:p xmlns:ns236="http://schemas.openxmlformats.org/drawingml/2006/main">
            <ns236:pPr algn="l">
              <ns236:lnSpc>
                <ns236:spcPct val="105000"/>
              </ns236:lnSpc>
              <ns236:defRPr sz="1250" b="1">
                <ns236:solidFill>
                  <ns236:srgbClr val="7363A6"/>
                </ns236:solidFill>
                <ns236:latin typeface="Arial"/>
                <ns236:ea typeface="Arial"/>
                <ns236:cs typeface="Arial"/>
              </ns236:defRPr>
            </ns236:pPr>
            <ns236:r>
              <ns236:rPr sz="1250" b="1">
                <ns236:solidFill>
                  <ns236:srgbClr val="7363A6"/>
                </ns236:solidFill>
                <ns236:latin typeface="Arial"/>
                <ns236:ea typeface="Arial"/>
                <ns236:cs typeface="Arial"/>
              </ns236:rPr>
              <ns236:t>Comparison result</ns236:t>
            </ns236:r>
          </ns236:p>
        </p:txBody>
      </p:sp>
      <p:sp>
        <p:nvSpPr>
          <p:cNvPr id="142" name="comparison.v1.label"/>
          <p:cNvSpPr/>
          <p:nvPr/>
        </p:nvSpPr>
        <p:spPr>
          <ns237:xfrm xmlns:ns237="http://schemas.openxmlformats.org/drawingml/2006/main">
            <ns237:off x="5400000" y="2649600"/>
            <ns237:ext cx="3214800" cy="158400"/>
          </ns237:xfrm>
          <ns238:prstGeom xmlns:ns238="http://schemas.openxmlformats.org/drawingml/2006/main" prst="rect">
            <ns238:avLst/>
          </ns238:prstGeom>
          <ns239:noFill xmlns:ns239="http://schemas.openxmlformats.org/drawingml/2006/main"/>
          <ns240:ln xmlns:ns240="http://schemas.openxmlformats.org/drawingml/2006/main" w="0">
            <ns240:noFill/>
          </ns240:ln>
        </p:spPr>
        <p:txBody>
          <ns241:bodyPr xmlns:ns241="http://schemas.openxmlformats.org/drawingml/2006/main" wrap="square" lIns="0" rIns="0" tIns="0" bIns="0" anchor="t">
            <ns241:noAutofit/>
          </ns241:bodyPr>
          <ns242:lstStyle xmlns:ns242="http://schemas.openxmlformats.org/drawingml/2006/main"/>
          <ns243:p xmlns:ns243="http://schemas.openxmlformats.org/drawingml/2006/main">
            <ns243:pPr algn="l">
              <ns243:lnSpc>
                <ns243:spcPct val="105000"/>
              </ns243:lnSpc>
              <ns243:defRPr sz="1050" b="1">
                <ns243:solidFill>
                  <ns243:srgbClr val="7363A6"/>
                </ns243:solidFill>
                <ns243:latin typeface="Arial"/>
                <ns243:ea typeface="Arial"/>
                <ns243:cs typeface="Arial"/>
              </ns243:defRPr>
            </ns243:pPr>
            <ns243:r>
              <ns243:rPr sz="1050" b="1">
                <ns243:solidFill>
                  <ns243:srgbClr val="7363A6"/>
                </ns243:solidFill>
                <ns243:latin typeface="Arial"/>
                <ns243:ea typeface="Arial"/>
                <ns243:cs typeface="Arial"/>
              </ns243:rPr>
              <ns243:t>V1 investment view</ns243:t>
            </ns243:r>
          </ns243:p>
        </p:txBody>
      </p:sp>
      <p:sp>
        <p:nvSpPr>
          <p:cNvPr id="143" name="comparison.v1.line.0.0"/>
          <p:cNvSpPr/>
          <p:nvPr/>
        </p:nvSpPr>
        <p:spPr>
          <ns244:xfrm xmlns:ns244="http://schemas.openxmlformats.org/drawingml/2006/main">
            <ns244:off x="5400000" y="2826000"/>
            <ns244:ext cx="3214800" cy="208800"/>
          </ns244:xfrm>
          <ns245:prstGeom xmlns:ns245="http://schemas.openxmlformats.org/drawingml/2006/main" prst="rect">
            <ns245:avLst/>
          </ns245:prstGeom>
          <ns246:noFill xmlns:ns246="http://schemas.openxmlformats.org/drawingml/2006/main"/>
          <ns247:ln xmlns:ns247="http://schemas.openxmlformats.org/drawingml/2006/main" w="0">
            <ns247:noFill/>
          </ns247:ln>
        </p:spPr>
        <p:txBody>
          <ns248:bodyPr xmlns:ns248="http://schemas.openxmlformats.org/drawingml/2006/main" wrap="square" lIns="0" rIns="0" tIns="0" bIns="0" anchor="t">
            <ns248:noAutofit/>
          </ns248:bodyPr>
          <ns249:lstStyle xmlns:ns249="http://schemas.openxmlformats.org/drawingml/2006/main"/>
          <ns250:p xmlns:ns250="http://schemas.openxmlformats.org/drawingml/2006/main">
            <ns250:pPr algn="l">
              <ns250:lnSpc>
                <ns250:spcPct val="100000"/>
              </ns250:lnSpc>
              <ns250:defRPr sz="1150" b="0">
                <ns250:solidFill>
                  <ns250:srgbClr val="20262C"/>
                </ns250:solidFill>
                <ns250:latin typeface="Arial"/>
                <ns250:ea typeface="Arial"/>
                <ns250:cs typeface="Arial"/>
              </ns250:defRPr>
            </ns250:pPr>
            <ns250:r>
              <ns250:rPr sz="1150" b="0">
                <ns250:solidFill>
                  <ns250:srgbClr val="20262C"/>
                </ns250:solidFill>
                <ns250:latin typeface="Arial"/>
                <ns250:ea typeface="Arial"/>
                <ns250:cs typeface="Arial"/>
              </ns250:rPr>
              <ns250:t>Higher sales volumes drove Company A’s</ns250:t>
            </ns250:r>
          </ns250:p>
        </p:txBody>
      </p:sp>
      <p:sp>
        <p:nvSpPr>
          <p:cNvPr id="144" name="comparison.v1.line.0.1"/>
          <p:cNvSpPr/>
          <p:nvPr/>
        </p:nvSpPr>
        <p:spPr>
          <ns251:xfrm xmlns:ns251="http://schemas.openxmlformats.org/drawingml/2006/main">
            <ns251:off x="5400000" y="3013200"/>
            <ns251:ext cx="3214800" cy="208800"/>
          </ns251:xfrm>
          <ns252:prstGeom xmlns:ns252="http://schemas.openxmlformats.org/drawingml/2006/main" prst="rect">
            <ns252:avLst/>
          </ns252:prstGeom>
          <ns253:noFill xmlns:ns253="http://schemas.openxmlformats.org/drawingml/2006/main"/>
          <ns254:ln xmlns:ns254="http://schemas.openxmlformats.org/drawingml/2006/main" w="0">
            <ns254:noFill/>
          </ns254:ln>
        </p:spPr>
        <p:txBody>
          <ns255:bodyPr xmlns:ns255="http://schemas.openxmlformats.org/drawingml/2006/main" wrap="square" lIns="0" rIns="0" tIns="0" bIns="0" anchor="t">
            <ns255:noAutofit/>
          </ns255:bodyPr>
          <ns256:lstStyle xmlns:ns256="http://schemas.openxmlformats.org/drawingml/2006/main"/>
          <ns257:p xmlns:ns257="http://schemas.openxmlformats.org/drawingml/2006/main">
            <ns257:pPr algn="l">
              <ns257:lnSpc>
                <ns257:spcPct val="100000"/>
              </ns257:lnSpc>
              <ns257:defRPr sz="1150" b="0">
                <ns257:solidFill>
                  <ns257:srgbClr val="20262C"/>
                </ns257:solidFill>
                <ns257:latin typeface="Arial"/>
                <ns257:ea typeface="Arial"/>
                <ns257:cs typeface="Arial"/>
              </ns257:defRPr>
            </ns257:pPr>
            <ns257:r>
              <ns257:rPr sz="1150" b="0">
                <ns257:solidFill>
                  <ns257:srgbClr val="20262C"/>
                </ns257:solidFill>
                <ns257:latin typeface="Arial"/>
                <ns257:ea typeface="Arial"/>
                <ns257:cs typeface="Arial"/>
              </ns257:rPr>
              <ns257:t>revenue growth.</ns257:t>
            </ns257:r>
          </ns257:p>
        </p:txBody>
      </p:sp>
      <p:sp>
        <p:nvSpPr>
          <p:cNvPr id="145" name="comparison.v1.line.1.0"/>
          <p:cNvSpPr/>
          <p:nvPr/>
        </p:nvSpPr>
        <p:spPr>
          <ns258:xfrm xmlns:ns258="http://schemas.openxmlformats.org/drawingml/2006/main">
            <ns258:off x="5400000" y="3236400"/>
            <ns258:ext cx="3214800" cy="208800"/>
          </ns258:xfrm>
          <ns259:prstGeom xmlns:ns259="http://schemas.openxmlformats.org/drawingml/2006/main" prst="rect">
            <ns259:avLst/>
          </ns259:prstGeom>
          <ns260:noFill xmlns:ns260="http://schemas.openxmlformats.org/drawingml/2006/main"/>
          <ns261:ln xmlns:ns261="http://schemas.openxmlformats.org/drawingml/2006/main" w="0">
            <ns261:noFill/>
          </ns261:ln>
        </p:spPr>
        <p:txBody>
          <ns262:bodyPr xmlns:ns262="http://schemas.openxmlformats.org/drawingml/2006/main" wrap="square" lIns="0" rIns="0" tIns="0" bIns="0" anchor="t">
            <ns262:noAutofit/>
          </ns262:bodyPr>
          <ns263:lstStyle xmlns:ns263="http://schemas.openxmlformats.org/drawingml/2006/main"/>
          <ns264:p xmlns:ns264="http://schemas.openxmlformats.org/drawingml/2006/main">
            <ns264:pPr algn="l">
              <ns264:lnSpc>
                <ns264:spcPct val="100000"/>
              </ns264:lnSpc>
              <ns264:defRPr sz="1150" b="0">
                <ns264:solidFill>
                  <ns264:srgbClr val="20262C"/>
                </ns264:solidFill>
                <ns264:latin typeface="Arial"/>
                <ns264:ea typeface="Arial"/>
                <ns264:cs typeface="Arial"/>
              </ns264:defRPr>
            </ns264:pPr>
            <ns264:r>
              <ns264:rPr sz="1150" b="0">
                <ns264:solidFill>
                  <ns264:srgbClr val="20262C"/>
                </ns264:solidFill>
                <ns264:latin typeface="Arial"/>
                <ns264:ea typeface="Arial"/>
                <ns264:cs typeface="Arial"/>
              </ns264:rPr>
              <ns264:t>We are monitoring raw-material costs.</ns264:t>
            </ns264:r>
          </ns264:p>
        </p:txBody>
      </p:sp>
      <p:sp>
        <p:nvSpPr>
          <p:cNvPr id="146" name="comparison.v2.label"/>
          <p:cNvSpPr/>
          <p:nvPr/>
        </p:nvSpPr>
        <p:spPr>
          <ns265:xfrm xmlns:ns265="http://schemas.openxmlformats.org/drawingml/2006/main">
            <ns265:off x="5400000" y="3488400"/>
            <ns265:ext cx="3214800" cy="158400"/>
          </ns265:xfrm>
          <ns266:prstGeom xmlns:ns266="http://schemas.openxmlformats.org/drawingml/2006/main" prst="rect">
            <ns266:avLst/>
          </ns266:prstGeom>
          <ns267:noFill xmlns:ns267="http://schemas.openxmlformats.org/drawingml/2006/main"/>
          <ns268:ln xmlns:ns268="http://schemas.openxmlformats.org/drawingml/2006/main" w="0">
            <ns268:noFill/>
          </ns268:ln>
        </p:spPr>
        <p:txBody>
          <ns269:bodyPr xmlns:ns269="http://schemas.openxmlformats.org/drawingml/2006/main" wrap="square" lIns="0" rIns="0" tIns="0" bIns="0" anchor="t">
            <ns269:noAutofit/>
          </ns269:bodyPr>
          <ns270:lstStyle xmlns:ns270="http://schemas.openxmlformats.org/drawingml/2006/main"/>
          <ns271:p xmlns:ns271="http://schemas.openxmlformats.org/drawingml/2006/main">
            <ns271:pPr algn="l">
              <ns271:lnSpc>
                <ns271:spcPct val="105000"/>
              </ns271:lnSpc>
              <ns271:defRPr sz="1050" b="1">
                <ns271:solidFill>
                  <ns271:srgbClr val="7363A6"/>
                </ns271:solidFill>
                <ns271:latin typeface="Arial"/>
                <ns271:ea typeface="Arial"/>
                <ns271:cs typeface="Arial"/>
              </ns271:defRPr>
            </ns271:pPr>
            <ns271:r>
              <ns271:rPr sz="1050" b="1">
                <ns271:solidFill>
                  <ns271:srgbClr val="7363A6"/>
                </ns271:solidFill>
                <ns271:latin typeface="Arial"/>
                <ns271:ea typeface="Arial"/>
                <ns271:cs typeface="Arial"/>
              </ns271:rPr>
              <ns271:t>V2 investment view</ns271:t>
            </ns271:r>
          </ns271:p>
        </p:txBody>
      </p:sp>
      <p:sp>
        <p:nvSpPr>
          <p:cNvPr id="147" name="comparison.v2.highlight.0.0.0"/>
          <p:cNvSpPr/>
          <p:nvPr/>
        </p:nvSpPr>
        <p:spPr>
          <ns272:xfrm xmlns:ns272="http://schemas.openxmlformats.org/drawingml/2006/main">
            <ns272:off x="5400000" y="3693600"/>
            <ns272:ext cx="1938337" cy="169200"/>
          </ns272:xfrm>
          <ns273:prstGeom xmlns:ns273="http://schemas.openxmlformats.org/drawingml/2006/main" prst="rect">
            <ns273:avLst/>
          </ns273:prstGeom>
          <ns274:solidFill xmlns:ns274="http://schemas.openxmlformats.org/drawingml/2006/main">
            <ns274:srgbClr val="FFF0BE"/>
          </ns274:solidFill>
          <ns275:ln xmlns:ns275="http://schemas.openxmlformats.org/drawingml/2006/main" w="0">
            <ns275:noFill/>
          </ns275:ln>
        </p:spPr>
      </p:sp>
      <p:sp>
        <p:nvSpPr>
          <p:cNvPr id="148" name="comparison.v2.line.0.0"/>
          <p:cNvSpPr/>
          <p:nvPr/>
        </p:nvSpPr>
        <p:spPr>
          <ns276:xfrm xmlns:ns276="http://schemas.openxmlformats.org/drawingml/2006/main">
            <ns276:off x="5400000" y="3668400"/>
            <ns276:ext cx="3214800" cy="208800"/>
          </ns276:xfrm>
          <ns277:prstGeom xmlns:ns277="http://schemas.openxmlformats.org/drawingml/2006/main" prst="rect">
            <ns277:avLst/>
          </ns277:prstGeom>
          <ns278:noFill xmlns:ns278="http://schemas.openxmlformats.org/drawingml/2006/main"/>
          <ns279:ln xmlns:ns279="http://schemas.openxmlformats.org/drawingml/2006/main" w="0">
            <ns279:noFill/>
          </ns279:ln>
        </p:spPr>
        <p:txBody>
          <ns280:bodyPr xmlns:ns280="http://schemas.openxmlformats.org/drawingml/2006/main" wrap="square" lIns="0" rIns="0" tIns="0" bIns="0" anchor="t">
            <ns280:noAutofit/>
          </ns280:bodyPr>
          <ns281:lstStyle xmlns:ns281="http://schemas.openxmlformats.org/drawingml/2006/main"/>
          <ns282:p xmlns:ns282="http://schemas.openxmlformats.org/drawingml/2006/main">
            <ns282:pPr algn="l">
              <ns282:lnSpc>
                <ns282:spcPct val="100000"/>
              </ns282:lnSpc>
              <ns282:defRPr sz="1150" b="0">
                <ns282:solidFill>
                  <ns282:srgbClr val="20262C"/>
                </ns282:solidFill>
                <ns282:latin typeface="Arial"/>
                <ns282:ea typeface="Arial"/>
                <ns282:cs typeface="Arial"/>
              </ns282:defRPr>
            </ns282:pPr>
            <ns282:r>
              <ns282:rPr sz="1150" b="0">
                <ns282:solidFill>
                  <ns282:srgbClr val="20262C"/>
                </ns282:solidFill>
                <ns282:latin typeface="Arial"/>
                <ns282:ea typeface="Arial"/>
                <ns282:cs typeface="Arial"/>
              </ns282:rPr>
              <ns282:t>Channel restocking supported Company A’s</ns282:t>
            </ns282:r>
          </ns282:p>
        </p:txBody>
      </p:sp>
      <p:sp>
        <p:nvSpPr>
          <p:cNvPr id="149" name="comparison.v2.highlight.0.1.1"/>
          <p:cNvSpPr/>
          <p:nvPr/>
        </p:nvSpPr>
        <p:spPr>
          <ns283:xfrm xmlns:ns283="http://schemas.openxmlformats.org/drawingml/2006/main">
            <ns283:off x="5400000" y="3880800"/>
            <ns283:ext cx="854869" cy="169200"/>
          </ns283:xfrm>
          <ns284:prstGeom xmlns:ns284="http://schemas.openxmlformats.org/drawingml/2006/main" prst="rect">
            <ns284:avLst/>
          </ns284:prstGeom>
          <ns285:solidFill xmlns:ns285="http://schemas.openxmlformats.org/drawingml/2006/main">
            <ns285:srgbClr val="FFF0BE"/>
          </ns285:solidFill>
          <ns286:ln xmlns:ns286="http://schemas.openxmlformats.org/drawingml/2006/main" w="0">
            <ns286:noFill/>
          </ns286:ln>
        </p:spPr>
      </p:sp>
      <p:sp>
        <p:nvSpPr>
          <p:cNvPr id="150" name="comparison.v2.line.0.1"/>
          <p:cNvSpPr/>
          <p:nvPr/>
        </p:nvSpPr>
        <p:spPr>
          <ns287:xfrm xmlns:ns287="http://schemas.openxmlformats.org/drawingml/2006/main">
            <ns287:off x="5400000" y="3855600"/>
            <ns287:ext cx="3214800" cy="208800"/>
          </ns287:xfrm>
          <ns288:prstGeom xmlns:ns288="http://schemas.openxmlformats.org/drawingml/2006/main" prst="rect">
            <ns288:avLst/>
          </ns288:prstGeom>
          <ns289:noFill xmlns:ns289="http://schemas.openxmlformats.org/drawingml/2006/main"/>
          <ns290:ln xmlns:ns290="http://schemas.openxmlformats.org/drawingml/2006/main" w="0">
            <ns290:noFill/>
          </ns290:ln>
        </p:spPr>
        <p:txBody>
          <ns291:bodyPr xmlns:ns291="http://schemas.openxmlformats.org/drawingml/2006/main" wrap="square" lIns="0" rIns="0" tIns="0" bIns="0" anchor="t">
            <ns291:noAutofit/>
          </ns291:bodyPr>
          <ns292:lstStyle xmlns:ns292="http://schemas.openxmlformats.org/drawingml/2006/main"/>
          <ns293:p xmlns:ns293="http://schemas.openxmlformats.org/drawingml/2006/main">
            <ns293:pPr algn="l">
              <ns293:lnSpc>
                <ns293:spcPct val="100000"/>
              </ns293:lnSpc>
              <ns293:defRPr sz="1150" b="0">
                <ns293:solidFill>
                  <ns293:srgbClr val="20262C"/>
                </ns293:solidFill>
                <ns293:latin typeface="Arial"/>
                <ns293:ea typeface="Arial"/>
                <ns293:cs typeface="Arial"/>
              </ns293:defRPr>
            </ns293:pPr>
            <ns293:r>
              <ns293:rPr sz="1150" b="0">
                <ns293:solidFill>
                  <ns293:srgbClr val="20262C"/>
                </ns293:solidFill>
                <ns293:latin typeface="Arial"/>
                <ns293:ea typeface="Arial"/>
                <ns293:cs typeface="Arial"/>
              </ns293:rPr>
              <ns293:t>sales volume growth.</ns293:t>
            </ns293:r>
          </ns293:p>
        </p:txBody>
      </p:sp>
      <p:sp>
        <p:nvSpPr>
          <p:cNvPr id="151" name="comparison.v2.highlight.1.0.0"/>
          <p:cNvSpPr/>
          <p:nvPr/>
        </p:nvSpPr>
        <p:spPr>
          <ns294:xfrm xmlns:ns294="http://schemas.openxmlformats.org/drawingml/2006/main">
            <ns294:off x="6631069" y="4104000"/>
            <ns294:ext cx="1931194" cy="169200"/>
          </ns294:xfrm>
          <ns295:prstGeom xmlns:ns295="http://schemas.openxmlformats.org/drawingml/2006/main" prst="rect">
            <ns295:avLst/>
          </ns295:prstGeom>
          <ns296:solidFill xmlns:ns296="http://schemas.openxmlformats.org/drawingml/2006/main">
            <ns296:srgbClr val="FFF0BE"/>
          </ns296:solidFill>
          <ns297:ln xmlns:ns297="http://schemas.openxmlformats.org/drawingml/2006/main" w="0">
            <ns297:noFill/>
          </ns297:ln>
        </p:spPr>
      </p:sp>
      <p:sp>
        <p:nvSpPr>
          <p:cNvPr id="152" name="comparison.v2.line.1.0"/>
          <p:cNvSpPr/>
          <p:nvPr/>
        </p:nvSpPr>
        <p:spPr>
          <ns298:xfrm xmlns:ns298="http://schemas.openxmlformats.org/drawingml/2006/main">
            <ns298:off x="5400000" y="4078800"/>
            <ns298:ext cx="3214800" cy="208800"/>
          </ns298:xfrm>
          <ns299:prstGeom xmlns:ns299="http://schemas.openxmlformats.org/drawingml/2006/main" prst="rect">
            <ns299:avLst/>
          </ns299:prstGeom>
          <ns300:noFill xmlns:ns300="http://schemas.openxmlformats.org/drawingml/2006/main"/>
          <ns301:ln xmlns:ns301="http://schemas.openxmlformats.org/drawingml/2006/main" w="0">
            <ns301:noFill/>
          </ns301:ln>
        </p:spPr>
        <p:txBody>
          <ns302:bodyPr xmlns:ns302="http://schemas.openxmlformats.org/drawingml/2006/main" wrap="square" lIns="0" rIns="0" tIns="0" bIns="0" anchor="t">
            <ns302:noAutofit/>
          </ns302:bodyPr>
          <ns303:lstStyle xmlns:ns303="http://schemas.openxmlformats.org/drawingml/2006/main"/>
          <ns304:p xmlns:ns304="http://schemas.openxmlformats.org/drawingml/2006/main">
            <ns304:pPr algn="l">
              <ns304:lnSpc>
                <ns304:spcPct val="100000"/>
              </ns304:lnSpc>
              <ns304:defRPr sz="1150" b="0">
                <ns304:solidFill>
                  <ns304:srgbClr val="20262C"/>
                </ns304:solidFill>
                <ns304:latin typeface="Arial"/>
                <ns304:ea typeface="Arial"/>
                <ns304:cs typeface="Arial"/>
              </ns304:defRPr>
            </ns304:pPr>
            <ns304:r>
              <ns304:rPr sz="1150" b="0">
                <ns304:solidFill>
                  <ns304:srgbClr val="20262C"/>
                </ns304:solidFill>
                <ns304:latin typeface="Arial"/>
                <ns304:ea typeface="Arial"/>
                <ns304:cs typeface="Arial"/>
              </ns304:rPr>
              <ns304:t>We are monitoring whether restocking continues,</ns304:t>
            </ns304:r>
          </ns304:p>
        </p:txBody>
      </p:sp>
      <p:sp>
        <p:nvSpPr>
          <p:cNvPr id="153" name="comparison.v2.highlight.1.1.0"/>
          <p:cNvSpPr/>
          <p:nvPr/>
        </p:nvSpPr>
        <p:spPr>
          <ns305:xfrm xmlns:ns305="http://schemas.openxmlformats.org/drawingml/2006/main">
            <ns305:off x="5400000" y="4291200"/>
            <ns305:ext cx="626269" cy="169200"/>
          </ns305:xfrm>
          <ns306:prstGeom xmlns:ns306="http://schemas.openxmlformats.org/drawingml/2006/main" prst="rect">
            <ns306:avLst/>
          </ns306:prstGeom>
          <ns307:solidFill xmlns:ns307="http://schemas.openxmlformats.org/drawingml/2006/main">
            <ns307:srgbClr val="FFF0BE"/>
          </ns307:solidFill>
          <ns308:ln xmlns:ns308="http://schemas.openxmlformats.org/drawingml/2006/main" w="0">
            <ns308:noFill/>
          </ns308:ln>
        </p:spPr>
      </p:sp>
      <p:sp>
        <p:nvSpPr>
          <p:cNvPr id="154" name="comparison.v2.line.1.1"/>
          <p:cNvSpPr/>
          <p:nvPr/>
        </p:nvSpPr>
        <p:spPr>
          <ns309:xfrm xmlns:ns309="http://schemas.openxmlformats.org/drawingml/2006/main">
            <ns309:off x="5400000" y="4266000"/>
            <ns309:ext cx="3214800" cy="208800"/>
          </ns309:xfrm>
          <ns310:prstGeom xmlns:ns310="http://schemas.openxmlformats.org/drawingml/2006/main" prst="rect">
            <ns310:avLst/>
          </ns310:prstGeom>
          <ns311:noFill xmlns:ns311="http://schemas.openxmlformats.org/drawingml/2006/main"/>
          <ns312:ln xmlns:ns312="http://schemas.openxmlformats.org/drawingml/2006/main" w="0">
            <ns312:noFill/>
          </ns312:ln>
        </p:spPr>
        <p:txBody>
          <ns313:bodyPr xmlns:ns313="http://schemas.openxmlformats.org/drawingml/2006/main" wrap="square" lIns="0" rIns="0" tIns="0" bIns="0" anchor="t">
            <ns313:noAutofit/>
          </ns313:bodyPr>
          <ns314:lstStyle xmlns:ns314="http://schemas.openxmlformats.org/drawingml/2006/main"/>
          <ns315:p xmlns:ns315="http://schemas.openxmlformats.org/drawingml/2006/main">
            <ns315:pPr algn="l">
              <ns315:lnSpc>
                <ns315:spcPct val="100000"/>
              </ns315:lnSpc>
              <ns315:defRPr sz="1150" b="0">
                <ns315:solidFill>
                  <ns315:srgbClr val="20262C"/>
                </ns315:solidFill>
                <ns315:latin typeface="Arial"/>
                <ns315:ea typeface="Arial"/>
                <ns315:cs typeface="Arial"/>
              </ns315:defRPr>
            </ns315:pPr>
            <ns315:r>
              <ns315:rPr sz="1150" b="0">
                <ns315:solidFill>
                  <ns315:srgbClr val="20262C"/>
                </ns315:solidFill>
                <ns315:latin typeface="Arial"/>
                <ns315:ea typeface="Arial"/>
                <ns315:cs typeface="Arial"/>
              </ns315:rPr>
              <ns315:t>alongside raw-material costs.</ns315:t>
            </ns315:r>
          </ns315:p>
        </p:txBody>
      </p:sp>
      <p:cxnSp>
        <p:nvCxnSpPr>
          <p:cNvPr id="155" name="compare.to.comparison.result"/>
          <p:cNvCxnSpPr/>
          <p:nvPr/>
        </p:nvCxnSpPr>
        <p:spPr>
          <ns316:xfrm xmlns:ns316="http://schemas.openxmlformats.org/drawingml/2006/main">
            <ns316:off x="5130000" y="3366000"/>
            <ns316:ext cx="162000" cy="1"/>
          </ns316:xfrm>
          <ns317:prstGeom xmlns:ns317="http://schemas.openxmlformats.org/drawingml/2006/main" prst="line">
            <ns317:avLst/>
          </ns317:prstGeom>
          <ns318:ln xmlns:ns318="http://schemas.openxmlformats.org/drawingml/2006/main" w="11430">
            <ns318:solidFill>
              <ns318:srgbClr val="7363A6"/>
            </ns318:solidFill>
            <ns318:tailEnd type="triangle" w="sm" len="sm"/>
          </ns318:ln>
        </p:spPr>
      </p:cxnSp>
    </p:spTree>
    <p:extLst>
      <p:ext uri="{BB962C8B-B14F-4D97-AF65-F5344CB8AC3E}">
        <p14:creationId xmlns:p14="http://schemas.microsoft.com/office/powerpoint/2010/main" val="15787176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application: document change analysis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Back office / Document processing / Proposed application</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HuaAn; ICBCUBS; Bosera</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11" name="map.task.review"/>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Content review</ns68:t>
            </ns68:r>
          </ns68:p>
        </p:txBody>
      </p:sp>
      <p:sp>
        <p:nvSpPr>
          <p:cNvPr id="112" name="map.task.risk"/>
          <p:cNvSpPr/>
          <p:nvPr/>
        </p:nvSpPr>
        <p:spPr>
          <ns69:xfrm xmlns:ns69="http://schemas.openxmlformats.org/drawingml/2006/main">
            <ns69:off x="554400" y="3045600"/>
            <ns69:ext cx="1562400" cy="1656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050" b="0">
                <ns75:solidFill>
                  <ns75:srgbClr val="65727D"/>
                </ns75:solidFill>
                <ns75:latin typeface="Arial"/>
                <ns75:ea typeface="Arial"/>
                <ns75:cs typeface="Arial"/>
              </ns75:defRPr>
            </ns75:pPr>
            <ns75:r>
              <ns75:rPr sz="1050" b="0">
                <ns75:solidFill>
                  <ns75:srgbClr val="65727D"/>
                </ns75:solidFill>
                <ns75:latin typeface="Arial"/>
                <ns75:ea typeface="Arial"/>
                <ns75:cs typeface="Arial"/>
              </ns75:rPr>
              <ns75:t>Risk analysis</ns75:t>
            </ns75:r>
          </ns75:p>
        </p:txBody>
      </p:sp>
      <p:sp>
        <p:nvSpPr>
          <p:cNvPr id="113" name="map.office.2"/>
          <p:cNvSpPr/>
          <p:nvPr/>
        </p:nvSpPr>
        <p:spPr>
          <ns76:xfrm xmlns:ns76="http://schemas.openxmlformats.org/drawingml/2006/main">
            <ns76:off x="486000" y="3391200"/>
            <ns76:ext cx="1692000" cy="180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100" b="1">
                <ns82:solidFill>
                  <ns82:srgbClr val="005A9C"/>
                </ns82:solidFill>
                <ns82:latin typeface="Arial"/>
                <ns82:ea typeface="Arial"/>
                <ns82:cs typeface="Arial"/>
              </ns82:defRPr>
            </ns82:pPr>
            <ns82:r>
              <ns82:rPr sz="1100" b="1">
                <ns82:solidFill>
                  <ns82:srgbClr val="005A9C"/>
                </ns82:solidFill>
                <ns82:latin typeface="Arial"/>
                <ns82:ea typeface="Arial"/>
                <ns82:cs typeface="Arial"/>
              </ns82:rPr>
              <ns82:t>Back office</ns82:t>
            </ns82:r>
          </ns82:p>
        </p:txBody>
      </p:sp>
      <p:cxnSp>
        <p:nvCxnSpPr>
          <p:cNvPr id="114" name="map.office.rule.2"/>
          <p:cNvCxnSpPr/>
          <p:nvPr/>
        </p:nvCxnSpPr>
        <p:spPr>
          <ns83:xfrm xmlns:ns83="http://schemas.openxmlformats.org/drawingml/2006/main">
            <ns83:off x="457200" y="3610800"/>
            <ns83:ext cx="1742400" cy="1"/>
          </ns83:xfrm>
          <ns84:prstGeom xmlns:ns84="http://schemas.openxmlformats.org/drawingml/2006/main" prst="line">
            <ns84:avLst/>
          </ns84:prstGeom>
          <ns85:ln xmlns:ns85="http://schemas.openxmlformats.org/drawingml/2006/main" w="7620">
            <ns85:solidFill>
              <ns85:srgbClr val="005A9C"/>
            </ns85:solidFill>
          </ns85:ln>
        </p:spPr>
      </p:cxnSp>
      <p:sp>
        <p:nvSpPr>
          <p:cNvPr id="115" name="map.task.focus.files"/>
          <p:cNvSpPr/>
          <p:nvPr/>
        </p:nvSpPr>
        <p:spPr>
          <ns86:xfrm xmlns:ns86="http://schemas.openxmlformats.org/drawingml/2006/main">
            <ns86:off x="486000" y="3686400"/>
            <ns86:ext cx="1677600" cy="176400"/>
          </ns86:xfrm>
          <ns87:prstGeom xmlns:ns87="http://schemas.openxmlformats.org/drawingml/2006/main" prst="rect">
            <ns87:avLst/>
          </ns87:prstGeom>
          <ns88:solidFill xmlns:ns88="http://schemas.openxmlformats.org/drawingml/2006/main">
            <ns88:srgbClr val="D9EAF7"/>
          </ns88:solidFill>
          <ns89:ln xmlns:ns89="http://schemas.openxmlformats.org/drawingml/2006/main" w="0">
            <ns89:noFill/>
          </ns89:ln>
        </p:spPr>
      </p:sp>
      <p:sp>
        <p:nvSpPr>
          <p:cNvPr id="116" name="map.task.files"/>
          <p:cNvSpPr/>
          <p:nvPr/>
        </p:nvSpPr>
        <p:spPr>
          <ns90:xfrm xmlns:ns90="http://schemas.openxmlformats.org/drawingml/2006/main">
            <ns90:off x="554400" y="3690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1">
                <ns96:solidFill>
                  <ns96:srgbClr val="005A9C"/>
                </ns96:solidFill>
                <ns96:latin typeface="Arial"/>
                <ns96:ea typeface="Arial"/>
                <ns96:cs typeface="Arial"/>
              </ns96:defRPr>
            </ns96:pPr>
            <ns96:r>
              <ns96:rPr sz="1050" b="1">
                <ns96:solidFill>
                  <ns96:srgbClr val="005A9C"/>
                </ns96:solidFill>
                <ns96:latin typeface="Arial"/>
                <ns96:ea typeface="Arial"/>
                <ns96:cs typeface="Arial"/>
              </ns96:rPr>
              <ns96:t>Document processing</ns96:t>
            </ns96:r>
          </ns96:p>
        </p:txBody>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0">
                <ns103:solidFill>
                  <ns103:srgbClr val="65727D"/>
                </ns103:solidFill>
                <ns103:latin typeface="Arial"/>
                <ns103:ea typeface="Arial"/>
                <ns103:cs typeface="Arial"/>
              </ns103:defRPr>
            </ns103:pPr>
            <ns103:r>
              <ns103:rPr sz="1050" b="0">
                <ns103:solidFill>
                  <ns103:srgbClr val="65727D"/>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input.analysis.versions.paper"/>
          <p:cNvSpPr/>
          <p:nvPr/>
        </p:nvSpPr>
        <p:spPr>
          <ns111:xfrm xmlns:ns111="http://schemas.openxmlformats.org/drawingml/2006/main">
            <ns111:off x="2422800" y="1530000"/>
            <ns111:ext cx="1620000" cy="630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7363A6"/>
            </ns114:solidFill>
          </ns114:ln>
        </p:spPr>
      </p:sp>
      <p:sp>
        <p:nvSpPr>
          <p:cNvPr id="120" name="input.analysis.versions.title"/>
          <p:cNvSpPr/>
          <p:nvPr/>
        </p:nvSpPr>
        <p:spPr>
          <ns115:xfrm xmlns:ns115="http://schemas.openxmlformats.org/drawingml/2006/main">
            <ns115:off x="2487600" y="1573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7363A6"/>
                </ns121:solidFill>
                <ns121:latin typeface="Arial"/>
                <ns121:ea typeface="Arial"/>
                <ns121:cs typeface="Arial"/>
              </ns121:defRPr>
            </ns121:pPr>
            <ns121:r>
              <ns121:rPr sz="1250" b="1">
                <ns121:solidFill>
                  <ns121:srgbClr val="7363A6"/>
                </ns121:solidFill>
                <ns121:latin typeface="Arial"/>
                <ns121:ea typeface="Arial"/>
                <ns121:cs typeface="Arial"/>
              </ns121:rPr>
              <ns121:t>Existing V1 / V2</ns121:t>
            </ns121:r>
          </ns121:p>
        </p:txBody>
      </p:sp>
      <p:sp>
        <p:nvSpPr>
          <p:cNvPr id="121" name="input.analysis.versions.content"/>
          <p:cNvSpPr/>
          <p:nvPr/>
        </p:nvSpPr>
        <p:spPr>
          <ns122:xfrm xmlns:ns122="http://schemas.openxmlformats.org/drawingml/2006/main">
            <ns122:off x="2487600" y="1789200"/>
            <ns122:ext cx="1490400" cy="320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Quarterly update</ns128:t>
            </ns128:r>
          </ns128:p>
        </p:txBody>
      </p:sp>
      <p:sp>
        <p:nvSpPr>
          <p:cNvPr id="122" name="tool.passage.matching"/>
          <p:cNvSpPr/>
          <p:nvPr/>
        </p:nvSpPr>
        <p:spPr>
          <ns129:xfrm xmlns:ns129="http://schemas.openxmlformats.org/drawingml/2006/main">
            <ns129:off x="4392000" y="1530000"/>
            <ns129:ext cx="1458000" cy="630000"/>
          </ns129:xfrm>
          <ns130:prstGeom xmlns:ns130="http://schemas.openxmlformats.org/drawingml/2006/main" prst="roundRect">
            <ns130:avLst/>
          </ns130:prstGeom>
          <ns131:solidFill xmlns:ns131="http://schemas.openxmlformats.org/drawingml/2006/main">
            <ns131:srgbClr val="F3F7FA"/>
          </ns131:solidFill>
          <ns132:ln xmlns:ns132="http://schemas.openxmlformats.org/drawingml/2006/main" w="9525">
            <ns132:solidFill>
              <ns132:srgbClr val="65727D"/>
            </ns132:solidFill>
          </ns132:ln>
        </p:spPr>
        <p:txBody>
          <ns133:bodyPr xmlns:ns133="http://schemas.openxmlformats.org/drawingml/2006/main" wrap="square" lIns="61200" rIns="61200" tIns="61200" bIns="61200" anchor="ctr">
            <ns133:noAutofit/>
          </ns133:bodyPr>
          <ns134:lstStyle xmlns:ns134="http://schemas.openxmlformats.org/drawingml/2006/main"/>
          <ns135:p xmlns:ns135="http://schemas.openxmlformats.org/drawingml/2006/main">
            <ns135:pPr algn="l">
              <ns135:lnSpc>
                <ns135:spcPct val="105000"/>
              </ns135:lnSpc>
              <ns135:defRPr sz="1300" b="1">
                <ns135:solidFill>
                  <ns135:srgbClr val="65727D"/>
                </ns135:solidFill>
                <ns135:latin typeface="Arial"/>
                <ns135:ea typeface="Arial"/>
                <ns135:cs typeface="Arial"/>
              </ns135:defRPr>
            </ns135:pPr>
            <ns135:r>
              <ns135:rPr sz="1300" b="1">
                <ns135:solidFill>
                  <ns135:srgbClr val="65727D"/>
                </ns135:solidFill>
                <ns135:latin typeface="Arial"/>
                <ns135:ea typeface="Arial"/>
                <ns135:cs typeface="Arial"/>
              </ns135:rPr>
              <ns135:t>Document tools</ns135:t>
            </ns135:r>
          </ns135:p>
          <ns136:p xmlns:ns136="http://schemas.openxmlformats.org/drawingml/2006/main">
            <ns136:pPr algn="l">
              <ns136:lnSpc>
                <ns136:spcPct val="105000"/>
              </ns136:lnSpc>
              <ns136:defRPr sz="1100" b="0">
                <ns136:solidFill>
                  <ns136:srgbClr val="20262C"/>
                </ns136:solidFill>
                <ns136:latin typeface="Arial"/>
                <ns136:ea typeface="Arial"/>
                <ns136:cs typeface="Arial"/>
              </ns136:defRPr>
            </ns136:pPr>
            <ns136:r>
              <ns136:rPr sz="1100" b="0">
                <ns136:solidFill>
                  <ns136:srgbClr val="20262C"/>
                </ns136:solidFill>
                <ns136:latin typeface="Arial"/>
                <ns136:ea typeface="Arial"/>
                <ns136:cs typeface="Arial"/>
              </ns136:rPr>
              <ns136:t>Match passages</ns136:t>
            </ns136:r>
          </ns136:p>
        </p:txBody>
      </p:sp>
      <p:sp>
        <p:nvSpPr>
          <p:cNvPr id="123" name="role.semantic.change"/>
          <p:cNvSpPr/>
          <p:nvPr/>
        </p:nvSpPr>
        <p:spPr>
          <ns137:xfrm xmlns:ns137="http://schemas.openxmlformats.org/drawingml/2006/main">
            <ns137:off x="6127200" y="1530000"/>
            <ns137:ext cx="2559600" cy="630000"/>
          </ns137:xfrm>
          <ns138:prstGeom xmlns:ns138="http://schemas.openxmlformats.org/drawingml/2006/main" prst="roundRect">
            <ns138:avLst/>
          </ns138:prstGeom>
          <ns139:solidFill xmlns:ns139="http://schemas.openxmlformats.org/drawingml/2006/main">
            <ns139:srgbClr val="EAF3FA"/>
          </ns139:solidFill>
          <ns140:ln xmlns:ns140="http://schemas.openxmlformats.org/drawingml/2006/main" w="9525">
            <ns140:solidFill>
              <ns140:srgbClr val="005A9C"/>
            </ns140:solidFill>
          </ns140:ln>
        </p:spPr>
        <p:txBody>
          <ns141:bodyPr xmlns:ns141="http://schemas.openxmlformats.org/drawingml/2006/main" wrap="square" lIns="61200" rIns="61200" tIns="61200" bIns="61200" anchor="ctr">
            <ns141:noAutofit/>
          </ns141:bodyPr>
          <ns142:lstStyle xmlns:ns142="http://schemas.openxmlformats.org/drawingml/2006/main"/>
          <ns143:p xmlns:ns143="http://schemas.openxmlformats.org/drawingml/2006/main">
            <ns143:pPr algn="l">
              <ns143:lnSpc>
                <ns143:spcPct val="105000"/>
              </ns143:lnSpc>
              <ns143:defRPr sz="1300" b="1">
                <ns143:solidFill>
                  <ns143:srgbClr val="005A9C"/>
                </ns143:solidFill>
                <ns143:latin typeface="Arial"/>
                <ns143:ea typeface="Arial"/>
                <ns143:cs typeface="Arial"/>
              </ns143:defRPr>
            </ns143:pPr>
            <ns143:r>
              <ns143:rPr sz="1300" b="1">
                <ns143:solidFill>
                  <ns143:srgbClr val="005A9C"/>
                </ns143:solidFill>
                <ns143:latin typeface="Arial"/>
                <ns143:ea typeface="Arial"/>
                <ns143:cs typeface="Arial"/>
              </ns143:rPr>
              <ns143:t>LLM explains</ns143:t>
            </ns143:r>
          </ns143:p>
          <ns144:p xmlns:ns144="http://schemas.openxmlformats.org/drawingml/2006/main">
            <ns144:pPr algn="l">
              <ns144:lnSpc>
                <ns144:spcPct val="105000"/>
              </ns144:lnSpc>
              <ns144:defRPr sz="1150" b="0">
                <ns144:solidFill>
                  <ns144:srgbClr val="20262C"/>
                </ns144:solidFill>
                <ns144:latin typeface="Arial"/>
                <ns144:ea typeface="Arial"/>
                <ns144:cs typeface="Arial"/>
              </ns144:defRPr>
            </ns144:pPr>
            <ns144:r>
              <ns144:rPr sz="1150" b="0">
                <ns144:solidFill>
                  <ns144:srgbClr val="20262C"/>
                </ns144:solidFill>
                <ns144:latin typeface="Arial"/>
                <ns144:ea typeface="Arial"/>
                <ns144:cs typeface="Arial"/>
              </ns144:rPr>
              <ns144:t>Interpret changes</ns144:t>
            </ns144:r>
          </ns144:p>
        </p:txBody>
      </p:sp>
      <p:cxnSp>
        <p:nvCxnSpPr>
          <p:cNvPr id="124" name="versions.to.tools"/>
          <p:cNvCxnSpPr/>
          <p:nvPr/>
        </p:nvCxnSpPr>
        <p:spPr>
          <ns145:xfrm xmlns:ns145="http://schemas.openxmlformats.org/drawingml/2006/main">
            <ns145:off x="4078800" y="1845000"/>
            <ns145:ext cx="277200" cy="1"/>
          </ns145:xfrm>
          <ns146:prstGeom xmlns:ns146="http://schemas.openxmlformats.org/drawingml/2006/main" prst="line">
            <ns146:avLst/>
          </ns146:prstGeom>
          <ns147:ln xmlns:ns147="http://schemas.openxmlformats.org/drawingml/2006/main" w="11430">
            <ns147:solidFill>
              <ns147:srgbClr val="7363A6"/>
            </ns147:solidFill>
            <ns147:tailEnd type="triangle" w="sm" len="sm"/>
          </ns147:ln>
        </p:spPr>
      </p:cxnSp>
      <p:cxnSp>
        <p:nvCxnSpPr>
          <p:cNvPr id="125" name="tools.to.llm.change"/>
          <p:cNvCxnSpPr/>
          <p:nvPr/>
        </p:nvCxnSpPr>
        <p:spPr>
          <ns148:xfrm xmlns:ns148="http://schemas.openxmlformats.org/drawingml/2006/main">
            <ns148:off x="5886000" y="1845000"/>
            <ns148:ext cx="205200" cy="1"/>
          </ns148:xfrm>
          <ns149:prstGeom xmlns:ns149="http://schemas.openxmlformats.org/drawingml/2006/main" prst="line">
            <ns149:avLst/>
          </ns149:prstGeom>
          <ns150:ln xmlns:ns150="http://schemas.openxmlformats.org/drawingml/2006/main" w="11430">
            <ns150:solidFill>
              <ns150:srgbClr val="005A9C"/>
            </ns150:solidFill>
            <ns150:tailEnd type="triangle" w="sm" len="sm"/>
          </ns150:ln>
        </p:spPr>
      </p:cxnSp>
      <p:sp>
        <p:nvSpPr>
          <p:cNvPr id="126" name="output.semantic.summary.paper"/>
          <p:cNvSpPr/>
          <p:nvPr/>
        </p:nvSpPr>
        <p:spPr>
          <ns151:xfrm xmlns:ns151="http://schemas.openxmlformats.org/drawingml/2006/main">
            <ns151:off x="2422800" y="2538000"/>
            <ns151:ext cx="3427200" cy="1314000"/>
          </ns151:xfrm>
          <ns152:prstGeom xmlns:ns152="http://schemas.openxmlformats.org/drawingml/2006/main" prst="foldedCorner">
            <ns152:avLst/>
          </ns152:prstGeom>
          <ns153:solidFill xmlns:ns153="http://schemas.openxmlformats.org/drawingml/2006/main">
            <ns153:srgbClr val="FFFFFF"/>
          </ns153:solidFill>
          <ns154:ln xmlns:ns154="http://schemas.openxmlformats.org/drawingml/2006/main" w="9525">
            <ns154:solidFill>
              <ns154:srgbClr val="7363A6"/>
            </ns154:solidFill>
          </ns154:ln>
        </p:spPr>
      </p:sp>
      <p:sp>
        <p:nvSpPr>
          <p:cNvPr id="127" name="output.semantic.summary.title"/>
          <p:cNvSpPr/>
          <p:nvPr/>
        </p:nvSpPr>
        <p:spPr>
          <ns155:xfrm xmlns:ns155="http://schemas.openxmlformats.org/drawingml/2006/main">
            <ns155:off x="2487600" y="2581200"/>
            <ns155:ext cx="3229200" cy="198000"/>
          </ns155:xfrm>
          <ns156:prstGeom xmlns:ns156="http://schemas.openxmlformats.org/drawingml/2006/main" prst="rect">
            <ns156:avLst/>
          </ns156:prstGeom>
          <ns157:noFill xmlns:ns157="http://schemas.openxmlformats.org/drawingml/2006/main"/>
          <ns158:ln xmlns:ns158="http://schemas.openxmlformats.org/drawingml/2006/main" w="0">
            <ns158:noFill/>
          </ns158:ln>
        </p:spPr>
        <p:txBody>
          <ns159:bodyPr xmlns:ns159="http://schemas.openxmlformats.org/drawingml/2006/main" wrap="square" lIns="0" rIns="0" tIns="0" bIns="0" anchor="t">
            <ns159:noAutofit/>
          </ns159:bodyPr>
          <ns160:lstStyle xmlns:ns160="http://schemas.openxmlformats.org/drawingml/2006/main"/>
          <ns161:p xmlns:ns161="http://schemas.openxmlformats.org/drawingml/2006/main">
            <ns161:pPr algn="l">
              <ns161:lnSpc>
                <ns161:spcPct val="105000"/>
              </ns161:lnSpc>
              <ns161:defRPr sz="1250" b="1">
                <ns161:solidFill>
                  <ns161:srgbClr val="7363A6"/>
                </ns161:solidFill>
                <ns161:latin typeface="Arial"/>
                <ns161:ea typeface="Arial"/>
                <ns161:cs typeface="Arial"/>
              </ns161:defRPr>
            </ns161:pPr>
            <ns161:r>
              <ns161:rPr sz="1250" b="1">
                <ns161:solidFill>
                  <ns161:srgbClr val="7363A6"/>
                </ns161:solidFill>
                <ns161:latin typeface="Arial"/>
                <ns161:ea typeface="Arial"/>
                <ns161:cs typeface="Arial"/>
              </ns161:rPr>
              <ns161:t>Change summary</ns161:t>
            </ns161:r>
          </ns161:p>
        </p:txBody>
      </p:sp>
      <p:sp>
        <p:nvSpPr>
          <p:cNvPr id="128" name="output.semantic.summary.content"/>
          <p:cNvSpPr/>
          <p:nvPr/>
        </p:nvSpPr>
        <p:spPr>
          <ns162:xfrm xmlns:ns162="http://schemas.openxmlformats.org/drawingml/2006/main">
            <ns162:off x="2487600" y="2797200"/>
            <ns162:ext cx="3297600" cy="1004400"/>
          </ns162:xfrm>
          <ns163:prstGeom xmlns:ns163="http://schemas.openxmlformats.org/drawingml/2006/main" prst="rect">
            <ns163:avLst/>
          </ns163:prstGeom>
          <ns164:noFill xmlns:ns164="http://schemas.openxmlformats.org/drawingml/2006/main"/>
          <ns165:ln xmlns:ns165="http://schemas.openxmlformats.org/drawingml/2006/main" w="0">
            <ns165:noFill/>
          </ns165:ln>
        </p:spPr>
        <p:txBody>
          <ns166:bodyPr xmlns:ns166="http://schemas.openxmlformats.org/drawingml/2006/main" wrap="square" lIns="0" rIns="0" tIns="0" bIns="0" anchor="t">
            <ns166:noAutofit/>
          </ns166:bodyPr>
          <ns167:lstStyle xmlns:ns167="http://schemas.openxmlformats.org/drawingml/2006/main"/>
          <ns168:p xmlns:ns168="http://schemas.openxmlformats.org/drawingml/2006/main">
            <ns168:pPr algn="l">
              <ns168:lnSpc>
                <ns168:spcPct val="100000"/>
              </ns168:lnSpc>
              <ns168:defRPr sz="1200" b="0">
                <ns168:solidFill>
                  <ns168:srgbClr val="20262C"/>
                </ns168:solidFill>
                <ns168:latin typeface="Arial"/>
                <ns168:ea typeface="Arial"/>
                <ns168:cs typeface="Arial"/>
              </ns168:defRPr>
            </ns168:pPr>
            <ns168:r>
              <ns168:rPr sz="1200" b="0">
                <ns168:solidFill>
                  <ns168:srgbClr val="20262C"/>
                </ns168:solidFill>
                <ns168:latin typeface="Arial"/>
                <ns168:ea typeface="Arial"/>
                <ns168:cs typeface="Arial"/>
              </ns168:rPr>
              <ns168:t>Added driver: channel restocking</ns168:t>
            </ns168:r>
          </ns168:p>
          <ns169:p xmlns:ns169="http://schemas.openxmlformats.org/drawingml/2006/main">
            <ns169:pPr algn="l">
              <ns169:lnSpc>
                <ns169:spcPct val="100000"/>
              </ns169:lnSpc>
              <ns169:defRPr sz="1200" b="0">
                <ns169:solidFill>
                  <ns169:srgbClr val="20262C"/>
                </ns169:solidFill>
                <ns169:latin typeface="Arial"/>
                <ns169:ea typeface="Arial"/>
                <ns169:cs typeface="Arial"/>
              </ns169:defRPr>
            </ns169:pPr>
            <ns169:r>
              <ns169:rPr sz="1200" b="0">
                <ns169:solidFill>
                  <ns169:srgbClr val="20262C"/>
                </ns169:solidFill>
                <ns169:latin typeface="Arial"/>
                <ns169:ea typeface="Arial"/>
                <ns169:cs typeface="Arial"/>
              </ns169:rPr>
              <ns169:t>Added question: whether restocking continues</ns169:t>
            </ns169:r>
          </ns169:p>
          <ns170:p xmlns:ns170="http://schemas.openxmlformats.org/drawingml/2006/main">
            <ns170:pPr algn="l">
              <ns170:lnSpc>
                <ns170:spcPct val="100000"/>
              </ns170:lnSpc>
              <ns170:defRPr sz="1200" b="0">
                <ns170:solidFill>
                  <ns170:srgbClr val="20262C"/>
                </ns170:solidFill>
                <ns170:latin typeface="Arial"/>
                <ns170:ea typeface="Arial"/>
                <ns170:cs typeface="Arial"/>
              </ns170:defRPr>
            </ns170:pPr>
            <ns170:r>
              <ns170:rPr sz="1200" b="0">
                <ns170:solidFill>
                  <ns170:srgbClr val="20262C"/>
                </ns170:solidFill>
                <ns170:latin typeface="Arial"/>
                <ns170:ea typeface="Arial"/>
                <ns170:cs typeface="Arial"/>
              </ns170:rPr>
              <ns170:t>Retained: raw-material cost monitoring</ns170:t>
            </ns170:r>
          </ns170:p>
        </p:txBody>
      </p:sp>
      <p:cxnSp>
        <p:nvCxnSpPr>
          <p:cNvPr id="129" name="llm.to.semantic.summary.0"/>
          <p:cNvCxnSpPr/>
          <p:nvPr/>
        </p:nvCxnSpPr>
        <p:spPr>
          <ns171:xfrm xmlns:ns171="http://schemas.openxmlformats.org/drawingml/2006/main">
            <ns171:off x="7407000" y="2196000"/>
            <ns171:ext cx="1" cy="180000"/>
          </ns171:xfrm>
          <ns172:prstGeom xmlns:ns172="http://schemas.openxmlformats.org/drawingml/2006/main" prst="line">
            <ns172:avLst/>
          </ns172:prstGeom>
          <ns173:ln xmlns:ns173="http://schemas.openxmlformats.org/drawingml/2006/main" w="11430">
            <ns173:solidFill>
              <ns173:srgbClr val="7363A6"/>
            </ns173:solidFill>
          </ns173:ln>
        </p:spPr>
      </p:cxnSp>
      <p:cxnSp>
        <p:nvCxnSpPr>
          <p:cNvPr id="130" name="llm.to.semantic.summary.1"/>
          <p:cNvCxnSpPr/>
          <p:nvPr/>
        </p:nvCxnSpPr>
        <p:spPr>
          <ns174:xfrm xmlns:ns174="http://schemas.openxmlformats.org/drawingml/2006/main" flipH="1">
            <ns174:off x="4136400" y="2376000"/>
            <ns174:ext cx="3270600" cy="1"/>
          </ns174:xfrm>
          <ns175:prstGeom xmlns:ns175="http://schemas.openxmlformats.org/drawingml/2006/main" prst="line">
            <ns175:avLst/>
          </ns175:prstGeom>
          <ns176:ln xmlns:ns176="http://schemas.openxmlformats.org/drawingml/2006/main" w="11430">
            <ns176:solidFill>
              <ns176:srgbClr val="7363A6"/>
            </ns176:solidFill>
          </ns176:ln>
        </p:spPr>
      </p:cxnSp>
      <p:cxnSp>
        <p:nvCxnSpPr>
          <p:cNvPr id="131" name="llm.to.semantic.summary.2"/>
          <p:cNvCxnSpPr/>
          <p:nvPr/>
        </p:nvCxnSpPr>
        <p:spPr>
          <ns177:xfrm xmlns:ns177="http://schemas.openxmlformats.org/drawingml/2006/main">
            <ns177:off x="4136400" y="2376000"/>
            <ns177:ext cx="1" cy="126000"/>
          </ns177:xfrm>
          <ns178:prstGeom xmlns:ns178="http://schemas.openxmlformats.org/drawingml/2006/main" prst="line">
            <ns178:avLst/>
          </ns178:prstGeom>
          <ns179:ln xmlns:ns179="http://schemas.openxmlformats.org/drawingml/2006/main" w="11430">
            <ns179:solidFill>
              <ns179:srgbClr val="7363A6"/>
            </ns179:solidFill>
            <ns179:tailEnd type="triangle" w="sm" len="sm"/>
          </ns179:ln>
        </p:spPr>
      </p:cxnSp>
      <p:sp>
        <p:nvSpPr>
          <p:cNvPr id="132" name="human.operations.use"/>
          <p:cNvSpPr/>
          <p:nvPr/>
        </p:nvSpPr>
        <p:spPr>
          <ns180:xfrm xmlns:ns180="http://schemas.openxmlformats.org/drawingml/2006/main">
            <ns180:off x="6127200" y="2790000"/>
            <ns180:ext cx="2559600" cy="594000"/>
          </ns180:xfrm>
          <ns181:prstGeom xmlns:ns181="http://schemas.openxmlformats.org/drawingml/2006/main" prst="roundRect">
            <ns181:avLst/>
          </ns181:prstGeom>
          <ns182:solidFill xmlns:ns182="http://schemas.openxmlformats.org/drawingml/2006/main">
            <ns182:srgbClr val="F3F7FA"/>
          </ns182:solidFill>
          <ns183:ln xmlns:ns183="http://schemas.openxmlformats.org/drawingml/2006/main" w="9525">
            <ns183:solidFill>
              <ns183:srgbClr val="65727D"/>
            </ns183:solidFill>
          </ns183:ln>
        </p:spPr>
        <p:txBody>
          <ns184:bodyPr xmlns:ns184="http://schemas.openxmlformats.org/drawingml/2006/main" wrap="square" lIns="61200" rIns="61200" tIns="61200" bIns="61200" anchor="ctr">
            <ns184:noAutofit/>
          </ns184:bodyPr>
          <ns185:lstStyle xmlns:ns185="http://schemas.openxmlformats.org/drawingml/2006/main"/>
          <ns186:p xmlns:ns186="http://schemas.openxmlformats.org/drawingml/2006/main">
            <ns186:pPr algn="l">
              <ns186:lnSpc>
                <ns186:spcPct val="105000"/>
              </ns186:lnSpc>
              <ns186:defRPr sz="1300" b="1">
                <ns186:solidFill>
                  <ns186:srgbClr val="65727D"/>
                </ns186:solidFill>
                <ns186:latin typeface="Arial"/>
                <ns186:ea typeface="Arial"/>
                <ns186:cs typeface="Arial"/>
              </ns186:defRPr>
            </ns186:pPr>
            <ns186:r>
              <ns186:rPr sz="1300" b="1">
                <ns186:solidFill>
                  <ns186:srgbClr val="65727D"/>
                </ns186:solidFill>
                <ns186:latin typeface="Arial"/>
                <ns186:ea typeface="Arial"/>
                <ns186:cs typeface="Arial"/>
              </ns186:rPr>
              <ns186:t>Operations</ns186:t>
            </ns186:r>
          </ns186:p>
          <ns187:p xmlns:ns187="http://schemas.openxmlformats.org/drawingml/2006/main">
            <ns187:pPr algn="l">
              <ns187:lnSpc>
                <ns187:spcPct val="105000"/>
              </ns187:lnSpc>
              <ns187:defRPr sz="1150" b="0">
                <ns187:solidFill>
                  <ns187:srgbClr val="20262C"/>
                </ns187:solidFill>
                <ns187:latin typeface="Arial"/>
                <ns187:ea typeface="Arial"/>
                <ns187:cs typeface="Arial"/>
              </ns187:defRPr>
            </ns187:pPr>
            <ns187:r>
              <ns187:rPr sz="1150" b="0">
                <ns187:solidFill>
                  <ns187:srgbClr val="20262C"/>
                </ns187:solidFill>
                <ns187:latin typeface="Arial"/>
                <ns187:ea typeface="Arial"/>
                <ns187:cs typeface="Arial"/>
              </ns187:rPr>
              <ns187:t>Check summary</ns187:t>
            </ns187:r>
          </ns187:p>
        </p:txBody>
      </p:sp>
      <p:cxnSp>
        <p:nvCxnSpPr>
          <p:cNvPr id="133" name="summary.to.operations"/>
          <p:cNvCxnSpPr/>
          <p:nvPr/>
        </p:nvCxnSpPr>
        <p:spPr>
          <ns188:xfrm xmlns:ns188="http://schemas.openxmlformats.org/drawingml/2006/main">
            <ns188:off x="5886000" y="3087000"/>
            <ns188:ext cx="205200" cy="1"/>
          </ns188:xfrm>
          <ns189:prstGeom xmlns:ns189="http://schemas.openxmlformats.org/drawingml/2006/main" prst="line">
            <ns189:avLst/>
          </ns189:prstGeom>
          <ns190:ln xmlns:ns190="http://schemas.openxmlformats.org/drawingml/2006/main" w="11430">
            <ns190:solidFill>
              <ns190:srgbClr val="7363A6"/>
            </ns190:solidFill>
            <ns190:tailEnd type="triangle" w="sm" len="sm"/>
          </ns190:ln>
        </p:spPr>
      </p:cxnSp>
      <p:sp>
        <p:nvSpPr>
          <p:cNvPr id="134" name="output.filed.v2"/>
          <p:cNvSpPr/>
          <p:nvPr/>
        </p:nvSpPr>
        <p:spPr>
          <ns191:xfrm xmlns:ns191="http://schemas.openxmlformats.org/drawingml/2006/main">
            <ns191:off x="6127200" y="3708000"/>
            <ns191:ext cx="1224000" cy="738000"/>
          </ns191:xfrm>
          <ns192:prstGeom xmlns:ns192="http://schemas.openxmlformats.org/drawingml/2006/main" prst="rect">
            <ns192:avLst/>
          </ns192:prstGeom>
          <ns193:solidFill xmlns:ns193="http://schemas.openxmlformats.org/drawingml/2006/main">
            <ns193:srgbClr val="F7F4FB"/>
          </ns193:solidFill>
          <ns194:ln xmlns:ns194="http://schemas.openxmlformats.org/drawingml/2006/main" w="9525">
            <ns194:solidFill>
              <ns194:srgbClr val="7363A6"/>
            </ns194:solidFill>
          </ns194:ln>
        </p:spPr>
        <p:txBody>
          <ns195:bodyPr xmlns:ns195="http://schemas.openxmlformats.org/drawingml/2006/main" wrap="square" lIns="61200" rIns="61200" tIns="61200" bIns="61200" anchor="ctr">
            <ns195:noAutofit/>
          </ns195:bodyPr>
          <ns196:lstStyle xmlns:ns196="http://schemas.openxmlformats.org/drawingml/2006/main"/>
          <ns197:p xmlns:ns197="http://schemas.openxmlformats.org/drawingml/2006/main">
            <ns197:pPr algn="l">
              <ns197:lnSpc>
                <ns197:spcPct val="105000"/>
              </ns197:lnSpc>
              <ns197:defRPr sz="1300" b="1">
                <ns197:solidFill>
                  <ns197:srgbClr val="7363A6"/>
                </ns197:solidFill>
                <ns197:latin typeface="Arial"/>
                <ns197:ea typeface="Arial"/>
                <ns197:cs typeface="Arial"/>
              </ns197:defRPr>
            </ns197:pPr>
            <ns197:r>
              <ns197:rPr sz="1300" b="1">
                <ns197:solidFill>
                  <ns197:srgbClr val="7363A6"/>
                </ns197:solidFill>
                <ns197:latin typeface="Arial"/>
                <ns197:ea typeface="Arial"/>
                <ns197:cs typeface="Arial"/>
              </ns197:rPr>
              <ns197:t>Filed with V2</ns197:t>
            </ns197:r>
          </ns197:p>
          <ns198:p xmlns:ns198="http://schemas.openxmlformats.org/drawingml/2006/main">
            <ns198:pPr algn="l">
              <ns198:lnSpc>
                <ns198:spcPct val="105000"/>
              </ns198:lnSpc>
              <ns198:defRPr sz="1050" b="0">
                <ns198:solidFill>
                  <ns198:srgbClr val="20262C"/>
                </ns198:solidFill>
                <ns198:latin typeface="Arial"/>
                <ns198:ea typeface="Arial"/>
                <ns198:cs typeface="Arial"/>
              </ns198:defRPr>
            </ns198:pPr>
            <ns198:r>
              <ns198:rPr sz="1050" b="0">
                <ns198:solidFill>
                  <ns198:srgbClr val="20262C"/>
                </ns198:solidFill>
                <ns198:latin typeface="Arial"/>
                <ns198:ea typeface="Arial"/>
                <ns198:cs typeface="Arial"/>
              </ns198:rPr>
              <ns198:t>Record retained</ns198:t>
            </ns198:r>
          </ns198:p>
        </p:txBody>
      </p:sp>
      <p:sp>
        <p:nvSpPr>
          <p:cNvPr id="135" name="output.related.revision"/>
          <p:cNvSpPr/>
          <p:nvPr/>
        </p:nvSpPr>
        <p:spPr>
          <ns199:xfrm xmlns:ns199="http://schemas.openxmlformats.org/drawingml/2006/main">
            <ns199:off x="7531200" y="3708000"/>
            <ns199:ext cx="1155600" cy="738000"/>
          </ns199:xfrm>
          <ns200:prstGeom xmlns:ns200="http://schemas.openxmlformats.org/drawingml/2006/main" prst="rect">
            <ns200:avLst/>
          </ns200:prstGeom>
          <ns201:solidFill xmlns:ns201="http://schemas.openxmlformats.org/drawingml/2006/main">
            <ns201:srgbClr val="F3F7FA"/>
          </ns201:solidFill>
          <ns202:ln xmlns:ns202="http://schemas.openxmlformats.org/drawingml/2006/main" w="9525">
            <ns202:solidFill>
              <ns202:srgbClr val="65727D"/>
            </ns202:solidFill>
          </ns202:ln>
        </p:spPr>
        <p:txBody>
          <ns203:bodyPr xmlns:ns203="http://schemas.openxmlformats.org/drawingml/2006/main" wrap="square" lIns="61200" rIns="61200" tIns="61200" bIns="61200" anchor="ctr">
            <ns203:noAutofit/>
          </ns203:bodyPr>
          <ns204:lstStyle xmlns:ns204="http://schemas.openxmlformats.org/drawingml/2006/main"/>
          <ns205:p xmlns:ns205="http://schemas.openxmlformats.org/drawingml/2006/main">
            <ns205:pPr algn="l">
              <ns205:lnSpc>
                <ns205:spcPct val="105000"/>
              </ns205:lnSpc>
              <ns205:defRPr sz="1300" b="1">
                <ns205:solidFill>
                  <ns205:srgbClr val="65727D"/>
                </ns205:solidFill>
                <ns205:latin typeface="Arial"/>
                <ns205:ea typeface="Arial"/>
                <ns205:cs typeface="Arial"/>
              </ns205:defRPr>
            </ns205:pPr>
            <ns205:r>
              <ns205:rPr sz="1300" b="1">
                <ns205:solidFill>
                  <ns205:srgbClr val="65727D"/>
                </ns205:solidFill>
                <ns205:latin typeface="Arial"/>
                <ns205:ea typeface="Arial"/>
                <ns205:cs typeface="Arial"/>
              </ns205:rPr>
              <ns205:t>Related updates</ns205:t>
            </ns205:r>
          </ns205:p>
          <ns206:p xmlns:ns206="http://schemas.openxmlformats.org/drawingml/2006/main">
            <ns206:pPr algn="l">
              <ns206:lnSpc>
                <ns206:spcPct val="105000"/>
              </ns206:lnSpc>
              <ns206:defRPr sz="1050" b="0">
                <ns206:solidFill>
                  <ns206:srgbClr val="20262C"/>
                </ns206:solidFill>
                <ns206:latin typeface="Arial"/>
                <ns206:ea typeface="Arial"/>
                <ns206:cs typeface="Arial"/>
              </ns206:defRPr>
            </ns206:pPr>
            <ns206:r>
              <ns206:rPr sz="1050" b="0">
                <ns206:solidFill>
                  <ns206:srgbClr val="20262C"/>
                </ns206:solidFill>
                <ns206:latin typeface="Arial"/>
                <ns206:ea typeface="Arial"/>
                <ns206:cs typeface="Arial"/>
              </ns206:rPr>
              <ns206:t>Client files / Q&amp;A</ns206:t>
            </ns206:r>
          </ns206:p>
        </p:txBody>
      </p:sp>
      <p:cxnSp>
        <p:nvCxnSpPr>
          <p:cNvPr id="136" name="operations.output.trunk"/>
          <p:cNvCxnSpPr/>
          <p:nvPr/>
        </p:nvCxnSpPr>
        <p:spPr>
          <ns207:xfrm xmlns:ns207="http://schemas.openxmlformats.org/drawingml/2006/main">
            <ns207:off x="7407000" y="3420000"/>
            <ns207:ext cx="1" cy="118800"/>
          </ns207:xfrm>
          <ns208:prstGeom xmlns:ns208="http://schemas.openxmlformats.org/drawingml/2006/main" prst="line">
            <ns208:avLst/>
          </ns208:prstGeom>
          <ns209:ln xmlns:ns209="http://schemas.openxmlformats.org/drawingml/2006/main" w="11430">
            <ns209:solidFill>
              <ns209:srgbClr val="005A9C"/>
            </ns209:solidFill>
          </ns209:ln>
        </p:spPr>
      </p:cxnSp>
      <p:cxnSp>
        <p:nvCxnSpPr>
          <p:cNvPr id="137" name="operations.output.branch"/>
          <p:cNvCxnSpPr/>
          <p:nvPr/>
        </p:nvCxnSpPr>
        <p:spPr>
          <ns210:xfrm xmlns:ns210="http://schemas.openxmlformats.org/drawingml/2006/main">
            <ns210:off x="6739200" y="3538800"/>
            <ns210:ext cx="1369800" cy="1"/>
          </ns210:xfrm>
          <ns211:prstGeom xmlns:ns211="http://schemas.openxmlformats.org/drawingml/2006/main" prst="line">
            <ns211:avLst/>
          </ns211:prstGeom>
          <ns212:ln xmlns:ns212="http://schemas.openxmlformats.org/drawingml/2006/main" w="11430">
            <ns212:solidFill>
              <ns212:srgbClr val="005A9C"/>
            </ns212:solidFill>
          </ns212:ln>
        </p:spPr>
      </p:cxnSp>
      <p:cxnSp>
        <p:nvCxnSpPr>
          <p:cNvPr id="138" name="operations.filing"/>
          <p:cNvCxnSpPr/>
          <p:nvPr/>
        </p:nvCxnSpPr>
        <p:spPr>
          <ns213:xfrm xmlns:ns213="http://schemas.openxmlformats.org/drawingml/2006/main">
            <ns213:off x="6739200" y="3538800"/>
            <ns213:ext cx="1" cy="133200"/>
          </ns213:xfrm>
          <ns214:prstGeom xmlns:ns214="http://schemas.openxmlformats.org/drawingml/2006/main" prst="line">
            <ns214:avLst/>
          </ns214:prstGeom>
          <ns215:ln xmlns:ns215="http://schemas.openxmlformats.org/drawingml/2006/main" w="11430">
            <ns215:solidFill>
              <ns215:srgbClr val="7363A6"/>
            </ns215:solidFill>
            <ns215:tailEnd type="triangle" w="sm" len="sm"/>
          </ns215:ln>
        </p:spPr>
      </p:cxnSp>
      <p:cxnSp>
        <p:nvCxnSpPr>
          <p:cNvPr id="139" name="operations.related.updates"/>
          <p:cNvCxnSpPr/>
          <p:nvPr/>
        </p:nvCxnSpPr>
        <p:spPr>
          <ns216:xfrm xmlns:ns216="http://schemas.openxmlformats.org/drawingml/2006/main">
            <ns216:off x="8109000" y="3538800"/>
            <ns216:ext cx="1" cy="133200"/>
          </ns216:xfrm>
          <ns217:prstGeom xmlns:ns217="http://schemas.openxmlformats.org/drawingml/2006/main" prst="line">
            <ns217:avLst/>
          </ns217:prstGeom>
          <ns218:ln xmlns:ns218="http://schemas.openxmlformats.org/drawingml/2006/main" w="11430">
            <ns218:solidFill>
              <ns218:srgbClr val="7363A6"/>
            </ns218:solidFill>
            <ns218:tailEnd type="triangle" w="sm" len="sm"/>
          </ns218:ln>
        </p:spPr>
      </p:cxnSp>
    </p:spTree>
    <p:extLst>
      <p:ext uri="{BB962C8B-B14F-4D97-AF65-F5344CB8AC3E}">
        <p14:creationId xmlns:p14="http://schemas.microsoft.com/office/powerpoint/2010/main" val="20519257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Developing a document comparison tool</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Back office / Internal tool development / Current workflow</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65727D"/>
                </ns20:solidFill>
                <ns20:latin typeface="Arial"/>
                <ns20:ea typeface="Arial"/>
                <ns20:cs typeface="Arial"/>
              </ns20:defRPr>
            </ns20:pPr>
            <ns20:r>
              <ns20:rPr sz="1100" b="1">
                <ns20:solidFill>
                  <ns20:srgbClr val="65727D"/>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CBD4DA"/>
            </ns23:solidFill>
          </ns23:ln>
        </p:spPr>
      </p:cxnSp>
      <p:sp>
        <p:nvSpPr>
          <p:cNvPr id="105"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106"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107" name="map.task.client"/>
          <p:cNvSpPr/>
          <p:nvPr/>
        </p:nvSpPr>
        <p:spPr>
          <ns38:xfrm xmlns:ns38="http://schemas.openxmlformats.org/drawingml/2006/main">
            <ns38:off x="554400" y="2199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Client materials</ns44:t>
            </ns44:r>
          </ns44:p>
        </p:txBody>
      </p:sp>
      <p:sp>
        <p:nvSpPr>
          <p:cNvPr id="108" name="map.office.1"/>
          <p:cNvSpPr/>
          <p:nvPr/>
        </p:nvSpPr>
        <p:spPr>
          <ns45:xfrm xmlns:ns45="http://schemas.openxmlformats.org/drawingml/2006/main">
            <ns45:off x="486000" y="2548800"/>
            <ns45:ext cx="1692000" cy="180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100" b="1">
                <ns51:solidFill>
                  <ns51:srgbClr val="65727D"/>
                </ns51:solidFill>
                <ns51:latin typeface="Arial"/>
                <ns51:ea typeface="Arial"/>
                <ns51:cs typeface="Arial"/>
              </ns51:defRPr>
            </ns51:pPr>
            <ns51:r>
              <ns51:rPr sz="1100" b="1">
                <ns51:solidFill>
                  <ns51:srgbClr val="65727D"/>
                </ns51:solidFill>
                <ns51:latin typeface="Arial"/>
                <ns51:ea typeface="Arial"/>
                <ns51:cs typeface="Arial"/>
              </ns51:rPr>
              <ns51:t>Middle office</ns51:t>
            </ns51:r>
          </ns51:p>
        </p:txBody>
      </p:sp>
      <p:cxnSp>
        <p:nvCxnSpPr>
          <p:cNvPr id="109" name="map.office.rule.1"/>
          <p:cNvCxnSpPr/>
          <p:nvPr/>
        </p:nvCxnSpPr>
        <p:spPr>
          <ns52:xfrm xmlns:ns52="http://schemas.openxmlformats.org/drawingml/2006/main">
            <ns52:off x="457200" y="2768400"/>
            <ns52:ext cx="1742400" cy="1"/>
          </ns52:xfrm>
          <ns53:prstGeom xmlns:ns53="http://schemas.openxmlformats.org/drawingml/2006/main" prst="line">
            <ns53:avLst/>
          </ns53:prstGeom>
          <ns54:ln xmlns:ns54="http://schemas.openxmlformats.org/drawingml/2006/main" w="7620">
            <ns54:solidFill>
              <ns54:srgbClr val="CBD4DA"/>
            </ns54:solidFill>
          </ns54:ln>
        </p:spPr>
      </p:cxnSp>
      <p:sp>
        <p:nvSpPr>
          <p:cNvPr id="110" name="map.task.review"/>
          <p:cNvSpPr/>
          <p:nvPr/>
        </p:nvSpPr>
        <p:spPr>
          <ns55:xfrm xmlns:ns55="http://schemas.openxmlformats.org/drawingml/2006/main">
            <ns55:off x="554400" y="2847600"/>
            <ns55:ext cx="1562400" cy="1656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5000"/>
              </ns61:lnSpc>
              <ns61:defRPr sz="1050" b="0">
                <ns61:solidFill>
                  <ns61:srgbClr val="65727D"/>
                </ns61:solidFill>
                <ns61:latin typeface="Arial"/>
                <ns61:ea typeface="Arial"/>
                <ns61:cs typeface="Arial"/>
              </ns61:defRPr>
            </ns61:pPr>
            <ns61:r>
              <ns61:rPr sz="1050" b="0">
                <ns61:solidFill>
                  <ns61:srgbClr val="65727D"/>
                </ns61:solidFill>
                <ns61:latin typeface="Arial"/>
                <ns61:ea typeface="Arial"/>
                <ns61:cs typeface="Arial"/>
              </ns61:rPr>
              <ns61:t>Content review</ns61:t>
            </ns61:r>
          </ns61:p>
        </p:txBody>
      </p:sp>
      <p:sp>
        <p:nvSpPr>
          <p:cNvPr id="111" name="map.task.risk"/>
          <p:cNvSpPr/>
          <p:nvPr/>
        </p:nvSpPr>
        <p:spPr>
          <ns62:xfrm xmlns:ns62="http://schemas.openxmlformats.org/drawingml/2006/main">
            <ns62:off x="554400" y="3045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Risk analysis</ns68:t>
            </ns68:r>
          </ns68:p>
        </p:txBody>
      </p:sp>
      <p:sp>
        <p:nvSpPr>
          <p:cNvPr id="112" name="map.office.2"/>
          <p:cNvSpPr/>
          <p:nvPr/>
        </p:nvSpPr>
        <p:spPr>
          <ns69:xfrm xmlns:ns69="http://schemas.openxmlformats.org/drawingml/2006/main">
            <ns69:off x="486000" y="3391200"/>
            <ns69:ext cx="1692000" cy="180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100" b="1">
                <ns75:solidFill>
                  <ns75:srgbClr val="005A9C"/>
                </ns75:solidFill>
                <ns75:latin typeface="Arial"/>
                <ns75:ea typeface="Arial"/>
                <ns75:cs typeface="Arial"/>
              </ns75:defRPr>
            </ns75:pPr>
            <ns75:r>
              <ns75:rPr sz="1100" b="1">
                <ns75:solidFill>
                  <ns75:srgbClr val="005A9C"/>
                </ns75:solidFill>
                <ns75:latin typeface="Arial"/>
                <ns75:ea typeface="Arial"/>
                <ns75:cs typeface="Arial"/>
              </ns75:rPr>
              <ns75:t>Back office</ns75:t>
            </ns75:r>
          </ns75:p>
        </p:txBody>
      </p:sp>
      <p:cxnSp>
        <p:nvCxnSpPr>
          <p:cNvPr id="113" name="map.office.rule.2"/>
          <p:cNvCxnSpPr/>
          <p:nvPr/>
        </p:nvCxnSpPr>
        <p:spPr>
          <ns76:xfrm xmlns:ns76="http://schemas.openxmlformats.org/drawingml/2006/main">
            <ns76:off x="457200" y="3610800"/>
            <ns76:ext cx="1742400" cy="1"/>
          </ns76:xfrm>
          <ns77:prstGeom xmlns:ns77="http://schemas.openxmlformats.org/drawingml/2006/main" prst="line">
            <ns77:avLst/>
          </ns77:prstGeom>
          <ns78:ln xmlns:ns78="http://schemas.openxmlformats.org/drawingml/2006/main" w="7620">
            <ns78:solidFill>
              <ns78:srgbClr val="005A9C"/>
            </ns78:solidFill>
          </ns78:ln>
        </p:spPr>
      </p:cxnSp>
      <p:sp>
        <p:nvSpPr>
          <p:cNvPr id="114" name="map.task.files"/>
          <p:cNvSpPr/>
          <p:nvPr/>
        </p:nvSpPr>
        <p:spPr>
          <ns79:xfrm xmlns:ns79="http://schemas.openxmlformats.org/drawingml/2006/main">
            <ns79:off x="554400" y="3690000"/>
            <ns79:ext cx="1562400" cy="1656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5000"/>
              </ns85:lnSpc>
              <ns85:defRPr sz="1050" b="0">
                <ns85:solidFill>
                  <ns85:srgbClr val="65727D"/>
                </ns85:solidFill>
                <ns85:latin typeface="Arial"/>
                <ns85:ea typeface="Arial"/>
                <ns85:cs typeface="Arial"/>
              </ns85:defRPr>
            </ns85:pPr>
            <ns85:r>
              <ns85:rPr sz="1050" b="0">
                <ns85:solidFill>
                  <ns85:srgbClr val="65727D"/>
                </ns85:solidFill>
                <ns85:latin typeface="Arial"/>
                <ns85:ea typeface="Arial"/>
                <ns85:cs typeface="Arial"/>
              </ns85:rPr>
              <ns85:t>Document processing</ns85:t>
            </ns85:r>
          </ns85:p>
        </p:txBody>
      </p:sp>
      <p:sp>
        <p:nvSpPr>
          <p:cNvPr id="115" name="map.task.focus.dev"/>
          <p:cNvSpPr/>
          <p:nvPr/>
        </p:nvSpPr>
        <p:spPr>
          <ns86:xfrm xmlns:ns86="http://schemas.openxmlformats.org/drawingml/2006/main">
            <ns86:off x="486000" y="3884400"/>
            <ns86:ext cx="1677600" cy="176400"/>
          </ns86:xfrm>
          <ns87:prstGeom xmlns:ns87="http://schemas.openxmlformats.org/drawingml/2006/main" prst="rect">
            <ns87:avLst/>
          </ns87:prstGeom>
          <ns88:solidFill xmlns:ns88="http://schemas.openxmlformats.org/drawingml/2006/main">
            <ns88:srgbClr val="D9EAF7"/>
          </ns88:solidFill>
          <ns89:ln xmlns:ns89="http://schemas.openxmlformats.org/drawingml/2006/main" w="0">
            <ns89:noFill/>
          </ns89:ln>
        </p:spPr>
      </p:sp>
      <p:sp>
        <p:nvSpPr>
          <p:cNvPr id="116"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1">
                <ns96:solidFill>
                  <ns96:srgbClr val="005A9C"/>
                </ns96:solidFill>
                <ns96:latin typeface="Arial"/>
                <ns96:ea typeface="Arial"/>
                <ns96:cs typeface="Arial"/>
              </ns96:defRPr>
            </ns96:pPr>
            <ns96:r>
              <ns96:rPr sz="1050" b="1">
                <ns96:solidFill>
                  <ns96:srgbClr val="005A9C"/>
                </ns96:solidFill>
                <ns96:latin typeface="Arial"/>
                <ns96:ea typeface="Arial"/>
                <ns96:cs typeface="Arial"/>
              </ns96:rPr>
              <ns96:t>Tool development</ns96:t>
            </ns96:r>
          </ns96:p>
        </p:txBody>
      </p:sp>
      <p:sp>
        <p:nvSpPr>
          <p:cNvPr id="117" name="map.legend"/>
          <p:cNvSpPr/>
          <p:nvPr/>
        </p:nvSpPr>
        <p:spPr>
          <ns97:xfrm xmlns:ns97="http://schemas.openxmlformats.org/drawingml/2006/main">
            <ns97:off x="486000" y="4363200"/>
            <ns97:ext cx="1684800" cy="162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850" b="0">
                <ns103:solidFill>
                  <ns103:srgbClr val="65727D"/>
                </ns103:solidFill>
                <ns103:latin typeface="Arial"/>
                <ns103:ea typeface="Arial"/>
                <ns103:cs typeface="Arial"/>
              </ns103:defRPr>
            </ns103:pPr>
            <ns103:r>
              <ns103:rPr sz="850" b="0">
                <ns103:solidFill>
                  <ns103:srgbClr val="65727D"/>
                </ns103:solidFill>
                <ns103:latin typeface="Arial"/>
                <ns103:ea typeface="Arial"/>
                <ns103:cs typeface="Arial"/>
              </ns103:rPr>
              <ns103:t>Company workflow</ns103:t>
            </ns103:r>
          </ns103:p>
        </p:txBody>
      </p:sp>
      <p:sp>
        <p:nvSpPr>
          <p:cNvPr id="118" name="input.dev.version.0.paper"/>
          <p:cNvSpPr/>
          <p:nvPr/>
        </p:nvSpPr>
        <p:spPr>
          <ns104:xfrm xmlns:ns104="http://schemas.openxmlformats.org/drawingml/2006/main">
            <ns104:off x="2422800" y="1530000"/>
            <ns104:ext cx="1620000" cy="1008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7363A6"/>
            </ns107:solidFill>
          </ns107:ln>
        </p:spPr>
      </p:sp>
      <p:sp>
        <p:nvSpPr>
          <p:cNvPr id="119" name="input.dev.version.0.title"/>
          <p:cNvSpPr/>
          <p:nvPr/>
        </p:nvSpPr>
        <p:spPr>
          <ns108:xfrm xmlns:ns108="http://schemas.openxmlformats.org/drawingml/2006/main">
            <ns108:off x="2487600" y="1573200"/>
            <ns108:ext cx="14220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7363A6"/>
                </ns114:solidFill>
                <ns114:latin typeface="Arial"/>
                <ns114:ea typeface="Arial"/>
                <ns114:cs typeface="Arial"/>
              </ns114:defRPr>
            </ns114:pPr>
            <ns114:r>
              <ns114:rPr sz="1250" b="1">
                <ns114:solidFill>
                  <ns114:srgbClr val="7363A6"/>
                </ns114:solidFill>
                <ns114:latin typeface="Arial"/>
                <ns114:ea typeface="Arial"/>
                <ns114:cs typeface="Arial"/>
              </ns114:rPr>
              <ns114:t>V1 sample</ns114:t>
            </ns114:r>
          </ns114:p>
        </p:txBody>
      </p:sp>
      <p:sp>
        <p:nvSpPr>
          <p:cNvPr id="120" name="input.dev.version.0.content"/>
          <p:cNvSpPr/>
          <p:nvPr/>
        </p:nvSpPr>
        <p:spPr>
          <ns115:xfrm xmlns:ns115="http://schemas.openxmlformats.org/drawingml/2006/main">
            <ns115:off x="2487600" y="1789200"/>
            <ns115:ext cx="1490400" cy="698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200" b="0">
                <ns121:solidFill>
                  <ns121:srgbClr val="20262C"/>
                </ns121:solidFill>
                <ns121:latin typeface="Arial"/>
                <ns121:ea typeface="Arial"/>
                <ns121:cs typeface="Arial"/>
              </ns121:defRPr>
            </ns121:pPr>
            <ns121:r>
              <ns121:rPr sz="1200" b="0">
                <ns121:solidFill>
                  <ns121:srgbClr val="20262C"/>
                </ns121:solidFill>
                <ns121:latin typeface="Arial"/>
                <ns121:ea typeface="Arial"/>
                <ns121:cs typeface="Arial"/>
              </ns121:rPr>
              <ns121:t/>
            </ns121:r>
          </ns121:p>
        </p:txBody>
      </p:sp>
      <p:sp>
        <p:nvSpPr>
          <p:cNvPr id="121" name="sample.header.0"/>
          <p:cNvSpPr/>
          <p:nvPr/>
        </p:nvSpPr>
        <p:spPr>
          <ns122:xfrm xmlns:ns122="http://schemas.openxmlformats.org/drawingml/2006/main">
            <ns122:off x="2487600" y="1828800"/>
            <ns122:ext cx="1490400" cy="216000"/>
          </ns122:xfrm>
          <ns123:prstGeom xmlns:ns123="http://schemas.openxmlformats.org/drawingml/2006/main" prst="rect">
            <ns123:avLst/>
          </ns123:prstGeom>
          <ns124:solidFill xmlns:ns124="http://schemas.openxmlformats.org/drawingml/2006/main">
            <ns124:srgbClr val="F3F7FA"/>
          </ns124:solidFill>
          <ns125:ln xmlns:ns125="http://schemas.openxmlformats.org/drawingml/2006/main" w="9525">
            <ns125:solidFill>
              <ns125:srgbClr val="65727D"/>
            </ns125:solidFill>
          </ns125:ln>
        </p:spPr>
        <p:txBody>
          <ns126:bodyPr xmlns:ns126="http://schemas.openxmlformats.org/drawingml/2006/main" wrap="square" lIns="10800" rIns="10800" tIns="10800" bIns="10800" anchor="t">
            <ns126:noAutofit/>
          </ns126:bodyPr>
          <ns127:lstStyle xmlns:ns127="http://schemas.openxmlformats.org/drawingml/2006/main"/>
          <ns128:p xmlns:ns128="http://schemas.openxmlformats.org/drawingml/2006/main">
            <ns128:pPr algn="ctr">
              <ns128:lnSpc>
                <ns128:spcPct val="105000"/>
              </ns128:lnSpc>
              <ns128:defRPr sz="1050" b="0">
                <ns128:solidFill>
                  <ns128:srgbClr val="65727D"/>
                </ns128:solidFill>
                <ns128:latin typeface="Arial"/>
                <ns128:ea typeface="Arial"/>
                <ns128:cs typeface="Arial"/>
              </ns128:defRPr>
            </ns128:pPr>
            <ns128:r>
              <ns128:rPr sz="1050" b="0">
                <ns128:solidFill>
                  <ns128:srgbClr val="65727D"/>
                </ns128:solidFill>
                <ns128:latin typeface="Arial"/>
                <ns128:ea typeface="Arial"/>
                <ns128:cs typeface="Arial"/>
              </ns128:rPr>
              <ns128:t>Repeated header</ns128:t>
            </ns128:r>
          </ns128:p>
        </p:txBody>
      </p:sp>
      <p:sp>
        <p:nvSpPr>
          <p:cNvPr id="122" name="sample.body.0"/>
          <p:cNvSpPr/>
          <p:nvPr/>
        </p:nvSpPr>
        <p:spPr>
          <ns129:xfrm xmlns:ns129="http://schemas.openxmlformats.org/drawingml/2006/main">
            <ns129:off x="2487600" y="2196000"/>
            <ns129:ext cx="1490400" cy="216000"/>
          </ns129:xfrm>
          <ns130:prstGeom xmlns:ns130="http://schemas.openxmlformats.org/drawingml/2006/main" prst="rect">
            <ns130:avLst/>
          </ns130:prstGeom>
          <ns131:noFill xmlns:ns131="http://schemas.openxmlformats.org/drawingml/2006/main"/>
          <ns132:ln xmlns:ns132="http://schemas.openxmlformats.org/drawingml/2006/main" w="9525">
            <ns132:solidFill>
              <ns132:srgbClr val="7363A6"/>
            </ns132:solidFill>
          </ns132:ln>
        </p:spPr>
        <p:txBody>
          <ns133:bodyPr xmlns:ns133="http://schemas.openxmlformats.org/drawingml/2006/main" wrap="square" lIns="10800" rIns="10800" tIns="10800" bIns="10800" anchor="t">
            <ns133:noAutofit/>
          </ns133:bodyPr>
          <ns134:lstStyle xmlns:ns134="http://schemas.openxmlformats.org/drawingml/2006/main"/>
          <ns135:p xmlns:ns135="http://schemas.openxmlformats.org/drawingml/2006/main">
            <ns135:pPr algn="ctr">
              <ns135:lnSpc>
                <ns135:spcPct val="105000"/>
              </ns135:lnSpc>
              <ns135:defRPr sz="1150" b="1">
                <ns135:solidFill>
                  <ns135:srgbClr val="7363A6"/>
                </ns135:solidFill>
                <ns135:latin typeface="Arial"/>
                <ns135:ea typeface="Arial"/>
                <ns135:cs typeface="Arial"/>
              </ns135:defRPr>
            </ns135:pPr>
            <ns135:r>
              <ns135:rPr sz="1150" b="1">
                <ns135:solidFill>
                  <ns135:srgbClr val="7363A6"/>
                </ns135:solidFill>
                <ns135:latin typeface="Arial"/>
                <ns135:ea typeface="Arial"/>
                <ns135:cs typeface="Arial"/>
              </ns135:rPr>
              <ns135:t>Body text</ns135:t>
            </ns135:r>
          </ns135:p>
        </p:txBody>
      </p:sp>
      <p:sp>
        <p:nvSpPr>
          <p:cNvPr id="123" name="sample.ignore.0"/>
          <p:cNvSpPr/>
          <p:nvPr/>
        </p:nvSpPr>
        <p:spPr>
          <ns136:xfrm xmlns:ns136="http://schemas.openxmlformats.org/drawingml/2006/main">
            <ns136:off x="2487600" y="2059200"/>
            <ns136:ext cx="1490400" cy="1260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5000"/>
              </ns142:lnSpc>
              <ns142:defRPr sz="950" b="0">
                <ns142:solidFill>
                  <ns142:srgbClr val="65727D"/>
                </ns142:solidFill>
                <ns142:latin typeface="Arial"/>
                <ns142:ea typeface="Arial"/>
                <ns142:cs typeface="Arial"/>
              </ns142:defRPr>
            </ns142:pPr>
            <ns142:r>
              <ns142:rPr sz="950" b="0">
                <ns142:solidFill>
                  <ns142:srgbClr val="65727D"/>
                </ns142:solidFill>
                <ns142:latin typeface="Arial"/>
                <ns142:ea typeface="Arial"/>
                <ns142:cs typeface="Arial"/>
              </ns142:rPr>
              <ns142:t>Ignore</ns142:t>
            </ns142:r>
          </ns142:p>
        </p:txBody>
      </p:sp>
      <p:sp>
        <p:nvSpPr>
          <p:cNvPr id="124" name="input.dev.version.1.paper"/>
          <p:cNvSpPr/>
          <p:nvPr/>
        </p:nvSpPr>
        <p:spPr>
          <ns143:xfrm xmlns:ns143="http://schemas.openxmlformats.org/drawingml/2006/main">
            <ns143:off x="4392000" y="1530000"/>
            <ns143:ext cx="1458000" cy="1008000"/>
          </ns143:xfrm>
          <ns144:prstGeom xmlns:ns144="http://schemas.openxmlformats.org/drawingml/2006/main" prst="foldedCorner">
            <ns144:avLst/>
          </ns144:prstGeom>
          <ns145:solidFill xmlns:ns145="http://schemas.openxmlformats.org/drawingml/2006/main">
            <ns145:srgbClr val="FFFFFF"/>
          </ns145:solidFill>
          <ns146:ln xmlns:ns146="http://schemas.openxmlformats.org/drawingml/2006/main" w="9525">
            <ns146:solidFill>
              <ns146:srgbClr val="7363A6"/>
            </ns146:solidFill>
          </ns146:ln>
        </p:spPr>
      </p:sp>
      <p:sp>
        <p:nvSpPr>
          <p:cNvPr id="125" name="input.dev.version.1.title"/>
          <p:cNvSpPr/>
          <p:nvPr/>
        </p:nvSpPr>
        <p:spPr>
          <ns147:xfrm xmlns:ns147="http://schemas.openxmlformats.org/drawingml/2006/main">
            <ns147:off x="4456800" y="1573200"/>
            <ns147:ext cx="1260000" cy="198000"/>
          </ns147:xfrm>
          <ns148:prstGeom xmlns:ns148="http://schemas.openxmlformats.org/drawingml/2006/main" prst="rect">
            <ns148:avLst/>
          </ns148:prstGeom>
          <ns149:noFill xmlns:ns149="http://schemas.openxmlformats.org/drawingml/2006/main"/>
          <ns150:ln xmlns:ns150="http://schemas.openxmlformats.org/drawingml/2006/main" w="0">
            <ns150:noFill/>
          </ns150:ln>
        </p:spPr>
        <p:txBody>
          <ns151:bodyPr xmlns:ns151="http://schemas.openxmlformats.org/drawingml/2006/main" wrap="square" lIns="0" rIns="0" tIns="0" bIns="0" anchor="t">
            <ns151:noAutofit/>
          </ns151:bodyPr>
          <ns152:lstStyle xmlns:ns152="http://schemas.openxmlformats.org/drawingml/2006/main"/>
          <ns153:p xmlns:ns153="http://schemas.openxmlformats.org/drawingml/2006/main">
            <ns153:pPr algn="l">
              <ns153:lnSpc>
                <ns153:spcPct val="105000"/>
              </ns153:lnSpc>
              <ns153:defRPr sz="1250" b="1">
                <ns153:solidFill>
                  <ns153:srgbClr val="7363A6"/>
                </ns153:solidFill>
                <ns153:latin typeface="Arial"/>
                <ns153:ea typeface="Arial"/>
                <ns153:cs typeface="Arial"/>
              </ns153:defRPr>
            </ns153:pPr>
            <ns153:r>
              <ns153:rPr sz="1250" b="1">
                <ns153:solidFill>
                  <ns153:srgbClr val="7363A6"/>
                </ns153:solidFill>
                <ns153:latin typeface="Arial"/>
                <ns153:ea typeface="Arial"/>
                <ns153:cs typeface="Arial"/>
              </ns153:rPr>
              <ns153:t>V2 sample</ns153:t>
            </ns153:r>
          </ns153:p>
        </p:txBody>
      </p:sp>
      <p:sp>
        <p:nvSpPr>
          <p:cNvPr id="126" name="input.dev.version.1.content"/>
          <p:cNvSpPr/>
          <p:nvPr/>
        </p:nvSpPr>
        <p:spPr>
          <ns154:xfrm xmlns:ns154="http://schemas.openxmlformats.org/drawingml/2006/main">
            <ns154:off x="4456800" y="1789200"/>
            <ns154:ext cx="1328400" cy="698400"/>
          </ns154:xfrm>
          <ns155:prstGeom xmlns:ns155="http://schemas.openxmlformats.org/drawingml/2006/main" prst="rect">
            <ns155:avLst/>
          </ns155:prstGeom>
          <ns156:noFill xmlns:ns156="http://schemas.openxmlformats.org/drawingml/2006/main"/>
          <ns157:ln xmlns:ns157="http://schemas.openxmlformats.org/drawingml/2006/main" w="0">
            <ns157:noFill/>
          </ns157:ln>
        </p:spPr>
        <p:txBody>
          <ns158:bodyPr xmlns:ns158="http://schemas.openxmlformats.org/drawingml/2006/main" wrap="square" lIns="0" rIns="0" tIns="0" bIns="0" anchor="t">
            <ns158:noAutofit/>
          </ns158:bodyPr>
          <ns159:lstStyle xmlns:ns159="http://schemas.openxmlformats.org/drawingml/2006/main"/>
          <ns160:p xmlns:ns160="http://schemas.openxmlformats.org/drawingml/2006/main">
            <ns160:pPr algn="l">
              <ns160:lnSpc>
                <ns160:spcPct val="100000"/>
              </ns160:lnSpc>
              <ns160:defRPr sz="1200" b="0">
                <ns160:solidFill>
                  <ns160:srgbClr val="20262C"/>
                </ns160:solidFill>
                <ns160:latin typeface="Arial"/>
                <ns160:ea typeface="Arial"/>
                <ns160:cs typeface="Arial"/>
              </ns160:defRPr>
            </ns160:pPr>
            <ns160:r>
              <ns160:rPr sz="1200" b="0">
                <ns160:solidFill>
                  <ns160:srgbClr val="20262C"/>
                </ns160:solidFill>
                <ns160:latin typeface="Arial"/>
                <ns160:ea typeface="Arial"/>
                <ns160:cs typeface="Arial"/>
              </ns160:rPr>
              <ns160:t/>
            </ns160:r>
          </ns160:p>
        </p:txBody>
      </p:sp>
      <p:sp>
        <p:nvSpPr>
          <p:cNvPr id="127" name="sample.header.1"/>
          <p:cNvSpPr/>
          <p:nvPr/>
        </p:nvSpPr>
        <p:spPr>
          <ns161:xfrm xmlns:ns161="http://schemas.openxmlformats.org/drawingml/2006/main">
            <ns161:off x="4456800" y="1828800"/>
            <ns161:ext cx="1328400" cy="216000"/>
          </ns161:xfrm>
          <ns162:prstGeom xmlns:ns162="http://schemas.openxmlformats.org/drawingml/2006/main" prst="rect">
            <ns162:avLst/>
          </ns162:prstGeom>
          <ns163:solidFill xmlns:ns163="http://schemas.openxmlformats.org/drawingml/2006/main">
            <ns163:srgbClr val="F3F7FA"/>
          </ns163:solidFill>
          <ns164:ln xmlns:ns164="http://schemas.openxmlformats.org/drawingml/2006/main" w="9525">
            <ns164:solidFill>
              <ns164:srgbClr val="65727D"/>
            </ns164:solidFill>
          </ns164:ln>
        </p:spPr>
        <p:txBody>
          <ns165:bodyPr xmlns:ns165="http://schemas.openxmlformats.org/drawingml/2006/main" wrap="square" lIns="10800" rIns="10800" tIns="10800" bIns="10800" anchor="t">
            <ns165:noAutofit/>
          </ns165:bodyPr>
          <ns166:lstStyle xmlns:ns166="http://schemas.openxmlformats.org/drawingml/2006/main"/>
          <ns167:p xmlns:ns167="http://schemas.openxmlformats.org/drawingml/2006/main">
            <ns167:pPr algn="ctr">
              <ns167:lnSpc>
                <ns167:spcPct val="105000"/>
              </ns167:lnSpc>
              <ns167:defRPr sz="1050" b="0">
                <ns167:solidFill>
                  <ns167:srgbClr val="65727D"/>
                </ns167:solidFill>
                <ns167:latin typeface="Arial"/>
                <ns167:ea typeface="Arial"/>
                <ns167:cs typeface="Arial"/>
              </ns167:defRPr>
            </ns167:pPr>
            <ns167:r>
              <ns167:rPr sz="1050" b="0">
                <ns167:solidFill>
                  <ns167:srgbClr val="65727D"/>
                </ns167:solidFill>
                <ns167:latin typeface="Arial"/>
                <ns167:ea typeface="Arial"/>
                <ns167:cs typeface="Arial"/>
              </ns167:rPr>
              <ns167:t>Repeated header</ns167:t>
            </ns167:r>
          </ns167:p>
        </p:txBody>
      </p:sp>
      <p:sp>
        <p:nvSpPr>
          <p:cNvPr id="128" name="sample.body.1"/>
          <p:cNvSpPr/>
          <p:nvPr/>
        </p:nvSpPr>
        <p:spPr>
          <ns168:xfrm xmlns:ns168="http://schemas.openxmlformats.org/drawingml/2006/main">
            <ns168:off x="4456800" y="2196000"/>
            <ns168:ext cx="1328400" cy="216000"/>
          </ns168:xfrm>
          <ns169:prstGeom xmlns:ns169="http://schemas.openxmlformats.org/drawingml/2006/main" prst="rect">
            <ns169:avLst/>
          </ns169:prstGeom>
          <ns170:noFill xmlns:ns170="http://schemas.openxmlformats.org/drawingml/2006/main"/>
          <ns171:ln xmlns:ns171="http://schemas.openxmlformats.org/drawingml/2006/main" w="9525">
            <ns171:solidFill>
              <ns171:srgbClr val="7363A6"/>
            </ns171:solidFill>
          </ns171:ln>
        </p:spPr>
        <p:txBody>
          <ns172:bodyPr xmlns:ns172="http://schemas.openxmlformats.org/drawingml/2006/main" wrap="square" lIns="10800" rIns="10800" tIns="10800" bIns="10800" anchor="t">
            <ns172:noAutofit/>
          </ns172:bodyPr>
          <ns173:lstStyle xmlns:ns173="http://schemas.openxmlformats.org/drawingml/2006/main"/>
          <ns174:p xmlns:ns174="http://schemas.openxmlformats.org/drawingml/2006/main">
            <ns174:pPr algn="ctr">
              <ns174:lnSpc>
                <ns174:spcPct val="105000"/>
              </ns174:lnSpc>
              <ns174:defRPr sz="1150" b="1">
                <ns174:solidFill>
                  <ns174:srgbClr val="7363A6"/>
                </ns174:solidFill>
                <ns174:latin typeface="Arial"/>
                <ns174:ea typeface="Arial"/>
                <ns174:cs typeface="Arial"/>
              </ns174:defRPr>
            </ns174:pPr>
            <ns174:r>
              <ns174:rPr sz="1150" b="1">
                <ns174:solidFill>
                  <ns174:srgbClr val="7363A6"/>
                </ns174:solidFill>
                <ns174:latin typeface="Arial"/>
                <ns174:ea typeface="Arial"/>
                <ns174:cs typeface="Arial"/>
              </ns174:rPr>
              <ns174:t>Body text</ns174:t>
            </ns174:r>
          </ns174:p>
        </p:txBody>
      </p:sp>
      <p:sp>
        <p:nvSpPr>
          <p:cNvPr id="129" name="sample.ignore.1"/>
          <p:cNvSpPr/>
          <p:nvPr/>
        </p:nvSpPr>
        <p:spPr>
          <ns175:xfrm xmlns:ns175="http://schemas.openxmlformats.org/drawingml/2006/main">
            <ns175:off x="4456800" y="2059200"/>
            <ns175:ext cx="1328400" cy="126000"/>
          </ns175:xfrm>
          <ns176:prstGeom xmlns:ns176="http://schemas.openxmlformats.org/drawingml/2006/main" prst="rect">
            <ns176:avLst/>
          </ns176:prstGeom>
          <ns177:noFill xmlns:ns177="http://schemas.openxmlformats.org/drawingml/2006/main"/>
          <ns178:ln xmlns:ns178="http://schemas.openxmlformats.org/drawingml/2006/main" w="0">
            <ns178:noFill/>
          </ns178:ln>
        </p:spPr>
        <p:txBody>
          <ns179:bodyPr xmlns:ns179="http://schemas.openxmlformats.org/drawingml/2006/main" wrap="square" lIns="0" rIns="0" tIns="0" bIns="0" anchor="t">
            <ns179:noAutofit/>
          </ns179:bodyPr>
          <ns180:lstStyle xmlns:ns180="http://schemas.openxmlformats.org/drawingml/2006/main"/>
          <ns181:p xmlns:ns181="http://schemas.openxmlformats.org/drawingml/2006/main">
            <ns181:pPr algn="l">
              <ns181:lnSpc>
                <ns181:spcPct val="105000"/>
              </ns181:lnSpc>
              <ns181:defRPr sz="950" b="0">
                <ns181:solidFill>
                  <ns181:srgbClr val="65727D"/>
                </ns181:solidFill>
                <ns181:latin typeface="Arial"/>
                <ns181:ea typeface="Arial"/>
                <ns181:cs typeface="Arial"/>
              </ns181:defRPr>
            </ns181:pPr>
            <ns181:r>
              <ns181:rPr sz="950" b="0">
                <ns181:solidFill>
                  <ns181:srgbClr val="65727D"/>
                </ns181:solidFill>
                <ns181:latin typeface="Arial"/>
                <ns181:ea typeface="Arial"/>
                <ns181:cs typeface="Arial"/>
              </ns181:rPr>
              <ns181:t>Ignore</ns181:t>
            </ns181:r>
          </ns181:p>
        </p:txBody>
      </p:sp>
      <p:sp>
        <p:nvSpPr>
          <p:cNvPr id="130" name="input.comparison.rule"/>
          <p:cNvSpPr/>
          <p:nvPr/>
        </p:nvSpPr>
        <p:spPr>
          <ns182:xfrm xmlns:ns182="http://schemas.openxmlformats.org/drawingml/2006/main">
            <ns182:off x="6127200" y="1530000"/>
            <ns182:ext cx="2559600" cy="1008000"/>
          </ns182:xfrm>
          <ns183:prstGeom xmlns:ns183="http://schemas.openxmlformats.org/drawingml/2006/main" prst="rect">
            <ns183:avLst/>
          </ns183:prstGeom>
          <ns184:solidFill xmlns:ns184="http://schemas.openxmlformats.org/drawingml/2006/main">
            <ns184:srgbClr val="F3F7FA"/>
          </ns184:solidFill>
          <ns185:ln xmlns:ns185="http://schemas.openxmlformats.org/drawingml/2006/main" w="9525">
            <ns185:solidFill>
              <ns185:srgbClr val="65727D"/>
            </ns185:solidFill>
          </ns185:ln>
        </p:spPr>
        <p:txBody>
          <ns186:bodyPr xmlns:ns186="http://schemas.openxmlformats.org/drawingml/2006/main" wrap="square" lIns="61200" rIns="61200" tIns="61200" bIns="61200" anchor="ctr">
            <ns186:noAutofit/>
          </ns186:bodyPr>
          <ns187:lstStyle xmlns:ns187="http://schemas.openxmlformats.org/drawingml/2006/main"/>
          <ns188:p xmlns:ns188="http://schemas.openxmlformats.org/drawingml/2006/main">
            <ns188:pPr algn="l">
              <ns188:lnSpc>
                <ns188:spcPct val="105000"/>
              </ns188:lnSpc>
              <ns188:defRPr sz="1300" b="1">
                <ns188:solidFill>
                  <ns188:srgbClr val="65727D"/>
                </ns188:solidFill>
                <ns188:latin typeface="Arial"/>
                <ns188:ea typeface="Arial"/>
                <ns188:cs typeface="Arial"/>
              </ns188:defRPr>
            </ns188:pPr>
            <ns188:r>
              <ns188:rPr sz="1300" b="1">
                <ns188:solidFill>
                  <ns188:srgbClr val="65727D"/>
                </ns188:solidFill>
                <ns188:latin typeface="Arial"/>
                <ns188:ea typeface="Arial"/>
                <ns188:cs typeface="Arial"/>
              </ns188:rPr>
              <ns188:t>Business rule</ns188:t>
            </ns188:r>
          </ns188:p>
          <ns189:p xmlns:ns189="http://schemas.openxmlformats.org/drawingml/2006/main">
            <ns189:pPr algn="l">
              <ns189:lnSpc>
                <ns189:spcPct val="105000"/>
              </ns189:lnSpc>
              <ns189:defRPr sz="1200" b="0">
                <ns189:solidFill>
                  <ns189:srgbClr val="20262C"/>
                </ns189:solidFill>
                <ns189:latin typeface="Arial"/>
                <ns189:ea typeface="Arial"/>
                <ns189:cs typeface="Arial"/>
              </ns189:defRPr>
            </ns189:pPr>
            <ns189:r>
              <ns189:rPr sz="1200" b="0">
                <ns189:solidFill>
                  <ns189:srgbClr val="20262C"/>
                </ns189:solidFill>
                <ns189:latin typeface="Arial"/>
                <ns189:ea typeface="Arial"/>
                <ns189:cs typeface="Arial"/>
              </ns189:rPr>
              <ns189:t>Ignore repeated headers</ns189:t>
            </ns189:r>
          </ns189:p>
          <ns190:p xmlns:ns190="http://schemas.openxmlformats.org/drawingml/2006/main">
            <ns190:pPr algn="l">
              <ns190:lnSpc>
                <ns190:spcPct val="105000"/>
              </ns190:lnSpc>
              <ns190:defRPr sz="1200" b="0">
                <ns190:solidFill>
                  <ns190:srgbClr val="20262C"/>
                </ns190:solidFill>
                <ns190:latin typeface="Arial"/>
                <ns190:ea typeface="Arial"/>
                <ns190:cs typeface="Arial"/>
              </ns190:defRPr>
            </ns190:pPr>
            <ns190:r>
              <ns190:rPr sz="1200" b="0">
                <ns190:solidFill>
                  <ns190:srgbClr val="20262C"/>
                </ns190:solidFill>
                <ns190:latin typeface="Arial"/>
                <ns190:ea typeface="Arial"/>
                <ns190:cs typeface="Arial"/>
              </ns190:rPr>
              <ns190:t>Compare body text</ns190:t>
            </ns190:r>
          </ns190:p>
        </p:txBody>
      </p:sp>
      <p:cxnSp>
        <p:nvCxnSpPr>
          <p:cNvPr id="131" name="development.inputs.8.98"/>
          <p:cNvCxnSpPr/>
          <p:nvPr/>
        </p:nvCxnSpPr>
        <p:spPr>
          <ns191:xfrm xmlns:ns191="http://schemas.openxmlformats.org/drawingml/2006/main">
            <ns191:off x="3232800" y="2574000"/>
            <ns191:ext cx="1" cy="190800"/>
          </ns191:xfrm>
          <ns192:prstGeom xmlns:ns192="http://schemas.openxmlformats.org/drawingml/2006/main" prst="line">
            <ns192:avLst/>
          </ns192:prstGeom>
          <ns193:ln xmlns:ns193="http://schemas.openxmlformats.org/drawingml/2006/main" w="11430">
            <ns193:solidFill>
              <ns193:srgbClr val="005A9C"/>
            </ns193:solidFill>
          </ns193:ln>
        </p:spPr>
      </p:cxnSp>
      <p:cxnSp>
        <p:nvCxnSpPr>
          <p:cNvPr id="132" name="development.inputs.14.225"/>
          <p:cNvCxnSpPr/>
          <p:nvPr/>
        </p:nvCxnSpPr>
        <p:spPr>
          <ns194:xfrm xmlns:ns194="http://schemas.openxmlformats.org/drawingml/2006/main">
            <ns194:off x="5121000" y="2574000"/>
            <ns194:ext cx="1" cy="190800"/>
          </ns194:xfrm>
          <ns195:prstGeom xmlns:ns195="http://schemas.openxmlformats.org/drawingml/2006/main" prst="line">
            <ns195:avLst/>
          </ns195:prstGeom>
          <ns196:ln xmlns:ns196="http://schemas.openxmlformats.org/drawingml/2006/main" w="11430">
            <ns196:solidFill>
              <ns196:srgbClr val="005A9C"/>
            </ns196:solidFill>
          </ns196:ln>
        </p:spPr>
      </p:cxnSp>
      <p:cxnSp>
        <p:nvCxnSpPr>
          <p:cNvPr id="133" name="development.inputs.20.575"/>
          <p:cNvCxnSpPr/>
          <p:nvPr/>
        </p:nvCxnSpPr>
        <p:spPr>
          <ns197:xfrm xmlns:ns197="http://schemas.openxmlformats.org/drawingml/2006/main">
            <ns197:off x="7407000" y="2574000"/>
            <ns197:ext cx="1" cy="190800"/>
          </ns197:xfrm>
          <ns198:prstGeom xmlns:ns198="http://schemas.openxmlformats.org/drawingml/2006/main" prst="line">
            <ns198:avLst/>
          </ns198:prstGeom>
          <ns199:ln xmlns:ns199="http://schemas.openxmlformats.org/drawingml/2006/main" w="11430">
            <ns199:solidFill>
              <ns199:srgbClr val="005A9C"/>
            </ns199:solidFill>
          </ns199:ln>
        </p:spPr>
      </p:cxnSp>
      <p:cxnSp>
        <p:nvCxnSpPr>
          <p:cNvPr id="134" name="development.requirements.merge"/>
          <p:cNvCxnSpPr/>
          <p:nvPr/>
        </p:nvCxnSpPr>
        <p:spPr>
          <ns200:xfrm xmlns:ns200="http://schemas.openxmlformats.org/drawingml/2006/main">
            <ns200:off x="3232800" y="2764800"/>
            <ns200:ext cx="4174200" cy="1"/>
          </ns200:xfrm>
          <ns201:prstGeom xmlns:ns201="http://schemas.openxmlformats.org/drawingml/2006/main" prst="line">
            <ns201:avLst/>
          </ns201:prstGeom>
          <ns202:ln xmlns:ns202="http://schemas.openxmlformats.org/drawingml/2006/main" w="11430">
            <ns202:solidFill>
              <ns202:srgbClr val="005A9C"/>
            </ns202:solidFill>
          </ns202:ln>
        </p:spPr>
      </p:cxnSp>
      <p:cxnSp>
        <p:nvCxnSpPr>
          <p:cNvPr id="135" name="inputs.to.requirements"/>
          <p:cNvCxnSpPr/>
          <p:nvPr/>
        </p:nvCxnSpPr>
        <p:spPr>
          <ns203:xfrm xmlns:ns203="http://schemas.openxmlformats.org/drawingml/2006/main">
            <ns203:off x="3232800" y="2764800"/>
            <ns203:ext cx="1" cy="223200"/>
          </ns203:xfrm>
          <ns204:prstGeom xmlns:ns204="http://schemas.openxmlformats.org/drawingml/2006/main" prst="line">
            <ns204:avLst/>
          </ns204:prstGeom>
          <ns205:ln xmlns:ns205="http://schemas.openxmlformats.org/drawingml/2006/main" w="11430">
            <ns205:solidFill>
              <ns205:srgbClr val="005A9C"/>
            </ns205:solidFill>
            <ns205:tailEnd type="triangle" w="sm" len="sm"/>
          </ns205:ln>
        </p:spPr>
      </p:cxnSp>
      <p:sp>
        <p:nvSpPr>
          <p:cNvPr id="136" name="human.development.0"/>
          <p:cNvSpPr/>
          <p:nvPr/>
        </p:nvSpPr>
        <p:spPr>
          <ns206:xfrm xmlns:ns206="http://schemas.openxmlformats.org/drawingml/2006/main">
            <ns206:off x="2422800" y="3024000"/>
            <ns206:ext cx="1620000" cy="594000"/>
          </ns206:xfrm>
          <ns207:prstGeom xmlns:ns207="http://schemas.openxmlformats.org/drawingml/2006/main" prst="roundRect">
            <ns207:avLst/>
          </ns207:prstGeom>
          <ns208:solidFill xmlns:ns208="http://schemas.openxmlformats.org/drawingml/2006/main">
            <ns208:srgbClr val="F3F7FA"/>
          </ns208:solidFill>
          <ns209:ln xmlns:ns209="http://schemas.openxmlformats.org/drawingml/2006/main" w="9525">
            <ns209:solidFill>
              <ns209:srgbClr val="65727D"/>
            </ns209:solidFill>
          </ns209:ln>
        </p:spPr>
        <p:txBody>
          <ns210:bodyPr xmlns:ns210="http://schemas.openxmlformats.org/drawingml/2006/main" wrap="square" lIns="61200" rIns="61200" tIns="61200" bIns="61200" anchor="ctr">
            <ns210:noAutofit/>
          </ns210:bodyPr>
          <ns211:lstStyle xmlns:ns211="http://schemas.openxmlformats.org/drawingml/2006/main"/>
          <ns212:p xmlns:ns212="http://schemas.openxmlformats.org/drawingml/2006/main">
            <ns212:pPr algn="l">
              <ns212:lnSpc>
                <ns212:spcPct val="105000"/>
              </ns212:lnSpc>
              <ns212:defRPr sz="1300" b="1">
                <ns212:solidFill>
                  <ns212:srgbClr val="65727D"/>
                </ns212:solidFill>
                <ns212:latin typeface="Arial"/>
                <ns212:ea typeface="Arial"/>
                <ns212:cs typeface="Arial"/>
              </ns212:defRPr>
            </ns212:pPr>
            <ns212:r>
              <ns212:rPr sz="1300" b="1">
                <ns212:solidFill>
                  <ns212:srgbClr val="65727D"/>
                </ns212:solidFill>
                <ns212:latin typeface="Arial"/>
                <ns212:ea typeface="Arial"/>
                <ns212:cs typeface="Arial"/>
              </ns212:rPr>
              <ns212:t>Developer</ns212:t>
            </ns212:r>
          </ns212:p>
          <ns213:p xmlns:ns213="http://schemas.openxmlformats.org/drawingml/2006/main">
            <ns213:pPr algn="l">
              <ns213:lnSpc>
                <ns213:spcPct val="105000"/>
              </ns213:lnSpc>
              <ns213:defRPr sz="1200" b="0">
                <ns213:solidFill>
                  <ns213:srgbClr val="20262C"/>
                </ns213:solidFill>
                <ns213:latin typeface="Arial"/>
                <ns213:ea typeface="Arial"/>
                <ns213:cs typeface="Arial"/>
              </ns213:defRPr>
            </ns213:pPr>
            <ns213:r>
              <ns213:rPr sz="1200" b="0">
                <ns213:solidFill>
                  <ns213:srgbClr val="20262C"/>
                </ns213:solidFill>
                <ns213:latin typeface="Arial"/>
                <ns213:ea typeface="Arial"/>
                <ns213:cs typeface="Arial"/>
              </ns213:rPr>
              <ns213:t>Requirements</ns213:t>
            </ns213:r>
          </ns213:p>
        </p:txBody>
      </p:sp>
      <p:cxnSp>
        <p:nvCxnSpPr>
          <p:cNvPr id="137" name="development.action.0"/>
          <p:cNvCxnSpPr/>
          <p:nvPr/>
        </p:nvCxnSpPr>
        <p:spPr>
          <ns214:xfrm xmlns:ns214="http://schemas.openxmlformats.org/drawingml/2006/main">
            <ns214:off x="4078800" y="3321000"/>
            <ns214:ext cx="277200" cy="1"/>
          </ns214:xfrm>
          <ns215:prstGeom xmlns:ns215="http://schemas.openxmlformats.org/drawingml/2006/main" prst="line">
            <ns215:avLst/>
          </ns215:prstGeom>
          <ns216:ln xmlns:ns216="http://schemas.openxmlformats.org/drawingml/2006/main" w="11430">
            <ns216:solidFill>
              <ns216:srgbClr val="005A9C"/>
            </ns216:solidFill>
            <ns216:tailEnd type="triangle" w="sm" len="sm"/>
          </ns216:ln>
        </p:spPr>
      </p:cxnSp>
      <p:sp>
        <p:nvSpPr>
          <p:cNvPr id="138" name="human.development.1"/>
          <p:cNvSpPr/>
          <p:nvPr/>
        </p:nvSpPr>
        <p:spPr>
          <ns217:xfrm xmlns:ns217="http://schemas.openxmlformats.org/drawingml/2006/main">
            <ns217:off x="4392000" y="3024000"/>
            <ns217:ext cx="1458000" cy="594000"/>
          </ns217:xfrm>
          <ns218:prstGeom xmlns:ns218="http://schemas.openxmlformats.org/drawingml/2006/main" prst="roundRect">
            <ns218:avLst/>
          </ns218:prstGeom>
          <ns219:solidFill xmlns:ns219="http://schemas.openxmlformats.org/drawingml/2006/main">
            <ns219:srgbClr val="F3F7FA"/>
          </ns219:solidFill>
          <ns220:ln xmlns:ns220="http://schemas.openxmlformats.org/drawingml/2006/main" w="9525">
            <ns220:solidFill>
              <ns220:srgbClr val="65727D"/>
            </ns220:solidFill>
          </ns220:ln>
        </p:spPr>
        <p:txBody>
          <ns221:bodyPr xmlns:ns221="http://schemas.openxmlformats.org/drawingml/2006/main" wrap="square" lIns="61200" rIns="61200" tIns="61200" bIns="61200" anchor="ctr">
            <ns221:noAutofit/>
          </ns221:bodyPr>
          <ns222:lstStyle xmlns:ns222="http://schemas.openxmlformats.org/drawingml/2006/main"/>
          <ns223:p xmlns:ns223="http://schemas.openxmlformats.org/drawingml/2006/main">
            <ns223:pPr algn="l">
              <ns223:lnSpc>
                <ns223:spcPct val="105000"/>
              </ns223:lnSpc>
              <ns223:defRPr sz="1300" b="1">
                <ns223:solidFill>
                  <ns223:srgbClr val="65727D"/>
                </ns223:solidFill>
                <ns223:latin typeface="Arial"/>
                <ns223:ea typeface="Arial"/>
                <ns223:cs typeface="Arial"/>
              </ns223:defRPr>
            </ns223:pPr>
            <ns223:r>
              <ns223:rPr sz="1300" b="1">
                <ns223:solidFill>
                  <ns223:srgbClr val="65727D"/>
                </ns223:solidFill>
                <ns223:latin typeface="Arial"/>
                <ns223:ea typeface="Arial"/>
                <ns223:cs typeface="Arial"/>
              </ns223:rPr>
              <ns223:t>Developer</ns223:t>
            </ns223:r>
          </ns223:p>
          <ns224:p xmlns:ns224="http://schemas.openxmlformats.org/drawingml/2006/main">
            <ns224:pPr algn="l">
              <ns224:lnSpc>
                <ns224:spcPct val="105000"/>
              </ns224:lnSpc>
              <ns224:defRPr sz="1200" b="0">
                <ns224:solidFill>
                  <ns224:srgbClr val="20262C"/>
                </ns224:solidFill>
                <ns224:latin typeface="Arial"/>
                <ns224:ea typeface="Arial"/>
                <ns224:cs typeface="Arial"/>
              </ns224:defRPr>
            </ns224:pPr>
            <ns224:r>
              <ns224:rPr sz="1200" b="0">
                <ns224:solidFill>
                  <ns224:srgbClr val="20262C"/>
                </ns224:solidFill>
                <ns224:latin typeface="Arial"/>
                <ns224:ea typeface="Arial"/>
                <ns224:cs typeface="Arial"/>
              </ns224:rPr>
              <ns224:t>Code</ns224:t>
            </ns224:r>
          </ns224:p>
        </p:txBody>
      </p:sp>
      <p:cxnSp>
        <p:nvCxnSpPr>
          <p:cNvPr id="139" name="development.action.1"/>
          <p:cNvCxnSpPr/>
          <p:nvPr/>
        </p:nvCxnSpPr>
        <p:spPr>
          <ns225:xfrm xmlns:ns225="http://schemas.openxmlformats.org/drawingml/2006/main">
            <ns225:off x="5886000" y="3321000"/>
            <ns225:ext cx="205200" cy="1"/>
          </ns225:xfrm>
          <ns226:prstGeom xmlns:ns226="http://schemas.openxmlformats.org/drawingml/2006/main" prst="line">
            <ns226:avLst/>
          </ns226:prstGeom>
          <ns227:ln xmlns:ns227="http://schemas.openxmlformats.org/drawingml/2006/main" w="11430">
            <ns227:solidFill>
              <ns227:srgbClr val="005A9C"/>
            </ns227:solidFill>
            <ns227:tailEnd type="triangle" w="sm" len="sm"/>
          </ns227:ln>
        </p:spPr>
      </p:cxnSp>
      <p:sp>
        <p:nvSpPr>
          <p:cNvPr id="140" name="human.development.2"/>
          <p:cNvSpPr/>
          <p:nvPr/>
        </p:nvSpPr>
        <p:spPr>
          <ns228:xfrm xmlns:ns228="http://schemas.openxmlformats.org/drawingml/2006/main">
            <ns228:off x="6127200" y="3024000"/>
            <ns228:ext cx="2559600" cy="594000"/>
          </ns228:xfrm>
          <ns229:prstGeom xmlns:ns229="http://schemas.openxmlformats.org/drawingml/2006/main" prst="roundRect">
            <ns229:avLst/>
          </ns229:prstGeom>
          <ns230:solidFill xmlns:ns230="http://schemas.openxmlformats.org/drawingml/2006/main">
            <ns230:srgbClr val="F3F7FA"/>
          </ns230:solidFill>
          <ns231:ln xmlns:ns231="http://schemas.openxmlformats.org/drawingml/2006/main" w="9525">
            <ns231:solidFill>
              <ns231:srgbClr val="65727D"/>
            </ns231:solidFill>
          </ns231:ln>
        </p:spPr>
        <p:txBody>
          <ns232:bodyPr xmlns:ns232="http://schemas.openxmlformats.org/drawingml/2006/main" wrap="square" lIns="61200" rIns="61200" tIns="61200" bIns="61200" anchor="ctr">
            <ns232:noAutofit/>
          </ns232:bodyPr>
          <ns233:lstStyle xmlns:ns233="http://schemas.openxmlformats.org/drawingml/2006/main"/>
          <ns234:p xmlns:ns234="http://schemas.openxmlformats.org/drawingml/2006/main">
            <ns234:pPr algn="l">
              <ns234:lnSpc>
                <ns234:spcPct val="105000"/>
              </ns234:lnSpc>
              <ns234:defRPr sz="1300" b="1">
                <ns234:solidFill>
                  <ns234:srgbClr val="65727D"/>
                </ns234:solidFill>
                <ns234:latin typeface="Arial"/>
                <ns234:ea typeface="Arial"/>
                <ns234:cs typeface="Arial"/>
              </ns234:defRPr>
            </ns234:pPr>
            <ns234:r>
              <ns234:rPr sz="1300" b="1">
                <ns234:solidFill>
                  <ns234:srgbClr val="65727D"/>
                </ns234:solidFill>
                <ns234:latin typeface="Arial"/>
                <ns234:ea typeface="Arial"/>
                <ns234:cs typeface="Arial"/>
              </ns234:rPr>
              <ns234:t>Developer</ns234:t>
            </ns234:r>
          </ns234:p>
          <ns235:p xmlns:ns235="http://schemas.openxmlformats.org/drawingml/2006/main">
            <ns235:pPr algn="l">
              <ns235:lnSpc>
                <ns235:spcPct val="105000"/>
              </ns235:lnSpc>
              <ns235:defRPr sz="1200" b="0">
                <ns235:solidFill>
                  <ns235:srgbClr val="20262C"/>
                </ns235:solidFill>
                <ns235:latin typeface="Arial"/>
                <ns235:ea typeface="Arial"/>
                <ns235:cs typeface="Arial"/>
              </ns235:defRPr>
            </ns235:pPr>
            <ns235:r>
              <ns235:rPr sz="1200" b="0">
                <ns235:solidFill>
                  <ns235:srgbClr val="20262C"/>
                </ns235:solidFill>
                <ns235:latin typeface="Arial"/>
                <ns235:ea typeface="Arial"/>
                <ns235:cs typeface="Arial"/>
              </ns235:rPr>
              <ns235:t>Test</ns235:t>
            </ns235:r>
          </ns235:p>
        </p:txBody>
      </p:sp>
      <p:sp>
        <p:nvSpPr>
          <p:cNvPr id="141" name="output.comparison.tool.paper"/>
          <p:cNvSpPr/>
          <p:nvPr/>
        </p:nvSpPr>
        <p:spPr>
          <ns236:xfrm xmlns:ns236="http://schemas.openxmlformats.org/drawingml/2006/main">
            <ns236:off x="2422800" y="3906000"/>
            <ns236:ext cx="1620000" cy="576000"/>
          </ns236:xfrm>
          <ns237:prstGeom xmlns:ns237="http://schemas.openxmlformats.org/drawingml/2006/main" prst="foldedCorner">
            <ns237:avLst/>
          </ns237:prstGeom>
          <ns238:solidFill xmlns:ns238="http://schemas.openxmlformats.org/drawingml/2006/main">
            <ns238:srgbClr val="FFFFFF"/>
          </ns238:solidFill>
          <ns239:ln xmlns:ns239="http://schemas.openxmlformats.org/drawingml/2006/main" w="9525">
            <ns239:solidFill>
              <ns239:srgbClr val="65727D"/>
            </ns239:solidFill>
          </ns239:ln>
        </p:spPr>
      </p:sp>
      <p:sp>
        <p:nvSpPr>
          <p:cNvPr id="142" name="output.comparison.tool.title"/>
          <p:cNvSpPr/>
          <p:nvPr/>
        </p:nvSpPr>
        <p:spPr>
          <ns240:xfrm xmlns:ns240="http://schemas.openxmlformats.org/drawingml/2006/main">
            <ns240:off x="2487600" y="3949200"/>
            <ns240:ext cx="1422000" cy="198000"/>
          </ns240:xfrm>
          <ns241:prstGeom xmlns:ns241="http://schemas.openxmlformats.org/drawingml/2006/main" prst="rect">
            <ns241:avLst/>
          </ns241:prstGeom>
          <ns242:noFill xmlns:ns242="http://schemas.openxmlformats.org/drawingml/2006/main"/>
          <ns243:ln xmlns:ns243="http://schemas.openxmlformats.org/drawingml/2006/main" w="0">
            <ns243:noFill/>
          </ns243:ln>
        </p:spPr>
        <p:txBody>
          <ns244:bodyPr xmlns:ns244="http://schemas.openxmlformats.org/drawingml/2006/main" wrap="square" lIns="0" rIns="0" tIns="0" bIns="0" anchor="t">
            <ns244:noAutofit/>
          </ns244:bodyPr>
          <ns245:lstStyle xmlns:ns245="http://schemas.openxmlformats.org/drawingml/2006/main"/>
          <ns246:p xmlns:ns246="http://schemas.openxmlformats.org/drawingml/2006/main">
            <ns246:pPr algn="l">
              <ns246:lnSpc>
                <ns246:spcPct val="105000"/>
              </ns246:lnSpc>
              <ns246:defRPr sz="1250" b="1">
                <ns246:solidFill>
                  <ns246:srgbClr val="65727D"/>
                </ns246:solidFill>
                <ns246:latin typeface="Arial"/>
                <ns246:ea typeface="Arial"/>
                <ns246:cs typeface="Arial"/>
              </ns246:defRPr>
            </ns246:pPr>
            <ns246:r>
              <ns246:rPr sz="1250" b="1">
                <ns246:solidFill>
                  <ns246:srgbClr val="65727D"/>
                </ns246:solidFill>
                <ns246:latin typeface="Arial"/>
                <ns246:ea typeface="Arial"/>
                <ns246:cs typeface="Arial"/>
              </ns246:rPr>
              <ns246:t>Comparison tool</ns246:t>
            </ns246:r>
          </ns246:p>
        </p:txBody>
      </p:sp>
      <p:sp>
        <p:nvSpPr>
          <p:cNvPr id="143" name="output.comparison.tool.content"/>
          <p:cNvSpPr/>
          <p:nvPr/>
        </p:nvSpPr>
        <p:spPr>
          <ns247:xfrm xmlns:ns247="http://schemas.openxmlformats.org/drawingml/2006/main">
            <ns247:off x="2487600" y="4165200"/>
            <ns247:ext cx="1490400" cy="266400"/>
          </ns247:xfrm>
          <ns248:prstGeom xmlns:ns248="http://schemas.openxmlformats.org/drawingml/2006/main" prst="rect">
            <ns248:avLst/>
          </ns248:prstGeom>
          <ns249:noFill xmlns:ns249="http://schemas.openxmlformats.org/drawingml/2006/main"/>
          <ns250:ln xmlns:ns250="http://schemas.openxmlformats.org/drawingml/2006/main" w="0">
            <ns250:noFill/>
          </ns250:ln>
        </p:spPr>
        <p:txBody>
          <ns251:bodyPr xmlns:ns251="http://schemas.openxmlformats.org/drawingml/2006/main" wrap="square" lIns="0" rIns="0" tIns="0" bIns="0" anchor="t">
            <ns251:noAutofit/>
          </ns251:bodyPr>
          <ns252:lstStyle xmlns:ns252="http://schemas.openxmlformats.org/drawingml/2006/main"/>
          <ns253:p xmlns:ns253="http://schemas.openxmlformats.org/drawingml/2006/main">
            <ns253:pPr algn="l">
              <ns253:lnSpc>
                <ns253:spcPct val="100000"/>
              </ns253:lnSpc>
              <ns253:defRPr sz="1050" b="0">
                <ns253:solidFill>
                  <ns253:srgbClr val="20262C"/>
                </ns253:solidFill>
                <ns253:latin typeface="Arial"/>
                <ns253:ea typeface="Arial"/>
                <ns253:cs typeface="Arial"/>
              </ns253:defRPr>
            </ns253:pPr>
            <ns253:r>
              <ns253:rPr sz="1050" b="0">
                <ns253:solidFill>
                  <ns253:srgbClr val="20262C"/>
                </ns253:solidFill>
                <ns253:latin typeface="Arial"/>
                <ns253:ea typeface="Arial"/>
                <ns253:cs typeface="Arial"/>
              </ns253:rPr>
              <ns253:t>Code artifact</ns253:t>
            </ns253:r>
          </ns253:p>
        </p:txBody>
      </p:sp>
      <p:sp>
        <p:nvSpPr>
          <p:cNvPr id="144" name="output.test.failure"/>
          <p:cNvSpPr/>
          <p:nvPr/>
        </p:nvSpPr>
        <p:spPr>
          <ns254:xfrm xmlns:ns254="http://schemas.openxmlformats.org/drawingml/2006/main">
            <ns254:off x="6127200" y="3906000"/>
            <ns254:ext cx="2559600" cy="576000"/>
          </ns254:xfrm>
          <ns255:prstGeom xmlns:ns255="http://schemas.openxmlformats.org/drawingml/2006/main" prst="rect">
            <ns255:avLst/>
          </ns255:prstGeom>
          <ns256:solidFill xmlns:ns256="http://schemas.openxmlformats.org/drawingml/2006/main">
            <ns256:srgbClr val="F3F7FA"/>
          </ns256:solidFill>
          <ns257:ln xmlns:ns257="http://schemas.openxmlformats.org/drawingml/2006/main" w="9525">
            <ns257:solidFill>
              <ns257:srgbClr val="65727D"/>
            </ns257:solidFill>
          </ns257:ln>
        </p:spPr>
        <p:txBody>
          <ns258:bodyPr xmlns:ns258="http://schemas.openxmlformats.org/drawingml/2006/main" wrap="square" lIns="61200" rIns="61200" tIns="61200" bIns="61200" anchor="ctr">
            <ns258:noAutofit/>
          </ns258:bodyPr>
          <ns259:lstStyle xmlns:ns259="http://schemas.openxmlformats.org/drawingml/2006/main"/>
          <ns260:p xmlns:ns260="http://schemas.openxmlformats.org/drawingml/2006/main">
            <ns260:pPr algn="l">
              <ns260:lnSpc>
                <ns260:spcPct val="105000"/>
              </ns260:lnSpc>
              <ns260:defRPr sz="1300" b="1">
                <ns260:solidFill>
                  <ns260:srgbClr val="65727D"/>
                </ns260:solidFill>
                <ns260:latin typeface="Arial"/>
                <ns260:ea typeface="Arial"/>
                <ns260:cs typeface="Arial"/>
              </ns260:defRPr>
            </ns260:pPr>
            <ns260:r>
              <ns260:rPr sz="1300" b="1">
                <ns260:solidFill>
                  <ns260:srgbClr val="65727D"/>
                </ns260:solidFill>
                <ns260:latin typeface="Arial"/>
                <ns260:ea typeface="Arial"/>
                <ns260:cs typeface="Arial"/>
              </ns260:rPr>
              <ns260:t>Test failure</ns260:t>
            </ns260:r>
          </ns260:p>
          <ns261:p xmlns:ns261="http://schemas.openxmlformats.org/drawingml/2006/main">
            <ns261:pPr algn="l">
              <ns261:lnSpc>
                <ns261:spcPct val="105000"/>
              </ns261:lnSpc>
              <ns261:defRPr sz="1100" b="0">
                <ns261:solidFill>
                  <ns261:srgbClr val="20262C"/>
                </ns261:solidFill>
                <ns261:latin typeface="Arial"/>
                <ns261:ea typeface="Arial"/>
                <ns261:cs typeface="Arial"/>
              </ns261:defRPr>
            </ns261:pPr>
            <ns261:r>
              <ns261:rPr sz="1100" b="0">
                <ns261:solidFill>
                  <ns261:srgbClr val="20262C"/>
                </ns261:solidFill>
                <ns261:latin typeface="Arial"/>
                <ns261:ea typeface="Arial"/>
                <ns261:cs typeface="Arial"/>
              </ns261:rPr>
              <ns261:t>Repeated header wrongly flagged</ns261:t>
            </ns261:r>
          </ns261:p>
        </p:txBody>
      </p:sp>
      <p:cxnSp>
        <p:nvCxnSpPr>
          <p:cNvPr id="145" name="code.to.tool.artifact.0"/>
          <p:cNvCxnSpPr/>
          <p:nvPr/>
        </p:nvCxnSpPr>
        <p:spPr>
          <ns262:xfrm xmlns:ns262="http://schemas.openxmlformats.org/drawingml/2006/main">
            <ns262:off x="4680000" y="3654000"/>
            <ns262:ext cx="1" cy="108000"/>
          </ns262:xfrm>
          <ns263:prstGeom xmlns:ns263="http://schemas.openxmlformats.org/drawingml/2006/main" prst="line">
            <ns263:avLst/>
          </ns263:prstGeom>
          <ns264:ln xmlns:ns264="http://schemas.openxmlformats.org/drawingml/2006/main" w="11430">
            <ns264:solidFill>
              <ns264:srgbClr val="005A9C"/>
            </ns264:solidFill>
          </ns264:ln>
        </p:spPr>
      </p:cxnSp>
      <p:cxnSp>
        <p:nvCxnSpPr>
          <p:cNvPr id="146" name="code.to.tool.artifact.1"/>
          <p:cNvCxnSpPr/>
          <p:nvPr/>
        </p:nvCxnSpPr>
        <p:spPr>
          <ns265:xfrm xmlns:ns265="http://schemas.openxmlformats.org/drawingml/2006/main" flipH="1">
            <ns265:off x="3232800" y="3762000"/>
            <ns265:ext cx="1447200" cy="1"/>
          </ns265:xfrm>
          <ns266:prstGeom xmlns:ns266="http://schemas.openxmlformats.org/drawingml/2006/main" prst="line">
            <ns266:avLst/>
          </ns266:prstGeom>
          <ns267:ln xmlns:ns267="http://schemas.openxmlformats.org/drawingml/2006/main" w="11430">
            <ns267:solidFill>
              <ns267:srgbClr val="005A9C"/>
            </ns267:solidFill>
          </ns267:ln>
        </p:spPr>
      </p:cxnSp>
      <p:cxnSp>
        <p:nvCxnSpPr>
          <p:cNvPr id="147" name="code.to.tool.artifact.2"/>
          <p:cNvCxnSpPr/>
          <p:nvPr/>
        </p:nvCxnSpPr>
        <p:spPr>
          <ns268:xfrm xmlns:ns268="http://schemas.openxmlformats.org/drawingml/2006/main">
            <ns268:off x="3232800" y="3762000"/>
            <ns268:ext cx="1" cy="108000"/>
          </ns268:xfrm>
          <ns269:prstGeom xmlns:ns269="http://schemas.openxmlformats.org/drawingml/2006/main" prst="line">
            <ns269:avLst/>
          </ns269:prstGeom>
          <ns270:ln xmlns:ns270="http://schemas.openxmlformats.org/drawingml/2006/main" w="11430">
            <ns270:solidFill>
              <ns270:srgbClr val="005A9C"/>
            </ns270:solidFill>
            <ns270:tailEnd type="triangle" w="sm" len="sm"/>
          </ns270:ln>
        </p:spPr>
      </p:cxnSp>
      <p:cxnSp>
        <p:nvCxnSpPr>
          <p:cNvPr id="148" name="test.failure.output"/>
          <p:cNvCxnSpPr/>
          <p:nvPr/>
        </p:nvCxnSpPr>
        <p:spPr>
          <ns271:xfrm xmlns:ns271="http://schemas.openxmlformats.org/drawingml/2006/main">
            <ns271:off x="7407000" y="3654000"/>
            <ns271:ext cx="1" cy="216000"/>
          </ns271:xfrm>
          <ns272:prstGeom xmlns:ns272="http://schemas.openxmlformats.org/drawingml/2006/main" prst="line">
            <ns272:avLst/>
          </ns272:prstGeom>
          <ns273:ln xmlns:ns273="http://schemas.openxmlformats.org/drawingml/2006/main" w="11430">
            <ns273:solidFill>
              <ns273:srgbClr val="005A9C"/>
            </ns273:solidFill>
            <ns273:tailEnd type="triangle" w="sm" len="sm"/>
          </ns273:ln>
        </p:spPr>
      </p:cxnSp>
      <p:cxnSp>
        <p:nvCxnSpPr>
          <p:cNvPr id="149" name="failure.to.debug.0"/>
          <p:cNvCxnSpPr/>
          <p:nvPr/>
        </p:nvCxnSpPr>
        <p:spPr>
          <ns274:xfrm xmlns:ns274="http://schemas.openxmlformats.org/drawingml/2006/main" flipH="1">
            <ns274:off x="5490000" y="4194000"/>
            <ns274:ext cx="601200" cy="1"/>
          </ns274:xfrm>
          <ns275:prstGeom xmlns:ns275="http://schemas.openxmlformats.org/drawingml/2006/main" prst="line">
            <ns275:avLst/>
          </ns275:prstGeom>
          <ns276:ln xmlns:ns276="http://schemas.openxmlformats.org/drawingml/2006/main" w="11430">
            <ns276:solidFill>
              <ns276:srgbClr val="005A9C"/>
            </ns276:solidFill>
          </ns276:ln>
        </p:spPr>
      </p:cxnSp>
      <p:cxnSp>
        <p:nvCxnSpPr>
          <p:cNvPr id="150" name="failure.to.debug.1"/>
          <p:cNvCxnSpPr/>
          <p:nvPr/>
        </p:nvCxnSpPr>
        <p:spPr>
          <ns277:xfrm xmlns:ns277="http://schemas.openxmlformats.org/drawingml/2006/main" flipV="1">
            <ns277:off x="5490000" y="3654000"/>
            <ns277:ext cx="1" cy="540000"/>
          </ns277:xfrm>
          <ns278:prstGeom xmlns:ns278="http://schemas.openxmlformats.org/drawingml/2006/main" prst="line">
            <ns278:avLst/>
          </ns278:prstGeom>
          <ns279:ln xmlns:ns279="http://schemas.openxmlformats.org/drawingml/2006/main" w="11430">
            <ns279:solidFill>
              <ns279:srgbClr val="005A9C"/>
            </ns279:solidFill>
            <ns279:tailEnd type="triangle" w="sm" len="sm"/>
          </ns279:ln>
        </p:spPr>
      </p:cxnSp>
      <p:sp>
        <p:nvSpPr>
          <p:cNvPr id="151" name="debug.return.label"/>
          <p:cNvSpPr/>
          <p:nvPr/>
        </p:nvSpPr>
        <p:spPr>
          <ns280:xfrm xmlns:ns280="http://schemas.openxmlformats.org/drawingml/2006/main">
            <ns280:off x="5562000" y="3888000"/>
            <ns280:ext cx="504000" cy="162000"/>
          </ns280:xfrm>
          <ns281:prstGeom xmlns:ns281="http://schemas.openxmlformats.org/drawingml/2006/main" prst="rect">
            <ns281:avLst/>
          </ns281:prstGeom>
          <ns282:noFill xmlns:ns282="http://schemas.openxmlformats.org/drawingml/2006/main"/>
          <ns283:ln xmlns:ns283="http://schemas.openxmlformats.org/drawingml/2006/main" w="0">
            <ns283:noFill/>
          </ns283:ln>
        </p:spPr>
        <p:txBody>
          <ns284:bodyPr xmlns:ns284="http://schemas.openxmlformats.org/drawingml/2006/main" wrap="square" lIns="0" rIns="0" tIns="0" bIns="0" anchor="t">
            <ns284:noAutofit/>
          </ns284:bodyPr>
          <ns285:lstStyle xmlns:ns285="http://schemas.openxmlformats.org/drawingml/2006/main"/>
          <ns286:p xmlns:ns286="http://schemas.openxmlformats.org/drawingml/2006/main">
            <ns286:pPr algn="l">
              <ns286:lnSpc>
                <ns286:spcPct val="105000"/>
              </ns286:lnSpc>
              <ns286:defRPr sz="950" b="0">
                <ns286:solidFill>
                  <ns286:srgbClr val="65727D"/>
                </ns286:solidFill>
                <ns286:latin typeface="Arial"/>
                <ns286:ea typeface="Arial"/>
                <ns286:cs typeface="Arial"/>
              </ns286:defRPr>
            </ns286:pPr>
            <ns286:r>
              <ns286:rPr sz="950" b="0">
                <ns286:solidFill>
                  <ns286:srgbClr val="65727D"/>
                </ns286:solidFill>
                <ns286:latin typeface="Arial"/>
                <ns286:ea typeface="Arial"/>
                <ns286:cs typeface="Arial"/>
              </ns286:rPr>
              <ns286:t>Debug</ns286:t>
            </ns286:r>
          </ns286:p>
        </p:txBody>
      </p:sp>
    </p:spTree>
    <p:extLst>
      <p:ext uri="{BB962C8B-B14F-4D97-AF65-F5344CB8AC3E}">
        <p14:creationId xmlns:p14="http://schemas.microsoft.com/office/powerpoint/2010/main" val="18908983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E Fund and Invesco Great Wall: development support</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Back office / Internal tool development / Industry examples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E Fund; Invesco Great Wall</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11" name="map.task.review"/>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Content review</ns68:t>
            </ns68:r>
          </ns68:p>
        </p:txBody>
      </p:sp>
      <p:sp>
        <p:nvSpPr>
          <p:cNvPr id="112" name="map.task.risk"/>
          <p:cNvSpPr/>
          <p:nvPr/>
        </p:nvSpPr>
        <p:spPr>
          <ns69:xfrm xmlns:ns69="http://schemas.openxmlformats.org/drawingml/2006/main">
            <ns69:off x="554400" y="3045600"/>
            <ns69:ext cx="1562400" cy="1656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050" b="0">
                <ns75:solidFill>
                  <ns75:srgbClr val="65727D"/>
                </ns75:solidFill>
                <ns75:latin typeface="Arial"/>
                <ns75:ea typeface="Arial"/>
                <ns75:cs typeface="Arial"/>
              </ns75:defRPr>
            </ns75:pPr>
            <ns75:r>
              <ns75:rPr sz="1050" b="0">
                <ns75:solidFill>
                  <ns75:srgbClr val="65727D"/>
                </ns75:solidFill>
                <ns75:latin typeface="Arial"/>
                <ns75:ea typeface="Arial"/>
                <ns75:cs typeface="Arial"/>
              </ns75:rPr>
              <ns75:t>Risk analysis</ns75:t>
            </ns75:r>
          </ns75:p>
        </p:txBody>
      </p:sp>
      <p:sp>
        <p:nvSpPr>
          <p:cNvPr id="113" name="map.office.2"/>
          <p:cNvSpPr/>
          <p:nvPr/>
        </p:nvSpPr>
        <p:spPr>
          <ns76:xfrm xmlns:ns76="http://schemas.openxmlformats.org/drawingml/2006/main">
            <ns76:off x="486000" y="3391200"/>
            <ns76:ext cx="1692000" cy="180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100" b="1">
                <ns82:solidFill>
                  <ns82:srgbClr val="005A9C"/>
                </ns82:solidFill>
                <ns82:latin typeface="Arial"/>
                <ns82:ea typeface="Arial"/>
                <ns82:cs typeface="Arial"/>
              </ns82:defRPr>
            </ns82:pPr>
            <ns82:r>
              <ns82:rPr sz="1100" b="1">
                <ns82:solidFill>
                  <ns82:srgbClr val="005A9C"/>
                </ns82:solidFill>
                <ns82:latin typeface="Arial"/>
                <ns82:ea typeface="Arial"/>
                <ns82:cs typeface="Arial"/>
              </ns82:rPr>
              <ns82:t>Back office</ns82:t>
            </ns82:r>
          </ns82:p>
        </p:txBody>
      </p:sp>
      <p:cxnSp>
        <p:nvCxnSpPr>
          <p:cNvPr id="114" name="map.office.rule.2"/>
          <p:cNvCxnSpPr/>
          <p:nvPr/>
        </p:nvCxnSpPr>
        <p:spPr>
          <ns83:xfrm xmlns:ns83="http://schemas.openxmlformats.org/drawingml/2006/main">
            <ns83:off x="457200" y="3610800"/>
            <ns83:ext cx="1742400" cy="1"/>
          </ns83:xfrm>
          <ns84:prstGeom xmlns:ns84="http://schemas.openxmlformats.org/drawingml/2006/main" prst="line">
            <ns84:avLst/>
          </ns84:prstGeom>
          <ns85:ln xmlns:ns85="http://schemas.openxmlformats.org/drawingml/2006/main" w="7620">
            <ns85:solidFill>
              <ns85:srgbClr val="005A9C"/>
            </ns85:solidFill>
          </ns85:ln>
        </p:spPr>
      </p:cxnSp>
      <p:sp>
        <p:nvSpPr>
          <p:cNvPr id="115" name="map.task.files"/>
          <p:cNvSpPr/>
          <p:nvPr/>
        </p:nvSpPr>
        <p:spPr>
          <ns86:xfrm xmlns:ns86="http://schemas.openxmlformats.org/drawingml/2006/main">
            <ns86:off x="554400" y="3690000"/>
            <ns86:ext cx="1562400" cy="165600"/>
          </ns86:xfrm>
          <ns87:prstGeom xmlns:ns87="http://schemas.openxmlformats.org/drawingml/2006/main" prst="rect">
            <ns87:avLst/>
          </ns87:prstGeom>
          <ns88:noFill xmlns:ns88="http://schemas.openxmlformats.org/drawingml/2006/main"/>
          <ns89:ln xmlns:ns89="http://schemas.openxmlformats.org/drawingml/2006/main" w="0">
            <ns89:noFill/>
          </ns89:ln>
        </p:spPr>
        <p:txBody>
          <ns90:bodyPr xmlns:ns90="http://schemas.openxmlformats.org/drawingml/2006/main" wrap="square" lIns="0" rIns="0" tIns="0" bIns="0" anchor="t">
            <ns90:noAutofit/>
          </ns90:bodyPr>
          <ns91:lstStyle xmlns:ns91="http://schemas.openxmlformats.org/drawingml/2006/main"/>
          <ns92:p xmlns:ns92="http://schemas.openxmlformats.org/drawingml/2006/main">
            <ns92:pPr algn="l">
              <ns92:lnSpc>
                <ns92:spcPct val="105000"/>
              </ns92:lnSpc>
              <ns92:defRPr sz="1050" b="0">
                <ns92:solidFill>
                  <ns92:srgbClr val="65727D"/>
                </ns92:solidFill>
                <ns92:latin typeface="Arial"/>
                <ns92:ea typeface="Arial"/>
                <ns92:cs typeface="Arial"/>
              </ns92:defRPr>
            </ns92:pPr>
            <ns92:r>
              <ns92:rPr sz="1050" b="0">
                <ns92:solidFill>
                  <ns92:srgbClr val="65727D"/>
                </ns92:solidFill>
                <ns92:latin typeface="Arial"/>
                <ns92:ea typeface="Arial"/>
                <ns92:cs typeface="Arial"/>
              </ns92:rPr>
              <ns92:t>Document processing</ns92:t>
            </ns92:r>
          </ns92:p>
        </p:txBody>
      </p:sp>
      <p:sp>
        <p:nvSpPr>
          <p:cNvPr id="116" name="map.task.focus.dev"/>
          <p:cNvSpPr/>
          <p:nvPr/>
        </p:nvSpPr>
        <p:spPr>
          <ns93:xfrm xmlns:ns93="http://schemas.openxmlformats.org/drawingml/2006/main">
            <ns93:off x="486000" y="3884400"/>
            <ns93:ext cx="1677600" cy="176400"/>
          </ns93:xfrm>
          <ns94:prstGeom xmlns:ns94="http://schemas.openxmlformats.org/drawingml/2006/main" prst="rect">
            <ns94:avLst/>
          </ns94:prstGeom>
          <ns95:solidFill xmlns:ns95="http://schemas.openxmlformats.org/drawingml/2006/main">
            <ns95:srgbClr val="D9EAF7"/>
          </ns95:solidFill>
          <ns96:ln xmlns:ns96="http://schemas.openxmlformats.org/drawingml/2006/main" w="0">
            <ns96:noFill/>
          </ns96:ln>
        </p:spPr>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1">
                <ns103:solidFill>
                  <ns103:srgbClr val="005A9C"/>
                </ns103:solidFill>
                <ns103:latin typeface="Arial"/>
                <ns103:ea typeface="Arial"/>
                <ns103:cs typeface="Arial"/>
              </ns103:defRPr>
            </ns103:pPr>
            <ns103:r>
              <ns103:rPr sz="1050" b="1">
                <ns103:solidFill>
                  <ns103:srgbClr val="005A9C"/>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peer.development.0"/>
          <p:cNvSpPr/>
          <p:nvPr/>
        </p:nvSpPr>
        <p:spPr>
          <ns111:xfrm xmlns:ns111="http://schemas.openxmlformats.org/drawingml/2006/main">
            <ns111:off x="2422800" y="1476000"/>
            <ns111:ext cx="6264000" cy="216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300" b="0">
                <ns117:solidFill>
                  <ns117:srgbClr val="005A9C"/>
                </ns117:solidFill>
                <ns117:latin typeface="Arial"/>
                <ns117:ea typeface="Arial"/>
                <ns117:cs typeface="Arial"/>
              </ns117:defRPr>
            </ns117:pPr>
            <ns117:r>
              <ns117:rPr sz="1300" b="0">
                <ns117:solidFill>
                  <ns117:srgbClr val="005A9C"/>
                </ns117:solidFill>
                <ns117:latin typeface="Arial"/>
                <ns117:ea typeface="Arial"/>
                <ns117:cs typeface="Arial"/>
              </ns117:rPr>
              <ns117:t>E Fund</ns117:t>
            </ns117:r>
          </ns117:p>
        </p:txBody>
      </p:sp>
      <p:sp>
        <p:nvSpPr>
          <p:cNvPr id="120" name="peer.development.0.0"/>
          <p:cNvSpPr/>
          <p:nvPr/>
        </p:nvSpPr>
        <p:spPr>
          <ns118:xfrm xmlns:ns118="http://schemas.openxmlformats.org/drawingml/2006/main">
            <ns118:off x="2422800" y="1782000"/>
            <ns118:ext cx="1620000" cy="756000"/>
          </ns118:xfrm>
          <ns119:prstGeom xmlns:ns119="http://schemas.openxmlformats.org/drawingml/2006/main" prst="roundRect">
            <ns119:avLst/>
          </ns119:prstGeom>
          <ns120:solidFill xmlns:ns120="http://schemas.openxmlformats.org/drawingml/2006/main">
            <ns120:srgbClr val="F3F7FA"/>
          </ns120:solidFill>
          <ns121:ln xmlns:ns121="http://schemas.openxmlformats.org/drawingml/2006/main" w="9525">
            <ns121:solidFill>
              <ns121:srgbClr val="65727D"/>
            </ns121:solidFill>
          </ns121:ln>
        </p:spPr>
        <p:txBody>
          <ns122:bodyPr xmlns:ns122="http://schemas.openxmlformats.org/drawingml/2006/main" wrap="square" lIns="61200" rIns="61200" tIns="61200" bIns="61200" anchor="ctr">
            <ns122:noAutofit/>
          </ns122:bodyPr>
          <ns123:lstStyle xmlns:ns123="http://schemas.openxmlformats.org/drawingml/2006/main"/>
          <ns124:p xmlns:ns124="http://schemas.openxmlformats.org/drawingml/2006/main">
            <ns124:pPr algn="l">
              <ns124:lnSpc>
                <ns124:spcPct val="105000"/>
              </ns124:lnSpc>
              <ns124:defRPr sz="1300" b="1">
                <ns124:solidFill>
                  <ns124:srgbClr val="65727D"/>
                </ns124:solidFill>
                <ns124:latin typeface="Arial"/>
                <ns124:ea typeface="Arial"/>
                <ns124:cs typeface="Arial"/>
              </ns124:defRPr>
            </ns124:pPr>
            <ns124:r>
              <ns124:rPr sz="1300" b="1">
                <ns124:solidFill>
                  <ns124:srgbClr val="65727D"/>
                </ns124:solidFill>
                <ns124:latin typeface="Arial"/>
                <ns124:ea typeface="Arial"/>
                <ns124:cs typeface="Arial"/>
              </ns124:rPr>
              <ns124:t>Developer task</ns124:t>
            </ns124:r>
          </ns124:p>
          <ns125:p xmlns:ns125="http://schemas.openxmlformats.org/drawingml/2006/main">
            <ns125:pPr algn="l">
              <ns125:lnSpc>
                <ns125:spcPct val="105000"/>
              </ns125:lnSpc>
              <ns125:defRPr sz="1050" b="0">
                <ns125:solidFill>
                  <ns125:srgbClr val="20262C"/>
                </ns125:solidFill>
                <ns125:latin typeface="Arial"/>
                <ns125:ea typeface="Arial"/>
                <ns125:cs typeface="Arial"/>
              </ns125:defRPr>
            </ns125:pPr>
            <ns125:r>
              <ns125:rPr sz="1050" b="0">
                <ns125:solidFill>
                  <ns125:srgbClr val="20262C"/>
                </ns125:solidFill>
                <ns125:latin typeface="Arial"/>
                <ns125:ea typeface="Arial"/>
                <ns125:cs typeface="Arial"/>
              </ns125:rPr>
              <ns125:t>Examples / expected results</ns125:t>
            </ns125:r>
          </ns125:p>
        </p:txBody>
      </p:sp>
      <p:cxnSp>
        <p:nvCxnSpPr>
          <p:cNvPr id="121" name="peer.development.flow.0.0"/>
          <p:cNvCxnSpPr/>
          <p:nvPr/>
        </p:nvCxnSpPr>
        <p:spPr>
          <ns126:xfrm xmlns:ns126="http://schemas.openxmlformats.org/drawingml/2006/main">
            <ns126:off x="4078800" y="2160000"/>
            <ns126:ext cx="277200" cy="1"/>
          </ns126:xfrm>
          <ns127:prstGeom xmlns:ns127="http://schemas.openxmlformats.org/drawingml/2006/main" prst="line">
            <ns127:avLst/>
          </ns127:prstGeom>
          <ns128:ln xmlns:ns128="http://schemas.openxmlformats.org/drawingml/2006/main" w="11430">
            <ns128:solidFill>
              <ns128:srgbClr val="005A9C"/>
            </ns128:solidFill>
            <ns128:tailEnd type="triangle" w="sm" len="sm"/>
          </ns128:ln>
        </p:spPr>
      </p:cxnSp>
      <p:sp>
        <p:nvSpPr>
          <p:cNvPr id="122" name="peer.development.0.1"/>
          <p:cNvSpPr/>
          <p:nvPr/>
        </p:nvSpPr>
        <p:spPr>
          <ns129:xfrm xmlns:ns129="http://schemas.openxmlformats.org/drawingml/2006/main">
            <ns129:off x="4392000" y="1782000"/>
            <ns129:ext cx="1458000" cy="756000"/>
          </ns129:xfrm>
          <ns130:prstGeom xmlns:ns130="http://schemas.openxmlformats.org/drawingml/2006/main" prst="roundRect">
            <ns130:avLst/>
          </ns130:prstGeom>
          <ns131:solidFill xmlns:ns131="http://schemas.openxmlformats.org/drawingml/2006/main">
            <ns131:srgbClr val="EAF3FA"/>
          </ns131:solidFill>
          <ns132:ln xmlns:ns132="http://schemas.openxmlformats.org/drawingml/2006/main" w="9525">
            <ns132:solidFill>
              <ns132:srgbClr val="005A9C"/>
            </ns132:solidFill>
          </ns132:ln>
        </p:spPr>
        <p:txBody>
          <ns133:bodyPr xmlns:ns133="http://schemas.openxmlformats.org/drawingml/2006/main" wrap="square" lIns="61200" rIns="61200" tIns="61200" bIns="61200" anchor="ctr">
            <ns133:noAutofit/>
          </ns133:bodyPr>
          <ns134:lstStyle xmlns:ns134="http://schemas.openxmlformats.org/drawingml/2006/main"/>
          <ns135:p xmlns:ns135="http://schemas.openxmlformats.org/drawingml/2006/main">
            <ns135:pPr algn="l">
              <ns135:lnSpc>
                <ns135:spcPct val="105000"/>
              </ns135:lnSpc>
              <ns135:defRPr sz="1300" b="1">
                <ns135:solidFill>
                  <ns135:srgbClr val="005A9C"/>
                </ns135:solidFill>
                <ns135:latin typeface="Arial"/>
                <ns135:ea typeface="Arial"/>
                <ns135:cs typeface="Arial"/>
              </ns135:defRPr>
            </ns135:pPr>
            <ns135:r>
              <ns135:rPr sz="1300" b="1">
                <ns135:solidFill>
                  <ns135:srgbClr val="005A9C"/>
                </ns135:solidFill>
                <ns135:latin typeface="Arial"/>
                <ns135:ea typeface="Arial"/>
                <ns135:cs typeface="Arial"/>
              </ns135:rPr>
              <ns135:t>LLM</ns135:t>
            </ns135:r>
          </ns135:p>
          <ns136:p xmlns:ns136="http://schemas.openxmlformats.org/drawingml/2006/main">
            <ns136:pPr algn="l">
              <ns136:lnSpc>
                <ns136:spcPct val="105000"/>
              </ns136:lnSpc>
              <ns136:defRPr sz="1050" b="0">
                <ns136:solidFill>
                  <ns136:srgbClr val="20262C"/>
                </ns136:solidFill>
                <ns136:latin typeface="Arial"/>
                <ns136:ea typeface="Arial"/>
                <ns136:cs typeface="Arial"/>
              </ns136:defRPr>
            </ns136:pPr>
            <ns136:r>
              <ns136:rPr sz="1050" b="0">
                <ns136:solidFill>
                  <ns136:srgbClr val="20262C"/>
                </ns136:solidFill>
                <ns136:latin typeface="Arial"/>
                <ns136:ea typeface="Arial"/>
                <ns136:cs typeface="Arial"/>
              </ns136:rPr>
              <ns136:t>Code / tests</ns136:t>
            </ns136:r>
          </ns136:p>
        </p:txBody>
      </p:sp>
      <p:cxnSp>
        <p:nvCxnSpPr>
          <p:cNvPr id="123" name="peer.development.flow.0.1"/>
          <p:cNvCxnSpPr/>
          <p:nvPr/>
        </p:nvCxnSpPr>
        <p:spPr>
          <ns137:xfrm xmlns:ns137="http://schemas.openxmlformats.org/drawingml/2006/main">
            <ns137:off x="5886000" y="2160000"/>
            <ns137:ext cx="205200" cy="1"/>
          </ns137:xfrm>
          <ns138:prstGeom xmlns:ns138="http://schemas.openxmlformats.org/drawingml/2006/main" prst="line">
            <ns138:avLst/>
          </ns138:prstGeom>
          <ns139:ln xmlns:ns139="http://schemas.openxmlformats.org/drawingml/2006/main" w="11430">
            <ns139:solidFill>
              <ns139:srgbClr val="005A9C"/>
            </ns139:solidFill>
            <ns139:tailEnd type="triangle" w="sm" len="sm"/>
          </ns139:ln>
        </p:spPr>
      </p:cxnSp>
      <p:sp>
        <p:nvSpPr>
          <p:cNvPr id="124" name="peer.development.0.2"/>
          <p:cNvSpPr/>
          <p:nvPr/>
        </p:nvSpPr>
        <p:spPr>
          <ns140:xfrm xmlns:ns140="http://schemas.openxmlformats.org/drawingml/2006/main">
            <ns140:off x="6127200" y="1782000"/>
            <ns140:ext cx="2559600" cy="756000"/>
          </ns140:xfrm>
          <ns141:prstGeom xmlns:ns141="http://schemas.openxmlformats.org/drawingml/2006/main" prst="roundRect">
            <ns141:avLst/>
          </ns141:prstGeom>
          <ns142:solidFill xmlns:ns142="http://schemas.openxmlformats.org/drawingml/2006/main">
            <ns142:srgbClr val="F3F7FA"/>
          </ns142:solidFill>
          <ns143:ln xmlns:ns143="http://schemas.openxmlformats.org/drawingml/2006/main" w="9525">
            <ns143:solidFill>
              <ns143:srgbClr val="65727D"/>
            </ns143:solidFill>
          </ns143:ln>
        </p:spPr>
        <p:txBody>
          <ns144:bodyPr xmlns:ns144="http://schemas.openxmlformats.org/drawingml/2006/main" wrap="square" lIns="61200" rIns="61200" tIns="61200" bIns="61200" anchor="ctr">
            <ns144:noAutofit/>
          </ns144:bodyPr>
          <ns145:lstStyle xmlns:ns145="http://schemas.openxmlformats.org/drawingml/2006/main"/>
          <ns146:p xmlns:ns146="http://schemas.openxmlformats.org/drawingml/2006/main">
            <ns146:pPr algn="l">
              <ns146:lnSpc>
                <ns146:spcPct val="105000"/>
              </ns146:lnSpc>
              <ns146:defRPr sz="1300" b="1">
                <ns146:solidFill>
                  <ns146:srgbClr val="65727D"/>
                </ns146:solidFill>
                <ns146:latin typeface="Arial"/>
                <ns146:ea typeface="Arial"/>
                <ns146:cs typeface="Arial"/>
              </ns146:defRPr>
            </ns146:pPr>
            <ns146:r>
              <ns146:rPr sz="1300" b="1">
                <ns146:solidFill>
                  <ns146:srgbClr val="65727D"/>
                </ns146:solidFill>
                <ns146:latin typeface="Arial"/>
                <ns146:ea typeface="Arial"/>
                <ns146:cs typeface="Arial"/>
              </ns146:rPr>
              <ns146:t>Developer</ns146:t>
            </ns146:r>
          </ns146:p>
          <ns147:p xmlns:ns147="http://schemas.openxmlformats.org/drawingml/2006/main">
            <ns147:pPr algn="l">
              <ns147:lnSpc>
                <ns147:spcPct val="105000"/>
              </ns147:lnSpc>
              <ns147:defRPr sz="1050" b="0">
                <ns147:solidFill>
                  <ns147:srgbClr val="20262C"/>
                </ns147:solidFill>
                <ns147:latin typeface="Arial"/>
                <ns147:ea typeface="Arial"/>
                <ns147:cs typeface="Arial"/>
              </ns147:defRPr>
            </ns147:pPr>
            <ns147:r>
              <ns147:rPr sz="1050" b="0">
                <ns147:solidFill>
                  <ns147:srgbClr val="20262C"/>
                </ns147:solidFill>
                <ns147:latin typeface="Arial"/>
                <ns147:ea typeface="Arial"/>
                <ns147:cs typeface="Arial"/>
              </ns147:rPr>
              <ns147:t>Run / check / feedback</ns147:t>
            </ns147:r>
          </ns147:p>
        </p:txBody>
      </p:sp>
      <p:sp>
        <p:nvSpPr>
          <p:cNvPr id="125" name="peer.development.1"/>
          <p:cNvSpPr/>
          <p:nvPr/>
        </p:nvSpPr>
        <p:spPr>
          <ns148:xfrm xmlns:ns148="http://schemas.openxmlformats.org/drawingml/2006/main">
            <ns148:off x="2422800" y="3060000"/>
            <ns148:ext cx="6264000" cy="216000"/>
          </ns148:xfrm>
          <ns149:prstGeom xmlns:ns149="http://schemas.openxmlformats.org/drawingml/2006/main" prst="rect">
            <ns149:avLst/>
          </ns149:prstGeom>
          <ns150:noFill xmlns:ns150="http://schemas.openxmlformats.org/drawingml/2006/main"/>
          <ns151:ln xmlns:ns151="http://schemas.openxmlformats.org/drawingml/2006/main" w="0">
            <ns151:noFill/>
          </ns151:ln>
        </p:spPr>
        <p:txBody>
          <ns152:bodyPr xmlns:ns152="http://schemas.openxmlformats.org/drawingml/2006/main" wrap="square" lIns="0" rIns="0" tIns="0" bIns="0" anchor="t">
            <ns152:noAutofit/>
          </ns152:bodyPr>
          <ns153:lstStyle xmlns:ns153="http://schemas.openxmlformats.org/drawingml/2006/main"/>
          <ns154:p xmlns:ns154="http://schemas.openxmlformats.org/drawingml/2006/main">
            <ns154:pPr algn="l">
              <ns154:lnSpc>
                <ns154:spcPct val="105000"/>
              </ns154:lnSpc>
              <ns154:defRPr sz="1300" b="0">
                <ns154:solidFill>
                  <ns154:srgbClr val="005A9C"/>
                </ns154:solidFill>
                <ns154:latin typeface="Arial"/>
                <ns154:ea typeface="Arial"/>
                <ns154:cs typeface="Arial"/>
              </ns154:defRPr>
            </ns154:pPr>
            <ns154:r>
              <ns154:rPr sz="1300" b="0">
                <ns154:solidFill>
                  <ns154:srgbClr val="005A9C"/>
                </ns154:solidFill>
                <ns154:latin typeface="Arial"/>
                <ns154:ea typeface="Arial"/>
                <ns154:cs typeface="Arial"/>
              </ns154:rPr>
              <ns154:t>Invesco Great Wall</ns154:t>
            </ns154:r>
          </ns154:p>
        </p:txBody>
      </p:sp>
      <p:sp>
        <p:nvSpPr>
          <p:cNvPr id="126" name="peer.development.1.0"/>
          <p:cNvSpPr/>
          <p:nvPr/>
        </p:nvSpPr>
        <p:spPr>
          <ns155:xfrm xmlns:ns155="http://schemas.openxmlformats.org/drawingml/2006/main">
            <ns155:off x="2422800" y="3366000"/>
            <ns155:ext cx="1620000" cy="756000"/>
          </ns155:xfrm>
          <ns156:prstGeom xmlns:ns156="http://schemas.openxmlformats.org/drawingml/2006/main" prst="roundRect">
            <ns156:avLst/>
          </ns156:prstGeom>
          <ns157:solidFill xmlns:ns157="http://schemas.openxmlformats.org/drawingml/2006/main">
            <ns157:srgbClr val="F3F7FA"/>
          </ns157:solidFill>
          <ns158:ln xmlns:ns158="http://schemas.openxmlformats.org/drawingml/2006/main" w="9525">
            <ns158:solidFill>
              <ns158:srgbClr val="65727D"/>
            </ns158:solidFill>
          </ns158:ln>
        </p:spPr>
        <p:txBody>
          <ns159:bodyPr xmlns:ns159="http://schemas.openxmlformats.org/drawingml/2006/main" wrap="square" lIns="61200" rIns="61200" tIns="61200" bIns="61200" anchor="ctr">
            <ns159:noAutofit/>
          </ns159:bodyPr>
          <ns160:lstStyle xmlns:ns160="http://schemas.openxmlformats.org/drawingml/2006/main"/>
          <ns161:p xmlns:ns161="http://schemas.openxmlformats.org/drawingml/2006/main">
            <ns161:pPr algn="l">
              <ns161:lnSpc>
                <ns161:spcPct val="105000"/>
              </ns161:lnSpc>
              <ns161:defRPr sz="1300" b="1">
                <ns161:solidFill>
                  <ns161:srgbClr val="65727D"/>
                </ns161:solidFill>
                <ns161:latin typeface="Arial"/>
                <ns161:ea typeface="Arial"/>
                <ns161:cs typeface="Arial"/>
              </ns161:defRPr>
            </ns161:pPr>
            <ns161:r>
              <ns161:rPr sz="1300" b="1">
                <ns161:solidFill>
                  <ns161:srgbClr val="65727D"/>
                </ns161:solidFill>
                <ns161:latin typeface="Arial"/>
                <ns161:ea typeface="Arial"/>
                <ns161:cs typeface="Arial"/>
              </ns161:rPr>
              <ns161:t>Quantitative team</ns161:t>
            </ns161:r>
          </ns161:p>
          <ns162:p xmlns:ns162="http://schemas.openxmlformats.org/drawingml/2006/main">
            <ns162:pPr algn="l">
              <ns162:lnSpc>
                <ns162:spcPct val="105000"/>
              </ns162:lnSpc>
              <ns162:defRPr sz="1050" b="0">
                <ns162:solidFill>
                  <ns162:srgbClr val="20262C"/>
                </ns162:solidFill>
                <ns162:latin typeface="Arial"/>
                <ns162:ea typeface="Arial"/>
                <ns162:cs typeface="Arial"/>
              </ns162:defRPr>
            </ns162:pPr>
            <ns162:r>
              <ns162:rPr sz="1050" b="0">
                <ns162:solidFill>
                  <ns162:srgbClr val="20262C"/>
                </ns162:solidFill>
                <ns162:latin typeface="Arial"/>
                <ns162:ea typeface="Arial"/>
                <ns162:cs typeface="Arial"/>
              </ns162:rPr>
              <ns162:t>Coding task</ns162:t>
            </ns162:r>
          </ns162:p>
        </p:txBody>
      </p:sp>
      <p:cxnSp>
        <p:nvCxnSpPr>
          <p:cNvPr id="127" name="peer.development.flow.1.0"/>
          <p:cNvCxnSpPr/>
          <p:nvPr/>
        </p:nvCxnSpPr>
        <p:spPr>
          <ns163:xfrm xmlns:ns163="http://schemas.openxmlformats.org/drawingml/2006/main">
            <ns163:off x="4078800" y="3744000"/>
            <ns163:ext cx="277200" cy="1"/>
          </ns163:xfrm>
          <ns164:prstGeom xmlns:ns164="http://schemas.openxmlformats.org/drawingml/2006/main" prst="line">
            <ns164:avLst/>
          </ns164:prstGeom>
          <ns165:ln xmlns:ns165="http://schemas.openxmlformats.org/drawingml/2006/main" w="11430">
            <ns165:solidFill>
              <ns165:srgbClr val="005A9C"/>
            </ns165:solidFill>
            <ns165:tailEnd type="triangle" w="sm" len="sm"/>
          </ns165:ln>
        </p:spPr>
      </p:cxnSp>
      <p:sp>
        <p:nvSpPr>
          <p:cNvPr id="128" name="peer.development.1.1"/>
          <p:cNvSpPr/>
          <p:nvPr/>
        </p:nvSpPr>
        <p:spPr>
          <ns166:xfrm xmlns:ns166="http://schemas.openxmlformats.org/drawingml/2006/main">
            <ns166:off x="4392000" y="3366000"/>
            <ns166:ext cx="1458000" cy="756000"/>
          </ns166:xfrm>
          <ns167:prstGeom xmlns:ns167="http://schemas.openxmlformats.org/drawingml/2006/main" prst="roundRect">
            <ns167:avLst/>
          </ns167:prstGeom>
          <ns168:solidFill xmlns:ns168="http://schemas.openxmlformats.org/drawingml/2006/main">
            <ns168:srgbClr val="EAF3FA"/>
          </ns168:solidFill>
          <ns169:ln xmlns:ns169="http://schemas.openxmlformats.org/drawingml/2006/main" w="9525">
            <ns169:solidFill>
              <ns169:srgbClr val="005A9C"/>
            </ns169:solidFill>
          </ns169:ln>
        </p:spPr>
        <p:txBody>
          <ns170:bodyPr xmlns:ns170="http://schemas.openxmlformats.org/drawingml/2006/main" wrap="square" lIns="61200" rIns="61200" tIns="61200" bIns="61200" anchor="ctr">
            <ns170:noAutofit/>
          </ns170:bodyPr>
          <ns171:lstStyle xmlns:ns171="http://schemas.openxmlformats.org/drawingml/2006/main"/>
          <ns172:p xmlns:ns172="http://schemas.openxmlformats.org/drawingml/2006/main">
            <ns172:pPr algn="l">
              <ns172:lnSpc>
                <ns172:spcPct val="105000"/>
              </ns172:lnSpc>
              <ns172:defRPr sz="1300" b="1">
                <ns172:solidFill>
                  <ns172:srgbClr val="005A9C"/>
                </ns172:solidFill>
                <ns172:latin typeface="Arial"/>
                <ns172:ea typeface="Arial"/>
                <ns172:cs typeface="Arial"/>
              </ns172:defRPr>
            </ns172:pPr>
            <ns172:r>
              <ns172:rPr sz="1300" b="1">
                <ns172:solidFill>
                  <ns172:srgbClr val="005A9C"/>
                </ns172:solidFill>
                <ns172:latin typeface="Arial"/>
                <ns172:ea typeface="Arial"/>
                <ns172:cs typeface="Arial"/>
              </ns172:rPr>
              <ns172:t>Local model</ns172:t>
            </ns172:r>
          </ns172:p>
          <ns173:p xmlns:ns173="http://schemas.openxmlformats.org/drawingml/2006/main">
            <ns173:pPr algn="l">
              <ns173:lnSpc>
                <ns173:spcPct val="105000"/>
              </ns173:lnSpc>
              <ns173:defRPr sz="1050" b="0">
                <ns173:solidFill>
                  <ns173:srgbClr val="20262C"/>
                </ns173:solidFill>
                <ns173:latin typeface="Arial"/>
                <ns173:ea typeface="Arial"/>
                <ns173:cs typeface="Arial"/>
              </ns173:defRPr>
            </ns173:pPr>
            <ns173:r>
              <ns173:rPr sz="1050" b="0">
                <ns173:solidFill>
                  <ns173:srgbClr val="20262C"/>
                </ns173:solidFill>
                <ns173:latin typeface="Arial"/>
                <ns173:ea typeface="Arial"/>
                <ns173:cs typeface="Arial"/>
              </ns173:rPr>
              <ns173:t>Coding support</ns173:t>
            </ns173:r>
          </ns173:p>
        </p:txBody>
      </p:sp>
      <p:cxnSp>
        <p:nvCxnSpPr>
          <p:cNvPr id="129" name="peer.development.flow.1.1"/>
          <p:cNvCxnSpPr/>
          <p:nvPr/>
        </p:nvCxnSpPr>
        <p:spPr>
          <ns174:xfrm xmlns:ns174="http://schemas.openxmlformats.org/drawingml/2006/main">
            <ns174:off x="5886000" y="3744000"/>
            <ns174:ext cx="205200" cy="1"/>
          </ns174:xfrm>
          <ns175:prstGeom xmlns:ns175="http://schemas.openxmlformats.org/drawingml/2006/main" prst="line">
            <ns175:avLst/>
          </ns175:prstGeom>
          <ns176:ln xmlns:ns176="http://schemas.openxmlformats.org/drawingml/2006/main" w="11430">
            <ns176:solidFill>
              <ns176:srgbClr val="005A9C"/>
            </ns176:solidFill>
            <ns176:tailEnd type="triangle" w="sm" len="sm"/>
          </ns176:ln>
        </p:spPr>
      </p:cxnSp>
      <p:sp>
        <p:nvSpPr>
          <p:cNvPr id="130" name="peer.development.1.2"/>
          <p:cNvSpPr/>
          <p:nvPr/>
        </p:nvSpPr>
        <p:spPr>
          <ns177:xfrm xmlns:ns177="http://schemas.openxmlformats.org/drawingml/2006/main">
            <ns177:off x="6127200" y="3366000"/>
            <ns177:ext cx="2559600" cy="756000"/>
          </ns177:xfrm>
          <ns178:prstGeom xmlns:ns178="http://schemas.openxmlformats.org/drawingml/2006/main" prst="roundRect">
            <ns178:avLst/>
          </ns178:prstGeom>
          <ns179:solidFill xmlns:ns179="http://schemas.openxmlformats.org/drawingml/2006/main">
            <ns179:srgbClr val="F3F7FA"/>
          </ns179:solidFill>
          <ns180:ln xmlns:ns180="http://schemas.openxmlformats.org/drawingml/2006/main" w="9525">
            <ns180:solidFill>
              <ns180:srgbClr val="65727D"/>
            </ns180:solidFill>
          </ns180:ln>
        </p:spPr>
        <p:txBody>
          <ns181:bodyPr xmlns:ns181="http://schemas.openxmlformats.org/drawingml/2006/main" wrap="square" lIns="61200" rIns="61200" tIns="61200" bIns="61200" anchor="ctr">
            <ns181:noAutofit/>
          </ns181:bodyPr>
          <ns182:lstStyle xmlns:ns182="http://schemas.openxmlformats.org/drawingml/2006/main"/>
          <ns183:p xmlns:ns183="http://schemas.openxmlformats.org/drawingml/2006/main">
            <ns183:pPr algn="l">
              <ns183:lnSpc>
                <ns183:spcPct val="105000"/>
              </ns183:lnSpc>
              <ns183:defRPr sz="1300" b="1">
                <ns183:solidFill>
                  <ns183:srgbClr val="65727D"/>
                </ns183:solidFill>
                <ns183:latin typeface="Arial"/>
                <ns183:ea typeface="Arial"/>
                <ns183:cs typeface="Arial"/>
              </ns183:defRPr>
            </ns183:pPr>
            <ns183:r>
              <ns183:rPr sz="1300" b="1">
                <ns183:solidFill>
                  <ns183:srgbClr val="65727D"/>
                </ns183:solidFill>
                <ns183:latin typeface="Arial"/>
                <ns183:ea typeface="Arial"/>
                <ns183:cs typeface="Arial"/>
              </ns183:rPr>
              <ns183:t>Developer</ns183:t>
            </ns183:r>
          </ns183:p>
          <ns184:p xmlns:ns184="http://schemas.openxmlformats.org/drawingml/2006/main">
            <ns184:pPr algn="l">
              <ns184:lnSpc>
                <ns184:spcPct val="105000"/>
              </ns184:lnSpc>
              <ns184:defRPr sz="1050" b="0">
                <ns184:solidFill>
                  <ns184:srgbClr val="20262C"/>
                </ns184:solidFill>
                <ns184:latin typeface="Arial"/>
                <ns184:ea typeface="Arial"/>
                <ns184:cs typeface="Arial"/>
              </ns184:defRPr>
            </ns184:pPr>
            <ns184:r>
              <ns184:rPr sz="1050" b="0">
                <ns184:solidFill>
                  <ns184:srgbClr val="20262C"/>
                </ns184:solidFill>
                <ns184:latin typeface="Arial"/>
                <ns184:ea typeface="Arial"/>
                <ns184:cs typeface="Arial"/>
              </ns184:rPr>
              <ns184:t>Check output</ns184:t>
            </ns184:r>
          </ns184:p>
        </p:txBody>
      </p:sp>
      <p:cxnSp>
        <p:nvCxnSpPr>
          <p:cNvPr id="131" name="efund.test.feedback.0"/>
          <p:cNvCxnSpPr/>
          <p:nvPr/>
        </p:nvCxnSpPr>
        <p:spPr>
          <ns185:xfrm xmlns:ns185="http://schemas.openxmlformats.org/drawingml/2006/main">
            <ns185:off x="7407000" y="2574000"/>
            <ns185:ext cx="1" cy="198000"/>
          </ns185:xfrm>
          <ns186:prstGeom xmlns:ns186="http://schemas.openxmlformats.org/drawingml/2006/main" prst="line">
            <ns186:avLst/>
          </ns186:prstGeom>
          <ns187:ln xmlns:ns187="http://schemas.openxmlformats.org/drawingml/2006/main" w="9525">
            <ns187:solidFill>
              <ns187:srgbClr val="65727D"/>
            </ns187:solidFill>
          </ns187:ln>
        </p:spPr>
      </p:cxnSp>
      <p:cxnSp>
        <p:nvCxnSpPr>
          <p:cNvPr id="132" name="efund.test.feedback.1"/>
          <p:cNvCxnSpPr/>
          <p:nvPr/>
        </p:nvCxnSpPr>
        <p:spPr>
          <ns188:xfrm xmlns:ns188="http://schemas.openxmlformats.org/drawingml/2006/main" flipH="1">
            <ns188:off x="5121000" y="2772000"/>
            <ns188:ext cx="2286000" cy="1"/>
          </ns188:xfrm>
          <ns189:prstGeom xmlns:ns189="http://schemas.openxmlformats.org/drawingml/2006/main" prst="line">
            <ns189:avLst/>
          </ns189:prstGeom>
          <ns190:ln xmlns:ns190="http://schemas.openxmlformats.org/drawingml/2006/main" w="9525">
            <ns190:solidFill>
              <ns190:srgbClr val="65727D"/>
            </ns190:solidFill>
          </ns190:ln>
        </p:spPr>
      </p:cxnSp>
      <p:cxnSp>
        <p:nvCxnSpPr>
          <p:cNvPr id="133" name="efund.test.feedback.2"/>
          <p:cNvCxnSpPr/>
          <p:nvPr/>
        </p:nvCxnSpPr>
        <p:spPr>
          <ns191:xfrm xmlns:ns191="http://schemas.openxmlformats.org/drawingml/2006/main" flipV="1">
            <ns191:off x="5121000" y="2574000"/>
            <ns191:ext cx="1" cy="198000"/>
          </ns191:xfrm>
          <ns192:prstGeom xmlns:ns192="http://schemas.openxmlformats.org/drawingml/2006/main" prst="line">
            <ns192:avLst/>
          </ns192:prstGeom>
          <ns193:ln xmlns:ns193="http://schemas.openxmlformats.org/drawingml/2006/main" w="9525">
            <ns193:solidFill>
              <ns193:srgbClr val="65727D"/>
            </ns193:solidFill>
            <ns193:tailEnd type="triangle" w="sm" len="sm"/>
          </ns193:ln>
        </p:spPr>
      </p:cxnSp>
      <p:sp>
        <p:nvSpPr>
          <p:cNvPr id="134" name="efund.feedback.label"/>
          <p:cNvSpPr/>
          <p:nvPr/>
        </p:nvSpPr>
        <p:spPr>
          <ns194:xfrm xmlns:ns194="http://schemas.openxmlformats.org/drawingml/2006/main">
            <ns194:off x="5454000" y="2592000"/>
            <ns194:ext cx="1800000" cy="162000"/>
          </ns194:xfrm>
          <ns195:prstGeom xmlns:ns195="http://schemas.openxmlformats.org/drawingml/2006/main" prst="rect">
            <ns195:avLst/>
          </ns195:prstGeom>
          <ns196:noFill xmlns:ns196="http://schemas.openxmlformats.org/drawingml/2006/main"/>
          <ns197:ln xmlns:ns197="http://schemas.openxmlformats.org/drawingml/2006/main" w="0">
            <ns197:noFill/>
          </ns197:ln>
        </p:spPr>
        <p:txBody>
          <ns198:bodyPr xmlns:ns198="http://schemas.openxmlformats.org/drawingml/2006/main" wrap="square" lIns="0" rIns="0" tIns="0" bIns="0" anchor="t">
            <ns198:noAutofit/>
          </ns198:bodyPr>
          <ns199:lstStyle xmlns:ns199="http://schemas.openxmlformats.org/drawingml/2006/main"/>
          <ns200:p xmlns:ns200="http://schemas.openxmlformats.org/drawingml/2006/main">
            <ns200:pPr algn="l">
              <ns200:lnSpc>
                <ns200:spcPct val="105000"/>
              </ns200:lnSpc>
              <ns200:defRPr sz="1050" b="0">
                <ns200:solidFill>
                  <ns200:srgbClr val="65727D"/>
                </ns200:solidFill>
                <ns200:latin typeface="Arial"/>
                <ns200:ea typeface="Arial"/>
                <ns200:cs typeface="Arial"/>
              </ns200:defRPr>
            </ns200:pPr>
            <ns200:r>
              <ns200:rPr sz="1050" b="0">
                <ns200:solidFill>
                  <ns200:srgbClr val="65727D"/>
                </ns200:solidFill>
                <ns200:latin typeface="Arial"/>
                <ns200:ea typeface="Arial"/>
                <ns200:cs typeface="Arial"/>
              </ns200:rPr>
              <ns200:t>Test feedback</ns200:t>
            </ns200:r>
          </ns200:p>
        </p:txBody>
      </p:sp>
    </p:spTree>
    <p:extLst>
      <p:ext uri="{BB962C8B-B14F-4D97-AF65-F5344CB8AC3E}">
        <p14:creationId xmlns:p14="http://schemas.microsoft.com/office/powerpoint/2010/main" val="211842429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application: software development support</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Back office / Internal tool development / Proposed application</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E Fund; Invesco Great Wall</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11" name="map.task.review"/>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Content review</ns68:t>
            </ns68:r>
          </ns68:p>
        </p:txBody>
      </p:sp>
      <p:sp>
        <p:nvSpPr>
          <p:cNvPr id="112" name="map.task.risk"/>
          <p:cNvSpPr/>
          <p:nvPr/>
        </p:nvSpPr>
        <p:spPr>
          <ns69:xfrm xmlns:ns69="http://schemas.openxmlformats.org/drawingml/2006/main">
            <ns69:off x="554400" y="3045600"/>
            <ns69:ext cx="1562400" cy="1656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050" b="0">
                <ns75:solidFill>
                  <ns75:srgbClr val="65727D"/>
                </ns75:solidFill>
                <ns75:latin typeface="Arial"/>
                <ns75:ea typeface="Arial"/>
                <ns75:cs typeface="Arial"/>
              </ns75:defRPr>
            </ns75:pPr>
            <ns75:r>
              <ns75:rPr sz="1050" b="0">
                <ns75:solidFill>
                  <ns75:srgbClr val="65727D"/>
                </ns75:solidFill>
                <ns75:latin typeface="Arial"/>
                <ns75:ea typeface="Arial"/>
                <ns75:cs typeface="Arial"/>
              </ns75:rPr>
              <ns75:t>Risk analysis</ns75:t>
            </ns75:r>
          </ns75:p>
        </p:txBody>
      </p:sp>
      <p:sp>
        <p:nvSpPr>
          <p:cNvPr id="113" name="map.office.2"/>
          <p:cNvSpPr/>
          <p:nvPr/>
        </p:nvSpPr>
        <p:spPr>
          <ns76:xfrm xmlns:ns76="http://schemas.openxmlformats.org/drawingml/2006/main">
            <ns76:off x="486000" y="3391200"/>
            <ns76:ext cx="1692000" cy="180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100" b="1">
                <ns82:solidFill>
                  <ns82:srgbClr val="005A9C"/>
                </ns82:solidFill>
                <ns82:latin typeface="Arial"/>
                <ns82:ea typeface="Arial"/>
                <ns82:cs typeface="Arial"/>
              </ns82:defRPr>
            </ns82:pPr>
            <ns82:r>
              <ns82:rPr sz="1100" b="1">
                <ns82:solidFill>
                  <ns82:srgbClr val="005A9C"/>
                </ns82:solidFill>
                <ns82:latin typeface="Arial"/>
                <ns82:ea typeface="Arial"/>
                <ns82:cs typeface="Arial"/>
              </ns82:rPr>
              <ns82:t>Back office</ns82:t>
            </ns82:r>
          </ns82:p>
        </p:txBody>
      </p:sp>
      <p:cxnSp>
        <p:nvCxnSpPr>
          <p:cNvPr id="114" name="map.office.rule.2"/>
          <p:cNvCxnSpPr/>
          <p:nvPr/>
        </p:nvCxnSpPr>
        <p:spPr>
          <ns83:xfrm xmlns:ns83="http://schemas.openxmlformats.org/drawingml/2006/main">
            <ns83:off x="457200" y="3610800"/>
            <ns83:ext cx="1742400" cy="1"/>
          </ns83:xfrm>
          <ns84:prstGeom xmlns:ns84="http://schemas.openxmlformats.org/drawingml/2006/main" prst="line">
            <ns84:avLst/>
          </ns84:prstGeom>
          <ns85:ln xmlns:ns85="http://schemas.openxmlformats.org/drawingml/2006/main" w="7620">
            <ns85:solidFill>
              <ns85:srgbClr val="005A9C"/>
            </ns85:solidFill>
          </ns85:ln>
        </p:spPr>
      </p:cxnSp>
      <p:sp>
        <p:nvSpPr>
          <p:cNvPr id="115" name="map.task.files"/>
          <p:cNvSpPr/>
          <p:nvPr/>
        </p:nvSpPr>
        <p:spPr>
          <ns86:xfrm xmlns:ns86="http://schemas.openxmlformats.org/drawingml/2006/main">
            <ns86:off x="554400" y="3690000"/>
            <ns86:ext cx="1562400" cy="165600"/>
          </ns86:xfrm>
          <ns87:prstGeom xmlns:ns87="http://schemas.openxmlformats.org/drawingml/2006/main" prst="rect">
            <ns87:avLst/>
          </ns87:prstGeom>
          <ns88:noFill xmlns:ns88="http://schemas.openxmlformats.org/drawingml/2006/main"/>
          <ns89:ln xmlns:ns89="http://schemas.openxmlformats.org/drawingml/2006/main" w="0">
            <ns89:noFill/>
          </ns89:ln>
        </p:spPr>
        <p:txBody>
          <ns90:bodyPr xmlns:ns90="http://schemas.openxmlformats.org/drawingml/2006/main" wrap="square" lIns="0" rIns="0" tIns="0" bIns="0" anchor="t">
            <ns90:noAutofit/>
          </ns90:bodyPr>
          <ns91:lstStyle xmlns:ns91="http://schemas.openxmlformats.org/drawingml/2006/main"/>
          <ns92:p xmlns:ns92="http://schemas.openxmlformats.org/drawingml/2006/main">
            <ns92:pPr algn="l">
              <ns92:lnSpc>
                <ns92:spcPct val="105000"/>
              </ns92:lnSpc>
              <ns92:defRPr sz="1050" b="0">
                <ns92:solidFill>
                  <ns92:srgbClr val="65727D"/>
                </ns92:solidFill>
                <ns92:latin typeface="Arial"/>
                <ns92:ea typeface="Arial"/>
                <ns92:cs typeface="Arial"/>
              </ns92:defRPr>
            </ns92:pPr>
            <ns92:r>
              <ns92:rPr sz="1050" b="0">
                <ns92:solidFill>
                  <ns92:srgbClr val="65727D"/>
                </ns92:solidFill>
                <ns92:latin typeface="Arial"/>
                <ns92:ea typeface="Arial"/>
                <ns92:cs typeface="Arial"/>
              </ns92:rPr>
              <ns92:t>Document processing</ns92:t>
            </ns92:r>
          </ns92:p>
        </p:txBody>
      </p:sp>
      <p:sp>
        <p:nvSpPr>
          <p:cNvPr id="116" name="map.task.focus.dev"/>
          <p:cNvSpPr/>
          <p:nvPr/>
        </p:nvSpPr>
        <p:spPr>
          <ns93:xfrm xmlns:ns93="http://schemas.openxmlformats.org/drawingml/2006/main">
            <ns93:off x="486000" y="3884400"/>
            <ns93:ext cx="1677600" cy="176400"/>
          </ns93:xfrm>
          <ns94:prstGeom xmlns:ns94="http://schemas.openxmlformats.org/drawingml/2006/main" prst="rect">
            <ns94:avLst/>
          </ns94:prstGeom>
          <ns95:solidFill xmlns:ns95="http://schemas.openxmlformats.org/drawingml/2006/main">
            <ns95:srgbClr val="D9EAF7"/>
          </ns95:solidFill>
          <ns96:ln xmlns:ns96="http://schemas.openxmlformats.org/drawingml/2006/main" w="0">
            <ns96:noFill/>
          </ns96:ln>
        </p:spPr>
      </p:sp>
      <p:sp>
        <p:nvSpPr>
          <p:cNvPr id="117" name="map.task.dev"/>
          <p:cNvSpPr/>
          <p:nvPr/>
        </p:nvSpPr>
        <p:spPr>
          <ns97:xfrm xmlns:ns97="http://schemas.openxmlformats.org/drawingml/2006/main">
            <ns97:off x="554400" y="3888000"/>
            <ns97:ext cx="1562400" cy="1656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050" b="1">
                <ns103:solidFill>
                  <ns103:srgbClr val="005A9C"/>
                </ns103:solidFill>
                <ns103:latin typeface="Arial"/>
                <ns103:ea typeface="Arial"/>
                <ns103:cs typeface="Arial"/>
              </ns103:defRPr>
            </ns103:pPr>
            <ns103:r>
              <ns103:rPr sz="1050" b="1">
                <ns103:solidFill>
                  <ns103:srgbClr val="005A9C"/>
                </ns103:solidFill>
                <ns103:latin typeface="Arial"/>
                <ns103:ea typeface="Arial"/>
                <ns103:cs typeface="Arial"/>
              </ns103:rPr>
              <ns103:t>Tool development</ns103:t>
            </ns103:r>
          </ns103:p>
        </p:txBody>
      </p:sp>
      <p:sp>
        <p:nvSpPr>
          <p:cNvPr id="118" name="map.legend"/>
          <p:cNvSpPr/>
          <p:nvPr/>
        </p:nvSpPr>
        <p:spPr>
          <ns104:xfrm xmlns:ns104="http://schemas.openxmlformats.org/drawingml/2006/main">
            <ns104:off x="486000" y="4363200"/>
            <ns104:ext cx="1684800" cy="162000"/>
          </ns104:xfrm>
          <ns105:prstGeom xmlns:ns105="http://schemas.openxmlformats.org/drawingml/2006/main" prst="rect">
            <ns105:avLst/>
          </ns105:prstGeom>
          <ns106:noFill xmlns:ns106="http://schemas.openxmlformats.org/drawingml/2006/main"/>
          <ns107:ln xmlns:ns107="http://schemas.openxmlformats.org/drawingml/2006/main" w="0">
            <ns107:noFill/>
          </ns107:ln>
        </p:spPr>
        <p:txBody>
          <ns108:bodyPr xmlns:ns108="http://schemas.openxmlformats.org/drawingml/2006/main" wrap="square" lIns="0" rIns="0" tIns="0" bIns="0" anchor="t">
            <ns108:noAutofit/>
          </ns108:bodyPr>
          <ns109:lstStyle xmlns:ns109="http://schemas.openxmlformats.org/drawingml/2006/main"/>
          <ns110:p xmlns:ns110="http://schemas.openxmlformats.org/drawingml/2006/main">
            <ns110:pPr algn="l">
              <ns110:lnSpc>
                <ns110:spcPct val="105000"/>
              </ns110:lnSpc>
              <ns110:defRPr sz="850" b="0">
                <ns110:solidFill>
                  <ns110:srgbClr val="65727D"/>
                </ns110:solidFill>
                <ns110:latin typeface="Arial"/>
                <ns110:ea typeface="Arial"/>
                <ns110:cs typeface="Arial"/>
              </ns110:defRPr>
            </ns110:pPr>
            <ns110:r>
              <ns110:rPr sz="850" b="0">
                <ns110:solidFill>
                  <ns110:srgbClr val="65727D"/>
                </ns110:solidFill>
                <ns110:latin typeface="Arial"/>
                <ns110:ea typeface="Arial"/>
                <ns110:cs typeface="Arial"/>
              </ns110:rPr>
              <ns110:t>Company workflow</ns110:t>
            </ns110:r>
          </ns110:p>
        </p:txBody>
      </p:sp>
      <p:sp>
        <p:nvSpPr>
          <p:cNvPr id="119" name="development.requirement"/>
          <p:cNvSpPr/>
          <p:nvPr/>
        </p:nvSpPr>
        <p:spPr>
          <ns111:xfrm xmlns:ns111="http://schemas.openxmlformats.org/drawingml/2006/main">
            <ns111:off x="2422800" y="1440000"/>
            <ns111:ext cx="6264000" cy="198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150" b="0">
                <ns117:solidFill>
                  <ns117:srgbClr val="005A9C"/>
                </ns117:solidFill>
                <ns117:latin typeface="Arial"/>
                <ns117:ea typeface="Arial"/>
                <ns117:cs typeface="Arial"/>
              </ns117:defRPr>
            </ns117:pPr>
            <ns117:r>
              <ns117:rPr sz="1150" b="0">
                <ns117:solidFill>
                  <ns117:srgbClr val="005A9C"/>
                </ns117:solidFill>
                <ns117:latin typeface="Arial"/>
                <ns117:ea typeface="Arial"/>
                <ns117:cs typeface="Arial"/>
              </ns117:rPr>
              <ns117:t>Compare V1/V2 body text. Ignore repeated page headers.</ns117:t>
            </ns117:r>
          </ns117:p>
        </p:txBody>
      </p:sp>
      <p:sp>
        <p:nvSpPr>
          <p:cNvPr id="120" name="development.top.0"/>
          <p:cNvSpPr/>
          <p:nvPr/>
        </p:nvSpPr>
        <p:spPr>
          <ns118:xfrm xmlns:ns118="http://schemas.openxmlformats.org/drawingml/2006/main">
            <ns118:off x="2422800" y="1746000"/>
            <ns118:ext cx="1620000" cy="684000"/>
          </ns118:xfrm>
          <ns119:prstGeom xmlns:ns119="http://schemas.openxmlformats.org/drawingml/2006/main" prst="roundRect">
            <ns119:avLst/>
          </ns119:prstGeom>
          <ns120:solidFill xmlns:ns120="http://schemas.openxmlformats.org/drawingml/2006/main">
            <ns120:srgbClr val="F3F7FA"/>
          </ns120:solidFill>
          <ns121:ln xmlns:ns121="http://schemas.openxmlformats.org/drawingml/2006/main" w="9525">
            <ns121:solidFill>
              <ns121:srgbClr val="65727D"/>
            </ns121:solidFill>
          </ns121:ln>
        </p:spPr>
        <p:txBody>
          <ns122:bodyPr xmlns:ns122="http://schemas.openxmlformats.org/drawingml/2006/main" wrap="square" lIns="61200" rIns="61200" tIns="61200" bIns="61200" anchor="ctr">
            <ns122:noAutofit/>
          </ns122:bodyPr>
          <ns123:lstStyle xmlns:ns123="http://schemas.openxmlformats.org/drawingml/2006/main"/>
          <ns124:p xmlns:ns124="http://schemas.openxmlformats.org/drawingml/2006/main">
            <ns124:pPr algn="l">
              <ns124:lnSpc>
                <ns124:spcPct val="105000"/>
              </ns124:lnSpc>
              <ns124:defRPr sz="1300" b="1">
                <ns124:solidFill>
                  <ns124:srgbClr val="65727D"/>
                </ns124:solidFill>
                <ns124:latin typeface="Arial"/>
                <ns124:ea typeface="Arial"/>
                <ns124:cs typeface="Arial"/>
              </ns124:defRPr>
            </ns124:pPr>
            <ns124:r>
              <ns124:rPr sz="1300" b="1">
                <ns124:solidFill>
                  <ns124:srgbClr val="65727D"/>
                </ns124:solidFill>
                <ns124:latin typeface="Arial"/>
                <ns124:ea typeface="Arial"/>
                <ns124:cs typeface="Arial"/>
              </ns124:rPr>
              <ns124:t>1 Developer</ns124:t>
            </ns124:r>
          </ns124:p>
          <ns125:p xmlns:ns125="http://schemas.openxmlformats.org/drawingml/2006/main">
            <ns125:pPr algn="l">
              <ns125:lnSpc>
                <ns125:spcPct val="105000"/>
              </ns125:lnSpc>
              <ns125:defRPr sz="1100" b="0">
                <ns125:solidFill>
                  <ns125:srgbClr val="20262C"/>
                </ns125:solidFill>
                <ns125:latin typeface="Arial"/>
                <ns125:ea typeface="Arial"/>
                <ns125:cs typeface="Arial"/>
              </ns125:defRPr>
            </ns125:pPr>
            <ns125:r>
              <ns125:rPr sz="1100" b="0">
                <ns125:solidFill>
                  <ns125:srgbClr val="20262C"/>
                </ns125:solidFill>
                <ns125:latin typeface="Arial"/>
                <ns125:ea typeface="Arial"/>
                <ns125:cs typeface="Arial"/>
              </ns125:rPr>
              <ns125:t>Define examples</ns125:t>
            </ns125:r>
          </ns125:p>
          <ns126:p xmlns:ns126="http://schemas.openxmlformats.org/drawingml/2006/main">
            <ns126:pPr algn="l">
              <ns126:lnSpc>
                <ns126:spcPct val="105000"/>
              </ns126:lnSpc>
              <ns126:defRPr sz="1100" b="0">
                <ns126:solidFill>
                  <ns126:srgbClr val="20262C"/>
                </ns126:solidFill>
                <ns126:latin typeface="Arial"/>
                <ns126:ea typeface="Arial"/>
                <ns126:cs typeface="Arial"/>
              </ns126:defRPr>
            </ns126:pPr>
            <ns126:r>
              <ns126:rPr sz="1100" b="0">
                <ns126:solidFill>
                  <ns126:srgbClr val="20262C"/>
                </ns126:solidFill>
                <ns126:latin typeface="Arial"/>
                <ns126:ea typeface="Arial"/>
                <ns126:cs typeface="Arial"/>
              </ns126:rPr>
              <ns126:t>Expected results</ns126:t>
            </ns126:r>
          </ns126:p>
        </p:txBody>
      </p:sp>
      <p:cxnSp>
        <p:nvCxnSpPr>
          <p:cNvPr id="121" name="development.top.flow.0"/>
          <p:cNvCxnSpPr/>
          <p:nvPr/>
        </p:nvCxnSpPr>
        <p:spPr>
          <ns127:xfrm xmlns:ns127="http://schemas.openxmlformats.org/drawingml/2006/main">
            <ns127:off x="4078800" y="2088000"/>
            <ns127:ext cx="277200" cy="1"/>
          </ns127:xfrm>
          <ns128:prstGeom xmlns:ns128="http://schemas.openxmlformats.org/drawingml/2006/main" prst="line">
            <ns128:avLst/>
          </ns128:prstGeom>
          <ns129:ln xmlns:ns129="http://schemas.openxmlformats.org/drawingml/2006/main" w="11430">
            <ns129:solidFill>
              <ns129:srgbClr val="005A9C"/>
            </ns129:solidFill>
            <ns129:tailEnd type="triangle" w="sm" len="sm"/>
          </ns129:ln>
        </p:spPr>
      </p:cxnSp>
      <p:sp>
        <p:nvSpPr>
          <p:cNvPr id="122" name="development.top.1"/>
          <p:cNvSpPr/>
          <p:nvPr/>
        </p:nvSpPr>
        <p:spPr>
          <ns130:xfrm xmlns:ns130="http://schemas.openxmlformats.org/drawingml/2006/main">
            <ns130:off x="4392000" y="1746000"/>
            <ns130:ext cx="1458000" cy="684000"/>
          </ns130:xfrm>
          <ns131:prstGeom xmlns:ns131="http://schemas.openxmlformats.org/drawingml/2006/main" prst="roundRect">
            <ns131:avLst/>
          </ns131:prstGeom>
          <ns132:solidFill xmlns:ns132="http://schemas.openxmlformats.org/drawingml/2006/main">
            <ns132:srgbClr val="EAF3FA"/>
          </ns132:solidFill>
          <ns133:ln xmlns:ns133="http://schemas.openxmlformats.org/drawingml/2006/main" w="9525">
            <ns133:solidFill>
              <ns133:srgbClr val="005A9C"/>
            </ns133:solidFill>
          </ns133:ln>
        </p:spPr>
        <p:txBody>
          <ns134:bodyPr xmlns:ns134="http://schemas.openxmlformats.org/drawingml/2006/main" wrap="square" lIns="61200" rIns="61200" tIns="61200" bIns="61200" anchor="ctr">
            <ns134:noAutofit/>
          </ns134:bodyPr>
          <ns135:lstStyle xmlns:ns135="http://schemas.openxmlformats.org/drawingml/2006/main"/>
          <ns136:p xmlns:ns136="http://schemas.openxmlformats.org/drawingml/2006/main">
            <ns136:pPr algn="l">
              <ns136:lnSpc>
                <ns136:spcPct val="105000"/>
              </ns136:lnSpc>
              <ns136:defRPr sz="1300" b="1">
                <ns136:solidFill>
                  <ns136:srgbClr val="005A9C"/>
                </ns136:solidFill>
                <ns136:latin typeface="Arial"/>
                <ns136:ea typeface="Arial"/>
                <ns136:cs typeface="Arial"/>
              </ns136:defRPr>
            </ns136:pPr>
            <ns136:r>
              <ns136:rPr sz="1300" b="1">
                <ns136:solidFill>
                  <ns136:srgbClr val="005A9C"/>
                </ns136:solidFill>
                <ns136:latin typeface="Arial"/>
                <ns136:ea typeface="Arial"/>
                <ns136:cs typeface="Arial"/>
              </ns136:rPr>
              <ns136:t>2 LLM</ns136:t>
            </ns136:r>
          </ns136:p>
          <ns137:p xmlns:ns137="http://schemas.openxmlformats.org/drawingml/2006/main">
            <ns137:pPr algn="l">
              <ns137:lnSpc>
                <ns137:spcPct val="105000"/>
              </ns137:lnSpc>
              <ns137:defRPr sz="1100" b="0">
                <ns137:solidFill>
                  <ns137:srgbClr val="20262C"/>
                </ns137:solidFill>
                <ns137:latin typeface="Arial"/>
                <ns137:ea typeface="Arial"/>
                <ns137:cs typeface="Arial"/>
              </ns137:defRPr>
            </ns137:pPr>
            <ns137:r>
              <ns137:rPr sz="1100" b="0">
                <ns137:solidFill>
                  <ns137:srgbClr val="20262C"/>
                </ns137:solidFill>
                <ns137:latin typeface="Arial"/>
                <ns137:ea typeface="Arial"/>
                <ns137:cs typeface="Arial"/>
              </ns137:rPr>
              <ns137:t>Code / tests</ns137:t>
            </ns137:r>
          </ns137:p>
        </p:txBody>
      </p:sp>
      <p:cxnSp>
        <p:nvCxnSpPr>
          <p:cNvPr id="123" name="development.top.flow.1"/>
          <p:cNvCxnSpPr/>
          <p:nvPr/>
        </p:nvCxnSpPr>
        <p:spPr>
          <ns138:xfrm xmlns:ns138="http://schemas.openxmlformats.org/drawingml/2006/main">
            <ns138:off x="5886000" y="2088000"/>
            <ns138:ext cx="205200" cy="1"/>
          </ns138:xfrm>
          <ns139:prstGeom xmlns:ns139="http://schemas.openxmlformats.org/drawingml/2006/main" prst="line">
            <ns139:avLst/>
          </ns139:prstGeom>
          <ns140:ln xmlns:ns140="http://schemas.openxmlformats.org/drawingml/2006/main" w="11430">
            <ns140:solidFill>
              <ns140:srgbClr val="005A9C"/>
            </ns140:solidFill>
            <ns140:tailEnd type="triangle" w="sm" len="sm"/>
          </ns140:ln>
        </p:spPr>
      </p:cxnSp>
      <p:sp>
        <p:nvSpPr>
          <p:cNvPr id="124" name="development.top.2"/>
          <p:cNvSpPr/>
          <p:nvPr/>
        </p:nvSpPr>
        <p:spPr>
          <ns141:xfrm xmlns:ns141="http://schemas.openxmlformats.org/drawingml/2006/main">
            <ns141:off x="6127200" y="1746000"/>
            <ns141:ext cx="2559600" cy="684000"/>
          </ns141:xfrm>
          <ns142:prstGeom xmlns:ns142="http://schemas.openxmlformats.org/drawingml/2006/main" prst="roundRect">
            <ns142:avLst/>
          </ns142:prstGeom>
          <ns143:solidFill xmlns:ns143="http://schemas.openxmlformats.org/drawingml/2006/main">
            <ns143:srgbClr val="F3F7FA"/>
          </ns143:solidFill>
          <ns144:ln xmlns:ns144="http://schemas.openxmlformats.org/drawingml/2006/main" w="9525">
            <ns144:solidFill>
              <ns144:srgbClr val="65727D"/>
            </ns144:solidFill>
          </ns144:ln>
        </p:spPr>
        <p:txBody>
          <ns145:bodyPr xmlns:ns145="http://schemas.openxmlformats.org/drawingml/2006/main" wrap="square" lIns="61200" rIns="61200" tIns="61200" bIns="61200" anchor="ctr">
            <ns145:noAutofit/>
          </ns145:bodyPr>
          <ns146:lstStyle xmlns:ns146="http://schemas.openxmlformats.org/drawingml/2006/main"/>
          <ns147:p xmlns:ns147="http://schemas.openxmlformats.org/drawingml/2006/main">
            <ns147:pPr algn="l">
              <ns147:lnSpc>
                <ns147:spcPct val="105000"/>
              </ns147:lnSpc>
              <ns147:defRPr sz="1300" b="1">
                <ns147:solidFill>
                  <ns147:srgbClr val="65727D"/>
                </ns147:solidFill>
                <ns147:latin typeface="Arial"/>
                <ns147:ea typeface="Arial"/>
                <ns147:cs typeface="Arial"/>
              </ns147:defRPr>
            </ns147:pPr>
            <ns147:r>
              <ns147:rPr sz="1300" b="1">
                <ns147:solidFill>
                  <ns147:srgbClr val="65727D"/>
                </ns147:solidFill>
                <ns147:latin typeface="Arial"/>
                <ns147:ea typeface="Arial"/>
                <ns147:cs typeface="Arial"/>
              </ns147:rPr>
              <ns147:t>3 Test runner</ns147:t>
            </ns147:r>
          </ns147:p>
          <ns148:p xmlns:ns148="http://schemas.openxmlformats.org/drawingml/2006/main">
            <ns148:pPr algn="l">
              <ns148:lnSpc>
                <ns148:spcPct val="105000"/>
              </ns148:lnSpc>
              <ns148:defRPr sz="1100" b="0">
                <ns148:solidFill>
                  <ns148:srgbClr val="20262C"/>
                </ns148:solidFill>
                <ns148:latin typeface="Arial"/>
                <ns148:ea typeface="Arial"/>
                <ns148:cs typeface="Arial"/>
              </ns148:defRPr>
            </ns148:pPr>
            <ns148:r>
              <ns148:rPr sz="1100" b="0">
                <ns148:solidFill>
                  <ns148:srgbClr val="20262C"/>
                </ns148:solidFill>
                <ns148:latin typeface="Arial"/>
                <ns148:ea typeface="Arial"/>
                <ns148:cs typeface="Arial"/>
              </ns148:rPr>
              <ns148:t>Run tests</ns148:t>
            </ns148:r>
          </ns148:p>
        </p:txBody>
      </p:sp>
      <p:sp>
        <p:nvSpPr>
          <p:cNvPr id="125" name="input.dev.examples.paper"/>
          <p:cNvSpPr/>
          <p:nvPr/>
        </p:nvSpPr>
        <p:spPr>
          <ns149:xfrm xmlns:ns149="http://schemas.openxmlformats.org/drawingml/2006/main">
            <ns149:off x="2422800" y="2574000"/>
            <ns149:ext cx="1620000" cy="828000"/>
          </ns149:xfrm>
          <ns150:prstGeom xmlns:ns150="http://schemas.openxmlformats.org/drawingml/2006/main" prst="foldedCorner">
            <ns150:avLst/>
          </ns150:prstGeom>
          <ns151:solidFill xmlns:ns151="http://schemas.openxmlformats.org/drawingml/2006/main">
            <ns151:srgbClr val="FFFFFF"/>
          </ns151:solidFill>
          <ns152:ln xmlns:ns152="http://schemas.openxmlformats.org/drawingml/2006/main" w="9525">
            <ns152:solidFill>
              <ns152:srgbClr val="7363A6"/>
            </ns152:solidFill>
          </ns152:ln>
        </p:spPr>
      </p:sp>
      <p:sp>
        <p:nvSpPr>
          <p:cNvPr id="126" name="input.dev.examples.title"/>
          <p:cNvSpPr/>
          <p:nvPr/>
        </p:nvSpPr>
        <p:spPr>
          <ns153:xfrm xmlns:ns153="http://schemas.openxmlformats.org/drawingml/2006/main">
            <ns153:off x="2487600" y="2617200"/>
            <ns153:ext cx="1422000" cy="198000"/>
          </ns153:xfrm>
          <ns154:prstGeom xmlns:ns154="http://schemas.openxmlformats.org/drawingml/2006/main" prst="rect">
            <ns154:avLst/>
          </ns154:prstGeom>
          <ns155:noFill xmlns:ns155="http://schemas.openxmlformats.org/drawingml/2006/main"/>
          <ns156:ln xmlns:ns156="http://schemas.openxmlformats.org/drawingml/2006/main" w="0">
            <ns156:noFill/>
          </ns156:ln>
        </p:spPr>
        <p:txBody>
          <ns157:bodyPr xmlns:ns157="http://schemas.openxmlformats.org/drawingml/2006/main" wrap="square" lIns="0" rIns="0" tIns="0" bIns="0" anchor="t">
            <ns157:noAutofit/>
          </ns157:bodyPr>
          <ns158:lstStyle xmlns:ns158="http://schemas.openxmlformats.org/drawingml/2006/main"/>
          <ns159:p xmlns:ns159="http://schemas.openxmlformats.org/drawingml/2006/main">
            <ns159:pPr algn="l">
              <ns159:lnSpc>
                <ns159:spcPct val="105000"/>
              </ns159:lnSpc>
              <ns159:defRPr sz="1250" b="1">
                <ns159:solidFill>
                  <ns159:srgbClr val="7363A6"/>
                </ns159:solidFill>
                <ns159:latin typeface="Arial"/>
                <ns159:ea typeface="Arial"/>
                <ns159:cs typeface="Arial"/>
              </ns159:defRPr>
            </ns159:pPr>
            <ns159:r>
              <ns159:rPr sz="1250" b="1">
                <ns159:solidFill>
                  <ns159:srgbClr val="7363A6"/>
                </ns159:solidFill>
                <ns159:latin typeface="Arial"/>
                <ns159:ea typeface="Arial"/>
                <ns159:cs typeface="Arial"/>
              </ns159:rPr>
              <ns159:t>V1 / V2 examples</ns159:t>
            </ns159:r>
          </ns159:p>
        </p:txBody>
      </p:sp>
      <p:sp>
        <p:nvSpPr>
          <p:cNvPr id="127" name="input.dev.examples.content"/>
          <p:cNvSpPr/>
          <p:nvPr/>
        </p:nvSpPr>
        <p:spPr>
          <ns160:xfrm xmlns:ns160="http://schemas.openxmlformats.org/drawingml/2006/main">
            <ns160:off x="2487600" y="2833200"/>
            <ns160:ext cx="1490400" cy="518400"/>
          </ns160:xfrm>
          <ns161:prstGeom xmlns:ns161="http://schemas.openxmlformats.org/drawingml/2006/main" prst="rect">
            <ns161:avLst/>
          </ns161:prstGeom>
          <ns162:noFill xmlns:ns162="http://schemas.openxmlformats.org/drawingml/2006/main"/>
          <ns163:ln xmlns:ns163="http://schemas.openxmlformats.org/drawingml/2006/main" w="0">
            <ns163:noFill/>
          </ns163:ln>
        </p:spPr>
        <p:txBody>
          <ns164:bodyPr xmlns:ns164="http://schemas.openxmlformats.org/drawingml/2006/main" wrap="square" lIns="0" rIns="0" tIns="0" bIns="0" anchor="t">
            <ns164:noAutofit/>
          </ns164:bodyPr>
          <ns165:lstStyle xmlns:ns165="http://schemas.openxmlformats.org/drawingml/2006/main"/>
          <ns166:p xmlns:ns166="http://schemas.openxmlformats.org/drawingml/2006/main">
            <ns166:pPr algn="l">
              <ns166:lnSpc>
                <ns166:spcPct val="100000"/>
              </ns166:lnSpc>
              <ns166:defRPr sz="1150" b="0">
                <ns166:solidFill>
                  <ns166:srgbClr val="20262C"/>
                </ns166:solidFill>
                <ns166:latin typeface="Arial"/>
                <ns166:ea typeface="Arial"/>
                <ns166:cs typeface="Arial"/>
              </ns166:defRPr>
            </ns166:pPr>
            <ns166:r>
              <ns166:rPr sz="1150" b="0">
                <ns166:solidFill>
                  <ns166:srgbClr val="20262C"/>
                </ns166:solidFill>
                <ns166:latin typeface="Arial"/>
                <ns166:ea typeface="Arial"/>
                <ns166:cs typeface="Arial"/>
              </ns166:rPr>
              <ns166:t>Expected differences</ns166:t>
            </ns166:r>
          </ns166:p>
          <ns167:p xmlns:ns167="http://schemas.openxmlformats.org/drawingml/2006/main">
            <ns167:pPr algn="l">
              <ns167:lnSpc>
                <ns167:spcPct val="100000"/>
              </ns167:lnSpc>
              <ns167:defRPr sz="1150" b="0">
                <ns167:solidFill>
                  <ns167:srgbClr val="20262C"/>
                </ns167:solidFill>
                <ns167:latin typeface="Arial"/>
                <ns167:ea typeface="Arial"/>
                <ns167:cs typeface="Arial"/>
              </ns167:defRPr>
            </ns167:pPr>
            <ns167:r>
              <ns167:rPr sz="1150" b="0">
                <ns167:solidFill>
                  <ns167:srgbClr val="20262C"/>
                </ns167:solidFill>
                <ns167:latin typeface="Arial"/>
                <ns167:ea typeface="Arial"/>
                <ns167:cs typeface="Arial"/>
              </ns167:rPr>
              <ns167:t>marked</ns167:t>
            </ns167:r>
          </ns167:p>
        </p:txBody>
      </p:sp>
      <p:cxnSp>
        <p:nvCxnSpPr>
          <p:cNvPr id="128" name="examples.to.developer"/>
          <p:cNvCxnSpPr/>
          <p:nvPr/>
        </p:nvCxnSpPr>
        <p:spPr>
          <ns168:xfrm xmlns:ns168="http://schemas.openxmlformats.org/drawingml/2006/main" flipV="1">
            <ns168:off x="3232800" y="2466000"/>
            <ns168:ext cx="1" cy="72000"/>
          </ns168:xfrm>
          <ns169:prstGeom xmlns:ns169="http://schemas.openxmlformats.org/drawingml/2006/main" prst="line">
            <ns169:avLst/>
          </ns169:prstGeom>
          <ns170:ln xmlns:ns170="http://schemas.openxmlformats.org/drawingml/2006/main" w="11430">
            <ns170:solidFill>
              <ns170:srgbClr val="7363A6"/>
            </ns170:solidFill>
            <ns170:tailEnd type="triangle" w="sm" len="sm"/>
          </ns170:ln>
        </p:spPr>
      </p:cxnSp>
      <p:sp>
        <p:nvSpPr>
          <p:cNvPr id="129" name="output.test.results.paper"/>
          <p:cNvSpPr/>
          <p:nvPr/>
        </p:nvSpPr>
        <p:spPr>
          <ns171:xfrm xmlns:ns171="http://schemas.openxmlformats.org/drawingml/2006/main">
            <ns171:off x="6127200" y="2574000"/>
            <ns171:ext cx="2559600" cy="828000"/>
          </ns171:xfrm>
          <ns172:prstGeom xmlns:ns172="http://schemas.openxmlformats.org/drawingml/2006/main" prst="foldedCorner">
            <ns172:avLst/>
          </ns172:prstGeom>
          <ns173:solidFill xmlns:ns173="http://schemas.openxmlformats.org/drawingml/2006/main">
            <ns173:srgbClr val="FFFFFF"/>
          </ns173:solidFill>
          <ns174:ln xmlns:ns174="http://schemas.openxmlformats.org/drawingml/2006/main" w="9525">
            <ns174:solidFill>
              <ns174:srgbClr val="65727D"/>
            </ns174:solidFill>
          </ns174:ln>
        </p:spPr>
      </p:sp>
      <p:sp>
        <p:nvSpPr>
          <p:cNvPr id="130" name="output.test.results.title"/>
          <p:cNvSpPr/>
          <p:nvPr/>
        </p:nvSpPr>
        <p:spPr>
          <ns175:xfrm xmlns:ns175="http://schemas.openxmlformats.org/drawingml/2006/main">
            <ns175:off x="6192000" y="2617200"/>
            <ns175:ext cx="2361600" cy="198000"/>
          </ns175:xfrm>
          <ns176:prstGeom xmlns:ns176="http://schemas.openxmlformats.org/drawingml/2006/main" prst="rect">
            <ns176:avLst/>
          </ns176:prstGeom>
          <ns177:noFill xmlns:ns177="http://schemas.openxmlformats.org/drawingml/2006/main"/>
          <ns178:ln xmlns:ns178="http://schemas.openxmlformats.org/drawingml/2006/main" w="0">
            <ns178:noFill/>
          </ns178:ln>
        </p:spPr>
        <p:txBody>
          <ns179:bodyPr xmlns:ns179="http://schemas.openxmlformats.org/drawingml/2006/main" wrap="square" lIns="0" rIns="0" tIns="0" bIns="0" anchor="t">
            <ns179:noAutofit/>
          </ns179:bodyPr>
          <ns180:lstStyle xmlns:ns180="http://schemas.openxmlformats.org/drawingml/2006/main"/>
          <ns181:p xmlns:ns181="http://schemas.openxmlformats.org/drawingml/2006/main">
            <ns181:pPr algn="l">
              <ns181:lnSpc>
                <ns181:spcPct val="105000"/>
              </ns181:lnSpc>
              <ns181:defRPr sz="1250" b="1">
                <ns181:solidFill>
                  <ns181:srgbClr val="65727D"/>
                </ns181:solidFill>
                <ns181:latin typeface="Arial"/>
                <ns181:ea typeface="Arial"/>
                <ns181:cs typeface="Arial"/>
              </ns181:defRPr>
            </ns181:pPr>
            <ns181:r>
              <ns181:rPr sz="1250" b="1">
                <ns181:solidFill>
                  <ns181:srgbClr val="65727D"/>
                </ns181:solidFill>
                <ns181:latin typeface="Arial"/>
                <ns181:ea typeface="Arial"/>
                <ns181:cs typeface="Arial"/>
              </ns181:rPr>
              <ns181:t>Test results</ns181:t>
            </ns181:r>
          </ns181:p>
        </p:txBody>
      </p:sp>
      <p:sp>
        <p:nvSpPr>
          <p:cNvPr id="131" name="output.test.results.content"/>
          <p:cNvSpPr/>
          <p:nvPr/>
        </p:nvSpPr>
        <p:spPr>
          <ns182:xfrm xmlns:ns182="http://schemas.openxmlformats.org/drawingml/2006/main">
            <ns182:off x="6192000" y="2833200"/>
            <ns182:ext cx="2430000" cy="518400"/>
          </ns182:xfrm>
          <ns183:prstGeom xmlns:ns183="http://schemas.openxmlformats.org/drawingml/2006/main" prst="rect">
            <ns183:avLst/>
          </ns183:prstGeom>
          <ns184:noFill xmlns:ns184="http://schemas.openxmlformats.org/drawingml/2006/main"/>
          <ns185:ln xmlns:ns185="http://schemas.openxmlformats.org/drawingml/2006/main" w="0">
            <ns185:noFill/>
          </ns185:ln>
        </p:spPr>
        <p:txBody>
          <ns186:bodyPr xmlns:ns186="http://schemas.openxmlformats.org/drawingml/2006/main" wrap="square" lIns="0" rIns="0" tIns="0" bIns="0" anchor="t">
            <ns186:noAutofit/>
          </ns186:bodyPr>
          <ns187:lstStyle xmlns:ns187="http://schemas.openxmlformats.org/drawingml/2006/main"/>
          <ns188:p xmlns:ns188="http://schemas.openxmlformats.org/drawingml/2006/main">
            <ns188:pPr algn="l">
              <ns188:lnSpc>
                <ns188:spcPct val="100000"/>
              </ns188:lnSpc>
              <ns188:defRPr sz="1200" b="0">
                <ns188:solidFill>
                  <ns188:srgbClr val="20262C"/>
                </ns188:solidFill>
                <ns188:latin typeface="Arial"/>
                <ns188:ea typeface="Arial"/>
                <ns188:cs typeface="Arial"/>
              </ns188:defRPr>
            </ns188:pPr>
            <ns188:r>
              <ns188:rPr sz="1200" b="0">
                <ns188:solidFill>
                  <ns188:srgbClr val="20262C"/>
                </ns188:solidFill>
                <ns188:latin typeface="Arial"/>
                <ns188:ea typeface="Arial"/>
                <ns188:cs typeface="Arial"/>
              </ns188:rPr>
              <ns188:t>Body changes detected</ns188:t>
            </ns188:r>
          </ns188:p>
          <ns189:p xmlns:ns189="http://schemas.openxmlformats.org/drawingml/2006/main">
            <ns189:pPr algn="l">
              <ns189:lnSpc>
                <ns189:spcPct val="100000"/>
              </ns189:lnSpc>
              <ns189:defRPr sz="1200" b="0">
                <ns189:solidFill>
                  <ns189:srgbClr val="20262C"/>
                </ns189:solidFill>
                <ns189:latin typeface="Arial"/>
                <ns189:ea typeface="Arial"/>
                <ns189:cs typeface="Arial"/>
              </ns189:defRPr>
            </ns189:pPr>
            <ns189:r>
              <ns189:rPr sz="1200" b="0">
                <ns189:solidFill>
                  <ns189:srgbClr val="20262C"/>
                </ns189:solidFill>
                <ns189:latin typeface="Arial"/>
                <ns189:ea typeface="Arial"/>
                <ns189:cs typeface="Arial"/>
              </ns189:rPr>
              <ns189:t>Headers wrongly flagged</ns189:t>
            </ns189:r>
          </ns189:p>
        </p:txBody>
      </p:sp>
      <p:cxnSp>
        <p:nvCxnSpPr>
          <p:cNvPr id="132" name="runner.to.results"/>
          <p:cNvCxnSpPr/>
          <p:nvPr/>
        </p:nvCxnSpPr>
        <p:spPr>
          <ns190:xfrm xmlns:ns190="http://schemas.openxmlformats.org/drawingml/2006/main">
            <ns190:off x="7407000" y="2466000"/>
            <ns190:ext cx="1" cy="72000"/>
          </ns190:xfrm>
          <ns191:prstGeom xmlns:ns191="http://schemas.openxmlformats.org/drawingml/2006/main" prst="line">
            <ns191:avLst/>
          </ns191:prstGeom>
          <ns192:ln xmlns:ns192="http://schemas.openxmlformats.org/drawingml/2006/main" w="11430">
            <ns192:solidFill>
              <ns192:srgbClr val="005A9C"/>
            </ns192:solidFill>
            <ns192:tailEnd type="triangle" w="sm" len="sm"/>
          </ns192:ln>
        </p:spPr>
      </p:cxnSp>
      <p:sp>
        <p:nvSpPr>
          <p:cNvPr id="133" name="development.bottom.0"/>
          <p:cNvSpPr/>
          <p:nvPr/>
        </p:nvSpPr>
        <p:spPr>
          <ns193:xfrm xmlns:ns193="http://schemas.openxmlformats.org/drawingml/2006/main">
            <ns193:off x="2422800" y="3618000"/>
            <ns193:ext cx="1620000" cy="846000"/>
          </ns193:xfrm>
          <ns194:prstGeom xmlns:ns194="http://schemas.openxmlformats.org/drawingml/2006/main" prst="roundRect">
            <ns194:avLst/>
          </ns194:prstGeom>
          <ns195:solidFill xmlns:ns195="http://schemas.openxmlformats.org/drawingml/2006/main">
            <ns195:srgbClr val="F3F7FA"/>
          </ns195:solidFill>
          <ns196:ln xmlns:ns196="http://schemas.openxmlformats.org/drawingml/2006/main" w="9525">
            <ns196:solidFill>
              <ns196:srgbClr val="65727D"/>
            </ns196:solidFill>
          </ns196:ln>
        </p:spPr>
        <p:txBody>
          <ns197:bodyPr xmlns:ns197="http://schemas.openxmlformats.org/drawingml/2006/main" wrap="square" lIns="61200" rIns="61200" tIns="61200" bIns="61200" anchor="ctr">
            <ns197:noAutofit/>
          </ns197:bodyPr>
          <ns198:lstStyle xmlns:ns198="http://schemas.openxmlformats.org/drawingml/2006/main"/>
          <ns199:p xmlns:ns199="http://schemas.openxmlformats.org/drawingml/2006/main">
            <ns199:pPr algn="l">
              <ns199:lnSpc>
                <ns199:spcPct val="105000"/>
              </ns199:lnSpc>
              <ns199:defRPr sz="1300" b="1">
                <ns199:solidFill>
                  <ns199:srgbClr val="65727D"/>
                </ns199:solidFill>
                <ns199:latin typeface="Arial"/>
                <ns199:ea typeface="Arial"/>
                <ns199:cs typeface="Arial"/>
              </ns199:defRPr>
            </ns199:pPr>
            <ns199:r>
              <ns199:rPr sz="1300" b="1">
                <ns199:solidFill>
                  <ns199:srgbClr val="65727D"/>
                </ns199:solidFill>
                <ns199:latin typeface="Arial"/>
                <ns199:ea typeface="Arial"/>
                <ns199:cs typeface="Arial"/>
              </ns199:rPr>
              <ns199:t>6 Developer</ns199:t>
            </ns199:r>
          </ns199:p>
          <ns200:p xmlns:ns200="http://schemas.openxmlformats.org/drawingml/2006/main">
            <ns200:pPr algn="l">
              <ns200:lnSpc>
                <ns200:spcPct val="105000"/>
              </ns200:lnSpc>
              <ns200:defRPr sz="1150" b="0">
                <ns200:solidFill>
                  <ns200:srgbClr val="20262C"/>
                </ns200:solidFill>
                <ns200:latin typeface="Arial"/>
                <ns200:ea typeface="Arial"/>
                <ns200:cs typeface="Arial"/>
              </ns200:defRPr>
            </ns200:pPr>
            <ns200:r>
              <ns200:rPr sz="1150" b="0">
                <ns200:solidFill>
                  <ns200:srgbClr val="20262C"/>
                </ns200:solidFill>
                <ns200:latin typeface="Arial"/>
                <ns200:ea typeface="Arial"/>
                <ns200:cs typeface="Arial"/>
              </ns200:rPr>
              <ns200:t>Retest / deliver</ns200:t>
            </ns200:r>
          </ns200:p>
          <ns201:p xmlns:ns201="http://schemas.openxmlformats.org/drawingml/2006/main">
            <ns201:pPr algn="l">
              <ns201:lnSpc>
                <ns201:spcPct val="105000"/>
              </ns201:lnSpc>
              <ns201:defRPr sz="1150" b="0">
                <ns201:solidFill>
                  <ns201:srgbClr val="20262C"/>
                </ns201:solidFill>
                <ns201:latin typeface="Arial"/>
                <ns201:ea typeface="Arial"/>
                <ns201:cs typeface="Arial"/>
              </ns201:defRPr>
            </ns201:pPr>
            <ns201:r>
              <ns201:rPr sz="1150" b="0">
                <ns201:solidFill>
                  <ns201:srgbClr val="20262C"/>
                </ns201:solidFill>
                <ns201:latin typeface="Arial"/>
                <ns201:ea typeface="Arial"/>
                <ns201:cs typeface="Arial"/>
              </ns201:rPr>
              <ns201:t>Tool + user guide</ns201:t>
            </ns201:r>
          </ns201:p>
        </p:txBody>
      </p:sp>
      <p:sp>
        <p:nvSpPr>
          <p:cNvPr id="134" name="development.bottom.1"/>
          <p:cNvSpPr/>
          <p:nvPr/>
        </p:nvSpPr>
        <p:spPr>
          <ns202:xfrm xmlns:ns202="http://schemas.openxmlformats.org/drawingml/2006/main">
            <ns202:off x="4392000" y="3618000"/>
            <ns202:ext cx="1458000" cy="846000"/>
          </ns202:xfrm>
          <ns203:prstGeom xmlns:ns203="http://schemas.openxmlformats.org/drawingml/2006/main" prst="roundRect">
            <ns203:avLst/>
          </ns203:prstGeom>
          <ns204:solidFill xmlns:ns204="http://schemas.openxmlformats.org/drawingml/2006/main">
            <ns204:srgbClr val="EAF3FA"/>
          </ns204:solidFill>
          <ns205:ln xmlns:ns205="http://schemas.openxmlformats.org/drawingml/2006/main" w="9525">
            <ns205:solidFill>
              <ns205:srgbClr val="005A9C"/>
            </ns205:solidFill>
          </ns205:ln>
        </p:spPr>
        <p:txBody>
          <ns206:bodyPr xmlns:ns206="http://schemas.openxmlformats.org/drawingml/2006/main" wrap="square" lIns="61200" rIns="61200" tIns="61200" bIns="61200" anchor="ctr">
            <ns206:noAutofit/>
          </ns206:bodyPr>
          <ns207:lstStyle xmlns:ns207="http://schemas.openxmlformats.org/drawingml/2006/main"/>
          <ns208:p xmlns:ns208="http://schemas.openxmlformats.org/drawingml/2006/main">
            <ns208:pPr algn="l">
              <ns208:lnSpc>
                <ns208:spcPct val="105000"/>
              </ns208:lnSpc>
              <ns208:defRPr sz="1300" b="1">
                <ns208:solidFill>
                  <ns208:srgbClr val="005A9C"/>
                </ns208:solidFill>
                <ns208:latin typeface="Arial"/>
                <ns208:ea typeface="Arial"/>
                <ns208:cs typeface="Arial"/>
              </ns208:defRPr>
            </ns208:pPr>
            <ns208:r>
              <ns208:rPr sz="1300" b="1">
                <ns208:solidFill>
                  <ns208:srgbClr val="005A9C"/>
                </ns208:solidFill>
                <ns208:latin typeface="Arial"/>
                <ns208:ea typeface="Arial"/>
                <ns208:cs typeface="Arial"/>
              </ns208:rPr>
              <ns208:t>5 LLM</ns208:t>
            </ns208:r>
          </ns208:p>
          <ns209:p xmlns:ns209="http://schemas.openxmlformats.org/drawingml/2006/main">
            <ns209:pPr algn="l">
              <ns209:lnSpc>
                <ns209:spcPct val="105000"/>
              </ns209:lnSpc>
              <ns209:defRPr sz="1150" b="0">
                <ns209:solidFill>
                  <ns209:srgbClr val="20262C"/>
                </ns209:solidFill>
                <ns209:latin typeface="Arial"/>
                <ns209:ea typeface="Arial"/>
                <ns209:cs typeface="Arial"/>
              </ns209:defRPr>
            </ns209:pPr>
            <ns209:r>
              <ns209:rPr sz="1150" b="0">
                <ns209:solidFill>
                  <ns209:srgbClr val="20262C"/>
                </ns209:solidFill>
                <ns209:latin typeface="Arial"/>
                <ns209:ea typeface="Arial"/>
                <ns209:cs typeface="Arial"/>
              </ns209:rPr>
              <ns209:t>Fix header filter</ns209:t>
            </ns209:r>
          </ns209:p>
          <ns210:p xmlns:ns210="http://schemas.openxmlformats.org/drawingml/2006/main">
            <ns210:pPr algn="l">
              <ns210:lnSpc>
                <ns210:spcPct val="105000"/>
              </ns210:lnSpc>
              <ns210:defRPr sz="1150" b="0">
                <ns210:solidFill>
                  <ns210:srgbClr val="20262C"/>
                </ns210:solidFill>
                <ns210:latin typeface="Arial"/>
                <ns210:ea typeface="Arial"/>
                <ns210:cs typeface="Arial"/>
              </ns210:defRPr>
            </ns210:pPr>
            <ns210:r>
              <ns210:rPr sz="1150" b="0">
                <ns210:solidFill>
                  <ns210:srgbClr val="20262C"/>
                </ns210:solidFill>
                <ns210:latin typeface="Arial"/>
                <ns210:ea typeface="Arial"/>
                <ns210:cs typeface="Arial"/>
              </ns210:rPr>
              <ns210:t>Add regression test</ns210:t>
            </ns210:r>
          </ns210:p>
        </p:txBody>
      </p:sp>
      <p:sp>
        <p:nvSpPr>
          <p:cNvPr id="135" name="development.bottom.2"/>
          <p:cNvSpPr/>
          <p:nvPr/>
        </p:nvSpPr>
        <p:spPr>
          <ns211:xfrm xmlns:ns211="http://schemas.openxmlformats.org/drawingml/2006/main">
            <ns211:off x="6127200" y="3618000"/>
            <ns211:ext cx="2559600" cy="846000"/>
          </ns211:xfrm>
          <ns212:prstGeom xmlns:ns212="http://schemas.openxmlformats.org/drawingml/2006/main" prst="roundRect">
            <ns212:avLst/>
          </ns212:prstGeom>
          <ns213:solidFill xmlns:ns213="http://schemas.openxmlformats.org/drawingml/2006/main">
            <ns213:srgbClr val="F3F7FA"/>
          </ns213:solidFill>
          <ns214:ln xmlns:ns214="http://schemas.openxmlformats.org/drawingml/2006/main" w="9525">
            <ns214:solidFill>
              <ns214:srgbClr val="65727D"/>
            </ns214:solidFill>
          </ns214:ln>
        </p:spPr>
        <p:txBody>
          <ns215:bodyPr xmlns:ns215="http://schemas.openxmlformats.org/drawingml/2006/main" wrap="square" lIns="61200" rIns="61200" tIns="61200" bIns="61200" anchor="ctr">
            <ns215:noAutofit/>
          </ns215:bodyPr>
          <ns216:lstStyle xmlns:ns216="http://schemas.openxmlformats.org/drawingml/2006/main"/>
          <ns217:p xmlns:ns217="http://schemas.openxmlformats.org/drawingml/2006/main">
            <ns217:pPr algn="l">
              <ns217:lnSpc>
                <ns217:spcPct val="105000"/>
              </ns217:lnSpc>
              <ns217:defRPr sz="1300" b="1">
                <ns217:solidFill>
                  <ns217:srgbClr val="65727D"/>
                </ns217:solidFill>
                <ns217:latin typeface="Arial"/>
                <ns217:ea typeface="Arial"/>
                <ns217:cs typeface="Arial"/>
              </ns217:defRPr>
            </ns217:pPr>
            <ns217:r>
              <ns217:rPr sz="1300" b="1">
                <ns217:solidFill>
                  <ns217:srgbClr val="65727D"/>
                </ns217:solidFill>
                <ns217:latin typeface="Arial"/>
                <ns217:ea typeface="Arial"/>
                <ns217:cs typeface="Arial"/>
              </ns217:rPr>
              <ns217:t>4 Developer</ns217:t>
            </ns217:r>
          </ns217:p>
          <ns218:p xmlns:ns218="http://schemas.openxmlformats.org/drawingml/2006/main">
            <ns218:pPr algn="l">
              <ns218:lnSpc>
                <ns218:spcPct val="105000"/>
              </ns218:lnSpc>
              <ns218:defRPr sz="1150" b="0">
                <ns218:solidFill>
                  <ns218:srgbClr val="20262C"/>
                </ns218:solidFill>
                <ns218:latin typeface="Arial"/>
                <ns218:ea typeface="Arial"/>
                <ns218:cs typeface="Arial"/>
              </ns218:defRPr>
            </ns218:pPr>
            <ns218:r>
              <ns218:rPr sz="1150" b="0">
                <ns218:solidFill>
                  <ns218:srgbClr val="20262C"/>
                </ns218:solidFill>
                <ns218:latin typeface="Arial"/>
                <ns218:ea typeface="Arial"/>
                <ns218:cs typeface="Arial"/>
              </ns218:rPr>
              <ns218:t>Exclude headers</ns218:t>
            </ns218:r>
          </ns218:p>
          <ns219:p xmlns:ns219="http://schemas.openxmlformats.org/drawingml/2006/main">
            <ns219:pPr algn="l">
              <ns219:lnSpc>
                <ns219:spcPct val="105000"/>
              </ns219:lnSpc>
              <ns219:defRPr sz="1150" b="0">
                <ns219:solidFill>
                  <ns219:srgbClr val="20262C"/>
                </ns219:solidFill>
                <ns219:latin typeface="Arial"/>
                <ns219:ea typeface="Arial"/>
                <ns219:cs typeface="Arial"/>
              </ns219:defRPr>
            </ns219:pPr>
            <ns219:r>
              <ns219:rPr sz="1150" b="0">
                <ns219:solidFill>
                  <ns219:srgbClr val="20262C"/>
                </ns219:solidFill>
                <ns219:latin typeface="Arial"/>
                <ns219:ea typeface="Arial"/>
                <ns219:cs typeface="Arial"/>
              </ns219:rPr>
              <ns219:t>Retain body changes</ns219:t>
            </ns219:r>
          </ns219:p>
        </p:txBody>
      </p:sp>
      <p:cxnSp>
        <p:nvCxnSpPr>
          <p:cNvPr id="136" name="results.to.explanation"/>
          <p:cNvCxnSpPr/>
          <p:nvPr/>
        </p:nvCxnSpPr>
        <p:spPr>
          <ns220:xfrm xmlns:ns220="http://schemas.openxmlformats.org/drawingml/2006/main">
            <ns220:off x="7407000" y="3438000"/>
            <ns220:ext cx="1" cy="144000"/>
          </ns220:xfrm>
          <ns221:prstGeom xmlns:ns221="http://schemas.openxmlformats.org/drawingml/2006/main" prst="line">
            <ns221:avLst/>
          </ns221:prstGeom>
          <ns222:ln xmlns:ns222="http://schemas.openxmlformats.org/drawingml/2006/main" w="11430">
            <ns222:solidFill>
              <ns222:srgbClr val="005A9C"/>
            </ns222:solidFill>
            <ns222:tailEnd type="triangle" w="sm" len="sm"/>
          </ns222:ln>
        </p:spPr>
      </p:cxnSp>
      <p:cxnSp>
        <p:nvCxnSpPr>
          <p:cNvPr id="137" name="feedback.to.revision"/>
          <p:cNvCxnSpPr/>
          <p:nvPr/>
        </p:nvCxnSpPr>
        <p:spPr>
          <ns223:xfrm xmlns:ns223="http://schemas.openxmlformats.org/drawingml/2006/main" flipH="1">
            <ns223:off x="5886000" y="4041000"/>
            <ns223:ext cx="205200" cy="1"/>
          </ns223:xfrm>
          <ns224:prstGeom xmlns:ns224="http://schemas.openxmlformats.org/drawingml/2006/main" prst="line">
            <ns224:avLst/>
          </ns224:prstGeom>
          <ns225:ln xmlns:ns225="http://schemas.openxmlformats.org/drawingml/2006/main" w="11430">
            <ns225:solidFill>
              <ns225:srgbClr val="005A9C"/>
            </ns225:solidFill>
            <ns225:tailEnd type="triangle" w="sm" len="sm"/>
          </ns225:ln>
        </p:spPr>
      </p:cxnSp>
      <p:cxnSp>
        <p:nvCxnSpPr>
          <p:cNvPr id="138" name="revision.to.retest"/>
          <p:cNvCxnSpPr/>
          <p:nvPr/>
        </p:nvCxnSpPr>
        <p:spPr>
          <ns226:xfrm xmlns:ns226="http://schemas.openxmlformats.org/drawingml/2006/main" flipH="1">
            <ns226:off x="4078800" y="4041000"/>
            <ns226:ext cx="277200" cy="1"/>
          </ns226:xfrm>
          <ns227:prstGeom xmlns:ns227="http://schemas.openxmlformats.org/drawingml/2006/main" prst="line">
            <ns227:avLst/>
          </ns227:prstGeom>
          <ns228:ln xmlns:ns228="http://schemas.openxmlformats.org/drawingml/2006/main" w="11430">
            <ns228:solidFill>
              <ns228:srgbClr val="005A9C"/>
            </ns228:solidFill>
            <ns228:tailEnd type="triangle" w="sm" len="sm"/>
          </ns228:ln>
        </p:spPr>
      </p:cxnSp>
    </p:spTree>
    <p:extLst>
      <p:ext uri="{BB962C8B-B14F-4D97-AF65-F5344CB8AC3E}">
        <p14:creationId xmlns:p14="http://schemas.microsoft.com/office/powerpoint/2010/main" val="5656359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Other back-office applications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Back office / Other applications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China Merchants Fund; Ping An Fund; Maxwealth Fund; China Universal patent CN121958380A</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106"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107"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108"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materials</ns51:t>
            </ns51:r>
          </ns51:p>
        </p:txBody>
      </p:sp>
      <p:sp>
        <p:nvSpPr>
          <p:cNvPr id="109"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0"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11" name="map.task.review"/>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Content review</ns68:t>
            </ns68:r>
          </ns68:p>
        </p:txBody>
      </p:sp>
      <p:sp>
        <p:nvSpPr>
          <p:cNvPr id="112" name="map.task.risk"/>
          <p:cNvSpPr/>
          <p:nvPr/>
        </p:nvSpPr>
        <p:spPr>
          <ns69:xfrm xmlns:ns69="http://schemas.openxmlformats.org/drawingml/2006/main">
            <ns69:off x="554400" y="3045600"/>
            <ns69:ext cx="1562400" cy="1656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050" b="0">
                <ns75:solidFill>
                  <ns75:srgbClr val="65727D"/>
                </ns75:solidFill>
                <ns75:latin typeface="Arial"/>
                <ns75:ea typeface="Arial"/>
                <ns75:cs typeface="Arial"/>
              </ns75:defRPr>
            </ns75:pPr>
            <ns75:r>
              <ns75:rPr sz="1050" b="0">
                <ns75:solidFill>
                  <ns75:srgbClr val="65727D"/>
                </ns75:solidFill>
                <ns75:latin typeface="Arial"/>
                <ns75:ea typeface="Arial"/>
                <ns75:cs typeface="Arial"/>
              </ns75:rPr>
              <ns75:t>Risk analysis</ns75:t>
            </ns75:r>
          </ns75:p>
        </p:txBody>
      </p:sp>
      <p:sp>
        <p:nvSpPr>
          <p:cNvPr id="113" name="map.office.2"/>
          <p:cNvSpPr/>
          <p:nvPr/>
        </p:nvSpPr>
        <p:spPr>
          <ns76:xfrm xmlns:ns76="http://schemas.openxmlformats.org/drawingml/2006/main">
            <ns76:off x="486000" y="3391200"/>
            <ns76:ext cx="1692000" cy="1800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100" b="1">
                <ns82:solidFill>
                  <ns82:srgbClr val="005A9C"/>
                </ns82:solidFill>
                <ns82:latin typeface="Arial"/>
                <ns82:ea typeface="Arial"/>
                <ns82:cs typeface="Arial"/>
              </ns82:defRPr>
            </ns82:pPr>
            <ns82:r>
              <ns82:rPr sz="1100" b="1">
                <ns82:solidFill>
                  <ns82:srgbClr val="005A9C"/>
                </ns82:solidFill>
                <ns82:latin typeface="Arial"/>
                <ns82:ea typeface="Arial"/>
                <ns82:cs typeface="Arial"/>
              </ns82:rPr>
              <ns82:t>Back office</ns82:t>
            </ns82:r>
          </ns82:p>
        </p:txBody>
      </p:sp>
      <p:cxnSp>
        <p:nvCxnSpPr>
          <p:cNvPr id="114" name="map.office.rule.2"/>
          <p:cNvCxnSpPr/>
          <p:nvPr/>
        </p:nvCxnSpPr>
        <p:spPr>
          <ns83:xfrm xmlns:ns83="http://schemas.openxmlformats.org/drawingml/2006/main">
            <ns83:off x="457200" y="3610800"/>
            <ns83:ext cx="1742400" cy="1"/>
          </ns83:xfrm>
          <ns84:prstGeom xmlns:ns84="http://schemas.openxmlformats.org/drawingml/2006/main" prst="line">
            <ns84:avLst/>
          </ns84:prstGeom>
          <ns85:ln xmlns:ns85="http://schemas.openxmlformats.org/drawingml/2006/main" w="7620">
            <ns85:solidFill>
              <ns85:srgbClr val="005A9C"/>
            </ns85:solidFill>
          </ns85:ln>
        </p:spPr>
      </p:cxnSp>
      <p:sp>
        <p:nvSpPr>
          <p:cNvPr id="115" name="map.task.files"/>
          <p:cNvSpPr/>
          <p:nvPr/>
        </p:nvSpPr>
        <p:spPr>
          <ns86:xfrm xmlns:ns86="http://schemas.openxmlformats.org/drawingml/2006/main">
            <ns86:off x="554400" y="3690000"/>
            <ns86:ext cx="1562400" cy="165600"/>
          </ns86:xfrm>
          <ns87:prstGeom xmlns:ns87="http://schemas.openxmlformats.org/drawingml/2006/main" prst="rect">
            <ns87:avLst/>
          </ns87:prstGeom>
          <ns88:noFill xmlns:ns88="http://schemas.openxmlformats.org/drawingml/2006/main"/>
          <ns89:ln xmlns:ns89="http://schemas.openxmlformats.org/drawingml/2006/main" w="0">
            <ns89:noFill/>
          </ns89:ln>
        </p:spPr>
        <p:txBody>
          <ns90:bodyPr xmlns:ns90="http://schemas.openxmlformats.org/drawingml/2006/main" wrap="square" lIns="0" rIns="0" tIns="0" bIns="0" anchor="t">
            <ns90:noAutofit/>
          </ns90:bodyPr>
          <ns91:lstStyle xmlns:ns91="http://schemas.openxmlformats.org/drawingml/2006/main"/>
          <ns92:p xmlns:ns92="http://schemas.openxmlformats.org/drawingml/2006/main">
            <ns92:pPr algn="l">
              <ns92:lnSpc>
                <ns92:spcPct val="105000"/>
              </ns92:lnSpc>
              <ns92:defRPr sz="1050" b="0">
                <ns92:solidFill>
                  <ns92:srgbClr val="65727D"/>
                </ns92:solidFill>
                <ns92:latin typeface="Arial"/>
                <ns92:ea typeface="Arial"/>
                <ns92:cs typeface="Arial"/>
              </ns92:defRPr>
            </ns92:pPr>
            <ns92:r>
              <ns92:rPr sz="1050" b="0">
                <ns92:solidFill>
                  <ns92:srgbClr val="65727D"/>
                </ns92:solidFill>
                <ns92:latin typeface="Arial"/>
                <ns92:ea typeface="Arial"/>
                <ns92:cs typeface="Arial"/>
              </ns92:rPr>
              <ns92:t>Document processing</ns92:t>
            </ns92:r>
          </ns92:p>
        </p:txBody>
      </p:sp>
      <p:sp>
        <p:nvSpPr>
          <p:cNvPr id="116" name="map.task.dev"/>
          <p:cNvSpPr/>
          <p:nvPr/>
        </p:nvSpPr>
        <p:spPr>
          <ns93:xfrm xmlns:ns93="http://schemas.openxmlformats.org/drawingml/2006/main">
            <ns93:off x="554400" y="3888000"/>
            <ns93:ext cx="1562400" cy="165600"/>
          </ns93:xfrm>
          <ns94:prstGeom xmlns:ns94="http://schemas.openxmlformats.org/drawingml/2006/main" prst="rect">
            <ns94:avLst/>
          </ns94:prstGeom>
          <ns95:noFill xmlns:ns95="http://schemas.openxmlformats.org/drawingml/2006/main"/>
          <ns96:ln xmlns:ns96="http://schemas.openxmlformats.org/drawingml/2006/main" w="0">
            <ns96:noFill/>
          </ns96:ln>
        </p:spPr>
        <p:txBody>
          <ns97:bodyPr xmlns:ns97="http://schemas.openxmlformats.org/drawingml/2006/main" wrap="square" lIns="0" rIns="0" tIns="0" bIns="0" anchor="t">
            <ns97:noAutofit/>
          </ns97:bodyPr>
          <ns98:lstStyle xmlns:ns98="http://schemas.openxmlformats.org/drawingml/2006/main"/>
          <ns99:p xmlns:ns99="http://schemas.openxmlformats.org/drawingml/2006/main">
            <ns99:pPr algn="l">
              <ns99:lnSpc>
                <ns99:spcPct val="105000"/>
              </ns99:lnSpc>
              <ns99:defRPr sz="1050" b="0">
                <ns99:solidFill>
                  <ns99:srgbClr val="65727D"/>
                </ns99:solidFill>
                <ns99:latin typeface="Arial"/>
                <ns99:ea typeface="Arial"/>
                <ns99:cs typeface="Arial"/>
              </ns99:defRPr>
            </ns99:pPr>
            <ns99:r>
              <ns99:rPr sz="1050" b="0">
                <ns99:solidFill>
                  <ns99:srgbClr val="65727D"/>
                </ns99:solidFill>
                <ns99:latin typeface="Arial"/>
                <ns99:ea typeface="Arial"/>
                <ns99:cs typeface="Arial"/>
              </ns99:rPr>
              <ns99:t>Tool development</ns99:t>
            </ns99:r>
          </ns99:p>
        </p:txBody>
      </p:sp>
      <p:sp>
        <p:nvSpPr>
          <p:cNvPr id="117" name="map.legend"/>
          <p:cNvSpPr/>
          <p:nvPr/>
        </p:nvSpPr>
        <p:spPr>
          <ns100:xfrm xmlns:ns100="http://schemas.openxmlformats.org/drawingml/2006/main">
            <ns100:off x="486000" y="4363200"/>
            <ns100:ext cx="1684800" cy="162000"/>
          </ns100:xfrm>
          <ns101:prstGeom xmlns:ns101="http://schemas.openxmlformats.org/drawingml/2006/main" prst="rect">
            <ns101:avLst/>
          </ns101:prstGeom>
          <ns102:noFill xmlns:ns102="http://schemas.openxmlformats.org/drawingml/2006/main"/>
          <ns103:ln xmlns:ns103="http://schemas.openxmlformats.org/drawingml/2006/main" w="0">
            <ns103:noFill/>
          </ns103:ln>
        </p:spPr>
        <p:txBody>
          <ns104:bodyPr xmlns:ns104="http://schemas.openxmlformats.org/drawingml/2006/main" wrap="square" lIns="0" rIns="0" tIns="0" bIns="0" anchor="t">
            <ns104:noAutofit/>
          </ns104:bodyPr>
          <ns105:lstStyle xmlns:ns105="http://schemas.openxmlformats.org/drawingml/2006/main"/>
          <ns106:p xmlns:ns106="http://schemas.openxmlformats.org/drawingml/2006/main">
            <ns106:pPr algn="l">
              <ns106:lnSpc>
                <ns106:spcPct val="105000"/>
              </ns106:lnSpc>
              <ns106:defRPr sz="850" b="0">
                <ns106:solidFill>
                  <ns106:srgbClr val="65727D"/>
                </ns106:solidFill>
                <ns106:latin typeface="Arial"/>
                <ns106:ea typeface="Arial"/>
                <ns106:cs typeface="Arial"/>
              </ns106:defRPr>
            </ns106:pPr>
            <ns106:r>
              <ns106:rPr sz="850" b="0">
                <ns106:solidFill>
                  <ns106:srgbClr val="65727D"/>
                </ns106:solidFill>
                <ns106:latin typeface="Arial"/>
                <ns106:ea typeface="Arial"/>
                <ns106:cs typeface="Arial"/>
              </ns106:rPr>
              <ns106:t>Company workflow</ns106:t>
            </ns106:r>
          </ns106:p>
        </p:txBody>
      </p:sp>
      <p:sp>
        <p:nvSpPr>
          <p:cNvPr id="118" name="other.employee.attribution"/>
          <p:cNvSpPr/>
          <p:nvPr/>
        </p:nvSpPr>
        <p:spPr>
          <ns107:xfrm xmlns:ns107="http://schemas.openxmlformats.org/drawingml/2006/main">
            <ns107:off x="2422800" y="1440000"/>
            <ns107:ext cx="6264000" cy="198000"/>
          </ns107:xfrm>
          <ns108:prstGeom xmlns:ns108="http://schemas.openxmlformats.org/drawingml/2006/main" prst="rect">
            <ns108:avLst/>
          </ns108:prstGeom>
          <ns109:noFill xmlns:ns109="http://schemas.openxmlformats.org/drawingml/2006/main"/>
          <ns110:ln xmlns:ns110="http://schemas.openxmlformats.org/drawingml/2006/main" w="0">
            <ns110:noFill/>
          </ns110:ln>
        </p:spPr>
        <p:txBody>
          <ns111:bodyPr xmlns:ns111="http://schemas.openxmlformats.org/drawingml/2006/main" wrap="square" lIns="0" rIns="0" tIns="0" bIns="0" anchor="t">
            <ns111:noAutofit/>
          </ns111:bodyPr>
          <ns112:lstStyle xmlns:ns112="http://schemas.openxmlformats.org/drawingml/2006/main"/>
          <ns113:p xmlns:ns113="http://schemas.openxmlformats.org/drawingml/2006/main">
            <ns113:pPr algn="l">
              <ns113:lnSpc>
                <ns113:spcPct val="105000"/>
              </ns113:lnSpc>
              <ns113:defRPr sz="1150" b="0">
                <ns113:solidFill>
                  <ns113:srgbClr val="005A9C"/>
                </ns113:solidFill>
                <ns113:latin typeface="Arial"/>
                <ns113:ea typeface="Arial"/>
                <ns113:cs typeface="Arial"/>
              </ns113:defRPr>
            </ns113:pPr>
            <ns113:r>
              <ns113:rPr sz="1150" b="0">
                <ns113:solidFill>
                  <ns113:srgbClr val="005A9C"/>
                </ns113:solidFill>
                <ns113:latin typeface="Arial"/>
                <ns113:ea typeface="Arial"/>
                <ns113:cs typeface="Arial"/>
              </ns113:rPr>
              <ns113:t>Employee support: China Merchants Fund / Ping An Fund</ns113:t>
            </ns113:r>
          </ns113:p>
        </p:txBody>
      </p:sp>
      <p:sp>
        <p:nvSpPr>
          <p:cNvPr id="119" name="other.employee.0"/>
          <p:cNvSpPr/>
          <p:nvPr/>
        </p:nvSpPr>
        <p:spPr>
          <ns114:xfrm xmlns:ns114="http://schemas.openxmlformats.org/drawingml/2006/main">
            <ns114:off x="2422800" y="1699200"/>
            <ns114:ext cx="1620000" cy="594000"/>
          </ns114:xfrm>
          <ns115:prstGeom xmlns:ns115="http://schemas.openxmlformats.org/drawingml/2006/main" prst="roundRect">
            <ns115:avLst/>
          </ns115:prstGeom>
          <ns116:solidFill xmlns:ns116="http://schemas.openxmlformats.org/drawingml/2006/main">
            <ns116:srgbClr val="F3F7FA"/>
          </ns116:solidFill>
          <ns117:ln xmlns:ns117="http://schemas.openxmlformats.org/drawingml/2006/main" w="9525">
            <ns117:solidFill>
              <ns117:srgbClr val="65727D"/>
            </ns117:solidFill>
          </ns117:ln>
        </p:spPr>
        <p:txBody>
          <ns118:bodyPr xmlns:ns118="http://schemas.openxmlformats.org/drawingml/2006/main" wrap="square" lIns="61200" rIns="61200" tIns="61200" bIns="61200" anchor="ctr">
            <ns118:noAutofit/>
          </ns118:bodyPr>
          <ns119:lstStyle xmlns:ns119="http://schemas.openxmlformats.org/drawingml/2006/main"/>
          <ns120:p xmlns:ns120="http://schemas.openxmlformats.org/drawingml/2006/main">
            <ns120:pPr algn="l">
              <ns120:lnSpc>
                <ns120:spcPct val="105000"/>
              </ns120:lnSpc>
              <ns120:defRPr sz="1300" b="1">
                <ns120:solidFill>
                  <ns120:srgbClr val="65727D"/>
                </ns120:solidFill>
                <ns120:latin typeface="Arial"/>
                <ns120:ea typeface="Arial"/>
                <ns120:cs typeface="Arial"/>
              </ns120:defRPr>
            </ns120:pPr>
            <ns120:r>
              <ns120:rPr sz="1300" b="1">
                <ns120:solidFill>
                  <ns120:srgbClr val="65727D"/>
                </ns120:solidFill>
                <ns120:latin typeface="Arial"/>
                <ns120:ea typeface="Arial"/>
                <ns120:cs typeface="Arial"/>
              </ns120:rPr>
              <ns120:t>Employee asks</ns120:t>
            </ns120:r>
          </ns120:p>
          <ns121:p xmlns:ns121="http://schemas.openxmlformats.org/drawingml/2006/main">
            <ns121:pPr algn="l">
              <ns121:lnSpc>
                <ns121:spcPct val="105000"/>
              </ns121:lnSpc>
              <ns121:defRPr sz="1100" b="0">
                <ns121:solidFill>
                  <ns121:srgbClr val="20262C"/>
                </ns121:solidFill>
                <ns121:latin typeface="Arial"/>
                <ns121:ea typeface="Arial"/>
                <ns121:cs typeface="Arial"/>
              </ns121:defRPr>
            </ns121:pPr>
            <ns121:r>
              <ns121:rPr sz="1100" b="0">
                <ns121:solidFill>
                  <ns121:srgbClr val="20262C"/>
                </ns121:solidFill>
                <ns121:latin typeface="Arial"/>
                <ns121:ea typeface="Arial"/>
                <ns121:cs typeface="Arial"/>
              </ns121:rPr>
              <ns121:t>Policy / process</ns121:t>
            </ns121:r>
          </ns121:p>
        </p:txBody>
      </p:sp>
      <p:cxnSp>
        <p:nvCxnSpPr>
          <p:cNvPr id="120" name="other.employee.flow.0"/>
          <p:cNvCxnSpPr/>
          <p:nvPr/>
        </p:nvCxnSpPr>
        <p:spPr>
          <ns122:xfrm xmlns:ns122="http://schemas.openxmlformats.org/drawingml/2006/main">
            <ns122:off x="4078800" y="1996200"/>
            <ns122:ext cx="277200" cy="1"/>
          </ns122:xfrm>
          <ns123:prstGeom xmlns:ns123="http://schemas.openxmlformats.org/drawingml/2006/main" prst="line">
            <ns123:avLst/>
          </ns123:prstGeom>
          <ns124:ln xmlns:ns124="http://schemas.openxmlformats.org/drawingml/2006/main" w="11430">
            <ns124:solidFill>
              <ns124:srgbClr val="005A9C"/>
            </ns124:solidFill>
            <ns124:tailEnd type="triangle" w="sm" len="sm"/>
          </ns124:ln>
        </p:spPr>
      </p:cxnSp>
      <p:sp>
        <p:nvSpPr>
          <p:cNvPr id="121" name="other.employee.1"/>
          <p:cNvSpPr/>
          <p:nvPr/>
        </p:nvSpPr>
        <p:spPr>
          <ns125:xfrm xmlns:ns125="http://schemas.openxmlformats.org/drawingml/2006/main">
            <ns125:off x="4392000" y="1699200"/>
            <ns125:ext cx="1458000" cy="594000"/>
          </ns125:xfrm>
          <ns126:prstGeom xmlns:ns126="http://schemas.openxmlformats.org/drawingml/2006/main" prst="roundRect">
            <ns126:avLst/>
          </ns126:prstGeom>
          <ns127:solidFill xmlns:ns127="http://schemas.openxmlformats.org/drawingml/2006/main">
            <ns127:srgbClr val="EAF3FA"/>
          </ns127:solidFill>
          <ns128:ln xmlns:ns128="http://schemas.openxmlformats.org/drawingml/2006/main" w="9525">
            <ns128:solidFill>
              <ns128:srgbClr val="005A9C"/>
            </ns128:solidFill>
          </ns128:ln>
        </p:spPr>
        <p:txBody>
          <ns129:bodyPr xmlns:ns129="http://schemas.openxmlformats.org/drawingml/2006/main" wrap="square" lIns="61200" rIns="61200" tIns="61200" bIns="61200" anchor="ctr">
            <ns129:noAutofit/>
          </ns129:bodyPr>
          <ns130:lstStyle xmlns:ns130="http://schemas.openxmlformats.org/drawingml/2006/main"/>
          <ns131:p xmlns:ns131="http://schemas.openxmlformats.org/drawingml/2006/main">
            <ns131:pPr algn="l">
              <ns131:lnSpc>
                <ns131:spcPct val="105000"/>
              </ns131:lnSpc>
              <ns131:defRPr sz="1300" b="1">
                <ns131:solidFill>
                  <ns131:srgbClr val="005A9C"/>
                </ns131:solidFill>
                <ns131:latin typeface="Arial"/>
                <ns131:ea typeface="Arial"/>
                <ns131:cs typeface="Arial"/>
              </ns131:defRPr>
            </ns131:pPr>
            <ns131:r>
              <ns131:rPr sz="1300" b="1">
                <ns131:solidFill>
                  <ns131:srgbClr val="005A9C"/>
                </ns131:solidFill>
                <ns131:latin typeface="Arial"/>
                <ns131:ea typeface="Arial"/>
                <ns131:cs typeface="Arial"/>
              </ns131:rPr>
              <ns131:t>LLM</ns131:t>
            </ns131:r>
          </ns131:p>
          <ns132:p xmlns:ns132="http://schemas.openxmlformats.org/drawingml/2006/main">
            <ns132:pPr algn="l">
              <ns132:lnSpc>
                <ns132:spcPct val="105000"/>
              </ns132:lnSpc>
              <ns132:defRPr sz="1100" b="0">
                <ns132:solidFill>
                  <ns132:srgbClr val="20262C"/>
                </ns132:solidFill>
                <ns132:latin typeface="Arial"/>
                <ns132:ea typeface="Arial"/>
                <ns132:cs typeface="Arial"/>
              </ns132:defRPr>
            </ns132:pPr>
            <ns132:r>
              <ns132:rPr sz="1100" b="0">
                <ns132:solidFill>
                  <ns132:srgbClr val="20262C"/>
                </ns132:solidFill>
                <ns132:latin typeface="Arial"/>
                <ns132:ea typeface="Arial"/>
                <ns132:cs typeface="Arial"/>
              </ns132:rPr>
              <ns132:t>Retrieve / explain</ns132:t>
            </ns132:r>
          </ns132:p>
        </p:txBody>
      </p:sp>
      <p:cxnSp>
        <p:nvCxnSpPr>
          <p:cNvPr id="122" name="other.employee.flow.1"/>
          <p:cNvCxnSpPr/>
          <p:nvPr/>
        </p:nvCxnSpPr>
        <p:spPr>
          <ns133:xfrm xmlns:ns133="http://schemas.openxmlformats.org/drawingml/2006/main">
            <ns133:off x="5886000" y="1996200"/>
            <ns133:ext cx="205200" cy="1"/>
          </ns133:xfrm>
          <ns134:prstGeom xmlns:ns134="http://schemas.openxmlformats.org/drawingml/2006/main" prst="line">
            <ns134:avLst/>
          </ns134:prstGeom>
          <ns135:ln xmlns:ns135="http://schemas.openxmlformats.org/drawingml/2006/main" w="11430">
            <ns135:solidFill>
              <ns135:srgbClr val="005A9C"/>
            </ns135:solidFill>
            <ns135:tailEnd type="triangle" w="sm" len="sm"/>
          </ns135:ln>
        </p:spPr>
      </p:cxnSp>
      <p:sp>
        <p:nvSpPr>
          <p:cNvPr id="123" name="other.employee.2"/>
          <p:cNvSpPr/>
          <p:nvPr/>
        </p:nvSpPr>
        <p:spPr>
          <ns136:xfrm xmlns:ns136="http://schemas.openxmlformats.org/drawingml/2006/main">
            <ns136:off x="6127200" y="1699200"/>
            <ns136:ext cx="2559600" cy="594000"/>
          </ns136:xfrm>
          <ns137:prstGeom xmlns:ns137="http://schemas.openxmlformats.org/drawingml/2006/main" prst="rect">
            <ns137:avLst/>
          </ns137:prstGeom>
          <ns138:solidFill xmlns:ns138="http://schemas.openxmlformats.org/drawingml/2006/main">
            <ns138:srgbClr val="F3F7FA"/>
          </ns138:solidFill>
          <ns139:ln xmlns:ns139="http://schemas.openxmlformats.org/drawingml/2006/main" w="9525">
            <ns139:solidFill>
              <ns139:srgbClr val="65727D"/>
            </ns139:solidFill>
          </ns139:ln>
        </p:spPr>
        <p:txBody>
          <ns140:bodyPr xmlns:ns140="http://schemas.openxmlformats.org/drawingml/2006/main" wrap="square" lIns="61200" rIns="61200" tIns="61200" bIns="61200" anchor="ctr">
            <ns140:noAutofit/>
          </ns140:bodyPr>
          <ns141:lstStyle xmlns:ns141="http://schemas.openxmlformats.org/drawingml/2006/main"/>
          <ns142:p xmlns:ns142="http://schemas.openxmlformats.org/drawingml/2006/main">
            <ns142:pPr algn="l">
              <ns142:lnSpc>
                <ns142:spcPct val="105000"/>
              </ns142:lnSpc>
              <ns142:defRPr sz="1300" b="1">
                <ns142:solidFill>
                  <ns142:srgbClr val="65727D"/>
                </ns142:solidFill>
                <ns142:latin typeface="Arial"/>
                <ns142:ea typeface="Arial"/>
                <ns142:cs typeface="Arial"/>
              </ns142:defRPr>
            </ns142:pPr>
            <ns142:r>
              <ns142:rPr sz="1300" b="1">
                <ns142:solidFill>
                  <ns142:srgbClr val="65727D"/>
                </ns142:solidFill>
                <ns142:latin typeface="Arial"/>
                <ns142:ea typeface="Arial"/>
                <ns142:cs typeface="Arial"/>
              </ns142:rPr>
              <ns142:t>Employee guidance</ns142:t>
            </ns142:r>
          </ns142:p>
        </p:txBody>
      </p:sp>
      <p:sp>
        <p:nvSpPr>
          <p:cNvPr id="124" name="other.security.attribution"/>
          <p:cNvSpPr/>
          <p:nvPr/>
        </p:nvSpPr>
        <p:spPr>
          <ns143:xfrm xmlns:ns143="http://schemas.openxmlformats.org/drawingml/2006/main">
            <ns143:off x="2422800" y="2422800"/>
            <ns143:ext cx="6264000" cy="1980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5000"/>
              </ns149:lnSpc>
              <ns149:defRPr sz="1150" b="0">
                <ns149:solidFill>
                  <ns149:srgbClr val="005A9C"/>
                </ns149:solidFill>
                <ns149:latin typeface="Arial"/>
                <ns149:ea typeface="Arial"/>
                <ns149:cs typeface="Arial"/>
              </ns149:defRPr>
            </ns149:pPr>
            <ns149:r>
              <ns149:rPr sz="1150" b="0">
                <ns149:solidFill>
                  <ns149:srgbClr val="005A9C"/>
                </ns149:solidFill>
                <ns149:latin typeface="Arial"/>
                <ns149:ea typeface="Arial"/>
                <ns149:cs typeface="Arial"/>
              </ns149:rPr>
              <ns149:t>Email security: Maxwealth Fund</ns149:t>
            </ns149:r>
          </ns149:p>
        </p:txBody>
      </p:sp>
      <p:sp>
        <p:nvSpPr>
          <p:cNvPr id="125" name="other.security.0"/>
          <p:cNvSpPr/>
          <p:nvPr/>
        </p:nvSpPr>
        <p:spPr>
          <ns150:xfrm xmlns:ns150="http://schemas.openxmlformats.org/drawingml/2006/main">
            <ns150:off x="2422800" y="2682000"/>
            <ns150:ext cx="1332000" cy="594000"/>
          </ns150:xfrm>
          <ns151:prstGeom xmlns:ns151="http://schemas.openxmlformats.org/drawingml/2006/main" prst="rect">
            <ns151:avLst/>
          </ns151:prstGeom>
          <ns152:solidFill xmlns:ns152="http://schemas.openxmlformats.org/drawingml/2006/main">
            <ns152:srgbClr val="F3F7FA"/>
          </ns152:solidFill>
          <ns153:ln xmlns:ns153="http://schemas.openxmlformats.org/drawingml/2006/main" w="9525">
            <ns153:solidFill>
              <ns153:srgbClr val="65727D"/>
            </ns153:solidFill>
          </ns153:ln>
        </p:spPr>
        <p:txBody>
          <ns154:bodyPr xmlns:ns154="http://schemas.openxmlformats.org/drawingml/2006/main" wrap="square" lIns="61200" rIns="61200" tIns="61200" bIns="61200" anchor="ctr">
            <ns154:noAutofit/>
          </ns154:bodyPr>
          <ns155:lstStyle xmlns:ns155="http://schemas.openxmlformats.org/drawingml/2006/main"/>
          <ns156:p xmlns:ns156="http://schemas.openxmlformats.org/drawingml/2006/main">
            <ns156:pPr algn="l">
              <ns156:lnSpc>
                <ns156:spcPct val="105000"/>
              </ns156:lnSpc>
              <ns156:defRPr sz="1300" b="1">
                <ns156:solidFill>
                  <ns156:srgbClr val="65727D"/>
                </ns156:solidFill>
                <ns156:latin typeface="Arial"/>
                <ns156:ea typeface="Arial"/>
                <ns156:cs typeface="Arial"/>
              </ns156:defRPr>
            </ns156:pPr>
            <ns156:r>
              <ns156:rPr sz="1300" b="1">
                <ns156:solidFill>
                  <ns156:srgbClr val="65727D"/>
                </ns156:solidFill>
                <ns156:latin typeface="Arial"/>
                <ns156:ea typeface="Arial"/>
                <ns156:cs typeface="Arial"/>
              </ns156:rPr>
              <ns156:t>Email / links</ns156:t>
            </ns156:r>
          </ns156:p>
          <ns157:p xmlns:ns157="http://schemas.openxmlformats.org/drawingml/2006/main">
            <ns157:pPr algn="l">
              <ns157:lnSpc>
                <ns157:spcPct val="105000"/>
              </ns157:lnSpc>
              <ns157:defRPr sz="1050" b="0">
                <ns157:solidFill>
                  <ns157:srgbClr val="20262C"/>
                </ns157:solidFill>
                <ns157:latin typeface="Arial"/>
                <ns157:ea typeface="Arial"/>
                <ns157:cs typeface="Arial"/>
              </ns157:defRPr>
            </ns157:pPr>
            <ns157:r>
              <ns157:rPr sz="1050" b="0">
                <ns157:solidFill>
                  <ns157:srgbClr val="20262C"/>
                </ns157:solidFill>
                <ns157:latin typeface="Arial"/>
                <ns157:ea typeface="Arial"/>
                <ns157:cs typeface="Arial"/>
              </ns157:rPr>
              <ns157:t>Attachments</ns157:t>
            </ns157:r>
          </ns157:p>
        </p:txBody>
      </p:sp>
      <p:cxnSp>
        <p:nvCxnSpPr>
          <p:cNvPr id="126" name="other.security.flow.0"/>
          <p:cNvCxnSpPr/>
          <p:nvPr/>
        </p:nvCxnSpPr>
        <p:spPr>
          <ns158:xfrm xmlns:ns158="http://schemas.openxmlformats.org/drawingml/2006/main">
            <ns158:off x="3790800" y="2979000"/>
            <ns158:ext cx="223200" cy="1"/>
          </ns158:xfrm>
          <ns159:prstGeom xmlns:ns159="http://schemas.openxmlformats.org/drawingml/2006/main" prst="line">
            <ns159:avLst/>
          </ns159:prstGeom>
          <ns160:ln xmlns:ns160="http://schemas.openxmlformats.org/drawingml/2006/main" w="11430">
            <ns160:solidFill>
              <ns160:srgbClr val="005A9C"/>
            </ns160:solidFill>
            <ns160:tailEnd type="triangle" w="sm" len="sm"/>
          </ns160:ln>
        </p:spPr>
      </p:cxnSp>
      <p:sp>
        <p:nvSpPr>
          <p:cNvPr id="127" name="other.security.1"/>
          <p:cNvSpPr/>
          <p:nvPr/>
        </p:nvSpPr>
        <p:spPr>
          <ns161:xfrm xmlns:ns161="http://schemas.openxmlformats.org/drawingml/2006/main">
            <ns161:off x="4050000" y="2682000"/>
            <ns161:ext cx="1332000" cy="594000"/>
          </ns161:xfrm>
          <ns162:prstGeom xmlns:ns162="http://schemas.openxmlformats.org/drawingml/2006/main" prst="roundRect">
            <ns162:avLst/>
          </ns162:prstGeom>
          <ns163:solidFill xmlns:ns163="http://schemas.openxmlformats.org/drawingml/2006/main">
            <ns163:srgbClr val="EAF3FA"/>
          </ns163:solidFill>
          <ns164:ln xmlns:ns164="http://schemas.openxmlformats.org/drawingml/2006/main" w="9525">
            <ns164:solidFill>
              <ns164:srgbClr val="005A9C"/>
            </ns164:solidFill>
          </ns164:ln>
        </p:spPr>
        <p:txBody>
          <ns165:bodyPr xmlns:ns165="http://schemas.openxmlformats.org/drawingml/2006/main" wrap="square" lIns="61200" rIns="61200" tIns="61200" bIns="61200" anchor="ctr">
            <ns165:noAutofit/>
          </ns165:bodyPr>
          <ns166:lstStyle xmlns:ns166="http://schemas.openxmlformats.org/drawingml/2006/main"/>
          <ns167:p xmlns:ns167="http://schemas.openxmlformats.org/drawingml/2006/main">
            <ns167:pPr algn="l">
              <ns167:lnSpc>
                <ns167:spcPct val="105000"/>
              </ns167:lnSpc>
              <ns167:defRPr sz="1300" b="1">
                <ns167:solidFill>
                  <ns167:srgbClr val="005A9C"/>
                </ns167:solidFill>
                <ns167:latin typeface="Arial"/>
                <ns167:ea typeface="Arial"/>
                <ns167:cs typeface="Arial"/>
              </ns167:defRPr>
            </ns167:pPr>
            <ns167:r>
              <ns167:rPr sz="1300" b="1">
                <ns167:solidFill>
                  <ns167:srgbClr val="005A9C"/>
                </ns167:solidFill>
                <ns167:latin typeface="Arial"/>
                <ns167:ea typeface="Arial"/>
                <ns167:cs typeface="Arial"/>
              </ns167:rPr>
              <ns167:t>LLM</ns167:t>
            </ns167:r>
          </ns167:p>
          <ns168:p xmlns:ns168="http://schemas.openxmlformats.org/drawingml/2006/main">
            <ns168:pPr algn="l">
              <ns168:lnSpc>
                <ns168:spcPct val="105000"/>
              </ns168:lnSpc>
              <ns168:defRPr sz="1050" b="0">
                <ns168:solidFill>
                  <ns168:srgbClr val="20262C"/>
                </ns168:solidFill>
                <ns168:latin typeface="Arial"/>
                <ns168:ea typeface="Arial"/>
                <ns168:cs typeface="Arial"/>
              </ns168:defRPr>
            </ns168:pPr>
            <ns168:r>
              <ns168:rPr sz="1050" b="0">
                <ns168:solidFill>
                  <ns168:srgbClr val="20262C"/>
                </ns168:solidFill>
                <ns168:latin typeface="Arial"/>
                <ns168:ea typeface="Arial"/>
                <ns168:cs typeface="Arial"/>
              </ns168:rPr>
              <ns168:t>Context / intent</ns168:t>
            </ns168:r>
          </ns168:p>
        </p:txBody>
      </p:sp>
      <p:cxnSp>
        <p:nvCxnSpPr>
          <p:cNvPr id="128" name="other.security.flow.1"/>
          <p:cNvCxnSpPr/>
          <p:nvPr/>
        </p:nvCxnSpPr>
        <p:spPr>
          <ns169:xfrm xmlns:ns169="http://schemas.openxmlformats.org/drawingml/2006/main">
            <ns169:off x="5418000" y="2979000"/>
            <ns169:ext cx="223200" cy="1"/>
          </ns169:xfrm>
          <ns170:prstGeom xmlns:ns170="http://schemas.openxmlformats.org/drawingml/2006/main" prst="line">
            <ns170:avLst/>
          </ns170:prstGeom>
          <ns171:ln xmlns:ns171="http://schemas.openxmlformats.org/drawingml/2006/main" w="11430">
            <ns171:solidFill>
              <ns171:srgbClr val="005A9C"/>
            </ns171:solidFill>
            <ns171:tailEnd type="triangle" w="sm" len="sm"/>
          </ns171:ln>
        </p:spPr>
      </p:cxnSp>
      <p:sp>
        <p:nvSpPr>
          <p:cNvPr id="129" name="other.security.2"/>
          <p:cNvSpPr/>
          <p:nvPr/>
        </p:nvSpPr>
        <p:spPr>
          <ns172:xfrm xmlns:ns172="http://schemas.openxmlformats.org/drawingml/2006/main">
            <ns172:off x="5677200" y="2682000"/>
            <ns172:ext cx="1332000" cy="594000"/>
          </ns172:xfrm>
          <ns173:prstGeom xmlns:ns173="http://schemas.openxmlformats.org/drawingml/2006/main" prst="roundRect">
            <ns173:avLst/>
          </ns173:prstGeom>
          <ns174:solidFill xmlns:ns174="http://schemas.openxmlformats.org/drawingml/2006/main">
            <ns174:srgbClr val="F3F7FA"/>
          </ns174:solidFill>
          <ns175:ln xmlns:ns175="http://schemas.openxmlformats.org/drawingml/2006/main" w="9525">
            <ns175:solidFill>
              <ns175:srgbClr val="65727D"/>
            </ns175:solidFill>
          </ns175:ln>
        </p:spPr>
        <p:txBody>
          <ns176:bodyPr xmlns:ns176="http://schemas.openxmlformats.org/drawingml/2006/main" wrap="square" lIns="61200" rIns="61200" tIns="61200" bIns="61200" anchor="ctr">
            <ns176:noAutofit/>
          </ns176:bodyPr>
          <ns177:lstStyle xmlns:ns177="http://schemas.openxmlformats.org/drawingml/2006/main"/>
          <ns178:p xmlns:ns178="http://schemas.openxmlformats.org/drawingml/2006/main">
            <ns178:pPr algn="l">
              <ns178:lnSpc>
                <ns178:spcPct val="105000"/>
              </ns178:lnSpc>
              <ns178:defRPr sz="1300" b="1">
                <ns178:solidFill>
                  <ns178:srgbClr val="65727D"/>
                </ns178:solidFill>
                <ns178:latin typeface="Arial"/>
                <ns178:ea typeface="Arial"/>
                <ns178:cs typeface="Arial"/>
              </ns178:defRPr>
            </ns178:pPr>
            <ns178:r>
              <ns178:rPr sz="1300" b="1">
                <ns178:solidFill>
                  <ns178:srgbClr val="65727D"/>
                </ns178:solidFill>
                <ns178:latin typeface="Arial"/>
                <ns178:ea typeface="Arial"/>
                <ns178:cs typeface="Arial"/>
              </ns178:rPr>
              <ns178:t>Detection tools</ns178:t>
            </ns178:r>
          </ns178:p>
        </p:txBody>
      </p:sp>
      <p:cxnSp>
        <p:nvCxnSpPr>
          <p:cNvPr id="130" name="other.security.flow.2"/>
          <p:cNvCxnSpPr/>
          <p:nvPr/>
        </p:nvCxnSpPr>
        <p:spPr>
          <ns179:xfrm xmlns:ns179="http://schemas.openxmlformats.org/drawingml/2006/main">
            <ns179:off x="7045200" y="2979000"/>
            <ns179:ext cx="223200" cy="1"/>
          </ns179:xfrm>
          <ns180:prstGeom xmlns:ns180="http://schemas.openxmlformats.org/drawingml/2006/main" prst="line">
            <ns180:avLst/>
          </ns180:prstGeom>
          <ns181:ln xmlns:ns181="http://schemas.openxmlformats.org/drawingml/2006/main" w="11430">
            <ns181:solidFill>
              <ns181:srgbClr val="005A9C"/>
            </ns181:solidFill>
            <ns181:tailEnd type="triangle" w="sm" len="sm"/>
          </ns181:ln>
        </p:spPr>
      </p:cxnSp>
      <p:sp>
        <p:nvSpPr>
          <p:cNvPr id="131" name="other.security.3"/>
          <p:cNvSpPr/>
          <p:nvPr/>
        </p:nvSpPr>
        <p:spPr>
          <ns182:xfrm xmlns:ns182="http://schemas.openxmlformats.org/drawingml/2006/main">
            <ns182:off x="7304400" y="2682000"/>
            <ns182:ext cx="1382400" cy="594000"/>
          </ns182:xfrm>
          <ns183:prstGeom xmlns:ns183="http://schemas.openxmlformats.org/drawingml/2006/main" prst="rect">
            <ns183:avLst/>
          </ns183:prstGeom>
          <ns184:solidFill xmlns:ns184="http://schemas.openxmlformats.org/drawingml/2006/main">
            <ns184:srgbClr val="F3F7FA"/>
          </ns184:solidFill>
          <ns185:ln xmlns:ns185="http://schemas.openxmlformats.org/drawingml/2006/main" w="9525">
            <ns185:solidFill>
              <ns185:srgbClr val="65727D"/>
            </ns185:solidFill>
          </ns185:ln>
        </p:spPr>
        <p:txBody>
          <ns186:bodyPr xmlns:ns186="http://schemas.openxmlformats.org/drawingml/2006/main" wrap="square" lIns="61200" rIns="61200" tIns="61200" bIns="61200" anchor="ctr">
            <ns186:noAutofit/>
          </ns186:bodyPr>
          <ns187:lstStyle xmlns:ns187="http://schemas.openxmlformats.org/drawingml/2006/main"/>
          <ns188:p xmlns:ns188="http://schemas.openxmlformats.org/drawingml/2006/main">
            <ns188:pPr algn="l">
              <ns188:lnSpc>
                <ns188:spcPct val="105000"/>
              </ns188:lnSpc>
              <ns188:defRPr sz="1300" b="1">
                <ns188:solidFill>
                  <ns188:srgbClr val="65727D"/>
                </ns188:solidFill>
                <ns188:latin typeface="Arial"/>
                <ns188:ea typeface="Arial"/>
                <ns188:cs typeface="Arial"/>
              </ns188:defRPr>
            </ns188:pPr>
            <ns188:r>
              <ns188:rPr sz="1300" b="1">
                <ns188:solidFill>
                  <ns188:srgbClr val="65727D"/>
                </ns188:solidFill>
                <ns188:latin typeface="Arial"/>
                <ns188:ea typeface="Arial"/>
                <ns188:cs typeface="Arial"/>
              </ns188:rPr>
              <ns188:t>Security response</ns188:t>
            </ns188:r>
          </ns188:p>
        </p:txBody>
      </p:sp>
      <p:sp>
        <p:nvSpPr>
          <p:cNvPr id="132" name="other.analytics.attribution"/>
          <p:cNvSpPr/>
          <p:nvPr/>
        </p:nvSpPr>
        <p:spPr>
          <ns189:xfrm xmlns:ns189="http://schemas.openxmlformats.org/drawingml/2006/main">
            <ns189:off x="2422800" y="3409200"/>
            <ns189:ext cx="6264000" cy="198000"/>
          </ns189:xfrm>
          <ns190:prstGeom xmlns:ns190="http://schemas.openxmlformats.org/drawingml/2006/main" prst="rect">
            <ns190:avLst/>
          </ns190:prstGeom>
          <ns191:noFill xmlns:ns191="http://schemas.openxmlformats.org/drawingml/2006/main"/>
          <ns192:ln xmlns:ns192="http://schemas.openxmlformats.org/drawingml/2006/main" w="0">
            <ns192:noFill/>
          </ns192:ln>
        </p:spPr>
        <p:txBody>
          <ns193:bodyPr xmlns:ns193="http://schemas.openxmlformats.org/drawingml/2006/main" wrap="square" lIns="0" rIns="0" tIns="0" bIns="0" anchor="t">
            <ns193:noAutofit/>
          </ns193:bodyPr>
          <ns194:lstStyle xmlns:ns194="http://schemas.openxmlformats.org/drawingml/2006/main"/>
          <ns195:p xmlns:ns195="http://schemas.openxmlformats.org/drawingml/2006/main">
            <ns195:pPr algn="l">
              <ns195:lnSpc>
                <ns195:spcPct val="105000"/>
              </ns195:lnSpc>
              <ns195:defRPr sz="1150" b="0">
                <ns195:solidFill>
                  <ns195:srgbClr val="005A9C"/>
                </ns195:solidFill>
                <ns195:latin typeface="Arial"/>
                <ns195:ea typeface="Arial"/>
                <ns195:cs typeface="Arial"/>
              </ns195:defRPr>
            </ns195:pPr>
            <ns195:r>
              <ns195:rPr sz="1150" b="0">
                <ns195:solidFill>
                  <ns195:srgbClr val="005A9C"/>
                </ns195:solidFill>
                <ns195:latin typeface="Arial"/>
                <ns195:ea typeface="Arial"/>
                <ns195:cs typeface="Arial"/>
              </ns195:rPr>
              <ns195:t>Business analytics: China Universal patent proposal</ns195:t>
            </ns195:r>
          </ns195:p>
        </p:txBody>
      </p:sp>
      <p:sp>
        <p:nvSpPr>
          <p:cNvPr id="133" name="other.analytics.0"/>
          <p:cNvSpPr/>
          <p:nvPr/>
        </p:nvSpPr>
        <p:spPr>
          <ns196:xfrm xmlns:ns196="http://schemas.openxmlformats.org/drawingml/2006/main">
            <ns196:off x="2422800" y="3664800"/>
            <ns196:ext cx="1332000" cy="792000"/>
          </ns196:xfrm>
          <ns197:prstGeom xmlns:ns197="http://schemas.openxmlformats.org/drawingml/2006/main" prst="rect">
            <ns197:avLst/>
          </ns197:prstGeom>
          <ns198:solidFill xmlns:ns198="http://schemas.openxmlformats.org/drawingml/2006/main">
            <ns198:srgbClr val="F3F7FA"/>
          </ns198:solidFill>
          <ns199:ln xmlns:ns199="http://schemas.openxmlformats.org/drawingml/2006/main" w="9525">
            <ns199:solidFill>
              <ns199:srgbClr val="65727D"/>
            </ns199:solidFill>
          </ns199:ln>
        </p:spPr>
        <p:txBody>
          <ns200:bodyPr xmlns:ns200="http://schemas.openxmlformats.org/drawingml/2006/main" wrap="square" lIns="61200" rIns="61200" tIns="61200" bIns="61200" anchor="ctr">
            <ns200:noAutofit/>
          </ns200:bodyPr>
          <ns201:lstStyle xmlns:ns201="http://schemas.openxmlformats.org/drawingml/2006/main"/>
          <ns202:p xmlns:ns202="http://schemas.openxmlformats.org/drawingml/2006/main">
            <ns202:pPr algn="l">
              <ns202:lnSpc>
                <ns202:spcPct val="105000"/>
              </ns202:lnSpc>
              <ns202:defRPr sz="1300" b="1">
                <ns202:solidFill>
                  <ns202:srgbClr val="65727D"/>
                </ns202:solidFill>
                <ns202:latin typeface="Arial"/>
                <ns202:ea typeface="Arial"/>
                <ns202:cs typeface="Arial"/>
              </ns202:defRPr>
            </ns202:pPr>
            <ns202:r>
              <ns202:rPr sz="1300" b="1">
                <ns202:solidFill>
                  <ns202:srgbClr val="65727D"/>
                </ns202:solidFill>
                <ns202:latin typeface="Arial"/>
                <ns202:ea typeface="Arial"/>
                <ns202:cs typeface="Arial"/>
              </ns202:rPr>
              <ns202:t>Request</ns202:t>
            </ns202:r>
          </ns202:p>
          <ns203:p xmlns:ns203="http://schemas.openxmlformats.org/drawingml/2006/main">
            <ns203:pPr algn="l">
              <ns203:lnSpc>
                <ns203:spcPct val="105000"/>
              </ns203:lnSpc>
              <ns203:defRPr sz="1050" b="0">
                <ns203:solidFill>
                  <ns203:srgbClr val="20262C"/>
                </ns203:solidFill>
                <ns203:latin typeface="Arial"/>
                <ns203:ea typeface="Arial"/>
                <ns203:cs typeface="Arial"/>
              </ns203:defRPr>
            </ns203:pPr>
            <ns203:r>
              <ns203:rPr sz="1050" b="0">
                <ns203:solidFill>
                  <ns203:srgbClr val="20262C"/>
                </ns203:solidFill>
                <ns203:latin typeface="Arial"/>
                <ns203:ea typeface="Arial"/>
                <ns203:cs typeface="Arial"/>
              </ns203:rPr>
              <ns203:t>Fund / period / metric</ns203:t>
            </ns203:r>
          </ns203:p>
        </p:txBody>
      </p:sp>
      <p:cxnSp>
        <p:nvCxnSpPr>
          <p:cNvPr id="134" name="other.analytics.flow.0"/>
          <p:cNvCxnSpPr/>
          <p:nvPr/>
        </p:nvCxnSpPr>
        <p:spPr>
          <ns204:xfrm xmlns:ns204="http://schemas.openxmlformats.org/drawingml/2006/main">
            <ns204:off x="3790800" y="4060800"/>
            <ns204:ext cx="223200" cy="1"/>
          </ns204:xfrm>
          <ns205:prstGeom xmlns:ns205="http://schemas.openxmlformats.org/drawingml/2006/main" prst="line">
            <ns205:avLst/>
          </ns205:prstGeom>
          <ns206:ln xmlns:ns206="http://schemas.openxmlformats.org/drawingml/2006/main" w="11430">
            <ns206:solidFill>
              <ns206:srgbClr val="005A9C"/>
            </ns206:solidFill>
            <ns206:tailEnd type="triangle" w="sm" len="sm"/>
          </ns206:ln>
        </p:spPr>
      </p:cxnSp>
      <p:sp>
        <p:nvSpPr>
          <p:cNvPr id="135" name="other.analytics.1"/>
          <p:cNvSpPr/>
          <p:nvPr/>
        </p:nvSpPr>
        <p:spPr>
          <ns207:xfrm xmlns:ns207="http://schemas.openxmlformats.org/drawingml/2006/main">
            <ns207:off x="4050000" y="3664800"/>
            <ns207:ext cx="1332000" cy="792000"/>
          </ns207:xfrm>
          <ns208:prstGeom xmlns:ns208="http://schemas.openxmlformats.org/drawingml/2006/main" prst="roundRect">
            <ns208:avLst/>
          </ns208:prstGeom>
          <ns209:solidFill xmlns:ns209="http://schemas.openxmlformats.org/drawingml/2006/main">
            <ns209:srgbClr val="EAF3FA"/>
          </ns209:solidFill>
          <ns210:ln xmlns:ns210="http://schemas.openxmlformats.org/drawingml/2006/main" w="9525">
            <ns210:solidFill>
              <ns210:srgbClr val="005A9C"/>
            </ns210:solidFill>
          </ns210:ln>
        </p:spPr>
        <p:txBody>
          <ns211:bodyPr xmlns:ns211="http://schemas.openxmlformats.org/drawingml/2006/main" wrap="square" lIns="61200" rIns="61200" tIns="61200" bIns="61200" anchor="ctr">
            <ns211:noAutofit/>
          </ns211:bodyPr>
          <ns212:lstStyle xmlns:ns212="http://schemas.openxmlformats.org/drawingml/2006/main"/>
          <ns213:p xmlns:ns213="http://schemas.openxmlformats.org/drawingml/2006/main">
            <ns213:pPr algn="l">
              <ns213:lnSpc>
                <ns213:spcPct val="105000"/>
              </ns213:lnSpc>
              <ns213:defRPr sz="1300" b="1">
                <ns213:solidFill>
                  <ns213:srgbClr val="005A9C"/>
                </ns213:solidFill>
                <ns213:latin typeface="Arial"/>
                <ns213:ea typeface="Arial"/>
                <ns213:cs typeface="Arial"/>
              </ns213:defRPr>
            </ns213:pPr>
            <ns213:r>
              <ns213:rPr sz="1300" b="1">
                <ns213:solidFill>
                  <ns213:srgbClr val="005A9C"/>
                </ns213:solidFill>
                <ns213:latin typeface="Arial"/>
                <ns213:ea typeface="Arial"/>
                <ns213:cs typeface="Arial"/>
              </ns213:rPr>
              <ns213:t>LLM</ns213:t>
            </ns213:r>
          </ns213:p>
          <ns214:p xmlns:ns214="http://schemas.openxmlformats.org/drawingml/2006/main">
            <ns214:pPr algn="l">
              <ns214:lnSpc>
                <ns214:spcPct val="105000"/>
              </ns214:lnSpc>
              <ns214:defRPr sz="1050" b="0">
                <ns214:solidFill>
                  <ns214:srgbClr val="20262C"/>
                </ns214:solidFill>
                <ns214:latin typeface="Arial"/>
                <ns214:ea typeface="Arial"/>
                <ns214:cs typeface="Arial"/>
              </ns214:defRPr>
            </ns214:pPr>
            <ns214:r>
              <ns214:rPr sz="1050" b="0">
                <ns214:solidFill>
                  <ns214:srgbClr val="20262C"/>
                </ns214:solidFill>
                <ns214:latin typeface="Arial"/>
                <ns214:ea typeface="Arial"/>
                <ns214:cs typeface="Arial"/>
              </ns214:rPr>
              <ns214:t>Interpret question</ns214:t>
            </ns214:r>
          </ns214:p>
        </p:txBody>
      </p:sp>
      <p:cxnSp>
        <p:nvCxnSpPr>
          <p:cNvPr id="136" name="other.analytics.flow.1"/>
          <p:cNvCxnSpPr/>
          <p:nvPr/>
        </p:nvCxnSpPr>
        <p:spPr>
          <ns215:xfrm xmlns:ns215="http://schemas.openxmlformats.org/drawingml/2006/main">
            <ns215:off x="5418000" y="4060800"/>
            <ns215:ext cx="223200" cy="1"/>
          </ns215:xfrm>
          <ns216:prstGeom xmlns:ns216="http://schemas.openxmlformats.org/drawingml/2006/main" prst="line">
            <ns216:avLst/>
          </ns216:prstGeom>
          <ns217:ln xmlns:ns217="http://schemas.openxmlformats.org/drawingml/2006/main" w="11430">
            <ns217:solidFill>
              <ns217:srgbClr val="005A9C"/>
            </ns217:solidFill>
            <ns217:tailEnd type="triangle" w="sm" len="sm"/>
          </ns217:ln>
        </p:spPr>
      </p:cxnSp>
      <p:sp>
        <p:nvSpPr>
          <p:cNvPr id="137" name="other.analytics.2"/>
          <p:cNvSpPr/>
          <p:nvPr/>
        </p:nvSpPr>
        <p:spPr>
          <ns218:xfrm xmlns:ns218="http://schemas.openxmlformats.org/drawingml/2006/main">
            <ns218:off x="5677200" y="3664800"/>
            <ns218:ext cx="1332000" cy="792000"/>
          </ns218:xfrm>
          <ns219:prstGeom xmlns:ns219="http://schemas.openxmlformats.org/drawingml/2006/main" prst="roundRect">
            <ns219:avLst/>
          </ns219:prstGeom>
          <ns220:solidFill xmlns:ns220="http://schemas.openxmlformats.org/drawingml/2006/main">
            <ns220:srgbClr val="F3F7FA"/>
          </ns220:solidFill>
          <ns221:ln xmlns:ns221="http://schemas.openxmlformats.org/drawingml/2006/main" w="9525">
            <ns221:solidFill>
              <ns221:srgbClr val="65727D"/>
            </ns221:solidFill>
          </ns221:ln>
        </p:spPr>
        <p:txBody>
          <ns222:bodyPr xmlns:ns222="http://schemas.openxmlformats.org/drawingml/2006/main" wrap="square" lIns="61200" rIns="61200" tIns="61200" bIns="61200" anchor="ctr">
            <ns222:noAutofit/>
          </ns222:bodyPr>
          <ns223:lstStyle xmlns:ns223="http://schemas.openxmlformats.org/drawingml/2006/main"/>
          <ns224:p xmlns:ns224="http://schemas.openxmlformats.org/drawingml/2006/main">
            <ns224:pPr algn="l">
              <ns224:lnSpc>
                <ns224:spcPct val="105000"/>
              </ns224:lnSpc>
              <ns224:defRPr sz="1300" b="1">
                <ns224:solidFill>
                  <ns224:srgbClr val="65727D"/>
                </ns224:solidFill>
                <ns224:latin typeface="Arial"/>
                <ns224:ea typeface="Arial"/>
                <ns224:cs typeface="Arial"/>
              </ns224:defRPr>
            </ns224:pPr>
            <ns224:r>
              <ns224:rPr sz="1300" b="1">
                <ns224:solidFill>
                  <ns224:srgbClr val="65727D"/>
                </ns224:solidFill>
                <ns224:latin typeface="Arial"/>
                <ns224:ea typeface="Arial"/>
                <ns224:cs typeface="Arial"/>
              </ns224:rPr>
              <ns224:t>Algorithms</ns224:t>
            </ns224:r>
          </ns224:p>
          <ns225:p xmlns:ns225="http://schemas.openxmlformats.org/drawingml/2006/main">
            <ns225:pPr algn="l">
              <ns225:lnSpc>
                <ns225:spcPct val="105000"/>
              </ns225:lnSpc>
              <ns225:defRPr sz="1050" b="0">
                <ns225:solidFill>
                  <ns225:srgbClr val="20262C"/>
                </ns225:solidFill>
                <ns225:latin typeface="Arial"/>
                <ns225:ea typeface="Arial"/>
                <ns225:cs typeface="Arial"/>
              </ns225:defRPr>
            </ns225:pPr>
            <ns225:r>
              <ns225:rPr sz="1050" b="0">
                <ns225:solidFill>
                  <ns225:srgbClr val="20262C"/>
                </ns225:solidFill>
                <ns225:latin typeface="Arial"/>
                <ns225:ea typeface="Arial"/>
                <ns225:cs typeface="Arial"/>
              </ns225:rPr>
              <ns225:t>Quantify contributions</ns225:t>
            </ns225:r>
          </ns225:p>
        </p:txBody>
      </p:sp>
      <p:cxnSp>
        <p:nvCxnSpPr>
          <p:cNvPr id="138" name="other.analytics.flow.2"/>
          <p:cNvCxnSpPr/>
          <p:nvPr/>
        </p:nvCxnSpPr>
        <p:spPr>
          <ns226:xfrm xmlns:ns226="http://schemas.openxmlformats.org/drawingml/2006/main">
            <ns226:off x="7045200" y="4060800"/>
            <ns226:ext cx="223200" cy="1"/>
          </ns226:xfrm>
          <ns227:prstGeom xmlns:ns227="http://schemas.openxmlformats.org/drawingml/2006/main" prst="line">
            <ns227:avLst/>
          </ns227:prstGeom>
          <ns228:ln xmlns:ns228="http://schemas.openxmlformats.org/drawingml/2006/main" w="11430">
            <ns228:solidFill>
              <ns228:srgbClr val="005A9C"/>
            </ns228:solidFill>
            <ns228:tailEnd type="triangle" w="sm" len="sm"/>
          </ns228:ln>
        </p:spPr>
      </p:cxnSp>
      <p:sp>
        <p:nvSpPr>
          <p:cNvPr id="139" name="other.analytics.3"/>
          <p:cNvSpPr/>
          <p:nvPr/>
        </p:nvSpPr>
        <p:spPr>
          <ns229:xfrm xmlns:ns229="http://schemas.openxmlformats.org/drawingml/2006/main">
            <ns229:off x="7304400" y="3664800"/>
            <ns229:ext cx="1382400" cy="792000"/>
          </ns229:xfrm>
          <ns230:prstGeom xmlns:ns230="http://schemas.openxmlformats.org/drawingml/2006/main" prst="roundRect">
            <ns230:avLst/>
          </ns230:prstGeom>
          <ns231:solidFill xmlns:ns231="http://schemas.openxmlformats.org/drawingml/2006/main">
            <ns231:srgbClr val="EAF3FA"/>
          </ns231:solidFill>
          <ns232:ln xmlns:ns232="http://schemas.openxmlformats.org/drawingml/2006/main" w="9525">
            <ns232:solidFill>
              <ns232:srgbClr val="005A9C"/>
            </ns232:solidFill>
          </ns232:ln>
        </p:spPr>
        <p:txBody>
          <ns233:bodyPr xmlns:ns233="http://schemas.openxmlformats.org/drawingml/2006/main" wrap="square" lIns="61200" rIns="61200" tIns="61200" bIns="61200" anchor="ctr">
            <ns233:noAutofit/>
          </ns233:bodyPr>
          <ns234:lstStyle xmlns:ns234="http://schemas.openxmlformats.org/drawingml/2006/main"/>
          <ns235:p xmlns:ns235="http://schemas.openxmlformats.org/drawingml/2006/main">
            <ns235:pPr algn="l">
              <ns235:lnSpc>
                <ns235:spcPct val="105000"/>
              </ns235:lnSpc>
              <ns235:defRPr sz="1300" b="1">
                <ns235:solidFill>
                  <ns235:srgbClr val="005A9C"/>
                </ns235:solidFill>
                <ns235:latin typeface="Arial"/>
                <ns235:ea typeface="Arial"/>
                <ns235:cs typeface="Arial"/>
              </ns235:defRPr>
            </ns235:pPr>
            <ns235:r>
              <ns235:rPr sz="1300" b="1">
                <ns235:solidFill>
                  <ns235:srgbClr val="005A9C"/>
                </ns235:solidFill>
                <ns235:latin typeface="Arial"/>
                <ns235:ea typeface="Arial"/>
                <ns235:cs typeface="Arial"/>
              </ns235:rPr>
              <ns235:t>LLM summary</ns235:t>
            </ns235:r>
          </ns235:p>
          <ns236:p xmlns:ns236="http://schemas.openxmlformats.org/drawingml/2006/main">
            <ns236:pPr algn="l">
              <ns236:lnSpc>
                <ns236:spcPct val="105000"/>
              </ns236:lnSpc>
              <ns236:defRPr sz="1050" b="0">
                <ns236:solidFill>
                  <ns236:srgbClr val="20262C"/>
                </ns236:solidFill>
                <ns236:latin typeface="Arial"/>
                <ns236:ea typeface="Arial"/>
                <ns236:cs typeface="Arial"/>
              </ns236:defRPr>
            </ns236:pPr>
            <ns236:r>
              <ns236:rPr sz="1050" b="0">
                <ns236:solidFill>
                  <ns236:srgbClr val="20262C"/>
                </ns236:solidFill>
                <ns236:latin typeface="Arial"/>
                <ns236:ea typeface="Arial"/>
                <ns236:cs typeface="Arial"/>
              </ns236:rPr>
              <ns236:t>Analytical text</ns236:t>
            </ns236:r>
          </ns236:p>
        </p:txBody>
      </p:sp>
    </p:spTree>
    <p:extLst>
      <p:ext uri="{BB962C8B-B14F-4D97-AF65-F5344CB8AC3E}">
        <p14:creationId xmlns:p14="http://schemas.microsoft.com/office/powerpoint/2010/main" val="160839705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Seven proposed applications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Proposed applications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Tianhong; Southern; Penghua; China Universal; ICBCUBS; E Fund</ns20:t>
            </ns20:r>
          </ns20:p>
        </p:txBody>
      </p:sp>
      <p:sp>
        <p:nvSpPr>
          <p:cNvPr id="104" name="firm.root"/>
          <p:cNvSpPr/>
          <p:nvPr/>
        </p:nvSpPr>
        <p:spPr>
          <ns21:xfrm xmlns:ns21="http://schemas.openxmlformats.org/drawingml/2006/main">
            <ns21:off x="3294000" y="1454400"/>
            <ns21:ext cx="2556000" cy="342000"/>
          </ns21:xfrm>
          <ns22:prstGeom xmlns:ns22="http://schemas.openxmlformats.org/drawingml/2006/main" prst="roundRect">
            <ns22:avLst/>
          </ns22:prstGeom>
          <ns23:solidFill xmlns:ns23="http://schemas.openxmlformats.org/drawingml/2006/main">
            <ns23:srgbClr val="EAF3FA"/>
          </ns23:solidFill>
          <ns24:ln xmlns:ns24="http://schemas.openxmlformats.org/drawingml/2006/main" w="9525">
            <ns24:solidFill>
              <ns24:srgbClr val="005A9C"/>
            </ns24:solidFill>
          </ns24:ln>
        </p:spPr>
        <p:txBody>
          <ns25:bodyPr xmlns:ns25="http://schemas.openxmlformats.org/drawingml/2006/main" wrap="square" lIns="61200" rIns="61200" tIns="61200" bIns="61200" anchor="ctr">
            <ns25:noAutofit/>
          </ns25:bodyPr>
          <ns26:lstStyle xmlns:ns26="http://schemas.openxmlformats.org/drawingml/2006/main"/>
          <ns27:p xmlns:ns27="http://schemas.openxmlformats.org/drawingml/2006/main">
            <ns27:pPr algn="l">
              <ns27:lnSpc>
                <ns27:spcPct val="105000"/>
              </ns27:lnSpc>
              <ns27:defRPr sz="1300" b="1">
                <ns27:solidFill>
                  <ns27:srgbClr val="005A9C"/>
                </ns27:solidFill>
                <ns27:latin typeface="Arial"/>
                <ns27:ea typeface="Arial"/>
                <ns27:cs typeface="Arial"/>
              </ns27:defRPr>
            </ns27:pPr>
            <ns27:r>
              <ns27:rPr sz="1300" b="1">
                <ns27:solidFill>
                  <ns27:srgbClr val="005A9C"/>
                </ns27:solidFill>
                <ns27:latin typeface="Arial"/>
                <ns27:ea typeface="Arial"/>
                <ns27:cs typeface="Arial"/>
              </ns27:rPr>
              <ns27:t>Company applications</ns27:t>
            </ns27:r>
          </ns27:p>
        </p:txBody>
      </p:sp>
      <p:cxnSp>
        <p:nvCxnSpPr>
          <p:cNvPr id="105" name="firm.trunk"/>
          <p:cNvCxnSpPr/>
          <p:nvPr/>
        </p:nvCxnSpPr>
        <p:spPr>
          <ns28:xfrm xmlns:ns28="http://schemas.openxmlformats.org/drawingml/2006/main">
            <ns28:off x="4572000" y="1800000"/>
            <ns28:ext cx="1" cy="136800"/>
          </ns28:xfrm>
          <ns29:prstGeom xmlns:ns29="http://schemas.openxmlformats.org/drawingml/2006/main" prst="line">
            <ns29:avLst/>
          </ns29:prstGeom>
          <ns30:ln xmlns:ns30="http://schemas.openxmlformats.org/drawingml/2006/main" w="11430">
            <ns30:solidFill>
              <ns30:srgbClr val="005A9C"/>
            </ns30:solidFill>
          </ns30:ln>
        </p:spPr>
      </p:cxnSp>
      <p:cxnSp>
        <p:nvCxnSpPr>
          <p:cNvPr id="106" name="firm.branch"/>
          <p:cNvCxnSpPr/>
          <p:nvPr/>
        </p:nvCxnSpPr>
        <p:spPr>
          <ns31:xfrm xmlns:ns31="http://schemas.openxmlformats.org/drawingml/2006/main">
            <ns31:off x="1737000" y="1936800"/>
            <ns31:ext cx="5670000" cy="1"/>
          </ns31:xfrm>
          <ns32:prstGeom xmlns:ns32="http://schemas.openxmlformats.org/drawingml/2006/main" prst="line">
            <ns32:avLst/>
          </ns32:prstGeom>
          <ns33:ln xmlns:ns33="http://schemas.openxmlformats.org/drawingml/2006/main" w="11430">
            <ns33:solidFill>
              <ns33:srgbClr val="005A9C"/>
            </ns33:solidFill>
          </ns33:ln>
        </p:spPr>
      </p:cxnSp>
      <p:cxnSp>
        <p:nvCxnSpPr>
          <p:cNvPr id="107" name="firm.office.branch.0"/>
          <p:cNvCxnSpPr/>
          <p:nvPr/>
        </p:nvCxnSpPr>
        <p:spPr>
          <ns34:xfrm xmlns:ns34="http://schemas.openxmlformats.org/drawingml/2006/main">
            <ns34:off x="1737000" y="1936800"/>
            <ns34:ext cx="1" cy="93600"/>
          </ns34:xfrm>
          <ns35:prstGeom xmlns:ns35="http://schemas.openxmlformats.org/drawingml/2006/main" prst="line">
            <ns35:avLst/>
          </ns35:prstGeom>
          <ns36:ln xmlns:ns36="http://schemas.openxmlformats.org/drawingml/2006/main" w="11430">
            <ns36:solidFill>
              <ns36:srgbClr val="005A9C"/>
            </ns36:solidFill>
          </ns36:ln>
        </p:spPr>
      </p:cxnSp>
      <p:sp>
        <p:nvSpPr>
          <p:cNvPr id="108" name="firm.office.0"/>
          <p:cNvSpPr/>
          <p:nvPr/>
        </p:nvSpPr>
        <p:spPr>
          <ns37:xfrm xmlns:ns37="http://schemas.openxmlformats.org/drawingml/2006/main">
            <ns37:off x="457200" y="2059200"/>
            <ns37:ext cx="2559600" cy="342000"/>
          </ns37:xfrm>
          <ns38:prstGeom xmlns:ns38="http://schemas.openxmlformats.org/drawingml/2006/main" prst="roundRect">
            <ns38:avLst/>
          </ns38:prstGeom>
          <ns39:solidFill xmlns:ns39="http://schemas.openxmlformats.org/drawingml/2006/main">
            <ns39:srgbClr val="EAF3FA"/>
          </ns39:solidFill>
          <ns40:ln xmlns:ns40="http://schemas.openxmlformats.org/drawingml/2006/main" w="9525">
            <ns40:solidFill>
              <ns40:srgbClr val="005A9C"/>
            </ns40:solidFill>
          </ns40:ln>
        </p:spPr>
        <p:txBody>
          <ns41:bodyPr xmlns:ns41="http://schemas.openxmlformats.org/drawingml/2006/main" wrap="square" lIns="61200" rIns="61200" tIns="61200" bIns="61200" anchor="ctr">
            <ns41:noAutofit/>
          </ns41:bodyPr>
          <ns42:lstStyle xmlns:ns42="http://schemas.openxmlformats.org/drawingml/2006/main"/>
          <ns43:p xmlns:ns43="http://schemas.openxmlformats.org/drawingml/2006/main">
            <ns43:pPr algn="l">
              <ns43:lnSpc>
                <ns43:spcPct val="105000"/>
              </ns43:lnSpc>
              <ns43:defRPr sz="1300" b="1">
                <ns43:solidFill>
                  <ns43:srgbClr val="005A9C"/>
                </ns43:solidFill>
                <ns43:latin typeface="Arial"/>
                <ns43:ea typeface="Arial"/>
                <ns43:cs typeface="Arial"/>
              </ns43:defRPr>
            </ns43:pPr>
            <ns43:r>
              <ns43:rPr sz="1300" b="1">
                <ns43:solidFill>
                  <ns43:srgbClr val="005A9C"/>
                </ns43:solidFill>
                <ns43:latin typeface="Arial"/>
                <ns43:ea typeface="Arial"/>
                <ns43:cs typeface="Arial"/>
              </ns43:rPr>
              <ns43:t>Front office</ns43:t>
            </ns43:r>
          </ns43:p>
        </p:txBody>
      </p:sp>
      <p:sp>
        <p:nvSpPr>
          <p:cNvPr id="109" name="firm.output.0.0"/>
          <p:cNvSpPr/>
          <p:nvPr/>
        </p:nvSpPr>
        <p:spPr>
          <ns44:xfrm xmlns:ns44="http://schemas.openxmlformats.org/drawingml/2006/main">
            <ns44:off x="457200" y="2512800"/>
            <ns44:ext cx="2559600" cy="432000"/>
          </ns44:xfrm>
          <ns45:prstGeom xmlns:ns45="http://schemas.openxmlformats.org/drawingml/2006/main" prst="rect">
            <ns45:avLst/>
          </ns45:prstGeom>
          <ns46:solidFill xmlns:ns46="http://schemas.openxmlformats.org/drawingml/2006/main">
            <ns46:srgbClr val="F3F7FA"/>
          </ns46:solidFill>
          <ns47:ln xmlns:ns47="http://schemas.openxmlformats.org/drawingml/2006/main" w="9525">
            <ns47:solidFill>
              <ns47:srgbClr val="65727D"/>
            </ns47:solidFill>
          </ns47:ln>
        </p:spPr>
        <p:txBody>
          <ns48:bodyPr xmlns:ns48="http://schemas.openxmlformats.org/drawingml/2006/main" wrap="square" lIns="61200" rIns="61200" tIns="61200" bIns="61200" anchor="ctr">
            <ns48:noAutofit/>
          </ns48:bodyPr>
          <ns49:lstStyle xmlns:ns49="http://schemas.openxmlformats.org/drawingml/2006/main"/>
          <ns50:p xmlns:ns50="http://schemas.openxmlformats.org/drawingml/2006/main">
            <ns50:pPr algn="l">
              <ns50:lnSpc>
                <ns50:spcPct val="105000"/>
              </ns50:lnSpc>
              <ns50:defRPr sz="1300" b="1">
                <ns50:solidFill>
                  <ns50:srgbClr val="65727D"/>
                </ns50:solidFill>
                <ns50:latin typeface="Arial"/>
                <ns50:ea typeface="Arial"/>
                <ns50:cs typeface="Arial"/>
              </ns50:defRPr>
            </ns50:pPr>
            <ns50:r>
              <ns50:rPr sz="1300" b="1">
                <ns50:solidFill>
                  <ns50:srgbClr val="65727D"/>
                </ns50:solidFill>
                <ns50:latin typeface="Arial"/>
                <ns50:ea typeface="Arial"/>
                <ns50:cs typeface="Arial"/>
              </ns50:rPr>
              <ns50:t>Research</ns50:t>
            </ns50:r>
          </ns50:p>
          <ns51:p xmlns:ns51="http://schemas.openxmlformats.org/drawingml/2006/main">
            <ns51:pPr algn="l">
              <ns51:lnSpc>
                <ns51:spcPct val="105000"/>
              </ns51:lnSpc>
              <ns51:defRPr sz="1050" b="0">
                <ns51:solidFill>
                  <ns51:srgbClr val="20262C"/>
                </ns51:solidFill>
                <ns51:latin typeface="Arial"/>
                <ns51:ea typeface="Arial"/>
                <ns51:cs typeface="Arial"/>
              </ns51:defRPr>
            </ns51:pPr>
            <ns51:r>
              <ns51:rPr sz="1050" b="0">
                <ns51:solidFill>
                  <ns51:srgbClr val="20262C"/>
                </ns51:solidFill>
                <ns51:latin typeface="Arial"/>
                <ns51:ea typeface="Arial"/>
                <ns51:cs typeface="Arial"/>
              </ns51:rPr>
              <ns51:t>Analyst: summary with sources</ns51:t>
            </ns51:r>
          </ns51:p>
        </p:txBody>
      </p:sp>
      <p:sp>
        <p:nvSpPr>
          <p:cNvPr id="110" name="firm.output.0.1"/>
          <p:cNvSpPr/>
          <p:nvPr/>
        </p:nvSpPr>
        <p:spPr>
          <ns52:xfrm xmlns:ns52="http://schemas.openxmlformats.org/drawingml/2006/main">
            <ns52:off x="457200" y="3009600"/>
            <ns52:ext cx="2559600" cy="432000"/>
          </ns52:xfrm>
          <ns53:prstGeom xmlns:ns53="http://schemas.openxmlformats.org/drawingml/2006/main" prst="rect">
            <ns53:avLst/>
          </ns53:prstGeom>
          <ns54:solidFill xmlns:ns54="http://schemas.openxmlformats.org/drawingml/2006/main">
            <ns54:srgbClr val="F3F7FA"/>
          </ns54:solidFill>
          <ns55:ln xmlns:ns55="http://schemas.openxmlformats.org/drawingml/2006/main" w="9525">
            <ns55:solidFill>
              <ns55:srgbClr val="65727D"/>
            </ns55:solidFill>
          </ns55:ln>
        </p:spPr>
        <p:txBody>
          <ns56:bodyPr xmlns:ns56="http://schemas.openxmlformats.org/drawingml/2006/main" wrap="square" lIns="61200" rIns="61200" tIns="61200" bIns="61200" anchor="ctr">
            <ns56:noAutofit/>
          </ns56:bodyPr>
          <ns57:lstStyle xmlns:ns57="http://schemas.openxmlformats.org/drawingml/2006/main"/>
          <ns58:p xmlns:ns58="http://schemas.openxmlformats.org/drawingml/2006/main">
            <ns58:pPr algn="l">
              <ns58:lnSpc>
                <ns58:spcPct val="105000"/>
              </ns58:lnSpc>
              <ns58:defRPr sz="1300" b="1">
                <ns58:solidFill>
                  <ns58:srgbClr val="65727D"/>
                </ns58:solidFill>
                <ns58:latin typeface="Arial"/>
                <ns58:ea typeface="Arial"/>
                <ns58:cs typeface="Arial"/>
              </ns58:defRPr>
            </ns58:pPr>
            <ns58:r>
              <ns58:rPr sz="1300" b="1">
                <ns58:solidFill>
                  <ns58:srgbClr val="65727D"/>
                </ns58:solidFill>
                <ns58:latin typeface="Arial"/>
                <ns58:ea typeface="Arial"/>
                <ns58:cs typeface="Arial"/>
              </ns58:rPr>
              <ns58:t>Trading support</ns58:t>
            </ns58:r>
          </ns58:p>
          <ns59:p xmlns:ns59="http://schemas.openxmlformats.org/drawingml/2006/main">
            <ns59:pPr algn="l">
              <ns59:lnSpc>
                <ns59:spcPct val="105000"/>
              </ns59:lnSpc>
              <ns59:defRPr sz="1050" b="0">
                <ns59:solidFill>
                  <ns59:srgbClr val="20262C"/>
                </ns59:solidFill>
                <ns59:latin typeface="Arial"/>
                <ns59:ea typeface="Arial"/>
                <ns59:cs typeface="Arial"/>
              </ns59:defRPr>
            </ns59:pPr>
            <ns59:r>
              <ns59:rPr sz="1050" b="0">
                <ns59:solidFill>
                  <ns59:srgbClr val="20262C"/>
                </ns59:solidFill>
                <ns59:latin typeface="Arial"/>
                <ns59:ea typeface="Arial"/>
                <ns59:cs typeface="Arial"/>
              </ns59:rPr>
              <ns59:t>Trader: bond and quote summary</ns59:t>
            </ns59:r>
          </ns59:p>
        </p:txBody>
      </p:sp>
      <p:sp>
        <p:nvSpPr>
          <p:cNvPr id="111" name="firm.output.0.2"/>
          <p:cNvSpPr/>
          <p:nvPr/>
        </p:nvSpPr>
        <p:spPr>
          <ns60:xfrm xmlns:ns60="http://schemas.openxmlformats.org/drawingml/2006/main">
            <ns60:off x="457200" y="3506400"/>
            <ns60:ext cx="2559600" cy="432000"/>
          </ns60:xfrm>
          <ns61:prstGeom xmlns:ns61="http://schemas.openxmlformats.org/drawingml/2006/main" prst="rect">
            <ns61:avLst/>
          </ns61:prstGeom>
          <ns62:solidFill xmlns:ns62="http://schemas.openxmlformats.org/drawingml/2006/main">
            <ns62:srgbClr val="F3F7FA"/>
          </ns62:solidFill>
          <ns63:ln xmlns:ns63="http://schemas.openxmlformats.org/drawingml/2006/main" w="9525">
            <ns63:solidFill>
              <ns63:srgbClr val="65727D"/>
            </ns63:solidFill>
          </ns63:ln>
        </p:spPr>
        <p:txBody>
          <ns64:bodyPr xmlns:ns64="http://schemas.openxmlformats.org/drawingml/2006/main" wrap="square" lIns="61200" rIns="61200" tIns="61200" bIns="61200" anchor="ctr">
            <ns64:noAutofit/>
          </ns64:bodyPr>
          <ns65:lstStyle xmlns:ns65="http://schemas.openxmlformats.org/drawingml/2006/main"/>
          <ns66:p xmlns:ns66="http://schemas.openxmlformats.org/drawingml/2006/main">
            <ns66:pPr algn="l">
              <ns66:lnSpc>
                <ns66:spcPct val="105000"/>
              </ns66:lnSpc>
              <ns66:defRPr sz="1300" b="1">
                <ns66:solidFill>
                  <ns66:srgbClr val="65727D"/>
                </ns66:solidFill>
                <ns66:latin typeface="Arial"/>
                <ns66:ea typeface="Arial"/>
                <ns66:cs typeface="Arial"/>
              </ns66:defRPr>
            </ns66:pPr>
            <ns66:r>
              <ns66:rPr sz="1300" b="1">
                <ns66:solidFill>
                  <ns66:srgbClr val="65727D"/>
                </ns66:solidFill>
                <ns66:latin typeface="Arial"/>
                <ns66:ea typeface="Arial"/>
                <ns66:cs typeface="Arial"/>
              </ns66:rPr>
              <ns66:t>Client materials</ns66:t>
            </ns66:r>
          </ns66:p>
          <ns67:p xmlns:ns67="http://schemas.openxmlformats.org/drawingml/2006/main">
            <ns67:pPr algn="l">
              <ns67:lnSpc>
                <ns67:spcPct val="105000"/>
              </ns67:lnSpc>
              <ns67:defRPr sz="1050" b="0">
                <ns67:solidFill>
                  <ns67:srgbClr val="20262C"/>
                </ns67:solidFill>
                <ns67:latin typeface="Arial"/>
                <ns67:ea typeface="Arial"/>
                <ns67:cs typeface="Arial"/>
              </ns67:defRPr>
            </ns67:pPr>
            <ns67:r>
              <ns67:rPr sz="1050" b="0">
                <ns67:solidFill>
                  <ns67:srgbClr val="20262C"/>
                </ns67:solidFill>
                <ns67:latin typeface="Arial"/>
                <ns67:ea typeface="Arial"/>
                <ns67:cs typeface="Arial"/>
              </ns67:rPr>
              <ns67:t>Client team: updates and Q&amp;A</ns67:t>
            </ns67:r>
          </ns67:p>
        </p:txBody>
      </p:sp>
      <p:cxnSp>
        <p:nvCxnSpPr>
          <p:cNvPr id="112" name="firm.office.branch.1"/>
          <p:cNvCxnSpPr/>
          <p:nvPr/>
        </p:nvCxnSpPr>
        <p:spPr>
          <ns68:xfrm xmlns:ns68="http://schemas.openxmlformats.org/drawingml/2006/main">
            <ns68:off x="4572000" y="1936800"/>
            <ns68:ext cx="1" cy="93600"/>
          </ns68:xfrm>
          <ns69:prstGeom xmlns:ns69="http://schemas.openxmlformats.org/drawingml/2006/main" prst="line">
            <ns69:avLst/>
          </ns69:prstGeom>
          <ns70:ln xmlns:ns70="http://schemas.openxmlformats.org/drawingml/2006/main" w="11430">
            <ns70:solidFill>
              <ns70:srgbClr val="005A9C"/>
            </ns70:solidFill>
          </ns70:ln>
        </p:spPr>
      </p:cxnSp>
      <p:sp>
        <p:nvSpPr>
          <p:cNvPr id="113" name="firm.office.1"/>
          <p:cNvSpPr/>
          <p:nvPr/>
        </p:nvSpPr>
        <p:spPr>
          <ns71:xfrm xmlns:ns71="http://schemas.openxmlformats.org/drawingml/2006/main">
            <ns71:off x="3294000" y="2059200"/>
            <ns71:ext cx="2556000" cy="342000"/>
          </ns71:xfrm>
          <ns72:prstGeom xmlns:ns72="http://schemas.openxmlformats.org/drawingml/2006/main" prst="roundRect">
            <ns72:avLst/>
          </ns72:prstGeom>
          <ns73:solidFill xmlns:ns73="http://schemas.openxmlformats.org/drawingml/2006/main">
            <ns73:srgbClr val="EAF3FA"/>
          </ns73:solidFill>
          <ns74:ln xmlns:ns74="http://schemas.openxmlformats.org/drawingml/2006/main" w="9525">
            <ns74:solidFill>
              <ns74:srgbClr val="005A9C"/>
            </ns74:solidFill>
          </ns74:ln>
        </p:spPr>
        <p:txBody>
          <ns75:bodyPr xmlns:ns75="http://schemas.openxmlformats.org/drawingml/2006/main" wrap="square" lIns="61200" rIns="61200" tIns="61200" bIns="61200" anchor="ctr">
            <ns75:noAutofit/>
          </ns75:bodyPr>
          <ns76:lstStyle xmlns:ns76="http://schemas.openxmlformats.org/drawingml/2006/main"/>
          <ns77:p xmlns:ns77="http://schemas.openxmlformats.org/drawingml/2006/main">
            <ns77:pPr algn="l">
              <ns77:lnSpc>
                <ns77:spcPct val="105000"/>
              </ns77:lnSpc>
              <ns77:defRPr sz="1300" b="1">
                <ns77:solidFill>
                  <ns77:srgbClr val="005A9C"/>
                </ns77:solidFill>
                <ns77:latin typeface="Arial"/>
                <ns77:ea typeface="Arial"/>
                <ns77:cs typeface="Arial"/>
              </ns77:defRPr>
            </ns77:pPr>
            <ns77:r>
              <ns77:rPr sz="1300" b="1">
                <ns77:solidFill>
                  <ns77:srgbClr val="005A9C"/>
                </ns77:solidFill>
                <ns77:latin typeface="Arial"/>
                <ns77:ea typeface="Arial"/>
                <ns77:cs typeface="Arial"/>
              </ns77:rPr>
              <ns77:t>Middle office</ns77:t>
            </ns77:r>
          </ns77:p>
        </p:txBody>
      </p:sp>
      <p:sp>
        <p:nvSpPr>
          <p:cNvPr id="114" name="firm.output.1.0"/>
          <p:cNvSpPr/>
          <p:nvPr/>
        </p:nvSpPr>
        <p:spPr>
          <ns78:xfrm xmlns:ns78="http://schemas.openxmlformats.org/drawingml/2006/main">
            <ns78:off x="3294000" y="2512800"/>
            <ns78:ext cx="2556000" cy="432000"/>
          </ns78:xfrm>
          <ns79:prstGeom xmlns:ns79="http://schemas.openxmlformats.org/drawingml/2006/main" prst="rect">
            <ns79:avLst/>
          </ns79:prstGeom>
          <ns80:solidFill xmlns:ns80="http://schemas.openxmlformats.org/drawingml/2006/main">
            <ns80:srgbClr val="F3F7FA"/>
          </ns80:solidFill>
          <ns81:ln xmlns:ns81="http://schemas.openxmlformats.org/drawingml/2006/main" w="9525">
            <ns81:solidFill>
              <ns81:srgbClr val="65727D"/>
            </ns81:solidFill>
          </ns81:ln>
        </p:spPr>
        <p:txBody>
          <ns82:bodyPr xmlns:ns82="http://schemas.openxmlformats.org/drawingml/2006/main" wrap="square" lIns="61200" rIns="61200" tIns="61200" bIns="61200" anchor="ctr">
            <ns82:noAutofit/>
          </ns82:bodyPr>
          <ns83:lstStyle xmlns:ns83="http://schemas.openxmlformats.org/drawingml/2006/main"/>
          <ns84:p xmlns:ns84="http://schemas.openxmlformats.org/drawingml/2006/main">
            <ns84:pPr algn="l">
              <ns84:lnSpc>
                <ns84:spcPct val="105000"/>
              </ns84:lnSpc>
              <ns84:defRPr sz="1300" b="1">
                <ns84:solidFill>
                  <ns84:srgbClr val="65727D"/>
                </ns84:solidFill>
                <ns84:latin typeface="Arial"/>
                <ns84:ea typeface="Arial"/>
                <ns84:cs typeface="Arial"/>
              </ns84:defRPr>
            </ns84:pPr>
            <ns84:r>
              <ns84:rPr sz="1300" b="1">
                <ns84:solidFill>
                  <ns84:srgbClr val="65727D"/>
                </ns84:solidFill>
                <ns84:latin typeface="Arial"/>
                <ns84:ea typeface="Arial"/>
                <ns84:cs typeface="Arial"/>
              </ns84:rPr>
              <ns84:t>Content review</ns84:t>
            </ns84:r>
          </ns84:p>
          <ns85:p xmlns:ns85="http://schemas.openxmlformats.org/drawingml/2006/main">
            <ns85:pPr algn="l">
              <ns85:lnSpc>
                <ns85:spcPct val="105000"/>
              </ns85:lnSpc>
              <ns85:defRPr sz="1050" b="0">
                <ns85:solidFill>
                  <ns85:srgbClr val="20262C"/>
                </ns85:solidFill>
                <ns85:latin typeface="Arial"/>
                <ns85:ea typeface="Arial"/>
                <ns85:cs typeface="Arial"/>
              </ns85:defRPr>
            </ns85:pPr>
            <ns85:r>
              <ns85:rPr sz="1050" b="0">
                <ns85:solidFill>
                  <ns85:srgbClr val="20262C"/>
                </ns85:solidFill>
                <ns85:latin typeface="Arial"/>
                <ns85:ea typeface="Arial"/>
                <ns85:cs typeface="Arial"/>
              </ns85:rPr>
              <ns85:t>Reviewer: findings and revisions</ns85:t>
            </ns85:r>
          </ns85:p>
        </p:txBody>
      </p:sp>
      <p:sp>
        <p:nvSpPr>
          <p:cNvPr id="115" name="firm.output.1.1"/>
          <p:cNvSpPr/>
          <p:nvPr/>
        </p:nvSpPr>
        <p:spPr>
          <ns86:xfrm xmlns:ns86="http://schemas.openxmlformats.org/drawingml/2006/main">
            <ns86:off x="3294000" y="3009600"/>
            <ns86:ext cx="2556000" cy="432000"/>
          </ns86:xfrm>
          <ns87:prstGeom xmlns:ns87="http://schemas.openxmlformats.org/drawingml/2006/main" prst="rect">
            <ns87:avLst/>
          </ns87:prstGeom>
          <ns88:solidFill xmlns:ns88="http://schemas.openxmlformats.org/drawingml/2006/main">
            <ns88:srgbClr val="F3F7FA"/>
          </ns88:solidFill>
          <ns89:ln xmlns:ns89="http://schemas.openxmlformats.org/drawingml/2006/main" w="9525">
            <ns89:solidFill>
              <ns89:srgbClr val="65727D"/>
            </ns89:solidFill>
          </ns89:ln>
        </p:spPr>
        <p:txBody>
          <ns90:bodyPr xmlns:ns90="http://schemas.openxmlformats.org/drawingml/2006/main" wrap="square" lIns="61200" rIns="61200" tIns="61200" bIns="61200" anchor="ctr">
            <ns90:noAutofit/>
          </ns90:bodyPr>
          <ns91:lstStyle xmlns:ns91="http://schemas.openxmlformats.org/drawingml/2006/main"/>
          <ns92:p xmlns:ns92="http://schemas.openxmlformats.org/drawingml/2006/main">
            <ns92:pPr algn="l">
              <ns92:lnSpc>
                <ns92:spcPct val="105000"/>
              </ns92:lnSpc>
              <ns92:defRPr sz="1300" b="1">
                <ns92:solidFill>
                  <ns92:srgbClr val="65727D"/>
                </ns92:solidFill>
                <ns92:latin typeface="Arial"/>
                <ns92:ea typeface="Arial"/>
                <ns92:cs typeface="Arial"/>
              </ns92:defRPr>
            </ns92:pPr>
            <ns92:r>
              <ns92:rPr sz="1300" b="1">
                <ns92:solidFill>
                  <ns92:srgbClr val="65727D"/>
                </ns92:solidFill>
                <ns92:latin typeface="Arial"/>
                <ns92:ea typeface="Arial"/>
                <ns92:cs typeface="Arial"/>
              </ns92:rPr>
              <ns92:t>Risk analysis</ns92:t>
            </ns92:r>
          </ns92:p>
          <ns93:p xmlns:ns93="http://schemas.openxmlformats.org/drawingml/2006/main">
            <ns93:pPr algn="l">
              <ns93:lnSpc>
                <ns93:spcPct val="105000"/>
              </ns93:lnSpc>
              <ns93:defRPr sz="1050" b="0">
                <ns93:solidFill>
                  <ns93:srgbClr val="20262C"/>
                </ns93:solidFill>
                <ns93:latin typeface="Arial"/>
                <ns93:ea typeface="Arial"/>
                <ns93:cs typeface="Arial"/>
              </ns93:defRPr>
            </ns93:pPr>
            <ns93:r>
              <ns93:rPr sz="1050" b="0">
                <ns93:solidFill>
                  <ns93:srgbClr val="20262C"/>
                </ns93:solidFill>
                <ns93:latin typeface="Arial"/>
                <ns93:ea typeface="Arial"/>
                <ns93:cs typeface="Arial"/>
              </ns93:rPr>
              <ns93:t>Risk team: assessment / follow-up</ns93:t>
            </ns93:r>
          </ns93:p>
        </p:txBody>
      </p:sp>
      <p:cxnSp>
        <p:nvCxnSpPr>
          <p:cNvPr id="116" name="firm.office.branch.2"/>
          <p:cNvCxnSpPr/>
          <p:nvPr/>
        </p:nvCxnSpPr>
        <p:spPr>
          <ns94:xfrm xmlns:ns94="http://schemas.openxmlformats.org/drawingml/2006/main">
            <ns94:off x="7407000" y="1936800"/>
            <ns94:ext cx="1" cy="93600"/>
          </ns94:xfrm>
          <ns95:prstGeom xmlns:ns95="http://schemas.openxmlformats.org/drawingml/2006/main" prst="line">
            <ns95:avLst/>
          </ns95:prstGeom>
          <ns96:ln xmlns:ns96="http://schemas.openxmlformats.org/drawingml/2006/main" w="11430">
            <ns96:solidFill>
              <ns96:srgbClr val="005A9C"/>
            </ns96:solidFill>
          </ns96:ln>
        </p:spPr>
      </p:cxnSp>
      <p:sp>
        <p:nvSpPr>
          <p:cNvPr id="117" name="firm.office.2"/>
          <p:cNvSpPr/>
          <p:nvPr/>
        </p:nvSpPr>
        <p:spPr>
          <ns97:xfrm xmlns:ns97="http://schemas.openxmlformats.org/drawingml/2006/main">
            <ns97:off x="6127200" y="2059200"/>
            <ns97:ext cx="2559600" cy="342000"/>
          </ns97:xfrm>
          <ns98:prstGeom xmlns:ns98="http://schemas.openxmlformats.org/drawingml/2006/main" prst="roundRect">
            <ns98:avLst/>
          </ns98:prstGeom>
          <ns99:solidFill xmlns:ns99="http://schemas.openxmlformats.org/drawingml/2006/main">
            <ns99:srgbClr val="EAF3FA"/>
          </ns99:solidFill>
          <ns100:ln xmlns:ns100="http://schemas.openxmlformats.org/drawingml/2006/main" w="9525">
            <ns100:solidFill>
              <ns100:srgbClr val="005A9C"/>
            </ns100:solidFill>
          </ns100:ln>
        </p:spPr>
        <p:txBody>
          <ns101:bodyPr xmlns:ns101="http://schemas.openxmlformats.org/drawingml/2006/main" wrap="square" lIns="61200" rIns="61200" tIns="61200" bIns="61200" anchor="ctr">
            <ns101:noAutofit/>
          </ns101:bodyPr>
          <ns102:lstStyle xmlns:ns102="http://schemas.openxmlformats.org/drawingml/2006/main"/>
          <ns103:p xmlns:ns103="http://schemas.openxmlformats.org/drawingml/2006/main">
            <ns103:pPr algn="l">
              <ns103:lnSpc>
                <ns103:spcPct val="105000"/>
              </ns103:lnSpc>
              <ns103:defRPr sz="1300" b="1">
                <ns103:solidFill>
                  <ns103:srgbClr val="005A9C"/>
                </ns103:solidFill>
                <ns103:latin typeface="Arial"/>
                <ns103:ea typeface="Arial"/>
                <ns103:cs typeface="Arial"/>
              </ns103:defRPr>
            </ns103:pPr>
            <ns103:r>
              <ns103:rPr sz="1300" b="1">
                <ns103:solidFill>
                  <ns103:srgbClr val="005A9C"/>
                </ns103:solidFill>
                <ns103:latin typeface="Arial"/>
                <ns103:ea typeface="Arial"/>
                <ns103:cs typeface="Arial"/>
              </ns103:rPr>
              <ns103:t>Back office</ns103:t>
            </ns103:r>
          </ns103:p>
        </p:txBody>
      </p:sp>
      <p:sp>
        <p:nvSpPr>
          <p:cNvPr id="118" name="firm.output.2.0"/>
          <p:cNvSpPr/>
          <p:nvPr/>
        </p:nvSpPr>
        <p:spPr>
          <ns104:xfrm xmlns:ns104="http://schemas.openxmlformats.org/drawingml/2006/main">
            <ns104:off x="6127200" y="2512800"/>
            <ns104:ext cx="2559600" cy="432000"/>
          </ns104:xfrm>
          <ns105:prstGeom xmlns:ns105="http://schemas.openxmlformats.org/drawingml/2006/main" prst="rect">
            <ns105:avLst/>
          </ns105:prstGeom>
          <ns106:solidFill xmlns:ns106="http://schemas.openxmlformats.org/drawingml/2006/main">
            <ns106:srgbClr val="F3F7FA"/>
          </ns106:solidFill>
          <ns107:ln xmlns:ns107="http://schemas.openxmlformats.org/drawingml/2006/main" w="9525">
            <ns107:solidFill>
              <ns107:srgbClr val="65727D"/>
            </ns107:solidFill>
          </ns107:ln>
        </p:spPr>
        <p:txBody>
          <ns108:bodyPr xmlns:ns108="http://schemas.openxmlformats.org/drawingml/2006/main" wrap="square" lIns="61200" rIns="61200" tIns="61200" bIns="61200" anchor="ctr">
            <ns108:noAutofit/>
          </ns108:bodyPr>
          <ns109:lstStyle xmlns:ns109="http://schemas.openxmlformats.org/drawingml/2006/main"/>
          <ns110:p xmlns:ns110="http://schemas.openxmlformats.org/drawingml/2006/main">
            <ns110:pPr algn="l">
              <ns110:lnSpc>
                <ns110:spcPct val="105000"/>
              </ns110:lnSpc>
              <ns110:defRPr sz="1300" b="1">
                <ns110:solidFill>
                  <ns110:srgbClr val="65727D"/>
                </ns110:solidFill>
                <ns110:latin typeface="Arial"/>
                <ns110:ea typeface="Arial"/>
                <ns110:cs typeface="Arial"/>
              </ns110:defRPr>
            </ns110:pPr>
            <ns110:r>
              <ns110:rPr sz="1300" b="1">
                <ns110:solidFill>
                  <ns110:srgbClr val="65727D"/>
                </ns110:solidFill>
                <ns110:latin typeface="Arial"/>
                <ns110:ea typeface="Arial"/>
                <ns110:cs typeface="Arial"/>
              </ns110:rPr>
              <ns110:t>Document processing</ns110:t>
            </ns110:r>
          </ns110:p>
          <ns111:p xmlns:ns111="http://schemas.openxmlformats.org/drawingml/2006/main">
            <ns111:pPr algn="l">
              <ns111:lnSpc>
                <ns111:spcPct val="105000"/>
              </ns111:lnSpc>
              <ns111:defRPr sz="1050" b="0">
                <ns111:solidFill>
                  <ns111:srgbClr val="20262C"/>
                </ns111:solidFill>
                <ns111:latin typeface="Arial"/>
                <ns111:ea typeface="Arial"/>
                <ns111:cs typeface="Arial"/>
              </ns111:defRPr>
            </ns111:pPr>
            <ns111:r>
              <ns111:rPr sz="1050" b="0">
                <ns111:solidFill>
                  <ns111:srgbClr val="20262C"/>
                </ns111:solidFill>
                <ns111:latin typeface="Arial"/>
                <ns111:ea typeface="Arial"/>
                <ns111:cs typeface="Arial"/>
              </ns111:rPr>
              <ns111:t>Operations: records / change summaries</ns111:t>
            </ns111:r>
          </ns111:p>
        </p:txBody>
      </p:sp>
      <p:sp>
        <p:nvSpPr>
          <p:cNvPr id="119" name="firm.output.2.1"/>
          <p:cNvSpPr/>
          <p:nvPr/>
        </p:nvSpPr>
        <p:spPr>
          <ns112:xfrm xmlns:ns112="http://schemas.openxmlformats.org/drawingml/2006/main">
            <ns112:off x="6127200" y="3009600"/>
            <ns112:ext cx="2559600" cy="432000"/>
          </ns112:xfrm>
          <ns113:prstGeom xmlns:ns113="http://schemas.openxmlformats.org/drawingml/2006/main" prst="rect">
            <ns113:avLst/>
          </ns113:prstGeom>
          <ns114:solidFill xmlns:ns114="http://schemas.openxmlformats.org/drawingml/2006/main">
            <ns114:srgbClr val="F3F7FA"/>
          </ns114:solidFill>
          <ns115:ln xmlns:ns115="http://schemas.openxmlformats.org/drawingml/2006/main" w="9525">
            <ns115:solidFill>
              <ns115:srgbClr val="65727D"/>
            </ns115:solidFill>
          </ns115:ln>
        </p:spPr>
        <p:txBody>
          <ns116:bodyPr xmlns:ns116="http://schemas.openxmlformats.org/drawingml/2006/main" wrap="square" lIns="61200" rIns="61200" tIns="61200" bIns="61200" anchor="ctr">
            <ns116:noAutofit/>
          </ns116:bodyPr>
          <ns117:lstStyle xmlns:ns117="http://schemas.openxmlformats.org/drawingml/2006/main"/>
          <ns118:p xmlns:ns118="http://schemas.openxmlformats.org/drawingml/2006/main">
            <ns118:pPr algn="l">
              <ns118:lnSpc>
                <ns118:spcPct val="105000"/>
              </ns118:lnSpc>
              <ns118:defRPr sz="1300" b="1">
                <ns118:solidFill>
                  <ns118:srgbClr val="65727D"/>
                </ns118:solidFill>
                <ns118:latin typeface="Arial"/>
                <ns118:ea typeface="Arial"/>
                <ns118:cs typeface="Arial"/>
              </ns118:defRPr>
            </ns118:pPr>
            <ns118:r>
              <ns118:rPr sz="1300" b="1">
                <ns118:solidFill>
                  <ns118:srgbClr val="65727D"/>
                </ns118:solidFill>
                <ns118:latin typeface="Arial"/>
                <ns118:ea typeface="Arial"/>
                <ns118:cs typeface="Arial"/>
              </ns118:rPr>
              <ns118:t>Tool development</ns118:t>
            </ns118:r>
          </ns118:p>
          <ns119:p xmlns:ns119="http://schemas.openxmlformats.org/drawingml/2006/main">
            <ns119:pPr algn="l">
              <ns119:lnSpc>
                <ns119:spcPct val="105000"/>
              </ns119:lnSpc>
              <ns119:defRPr sz="1050" b="0">
                <ns119:solidFill>
                  <ns119:srgbClr val="20262C"/>
                </ns119:solidFill>
                <ns119:latin typeface="Arial"/>
                <ns119:ea typeface="Arial"/>
                <ns119:cs typeface="Arial"/>
              </ns119:defRPr>
            </ns119:pPr>
            <ns119:r>
              <ns119:rPr sz="1050" b="0">
                <ns119:solidFill>
                  <ns119:srgbClr val="20262C"/>
                </ns119:solidFill>
                <ns119:latin typeface="Arial"/>
                <ns119:ea typeface="Arial"/>
                <ns119:cs typeface="Arial"/>
              </ns119:rPr>
              <ns119:t>Developer: code and tests</ns119:t>
            </ns119:r>
          </ns119:p>
        </p:txBody>
      </p:sp>
      <p:sp>
        <p:nvSpPr>
          <p:cNvPr id="120" name="human.shared.judgment"/>
          <p:cNvSpPr/>
          <p:nvPr/>
        </p:nvSpPr>
        <p:spPr>
          <ns120:xfrm xmlns:ns120="http://schemas.openxmlformats.org/drawingml/2006/main">
            <ns120:off x="457200" y="4284000"/>
            <ns120:ext cx="8229600" cy="234000"/>
          </ns120:xfrm>
          <ns121:prstGeom xmlns:ns121="http://schemas.openxmlformats.org/drawingml/2006/main" prst="rect">
            <ns121:avLst/>
          </ns121:prstGeom>
          <ns122:solidFill xmlns:ns122="http://schemas.openxmlformats.org/drawingml/2006/main">
            <ns122:srgbClr val="F3F7FA"/>
          </ns122:solidFill>
          <ns123:ln xmlns:ns123="http://schemas.openxmlformats.org/drawingml/2006/main" w="9525">
            <ns123:solidFill>
              <ns123:srgbClr val="65727D"/>
            </ns123:solidFill>
          </ns123:ln>
        </p:spPr>
        <p:txBody>
          <ns124:bodyPr xmlns:ns124="http://schemas.openxmlformats.org/drawingml/2006/main" wrap="square" lIns="14400" rIns="14400" tIns="14400" bIns="14400" anchor="ctr">
            <ns124:noAutofit/>
          </ns124:bodyPr>
          <ns125:lstStyle xmlns:ns125="http://schemas.openxmlformats.org/drawingml/2006/main"/>
          <ns126:p xmlns:ns126="http://schemas.openxmlformats.org/drawingml/2006/main">
            <ns126:pPr algn="ctr">
              <ns126:lnSpc>
                <ns126:spcPct val="105000"/>
              </ns126:lnSpc>
              <ns126:defRPr sz="1200" b="1">
                <ns126:solidFill>
                  <ns126:srgbClr val="20262C"/>
                </ns126:solidFill>
                <ns126:latin typeface="Arial"/>
                <ns126:ea typeface="Arial"/>
                <ns126:cs typeface="Arial"/>
              </ns126:defRPr>
            </ns126:pPr>
            <ns126:r>
              <ns126:rPr sz="1200" b="1">
                <ns126:solidFill>
                  <ns126:srgbClr val="20262C"/>
                </ns126:solidFill>
                <ns126:latin typeface="Arial"/>
                <ns126:ea typeface="Arial"/>
                <ns126:cs typeface="Arial"/>
              </ns126:rPr>
              <ns126:t>People verify the results and exercise professional judgment</ns126:t>
            </ns126:r>
          </ns126:p>
        </p:txBody>
      </p:sp>
    </p:spTree>
    <p:extLst>
      <p:ext uri="{BB962C8B-B14F-4D97-AF65-F5344CB8AC3E}">
        <p14:creationId xmlns:p14="http://schemas.microsoft.com/office/powerpoint/2010/main" val="170129515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Two information flows across the firm</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Cross-team collaboration</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105"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106"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107" name="map.task.focus.trade"/>
          <p:cNvSpPr/>
          <p:nvPr/>
        </p:nvSpPr>
        <p:spPr>
          <ns35:xfrm xmlns:ns35="http://schemas.openxmlformats.org/drawingml/2006/main">
            <ns35:off x="486000" y="1998000"/>
            <ns35:ext cx="1677600" cy="176400"/>
          </ns35:xfrm>
          <ns36:prstGeom xmlns:ns36="http://schemas.openxmlformats.org/drawingml/2006/main" prst="rect">
            <ns36:avLst/>
          </ns36:prstGeom>
          <ns37:solidFill xmlns:ns37="http://schemas.openxmlformats.org/drawingml/2006/main">
            <ns37:srgbClr val="D9EAF7"/>
          </ns37:solidFill>
          <ns38:ln xmlns:ns38="http://schemas.openxmlformats.org/drawingml/2006/main" w="0">
            <ns38:noFill/>
          </ns38:ln>
        </p:spPr>
      </p:sp>
      <p:sp>
        <p:nvSpPr>
          <p:cNvPr id="108" name="map.task.trade"/>
          <p:cNvSpPr/>
          <p:nvPr/>
        </p:nvSpPr>
        <p:spPr>
          <ns39:xfrm xmlns:ns39="http://schemas.openxmlformats.org/drawingml/2006/main">
            <ns39:off x="554400" y="2001600"/>
            <ns39:ext cx="1562400" cy="165600"/>
          </ns39:xfrm>
          <ns40:prstGeom xmlns:ns40="http://schemas.openxmlformats.org/drawingml/2006/main" prst="rect">
            <ns40:avLst/>
          </ns40:prstGeom>
          <ns41:noFill xmlns:ns41="http://schemas.openxmlformats.org/drawingml/2006/main"/>
          <ns42:ln xmlns:ns42="http://schemas.openxmlformats.org/drawingml/2006/main" w="0">
            <ns42:noFill/>
          </ns42:ln>
        </p:spPr>
        <p:txBody>
          <ns43:bodyPr xmlns:ns43="http://schemas.openxmlformats.org/drawingml/2006/main" wrap="square" lIns="0" rIns="0" tIns="0" bIns="0" anchor="t">
            <ns43:noAutofit/>
          </ns43:bodyPr>
          <ns44:lstStyle xmlns:ns44="http://schemas.openxmlformats.org/drawingml/2006/main"/>
          <ns45:p xmlns:ns45="http://schemas.openxmlformats.org/drawingml/2006/main">
            <ns45:pPr algn="l">
              <ns45:lnSpc>
                <ns45:spcPct val="105000"/>
              </ns45:lnSpc>
              <ns45:defRPr sz="1050" b="1">
                <ns45:solidFill>
                  <ns45:srgbClr val="005A9C"/>
                </ns45:solidFill>
                <ns45:latin typeface="Arial"/>
                <ns45:ea typeface="Arial"/>
                <ns45:cs typeface="Arial"/>
              </ns45:defRPr>
            </ns45:pPr>
            <ns45:r>
              <ns45:rPr sz="1050" b="1">
                <ns45:solidFill>
                  <ns45:srgbClr val="005A9C"/>
                </ns45:solidFill>
                <ns45:latin typeface="Arial"/>
                <ns45:ea typeface="Arial"/>
                <ns45:cs typeface="Arial"/>
              </ns45:rPr>
              <ns45:t>Trading support</ns45:t>
            </ns45:r>
          </ns45:p>
        </p:txBody>
      </p:sp>
      <p:sp>
        <p:nvSpPr>
          <p:cNvPr id="109" name="map.task.focus.client"/>
          <p:cNvSpPr/>
          <p:nvPr/>
        </p:nvSpPr>
        <p:spPr>
          <ns46:xfrm xmlns:ns46="http://schemas.openxmlformats.org/drawingml/2006/main">
            <ns46:off x="486000" y="2196000"/>
            <ns46:ext cx="1677600" cy="176400"/>
          </ns46:xfrm>
          <ns47:prstGeom xmlns:ns47="http://schemas.openxmlformats.org/drawingml/2006/main" prst="rect">
            <ns47:avLst/>
          </ns47:prstGeom>
          <ns48:solidFill xmlns:ns48="http://schemas.openxmlformats.org/drawingml/2006/main">
            <ns48:srgbClr val="D9EAF7"/>
          </ns48:solidFill>
          <ns49:ln xmlns:ns49="http://schemas.openxmlformats.org/drawingml/2006/main" w="0">
            <ns49:noFill/>
          </ns49:ln>
        </p:spPr>
      </p:sp>
      <p:sp>
        <p:nvSpPr>
          <p:cNvPr id="110" name="map.task.client"/>
          <p:cNvSpPr/>
          <p:nvPr/>
        </p:nvSpPr>
        <p:spPr>
          <ns50:xfrm xmlns:ns50="http://schemas.openxmlformats.org/drawingml/2006/main">
            <ns50:off x="554400" y="2199600"/>
            <ns50:ext cx="1562400" cy="165600"/>
          </ns50:xfrm>
          <ns51:prstGeom xmlns:ns51="http://schemas.openxmlformats.org/drawingml/2006/main" prst="rect">
            <ns51:avLst/>
          </ns51:prstGeom>
          <ns52:noFill xmlns:ns52="http://schemas.openxmlformats.org/drawingml/2006/main"/>
          <ns53:ln xmlns:ns53="http://schemas.openxmlformats.org/drawingml/2006/main" w="0">
            <ns53:noFill/>
          </ns53:ln>
        </p:spPr>
        <p:txBody>
          <ns54:bodyPr xmlns:ns54="http://schemas.openxmlformats.org/drawingml/2006/main" wrap="square" lIns="0" rIns="0" tIns="0" bIns="0" anchor="t">
            <ns54:noAutofit/>
          </ns54:bodyPr>
          <ns55:lstStyle xmlns:ns55="http://schemas.openxmlformats.org/drawingml/2006/main"/>
          <ns56:p xmlns:ns56="http://schemas.openxmlformats.org/drawingml/2006/main">
            <ns56:pPr algn="l">
              <ns56:lnSpc>
                <ns56:spcPct val="105000"/>
              </ns56:lnSpc>
              <ns56:defRPr sz="1050" b="1">
                <ns56:solidFill>
                  <ns56:srgbClr val="005A9C"/>
                </ns56:solidFill>
                <ns56:latin typeface="Arial"/>
                <ns56:ea typeface="Arial"/>
                <ns56:cs typeface="Arial"/>
              </ns56:defRPr>
            </ns56:pPr>
            <ns56:r>
              <ns56:rPr sz="1050" b="1">
                <ns56:solidFill>
                  <ns56:srgbClr val="005A9C"/>
                </ns56:solidFill>
                <ns56:latin typeface="Arial"/>
                <ns56:ea typeface="Arial"/>
                <ns56:cs typeface="Arial"/>
              </ns56:rPr>
              <ns56:t>Client materials</ns56:t>
            </ns56:r>
          </ns56:p>
        </p:txBody>
      </p:sp>
      <p:sp>
        <p:nvSpPr>
          <p:cNvPr id="111" name="map.office.1"/>
          <p:cNvSpPr/>
          <p:nvPr/>
        </p:nvSpPr>
        <p:spPr>
          <ns57:xfrm xmlns:ns57="http://schemas.openxmlformats.org/drawingml/2006/main">
            <ns57:off x="486000" y="2548800"/>
            <ns57:ext cx="1692000" cy="180000"/>
          </ns57:xfrm>
          <ns58:prstGeom xmlns:ns58="http://schemas.openxmlformats.org/drawingml/2006/main" prst="rect">
            <ns58:avLst/>
          </ns58:prstGeom>
          <ns59:noFill xmlns:ns59="http://schemas.openxmlformats.org/drawingml/2006/main"/>
          <ns60:ln xmlns:ns60="http://schemas.openxmlformats.org/drawingml/2006/main" w="0">
            <ns60:noFill/>
          </ns60:ln>
        </p:spPr>
        <p:txBody>
          <ns61:bodyPr xmlns:ns61="http://schemas.openxmlformats.org/drawingml/2006/main" wrap="square" lIns="0" rIns="0" tIns="0" bIns="0" anchor="t">
            <ns61:noAutofit/>
          </ns61:bodyPr>
          <ns62:lstStyle xmlns:ns62="http://schemas.openxmlformats.org/drawingml/2006/main"/>
          <ns63:p xmlns:ns63="http://schemas.openxmlformats.org/drawingml/2006/main">
            <ns63:pPr algn="l">
              <ns63:lnSpc>
                <ns63:spcPct val="105000"/>
              </ns63:lnSpc>
              <ns63:defRPr sz="1100" b="1">
                <ns63:solidFill>
                  <ns63:srgbClr val="005A9C"/>
                </ns63:solidFill>
                <ns63:latin typeface="Arial"/>
                <ns63:ea typeface="Arial"/>
                <ns63:cs typeface="Arial"/>
              </ns63:defRPr>
            </ns63:pPr>
            <ns63:r>
              <ns63:rPr sz="1100" b="1">
                <ns63:solidFill>
                  <ns63:srgbClr val="005A9C"/>
                </ns63:solidFill>
                <ns63:latin typeface="Arial"/>
                <ns63:ea typeface="Arial"/>
                <ns63:cs typeface="Arial"/>
              </ns63:rPr>
              <ns63:t>Middle office</ns63:t>
            </ns63:r>
          </ns63:p>
        </p:txBody>
      </p:sp>
      <p:cxnSp>
        <p:nvCxnSpPr>
          <p:cNvPr id="112" name="map.office.rule.1"/>
          <p:cNvCxnSpPr/>
          <p:nvPr/>
        </p:nvCxnSpPr>
        <p:spPr>
          <ns64:xfrm xmlns:ns64="http://schemas.openxmlformats.org/drawingml/2006/main">
            <ns64:off x="457200" y="2768400"/>
            <ns64:ext cx="1742400" cy="1"/>
          </ns64:xfrm>
          <ns65:prstGeom xmlns:ns65="http://schemas.openxmlformats.org/drawingml/2006/main" prst="line">
            <ns65:avLst/>
          </ns65:prstGeom>
          <ns66:ln xmlns:ns66="http://schemas.openxmlformats.org/drawingml/2006/main" w="7620">
            <ns66:solidFill>
              <ns66:srgbClr val="005A9C"/>
            </ns66:solidFill>
          </ns66:ln>
        </p:spPr>
      </p:cxnSp>
      <p:sp>
        <p:nvSpPr>
          <p:cNvPr id="113" name="map.task.focus.review"/>
          <p:cNvSpPr/>
          <p:nvPr/>
        </p:nvSpPr>
        <p:spPr>
          <ns67:xfrm xmlns:ns67="http://schemas.openxmlformats.org/drawingml/2006/main">
            <ns67:off x="486000" y="2844000"/>
            <ns67:ext cx="1677600" cy="176400"/>
          </ns67:xfrm>
          <ns68:prstGeom xmlns:ns68="http://schemas.openxmlformats.org/drawingml/2006/main" prst="rect">
            <ns68:avLst/>
          </ns68:prstGeom>
          <ns69:solidFill xmlns:ns69="http://schemas.openxmlformats.org/drawingml/2006/main">
            <ns69:srgbClr val="D9EAF7"/>
          </ns69:solidFill>
          <ns70:ln xmlns:ns70="http://schemas.openxmlformats.org/drawingml/2006/main" w="0">
            <ns70:noFill/>
          </ns70:ln>
        </p:spPr>
      </p:sp>
      <p:sp>
        <p:nvSpPr>
          <p:cNvPr id="114" name="map.task.review"/>
          <p:cNvSpPr/>
          <p:nvPr/>
        </p:nvSpPr>
        <p:spPr>
          <ns71:xfrm xmlns:ns71="http://schemas.openxmlformats.org/drawingml/2006/main">
            <ns71:off x="554400" y="2847600"/>
            <ns71:ext cx="1562400" cy="165600"/>
          </ns71:xfrm>
          <ns72:prstGeom xmlns:ns72="http://schemas.openxmlformats.org/drawingml/2006/main" prst="rect">
            <ns72:avLst/>
          </ns72:prstGeom>
          <ns73:noFill xmlns:ns73="http://schemas.openxmlformats.org/drawingml/2006/main"/>
          <ns74:ln xmlns:ns74="http://schemas.openxmlformats.org/drawingml/2006/main" w="0">
            <ns74:noFill/>
          </ns74:ln>
        </p:spPr>
        <p:txBody>
          <ns75:bodyPr xmlns:ns75="http://schemas.openxmlformats.org/drawingml/2006/main" wrap="square" lIns="0" rIns="0" tIns="0" bIns="0" anchor="t">
            <ns75:noAutofit/>
          </ns75:bodyPr>
          <ns76:lstStyle xmlns:ns76="http://schemas.openxmlformats.org/drawingml/2006/main"/>
          <ns77:p xmlns:ns77="http://schemas.openxmlformats.org/drawingml/2006/main">
            <ns77:pPr algn="l">
              <ns77:lnSpc>
                <ns77:spcPct val="105000"/>
              </ns77:lnSpc>
              <ns77:defRPr sz="1050" b="1">
                <ns77:solidFill>
                  <ns77:srgbClr val="005A9C"/>
                </ns77:solidFill>
                <ns77:latin typeface="Arial"/>
                <ns77:ea typeface="Arial"/>
                <ns77:cs typeface="Arial"/>
              </ns77:defRPr>
            </ns77:pPr>
            <ns77:r>
              <ns77:rPr sz="1050" b="1">
                <ns77:solidFill>
                  <ns77:srgbClr val="005A9C"/>
                </ns77:solidFill>
                <ns77:latin typeface="Arial"/>
                <ns77:ea typeface="Arial"/>
                <ns77:cs typeface="Arial"/>
              </ns77:rPr>
              <ns77:t>Content review</ns77:t>
            </ns77:r>
          </ns77:p>
        </p:txBody>
      </p:sp>
      <p:sp>
        <p:nvSpPr>
          <p:cNvPr id="115" name="map.task.focus.risk"/>
          <p:cNvSpPr/>
          <p:nvPr/>
        </p:nvSpPr>
        <p:spPr>
          <ns78:xfrm xmlns:ns78="http://schemas.openxmlformats.org/drawingml/2006/main">
            <ns78:off x="486000" y="3042000"/>
            <ns78:ext cx="1677600" cy="176400"/>
          </ns78:xfrm>
          <ns79:prstGeom xmlns:ns79="http://schemas.openxmlformats.org/drawingml/2006/main" prst="rect">
            <ns79:avLst/>
          </ns79:prstGeom>
          <ns80:solidFill xmlns:ns80="http://schemas.openxmlformats.org/drawingml/2006/main">
            <ns80:srgbClr val="D9EAF7"/>
          </ns80:solidFill>
          <ns81:ln xmlns:ns81="http://schemas.openxmlformats.org/drawingml/2006/main" w="0">
            <ns81:noFill/>
          </ns81:ln>
        </p:spPr>
      </p:sp>
      <p:sp>
        <p:nvSpPr>
          <p:cNvPr id="116" name="map.task.risk"/>
          <p:cNvSpPr/>
          <p:nvPr/>
        </p:nvSpPr>
        <p:spPr>
          <ns82:xfrm xmlns:ns82="http://schemas.openxmlformats.org/drawingml/2006/main">
            <ns82:off x="554400" y="3045600"/>
            <ns82:ext cx="1562400" cy="1656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5000"/>
              </ns88:lnSpc>
              <ns88:defRPr sz="1050" b="1">
                <ns88:solidFill>
                  <ns88:srgbClr val="005A9C"/>
                </ns88:solidFill>
                <ns88:latin typeface="Arial"/>
                <ns88:ea typeface="Arial"/>
                <ns88:cs typeface="Arial"/>
              </ns88:defRPr>
            </ns88:pPr>
            <ns88:r>
              <ns88:rPr sz="1050" b="1">
                <ns88:solidFill>
                  <ns88:srgbClr val="005A9C"/>
                </ns88:solidFill>
                <ns88:latin typeface="Arial"/>
                <ns88:ea typeface="Arial"/>
                <ns88:cs typeface="Arial"/>
              </ns88:rPr>
              <ns88:t>Risk analysis</ns88:t>
            </ns88:r>
          </ns88:p>
        </p:txBody>
      </p:sp>
      <p:sp>
        <p:nvSpPr>
          <p:cNvPr id="117" name="map.office.2"/>
          <p:cNvSpPr/>
          <p:nvPr/>
        </p:nvSpPr>
        <p:spPr>
          <ns89:xfrm xmlns:ns89="http://schemas.openxmlformats.org/drawingml/2006/main">
            <ns89:off x="486000" y="3391200"/>
            <ns89:ext cx="1692000" cy="1800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5000"/>
              </ns95:lnSpc>
              <ns95:defRPr sz="1100" b="1">
                <ns95:solidFill>
                  <ns95:srgbClr val="005A9C"/>
                </ns95:solidFill>
                <ns95:latin typeface="Arial"/>
                <ns95:ea typeface="Arial"/>
                <ns95:cs typeface="Arial"/>
              </ns95:defRPr>
            </ns95:pPr>
            <ns95:r>
              <ns95:rPr sz="1100" b="1">
                <ns95:solidFill>
                  <ns95:srgbClr val="005A9C"/>
                </ns95:solidFill>
                <ns95:latin typeface="Arial"/>
                <ns95:ea typeface="Arial"/>
                <ns95:cs typeface="Arial"/>
              </ns95:rPr>
              <ns95:t>Back office</ns95:t>
            </ns95:r>
          </ns95:p>
        </p:txBody>
      </p:sp>
      <p:cxnSp>
        <p:nvCxnSpPr>
          <p:cNvPr id="118" name="map.office.rule.2"/>
          <p:cNvCxnSpPr/>
          <p:nvPr/>
        </p:nvCxnSpPr>
        <p:spPr>
          <ns96:xfrm xmlns:ns96="http://schemas.openxmlformats.org/drawingml/2006/main">
            <ns96:off x="457200" y="3610800"/>
            <ns96:ext cx="1742400" cy="1"/>
          </ns96:xfrm>
          <ns97:prstGeom xmlns:ns97="http://schemas.openxmlformats.org/drawingml/2006/main" prst="line">
            <ns97:avLst/>
          </ns97:prstGeom>
          <ns98:ln xmlns:ns98="http://schemas.openxmlformats.org/drawingml/2006/main" w="7620">
            <ns98:solidFill>
              <ns98:srgbClr val="005A9C"/>
            </ns98:solidFill>
          </ns98:ln>
        </p:spPr>
      </p:cxnSp>
      <p:sp>
        <p:nvSpPr>
          <p:cNvPr id="119" name="map.task.focus.files"/>
          <p:cNvSpPr/>
          <p:nvPr/>
        </p:nvSpPr>
        <p:spPr>
          <ns99:xfrm xmlns:ns99="http://schemas.openxmlformats.org/drawingml/2006/main">
            <ns99:off x="486000" y="3686400"/>
            <ns99:ext cx="1677600" cy="176400"/>
          </ns99:xfrm>
          <ns100:prstGeom xmlns:ns100="http://schemas.openxmlformats.org/drawingml/2006/main" prst="rect">
            <ns100:avLst/>
          </ns100:prstGeom>
          <ns101:solidFill xmlns:ns101="http://schemas.openxmlformats.org/drawingml/2006/main">
            <ns101:srgbClr val="D9EAF7"/>
          </ns101:solidFill>
          <ns102:ln xmlns:ns102="http://schemas.openxmlformats.org/drawingml/2006/main" w="0">
            <ns102:noFill/>
          </ns102:ln>
        </p:spPr>
      </p:sp>
      <p:sp>
        <p:nvSpPr>
          <p:cNvPr id="120" name="map.task.files"/>
          <p:cNvSpPr/>
          <p:nvPr/>
        </p:nvSpPr>
        <p:spPr>
          <ns103:xfrm xmlns:ns103="http://schemas.openxmlformats.org/drawingml/2006/main">
            <ns103:off x="554400" y="3690000"/>
            <ns103:ext cx="1562400" cy="1656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5000"/>
              </ns109:lnSpc>
              <ns109:defRPr sz="1050" b="1">
                <ns109:solidFill>
                  <ns109:srgbClr val="005A9C"/>
                </ns109:solidFill>
                <ns109:latin typeface="Arial"/>
                <ns109:ea typeface="Arial"/>
                <ns109:cs typeface="Arial"/>
              </ns109:defRPr>
            </ns109:pPr>
            <ns109:r>
              <ns109:rPr sz="1050" b="1">
                <ns109:solidFill>
                  <ns109:srgbClr val="005A9C"/>
                </ns109:solidFill>
                <ns109:latin typeface="Arial"/>
                <ns109:ea typeface="Arial"/>
                <ns109:cs typeface="Arial"/>
              </ns109:rPr>
              <ns109:t>Document processing</ns109:t>
            </ns109:r>
          </ns109:p>
        </p:txBody>
      </p:sp>
      <p:sp>
        <p:nvSpPr>
          <p:cNvPr id="121" name="map.task.dev"/>
          <p:cNvSpPr/>
          <p:nvPr/>
        </p:nvSpPr>
        <p:spPr>
          <ns110:xfrm xmlns:ns110="http://schemas.openxmlformats.org/drawingml/2006/main">
            <ns110:off x="554400" y="3888000"/>
            <ns110:ext cx="1562400" cy="165600"/>
          </ns110:xfrm>
          <ns111:prstGeom xmlns:ns111="http://schemas.openxmlformats.org/drawingml/2006/main" prst="rect">
            <ns111:avLst/>
          </ns111:prstGeom>
          <ns112:noFill xmlns:ns112="http://schemas.openxmlformats.org/drawingml/2006/main"/>
          <ns113:ln xmlns:ns113="http://schemas.openxmlformats.org/drawingml/2006/main" w="0">
            <ns113:noFill/>
          </ns113:ln>
        </p:spPr>
        <p:txBody>
          <ns114:bodyPr xmlns:ns114="http://schemas.openxmlformats.org/drawingml/2006/main" wrap="square" lIns="0" rIns="0" tIns="0" bIns="0" anchor="t">
            <ns114:noAutofit/>
          </ns114:bodyPr>
          <ns115:lstStyle xmlns:ns115="http://schemas.openxmlformats.org/drawingml/2006/main"/>
          <ns116:p xmlns:ns116="http://schemas.openxmlformats.org/drawingml/2006/main">
            <ns116:pPr algn="l">
              <ns116:lnSpc>
                <ns116:spcPct val="105000"/>
              </ns116:lnSpc>
              <ns116:defRPr sz="1050" b="0">
                <ns116:solidFill>
                  <ns116:srgbClr val="65727D"/>
                </ns116:solidFill>
                <ns116:latin typeface="Arial"/>
                <ns116:ea typeface="Arial"/>
                <ns116:cs typeface="Arial"/>
              </ns116:defRPr>
            </ns116:pPr>
            <ns116:r>
              <ns116:rPr sz="1050" b="0">
                <ns116:solidFill>
                  <ns116:srgbClr val="65727D"/>
                </ns116:solidFill>
                <ns116:latin typeface="Arial"/>
                <ns116:ea typeface="Arial"/>
                <ns116:cs typeface="Arial"/>
              </ns116:rPr>
              <ns116:t>Tool development</ns116:t>
            </ns116:r>
          </ns116:p>
        </p:txBody>
      </p:sp>
      <p:sp>
        <p:nvSpPr>
          <p:cNvPr id="122" name="map.legend"/>
          <p:cNvSpPr/>
          <p:nvPr/>
        </p:nvSpPr>
        <p:spPr>
          <ns117:xfrm xmlns:ns117="http://schemas.openxmlformats.org/drawingml/2006/main">
            <ns117:off x="486000" y="4363200"/>
            <ns117:ext cx="1684800" cy="162000"/>
          </ns117:xfrm>
          <ns118:prstGeom xmlns:ns118="http://schemas.openxmlformats.org/drawingml/2006/main" prst="rect">
            <ns118:avLst/>
          </ns118:prstGeom>
          <ns119:noFill xmlns:ns119="http://schemas.openxmlformats.org/drawingml/2006/main"/>
          <ns120:ln xmlns:ns120="http://schemas.openxmlformats.org/drawingml/2006/main" w="0">
            <ns120:noFill/>
          </ns120:ln>
        </p:spPr>
        <p:txBody>
          <ns121:bodyPr xmlns:ns121="http://schemas.openxmlformats.org/drawingml/2006/main" wrap="square" lIns="0" rIns="0" tIns="0" bIns="0" anchor="t">
            <ns121:noAutofit/>
          </ns121:bodyPr>
          <ns122:lstStyle xmlns:ns122="http://schemas.openxmlformats.org/drawingml/2006/main"/>
          <ns123:p xmlns:ns123="http://schemas.openxmlformats.org/drawingml/2006/main">
            <ns123:pPr algn="l">
              <ns123:lnSpc>
                <ns123:spcPct val="105000"/>
              </ns123:lnSpc>
              <ns123:defRPr sz="850" b="0">
                <ns123:solidFill>
                  <ns123:srgbClr val="65727D"/>
                </ns123:solidFill>
                <ns123:latin typeface="Arial"/>
                <ns123:ea typeface="Arial"/>
                <ns123:cs typeface="Arial"/>
              </ns123:defRPr>
            </ns123:pPr>
            <ns123:r>
              <ns123:rPr sz="850" b="0">
                <ns123:solidFill>
                  <ns123:srgbClr val="65727D"/>
                </ns123:solidFill>
                <ns123:latin typeface="Arial"/>
                <ns123:ea typeface="Arial"/>
                <ns123:cs typeface="Arial"/>
              </ns123:rPr>
              <ns123:t>Company workflow</ns123:t>
            </ns123:r>
          </ns123:p>
        </p:txBody>
      </p:sp>
      <p:sp>
        <p:nvSpPr>
          <p:cNvPr id="123" name="cross.office.0"/>
          <p:cNvSpPr/>
          <p:nvPr/>
        </p:nvSpPr>
        <p:spPr>
          <ns124:xfrm xmlns:ns124="http://schemas.openxmlformats.org/drawingml/2006/main">
            <ns124:off x="2422800" y="1476000"/>
            <ns124:ext cx="2005200" cy="2160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5000"/>
              </ns130:lnSpc>
              <ns130:defRPr sz="1300" b="0">
                <ns130:solidFill>
                  <ns130:srgbClr val="005A9C"/>
                </ns130:solidFill>
                <ns130:latin typeface="Arial"/>
                <ns130:ea typeface="Arial"/>
                <ns130:cs typeface="Arial"/>
              </ns130:defRPr>
            </ns130:pPr>
            <ns130:r>
              <ns130:rPr sz="1300" b="0">
                <ns130:solidFill>
                  <ns130:srgbClr val="005A9C"/>
                </ns130:solidFill>
                <ns130:latin typeface="Arial"/>
                <ns130:ea typeface="Arial"/>
                <ns130:cs typeface="Arial"/>
              </ns130:rPr>
              <ns130:t>Front office</ns130:t>
            </ns130:r>
          </ns130:p>
        </p:txBody>
      </p:sp>
      <p:sp>
        <p:nvSpPr>
          <p:cNvPr id="124" name="cross.office.1"/>
          <p:cNvSpPr/>
          <p:nvPr/>
        </p:nvSpPr>
        <p:spPr>
          <ns131:xfrm xmlns:ns131="http://schemas.openxmlformats.org/drawingml/2006/main">
            <ns131:off x="4554000" y="1476000"/>
            <ns131:ext cx="2005200" cy="216000"/>
          </ns131:xfrm>
          <ns132:prstGeom xmlns:ns132="http://schemas.openxmlformats.org/drawingml/2006/main" prst="rect">
            <ns132:avLst/>
          </ns132:prstGeom>
          <ns133:noFill xmlns:ns133="http://schemas.openxmlformats.org/drawingml/2006/main"/>
          <ns134:ln xmlns:ns134="http://schemas.openxmlformats.org/drawingml/2006/main" w="0">
            <ns134:noFill/>
          </ns134:ln>
        </p:spPr>
        <p:txBody>
          <ns135:bodyPr xmlns:ns135="http://schemas.openxmlformats.org/drawingml/2006/main" wrap="square" lIns="0" rIns="0" tIns="0" bIns="0" anchor="t">
            <ns135:noAutofit/>
          </ns135:bodyPr>
          <ns136:lstStyle xmlns:ns136="http://schemas.openxmlformats.org/drawingml/2006/main"/>
          <ns137:p xmlns:ns137="http://schemas.openxmlformats.org/drawingml/2006/main">
            <ns137:pPr algn="l">
              <ns137:lnSpc>
                <ns137:spcPct val="105000"/>
              </ns137:lnSpc>
              <ns137:defRPr sz="1300" b="0">
                <ns137:solidFill>
                  <ns137:srgbClr val="005A9C"/>
                </ns137:solidFill>
                <ns137:latin typeface="Arial"/>
                <ns137:ea typeface="Arial"/>
                <ns137:cs typeface="Arial"/>
              </ns137:defRPr>
            </ns137:pPr>
            <ns137:r>
              <ns137:rPr sz="1300" b="0">
                <ns137:solidFill>
                  <ns137:srgbClr val="005A9C"/>
                </ns137:solidFill>
                <ns137:latin typeface="Arial"/>
                <ns137:ea typeface="Arial"/>
                <ns137:cs typeface="Arial"/>
              </ns137:rPr>
              <ns137:t>Middle office</ns137:t>
            </ns137:r>
          </ns137:p>
        </p:txBody>
      </p:sp>
      <p:sp>
        <p:nvSpPr>
          <p:cNvPr id="125" name="cross.office.2"/>
          <p:cNvSpPr/>
          <p:nvPr/>
        </p:nvSpPr>
        <p:spPr>
          <ns138:xfrm xmlns:ns138="http://schemas.openxmlformats.org/drawingml/2006/main">
            <ns138:off x="6685200" y="1476000"/>
            <ns138:ext cx="2001600" cy="2160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5000"/>
              </ns144:lnSpc>
              <ns144:defRPr sz="1300" b="0">
                <ns144:solidFill>
                  <ns144:srgbClr val="005A9C"/>
                </ns144:solidFill>
                <ns144:latin typeface="Arial"/>
                <ns144:ea typeface="Arial"/>
                <ns144:cs typeface="Arial"/>
              </ns144:defRPr>
            </ns144:pPr>
            <ns144:r>
              <ns144:rPr sz="1300" b="0">
                <ns144:solidFill>
                  <ns144:srgbClr val="005A9C"/>
                </ns144:solidFill>
                <ns144:latin typeface="Arial"/>
                <ns144:ea typeface="Arial"/>
                <ns144:cs typeface="Arial"/>
              </ns144:rPr>
              <ns144:t>Back office</ns144:t>
            </ns144:r>
          </ns144:p>
        </p:txBody>
      </p:sp>
      <p:sp>
        <p:nvSpPr>
          <p:cNvPr id="126" name="story.issuer.label"/>
          <p:cNvSpPr/>
          <p:nvPr/>
        </p:nvSpPr>
        <p:spPr>
          <ns145:xfrm xmlns:ns145="http://schemas.openxmlformats.org/drawingml/2006/main">
            <ns145:off x="2422800" y="1800000"/>
            <ns145:ext cx="6264000" cy="180000"/>
          </ns145:xfrm>
          <ns146:prstGeom xmlns:ns146="http://schemas.openxmlformats.org/drawingml/2006/main" prst="rect">
            <ns146:avLst/>
          </ns146:prstGeom>
          <ns147:noFill xmlns:ns147="http://schemas.openxmlformats.org/drawingml/2006/main"/>
          <ns148:ln xmlns:ns148="http://schemas.openxmlformats.org/drawingml/2006/main" w="0">
            <ns148:noFill/>
          </ns148:ln>
        </p:spPr>
        <p:txBody>
          <ns149:bodyPr xmlns:ns149="http://schemas.openxmlformats.org/drawingml/2006/main" wrap="square" lIns="0" rIns="0" tIns="0" bIns="0" anchor="t">
            <ns149:noAutofit/>
          </ns149:bodyPr>
          <ns150:lstStyle xmlns:ns150="http://schemas.openxmlformats.org/drawingml/2006/main"/>
          <ns151:p xmlns:ns151="http://schemas.openxmlformats.org/drawingml/2006/main">
            <ns151:pPr algn="l">
              <ns151:lnSpc>
                <ns151:spcPct val="105000"/>
              </ns151:lnSpc>
              <ns151:defRPr sz="1200" b="0">
                <ns151:solidFill>
                  <ns151:srgbClr val="317F7B"/>
                </ns151:solidFill>
                <ns151:latin typeface="Arial"/>
                <ns151:ea typeface="Arial"/>
                <ns151:cs typeface="Arial"/>
              </ns151:defRPr>
            </ns151:pPr>
            <ns151:r>
              <ns151:rPr sz="1200" b="0">
                <ns151:solidFill>
                  <ns151:srgbClr val="317F7B"/>
                </ns151:solidFill>
                <ns151:latin typeface="Arial"/>
                <ns151:ea typeface="Arial"/>
                <ns151:cs typeface="Arial"/>
              </ns151:rPr>
              <ns151:t>Company A information</ns151:t>
            </ns151:r>
          </ns151:p>
        </p:txBody>
      </p:sp>
      <p:sp>
        <p:nvSpPr>
          <p:cNvPr id="127" name="issuer.office.state.0"/>
          <p:cNvSpPr/>
          <p:nvPr/>
        </p:nvSpPr>
        <p:spPr>
          <ns152:xfrm xmlns:ns152="http://schemas.openxmlformats.org/drawingml/2006/main">
            <ns152:off x="2422800" y="2070000"/>
            <ns152:ext cx="2005200" cy="846000"/>
          </ns152:xfrm>
          <ns153:prstGeom xmlns:ns153="http://schemas.openxmlformats.org/drawingml/2006/main" prst="rect">
            <ns153:avLst/>
          </ns153:prstGeom>
          <ns154:solidFill xmlns:ns154="http://schemas.openxmlformats.org/drawingml/2006/main">
            <ns154:srgbClr val="EFF6F4"/>
          </ns154:solidFill>
          <ns155:ln xmlns:ns155="http://schemas.openxmlformats.org/drawingml/2006/main" w="9525">
            <ns155:solidFill>
              <ns155:srgbClr val="317F7B"/>
            </ns155:solidFill>
          </ns155:ln>
        </p:spPr>
        <p:txBody>
          <ns156:bodyPr xmlns:ns156="http://schemas.openxmlformats.org/drawingml/2006/main" wrap="square" lIns="61200" rIns="61200" tIns="61200" bIns="61200" anchor="ctr">
            <ns156:noAutofit/>
          </ns156:bodyPr>
          <ns157:lstStyle xmlns:ns157="http://schemas.openxmlformats.org/drawingml/2006/main"/>
          <ns158:p xmlns:ns158="http://schemas.openxmlformats.org/drawingml/2006/main">
            <ns158:pPr algn="l">
              <ns158:lnSpc>
                <ns158:spcPct val="105000"/>
              </ns158:lnSpc>
              <ns158:defRPr sz="1300" b="1">
                <ns158:solidFill>
                  <ns158:srgbClr val="317F7B"/>
                </ns158:solidFill>
                <ns158:latin typeface="Arial"/>
                <ns158:ea typeface="Arial"/>
                <ns158:cs typeface="Arial"/>
              </ns158:defRPr>
            </ns158:pPr>
            <ns158:r>
              <ns158:rPr sz="1300" b="1">
                <ns158:solidFill>
                  <ns158:srgbClr val="317F7B"/>
                </ns158:solidFill>
                <ns158:latin typeface="Arial"/>
                <ns158:ea typeface="Arial"/>
                <ns158:cs typeface="Arial"/>
              </ns158:rPr>
              <ns158:t>Research / trading</ns158:t>
            </ns158:r>
          </ns158:p>
          <ns159:p xmlns:ns159="http://schemas.openxmlformats.org/drawingml/2006/main">
            <ns159:pPr algn="l">
              <ns159:lnSpc>
                <ns159:spcPct val="105000"/>
              </ns159:lnSpc>
              <ns159:defRPr sz="1100" b="0">
                <ns159:solidFill>
                  <ns159:srgbClr val="20262C"/>
                </ns159:solidFill>
                <ns159:latin typeface="Arial"/>
                <ns159:ea typeface="Arial"/>
                <ns159:cs typeface="Arial"/>
              </ns159:defRPr>
            </ns159:pPr>
            <ns159:r>
              <ns159:rPr sz="1100" b="0">
                <ns159:solidFill>
                  <ns159:srgbClr val="20262C"/>
                </ns159:solidFill>
                <ns159:latin typeface="Arial"/>
                <ns159:ea typeface="Arial"/>
                <ns159:cs typeface="Arial"/>
              </ns159:rPr>
              <ns159:t>Company analysis</ns159:t>
            </ns159:r>
          </ns159:p>
          <ns160:p xmlns:ns160="http://schemas.openxmlformats.org/drawingml/2006/main">
            <ns160:pPr algn="l">
              <ns160:lnSpc>
                <ns160:spcPct val="105000"/>
              </ns160:lnSpc>
              <ns160:defRPr sz="1100" b="0">
                <ns160:solidFill>
                  <ns160:srgbClr val="20262C"/>
                </ns160:solidFill>
                <ns160:latin typeface="Arial"/>
                <ns160:ea typeface="Arial"/>
                <ns160:cs typeface="Arial"/>
              </ns160:defRPr>
            </ns160:pPr>
            <ns160:r>
              <ns160:rPr sz="1100" b="0">
                <ns160:solidFill>
                  <ns160:srgbClr val="20262C"/>
                </ns160:solidFill>
                <ns160:latin typeface="Arial"/>
                <ns160:ea typeface="Arial"/>
                <ns160:cs typeface="Arial"/>
              </ns160:rPr>
              <ns160:t>Bond / quote summary</ns160:t>
            </ns160:r>
          </ns160:p>
        </p:txBody>
      </p:sp>
      <p:sp>
        <p:nvSpPr>
          <p:cNvPr id="128" name="issuer.office.state.1"/>
          <p:cNvSpPr/>
          <p:nvPr/>
        </p:nvSpPr>
        <p:spPr>
          <ns161:xfrm xmlns:ns161="http://schemas.openxmlformats.org/drawingml/2006/main">
            <ns161:off x="4554000" y="2070000"/>
            <ns161:ext cx="2005200" cy="846000"/>
          </ns161:xfrm>
          <ns162:prstGeom xmlns:ns162="http://schemas.openxmlformats.org/drawingml/2006/main" prst="rect">
            <ns162:avLst/>
          </ns162:prstGeom>
          <ns163:solidFill xmlns:ns163="http://schemas.openxmlformats.org/drawingml/2006/main">
            <ns163:srgbClr val="EFF6F4"/>
          </ns163:solidFill>
          <ns164:ln xmlns:ns164="http://schemas.openxmlformats.org/drawingml/2006/main" w="9525">
            <ns164:solidFill>
              <ns164:srgbClr val="317F7B"/>
            </ns164:solidFill>
          </ns164:ln>
        </p:spPr>
        <p:txBody>
          <ns165:bodyPr xmlns:ns165="http://schemas.openxmlformats.org/drawingml/2006/main" wrap="square" lIns="61200" rIns="61200" tIns="61200" bIns="61200" anchor="ctr">
            <ns165:noAutofit/>
          </ns165:bodyPr>
          <ns166:lstStyle xmlns:ns166="http://schemas.openxmlformats.org/drawingml/2006/main"/>
          <ns167:p xmlns:ns167="http://schemas.openxmlformats.org/drawingml/2006/main">
            <ns167:pPr algn="l">
              <ns167:lnSpc>
                <ns167:spcPct val="105000"/>
              </ns167:lnSpc>
              <ns167:defRPr sz="1300" b="1">
                <ns167:solidFill>
                  <ns167:srgbClr val="317F7B"/>
                </ns167:solidFill>
                <ns167:latin typeface="Arial"/>
                <ns167:ea typeface="Arial"/>
                <ns167:cs typeface="Arial"/>
              </ns167:defRPr>
            </ns167:pPr>
            <ns167:r>
              <ns167:rPr sz="1300" b="1">
                <ns167:solidFill>
                  <ns167:srgbClr val="317F7B"/>
                </ns167:solidFill>
                <ns167:latin typeface="Arial"/>
                <ns167:ea typeface="Arial"/>
                <ns167:cs typeface="Arial"/>
              </ns167:rPr>
              <ns167:t>Risk work</ns167:t>
            </ns167:r>
          </ns167:p>
          <ns168:p xmlns:ns168="http://schemas.openxmlformats.org/drawingml/2006/main">
            <ns168:pPr algn="l">
              <ns168:lnSpc>
                <ns168:spcPct val="105000"/>
              </ns168:lnSpc>
              <ns168:defRPr sz="1100" b="0">
                <ns168:solidFill>
                  <ns168:srgbClr val="20262C"/>
                </ns168:solidFill>
                <ns168:latin typeface="Arial"/>
                <ns168:ea typeface="Arial"/>
                <ns168:cs typeface="Arial"/>
              </ns168:defRPr>
            </ns168:pPr>
            <ns168:r>
              <ns168:rPr sz="1100" b="0">
                <ns168:solidFill>
                  <ns168:srgbClr val="20262C"/>
                </ns168:solidFill>
                <ns168:latin typeface="Arial"/>
                <ns168:ea typeface="Arial"/>
                <ns168:cs typeface="Arial"/>
              </ns168:rPr>
              <ns168:t>Event assessment</ns168:t>
            </ns168:r>
          </ns168:p>
          <ns169:p xmlns:ns169="http://schemas.openxmlformats.org/drawingml/2006/main">
            <ns169:pPr algn="l">
              <ns169:lnSpc>
                <ns169:spcPct val="105000"/>
              </ns169:lnSpc>
              <ns169:defRPr sz="1100" b="0">
                <ns169:solidFill>
                  <ns169:srgbClr val="20262C"/>
                </ns169:solidFill>
                <ns169:latin typeface="Arial"/>
                <ns169:ea typeface="Arial"/>
                <ns169:cs typeface="Arial"/>
              </ns169:defRPr>
            </ns169:pPr>
            <ns169:r>
              <ns169:rPr sz="1100" b="0">
                <ns169:solidFill>
                  <ns169:srgbClr val="20262C"/>
                </ns169:solidFill>
                <ns169:latin typeface="Arial"/>
                <ns169:ea typeface="Arial"/>
                <ns169:cs typeface="Arial"/>
              </ns169:rPr>
              <ns169:t>Exposure monitoring</ns169:t>
            </ns169:r>
          </ns169:p>
        </p:txBody>
      </p:sp>
      <p:sp>
        <p:nvSpPr>
          <p:cNvPr id="129" name="issuer.office.state.2"/>
          <p:cNvSpPr/>
          <p:nvPr/>
        </p:nvSpPr>
        <p:spPr>
          <ns170:xfrm xmlns:ns170="http://schemas.openxmlformats.org/drawingml/2006/main">
            <ns170:off x="6685200" y="2070000"/>
            <ns170:ext cx="2001600" cy="846000"/>
          </ns170:xfrm>
          <ns171:prstGeom xmlns:ns171="http://schemas.openxmlformats.org/drawingml/2006/main" prst="rect">
            <ns171:avLst/>
          </ns171:prstGeom>
          <ns172:solidFill xmlns:ns172="http://schemas.openxmlformats.org/drawingml/2006/main">
            <ns172:srgbClr val="EFF6F4"/>
          </ns172:solidFill>
          <ns173:ln xmlns:ns173="http://schemas.openxmlformats.org/drawingml/2006/main" w="9525">
            <ns173:solidFill>
              <ns173:srgbClr val="317F7B"/>
            </ns173:solidFill>
          </ns173:ln>
        </p:spPr>
        <p:txBody>
          <ns174:bodyPr xmlns:ns174="http://schemas.openxmlformats.org/drawingml/2006/main" wrap="square" lIns="61200" rIns="61200" tIns="61200" bIns="61200" anchor="ctr">
            <ns174:noAutofit/>
          </ns174:bodyPr>
          <ns175:lstStyle xmlns:ns175="http://schemas.openxmlformats.org/drawingml/2006/main"/>
          <ns176:p xmlns:ns176="http://schemas.openxmlformats.org/drawingml/2006/main">
            <ns176:pPr algn="l">
              <ns176:lnSpc>
                <ns176:spcPct val="105000"/>
              </ns176:lnSpc>
              <ns176:defRPr sz="1300" b="1">
                <ns176:solidFill>
                  <ns176:srgbClr val="317F7B"/>
                </ns176:solidFill>
                <ns176:latin typeface="Arial"/>
                <ns176:ea typeface="Arial"/>
                <ns176:cs typeface="Arial"/>
              </ns176:defRPr>
            </ns176:pPr>
            <ns176:r>
              <ns176:rPr sz="1300" b="1">
                <ns176:solidFill>
                  <ns176:srgbClr val="317F7B"/>
                </ns176:solidFill>
                <ns176:latin typeface="Arial"/>
                <ns176:ea typeface="Arial"/>
                <ns176:cs typeface="Arial"/>
              </ns176:rPr>
              <ns176:t>Operations</ns176:t>
            </ns176:r>
          </ns176:p>
          <ns177:p xmlns:ns177="http://schemas.openxmlformats.org/drawingml/2006/main">
            <ns177:pPr algn="l">
              <ns177:lnSpc>
                <ns177:spcPct val="105000"/>
              </ns177:lnSpc>
              <ns177:defRPr sz="1100" b="0">
                <ns177:solidFill>
                  <ns177:srgbClr val="20262C"/>
                </ns177:solidFill>
                <ns177:latin typeface="Arial"/>
                <ns177:ea typeface="Arial"/>
                <ns177:cs typeface="Arial"/>
              </ns177:defRPr>
            </ns177:pPr>
            <ns177:r>
              <ns177:rPr sz="1100" b="0">
                <ns177:solidFill>
                  <ns177:srgbClr val="20262C"/>
                </ns177:solidFill>
                <ns177:latin typeface="Arial"/>
                <ns177:ea typeface="Arial"/>
                <ns177:cs typeface="Arial"/>
              </ns177:rPr>
              <ns177:t>Related documents</ns177:t>
            </ns177:r>
          </ns177:p>
          <ns178:p xmlns:ns178="http://schemas.openxmlformats.org/drawingml/2006/main">
            <ns178:pPr algn="l">
              <ns178:lnSpc>
                <ns178:spcPct val="105000"/>
              </ns178:lnSpc>
              <ns178:defRPr sz="1100" b="0">
                <ns178:solidFill>
                  <ns178:srgbClr val="20262C"/>
                </ns178:solidFill>
                <ns178:latin typeface="Arial"/>
                <ns178:ea typeface="Arial"/>
                <ns178:cs typeface="Arial"/>
              </ns178:defRPr>
            </ns178:pPr>
            <ns178:r>
              <ns178:rPr sz="1100" b="0">
                <ns178:solidFill>
                  <ns178:srgbClr val="20262C"/>
                </ns178:solidFill>
                <ns178:latin typeface="Arial"/>
                <ns178:ea typeface="Arial"/>
                <ns178:cs typeface="Arial"/>
              </ns178:rPr>
              <ns178:t>Revision tracking</ns178:t>
            </ns178:r>
          </ns178:p>
        </p:txBody>
      </p:sp>
      <p:cxnSp>
        <p:nvCxnSpPr>
          <p:cNvPr id="130" name="issuer.share.forward.0"/>
          <p:cNvCxnSpPr/>
          <p:nvPr/>
        </p:nvCxnSpPr>
        <p:spPr>
          <ns179:xfrm xmlns:ns179="http://schemas.openxmlformats.org/drawingml/2006/main">
            <ns179:off x="4456800" y="2332800"/>
            <ns179:ext cx="61200" cy="1"/>
          </ns179:xfrm>
          <ns180:prstGeom xmlns:ns180="http://schemas.openxmlformats.org/drawingml/2006/main" prst="line">
            <ns180:avLst/>
          </ns180:prstGeom>
          <ns181:ln xmlns:ns181="http://schemas.openxmlformats.org/drawingml/2006/main" w="11430">
            <ns181:solidFill>
              <ns181:srgbClr val="317F7B"/>
            </ns181:solidFill>
            <ns181:tailEnd type="triangle" w="sm" len="sm"/>
          </ns181:ln>
        </p:spPr>
      </p:cxnSp>
      <p:cxnSp>
        <p:nvCxnSpPr>
          <p:cNvPr id="131" name="issuer.share.return.0"/>
          <p:cNvCxnSpPr/>
          <p:nvPr/>
        </p:nvCxnSpPr>
        <p:spPr>
          <ns182:xfrm xmlns:ns182="http://schemas.openxmlformats.org/drawingml/2006/main" flipH="1">
            <ns182:off x="4456800" y="2638800"/>
            <ns182:ext cx="61200" cy="1"/>
          </ns182:xfrm>
          <ns183:prstGeom xmlns:ns183="http://schemas.openxmlformats.org/drawingml/2006/main" prst="line">
            <ns183:avLst/>
          </ns183:prstGeom>
          <ns184:ln xmlns:ns184="http://schemas.openxmlformats.org/drawingml/2006/main" w="11430">
            <ns184:solidFill>
              <ns184:srgbClr val="317F7B"/>
            </ns184:solidFill>
            <ns184:tailEnd type="triangle" w="sm" len="sm"/>
          </ns184:ln>
        </p:spPr>
      </p:cxnSp>
      <p:cxnSp>
        <p:nvCxnSpPr>
          <p:cNvPr id="132" name="issuer.share.forward.1"/>
          <p:cNvCxnSpPr/>
          <p:nvPr/>
        </p:nvCxnSpPr>
        <p:spPr>
          <ns185:xfrm xmlns:ns185="http://schemas.openxmlformats.org/drawingml/2006/main">
            <ns185:off x="6588000" y="2332800"/>
            <ns185:ext cx="61200" cy="1"/>
          </ns185:xfrm>
          <ns186:prstGeom xmlns:ns186="http://schemas.openxmlformats.org/drawingml/2006/main" prst="line">
            <ns186:avLst/>
          </ns186:prstGeom>
          <ns187:ln xmlns:ns187="http://schemas.openxmlformats.org/drawingml/2006/main" w="11430">
            <ns187:solidFill>
              <ns187:srgbClr val="317F7B"/>
            </ns187:solidFill>
            <ns187:tailEnd type="triangle" w="sm" len="sm"/>
          </ns187:ln>
        </p:spPr>
      </p:cxnSp>
      <p:cxnSp>
        <p:nvCxnSpPr>
          <p:cNvPr id="133" name="issuer.share.return.1"/>
          <p:cNvCxnSpPr/>
          <p:nvPr/>
        </p:nvCxnSpPr>
        <p:spPr>
          <ns188:xfrm xmlns:ns188="http://schemas.openxmlformats.org/drawingml/2006/main" flipH="1">
            <ns188:off x="6588000" y="2638800"/>
            <ns188:ext cx="61200" cy="1"/>
          </ns188:xfrm>
          <ns189:prstGeom xmlns:ns189="http://schemas.openxmlformats.org/drawingml/2006/main" prst="line">
            <ns189:avLst/>
          </ns189:prstGeom>
          <ns190:ln xmlns:ns190="http://schemas.openxmlformats.org/drawingml/2006/main" w="11430">
            <ns190:solidFill>
              <ns190:srgbClr val="317F7B"/>
            </ns190:solidFill>
            <ns190:tailEnd type="triangle" w="sm" len="sm"/>
          </ns190:ln>
        </p:spPr>
      </p:cxnSp>
      <p:sp>
        <p:nvSpPr>
          <p:cNvPr id="134" name="story.client.label"/>
          <p:cNvSpPr/>
          <p:nvPr/>
        </p:nvSpPr>
        <p:spPr>
          <ns191:xfrm xmlns:ns191="http://schemas.openxmlformats.org/drawingml/2006/main">
            <ns191:off x="2422800" y="3168000"/>
            <ns191:ext cx="6264000" cy="180000"/>
          </ns191:xfrm>
          <ns192:prstGeom xmlns:ns192="http://schemas.openxmlformats.org/drawingml/2006/main" prst="rect">
            <ns192:avLst/>
          </ns192:prstGeom>
          <ns193:noFill xmlns:ns193="http://schemas.openxmlformats.org/drawingml/2006/main"/>
          <ns194:ln xmlns:ns194="http://schemas.openxmlformats.org/drawingml/2006/main" w="0">
            <ns194:noFill/>
          </ns194:ln>
        </p:spPr>
        <p:txBody>
          <ns195:bodyPr xmlns:ns195="http://schemas.openxmlformats.org/drawingml/2006/main" wrap="square" lIns="0" rIns="0" tIns="0" bIns="0" anchor="t">
            <ns195:noAutofit/>
          </ns195:bodyPr>
          <ns196:lstStyle xmlns:ns196="http://schemas.openxmlformats.org/drawingml/2006/main"/>
          <ns197:p xmlns:ns197="http://schemas.openxmlformats.org/drawingml/2006/main">
            <ns197:pPr algn="l">
              <ns197:lnSpc>
                <ns197:spcPct val="105000"/>
              </ns197:lnSpc>
              <ns197:defRPr sz="1200" b="0">
                <ns197:solidFill>
                  <ns197:srgbClr val="7363A6"/>
                </ns197:solidFill>
                <ns197:latin typeface="Arial"/>
                <ns197:ea typeface="Arial"/>
                <ns197:cs typeface="Arial"/>
              </ns197:defRPr>
            </ns197:pPr>
            <ns197:r>
              <ns197:rPr sz="1200" b="0">
                <ns197:solidFill>
                  <ns197:srgbClr val="7363A6"/>
                </ns197:solidFill>
                <ns197:latin typeface="Arial"/>
                <ns197:ea typeface="Arial"/>
                <ns197:cs typeface="Arial"/>
              </ns197:rPr>
              <ns197:t>Quarterly client update</ns197:t>
            </ns197:r>
          </ns197:p>
        </p:txBody>
      </p:sp>
      <p:sp>
        <p:nvSpPr>
          <p:cNvPr id="135" name="client.office.state.0"/>
          <p:cNvSpPr/>
          <p:nvPr/>
        </p:nvSpPr>
        <p:spPr>
          <ns198:xfrm xmlns:ns198="http://schemas.openxmlformats.org/drawingml/2006/main">
            <ns198:off x="2422800" y="3438000"/>
            <ns198:ext cx="2005200" cy="828000"/>
          </ns198:xfrm>
          <ns199:prstGeom xmlns:ns199="http://schemas.openxmlformats.org/drawingml/2006/main" prst="rect">
            <ns199:avLst/>
          </ns199:prstGeom>
          <ns200:solidFill xmlns:ns200="http://schemas.openxmlformats.org/drawingml/2006/main">
            <ns200:srgbClr val="F7F4FB"/>
          </ns200:solidFill>
          <ns201:ln xmlns:ns201="http://schemas.openxmlformats.org/drawingml/2006/main" w="9525">
            <ns201:solidFill>
              <ns201:srgbClr val="7363A6"/>
            </ns201:solidFill>
          </ns201:ln>
        </p:spPr>
        <p:txBody>
          <ns202:bodyPr xmlns:ns202="http://schemas.openxmlformats.org/drawingml/2006/main" wrap="square" lIns="61200" rIns="61200" tIns="61200" bIns="61200" anchor="ctr">
            <ns202:noAutofit/>
          </ns202:bodyPr>
          <ns203:lstStyle xmlns:ns203="http://schemas.openxmlformats.org/drawingml/2006/main"/>
          <ns204:p xmlns:ns204="http://schemas.openxmlformats.org/drawingml/2006/main">
            <ns204:pPr algn="l">
              <ns204:lnSpc>
                <ns204:spcPct val="105000"/>
              </ns204:lnSpc>
              <ns204:defRPr sz="1300" b="1">
                <ns204:solidFill>
                  <ns204:srgbClr val="7363A6"/>
                </ns204:solidFill>
                <ns204:latin typeface="Arial"/>
                <ns204:ea typeface="Arial"/>
                <ns204:cs typeface="Arial"/>
              </ns204:defRPr>
            </ns204:pPr>
            <ns204:r>
              <ns204:rPr sz="1300" b="1">
                <ns204:solidFill>
                  <ns204:srgbClr val="7363A6"/>
                </ns204:solidFill>
                <ns204:latin typeface="Arial"/>
                <ns204:ea typeface="Arial"/>
                <ns204:cs typeface="Arial"/>
              </ns204:rPr>
              <ns204:t>Draft V1</ns204:t>
            </ns204:r>
          </ns204:p>
          <ns205:p xmlns:ns205="http://schemas.openxmlformats.org/drawingml/2006/main">
            <ns205:pPr algn="l">
              <ns205:lnSpc>
                <ns205:spcPct val="105000"/>
              </ns205:lnSpc>
              <ns205:defRPr sz="1150" b="0">
                <ns205:solidFill>
                  <ns205:srgbClr val="20262C"/>
                </ns205:solidFill>
                <ns205:latin typeface="Arial"/>
                <ns205:ea typeface="Arial"/>
                <ns205:cs typeface="Arial"/>
              </ns205:defRPr>
            </ns205:pPr>
            <ns205:r>
              <ns205:rPr sz="1150" b="0">
                <ns205:solidFill>
                  <ns205:srgbClr val="20262C"/>
                </ns205:solidFill>
                <ns205:latin typeface="Arial"/>
                <ns205:ea typeface="Arial"/>
                <ns205:cs typeface="Arial"/>
              </ns205:rPr>
              <ns205:t>Client team</ns205:t>
            </ns205:r>
          </ns205:p>
        </p:txBody>
      </p:sp>
      <p:cxnSp>
        <p:nvCxnSpPr>
          <p:cNvPr id="136" name="client.version.handoff.0"/>
          <p:cNvCxnSpPr/>
          <p:nvPr/>
        </p:nvCxnSpPr>
        <p:spPr>
          <ns206:xfrm xmlns:ns206="http://schemas.openxmlformats.org/drawingml/2006/main">
            <ns206:off x="4456800" y="3852000"/>
            <ns206:ext cx="61200" cy="1"/>
          </ns206:xfrm>
          <ns207:prstGeom xmlns:ns207="http://schemas.openxmlformats.org/drawingml/2006/main" prst="line">
            <ns207:avLst/>
          </ns207:prstGeom>
          <ns208:ln xmlns:ns208="http://schemas.openxmlformats.org/drawingml/2006/main" w="11430">
            <ns208:solidFill>
              <ns208:srgbClr val="7363A6"/>
            </ns208:solidFill>
            <ns208:tailEnd type="triangle" w="sm" len="sm"/>
          </ns208:ln>
        </p:spPr>
      </p:cxnSp>
      <p:sp>
        <p:nvSpPr>
          <p:cNvPr id="137" name="client.office.state.1"/>
          <p:cNvSpPr/>
          <p:nvPr/>
        </p:nvSpPr>
        <p:spPr>
          <ns209:xfrm xmlns:ns209="http://schemas.openxmlformats.org/drawingml/2006/main">
            <ns209:off x="4554000" y="3438000"/>
            <ns209:ext cx="2005200" cy="828000"/>
          </ns209:xfrm>
          <ns210:prstGeom xmlns:ns210="http://schemas.openxmlformats.org/drawingml/2006/main" prst="rect">
            <ns210:avLst/>
          </ns210:prstGeom>
          <ns211:solidFill xmlns:ns211="http://schemas.openxmlformats.org/drawingml/2006/main">
            <ns211:srgbClr val="F7F4FB"/>
          </ns211:solidFill>
          <ns212:ln xmlns:ns212="http://schemas.openxmlformats.org/drawingml/2006/main" w="9525">
            <ns212:solidFill>
              <ns212:srgbClr val="7363A6"/>
            </ns212:solidFill>
          </ns212:ln>
        </p:spPr>
        <p:txBody>
          <ns213:bodyPr xmlns:ns213="http://schemas.openxmlformats.org/drawingml/2006/main" wrap="square" lIns="61200" rIns="61200" tIns="61200" bIns="61200" anchor="ctr">
            <ns213:noAutofit/>
          </ns213:bodyPr>
          <ns214:lstStyle xmlns:ns214="http://schemas.openxmlformats.org/drawingml/2006/main"/>
          <ns215:p xmlns:ns215="http://schemas.openxmlformats.org/drawingml/2006/main">
            <ns215:pPr algn="l">
              <ns215:lnSpc>
                <ns215:spcPct val="105000"/>
              </ns215:lnSpc>
              <ns215:defRPr sz="1300" b="1">
                <ns215:solidFill>
                  <ns215:srgbClr val="7363A6"/>
                </ns215:solidFill>
                <ns215:latin typeface="Arial"/>
                <ns215:ea typeface="Arial"/>
                <ns215:cs typeface="Arial"/>
              </ns215:defRPr>
            </ns215:pPr>
            <ns215:r>
              <ns215:rPr sz="1300" b="1">
                <ns215:solidFill>
                  <ns215:srgbClr val="7363A6"/>
                </ns215:solidFill>
                <ns215:latin typeface="Arial"/>
                <ns215:ea typeface="Arial"/>
                <ns215:cs typeface="Arial"/>
              </ns215:rPr>
              <ns215:t>Reviewed V2</ns215:t>
            </ns215:r>
          </ns215:p>
          <ns216:p xmlns:ns216="http://schemas.openxmlformats.org/drawingml/2006/main">
            <ns216:pPr algn="l">
              <ns216:lnSpc>
                <ns216:spcPct val="105000"/>
              </ns216:lnSpc>
              <ns216:defRPr sz="1150" b="0">
                <ns216:solidFill>
                  <ns216:srgbClr val="20262C"/>
                </ns216:solidFill>
                <ns216:latin typeface="Arial"/>
                <ns216:ea typeface="Arial"/>
                <ns216:cs typeface="Arial"/>
              </ns216:defRPr>
            </ns216:pPr>
            <ns216:r>
              <ns216:rPr sz="1150" b="0">
                <ns216:solidFill>
                  <ns216:srgbClr val="20262C"/>
                </ns216:solidFill>
                <ns216:latin typeface="Arial"/>
                <ns216:ea typeface="Arial"/>
                <ns216:cs typeface="Arial"/>
              </ns216:rPr>
              <ns216:t>Author / reviewer</ns216:t>
            </ns216:r>
          </ns216:p>
        </p:txBody>
      </p:sp>
      <p:cxnSp>
        <p:nvCxnSpPr>
          <p:cNvPr id="138" name="client.version.handoff.1"/>
          <p:cNvCxnSpPr/>
          <p:nvPr/>
        </p:nvCxnSpPr>
        <p:spPr>
          <ns217:xfrm xmlns:ns217="http://schemas.openxmlformats.org/drawingml/2006/main">
            <ns217:off x="6588000" y="3852000"/>
            <ns217:ext cx="61200" cy="1"/>
          </ns217:xfrm>
          <ns218:prstGeom xmlns:ns218="http://schemas.openxmlformats.org/drawingml/2006/main" prst="line">
            <ns218:avLst/>
          </ns218:prstGeom>
          <ns219:ln xmlns:ns219="http://schemas.openxmlformats.org/drawingml/2006/main" w="11430">
            <ns219:solidFill>
              <ns219:srgbClr val="7363A6"/>
            </ns219:solidFill>
            <ns219:tailEnd type="triangle" w="sm" len="sm"/>
          </ns219:ln>
        </p:spPr>
      </p:cxnSp>
      <p:sp>
        <p:nvSpPr>
          <p:cNvPr id="139" name="client.office.state.2"/>
          <p:cNvSpPr/>
          <p:nvPr/>
        </p:nvSpPr>
        <p:spPr>
          <ns220:xfrm xmlns:ns220="http://schemas.openxmlformats.org/drawingml/2006/main">
            <ns220:off x="6685200" y="3438000"/>
            <ns220:ext cx="2001600" cy="828000"/>
          </ns220:xfrm>
          <ns221:prstGeom xmlns:ns221="http://schemas.openxmlformats.org/drawingml/2006/main" prst="rect">
            <ns221:avLst/>
          </ns221:prstGeom>
          <ns222:solidFill xmlns:ns222="http://schemas.openxmlformats.org/drawingml/2006/main">
            <ns222:srgbClr val="F7F4FB"/>
          </ns222:solidFill>
          <ns223:ln xmlns:ns223="http://schemas.openxmlformats.org/drawingml/2006/main" w="9525">
            <ns223:solidFill>
              <ns223:srgbClr val="7363A6"/>
            </ns223:solidFill>
          </ns223:ln>
        </p:spPr>
        <p:txBody>
          <ns224:bodyPr xmlns:ns224="http://schemas.openxmlformats.org/drawingml/2006/main" wrap="square" lIns="61200" rIns="61200" tIns="61200" bIns="61200" anchor="ctr">
            <ns224:noAutofit/>
          </ns224:bodyPr>
          <ns225:lstStyle xmlns:ns225="http://schemas.openxmlformats.org/drawingml/2006/main"/>
          <ns226:p xmlns:ns226="http://schemas.openxmlformats.org/drawingml/2006/main">
            <ns226:pPr algn="l">
              <ns226:lnSpc>
                <ns226:spcPct val="105000"/>
              </ns226:lnSpc>
              <ns226:defRPr sz="1300" b="1">
                <ns226:solidFill>
                  <ns226:srgbClr val="7363A6"/>
                </ns226:solidFill>
                <ns226:latin typeface="Arial"/>
                <ns226:ea typeface="Arial"/>
                <ns226:cs typeface="Arial"/>
              </ns226:defRPr>
            </ns226:pPr>
            <ns226:r>
              <ns226:rPr sz="1300" b="1">
                <ns226:solidFill>
                  <ns226:srgbClr val="7363A6"/>
                </ns226:solidFill>
                <ns226:latin typeface="Arial"/>
                <ns226:ea typeface="Arial"/>
                <ns226:cs typeface="Arial"/>
              </ns226:rPr>
              <ns226:t>Version comparison</ns226:t>
            </ns226:r>
          </ns226:p>
          <ns227:p xmlns:ns227="http://schemas.openxmlformats.org/drawingml/2006/main">
            <ns227:pPr algn="l">
              <ns227:lnSpc>
                <ns227:spcPct val="105000"/>
              </ns227:lnSpc>
              <ns227:defRPr sz="1150" b="0">
                <ns227:solidFill>
                  <ns227:srgbClr val="20262C"/>
                </ns227:solidFill>
                <ns227:latin typeface="Arial"/>
                <ns227:ea typeface="Arial"/>
                <ns227:cs typeface="Arial"/>
              </ns227:defRPr>
            </ns227:pPr>
            <ns227:r>
              <ns227:rPr sz="1150" b="0">
                <ns227:solidFill>
                  <ns227:srgbClr val="20262C"/>
                </ns227:solidFill>
                <ns227:latin typeface="Arial"/>
                <ns227:ea typeface="Arial"/>
                <ns227:cs typeface="Arial"/>
              </ns227:rPr>
              <ns227:t>Related updates</ns227:t>
            </ns227:r>
          </ns227:p>
        </p:txBody>
      </p:sp>
    </p:spTree>
    <p:extLst>
      <p:ext uri="{BB962C8B-B14F-4D97-AF65-F5344CB8AC3E}">
        <p14:creationId xmlns:p14="http://schemas.microsoft.com/office/powerpoint/2010/main" val="101643060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Shared information, models and tools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Shared capabilities</ns13:t>
            </ns13:r>
          </ns13:p>
        </p:txBody>
      </p:sp>
      <p:sp>
        <p:nvSpPr>
          <p:cNvPr id="103" name="source.note"/>
          <p:cNvSpPr/>
          <p:nvPr/>
        </p:nvSpPr>
        <p:spPr>
          <ns14:xfrm xmlns:ns14="http://schemas.openxmlformats.org/drawingml/2006/main">
            <ns14:off x="457200" y="4582800"/>
            <ns14:ext cx="8229600" cy="100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700" b="0">
                <ns20:solidFill>
                  <ns20:srgbClr val="65727D"/>
                </ns20:solidFill>
                <ns20:latin typeface="Arial"/>
                <ns20:ea typeface="Arial"/>
                <ns20:cs typeface="Arial"/>
              </ns20:defRPr>
            </ns20:pPr>
            <ns20:r>
              <ns20:rPr sz="700" b="0">
                <ns20:solidFill>
                  <ns20:srgbClr val="65727D"/>
                </ns20:solidFill>
                <ns20:latin typeface="Arial"/>
                <ns20:ea typeface="Arial"/>
                <ns20:cs typeface="Arial"/>
              </ns20:rPr>
              <ns20:t>Sources: Tianhong; Southern; ICBCUBS / AMAC</ns20:t>
            </ns20:r>
          </ns20:p>
        </p:txBody>
      </p:sp>
      <p:sp>
        <p:nvSpPr>
          <p:cNvPr id="104"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105"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106"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107"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108" name="map.task.focus.trade"/>
          <p:cNvSpPr/>
          <p:nvPr/>
        </p:nvSpPr>
        <p:spPr>
          <ns42:xfrm xmlns:ns42="http://schemas.openxmlformats.org/drawingml/2006/main">
            <ns42:off x="486000" y="1998000"/>
            <ns42:ext cx="1677600" cy="176400"/>
          </ns42:xfrm>
          <ns43:prstGeom xmlns:ns43="http://schemas.openxmlformats.org/drawingml/2006/main" prst="rect">
            <ns43:avLst/>
          </ns43:prstGeom>
          <ns44:solidFill xmlns:ns44="http://schemas.openxmlformats.org/drawingml/2006/main">
            <ns44:srgbClr val="D9EAF7"/>
          </ns44:solidFill>
          <ns45:ln xmlns:ns45="http://schemas.openxmlformats.org/drawingml/2006/main" w="0">
            <ns45:noFill/>
          </ns45:ln>
        </p:spPr>
      </p:sp>
      <p:sp>
        <p:nvSpPr>
          <p:cNvPr id="109" name="map.task.trade"/>
          <p:cNvSpPr/>
          <p:nvPr/>
        </p:nvSpPr>
        <p:spPr>
          <ns46:xfrm xmlns:ns46="http://schemas.openxmlformats.org/drawingml/2006/main">
            <ns46:off x="554400" y="2001600"/>
            <ns46:ext cx="1562400" cy="165600"/>
          </ns46:xfrm>
          <ns47:prstGeom xmlns:ns47="http://schemas.openxmlformats.org/drawingml/2006/main" prst="rect">
            <ns47:avLst/>
          </ns47:prstGeom>
          <ns48:noFill xmlns:ns48="http://schemas.openxmlformats.org/drawingml/2006/main"/>
          <ns49:ln xmlns:ns49="http://schemas.openxmlformats.org/drawingml/2006/main" w="0">
            <ns49:noFill/>
          </ns49:ln>
        </p:spPr>
        <p:txBody>
          <ns50:bodyPr xmlns:ns50="http://schemas.openxmlformats.org/drawingml/2006/main" wrap="square" lIns="0" rIns="0" tIns="0" bIns="0" anchor="t">
            <ns50:noAutofit/>
          </ns50:bodyPr>
          <ns51:lstStyle xmlns:ns51="http://schemas.openxmlformats.org/drawingml/2006/main"/>
          <ns52:p xmlns:ns52="http://schemas.openxmlformats.org/drawingml/2006/main">
            <ns52:pPr algn="l">
              <ns52:lnSpc>
                <ns52:spcPct val="105000"/>
              </ns52:lnSpc>
              <ns52:defRPr sz="1050" b="1">
                <ns52:solidFill>
                  <ns52:srgbClr val="005A9C"/>
                </ns52:solidFill>
                <ns52:latin typeface="Arial"/>
                <ns52:ea typeface="Arial"/>
                <ns52:cs typeface="Arial"/>
              </ns52:defRPr>
            </ns52:pPr>
            <ns52:r>
              <ns52:rPr sz="1050" b="1">
                <ns52:solidFill>
                  <ns52:srgbClr val="005A9C"/>
                </ns52:solidFill>
                <ns52:latin typeface="Arial"/>
                <ns52:ea typeface="Arial"/>
                <ns52:cs typeface="Arial"/>
              </ns52:rPr>
              <ns52:t>Trading support</ns52:t>
            </ns52:r>
          </ns52:p>
        </p:txBody>
      </p:sp>
      <p:sp>
        <p:nvSpPr>
          <p:cNvPr id="110" name="map.task.focus.client"/>
          <p:cNvSpPr/>
          <p:nvPr/>
        </p:nvSpPr>
        <p:spPr>
          <ns53:xfrm xmlns:ns53="http://schemas.openxmlformats.org/drawingml/2006/main">
            <ns53:off x="486000" y="2196000"/>
            <ns53:ext cx="1677600" cy="176400"/>
          </ns53:xfrm>
          <ns54:prstGeom xmlns:ns54="http://schemas.openxmlformats.org/drawingml/2006/main" prst="rect">
            <ns54:avLst/>
          </ns54:prstGeom>
          <ns55:solidFill xmlns:ns55="http://schemas.openxmlformats.org/drawingml/2006/main">
            <ns55:srgbClr val="D9EAF7"/>
          </ns55:solidFill>
          <ns56:ln xmlns:ns56="http://schemas.openxmlformats.org/drawingml/2006/main" w="0">
            <ns56:noFill/>
          </ns56:ln>
        </p:spPr>
      </p:sp>
      <p:sp>
        <p:nvSpPr>
          <p:cNvPr id="111" name="map.task.client"/>
          <p:cNvSpPr/>
          <p:nvPr/>
        </p:nvSpPr>
        <p:spPr>
          <ns57:xfrm xmlns:ns57="http://schemas.openxmlformats.org/drawingml/2006/main">
            <ns57:off x="554400" y="2199600"/>
            <ns57:ext cx="1562400" cy="165600"/>
          </ns57:xfrm>
          <ns58:prstGeom xmlns:ns58="http://schemas.openxmlformats.org/drawingml/2006/main" prst="rect">
            <ns58:avLst/>
          </ns58:prstGeom>
          <ns59:noFill xmlns:ns59="http://schemas.openxmlformats.org/drawingml/2006/main"/>
          <ns60:ln xmlns:ns60="http://schemas.openxmlformats.org/drawingml/2006/main" w="0">
            <ns60:noFill/>
          </ns60:ln>
        </p:spPr>
        <p:txBody>
          <ns61:bodyPr xmlns:ns61="http://schemas.openxmlformats.org/drawingml/2006/main" wrap="square" lIns="0" rIns="0" tIns="0" bIns="0" anchor="t">
            <ns61:noAutofit/>
          </ns61:bodyPr>
          <ns62:lstStyle xmlns:ns62="http://schemas.openxmlformats.org/drawingml/2006/main"/>
          <ns63:p xmlns:ns63="http://schemas.openxmlformats.org/drawingml/2006/main">
            <ns63:pPr algn="l">
              <ns63:lnSpc>
                <ns63:spcPct val="105000"/>
              </ns63:lnSpc>
              <ns63:defRPr sz="1050" b="1">
                <ns63:solidFill>
                  <ns63:srgbClr val="005A9C"/>
                </ns63:solidFill>
                <ns63:latin typeface="Arial"/>
                <ns63:ea typeface="Arial"/>
                <ns63:cs typeface="Arial"/>
              </ns63:defRPr>
            </ns63:pPr>
            <ns63:r>
              <ns63:rPr sz="1050" b="1">
                <ns63:solidFill>
                  <ns63:srgbClr val="005A9C"/>
                </ns63:solidFill>
                <ns63:latin typeface="Arial"/>
                <ns63:ea typeface="Arial"/>
                <ns63:cs typeface="Arial"/>
              </ns63:rPr>
              <ns63:t>Client materials</ns63:t>
            </ns63:r>
          </ns63:p>
        </p:txBody>
      </p:sp>
      <p:sp>
        <p:nvSpPr>
          <p:cNvPr id="112" name="map.office.1"/>
          <p:cNvSpPr/>
          <p:nvPr/>
        </p:nvSpPr>
        <p:spPr>
          <ns64:xfrm xmlns:ns64="http://schemas.openxmlformats.org/drawingml/2006/main">
            <ns64:off x="486000" y="2548800"/>
            <ns64:ext cx="1692000" cy="180000"/>
          </ns64:xfrm>
          <ns65:prstGeom xmlns:ns65="http://schemas.openxmlformats.org/drawingml/2006/main" prst="rect">
            <ns65:avLst/>
          </ns65:prstGeom>
          <ns66:noFill xmlns:ns66="http://schemas.openxmlformats.org/drawingml/2006/main"/>
          <ns67:ln xmlns:ns67="http://schemas.openxmlformats.org/drawingml/2006/main" w="0">
            <ns67:noFill/>
          </ns67:ln>
        </p:spPr>
        <p:txBody>
          <ns68:bodyPr xmlns:ns68="http://schemas.openxmlformats.org/drawingml/2006/main" wrap="square" lIns="0" rIns="0" tIns="0" bIns="0" anchor="t">
            <ns68:noAutofit/>
          </ns68:bodyPr>
          <ns69:lstStyle xmlns:ns69="http://schemas.openxmlformats.org/drawingml/2006/main"/>
          <ns70:p xmlns:ns70="http://schemas.openxmlformats.org/drawingml/2006/main">
            <ns70:pPr algn="l">
              <ns70:lnSpc>
                <ns70:spcPct val="105000"/>
              </ns70:lnSpc>
              <ns70:defRPr sz="1100" b="1">
                <ns70:solidFill>
                  <ns70:srgbClr val="005A9C"/>
                </ns70:solidFill>
                <ns70:latin typeface="Arial"/>
                <ns70:ea typeface="Arial"/>
                <ns70:cs typeface="Arial"/>
              </ns70:defRPr>
            </ns70:pPr>
            <ns70:r>
              <ns70:rPr sz="1100" b="1">
                <ns70:solidFill>
                  <ns70:srgbClr val="005A9C"/>
                </ns70:solidFill>
                <ns70:latin typeface="Arial"/>
                <ns70:ea typeface="Arial"/>
                <ns70:cs typeface="Arial"/>
              </ns70:rPr>
              <ns70:t>Middle office</ns70:t>
            </ns70:r>
          </ns70:p>
        </p:txBody>
      </p:sp>
      <p:cxnSp>
        <p:nvCxnSpPr>
          <p:cNvPr id="113" name="map.office.rule.1"/>
          <p:cNvCxnSpPr/>
          <p:nvPr/>
        </p:nvCxnSpPr>
        <p:spPr>
          <ns71:xfrm xmlns:ns71="http://schemas.openxmlformats.org/drawingml/2006/main">
            <ns71:off x="457200" y="2768400"/>
            <ns71:ext cx="1742400" cy="1"/>
          </ns71:xfrm>
          <ns72:prstGeom xmlns:ns72="http://schemas.openxmlformats.org/drawingml/2006/main" prst="line">
            <ns72:avLst/>
          </ns72:prstGeom>
          <ns73:ln xmlns:ns73="http://schemas.openxmlformats.org/drawingml/2006/main" w="7620">
            <ns73:solidFill>
              <ns73:srgbClr val="005A9C"/>
            </ns73:solidFill>
          </ns73:ln>
        </p:spPr>
      </p:cxnSp>
      <p:sp>
        <p:nvSpPr>
          <p:cNvPr id="114" name="map.task.focus.review"/>
          <p:cNvSpPr/>
          <p:nvPr/>
        </p:nvSpPr>
        <p:spPr>
          <ns74:xfrm xmlns:ns74="http://schemas.openxmlformats.org/drawingml/2006/main">
            <ns74:off x="486000" y="2844000"/>
            <ns74:ext cx="1677600" cy="176400"/>
          </ns74:xfrm>
          <ns75:prstGeom xmlns:ns75="http://schemas.openxmlformats.org/drawingml/2006/main" prst="rect">
            <ns75:avLst/>
          </ns75:prstGeom>
          <ns76:solidFill xmlns:ns76="http://schemas.openxmlformats.org/drawingml/2006/main">
            <ns76:srgbClr val="D9EAF7"/>
          </ns76:solidFill>
          <ns77:ln xmlns:ns77="http://schemas.openxmlformats.org/drawingml/2006/main" w="0">
            <ns77:noFill/>
          </ns77:ln>
        </p:spPr>
      </p:sp>
      <p:sp>
        <p:nvSpPr>
          <p:cNvPr id="115" name="map.task.review"/>
          <p:cNvSpPr/>
          <p:nvPr/>
        </p:nvSpPr>
        <p:spPr>
          <ns78:xfrm xmlns:ns78="http://schemas.openxmlformats.org/drawingml/2006/main">
            <ns78:off x="554400" y="2847600"/>
            <ns78:ext cx="1562400" cy="165600"/>
          </ns78:xfrm>
          <ns79:prstGeom xmlns:ns79="http://schemas.openxmlformats.org/drawingml/2006/main" prst="rect">
            <ns79:avLst/>
          </ns79:prstGeom>
          <ns80:noFill xmlns:ns80="http://schemas.openxmlformats.org/drawingml/2006/main"/>
          <ns81:ln xmlns:ns81="http://schemas.openxmlformats.org/drawingml/2006/main" w="0">
            <ns81:noFill/>
          </ns81:ln>
        </p:spPr>
        <p:txBody>
          <ns82:bodyPr xmlns:ns82="http://schemas.openxmlformats.org/drawingml/2006/main" wrap="square" lIns="0" rIns="0" tIns="0" bIns="0" anchor="t">
            <ns82:noAutofit/>
          </ns82:bodyPr>
          <ns83:lstStyle xmlns:ns83="http://schemas.openxmlformats.org/drawingml/2006/main"/>
          <ns84:p xmlns:ns84="http://schemas.openxmlformats.org/drawingml/2006/main">
            <ns84:pPr algn="l">
              <ns84:lnSpc>
                <ns84:spcPct val="105000"/>
              </ns84:lnSpc>
              <ns84:defRPr sz="1050" b="1">
                <ns84:solidFill>
                  <ns84:srgbClr val="005A9C"/>
                </ns84:solidFill>
                <ns84:latin typeface="Arial"/>
                <ns84:ea typeface="Arial"/>
                <ns84:cs typeface="Arial"/>
              </ns84:defRPr>
            </ns84:pPr>
            <ns84:r>
              <ns84:rPr sz="1050" b="1">
                <ns84:solidFill>
                  <ns84:srgbClr val="005A9C"/>
                </ns84:solidFill>
                <ns84:latin typeface="Arial"/>
                <ns84:ea typeface="Arial"/>
                <ns84:cs typeface="Arial"/>
              </ns84:rPr>
              <ns84:t>Content review</ns84:t>
            </ns84:r>
          </ns84:p>
        </p:txBody>
      </p:sp>
      <p:sp>
        <p:nvSpPr>
          <p:cNvPr id="116" name="map.task.focus.risk"/>
          <p:cNvSpPr/>
          <p:nvPr/>
        </p:nvSpPr>
        <p:spPr>
          <ns85:xfrm xmlns:ns85="http://schemas.openxmlformats.org/drawingml/2006/main">
            <ns85:off x="486000" y="3042000"/>
            <ns85:ext cx="1677600" cy="176400"/>
          </ns85:xfrm>
          <ns86:prstGeom xmlns:ns86="http://schemas.openxmlformats.org/drawingml/2006/main" prst="rect">
            <ns86:avLst/>
          </ns86:prstGeom>
          <ns87:solidFill xmlns:ns87="http://schemas.openxmlformats.org/drawingml/2006/main">
            <ns87:srgbClr val="D9EAF7"/>
          </ns87:solidFill>
          <ns88:ln xmlns:ns88="http://schemas.openxmlformats.org/drawingml/2006/main" w="0">
            <ns88:noFill/>
          </ns88:ln>
        </p:spPr>
      </p:sp>
      <p:sp>
        <p:nvSpPr>
          <p:cNvPr id="117" name="map.task.risk"/>
          <p:cNvSpPr/>
          <p:nvPr/>
        </p:nvSpPr>
        <p:spPr>
          <ns89:xfrm xmlns:ns89="http://schemas.openxmlformats.org/drawingml/2006/main">
            <ns89:off x="554400" y="3045600"/>
            <ns89:ext cx="1562400" cy="1656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5000"/>
              </ns95:lnSpc>
              <ns95:defRPr sz="1050" b="1">
                <ns95:solidFill>
                  <ns95:srgbClr val="005A9C"/>
                </ns95:solidFill>
                <ns95:latin typeface="Arial"/>
                <ns95:ea typeface="Arial"/>
                <ns95:cs typeface="Arial"/>
              </ns95:defRPr>
            </ns95:pPr>
            <ns95:r>
              <ns95:rPr sz="1050" b="1">
                <ns95:solidFill>
                  <ns95:srgbClr val="005A9C"/>
                </ns95:solidFill>
                <ns95:latin typeface="Arial"/>
                <ns95:ea typeface="Arial"/>
                <ns95:cs typeface="Arial"/>
              </ns95:rPr>
              <ns95:t>Risk analysis</ns95:t>
            </ns95:r>
          </ns95:p>
        </p:txBody>
      </p:sp>
      <p:sp>
        <p:nvSpPr>
          <p:cNvPr id="118" name="map.office.2"/>
          <p:cNvSpPr/>
          <p:nvPr/>
        </p:nvSpPr>
        <p:spPr>
          <ns96:xfrm xmlns:ns96="http://schemas.openxmlformats.org/drawingml/2006/main">
            <ns96:off x="486000" y="3391200"/>
            <ns96:ext cx="1692000" cy="180000"/>
          </ns96:xfrm>
          <ns97:prstGeom xmlns:ns97="http://schemas.openxmlformats.org/drawingml/2006/main" prst="rect">
            <ns97:avLst/>
          </ns97:prstGeom>
          <ns98:noFill xmlns:ns98="http://schemas.openxmlformats.org/drawingml/2006/main"/>
          <ns99:ln xmlns:ns99="http://schemas.openxmlformats.org/drawingml/2006/main" w="0">
            <ns99:noFill/>
          </ns99:ln>
        </p:spPr>
        <p:txBody>
          <ns100:bodyPr xmlns:ns100="http://schemas.openxmlformats.org/drawingml/2006/main" wrap="square" lIns="0" rIns="0" tIns="0" bIns="0" anchor="t">
            <ns100:noAutofit/>
          </ns100:bodyPr>
          <ns101:lstStyle xmlns:ns101="http://schemas.openxmlformats.org/drawingml/2006/main"/>
          <ns102:p xmlns:ns102="http://schemas.openxmlformats.org/drawingml/2006/main">
            <ns102:pPr algn="l">
              <ns102:lnSpc>
                <ns102:spcPct val="105000"/>
              </ns102:lnSpc>
              <ns102:defRPr sz="1100" b="1">
                <ns102:solidFill>
                  <ns102:srgbClr val="005A9C"/>
                </ns102:solidFill>
                <ns102:latin typeface="Arial"/>
                <ns102:ea typeface="Arial"/>
                <ns102:cs typeface="Arial"/>
              </ns102:defRPr>
            </ns102:pPr>
            <ns102:r>
              <ns102:rPr sz="1100" b="1">
                <ns102:solidFill>
                  <ns102:srgbClr val="005A9C"/>
                </ns102:solidFill>
                <ns102:latin typeface="Arial"/>
                <ns102:ea typeface="Arial"/>
                <ns102:cs typeface="Arial"/>
              </ns102:rPr>
              <ns102:t>Back office</ns102:t>
            </ns102:r>
          </ns102:p>
        </p:txBody>
      </p:sp>
      <p:cxnSp>
        <p:nvCxnSpPr>
          <p:cNvPr id="119" name="map.office.rule.2"/>
          <p:cNvCxnSpPr/>
          <p:nvPr/>
        </p:nvCxnSpPr>
        <p:spPr>
          <ns103:xfrm xmlns:ns103="http://schemas.openxmlformats.org/drawingml/2006/main">
            <ns103:off x="457200" y="3610800"/>
            <ns103:ext cx="1742400" cy="1"/>
          </ns103:xfrm>
          <ns104:prstGeom xmlns:ns104="http://schemas.openxmlformats.org/drawingml/2006/main" prst="line">
            <ns104:avLst/>
          </ns104:prstGeom>
          <ns105:ln xmlns:ns105="http://schemas.openxmlformats.org/drawingml/2006/main" w="7620">
            <ns105:solidFill>
              <ns105:srgbClr val="005A9C"/>
            </ns105:solidFill>
          </ns105:ln>
        </p:spPr>
      </p:cxnSp>
      <p:sp>
        <p:nvSpPr>
          <p:cNvPr id="120" name="map.task.focus.files"/>
          <p:cNvSpPr/>
          <p:nvPr/>
        </p:nvSpPr>
        <p:spPr>
          <ns106:xfrm xmlns:ns106="http://schemas.openxmlformats.org/drawingml/2006/main">
            <ns106:off x="486000" y="3686400"/>
            <ns106:ext cx="1677600" cy="176400"/>
          </ns106:xfrm>
          <ns107:prstGeom xmlns:ns107="http://schemas.openxmlformats.org/drawingml/2006/main" prst="rect">
            <ns107:avLst/>
          </ns107:prstGeom>
          <ns108:solidFill xmlns:ns108="http://schemas.openxmlformats.org/drawingml/2006/main">
            <ns108:srgbClr val="D9EAF7"/>
          </ns108:solidFill>
          <ns109:ln xmlns:ns109="http://schemas.openxmlformats.org/drawingml/2006/main" w="0">
            <ns109:noFill/>
          </ns109:ln>
        </p:spPr>
      </p:sp>
      <p:sp>
        <p:nvSpPr>
          <p:cNvPr id="121" name="map.task.files"/>
          <p:cNvSpPr/>
          <p:nvPr/>
        </p:nvSpPr>
        <p:spPr>
          <ns110:xfrm xmlns:ns110="http://schemas.openxmlformats.org/drawingml/2006/main">
            <ns110:off x="554400" y="3690000"/>
            <ns110:ext cx="1562400" cy="165600"/>
          </ns110:xfrm>
          <ns111:prstGeom xmlns:ns111="http://schemas.openxmlformats.org/drawingml/2006/main" prst="rect">
            <ns111:avLst/>
          </ns111:prstGeom>
          <ns112:noFill xmlns:ns112="http://schemas.openxmlformats.org/drawingml/2006/main"/>
          <ns113:ln xmlns:ns113="http://schemas.openxmlformats.org/drawingml/2006/main" w="0">
            <ns113:noFill/>
          </ns113:ln>
        </p:spPr>
        <p:txBody>
          <ns114:bodyPr xmlns:ns114="http://schemas.openxmlformats.org/drawingml/2006/main" wrap="square" lIns="0" rIns="0" tIns="0" bIns="0" anchor="t">
            <ns114:noAutofit/>
          </ns114:bodyPr>
          <ns115:lstStyle xmlns:ns115="http://schemas.openxmlformats.org/drawingml/2006/main"/>
          <ns116:p xmlns:ns116="http://schemas.openxmlformats.org/drawingml/2006/main">
            <ns116:pPr algn="l">
              <ns116:lnSpc>
                <ns116:spcPct val="105000"/>
              </ns116:lnSpc>
              <ns116:defRPr sz="1050" b="1">
                <ns116:solidFill>
                  <ns116:srgbClr val="005A9C"/>
                </ns116:solidFill>
                <ns116:latin typeface="Arial"/>
                <ns116:ea typeface="Arial"/>
                <ns116:cs typeface="Arial"/>
              </ns116:defRPr>
            </ns116:pPr>
            <ns116:r>
              <ns116:rPr sz="1050" b="1">
                <ns116:solidFill>
                  <ns116:srgbClr val="005A9C"/>
                </ns116:solidFill>
                <ns116:latin typeface="Arial"/>
                <ns116:ea typeface="Arial"/>
                <ns116:cs typeface="Arial"/>
              </ns116:rPr>
              <ns116:t>Document processing</ns116:t>
            </ns116:r>
          </ns116:p>
        </p:txBody>
      </p:sp>
      <p:sp>
        <p:nvSpPr>
          <p:cNvPr id="122" name="map.task.focus.dev"/>
          <p:cNvSpPr/>
          <p:nvPr/>
        </p:nvSpPr>
        <p:spPr>
          <ns117:xfrm xmlns:ns117="http://schemas.openxmlformats.org/drawingml/2006/main">
            <ns117:off x="486000" y="3884400"/>
            <ns117:ext cx="1677600" cy="176400"/>
          </ns117:xfrm>
          <ns118:prstGeom xmlns:ns118="http://schemas.openxmlformats.org/drawingml/2006/main" prst="rect">
            <ns118:avLst/>
          </ns118:prstGeom>
          <ns119:solidFill xmlns:ns119="http://schemas.openxmlformats.org/drawingml/2006/main">
            <ns119:srgbClr val="D9EAF7"/>
          </ns119:solidFill>
          <ns120:ln xmlns:ns120="http://schemas.openxmlformats.org/drawingml/2006/main" w="0">
            <ns120:noFill/>
          </ns120:ln>
        </p:spPr>
      </p:sp>
      <p:sp>
        <p:nvSpPr>
          <p:cNvPr id="123" name="map.task.dev"/>
          <p:cNvSpPr/>
          <p:nvPr/>
        </p:nvSpPr>
        <p:spPr>
          <ns121:xfrm xmlns:ns121="http://schemas.openxmlformats.org/drawingml/2006/main">
            <ns121:off x="554400" y="3888000"/>
            <ns121:ext cx="1562400" cy="165600"/>
          </ns121:xfrm>
          <ns122:prstGeom xmlns:ns122="http://schemas.openxmlformats.org/drawingml/2006/main" prst="rect">
            <ns122:avLst/>
          </ns122:prstGeom>
          <ns123:noFill xmlns:ns123="http://schemas.openxmlformats.org/drawingml/2006/main"/>
          <ns124:ln xmlns:ns124="http://schemas.openxmlformats.org/drawingml/2006/main" w="0">
            <ns124:noFill/>
          </ns124:ln>
        </p:spPr>
        <p:txBody>
          <ns125:bodyPr xmlns:ns125="http://schemas.openxmlformats.org/drawingml/2006/main" wrap="square" lIns="0" rIns="0" tIns="0" bIns="0" anchor="t">
            <ns125:noAutofit/>
          </ns125:bodyPr>
          <ns126:lstStyle xmlns:ns126="http://schemas.openxmlformats.org/drawingml/2006/main"/>
          <ns127:p xmlns:ns127="http://schemas.openxmlformats.org/drawingml/2006/main">
            <ns127:pPr algn="l">
              <ns127:lnSpc>
                <ns127:spcPct val="105000"/>
              </ns127:lnSpc>
              <ns127:defRPr sz="1050" b="1">
                <ns127:solidFill>
                  <ns127:srgbClr val="005A9C"/>
                </ns127:solidFill>
                <ns127:latin typeface="Arial"/>
                <ns127:ea typeface="Arial"/>
                <ns127:cs typeface="Arial"/>
              </ns127:defRPr>
            </ns127:pPr>
            <ns127:r>
              <ns127:rPr sz="1050" b="1">
                <ns127:solidFill>
                  <ns127:srgbClr val="005A9C"/>
                </ns127:solidFill>
                <ns127:latin typeface="Arial"/>
                <ns127:ea typeface="Arial"/>
                <ns127:cs typeface="Arial"/>
              </ns127:rPr>
              <ns127:t>Tool development</ns127:t>
            </ns127:r>
          </ns127:p>
        </p:txBody>
      </p:sp>
      <p:sp>
        <p:nvSpPr>
          <p:cNvPr id="124" name="map.legend"/>
          <p:cNvSpPr/>
          <p:nvPr/>
        </p:nvSpPr>
        <p:spPr>
          <ns128:xfrm xmlns:ns128="http://schemas.openxmlformats.org/drawingml/2006/main">
            <ns128:off x="486000" y="4363200"/>
            <ns128:ext cx="1684800" cy="162000"/>
          </ns128:xfrm>
          <ns129:prstGeom xmlns:ns129="http://schemas.openxmlformats.org/drawingml/2006/main" prst="rect">
            <ns129:avLst/>
          </ns129:prstGeom>
          <ns130:noFill xmlns:ns130="http://schemas.openxmlformats.org/drawingml/2006/main"/>
          <ns131:ln xmlns:ns131="http://schemas.openxmlformats.org/drawingml/2006/main" w="0">
            <ns131:noFill/>
          </ns131:ln>
        </p:spPr>
        <p:txBody>
          <ns132:bodyPr xmlns:ns132="http://schemas.openxmlformats.org/drawingml/2006/main" wrap="square" lIns="0" rIns="0" tIns="0" bIns="0" anchor="t">
            <ns132:noAutofit/>
          </ns132:bodyPr>
          <ns133:lstStyle xmlns:ns133="http://schemas.openxmlformats.org/drawingml/2006/main"/>
          <ns134:p xmlns:ns134="http://schemas.openxmlformats.org/drawingml/2006/main">
            <ns134:pPr algn="l">
              <ns134:lnSpc>
                <ns134:spcPct val="105000"/>
              </ns134:lnSpc>
              <ns134:defRPr sz="850" b="0">
                <ns134:solidFill>
                  <ns134:srgbClr val="65727D"/>
                </ns134:solidFill>
                <ns134:latin typeface="Arial"/>
                <ns134:ea typeface="Arial"/>
                <ns134:cs typeface="Arial"/>
              </ns134:defRPr>
            </ns134:pPr>
            <ns134:r>
              <ns134:rPr sz="850" b="0">
                <ns134:solidFill>
                  <ns134:srgbClr val="65727D"/>
                </ns134:solidFill>
                <ns134:latin typeface="Arial"/>
                <ns134:ea typeface="Arial"/>
                <ns134:cs typeface="Arial"/>
              </ns134:rPr>
              <ns134:t>Company workflow</ns134:t>
            </ns134:r>
          </ns134:p>
        </p:txBody>
      </p:sp>
      <p:sp>
        <p:nvSpPr>
          <p:cNvPr id="125" name="human.staff.request.check"/>
          <p:cNvSpPr/>
          <p:nvPr/>
        </p:nvSpPr>
        <p:spPr>
          <ns135:xfrm xmlns:ns135="http://schemas.openxmlformats.org/drawingml/2006/main">
            <ns135:off x="2422800" y="1620000"/>
            <ns135:ext cx="1620000" cy="576000"/>
          </ns135:xfrm>
          <ns136:prstGeom xmlns:ns136="http://schemas.openxmlformats.org/drawingml/2006/main" prst="roundRect">
            <ns136:avLst/>
          </ns136:prstGeom>
          <ns137:solidFill xmlns:ns137="http://schemas.openxmlformats.org/drawingml/2006/main">
            <ns137:srgbClr val="F3F7FA"/>
          </ns137:solidFill>
          <ns138:ln xmlns:ns138="http://schemas.openxmlformats.org/drawingml/2006/main" w="9525">
            <ns138:solidFill>
              <ns138:srgbClr val="65727D"/>
            </ns138:solidFill>
          </ns138:ln>
        </p:spPr>
        <p:txBody>
          <ns139:bodyPr xmlns:ns139="http://schemas.openxmlformats.org/drawingml/2006/main" wrap="square" lIns="61200" rIns="61200" tIns="61200" bIns="61200" anchor="ctr">
            <ns139:noAutofit/>
          </ns139:bodyPr>
          <ns140:lstStyle xmlns:ns140="http://schemas.openxmlformats.org/drawingml/2006/main"/>
          <ns141:p xmlns:ns141="http://schemas.openxmlformats.org/drawingml/2006/main">
            <ns141:pPr algn="l">
              <ns141:lnSpc>
                <ns141:spcPct val="105000"/>
              </ns141:lnSpc>
              <ns141:defRPr sz="1300" b="1">
                <ns141:solidFill>
                  <ns141:srgbClr val="65727D"/>
                </ns141:solidFill>
                <ns141:latin typeface="Arial"/>
                <ns141:ea typeface="Arial"/>
                <ns141:cs typeface="Arial"/>
              </ns141:defRPr>
            </ns141:pPr>
            <ns141:r>
              <ns141:rPr sz="1300" b="1">
                <ns141:solidFill>
                  <ns141:srgbClr val="65727D"/>
                </ns141:solidFill>
                <ns141:latin typeface="Arial"/>
                <ns141:ea typeface="Arial"/>
                <ns141:cs typeface="Arial"/>
              </ns141:rPr>
              <ns141:t>Staff</ns141:t>
            </ns141:r>
          </ns141:p>
          <ns142:p xmlns:ns142="http://schemas.openxmlformats.org/drawingml/2006/main">
            <ns142:pPr algn="l">
              <ns142:lnSpc>
                <ns142:spcPct val="105000"/>
              </ns142:lnSpc>
              <ns142:defRPr sz="1200" b="0">
                <ns142:solidFill>
                  <ns142:srgbClr val="20262C"/>
                </ns142:solidFill>
                <ns142:latin typeface="Arial"/>
                <ns142:ea typeface="Arial"/>
                <ns142:cs typeface="Arial"/>
              </ns142:defRPr>
            </ns142:pPr>
            <ns142:r>
              <ns142:rPr sz="1200" b="0">
                <ns142:solidFill>
                  <ns142:srgbClr val="20262C"/>
                </ns142:solidFill>
                <ns142:latin typeface="Arial"/>
                <ns142:ea typeface="Arial"/>
                <ns142:cs typeface="Arial"/>
              </ns142:rPr>
              <ns142:t>Request / check</ns142:t>
            </ns142:r>
          </ns142:p>
        </p:txBody>
      </p:sp>
      <p:sp>
        <p:nvSpPr>
          <p:cNvPr id="126" name="role.business.application"/>
          <p:cNvSpPr/>
          <p:nvPr/>
        </p:nvSpPr>
        <p:spPr>
          <ns143:xfrm xmlns:ns143="http://schemas.openxmlformats.org/drawingml/2006/main">
            <ns143:off x="4392000" y="1620000"/>
            <ns143:ext cx="1458000" cy="576000"/>
          </ns143:xfrm>
          <ns144:prstGeom xmlns:ns144="http://schemas.openxmlformats.org/drawingml/2006/main" prst="roundRect">
            <ns144:avLst/>
          </ns144:prstGeom>
          <ns145:solidFill xmlns:ns145="http://schemas.openxmlformats.org/drawingml/2006/main">
            <ns145:srgbClr val="EAF3FA"/>
          </ns145:solidFill>
          <ns146:ln xmlns:ns146="http://schemas.openxmlformats.org/drawingml/2006/main" w="9525">
            <ns146:solidFill>
              <ns146:srgbClr val="005A9C"/>
            </ns146:solidFill>
          </ns146:ln>
        </p:spPr>
        <p:txBody>
          <ns147:bodyPr xmlns:ns147="http://schemas.openxmlformats.org/drawingml/2006/main" wrap="square" lIns="61200" rIns="61200" tIns="61200" bIns="61200" anchor="ctr">
            <ns147:noAutofit/>
          </ns147:bodyPr>
          <ns148:lstStyle xmlns:ns148="http://schemas.openxmlformats.org/drawingml/2006/main"/>
          <ns149:p xmlns:ns149="http://schemas.openxmlformats.org/drawingml/2006/main">
            <ns149:pPr algn="l">
              <ns149:lnSpc>
                <ns149:spcPct val="105000"/>
              </ns149:lnSpc>
              <ns149:defRPr sz="1300" b="1">
                <ns149:solidFill>
                  <ns149:srgbClr val="005A9C"/>
                </ns149:solidFill>
                <ns149:latin typeface="Arial"/>
                <ns149:ea typeface="Arial"/>
                <ns149:cs typeface="Arial"/>
              </ns149:defRPr>
            </ns149:pPr>
            <ns149:r>
              <ns149:rPr sz="1300" b="1">
                <ns149:solidFill>
                  <ns149:srgbClr val="005A9C"/>
                </ns149:solidFill>
                <ns149:latin typeface="Arial"/>
                <ns149:ea typeface="Arial"/>
                <ns149:cs typeface="Arial"/>
              </ns149:rPr>
              <ns149:t>Application</ns149:t>
            </ns149:r>
          </ns149:p>
          <ns150:p xmlns:ns150="http://schemas.openxmlformats.org/drawingml/2006/main">
            <ns150:pPr algn="l">
              <ns150:lnSpc>
                <ns150:spcPct val="105000"/>
              </ns150:lnSpc>
              <ns150:defRPr sz="1200" b="0">
                <ns150:solidFill>
                  <ns150:srgbClr val="20262C"/>
                </ns150:solidFill>
                <ns150:latin typeface="Arial"/>
                <ns150:ea typeface="Arial"/>
                <ns150:cs typeface="Arial"/>
              </ns150:defRPr>
            </ns150:pPr>
            <ns150:r>
              <ns150:rPr sz="1200" b="0">
                <ns150:solidFill>
                  <ns150:srgbClr val="20262C"/>
                </ns150:solidFill>
                <ns150:latin typeface="Arial"/>
                <ns150:ea typeface="Arial"/>
                <ns150:cs typeface="Arial"/>
              </ns150:rPr>
              <ns150:t>Seven tasks</ns150:t>
            </ns150:r>
          </ns150:p>
        </p:txBody>
      </p:sp>
      <p:sp>
        <p:nvSpPr>
          <p:cNvPr id="127" name="output.client.draft.paper"/>
          <p:cNvSpPr/>
          <p:nvPr/>
        </p:nvSpPr>
        <p:spPr>
          <ns151:xfrm xmlns:ns151="http://schemas.openxmlformats.org/drawingml/2006/main">
            <ns151:off x="6127200" y="1620000"/>
            <ns151:ext cx="2559600" cy="576000"/>
          </ns151:xfrm>
          <ns152:prstGeom xmlns:ns152="http://schemas.openxmlformats.org/drawingml/2006/main" prst="foldedCorner">
            <ns152:avLst/>
          </ns152:prstGeom>
          <ns153:solidFill xmlns:ns153="http://schemas.openxmlformats.org/drawingml/2006/main">
            <ns153:srgbClr val="FFFFFF"/>
          </ns153:solidFill>
          <ns154:ln xmlns:ns154="http://schemas.openxmlformats.org/drawingml/2006/main" w="9525">
            <ns154:solidFill>
              <ns154:srgbClr val="7363A6"/>
            </ns154:solidFill>
          </ns154:ln>
        </p:spPr>
      </p:sp>
      <p:sp>
        <p:nvSpPr>
          <p:cNvPr id="128" name="output.client.draft.title"/>
          <p:cNvSpPr/>
          <p:nvPr/>
        </p:nvSpPr>
        <p:spPr>
          <ns155:xfrm xmlns:ns155="http://schemas.openxmlformats.org/drawingml/2006/main">
            <ns155:off x="6192000" y="1663200"/>
            <ns155:ext cx="2361600" cy="198000"/>
          </ns155:xfrm>
          <ns156:prstGeom xmlns:ns156="http://schemas.openxmlformats.org/drawingml/2006/main" prst="rect">
            <ns156:avLst/>
          </ns156:prstGeom>
          <ns157:noFill xmlns:ns157="http://schemas.openxmlformats.org/drawingml/2006/main"/>
          <ns158:ln xmlns:ns158="http://schemas.openxmlformats.org/drawingml/2006/main" w="0">
            <ns158:noFill/>
          </ns158:ln>
        </p:spPr>
        <p:txBody>
          <ns159:bodyPr xmlns:ns159="http://schemas.openxmlformats.org/drawingml/2006/main" wrap="square" lIns="0" rIns="0" tIns="0" bIns="0" anchor="t">
            <ns159:noAutofit/>
          </ns159:bodyPr>
          <ns160:lstStyle xmlns:ns160="http://schemas.openxmlformats.org/drawingml/2006/main"/>
          <ns161:p xmlns:ns161="http://schemas.openxmlformats.org/drawingml/2006/main">
            <ns161:pPr algn="l">
              <ns161:lnSpc>
                <ns161:spcPct val="105000"/>
              </ns161:lnSpc>
              <ns161:defRPr sz="1250" b="1">
                <ns161:solidFill>
                  <ns161:srgbClr val="7363A6"/>
                </ns161:solidFill>
                <ns161:latin typeface="Arial"/>
                <ns161:ea typeface="Arial"/>
                <ns161:cs typeface="Arial"/>
              </ns161:defRPr>
            </ns161:pPr>
            <ns161:r>
              <ns161:rPr sz="1250" b="1">
                <ns161:solidFill>
                  <ns161:srgbClr val="7363A6"/>
                </ns161:solidFill>
                <ns161:latin typeface="Arial"/>
                <ns161:ea typeface="Arial"/>
                <ns161:cs typeface="Arial"/>
              </ns161:rPr>
              <ns161:t>Client-update draft</ns161:t>
            </ns161:r>
          </ns161:p>
        </p:txBody>
      </p:sp>
      <p:sp>
        <p:nvSpPr>
          <p:cNvPr id="129" name="output.client.draft.content"/>
          <p:cNvSpPr/>
          <p:nvPr/>
        </p:nvSpPr>
        <p:spPr>
          <ns162:xfrm xmlns:ns162="http://schemas.openxmlformats.org/drawingml/2006/main">
            <ns162:off x="6192000" y="1879200"/>
            <ns162:ext cx="2430000" cy="266400"/>
          </ns162:xfrm>
          <ns163:prstGeom xmlns:ns163="http://schemas.openxmlformats.org/drawingml/2006/main" prst="rect">
            <ns163:avLst/>
          </ns163:prstGeom>
          <ns164:noFill xmlns:ns164="http://schemas.openxmlformats.org/drawingml/2006/main"/>
          <ns165:ln xmlns:ns165="http://schemas.openxmlformats.org/drawingml/2006/main" w="0">
            <ns165:noFill/>
          </ns165:ln>
        </p:spPr>
        <p:txBody>
          <ns166:bodyPr xmlns:ns166="http://schemas.openxmlformats.org/drawingml/2006/main" wrap="square" lIns="0" rIns="0" tIns="0" bIns="0" anchor="t">
            <ns166:noAutofit/>
          </ns166:bodyPr>
          <ns167:lstStyle xmlns:ns167="http://schemas.openxmlformats.org/drawingml/2006/main"/>
          <ns168:p xmlns:ns168="http://schemas.openxmlformats.org/drawingml/2006/main">
            <ns168:pPr algn="l">
              <ns168:lnSpc>
                <ns168:spcPct val="100000"/>
              </ns168:lnSpc>
              <ns168:defRPr sz="1150" b="0">
                <ns168:solidFill>
                  <ns168:srgbClr val="20262C"/>
                </ns168:solidFill>
                <ns168:latin typeface="Arial"/>
                <ns168:ea typeface="Arial"/>
                <ns168:cs typeface="Arial"/>
              </ns168:defRPr>
            </ns168:pPr>
            <ns168:r>
              <ns168:rPr sz="1150" b="0">
                <ns168:solidFill>
                  <ns168:srgbClr val="20262C"/>
                </ns168:solidFill>
                <ns168:latin typeface="Arial"/>
                <ns168:ea typeface="Arial"/>
                <ns168:cs typeface="Arial"/>
              </ns168:rPr>
              <ns168:t>For staff check</ns168:t>
            </ns168:r>
          </ns168:p>
        </p:txBody>
      </p:sp>
      <p:cxnSp>
        <p:nvCxnSpPr>
          <p:cNvPr id="130" name="staff.to.application"/>
          <p:cNvCxnSpPr/>
          <p:nvPr/>
        </p:nvCxnSpPr>
        <p:spPr>
          <ns169:xfrm xmlns:ns169="http://schemas.openxmlformats.org/drawingml/2006/main">
            <ns169:off x="4078800" y="1908000"/>
            <ns169:ext cx="277200" cy="1"/>
          </ns169:xfrm>
          <ns170:prstGeom xmlns:ns170="http://schemas.openxmlformats.org/drawingml/2006/main" prst="line">
            <ns170:avLst/>
          </ns170:prstGeom>
          <ns171:ln xmlns:ns171="http://schemas.openxmlformats.org/drawingml/2006/main" w="11430">
            <ns171:solidFill>
              <ns171:srgbClr val="005A9C"/>
            </ns171:solidFill>
            <ns171:tailEnd type="triangle" w="sm" len="sm"/>
          </ns171:ln>
        </p:spPr>
      </p:cxnSp>
      <p:cxnSp>
        <p:nvCxnSpPr>
          <p:cNvPr id="131" name="application.to.output"/>
          <p:cNvCxnSpPr/>
          <p:nvPr/>
        </p:nvCxnSpPr>
        <p:spPr>
          <ns172:xfrm xmlns:ns172="http://schemas.openxmlformats.org/drawingml/2006/main">
            <ns172:off x="5886000" y="1908000"/>
            <ns172:ext cx="205200" cy="1"/>
          </ns172:xfrm>
          <ns173:prstGeom xmlns:ns173="http://schemas.openxmlformats.org/drawingml/2006/main" prst="line">
            <ns173:avLst/>
          </ns173:prstGeom>
          <ns174:ln xmlns:ns174="http://schemas.openxmlformats.org/drawingml/2006/main" w="11430">
            <ns174:solidFill>
              <ns174:srgbClr val="7363A6"/>
            </ns174:solidFill>
            <ns174:tailEnd type="triangle" w="sm" len="sm"/>
          </ns174:ln>
        </p:spPr>
      </p:cxnSp>
      <p:cxnSp>
        <p:nvCxnSpPr>
          <p:cNvPr id="132" name="output.return.to.staff.0"/>
          <p:cNvCxnSpPr/>
          <p:nvPr/>
        </p:nvCxnSpPr>
        <p:spPr>
          <ns175:xfrm xmlns:ns175="http://schemas.openxmlformats.org/drawingml/2006/main" flipV="1">
            <ns175:off x="7407000" y="1476000"/>
            <ns175:ext cx="1" cy="108000"/>
          </ns175:xfrm>
          <ns176:prstGeom xmlns:ns176="http://schemas.openxmlformats.org/drawingml/2006/main" prst="line">
            <ns176:avLst/>
          </ns176:prstGeom>
          <ns177:ln xmlns:ns177="http://schemas.openxmlformats.org/drawingml/2006/main" w="11430">
            <ns177:solidFill>
              <ns177:srgbClr val="7363A6"/>
            </ns177:solidFill>
          </ns177:ln>
        </p:spPr>
      </p:cxnSp>
      <p:cxnSp>
        <p:nvCxnSpPr>
          <p:cNvPr id="133" name="output.return.to.staff.1"/>
          <p:cNvCxnSpPr/>
          <p:nvPr/>
        </p:nvCxnSpPr>
        <p:spPr>
          <ns178:xfrm xmlns:ns178="http://schemas.openxmlformats.org/drawingml/2006/main" flipH="1">
            <ns178:off x="3232800" y="1476000"/>
            <ns178:ext cx="4174200" cy="1"/>
          </ns178:xfrm>
          <ns179:prstGeom xmlns:ns179="http://schemas.openxmlformats.org/drawingml/2006/main" prst="line">
            <ns179:avLst/>
          </ns179:prstGeom>
          <ns180:ln xmlns:ns180="http://schemas.openxmlformats.org/drawingml/2006/main" w="11430">
            <ns180:solidFill>
              <ns180:srgbClr val="7363A6"/>
            </ns180:solidFill>
          </ns180:ln>
        </p:spPr>
      </p:cxnSp>
      <p:cxnSp>
        <p:nvCxnSpPr>
          <p:cNvPr id="134" name="output.return.to.staff.2"/>
          <p:cNvCxnSpPr/>
          <p:nvPr/>
        </p:nvCxnSpPr>
        <p:spPr>
          <ns181:xfrm xmlns:ns181="http://schemas.openxmlformats.org/drawingml/2006/main">
            <ns181:off x="3232800" y="1476000"/>
            <ns181:ext cx="1" cy="108000"/>
          </ns181:xfrm>
          <ns182:prstGeom xmlns:ns182="http://schemas.openxmlformats.org/drawingml/2006/main" prst="line">
            <ns182:avLst/>
          </ns182:prstGeom>
          <ns183:ln xmlns:ns183="http://schemas.openxmlformats.org/drawingml/2006/main" w="11430">
            <ns183:solidFill>
              <ns183:srgbClr val="7363A6"/>
            </ns183:solidFill>
            <ns183:tailEnd type="triangle" w="sm" len="sm"/>
          </ns183:ln>
        </p:spPr>
      </p:cxnSp>
      <p:sp>
        <p:nvSpPr>
          <p:cNvPr id="135" name="application.responsibility.scope"/>
          <p:cNvSpPr/>
          <p:nvPr/>
        </p:nvSpPr>
        <p:spPr>
          <ns184:xfrm xmlns:ns184="http://schemas.openxmlformats.org/drawingml/2006/main">
            <ns184:off x="2422800" y="2430000"/>
            <ns184:ext cx="6264000" cy="2034000"/>
          </ns184:xfrm>
          <ns185:prstGeom xmlns:ns185="http://schemas.openxmlformats.org/drawingml/2006/main" prst="rect">
            <ns185:avLst/>
          </ns185:prstGeom>
          <ns186:noFill xmlns:ns186="http://schemas.openxmlformats.org/drawingml/2006/main"/>
          <ns187:ln xmlns:ns187="http://schemas.openxmlformats.org/drawingml/2006/main" w="6350">
            <ns187:solidFill>
              <ns187:srgbClr val="CBD4DA"/>
            </ns187:solidFill>
          </ns187:ln>
        </p:spPr>
      </p:sp>
      <p:cxnSp>
        <p:nvCxnSpPr>
          <p:cNvPr id="136" name="application.role.trunk"/>
          <p:cNvCxnSpPr/>
          <p:nvPr/>
        </p:nvCxnSpPr>
        <p:spPr>
          <ns188:xfrm xmlns:ns188="http://schemas.openxmlformats.org/drawingml/2006/main">
            <ns188:off x="5121000" y="2232000"/>
            <ns188:ext cx="1" cy="295200"/>
          </ns188:xfrm>
          <ns189:prstGeom xmlns:ns189="http://schemas.openxmlformats.org/drawingml/2006/main" prst="line">
            <ns189:avLst/>
          </ns189:prstGeom>
          <ns190:ln xmlns:ns190="http://schemas.openxmlformats.org/drawingml/2006/main" w="11430">
            <ns190:solidFill>
              <ns190:srgbClr val="005A9C"/>
            </ns190:solidFill>
          </ns190:ln>
        </p:spPr>
      </p:cxnSp>
      <p:cxnSp>
        <p:nvCxnSpPr>
          <p:cNvPr id="137" name="application.role.branch"/>
          <p:cNvCxnSpPr/>
          <p:nvPr/>
        </p:nvCxnSpPr>
        <p:spPr>
          <ns191:xfrm xmlns:ns191="http://schemas.openxmlformats.org/drawingml/2006/main">
            <ns191:off x="3702600" y="2527200"/>
            <ns191:ext cx="3704400" cy="1"/>
          </ns191:xfrm>
          <ns192:prstGeom xmlns:ns192="http://schemas.openxmlformats.org/drawingml/2006/main" prst="line">
            <ns192:avLst/>
          </ns192:prstGeom>
          <ns193:ln xmlns:ns193="http://schemas.openxmlformats.org/drawingml/2006/main" w="11430">
            <ns193:solidFill>
              <ns193:srgbClr val="005A9C"/>
            </ns193:solidFill>
          </ns193:ln>
        </p:spPr>
      </p:cxnSp>
      <p:cxnSp>
        <p:nvCxnSpPr>
          <p:cNvPr id="138" name="application.to.llm"/>
          <p:cNvCxnSpPr/>
          <p:nvPr/>
        </p:nvCxnSpPr>
        <p:spPr>
          <ns194:xfrm xmlns:ns194="http://schemas.openxmlformats.org/drawingml/2006/main">
            <ns194:off x="3702600" y="2527200"/>
            <ns194:ext cx="1" cy="190800"/>
          </ns194:xfrm>
          <ns195:prstGeom xmlns:ns195="http://schemas.openxmlformats.org/drawingml/2006/main" prst="line">
            <ns195:avLst/>
          </ns195:prstGeom>
          <ns196:ln xmlns:ns196="http://schemas.openxmlformats.org/drawingml/2006/main" w="11430">
            <ns196:solidFill>
              <ns196:srgbClr val="005A9C"/>
            </ns196:solidFill>
            <ns196:tailEnd type="triangle" w="sm" len="sm"/>
          </ns196:ln>
        </p:spPr>
      </p:cxnSp>
      <p:cxnSp>
        <p:nvCxnSpPr>
          <p:cNvPr id="139" name="application.to.tools"/>
          <p:cNvCxnSpPr/>
          <p:nvPr/>
        </p:nvCxnSpPr>
        <p:spPr>
          <ns197:xfrm xmlns:ns197="http://schemas.openxmlformats.org/drawingml/2006/main">
            <ns197:off x="7407000" y="2527200"/>
            <ns197:ext cx="1" cy="190800"/>
          </ns197:xfrm>
          <ns198:prstGeom xmlns:ns198="http://schemas.openxmlformats.org/drawingml/2006/main" prst="line">
            <ns198:avLst/>
          </ns198:prstGeom>
          <ns199:ln xmlns:ns199="http://schemas.openxmlformats.org/drawingml/2006/main" w="11430">
            <ns199:solidFill>
              <ns199:srgbClr val="005A9C"/>
            </ns199:solidFill>
            <ns199:tailEnd type="triangle" w="sm" len="sm"/>
          </ns199:ln>
        </p:spPr>
      </p:cxnSp>
      <p:sp>
        <p:nvSpPr>
          <p:cNvPr id="140" name="role.shared.llm"/>
          <p:cNvSpPr/>
          <p:nvPr/>
        </p:nvSpPr>
        <p:spPr>
          <ns200:xfrm xmlns:ns200="http://schemas.openxmlformats.org/drawingml/2006/main">
            <ns200:off x="2422800" y="2754000"/>
            <ns200:ext cx="2559600" cy="738000"/>
          </ns200:xfrm>
          <ns201:prstGeom xmlns:ns201="http://schemas.openxmlformats.org/drawingml/2006/main" prst="roundRect">
            <ns201:avLst/>
          </ns201:prstGeom>
          <ns202:solidFill xmlns:ns202="http://schemas.openxmlformats.org/drawingml/2006/main">
            <ns202:srgbClr val="EAF3FA"/>
          </ns202:solidFill>
          <ns203:ln xmlns:ns203="http://schemas.openxmlformats.org/drawingml/2006/main" w="9525">
            <ns203:solidFill>
              <ns203:srgbClr val="005A9C"/>
            </ns203:solidFill>
          </ns203:ln>
        </p:spPr>
        <p:txBody>
          <ns204:bodyPr xmlns:ns204="http://schemas.openxmlformats.org/drawingml/2006/main" wrap="square" lIns="61200" rIns="61200" tIns="61200" bIns="61200" anchor="ctr">
            <ns204:noAutofit/>
          </ns204:bodyPr>
          <ns205:lstStyle xmlns:ns205="http://schemas.openxmlformats.org/drawingml/2006/main"/>
          <ns206:p xmlns:ns206="http://schemas.openxmlformats.org/drawingml/2006/main">
            <ns206:pPr algn="l">
              <ns206:lnSpc>
                <ns206:spcPct val="105000"/>
              </ns206:lnSpc>
              <ns206:defRPr sz="1300" b="1">
                <ns206:solidFill>
                  <ns206:srgbClr val="005A9C"/>
                </ns206:solidFill>
                <ns206:latin typeface="Arial"/>
                <ns206:ea typeface="Arial"/>
                <ns206:cs typeface="Arial"/>
              </ns206:defRPr>
            </ns206:pPr>
            <ns206:r>
              <ns206:rPr sz="1300" b="1">
                <ns206:solidFill>
                  <ns206:srgbClr val="005A9C"/>
                </ns206:solidFill>
                <ns206:latin typeface="Arial"/>
                <ns206:ea typeface="Arial"/>
                <ns206:cs typeface="Arial"/>
              </ns206:rPr>
              <ns206:t>LLM</ns206:t>
            </ns206:r>
          </ns206:p>
          <ns207:p xmlns:ns207="http://schemas.openxmlformats.org/drawingml/2006/main">
            <ns207:pPr algn="l">
              <ns207:lnSpc>
                <ns207:spcPct val="105000"/>
              </ns207:lnSpc>
              <ns207:defRPr sz="1200" b="0">
                <ns207:solidFill>
                  <ns207:srgbClr val="20262C"/>
                </ns207:solidFill>
                <ns207:latin typeface="Arial"/>
                <ns207:ea typeface="Arial"/>
                <ns207:cs typeface="Arial"/>
              </ns207:defRPr>
            </ns207:pPr>
            <ns207:r>
              <ns207:rPr sz="1200" b="0">
                <ns207:solidFill>
                  <ns207:srgbClr val="20262C"/>
                </ns207:solidFill>
                <ns207:latin typeface="Arial"/>
                <ns207:ea typeface="Arial"/>
                <ns207:cs typeface="Arial"/>
              </ns207:rPr>
              <ns207:t>Interpret / compare</ns207:t>
            </ns207:r>
          </ns207:p>
          <ns208:p xmlns:ns208="http://schemas.openxmlformats.org/drawingml/2006/main">
            <ns208:pPr algn="l">
              <ns208:lnSpc>
                <ns208:spcPct val="105000"/>
              </ns208:lnSpc>
              <ns208:defRPr sz="1200" b="0">
                <ns208:solidFill>
                  <ns208:srgbClr val="20262C"/>
                </ns208:solidFill>
                <ns208:latin typeface="Arial"/>
                <ns208:ea typeface="Arial"/>
                <ns208:cs typeface="Arial"/>
              </ns208:defRPr>
            </ns208:pPr>
            <ns208:r>
              <ns208:rPr sz="1200" b="0">
                <ns208:solidFill>
                  <ns208:srgbClr val="20262C"/>
                </ns208:solidFill>
                <ns208:latin typeface="Arial"/>
                <ns208:ea typeface="Arial"/>
                <ns208:cs typeface="Arial"/>
              </ns208:rPr>
              <ns208:t>Draft content</ns208:t>
            </ns208:r>
          </ns208:p>
        </p:txBody>
      </p:sp>
      <p:sp>
        <p:nvSpPr>
          <p:cNvPr id="141" name="role.shared.tools"/>
          <p:cNvSpPr/>
          <p:nvPr/>
        </p:nvSpPr>
        <p:spPr>
          <ns209:xfrm xmlns:ns209="http://schemas.openxmlformats.org/drawingml/2006/main">
            <ns209:off x="6127200" y="2754000"/>
            <ns209:ext cx="2559600" cy="738000"/>
          </ns209:xfrm>
          <ns210:prstGeom xmlns:ns210="http://schemas.openxmlformats.org/drawingml/2006/main" prst="roundRect">
            <ns210:avLst/>
          </ns210:prstGeom>
          <ns211:solidFill xmlns:ns211="http://schemas.openxmlformats.org/drawingml/2006/main">
            <ns211:srgbClr val="F3F7FA"/>
          </ns211:solidFill>
          <ns212:ln xmlns:ns212="http://schemas.openxmlformats.org/drawingml/2006/main" w="9525">
            <ns212:solidFill>
              <ns212:srgbClr val="65727D"/>
            </ns212:solidFill>
          </ns212:ln>
        </p:spPr>
        <p:txBody>
          <ns213:bodyPr xmlns:ns213="http://schemas.openxmlformats.org/drawingml/2006/main" wrap="square" lIns="61200" rIns="61200" tIns="61200" bIns="61200" anchor="ctr">
            <ns213:noAutofit/>
          </ns213:bodyPr>
          <ns214:lstStyle xmlns:ns214="http://schemas.openxmlformats.org/drawingml/2006/main"/>
          <ns215:p xmlns:ns215="http://schemas.openxmlformats.org/drawingml/2006/main">
            <ns215:pPr algn="l">
              <ns215:lnSpc>
                <ns215:spcPct val="105000"/>
              </ns215:lnSpc>
              <ns215:defRPr sz="1300" b="1">
                <ns215:solidFill>
                  <ns215:srgbClr val="65727D"/>
                </ns215:solidFill>
                <ns215:latin typeface="Arial"/>
                <ns215:ea typeface="Arial"/>
                <ns215:cs typeface="Arial"/>
              </ns215:defRPr>
            </ns215:pPr>
            <ns215:r>
              <ns215:rPr sz="1300" b="1">
                <ns215:solidFill>
                  <ns215:srgbClr val="65727D"/>
                </ns215:solidFill>
                <ns215:latin typeface="Arial"/>
                <ns215:ea typeface="Arial"/>
                <ns215:cs typeface="Arial"/>
              </ns215:rPr>
              <ns215:t>Tools</ns215:t>
            </ns215:r>
          </ns215:p>
          <ns216:p xmlns:ns216="http://schemas.openxmlformats.org/drawingml/2006/main">
            <ns216:pPr algn="l">
              <ns216:lnSpc>
                <ns216:spcPct val="105000"/>
              </ns216:lnSpc>
              <ns216:defRPr sz="1200" b="0">
                <ns216:solidFill>
                  <ns216:srgbClr val="20262C"/>
                </ns216:solidFill>
                <ns216:latin typeface="Arial"/>
                <ns216:ea typeface="Arial"/>
                <ns216:cs typeface="Arial"/>
              </ns216:defRPr>
            </ns216:pPr>
            <ns216:r>
              <ns216:rPr sz="1200" b="0">
                <ns216:solidFill>
                  <ns216:srgbClr val="20262C"/>
                </ns216:solidFill>
                <ns216:latin typeface="Arial"/>
                <ns216:ea typeface="Arial"/>
                <ns216:cs typeface="Arial"/>
              </ns216:rPr>
              <ns216:t>Query / calculate</ns216:t>
            </ns216:r>
          </ns216:p>
          <ns217:p xmlns:ns217="http://schemas.openxmlformats.org/drawingml/2006/main">
            <ns217:pPr algn="l">
              <ns217:lnSpc>
                <ns217:spcPct val="105000"/>
              </ns217:lnSpc>
              <ns217:defRPr sz="1200" b="0">
                <ns217:solidFill>
                  <ns217:srgbClr val="20262C"/>
                </ns217:solidFill>
                <ns217:latin typeface="Arial"/>
                <ns217:ea typeface="Arial"/>
                <ns217:cs typeface="Arial"/>
              </ns217:defRPr>
            </ns217:pPr>
            <ns217:r>
              <ns217:rPr sz="1200" b="0">
                <ns217:solidFill>
                  <ns217:srgbClr val="20262C"/>
                </ns217:solidFill>
                <ns217:latin typeface="Arial"/>
                <ns217:ea typeface="Arial"/>
                <ns217:cs typeface="Arial"/>
              </ns217:rPr>
              <ns217:t>Process / execute</ns217:t>
            </ns217:r>
          </ns217:p>
        </p:txBody>
      </p:sp>
      <p:cxnSp>
        <p:nvCxnSpPr>
          <p:cNvPr id="142" name="llm.tool.request"/>
          <p:cNvCxnSpPr/>
          <p:nvPr/>
        </p:nvCxnSpPr>
        <p:spPr>
          <ns218:xfrm xmlns:ns218="http://schemas.openxmlformats.org/drawingml/2006/main">
            <ns218:off x="5018400" y="2988000"/>
            <ns218:ext cx="1072800" cy="1"/>
          </ns218:xfrm>
          <ns219:prstGeom xmlns:ns219="http://schemas.openxmlformats.org/drawingml/2006/main" prst="line">
            <ns219:avLst/>
          </ns219:prstGeom>
          <ns220:ln xmlns:ns220="http://schemas.openxmlformats.org/drawingml/2006/main" w="11430">
            <ns220:solidFill>
              <ns220:srgbClr val="005A9C"/>
            </ns220:solidFill>
            <ns220:tailEnd type="triangle" w="sm" len="sm"/>
          </ns220:ln>
        </p:spPr>
      </p:cxnSp>
      <p:sp>
        <p:nvSpPr>
          <p:cNvPr id="143" name="llm.tool.request.label"/>
          <p:cNvSpPr/>
          <p:nvPr/>
        </p:nvSpPr>
        <p:spPr>
          <ns221:xfrm xmlns:ns221="http://schemas.openxmlformats.org/drawingml/2006/main">
            <ns221:off x="5130000" y="2808000"/>
            <ns221:ext cx="882000" cy="162000"/>
          </ns221:xfrm>
          <ns222:prstGeom xmlns:ns222="http://schemas.openxmlformats.org/drawingml/2006/main" prst="rect">
            <ns222:avLst/>
          </ns222:prstGeom>
          <ns223:noFill xmlns:ns223="http://schemas.openxmlformats.org/drawingml/2006/main"/>
          <ns224:ln xmlns:ns224="http://schemas.openxmlformats.org/drawingml/2006/main" w="0">
            <ns224:noFill/>
          </ns224:ln>
        </p:spPr>
        <p:txBody>
          <ns225:bodyPr xmlns:ns225="http://schemas.openxmlformats.org/drawingml/2006/main" wrap="square" lIns="0" rIns="0" tIns="0" bIns="0" anchor="t">
            <ns225:noAutofit/>
          </ns225:bodyPr>
          <ns226:lstStyle xmlns:ns226="http://schemas.openxmlformats.org/drawingml/2006/main"/>
          <ns227:p xmlns:ns227="http://schemas.openxmlformats.org/drawingml/2006/main">
            <ns227:pPr algn="l">
              <ns227:lnSpc>
                <ns227:spcPct val="105000"/>
              </ns227:lnSpc>
              <ns227:defRPr sz="950" b="0">
                <ns227:solidFill>
                  <ns227:srgbClr val="65727D"/>
                </ns227:solidFill>
                <ns227:latin typeface="Arial"/>
                <ns227:ea typeface="Arial"/>
                <ns227:cs typeface="Arial"/>
              </ns227:defRPr>
            </ns227:pPr>
            <ns227:r>
              <ns227:rPr sz="950" b="0">
                <ns227:solidFill>
                  <ns227:srgbClr val="65727D"/>
                </ns227:solidFill>
                <ns227:latin typeface="Arial"/>
                <ns227:ea typeface="Arial"/>
                <ns227:cs typeface="Arial"/>
              </ns227:rPr>
              <ns227:t>Request</ns227:t>
            </ns227:r>
          </ns227:p>
        </p:txBody>
      </p:sp>
      <p:cxnSp>
        <p:nvCxnSpPr>
          <p:cNvPr id="144" name="tool.llm.result"/>
          <p:cNvCxnSpPr/>
          <p:nvPr/>
        </p:nvCxnSpPr>
        <p:spPr>
          <ns228:xfrm xmlns:ns228="http://schemas.openxmlformats.org/drawingml/2006/main" flipH="1">
            <ns228:off x="5018400" y="3304800"/>
            <ns228:ext cx="1072800" cy="1"/>
          </ns228:xfrm>
          <ns229:prstGeom xmlns:ns229="http://schemas.openxmlformats.org/drawingml/2006/main" prst="line">
            <ns229:avLst/>
          </ns229:prstGeom>
          <ns230:ln xmlns:ns230="http://schemas.openxmlformats.org/drawingml/2006/main" w="11430">
            <ns230:solidFill>
              <ns230:srgbClr val="005A9C"/>
            </ns230:solidFill>
            <ns230:tailEnd type="triangle" w="sm" len="sm"/>
          </ns230:ln>
        </p:spPr>
      </p:cxnSp>
      <p:sp>
        <p:nvSpPr>
          <p:cNvPr id="145" name="tool.llm.result.label"/>
          <p:cNvSpPr/>
          <p:nvPr/>
        </p:nvSpPr>
        <p:spPr>
          <ns231:xfrm xmlns:ns231="http://schemas.openxmlformats.org/drawingml/2006/main">
            <ns231:off x="5130000" y="3348000"/>
            <ns231:ext cx="882000" cy="162000"/>
          </ns231:xfrm>
          <ns232:prstGeom xmlns:ns232="http://schemas.openxmlformats.org/drawingml/2006/main" prst="rect">
            <ns232:avLst/>
          </ns232:prstGeom>
          <ns233:noFill xmlns:ns233="http://schemas.openxmlformats.org/drawingml/2006/main"/>
          <ns234:ln xmlns:ns234="http://schemas.openxmlformats.org/drawingml/2006/main" w="0">
            <ns234:noFill/>
          </ns234:ln>
        </p:spPr>
        <p:txBody>
          <ns235:bodyPr xmlns:ns235="http://schemas.openxmlformats.org/drawingml/2006/main" wrap="square" lIns="0" rIns="0" tIns="0" bIns="0" anchor="t">
            <ns235:noAutofit/>
          </ns235:bodyPr>
          <ns236:lstStyle xmlns:ns236="http://schemas.openxmlformats.org/drawingml/2006/main"/>
          <ns237:p xmlns:ns237="http://schemas.openxmlformats.org/drawingml/2006/main">
            <ns237:pPr algn="l">
              <ns237:lnSpc>
                <ns237:spcPct val="105000"/>
              </ns237:lnSpc>
              <ns237:defRPr sz="950" b="0">
                <ns237:solidFill>
                  <ns237:srgbClr val="65727D"/>
                </ns237:solidFill>
                <ns237:latin typeface="Arial"/>
                <ns237:ea typeface="Arial"/>
                <ns237:cs typeface="Arial"/>
              </ns237:defRPr>
            </ns237:pPr>
            <ns237:r>
              <ns237:rPr sz="950" b="0">
                <ns237:solidFill>
                  <ns237:srgbClr val="65727D"/>
                </ns237:solidFill>
                <ns237:latin typeface="Arial"/>
                <ns237:ea typeface="Arial"/>
                <ns237:cs typeface="Arial"/>
              </ns237:rPr>
              <ns237:t>Result</ns237:t>
            </ns237:r>
          </ns237:p>
        </p:txBody>
      </p:sp>
      <p:sp>
        <p:nvSpPr>
          <p:cNvPr id="146" name="shared.approved.sources"/>
          <p:cNvSpPr/>
          <p:nvPr/>
        </p:nvSpPr>
        <p:spPr>
          <ns238:xfrm xmlns:ns238="http://schemas.openxmlformats.org/drawingml/2006/main">
            <ns238:off x="2422800" y="3859200"/>
            <ns238:ext cx="6264000" cy="514800"/>
          </ns238:xfrm>
          <ns239:prstGeom xmlns:ns239="http://schemas.openxmlformats.org/drawingml/2006/main" prst="rect">
            <ns239:avLst/>
          </ns239:prstGeom>
          <ns240:solidFill xmlns:ns240="http://schemas.openxmlformats.org/drawingml/2006/main">
            <ns240:srgbClr val="F3F7FA"/>
          </ns240:solidFill>
          <ns241:ln xmlns:ns241="http://schemas.openxmlformats.org/drawingml/2006/main" w="9525">
            <ns241:solidFill>
              <ns241:srgbClr val="65727D"/>
            </ns241:solidFill>
          </ns241:ln>
        </p:spPr>
        <p:txBody>
          <ns242:bodyPr xmlns:ns242="http://schemas.openxmlformats.org/drawingml/2006/main" wrap="square" lIns="61200" rIns="61200" tIns="61200" bIns="61200" anchor="ctr">
            <ns242:noAutofit/>
          </ns242:bodyPr>
          <ns243:lstStyle xmlns:ns243="http://schemas.openxmlformats.org/drawingml/2006/main"/>
          <ns244:p xmlns:ns244="http://schemas.openxmlformats.org/drawingml/2006/main">
            <ns244:pPr algn="l">
              <ns244:lnSpc>
                <ns244:spcPct val="105000"/>
              </ns244:lnSpc>
              <ns244:defRPr sz="1300" b="1">
                <ns244:solidFill>
                  <ns244:srgbClr val="65727D"/>
                </ns244:solidFill>
                <ns244:latin typeface="Arial"/>
                <ns244:ea typeface="Arial"/>
                <ns244:cs typeface="Arial"/>
              </ns244:defRPr>
            </ns244:pPr>
            <ns244:r>
              <ns244:rPr sz="1300" b="1">
                <ns244:solidFill>
                  <ns244:srgbClr val="65727D"/>
                </ns244:solidFill>
                <ns244:latin typeface="Arial"/>
                <ns244:ea typeface="Arial"/>
                <ns244:cs typeface="Arial"/>
              </ns244:rPr>
              <ns244:t>Approved shared sources</ns244:t>
            </ns244:r>
          </ns244:p>
          <ns245:p xmlns:ns245="http://schemas.openxmlformats.org/drawingml/2006/main">
            <ns245:pPr algn="l">
              <ns245:lnSpc>
                <ns245:spcPct val="105000"/>
              </ns245:lnSpc>
              <ns245:defRPr sz="1150" b="0">
                <ns245:solidFill>
                  <ns245:srgbClr val="20262C"/>
                </ns245:solidFill>
                <ns245:latin typeface="Arial"/>
                <ns245:ea typeface="Arial"/>
                <ns245:cs typeface="Arial"/>
              </ns245:defRPr>
            </ns245:pPr>
            <ns245:r>
              <ns245:rPr sz="1150" b="0">
                <ns245:solidFill>
                  <ns245:srgbClr val="20262C"/>
                </ns245:solidFill>
                <ns245:latin typeface="Arial"/>
                <ns245:ea typeface="Arial"/>
                <ns245:cs typeface="Arial"/>
              </ns245:rPr>
              <ns245:t>Documents / knowledge bases / business data</ns245:t>
            </ns245:r>
          </ns245:p>
        </p:txBody>
      </p:sp>
      <p:cxnSp>
        <p:nvCxnSpPr>
          <p:cNvPr id="147" name="source.dependency.10.285"/>
          <p:cNvCxnSpPr/>
          <p:nvPr/>
        </p:nvCxnSpPr>
        <p:spPr>
          <ns246:xfrm xmlns:ns246="http://schemas.openxmlformats.org/drawingml/2006/main" flipV="1">
            <ns246:off x="3702600" y="3492000"/>
            <ns246:ext cx="1" cy="367200"/>
          </ns246:xfrm>
          <ns247:prstGeom xmlns:ns247="http://schemas.openxmlformats.org/drawingml/2006/main" prst="line">
            <ns247:avLst/>
          </ns247:prstGeom>
          <ns248:ln xmlns:ns248="http://schemas.openxmlformats.org/drawingml/2006/main" w="9525">
            <ns248:solidFill>
              <ns248:srgbClr val="65727D"/>
            </ns248:solidFill>
          </ns248:ln>
        </p:spPr>
      </p:cxnSp>
      <p:cxnSp>
        <p:nvCxnSpPr>
          <p:cNvPr id="148" name="source.dependency.20.575"/>
          <p:cNvCxnSpPr/>
          <p:nvPr/>
        </p:nvCxnSpPr>
        <p:spPr>
          <ns249:xfrm xmlns:ns249="http://schemas.openxmlformats.org/drawingml/2006/main" flipV="1">
            <ns249:off x="7407000" y="3492000"/>
            <ns249:ext cx="1" cy="367200"/>
          </ns249:xfrm>
          <ns250:prstGeom xmlns:ns250="http://schemas.openxmlformats.org/drawingml/2006/main" prst="line">
            <ns250:avLst/>
          </ns250:prstGeom>
          <ns251:ln xmlns:ns251="http://schemas.openxmlformats.org/drawingml/2006/main" w="9525">
            <ns251:solidFill>
              <ns251:srgbClr val="65727D"/>
            </ns251:solidFill>
          </ns251:ln>
        </p:spPr>
      </p:cxnSp>
    </p:spTree>
    <p:extLst>
      <p:ext uri="{BB962C8B-B14F-4D97-AF65-F5344CB8AC3E}">
        <p14:creationId xmlns:p14="http://schemas.microsoft.com/office/powerpoint/2010/main" val="6805306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implementation sequence</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Implementation</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105"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106"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107" name="map.task.focus.trade"/>
          <p:cNvSpPr/>
          <p:nvPr/>
        </p:nvSpPr>
        <p:spPr>
          <ns35:xfrm xmlns:ns35="http://schemas.openxmlformats.org/drawingml/2006/main">
            <ns35:off x="486000" y="1998000"/>
            <ns35:ext cx="1677600" cy="176400"/>
          </ns35:xfrm>
          <ns36:prstGeom xmlns:ns36="http://schemas.openxmlformats.org/drawingml/2006/main" prst="rect">
            <ns36:avLst/>
          </ns36:prstGeom>
          <ns37:solidFill xmlns:ns37="http://schemas.openxmlformats.org/drawingml/2006/main">
            <ns37:srgbClr val="D9EAF7"/>
          </ns37:solidFill>
          <ns38:ln xmlns:ns38="http://schemas.openxmlformats.org/drawingml/2006/main" w="0">
            <ns38:noFill/>
          </ns38:ln>
        </p:spPr>
      </p:sp>
      <p:sp>
        <p:nvSpPr>
          <p:cNvPr id="108" name="map.task.trade"/>
          <p:cNvSpPr/>
          <p:nvPr/>
        </p:nvSpPr>
        <p:spPr>
          <ns39:xfrm xmlns:ns39="http://schemas.openxmlformats.org/drawingml/2006/main">
            <ns39:off x="554400" y="2001600"/>
            <ns39:ext cx="1562400" cy="165600"/>
          </ns39:xfrm>
          <ns40:prstGeom xmlns:ns40="http://schemas.openxmlformats.org/drawingml/2006/main" prst="rect">
            <ns40:avLst/>
          </ns40:prstGeom>
          <ns41:noFill xmlns:ns41="http://schemas.openxmlformats.org/drawingml/2006/main"/>
          <ns42:ln xmlns:ns42="http://schemas.openxmlformats.org/drawingml/2006/main" w="0">
            <ns42:noFill/>
          </ns42:ln>
        </p:spPr>
        <p:txBody>
          <ns43:bodyPr xmlns:ns43="http://schemas.openxmlformats.org/drawingml/2006/main" wrap="square" lIns="0" rIns="0" tIns="0" bIns="0" anchor="t">
            <ns43:noAutofit/>
          </ns43:bodyPr>
          <ns44:lstStyle xmlns:ns44="http://schemas.openxmlformats.org/drawingml/2006/main"/>
          <ns45:p xmlns:ns45="http://schemas.openxmlformats.org/drawingml/2006/main">
            <ns45:pPr algn="l">
              <ns45:lnSpc>
                <ns45:spcPct val="105000"/>
              </ns45:lnSpc>
              <ns45:defRPr sz="1050" b="1">
                <ns45:solidFill>
                  <ns45:srgbClr val="005A9C"/>
                </ns45:solidFill>
                <ns45:latin typeface="Arial"/>
                <ns45:ea typeface="Arial"/>
                <ns45:cs typeface="Arial"/>
              </ns45:defRPr>
            </ns45:pPr>
            <ns45:r>
              <ns45:rPr sz="1050" b="1">
                <ns45:solidFill>
                  <ns45:srgbClr val="005A9C"/>
                </ns45:solidFill>
                <ns45:latin typeface="Arial"/>
                <ns45:ea typeface="Arial"/>
                <ns45:cs typeface="Arial"/>
              </ns45:rPr>
              <ns45:t>Trading support</ns45:t>
            </ns45:r>
          </ns45:p>
        </p:txBody>
      </p:sp>
      <p:sp>
        <p:nvSpPr>
          <p:cNvPr id="109" name="map.task.focus.client"/>
          <p:cNvSpPr/>
          <p:nvPr/>
        </p:nvSpPr>
        <p:spPr>
          <ns46:xfrm xmlns:ns46="http://schemas.openxmlformats.org/drawingml/2006/main">
            <ns46:off x="486000" y="2196000"/>
            <ns46:ext cx="1677600" cy="176400"/>
          </ns46:xfrm>
          <ns47:prstGeom xmlns:ns47="http://schemas.openxmlformats.org/drawingml/2006/main" prst="rect">
            <ns47:avLst/>
          </ns47:prstGeom>
          <ns48:solidFill xmlns:ns48="http://schemas.openxmlformats.org/drawingml/2006/main">
            <ns48:srgbClr val="D9EAF7"/>
          </ns48:solidFill>
          <ns49:ln xmlns:ns49="http://schemas.openxmlformats.org/drawingml/2006/main" w="0">
            <ns49:noFill/>
          </ns49:ln>
        </p:spPr>
      </p:sp>
      <p:sp>
        <p:nvSpPr>
          <p:cNvPr id="110" name="map.task.client"/>
          <p:cNvSpPr/>
          <p:nvPr/>
        </p:nvSpPr>
        <p:spPr>
          <ns50:xfrm xmlns:ns50="http://schemas.openxmlformats.org/drawingml/2006/main">
            <ns50:off x="554400" y="2199600"/>
            <ns50:ext cx="1562400" cy="165600"/>
          </ns50:xfrm>
          <ns51:prstGeom xmlns:ns51="http://schemas.openxmlformats.org/drawingml/2006/main" prst="rect">
            <ns51:avLst/>
          </ns51:prstGeom>
          <ns52:noFill xmlns:ns52="http://schemas.openxmlformats.org/drawingml/2006/main"/>
          <ns53:ln xmlns:ns53="http://schemas.openxmlformats.org/drawingml/2006/main" w="0">
            <ns53:noFill/>
          </ns53:ln>
        </p:spPr>
        <p:txBody>
          <ns54:bodyPr xmlns:ns54="http://schemas.openxmlformats.org/drawingml/2006/main" wrap="square" lIns="0" rIns="0" tIns="0" bIns="0" anchor="t">
            <ns54:noAutofit/>
          </ns54:bodyPr>
          <ns55:lstStyle xmlns:ns55="http://schemas.openxmlformats.org/drawingml/2006/main"/>
          <ns56:p xmlns:ns56="http://schemas.openxmlformats.org/drawingml/2006/main">
            <ns56:pPr algn="l">
              <ns56:lnSpc>
                <ns56:spcPct val="105000"/>
              </ns56:lnSpc>
              <ns56:defRPr sz="1050" b="1">
                <ns56:solidFill>
                  <ns56:srgbClr val="005A9C"/>
                </ns56:solidFill>
                <ns56:latin typeface="Arial"/>
                <ns56:ea typeface="Arial"/>
                <ns56:cs typeface="Arial"/>
              </ns56:defRPr>
            </ns56:pPr>
            <ns56:r>
              <ns56:rPr sz="1050" b="1">
                <ns56:solidFill>
                  <ns56:srgbClr val="005A9C"/>
                </ns56:solidFill>
                <ns56:latin typeface="Arial"/>
                <ns56:ea typeface="Arial"/>
                <ns56:cs typeface="Arial"/>
              </ns56:rPr>
              <ns56:t>Client materials</ns56:t>
            </ns56:r>
          </ns56:p>
        </p:txBody>
      </p:sp>
      <p:sp>
        <p:nvSpPr>
          <p:cNvPr id="111" name="map.office.1"/>
          <p:cNvSpPr/>
          <p:nvPr/>
        </p:nvSpPr>
        <p:spPr>
          <ns57:xfrm xmlns:ns57="http://schemas.openxmlformats.org/drawingml/2006/main">
            <ns57:off x="486000" y="2548800"/>
            <ns57:ext cx="1692000" cy="180000"/>
          </ns57:xfrm>
          <ns58:prstGeom xmlns:ns58="http://schemas.openxmlformats.org/drawingml/2006/main" prst="rect">
            <ns58:avLst/>
          </ns58:prstGeom>
          <ns59:noFill xmlns:ns59="http://schemas.openxmlformats.org/drawingml/2006/main"/>
          <ns60:ln xmlns:ns60="http://schemas.openxmlformats.org/drawingml/2006/main" w="0">
            <ns60:noFill/>
          </ns60:ln>
        </p:spPr>
        <p:txBody>
          <ns61:bodyPr xmlns:ns61="http://schemas.openxmlformats.org/drawingml/2006/main" wrap="square" lIns="0" rIns="0" tIns="0" bIns="0" anchor="t">
            <ns61:noAutofit/>
          </ns61:bodyPr>
          <ns62:lstStyle xmlns:ns62="http://schemas.openxmlformats.org/drawingml/2006/main"/>
          <ns63:p xmlns:ns63="http://schemas.openxmlformats.org/drawingml/2006/main">
            <ns63:pPr algn="l">
              <ns63:lnSpc>
                <ns63:spcPct val="105000"/>
              </ns63:lnSpc>
              <ns63:defRPr sz="1100" b="1">
                <ns63:solidFill>
                  <ns63:srgbClr val="005A9C"/>
                </ns63:solidFill>
                <ns63:latin typeface="Arial"/>
                <ns63:ea typeface="Arial"/>
                <ns63:cs typeface="Arial"/>
              </ns63:defRPr>
            </ns63:pPr>
            <ns63:r>
              <ns63:rPr sz="1100" b="1">
                <ns63:solidFill>
                  <ns63:srgbClr val="005A9C"/>
                </ns63:solidFill>
                <ns63:latin typeface="Arial"/>
                <ns63:ea typeface="Arial"/>
                <ns63:cs typeface="Arial"/>
              </ns63:rPr>
              <ns63:t>Middle office</ns63:t>
            </ns63:r>
          </ns63:p>
        </p:txBody>
      </p:sp>
      <p:cxnSp>
        <p:nvCxnSpPr>
          <p:cNvPr id="112" name="map.office.rule.1"/>
          <p:cNvCxnSpPr/>
          <p:nvPr/>
        </p:nvCxnSpPr>
        <p:spPr>
          <ns64:xfrm xmlns:ns64="http://schemas.openxmlformats.org/drawingml/2006/main">
            <ns64:off x="457200" y="2768400"/>
            <ns64:ext cx="1742400" cy="1"/>
          </ns64:xfrm>
          <ns65:prstGeom xmlns:ns65="http://schemas.openxmlformats.org/drawingml/2006/main" prst="line">
            <ns65:avLst/>
          </ns65:prstGeom>
          <ns66:ln xmlns:ns66="http://schemas.openxmlformats.org/drawingml/2006/main" w="7620">
            <ns66:solidFill>
              <ns66:srgbClr val="005A9C"/>
            </ns66:solidFill>
          </ns66:ln>
        </p:spPr>
      </p:cxnSp>
      <p:sp>
        <p:nvSpPr>
          <p:cNvPr id="113" name="map.task.focus.review"/>
          <p:cNvSpPr/>
          <p:nvPr/>
        </p:nvSpPr>
        <p:spPr>
          <ns67:xfrm xmlns:ns67="http://schemas.openxmlformats.org/drawingml/2006/main">
            <ns67:off x="486000" y="2844000"/>
            <ns67:ext cx="1677600" cy="176400"/>
          </ns67:xfrm>
          <ns68:prstGeom xmlns:ns68="http://schemas.openxmlformats.org/drawingml/2006/main" prst="rect">
            <ns68:avLst/>
          </ns68:prstGeom>
          <ns69:solidFill xmlns:ns69="http://schemas.openxmlformats.org/drawingml/2006/main">
            <ns69:srgbClr val="D9EAF7"/>
          </ns69:solidFill>
          <ns70:ln xmlns:ns70="http://schemas.openxmlformats.org/drawingml/2006/main" w="0">
            <ns70:noFill/>
          </ns70:ln>
        </p:spPr>
      </p:sp>
      <p:sp>
        <p:nvSpPr>
          <p:cNvPr id="114" name="map.task.review"/>
          <p:cNvSpPr/>
          <p:nvPr/>
        </p:nvSpPr>
        <p:spPr>
          <ns71:xfrm xmlns:ns71="http://schemas.openxmlformats.org/drawingml/2006/main">
            <ns71:off x="554400" y="2847600"/>
            <ns71:ext cx="1562400" cy="165600"/>
          </ns71:xfrm>
          <ns72:prstGeom xmlns:ns72="http://schemas.openxmlformats.org/drawingml/2006/main" prst="rect">
            <ns72:avLst/>
          </ns72:prstGeom>
          <ns73:noFill xmlns:ns73="http://schemas.openxmlformats.org/drawingml/2006/main"/>
          <ns74:ln xmlns:ns74="http://schemas.openxmlformats.org/drawingml/2006/main" w="0">
            <ns74:noFill/>
          </ns74:ln>
        </p:spPr>
        <p:txBody>
          <ns75:bodyPr xmlns:ns75="http://schemas.openxmlformats.org/drawingml/2006/main" wrap="square" lIns="0" rIns="0" tIns="0" bIns="0" anchor="t">
            <ns75:noAutofit/>
          </ns75:bodyPr>
          <ns76:lstStyle xmlns:ns76="http://schemas.openxmlformats.org/drawingml/2006/main"/>
          <ns77:p xmlns:ns77="http://schemas.openxmlformats.org/drawingml/2006/main">
            <ns77:pPr algn="l">
              <ns77:lnSpc>
                <ns77:spcPct val="105000"/>
              </ns77:lnSpc>
              <ns77:defRPr sz="1050" b="1">
                <ns77:solidFill>
                  <ns77:srgbClr val="005A9C"/>
                </ns77:solidFill>
                <ns77:latin typeface="Arial"/>
                <ns77:ea typeface="Arial"/>
                <ns77:cs typeface="Arial"/>
              </ns77:defRPr>
            </ns77:pPr>
            <ns77:r>
              <ns77:rPr sz="1050" b="1">
                <ns77:solidFill>
                  <ns77:srgbClr val="005A9C"/>
                </ns77:solidFill>
                <ns77:latin typeface="Arial"/>
                <ns77:ea typeface="Arial"/>
                <ns77:cs typeface="Arial"/>
              </ns77:rPr>
              <ns77:t>Content review</ns77:t>
            </ns77:r>
          </ns77:p>
        </p:txBody>
      </p:sp>
      <p:sp>
        <p:nvSpPr>
          <p:cNvPr id="115" name="map.task.focus.risk"/>
          <p:cNvSpPr/>
          <p:nvPr/>
        </p:nvSpPr>
        <p:spPr>
          <ns78:xfrm xmlns:ns78="http://schemas.openxmlformats.org/drawingml/2006/main">
            <ns78:off x="486000" y="3042000"/>
            <ns78:ext cx="1677600" cy="176400"/>
          </ns78:xfrm>
          <ns79:prstGeom xmlns:ns79="http://schemas.openxmlformats.org/drawingml/2006/main" prst="rect">
            <ns79:avLst/>
          </ns79:prstGeom>
          <ns80:solidFill xmlns:ns80="http://schemas.openxmlformats.org/drawingml/2006/main">
            <ns80:srgbClr val="D9EAF7"/>
          </ns80:solidFill>
          <ns81:ln xmlns:ns81="http://schemas.openxmlformats.org/drawingml/2006/main" w="0">
            <ns81:noFill/>
          </ns81:ln>
        </p:spPr>
      </p:sp>
      <p:sp>
        <p:nvSpPr>
          <p:cNvPr id="116" name="map.task.risk"/>
          <p:cNvSpPr/>
          <p:nvPr/>
        </p:nvSpPr>
        <p:spPr>
          <ns82:xfrm xmlns:ns82="http://schemas.openxmlformats.org/drawingml/2006/main">
            <ns82:off x="554400" y="3045600"/>
            <ns82:ext cx="1562400" cy="165600"/>
          </ns82:xfrm>
          <ns83:prstGeom xmlns:ns83="http://schemas.openxmlformats.org/drawingml/2006/main" prst="rect">
            <ns83:avLst/>
          </ns83:prstGeom>
          <ns84:noFill xmlns:ns84="http://schemas.openxmlformats.org/drawingml/2006/main"/>
          <ns85:ln xmlns:ns85="http://schemas.openxmlformats.org/drawingml/2006/main" w="0">
            <ns85:noFill/>
          </ns85:ln>
        </p:spPr>
        <p:txBody>
          <ns86:bodyPr xmlns:ns86="http://schemas.openxmlformats.org/drawingml/2006/main" wrap="square" lIns="0" rIns="0" tIns="0" bIns="0" anchor="t">
            <ns86:noAutofit/>
          </ns86:bodyPr>
          <ns87:lstStyle xmlns:ns87="http://schemas.openxmlformats.org/drawingml/2006/main"/>
          <ns88:p xmlns:ns88="http://schemas.openxmlformats.org/drawingml/2006/main">
            <ns88:pPr algn="l">
              <ns88:lnSpc>
                <ns88:spcPct val="105000"/>
              </ns88:lnSpc>
              <ns88:defRPr sz="1050" b="1">
                <ns88:solidFill>
                  <ns88:srgbClr val="005A9C"/>
                </ns88:solidFill>
                <ns88:latin typeface="Arial"/>
                <ns88:ea typeface="Arial"/>
                <ns88:cs typeface="Arial"/>
              </ns88:defRPr>
            </ns88:pPr>
            <ns88:r>
              <ns88:rPr sz="1050" b="1">
                <ns88:solidFill>
                  <ns88:srgbClr val="005A9C"/>
                </ns88:solidFill>
                <ns88:latin typeface="Arial"/>
                <ns88:ea typeface="Arial"/>
                <ns88:cs typeface="Arial"/>
              </ns88:rPr>
              <ns88:t>Risk analysis</ns88:t>
            </ns88:r>
          </ns88:p>
        </p:txBody>
      </p:sp>
      <p:sp>
        <p:nvSpPr>
          <p:cNvPr id="117" name="map.office.2"/>
          <p:cNvSpPr/>
          <p:nvPr/>
        </p:nvSpPr>
        <p:spPr>
          <ns89:xfrm xmlns:ns89="http://schemas.openxmlformats.org/drawingml/2006/main">
            <ns89:off x="486000" y="3391200"/>
            <ns89:ext cx="1692000" cy="180000"/>
          </ns89:xfrm>
          <ns90:prstGeom xmlns:ns90="http://schemas.openxmlformats.org/drawingml/2006/main" prst="rect">
            <ns90:avLst/>
          </ns90:prstGeom>
          <ns91:noFill xmlns:ns91="http://schemas.openxmlformats.org/drawingml/2006/main"/>
          <ns92:ln xmlns:ns92="http://schemas.openxmlformats.org/drawingml/2006/main" w="0">
            <ns92:noFill/>
          </ns92:ln>
        </p:spPr>
        <p:txBody>
          <ns93:bodyPr xmlns:ns93="http://schemas.openxmlformats.org/drawingml/2006/main" wrap="square" lIns="0" rIns="0" tIns="0" bIns="0" anchor="t">
            <ns93:noAutofit/>
          </ns93:bodyPr>
          <ns94:lstStyle xmlns:ns94="http://schemas.openxmlformats.org/drawingml/2006/main"/>
          <ns95:p xmlns:ns95="http://schemas.openxmlformats.org/drawingml/2006/main">
            <ns95:pPr algn="l">
              <ns95:lnSpc>
                <ns95:spcPct val="105000"/>
              </ns95:lnSpc>
              <ns95:defRPr sz="1100" b="1">
                <ns95:solidFill>
                  <ns95:srgbClr val="005A9C"/>
                </ns95:solidFill>
                <ns95:latin typeface="Arial"/>
                <ns95:ea typeface="Arial"/>
                <ns95:cs typeface="Arial"/>
              </ns95:defRPr>
            </ns95:pPr>
            <ns95:r>
              <ns95:rPr sz="1100" b="1">
                <ns95:solidFill>
                  <ns95:srgbClr val="005A9C"/>
                </ns95:solidFill>
                <ns95:latin typeface="Arial"/>
                <ns95:ea typeface="Arial"/>
                <ns95:cs typeface="Arial"/>
              </ns95:rPr>
              <ns95:t>Back office</ns95:t>
            </ns95:r>
          </ns95:p>
        </p:txBody>
      </p:sp>
      <p:cxnSp>
        <p:nvCxnSpPr>
          <p:cNvPr id="118" name="map.office.rule.2"/>
          <p:cNvCxnSpPr/>
          <p:nvPr/>
        </p:nvCxnSpPr>
        <p:spPr>
          <ns96:xfrm xmlns:ns96="http://schemas.openxmlformats.org/drawingml/2006/main">
            <ns96:off x="457200" y="3610800"/>
            <ns96:ext cx="1742400" cy="1"/>
          </ns96:xfrm>
          <ns97:prstGeom xmlns:ns97="http://schemas.openxmlformats.org/drawingml/2006/main" prst="line">
            <ns97:avLst/>
          </ns97:prstGeom>
          <ns98:ln xmlns:ns98="http://schemas.openxmlformats.org/drawingml/2006/main" w="7620">
            <ns98:solidFill>
              <ns98:srgbClr val="005A9C"/>
            </ns98:solidFill>
          </ns98:ln>
        </p:spPr>
      </p:cxnSp>
      <p:sp>
        <p:nvSpPr>
          <p:cNvPr id="119" name="map.task.focus.files"/>
          <p:cNvSpPr/>
          <p:nvPr/>
        </p:nvSpPr>
        <p:spPr>
          <ns99:xfrm xmlns:ns99="http://schemas.openxmlformats.org/drawingml/2006/main">
            <ns99:off x="486000" y="3686400"/>
            <ns99:ext cx="1677600" cy="176400"/>
          </ns99:xfrm>
          <ns100:prstGeom xmlns:ns100="http://schemas.openxmlformats.org/drawingml/2006/main" prst="rect">
            <ns100:avLst/>
          </ns100:prstGeom>
          <ns101:solidFill xmlns:ns101="http://schemas.openxmlformats.org/drawingml/2006/main">
            <ns101:srgbClr val="D9EAF7"/>
          </ns101:solidFill>
          <ns102:ln xmlns:ns102="http://schemas.openxmlformats.org/drawingml/2006/main" w="0">
            <ns102:noFill/>
          </ns102:ln>
        </p:spPr>
      </p:sp>
      <p:sp>
        <p:nvSpPr>
          <p:cNvPr id="120" name="map.task.files"/>
          <p:cNvSpPr/>
          <p:nvPr/>
        </p:nvSpPr>
        <p:spPr>
          <ns103:xfrm xmlns:ns103="http://schemas.openxmlformats.org/drawingml/2006/main">
            <ns103:off x="554400" y="3690000"/>
            <ns103:ext cx="1562400" cy="1656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5000"/>
              </ns109:lnSpc>
              <ns109:defRPr sz="1050" b="1">
                <ns109:solidFill>
                  <ns109:srgbClr val="005A9C"/>
                </ns109:solidFill>
                <ns109:latin typeface="Arial"/>
                <ns109:ea typeface="Arial"/>
                <ns109:cs typeface="Arial"/>
              </ns109:defRPr>
            </ns109:pPr>
            <ns109:r>
              <ns109:rPr sz="1050" b="1">
                <ns109:solidFill>
                  <ns109:srgbClr val="005A9C"/>
                </ns109:solidFill>
                <ns109:latin typeface="Arial"/>
                <ns109:ea typeface="Arial"/>
                <ns109:cs typeface="Arial"/>
              </ns109:rPr>
              <ns109:t>Document processing</ns109:t>
            </ns109:r>
          </ns109:p>
        </p:txBody>
      </p:sp>
      <p:sp>
        <p:nvSpPr>
          <p:cNvPr id="121" name="map.task.focus.dev"/>
          <p:cNvSpPr/>
          <p:nvPr/>
        </p:nvSpPr>
        <p:spPr>
          <ns110:xfrm xmlns:ns110="http://schemas.openxmlformats.org/drawingml/2006/main">
            <ns110:off x="486000" y="3884400"/>
            <ns110:ext cx="1677600" cy="176400"/>
          </ns110:xfrm>
          <ns111:prstGeom xmlns:ns111="http://schemas.openxmlformats.org/drawingml/2006/main" prst="rect">
            <ns111:avLst/>
          </ns111:prstGeom>
          <ns112:solidFill xmlns:ns112="http://schemas.openxmlformats.org/drawingml/2006/main">
            <ns112:srgbClr val="D9EAF7"/>
          </ns112:solidFill>
          <ns113:ln xmlns:ns113="http://schemas.openxmlformats.org/drawingml/2006/main" w="0">
            <ns113:noFill/>
          </ns113:ln>
        </p:spPr>
      </p:sp>
      <p:sp>
        <p:nvSpPr>
          <p:cNvPr id="122" name="map.task.dev"/>
          <p:cNvSpPr/>
          <p:nvPr/>
        </p:nvSpPr>
        <p:spPr>
          <ns114:xfrm xmlns:ns114="http://schemas.openxmlformats.org/drawingml/2006/main">
            <ns114:off x="554400" y="3888000"/>
            <ns114:ext cx="1562400" cy="165600"/>
          </ns114:xfrm>
          <ns115:prstGeom xmlns:ns115="http://schemas.openxmlformats.org/drawingml/2006/main" prst="rect">
            <ns115:avLst/>
          </ns115:prstGeom>
          <ns116:noFill xmlns:ns116="http://schemas.openxmlformats.org/drawingml/2006/main"/>
          <ns117:ln xmlns:ns117="http://schemas.openxmlformats.org/drawingml/2006/main" w="0">
            <ns117:noFill/>
          </ns117:ln>
        </p:spPr>
        <p:txBody>
          <ns118:bodyPr xmlns:ns118="http://schemas.openxmlformats.org/drawingml/2006/main" wrap="square" lIns="0" rIns="0" tIns="0" bIns="0" anchor="t">
            <ns118:noAutofit/>
          </ns118:bodyPr>
          <ns119:lstStyle xmlns:ns119="http://schemas.openxmlformats.org/drawingml/2006/main"/>
          <ns120:p xmlns:ns120="http://schemas.openxmlformats.org/drawingml/2006/main">
            <ns120:pPr algn="l">
              <ns120:lnSpc>
                <ns120:spcPct val="105000"/>
              </ns120:lnSpc>
              <ns120:defRPr sz="1050" b="1">
                <ns120:solidFill>
                  <ns120:srgbClr val="005A9C"/>
                </ns120:solidFill>
                <ns120:latin typeface="Arial"/>
                <ns120:ea typeface="Arial"/>
                <ns120:cs typeface="Arial"/>
              </ns120:defRPr>
            </ns120:pPr>
            <ns120:r>
              <ns120:rPr sz="1050" b="1">
                <ns120:solidFill>
                  <ns120:srgbClr val="005A9C"/>
                </ns120:solidFill>
                <ns120:latin typeface="Arial"/>
                <ns120:ea typeface="Arial"/>
                <ns120:cs typeface="Arial"/>
              </ns120:rPr>
              <ns120:t>Tool development</ns120:t>
            </ns120:r>
          </ns120:p>
        </p:txBody>
      </p:sp>
      <p:sp>
        <p:nvSpPr>
          <p:cNvPr id="123" name="map.legend"/>
          <p:cNvSpPr/>
          <p:nvPr/>
        </p:nvSpPr>
        <p:spPr>
          <ns121:xfrm xmlns:ns121="http://schemas.openxmlformats.org/drawingml/2006/main">
            <ns121:off x="486000" y="4363200"/>
            <ns121:ext cx="1684800" cy="162000"/>
          </ns121:xfrm>
          <ns122:prstGeom xmlns:ns122="http://schemas.openxmlformats.org/drawingml/2006/main" prst="rect">
            <ns122:avLst/>
          </ns122:prstGeom>
          <ns123:noFill xmlns:ns123="http://schemas.openxmlformats.org/drawingml/2006/main"/>
          <ns124:ln xmlns:ns124="http://schemas.openxmlformats.org/drawingml/2006/main" w="0">
            <ns124:noFill/>
          </ns124:ln>
        </p:spPr>
        <p:txBody>
          <ns125:bodyPr xmlns:ns125="http://schemas.openxmlformats.org/drawingml/2006/main" wrap="square" lIns="0" rIns="0" tIns="0" bIns="0" anchor="t">
            <ns125:noAutofit/>
          </ns125:bodyPr>
          <ns126:lstStyle xmlns:ns126="http://schemas.openxmlformats.org/drawingml/2006/main"/>
          <ns127:p xmlns:ns127="http://schemas.openxmlformats.org/drawingml/2006/main">
            <ns127:pPr algn="l">
              <ns127:lnSpc>
                <ns127:spcPct val="105000"/>
              </ns127:lnSpc>
              <ns127:defRPr sz="850" b="0">
                <ns127:solidFill>
                  <ns127:srgbClr val="65727D"/>
                </ns127:solidFill>
                <ns127:latin typeface="Arial"/>
                <ns127:ea typeface="Arial"/>
                <ns127:cs typeface="Arial"/>
              </ns127:defRPr>
            </ns127:pPr>
            <ns127:r>
              <ns127:rPr sz="850" b="0">
                <ns127:solidFill>
                  <ns127:srgbClr val="65727D"/>
                </ns127:solidFill>
                <ns127:latin typeface="Arial"/>
                <ns127:ea typeface="Arial"/>
                <ns127:cs typeface="Arial"/>
              </ns127:rPr>
              <ns127:t>Company workflow</ns127:t>
            </ns127:r>
          </ns127:p>
        </p:txBody>
      </p:sp>
      <p:cxnSp>
        <p:nvCxnSpPr>
          <p:cNvPr id="124" name="phase.timeline"/>
          <p:cNvCxnSpPr/>
          <p:nvPr/>
        </p:nvCxnSpPr>
        <p:spPr>
          <ns128:xfrm xmlns:ns128="http://schemas.openxmlformats.org/drawingml/2006/main">
            <ns128:off x="2584800" y="1827000"/>
            <ns128:ext cx="6001200" cy="1"/>
          </ns128:xfrm>
          <ns129:prstGeom xmlns:ns129="http://schemas.openxmlformats.org/drawingml/2006/main" prst="line">
            <ns129:avLst/>
          </ns129:prstGeom>
          <ns130:ln xmlns:ns130="http://schemas.openxmlformats.org/drawingml/2006/main" w="16510">
            <ns130:solidFill>
              <ns130:srgbClr val="005A9C"/>
            </ns130:solidFill>
            <ns130:tailEnd type="triangle" w="sm" len="sm"/>
          </ns130:ln>
        </p:spPr>
      </p:cxnSp>
      <p:sp>
        <p:nvSpPr>
          <p:cNvPr id="125" name="phase.marker.0"/>
          <p:cNvSpPr/>
          <p:nvPr/>
        </p:nvSpPr>
        <p:spPr>
          <ns131:xfrm xmlns:ns131="http://schemas.openxmlformats.org/drawingml/2006/main">
            <ns131:off x="2422800" y="1674000"/>
            <ns131:ext cx="324000" cy="306000"/>
          </ns131:xfrm>
          <ns132:prstGeom xmlns:ns132="http://schemas.openxmlformats.org/drawingml/2006/main" prst="ellipse">
            <ns132:avLst/>
          </ns132:prstGeom>
          <ns133:solidFill xmlns:ns133="http://schemas.openxmlformats.org/drawingml/2006/main">
            <ns133:srgbClr val="005A9C"/>
          </ns133:solidFill>
          <ns134:ln xmlns:ns134="http://schemas.openxmlformats.org/drawingml/2006/main" w="0">
            <ns134:noFill/>
          </ns134:ln>
        </p:spPr>
        <p:txBody>
          <ns135:bodyPr xmlns:ns135="http://schemas.openxmlformats.org/drawingml/2006/main" wrap="square" lIns="0" rIns="0" tIns="0" bIns="0" anchor="ctr">
            <ns135:noAutofit/>
          </ns135:bodyPr>
          <ns136:lstStyle xmlns:ns136="http://schemas.openxmlformats.org/drawingml/2006/main"/>
          <ns137:p xmlns:ns137="http://schemas.openxmlformats.org/drawingml/2006/main">
            <ns137:pPr algn="ctr">
              <ns137:lnSpc>
                <ns137:spcPct val="105000"/>
              </ns137:lnSpc>
              <ns137:defRPr sz="1600" b="1">
                <ns137:solidFill>
                  <ns137:srgbClr val="FFFFFF"/>
                </ns137:solidFill>
                <ns137:latin typeface="Arial"/>
                <ns137:ea typeface="Arial"/>
                <ns137:cs typeface="Arial"/>
              </ns137:defRPr>
            </ns137:pPr>
            <ns137:r>
              <ns137:rPr sz="1600" b="1">
                <ns137:solidFill>
                  <ns137:srgbClr val="FFFFFF"/>
                </ns137:solidFill>
                <ns137:latin typeface="Arial"/>
                <ns137:ea typeface="Arial"/>
                <ns137:cs typeface="Arial"/>
              </ns137:rPr>
              <ns137:t>1</ns137:t>
            </ns137:r>
          </ns137:p>
        </p:txBody>
      </p:sp>
      <p:sp>
        <p:nvSpPr>
          <p:cNvPr id="126" name="phase.title.0"/>
          <p:cNvSpPr/>
          <p:nvPr/>
        </p:nvSpPr>
        <p:spPr>
          <ns138:xfrm xmlns:ns138="http://schemas.openxmlformats.org/drawingml/2006/main">
            <ns138:off x="2422800" y="2124000"/>
            <ns138:ext cx="2005200" cy="4500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5000"/>
              </ns144:lnSpc>
              <ns144:defRPr sz="1300" b="1">
                <ns144:solidFill>
                  <ns144:srgbClr val="005A9C"/>
                </ns144:solidFill>
                <ns144:latin typeface="Arial"/>
                <ns144:ea typeface="Arial"/>
                <ns144:cs typeface="Arial"/>
              </ns144:defRPr>
            </ns144:pPr>
            <ns144:r>
              <ns144:rPr sz="1300" b="1">
                <ns144:solidFill>
                  <ns144:srgbClr val="005A9C"/>
                </ns144:solidFill>
                <ns144:latin typeface="Arial"/>
                <ns144:ea typeface="Arial"/>
                <ns144:cs typeface="Arial"/>
              </ns144:rPr>
              <ns144:t>Research / client</ns144:t>
            </ns144:r>
          </ns144:p>
          <ns145:p xmlns:ns145="http://schemas.openxmlformats.org/drawingml/2006/main">
            <ns145:pPr algn="l">
              <ns145:lnSpc>
                <ns145:spcPct val="105000"/>
              </ns145:lnSpc>
              <ns145:defRPr sz="1300" b="1">
                <ns145:solidFill>
                  <ns145:srgbClr val="005A9C"/>
                </ns145:solidFill>
                <ns145:latin typeface="Arial"/>
                <ns145:ea typeface="Arial"/>
                <ns145:cs typeface="Arial"/>
              </ns145:defRPr>
            </ns145:pPr>
            <ns145:r>
              <ns145:rPr sz="1300" b="1">
                <ns145:solidFill>
                  <ns145:srgbClr val="005A9C"/>
                </ns145:solidFill>
                <ns145:latin typeface="Arial"/>
                <ns145:ea typeface="Arial"/>
                <ns145:cs typeface="Arial"/>
              </ns145:rPr>
              <ns145:t>communications</ns145:t>
            </ns145:r>
          </ns145:p>
        </p:txBody>
      </p:sp>
      <p:sp>
        <p:nvSpPr>
          <p:cNvPr id="127" name="phase.teams.label.0"/>
          <p:cNvSpPr/>
          <p:nvPr/>
        </p:nvSpPr>
        <p:spPr>
          <ns146:xfrm xmlns:ns146="http://schemas.openxmlformats.org/drawingml/2006/main">
            <ns146:off x="2422800" y="2682000"/>
            <ns146:ext cx="2005200" cy="144000"/>
          </ns146:xfrm>
          <ns147:prstGeom xmlns:ns147="http://schemas.openxmlformats.org/drawingml/2006/main" prst="rect">
            <ns147:avLst/>
          </ns147:prstGeom>
          <ns148:noFill xmlns:ns148="http://schemas.openxmlformats.org/drawingml/2006/main"/>
          <ns149:ln xmlns:ns149="http://schemas.openxmlformats.org/drawingml/2006/main" w="0">
            <ns149:noFill/>
          </ns149:ln>
        </p:spPr>
        <p:txBody>
          <ns150:bodyPr xmlns:ns150="http://schemas.openxmlformats.org/drawingml/2006/main" wrap="square" lIns="0" rIns="0" tIns="0" bIns="0" anchor="t">
            <ns150:noAutofit/>
          </ns150:bodyPr>
          <ns151:lstStyle xmlns:ns151="http://schemas.openxmlformats.org/drawingml/2006/main"/>
          <ns152:p xmlns:ns152="http://schemas.openxmlformats.org/drawingml/2006/main">
            <ns152:pPr algn="l">
              <ns152:lnSpc>
                <ns152:spcPct val="105000"/>
              </ns152:lnSpc>
              <ns152:defRPr sz="950" b="0">
                <ns152:solidFill>
                  <ns152:srgbClr val="65727D"/>
                </ns152:solidFill>
                <ns152:latin typeface="Arial"/>
                <ns152:ea typeface="Arial"/>
                <ns152:cs typeface="Arial"/>
              </ns152:defRPr>
            </ns152:pPr>
            <ns152:r>
              <ns152:rPr sz="950" b="0">
                <ns152:solidFill>
                  <ns152:srgbClr val="65727D"/>
                </ns152:solidFill>
                <ns152:latin typeface="Arial"/>
                <ns152:ea typeface="Arial"/>
                <ns152:cs typeface="Arial"/>
              </ns152:rPr>
              <ns152:t>Participating teams</ns152:t>
            </ns152:r>
          </ns152:p>
        </p:txBody>
      </p:sp>
      <p:sp>
        <p:nvSpPr>
          <p:cNvPr id="128" name="phase.teams.0"/>
          <p:cNvSpPr/>
          <p:nvPr/>
        </p:nvSpPr>
        <p:spPr>
          <ns153:xfrm xmlns:ns153="http://schemas.openxmlformats.org/drawingml/2006/main">
            <ns153:off x="2422800" y="2890800"/>
            <ns153:ext cx="2005200" cy="349200"/>
          </ns153:xfrm>
          <ns154:prstGeom xmlns:ns154="http://schemas.openxmlformats.org/drawingml/2006/main" prst="rect">
            <ns154:avLst/>
          </ns154:prstGeom>
          <ns155:noFill xmlns:ns155="http://schemas.openxmlformats.org/drawingml/2006/main"/>
          <ns156:ln xmlns:ns156="http://schemas.openxmlformats.org/drawingml/2006/main" w="0">
            <ns156:noFill/>
          </ns156:ln>
        </p:spPr>
        <p:txBody>
          <ns157:bodyPr xmlns:ns157="http://schemas.openxmlformats.org/drawingml/2006/main" wrap="square" lIns="0" rIns="0" tIns="0" bIns="0" anchor="t">
            <ns157:noAutofit/>
          </ns157:bodyPr>
          <ns158:lstStyle xmlns:ns158="http://schemas.openxmlformats.org/drawingml/2006/main"/>
          <ns159:p xmlns:ns159="http://schemas.openxmlformats.org/drawingml/2006/main">
            <ns159:pPr algn="l">
              <ns159:lnSpc>
                <ns159:spcPct val="105000"/>
              </ns159:lnSpc>
              <ns159:defRPr sz="1050" b="0">
                <ns159:solidFill>
                  <ns159:srgbClr val="20262C"/>
                </ns159:solidFill>
                <ns159:latin typeface="Arial"/>
                <ns159:ea typeface="Arial"/>
                <ns159:cs typeface="Arial"/>
              </ns159:defRPr>
            </ns159:pPr>
            <ns159:r>
              <ns159:rPr sz="1050" b="0">
                <ns159:solidFill>
                  <ns159:srgbClr val="20262C"/>
                </ns159:solidFill>
                <ns159:latin typeface="Arial"/>
                <ns159:ea typeface="Arial"/>
                <ns159:cs typeface="Arial"/>
              </ns159:rPr>
              <ns159:t>Research / Sales</ns159:t>
            </ns159:r>
          </ns159:p>
          <ns160:p xmlns:ns160="http://schemas.openxmlformats.org/drawingml/2006/main">
            <ns160:pPr algn="l">
              <ns160:lnSpc>
                <ns160:spcPct val="105000"/>
              </ns160:lnSpc>
              <ns160:defRPr sz="1050" b="0">
                <ns160:solidFill>
                  <ns160:srgbClr val="20262C"/>
                </ns160:solidFill>
                <ns160:latin typeface="Arial"/>
                <ns160:ea typeface="Arial"/>
                <ns160:cs typeface="Arial"/>
              </ns160:defRPr>
            </ns160:pPr>
            <ns160:r>
              <ns160:rPr sz="1050" b="0">
                <ns160:solidFill>
                  <ns160:srgbClr val="20262C"/>
                </ns160:solidFill>
                <ns160:latin typeface="Arial"/>
                <ns160:ea typeface="Arial"/>
                <ns160:cs typeface="Arial"/>
              </ns160:rPr>
              <ns160:t>Compliance / IT</ns160:t>
            </ns160:r>
          </ns160:p>
        </p:txBody>
      </p:sp>
      <p:sp>
        <p:nvSpPr>
          <p:cNvPr id="129" name="phase.deliverables.0.paper"/>
          <p:cNvSpPr/>
          <p:nvPr/>
        </p:nvSpPr>
        <p:spPr>
          <ns161:xfrm xmlns:ns161="http://schemas.openxmlformats.org/drawingml/2006/main">
            <ns161:off x="2422800" y="3348000"/>
            <ns161:ext cx="2005200" cy="1062000"/>
          </ns161:xfrm>
          <ns162:prstGeom xmlns:ns162="http://schemas.openxmlformats.org/drawingml/2006/main" prst="foldedCorner">
            <ns162:avLst/>
          </ns162:prstGeom>
          <ns163:solidFill xmlns:ns163="http://schemas.openxmlformats.org/drawingml/2006/main">
            <ns163:srgbClr val="FFFFFF"/>
          </ns163:solidFill>
          <ns164:ln xmlns:ns164="http://schemas.openxmlformats.org/drawingml/2006/main" w="9525">
            <ns164:solidFill>
              <ns164:srgbClr val="65727D"/>
            </ns164:solidFill>
          </ns164:ln>
        </p:spPr>
      </p:sp>
      <p:sp>
        <p:nvSpPr>
          <p:cNvPr id="130" name="phase.deliverables.0.title"/>
          <p:cNvSpPr/>
          <p:nvPr/>
        </p:nvSpPr>
        <p:spPr>
          <ns165:xfrm xmlns:ns165="http://schemas.openxmlformats.org/drawingml/2006/main">
            <ns165:off x="2487600" y="3391200"/>
            <ns165:ext cx="1807200" cy="198000"/>
          </ns165:xfrm>
          <ns166:prstGeom xmlns:ns166="http://schemas.openxmlformats.org/drawingml/2006/main" prst="rect">
            <ns166:avLst/>
          </ns166:prstGeom>
          <ns167:noFill xmlns:ns167="http://schemas.openxmlformats.org/drawingml/2006/main"/>
          <ns168:ln xmlns:ns168="http://schemas.openxmlformats.org/drawingml/2006/main" w="0">
            <ns168:noFill/>
          </ns168:ln>
        </p:spPr>
        <p:txBody>
          <ns169:bodyPr xmlns:ns169="http://schemas.openxmlformats.org/drawingml/2006/main" wrap="square" lIns="0" rIns="0" tIns="0" bIns="0" anchor="t">
            <ns169:noAutofit/>
          </ns169:bodyPr>
          <ns170:lstStyle xmlns:ns170="http://schemas.openxmlformats.org/drawingml/2006/main"/>
          <ns171:p xmlns:ns171="http://schemas.openxmlformats.org/drawingml/2006/main">
            <ns171:pPr algn="l">
              <ns171:lnSpc>
                <ns171:spcPct val="105000"/>
              </ns171:lnSpc>
              <ns171:defRPr sz="1250" b="1">
                <ns171:solidFill>
                  <ns171:srgbClr val="65727D"/>
                </ns171:solidFill>
                <ns171:latin typeface="Arial"/>
                <ns171:ea typeface="Arial"/>
                <ns171:cs typeface="Arial"/>
              </ns171:defRPr>
            </ns171:pPr>
            <ns171:r>
              <ns171:rPr sz="1250" b="1">
                <ns171:solidFill>
                  <ns171:srgbClr val="65727D"/>
                </ns171:solidFill>
                <ns171:latin typeface="Arial"/>
                <ns171:ea typeface="Arial"/>
                <ns171:cs typeface="Arial"/>
              </ns171:rPr>
              <ns171:t>Deliverables</ns171:t>
            </ns171:r>
          </ns171:p>
        </p:txBody>
      </p:sp>
      <p:sp>
        <p:nvSpPr>
          <p:cNvPr id="131" name="phase.deliverables.0.content"/>
          <p:cNvSpPr/>
          <p:nvPr/>
        </p:nvSpPr>
        <p:spPr>
          <ns172:xfrm xmlns:ns172="http://schemas.openxmlformats.org/drawingml/2006/main">
            <ns172:off x="2487600" y="3607200"/>
            <ns172:ext cx="1875600" cy="752400"/>
          </ns172:xfrm>
          <ns173:prstGeom xmlns:ns173="http://schemas.openxmlformats.org/drawingml/2006/main" prst="rect">
            <ns173:avLst/>
          </ns173:prstGeom>
          <ns174:noFill xmlns:ns174="http://schemas.openxmlformats.org/drawingml/2006/main"/>
          <ns175:ln xmlns:ns175="http://schemas.openxmlformats.org/drawingml/2006/main" w="0">
            <ns175:noFill/>
          </ns175:ln>
        </p:spPr>
        <p:txBody>
          <ns176:bodyPr xmlns:ns176="http://schemas.openxmlformats.org/drawingml/2006/main" wrap="square" lIns="0" rIns="0" tIns="0" bIns="0" anchor="t">
            <ns176:noAutofit/>
          </ns176:bodyPr>
          <ns177:lstStyle xmlns:ns177="http://schemas.openxmlformats.org/drawingml/2006/main"/>
          <ns178:p xmlns:ns178="http://schemas.openxmlformats.org/drawingml/2006/main">
            <ns178:pPr algn="l">
              <ns178:lnSpc>
                <ns178:spcPct val="100000"/>
              </ns178:lnSpc>
              <ns178:defRPr sz="1150" b="0">
                <ns178:solidFill>
                  <ns178:srgbClr val="20262C"/>
                </ns178:solidFill>
                <ns178:latin typeface="Arial"/>
                <ns178:ea typeface="Arial"/>
                <ns178:cs typeface="Arial"/>
              </ns178:defRPr>
            </ns178:pPr>
            <ns178:r>
              <ns178:rPr sz="1150" b="0">
                <ns178:solidFill>
                  <ns178:srgbClr val="20262C"/>
                </ns178:solidFill>
                <ns178:latin typeface="Arial"/>
                <ns178:ea typeface="Arial"/>
                <ns178:cs typeface="Arial"/>
              </ns178:rPr>
              <ns178:t>Sample tasks</ns178:t>
            </ns178:r>
          </ns178:p>
          <ns179:p xmlns:ns179="http://schemas.openxmlformats.org/drawingml/2006/main">
            <ns179:pPr algn="l">
              <ns179:lnSpc>
                <ns179:spcPct val="100000"/>
              </ns179:lnSpc>
              <ns179:defRPr sz="1150" b="0">
                <ns179:solidFill>
                  <ns179:srgbClr val="20262C"/>
                </ns179:solidFill>
                <ns179:latin typeface="Arial"/>
                <ns179:ea typeface="Arial"/>
                <ns179:cs typeface="Arial"/>
              </ns179:defRPr>
            </ns179:pPr>
            <ns179:r>
              <ns179:rPr sz="1150" b="0">
                <ns179:solidFill>
                  <ns179:srgbClr val="20262C"/>
                </ns179:solidFill>
                <ns179:latin typeface="Arial"/>
                <ns179:ea typeface="Arial"/>
                <ns179:cs typeface="Arial"/>
              </ns179:rPr>
              <ns179:t>Source inventory</ns179:t>
            </ns179:r>
          </ns179:p>
          <ns180:p xmlns:ns180="http://schemas.openxmlformats.org/drawingml/2006/main">
            <ns180:pPr algn="l">
              <ns180:lnSpc>
                <ns180:spcPct val="100000"/>
              </ns180:lnSpc>
              <ns180:defRPr sz="1150" b="0">
                <ns180:solidFill>
                  <ns180:srgbClr val="20262C"/>
                </ns180:solidFill>
                <ns180:latin typeface="Arial"/>
                <ns180:ea typeface="Arial"/>
                <ns180:cs typeface="Arial"/>
              </ns180:defRPr>
            </ns180:pPr>
            <ns180:r>
              <ns180:rPr sz="1150" b="0">
                <ns180:solidFill>
                  <ns180:srgbClr val="20262C"/>
                </ns180:solidFill>
                <ns180:latin typeface="Arial"/>
                <ns180:ea typeface="Arial"/>
                <ns180:cs typeface="Arial"/>
              </ns180:rPr>
              <ns180:t>Initial applications</ns180:t>
            </ns180:r>
          </ns180:p>
        </p:txBody>
      </p:sp>
      <p:sp>
        <p:nvSpPr>
          <p:cNvPr id="132" name="phase.marker.1"/>
          <p:cNvSpPr/>
          <p:nvPr/>
        </p:nvSpPr>
        <p:spPr>
          <ns181:xfrm xmlns:ns181="http://schemas.openxmlformats.org/drawingml/2006/main">
            <ns181:off x="4554000" y="1674000"/>
            <ns181:ext cx="324000" cy="306000"/>
          </ns181:xfrm>
          <ns182:prstGeom xmlns:ns182="http://schemas.openxmlformats.org/drawingml/2006/main" prst="ellipse">
            <ns182:avLst/>
          </ns182:prstGeom>
          <ns183:solidFill xmlns:ns183="http://schemas.openxmlformats.org/drawingml/2006/main">
            <ns183:srgbClr val="005A9C"/>
          </ns183:solidFill>
          <ns184:ln xmlns:ns184="http://schemas.openxmlformats.org/drawingml/2006/main" w="0">
            <ns184:noFill/>
          </ns184:ln>
        </p:spPr>
        <p:txBody>
          <ns185:bodyPr xmlns:ns185="http://schemas.openxmlformats.org/drawingml/2006/main" wrap="square" lIns="0" rIns="0" tIns="0" bIns="0" anchor="ctr">
            <ns185:noAutofit/>
          </ns185:bodyPr>
          <ns186:lstStyle xmlns:ns186="http://schemas.openxmlformats.org/drawingml/2006/main"/>
          <ns187:p xmlns:ns187="http://schemas.openxmlformats.org/drawingml/2006/main">
            <ns187:pPr algn="ctr">
              <ns187:lnSpc>
                <ns187:spcPct val="105000"/>
              </ns187:lnSpc>
              <ns187:defRPr sz="1600" b="1">
                <ns187:solidFill>
                  <ns187:srgbClr val="FFFFFF"/>
                </ns187:solidFill>
                <ns187:latin typeface="Arial"/>
                <ns187:ea typeface="Arial"/>
                <ns187:cs typeface="Arial"/>
              </ns187:defRPr>
            </ns187:pPr>
            <ns187:r>
              <ns187:rPr sz="1600" b="1">
                <ns187:solidFill>
                  <ns187:srgbClr val="FFFFFF"/>
                </ns187:solidFill>
                <ns187:latin typeface="Arial"/>
                <ns187:ea typeface="Arial"/>
                <ns187:cs typeface="Arial"/>
              </ns187:rPr>
              <ns187:t>2</ns187:t>
            </ns187:r>
          </ns187:p>
        </p:txBody>
      </p:sp>
      <p:sp>
        <p:nvSpPr>
          <p:cNvPr id="133" name="phase.title.1"/>
          <p:cNvSpPr/>
          <p:nvPr/>
        </p:nvSpPr>
        <p:spPr>
          <ns188:xfrm xmlns:ns188="http://schemas.openxmlformats.org/drawingml/2006/main">
            <ns188:off x="4554000" y="2124000"/>
            <ns188:ext cx="2005200" cy="450000"/>
          </ns188:xfrm>
          <ns189:prstGeom xmlns:ns189="http://schemas.openxmlformats.org/drawingml/2006/main" prst="rect">
            <ns189:avLst/>
          </ns189:prstGeom>
          <ns190:noFill xmlns:ns190="http://schemas.openxmlformats.org/drawingml/2006/main"/>
          <ns191:ln xmlns:ns191="http://schemas.openxmlformats.org/drawingml/2006/main" w="0">
            <ns191:noFill/>
          </ns191:ln>
        </p:spPr>
        <p:txBody>
          <ns192:bodyPr xmlns:ns192="http://schemas.openxmlformats.org/drawingml/2006/main" wrap="square" lIns="0" rIns="0" tIns="0" bIns="0" anchor="t">
            <ns192:noAutofit/>
          </ns192:bodyPr>
          <ns193:lstStyle xmlns:ns193="http://schemas.openxmlformats.org/drawingml/2006/main"/>
          <ns194:p xmlns:ns194="http://schemas.openxmlformats.org/drawingml/2006/main">
            <ns194:pPr algn="l">
              <ns194:lnSpc>
                <ns194:spcPct val="105000"/>
              </ns194:lnSpc>
              <ns194:defRPr sz="1300" b="1">
                <ns194:solidFill>
                  <ns194:srgbClr val="005A9C"/>
                </ns194:solidFill>
                <ns194:latin typeface="Arial"/>
                <ns194:ea typeface="Arial"/>
                <ns194:cs typeface="Arial"/>
              </ns194:defRPr>
            </ns194:pPr>
            <ns194:r>
              <ns194:rPr sz="1300" b="1">
                <ns194:solidFill>
                  <ns194:srgbClr val="005A9C"/>
                </ns194:solidFill>
                <ns194:latin typeface="Arial"/>
                <ns194:ea typeface="Arial"/>
                <ns194:cs typeface="Arial"/>
              </ns194:rPr>
              <ns194:t>Trading /</ns194:t>
            </ns194:r>
          </ns194:p>
          <ns195:p xmlns:ns195="http://schemas.openxmlformats.org/drawingml/2006/main">
            <ns195:pPr algn="l">
              <ns195:lnSpc>
                <ns195:spcPct val="105000"/>
              </ns195:lnSpc>
              <ns195:defRPr sz="1300" b="1">
                <ns195:solidFill>
                  <ns195:srgbClr val="005A9C"/>
                </ns195:solidFill>
                <ns195:latin typeface="Arial"/>
                <ns195:ea typeface="Arial"/>
                <ns195:cs typeface="Arial"/>
              </ns195:defRPr>
            </ns195:pPr>
            <ns195:r>
              <ns195:rPr sz="1300" b="1">
                <ns195:solidFill>
                  <ns195:srgbClr val="005A9C"/>
                </ns195:solidFill>
                <ns195:latin typeface="Arial"/>
                <ns195:ea typeface="Arial"/>
                <ns195:cs typeface="Arial"/>
              </ns195:rPr>
              <ns195:t>operations</ns195:t>
            </ns195:r>
          </ns195:p>
        </p:txBody>
      </p:sp>
      <p:sp>
        <p:nvSpPr>
          <p:cNvPr id="134" name="phase.teams.label.1"/>
          <p:cNvSpPr/>
          <p:nvPr/>
        </p:nvSpPr>
        <p:spPr>
          <ns196:xfrm xmlns:ns196="http://schemas.openxmlformats.org/drawingml/2006/main">
            <ns196:off x="4554000" y="2682000"/>
            <ns196:ext cx="2005200" cy="144000"/>
          </ns196:xfrm>
          <ns197:prstGeom xmlns:ns197="http://schemas.openxmlformats.org/drawingml/2006/main" prst="rect">
            <ns197:avLst/>
          </ns197:prstGeom>
          <ns198:noFill xmlns:ns198="http://schemas.openxmlformats.org/drawingml/2006/main"/>
          <ns199:ln xmlns:ns199="http://schemas.openxmlformats.org/drawingml/2006/main" w="0">
            <ns199:noFill/>
          </ns199:ln>
        </p:spPr>
        <p:txBody>
          <ns200:bodyPr xmlns:ns200="http://schemas.openxmlformats.org/drawingml/2006/main" wrap="square" lIns="0" rIns="0" tIns="0" bIns="0" anchor="t">
            <ns200:noAutofit/>
          </ns200:bodyPr>
          <ns201:lstStyle xmlns:ns201="http://schemas.openxmlformats.org/drawingml/2006/main"/>
          <ns202:p xmlns:ns202="http://schemas.openxmlformats.org/drawingml/2006/main">
            <ns202:pPr algn="l">
              <ns202:lnSpc>
                <ns202:spcPct val="105000"/>
              </ns202:lnSpc>
              <ns202:defRPr sz="950" b="0">
                <ns202:solidFill>
                  <ns202:srgbClr val="65727D"/>
                </ns202:solidFill>
                <ns202:latin typeface="Arial"/>
                <ns202:ea typeface="Arial"/>
                <ns202:cs typeface="Arial"/>
              </ns202:defRPr>
            </ns202:pPr>
            <ns202:r>
              <ns202:rPr sz="950" b="0">
                <ns202:solidFill>
                  <ns202:srgbClr val="65727D"/>
                </ns202:solidFill>
                <ns202:latin typeface="Arial"/>
                <ns202:ea typeface="Arial"/>
                <ns202:cs typeface="Arial"/>
              </ns202:rPr>
              <ns202:t>Participating teams</ns202:t>
            </ns202:r>
          </ns202:p>
        </p:txBody>
      </p:sp>
      <p:sp>
        <p:nvSpPr>
          <p:cNvPr id="135" name="phase.teams.1"/>
          <p:cNvSpPr/>
          <p:nvPr/>
        </p:nvSpPr>
        <p:spPr>
          <ns203:xfrm xmlns:ns203="http://schemas.openxmlformats.org/drawingml/2006/main">
            <ns203:off x="4554000" y="2890800"/>
            <ns203:ext cx="2005200" cy="349200"/>
          </ns203:xfrm>
          <ns204:prstGeom xmlns:ns204="http://schemas.openxmlformats.org/drawingml/2006/main" prst="rect">
            <ns204:avLst/>
          </ns204:prstGeom>
          <ns205:noFill xmlns:ns205="http://schemas.openxmlformats.org/drawingml/2006/main"/>
          <ns206:ln xmlns:ns206="http://schemas.openxmlformats.org/drawingml/2006/main" w="0">
            <ns206:noFill/>
          </ns206:ln>
        </p:spPr>
        <p:txBody>
          <ns207:bodyPr xmlns:ns207="http://schemas.openxmlformats.org/drawingml/2006/main" wrap="square" lIns="0" rIns="0" tIns="0" bIns="0" anchor="t">
            <ns207:noAutofit/>
          </ns207:bodyPr>
          <ns208:lstStyle xmlns:ns208="http://schemas.openxmlformats.org/drawingml/2006/main"/>
          <ns209:p xmlns:ns209="http://schemas.openxmlformats.org/drawingml/2006/main">
            <ns209:pPr algn="l">
              <ns209:lnSpc>
                <ns209:spcPct val="105000"/>
              </ns209:lnSpc>
              <ns209:defRPr sz="1050" b="0">
                <ns209:solidFill>
                  <ns209:srgbClr val="20262C"/>
                </ns209:solidFill>
                <ns209:latin typeface="Arial"/>
                <ns209:ea typeface="Arial"/>
                <ns209:cs typeface="Arial"/>
              </ns209:defRPr>
            </ns209:pPr>
            <ns209:r>
              <ns209:rPr sz="1050" b="0">
                <ns209:solidFill>
                  <ns209:srgbClr val="20262C"/>
                </ns209:solidFill>
                <ns209:latin typeface="Arial"/>
                <ns209:ea typeface="Arial"/>
                <ns209:cs typeface="Arial"/>
              </ns209:rPr>
              <ns209:t>Trading / Operations</ns209:t>
            </ns209:r>
          </ns209:p>
          <ns210:p xmlns:ns210="http://schemas.openxmlformats.org/drawingml/2006/main">
            <ns210:pPr algn="l">
              <ns210:lnSpc>
                <ns210:spcPct val="105000"/>
              </ns210:lnSpc>
              <ns210:defRPr sz="1050" b="0">
                <ns210:solidFill>
                  <ns210:srgbClr val="20262C"/>
                </ns210:solidFill>
                <ns210:latin typeface="Arial"/>
                <ns210:ea typeface="Arial"/>
                <ns210:cs typeface="Arial"/>
              </ns210:defRPr>
            </ns210:pPr>
            <ns210:r>
              <ns210:rPr sz="1050" b="0">
                <ns210:solidFill>
                  <ns210:srgbClr val="20262C"/>
                </ns210:solidFill>
                <ns210:latin typeface="Arial"/>
                <ns210:ea typeface="Arial"/>
                <ns210:cs typeface="Arial"/>
              </ns210:rPr>
              <ns210:t>IT</ns210:t>
            </ns210:r>
          </ns210:p>
        </p:txBody>
      </p:sp>
      <p:sp>
        <p:nvSpPr>
          <p:cNvPr id="136" name="phase.deliverables.1.paper"/>
          <p:cNvSpPr/>
          <p:nvPr/>
        </p:nvSpPr>
        <p:spPr>
          <ns211:xfrm xmlns:ns211="http://schemas.openxmlformats.org/drawingml/2006/main">
            <ns211:off x="4554000" y="3348000"/>
            <ns211:ext cx="2005200" cy="1062000"/>
          </ns211:xfrm>
          <ns212:prstGeom xmlns:ns212="http://schemas.openxmlformats.org/drawingml/2006/main" prst="foldedCorner">
            <ns212:avLst/>
          </ns212:prstGeom>
          <ns213:solidFill xmlns:ns213="http://schemas.openxmlformats.org/drawingml/2006/main">
            <ns213:srgbClr val="FFFFFF"/>
          </ns213:solidFill>
          <ns214:ln xmlns:ns214="http://schemas.openxmlformats.org/drawingml/2006/main" w="9525">
            <ns214:solidFill>
              <ns214:srgbClr val="65727D"/>
            </ns214:solidFill>
          </ns214:ln>
        </p:spPr>
      </p:sp>
      <p:sp>
        <p:nvSpPr>
          <p:cNvPr id="137" name="phase.deliverables.1.title"/>
          <p:cNvSpPr/>
          <p:nvPr/>
        </p:nvSpPr>
        <p:spPr>
          <ns215:xfrm xmlns:ns215="http://schemas.openxmlformats.org/drawingml/2006/main">
            <ns215:off x="4618800" y="3391200"/>
            <ns215:ext cx="1807200" cy="198000"/>
          </ns215:xfrm>
          <ns216:prstGeom xmlns:ns216="http://schemas.openxmlformats.org/drawingml/2006/main" prst="rect">
            <ns216:avLst/>
          </ns216:prstGeom>
          <ns217:noFill xmlns:ns217="http://schemas.openxmlformats.org/drawingml/2006/main"/>
          <ns218:ln xmlns:ns218="http://schemas.openxmlformats.org/drawingml/2006/main" w="0">
            <ns218:noFill/>
          </ns218:ln>
        </p:spPr>
        <p:txBody>
          <ns219:bodyPr xmlns:ns219="http://schemas.openxmlformats.org/drawingml/2006/main" wrap="square" lIns="0" rIns="0" tIns="0" bIns="0" anchor="t">
            <ns219:noAutofit/>
          </ns219:bodyPr>
          <ns220:lstStyle xmlns:ns220="http://schemas.openxmlformats.org/drawingml/2006/main"/>
          <ns221:p xmlns:ns221="http://schemas.openxmlformats.org/drawingml/2006/main">
            <ns221:pPr algn="l">
              <ns221:lnSpc>
                <ns221:spcPct val="105000"/>
              </ns221:lnSpc>
              <ns221:defRPr sz="1250" b="1">
                <ns221:solidFill>
                  <ns221:srgbClr val="65727D"/>
                </ns221:solidFill>
                <ns221:latin typeface="Arial"/>
                <ns221:ea typeface="Arial"/>
                <ns221:cs typeface="Arial"/>
              </ns221:defRPr>
            </ns221:pPr>
            <ns221:r>
              <ns221:rPr sz="1250" b="1">
                <ns221:solidFill>
                  <ns221:srgbClr val="65727D"/>
                </ns221:solidFill>
                <ns221:latin typeface="Arial"/>
                <ns221:ea typeface="Arial"/>
                <ns221:cs typeface="Arial"/>
              </ns221:rPr>
              <ns221:t>Deliverables</ns221:t>
            </ns221:r>
          </ns221:p>
        </p:txBody>
      </p:sp>
      <p:sp>
        <p:nvSpPr>
          <p:cNvPr id="138" name="phase.deliverables.1.content"/>
          <p:cNvSpPr/>
          <p:nvPr/>
        </p:nvSpPr>
        <p:spPr>
          <ns222:xfrm xmlns:ns222="http://schemas.openxmlformats.org/drawingml/2006/main">
            <ns222:off x="4618800" y="3607200"/>
            <ns222:ext cx="1875600" cy="752400"/>
          </ns222:xfrm>
          <ns223:prstGeom xmlns:ns223="http://schemas.openxmlformats.org/drawingml/2006/main" prst="rect">
            <ns223:avLst/>
          </ns223:prstGeom>
          <ns224:noFill xmlns:ns224="http://schemas.openxmlformats.org/drawingml/2006/main"/>
          <ns225:ln xmlns:ns225="http://schemas.openxmlformats.org/drawingml/2006/main" w="0">
            <ns225:noFill/>
          </ns225:ln>
        </p:spPr>
        <p:txBody>
          <ns226:bodyPr xmlns:ns226="http://schemas.openxmlformats.org/drawingml/2006/main" wrap="square" lIns="0" rIns="0" tIns="0" bIns="0" anchor="t">
            <ns226:noAutofit/>
          </ns226:bodyPr>
          <ns227:lstStyle xmlns:ns227="http://schemas.openxmlformats.org/drawingml/2006/main"/>
          <ns228:p xmlns:ns228="http://schemas.openxmlformats.org/drawingml/2006/main">
            <ns228:pPr algn="l">
              <ns228:lnSpc>
                <ns228:spcPct val="100000"/>
              </ns228:lnSpc>
              <ns228:defRPr sz="1150" b="0">
                <ns228:solidFill>
                  <ns228:srgbClr val="20262C"/>
                </ns228:solidFill>
                <ns228:latin typeface="Arial"/>
                <ns228:ea typeface="Arial"/>
                <ns228:cs typeface="Arial"/>
              </ns228:defRPr>
            </ns228:pPr>
            <ns228:r>
              <ns228:rPr sz="1150" b="0">
                <ns228:solidFill>
                  <ns228:srgbClr val="20262C"/>
                </ns228:solidFill>
                <ns228:latin typeface="Arial"/>
                <ns228:ea typeface="Arial"/>
                <ns228:cs typeface="Arial"/>
              </ns228:rPr>
              <ns228:t>Data definitions</ns228:t>
            </ns228:r>
          </ns228:p>
          <ns229:p xmlns:ns229="http://schemas.openxmlformats.org/drawingml/2006/main">
            <ns229:pPr algn="l">
              <ns229:lnSpc>
                <ns229:spcPct val="100000"/>
              </ns229:lnSpc>
              <ns229:defRPr sz="1150" b="0">
                <ns229:solidFill>
                  <ns229:srgbClr val="20262C"/>
                </ns229:solidFill>
                <ns229:latin typeface="Arial"/>
                <ns229:ea typeface="Arial"/>
                <ns229:cs typeface="Arial"/>
              </ns229:defRPr>
            </ns229:pPr>
            <ns229:r>
              <ns229:rPr sz="1150" b="0">
                <ns229:solidFill>
                  <ns229:srgbClr val="20262C"/>
                </ns229:solidFill>
                <ns229:latin typeface="Arial"/>
                <ns229:ea typeface="Arial"/>
                <ns229:cs typeface="Arial"/>
              </ns229:rPr>
              <ns229:t>Query interfaces</ns229:t>
            </ns229:r>
          </ns229:p>
          <ns230:p xmlns:ns230="http://schemas.openxmlformats.org/drawingml/2006/main">
            <ns230:pPr algn="l">
              <ns230:lnSpc>
                <ns230:spcPct val="100000"/>
              </ns230:lnSpc>
              <ns230:defRPr sz="1150" b="0">
                <ns230:solidFill>
                  <ns230:srgbClr val="20262C"/>
                </ns230:solidFill>
                <ns230:latin typeface="Arial"/>
                <ns230:ea typeface="Arial"/>
                <ns230:cs typeface="Arial"/>
              </ns230:defRPr>
            </ns230:pPr>
            <ns230:r>
              <ns230:rPr sz="1150" b="0">
                <ns230:solidFill>
                  <ns230:srgbClr val="20262C"/>
                </ns230:solidFill>
                <ns230:latin typeface="Arial"/>
                <ns230:ea typeface="Arial"/>
                <ns230:cs typeface="Arial"/>
              </ns230:rPr>
              <ns230:t>Document workflows</ns230:t>
            </ns230:r>
          </ns230:p>
        </p:txBody>
      </p:sp>
      <p:sp>
        <p:nvSpPr>
          <p:cNvPr id="139" name="phase.marker.2"/>
          <p:cNvSpPr/>
          <p:nvPr/>
        </p:nvSpPr>
        <p:spPr>
          <ns231:xfrm xmlns:ns231="http://schemas.openxmlformats.org/drawingml/2006/main">
            <ns231:off x="6685200" y="1674000"/>
            <ns231:ext cx="324000" cy="306000"/>
          </ns231:xfrm>
          <ns232:prstGeom xmlns:ns232="http://schemas.openxmlformats.org/drawingml/2006/main" prst="ellipse">
            <ns232:avLst/>
          </ns232:prstGeom>
          <ns233:solidFill xmlns:ns233="http://schemas.openxmlformats.org/drawingml/2006/main">
            <ns233:srgbClr val="005A9C"/>
          </ns233:solidFill>
          <ns234:ln xmlns:ns234="http://schemas.openxmlformats.org/drawingml/2006/main" w="0">
            <ns234:noFill/>
          </ns234:ln>
        </p:spPr>
        <p:txBody>
          <ns235:bodyPr xmlns:ns235="http://schemas.openxmlformats.org/drawingml/2006/main" wrap="square" lIns="0" rIns="0" tIns="0" bIns="0" anchor="ctr">
            <ns235:noAutofit/>
          </ns235:bodyPr>
          <ns236:lstStyle xmlns:ns236="http://schemas.openxmlformats.org/drawingml/2006/main"/>
          <ns237:p xmlns:ns237="http://schemas.openxmlformats.org/drawingml/2006/main">
            <ns237:pPr algn="ctr">
              <ns237:lnSpc>
                <ns237:spcPct val="105000"/>
              </ns237:lnSpc>
              <ns237:defRPr sz="1600" b="1">
                <ns237:solidFill>
                  <ns237:srgbClr val="FFFFFF"/>
                </ns237:solidFill>
                <ns237:latin typeface="Arial"/>
                <ns237:ea typeface="Arial"/>
                <ns237:cs typeface="Arial"/>
              </ns237:defRPr>
            </ns237:pPr>
            <ns237:r>
              <ns237:rPr sz="1600" b="1">
                <ns237:solidFill>
                  <ns237:srgbClr val="FFFFFF"/>
                </ns237:solidFill>
                <ns237:latin typeface="Arial"/>
                <ns237:ea typeface="Arial"/>
                <ns237:cs typeface="Arial"/>
              </ns237:rPr>
              <ns237:t>3</ns237:t>
            </ns237:r>
          </ns237:p>
        </p:txBody>
      </p:sp>
      <p:sp>
        <p:nvSpPr>
          <p:cNvPr id="140" name="phase.title.2"/>
          <p:cNvSpPr/>
          <p:nvPr/>
        </p:nvSpPr>
        <p:spPr>
          <ns238:xfrm xmlns:ns238="http://schemas.openxmlformats.org/drawingml/2006/main">
            <ns238:off x="6685200" y="2124000"/>
            <ns238:ext cx="2001600" cy="450000"/>
          </ns238:xfrm>
          <ns239:prstGeom xmlns:ns239="http://schemas.openxmlformats.org/drawingml/2006/main" prst="rect">
            <ns239:avLst/>
          </ns239:prstGeom>
          <ns240:noFill xmlns:ns240="http://schemas.openxmlformats.org/drawingml/2006/main"/>
          <ns241:ln xmlns:ns241="http://schemas.openxmlformats.org/drawingml/2006/main" w="0">
            <ns241:noFill/>
          </ns241:ln>
        </p:spPr>
        <p:txBody>
          <ns242:bodyPr xmlns:ns242="http://schemas.openxmlformats.org/drawingml/2006/main" wrap="square" lIns="0" rIns="0" tIns="0" bIns="0" anchor="t">
            <ns242:noAutofit/>
          </ns242:bodyPr>
          <ns243:lstStyle xmlns:ns243="http://schemas.openxmlformats.org/drawingml/2006/main"/>
          <ns244:p xmlns:ns244="http://schemas.openxmlformats.org/drawingml/2006/main">
            <ns244:pPr algn="l">
              <ns244:lnSpc>
                <ns244:spcPct val="105000"/>
              </ns244:lnSpc>
              <ns244:defRPr sz="1300" b="1">
                <ns244:solidFill>
                  <ns244:srgbClr val="005A9C"/>
                </ns244:solidFill>
                <ns244:latin typeface="Arial"/>
                <ns244:ea typeface="Arial"/>
                <ns244:cs typeface="Arial"/>
              </ns244:defRPr>
            </ns244:pPr>
            <ns244:r>
              <ns244:rPr sz="1300" b="1">
                <ns244:solidFill>
                  <ns244:srgbClr val="005A9C"/>
                </ns244:solidFill>
                <ns244:latin typeface="Arial"/>
                <ns244:ea typeface="Arial"/>
                <ns244:cs typeface="Arial"/>
              </ns244:rPr>
              <ns244:t>Development /</ns244:t>
            </ns244:r>
          </ns244:p>
          <ns245:p xmlns:ns245="http://schemas.openxmlformats.org/drawingml/2006/main">
            <ns245:pPr algn="l">
              <ns245:lnSpc>
                <ns245:spcPct val="105000"/>
              </ns245:lnSpc>
              <ns245:defRPr sz="1300" b="1">
                <ns245:solidFill>
                  <ns245:srgbClr val="005A9C"/>
                </ns245:solidFill>
                <ns245:latin typeface="Arial"/>
                <ns245:ea typeface="Arial"/>
                <ns245:cs typeface="Arial"/>
              </ns245:defRPr>
            </ns245:pPr>
            <ns245:r>
              <ns245:rPr sz="1300" b="1">
                <ns245:solidFill>
                  <ns245:srgbClr val="005A9C"/>
                </ns245:solidFill>
                <ns245:latin typeface="Arial"/>
                <ns245:ea typeface="Arial"/>
                <ns245:cs typeface="Arial"/>
              </ns245:rPr>
              <ns245:t>internal services</ns245:t>
            </ns245:r>
          </ns245:p>
        </p:txBody>
      </p:sp>
      <p:sp>
        <p:nvSpPr>
          <p:cNvPr id="141" name="phase.teams.label.2"/>
          <p:cNvSpPr/>
          <p:nvPr/>
        </p:nvSpPr>
        <p:spPr>
          <ns246:xfrm xmlns:ns246="http://schemas.openxmlformats.org/drawingml/2006/main">
            <ns246:off x="6685200" y="2682000"/>
            <ns246:ext cx="2001600" cy="144000"/>
          </ns246:xfrm>
          <ns247:prstGeom xmlns:ns247="http://schemas.openxmlformats.org/drawingml/2006/main" prst="rect">
            <ns247:avLst/>
          </ns247:prstGeom>
          <ns248:noFill xmlns:ns248="http://schemas.openxmlformats.org/drawingml/2006/main"/>
          <ns249:ln xmlns:ns249="http://schemas.openxmlformats.org/drawingml/2006/main" w="0">
            <ns249:noFill/>
          </ns249:ln>
        </p:spPr>
        <p:txBody>
          <ns250:bodyPr xmlns:ns250="http://schemas.openxmlformats.org/drawingml/2006/main" wrap="square" lIns="0" rIns="0" tIns="0" bIns="0" anchor="t">
            <ns250:noAutofit/>
          </ns250:bodyPr>
          <ns251:lstStyle xmlns:ns251="http://schemas.openxmlformats.org/drawingml/2006/main"/>
          <ns252:p xmlns:ns252="http://schemas.openxmlformats.org/drawingml/2006/main">
            <ns252:pPr algn="l">
              <ns252:lnSpc>
                <ns252:spcPct val="105000"/>
              </ns252:lnSpc>
              <ns252:defRPr sz="950" b="0">
                <ns252:solidFill>
                  <ns252:srgbClr val="65727D"/>
                </ns252:solidFill>
                <ns252:latin typeface="Arial"/>
                <ns252:ea typeface="Arial"/>
                <ns252:cs typeface="Arial"/>
              </ns252:defRPr>
            </ns252:pPr>
            <ns252:r>
              <ns252:rPr sz="950" b="0">
                <ns252:solidFill>
                  <ns252:srgbClr val="65727D"/>
                </ns252:solidFill>
                <ns252:latin typeface="Arial"/>
                <ns252:ea typeface="Arial"/>
                <ns252:cs typeface="Arial"/>
              </ns252:rPr>
              <ns252:t>Participating teams</ns252:t>
            </ns252:r>
          </ns252:p>
        </p:txBody>
      </p:sp>
      <p:sp>
        <p:nvSpPr>
          <p:cNvPr id="142" name="phase.teams.2"/>
          <p:cNvSpPr/>
          <p:nvPr/>
        </p:nvSpPr>
        <p:spPr>
          <ns253:xfrm xmlns:ns253="http://schemas.openxmlformats.org/drawingml/2006/main">
            <ns253:off x="6685200" y="2890800"/>
            <ns253:ext cx="2001600" cy="349200"/>
          </ns253:xfrm>
          <ns254:prstGeom xmlns:ns254="http://schemas.openxmlformats.org/drawingml/2006/main" prst="rect">
            <ns254:avLst/>
          </ns254:prstGeom>
          <ns255:noFill xmlns:ns255="http://schemas.openxmlformats.org/drawingml/2006/main"/>
          <ns256:ln xmlns:ns256="http://schemas.openxmlformats.org/drawingml/2006/main" w="0">
            <ns256:noFill/>
          </ns256:ln>
        </p:spPr>
        <p:txBody>
          <ns257:bodyPr xmlns:ns257="http://schemas.openxmlformats.org/drawingml/2006/main" wrap="square" lIns="0" rIns="0" tIns="0" bIns="0" anchor="t">
            <ns257:noAutofit/>
          </ns257:bodyPr>
          <ns258:lstStyle xmlns:ns258="http://schemas.openxmlformats.org/drawingml/2006/main"/>
          <ns259:p xmlns:ns259="http://schemas.openxmlformats.org/drawingml/2006/main">
            <ns259:pPr algn="l">
              <ns259:lnSpc>
                <ns259:spcPct val="105000"/>
              </ns259:lnSpc>
              <ns259:defRPr sz="1050" b="0">
                <ns259:solidFill>
                  <ns259:srgbClr val="20262C"/>
                </ns259:solidFill>
                <ns259:latin typeface="Arial"/>
                <ns259:ea typeface="Arial"/>
                <ns259:cs typeface="Arial"/>
              </ns259:defRPr>
            </ns259:pPr>
            <ns259:r>
              <ns259:rPr sz="1050" b="0">
                <ns259:solidFill>
                  <ns259:srgbClr val="20262C"/>
                </ns259:solidFill>
                <ns259:latin typeface="Arial"/>
                <ns259:ea typeface="Arial"/>
                <ns259:cs typeface="Arial"/>
              </ns259:rPr>
              <ns259:t>Business teams / IT</ns259:t>
            </ns259:r>
          </ns259:p>
        </p:txBody>
      </p:sp>
      <p:sp>
        <p:nvSpPr>
          <p:cNvPr id="143" name="phase.deliverables.2.paper"/>
          <p:cNvSpPr/>
          <p:nvPr/>
        </p:nvSpPr>
        <p:spPr>
          <ns260:xfrm xmlns:ns260="http://schemas.openxmlformats.org/drawingml/2006/main">
            <ns260:off x="6685200" y="3348000"/>
            <ns260:ext cx="2001600" cy="1062000"/>
          </ns260:xfrm>
          <ns261:prstGeom xmlns:ns261="http://schemas.openxmlformats.org/drawingml/2006/main" prst="foldedCorner">
            <ns261:avLst/>
          </ns261:prstGeom>
          <ns262:solidFill xmlns:ns262="http://schemas.openxmlformats.org/drawingml/2006/main">
            <ns262:srgbClr val="FFFFFF"/>
          </ns262:solidFill>
          <ns263:ln xmlns:ns263="http://schemas.openxmlformats.org/drawingml/2006/main" w="9525">
            <ns263:solidFill>
              <ns263:srgbClr val="65727D"/>
            </ns263:solidFill>
          </ns263:ln>
        </p:spPr>
      </p:sp>
      <p:sp>
        <p:nvSpPr>
          <p:cNvPr id="144" name="phase.deliverables.2.title"/>
          <p:cNvSpPr/>
          <p:nvPr/>
        </p:nvSpPr>
        <p:spPr>
          <ns264:xfrm xmlns:ns264="http://schemas.openxmlformats.org/drawingml/2006/main">
            <ns264:off x="6750000" y="3391200"/>
            <ns264:ext cx="1803600" cy="198000"/>
          </ns264:xfrm>
          <ns265:prstGeom xmlns:ns265="http://schemas.openxmlformats.org/drawingml/2006/main" prst="rect">
            <ns265:avLst/>
          </ns265:prstGeom>
          <ns266:noFill xmlns:ns266="http://schemas.openxmlformats.org/drawingml/2006/main"/>
          <ns267:ln xmlns:ns267="http://schemas.openxmlformats.org/drawingml/2006/main" w="0">
            <ns267:noFill/>
          </ns267:ln>
        </p:spPr>
        <p:txBody>
          <ns268:bodyPr xmlns:ns268="http://schemas.openxmlformats.org/drawingml/2006/main" wrap="square" lIns="0" rIns="0" tIns="0" bIns="0" anchor="t">
            <ns268:noAutofit/>
          </ns268:bodyPr>
          <ns269:lstStyle xmlns:ns269="http://schemas.openxmlformats.org/drawingml/2006/main"/>
          <ns270:p xmlns:ns270="http://schemas.openxmlformats.org/drawingml/2006/main">
            <ns270:pPr algn="l">
              <ns270:lnSpc>
                <ns270:spcPct val="105000"/>
              </ns270:lnSpc>
              <ns270:defRPr sz="1250" b="1">
                <ns270:solidFill>
                  <ns270:srgbClr val="65727D"/>
                </ns270:solidFill>
                <ns270:latin typeface="Arial"/>
                <ns270:ea typeface="Arial"/>
                <ns270:cs typeface="Arial"/>
              </ns270:defRPr>
            </ns270:pPr>
            <ns270:r>
              <ns270:rPr sz="1250" b="1">
                <ns270:solidFill>
                  <ns270:srgbClr val="65727D"/>
                </ns270:solidFill>
                <ns270:latin typeface="Arial"/>
                <ns270:ea typeface="Arial"/>
                <ns270:cs typeface="Arial"/>
              </ns270:rPr>
              <ns270:t>Deliverables</ns270:t>
            </ns270:r>
          </ns270:p>
        </p:txBody>
      </p:sp>
      <p:sp>
        <p:nvSpPr>
          <p:cNvPr id="145" name="phase.deliverables.2.content"/>
          <p:cNvSpPr/>
          <p:nvPr/>
        </p:nvSpPr>
        <p:spPr>
          <ns271:xfrm xmlns:ns271="http://schemas.openxmlformats.org/drawingml/2006/main">
            <ns271:off x="6750000" y="3607200"/>
            <ns271:ext cx="1872000" cy="752400"/>
          </ns271:xfrm>
          <ns272:prstGeom xmlns:ns272="http://schemas.openxmlformats.org/drawingml/2006/main" prst="rect">
            <ns272:avLst/>
          </ns272:prstGeom>
          <ns273:noFill xmlns:ns273="http://schemas.openxmlformats.org/drawingml/2006/main"/>
          <ns274:ln xmlns:ns274="http://schemas.openxmlformats.org/drawingml/2006/main" w="0">
            <ns274:noFill/>
          </ns274:ln>
        </p:spPr>
        <p:txBody>
          <ns275:bodyPr xmlns:ns275="http://schemas.openxmlformats.org/drawingml/2006/main" wrap="square" lIns="0" rIns="0" tIns="0" bIns="0" anchor="t">
            <ns275:noAutofit/>
          </ns275:bodyPr>
          <ns276:lstStyle xmlns:ns276="http://schemas.openxmlformats.org/drawingml/2006/main"/>
          <ns277:p xmlns:ns277="http://schemas.openxmlformats.org/drawingml/2006/main">
            <ns277:pPr algn="l">
              <ns277:lnSpc>
                <ns277:spcPct val="100000"/>
              </ns277:lnSpc>
              <ns277:defRPr sz="1150" b="0">
                <ns277:solidFill>
                  <ns277:srgbClr val="20262C"/>
                </ns277:solidFill>
                <ns277:latin typeface="Arial"/>
                <ns277:ea typeface="Arial"/>
                <ns277:cs typeface="Arial"/>
              </ns277:defRPr>
            </ns277:pPr>
            <ns277:r>
              <ns277:rPr sz="1150" b="0">
                <ns277:solidFill>
                  <ns277:srgbClr val="20262C"/>
                </ns277:solidFill>
                <ns277:latin typeface="Arial"/>
                <ns277:ea typeface="Arial"/>
                <ns277:cs typeface="Arial"/>
              </ns277:rPr>
              <ns277:t>Business tools</ns277:t>
            </ns277:r>
          </ns277:p>
          <ns278:p xmlns:ns278="http://schemas.openxmlformats.org/drawingml/2006/main">
            <ns278:pPr algn="l">
              <ns278:lnSpc>
                <ns278:spcPct val="100000"/>
              </ns278:lnSpc>
              <ns278:defRPr sz="1150" b="0">
                <ns278:solidFill>
                  <ns278:srgbClr val="20262C"/>
                </ns278:solidFill>
                <ns278:latin typeface="Arial"/>
                <ns278:ea typeface="Arial"/>
                <ns278:cs typeface="Arial"/>
              </ns278:defRPr>
            </ns278:pPr>
            <ns278:r>
              <ns278:rPr sz="1150" b="0">
                <ns278:solidFill>
                  <ns278:srgbClr val="20262C"/>
                </ns278:solidFill>
                <ns278:latin typeface="Arial"/>
                <ns278:ea typeface="Arial"/>
                <ns278:cs typeface="Arial"/>
              </ns278:rPr>
              <ns278:t>User guides</ns278:t>
            </ns278:r>
          </ns278:p>
          <ns279:p xmlns:ns279="http://schemas.openxmlformats.org/drawingml/2006/main">
            <ns279:pPr algn="l">
              <ns279:lnSpc>
                <ns279:spcPct val="100000"/>
              </ns279:lnSpc>
              <ns279:defRPr sz="1150" b="0">
                <ns279:solidFill>
                  <ns279:srgbClr val="20262C"/>
                </ns279:solidFill>
                <ns279:latin typeface="Arial"/>
                <ns279:ea typeface="Arial"/>
                <ns279:cs typeface="Arial"/>
              </ns279:defRPr>
            </ns279:pPr>
            <ns279:r>
              <ns279:rPr sz="1150" b="0">
                <ns279:solidFill>
                  <ns279:srgbClr val="20262C"/>
                </ns279:solidFill>
                <ns279:latin typeface="Arial"/>
                <ns279:ea typeface="Arial"/>
                <ns279:cs typeface="Arial"/>
              </ns279:rPr>
              <ns279:t>Named maintenance owner</ns279:t>
            </ns279:r>
          </ns279:p>
        </p:txBody>
      </p:sp>
    </p:spTree>
    <p:extLst>
      <p:ext uri="{BB962C8B-B14F-4D97-AF65-F5344CB8AC3E}">
        <p14:creationId xmlns:p14="http://schemas.microsoft.com/office/powerpoint/2010/main" val="78915621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Evaluating application use and task outcomes</ns6:t>
            </ns6:r>
          </ns6:p>
        </p:txBody>
      </p:sp>
      <p:sp>
        <p:nvSpPr>
          <p:cNvPr id="102"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Evaluation</ns13:t>
            </ns13:r>
          </ns13:p>
        </p:txBody>
      </p:sp>
      <p:sp>
        <p:nvSpPr>
          <p:cNvPr id="103"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104"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105"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106"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107" name="map.task.trade"/>
          <p:cNvSpPr/>
          <p:nvPr/>
        </p:nvSpPr>
        <p:spPr>
          <ns35:xfrm xmlns:ns35="http://schemas.openxmlformats.org/drawingml/2006/main">
            <ns35:off x="554400" y="2001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0">
                <ns41:solidFill>
                  <ns41:srgbClr val="65727D"/>
                </ns41:solidFill>
                <ns41:latin typeface="Arial"/>
                <ns41:ea typeface="Arial"/>
                <ns41:cs typeface="Arial"/>
              </ns41:defRPr>
            </ns41:pPr>
            <ns41:r>
              <ns41:rPr sz="1050" b="0">
                <ns41:solidFill>
                  <ns41:srgbClr val="65727D"/>
                </ns41:solidFill>
                <ns41:latin typeface="Arial"/>
                <ns41:ea typeface="Arial"/>
                <ns41:cs typeface="Arial"/>
              </ns41:rPr>
              <ns41:t>Trading support</ns41:t>
            </ns41:r>
          </ns41:p>
        </p:txBody>
      </p:sp>
      <p:sp>
        <p:nvSpPr>
          <p:cNvPr id="108" name="map.task.focus.client"/>
          <p:cNvSpPr/>
          <p:nvPr/>
        </p:nvSpPr>
        <p:spPr>
          <ns42:xfrm xmlns:ns42="http://schemas.openxmlformats.org/drawingml/2006/main">
            <ns42:off x="486000" y="2196000"/>
            <ns42:ext cx="1677600" cy="176400"/>
          </ns42:xfrm>
          <ns43:prstGeom xmlns:ns43="http://schemas.openxmlformats.org/drawingml/2006/main" prst="rect">
            <ns43:avLst/>
          </ns43:prstGeom>
          <ns44:solidFill xmlns:ns44="http://schemas.openxmlformats.org/drawingml/2006/main">
            <ns44:srgbClr val="D9EAF7"/>
          </ns44:solidFill>
          <ns45:ln xmlns:ns45="http://schemas.openxmlformats.org/drawingml/2006/main" w="0">
            <ns45:noFill/>
          </ns45:ln>
        </p:spPr>
      </p:sp>
      <p:sp>
        <p:nvSpPr>
          <p:cNvPr id="109" name="map.task.client"/>
          <p:cNvSpPr/>
          <p:nvPr/>
        </p:nvSpPr>
        <p:spPr>
          <ns46:xfrm xmlns:ns46="http://schemas.openxmlformats.org/drawingml/2006/main">
            <ns46:off x="554400" y="2199600"/>
            <ns46:ext cx="1562400" cy="165600"/>
          </ns46:xfrm>
          <ns47:prstGeom xmlns:ns47="http://schemas.openxmlformats.org/drawingml/2006/main" prst="rect">
            <ns47:avLst/>
          </ns47:prstGeom>
          <ns48:noFill xmlns:ns48="http://schemas.openxmlformats.org/drawingml/2006/main"/>
          <ns49:ln xmlns:ns49="http://schemas.openxmlformats.org/drawingml/2006/main" w="0">
            <ns49:noFill/>
          </ns49:ln>
        </p:spPr>
        <p:txBody>
          <ns50:bodyPr xmlns:ns50="http://schemas.openxmlformats.org/drawingml/2006/main" wrap="square" lIns="0" rIns="0" tIns="0" bIns="0" anchor="t">
            <ns50:noAutofit/>
          </ns50:bodyPr>
          <ns51:lstStyle xmlns:ns51="http://schemas.openxmlformats.org/drawingml/2006/main"/>
          <ns52:p xmlns:ns52="http://schemas.openxmlformats.org/drawingml/2006/main">
            <ns52:pPr algn="l">
              <ns52:lnSpc>
                <ns52:spcPct val="105000"/>
              </ns52:lnSpc>
              <ns52:defRPr sz="1050" b="1">
                <ns52:solidFill>
                  <ns52:srgbClr val="005A9C"/>
                </ns52:solidFill>
                <ns52:latin typeface="Arial"/>
                <ns52:ea typeface="Arial"/>
                <ns52:cs typeface="Arial"/>
              </ns52:defRPr>
            </ns52:pPr>
            <ns52:r>
              <ns52:rPr sz="1050" b="1">
                <ns52:solidFill>
                  <ns52:srgbClr val="005A9C"/>
                </ns52:solidFill>
                <ns52:latin typeface="Arial"/>
                <ns52:ea typeface="Arial"/>
                <ns52:cs typeface="Arial"/>
              </ns52:rPr>
              <ns52:t>Client materials</ns52:t>
            </ns52:r>
          </ns52:p>
        </p:txBody>
      </p:sp>
      <p:sp>
        <p:nvSpPr>
          <p:cNvPr id="110" name="map.office.1"/>
          <p:cNvSpPr/>
          <p:nvPr/>
        </p:nvSpPr>
        <p:spPr>
          <ns53:xfrm xmlns:ns53="http://schemas.openxmlformats.org/drawingml/2006/main">
            <ns53:off x="486000" y="2548800"/>
            <ns53:ext cx="1692000" cy="180000"/>
          </ns53:xfrm>
          <ns54:prstGeom xmlns:ns54="http://schemas.openxmlformats.org/drawingml/2006/main" prst="rect">
            <ns54:avLst/>
          </ns54:prstGeom>
          <ns55:noFill xmlns:ns55="http://schemas.openxmlformats.org/drawingml/2006/main"/>
          <ns56:ln xmlns:ns56="http://schemas.openxmlformats.org/drawingml/2006/main" w="0">
            <ns56:noFill/>
          </ns56:ln>
        </p:spPr>
        <p:txBody>
          <ns57:bodyPr xmlns:ns57="http://schemas.openxmlformats.org/drawingml/2006/main" wrap="square" lIns="0" rIns="0" tIns="0" bIns="0" anchor="t">
            <ns57:noAutofit/>
          </ns57:bodyPr>
          <ns58:lstStyle xmlns:ns58="http://schemas.openxmlformats.org/drawingml/2006/main"/>
          <ns59:p xmlns:ns59="http://schemas.openxmlformats.org/drawingml/2006/main">
            <ns59:pPr algn="l">
              <ns59:lnSpc>
                <ns59:spcPct val="105000"/>
              </ns59:lnSpc>
              <ns59:defRPr sz="1100" b="1">
                <ns59:solidFill>
                  <ns59:srgbClr val="65727D"/>
                </ns59:solidFill>
                <ns59:latin typeface="Arial"/>
                <ns59:ea typeface="Arial"/>
                <ns59:cs typeface="Arial"/>
              </ns59:defRPr>
            </ns59:pPr>
            <ns59:r>
              <ns59:rPr sz="1100" b="1">
                <ns59:solidFill>
                  <ns59:srgbClr val="65727D"/>
                </ns59:solidFill>
                <ns59:latin typeface="Arial"/>
                <ns59:ea typeface="Arial"/>
                <ns59:cs typeface="Arial"/>
              </ns59:rPr>
              <ns59:t>Middle office</ns59:t>
            </ns59:r>
          </ns59:p>
        </p:txBody>
      </p:sp>
      <p:cxnSp>
        <p:nvCxnSpPr>
          <p:cNvPr id="111" name="map.office.rule.1"/>
          <p:cNvCxnSpPr/>
          <p:nvPr/>
        </p:nvCxnSpPr>
        <p:spPr>
          <ns60:xfrm xmlns:ns60="http://schemas.openxmlformats.org/drawingml/2006/main">
            <ns60:off x="457200" y="2768400"/>
            <ns60:ext cx="1742400" cy="1"/>
          </ns60:xfrm>
          <ns61:prstGeom xmlns:ns61="http://schemas.openxmlformats.org/drawingml/2006/main" prst="line">
            <ns61:avLst/>
          </ns61:prstGeom>
          <ns62:ln xmlns:ns62="http://schemas.openxmlformats.org/drawingml/2006/main" w="7620">
            <ns62:solidFill>
              <ns62:srgbClr val="CBD4DA"/>
            </ns62:solidFill>
          </ns62:ln>
        </p:spPr>
      </p:cxnSp>
      <p:sp>
        <p:nvSpPr>
          <p:cNvPr id="112" name="map.task.review"/>
          <p:cNvSpPr/>
          <p:nvPr/>
        </p:nvSpPr>
        <p:spPr>
          <ns63:xfrm xmlns:ns63="http://schemas.openxmlformats.org/drawingml/2006/main">
            <ns63:off x="554400" y="2847600"/>
            <ns63:ext cx="1562400" cy="165600"/>
          </ns63:xfrm>
          <ns64:prstGeom xmlns:ns64="http://schemas.openxmlformats.org/drawingml/2006/main" prst="rect">
            <ns64:avLst/>
          </ns64:prstGeom>
          <ns65:noFill xmlns:ns65="http://schemas.openxmlformats.org/drawingml/2006/main"/>
          <ns66:ln xmlns:ns66="http://schemas.openxmlformats.org/drawingml/2006/main" w="0">
            <ns66:noFill/>
          </ns66:ln>
        </p:spPr>
        <p:txBody>
          <ns67:bodyPr xmlns:ns67="http://schemas.openxmlformats.org/drawingml/2006/main" wrap="square" lIns="0" rIns="0" tIns="0" bIns="0" anchor="t">
            <ns67:noAutofit/>
          </ns67:bodyPr>
          <ns68:lstStyle xmlns:ns68="http://schemas.openxmlformats.org/drawingml/2006/main"/>
          <ns69:p xmlns:ns69="http://schemas.openxmlformats.org/drawingml/2006/main">
            <ns69:pPr algn="l">
              <ns69:lnSpc>
                <ns69:spcPct val="105000"/>
              </ns69:lnSpc>
              <ns69:defRPr sz="1050" b="0">
                <ns69:solidFill>
                  <ns69:srgbClr val="65727D"/>
                </ns69:solidFill>
                <ns69:latin typeface="Arial"/>
                <ns69:ea typeface="Arial"/>
                <ns69:cs typeface="Arial"/>
              </ns69:defRPr>
            </ns69:pPr>
            <ns69:r>
              <ns69:rPr sz="1050" b="0">
                <ns69:solidFill>
                  <ns69:srgbClr val="65727D"/>
                </ns69:solidFill>
                <ns69:latin typeface="Arial"/>
                <ns69:ea typeface="Arial"/>
                <ns69:cs typeface="Arial"/>
              </ns69:rPr>
              <ns69:t>Content review</ns69:t>
            </ns69:r>
          </ns69:p>
        </p:txBody>
      </p:sp>
      <p:sp>
        <p:nvSpPr>
          <p:cNvPr id="113" name="map.task.risk"/>
          <p:cNvSpPr/>
          <p:nvPr/>
        </p:nvSpPr>
        <p:spPr>
          <ns70:xfrm xmlns:ns70="http://schemas.openxmlformats.org/drawingml/2006/main">
            <ns70:off x="554400" y="3045600"/>
            <ns70:ext cx="1562400" cy="1656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5000"/>
              </ns76:lnSpc>
              <ns76:defRPr sz="1050" b="0">
                <ns76:solidFill>
                  <ns76:srgbClr val="65727D"/>
                </ns76:solidFill>
                <ns76:latin typeface="Arial"/>
                <ns76:ea typeface="Arial"/>
                <ns76:cs typeface="Arial"/>
              </ns76:defRPr>
            </ns76:pPr>
            <ns76:r>
              <ns76:rPr sz="1050" b="0">
                <ns76:solidFill>
                  <ns76:srgbClr val="65727D"/>
                </ns76:solidFill>
                <ns76:latin typeface="Arial"/>
                <ns76:ea typeface="Arial"/>
                <ns76:cs typeface="Arial"/>
              </ns76:rPr>
              <ns76:t>Risk analysis</ns76:t>
            </ns76:r>
          </ns76:p>
        </p:txBody>
      </p:sp>
      <p:sp>
        <p:nvSpPr>
          <p:cNvPr id="114" name="map.office.2"/>
          <p:cNvSpPr/>
          <p:nvPr/>
        </p:nvSpPr>
        <p:spPr>
          <ns77:xfrm xmlns:ns77="http://schemas.openxmlformats.org/drawingml/2006/main">
            <ns77:off x="486000" y="3391200"/>
            <ns77:ext cx="1692000" cy="180000"/>
          </ns77:xfrm>
          <ns78:prstGeom xmlns:ns78="http://schemas.openxmlformats.org/drawingml/2006/main" prst="rect">
            <ns78:avLst/>
          </ns78:prstGeom>
          <ns79:noFill xmlns:ns79="http://schemas.openxmlformats.org/drawingml/2006/main"/>
          <ns80:ln xmlns:ns80="http://schemas.openxmlformats.org/drawingml/2006/main" w="0">
            <ns80:noFill/>
          </ns80:ln>
        </p:spPr>
        <p:txBody>
          <ns81:bodyPr xmlns:ns81="http://schemas.openxmlformats.org/drawingml/2006/main" wrap="square" lIns="0" rIns="0" tIns="0" bIns="0" anchor="t">
            <ns81:noAutofit/>
          </ns81:bodyPr>
          <ns82:lstStyle xmlns:ns82="http://schemas.openxmlformats.org/drawingml/2006/main"/>
          <ns83:p xmlns:ns83="http://schemas.openxmlformats.org/drawingml/2006/main">
            <ns83:pPr algn="l">
              <ns83:lnSpc>
                <ns83:spcPct val="105000"/>
              </ns83:lnSpc>
              <ns83:defRPr sz="1100" b="1">
                <ns83:solidFill>
                  <ns83:srgbClr val="65727D"/>
                </ns83:solidFill>
                <ns83:latin typeface="Arial"/>
                <ns83:ea typeface="Arial"/>
                <ns83:cs typeface="Arial"/>
              </ns83:defRPr>
            </ns83:pPr>
            <ns83:r>
              <ns83:rPr sz="1100" b="1">
                <ns83:solidFill>
                  <ns83:srgbClr val="65727D"/>
                </ns83:solidFill>
                <ns83:latin typeface="Arial"/>
                <ns83:ea typeface="Arial"/>
                <ns83:cs typeface="Arial"/>
              </ns83:rPr>
              <ns83:t>Back office</ns83:t>
            </ns83:r>
          </ns83:p>
        </p:txBody>
      </p:sp>
      <p:cxnSp>
        <p:nvCxnSpPr>
          <p:cNvPr id="115" name="map.office.rule.2"/>
          <p:cNvCxnSpPr/>
          <p:nvPr/>
        </p:nvCxnSpPr>
        <p:spPr>
          <ns84:xfrm xmlns:ns84="http://schemas.openxmlformats.org/drawingml/2006/main">
            <ns84:off x="457200" y="3610800"/>
            <ns84:ext cx="1742400" cy="1"/>
          </ns84:xfrm>
          <ns85:prstGeom xmlns:ns85="http://schemas.openxmlformats.org/drawingml/2006/main" prst="line">
            <ns85:avLst/>
          </ns85:prstGeom>
          <ns86:ln xmlns:ns86="http://schemas.openxmlformats.org/drawingml/2006/main" w="7620">
            <ns86:solidFill>
              <ns86:srgbClr val="CBD4DA"/>
            </ns86:solidFill>
          </ns86:ln>
        </p:spPr>
      </p:cxnSp>
      <p:sp>
        <p:nvSpPr>
          <p:cNvPr id="116" name="map.task.files"/>
          <p:cNvSpPr/>
          <p:nvPr/>
        </p:nvSpPr>
        <p:spPr>
          <ns87:xfrm xmlns:ns87="http://schemas.openxmlformats.org/drawingml/2006/main">
            <ns87:off x="554400" y="3690000"/>
            <ns87:ext cx="1562400" cy="1656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5000"/>
              </ns93:lnSpc>
              <ns93:defRPr sz="1050" b="0">
                <ns93:solidFill>
                  <ns93:srgbClr val="65727D"/>
                </ns93:solidFill>
                <ns93:latin typeface="Arial"/>
                <ns93:ea typeface="Arial"/>
                <ns93:cs typeface="Arial"/>
              </ns93:defRPr>
            </ns93:pPr>
            <ns93:r>
              <ns93:rPr sz="1050" b="0">
                <ns93:solidFill>
                  <ns93:srgbClr val="65727D"/>
                </ns93:solidFill>
                <ns93:latin typeface="Arial"/>
                <ns93:ea typeface="Arial"/>
                <ns93:cs typeface="Arial"/>
              </ns93:rPr>
              <ns93:t>Document processing</ns93:t>
            </ns93:r>
          </ns93:p>
        </p:txBody>
      </p:sp>
      <p:sp>
        <p:nvSpPr>
          <p:cNvPr id="117" name="map.task.dev"/>
          <p:cNvSpPr/>
          <p:nvPr/>
        </p:nvSpPr>
        <p:spPr>
          <ns94:xfrm xmlns:ns94="http://schemas.openxmlformats.org/drawingml/2006/main">
            <ns94:off x="554400" y="3888000"/>
            <ns94:ext cx="1562400" cy="165600"/>
          </ns94:xfrm>
          <ns95:prstGeom xmlns:ns95="http://schemas.openxmlformats.org/drawingml/2006/main" prst="rect">
            <ns95:avLst/>
          </ns95:prstGeom>
          <ns96:noFill xmlns:ns96="http://schemas.openxmlformats.org/drawingml/2006/main"/>
          <ns97:ln xmlns:ns97="http://schemas.openxmlformats.org/drawingml/2006/main" w="0">
            <ns97:noFill/>
          </ns97:ln>
        </p:spPr>
        <p:txBody>
          <ns98:bodyPr xmlns:ns98="http://schemas.openxmlformats.org/drawingml/2006/main" wrap="square" lIns="0" rIns="0" tIns="0" bIns="0" anchor="t">
            <ns98:noAutofit/>
          </ns98:bodyPr>
          <ns99:lstStyle xmlns:ns99="http://schemas.openxmlformats.org/drawingml/2006/main"/>
          <ns100:p xmlns:ns100="http://schemas.openxmlformats.org/drawingml/2006/main">
            <ns100:pPr algn="l">
              <ns100:lnSpc>
                <ns100:spcPct val="105000"/>
              </ns100:lnSpc>
              <ns100:defRPr sz="1050" b="0">
                <ns100:solidFill>
                  <ns100:srgbClr val="65727D"/>
                </ns100:solidFill>
                <ns100:latin typeface="Arial"/>
                <ns100:ea typeface="Arial"/>
                <ns100:cs typeface="Arial"/>
              </ns100:defRPr>
            </ns100:pPr>
            <ns100:r>
              <ns100:rPr sz="1050" b="0">
                <ns100:solidFill>
                  <ns100:srgbClr val="65727D"/>
                </ns100:solidFill>
                <ns100:latin typeface="Arial"/>
                <ns100:ea typeface="Arial"/>
                <ns100:cs typeface="Arial"/>
              </ns100:rPr>
              <ns100:t>Tool development</ns100:t>
            </ns100:r>
          </ns100:p>
        </p:txBody>
      </p:sp>
      <p:sp>
        <p:nvSpPr>
          <p:cNvPr id="118" name="map.legend"/>
          <p:cNvSpPr/>
          <p:nvPr/>
        </p:nvSpPr>
        <p:spPr>
          <ns101:xfrm xmlns:ns101="http://schemas.openxmlformats.org/drawingml/2006/main">
            <ns101:off x="486000" y="4363200"/>
            <ns101:ext cx="1684800" cy="162000"/>
          </ns101:xfrm>
          <ns102:prstGeom xmlns:ns102="http://schemas.openxmlformats.org/drawingml/2006/main" prst="rect">
            <ns102:avLst/>
          </ns102:prstGeom>
          <ns103:noFill xmlns:ns103="http://schemas.openxmlformats.org/drawingml/2006/main"/>
          <ns104:ln xmlns:ns104="http://schemas.openxmlformats.org/drawingml/2006/main" w="0">
            <ns104:noFill/>
          </ns104:ln>
        </p:spPr>
        <p:txBody>
          <ns105:bodyPr xmlns:ns105="http://schemas.openxmlformats.org/drawingml/2006/main" wrap="square" lIns="0" rIns="0" tIns="0" bIns="0" anchor="t">
            <ns105:noAutofit/>
          </ns105:bodyPr>
          <ns106:lstStyle xmlns:ns106="http://schemas.openxmlformats.org/drawingml/2006/main"/>
          <ns107:p xmlns:ns107="http://schemas.openxmlformats.org/drawingml/2006/main">
            <ns107:pPr algn="l">
              <ns107:lnSpc>
                <ns107:spcPct val="105000"/>
              </ns107:lnSpc>
              <ns107:defRPr sz="850" b="0">
                <ns107:solidFill>
                  <ns107:srgbClr val="65727D"/>
                </ns107:solidFill>
                <ns107:latin typeface="Arial"/>
                <ns107:ea typeface="Arial"/>
                <ns107:cs typeface="Arial"/>
              </ns107:defRPr>
            </ns107:pPr>
            <ns107:r>
              <ns107:rPr sz="850" b="0">
                <ns107:solidFill>
                  <ns107:srgbClr val="65727D"/>
                </ns107:solidFill>
                <ns107:latin typeface="Arial"/>
                <ns107:ea typeface="Arial"/>
                <ns107:cs typeface="Arial"/>
              </ns107:rPr>
              <ns107:t>Company workflow</ns107:t>
            </ns107:r>
          </ns107:p>
        </p:txBody>
      </p:sp>
      <p:sp>
        <p:nvSpPr>
          <p:cNvPr id="119" name="evaluation.initial.focus"/>
          <p:cNvSpPr/>
          <p:nvPr/>
        </p:nvSpPr>
        <p:spPr>
          <ns108:xfrm xmlns:ns108="http://schemas.openxmlformats.org/drawingml/2006/main">
            <ns108:off x="2422800" y="1440000"/>
            <ns108:ext cx="62640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00" b="0">
                <ns114:solidFill>
                  <ns114:srgbClr val="005A9C"/>
                </ns114:solidFill>
                <ns114:latin typeface="Arial"/>
                <ns114:ea typeface="Arial"/>
                <ns114:cs typeface="Arial"/>
              </ns114:defRPr>
            </ns114:pPr>
            <ns114:r>
              <ns114:rPr sz="1200" b="0">
                <ns114:solidFill>
                  <ns114:srgbClr val="005A9C"/>
                </ns114:solidFill>
                <ns114:latin typeface="Arial"/>
                <ns114:ea typeface="Arial"/>
                <ns114:cs typeface="Arial"/>
              </ns114:rPr>
              <ns114:t>Initial focus: research / client communications</ns114:t>
            </ns114:r>
          </ns114:p>
        </p:txBody>
      </p:sp>
      <p:sp>
        <p:nvSpPr>
          <p:cNvPr id="120" name="input.evaluation.baseline"/>
          <p:cNvSpPr/>
          <p:nvPr/>
        </p:nvSpPr>
        <p:spPr>
          <ns115:xfrm xmlns:ns115="http://schemas.openxmlformats.org/drawingml/2006/main">
            <ns115:off x="2422800" y="1746000"/>
            <ns115:ext cx="1620000" cy="612000"/>
          </ns115:xfrm>
          <ns116:prstGeom xmlns:ns116="http://schemas.openxmlformats.org/drawingml/2006/main" prst="rect">
            <ns116:avLst/>
          </ns116:prstGeom>
          <ns117:solidFill xmlns:ns117="http://schemas.openxmlformats.org/drawingml/2006/main">
            <ns117:srgbClr val="F3F7FA"/>
          </ns117:solidFill>
          <ns118:ln xmlns:ns118="http://schemas.openxmlformats.org/drawingml/2006/main" w="9525">
            <ns118:solidFill>
              <ns118:srgbClr val="65727D"/>
            </ns118:solidFill>
          </ns118:ln>
        </p:spPr>
        <p:txBody>
          <ns119:bodyPr xmlns:ns119="http://schemas.openxmlformats.org/drawingml/2006/main" wrap="square" lIns="61200" rIns="61200" tIns="61200" bIns="61200" anchor="ctr">
            <ns119:noAutofit/>
          </ns119:bodyPr>
          <ns120:lstStyle xmlns:ns120="http://schemas.openxmlformats.org/drawingml/2006/main"/>
          <ns121:p xmlns:ns121="http://schemas.openxmlformats.org/drawingml/2006/main">
            <ns121:pPr algn="l">
              <ns121:lnSpc>
                <ns121:spcPct val="105000"/>
              </ns121:lnSpc>
              <ns121:defRPr sz="1300" b="1">
                <ns121:solidFill>
                  <ns121:srgbClr val="65727D"/>
                </ns121:solidFill>
                <ns121:latin typeface="Arial"/>
                <ns121:ea typeface="Arial"/>
                <ns121:cs typeface="Arial"/>
              </ns121:defRPr>
            </ns121:pPr>
            <ns121:r>
              <ns121:rPr sz="1300" b="1">
                <ns121:solidFill>
                  <ns121:srgbClr val="65727D"/>
                </ns121:solidFill>
                <ns121:latin typeface="Arial"/>
                <ns121:ea typeface="Arial"/>
                <ns121:cs typeface="Arial"/>
              </ns121:rPr>
              <ns121:t>Baseline</ns121:t>
            </ns121:r>
          </ns121:p>
          <ns122:p xmlns:ns122="http://schemas.openxmlformats.org/drawingml/2006/main">
            <ns122:pPr algn="l">
              <ns122:lnSpc>
                <ns122:spcPct val="105000"/>
              </ns122:lnSpc>
              <ns122:defRPr sz="1100" b="0">
                <ns122:solidFill>
                  <ns122:srgbClr val="20262C"/>
                </ns122:solidFill>
                <ns122:latin typeface="Arial"/>
                <ns122:ea typeface="Arial"/>
                <ns122:cs typeface="Arial"/>
              </ns122:defRPr>
            </ns122:pPr>
            <ns122:r>
              <ns122:rPr sz="1100" b="0">
                <ns122:solidFill>
                  <ns122:srgbClr val="20262C"/>
                </ns122:solidFill>
                <ns122:latin typeface="Arial"/>
                <ns122:ea typeface="Arial"/>
                <ns122:cs typeface="Arial"/>
              </ns122:rPr>
              <ns122:t>Current task outcomes</ns122:t>
            </ns122:r>
          </ns122:p>
        </p:txBody>
      </p:sp>
      <p:sp>
        <p:nvSpPr>
          <p:cNvPr id="121" name="activity.application.use"/>
          <p:cNvSpPr/>
          <p:nvPr/>
        </p:nvSpPr>
        <p:spPr>
          <ns123:xfrm xmlns:ns123="http://schemas.openxmlformats.org/drawingml/2006/main">
            <ns123:off x="4392000" y="1746000"/>
            <ns123:ext cx="1458000" cy="612000"/>
          </ns123:xfrm>
          <ns124:prstGeom xmlns:ns124="http://schemas.openxmlformats.org/drawingml/2006/main" prst="roundRect">
            <ns124:avLst/>
          </ns124:prstGeom>
          <ns125:solidFill xmlns:ns125="http://schemas.openxmlformats.org/drawingml/2006/main">
            <ns125:srgbClr val="F3F7FA"/>
          </ns125:solidFill>
          <ns126:ln xmlns:ns126="http://schemas.openxmlformats.org/drawingml/2006/main" w="9525">
            <ns126:solidFill>
              <ns126:srgbClr val="65727D"/>
            </ns126:solidFill>
          </ns126:ln>
        </p:spPr>
        <p:txBody>
          <ns127:bodyPr xmlns:ns127="http://schemas.openxmlformats.org/drawingml/2006/main" wrap="square" lIns="61200" rIns="61200" tIns="61200" bIns="61200" anchor="ctr">
            <ns127:noAutofit/>
          </ns127:bodyPr>
          <ns128:lstStyle xmlns:ns128="http://schemas.openxmlformats.org/drawingml/2006/main"/>
          <ns129:p xmlns:ns129="http://schemas.openxmlformats.org/drawingml/2006/main">
            <ns129:pPr algn="l">
              <ns129:lnSpc>
                <ns129:spcPct val="105000"/>
              </ns129:lnSpc>
              <ns129:defRPr sz="1300" b="1">
                <ns129:solidFill>
                  <ns129:srgbClr val="65727D"/>
                </ns129:solidFill>
                <ns129:latin typeface="Arial"/>
                <ns129:ea typeface="Arial"/>
                <ns129:cs typeface="Arial"/>
              </ns129:defRPr>
            </ns129:pPr>
            <ns129:r>
              <ns129:rPr sz="1300" b="1">
                <ns129:solidFill>
                  <ns129:srgbClr val="65727D"/>
                </ns129:solidFill>
                <ns129:latin typeface="Arial"/>
                <ns129:ea typeface="Arial"/>
                <ns129:cs typeface="Arial"/>
              </ns129:rPr>
              <ns129:t>Application use</ns129:t>
            </ns129:r>
          </ns129:p>
          <ns130:p xmlns:ns130="http://schemas.openxmlformats.org/drawingml/2006/main">
            <ns130:pPr algn="l">
              <ns130:lnSpc>
                <ns130:spcPct val="105000"/>
              </ns130:lnSpc>
              <ns130:defRPr sz="1100" b="0">
                <ns130:solidFill>
                  <ns130:srgbClr val="20262C"/>
                </ns130:solidFill>
                <ns130:latin typeface="Arial"/>
                <ns130:ea typeface="Arial"/>
                <ns130:cs typeface="Arial"/>
              </ns130:defRPr>
            </ns130:pPr>
            <ns130:r>
              <ns130:rPr sz="1100" b="0">
                <ns130:solidFill>
                  <ns130:srgbClr val="20262C"/>
                </ns130:solidFill>
                <ns130:latin typeface="Arial"/>
                <ns130:ea typeface="Arial"/>
                <ns130:cs typeface="Arial"/>
              </ns130:rPr>
              <ns130:t>Employee task</ns130:t>
            </ns130:r>
          </ns130:p>
        </p:txBody>
      </p:sp>
      <p:sp>
        <p:nvSpPr>
          <p:cNvPr id="122" name="activity.record.results"/>
          <p:cNvSpPr/>
          <p:nvPr/>
        </p:nvSpPr>
        <p:spPr>
          <ns131:xfrm xmlns:ns131="http://schemas.openxmlformats.org/drawingml/2006/main">
            <ns131:off x="6127200" y="1746000"/>
            <ns131:ext cx="2559600" cy="612000"/>
          </ns131:xfrm>
          <ns132:prstGeom xmlns:ns132="http://schemas.openxmlformats.org/drawingml/2006/main" prst="rect">
            <ns132:avLst/>
          </ns132:prstGeom>
          <ns133:solidFill xmlns:ns133="http://schemas.openxmlformats.org/drawingml/2006/main">
            <ns133:srgbClr val="F3F7FA"/>
          </ns133:solidFill>
          <ns134:ln xmlns:ns134="http://schemas.openxmlformats.org/drawingml/2006/main" w="9525">
            <ns134:solidFill>
              <ns134:srgbClr val="65727D"/>
            </ns134:solidFill>
          </ns134:ln>
        </p:spPr>
        <p:txBody>
          <ns135:bodyPr xmlns:ns135="http://schemas.openxmlformats.org/drawingml/2006/main" wrap="square" lIns="61200" rIns="61200" tIns="61200" bIns="61200" anchor="ctr">
            <ns135:noAutofit/>
          </ns135:bodyPr>
          <ns136:lstStyle xmlns:ns136="http://schemas.openxmlformats.org/drawingml/2006/main"/>
          <ns137:p xmlns:ns137="http://schemas.openxmlformats.org/drawingml/2006/main">
            <ns137:pPr algn="l">
              <ns137:lnSpc>
                <ns137:spcPct val="105000"/>
              </ns137:lnSpc>
              <ns137:defRPr sz="1300" b="1">
                <ns137:solidFill>
                  <ns137:srgbClr val="65727D"/>
                </ns137:solidFill>
                <ns137:latin typeface="Arial"/>
                <ns137:ea typeface="Arial"/>
                <ns137:cs typeface="Arial"/>
              </ns137:defRPr>
            </ns137:pPr>
            <ns137:r>
              <ns137:rPr sz="1300" b="1">
                <ns137:solidFill>
                  <ns137:srgbClr val="65727D"/>
                </ns137:solidFill>
                <ns137:latin typeface="Arial"/>
                <ns137:ea typeface="Arial"/>
                <ns137:cs typeface="Arial"/>
              </ns137:rPr>
              <ns137:t>Record results</ns137:t>
            </ns137:r>
          </ns137:p>
        </p:txBody>
      </p:sp>
      <p:cxnSp>
        <p:nvCxnSpPr>
          <p:cNvPr id="123" name="baseline.to.use"/>
          <p:cNvCxnSpPr/>
          <p:nvPr/>
        </p:nvCxnSpPr>
        <p:spPr>
          <ns138:xfrm xmlns:ns138="http://schemas.openxmlformats.org/drawingml/2006/main">
            <ns138:off x="4078800" y="2052000"/>
            <ns138:ext cx="277200" cy="1"/>
          </ns138:xfrm>
          <ns139:prstGeom xmlns:ns139="http://schemas.openxmlformats.org/drawingml/2006/main" prst="line">
            <ns139:avLst/>
          </ns139:prstGeom>
          <ns140:ln xmlns:ns140="http://schemas.openxmlformats.org/drawingml/2006/main" w="11430">
            <ns140:solidFill>
              <ns140:srgbClr val="005A9C"/>
            </ns140:solidFill>
            <ns140:tailEnd type="triangle" w="sm" len="sm"/>
          </ns140:ln>
        </p:spPr>
      </p:cxnSp>
      <p:cxnSp>
        <p:nvCxnSpPr>
          <p:cNvPr id="124" name="use.to.results"/>
          <p:cNvCxnSpPr/>
          <p:nvPr/>
        </p:nvCxnSpPr>
        <p:spPr>
          <ns141:xfrm xmlns:ns141="http://schemas.openxmlformats.org/drawingml/2006/main">
            <ns141:off x="5886000" y="2052000"/>
            <ns141:ext cx="205200" cy="1"/>
          </ns141:xfrm>
          <ns142:prstGeom xmlns:ns142="http://schemas.openxmlformats.org/drawingml/2006/main" prst="line">
            <ns142:avLst/>
          </ns142:prstGeom>
          <ns143:ln xmlns:ns143="http://schemas.openxmlformats.org/drawingml/2006/main" w="11430">
            <ns143:solidFill>
              <ns143:srgbClr val="005A9C"/>
            </ns143:solidFill>
            <ns143:tailEnd type="triangle" w="sm" len="sm"/>
          </ns143:ln>
        </p:spPr>
      </p:cxnSp>
      <p:sp>
        <p:nvSpPr>
          <p:cNvPr id="125" name="output.results.measures"/>
          <p:cNvSpPr/>
          <p:nvPr/>
        </p:nvSpPr>
        <p:spPr>
          <ns144:xfrm xmlns:ns144="http://schemas.openxmlformats.org/drawingml/2006/main">
            <ns144:off x="6127200" y="2664000"/>
            <ns144:ext cx="2559600" cy="1224000"/>
          </ns144:xfrm>
          <ns145:prstGeom xmlns:ns145="http://schemas.openxmlformats.org/drawingml/2006/main" prst="rect">
            <ns145:avLst/>
          </ns145:prstGeom>
          <ns146:solidFill xmlns:ns146="http://schemas.openxmlformats.org/drawingml/2006/main">
            <ns146:srgbClr val="F3F7FA"/>
          </ns146:solidFill>
          <ns147:ln xmlns:ns147="http://schemas.openxmlformats.org/drawingml/2006/main" w="9525">
            <ns147:solidFill>
              <ns147:srgbClr val="65727D"/>
            </ns147:solidFill>
          </ns147:ln>
        </p:spPr>
        <p:txBody>
          <ns148:bodyPr xmlns:ns148="http://schemas.openxmlformats.org/drawingml/2006/main" wrap="square" lIns="61200" rIns="61200" tIns="61200" bIns="61200" anchor="ctr">
            <ns148:noAutofit/>
          </ns148:bodyPr>
          <ns149:lstStyle xmlns:ns149="http://schemas.openxmlformats.org/drawingml/2006/main"/>
          <ns150:p xmlns:ns150="http://schemas.openxmlformats.org/drawingml/2006/main">
            <ns150:pPr algn="l">
              <ns150:lnSpc>
                <ns150:spcPct val="105000"/>
              </ns150:lnSpc>
              <ns150:defRPr sz="1300" b="1">
                <ns150:solidFill>
                  <ns150:srgbClr val="65727D"/>
                </ns150:solidFill>
                <ns150:latin typeface="Arial"/>
                <ns150:ea typeface="Arial"/>
                <ns150:cs typeface="Arial"/>
              </ns150:defRPr>
            </ns150:pPr>
            <ns150:r>
              <ns150:rPr sz="1300" b="1">
                <ns150:solidFill>
                  <ns150:srgbClr val="65727D"/>
                </ns150:solidFill>
                <ns150:latin typeface="Arial"/>
                <ns150:ea typeface="Arial"/>
                <ns150:cs typeface="Arial"/>
              </ns150:rPr>
              <ns150:t>Outcome measures</ns150:t>
            </ns150:r>
          </ns150:p>
          <ns151:p xmlns:ns151="http://schemas.openxmlformats.org/drawingml/2006/main">
            <ns151:pPr algn="l">
              <ns151:lnSpc>
                <ns151:spcPct val="105000"/>
              </ns151:lnSpc>
              <ns151:defRPr sz="1200" b="0">
                <ns151:solidFill>
                  <ns151:srgbClr val="20262C"/>
                </ns151:solidFill>
                <ns151:latin typeface="Arial"/>
                <ns151:ea typeface="Arial"/>
                <ns151:cs typeface="Arial"/>
              </ns151:defRPr>
            </ns151:pPr>
            <ns151:r>
              <ns151:rPr sz="1200" b="0">
                <ns151:solidFill>
                  <ns151:srgbClr val="20262C"/>
                </ns151:solidFill>
                <ns151:latin typeface="Arial"/>
                <ns151:ea typeface="Arial"/>
                <ns151:cs typeface="Arial"/>
              </ns151:rPr>
              <ns151:t>Completion time</ns151:t>
            </ns151:r>
          </ns151:p>
          <ns152:p xmlns:ns152="http://schemas.openxmlformats.org/drawingml/2006/main">
            <ns152:pPr algn="l">
              <ns152:lnSpc>
                <ns152:spcPct val="105000"/>
              </ns152:lnSpc>
              <ns152:defRPr sz="1200" b="0">
                <ns152:solidFill>
                  <ns152:srgbClr val="20262C"/>
                </ns152:solidFill>
                <ns152:latin typeface="Arial"/>
                <ns152:ea typeface="Arial"/>
                <ns152:cs typeface="Arial"/>
              </ns152:defRPr>
            </ns152:pPr>
            <ns152:r>
              <ns152:rPr sz="1200" b="0">
                <ns152:solidFill>
                  <ns152:srgbClr val="20262C"/>
                </ns152:solidFill>
                <ns152:latin typeface="Arial"/>
                <ns152:ea typeface="Arial"/>
                <ns152:cs typeface="Arial"/>
              </ns152:rPr>
              <ns152:t>Output use</ns152:t>
            </ns152:r>
          </ns152:p>
          <ns153:p xmlns:ns153="http://schemas.openxmlformats.org/drawingml/2006/main">
            <ns153:pPr algn="l">
              <ns153:lnSpc>
                <ns153:spcPct val="105000"/>
              </ns153:lnSpc>
              <ns153:defRPr sz="1200" b="0">
                <ns153:solidFill>
                  <ns153:srgbClr val="20262C"/>
                </ns153:solidFill>
                <ns153:latin typeface="Arial"/>
                <ns153:ea typeface="Arial"/>
                <ns153:cs typeface="Arial"/>
              </ns153:defRPr>
            </ns153:pPr>
            <ns153:r>
              <ns153:rPr sz="1200" b="0">
                <ns153:solidFill>
                  <ns153:srgbClr val="20262C"/>
                </ns153:solidFill>
                <ns153:latin typeface="Arial"/>
                <ns153:ea typeface="Arial"/>
                <ns153:cs typeface="Arial"/>
              </ns153:rPr>
              <ns153:t>Rework</ns153:t>
            </ns153:r>
          </ns153:p>
          <ns154:p xmlns:ns154="http://schemas.openxmlformats.org/drawingml/2006/main">
            <ns154:pPr algn="l">
              <ns154:lnSpc>
                <ns154:spcPct val="105000"/>
              </ns154:lnSpc>
              <ns154:defRPr sz="1200" b="0">
                <ns154:solidFill>
                  <ns154:srgbClr val="20262C"/>
                </ns154:solidFill>
                <ns154:latin typeface="Arial"/>
                <ns154:ea typeface="Arial"/>
                <ns154:cs typeface="Arial"/>
              </ns154:defRPr>
            </ns154:pPr>
            <ns154:r>
              <ns154:rPr sz="1200" b="0">
                <ns154:solidFill>
                  <ns154:srgbClr val="20262C"/>
                </ns154:solidFill>
                <ns154:latin typeface="Arial"/>
                <ns154:ea typeface="Arial"/>
                <ns154:cs typeface="Arial"/>
              </ns154:rPr>
              <ns154:t>Repeat usage</ns154:t>
            </ns154:r>
          </ns154:p>
        </p:txBody>
      </p:sp>
      <p:cxnSp>
        <p:nvCxnSpPr>
          <p:cNvPr id="126" name="results.to.measures"/>
          <p:cNvCxnSpPr/>
          <p:nvPr/>
        </p:nvCxnSpPr>
        <p:spPr>
          <ns155:xfrm xmlns:ns155="http://schemas.openxmlformats.org/drawingml/2006/main">
            <ns155:off x="7407000" y="2394000"/>
            <ns155:ext cx="1" cy="234000"/>
          </ns155:xfrm>
          <ns156:prstGeom xmlns:ns156="http://schemas.openxmlformats.org/drawingml/2006/main" prst="line">
            <ns156:avLst/>
          </ns156:prstGeom>
          <ns157:ln xmlns:ns157="http://schemas.openxmlformats.org/drawingml/2006/main" w="11430">
            <ns157:solidFill>
              <ns157:srgbClr val="005A9C"/>
            </ns157:solidFill>
            <ns157:tailEnd type="triangle" w="sm" len="sm"/>
          </ns157:ln>
        </p:spPr>
      </p:cxnSp>
      <p:sp>
        <p:nvSpPr>
          <p:cNvPr id="127" name="human.team.refines"/>
          <p:cNvSpPr/>
          <p:nvPr/>
        </p:nvSpPr>
        <p:spPr>
          <ns158:xfrm xmlns:ns158="http://schemas.openxmlformats.org/drawingml/2006/main">
            <ns158:off x="2422800" y="3384000"/>
            <ns158:ext cx="3427200" cy="828000"/>
          </ns158:xfrm>
          <ns159:prstGeom xmlns:ns159="http://schemas.openxmlformats.org/drawingml/2006/main" prst="roundRect">
            <ns159:avLst/>
          </ns159:prstGeom>
          <ns160:solidFill xmlns:ns160="http://schemas.openxmlformats.org/drawingml/2006/main">
            <ns160:srgbClr val="F3F7FA"/>
          </ns160:solidFill>
          <ns161:ln xmlns:ns161="http://schemas.openxmlformats.org/drawingml/2006/main" w="9525">
            <ns161:solidFill>
              <ns161:srgbClr val="65727D"/>
            </ns161:solidFill>
          </ns161:ln>
        </p:spPr>
        <p:txBody>
          <ns162:bodyPr xmlns:ns162="http://schemas.openxmlformats.org/drawingml/2006/main" wrap="square" lIns="61200" rIns="61200" tIns="61200" bIns="61200" anchor="ctr">
            <ns162:noAutofit/>
          </ns162:bodyPr>
          <ns163:lstStyle xmlns:ns163="http://schemas.openxmlformats.org/drawingml/2006/main"/>
          <ns164:p xmlns:ns164="http://schemas.openxmlformats.org/drawingml/2006/main">
            <ns164:pPr algn="l">
              <ns164:lnSpc>
                <ns164:spcPct val="105000"/>
              </ns164:lnSpc>
              <ns164:defRPr sz="1300" b="1">
                <ns164:solidFill>
                  <ns164:srgbClr val="65727D"/>
                </ns164:solidFill>
                <ns164:latin typeface="Arial"/>
                <ns164:ea typeface="Arial"/>
                <ns164:cs typeface="Arial"/>
              </ns164:defRPr>
            </ns164:pPr>
            <ns164:r>
              <ns164:rPr sz="1300" b="1">
                <ns164:solidFill>
                  <ns164:srgbClr val="65727D"/>
                </ns164:solidFill>
                <ns164:latin typeface="Arial"/>
                <ns164:ea typeface="Arial"/>
                <ns164:cs typeface="Arial"/>
              </ns164:rPr>
              <ns164:t>Team review</ns164:t>
            </ns164:r>
          </ns164:p>
          <ns165:p xmlns:ns165="http://schemas.openxmlformats.org/drawingml/2006/main">
            <ns165:pPr algn="l">
              <ns165:lnSpc>
                <ns165:spcPct val="105000"/>
              </ns165:lnSpc>
              <ns165:defRPr sz="1200" b="0">
                <ns165:solidFill>
                  <ns165:srgbClr val="20262C"/>
                </ns165:solidFill>
                <ns165:latin typeface="Arial"/>
                <ns165:ea typeface="Arial"/>
                <ns165:cs typeface="Arial"/>
              </ns165:defRPr>
            </ns165:pPr>
            <ns165:r>
              <ns165:rPr sz="1200" b="0">
                <ns165:solidFill>
                  <ns165:srgbClr val="20262C"/>
                </ns165:solidFill>
                <ns165:latin typeface="Arial"/>
                <ns165:ea typeface="Arial"/>
                <ns165:cs typeface="Arial"/>
              </ns165:rPr>
              <ns165:t>Compare with baseline</ns165:t>
            </ns165:r>
          </ns165:p>
          <ns166:p xmlns:ns166="http://schemas.openxmlformats.org/drawingml/2006/main">
            <ns166:pPr algn="l">
              <ns166:lnSpc>
                <ns166:spcPct val="105000"/>
              </ns166:lnSpc>
              <ns166:defRPr sz="1200" b="0">
                <ns166:solidFill>
                  <ns166:srgbClr val="20262C"/>
                </ns166:solidFill>
                <ns166:latin typeface="Arial"/>
                <ns166:ea typeface="Arial"/>
                <ns166:cs typeface="Arial"/>
              </ns166:defRPr>
            </ns166:pPr>
            <ns166:r>
              <ns166:rPr sz="1200" b="0">
                <ns166:solidFill>
                  <ns166:srgbClr val="20262C"/>
                </ns166:solidFill>
                <ns166:latin typeface="Arial"/>
                <ns166:ea typeface="Arial"/>
                <ns166:cs typeface="Arial"/>
              </ns166:rPr>
              <ns166:t>Refine workflow</ns166:t>
            </ns166:r>
          </ns166:p>
        </p:txBody>
      </p:sp>
      <p:cxnSp>
        <p:nvCxnSpPr>
          <p:cNvPr id="128" name="measures.to.team"/>
          <p:cNvCxnSpPr/>
          <p:nvPr/>
        </p:nvCxnSpPr>
        <p:spPr>
          <ns167:xfrm xmlns:ns167="http://schemas.openxmlformats.org/drawingml/2006/main" flipH="1">
            <ns167:off x="5886000" y="3690000"/>
            <ns167:ext cx="205200" cy="1"/>
          </ns167:xfrm>
          <ns168:prstGeom xmlns:ns168="http://schemas.openxmlformats.org/drawingml/2006/main" prst="line">
            <ns168:avLst/>
          </ns168:prstGeom>
          <ns169:ln xmlns:ns169="http://schemas.openxmlformats.org/drawingml/2006/main" w="11430">
            <ns169:solidFill>
              <ns169:srgbClr val="005A9C"/>
            </ns169:solidFill>
            <ns169:tailEnd type="triangle" w="sm" len="sm"/>
          </ns169:ln>
        </p:spPr>
      </p:cxnSp>
      <p:cxnSp>
        <p:nvCxnSpPr>
          <p:cNvPr id="129" name="baseline.to.comparison"/>
          <p:cNvCxnSpPr/>
          <p:nvPr/>
        </p:nvCxnSpPr>
        <p:spPr>
          <ns170:xfrm xmlns:ns170="http://schemas.openxmlformats.org/drawingml/2006/main">
            <ns170:off x="3232800" y="2394000"/>
            <ns170:ext cx="1" cy="954000"/>
          </ns170:xfrm>
          <ns171:prstGeom xmlns:ns171="http://schemas.openxmlformats.org/drawingml/2006/main" prst="line">
            <ns171:avLst/>
          </ns171:prstGeom>
          <ns172:ln xmlns:ns172="http://schemas.openxmlformats.org/drawingml/2006/main" w="9525">
            <ns172:solidFill>
              <ns172:srgbClr val="65727D"/>
            </ns172:solidFill>
            <ns172:tailEnd type="triangle" w="sm" len="sm"/>
          </ns172:ln>
        </p:spPr>
      </p:cxnSp>
      <p:cxnSp>
        <p:nvCxnSpPr>
          <p:cNvPr id="130" name="refined.workflow.return.0"/>
          <p:cNvCxnSpPr/>
          <p:nvPr/>
        </p:nvCxnSpPr>
        <p:spPr>
          <ns173:xfrm xmlns:ns173="http://schemas.openxmlformats.org/drawingml/2006/main" flipV="1">
            <ns173:off x="4136400" y="3078000"/>
            <ns173:ext cx="1" cy="270000"/>
          </ns173:xfrm>
          <ns174:prstGeom xmlns:ns174="http://schemas.openxmlformats.org/drawingml/2006/main" prst="line">
            <ns174:avLst/>
          </ns174:prstGeom>
          <ns175:ln xmlns:ns175="http://schemas.openxmlformats.org/drawingml/2006/main" w="11430">
            <ns175:solidFill>
              <ns175:srgbClr val="005A9C"/>
            </ns175:solidFill>
          </ns175:ln>
        </p:spPr>
      </p:cxnSp>
      <p:cxnSp>
        <p:nvCxnSpPr>
          <p:cNvPr id="131" name="refined.workflow.return.1"/>
          <p:cNvCxnSpPr/>
          <p:nvPr/>
        </p:nvCxnSpPr>
        <p:spPr>
          <ns176:xfrm xmlns:ns176="http://schemas.openxmlformats.org/drawingml/2006/main">
            <ns176:off x="4136400" y="3078000"/>
            <ns176:ext cx="984600" cy="1"/>
          </ns176:xfrm>
          <ns177:prstGeom xmlns:ns177="http://schemas.openxmlformats.org/drawingml/2006/main" prst="line">
            <ns177:avLst/>
          </ns177:prstGeom>
          <ns178:ln xmlns:ns178="http://schemas.openxmlformats.org/drawingml/2006/main" w="11430">
            <ns178:solidFill>
              <ns178:srgbClr val="005A9C"/>
            </ns178:solidFill>
          </ns178:ln>
        </p:spPr>
      </p:cxnSp>
      <p:cxnSp>
        <p:nvCxnSpPr>
          <p:cNvPr id="132" name="refined.workflow.return.2"/>
          <p:cNvCxnSpPr/>
          <p:nvPr/>
        </p:nvCxnSpPr>
        <p:spPr>
          <ns179:xfrm xmlns:ns179="http://schemas.openxmlformats.org/drawingml/2006/main" flipV="1">
            <ns179:off x="5121000" y="2394000"/>
            <ns179:ext cx="1" cy="684000"/>
          </ns179:xfrm>
          <ns180:prstGeom xmlns:ns180="http://schemas.openxmlformats.org/drawingml/2006/main" prst="line">
            <ns180:avLst/>
          </ns180:prstGeom>
          <ns181:ln xmlns:ns181="http://schemas.openxmlformats.org/drawingml/2006/main" w="11430">
            <ns181:solidFill>
              <ns181:srgbClr val="005A9C"/>
            </ns181:solidFill>
            <ns181:tailEnd type="triangle" w="sm" len="sm"/>
          </ns181:ln>
        </p:spPr>
      </p:cxnSp>
      <p:sp>
        <p:nvSpPr>
          <p:cNvPr id="133" name="refinement.return.label"/>
          <p:cNvSpPr/>
          <p:nvPr/>
        </p:nvSpPr>
        <p:spPr>
          <ns182:xfrm xmlns:ns182="http://schemas.openxmlformats.org/drawingml/2006/main">
            <ns182:off x="4363200" y="2894400"/>
            <ns182:ext cx="1422000" cy="162000"/>
          </ns182:xfrm>
          <ns183:prstGeom xmlns:ns183="http://schemas.openxmlformats.org/drawingml/2006/main" prst="rect">
            <ns183:avLst/>
          </ns183:prstGeom>
          <ns184:noFill xmlns:ns184="http://schemas.openxmlformats.org/drawingml/2006/main"/>
          <ns185:ln xmlns:ns185="http://schemas.openxmlformats.org/drawingml/2006/main" w="0">
            <ns185:noFill/>
          </ns185:ln>
        </p:spPr>
        <p:txBody>
          <ns186:bodyPr xmlns:ns186="http://schemas.openxmlformats.org/drawingml/2006/main" wrap="square" lIns="0" rIns="0" tIns="0" bIns="0" anchor="t">
            <ns186:noAutofit/>
          </ns186:bodyPr>
          <ns187:lstStyle xmlns:ns187="http://schemas.openxmlformats.org/drawingml/2006/main"/>
          <ns188:p xmlns:ns188="http://schemas.openxmlformats.org/drawingml/2006/main">
            <ns188:pPr algn="l">
              <ns188:lnSpc>
                <ns188:spcPct val="105000"/>
              </ns188:lnSpc>
              <ns188:defRPr sz="1050" b="0">
                <ns188:solidFill>
                  <ns188:srgbClr val="65727D"/>
                </ns188:solidFill>
                <ns188:latin typeface="Arial"/>
                <ns188:ea typeface="Arial"/>
                <ns188:cs typeface="Arial"/>
              </ns188:defRPr>
            </ns188:pPr>
            <ns188:r>
              <ns188:rPr sz="1050" b="0">
                <ns188:solidFill>
                  <ns188:srgbClr val="65727D"/>
                </ns188:solidFill>
                <ns188:latin typeface="Arial"/>
                <ns188:ea typeface="Arial"/>
                <ns188:cs typeface="Arial"/>
              </ns188:rPr>
              <ns188:t>Refined task</ns188:t>
            </ns188:r>
          </ns188:p>
        </p:txBody>
      </p:sp>
    </p:spTree>
    <p:extLst>
      <p:ext uri="{BB962C8B-B14F-4D97-AF65-F5344CB8AC3E}">
        <p14:creationId xmlns:p14="http://schemas.microsoft.com/office/powerpoint/2010/main" val="498959668"/>
      </p:ext>
    </p:extLst>
  </p:cSld>
</p:sld>
</file>

<file path=ppt/theme/theme1.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Arial"/>
        <a:ea typeface="Arial"/>
        <a:cs typeface="Arial"/>
      </a:majorFont>
      <a:minorFont>
        <a:latin typeface="Arial"/>
        <a:ea typeface="Arial"/>
        <a:cs typeface="Arial"/>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2026-10-25T18:18:02.1310000Z</dcterms:created>
  <dcterms:modified xsi:type="dcterms:W3CDTF">2026-10-25T18:18:02.1310000Z</dcterms:modified>
</coreProperties>
</file>