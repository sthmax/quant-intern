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38afd2b97543f6" /><Relationship Type="http://schemas.openxmlformats.org/officeDocument/2006/relationships/extended-properties" Target="/docProps/app.xml" Id="R2e395ede1c6d47ca" /><Relationship Type="http://schemas.openxmlformats.org/officeDocument/2006/relationships/officeDocument" Target="/ppt/presentation.xml" Id="Rad4ac5224e3f430e" /></Relationships>
</file>

<file path=ppt/presentation.xml><?xml version="1.0" encoding="utf-8"?>
<p:presentation xmlns:p="http://schemas.openxmlformats.org/presentationml/2006/main">
  <p:sldMasterIdLst>
    <p:sldMasterId xmlns:r="http://schemas.openxmlformats.org/officeDocument/2006/relationships" id="2147483648" r:id="R0e15fbe9e6a84748"/>
  </p:sldMasterIdLst>
  <p:notesMasterIdLst>
    <p:notesMasterId xmlns:r="http://schemas.openxmlformats.org/officeDocument/2006/relationships" r:id="R6e122c12f9644f44"/>
  </p:notesMasterIdLst>
  <p:sldIdLst>
    <p:sldId xmlns:ns0="http://schemas.openxmlformats.org/officeDocument/2006/relationships" id="256" ns0:id="rIdNewSlide1"/>
    <p:sldId xmlns:ns1="http://schemas.openxmlformats.org/officeDocument/2006/relationships" id="257" ns1:id="rIdNewSlide2"/>
    <p:sldId xmlns:ns2="http://schemas.openxmlformats.org/officeDocument/2006/relationships" id="258" ns2:id="rIdNewSlide3"/>
    <p:sldId xmlns:ns3="http://schemas.openxmlformats.org/officeDocument/2006/relationships" id="259" ns3:id="rIdNewSlide4"/>
    <p:sldId xmlns:ns4="http://schemas.openxmlformats.org/officeDocument/2006/relationships" id="260" ns4:id="rIdNewSlide5"/>
    <p:sldId xmlns:ns5="http://schemas.openxmlformats.org/officeDocument/2006/relationships" id="261" ns5:id="rIdNewSlide6"/>
    <p:sldId xmlns:ns6="http://schemas.openxmlformats.org/officeDocument/2006/relationships" id="262" ns6:id="rIdNewSlide7"/>
    <p:sldId xmlns:ns7="http://schemas.openxmlformats.org/officeDocument/2006/relationships" id="263" ns7:id="rIdNewSlide8"/>
    <p:sldId xmlns:ns8="http://schemas.openxmlformats.org/officeDocument/2006/relationships" id="264" ns8:id="rIdNewSlide9"/>
    <p:sldId xmlns:ns9="http://schemas.openxmlformats.org/officeDocument/2006/relationships" id="265" ns9:id="rIdNewSlide10"/>
    <p:sldId xmlns:ns10="http://schemas.openxmlformats.org/officeDocument/2006/relationships" id="266" ns10:id="rIdNewSlide11"/>
    <p:sldId xmlns:ns11="http://schemas.openxmlformats.org/officeDocument/2006/relationships" id="267" ns11:id="rIdNewSlide12"/>
    <p:sldId xmlns:ns12="http://schemas.openxmlformats.org/officeDocument/2006/relationships" id="268" ns12:id="rIdNewSlide13"/>
    <p:sldId xmlns:ns13="http://schemas.openxmlformats.org/officeDocument/2006/relationships" id="269" ns13:id="rIdNewSlide14"/>
    <p:sldId xmlns:ns14="http://schemas.openxmlformats.org/officeDocument/2006/relationships" id="270" ns14:id="rIdNewSlide15"/>
    <p:sldId xmlns:ns15="http://schemas.openxmlformats.org/officeDocument/2006/relationships" id="271" ns15:id="rIdNewSlide16"/>
    <p:sldId xmlns:ns16="http://schemas.openxmlformats.org/officeDocument/2006/relationships" id="272" ns16:id="rIdNewSlide17"/>
    <p:sldId xmlns:ns17="http://schemas.openxmlformats.org/officeDocument/2006/relationships" id="273" ns17:id="rIdNewSlide18"/>
    <p:sldId xmlns:ns18="http://schemas.openxmlformats.org/officeDocument/2006/relationships" id="274" ns18:id="rIdNewSlide19"/>
    <p:sldId xmlns:ns19="http://schemas.openxmlformats.org/officeDocument/2006/relationships" id="275" ns19:id="rIdNewSlide20"/>
    <p:sldId xmlns:ns20="http://schemas.openxmlformats.org/officeDocument/2006/relationships" id="276" ns20:id="rIdNewSlide21"/>
    <p:sldId xmlns:ns21="http://schemas.openxmlformats.org/officeDocument/2006/relationships" id="277" ns21:id="rIdNewSlide22"/>
    <p:sldId xmlns:ns22="http://schemas.openxmlformats.org/officeDocument/2006/relationships" id="278" ns22:id="rIdNewSlide23"/>
    <p:sldId xmlns:ns23="http://schemas.openxmlformats.org/officeDocument/2006/relationships" id="279" ns23:id="rIdNewSlide24"/>
    <p:sldId xmlns:ns24="http://schemas.openxmlformats.org/officeDocument/2006/relationships" id="280" ns24:id="rIdNewSlide25"/>
    <p:sldId xmlns:ns25="http://schemas.openxmlformats.org/officeDocument/2006/relationships" id="281" ns25:id="rIdNewSlide26"/>
    <p:sldId xmlns:ns26="http://schemas.openxmlformats.org/officeDocument/2006/relationships" id="282" ns26:id="rIdNewSlide27"/>
    <p:sldId xmlns:ns27="http://schemas.openxmlformats.org/officeDocument/2006/relationships" id="283" ns27:id="rIdNewSlide28"/>
  </p:sldIdLst>
  <p:sldSz cx="9144000" cy="5140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b3ec88309ce4449"/><Relationship Type="http://schemas.openxmlformats.org/officeDocument/2006/relationships/slideMaster" Target="/ppt/slideMasters/slideMaster1.xml" Id="R0e15fbe9e6a84748"/><Relationship Type="http://schemas.openxmlformats.org/officeDocument/2006/relationships/notesMaster" Target="/ppt/notesMasters/notesMaster1.xml" Id="R6e122c12f9644f44"/><Relationship Type="http://schemas.openxmlformats.org/officeDocument/2006/relationships/presProps" Target="/ppt/presProps.xml" Id="R13e92d9c7e2f420e"/><Relationship Type="http://schemas.openxmlformats.org/officeDocument/2006/relationships/tableStyles" Target="/ppt/tableStyles.xml" Id="Reab0ce6b86a24159"/><Relationship Id="rIdNewSlide1" Type="http://schemas.openxmlformats.org/officeDocument/2006/relationships/slide" Target="slides/slide1.xml"/><Relationship Id="rIdNewSlide2" Type="http://schemas.openxmlformats.org/officeDocument/2006/relationships/slide" Target="slides/slide2.xml"/><Relationship Id="rIdNewSlide3" Type="http://schemas.openxmlformats.org/officeDocument/2006/relationships/slide" Target="slides/slide3.xml"/><Relationship Id="rIdNewSlide4" Type="http://schemas.openxmlformats.org/officeDocument/2006/relationships/slide" Target="slides/slide4.xml"/><Relationship Id="rIdNewSlide5" Type="http://schemas.openxmlformats.org/officeDocument/2006/relationships/slide" Target="slides/slide5.xml"/><Relationship Id="rIdNewSlide6" Type="http://schemas.openxmlformats.org/officeDocument/2006/relationships/slide" Target="slides/slide6.xml"/><Relationship Id="rIdNewSlide7" Type="http://schemas.openxmlformats.org/officeDocument/2006/relationships/slide" Target="slides/slide7.xml"/><Relationship Id="rIdNewSlide8" Type="http://schemas.openxmlformats.org/officeDocument/2006/relationships/slide" Target="slides/slide8.xml"/><Relationship Id="rIdNewSlide9" Type="http://schemas.openxmlformats.org/officeDocument/2006/relationships/slide" Target="slides/slide9.xml"/><Relationship Id="rIdNewSlide10" Type="http://schemas.openxmlformats.org/officeDocument/2006/relationships/slide" Target="slides/slide10.xml"/><Relationship Id="rIdNewSlide11" Type="http://schemas.openxmlformats.org/officeDocument/2006/relationships/slide" Target="slides/slide11.xml"/><Relationship Id="rIdNewSlide12" Type="http://schemas.openxmlformats.org/officeDocument/2006/relationships/slide" Target="slides/slide12.xml"/><Relationship Id="rIdNewSlide13" Type="http://schemas.openxmlformats.org/officeDocument/2006/relationships/slide" Target="slides/slide13.xml"/><Relationship Id="rIdNewSlide14" Type="http://schemas.openxmlformats.org/officeDocument/2006/relationships/slide" Target="slides/slide14.xml"/><Relationship Id="rIdNewSlide15" Type="http://schemas.openxmlformats.org/officeDocument/2006/relationships/slide" Target="slides/slide15.xml"/><Relationship Id="rIdNewSlide16" Type="http://schemas.openxmlformats.org/officeDocument/2006/relationships/slide" Target="slides/slide16.xml"/><Relationship Id="rIdNewSlide17" Type="http://schemas.openxmlformats.org/officeDocument/2006/relationships/slide" Target="slides/slide17.xml"/><Relationship Id="rIdNewSlide18" Type="http://schemas.openxmlformats.org/officeDocument/2006/relationships/slide" Target="slides/slide18.xml"/><Relationship Id="rIdNewSlide19" Type="http://schemas.openxmlformats.org/officeDocument/2006/relationships/slide" Target="slides/slide19.xml"/><Relationship Id="rIdNewSlide20" Type="http://schemas.openxmlformats.org/officeDocument/2006/relationships/slide" Target="slides/slide20.xml"/><Relationship Id="rIdNewSlide21" Type="http://schemas.openxmlformats.org/officeDocument/2006/relationships/slide" Target="slides/slide21.xml"/><Relationship Id="rIdNewSlide22" Type="http://schemas.openxmlformats.org/officeDocument/2006/relationships/slide" Target="slides/slide22.xml"/><Relationship Id="rIdNewSlide23" Type="http://schemas.openxmlformats.org/officeDocument/2006/relationships/slide" Target="slides/slide23.xml"/><Relationship Id="rIdNewSlide24" Type="http://schemas.openxmlformats.org/officeDocument/2006/relationships/slide" Target="slides/slide24.xml"/><Relationship Id="rIdNewSlide25" Type="http://schemas.openxmlformats.org/officeDocument/2006/relationships/slide" Target="slides/slide25.xml"/><Relationship Id="rIdNewSlide26" Type="http://schemas.openxmlformats.org/officeDocument/2006/relationships/slide" Target="slides/slide26.xml"/><Relationship Id="rIdNewSlide27" Type="http://schemas.openxmlformats.org/officeDocument/2006/relationships/slide" Target="slides/slide27.xml"/><Relationship Id="rIdNewSlide28" Type="http://schemas.openxmlformats.org/officeDocument/2006/relationships/slide" Target="slides/slide2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3e75bed1b44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slides/slide1.xml" Id="R0be8c43a76964bba"/><Relationship Type="http://schemas.openxmlformats.org/officeDocument/2006/relationships/notesMaster" Target="/ppt/notesMasters/notesMaster1.xml" Id="R1267af05228d409c"/></Relationships>
</file>

<file path=ppt/notesSlides/_rels/notesSlide2.xml.rels><?xml version='1.0' encoding='UTF-8' standalone='yes'?>
<Relationships xmlns="http://schemas.openxmlformats.org/package/2006/relationships"><Relationship Type="http://schemas.openxmlformats.org/officeDocument/2006/relationships/slide" Target="../slides/slide2.xml" Id="R5db590d33bd54b6e"/><Relationship Type="http://schemas.openxmlformats.org/officeDocument/2006/relationships/notesMaster" Target="/ppt/notesMasters/notesMaster1.xml" Id="Ra8076cb932644116"/></Relationships>
</file>

<file path=ppt/notesSlides/_rels/notesSlide3.xml.rels><?xml version='1.0' encoding='UTF-8' standalone='yes'?>
<Relationships xmlns="http://schemas.openxmlformats.org/package/2006/relationships"><Relationship Type="http://schemas.openxmlformats.org/officeDocument/2006/relationships/slide" Target="../slides/slide3.xml" Id="R5d8e4fc8b9754270"/><Relationship Type="http://schemas.openxmlformats.org/officeDocument/2006/relationships/notesMaster" Target="/ppt/notesMasters/notesMaster1.xml" Id="R8a87eaa4155a411f"/></Relationships>
</file>

<file path=ppt/notesSlides/_rels/notesSlide4.xml.rels><?xml version='1.0' encoding='UTF-8' standalone='yes'?>
<Relationships xmlns="http://schemas.openxmlformats.org/package/2006/relationships"><Relationship Type="http://schemas.openxmlformats.org/officeDocument/2006/relationships/slide" Target="../slides/slide4.xml" Id="R494b80231341410a"/><Relationship Type="http://schemas.openxmlformats.org/officeDocument/2006/relationships/notesMaster" Target="/ppt/notesMasters/notesMaster1.xml" Id="Rff768ed1077f4317"/></Relationships>
</file>

<file path=ppt/notesSlides/_rels/notesSlide5.xml.rels><?xml version='1.0' encoding='UTF-8' standalone='yes'?>
<Relationships xmlns="http://schemas.openxmlformats.org/package/2006/relationships"><Relationship Type="http://schemas.openxmlformats.org/officeDocument/2006/relationships/slide" Target="../slides/slide5.xml" Id="Rea2244a968c6418e"/><Relationship Type="http://schemas.openxmlformats.org/officeDocument/2006/relationships/notesMaster" Target="/ppt/notesMasters/notesMaster1.xml" Id="R34e6eb2626db475c"/></Relationships>
</file>

<file path=ppt/notesSlides/_rels/notesSlide6.xml.rels><?xml version='1.0' encoding='UTF-8' standalone='yes'?>
<Relationships xmlns="http://schemas.openxmlformats.org/package/2006/relationships"><Relationship Type="http://schemas.openxmlformats.org/officeDocument/2006/relationships/slide" Target="../slides/slide6.xml" Id="R3f904232609e48fa"/><Relationship Type="http://schemas.openxmlformats.org/officeDocument/2006/relationships/notesMaster" Target="/ppt/notesMasters/notesMaster1.xml" Id="R8543c600a09949dd"/></Relationships>
</file>

<file path=ppt/notesSlides/_rels/notesSlide7.xml.rels><?xml version='1.0' encoding='UTF-8' standalone='yes'?>
<Relationships xmlns="http://schemas.openxmlformats.org/package/2006/relationships"><Relationship Type="http://schemas.openxmlformats.org/officeDocument/2006/relationships/slide" Target="../slides/slide7.xml" Id="R7828552aa6a44a86"/><Relationship Type="http://schemas.openxmlformats.org/officeDocument/2006/relationships/notesMaster" Target="/ppt/notesMasters/notesMaster1.xml" Id="Rd4936733361f4274"/></Relationships>
</file>

<file path=ppt/notesSlides/_rels/notesSlide8.xml.rels><?xml version='1.0' encoding='UTF-8' standalone='yes'?>
<Relationships xmlns="http://schemas.openxmlformats.org/package/2006/relationships"><Relationship Type="http://schemas.openxmlformats.org/officeDocument/2006/relationships/slide" Target="../slides/slide8.xml" Id="R0d811690eb294ccb"/><Relationship Type="http://schemas.openxmlformats.org/officeDocument/2006/relationships/notesMaster" Target="/ppt/notesMasters/notesMaster1.xml" Id="R30bb608570ec4470"/></Relationships>
</file>

<file path=ppt/notesSlides/_rels/notesSlide9.xml.rels><?xml version='1.0' encoding='UTF-8' standalone='yes'?>
<Relationships xmlns="http://schemas.openxmlformats.org/package/2006/relationships"><Relationship Type="http://schemas.openxmlformats.org/officeDocument/2006/relationships/slide" Target="../slides/slide9.xml" Id="R46936d0eb8a342bd"/><Relationship Type="http://schemas.openxmlformats.org/officeDocument/2006/relationships/notesMaster" Target="/ppt/notesMasters/notesMaster1.xml" Id="R50e4b7b1591d4be2"/></Relationships>
</file>

<file path=ppt/notesSlides/_rels/notesSlide10.xml.rels><?xml version='1.0' encoding='UTF-8' standalone='yes'?>
<Relationships xmlns="http://schemas.openxmlformats.org/package/2006/relationships"><Relationship Type="http://schemas.openxmlformats.org/officeDocument/2006/relationships/slide" Target="../slides/slide10.xml" Id="Rcba762bb0d7e40c4"/><Relationship Type="http://schemas.openxmlformats.org/officeDocument/2006/relationships/notesMaster" Target="/ppt/notesMasters/notesMaster1.xml" Id="R5aaa1151ed6547e6"/></Relationships>
</file>

<file path=ppt/notesSlides/_rels/notesSlide11.xml.rels><?xml version='1.0' encoding='UTF-8' standalone='yes'?>
<Relationships xmlns="http://schemas.openxmlformats.org/package/2006/relationships"><Relationship Type="http://schemas.openxmlformats.org/officeDocument/2006/relationships/slide" Target="../slides/slide11.xml" Id="Rcdc91a22259f4476"/><Relationship Type="http://schemas.openxmlformats.org/officeDocument/2006/relationships/notesMaster" Target="/ppt/notesMasters/notesMaster1.xml" Id="R4ba7ef46d4e74859"/></Relationships>
</file>

<file path=ppt/notesSlides/_rels/notesSlide12.xml.rels><?xml version='1.0' encoding='UTF-8' standalone='yes'?>
<Relationships xmlns="http://schemas.openxmlformats.org/package/2006/relationships"><Relationship Type="http://schemas.openxmlformats.org/officeDocument/2006/relationships/slide" Target="../slides/slide12.xml" Id="R1c4b87e938224b4a"/><Relationship Type="http://schemas.openxmlformats.org/officeDocument/2006/relationships/notesMaster" Target="/ppt/notesMasters/notesMaster1.xml" Id="R7c22e128f68548fe"/></Relationships>
</file>

<file path=ppt/notesSlides/_rels/notesSlide13.xml.rels><?xml version='1.0' encoding='UTF-8' standalone='yes'?>
<Relationships xmlns="http://schemas.openxmlformats.org/package/2006/relationships"><Relationship Type="http://schemas.openxmlformats.org/officeDocument/2006/relationships/slide" Target="../slides/slide13.xml" Id="R908fa3945f294c79"/><Relationship Type="http://schemas.openxmlformats.org/officeDocument/2006/relationships/notesMaster" Target="/ppt/notesMasters/notesMaster1.xml" Id="Rc0190028b5064a6f"/></Relationships>
</file>

<file path=ppt/notesSlides/_rels/notesSlide14.xml.rels><?xml version='1.0' encoding='UTF-8' standalone='yes'?>
<Relationships xmlns="http://schemas.openxmlformats.org/package/2006/relationships"><Relationship Type="http://schemas.openxmlformats.org/officeDocument/2006/relationships/slide" Target="../slides/slide14.xml" Id="R817f99c1e30f466c"/><Relationship Type="http://schemas.openxmlformats.org/officeDocument/2006/relationships/notesMaster" Target="/ppt/notesMasters/notesMaster1.xml" Id="Rb857b6ffd3644df5"/></Relationships>
</file>

<file path=ppt/notesSlides/_rels/notesSlide15.xml.rels><?xml version='1.0' encoding='UTF-8' standalone='yes'?>
<Relationships xmlns="http://schemas.openxmlformats.org/package/2006/relationships"><Relationship Type="http://schemas.openxmlformats.org/officeDocument/2006/relationships/slide" Target="../slides/slide15.xml" Id="Rdc70ad63929c45d5"/><Relationship Type="http://schemas.openxmlformats.org/officeDocument/2006/relationships/notesMaster" Target="/ppt/notesMasters/notesMaster1.xml" Id="R51fa0d9cd7a245d1"/></Relationships>
</file>

<file path=ppt/notesSlides/_rels/notesSlide16.xml.rels><?xml version='1.0' encoding='UTF-8' standalone='yes'?>
<Relationships xmlns="http://schemas.openxmlformats.org/package/2006/relationships"><Relationship Type="http://schemas.openxmlformats.org/officeDocument/2006/relationships/slide" Target="../slides/slide16.xml" Id="R56542187faf845f5"/><Relationship Type="http://schemas.openxmlformats.org/officeDocument/2006/relationships/notesMaster" Target="/ppt/notesMasters/notesMaster1.xml" Id="R90174c8704494672"/></Relationships>
</file>

<file path=ppt/notesSlides/_rels/notesSlide17.xml.rels><?xml version='1.0' encoding='UTF-8' standalone='yes'?>
<Relationships xmlns="http://schemas.openxmlformats.org/package/2006/relationships"><Relationship Type="http://schemas.openxmlformats.org/officeDocument/2006/relationships/slide" Target="../slides/slide17.xml" Id="Rafbac1cfbaf541cd"/><Relationship Type="http://schemas.openxmlformats.org/officeDocument/2006/relationships/notesMaster" Target="/ppt/notesMasters/notesMaster1.xml" Id="Raf1a66534fc94974"/></Relationships>
</file>

<file path=ppt/notesSlides/_rels/notesSlide18.xml.rels><?xml version='1.0' encoding='UTF-8' standalone='yes'?>
<Relationships xmlns="http://schemas.openxmlformats.org/package/2006/relationships"><Relationship Type="http://schemas.openxmlformats.org/officeDocument/2006/relationships/slide" Target="../slides/slide18.xml" Id="R72701a58377e4ce8"/><Relationship Type="http://schemas.openxmlformats.org/officeDocument/2006/relationships/notesMaster" Target="/ppt/notesMasters/notesMaster1.xml" Id="Rf19c1d8ccad34f35"/></Relationships>
</file>

<file path=ppt/notesSlides/_rels/notesSlide19.xml.rels><?xml version='1.0' encoding='UTF-8' standalone='yes'?>
<Relationships xmlns="http://schemas.openxmlformats.org/package/2006/relationships"><Relationship Type="http://schemas.openxmlformats.org/officeDocument/2006/relationships/slide" Target="../slides/slide19.xml" Id="Rd3744cba2cdd4ab0"/><Relationship Type="http://schemas.openxmlformats.org/officeDocument/2006/relationships/notesMaster" Target="/ppt/notesMasters/notesMaster1.xml" Id="R33d2d83d2d564014"/></Relationships>
</file>

<file path=ppt/notesSlides/_rels/notesSlide20.xml.rels><?xml version='1.0' encoding='UTF-8' standalone='yes'?>
<Relationships xmlns="http://schemas.openxmlformats.org/package/2006/relationships"><Relationship Type="http://schemas.openxmlformats.org/officeDocument/2006/relationships/slide" Target="../slides/slide20.xml" Id="R261a163df44741b8"/><Relationship Type="http://schemas.openxmlformats.org/officeDocument/2006/relationships/notesMaster" Target="/ppt/notesMasters/notesMaster1.xml" Id="R2d8522b8d7ef4359"/></Relationships>
</file>

<file path=ppt/notesSlides/_rels/notesSlide21.xml.rels><?xml version='1.0' encoding='UTF-8' standalone='yes'?>
<Relationships xmlns="http://schemas.openxmlformats.org/package/2006/relationships"><Relationship Type="http://schemas.openxmlformats.org/officeDocument/2006/relationships/slide" Target="../slides/slide21.xml" Id="Ra4b34a60e34a4e50"/><Relationship Type="http://schemas.openxmlformats.org/officeDocument/2006/relationships/notesMaster" Target="/ppt/notesMasters/notesMaster1.xml" Id="Rd573492231c14c8e"/></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46cbc7c5ed8a4d79"/><Relationship Type="http://schemas.openxmlformats.org/officeDocument/2006/relationships/notesMaster" Target="/ppt/notesMasters/notesMaster1.xml" Id="R59ab481a89954ea2"/></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e47fa5624e4c4b00"/><Relationship Type="http://schemas.openxmlformats.org/officeDocument/2006/relationships/notesMaster" Target="/ppt/notesMasters/notesMaster1.xml" Id="R5c136095bce14296"/></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cdff99aa2b4d45cc"/><Relationship Type="http://schemas.openxmlformats.org/officeDocument/2006/relationships/notesMaster" Target="/ppt/notesMasters/notesMaster1.xml" Id="Raa1fd34283c942b2"/></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0faafb0bd4074782"/><Relationship Type="http://schemas.openxmlformats.org/officeDocument/2006/relationships/notesMaster" Target="/ppt/notesMasters/notesMaster1.xml" Id="Red418545e9744d70"/></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ebad268b2eb84cae"/><Relationship Type="http://schemas.openxmlformats.org/officeDocument/2006/relationships/notesMaster" Target="/ppt/notesMasters/notesMaster1.xml" Id="R3cca0745d0af4313"/></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bcc1fc75d0fb41b8"/><Relationship Type="http://schemas.openxmlformats.org/officeDocument/2006/relationships/notesMaster" Target="/ppt/notesMasters/notesMaster1.xml" Id="R8a1b86c8a0894638"/></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85148a440a4f4964"/><Relationship Type="http://schemas.openxmlformats.org/officeDocument/2006/relationships/notesMaster" Target="/ppt/notesMasters/notesMaster1.xml" Id="R6a69c372c8c049b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This report considers how LLMs could support colleagues in a mainland asset manager. It follows front-office, middle-office and back-office work. Industry examples establish reported uses, and the company proposals connect those uses to specific employee tasks. Company A and a quarterly client update provide recurring examples. The six application areas cover research, trading support, client communications, risk analysis, record entry and tool development.</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Cover image: AI-generated illustration of an investment-research workspace.</ns4:t>
            </ns4:r>
          </ns4:p>
          <ns5:p xmlns:ns5="http://schemas.openxmlformats.org/drawingml/2006/main">
            <ns5:r>
              <ns5:rPr sz="1200">
                <ns5:latin typeface="Arial"/>
              </ns5:rPr>
              <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Documents, data, messages and business requests supply information for employee tasks. The LLM reads, compares, explains and drafts. Tools retrieve information, query systems, calculate results and execute operations. Approved documents, knowledge bases and business data provide shared sources, with references and version history available for checking. The application returns company analysis, quote summaries, client materials or working tools. Colleagues check the source basis and use the output in their work.</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Shared sources: approved documents, knowledge bases and business data. Preserve source references and version history for checking.</ns4:t>
            </ns4:r>
          </ns4:p>
          <ns5:p xmlns:ns5="http://schemas.openxmlformats.org/drawingml/2006/main">
            <ns5:r>
              <ns5:rPr sz="1200">
                <ns5:latin typeface="Arial"/>
              </ns5:rPr>
              <ns5:t>https://www.amac.org.cn/xwfb/hydt/202601/P020260202337562370809.pdf</ns5:t>
            </ns5:r>
          </ns5:p>
          <ns6:p xmlns:ns6="http://schemas.openxmlformats.org/drawingml/2006/main">
            <ns6:r>
              <ns6:rPr sz="1200">
                <ns6:latin typeface="Arial"/>
              </ns6:rPr>
              <ns6:t>https://www.amac.org.cn/xwfb/hydt/202601/P020260202337849876845.pdf</ns6:t>
            </ns6:r>
          </ns6:p>
          <ns7:p xmlns:ns7="http://schemas.openxmlformats.org/drawingml/2006/main">
            <ns7:r>
              <ns7:rPr sz="1200">
                <ns7:latin typeface="Arial"/>
              </ns7:rPr>
              <ns7:t>https://www.amac.org.cn/xwfb/hydt/202601/P020260202337848496316.pdf</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six application areas follow the firm's work from front office to middle office and back office. Front-office areas are company research, trading support and client communications. Client communications includes drafting, source review, revision and approval, with middle-office reviewers participating in that workflow. Risk analysis connects credit events to exposures and follow-up. Back-office areas are record entry and tool development. Company A connects research, trading and risk information. The quarterly client update connects drafting and review, and supplies examples for the comparison-tool requirement.</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analyst asks what drove Company A's revenue growth and whether that growth is sustainable. The financial table compares the prior and current quarter: revenue rises from RMB100 million to RMB110 million, while sales volume rises from 1.0 million to 1.1 million units. Meeting notes identify restocking as a shipment driver. One research report considers demand recovery sufficient to sustain growth, while the other considers continued restocking uncertain. The analyst must find relevant sources, extract data and calculate changes, compare these views and record the reasoning. Repeated searching, extraction and checking take time away from assessing the business. This page describes the existing human workflow, before introducing an LLM proposal.</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Revenue (RMB m): 100 / 110</ns4:t>
            </ns4:r>
          </ns4:p>
          <ns5:p xmlns:ns5="http://schemas.openxmlformats.org/drawingml/2006/main">
            <ns5:r>
              <ns5:rPr sz="1200">
                <ns5:latin typeface="Arial"/>
              </ns5:rPr>
              <ns5:t>Sales volume (m units):</ns5:t>
            </ns5:r>
          </ns5:p>
          <ns6:p xmlns:ns6="http://schemas.openxmlformats.org/drawingml/2006/main">
            <ns6:r>
              <ns6:rPr sz="1200">
                <ns6:latin typeface="Arial"/>
              </ns6:rPr>
              <ns6:t>1.0 / 1.1</ns6:t>
            </ns6:r>
          </ns6:p>
          <ns7:p xmlns:ns7="http://schemas.openxmlformats.org/drawingml/2006/main">
            <ns7:r>
              <ns7:rPr sz="1200">
                <ns7:latin typeface="Arial"/>
              </ns7:rPr>
              <ns7:t/>
            </ns7:r>
          </ns7:p>
          <ns8:p xmlns:ns8="http://schemas.openxmlformats.org/drawingml/2006/main">
            <ns8:r>
              <ns8:rPr sz="1200">
                <ns8:latin typeface="Arial"/>
              </ns8:rPr>
              <ns8:t>Restocking lifted shipments. Assess whether it will continue.</ns8:t>
            </ns8:r>
          </ns8:p>
          <ns9:p xmlns:ns9="http://schemas.openxmlformats.org/drawingml/2006/main">
            <ns9:r>
              <ns9:rPr sz="1200">
                <ns9:latin typeface="Arial"/>
              </ns9:rPr>
              <ns9:t/>
            </ns9:r>
          </ns9:p>
          <ns10:p xmlns:ns10="http://schemas.openxmlformats.org/drawingml/2006/main">
            <ns10:r>
              <ns10:rPr sz="1200">
                <ns10:latin typeface="Arial"/>
              </ns10:rPr>
              <ns10:t>Report A: demand recovery can sustain growth.</ns10:t>
            </ns10:r>
          </ns10:p>
          <ns11:p xmlns:ns11="http://schemas.openxmlformats.org/drawingml/2006/main">
            <ns11:r>
              <ns11:rPr sz="1200">
                <ns11:latin typeface="Arial"/>
              </ns11:rPr>
              <ns11:t>Report B: continued restocking is uncertain.</ns11:t>
            </ns11:r>
          </ns11:p>
          <ns12:p xmlns:ns12="http://schemas.openxmlformats.org/drawingml/2006/main">
            <ns12:r>
              <ns12:rPr sz="1200">
                <ns12:latin typeface="Arial"/>
              </ns12:rPr>
              <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Tianhong's reported approach separates structuring the analysis from obtaining data and making the investment judgment. The LLM organizes a change in net profit into revenue, cost of sales and expenses, then links those categories to operating drivers. Revenue depends on sales volume and selling price; materials and production costs affect cost of sales; distribution and selling costs affect expenses. Data feeds and calculation tools supply the evidence and numerical work. The decomposition connects each earnings category to its operating evidence. Analysts use the driver analysis to assess the quality and sustainability of earnings growth.</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
            </ns4:r>
          </ns4:p>
          <ns5:p xmlns:ns5="http://schemas.openxmlformats.org/drawingml/2006/main">
            <ns5:r>
              <ns5:rPr sz="1200">
                <ns5:latin typeface="Arial"/>
              </ns5:rPr>
              <ns5:t>https://www.amac.org.cn/xwfb/hydt/202601/P020260202337562370809.pdf</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Fullgoal uses LLMs to compare reports addressing a common research question. The workflow selects relevant reports, summarizes them by topic, then consolidates and reviews the summaries. In this illustration, the reports agree that higher volumes supported revenue. Their disagreement concerns sustainability: one points to demand recovery, while the other sees uncertainty over continued restocking. The useful output is therefore both an agreed finding and an unresolved question, with links back to source material. Analysts investigate the disagreement in the original reports and form their research view.</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Higher volumes lifted revenue.</ns4:t>
            </ns4:r>
          </ns4:p>
          <ns5:p xmlns:ns5="http://schemas.openxmlformats.org/drawingml/2006/main">
            <ns5:r>
              <ns5:rPr sz="1200">
                <ns5:latin typeface="Arial"/>
              </ns5:rPr>
              <ns5:t>Demand recovery can sustain growth.</ns5:t>
            </ns5:r>
          </ns5:p>
          <ns6:p xmlns:ns6="http://schemas.openxmlformats.org/drawingml/2006/main">
            <ns6:r>
              <ns6:rPr sz="1200">
                <ns6:latin typeface="Arial"/>
              </ns6:rPr>
              <ns6:t/>
            </ns6:r>
          </ns6:p>
          <ns7:p xmlns:ns7="http://schemas.openxmlformats.org/drawingml/2006/main">
            <ns7:r>
              <ns7:rPr sz="1200">
                <ns7:latin typeface="Arial"/>
              </ns7:rPr>
              <ns7:t>Channel restocking lifted shipments. Continued restocking remains uncertain.</ns7:t>
            </ns7:r>
          </ns7:p>
          <ns8:p xmlns:ns8="http://schemas.openxmlformats.org/drawingml/2006/main">
            <ns8:r>
              <ns8:rPr sz="1200">
                <ns8:latin typeface="Arial"/>
              </ns8:rPr>
              <ns8:t>https://www.amac.org.cn/xwfb/hydt/202601/P020260202337808067241.pdf</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Company A's revenue and sales volume both rose by ten percent from the prior quarter. The calculation tool establishes that average selling price was unchanged. The LLM compares that result with meeting notes and research reports. Restocking explains higher shipments, but the two reports disagree about whether growth will continue. The draft therefore distinguishes the observed volume increase from the uncertainty over continued restocking. Its source markers refer to the financials, meeting notes and research reports. The analyst checks those sources, tests the restocking thesis and forms the investment view, including follow-up on demand and input costs.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Revenue (RMB m): 100 / 110</ns4:t>
            </ns4:r>
          </ns4:p>
          <ns5:p xmlns:ns5="http://schemas.openxmlformats.org/drawingml/2006/main">
            <ns5:r>
              <ns5:rPr sz="1200">
                <ns5:latin typeface="Arial"/>
              </ns5:rPr>
              <ns5:t>Sales volume (m units):</ns5:t>
            </ns5:r>
          </ns5:p>
          <ns6:p xmlns:ns6="http://schemas.openxmlformats.org/drawingml/2006/main">
            <ns6:r>
              <ns6:rPr sz="1200">
                <ns6:latin typeface="Arial"/>
              </ns6:rPr>
              <ns6:t>1.0 / 1.1</ns6:t>
            </ns6:r>
          </ns6:p>
          <ns7:p xmlns:ns7="http://schemas.openxmlformats.org/drawingml/2006/main">
            <ns7:r>
              <ns7:rPr sz="1200">
                <ns7:latin typeface="Arial"/>
              </ns7:rPr>
              <ns7:t/>
            </ns7:r>
          </ns7:p>
          <ns8:p xmlns:ns8="http://schemas.openxmlformats.org/drawingml/2006/main">
            <ns8:r>
              <ns8:rPr sz="1200">
                <ns8:latin typeface="Arial"/>
              </ns8:rPr>
              <ns8:t>Restocking lifted shipments</ns8:t>
            </ns8:r>
          </ns8:p>
          <ns9:p xmlns:ns9="http://schemas.openxmlformats.org/drawingml/2006/main">
            <ns9:r>
              <ns9:rPr sz="1200">
                <ns9:latin typeface="Arial"/>
              </ns9:rPr>
              <ns9:t/>
            </ns9:r>
          </ns9:p>
          <ns10:p xmlns:ns10="http://schemas.openxmlformats.org/drawingml/2006/main">
            <ns10:r>
              <ns10:rPr sz="1200">
                <ns10:latin typeface="Arial"/>
              </ns10:rPr>
              <ns10:t>A: demand recovery can sustain growth</ns10:t>
            </ns10:r>
          </ns10:p>
          <ns11:p xmlns:ns11="http://schemas.openxmlformats.org/drawingml/2006/main">
            <ns11:r>
              <ns11:rPr sz="1200">
                <ns11:latin typeface="Arial"/>
              </ns11:rPr>
              <ns11:t>B: continued restocking is uncertain</ns11:t>
            </ns11:r>
          </ns11:p>
          <ns12:p xmlns:ns12="http://schemas.openxmlformats.org/drawingml/2006/main">
            <ns12:r>
              <ns12:rPr sz="1200">
                <ns12:latin typeface="Arial"/>
              </ns12:rPr>
              <ns12:t/>
            </ns12:r>
          </ns12:p>
          <ns13:p xmlns:ns13="http://schemas.openxmlformats.org/drawingml/2006/main">
            <ns13:r>
              <ns13:rPr sz="1200">
                <ns13:latin typeface="Arial"/>
              </ns13:rPr>
              <ns13:t>Sales volume drove revenue growth [1]. Restocking supported shipments [2], but research views differ on the sustainability of growth [3]. Monitor demand and input costs.</ns13:t>
            </ns13:r>
          </ns13:p>
          <ns14:p xmlns:ns14="http://schemas.openxmlformats.org/drawingml/2006/main">
            <ns14:r>
              <ns14:rPr sz="1200">
                <ns14:latin typeface="Arial"/>
              </ns14:rPr>
              <ns14:t>https://www.amac.org.cn/xwfb/hydt/202601/P020260202337562370809.pdf</ns14:t>
            </ns14:r>
          </ns14:p>
          <ns15:p xmlns:ns15="http://schemas.openxmlformats.org/drawingml/2006/main">
            <ns15:r>
              <ns15:rPr sz="1200">
                <ns15:latin typeface="Arial"/>
              </ns15:rPr>
              <ns15:t>https://www.amac.org.cn/xwfb/hydt/202601/P020260202337808067241.pdf</ns15:t>
            </ns15:r>
          </ns15:p>
          <ns16:p xmlns:ns16="http://schemas.openxmlformats.org/drawingml/2006/main">
            <ns16:r>
              <ns16:rPr sz="1200">
                <ns16:latin typeface="Arial"/>
              </ns16:rPr>
              <ns16:t>https://static.nfnews.com/content/202511/27/c11946239.html</ns16:t>
            </ns16:r>
          </ns16:p>
          <ns17:p xmlns:ns17="http://schemas.openxmlformats.org/drawingml/2006/main">
            <ns17:r>
              <ns17:rPr sz="1200">
                <ns17:latin typeface="Arial"/>
              </ns17:rPr>
              <ns17:t>https://www.amac.org.cn/xwfb/hydt/202601/P020260202337841539992.pdf</ns17:t>
            </ns17:r>
          </ns1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portfolio manager asks the trader to identify Company A bonds maturing within two years, check the portfolio's holdings and collect offer quotes. The trader queries market and holdings systems, records the data timestamp and then specifies the bonds and buying interest to counterparties. Counterparties return offer prices and available size. The trader summarizes the bonds and received quotes and discusses the next step with the portfolio manager. The trader and existing systems perform these steps in the current workflow. Repeated entry of filters, switching between systems and copying quote messages are the work to be addressed by the later proposal.</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Southern Asset Management's Xiaonan trading assistant supports queries, bond screening, trading instructions and notifications. The user supplies a request; the LLM interprets it and selects tools; systems perform the task and return a result; the user reviews the data and confirms the next step. Aegon-Industrial's reported use is different: AI extracts bond, side, price and size from Qtrade records, matches the relevant quote request and routes details to the trading system. The portfolio manager then submits the instruction. Systems execute requests, AI interprets language or extracts fields, and colleagues review results and submit instructions.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Xiaonan supports queries, bond screening, trading instructions and notifications</ns4:t>
            </ns4:r>
          </ns4:p>
          <ns5:p xmlns:ns5="http://schemas.openxmlformats.org/drawingml/2006/main">
            <ns5:r>
              <ns5:rPr sz="1200">
                <ns5:latin typeface="Arial"/>
              </ns5:rPr>
              <ns5:t>https://www.amac.org.cn/xwfb/hydt/202601/P020260202337849876845.pdf</ns5:t>
            </ns5:r>
          </ns5:p>
          <ns6:p xmlns:ns6="http://schemas.openxmlformats.org/drawingml/2006/main">
            <ns6:r>
              <ns6:rPr sz="1200">
                <ns6:latin typeface="Arial"/>
              </ns6:rPr>
              <ns6:t>https://www.amac.org.cn/xwfb/hydt/202601/P020260202337841539992.pdf</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portfolio manager asks for Company A bonds on the buy side, maturing within two years, with current holdings checked and offer quotes collected. The LLM identifies query criteria and systems return Bond A, which matures in 1.2 years, together with the current RMB 20 million face-value holding. The second input is separate: the trader supplies the received quote. The LLM extracts Bond A, a clean price of 100.20 per RMB 100 face value, and RMB 20 million face value available. It combines those fields in the summary table, retaining different columns for current holdings and available size. The trader verifies quote sources, timestamps and amounts; the portfolio manager reviews the summary with the trader. The trader supplies the received quote records and the LLM extracts their details.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Portfolio manager: check holdings and collect offers for Company A bonds maturing within two years</ns4:t>
            </ns4:r>
          </ns4:p>
          <ns5:p xmlns:ns5="http://schemas.openxmlformats.org/drawingml/2006/main">
            <ns5:r>
              <ns5:rPr sz="1200">
                <ns5:latin typeface="Arial"/>
              </ns5:rPr>
              <ns5:t/>
            </ns5:r>
          </ns5:p>
          <ns6:p xmlns:ns6="http://schemas.openxmlformats.org/drawingml/2006/main">
            <ns6:r>
              <ns6:rPr sz="1200">
                <ns6:latin typeface="Arial"/>
              </ns6:rPr>
              <ns6:t>Bond A (Company A)</ns6:t>
            </ns6:r>
          </ns6:p>
          <ns7:p xmlns:ns7="http://schemas.openxmlformats.org/drawingml/2006/main">
            <ns7:r>
              <ns7:rPr sz="1200">
                <ns7:latin typeface="Arial"/>
              </ns7:rPr>
              <ns7:t>Time to maturity: 1.2 years</ns7:t>
            </ns7:r>
          </ns7:p>
          <ns8:p xmlns:ns8="http://schemas.openxmlformats.org/drawingml/2006/main">
            <ns8:r>
              <ns8:rPr sz="1200">
                <ns8:latin typeface="Arial"/>
              </ns8:rPr>
              <ns8:t>Current holding:</ns8:t>
            </ns8:r>
          </ns8:p>
          <ns9:p xmlns:ns9="http://schemas.openxmlformats.org/drawingml/2006/main">
            <ns9:r>
              <ns9:rPr sz="1200">
                <ns9:latin typeface="Arial"/>
              </ns9:rPr>
              <ns9:t>RMB 20m face value</ns9:t>
            </ns9:r>
          </ns9:p>
          <ns10:p xmlns:ns10="http://schemas.openxmlformats.org/drawingml/2006/main">
            <ns10:r>
              <ns10:rPr sz="1200">
                <ns10:latin typeface="Arial"/>
              </ns10:rPr>
              <ns10:t/>
            </ns10:r>
          </ns10:p>
          <ns11:p xmlns:ns11="http://schemas.openxmlformats.org/drawingml/2006/main">
            <ns11:r>
              <ns11:rPr sz="1200">
                <ns11:latin typeface="Arial"/>
              </ns11:rPr>
              <ns11:t>The trader provides this quote:</ns11:t>
            </ns11:r>
          </ns11:p>
          <ns12:p xmlns:ns12="http://schemas.openxmlformats.org/drawingml/2006/main">
            <ns12:r>
              <ns12:rPr sz="1200">
                <ns12:latin typeface="Arial"/>
              </ns12:rPr>
              <ns12:t>Bond A: clean price 100.20</ns12:t>
            </ns12:r>
          </ns12:p>
          <ns13:p xmlns:ns13="http://schemas.openxmlformats.org/drawingml/2006/main">
            <ns13:r>
              <ns13:rPr sz="1200">
                <ns13:latin typeface="Arial"/>
              </ns13:rPr>
              <ns13:t>RMB 20m face value available</ns13:t>
            </ns13:r>
          </ns13:p>
          <ns14:p xmlns:ns14="http://schemas.openxmlformats.org/drawingml/2006/main">
            <ns14:r>
              <ns14:rPr sz="1200">
                <ns14:latin typeface="Arial"/>
              </ns14:rPr>
              <ns14:t>Extract bond, price, face value</ns14:t>
            </ns14:r>
          </ns14:p>
          <ns15:p xmlns:ns15="http://schemas.openxmlformats.org/drawingml/2006/main">
            <ns15:r>
              <ns15:rPr sz="1200">
                <ns15:latin typeface="Arial"/>
              </ns15:rPr>
              <ns15:t>https://www.amac.org.cn/xwfb/hydt/202601/P020260202337849876845.pdf</ns15:t>
            </ns15:r>
          </ns15:p>
          <ns16:p xmlns:ns16="http://schemas.openxmlformats.org/drawingml/2006/main">
            <ns16:r>
              <ns16:rPr sz="1200">
                <ns16:latin typeface="Arial"/>
              </ns16:rPr>
              <ns16:t>https://www.amac.org.cn/xwfb/hydt/202601/P020260202337841539992.pdf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client team begins with a client question, investment views, product information and previous material. The front-office author selects relevant information and drafts the explanation. A middle-office reviewer checks the draft against current sources, including fund details, reporting periods and risk wording. The reviewer explains any issues so the author can revise the material. Review and approval lead to an approved client communication. Repeated source searches, manual checks and revision handoffs make this preparation work a candidate for support.</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Preparation uses portfolio-manager views, product information and previous client communications. Middle-office review checks the current fund details, period, investment view and risk disclosure.</ns4:t>
            </ns4:r>
          </ns4:p>
          <ns5:p xmlns:ns5="http://schemas.openxmlformats.org/drawingml/2006/main">
            <ns5:r>
              <ns5:rPr sz="1200">
                <ns5:latin typeface="Arial"/>
              </ns5:rPr>
              <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ICBCUBS FundGPT supports institutional RFP drafting through internal knowledge and source retrieval. In the RFP illustration, a question about investment research leads to relevant responsibilities and a source-backed response. The business team checks the answer and source. Penghua's marketing-material review applies review requirements and produces explained suggested edits, including fund information and risk wording. Authors revise material and reviewers check it. Penghua reported a ninety-one-percent acceptance rate for suggested edits. Yingmi separately supports initial checks, revision and repeat review; that reported scope provides another example of review follow-through.</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ICBCUBS FundGPT supports knowledge-base maintenance, question analysis, review and RFP drafting.</ns4:t>
            </ns4:r>
          </ns4:p>
          <ns5:p xmlns:ns5="http://schemas.openxmlformats.org/drawingml/2006/main">
            <ns5:r>
              <ns5:rPr sz="1200">
                <ns5:latin typeface="Arial"/>
              </ns5:rPr>
              <ns5:t/>
            </ns5:r>
          </ns5:p>
          <ns6:p xmlns:ns6="http://schemas.openxmlformats.org/drawingml/2006/main">
            <ns6:r>
              <ns6:rPr sz="1200">
                <ns6:latin typeface="Arial"/>
              </ns6:rPr>
              <ns6:t>Penghua applies 71 review rules across seven categories. Its reported 91% figure concerns acceptance of suggested edits.</ns6:t>
            </ns6:r>
          </ns6:p>
          <ns7:p xmlns:ns7="http://schemas.openxmlformats.org/drawingml/2006/main">
            <ns7:r>
              <ns7:rPr sz="1200">
                <ns7:latin typeface="Arial"/>
              </ns7:rPr>
              <ns7:t/>
            </ns7:r>
          </ns7:p>
          <ns8:p xmlns:ns8="http://schemas.openxmlformats.org/drawingml/2006/main">
            <ns8:r>
              <ns8:rPr sz="1200">
                <ns8:latin typeface="Arial"/>
              </ns8:rPr>
              <ns8:t>Yingmi accepts text or files, identifies issues and reasons, suggests changes and supports repeat review after revision.</ns8:t>
            </ns8:r>
          </ns8:p>
          <ns9:p xmlns:ns9="http://schemas.openxmlformats.org/drawingml/2006/main">
            <ns9:r>
              <ns9:rPr sz="1200">
                <ns9:latin typeface="Arial"/>
              </ns9:rPr>
              <ns9:t>https://www.amac.org.cn/xwfb/hydt/202601/P020260202337848496316.pdf</ns9:t>
            </ns9:r>
          </ns9:p>
          <ns10:p xmlns:ns10="http://schemas.openxmlformats.org/drawingml/2006/main">
            <ns10:r>
              <ns10:rPr sz="1200">
                <ns10:latin typeface="Arial"/>
              </ns10:rPr>
              <ns10:t>https://www.amac.org.cn/xwfb/hydt/202601/P020260202337850951100.pdf</ns10:t>
            </ns10:r>
          </ns10:p>
          <ns11:p xmlns:ns11="http://schemas.openxmlformats.org/drawingml/2006/main">
            <ns11:r>
              <ns11:rPr sz="1200">
                <ns11:latin typeface="Arial"/>
              </ns11:rPr>
              <ns11:t>https://www.yingmi-inc.com/archives/799</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author supplies the client question, investment view and relevant product material. The LLM drafts V1. Its investment view states that higher sales volume drove Company A's revenue and retains raw-material-cost monitoring. Current review sources add channel restocking and uncertainty over whether it continues. Document tools match the draft with relevant source passages. The LLM explains the mismatches and proposes revisions. V2 adds the restocking driver and continuation question while retaining cost monitoring. The author approves the edits, and the middle-office reviewer checks the sources and revised material before approval. The full fund name, Q3 product source and specific risk disclosure are also part of V2.</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Quarterly client update V1</ns4:t>
            </ns4:r>
          </ns4:p>
          <ns5:p xmlns:ns5="http://schemas.openxmlformats.org/drawingml/2006/main">
            <ns5:r>
              <ns5:rPr sz="1200">
                <ns5:latin typeface="Arial"/>
              </ns5:rPr>
              <ns5:t>Fund name: Product A Select</ns5:t>
            </ns5:r>
          </ns5:p>
          <ns6:p xmlns:ns6="http://schemas.openxmlformats.org/drawingml/2006/main">
            <ns6:r>
              <ns6:rPr sz="1200">
                <ns6:latin typeface="Arial"/>
              </ns6:rPr>
              <ns6:t>Source version: Q2 2026 product information, V1</ns6:t>
            </ns6:r>
          </ns6:p>
          <ns7:p xmlns:ns7="http://schemas.openxmlformats.org/drawingml/2006/main">
            <ns7:r>
              <ns7:rPr sz="1200">
                <ns7:latin typeface="Arial"/>
              </ns7:rPr>
              <ns7:t>Investment view: Higher sales volumes drove Company A’s revenue growth. We are monitoring raw-material costs.</ns7:t>
            </ns7:r>
          </ns7:p>
          <ns8:p xmlns:ns8="http://schemas.openxmlformats.org/drawingml/2006/main">
            <ns8:r>
              <ns8:rPr sz="1200">
                <ns8:latin typeface="Arial"/>
              </ns8:rPr>
              <ns8:t>Risk disclosure: Investing involves risk.</ns8:t>
            </ns8:r>
          </ns8:p>
          <ns9:p xmlns:ns9="http://schemas.openxmlformats.org/drawingml/2006/main">
            <ns9:r>
              <ns9:rPr sz="1200">
                <ns9:latin typeface="Arial"/>
              </ns9:rPr>
              <ns9:t/>
            </ns9:r>
          </ns9:p>
          <ns10:p xmlns:ns10="http://schemas.openxmlformats.org/drawingml/2006/main">
            <ns10:r>
              <ns10:rPr sz="1200">
                <ns10:latin typeface="Arial"/>
              </ns10:rPr>
              <ns10:t>Quarterly client update V2</ns10:t>
            </ns10:r>
          </ns10:p>
          <ns11:p xmlns:ns11="http://schemas.openxmlformats.org/drawingml/2006/main">
            <ns11:r>
              <ns11:rPr sz="1200">
                <ns11:latin typeface="Arial"/>
              </ns11:rPr>
              <ns11:t>Fund name: Product A Select Mixed-Asset Fund</ns11:t>
            </ns11:r>
          </ns11:p>
          <ns12:p xmlns:ns12="http://schemas.openxmlformats.org/drawingml/2006/main">
            <ns12:r>
              <ns12:rPr sz="1200">
                <ns12:latin typeface="Arial"/>
              </ns12:rPr>
              <ns12:t>Source version: Q3 2026 product information, V2</ns12:t>
            </ns12:r>
          </ns12:p>
          <ns13:p xmlns:ns13="http://schemas.openxmlformats.org/drawingml/2006/main">
            <ns13:r>
              <ns13:rPr sz="1200">
                <ns13:latin typeface="Arial"/>
              </ns13:rPr>
              <ns13:t>Investment view: Channel restocking supported Company A’s sales volume growth. We are monitoring whether restocking continues, alongside raw-material costs.</ns13:t>
            </ns13:r>
          </ns13:p>
          <ns14:p xmlns:ns14="http://schemas.openxmlformats.org/drawingml/2006/main">
            <ns14:r>
              <ns14:rPr sz="1200">
                <ns14:latin typeface="Arial"/>
              </ns14:rPr>
              <ns14:t>Risk disclosure: The fund’s NAV fluctuates with market conditions. Capital is at risk.</ns14:t>
            </ns14:r>
          </ns14:p>
          <ns15:p xmlns:ns15="http://schemas.openxmlformats.org/drawingml/2006/main">
            <ns15:r>
              <ns15:rPr sz="1200">
                <ns15:latin typeface="Arial"/>
              </ns15:rPr>
              <ns15:t/>
            </ns15:r>
          </ns15:p>
          <ns16:p xmlns:ns16="http://schemas.openxmlformats.org/drawingml/2006/main">
            <ns16:r>
              <ns16:rPr sz="1200">
                <ns16:latin typeface="Arial"/>
              </ns16:rPr>
              <ns16:t>Channel restocking supported sales volume growth</ns16:t>
            </ns16:r>
          </ns16:p>
          <ns17:p xmlns:ns17="http://schemas.openxmlformats.org/drawingml/2006/main">
            <ns17:r>
              <ns17:rPr sz="1200">
                <ns17:latin typeface="Arial"/>
              </ns17:rPr>
              <ns17:t/>
            </ns17:r>
          </ns17:p>
          <ns18:p xmlns:ns18="http://schemas.openxmlformats.org/drawingml/2006/main">
            <ns18:r>
              <ns18:rPr sz="1200">
                <ns18:latin typeface="Arial"/>
              </ns18:rPr>
              <ns18:t>Added: whether restocking continues.</ns18:t>
            </ns18:r>
          </ns18:p>
          <ns19:p xmlns:ns19="http://schemas.openxmlformats.org/drawingml/2006/main">
            <ns19:r>
              <ns19:rPr sz="1200">
                <ns19:latin typeface="Arial"/>
              </ns19:rPr>
              <ns19:t>Retained: raw-material cost monitoring.</ns19:t>
            </ns19:r>
          </ns19:p>
          <ns20:p xmlns:ns20="http://schemas.openxmlformats.org/drawingml/2006/main">
            <ns20:r>
              <ns20:rPr sz="1200">
                <ns20:latin typeface="Arial"/>
              </ns20:rPr>
              <ns20:t/>
            </ns20:r>
          </ns20:p>
          <ns21:p xmlns:ns21="http://schemas.openxmlformats.org/drawingml/2006/main">
            <ns21:r>
              <ns21:rPr sz="1200">
                <ns21:latin typeface="Arial"/>
              </ns21:rPr>
              <ns21:t>Other client updates and product Q&amp;A</ns21:t>
            </ns21:r>
          </ns21:p>
          <ns22:p xmlns:ns22="http://schemas.openxmlformats.org/drawingml/2006/main">
            <ns22:r>
              <ns22:rPr sz="1200">
                <ns22:latin typeface="Arial"/>
              </ns22:rPr>
              <ns22:t>using this investment view</ns22:t>
            </ns22:r>
          </ns22:p>
          <ns23:p xmlns:ns23="http://schemas.openxmlformats.org/drawingml/2006/main">
            <ns23:r>
              <ns23:rPr sz="1200">
                <ns23:latin typeface="Arial"/>
              </ns23:rPr>
              <ns23:t/>
            </ns23:r>
          </ns23:p>
          <ns24:p xmlns:ns24="http://schemas.openxmlformats.org/drawingml/2006/main">
            <ns24:r>
              <ns24:rPr sz="1200">
                <ns24:latin typeface="Arial"/>
              </ns24:rPr>
              <ns24:t>Current portfolio-manager source: channel restocking lifted sales volume; continuation remains uncertain. Raw-material-cost monitoring is retained.</ns24:t>
            </ns24:r>
          </ns24:p>
          <ns25:p xmlns:ns25="http://schemas.openxmlformats.org/drawingml/2006/main">
            <ns25:r>
              <ns25:rPr sz="1200">
                <ns25:latin typeface="Arial"/>
              </ns25:rPr>
              <ns25:t/>
            </ns25:r>
          </ns25:p>
          <ns26:p xmlns:ns26="http://schemas.openxmlformats.org/drawingml/2006/main">
            <ns26:r>
              <ns26:rPr sz="1200">
                <ns26:latin typeface="Arial"/>
              </ns26:rPr>
              <ns26:t>These V1/V2 materials illustrate the company proposal.</ns26:t>
            </ns26:r>
          </ns26:p>
          <ns27:p xmlns:ns27="http://schemas.openxmlformats.org/drawingml/2006/main">
            <ns27:r>
              <ns27:rPr sz="1200">
                <ns27:latin typeface="Arial"/>
              </ns27:rPr>
              <ns27:t>https://www.amac.org.cn/xwfb/hydt/202601/P020260202337562370809.pdf</ns27:t>
            </ns27:r>
          </ns27:p>
          <ns28:p xmlns:ns28="http://schemas.openxmlformats.org/drawingml/2006/main">
            <ns28:r>
              <ns28:rPr sz="1200">
                <ns28:latin typeface="Arial"/>
              </ns28:rPr>
              <ns28:t>https://www.amac.org.cn/xwfb/hydt/202601/P020260202337848496316.pdf</ns28:t>
            </ns28:r>
          </ns28:p>
          <ns29:p xmlns:ns29="http://schemas.openxmlformats.org/drawingml/2006/main">
            <ns29:r>
              <ns29:rPr sz="1200">
                <ns29:latin typeface="Arial"/>
              </ns29:rPr>
              <ns29:t>https://fund.10jqka.com.cn/20251111/c672391490.shtml</ns29:t>
            </ns29:r>
          </ns29:p>
          <ns30:p xmlns:ns30="http://schemas.openxmlformats.org/drawingml/2006/main">
            <ns30:r>
              <ns30:rPr sz="1200">
                <ns30:latin typeface="Arial"/>
              </ns30:rPr>
              <ns30:t>https://www.amac.org.cn/xwfb/hydt/202601/P020260202337850951100.pdf</ns30:t>
            </ns30:r>
          </ns30:p>
          <ns31:p xmlns:ns31="http://schemas.openxmlformats.org/drawingml/2006/main">
            <ns31:r>
              <ns31:rPr sz="1200">
                <ns31:latin typeface="Arial"/>
              </ns31:rPr>
              <ns31:t>https://www.yingmi-inc.com/archives/799</ns31:t>
            </ns31:r>
          </ns31:p>
          <ns32:p xmlns:ns32="http://schemas.openxmlformats.org/drawingml/2006/main">
            <ns32:r>
              <ns32:rPr sz="1200">
                <ns32:latin typeface="Arial"/>
              </ns32:rPr>
              <ns32:t>https://edc-book.ccf.org.cn/%E3%80%8A2025CCF%E4%BC%81%E4%B8%9A%E6%95%B0%E5%AD%97%E5%8C%96%E5%8F%91%E5%B1%95%E6%8E%A8%E8%8D%90%E6%A1%88%E4%BE%8B%E9%9B%86%E3%80%8B.pdf</ns32:t>
            </ns32:r>
          </ns32:p>
          <ns33:p xmlns:ns33="http://schemas.openxmlformats.org/drawingml/2006/main">
            <ns33:r>
              <ns33:rPr sz="1200">
                <ns33:latin typeface="Arial"/>
              </ns33:rPr>
              <ns33:t>https://finance.sina.com.cn/money/fund/jjh/2026-04-30/doc-inhwfyep1330822.shtml</ns33:t>
            </ns33:r>
          </ns3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A risk analyst receives a Company A alert: the credit rating is on watch and operating cash flow is under pressure. The analyst gathers three types of evidence in parallel. Holdings identify the exposed funds and holding amounts. Contracts and internal policies identify applicable rules and clauses. Issuer research supports assessment of the event's impact. These searches repeatedly use the same issuer across systems and documents. The analyst brings the evidence together in an event assessment for risk work and discussion.</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A’s credit rating is on watch.</ns4:t>
            </ns4:r>
          </ns4:p>
          <ns5:p xmlns:ns5="http://schemas.openxmlformats.org/drawingml/2006/main">
            <ns5:r>
              <ns5:rPr sz="1200">
                <ns5:latin typeface="Arial"/>
              </ns5:rPr>
              <ns5:t>Operating cash flow is under pressure.</ns5:t>
            </ns5:r>
          </ns5:p>
          <ns6:p xmlns:ns6="http://schemas.openxmlformats.org/drawingml/2006/main">
            <ns6:r>
              <ns6:rPr sz="1200">
                <ns6:latin typeface="Arial"/>
              </ns6:rPr>
              <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China Universal uses LLMs to read custodian risk alerts, extract relevant risk information and route it to the risk team's workspace. A related function links monitoring rules with regulations, internal controls and contract terms. The LLM explains the source-text basis for a rule trigger. Tianhong uses event details, comparable past events, industry relationships and market sentiment to support an LLM-drafted event assessment. The assessment compares the event with past cases and outlines potential impacts and follow-up actions. Investment and risk teams discuss the implications. The source-grounded rule explanation and the event-comparison assessment are distinct reported functions.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Event details, comparable past events,</ns4:t>
            </ns4:r>
          </ns4:p>
          <ns5:p xmlns:ns5="http://schemas.openxmlformats.org/drawingml/2006/main">
            <ns5:r>
              <ns5:rPr sz="1200">
                <ns5:latin typeface="Arial"/>
              </ns5:rPr>
              <ns5:t>industry relationships and market sentiment</ns5:t>
            </ns5:r>
          </ns5:p>
          <ns6:p xmlns:ns6="http://schemas.openxmlformats.org/drawingml/2006/main">
            <ns6:r>
              <ns6:rPr sz="1200">
                <ns6:latin typeface="Arial"/>
              </ns6:rPr>
              <ns6:t>https://www.amac.org.cn/xwfb/hydt/202601/P020260202337837900594.pdf</ns6:t>
            </ns6:r>
          </ns6:p>
          <ns7:p xmlns:ns7="http://schemas.openxmlformats.org/drawingml/2006/main">
            <ns7:r>
              <ns7:rPr sz="1200">
                <ns7:latin typeface="Arial"/>
              </ns7:rPr>
              <ns7:t>https://www.amac.org.cn/xwfb/hydt/202601/P020260202337562370809.pdf</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proposal begins with supplied evidence: the Company A alert, a current holding record showing that Product A holds RMB 20 million face value of Company A bonds, and a requirement to update issuer research after a credit event. The LLM identifies the issuer, links fund exposure, reviews applicable clauses and issuer research, and drafts an assessment. Cash-flow pressure affects the issuer's capacity to service debt. The output identifies Product A and a research follow-up to assess cash-flow trends. Risk staff verify exposures and requirements, analysts update the credit assessment, and portfolio managers discuss the response.</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 credit rating on watch.</ns4:t>
            </ns4:r>
          </ns4:p>
          <ns5:p xmlns:ns5="http://schemas.openxmlformats.org/drawingml/2006/main">
            <ns5:r>
              <ns5:rPr sz="1200">
                <ns5:latin typeface="Arial"/>
              </ns5:rPr>
              <ns5:t>Operating cash flow is under pressure.</ns5:t>
            </ns5:r>
          </ns5:p>
          <ns6:p xmlns:ns6="http://schemas.openxmlformats.org/drawingml/2006/main">
            <ns6:r>
              <ns6:rPr sz="1200">
                <ns6:latin typeface="Arial"/>
              </ns6:rPr>
              <ns6:t/>
            </ns6:r>
          </ns6:p>
          <ns7:p xmlns:ns7="http://schemas.openxmlformats.org/drawingml/2006/main">
            <ns7:r>
              <ns7:rPr sz="1200">
                <ns7:latin typeface="Arial"/>
              </ns7:rPr>
              <ns7:t>Product A holds</ns7:t>
            </ns7:r>
          </ns7:p>
          <ns8:p xmlns:ns8="http://schemas.openxmlformats.org/drawingml/2006/main">
            <ns8:r>
              <ns8:rPr sz="1200">
                <ns8:latin typeface="Arial"/>
              </ns8:rPr>
              <ns8:t>Company A bonds</ns8:t>
            </ns8:r>
          </ns8:p>
          <ns9:p xmlns:ns9="http://schemas.openxmlformats.org/drawingml/2006/main">
            <ns9:r>
              <ns9:rPr sz="1200">
                <ns9:latin typeface="Arial"/>
              </ns9:rPr>
              <ns9:t>Face value: RMB 20m</ns9:t>
            </ns9:r>
          </ns9:p>
          <ns10:p xmlns:ns10="http://schemas.openxmlformats.org/drawingml/2006/main">
            <ns10:r>
              <ns10:rPr sz="1200">
                <ns10:latin typeface="Arial"/>
              </ns10:rPr>
              <ns10:t/>
            </ns10:r>
          </ns10:p>
          <ns11:p xmlns:ns11="http://schemas.openxmlformats.org/drawingml/2006/main">
            <ns11:r>
              <ns11:rPr sz="1200">
                <ns11:latin typeface="Arial"/>
              </ns11:rPr>
              <ns11:t>Update issuer research following a credit event.</ns11:t>
            </ns11:r>
          </ns11:p>
          <ns12:p xmlns:ns12="http://schemas.openxmlformats.org/drawingml/2006/main">
            <ns12:r>
              <ns12:rPr sz="1200">
                <ns12:latin typeface="Arial"/>
              </ns12:rPr>
              <ns12:t/>
            </ns12:r>
          </ns12:p>
          <ns13:p xmlns:ns13="http://schemas.openxmlformats.org/drawingml/2006/main">
            <ns13:r>
              <ns13:rPr sz="1200">
                <ns13:latin typeface="Arial"/>
              </ns13:rPr>
              <ns13:t>Cash-flow pressure affects the issuer’s capacity to service debt.</ns13:t>
            </ns13:r>
          </ns13:p>
          <ns14:p xmlns:ns14="http://schemas.openxmlformats.org/drawingml/2006/main">
            <ns14:r>
              <ns14:rPr sz="1200">
                <ns14:latin typeface="Arial"/>
              </ns14:rPr>
              <ns14:t>Review the credit assessment.</ns14:t>
            </ns14:r>
          </ns14:p>
          <ns15:p xmlns:ns15="http://schemas.openxmlformats.org/drawingml/2006/main">
            <ns15:r>
              <ns15:rPr sz="1200">
                <ns15:latin typeface="Arial"/>
              </ns15:rPr>
              <ns15:t>Affected fund: Product A</ns15:t>
            </ns15:r>
          </ns15:p>
          <ns16:p xmlns:ns16="http://schemas.openxmlformats.org/drawingml/2006/main">
            <ns16:r>
              <ns16:rPr sz="1200">
                <ns16:latin typeface="Arial"/>
              </ns16:rPr>
              <ns16:t>Research follow-up: assess cash-flow trends</ns16:t>
            </ns16:r>
          </ns16:p>
          <ns17:p xmlns:ns17="http://schemas.openxmlformats.org/drawingml/2006/main">
            <ns17:r>
              <ns17:rPr sz="1200">
                <ns17:latin typeface="Arial"/>
              </ns17:rPr>
              <ns17:t>https://www.amac.org.cn/xwfb/hydt/202601/P020260202337837900594.pdf</ns17:t>
            </ns17:r>
          </ns17:p>
          <ns18:p xmlns:ns18="http://schemas.openxmlformats.org/drawingml/2006/main">
            <ns18:r>
              <ns18:rPr sz="1200">
                <ns18:latin typeface="Arial"/>
              </ns18:rPr>
              <ns18:t>https://www.amac.org.cn/xwfb/hydt/202601/P020260202337562370809.pdf</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Operations receives a fax or form, reads its content and enters the required fields. Staff check the entered information against the original document, correct errors or omissions and create the business record with its source reference. Reading the same material, rekeying fields and repeating source checks consume staff time. The purpose of this workflow is an accurate record that colleagues can use in subsequent operations.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Current capture workflow: read incoming faxes/forms, enter fields, validate against the source and create the business record.</ns4:t>
            </ns4:r>
          </ns4:p>
          <ns5:p xmlns:ns5="http://schemas.openxmlformats.org/drawingml/2006/main">
            <ns5:r>
              <ns5:rPr sz="1200">
                <ns5:latin typeface="Arial"/>
              </ns5:rPr>
              <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HuaAn reports automated entry for more than eighty percent of faxes handled by its direct-sales counter. Its model reads document content, extracts required fields and populates client-service records. Our proposed application starts with incoming documents and uses an LLM to extract required fields. Operations checks those fields against the source, corrects them and enters the validated business record. The proposed workflow keeps source references with the record and places staff validation before record entry.</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HuaAn reports automated data entry for more than 80% of faxes handled by its direct-sales counter.</ns4:t>
            </ns4:r>
          </ns4:p>
          <ns5:p xmlns:ns5="http://schemas.openxmlformats.org/drawingml/2006/main">
            <ns5:r>
              <ns5:rPr sz="1200">
                <ns5:latin typeface="Arial"/>
              </ns5:rPr>
              <ns5:t/>
            </ns5:r>
          </ns5:p>
          <ns6:p xmlns:ns6="http://schemas.openxmlformats.org/drawingml/2006/main">
            <ns6:r>
              <ns6:rPr sz="1200">
                <ns6:latin typeface="Arial"/>
              </ns6:rPr>
              <ns6:t>In the company proposal, operations validates extracted fields against incoming documents before record entry.</ns6:t>
            </ns6:r>
          </ns6:p>
          <ns7:p xmlns:ns7="http://schemas.openxmlformats.org/drawingml/2006/main">
            <ns7:r>
              <ns7:rPr sz="1200">
                <ns7:latin typeface="Arial"/>
              </ns7:rPr>
              <ns7:t/>
            </ns7:r>
          </ns7:p>
          <ns8:p xmlns:ns8="http://schemas.openxmlformats.org/drawingml/2006/main">
            <ns8:r>
              <ns8:rPr sz="1200">
                <ns8:latin typeface="Arial"/>
              </ns8:rPr>
              <ns8:t>ICBCUBS FundGPT also supports comparison of two existing PDF, Word or scanned versions, difference highlighting, typo checking and export.</ns8:t>
            </ns8:r>
          </ns8:p>
          <ns9:p xmlns:ns9="http://schemas.openxmlformats.org/drawingml/2006/main">
            <ns9:r>
              <ns9:rPr sz="1200">
                <ns9:latin typeface="Arial"/>
              </ns9:rPr>
              <ns9:t>https://edc-book.ccf.org.cn/%E3%80%8A2025CCF%E4%BC%81%E4%B8%9A%E6%95%B0%E5%AD%97%E5%8C%96%E5%8F%91%E5%B1%95%E6%8E%A8%E8%8D%90%E6%A1%88%E4%BE%8B%E9%9B%86%E3%80%8B.pdf</ns9:t>
            </ns9:r>
          </ns9:p>
          <ns10:p xmlns:ns10="http://schemas.openxmlformats.org/drawingml/2006/main">
            <ns10:r>
              <ns10:rPr sz="1200">
                <ns10:latin typeface="Arial"/>
              </ns10:rPr>
              <ns10:t>https://www.amac.org.cn/xwfb/hydt/202601/P020260202337848496316.pdf</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requested business tool compares two versions while ignoring repeated page headers. The developer translates that rule into requirements, including additions, deletions and edits to genuine body text. Code must read files, match paragraphs and locate the changes. Line and page breaks can disrupt matching, and a changed header can be flagged incorrectly. Testing exposes those false positives, which return to coding and debugging. A working comparison tool and its results follow repeated implementation, testing and correction. Separating repeated headers from genuine body changes is part of the developer’s testing criteria.</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Developer workflow</ns4:t>
            </ns4:r>
          </ns4:p>
          <ns5:p xmlns:ns5="http://schemas.openxmlformats.org/drawingml/2006/main">
            <ns5:r>
              <ns5:rPr sz="1200">
                <ns5:latin typeface="Arial"/>
              </ns5:rPr>
              <ns5:t>Business request: identify changes between the two report versions, excluding repeated page headers.</ns5:t>
            </ns5:r>
          </ns5:p>
          <ns6:p xmlns:ns6="http://schemas.openxmlformats.org/drawingml/2006/main">
            <ns6:r>
              <ns6:rPr sz="1200">
                <ns6:latin typeface="Arial"/>
              </ns6:rPr>
              <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E Fund uses LLMs in development and testing. A developer supplies examples, expected results and the required behavior. The LLM can draft processing code and tests, while the developer runs the code, checks results and supplies error details for refinement. Invesco Great Wall's quantitative team uses locally deployed models for coding support. The team's coding task and the model's assistance are followed by developer checking. The reported scopes differ, and both uses depend on colleagues specifying work and reviewing the output.</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Invesco Great Wall’s quantitative team uses locally deployed models for coding support.</ns4:t>
            </ns4:r>
          </ns4:p>
          <ns5:p xmlns:ns5="http://schemas.openxmlformats.org/drawingml/2006/main">
            <ns5:r>
              <ns5:rPr sz="1200">
                <ns5:latin typeface="Arial"/>
              </ns5:rPr>
              <ns5:t>https://www.amac.org.cn/xwfb/hydt/202601/P020260202337815959196.pdf</ns5:t>
            </ns5:r>
          </ns5:p>
          <ns6:p xmlns:ns6="http://schemas.openxmlformats.org/drawingml/2006/main">
            <ns6:r>
              <ns6:rPr sz="1200">
                <ns6:latin typeface="Arial"/>
              </ns6:rPr>
              <ns6:t>https://gifts.szu.edu.cn/info/1023/1364.htm</ns6:t>
            </ns6:r>
          </ns6:p>
          <ns7:p xmlns:ns7="http://schemas.openxmlformats.org/drawingml/2006/main">
            <ns7:r>
              <ns7:rPr sz="1200">
                <ns7:latin typeface="Arial"/>
              </ns7:rPr>
              <ns7:t>https://www.cls.cn/detail/2237261</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developer defines examples and expected differences using the quarterly-update V1 and V2. The requirement is to compare body text and ignore repeated headers. The LLM drafts paragraph-matching code and tests, and a test runner executes them. In the illustrated failure, body changes are detected but header changes are also flagged. The developer explains the distinction: exclude repeated page headers while retaining genuine body-text changes. The LLM revises the header filter and adds a regression test. The developer reviews and reruns the code, then delivers the tool and user guide after the checks.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Requirement: compare two reports, ignore repeated headers and flag changes to the body text</ns4:t>
            </ns4:r>
          </ns4:p>
          <ns5:p xmlns:ns5="http://schemas.openxmlformats.org/drawingml/2006/main">
            <ns5:r>
              <ns5:rPr sz="1200">
                <ns5:latin typeface="Arial"/>
              </ns5:rPr>
              <ns5:t>https://www.amac.org.cn/xwfb/hydt/202601/P020260202337815959196.pdf</ns5:t>
            </ns5:r>
          </ns5:p>
          <ns6:p xmlns:ns6="http://schemas.openxmlformats.org/drawingml/2006/main">
            <ns6:r>
              <ns6:rPr sz="1200">
                <ns6:latin typeface="Arial"/>
              </ns6:rPr>
              <ns6:t>https://www.cls.cn/detail/2237261</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The six proposals give colleagues concrete outputs. Analysts receive research summaries with sources. Traders receive holdings and received-quote summaries. Client teams receive drafted and reviewed materials, with middle-office review contributing to approval. Risk teams receive exposure assessments and follow-up items. Operations receives extracted fields for validation and record entry. Developers receive code and tests for an internal comparison tool. Colleagues verify those outputs and exercise professional judgment in their use.</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
            </ns4:r>
          </ns4:p>
          <ns5:p xmlns:ns5="http://schemas.openxmlformats.org/drawingml/2006/main">
            <ns5:r>
              <ns5:rPr sz="1200">
                <ns5:latin typeface="Arial"/>
              </ns5:rPr>
              <ns5:t>https://www.amac.org.cn/xwfb/hydt/202601/P020260202337562370809.pdf</ns5:t>
            </ns5:r>
          </ns5:p>
          <ns6:p xmlns:ns6="http://schemas.openxmlformats.org/drawingml/2006/main">
            <ns6:r>
              <ns6:rPr sz="1200">
                <ns6:latin typeface="Arial"/>
              </ns6:rPr>
              <ns6:t>https://www.amac.org.cn/xwfb/hydt/202601/P020260202337849876845.pdf</ns6:t>
            </ns6:r>
          </ns6:p>
          <ns7:p xmlns:ns7="http://schemas.openxmlformats.org/drawingml/2006/main">
            <ns7:r>
              <ns7:rPr sz="1200">
                <ns7:latin typeface="Arial"/>
              </ns7:rPr>
              <ns7:t>https://www.amac.org.cn/xwfb/hydt/202601/P020260202337850951100.pdf</ns7:t>
            </ns7:r>
          </ns7:p>
          <ns8:p xmlns:ns8="http://schemas.openxmlformats.org/drawingml/2006/main">
            <ns8:r>
              <ns8:rPr sz="1200">
                <ns8:latin typeface="Arial"/>
              </ns8:rPr>
              <ns8:t>https://www.amac.org.cn/xwfb/hydt/202601/P020260202337837900594.pdf</ns8:t>
            </ns8:r>
          </ns8:p>
          <ns9:p xmlns:ns9="http://schemas.openxmlformats.org/drawingml/2006/main">
            <ns9:r>
              <ns9:rPr sz="1200">
                <ns9:latin typeface="Arial"/>
              </ns9:rPr>
              <ns9:t>https://www.amac.org.cn/xwfb/hydt/202601/P020260202337848496316.pdf</ns9:t>
            </ns9:r>
          </ns9:p>
          <ns10:p xmlns:ns10="http://schemas.openxmlformats.org/drawingml/2006/main">
            <ns10:r>
              <ns10:rPr sz="1200">
                <ns10:latin typeface="Arial"/>
              </ns10:rPr>
              <ns10:t>https://www.amac.org.cn/xwfb/hydt/202601/P020260202337815959196.pdf</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Company A provides a common issuer identity across research, trading support, risk and issuer-related records. Colleagues share company analysis, bond and quote summaries, event assessments and exposure information. Approved information supports maintained records in operations. The quarterly client update connects the client team's V1 with the author and reviewer's approved V2. Approved material then supports filing and related-material updates. Shared source references and version history support these handoffs across the front, middle and back offices.</ns1:t>
            </ns1:r>
          </ns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Implementation proceeds through three business-led phases. The first focuses on research and client communications, with research, sales, compliance and IT contributing sample tasks, a source inventory and initial applications. The second integrates trading and operations, with trading, operations and IT defining data, system-query interfaces and document workflows. The third expands development support and internal services, with business teams and IT delivering tools, user guides and named maintenance ownership. Each phase has an identifiable business scope and a usable deliverable. The work can be planned and assessed against those business deliverables.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Research and client communications</ns4:t>
            </ns4:r>
          </ns4:p>
          <ns5:p xmlns:ns5="http://schemas.openxmlformats.org/drawingml/2006/main">
            <ns5:r>
              <ns5:rPr sz="1200">
                <ns5:latin typeface="Arial"/>
              </ns5:rPr>
              <ns5:t>Participating teams: Research, sales, compliance and IT</ns5:t>
            </ns5:r>
          </ns5:p>
          <ns6:p xmlns:ns6="http://schemas.openxmlformats.org/drawingml/2006/main">
            <ns6:r>
              <ns6:rPr sz="1200">
                <ns6:latin typeface="Arial"/>
              </ns6:rPr>
              <ns6:t>Deliverables: Sample tasks, source inventory and initial applications</ns6:t>
            </ns6:r>
          </ns6:p>
          <ns7:p xmlns:ns7="http://schemas.openxmlformats.org/drawingml/2006/main">
            <ns7:r>
              <ns7:rPr sz="1200">
                <ns7:latin typeface="Arial"/>
              </ns7:rPr>
              <ns7:t/>
            </ns7:r>
          </ns7:p>
          <ns8:p xmlns:ns8="http://schemas.openxmlformats.org/drawingml/2006/main">
            <ns8:r>
              <ns8:rPr sz="1200">
                <ns8:latin typeface="Arial"/>
              </ns8:rPr>
              <ns8:t>Trading and operations integration</ns8:t>
            </ns8:r>
          </ns8:p>
          <ns9:p xmlns:ns9="http://schemas.openxmlformats.org/drawingml/2006/main">
            <ns9:r>
              <ns9:rPr sz="1200">
                <ns9:latin typeface="Arial"/>
              </ns9:rPr>
              <ns9:t>Participating teams: Trading, operations, IT</ns9:t>
            </ns9:r>
          </ns9:p>
          <ns10:p xmlns:ns10="http://schemas.openxmlformats.org/drawingml/2006/main">
            <ns10:r>
              <ns10:rPr sz="1200">
                <ns10:latin typeface="Arial"/>
              </ns10:rPr>
              <ns10:t>Deliverables: Data definitions, system query interfaces and document workflows</ns10:t>
            </ns10:r>
          </ns10:p>
          <ns11:p xmlns:ns11="http://schemas.openxmlformats.org/drawingml/2006/main">
            <ns11:r>
              <ns11:rPr sz="1200">
                <ns11:latin typeface="Arial"/>
              </ns11:rPr>
              <ns11:t/>
            </ns11:r>
          </ns11:p>
          <ns12:p xmlns:ns12="http://schemas.openxmlformats.org/drawingml/2006/main">
            <ns12:r>
              <ns12:rPr sz="1200">
                <ns12:latin typeface="Arial"/>
              </ns12:rPr>
              <ns12:t>Development support and internal services</ns12:t>
            </ns12:r>
          </ns12:p>
          <ns13:p xmlns:ns13="http://schemas.openxmlformats.org/drawingml/2006/main">
            <ns13:r>
              <ns13:rPr sz="1200">
                <ns13:latin typeface="Arial"/>
              </ns13:rPr>
              <ns13:t>Participating teams: Business teams, IT</ns13:t>
            </ns13:r>
          </ns13:p>
          <ns14:p xmlns:ns14="http://schemas.openxmlformats.org/drawingml/2006/main">
            <ns14:r>
              <ns14:rPr sz="1200">
                <ns14:latin typeface="Arial"/>
              </ns14:rPr>
              <ns14:t>Deliverables: Business tools, user guides and named maintenance owners</ns14:t>
            </ns14:r>
          </ns14:p>
          <ns15:p xmlns:ns15="http://schemas.openxmlformats.org/drawingml/2006/main">
            <ns15:r>
              <ns15:rPr sz="1200">
                <ns15:latin typeface="Arial"/>
              </ns15:rPr>
              <ns15:t/>
            </ns15:r>
          </ns15:p>
          <ns16:p xmlns:ns16="http://schemas.openxmlformats.org/drawingml/2006/main">
            <ns16:r>
              <ns16:rPr sz="1200">
                <ns16:latin typeface="Arial"/>
              </ns16:rPr>
              <ns16:t>Implementation support: use approved documents, knowledge bases and business data. Define access controls, source references, version ownership and maintenance responsibility. LLMs interpret and draft; tools query systems, calculate, process files and run code/tests. Qwen and DeepSeek are candidates for evaluation on the company tasks.</ns16:t>
            </ns16:r>
          </ns16:p>
          <ns17:p xmlns:ns17="http://schemas.openxmlformats.org/drawingml/2006/main">
            <ns17:r>
              <ns17:rPr sz="1200">
                <ns17:latin typeface="Arial"/>
              </ns17:rPr>
              <ns17:t>https://www.amac.org.cn/xwfb/hydt/202601/P020260202337562370809.pdf</ns17:t>
            </ns17:r>
          </ns17:p>
          <ns18:p xmlns:ns18="http://schemas.openxmlformats.org/drawingml/2006/main">
            <ns18:r>
              <ns18:rPr sz="1200">
                <ns18:latin typeface="Arial"/>
              </ns18:rPr>
              <ns18:t>https://www.amac.org.cn/xwfb/hydt/202601/P020260202337849876845.pdf</ns18:t>
            </ns18:r>
          </ns18:p>
          <ns19:p xmlns:ns19="http://schemas.openxmlformats.org/drawingml/2006/main">
            <ns19:r>
              <ns19:rPr sz="1200">
                <ns19:latin typeface="Arial"/>
              </ns19:rPr>
              <ns19:t>https://www.amac.org.cn/xwfb/hydt/202601/P020260202337848496316.pdf</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Evaluation begins with a baseline for research and client-communications tasks. Colleagues use the application and record the outcome. Completion time runs from starting the task to completing its output. Output use records whether teams actually use the analysis and materials. Rework records revision rounds and repeated checks. Repeat usage records whether employees continue to use the application. The team compares those results with the baseline, reviews where the workflow needs improvement and refines it before subsequent use. The baseline comparison establishes the effect on actual employee work.</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Task completion time: Time from starting the task to completing the output</ns4:t>
            </ns4:r>
          </ns4:p>
          <ns5:p xmlns:ns5="http://schemas.openxmlformats.org/drawingml/2006/main">
            <ns5:r>
              <ns5:rPr sz="1200">
                <ns5:latin typeface="Arial"/>
              </ns5:rPr>
              <ns5:t/>
            </ns5:r>
          </ns5:p>
          <ns6:p xmlns:ns6="http://schemas.openxmlformats.org/drawingml/2006/main">
            <ns6:r>
              <ns6:rPr sz="1200">
                <ns6:latin typeface="Arial"/>
              </ns6:rPr>
              <ns6:t>Use of outputs: Whether teams use the analysis and materials</ns6:t>
            </ns6:r>
          </ns6:p>
          <ns7:p xmlns:ns7="http://schemas.openxmlformats.org/drawingml/2006/main">
            <ns7:r>
              <ns7:rPr sz="1200">
                <ns7:latin typeface="Arial"/>
              </ns7:rPr>
              <ns7:t/>
            </ns7:r>
          </ns7:p>
          <ns8:p xmlns:ns8="http://schemas.openxmlformats.org/drawingml/2006/main">
            <ns8:r>
              <ns8:rPr sz="1200">
                <ns8:latin typeface="Arial"/>
              </ns8:rPr>
              <ns8:t>Rework: Revision rounds and repeated checks</ns8:t>
            </ns8:r>
          </ns8:p>
          <ns9:p xmlns:ns9="http://schemas.openxmlformats.org/drawingml/2006/main">
            <ns9:r>
              <ns9:rPr sz="1200">
                <ns9:latin typeface="Arial"/>
              </ns9:rPr>
              <ns9:t/>
            </ns9:r>
          </ns9:p>
          <ns10:p xmlns:ns10="http://schemas.openxmlformats.org/drawingml/2006/main">
            <ns10:r>
              <ns10:rPr sz="1200">
                <ns10:latin typeface="Arial"/>
              </ns10:rPr>
              <ns10:t>Repeat usage: Whether employees continue to use the application</ns10:t>
            </ns10:r>
          </ns10:p>
          <ns11:p xmlns:ns11="http://schemas.openxmlformats.org/drawingml/2006/main">
            <ns11:r>
              <ns11:rPr sz="1200">
                <ns11:latin typeface="Arial"/>
              </ns11:rPr>
              <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Zhong Ou reports using LLMs to populate research templates from source material. Financials and calculations support the operating-performance entry, meeting notes support the business-driver entry, and research reports identify an open question. The illustrative template records a ten-percent increase in sales volume, restocking as the shipment driver, and the question of whether restocking will continue. The analyst checks the entries against their sources and adds an independent assessment. The reported approximately fifty-percent improvement concerns research-preparation efficiency, as reported by Zhong Ou as of May 2026.</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Research preparation efficiency: approximately 50% higher</ns4:t>
            </ns4:r>
          </ns4:p>
          <ns5:p xmlns:ns5="http://schemas.openxmlformats.org/drawingml/2006/main">
            <ns5:r>
              <ns5:rPr sz="1200">
                <ns5:latin typeface="Arial"/>
              </ns5:rPr>
              <ns5:t>Reported by Zhong Ou, as of May 2026</ns5:t>
            </ns5:r>
          </ns5:p>
          <ns6:p xmlns:ns6="http://schemas.openxmlformats.org/drawingml/2006/main">
            <ns6:r>
              <ns6:rPr sz="1200">
                <ns6:latin typeface="Arial"/>
              </ns6:rPr>
              <ns6:t>https://static.nfnews.com/content/202511/27/c11946239.html</ns6:t>
            </ns6:r>
          </ns6:p>
          <ns7:p xmlns:ns7="http://schemas.openxmlformats.org/drawingml/2006/main">
            <ns7:r>
              <ns7:rPr sz="1200">
                <ns7:latin typeface="Arial"/>
              </ns7:rPr>
              <ns7:t>https://mp.weixin.qq.com/s/rgMRw8HbZUhiu9PkUBM7vA</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Tianhong uses LLMs to consolidate recent investment views by portfolio manager or product. Presentations, commentary and reports may contain overlapping explanations. The LLM finds the relevant views, removes duplication and prepares a clear summary for client-facing colleagues. In the recurring Company A example, higher sales volume supported revenue growth and raw-material costs remain a focus. The client-facing team uses the summary with its source basis available for checking. Tianhong also applies the approach to weekly sector views and daily market commentary.</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“Company A’s revenue rose as sales volumes increased.</ns4:t>
            </ns4:r>
          </ns4:p>
          <ns5:p xmlns:ns5="http://schemas.openxmlformats.org/drawingml/2006/main">
            <ns5:r>
              <ns5:rPr sz="1200">
                <ns5:latin typeface="Arial"/>
              </ns5:rPr>
              <ns5:t>We are watching raw-material costs.”</ns5:t>
            </ns5:r>
          </ns5:p>
          <ns6:p xmlns:ns6="http://schemas.openxmlformats.org/drawingml/2006/main">
            <ns6:r>
              <ns6:rPr sz="1200">
                <ns6:latin typeface="Arial"/>
              </ns6:rPr>
              <ns6:t/>
            </ns6:r>
          </ns6:p>
          <ns7:p xmlns:ns7="http://schemas.openxmlformats.org/drawingml/2006/main">
            <ns7:r>
              <ns7:rPr sz="1200">
                <ns7:latin typeface="Arial"/>
              </ns7:rPr>
              <ns7:t>Higher sales volume supported revenue growth.</ns7:t>
            </ns7:r>
          </ns7:p>
          <ns8:p xmlns:ns8="http://schemas.openxmlformats.org/drawingml/2006/main">
            <ns8:r>
              <ns8:rPr sz="1200">
                <ns8:latin typeface="Arial"/>
              </ns8:rPr>
              <ns8:t>Raw-material costs remain a focus.</ns8:t>
            </ns8:r>
          </ns8:p>
          <ns9:p xmlns:ns9="http://schemas.openxmlformats.org/drawingml/2006/main">
            <ns9:r>
              <ns9:rPr sz="1200">
                <ns9:latin typeface="Arial"/>
              </ns9:rPr>
              <ns9:t>https://www.amac.org.cn/xwfb/hydt/202601/P020260202337562370809.pdf</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sz="1200">
                <ns0:latin typeface="Arial"/>
              </ns0:rPr>
              <ns0:t>Suggested spoken explanation</ns0:t>
            </ns0:r>
          </ns0:p>
          <ns1:p xmlns:ns1="http://schemas.openxmlformats.org/drawingml/2006/main">
            <ns1:r>
              <ns1:rPr sz="1200">
                <ns1:latin typeface="Arial"/>
              </ns1:rPr>
              <ns1:t>Additional back-office uses combine language work with sources and execution tools. China Merchants Fund and Ping An Fund use LLMs to retrieve and explain guidance for employee policy and process questions. Maxwealth Fund's email-security use considers email content, attachments and links; the LLM assesses context and intent and invokes detection tools. In a China Universal patent proposal, the LLM interprets a business-analytics request, algorithms quantify contributions to the selected metric and the LLM drafts the analytical summary. The requested fund, period and metric remain the starting point, and quantitative computation belongs to the algorithms.</ns1:t>
            </ns1:r>
          </ns1:p>
          <ns2:p xmlns:ns2="http://schemas.openxmlformats.org/drawingml/2006/main">
            <ns2:r>
              <ns2:rPr sz="1200">
                <ns2:latin typeface="Arial"/>
              </ns2:rPr>
              <ns2:t/>
            </ns2:r>
          </ns2:p>
          <ns3:p xmlns:ns3="http://schemas.openxmlformats.org/drawingml/2006/main">
            <ns3:r>
              <ns3:rPr sz="1200">
                <ns3:latin typeface="Arial"/>
              </ns3:rPr>
              <ns3:t>Sources and supporting material</ns3:t>
            </ns3:r>
          </ns3:p>
          <ns4:p xmlns:ns4="http://schemas.openxmlformats.org/drawingml/2006/main">
            <ns4:r>
              <ns4:rPr sz="1200">
                <ns4:latin typeface="Arial"/>
              </ns4:rPr>
              <ns4:t>Method proposed in a China Universal patent</ns4:t>
            </ns4:r>
          </ns4:p>
          <ns5:p xmlns:ns5="http://schemas.openxmlformats.org/drawingml/2006/main">
            <ns5:r>
              <ns5:rPr sz="1200">
                <ns5:latin typeface="Arial"/>
              </ns5:rPr>
              <ns5:t>https://fund.10jqka.com.cn/20251111/c672391490.shtml</ns5:t>
            </ns5:r>
          </ns5:p>
          <ns6:p xmlns:ns6="http://schemas.openxmlformats.org/drawingml/2006/main">
            <ns6:r>
              <ns6:rPr sz="1200">
                <ns6:latin typeface="Arial"/>
              </ns6:rPr>
              <ns6:t>https://www.cs.com.cn/ssgs/gsxl/202602/t20260206_6537131.html</ns6:t>
            </ns6:r>
          </ns6:p>
          <ns7:p xmlns:ns7="http://schemas.openxmlformats.org/drawingml/2006/main">
            <ns7:r>
              <ns7:rPr sz="1200">
                <ns7:latin typeface="Arial"/>
              </ns7:rPr>
              <ns7:t>https://www.amac.org.cn/xwfb/hydt/202607/P020260701319545695145.pdf</ns7:t>
            </ns7:r>
          </ns7:p>
          <ns8:p xmlns:ns8="http://schemas.openxmlformats.org/drawingml/2006/main">
            <ns8:r>
              <ns8:rPr sz="1200">
                <ns8:latin typeface="Arial"/>
              </ns8:rPr>
              <ns8:t>https://patents.google.com/patent/CN121958380A/zh</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cac25ae99f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4dc7a655ad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daa079051242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3dc999c68645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4aa2ea94bf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15d265b63148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89FD1-237E-4FFB-9EDC-E99B7E6302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2F6503-E025-46AB-BFDE-DC6F30F8A82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ADE691-D2D0-4FD3-B05C-EB229AD3808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C735F-302C-4064-B236-46E3F9B7557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16C8DD-22A9-489C-89E9-1820486920E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200D55-E0D9-47D5-97BF-798F2EA1505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43AEA6-B25A-4B46-84AC-722E354ED8F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4DCACC-44BB-4C20-8BB2-5D1993701440}"/>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87A7E-8B85-4D8C-A05C-64DD0F6A7B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72F7AB-EA61-4AF7-9DD5-24531A56195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1c6559d5654898" /><Relationship Type="http://schemas.openxmlformats.org/officeDocument/2006/relationships/slideLayout" Target="/ppt/slideLayouts/slideLayout1.xml" Id="R953961fca10546e6" /><Relationship Type="http://schemas.openxmlformats.org/officeDocument/2006/relationships/slideLayout" Target="/ppt/slideLayouts/slideLayout2.xml" Id="R86afab1696fe495a" /><Relationship Type="http://schemas.openxmlformats.org/officeDocument/2006/relationships/slideLayout" Target="/ppt/slideLayouts/slideLayout3.xml" Id="R07ddffa513f54013" /><Relationship Type="http://schemas.openxmlformats.org/officeDocument/2006/relationships/slideLayout" Target="/ppt/slideLayouts/slideLayout4.xml" Id="Ra2f48ef40dbf4d5d" /><Relationship Type="http://schemas.openxmlformats.org/officeDocument/2006/relationships/slideLayout" Target="/ppt/slideLayouts/slideLayout5.xml" Id="R57414f87ec0143b9" /><Relationship Type="http://schemas.openxmlformats.org/officeDocument/2006/relationships/slideLayout" Target="/ppt/slideLayouts/slideLayout6.xml" Id="Ra7ef067c64e34b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961fca10546e6"/>
    <p:sldLayoutId xmlns:r="http://schemas.openxmlformats.org/officeDocument/2006/relationships" id="2147483650" r:id="R86afab1696fe495a"/>
    <p:sldLayoutId xmlns:r="http://schemas.openxmlformats.org/officeDocument/2006/relationships" id="2147483651" r:id="R07ddffa513f54013"/>
    <p:sldLayoutId xmlns:r="http://schemas.openxmlformats.org/officeDocument/2006/relationships" id="2147483652" r:id="Ra2f48ef40dbf4d5d"/>
    <p:sldLayoutId xmlns:r="http://schemas.openxmlformats.org/officeDocument/2006/relationships" id="2147483653" r:id="R57414f87ec0143b9"/>
    <p:sldLayoutId xmlns:r="http://schemas.openxmlformats.org/officeDocument/2006/relationships" id="2147483654" r:id="Ra7ef067c64e34b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PingFang SC"/>
        <a:ea typeface=""/>
        <a:cs typeface=""/>
      </a:majorFont>
      <a:minorFont>
        <a:latin typeface="PingFang SC"/>
        <a:ea typeface=""/>
        <a:cs typeface=""/>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9c1de7e97624269"/><Relationship Type="http://schemas.openxmlformats.org/officeDocument/2006/relationships/image" Target="/ppt/media/image.png" Id="R433e7dc3e29946a7"/><Relationship Type="http://schemas.openxmlformats.org/officeDocument/2006/relationships/notesSlide" Target="../notesSlides/notesSlide1.xml" Id="R9ac16d97ce854a9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387bd5c0f9d74658"/><Relationship Type="http://schemas.openxmlformats.org/officeDocument/2006/relationships/notesSlide" Target="../notesSlides/notesSlide2.xml" Id="Rd0077cd79ca64c3a"/></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ded56dda69a4f0e"/><Relationship Type="http://schemas.openxmlformats.org/officeDocument/2006/relationships/notesSlide" Target="../notesSlides/notesSlide3.xml" Id="Rcce2cef2f943400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c0573b4ab1774470"/><Relationship Type="http://schemas.openxmlformats.org/officeDocument/2006/relationships/notesSlide" Target="../notesSlides/notesSlide4.xml" Id="R8ac2a7c4baef477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b41253688bc548cb"/><Relationship Type="http://schemas.openxmlformats.org/officeDocument/2006/relationships/notesSlide" Target="../notesSlides/notesSlide5.xml" Id="R5dd1d781eed7404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440c3e595044d09"/><Relationship Type="http://schemas.openxmlformats.org/officeDocument/2006/relationships/notesSlide" Target="../notesSlides/notesSlide6.xml" Id="R4d39fe890d4044b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2f437773af4469d"/><Relationship Type="http://schemas.openxmlformats.org/officeDocument/2006/relationships/notesSlide" Target="../notesSlides/notesSlide7.xml" Id="R224d7db8d8824f1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682d9ed0f1d0485f"/><Relationship Type="http://schemas.openxmlformats.org/officeDocument/2006/relationships/notesSlide" Target="../notesSlides/notesSlide8.xml" Id="Rb7ed4b85560b4dd0"/></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926eda7c631d4f89"/><Relationship Type="http://schemas.openxmlformats.org/officeDocument/2006/relationships/notesSlide" Target="../notesSlides/notesSlide9.xml" Id="Re70d6e70f15a4cc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5b3d2eb64faa47a2"/><Relationship Type="http://schemas.openxmlformats.org/officeDocument/2006/relationships/notesSlide" Target="../notesSlides/notesSlide10.xml" Id="R5930b64dce294e5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c45548881724d3e"/><Relationship Type="http://schemas.openxmlformats.org/officeDocument/2006/relationships/notesSlide" Target="../notesSlides/notesSlide11.xml" Id="Raa3242d8ae77458c"/></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a58b97c0247453a"/><Relationship Type="http://schemas.openxmlformats.org/officeDocument/2006/relationships/notesSlide" Target="../notesSlides/notesSlide12.xml" Id="R193f4190a03b4ea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8af1aa415e5845d9"/><Relationship Type="http://schemas.openxmlformats.org/officeDocument/2006/relationships/notesSlide" Target="../notesSlides/notesSlide13.xml" Id="R2d852cee189f48f6"/></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4001eb2a99e043ac"/><Relationship Type="http://schemas.openxmlformats.org/officeDocument/2006/relationships/notesSlide" Target="../notesSlides/notesSlide14.xml" Id="R1e9a460c87d84953"/></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dfb302cf9a6740dd"/><Relationship Type="http://schemas.openxmlformats.org/officeDocument/2006/relationships/notesSlide" Target="../notesSlides/notesSlide15.xml" Id="R0d71924c13174774"/></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01cf227bda824230"/><Relationship Type="http://schemas.openxmlformats.org/officeDocument/2006/relationships/notesSlide" Target="../notesSlides/notesSlide16.xml" Id="R0e0878aa8ed24f8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bcf5ad67c65e41df"/><Relationship Type="http://schemas.openxmlformats.org/officeDocument/2006/relationships/notesSlide" Target="../notesSlides/notesSlide17.xml" Id="R1374e923b0134a8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c7053a3a4244ae4"/><Relationship Type="http://schemas.openxmlformats.org/officeDocument/2006/relationships/notesSlide" Target="../notesSlides/notesSlide18.xml" Id="R4a511323866148b4"/></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a4e7edce701e4b1f"/><Relationship Type="http://schemas.openxmlformats.org/officeDocument/2006/relationships/notesSlide" Target="../notesSlides/notesSlide19.xml" Id="Rb35669d9efaa4f29"/></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3bc6aff22cd640f4"/><Relationship Type="http://schemas.openxmlformats.org/officeDocument/2006/relationships/notesSlide" Target="../notesSlides/notesSlide20.xml" Id="Rb7ee1265b5cf464a"/></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722816a6ad0a441e"/><Relationship Type="http://schemas.openxmlformats.org/officeDocument/2006/relationships/notesSlide" Target="../notesSlides/notesSlide21.xml" Id="R6ea6b6b85ed34a9b"/></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f0f53c1959db46e2"/><Relationship Type="http://schemas.openxmlformats.org/officeDocument/2006/relationships/notesSlide" Target="../notesSlides/notesSlide22.xml" Id="R888b1c60126140c2"/></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679df8258edd4ea0"/><Relationship Type="http://schemas.openxmlformats.org/officeDocument/2006/relationships/notesSlide" Target="../notesSlides/notesSlide23.xml" Id="R7fb49fbaa191454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a92c8c5714a14f5d"/><Relationship Type="http://schemas.openxmlformats.org/officeDocument/2006/relationships/notesSlide" Target="../notesSlides/notesSlide24.xml" Id="R71d82c28da8b4fe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a6911a07832a4a4d"/><Relationship Type="http://schemas.openxmlformats.org/officeDocument/2006/relationships/notesSlide" Target="../notesSlides/notesSlide25.xml" Id="R2415b65a7d5e495e"/></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232ae45926b34951"/><Relationship Type="http://schemas.openxmlformats.org/officeDocument/2006/relationships/notesSlide" Target="../notesSlides/notesSlide26.xml" Id="Rb90c125dd68c44e8"/></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a4afa09e8a4947ba"/><Relationship Type="http://schemas.openxmlformats.org/officeDocument/2006/relationships/notesSlide" Target="../notesSlides/notesSlide27.xml" Id="R25f1c7c8428d4b80"/></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7692f7d257045b7"/><Relationship Type="http://schemas.openxmlformats.org/officeDocument/2006/relationships/notesSlide" Target="../notesSlides/notesSlide28.xml" Id="R3501c9cbe3c5479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LLMs in Asset Management</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Industry Examples and Proposed Applications</ns13:t>
            </ns13:r>
          </ns13:p>
        </p:txBody>
      </p:sp>
      <p:pic>
        <p:nvPicPr>
          <p:cNvPr id="4" name="cover.business.scene">
            <a:extLst xmlns:a="http://schemas.openxmlformats.org/drawingml/2006/main">
              <a:ext uri="{FF2B5EF4-FFF2-40B4-BE49-F238E27FC236}">
                <a16:creationId xmlns:a16="http://schemas.microsoft.com/office/drawing/2014/main" id="{A178AB92-7B58-49B1-A775-E8357255FAAC}"/>
              </a:ext>
            </a:extLst>
          </p:cNvPr>
          <p:cNvPicPr>
            <a:picLocks xmlns:a="http://schemas.openxmlformats.org/drawingml/2006/main" noChangeAspect="1"/>
          </p:cNvPicPr>
          <p:nvPr/>
        </p:nvPicPr>
        <p:blipFill>
          <a:blip xmlns:r="http://schemas.openxmlformats.org/officeDocument/2006/relationships" xmlns:a="http://schemas.openxmlformats.org/drawingml/2006/main" r:embed="R433e7dc3e29946a7"/>
          <a:stretch xmlns:a="http://schemas.openxmlformats.org/drawingml/2006/main">
            <a:fillRect l="0" t="0" r="0" b="0"/>
          </a:stretch>
        </p:blipFill>
        <p:spPr>
          <a:xfrm xmlns:a="http://schemas.openxmlformats.org/drawingml/2006/main">
            <a:off x="4572000" y="1476000"/>
            <a:ext cx="4114800" cy="2743200"/>
          </a:xfrm>
          <a:prstGeom xmlns:a="http://schemas.openxmlformats.org/drawingml/2006/main" prst="rect">
            <a:avLst/>
          </a:prstGeom>
        </p:spPr>
      </p:pic>
      <p:sp>
        <p:nvSpPr>
          <p:cNvPr id="5" name="cover.scope"/>
          <p:cNvSpPr/>
          <p:nvPr/>
        </p:nvSpPr>
        <p:spPr>
          <ns14:xfrm xmlns:ns14="http://schemas.openxmlformats.org/drawingml/2006/main">
            <ns14:off x="457200" y="1602000"/>
            <ns14:ext cx="3744000" cy="288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600" b="0">
                <ns20:solidFill>
                  <ns20:srgbClr val="005A9C"/>
                </ns20:solidFill>
                <ns20:latin typeface="Arial"/>
                <ns20:ea typeface="Arial"/>
                <ns20:cs typeface="Arial"/>
              </ns20:defRPr>
            </ns20:pPr>
            <ns20:r>
              <ns20:rPr sz="1600" b="0">
                <ns20:solidFill>
                  <ns20:srgbClr val="005A9C"/>
                </ns20:solidFill>
                <ns20:latin typeface="Arial"/>
                <ns20:ea typeface="Arial"/>
                <ns20:cs typeface="Arial"/>
              </ns20:rPr>
              <ns20:t>Mainland asset management</ns20:t>
            </ns20:r>
          </ns20:p>
        </p:txBody>
      </p:sp>
      <p:sp>
        <p:nvSpPr>
          <p:cNvPr id="6" name="cover.date"/>
          <p:cNvSpPr/>
          <p:nvPr/>
        </p:nvSpPr>
        <p:spPr>
          <ns21:xfrm xmlns:ns21="http://schemas.openxmlformats.org/drawingml/2006/main">
            <ns21:off x="457200" y="3888000"/>
            <ns21:ext cx="3744000" cy="216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300" b="0">
                <ns27:solidFill>
                  <ns27:srgbClr val="65727D"/>
                </ns27:solidFill>
                <ns27:latin typeface="Arial"/>
                <ns27:ea typeface="Arial"/>
                <ns27:cs typeface="Arial"/>
              </ns27:defRPr>
            </ns27:pPr>
            <ns27:r>
              <ns27:rPr sz="1300" b="0">
                <ns27:solidFill>
                  <ns27:srgbClr val="65727D"/>
                </ns27:solidFill>
                <ns27:latin typeface="Arial"/>
                <ns27:ea typeface="Arial"/>
                <ns27:cs typeface="Arial"/>
              </ns27:rPr>
              <ns27:t>October 2026</ns27:t>
            </ns27:r>
          </ns27:p>
        </p:txBody>
      </p:sp>
    </p:spTree>
    <p:extLst>
      <p:ext uri="{BB962C8B-B14F-4D97-AF65-F5344CB8AC3E}">
        <p14:creationId xmlns:p14="http://schemas.microsoft.com/office/powerpoint/2010/main" val="15433753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Scope of Proposed LLM Applications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Employee Tasks and Business Outputs</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7"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8"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9"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communications</ns56:t>
            </ns56:r>
          </ns56:p>
        </p:txBody>
      </p:sp>
      <p:sp>
        <p:nvSpPr>
          <p:cNvPr id="12"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3"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4" name="map.task.focus.risk"/>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5" name="map.task.risk"/>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Risk analysis</ns77:t>
            </ns77:r>
          </ns77:p>
        </p:txBody>
      </p:sp>
      <p:sp>
        <p:nvSpPr>
          <p:cNvPr id="16" name="map.office.2"/>
          <p:cNvSpPr/>
          <p:nvPr/>
        </p:nvSpPr>
        <p:spPr>
          <ns78:xfrm xmlns:ns78="http://schemas.openxmlformats.org/drawingml/2006/main">
            <ns78:off x="486000" y="3391200"/>
            <ns78:ext cx="1692000" cy="1800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5000"/>
              </ns84:lnSpc>
              <ns84:defRPr sz="1100" b="1">
                <ns84:solidFill>
                  <ns84:srgbClr val="005A9C"/>
                </ns84:solidFill>
                <ns84:latin typeface="Arial"/>
                <ns84:ea typeface="Arial"/>
                <ns84:cs typeface="Arial"/>
              </ns84:defRPr>
            </ns84:pPr>
            <ns84:r>
              <ns84:rPr sz="1100" b="1">
                <ns84:solidFill>
                  <ns84:srgbClr val="005A9C"/>
                </ns84:solidFill>
                <ns84:latin typeface="Arial"/>
                <ns84:ea typeface="Arial"/>
                <ns84:cs typeface="Arial"/>
              </ns84:rPr>
              <ns84:t>Back office</ns84:t>
            </ns84:r>
          </ns84:p>
        </p:txBody>
      </p:sp>
      <p:cxnSp>
        <p:nvCxnSpPr>
          <p:cNvPr id="17" name="map.office.rule.2"/>
          <p:cNvCxnSpPr/>
          <p:nvPr/>
        </p:nvCxnSpPr>
        <p:spPr>
          <ns85:xfrm xmlns:ns85="http://schemas.openxmlformats.org/drawingml/2006/main">
            <ns85:off x="457200" y="3610800"/>
            <ns85:ext cx="1742400" cy="1"/>
          </ns85:xfrm>
          <ns86:prstGeom xmlns:ns86="http://schemas.openxmlformats.org/drawingml/2006/main" prst="line">
            <ns86:avLst/>
          </ns86:prstGeom>
          <ns87:ln xmlns:ns87="http://schemas.openxmlformats.org/drawingml/2006/main" w="7620">
            <ns87:solidFill>
              <ns87:srgbClr val="005A9C"/>
            </ns87:solidFill>
          </ns87:ln>
        </p:spPr>
      </p:cxnSp>
      <p:sp>
        <p:nvSpPr>
          <p:cNvPr id="18" name="map.task.focus.records"/>
          <p:cNvSpPr/>
          <p:nvPr/>
        </p:nvSpPr>
        <p:spPr>
          <ns88:xfrm xmlns:ns88="http://schemas.openxmlformats.org/drawingml/2006/main">
            <ns88:off x="486000" y="3686400"/>
            <ns88:ext cx="1677600" cy="176400"/>
          </ns88:xfrm>
          <ns89:prstGeom xmlns:ns89="http://schemas.openxmlformats.org/drawingml/2006/main" prst="rect">
            <ns89:avLst/>
          </ns89:prstGeom>
          <ns90:solidFill xmlns:ns90="http://schemas.openxmlformats.org/drawingml/2006/main">
            <ns90:srgbClr val="D9EAF7"/>
          </ns90:solidFill>
          <ns91:ln xmlns:ns91="http://schemas.openxmlformats.org/drawingml/2006/main" w="0">
            <ns91:noFill/>
          </ns91:ln>
        </p:spPr>
      </p:sp>
      <p:sp>
        <p:nvSpPr>
          <p:cNvPr id="19" name="map.task.records"/>
          <p:cNvSpPr/>
          <p:nvPr/>
        </p:nvSpPr>
        <p:spPr>
          <ns92:xfrm xmlns:ns92="http://schemas.openxmlformats.org/drawingml/2006/main">
            <ns92:off x="554400" y="3690000"/>
            <ns92:ext cx="1562400" cy="165600"/>
          </ns92:xfrm>
          <ns93:prstGeom xmlns:ns93="http://schemas.openxmlformats.org/drawingml/2006/main" prst="rect">
            <ns93:avLst/>
          </ns93:prstGeom>
          <ns94:noFill xmlns:ns94="http://schemas.openxmlformats.org/drawingml/2006/main"/>
          <ns95:ln xmlns:ns95="http://schemas.openxmlformats.org/drawingml/2006/main" w="0">
            <ns95:noFill/>
          </ns95:ln>
        </p:spPr>
        <p:txBody>
          <ns96:bodyPr xmlns:ns96="http://schemas.openxmlformats.org/drawingml/2006/main" wrap="square" lIns="0" rIns="0" tIns="0" bIns="0" anchor="t">
            <ns96:noAutofit/>
          </ns96:bodyPr>
          <ns97:lstStyle xmlns:ns97="http://schemas.openxmlformats.org/drawingml/2006/main"/>
          <ns98:p xmlns:ns98="http://schemas.openxmlformats.org/drawingml/2006/main">
            <ns98:pPr algn="l">
              <ns98:lnSpc>
                <ns98:spcPct val="105000"/>
              </ns98:lnSpc>
              <ns98:defRPr sz="1050" b="1">
                <ns98:solidFill>
                  <ns98:srgbClr val="005A9C"/>
                </ns98:solidFill>
                <ns98:latin typeface="Arial"/>
                <ns98:ea typeface="Arial"/>
                <ns98:cs typeface="Arial"/>
              </ns98:defRPr>
            </ns98:pPr>
            <ns98:r>
              <ns98:rPr sz="1050" b="1">
                <ns98:solidFill>
                  <ns98:srgbClr val="005A9C"/>
                </ns98:solidFill>
                <ns98:latin typeface="Arial"/>
                <ns98:ea typeface="Arial"/>
                <ns98:cs typeface="Arial"/>
              </ns98:rPr>
              <ns98:t>Record entry</ns98:t>
            </ns98:r>
          </ns98:p>
        </p:txBody>
      </p:sp>
      <p:sp>
        <p:nvSpPr>
          <p:cNvPr id="20" name="map.task.focus.dev"/>
          <p:cNvSpPr/>
          <p:nvPr/>
        </p:nvSpPr>
        <p:spPr>
          <ns99:xfrm xmlns:ns99="http://schemas.openxmlformats.org/drawingml/2006/main">
            <ns99:off x="486000" y="3884400"/>
            <ns99:ext cx="1677600" cy="176400"/>
          </ns99:xfrm>
          <ns100:prstGeom xmlns:ns100="http://schemas.openxmlformats.org/drawingml/2006/main" prst="rect">
            <ns100:avLst/>
          </ns100:prstGeom>
          <ns101:solidFill xmlns:ns101="http://schemas.openxmlformats.org/drawingml/2006/main">
            <ns101:srgbClr val="D9EAF7"/>
          </ns101:solidFill>
          <ns102:ln xmlns:ns102="http://schemas.openxmlformats.org/drawingml/2006/main" w="0">
            <ns102:noFill/>
          </ns102:ln>
        </p:spPr>
      </p:sp>
      <p:sp>
        <p:nvSpPr>
          <p:cNvPr id="21" name="map.task.dev"/>
          <p:cNvSpPr/>
          <p:nvPr/>
        </p:nvSpPr>
        <p:spPr>
          <ns103:xfrm xmlns:ns103="http://schemas.openxmlformats.org/drawingml/2006/main">
            <ns103:off x="554400" y="3888000"/>
            <ns103:ext cx="1562400" cy="1656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5000"/>
              </ns109:lnSpc>
              <ns109:defRPr sz="1050" b="1">
                <ns109:solidFill>
                  <ns109:srgbClr val="005A9C"/>
                </ns109:solidFill>
                <ns109:latin typeface="Arial"/>
                <ns109:ea typeface="Arial"/>
                <ns109:cs typeface="Arial"/>
              </ns109:defRPr>
            </ns109:pPr>
            <ns109:r>
              <ns109:rPr sz="1050" b="1">
                <ns109:solidFill>
                  <ns109:srgbClr val="005A9C"/>
                </ns109:solidFill>
                <ns109:latin typeface="Arial"/>
                <ns109:ea typeface="Arial"/>
                <ns109:cs typeface="Arial"/>
              </ns109:rPr>
              <ns109:t>Tool development</ns109:t>
            </ns109:r>
          </ns109:p>
        </p:txBody>
      </p:sp>
      <p:sp>
        <p:nvSpPr>
          <p:cNvPr id="22" name="input.family.0"/>
          <p:cNvSpPr/>
          <p:nvPr/>
        </p:nvSpPr>
        <p:spPr>
          <ns128:xfrm xmlns:ns128="http://schemas.openxmlformats.org/drawingml/2006/main">
            <ns128:off x="2422800" y="1548000"/>
            <ns128:ext cx="1620000" cy="450000"/>
          </ns128:xfrm>
          <ns129:prstGeom xmlns:ns129="http://schemas.openxmlformats.org/drawingml/2006/main" prst="rect">
            <ns129:avLst/>
          </ns129:prstGeom>
          <ns130:solidFill xmlns:ns130="http://schemas.openxmlformats.org/drawingml/2006/main">
            <ns130:srgbClr val="F3F7FA"/>
          </ns130:solidFill>
          <ns131:ln xmlns:ns131="http://schemas.openxmlformats.org/drawingml/2006/main" w="9525">
            <ns131:solidFill>
              <ns131:srgbClr val="65727D"/>
            </ns131:solidFill>
          </ns131:ln>
        </p:spPr>
        <p:txBody>
          <ns132:bodyPr xmlns:ns132="http://schemas.openxmlformats.org/drawingml/2006/main" wrap="square" lIns="61200" rIns="61200" tIns="61200" bIns="61200" anchor="ctr">
            <ns132:noAutofit/>
          </ns132:bodyPr>
          <ns133:lstStyle xmlns:ns133="http://schemas.openxmlformats.org/drawingml/2006/main"/>
          <ns134:p xmlns:ns134="http://schemas.openxmlformats.org/drawingml/2006/main">
            <ns134:pPr algn="l">
              <ns134:lnSpc>
                <ns134:spcPct val="105000"/>
              </ns134:lnSpc>
              <ns134:defRPr sz="1300" b="1">
                <ns134:solidFill>
                  <ns134:srgbClr val="65727D"/>
                </ns134:solidFill>
                <ns134:latin typeface="Arial"/>
                <ns134:ea typeface="Arial"/>
                <ns134:cs typeface="Arial"/>
              </ns134:defRPr>
            </ns134:pPr>
            <ns134:r>
              <ns134:rPr sz="1300" b="1">
                <ns134:solidFill>
                  <ns134:srgbClr val="65727D"/>
                </ns134:solidFill>
                <ns134:latin typeface="Arial"/>
                <ns134:ea typeface="Arial"/>
                <ns134:cs typeface="Arial"/>
              </ns134:rPr>
              <ns134:t>Documents</ns134:t>
            </ns134:r>
          </ns134:p>
        </p:txBody>
      </p:sp>
      <p:sp>
        <p:nvSpPr>
          <p:cNvPr id="23" name="input.family.1"/>
          <p:cNvSpPr/>
          <p:nvPr/>
        </p:nvSpPr>
        <p:spPr>
          <ns135:xfrm xmlns:ns135="http://schemas.openxmlformats.org/drawingml/2006/main">
            <ns135:off x="2422800" y="2214000"/>
            <ns135:ext cx="1620000" cy="450000"/>
          </ns135:xfrm>
          <ns136:prstGeom xmlns:ns136="http://schemas.openxmlformats.org/drawingml/2006/main" prst="rect">
            <ns136:avLst/>
          </ns136:prstGeom>
          <ns137:solidFill xmlns:ns137="http://schemas.openxmlformats.org/drawingml/2006/main">
            <ns137:srgbClr val="F3F7FA"/>
          </ns137:solidFill>
          <ns138:ln xmlns:ns138="http://schemas.openxmlformats.org/drawingml/2006/main" w="9525">
            <ns138:solidFill>
              <ns138:srgbClr val="65727D"/>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65727D"/>
                </ns141:solidFill>
                <ns141:latin typeface="Arial"/>
                <ns141:ea typeface="Arial"/>
                <ns141:cs typeface="Arial"/>
              </ns141:defRPr>
            </ns141:pPr>
            <ns141:r>
              <ns141:rPr sz="1300" b="1">
                <ns141:solidFill>
                  <ns141:srgbClr val="65727D"/>
                </ns141:solidFill>
                <ns141:latin typeface="Arial"/>
                <ns141:ea typeface="Arial"/>
                <ns141:cs typeface="Arial"/>
              </ns141:rPr>
              <ns141:t>Data</ns141:t>
            </ns141:r>
          </ns141:p>
        </p:txBody>
      </p:sp>
      <p:sp>
        <p:nvSpPr>
          <p:cNvPr id="24" name="input.family.2"/>
          <p:cNvSpPr/>
          <p:nvPr/>
        </p:nvSpPr>
        <p:spPr>
          <ns142:xfrm xmlns:ns142="http://schemas.openxmlformats.org/drawingml/2006/main">
            <ns142:off x="2422800" y="2880000"/>
            <ns142:ext cx="1620000" cy="450000"/>
          </ns142:xfrm>
          <ns143:prstGeom xmlns:ns143="http://schemas.openxmlformats.org/drawingml/2006/main" prst="rect">
            <ns143:avLst/>
          </ns143:prstGeom>
          <ns144:solidFill xmlns:ns144="http://schemas.openxmlformats.org/drawingml/2006/main">
            <ns144:srgbClr val="F3F7FA"/>
          </ns144:solidFill>
          <ns145:ln xmlns:ns145="http://schemas.openxmlformats.org/drawingml/2006/main" w="9525">
            <ns145:solidFill>
              <ns145:srgbClr val="65727D"/>
            </ns145:solidFill>
          </ns145:ln>
        </p:spPr>
        <p:txBody>
          <ns146:bodyPr xmlns:ns146="http://schemas.openxmlformats.org/drawingml/2006/main" wrap="square" lIns="61200" rIns="61200" tIns="61200" bIns="61200" anchor="ctr">
            <ns146:noAutofit/>
          </ns146:bodyPr>
          <ns147:lstStyle xmlns:ns147="http://schemas.openxmlformats.org/drawingml/2006/main"/>
          <ns148:p xmlns:ns148="http://schemas.openxmlformats.org/drawingml/2006/main">
            <ns148:pPr algn="l">
              <ns148:lnSpc>
                <ns148:spcPct val="105000"/>
              </ns148:lnSpc>
              <ns148:defRPr sz="1300" b="1">
                <ns148:solidFill>
                  <ns148:srgbClr val="65727D"/>
                </ns148:solidFill>
                <ns148:latin typeface="Arial"/>
                <ns148:ea typeface="Arial"/>
                <ns148:cs typeface="Arial"/>
              </ns148:defRPr>
            </ns148:pPr>
            <ns148:r>
              <ns148:rPr sz="1300" b="1">
                <ns148:solidFill>
                  <ns148:srgbClr val="65727D"/>
                </ns148:solidFill>
                <ns148:latin typeface="Arial"/>
                <ns148:ea typeface="Arial"/>
                <ns148:cs typeface="Arial"/>
              </ns148:rPr>
              <ns148:t>Messages</ns148:t>
            </ns148:r>
          </ns148:p>
        </p:txBody>
      </p:sp>
      <p:sp>
        <p:nvSpPr>
          <p:cNvPr id="25" name="input.family.3"/>
          <p:cNvSpPr/>
          <p:nvPr/>
        </p:nvSpPr>
        <p:spPr>
          <ns149:xfrm xmlns:ns149="http://schemas.openxmlformats.org/drawingml/2006/main">
            <ns149:off x="2422800" y="3546000"/>
            <ns149:ext cx="1620000" cy="450000"/>
          </ns149:xfrm>
          <ns150:prstGeom xmlns:ns150="http://schemas.openxmlformats.org/drawingml/2006/main" prst="rect">
            <ns150:avLst/>
          </ns150:prstGeom>
          <ns151:solidFill xmlns:ns151="http://schemas.openxmlformats.org/drawingml/2006/main">
            <ns151:srgbClr val="F3F7FA"/>
          </ns151:solidFill>
          <ns152:ln xmlns:ns152="http://schemas.openxmlformats.org/drawingml/2006/main" w="9525">
            <ns152:solidFill>
              <ns152:srgbClr val="65727D"/>
            </ns152:solidFill>
          </ns152:ln>
        </p:spPr>
        <p:txBody>
          <ns153:bodyPr xmlns:ns153="http://schemas.openxmlformats.org/drawingml/2006/main" wrap="square" lIns="61200" rIns="61200" tIns="61200" bIns="61200" anchor="ctr">
            <ns153:noAutofit/>
          </ns153:bodyPr>
          <ns154:lstStyle xmlns:ns154="http://schemas.openxmlformats.org/drawingml/2006/main"/>
          <ns155:p xmlns:ns155="http://schemas.openxmlformats.org/drawingml/2006/main">
            <ns155:pPr algn="l">
              <ns155:lnSpc>
                <ns155:spcPct val="105000"/>
              </ns155:lnSpc>
              <ns155:defRPr sz="1300" b="1">
                <ns155:solidFill>
                  <ns155:srgbClr val="65727D"/>
                </ns155:solidFill>
                <ns155:latin typeface="Arial"/>
                <ns155:ea typeface="Arial"/>
                <ns155:cs typeface="Arial"/>
              </ns155:defRPr>
            </ns155:pPr>
            <ns155:r>
              <ns155:rPr sz="1300" b="1">
                <ns155:solidFill>
                  <ns155:srgbClr val="65727D"/>
                </ns155:solidFill>
                <ns155:latin typeface="Arial"/>
                <ns155:ea typeface="Arial"/>
                <ns155:cs typeface="Arial"/>
              </ns155:rPr>
              <ns155:t>Business requests</ns155:t>
            </ns155:r>
          </ns155:p>
        </p:txBody>
      </p:sp>
      <p:sp>
        <p:nvSpPr>
          <p:cNvPr id="26" name="actor.llm"/>
          <p:cNvSpPr/>
          <p:nvPr/>
        </p:nvSpPr>
        <p:spPr>
          <ns156:xfrm xmlns:ns156="http://schemas.openxmlformats.org/drawingml/2006/main">
            <ns156:off x="4392000" y="2034000"/>
            <ns156:ext cx="1458000" cy="846000"/>
          </ns156:xfrm>
          <ns157:prstGeom xmlns:ns157="http://schemas.openxmlformats.org/drawingml/2006/main" prst="roundRect">
            <ns157:avLst/>
          </ns157:prstGeom>
          <ns158:solidFill xmlns:ns158="http://schemas.openxmlformats.org/drawingml/2006/main">
            <ns158:srgbClr val="EAF3FA"/>
          </ns158:solidFill>
          <ns159:ln xmlns:ns159="http://schemas.openxmlformats.org/drawingml/2006/main" w="9525">
            <ns159:solidFill>
              <ns159:srgbClr val="005A9C"/>
            </ns159:solidFill>
          </ns159:ln>
        </p:spPr>
        <p:txBody>
          <ns160:bodyPr xmlns:ns160="http://schemas.openxmlformats.org/drawingml/2006/main" wrap="square" lIns="61200" rIns="61200" tIns="61200" bIns="61200" anchor="ctr">
            <ns160:noAutofit/>
          </ns160:bodyPr>
          <ns161:lstStyle xmlns:ns161="http://schemas.openxmlformats.org/drawingml/2006/main"/>
          <ns162:p xmlns:ns162="http://schemas.openxmlformats.org/drawingml/2006/main">
            <ns162:pPr algn="l">
              <ns162:lnSpc>
                <ns162:spcPct val="105000"/>
              </ns162:lnSpc>
              <ns162:defRPr sz="1300" b="1">
                <ns162:solidFill>
                  <ns162:srgbClr val="005A9C"/>
                </ns162:solidFill>
                <ns162:latin typeface="Arial"/>
                <ns162:ea typeface="Arial"/>
                <ns162:cs typeface="Arial"/>
              </ns162:defRPr>
            </ns162:pPr>
            <ns162:r>
              <ns162:rPr sz="1300" b="1">
                <ns162:solidFill>
                  <ns162:srgbClr val="005A9C"/>
                </ns162:solidFill>
                <ns162:latin typeface="Arial"/>
                <ns162:ea typeface="Arial"/>
                <ns162:cs typeface="Arial"/>
              </ns162:rPr>
              <ns162:t>LLM</ns162:t>
            </ns162:r>
          </ns162:p>
          <ns163:p xmlns:ns163="http://schemas.openxmlformats.org/drawingml/2006/main">
            <ns163:pPr algn="l">
              <ns163:lnSpc>
                <ns163:spcPct val="105000"/>
              </ns163:lnSpc>
              <ns163:defRPr sz="1200" b="0">
                <ns163:solidFill>
                  <ns163:srgbClr val="20262C"/>
                </ns163:solidFill>
                <ns163:latin typeface="Arial"/>
                <ns163:ea typeface="Arial"/>
                <ns163:cs typeface="Arial"/>
              </ns163:defRPr>
            </ns163:pPr>
            <ns163:r>
              <ns163:rPr sz="1200" b="0">
                <ns163:solidFill>
                  <ns163:srgbClr val="20262C"/>
                </ns163:solidFill>
                <ns163:latin typeface="Arial"/>
                <ns163:ea typeface="Arial"/>
                <ns163:cs typeface="Arial"/>
              </ns163:rPr>
              <ns163:t>Read / compare</ns163:t>
            </ns163:r>
          </ns163:p>
          <ns164:p xmlns:ns164="http://schemas.openxmlformats.org/drawingml/2006/main">
            <ns164:pPr algn="l">
              <ns164:lnSpc>
                <ns164:spcPct val="105000"/>
              </ns164:lnSpc>
              <ns164:defRPr sz="1200" b="0">
                <ns164:solidFill>
                  <ns164:srgbClr val="20262C"/>
                </ns164:solidFill>
                <ns164:latin typeface="Arial"/>
                <ns164:ea typeface="Arial"/>
                <ns164:cs typeface="Arial"/>
              </ns164:defRPr>
            </ns164:pPr>
            <ns164:r>
              <ns164:rPr sz="1200" b="0">
                <ns164:solidFill>
                  <ns164:srgbClr val="20262C"/>
                </ns164:solidFill>
                <ns164:latin typeface="Arial"/>
                <ns164:ea typeface="Arial"/>
                <ns164:cs typeface="Arial"/>
              </ns164:rPr>
              <ns164:t>Explain / draft</ns164:t>
            </ns164:r>
          </ns164:p>
        </p:txBody>
      </p:sp>
      <p:sp>
        <p:nvSpPr>
          <p:cNvPr id="27" name="tool.operations"/>
          <p:cNvSpPr/>
          <p:nvPr/>
        </p:nvSpPr>
        <p:spPr>
          <ns165:xfrm xmlns:ns165="http://schemas.openxmlformats.org/drawingml/2006/main">
            <ns165:off x="4392000" y="3438000"/>
            <ns165:ext cx="1458000" cy="828000"/>
          </ns165:xfrm>
          <ns166:prstGeom xmlns:ns166="http://schemas.openxmlformats.org/drawingml/2006/main" prst="roundRect">
            <ns166:avLst/>
          </ns166:prstGeom>
          <ns167:solidFill xmlns:ns167="http://schemas.openxmlformats.org/drawingml/2006/main">
            <ns167:srgbClr val="F3F7FA"/>
          </ns167:solidFill>
          <ns168:ln xmlns:ns168="http://schemas.openxmlformats.org/drawingml/2006/main" w="9525">
            <ns168:solidFill>
              <ns168:srgbClr val="65727D"/>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65727D"/>
                </ns171:solidFill>
                <ns171:latin typeface="Arial"/>
                <ns171:ea typeface="Arial"/>
                <ns171:cs typeface="Arial"/>
              </ns171:defRPr>
            </ns171:pPr>
            <ns171:r>
              <ns171:rPr sz="1300" b="1">
                <ns171:solidFill>
                  <ns171:srgbClr val="65727D"/>
                </ns171:solidFill>
                <ns171:latin typeface="Arial"/>
                <ns171:ea typeface="Arial"/>
                <ns171:cs typeface="Arial"/>
              </ns171:rPr>
              <ns171:t>Tools</ns171:t>
            </ns171:r>
          </ns171:p>
          <ns172:p xmlns:ns172="http://schemas.openxmlformats.org/drawingml/2006/main">
            <ns172:pPr algn="l">
              <ns172:lnSpc>
                <ns172:spcPct val="105000"/>
              </ns172:lnSpc>
              <ns172:defRPr sz="1200" b="0">
                <ns172:solidFill>
                  <ns172:srgbClr val="20262C"/>
                </ns172:solidFill>
                <ns172:latin typeface="Arial"/>
                <ns172:ea typeface="Arial"/>
                <ns172:cs typeface="Arial"/>
              </ns172:defRPr>
            </ns172:pPr>
            <ns172:r>
              <ns172:rPr sz="1200" b="0">
                <ns172:solidFill>
                  <ns172:srgbClr val="20262C"/>
                </ns172:solidFill>
                <ns172:latin typeface="Arial"/>
                <ns172:ea typeface="Arial"/>
                <ns172:cs typeface="Arial"/>
              </ns172:rPr>
              <ns172:t>Retrieve / query</ns172:t>
            </ns172:r>
          </ns172:p>
          <ns173:p xmlns:ns173="http://schemas.openxmlformats.org/drawingml/2006/main">
            <ns173:pPr algn="l">
              <ns173:lnSpc>
                <ns173:spcPct val="105000"/>
              </ns173:lnSpc>
              <ns173:defRPr sz="1200" b="0">
                <ns173:solidFill>
                  <ns173:srgbClr val="20262C"/>
                </ns173:solidFill>
                <ns173:latin typeface="Arial"/>
                <ns173:ea typeface="Arial"/>
                <ns173:cs typeface="Arial"/>
              </ns173:defRPr>
            </ns173:pPr>
            <ns173:r>
              <ns173:rPr sz="1200" b="0">
                <ns173:solidFill>
                  <ns173:srgbClr val="20262C"/>
                </ns173:solidFill>
                <ns173:latin typeface="Arial"/>
                <ns173:ea typeface="Arial"/>
                <ns173:cs typeface="Arial"/>
              </ns173:rPr>
              <ns173:t>Calculate / run</ns173:t>
            </ns173:r>
          </ns173:p>
        </p:txBody>
      </p:sp>
      <p:cxnSp>
        <p:nvCxnSpPr>
          <p:cNvPr id="28" name="flow.inputs.merge.source.0"/>
          <p:cNvCxnSpPr/>
          <p:nvPr/>
        </p:nvCxnSpPr>
        <p:spPr>
          <ns174:xfrm xmlns:ns174="http://schemas.openxmlformats.org/drawingml/2006/main">
            <ns174:off x="4042800" y="1773000"/>
            <ns174:ext cx="151200" cy="1"/>
          </ns174:xfrm>
          <ns175:prstGeom xmlns:ns175="http://schemas.openxmlformats.org/drawingml/2006/main" prst="line">
            <ns175:avLst/>
          </ns175:prstGeom>
          <ns176:ln xmlns:ns176="http://schemas.openxmlformats.org/drawingml/2006/main" w="9525">
            <ns176:solidFill>
              <ns176:srgbClr val="005A9C"/>
            </ns176:solidFill>
          </ns176:ln>
        </p:spPr>
      </p:cxnSp>
      <p:cxnSp>
        <p:nvCxnSpPr>
          <p:cNvPr id="29" name="flow.inputs.merge.source.1"/>
          <p:cNvCxnSpPr/>
          <p:nvPr/>
        </p:nvCxnSpPr>
        <p:spPr>
          <ns177:xfrm xmlns:ns177="http://schemas.openxmlformats.org/drawingml/2006/main">
            <ns177:off x="4042800" y="2439000"/>
            <ns177:ext cx="151200" cy="1"/>
          </ns177:xfrm>
          <ns178:prstGeom xmlns:ns178="http://schemas.openxmlformats.org/drawingml/2006/main" prst="line">
            <ns178:avLst/>
          </ns178:prstGeom>
          <ns179:ln xmlns:ns179="http://schemas.openxmlformats.org/drawingml/2006/main" w="9525">
            <ns179:solidFill>
              <ns179:srgbClr val="005A9C"/>
            </ns179:solidFill>
          </ns179:ln>
        </p:spPr>
      </p:cxnSp>
      <p:cxnSp>
        <p:nvCxnSpPr>
          <p:cNvPr id="30" name="flow.inputs.merge.source.2"/>
          <p:cNvCxnSpPr/>
          <p:nvPr/>
        </p:nvCxnSpPr>
        <p:spPr>
          <ns180:xfrm xmlns:ns180="http://schemas.openxmlformats.org/drawingml/2006/main">
            <ns180:off x="4042800" y="3105000"/>
            <ns180:ext cx="151200" cy="1"/>
          </ns180:xfrm>
          <ns181:prstGeom xmlns:ns181="http://schemas.openxmlformats.org/drawingml/2006/main" prst="line">
            <ns181:avLst/>
          </ns181:prstGeom>
          <ns182:ln xmlns:ns182="http://schemas.openxmlformats.org/drawingml/2006/main" w="9525">
            <ns182:solidFill>
              <ns182:srgbClr val="005A9C"/>
            </ns182:solidFill>
          </ns182:ln>
        </p:spPr>
      </p:cxnSp>
      <p:cxnSp>
        <p:nvCxnSpPr>
          <p:cNvPr id="31" name="flow.inputs.merge.source.3"/>
          <p:cNvCxnSpPr/>
          <p:nvPr/>
        </p:nvCxnSpPr>
        <p:spPr>
          <ns183:xfrm xmlns:ns183="http://schemas.openxmlformats.org/drawingml/2006/main">
            <ns183:off x="4042800" y="3771000"/>
            <ns183:ext cx="151200" cy="1"/>
          </ns183:xfrm>
          <ns184:prstGeom xmlns:ns184="http://schemas.openxmlformats.org/drawingml/2006/main" prst="line">
            <ns184:avLst/>
          </ns184:prstGeom>
          <ns185:ln xmlns:ns185="http://schemas.openxmlformats.org/drawingml/2006/main" w="9525">
            <ns185:solidFill>
              <ns185:srgbClr val="005A9C"/>
            </ns185:solidFill>
          </ns185:ln>
        </p:spPr>
      </p:cxnSp>
      <p:cxnSp>
        <p:nvCxnSpPr>
          <p:cNvPr id="32" name="flow.inputs.merge.bus"/>
          <p:cNvCxnSpPr/>
          <p:nvPr/>
        </p:nvCxnSpPr>
        <p:spPr>
          <ns186:xfrm xmlns:ns186="http://schemas.openxmlformats.org/drawingml/2006/main">
            <ns186:off x="4194000" y="1773000"/>
            <ns186:ext cx="1" cy="1998000"/>
          </ns186:xfrm>
          <ns187:prstGeom xmlns:ns187="http://schemas.openxmlformats.org/drawingml/2006/main" prst="line">
            <ns187:avLst/>
          </ns187:prstGeom>
          <ns188:ln xmlns:ns188="http://schemas.openxmlformats.org/drawingml/2006/main" w="9525">
            <ns188:solidFill>
              <ns188:srgbClr val="005A9C"/>
            </ns188:solidFill>
          </ns188:ln>
        </p:spPr>
      </p:cxnSp>
      <p:cxnSp>
        <p:nvCxnSpPr>
          <p:cNvPr id="33" name="flow.inputs.merge.target"/>
          <p:cNvCxnSpPr/>
          <p:nvPr/>
        </p:nvCxnSpPr>
        <p:spPr>
          <ns189:xfrm xmlns:ns189="http://schemas.openxmlformats.org/drawingml/2006/main">
            <ns189:off x="4194000" y="2457000"/>
            <ns189:ext cx="198000" cy="1"/>
          </ns189:xfrm>
          <ns190:prstGeom xmlns:ns190="http://schemas.openxmlformats.org/drawingml/2006/main" prst="line">
            <ns190:avLst/>
          </ns190:prstGeom>
          <ns191:ln xmlns:ns191="http://schemas.openxmlformats.org/drawingml/2006/main" w="11430">
            <ns191:solidFill>
              <ns191:srgbClr val="005A9C"/>
            </ns191:solidFill>
            <ns191:tailEnd type="triangle" w="sm" len="sm"/>
          </ns191:ln>
        </p:spPr>
      </p:cxnSp>
      <p:sp>
        <p:nvSpPr>
          <p:cNvPr id="34" name="output.family.0"/>
          <p:cNvSpPr/>
          <p:nvPr/>
        </p:nvSpPr>
        <p:spPr>
          <ns192:xfrm xmlns:ns192="http://schemas.openxmlformats.org/drawingml/2006/main">
            <ns192:off x="6127200" y="1548000"/>
            <ns192:ext cx="2559600" cy="450000"/>
          </ns192:xfrm>
          <ns193:prstGeom xmlns:ns193="http://schemas.openxmlformats.org/drawingml/2006/main" prst="rect">
            <ns193:avLst/>
          </ns193:prstGeom>
          <ns194:solidFill xmlns:ns194="http://schemas.openxmlformats.org/drawingml/2006/main">
            <ns194:srgbClr val="F3F7FA"/>
          </ns194:solidFill>
          <ns195:ln xmlns:ns195="http://schemas.openxmlformats.org/drawingml/2006/main" w="9525">
            <ns195:solidFill>
              <ns195:srgbClr val="65727D"/>
            </ns195:solidFill>
          </ns195:ln>
        </p:spPr>
        <p:txBody>
          <ns196:bodyPr xmlns:ns196="http://schemas.openxmlformats.org/drawingml/2006/main" wrap="square" lIns="61200" rIns="61200" tIns="61200" bIns="61200" anchor="ctr">
            <ns196:noAutofit/>
          </ns196:bodyPr>
          <ns197:lstStyle xmlns:ns197="http://schemas.openxmlformats.org/drawingml/2006/main"/>
          <ns198:p xmlns:ns198="http://schemas.openxmlformats.org/drawingml/2006/main">
            <ns198:pPr algn="l">
              <ns198:lnSpc>
                <ns198:spcPct val="105000"/>
              </ns198:lnSpc>
              <ns198:defRPr sz="1300" b="1">
                <ns198:solidFill>
                  <ns198:srgbClr val="65727D"/>
                </ns198:solidFill>
                <ns198:latin typeface="Arial"/>
                <ns198:ea typeface="Arial"/>
                <ns198:cs typeface="Arial"/>
              </ns198:defRPr>
            </ns198:pPr>
            <ns198:r>
              <ns198:rPr sz="1300" b="1">
                <ns198:solidFill>
                  <ns198:srgbClr val="65727D"/>
                </ns198:solidFill>
                <ns198:latin typeface="Arial"/>
                <ns198:ea typeface="Arial"/>
                <ns198:cs typeface="Arial"/>
              </ns198:rPr>
              <ns198:t>Company analysis</ns198:t>
            </ns198:r>
          </ns198:p>
        </p:txBody>
      </p:sp>
      <p:sp>
        <p:nvSpPr>
          <p:cNvPr id="35" name="output.family.1"/>
          <p:cNvSpPr/>
          <p:nvPr/>
        </p:nvSpPr>
        <p:spPr>
          <ns199:xfrm xmlns:ns199="http://schemas.openxmlformats.org/drawingml/2006/main">
            <ns199:off x="6127200" y="2214000"/>
            <ns199:ext cx="2559600" cy="450000"/>
          </ns199:xfrm>
          <ns200:prstGeom xmlns:ns200="http://schemas.openxmlformats.org/drawingml/2006/main" prst="rect">
            <ns200:avLst/>
          </ns200:prstGeom>
          <ns201:solidFill xmlns:ns201="http://schemas.openxmlformats.org/drawingml/2006/main">
            <ns201:srgbClr val="F3F7FA"/>
          </ns201:solidFill>
          <ns202:ln xmlns:ns202="http://schemas.openxmlformats.org/drawingml/2006/main" w="9525">
            <ns202:solidFill>
              <ns202:srgbClr val="65727D"/>
            </ns202:solidFill>
          </ns202:ln>
        </p:spPr>
        <p:txBody>
          <ns203:bodyPr xmlns:ns203="http://schemas.openxmlformats.org/drawingml/2006/main" wrap="square" lIns="61200" rIns="61200" tIns="61200" bIns="61200" anchor="ctr">
            <ns203:noAutofit/>
          </ns203:bodyPr>
          <ns204:lstStyle xmlns:ns204="http://schemas.openxmlformats.org/drawingml/2006/main"/>
          <ns205:p xmlns:ns205="http://schemas.openxmlformats.org/drawingml/2006/main">
            <ns205:pPr algn="l">
              <ns205:lnSpc>
                <ns205:spcPct val="105000"/>
              </ns205:lnSpc>
              <ns205:defRPr sz="1300" b="1">
                <ns205:solidFill>
                  <ns205:srgbClr val="65727D"/>
                </ns205:solidFill>
                <ns205:latin typeface="Arial"/>
                <ns205:ea typeface="Arial"/>
                <ns205:cs typeface="Arial"/>
              </ns205:defRPr>
            </ns205:pPr>
            <ns205:r>
              <ns205:rPr sz="1300" b="1">
                <ns205:solidFill>
                  <ns205:srgbClr val="65727D"/>
                </ns205:solidFill>
                <ns205:latin typeface="Arial"/>
                <ns205:ea typeface="Arial"/>
                <ns205:cs typeface="Arial"/>
              </ns205:rPr>
              <ns205:t>Quote requests / comparisons</ns205:t>
            </ns205:r>
          </ns205:p>
        </p:txBody>
      </p:sp>
      <p:sp>
        <p:nvSpPr>
          <p:cNvPr id="36" name="output.family.2"/>
          <p:cNvSpPr/>
          <p:nvPr/>
        </p:nvSpPr>
        <p:spPr>
          <ns206:xfrm xmlns:ns206="http://schemas.openxmlformats.org/drawingml/2006/main">
            <ns206:off x="6127200" y="2880000"/>
            <ns206:ext cx="2559600" cy="450000"/>
          </ns206:xfrm>
          <ns207:prstGeom xmlns:ns207="http://schemas.openxmlformats.org/drawingml/2006/main" prst="rect">
            <ns207:avLst/>
          </ns207:prstGeom>
          <ns208:solidFill xmlns:ns208="http://schemas.openxmlformats.org/drawingml/2006/main">
            <ns208:srgbClr val="F3F7FA"/>
          </ns208:solidFill>
          <ns209:ln xmlns:ns209="http://schemas.openxmlformats.org/drawingml/2006/main" w="9525">
            <ns209:solidFill>
              <ns209:srgbClr val="65727D"/>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65727D"/>
                </ns212:solidFill>
                <ns212:latin typeface="Arial"/>
                <ns212:ea typeface="Arial"/>
                <ns212:cs typeface="Arial"/>
              </ns212:defRPr>
            </ns212:pPr>
            <ns212:r>
              <ns212:rPr sz="1300" b="1">
                <ns212:solidFill>
                  <ns212:srgbClr val="65727D"/>
                </ns212:solidFill>
                <ns212:latin typeface="Arial"/>
                <ns212:ea typeface="Arial"/>
                <ns212:cs typeface="Arial"/>
              </ns212:rPr>
              <ns212:t>Client materials</ns212:t>
            </ns212:r>
          </ns212:p>
        </p:txBody>
      </p:sp>
      <p:sp>
        <p:nvSpPr>
          <p:cNvPr id="37" name="output.family.3"/>
          <p:cNvSpPr/>
          <p:nvPr/>
        </p:nvSpPr>
        <p:spPr>
          <ns213:xfrm xmlns:ns213="http://schemas.openxmlformats.org/drawingml/2006/main">
            <ns213:off x="6127200" y="3546000"/>
            <ns213:ext cx="2559600" cy="450000"/>
          </ns213:xfrm>
          <ns214:prstGeom xmlns:ns214="http://schemas.openxmlformats.org/drawingml/2006/main" prst="rect">
            <ns214:avLst/>
          </ns214:prstGeom>
          <ns215:solidFill xmlns:ns215="http://schemas.openxmlformats.org/drawingml/2006/main">
            <ns215:srgbClr val="F3F7FA"/>
          </ns215:solidFill>
          <ns216:ln xmlns:ns216="http://schemas.openxmlformats.org/drawingml/2006/main" w="9525">
            <ns216:solidFill>
              <ns216:srgbClr val="65727D"/>
            </ns216:solidFill>
          </ns216:ln>
        </p:spPr>
        <p:txBody>
          <ns217:bodyPr xmlns:ns217="http://schemas.openxmlformats.org/drawingml/2006/main" wrap="square" lIns="61200" rIns="61200" tIns="61200" bIns="61200" anchor="ctr">
            <ns217:noAutofit/>
          </ns217:bodyPr>
          <ns218:lstStyle xmlns:ns218="http://schemas.openxmlformats.org/drawingml/2006/main"/>
          <ns219:p xmlns:ns219="http://schemas.openxmlformats.org/drawingml/2006/main">
            <ns219:pPr algn="l">
              <ns219:lnSpc>
                <ns219:spcPct val="105000"/>
              </ns219:lnSpc>
              <ns219:defRPr sz="1300" b="1">
                <ns219:solidFill>
                  <ns219:srgbClr val="65727D"/>
                </ns219:solidFill>
                <ns219:latin typeface="Arial"/>
                <ns219:ea typeface="Arial"/>
                <ns219:cs typeface="Arial"/>
              </ns219:defRPr>
            </ns219:pPr>
            <ns219:r>
              <ns219:rPr sz="1300" b="1">
                <ns219:solidFill>
                  <ns219:srgbClr val="65727D"/>
                </ns219:solidFill>
                <ns219:latin typeface="Arial"/>
                <ns219:ea typeface="Arial"/>
                <ns219:cs typeface="Arial"/>
              </ns219:rPr>
              <ns219:t>Business tools</ns219:t>
            </ns219:r>
          </ns219:p>
        </p:txBody>
      </p:sp>
      <p:cxnSp>
        <p:nvCxnSpPr>
          <p:cNvPr id="38" name="flow.llm.output.bus"/>
          <p:cNvCxnSpPr/>
          <p:nvPr/>
        </p:nvCxnSpPr>
        <p:spPr>
          <ns220:xfrm xmlns:ns220="http://schemas.openxmlformats.org/drawingml/2006/main">
            <ns220:off x="5850000" y="2457000"/>
            <ns220:ext cx="144000" cy="1"/>
          </ns220:xfrm>
          <ns221:prstGeom xmlns:ns221="http://schemas.openxmlformats.org/drawingml/2006/main" prst="line">
            <ns221:avLst/>
          </ns221:prstGeom>
          <ns222:ln xmlns:ns222="http://schemas.openxmlformats.org/drawingml/2006/main" w="11430">
            <ns222:solidFill>
              <ns222:srgbClr val="005A9C"/>
            </ns222:solidFill>
          </ns222:ln>
        </p:spPr>
      </p:cxnSp>
      <p:cxnSp>
        <p:nvCxnSpPr>
          <p:cNvPr id="39" name="flow.output.bus"/>
          <p:cNvCxnSpPr/>
          <p:nvPr/>
        </p:nvCxnSpPr>
        <p:spPr>
          <ns223:xfrm xmlns:ns223="http://schemas.openxmlformats.org/drawingml/2006/main">
            <ns223:off x="5994000" y="1773000"/>
            <ns223:ext cx="1" cy="1998000"/>
          </ns223:xfrm>
          <ns224:prstGeom xmlns:ns224="http://schemas.openxmlformats.org/drawingml/2006/main" prst="line">
            <ns224:avLst/>
          </ns224:prstGeom>
          <ns225:ln xmlns:ns225="http://schemas.openxmlformats.org/drawingml/2006/main" w="11430">
            <ns225:solidFill>
              <ns225:srgbClr val="005A9C"/>
            </ns225:solidFill>
          </ns225:ln>
        </p:spPr>
      </p:cxnSp>
      <p:cxnSp>
        <p:nvCxnSpPr>
          <p:cNvPr id="40" name="flow.output.fanout.0"/>
          <p:cNvCxnSpPr/>
          <p:nvPr/>
        </p:nvCxnSpPr>
        <p:spPr>
          <ns226:xfrm xmlns:ns226="http://schemas.openxmlformats.org/drawingml/2006/main">
            <ns226:off x="5994000" y="1773000"/>
            <ns226:ext cx="97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cxnSp>
        <p:nvCxnSpPr>
          <p:cNvPr id="41" name="flow.output.fanout.1"/>
          <p:cNvCxnSpPr/>
          <p:nvPr/>
        </p:nvCxnSpPr>
        <p:spPr>
          <ns229:xfrm xmlns:ns229="http://schemas.openxmlformats.org/drawingml/2006/main">
            <ns229:off x="5994000" y="2439000"/>
            <ns229:ext cx="97200" cy="1"/>
          </ns229:xfrm>
          <ns230:prstGeom xmlns:ns230="http://schemas.openxmlformats.org/drawingml/2006/main" prst="line">
            <ns230:avLst/>
          </ns230:prstGeom>
          <ns231:ln xmlns:ns231="http://schemas.openxmlformats.org/drawingml/2006/main" w="11430">
            <ns231:solidFill>
              <ns231:srgbClr val="005A9C"/>
            </ns231:solidFill>
            <ns231:tailEnd type="triangle" w="sm" len="sm"/>
          </ns231:ln>
        </p:spPr>
      </p:cxnSp>
      <p:cxnSp>
        <p:nvCxnSpPr>
          <p:cNvPr id="42" name="flow.output.fanout.2"/>
          <p:cNvCxnSpPr/>
          <p:nvPr/>
        </p:nvCxnSpPr>
        <p:spPr>
          <ns232:xfrm xmlns:ns232="http://schemas.openxmlformats.org/drawingml/2006/main">
            <ns232:off x="5994000" y="3105000"/>
            <ns232:ext cx="97200" cy="1"/>
          </ns232:xfrm>
          <ns233:prstGeom xmlns:ns233="http://schemas.openxmlformats.org/drawingml/2006/main" prst="line">
            <ns233:avLst/>
          </ns233:prstGeom>
          <ns234:ln xmlns:ns234="http://schemas.openxmlformats.org/drawingml/2006/main" w="11430">
            <ns234:solidFill>
              <ns234:srgbClr val="005A9C"/>
            </ns234:solidFill>
            <ns234:tailEnd type="triangle" w="sm" len="sm"/>
          </ns234:ln>
        </p:spPr>
      </p:cxnSp>
      <p:cxnSp>
        <p:nvCxnSpPr>
          <p:cNvPr id="43" name="flow.output.fanout.3"/>
          <p:cNvCxnSpPr/>
          <p:nvPr/>
        </p:nvCxnSpPr>
        <p:spPr>
          <ns235:xfrm xmlns:ns235="http://schemas.openxmlformats.org/drawingml/2006/main">
            <ns235:off x="5994000" y="3771000"/>
            <ns235:ext cx="97200" cy="1"/>
          </ns235:xfrm>
          <ns236:prstGeom xmlns:ns236="http://schemas.openxmlformats.org/drawingml/2006/main" prst="line">
            <ns236:avLst/>
          </ns236:prstGeom>
          <ns237:ln xmlns:ns237="http://schemas.openxmlformats.org/drawingml/2006/main" w="11430">
            <ns237:solidFill>
              <ns237:srgbClr val="005A9C"/>
            </ns237:solidFill>
            <ns237:tailEnd type="triangle" w="sm" len="sm"/>
          </ns237:ln>
        </p:spPr>
      </p:cxnSp>
      <p:cxnSp>
        <p:nvCxnSpPr>
          <p:cNvPr id="44" name="flow.llm.tool.request"/>
          <p:cNvCxnSpPr/>
          <p:nvPr/>
        </p:nvCxnSpPr>
        <p:spPr>
          <ns238:xfrm xmlns:ns238="http://schemas.openxmlformats.org/drawingml/2006/main">
            <ns238:off x="4716000" y="2916000"/>
            <ns238:ext cx="1" cy="486000"/>
          </ns238:xfrm>
          <ns239:prstGeom xmlns:ns239="http://schemas.openxmlformats.org/drawingml/2006/main" prst="line">
            <ns239:avLst/>
          </ns239:prstGeom>
          <ns240:ln xmlns:ns240="http://schemas.openxmlformats.org/drawingml/2006/main" w="11430">
            <ns240:solidFill>
              <ns240:srgbClr val="005A9C"/>
            </ns240:solidFill>
            <ns240:tailEnd type="triangle" w="sm" len="sm"/>
          </ns240:ln>
        </p:spPr>
      </p:cxnSp>
      <p:cxnSp>
        <p:nvCxnSpPr>
          <p:cNvPr id="45" name="flow.tool.llm.result"/>
          <p:cNvCxnSpPr/>
          <p:nvPr/>
        </p:nvCxnSpPr>
        <p:spPr>
          <ns241:xfrm xmlns:ns241="http://schemas.openxmlformats.org/drawingml/2006/main" flipV="1">
            <ns241:off x="5486400" y="2916000"/>
            <ns241:ext cx="1" cy="486000"/>
          </ns241:xfrm>
          <ns242:prstGeom xmlns:ns242="http://schemas.openxmlformats.org/drawingml/2006/main" prst="line">
            <ns242:avLst/>
          </ns242:prstGeom>
          <ns243:ln xmlns:ns243="http://schemas.openxmlformats.org/drawingml/2006/main" w="11430">
            <ns243:solidFill>
              <ns243:srgbClr val="005A9C"/>
            </ns243:solidFill>
            <ns243:tailEnd type="triangle" w="sm" len="sm"/>
          </ns243:ln>
        </p:spPr>
      </p:cxnSp>
      <p:sp>
        <p:nvSpPr>
          <p:cNvPr id="46" name="tool.request.label"/>
          <p:cNvSpPr/>
          <p:nvPr/>
        </p:nvSpPr>
        <p:spPr>
          <ns244:xfrm xmlns:ns244="http://schemas.openxmlformats.org/drawingml/2006/main">
            <ns244:off x="4248000" y="3114000"/>
            <ns244:ext cx="414000" cy="126000"/>
          </ns244:xfrm>
          <ns245:prstGeom xmlns:ns245="http://schemas.openxmlformats.org/drawingml/2006/main" prst="rect">
            <ns245:avLst/>
          </ns245:prstGeom>
          <ns246:noFill xmlns:ns246="http://schemas.openxmlformats.org/drawingml/2006/main"/>
          <ns247:ln xmlns:ns247="http://schemas.openxmlformats.org/drawingml/2006/main" w="0">
            <ns247:noFill/>
          </ns247:ln>
        </p:spPr>
        <p:txBody>
          <ns248:bodyPr xmlns:ns248="http://schemas.openxmlformats.org/drawingml/2006/main" wrap="square" lIns="0" rIns="0" tIns="0" bIns="0" anchor="t">
            <ns248:noAutofit/>
          </ns248:bodyPr>
          <ns249:lstStyle xmlns:ns249="http://schemas.openxmlformats.org/drawingml/2006/main"/>
          <ns250:p xmlns:ns250="http://schemas.openxmlformats.org/drawingml/2006/main">
            <ns250:pPr algn="l">
              <ns250:lnSpc>
                <ns250:spcPct val="105000"/>
              </ns250:lnSpc>
              <ns250:defRPr sz="850" b="0">
                <ns250:solidFill>
                  <ns250:srgbClr val="65727D"/>
                </ns250:solidFill>
                <ns250:latin typeface="Arial"/>
                <ns250:ea typeface="Arial"/>
                <ns250:cs typeface="Arial"/>
              </ns250:defRPr>
            </ns250:pPr>
            <ns250:r>
              <ns250:rPr sz="850" b="0">
                <ns250:solidFill>
                  <ns250:srgbClr val="65727D"/>
                </ns250:solidFill>
                <ns250:latin typeface="Arial"/>
                <ns250:ea typeface="Arial"/>
                <ns250:cs typeface="Arial"/>
              </ns250:rPr>
              <ns250:t>Request</ns250:t>
            </ns250:r>
          </ns250:p>
        </p:txBody>
      </p:sp>
      <p:sp>
        <p:nvSpPr>
          <p:cNvPr id="47" name="tool.result.label"/>
          <p:cNvSpPr/>
          <p:nvPr/>
        </p:nvSpPr>
        <p:spPr>
          <ns251:xfrm xmlns:ns251="http://schemas.openxmlformats.org/drawingml/2006/main">
            <ns251:off x="5562000" y="3114000"/>
            <ns251:ext cx="396000" cy="126000"/>
          </ns251:xfrm>
          <ns252:prstGeom xmlns:ns252="http://schemas.openxmlformats.org/drawingml/2006/main" prst="rect">
            <ns252:avLst/>
          </ns252:prstGeom>
          <ns253:noFill xmlns:ns253="http://schemas.openxmlformats.org/drawingml/2006/main"/>
          <ns254:ln xmlns:ns254="http://schemas.openxmlformats.org/drawingml/2006/main" w="0">
            <ns254:noFill/>
          </ns254:ln>
        </p:spPr>
        <p:txBody>
          <ns255:bodyPr xmlns:ns255="http://schemas.openxmlformats.org/drawingml/2006/main" wrap="square" lIns="0" rIns="0" tIns="0" bIns="0" anchor="t">
            <ns255:noAutofit/>
          </ns255:bodyPr>
          <ns256:lstStyle xmlns:ns256="http://schemas.openxmlformats.org/drawingml/2006/main"/>
          <ns257:p xmlns:ns257="http://schemas.openxmlformats.org/drawingml/2006/main">
            <ns257:pPr algn="l">
              <ns257:lnSpc>
                <ns257:spcPct val="105000"/>
              </ns257:lnSpc>
              <ns257:defRPr sz="850" b="0">
                <ns257:solidFill>
                  <ns257:srgbClr val="65727D"/>
                </ns257:solidFill>
                <ns257:latin typeface="Arial"/>
                <ns257:ea typeface="Arial"/>
                <ns257:cs typeface="Arial"/>
              </ns257:defRPr>
            </ns257:pPr>
            <ns257:r>
              <ns257:rPr sz="850" b="0">
                <ns257:solidFill>
                  <ns257:srgbClr val="65727D"/>
                </ns257:solidFill>
                <ns257:latin typeface="Arial"/>
                <ns257:ea typeface="Arial"/>
                <ns257:cs typeface="Arial"/>
              </ns257:rPr>
              <ns257:t>Result</ns257:t>
            </ns257:r>
          </ns257:p>
        </p:txBody>
      </p:sp>
      <p:sp>
        <p:nvSpPr>
          <p:cNvPr id="48" name="scope.purpose"/>
          <p:cNvSpPr/>
          <p:nvPr/>
        </p:nvSpPr>
        <p:spPr>
          <ns258:xfrm xmlns:ns258="http://schemas.openxmlformats.org/drawingml/2006/main">
            <ns258:off x="2422800" y="4384800"/>
            <ns258:ext cx="6264000" cy="172800"/>
          </ns258:xfrm>
          <ns259:prstGeom xmlns:ns259="http://schemas.openxmlformats.org/drawingml/2006/main" prst="rect">
            <ns259:avLst/>
          </ns259:prstGeom>
          <ns260:noFill xmlns:ns260="http://schemas.openxmlformats.org/drawingml/2006/main"/>
          <ns261:ln xmlns:ns261="http://schemas.openxmlformats.org/drawingml/2006/main" w="0">
            <ns261:noFill/>
          </ns261:ln>
        </p:spPr>
        <p:txBody>
          <ns262:bodyPr xmlns:ns262="http://schemas.openxmlformats.org/drawingml/2006/main" wrap="square" lIns="0" rIns="0" tIns="0" bIns="0" anchor="t">
            <ns262:noAutofit/>
          </ns262:bodyPr>
          <ns263:lstStyle xmlns:ns263="http://schemas.openxmlformats.org/drawingml/2006/main"/>
          <ns264:p xmlns:ns264="http://schemas.openxmlformats.org/drawingml/2006/main">
            <ns264:pPr algn="l">
              <ns264:lnSpc>
                <ns264:spcPct val="105000"/>
              </ns264:lnSpc>
              <ns264:defRPr sz="1100" b="0">
                <ns264:solidFill>
                  <ns264:srgbClr val="005A9C"/>
                </ns264:solidFill>
                <ns264:latin typeface="Arial"/>
                <ns264:ea typeface="Arial"/>
                <ns264:cs typeface="Arial"/>
              </ns264:defRPr>
            </ns264:pPr>
            <ns264:r>
              <ns264:rPr sz="1100" b="0">
                <ns264:solidFill>
                  <ns264:srgbClr val="005A9C"/>
                </ns264:solidFill>
                <ns264:latin typeface="Arial"/>
                <ns264:ea typeface="Arial"/>
                <ns264:cs typeface="Arial"/>
              </ns264:rPr>
              <ns264:t>Colleagues check outputs against approved sources</ns264:t>
            </ns264:r>
          </ns264:p>
        </p:txBody>
      </p:sp>
    </p:spTree>
    <p:extLst>
      <p:ext uri="{BB962C8B-B14F-4D97-AF65-F5344CB8AC3E}">
        <p14:creationId xmlns:p14="http://schemas.microsoft.com/office/powerpoint/2010/main" val="136616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Six Application Areas Across the Firm</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Front, Middle and Back Offices</ns13:t>
            </ns13:r>
          </ns13:p>
        </p:txBody>
      </p:sp>
      <p:sp>
        <p:nvSpPr>
          <p:cNvPr id="4" name="firm.root"/>
          <p:cNvSpPr/>
          <p:nvPr/>
        </p:nvSpPr>
        <p:spPr>
          <ns14:xfrm xmlns:ns14="http://schemas.openxmlformats.org/drawingml/2006/main">
            <ns14:off x="3294000" y="1454400"/>
            <ns14:ext cx="2556000" cy="342000"/>
          </ns14:xfrm>
          <ns15:prstGeom xmlns:ns15="http://schemas.openxmlformats.org/drawingml/2006/main" prst="roundRect">
            <ns15:avLst/>
          </ns15:prstGeom>
          <ns16:solidFill xmlns:ns16="http://schemas.openxmlformats.org/drawingml/2006/main">
            <ns16:srgbClr val="EAF3FA"/>
          </ns16:solidFill>
          <ns17:ln xmlns:ns17="http://schemas.openxmlformats.org/drawingml/2006/main" w="9525">
            <ns17:solidFill>
              <ns17:srgbClr val="005A9C"/>
            </ns17:solidFill>
          </ns17:ln>
        </p:spPr>
        <p:txBody>
          <ns18:bodyPr xmlns:ns18="http://schemas.openxmlformats.org/drawingml/2006/main" wrap="square" lIns="61200" rIns="61200" tIns="61200" bIns="61200" anchor="ctr">
            <ns18:noAutofit/>
          </ns18:bodyPr>
          <ns19:lstStyle xmlns:ns19="http://schemas.openxmlformats.org/drawingml/2006/main"/>
          <ns20:p xmlns:ns20="http://schemas.openxmlformats.org/drawingml/2006/main">
            <ns20:pPr algn="l">
              <ns20:lnSpc>
                <ns20:spcPct val="105000"/>
              </ns20:lnSpc>
              <ns20:defRPr sz="1300" b="1">
                <ns20:solidFill>
                  <ns20:srgbClr val="005A9C"/>
                </ns20:solidFill>
                <ns20:latin typeface="Arial"/>
                <ns20:ea typeface="Arial"/>
                <ns20:cs typeface="Arial"/>
              </ns20:defRPr>
            </ns20:pPr>
            <ns20:r>
              <ns20:rPr sz="1300" b="1">
                <ns20:solidFill>
                  <ns20:srgbClr val="005A9C"/>
                </ns20:solidFill>
                <ns20:latin typeface="Arial"/>
                <ns20:ea typeface="Arial"/>
                <ns20:cs typeface="Arial"/>
              </ns20:rPr>
              <ns20:t>Asset management firm</ns20:t>
            </ns20:r>
          </ns20:p>
        </p:txBody>
      </p:sp>
      <p:cxnSp>
        <p:nvCxnSpPr>
          <p:cNvPr id="5" name="firm.trunk"/>
          <p:cNvCxnSpPr/>
          <p:nvPr/>
        </p:nvCxnSpPr>
        <p:spPr>
          <ns21:xfrm xmlns:ns21="http://schemas.openxmlformats.org/drawingml/2006/main">
            <ns21:off x="4572000" y="1800000"/>
            <ns21:ext cx="1" cy="136800"/>
          </ns21:xfrm>
          <ns22:prstGeom xmlns:ns22="http://schemas.openxmlformats.org/drawingml/2006/main" prst="line">
            <ns22:avLst/>
          </ns22:prstGeom>
          <ns23:ln xmlns:ns23="http://schemas.openxmlformats.org/drawingml/2006/main" w="11430">
            <ns23:solidFill>
              <ns23:srgbClr val="005A9C"/>
            </ns23:solidFill>
          </ns23:ln>
        </p:spPr>
      </p:cxnSp>
      <p:cxnSp>
        <p:nvCxnSpPr>
          <p:cNvPr id="6" name="firm.branch"/>
          <p:cNvCxnSpPr/>
          <p:nvPr/>
        </p:nvCxnSpPr>
        <p:spPr>
          <ns24:xfrm xmlns:ns24="http://schemas.openxmlformats.org/drawingml/2006/main">
            <ns24:off x="1737000" y="1936800"/>
            <ns24:ext cx="5670000" cy="1"/>
          </ns24:xfrm>
          <ns25:prstGeom xmlns:ns25="http://schemas.openxmlformats.org/drawingml/2006/main" prst="line">
            <ns25:avLst/>
          </ns25:prstGeom>
          <ns26:ln xmlns:ns26="http://schemas.openxmlformats.org/drawingml/2006/main" w="11430">
            <ns26:solidFill>
              <ns26:srgbClr val="005A9C"/>
            </ns26:solidFill>
          </ns26:ln>
        </p:spPr>
      </p:cxnSp>
      <p:cxnSp>
        <p:nvCxnSpPr>
          <p:cNvPr id="7" name="firm.office.branch.0"/>
          <p:cNvCxnSpPr/>
          <p:nvPr/>
        </p:nvCxnSpPr>
        <p:spPr>
          <ns27:xfrm xmlns:ns27="http://schemas.openxmlformats.org/drawingml/2006/main">
            <ns27:off x="1737000" y="1936800"/>
            <ns27:ext cx="1" cy="93600"/>
          </ns27:xfrm>
          <ns28:prstGeom xmlns:ns28="http://schemas.openxmlformats.org/drawingml/2006/main" prst="line">
            <ns28:avLst/>
          </ns28:prstGeom>
          <ns29:ln xmlns:ns29="http://schemas.openxmlformats.org/drawingml/2006/main" w="11430">
            <ns29:solidFill>
              <ns29:srgbClr val="005A9C"/>
            </ns29:solidFill>
          </ns29:ln>
        </p:spPr>
      </p:cxnSp>
      <p:sp>
        <p:nvSpPr>
          <p:cNvPr id="8" name="firm.office.0"/>
          <p:cNvSpPr/>
          <p:nvPr/>
        </p:nvSpPr>
        <p:spPr>
          <ns30:xfrm xmlns:ns30="http://schemas.openxmlformats.org/drawingml/2006/main">
            <ns30:off x="457200" y="2059200"/>
            <ns30:ext cx="2559600" cy="342000"/>
          </ns30:xfrm>
          <ns31:prstGeom xmlns:ns31="http://schemas.openxmlformats.org/drawingml/2006/main" prst="roundRect">
            <ns31:avLst/>
          </ns31:prstGeom>
          <ns32:solidFill xmlns:ns32="http://schemas.openxmlformats.org/drawingml/2006/main">
            <ns32:srgbClr val="EAF3FA"/>
          </ns32:solidFill>
          <ns33:ln xmlns:ns33="http://schemas.openxmlformats.org/drawingml/2006/main" w="9525">
            <ns33:solidFill>
              <ns33:srgbClr val="005A9C"/>
            </ns33:solidFill>
          </ns33:ln>
        </p:spPr>
        <p:txBody>
          <ns34:bodyPr xmlns:ns34="http://schemas.openxmlformats.org/drawingml/2006/main" wrap="square" lIns="61200" rIns="61200" tIns="61200" bIns="61200" anchor="ctr">
            <ns34:noAutofit/>
          </ns34:bodyPr>
          <ns35:lstStyle xmlns:ns35="http://schemas.openxmlformats.org/drawingml/2006/main"/>
          <ns36:p xmlns:ns36="http://schemas.openxmlformats.org/drawingml/2006/main">
            <ns36:pPr algn="l">
              <ns36:lnSpc>
                <ns36:spcPct val="105000"/>
              </ns36:lnSpc>
              <ns36:defRPr sz="1300" b="1">
                <ns36:solidFill>
                  <ns36:srgbClr val="005A9C"/>
                </ns36:solidFill>
                <ns36:latin typeface="Arial"/>
                <ns36:ea typeface="Arial"/>
                <ns36:cs typeface="Arial"/>
              </ns36:defRPr>
            </ns36:pPr>
            <ns36:r>
              <ns36:rPr sz="1300" b="1">
                <ns36:solidFill>
                  <ns36:srgbClr val="005A9C"/>
                </ns36:solidFill>
                <ns36:latin typeface="Arial"/>
                <ns36:ea typeface="Arial"/>
                <ns36:cs typeface="Arial"/>
              </ns36:rPr>
              <ns36:t>Front office</ns36:t>
            </ns36:r>
          </ns36:p>
        </p:txBody>
      </p:sp>
      <p:sp>
        <p:nvSpPr>
          <p:cNvPr id="9" name="firm.task.0.0"/>
          <p:cNvSpPr/>
          <p:nvPr/>
        </p:nvSpPr>
        <p:spPr>
          <ns37:xfrm xmlns:ns37="http://schemas.openxmlformats.org/drawingml/2006/main">
            <ns37:off x="457200" y="2512800"/>
            <ns37:ext cx="2559600" cy="468000"/>
          </ns37:xfrm>
          <ns38:prstGeom xmlns:ns38="http://schemas.openxmlformats.org/drawingml/2006/main" prst="rect">
            <ns38:avLst/>
          </ns38:prstGeom>
          <ns39:solidFill xmlns:ns39="http://schemas.openxmlformats.org/drawingml/2006/main">
            <ns39:srgbClr val="F3F7FA"/>
          </ns39:solidFill>
          <ns40:ln xmlns:ns40="http://schemas.openxmlformats.org/drawingml/2006/main" w="9525">
            <ns40:solidFill>
              <ns40:srgbClr val="65727D"/>
            </ns40:solidFill>
          </ns40:ln>
        </p:spPr>
        <p:txBody>
          <ns41:bodyPr xmlns:ns41="http://schemas.openxmlformats.org/drawingml/2006/main" wrap="square" lIns="61200" rIns="61200" tIns="61200" bIns="61200" anchor="ctr">
            <ns41:noAutofit/>
          </ns41:bodyPr>
          <ns42:lstStyle xmlns:ns42="http://schemas.openxmlformats.org/drawingml/2006/main"/>
          <ns43:p xmlns:ns43="http://schemas.openxmlformats.org/drawingml/2006/main">
            <ns43:pPr algn="l">
              <ns43:lnSpc>
                <ns43:spcPct val="105000"/>
              </ns43:lnSpc>
              <ns43:defRPr sz="1300" b="1">
                <ns43:solidFill>
                  <ns43:srgbClr val="65727D"/>
                </ns43:solidFill>
                <ns43:latin typeface="Arial"/>
                <ns43:ea typeface="Arial"/>
                <ns43:cs typeface="Arial"/>
              </ns43:defRPr>
            </ns43:pPr>
            <ns43:r>
              <ns43:rPr sz="1300" b="1">
                <ns43:solidFill>
                  <ns43:srgbClr val="65727D"/>
                </ns43:solidFill>
                <ns43:latin typeface="Arial"/>
                <ns43:ea typeface="Arial"/>
                <ns43:cs typeface="Arial"/>
              </ns43:rPr>
              <ns43:t>Research</ns43:t>
            </ns43:r>
          </ns43:p>
          <ns44:p xmlns:ns44="http://schemas.openxmlformats.org/drawingml/2006/main">
            <ns44:pPr algn="l">
              <ns44:lnSpc>
                <ns44:spcPct val="105000"/>
              </ns44:lnSpc>
              <ns44:defRPr sz="1050" b="0">
                <ns44:solidFill>
                  <ns44:srgbClr val="20262C"/>
                </ns44:solidFill>
                <ns44:latin typeface="Arial"/>
                <ns44:ea typeface="Arial"/>
                <ns44:cs typeface="Arial"/>
              </ns44:defRPr>
            </ns44:pPr>
            <ns44:r>
              <ns44:rPr sz="1050" b="0">
                <ns44:solidFill>
                  <ns44:srgbClr val="20262C"/>
                </ns44:solidFill>
                <ns44:latin typeface="Arial"/>
                <ns44:ea typeface="Arial"/>
                <ns44:cs typeface="Arial"/>
              </ns44:rPr>
              <ns44:t>Company analysis</ns44:t>
            </ns44:r>
          </ns44:p>
        </p:txBody>
      </p:sp>
      <p:sp>
        <p:nvSpPr>
          <p:cNvPr id="10" name="firm.task.0.1"/>
          <p:cNvSpPr/>
          <p:nvPr/>
        </p:nvSpPr>
        <p:spPr>
          <ns45:xfrm xmlns:ns45="http://schemas.openxmlformats.org/drawingml/2006/main">
            <ns45:off x="457200" y="3034800"/>
            <ns45:ext cx="2559600" cy="468000"/>
          </ns45:xfrm>
          <ns46:prstGeom xmlns:ns46="http://schemas.openxmlformats.org/drawingml/2006/main" prst="rect">
            <ns46:avLst/>
          </ns46:prstGeom>
          <ns47:solidFill xmlns:ns47="http://schemas.openxmlformats.org/drawingml/2006/main">
            <ns47:srgbClr val="F3F7FA"/>
          </ns47:solidFill>
          <ns48:ln xmlns:ns48="http://schemas.openxmlformats.org/drawingml/2006/main" w="9525">
            <ns48:solidFill>
              <ns48:srgbClr val="65727D"/>
            </ns48:solidFill>
          </ns48:ln>
        </p:spPr>
        <p:txBody>
          <ns49:bodyPr xmlns:ns49="http://schemas.openxmlformats.org/drawingml/2006/main" wrap="square" lIns="61200" rIns="61200" tIns="61200" bIns="61200" anchor="ctr">
            <ns49:noAutofit/>
          </ns49:bodyPr>
          <ns50:lstStyle xmlns:ns50="http://schemas.openxmlformats.org/drawingml/2006/main"/>
          <ns51:p xmlns:ns51="http://schemas.openxmlformats.org/drawingml/2006/main">
            <ns51:pPr algn="l">
              <ns51:lnSpc>
                <ns51:spcPct val="105000"/>
              </ns51:lnSpc>
              <ns51:defRPr sz="1300" b="1">
                <ns51:solidFill>
                  <ns51:srgbClr val="65727D"/>
                </ns51:solidFill>
                <ns51:latin typeface="Arial"/>
                <ns51:ea typeface="Arial"/>
                <ns51:cs typeface="Arial"/>
              </ns51:defRPr>
            </ns51:pPr>
            <ns51:r>
              <ns51:rPr sz="1300" b="1">
                <ns51:solidFill>
                  <ns51:srgbClr val="65727D"/>
                </ns51:solidFill>
                <ns51:latin typeface="Arial"/>
                <ns51:ea typeface="Arial"/>
                <ns51:cs typeface="Arial"/>
              </ns51:rPr>
              <ns51:t>Trading support</ns51:t>
            </ns51:r>
          </ns51:p>
          <ns52:p xmlns:ns52="http://schemas.openxmlformats.org/drawingml/2006/main">
            <ns52:pPr algn="l">
              <ns52:lnSpc>
                <ns52:spcPct val="105000"/>
              </ns52:lnSpc>
              <ns52:defRPr sz="1050" b="0">
                <ns52:solidFill>
                  <ns52:srgbClr val="20262C"/>
                </ns52:solidFill>
                <ns52:latin typeface="Arial"/>
                <ns52:ea typeface="Arial"/>
                <ns52:cs typeface="Arial"/>
              </ns52:defRPr>
            </ns52:pPr>
            <ns52:r>
              <ns52:rPr sz="1050" b="0">
                <ns52:solidFill>
                  <ns52:srgbClr val="20262C"/>
                </ns52:solidFill>
                <ns52:latin typeface="Arial"/>
                <ns52:ea typeface="Arial"/>
                <ns52:cs typeface="Arial"/>
              </ns52:rPr>
              <ns52:t>Bond and quote preparation</ns52:t>
            </ns52:r>
          </ns52:p>
        </p:txBody>
      </p:sp>
      <p:sp>
        <p:nvSpPr>
          <p:cNvPr id="11" name="firm.task.0.2"/>
          <p:cNvSpPr/>
          <p:nvPr/>
        </p:nvSpPr>
        <p:spPr>
          <ns53:xfrm xmlns:ns53="http://schemas.openxmlformats.org/drawingml/2006/main">
            <ns53:off x="457200" y="3556800"/>
            <ns53:ext cx="2559600" cy="468000"/>
          </ns53:xfrm>
          <ns54:prstGeom xmlns:ns54="http://schemas.openxmlformats.org/drawingml/2006/main" prst="rect">
            <ns54:avLst/>
          </ns54:prstGeom>
          <ns55:solidFill xmlns:ns55="http://schemas.openxmlformats.org/drawingml/2006/main">
            <ns55:srgbClr val="F3F7FA"/>
          </ns55:solidFill>
          <ns56:ln xmlns:ns56="http://schemas.openxmlformats.org/drawingml/2006/main" w="9525">
            <ns56:solidFill>
              <ns56:srgbClr val="65727D"/>
            </ns56:solidFill>
          </ns56:ln>
        </p:spPr>
        <p:txBody>
          <ns57:bodyPr xmlns:ns57="http://schemas.openxmlformats.org/drawingml/2006/main" wrap="square" lIns="61200" rIns="61200" tIns="61200" bIns="61200" anchor="ctr">
            <ns57:noAutofit/>
          </ns57:bodyPr>
          <ns58:lstStyle xmlns:ns58="http://schemas.openxmlformats.org/drawingml/2006/main"/>
          <ns59:p xmlns:ns59="http://schemas.openxmlformats.org/drawingml/2006/main">
            <ns59:pPr algn="l">
              <ns59:lnSpc>
                <ns59:spcPct val="105000"/>
              </ns59:lnSpc>
              <ns59:defRPr sz="1300" b="1">
                <ns59:solidFill>
                  <ns59:srgbClr val="65727D"/>
                </ns59:solidFill>
                <ns59:latin typeface="Arial"/>
                <ns59:ea typeface="Arial"/>
                <ns59:cs typeface="Arial"/>
              </ns59:defRPr>
            </ns59:pPr>
            <ns59:r>
              <ns59:rPr sz="1300" b="1">
                <ns59:solidFill>
                  <ns59:srgbClr val="65727D"/>
                </ns59:solidFill>
                <ns59:latin typeface="Arial"/>
                <ns59:ea typeface="Arial"/>
                <ns59:cs typeface="Arial"/>
              </ns59:rPr>
              <ns59:t>Client communications</ns59:t>
            </ns59:r>
          </ns59:p>
          <ns60:p xmlns:ns60="http://schemas.openxmlformats.org/drawingml/2006/main">
            <ns60:pPr algn="l">
              <ns60:lnSpc>
                <ns60:spcPct val="105000"/>
              </ns60:lnSpc>
              <ns60:defRPr sz="1050" b="0">
                <ns60:solidFill>
                  <ns60:srgbClr val="20262C"/>
                </ns60:solidFill>
                <ns60:latin typeface="Arial"/>
                <ns60:ea typeface="Arial"/>
                <ns60:cs typeface="Arial"/>
              </ns60:defRPr>
            </ns60:pPr>
            <ns60:r>
              <ns60:rPr sz="1050" b="0">
                <ns60:solidFill>
                  <ns60:srgbClr val="20262C"/>
                </ns60:solidFill>
                <ns60:latin typeface="Arial"/>
                <ns60:ea typeface="Arial"/>
                <ns60:cs typeface="Arial"/>
              </ns60:rPr>
              <ns60:t>Drafting, review and approval</ns60:t>
            </ns60:r>
          </ns60:p>
        </p:txBody>
      </p:sp>
      <p:cxnSp>
        <p:nvCxnSpPr>
          <p:cNvPr id="12" name="firm.office.branch.1"/>
          <p:cNvCxnSpPr/>
          <p:nvPr/>
        </p:nvCxnSpPr>
        <p:spPr>
          <ns61:xfrm xmlns:ns61="http://schemas.openxmlformats.org/drawingml/2006/main">
            <ns61:off x="4572000" y="1936800"/>
            <ns61:ext cx="1" cy="93600"/>
          </ns61:xfrm>
          <ns62:prstGeom xmlns:ns62="http://schemas.openxmlformats.org/drawingml/2006/main" prst="line">
            <ns62:avLst/>
          </ns62:prstGeom>
          <ns63:ln xmlns:ns63="http://schemas.openxmlformats.org/drawingml/2006/main" w="11430">
            <ns63:solidFill>
              <ns63:srgbClr val="005A9C"/>
            </ns63:solidFill>
          </ns63:ln>
        </p:spPr>
      </p:cxnSp>
      <p:sp>
        <p:nvSpPr>
          <p:cNvPr id="13" name="firm.office.1"/>
          <p:cNvSpPr/>
          <p:nvPr/>
        </p:nvSpPr>
        <p:spPr>
          <ns64:xfrm xmlns:ns64="http://schemas.openxmlformats.org/drawingml/2006/main">
            <ns64:off x="3294000" y="2059200"/>
            <ns64:ext cx="2556000" cy="342000"/>
          </ns64:xfrm>
          <ns65:prstGeom xmlns:ns65="http://schemas.openxmlformats.org/drawingml/2006/main" prst="roundRect">
            <ns65:avLst/>
          </ns65:prstGeom>
          <ns66:solidFill xmlns:ns66="http://schemas.openxmlformats.org/drawingml/2006/main">
            <ns66:srgbClr val="EAF3FA"/>
          </ns66:solidFill>
          <ns67:ln xmlns:ns67="http://schemas.openxmlformats.org/drawingml/2006/main" w="9525">
            <ns67:solidFill>
              <ns67:srgbClr val="005A9C"/>
            </ns67:solidFill>
          </ns67:ln>
        </p:spPr>
        <p:txBody>
          <ns68:bodyPr xmlns:ns68="http://schemas.openxmlformats.org/drawingml/2006/main" wrap="square" lIns="61200" rIns="61200" tIns="61200" bIns="61200" anchor="ctr">
            <ns68:noAutofit/>
          </ns68:bodyPr>
          <ns69:lstStyle xmlns:ns69="http://schemas.openxmlformats.org/drawingml/2006/main"/>
          <ns70:p xmlns:ns70="http://schemas.openxmlformats.org/drawingml/2006/main">
            <ns70:pPr algn="l">
              <ns70:lnSpc>
                <ns70:spcPct val="105000"/>
              </ns70:lnSpc>
              <ns70:defRPr sz="1300" b="1">
                <ns70:solidFill>
                  <ns70:srgbClr val="005A9C"/>
                </ns70:solidFill>
                <ns70:latin typeface="Arial"/>
                <ns70:ea typeface="Arial"/>
                <ns70:cs typeface="Arial"/>
              </ns70:defRPr>
            </ns70:pPr>
            <ns70:r>
              <ns70:rPr sz="1300" b="1">
                <ns70:solidFill>
                  <ns70:srgbClr val="005A9C"/>
                </ns70:solidFill>
                <ns70:latin typeface="Arial"/>
                <ns70:ea typeface="Arial"/>
                <ns70:cs typeface="Arial"/>
              </ns70:rPr>
              <ns70:t>Middle office</ns70:t>
            </ns70:r>
          </ns70:p>
        </p:txBody>
      </p:sp>
      <p:sp>
        <p:nvSpPr>
          <p:cNvPr id="14" name="firm.task.1.0"/>
          <p:cNvSpPr/>
          <p:nvPr/>
        </p:nvSpPr>
        <p:spPr>
          <ns71:xfrm xmlns:ns71="http://schemas.openxmlformats.org/drawingml/2006/main">
            <ns71:off x="3294000" y="2512800"/>
            <ns71:ext cx="2556000" cy="468000"/>
          </ns71:xfrm>
          <ns72:prstGeom xmlns:ns72="http://schemas.openxmlformats.org/drawingml/2006/main" prst="rect">
            <ns72:avLst/>
          </ns72:prstGeom>
          <ns73:solidFill xmlns:ns73="http://schemas.openxmlformats.org/drawingml/2006/main">
            <ns73:srgbClr val="F3F7FA"/>
          </ns73:solidFill>
          <ns74:ln xmlns:ns74="http://schemas.openxmlformats.org/drawingml/2006/main" w="9525">
            <ns74:solidFill>
              <ns74:srgbClr val="65727D"/>
            </ns74:solidFill>
          </ns74:ln>
        </p:spPr>
        <p:txBody>
          <ns75:bodyPr xmlns:ns75="http://schemas.openxmlformats.org/drawingml/2006/main" wrap="square" lIns="61200" rIns="61200" tIns="61200" bIns="61200" anchor="ctr">
            <ns75:noAutofit/>
          </ns75:bodyPr>
          <ns76:lstStyle xmlns:ns76="http://schemas.openxmlformats.org/drawingml/2006/main"/>
          <ns77:p xmlns:ns77="http://schemas.openxmlformats.org/drawingml/2006/main">
            <ns77:pPr algn="l">
              <ns77:lnSpc>
                <ns77:spcPct val="105000"/>
              </ns77:lnSpc>
              <ns77:defRPr sz="1300" b="1">
                <ns77:solidFill>
                  <ns77:srgbClr val="65727D"/>
                </ns77:solidFill>
                <ns77:latin typeface="Arial"/>
                <ns77:ea typeface="Arial"/>
                <ns77:cs typeface="Arial"/>
              </ns77:defRPr>
            </ns77:pPr>
            <ns77:r>
              <ns77:rPr sz="1300" b="1">
                <ns77:solidFill>
                  <ns77:srgbClr val="65727D"/>
                </ns77:solidFill>
                <ns77:latin typeface="Arial"/>
                <ns77:ea typeface="Arial"/>
                <ns77:cs typeface="Arial"/>
              </ns77:rPr>
              <ns77:t>Risk analysis</ns77:t>
            </ns77:r>
          </ns77:p>
          <ns78:p xmlns:ns78="http://schemas.openxmlformats.org/drawingml/2006/main">
            <ns78:pPr algn="l">
              <ns78:lnSpc>
                <ns78:spcPct val="105000"/>
              </ns78:lnSpc>
              <ns78:defRPr sz="1050" b="0">
                <ns78:solidFill>
                  <ns78:srgbClr val="20262C"/>
                </ns78:solidFill>
                <ns78:latin typeface="Arial"/>
                <ns78:ea typeface="Arial"/>
                <ns78:cs typeface="Arial"/>
              </ns78:defRPr>
            </ns78:pPr>
            <ns78:r>
              <ns78:rPr sz="1050" b="0">
                <ns78:solidFill>
                  <ns78:srgbClr val="20262C"/>
                </ns78:solidFill>
                <ns78:latin typeface="Arial"/>
                <ns78:ea typeface="Arial"/>
                <ns78:cs typeface="Arial"/>
              </ns78:rPr>
              <ns78:t>Exposure, impact and follow-up</ns78:t>
            </ns78:r>
          </ns78:p>
        </p:txBody>
      </p:sp>
      <p:cxnSp>
        <p:nvCxnSpPr>
          <p:cNvPr id="15" name="firm.office.branch.2"/>
          <p:cNvCxnSpPr/>
          <p:nvPr/>
        </p:nvCxnSpPr>
        <p:spPr>
          <ns79:xfrm xmlns:ns79="http://schemas.openxmlformats.org/drawingml/2006/main">
            <ns79:off x="7407000" y="1936800"/>
            <ns79:ext cx="1" cy="93600"/>
          </ns79:xfrm>
          <ns80:prstGeom xmlns:ns80="http://schemas.openxmlformats.org/drawingml/2006/main" prst="line">
            <ns80:avLst/>
          </ns80:prstGeom>
          <ns81:ln xmlns:ns81="http://schemas.openxmlformats.org/drawingml/2006/main" w="11430">
            <ns81:solidFill>
              <ns81:srgbClr val="005A9C"/>
            </ns81:solidFill>
          </ns81:ln>
        </p:spPr>
      </p:cxnSp>
      <p:sp>
        <p:nvSpPr>
          <p:cNvPr id="16" name="firm.office.2"/>
          <p:cNvSpPr/>
          <p:nvPr/>
        </p:nvSpPr>
        <p:spPr>
          <ns82:xfrm xmlns:ns82="http://schemas.openxmlformats.org/drawingml/2006/main">
            <ns82:off x="6127200" y="2059200"/>
            <ns82:ext cx="2559600" cy="342000"/>
          </ns82:xfrm>
          <ns83:prstGeom xmlns:ns83="http://schemas.openxmlformats.org/drawingml/2006/main" prst="roundRect">
            <ns83:avLst/>
          </ns83:prstGeom>
          <ns84:solidFill xmlns:ns84="http://schemas.openxmlformats.org/drawingml/2006/main">
            <ns84:srgbClr val="EAF3FA"/>
          </ns84:solidFill>
          <ns85:ln xmlns:ns85="http://schemas.openxmlformats.org/drawingml/2006/main" w="9525">
            <ns85:solidFill>
              <ns85:srgbClr val="005A9C"/>
            </ns85:solidFill>
          </ns85:ln>
        </p:spPr>
        <p:txBody>
          <ns86:bodyPr xmlns:ns86="http://schemas.openxmlformats.org/drawingml/2006/main" wrap="square" lIns="61200" rIns="61200" tIns="61200" bIns="61200" anchor="ctr">
            <ns86:noAutofit/>
          </ns86:bodyPr>
          <ns87:lstStyle xmlns:ns87="http://schemas.openxmlformats.org/drawingml/2006/main"/>
          <ns88:p xmlns:ns88="http://schemas.openxmlformats.org/drawingml/2006/main">
            <ns88:pPr algn="l">
              <ns88:lnSpc>
                <ns88:spcPct val="105000"/>
              </ns88:lnSpc>
              <ns88:defRPr sz="1300" b="1">
                <ns88:solidFill>
                  <ns88:srgbClr val="005A9C"/>
                </ns88:solidFill>
                <ns88:latin typeface="Arial"/>
                <ns88:ea typeface="Arial"/>
                <ns88:cs typeface="Arial"/>
              </ns88:defRPr>
            </ns88:pPr>
            <ns88:r>
              <ns88:rPr sz="1300" b="1">
                <ns88:solidFill>
                  <ns88:srgbClr val="005A9C"/>
                </ns88:solidFill>
                <ns88:latin typeface="Arial"/>
                <ns88:ea typeface="Arial"/>
                <ns88:cs typeface="Arial"/>
              </ns88:rPr>
              <ns88:t>Back office</ns88:t>
            </ns88:r>
          </ns88:p>
        </p:txBody>
      </p:sp>
      <p:sp>
        <p:nvSpPr>
          <p:cNvPr id="17" name="firm.task.2.0"/>
          <p:cNvSpPr/>
          <p:nvPr/>
        </p:nvSpPr>
        <p:spPr>
          <ns89:xfrm xmlns:ns89="http://schemas.openxmlformats.org/drawingml/2006/main">
            <ns89:off x="6127200" y="2512800"/>
            <ns89:ext cx="2559600" cy="468000"/>
          </ns89:xfrm>
          <ns90:prstGeom xmlns:ns90="http://schemas.openxmlformats.org/drawingml/2006/main" prst="rect">
            <ns90:avLst/>
          </ns90:prstGeom>
          <ns91:solidFill xmlns:ns91="http://schemas.openxmlformats.org/drawingml/2006/main">
            <ns91:srgbClr val="F3F7FA"/>
          </ns91:solidFill>
          <ns92:ln xmlns:ns92="http://schemas.openxmlformats.org/drawingml/2006/main" w="9525">
            <ns92:solidFill>
              <ns92:srgbClr val="65727D"/>
            </ns92:solidFill>
          </ns92:ln>
        </p:spPr>
        <p:txBody>
          <ns93:bodyPr xmlns:ns93="http://schemas.openxmlformats.org/drawingml/2006/main" wrap="square" lIns="61200" rIns="61200" tIns="61200" bIns="61200" anchor="ctr">
            <ns93:noAutofit/>
          </ns93:bodyPr>
          <ns94:lstStyle xmlns:ns94="http://schemas.openxmlformats.org/drawingml/2006/main"/>
          <ns95:p xmlns:ns95="http://schemas.openxmlformats.org/drawingml/2006/main">
            <ns95:pPr algn="l">
              <ns95:lnSpc>
                <ns95:spcPct val="105000"/>
              </ns95:lnSpc>
              <ns95:defRPr sz="1300" b="1">
                <ns95:solidFill>
                  <ns95:srgbClr val="65727D"/>
                </ns95:solidFill>
                <ns95:latin typeface="Arial"/>
                <ns95:ea typeface="Arial"/>
                <ns95:cs typeface="Arial"/>
              </ns95:defRPr>
            </ns95:pPr>
            <ns95:r>
              <ns95:rPr sz="1300" b="1">
                <ns95:solidFill>
                  <ns95:srgbClr val="65727D"/>
                </ns95:solidFill>
                <ns95:latin typeface="Arial"/>
                <ns95:ea typeface="Arial"/>
                <ns95:cs typeface="Arial"/>
              </ns95:rPr>
              <ns95:t>Record entry</ns95:t>
            </ns95:r>
          </ns95:p>
          <ns96:p xmlns:ns96="http://schemas.openxmlformats.org/drawingml/2006/main">
            <ns96:pPr algn="l">
              <ns96:lnSpc>
                <ns96:spcPct val="105000"/>
              </ns96:lnSpc>
              <ns96:defRPr sz="1050" b="0">
                <ns96:solidFill>
                  <ns96:srgbClr val="20262C"/>
                </ns96:solidFill>
                <ns96:latin typeface="Arial"/>
                <ns96:ea typeface="Arial"/>
                <ns96:cs typeface="Arial"/>
              </ns96:defRPr>
            </ns96:pPr>
            <ns96:r>
              <ns96:rPr sz="1050" b="0">
                <ns96:solidFill>
                  <ns96:srgbClr val="20262C"/>
                </ns96:solidFill>
                <ns96:latin typeface="Arial"/>
                <ns96:ea typeface="Arial"/>
                <ns96:cs typeface="Arial"/>
              </ns96:rPr>
              <ns96:t>Capture and validation</ns96:t>
            </ns96:r>
          </ns96:p>
        </p:txBody>
      </p:sp>
      <p:sp>
        <p:nvSpPr>
          <p:cNvPr id="18" name="firm.task.2.1"/>
          <p:cNvSpPr/>
          <p:nvPr/>
        </p:nvSpPr>
        <p:spPr>
          <ns97:xfrm xmlns:ns97="http://schemas.openxmlformats.org/drawingml/2006/main">
            <ns97:off x="6127200" y="3034800"/>
            <ns97:ext cx="2559600" cy="468000"/>
          </ns97:xfrm>
          <ns98:prstGeom xmlns:ns98="http://schemas.openxmlformats.org/drawingml/2006/main" prst="rect">
            <ns98:avLst/>
          </ns98:prstGeom>
          <ns99:solidFill xmlns:ns99="http://schemas.openxmlformats.org/drawingml/2006/main">
            <ns99:srgbClr val="F3F7FA"/>
          </ns99:solidFill>
          <ns100:ln xmlns:ns100="http://schemas.openxmlformats.org/drawingml/2006/main" w="9525">
            <ns100:solidFill>
              <ns100:srgbClr val="65727D"/>
            </ns100:solidFill>
          </ns100:ln>
        </p:spPr>
        <p:txBody>
          <ns101:bodyPr xmlns:ns101="http://schemas.openxmlformats.org/drawingml/2006/main" wrap="square" lIns="61200" rIns="61200" tIns="61200" bIns="61200" anchor="ctr">
            <ns101:noAutofit/>
          </ns101:bodyPr>
          <ns102:lstStyle xmlns:ns102="http://schemas.openxmlformats.org/drawingml/2006/main"/>
          <ns103:p xmlns:ns103="http://schemas.openxmlformats.org/drawingml/2006/main">
            <ns103:pPr algn="l">
              <ns103:lnSpc>
                <ns103:spcPct val="105000"/>
              </ns103:lnSpc>
              <ns103:defRPr sz="1300" b="1">
                <ns103:solidFill>
                  <ns103:srgbClr val="65727D"/>
                </ns103:solidFill>
                <ns103:latin typeface="Arial"/>
                <ns103:ea typeface="Arial"/>
                <ns103:cs typeface="Arial"/>
              </ns103:defRPr>
            </ns103:pPr>
            <ns103:r>
              <ns103:rPr sz="1300" b="1">
                <ns103:solidFill>
                  <ns103:srgbClr val="65727D"/>
                </ns103:solidFill>
                <ns103:latin typeface="Arial"/>
                <ns103:ea typeface="Arial"/>
                <ns103:cs typeface="Arial"/>
              </ns103:rPr>
              <ns103:t>Tool development</ns103:t>
            </ns103:r>
          </ns103:p>
          <ns104:p xmlns:ns104="http://schemas.openxmlformats.org/drawingml/2006/main">
            <ns104:pPr algn="l">
              <ns104:lnSpc>
                <ns104:spcPct val="105000"/>
              </ns104:lnSpc>
              <ns104:defRPr sz="1050" b="0">
                <ns104:solidFill>
                  <ns104:srgbClr val="20262C"/>
                </ns104:solidFill>
                <ns104:latin typeface="Arial"/>
                <ns104:ea typeface="Arial"/>
                <ns104:cs typeface="Arial"/>
              </ns104:defRPr>
            </ns104:pPr>
            <ns104:r>
              <ns104:rPr sz="1050" b="0">
                <ns104:solidFill>
                  <ns104:srgbClr val="20262C"/>
                </ns104:solidFill>
                <ns104:latin typeface="Arial"/>
                <ns104:ea typeface="Arial"/>
                <ns104:cs typeface="Arial"/>
              </ns104:rPr>
              <ns104:t>Internal business tools</ns104:t>
            </ns104:r>
          </ns104:p>
        </p:txBody>
      </p:sp>
      <p:sp>
        <p:nvSpPr>
          <p:cNvPr id="19" name="story.issuer"/>
          <p:cNvSpPr/>
          <p:nvPr/>
        </p:nvSpPr>
        <p:spPr>
          <ns105:xfrm xmlns:ns105="http://schemas.openxmlformats.org/drawingml/2006/main">
            <ns105:off x="457200" y="4230000"/>
            <ns105:ext cx="3934800" cy="396000"/>
          </ns105:xfrm>
          <ns106:prstGeom xmlns:ns106="http://schemas.openxmlformats.org/drawingml/2006/main" prst="rect">
            <ns106:avLst/>
          </ns106:prstGeom>
          <ns107:solidFill xmlns:ns107="http://schemas.openxmlformats.org/drawingml/2006/main">
            <ns107:srgbClr val="EFF6F4"/>
          </ns107:solidFill>
          <ns108:ln xmlns:ns108="http://schemas.openxmlformats.org/drawingml/2006/main" w="9525">
            <ns108:solidFill>
              <ns108:srgbClr val="317F7B"/>
            </ns108:solidFill>
          </ns108:ln>
        </p:spPr>
        <p:txBody>
          <ns109:bodyPr xmlns:ns109="http://schemas.openxmlformats.org/drawingml/2006/main" wrap="square" lIns="61200" rIns="61200" tIns="61200" bIns="61200" anchor="ctr">
            <ns109:noAutofit/>
          </ns109:bodyPr>
          <ns110:lstStyle xmlns:ns110="http://schemas.openxmlformats.org/drawingml/2006/main"/>
          <ns111:p xmlns:ns111="http://schemas.openxmlformats.org/drawingml/2006/main">
            <ns111:pPr algn="l">
              <ns111:lnSpc>
                <ns111:spcPct val="105000"/>
              </ns111:lnSpc>
              <ns111:defRPr sz="1300" b="1">
                <ns111:solidFill>
                  <ns111:srgbClr val="317F7B"/>
                </ns111:solidFill>
                <ns111:latin typeface="Arial"/>
                <ns111:ea typeface="Arial"/>
                <ns111:cs typeface="Arial"/>
              </ns111:defRPr>
            </ns111:pPr>
            <ns111:r>
              <ns111:rPr sz="1300" b="1">
                <ns111:solidFill>
                  <ns111:srgbClr val="317F7B"/>
                </ns111:solidFill>
                <ns111:latin typeface="Arial"/>
                <ns111:ea typeface="Arial"/>
                <ns111:cs typeface="Arial"/>
              </ns111:rPr>
              <ns111:t>Company A</ns111:t>
            </ns111:r>
          </ns111:p>
          <ns112:p xmlns:ns112="http://schemas.openxmlformats.org/drawingml/2006/main">
            <ns112:pPr algn="l">
              <ns112:lnSpc>
                <ns112:spcPct val="105000"/>
              </ns112:lnSpc>
              <ns112:defRPr sz="1050" b="0">
                <ns112:solidFill>
                  <ns112:srgbClr val="20262C"/>
                </ns112:solidFill>
                <ns112:latin typeface="Arial"/>
                <ns112:ea typeface="Arial"/>
                <ns112:cs typeface="Arial"/>
              </ns112:defRPr>
            </ns112:pPr>
            <ns112:r>
              <ns112:rPr sz="1050" b="0">
                <ns112:solidFill>
                  <ns112:srgbClr val="20262C"/>
                </ns112:solidFill>
                <ns112:latin typeface="Arial"/>
                <ns112:ea typeface="Arial"/>
                <ns112:cs typeface="Arial"/>
              </ns112:rPr>
              <ns112:t>Research / trading / risk / records</ns112:t>
            </ns112:r>
          </ns112:p>
        </p:txBody>
      </p:sp>
      <p:sp>
        <p:nvSpPr>
          <p:cNvPr id="20" name="story.client"/>
          <p:cNvSpPr/>
          <p:nvPr/>
        </p:nvSpPr>
        <p:spPr>
          <ns113:xfrm xmlns:ns113="http://schemas.openxmlformats.org/drawingml/2006/main">
            <ns113:off x="4752000" y="4230000"/>
            <ns113:ext cx="3934800" cy="396000"/>
          </ns113:xfrm>
          <ns114:prstGeom xmlns:ns114="http://schemas.openxmlformats.org/drawingml/2006/main" prst="rect">
            <ns114:avLst/>
          </ns114:prstGeom>
          <ns115:solidFill xmlns:ns115="http://schemas.openxmlformats.org/drawingml/2006/main">
            <ns115:srgbClr val="F7F4FB"/>
          </ns115:solidFill>
          <ns116:ln xmlns:ns116="http://schemas.openxmlformats.org/drawingml/2006/main" w="9525">
            <ns116:solidFill>
              <ns116:srgbClr val="7363A6"/>
            </ns116:solidFill>
          </ns116:ln>
        </p:spPr>
        <p:txBody>
          <ns117:bodyPr xmlns:ns117="http://schemas.openxmlformats.org/drawingml/2006/main" wrap="square" lIns="61200" rIns="61200" tIns="61200" bIns="61200" anchor="ctr">
            <ns117:noAutofit/>
          </ns117:bodyPr>
          <ns118:lstStyle xmlns:ns118="http://schemas.openxmlformats.org/drawingml/2006/main"/>
          <ns119:p xmlns:ns119="http://schemas.openxmlformats.org/drawingml/2006/main">
            <ns119:pPr algn="l">
              <ns119:lnSpc>
                <ns119:spcPct val="105000"/>
              </ns119:lnSpc>
              <ns119:defRPr sz="1300" b="1">
                <ns119:solidFill>
                  <ns119:srgbClr val="7363A6"/>
                </ns119:solidFill>
                <ns119:latin typeface="Arial"/>
                <ns119:ea typeface="Arial"/>
                <ns119:cs typeface="Arial"/>
              </ns119:defRPr>
            </ns119:pPr>
            <ns119:r>
              <ns119:rPr sz="1300" b="1">
                <ns119:solidFill>
                  <ns119:srgbClr val="7363A6"/>
                </ns119:solidFill>
                <ns119:latin typeface="Arial"/>
                <ns119:ea typeface="Arial"/>
                <ns119:cs typeface="Arial"/>
              </ns119:rPr>
              <ns119:t>Quarterly client update</ns119:t>
            </ns119:r>
          </ns119:p>
          <ns120:p xmlns:ns120="http://schemas.openxmlformats.org/drawingml/2006/main">
            <ns120:pPr algn="l">
              <ns120:lnSpc>
                <ns120:spcPct val="105000"/>
              </ns120:lnSpc>
              <ns120:defRPr sz="1050" b="0">
                <ns120:solidFill>
                  <ns120:srgbClr val="20262C"/>
                </ns120:solidFill>
                <ns120:latin typeface="Arial"/>
                <ns120:ea typeface="Arial"/>
                <ns120:cs typeface="Arial"/>
              </ns120:defRPr>
            </ns120:pPr>
            <ns120:r>
              <ns120:rPr sz="1050" b="0">
                <ns120:solidFill>
                  <ns120:srgbClr val="20262C"/>
                </ns120:solidFill>
                <ns120:latin typeface="Arial"/>
                <ns120:ea typeface="Arial"/>
                <ns120:cs typeface="Arial"/>
              </ns120:rPr>
              <ns120:t>Drafting / review / approval</ns120:t>
            </ns120:r>
          </ns120:p>
        </p:txBody>
      </p:sp>
    </p:spTree>
    <p:extLst>
      <p:ext uri="{BB962C8B-B14F-4D97-AF65-F5344CB8AC3E}">
        <p14:creationId xmlns:p14="http://schemas.microsoft.com/office/powerpoint/2010/main" val="1693129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Company Research: Assessing Growth Drivers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Research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7"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8"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0">
                <ns41:solidFill>
                  <ns41:srgbClr val="65727D"/>
                </ns41:solidFill>
                <ns41:latin typeface="Arial"/>
                <ns41:ea typeface="Arial"/>
                <ns41:cs typeface="Arial"/>
              </ns41:defRPr>
            </ns41:pPr>
            <ns41:r>
              <ns41:rPr sz="1050" b="0">
                <ns41:solidFill>
                  <ns41:srgbClr val="65727D"/>
                </ns41:solidFill>
                <ns41:latin typeface="Arial"/>
                <ns41:ea typeface="Arial"/>
                <ns41:cs typeface="Arial"/>
              </ns41:rPr>
              <ns41:t>Trading support</ns41:t>
            </ns41:r>
          </ns41:p>
        </p:txBody>
      </p:sp>
      <p:sp>
        <p:nvSpPr>
          <p:cNvPr id="9"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Client communications</ns48:t>
            </ns48:r>
          </ns48:p>
        </p:txBody>
      </p:sp>
      <p:sp>
        <p:nvSpPr>
          <p:cNvPr id="10"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2" name="map.task.risk"/>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Risk analysis</ns65:t>
            </ns65:r>
          </ns65:p>
        </p:txBody>
      </p:sp>
      <p:sp>
        <p:nvSpPr>
          <p:cNvPr id="13" name="map.office.2"/>
          <p:cNvSpPr/>
          <p:nvPr/>
        </p:nvSpPr>
        <p:spPr>
          <ns66:xfrm xmlns:ns66="http://schemas.openxmlformats.org/drawingml/2006/main">
            <ns66:off x="486000" y="3391200"/>
            <ns66:ext cx="1692000" cy="1800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100" b="1">
                <ns72:solidFill>
                  <ns72:srgbClr val="65727D"/>
                </ns72:solidFill>
                <ns72:latin typeface="Arial"/>
                <ns72:ea typeface="Arial"/>
                <ns72:cs typeface="Arial"/>
              </ns72:defRPr>
            </ns72:pPr>
            <ns72:r>
              <ns72:rPr sz="1100" b="1">
                <ns72:solidFill>
                  <ns72:srgbClr val="65727D"/>
                </ns72:solidFill>
                <ns72:latin typeface="Arial"/>
                <ns72:ea typeface="Arial"/>
                <ns72:cs typeface="Arial"/>
              </ns72:rPr>
              <ns72:t>Back office</ns72:t>
            </ns72:r>
          </ns72:p>
        </p:txBody>
      </p:sp>
      <p:cxnSp>
        <p:nvCxnSpPr>
          <p:cNvPr id="14" name="map.office.rule.2"/>
          <p:cNvCxnSpPr/>
          <p:nvPr/>
        </p:nvCxnSpPr>
        <p:spPr>
          <ns73:xfrm xmlns:ns73="http://schemas.openxmlformats.org/drawingml/2006/main">
            <ns73:off x="457200" y="3610800"/>
            <ns73:ext cx="1742400" cy="1"/>
          </ns73:xfrm>
          <ns74:prstGeom xmlns:ns74="http://schemas.openxmlformats.org/drawingml/2006/main" prst="line">
            <ns74:avLst/>
          </ns74:prstGeom>
          <ns75:ln xmlns:ns75="http://schemas.openxmlformats.org/drawingml/2006/main" w="7620">
            <ns75:solidFill>
              <ns75:srgbClr val="CBD4DA"/>
            </ns75:solidFill>
          </ns75:ln>
        </p:spPr>
      </p:cxnSp>
      <p:sp>
        <p:nvSpPr>
          <p:cNvPr id="15" name="map.task.records"/>
          <p:cNvSpPr/>
          <p:nvPr/>
        </p:nvSpPr>
        <p:spPr>
          <ns76:xfrm xmlns:ns76="http://schemas.openxmlformats.org/drawingml/2006/main">
            <ns76:off x="554400" y="3690000"/>
            <ns76:ext cx="1562400" cy="1656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050" b="0">
                <ns82:solidFill>
                  <ns82:srgbClr val="65727D"/>
                </ns82:solidFill>
                <ns82:latin typeface="Arial"/>
                <ns82:ea typeface="Arial"/>
                <ns82:cs typeface="Arial"/>
              </ns82:defRPr>
            </ns82:pPr>
            <ns82:r>
              <ns82:rPr sz="1050" b="0">
                <ns82:solidFill>
                  <ns82:srgbClr val="65727D"/>
                </ns82:solidFill>
                <ns82:latin typeface="Arial"/>
                <ns82:ea typeface="Arial"/>
                <ns82:cs typeface="Arial"/>
              </ns82:rPr>
              <ns82:t>Record entry</ns82:t>
            </ns82:r>
          </ns82:p>
        </p:txBody>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Tool development</ns89:t>
            </ns89:r>
          </ns89:p>
        </p:txBody>
      </p:sp>
      <p:sp>
        <p:nvSpPr>
          <p:cNvPr id="17" name="research.source.financials.paper"/>
          <p:cNvSpPr/>
          <p:nvPr/>
        </p:nvSpPr>
        <p:spPr>
          <ns104:xfrm xmlns:ns104="http://schemas.openxmlformats.org/drawingml/2006/main">
            <ns104:off x="2422800" y="1504800"/>
            <ns104:ext cx="1620000" cy="1080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317F7B"/>
            </ns107:solidFill>
          </ns107:ln>
        </p:spPr>
      </p:sp>
      <p:sp>
        <p:nvSpPr>
          <p:cNvPr id="18" name="research.source.financials.title"/>
          <p:cNvSpPr/>
          <p:nvPr/>
        </p:nvSpPr>
        <p:spPr>
          <ns108:xfrm xmlns:ns108="http://schemas.openxmlformats.org/drawingml/2006/main">
            <ns108:off x="2476800" y="1548000"/>
            <ns108:ext cx="1440000" cy="162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317F7B"/>
                </ns114:solidFill>
                <ns114:latin typeface="Arial"/>
                <ns114:ea typeface="Arial"/>
                <ns114:cs typeface="Arial"/>
              </ns114:defRPr>
            </ns114:pPr>
            <ns114:r>
              <ns114:rPr sz="1250" b="1">
                <ns114:solidFill>
                  <ns114:srgbClr val="317F7B"/>
                </ns114:solidFill>
                <ns114:latin typeface="Arial"/>
                <ns114:ea typeface="Arial"/>
                <ns114:cs typeface="Arial"/>
              </ns114:rPr>
              <ns114:t>[1] Company A</ns114:t>
            </ns114:r>
          </ns114:p>
        </p:txBody>
      </p:sp>
      <p:sp>
        <p:nvSpPr>
          <p:cNvPr id="19" name="research.source.financials.period"/>
          <p:cNvSpPr/>
          <p:nvPr/>
        </p:nvSpPr>
        <p:spPr>
          <ns115:xfrm xmlns:ns115="http://schemas.openxmlformats.org/drawingml/2006/main">
            <ns115:off x="2476800" y="1735200"/>
            <ns115:ext cx="1512000" cy="162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950" b="0">
                <ns121:solidFill>
                  <ns121:srgbClr val="65727D"/>
                </ns121:solidFill>
                <ns121:latin typeface="Arial"/>
                <ns121:ea typeface="Arial"/>
                <ns121:cs typeface="Arial"/>
              </ns121:defRPr>
            </ns121:pPr>
            <ns121:r>
              <ns121:rPr sz="950" b="0">
                <ns121:solidFill>
                  <ns121:srgbClr val="65727D"/>
                </ns121:solidFill>
                <ns121:latin typeface="Arial"/>
                <ns121:ea typeface="Arial"/>
                <ns121:cs typeface="Arial"/>
              </ns121:rPr>
              <ns121:t>Prior / current quarter</ns121:t>
            </ns121:r>
          </ns121:p>
        </p:txBody>
      </p:sp>
      <p:sp>
        <p:nvSpPr>
          <p:cNvPr id="20" name="research.source.financials.revenue.label"/>
          <p:cNvSpPr/>
          <p:nvPr/>
        </p:nvSpPr>
        <p:spPr>
          <ns122:xfrm xmlns:ns122="http://schemas.openxmlformats.org/drawingml/2006/main">
            <ns122:off x="2476800" y="1893600"/>
            <ns122:ext cx="846000" cy="3420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5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Revenue</ns128:t>
            </ns128:r>
          </ns128:p>
          <ns129:p xmlns:ns129="http://schemas.openxmlformats.org/drawingml/2006/main">
            <ns129:pPr algn="l">
              <ns129:lnSpc>
                <ns129:spcPct val="105000"/>
              </ns129:lnSpc>
              <ns129:defRPr sz="1050" b="0">
                <ns129:solidFill>
                  <ns129:srgbClr val="20262C"/>
                </ns129:solidFill>
                <ns129:latin typeface="Arial"/>
                <ns129:ea typeface="Arial"/>
                <ns129:cs typeface="Arial"/>
              </ns129:defRPr>
            </ns129:pPr>
            <ns129:r>
              <ns129:rPr sz="1050" b="0">
                <ns129:solidFill>
                  <ns129:srgbClr val="20262C"/>
                </ns129:solidFill>
                <ns129:latin typeface="Arial"/>
                <ns129:ea typeface="Arial"/>
                <ns129:cs typeface="Arial"/>
              </ns129:rPr>
              <ns129:t>(RMB m)</ns129:t>
            </ns129:r>
          </ns129:p>
        </p:txBody>
      </p:sp>
      <p:sp>
        <p:nvSpPr>
          <p:cNvPr id="21" name="research.source.financials.revenue.values"/>
          <p:cNvSpPr/>
          <p:nvPr/>
        </p:nvSpPr>
        <p:spPr>
          <ns130:xfrm xmlns:ns130="http://schemas.openxmlformats.org/drawingml/2006/main">
            <ns130:off x="3322800" y="1922400"/>
            <ns130:ext cx="666000" cy="198000"/>
          </ns130:xfrm>
          <ns131:prstGeom xmlns:ns131="http://schemas.openxmlformats.org/drawingml/2006/main" prst="rect">
            <ns131:avLst/>
          </ns131:prstGeom>
          <ns132:noFill xmlns:ns132="http://schemas.openxmlformats.org/drawingml/2006/main"/>
          <ns133:ln xmlns:ns133="http://schemas.openxmlformats.org/drawingml/2006/main" w="0">
            <ns133:noFill/>
          </ns133:ln>
        </p:spPr>
        <p:txBody>
          <ns134:bodyPr xmlns:ns134="http://schemas.openxmlformats.org/drawingml/2006/main" wrap="square" lIns="0" rIns="0" tIns="0" bIns="0" anchor="t">
            <ns134:noAutofit/>
          </ns134:bodyPr>
          <ns135:lstStyle xmlns:ns135="http://schemas.openxmlformats.org/drawingml/2006/main"/>
          <ns136:p xmlns:ns136="http://schemas.openxmlformats.org/drawingml/2006/main">
            <ns136:pPr algn="l">
              <ns136:lnSpc>
                <ns136:spcPct val="105000"/>
              </ns136:lnSpc>
              <ns136:defRPr sz="1200" b="1">
                <ns136:solidFill>
                  <ns136:srgbClr val="317F7B"/>
                </ns136:solidFill>
                <ns136:latin typeface="Arial"/>
                <ns136:ea typeface="Arial"/>
                <ns136:cs typeface="Arial"/>
              </ns136:defRPr>
            </ns136:pPr>
            <ns136:r>
              <ns136:rPr sz="1200" b="1">
                <ns136:solidFill>
                  <ns136:srgbClr val="317F7B"/>
                </ns136:solidFill>
                <ns136:latin typeface="Arial"/>
                <ns136:ea typeface="Arial"/>
                <ns136:cs typeface="Arial"/>
              </ns136:rPr>
              <ns136:t>100 / 110</ns136:t>
            </ns136:r>
          </ns136:p>
        </p:txBody>
      </p:sp>
      <p:sp>
        <p:nvSpPr>
          <p:cNvPr id="22" name="research.source.financials.volume.label"/>
          <p:cNvSpPr/>
          <p:nvPr/>
        </p:nvSpPr>
        <p:spPr>
          <ns137:xfrm xmlns:ns137="http://schemas.openxmlformats.org/drawingml/2006/main">
            <ns137:off x="2476800" y="2192400"/>
            <ns137:ext cx="846000" cy="3420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5000"/>
              </ns143:lnSpc>
              <ns143:defRPr sz="1050" b="0">
                <ns143:solidFill>
                  <ns143:srgbClr val="20262C"/>
                </ns143:solidFill>
                <ns143:latin typeface="Arial"/>
                <ns143:ea typeface="Arial"/>
                <ns143:cs typeface="Arial"/>
              </ns143:defRPr>
            </ns143:pPr>
            <ns143:r>
              <ns143:rPr sz="1050" b="0">
                <ns143:solidFill>
                  <ns143:srgbClr val="20262C"/>
                </ns143:solidFill>
                <ns143:latin typeface="Arial"/>
                <ns143:ea typeface="Arial"/>
                <ns143:cs typeface="Arial"/>
              </ns143:rPr>
              <ns143:t>Sales volume</ns143:t>
            </ns143:r>
          </ns143:p>
          <ns144:p xmlns:ns144="http://schemas.openxmlformats.org/drawingml/2006/main">
            <ns144:pPr algn="l">
              <ns144:lnSpc>
                <ns144:spcPct val="105000"/>
              </ns144:lnSpc>
              <ns144:defRPr sz="1050" b="0">
                <ns144:solidFill>
                  <ns144:srgbClr val="20262C"/>
                </ns144:solidFill>
                <ns144:latin typeface="Arial"/>
                <ns144:ea typeface="Arial"/>
                <ns144:cs typeface="Arial"/>
              </ns144:defRPr>
            </ns144:pPr>
            <ns144:r>
              <ns144:rPr sz="1050" b="0">
                <ns144:solidFill>
                  <ns144:srgbClr val="20262C"/>
                </ns144:solidFill>
                <ns144:latin typeface="Arial"/>
                <ns144:ea typeface="Arial"/>
                <ns144:cs typeface="Arial"/>
              </ns144:rPr>
              <ns144:t>(m units)</ns144:t>
            </ns144:r>
          </ns144:p>
        </p:txBody>
      </p:sp>
      <p:sp>
        <p:nvSpPr>
          <p:cNvPr id="23" name="research.source.financials.volume.values"/>
          <p:cNvSpPr/>
          <p:nvPr/>
        </p:nvSpPr>
        <p:spPr>
          <ns145:xfrm xmlns:ns145="http://schemas.openxmlformats.org/drawingml/2006/main">
            <ns145:off x="3322800" y="2221200"/>
            <ns145:ext cx="666000" cy="1980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5000"/>
              </ns151:lnSpc>
              <ns151:defRPr sz="1200" b="1">
                <ns151:solidFill>
                  <ns151:srgbClr val="317F7B"/>
                </ns151:solidFill>
                <ns151:latin typeface="Arial"/>
                <ns151:ea typeface="Arial"/>
                <ns151:cs typeface="Arial"/>
              </ns151:defRPr>
            </ns151:pPr>
            <ns151:r>
              <ns151:rPr sz="1200" b="1">
                <ns151:solidFill>
                  <ns151:srgbClr val="317F7B"/>
                </ns151:solidFill>
                <ns151:latin typeface="Arial"/>
                <ns151:ea typeface="Arial"/>
                <ns151:cs typeface="Arial"/>
              </ns151:rPr>
              <ns151:t>1.0 / 1.1</ns151:t>
            </ns151:r>
          </ns151:p>
        </p:txBody>
      </p:sp>
      <p:sp>
        <p:nvSpPr>
          <p:cNvPr id="24" name="research.source.meeting.paper"/>
          <p:cNvSpPr/>
          <p:nvPr/>
        </p:nvSpPr>
        <p:spPr>
          <ns152:xfrm xmlns:ns152="http://schemas.openxmlformats.org/drawingml/2006/main">
            <ns152:off x="4392000" y="1504800"/>
            <ns152:ext cx="1458000" cy="1116000"/>
          </ns152:xfrm>
          <ns153:prstGeom xmlns:ns153="http://schemas.openxmlformats.org/drawingml/2006/main" prst="foldedCorner">
            <ns153:avLst/>
          </ns153:prstGeom>
          <ns154:solidFill xmlns:ns154="http://schemas.openxmlformats.org/drawingml/2006/main">
            <ns154:srgbClr val="FFFFFF"/>
          </ns154:solidFill>
          <ns155:ln xmlns:ns155="http://schemas.openxmlformats.org/drawingml/2006/main" w="9525">
            <ns155:solidFill>
              <ns155:srgbClr val="317F7B"/>
            </ns155:solidFill>
          </ns155:ln>
        </p:spPr>
      </p:sp>
      <p:sp>
        <p:nvSpPr>
          <p:cNvPr id="25" name="research.source.meeting.title"/>
          <p:cNvSpPr/>
          <p:nvPr/>
        </p:nvSpPr>
        <p:spPr>
          <ns156:xfrm xmlns:ns156="http://schemas.openxmlformats.org/drawingml/2006/main">
            <ns156:off x="4456800" y="1548000"/>
            <ns156:ext cx="1260000" cy="198000"/>
          </ns156:xfrm>
          <ns157:prstGeom xmlns:ns157="http://schemas.openxmlformats.org/drawingml/2006/main" prst="rect">
            <ns157:avLst/>
          </ns157:prstGeom>
          <ns158:noFill xmlns:ns158="http://schemas.openxmlformats.org/drawingml/2006/main"/>
          <ns159:ln xmlns:ns159="http://schemas.openxmlformats.org/drawingml/2006/main" w="0">
            <ns159:noFill/>
          </ns159:ln>
        </p:spPr>
        <p:txBody>
          <ns160:bodyPr xmlns:ns160="http://schemas.openxmlformats.org/drawingml/2006/main" wrap="square" lIns="0" rIns="0" tIns="0" bIns="0" anchor="t">
            <ns160:noAutofit/>
          </ns160:bodyPr>
          <ns161:lstStyle xmlns:ns161="http://schemas.openxmlformats.org/drawingml/2006/main"/>
          <ns162:p xmlns:ns162="http://schemas.openxmlformats.org/drawingml/2006/main">
            <ns162:pPr algn="l">
              <ns162:lnSpc>
                <ns162:spcPct val="105000"/>
              </ns162:lnSpc>
              <ns162:defRPr sz="1250" b="1">
                <ns162:solidFill>
                  <ns162:srgbClr val="317F7B"/>
                </ns162:solidFill>
                <ns162:latin typeface="Arial"/>
                <ns162:ea typeface="Arial"/>
                <ns162:cs typeface="Arial"/>
              </ns162:defRPr>
            </ns162:pPr>
            <ns162:r>
              <ns162:rPr sz="1250" b="1">
                <ns162:solidFill>
                  <ns162:srgbClr val="317F7B"/>
                </ns162:solidFill>
                <ns162:latin typeface="Arial"/>
                <ns162:ea typeface="Arial"/>
                <ns162:cs typeface="Arial"/>
              </ns162:rPr>
              <ns162:t>Meeting notes</ns162:t>
            </ns162:r>
          </ns162:p>
        </p:txBody>
      </p:sp>
      <p:sp>
        <p:nvSpPr>
          <p:cNvPr id="26" name="research.source.meeting.content"/>
          <p:cNvSpPr/>
          <p:nvPr/>
        </p:nvSpPr>
        <p:spPr>
          <ns163:xfrm xmlns:ns163="http://schemas.openxmlformats.org/drawingml/2006/main">
            <ns163:off x="4456800" y="1764000"/>
            <ns163:ext cx="1328400" cy="806400"/>
          </ns163:xfrm>
          <ns164:prstGeom xmlns:ns164="http://schemas.openxmlformats.org/drawingml/2006/main" prst="rect">
            <ns164:avLst/>
          </ns164:prstGeom>
          <ns165:noFill xmlns:ns165="http://schemas.openxmlformats.org/drawingml/2006/main"/>
          <ns166:ln xmlns:ns166="http://schemas.openxmlformats.org/drawingml/2006/main" w="0">
            <ns166:noFill/>
          </ns166:ln>
        </p:spPr>
        <p:txBody>
          <ns167:bodyPr xmlns:ns167="http://schemas.openxmlformats.org/drawingml/2006/main" wrap="square" lIns="0" rIns="0" tIns="0" bIns="0" anchor="t">
            <ns167:noAutofit/>
          </ns167:bodyPr>
          <ns168:lstStyle xmlns:ns168="http://schemas.openxmlformats.org/drawingml/2006/main"/>
          <ns169:p xmlns:ns169="http://schemas.openxmlformats.org/drawingml/2006/main">
            <ns169:pPr algn="l">
              <ns169:lnSpc>
                <ns169:spcPct val="100000"/>
              </ns169:lnSpc>
              <ns169:defRPr sz="1050" b="0">
                <ns169:solidFill>
                  <ns169:srgbClr val="20262C"/>
                </ns169:solidFill>
                <ns169:latin typeface="Arial"/>
                <ns169:ea typeface="Arial"/>
                <ns169:cs typeface="Arial"/>
              </ns169:defRPr>
            </ns169:pPr>
            <ns169:r>
              <ns169:rPr sz="1050" b="0">
                <ns169:solidFill>
                  <ns169:srgbClr val="20262C"/>
                </ns169:solidFill>
                <ns169:latin typeface="Arial"/>
                <ns169:ea typeface="Arial"/>
                <ns169:cs typeface="Arial"/>
              </ns169:rPr>
              <ns169:t>Restocking lifted</ns169:t>
            </ns169:r>
          </ns169:p>
          <ns170:p xmlns:ns170="http://schemas.openxmlformats.org/drawingml/2006/main">
            <ns170:pPr algn="l">
              <ns170:lnSpc>
                <ns170:spcPct val="100000"/>
              </ns170:lnSpc>
              <ns170:defRPr sz="1050" b="0">
                <ns170:solidFill>
                  <ns170:srgbClr val="20262C"/>
                </ns170:solidFill>
                <ns170:latin typeface="Arial"/>
                <ns170:ea typeface="Arial"/>
                <ns170:cs typeface="Arial"/>
              </ns170:defRPr>
            </ns170:pPr>
            <ns170:r>
              <ns170:rPr sz="1050" b="0">
                <ns170:solidFill>
                  <ns170:srgbClr val="20262C"/>
                </ns170:solidFill>
                <ns170:latin typeface="Arial"/>
                <ns170:ea typeface="Arial"/>
                <ns170:cs typeface="Arial"/>
              </ns170:rPr>
              <ns170:t>shipments.</ns170:t>
            </ns170:r>
          </ns170:p>
          <ns171:p xmlns:ns171="http://schemas.openxmlformats.org/drawingml/2006/main">
            <ns171:pPr algn="l">
              <ns171:lnSpc>
                <ns171:spcPct val="100000"/>
              </ns171:lnSpc>
              <ns171:defRPr sz="1050" b="0">
                <ns171:solidFill>
                  <ns171:srgbClr val="20262C"/>
                </ns171:solidFill>
                <ns171:latin typeface="Arial"/>
                <ns171:ea typeface="Arial"/>
                <ns171:cs typeface="Arial"/>
              </ns171:defRPr>
            </ns171:pPr>
            <ns171:r>
              <ns171:rPr sz="1050" b="0">
                <ns171:solidFill>
                  <ns171:srgbClr val="20262C"/>
                </ns171:solidFill>
                <ns171:latin typeface="Arial"/>
                <ns171:ea typeface="Arial"/>
                <ns171:cs typeface="Arial"/>
              </ns171:rPr>
              <ns171:t>Assess continuation.</ns171:t>
            </ns171:r>
          </ns171:p>
        </p:txBody>
      </p:sp>
      <p:sp>
        <p:nvSpPr>
          <p:cNvPr id="27" name="research.source.reports.paper"/>
          <p:cNvSpPr/>
          <p:nvPr/>
        </p:nvSpPr>
        <p:spPr>
          <ns172:xfrm xmlns:ns172="http://schemas.openxmlformats.org/drawingml/2006/main">
            <ns172:off x="6127200" y="1504800"/>
            <ns172:ext cx="2559600" cy="1116000"/>
          </ns172:xfrm>
          <ns173:prstGeom xmlns:ns173="http://schemas.openxmlformats.org/drawingml/2006/main" prst="foldedCorner">
            <ns173:avLst/>
          </ns173:prstGeom>
          <ns174:solidFill xmlns:ns174="http://schemas.openxmlformats.org/drawingml/2006/main">
            <ns174:srgbClr val="FFFFFF"/>
          </ns174:solidFill>
          <ns175:ln xmlns:ns175="http://schemas.openxmlformats.org/drawingml/2006/main" w="9525">
            <ns175:solidFill>
              <ns175:srgbClr val="317F7B"/>
            </ns175:solidFill>
          </ns175:ln>
        </p:spPr>
      </p:sp>
      <p:sp>
        <p:nvSpPr>
          <p:cNvPr id="28" name="research.source.reports.title"/>
          <p:cNvSpPr/>
          <p:nvPr/>
        </p:nvSpPr>
        <p:spPr>
          <ns176:xfrm xmlns:ns176="http://schemas.openxmlformats.org/drawingml/2006/main">
            <ns176:off x="6192000" y="1548000"/>
            <ns176:ext cx="2361600" cy="198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250" b="1">
                <ns182:solidFill>
                  <ns182:srgbClr val="317F7B"/>
                </ns182:solidFill>
                <ns182:latin typeface="Arial"/>
                <ns182:ea typeface="Arial"/>
                <ns182:cs typeface="Arial"/>
              </ns182:defRPr>
            </ns182:pPr>
            <ns182:r>
              <ns182:rPr sz="1250" b="1">
                <ns182:solidFill>
                  <ns182:srgbClr val="317F7B"/>
                </ns182:solidFill>
                <ns182:latin typeface="Arial"/>
                <ns182:ea typeface="Arial"/>
                <ns182:cs typeface="Arial"/>
              </ns182:rPr>
              <ns182:t>Two research reports</ns182:t>
            </ns182:r>
          </ns182:p>
        </p:txBody>
      </p:sp>
      <p:sp>
        <p:nvSpPr>
          <p:cNvPr id="29" name="research.source.reports.content"/>
          <p:cNvSpPr/>
          <p:nvPr/>
        </p:nvSpPr>
        <p:spPr>
          <ns183:xfrm xmlns:ns183="http://schemas.openxmlformats.org/drawingml/2006/main">
            <ns183:off x="6192000" y="1764000"/>
            <ns183:ext cx="2430000" cy="806400"/>
          </ns183:xfrm>
          <ns184:prstGeom xmlns:ns184="http://schemas.openxmlformats.org/drawingml/2006/main" prst="rect">
            <ns184:avLst/>
          </ns184:prstGeom>
          <ns185:noFill xmlns:ns185="http://schemas.openxmlformats.org/drawingml/2006/main"/>
          <ns186:ln xmlns:ns186="http://schemas.openxmlformats.org/drawingml/2006/main" w="0">
            <ns186:noFill/>
          </ns186:ln>
        </p:spPr>
        <p:txBody>
          <ns187:bodyPr xmlns:ns187="http://schemas.openxmlformats.org/drawingml/2006/main" wrap="square" lIns="0" rIns="0" tIns="0" bIns="0" anchor="t">
            <ns187:noAutofit/>
          </ns187:bodyPr>
          <ns188:lstStyle xmlns:ns188="http://schemas.openxmlformats.org/drawingml/2006/main"/>
          <ns189:p xmlns:ns189="http://schemas.openxmlformats.org/drawingml/2006/main">
            <ns189:pPr algn="l">
              <ns189:lnSpc>
                <ns189:spcPct val="100000"/>
              </ns189:lnSpc>
              <ns189:defRPr sz="1150" b="0">
                <ns189:solidFill>
                  <ns189:srgbClr val="20262C"/>
                </ns189:solidFill>
                <ns189:latin typeface="Arial"/>
                <ns189:ea typeface="Arial"/>
                <ns189:cs typeface="Arial"/>
              </ns189:defRPr>
            </ns189:pPr>
            <ns189:r>
              <ns189:rPr sz="1150" b="0">
                <ns189:solidFill>
                  <ns189:srgbClr val="20262C"/>
                </ns189:solidFill>
                <ns189:latin typeface="Arial"/>
                <ns189:ea typeface="Arial"/>
                <ns189:cs typeface="Arial"/>
              </ns189:rPr>
              <ns189:t>A: demand recovery can</ns189:t>
            </ns189:r>
          </ns189:p>
          <ns190:p xmlns:ns190="http://schemas.openxmlformats.org/drawingml/2006/main">
            <ns190:pPr algn="l">
              <ns190:lnSpc>
                <ns190:spcPct val="100000"/>
              </ns190:lnSpc>
              <ns190:defRPr sz="1150" b="0">
                <ns190:solidFill>
                  <ns190:srgbClr val="20262C"/>
                </ns190:solidFill>
                <ns190:latin typeface="Arial"/>
                <ns190:ea typeface="Arial"/>
                <ns190:cs typeface="Arial"/>
              </ns190:defRPr>
            </ns190:pPr>
            <ns190:r>
              <ns190:rPr sz="1150" b="0">
                <ns190:solidFill>
                  <ns190:srgbClr val="20262C"/>
                </ns190:solidFill>
                <ns190:latin typeface="Arial"/>
                <ns190:ea typeface="Arial"/>
                <ns190:cs typeface="Arial"/>
              </ns190:rPr>
              <ns190:t>sustain growth.</ns190:t>
            </ns190:r>
          </ns190:p>
          <ns191:p xmlns:ns191="http://schemas.openxmlformats.org/drawingml/2006/main">
            <ns191:pPr algn="l">
              <ns191:lnSpc>
                <ns191:spcPct val="100000"/>
              </ns191:lnSpc>
              <ns191:defRPr sz="1150" b="0">
                <ns191:solidFill>
                  <ns191:srgbClr val="20262C"/>
                </ns191:solidFill>
                <ns191:latin typeface="Arial"/>
                <ns191:ea typeface="Arial"/>
                <ns191:cs typeface="Arial"/>
              </ns191:defRPr>
            </ns191:pPr>
            <ns191:r>
              <ns191:rPr sz="1150" b="0">
                <ns191:solidFill>
                  <ns191:srgbClr val="20262C"/>
                </ns191:solidFill>
                <ns191:latin typeface="Arial"/>
                <ns191:ea typeface="Arial"/>
                <ns191:cs typeface="Arial"/>
              </ns191:rPr>
              <ns191:t>B: continued restocking</ns191:t>
            </ns191:r>
          </ns191:p>
          <ns192:p xmlns:ns192="http://schemas.openxmlformats.org/drawingml/2006/main">
            <ns192:pPr algn="l">
              <ns192:lnSpc>
                <ns192:spcPct val="100000"/>
              </ns192:lnSpc>
              <ns192:defRPr sz="1150" b="0">
                <ns192:solidFill>
                  <ns192:srgbClr val="20262C"/>
                </ns192:solidFill>
                <ns192:latin typeface="Arial"/>
                <ns192:ea typeface="Arial"/>
                <ns192:cs typeface="Arial"/>
              </ns192:defRPr>
            </ns192:pPr>
            <ns192:r>
              <ns192:rPr sz="1150" b="0">
                <ns192:solidFill>
                  <ns192:srgbClr val="20262C"/>
                </ns192:solidFill>
                <ns192:latin typeface="Arial"/>
                <ns192:ea typeface="Arial"/>
                <ns192:cs typeface="Arial"/>
              </ns192:rPr>
              <ns192:t>is uncertain.</ns192:t>
            </ns192:r>
          </ns192:p>
        </p:txBody>
      </p:sp>
      <p:cxnSp>
        <p:nvCxnSpPr>
          <p:cNvPr id="30" name="source.collection.8.98"/>
          <p:cNvCxnSpPr/>
          <p:nvPr/>
        </p:nvCxnSpPr>
        <p:spPr>
          <ns193:xfrm xmlns:ns193="http://schemas.openxmlformats.org/drawingml/2006/main">
            <ns193:off x="3232800" y="2584800"/>
            <ns193:ext cx="1" cy="169200"/>
          </ns193:xfrm>
          <ns194:prstGeom xmlns:ns194="http://schemas.openxmlformats.org/drawingml/2006/main" prst="line">
            <ns194:avLst/>
          </ns194:prstGeom>
          <ns195:ln xmlns:ns195="http://schemas.openxmlformats.org/drawingml/2006/main" w="9525">
            <ns195:solidFill>
              <ns195:srgbClr val="317F7B"/>
            </ns195:solidFill>
          </ns195:ln>
        </p:spPr>
      </p:cxnSp>
      <p:cxnSp>
        <p:nvCxnSpPr>
          <p:cNvPr id="31" name="source.collection.14.225"/>
          <p:cNvCxnSpPr/>
          <p:nvPr/>
        </p:nvCxnSpPr>
        <p:spPr>
          <ns196:xfrm xmlns:ns196="http://schemas.openxmlformats.org/drawingml/2006/main">
            <ns196:off x="5121000" y="2620800"/>
            <ns196:ext cx="1" cy="133200"/>
          </ns196:xfrm>
          <ns197:prstGeom xmlns:ns197="http://schemas.openxmlformats.org/drawingml/2006/main" prst="line">
            <ns197:avLst/>
          </ns197:prstGeom>
          <ns198:ln xmlns:ns198="http://schemas.openxmlformats.org/drawingml/2006/main" w="9525">
            <ns198:solidFill>
              <ns198:srgbClr val="317F7B"/>
            </ns198:solidFill>
          </ns198:ln>
        </p:spPr>
      </p:cxnSp>
      <p:cxnSp>
        <p:nvCxnSpPr>
          <p:cNvPr id="32" name="source.collection.20.575"/>
          <p:cNvCxnSpPr/>
          <p:nvPr/>
        </p:nvCxnSpPr>
        <p:spPr>
          <ns199:xfrm xmlns:ns199="http://schemas.openxmlformats.org/drawingml/2006/main">
            <ns199:off x="7407000" y="2620800"/>
            <ns199:ext cx="1" cy="133200"/>
          </ns199:xfrm>
          <ns200:prstGeom xmlns:ns200="http://schemas.openxmlformats.org/drawingml/2006/main" prst="line">
            <ns200:avLst/>
          </ns200:prstGeom>
          <ns201:ln xmlns:ns201="http://schemas.openxmlformats.org/drawingml/2006/main" w="9525">
            <ns201:solidFill>
              <ns201:srgbClr val="317F7B"/>
            </ns201:solidFill>
          </ns201:ln>
        </p:spPr>
      </p:cxnSp>
      <p:cxnSp>
        <p:nvCxnSpPr>
          <p:cNvPr id="33" name="research.collection.bus"/>
          <p:cNvCxnSpPr/>
          <p:nvPr/>
        </p:nvCxnSpPr>
        <p:spPr>
          <ns202:xfrm xmlns:ns202="http://schemas.openxmlformats.org/drawingml/2006/main">
            <ns202:off x="3114000" y="2754000"/>
            <ns202:ext cx="4293000" cy="1"/>
          </ns202:xfrm>
          <ns203:prstGeom xmlns:ns203="http://schemas.openxmlformats.org/drawingml/2006/main" prst="line">
            <ns203:avLst/>
          </ns203:prstGeom>
          <ns204:ln xmlns:ns204="http://schemas.openxmlformats.org/drawingml/2006/main" w="9525">
            <ns204:solidFill>
              <ns204:srgbClr val="317F7B"/>
            </ns204:solidFill>
          </ns204:ln>
        </p:spPr>
      </p:cxnSp>
      <p:cxnSp>
        <p:nvCxnSpPr>
          <p:cNvPr id="34" name="research.collection.to.analyst"/>
          <p:cNvCxnSpPr/>
          <p:nvPr/>
        </p:nvCxnSpPr>
        <p:spPr>
          <ns205:xfrm xmlns:ns205="http://schemas.openxmlformats.org/drawingml/2006/main">
            <ns205:off x="3114000" y="2754000"/>
            <ns205:ext cx="1" cy="252000"/>
          </ns205:xfrm>
          <ns206:prstGeom xmlns:ns206="http://schemas.openxmlformats.org/drawingml/2006/main" prst="line">
            <ns206:avLst/>
          </ns206:prstGeom>
          <ns207:ln xmlns:ns207="http://schemas.openxmlformats.org/drawingml/2006/main" w="11430">
            <ns207:solidFill>
              <ns207:srgbClr val="317F7B"/>
            </ns207:solidFill>
            <ns207:tailEnd type="triangle" w="sm" len="sm"/>
          </ns207:ln>
        </p:spPr>
      </p:cxnSp>
      <p:sp>
        <p:nvSpPr>
          <p:cNvPr id="35" name="analyst.sequence.label"/>
          <p:cNvSpPr/>
          <p:nvPr/>
        </p:nvSpPr>
        <p:spPr>
          <ns208:xfrm xmlns:ns208="http://schemas.openxmlformats.org/drawingml/2006/main">
            <ns208:off x="4050000" y="2851200"/>
            <ns208:ext cx="4636800" cy="162000"/>
          </ns208:xfrm>
          <ns209:prstGeom xmlns:ns209="http://schemas.openxmlformats.org/drawingml/2006/main" prst="rect">
            <ns209:avLst/>
          </ns209:prstGeom>
          <ns210:noFill xmlns:ns210="http://schemas.openxmlformats.org/drawingml/2006/main"/>
          <ns211:ln xmlns:ns211="http://schemas.openxmlformats.org/drawingml/2006/main" w="0">
            <ns211:noFill/>
          </ns211:ln>
        </p:spPr>
        <p:txBody>
          <ns212:bodyPr xmlns:ns212="http://schemas.openxmlformats.org/drawingml/2006/main" wrap="square" lIns="0" rIns="0" tIns="0" bIns="0" anchor="t">
            <ns212:noAutofit/>
          </ns212:bodyPr>
          <ns213:lstStyle xmlns:ns213="http://schemas.openxmlformats.org/drawingml/2006/main"/>
          <ns214:p xmlns:ns214="http://schemas.openxmlformats.org/drawingml/2006/main">
            <ns214:pPr algn="l">
              <ns214:lnSpc>
                <ns214:spcPct val="105000"/>
              </ns214:lnSpc>
              <ns214:defRPr sz="1150" b="0">
                <ns214:solidFill>
                  <ns214:srgbClr val="005A9C"/>
                </ns214:solidFill>
                <ns214:latin typeface="Arial"/>
                <ns214:ea typeface="Arial"/>
                <ns214:cs typeface="Arial"/>
              </ns214:defRPr>
            </ns214:pPr>
            <ns214:r>
              <ns214:rPr sz="1150" b="0">
                <ns214:solidFill>
                  <ns214:srgbClr val="005A9C"/>
                </ns214:solidFill>
                <ns214:latin typeface="Arial"/>
                <ns214:ea typeface="Arial"/>
                <ns214:cs typeface="Arial"/>
              </ns214:rPr>
              <ns214:t>Analyst preparation</ns214:t>
            </ns214:r>
          </ns214:p>
        </p:txBody>
      </p:sp>
      <p:sp>
        <p:nvSpPr>
          <p:cNvPr id="36" name="analyst.action.0"/>
          <p:cNvSpPr/>
          <p:nvPr/>
        </p:nvSpPr>
        <p:spPr>
          <ns215:xfrm xmlns:ns215="http://schemas.openxmlformats.org/drawingml/2006/main">
            <ns215:off x="2422800" y="3060000"/>
            <ns215:ext cx="1382400" cy="522000"/>
          </ns215:xfrm>
          <ns216:prstGeom xmlns:ns216="http://schemas.openxmlformats.org/drawingml/2006/main" prst="roundRect">
            <ns216:avLst/>
          </ns216:prstGeom>
          <ns217:solidFill xmlns:ns217="http://schemas.openxmlformats.org/drawingml/2006/main">
            <ns217:srgbClr val="F3F7FA"/>
          </ns217:solidFill>
          <ns218:ln xmlns:ns218="http://schemas.openxmlformats.org/drawingml/2006/main" w="9525">
            <ns218:solidFill>
              <ns218:srgbClr val="65727D"/>
            </ns218:solidFill>
          </ns218:ln>
        </p:spPr>
        <p:txBody>
          <ns219:bodyPr xmlns:ns219="http://schemas.openxmlformats.org/drawingml/2006/main" wrap="square" lIns="61200" rIns="61200" tIns="61200" bIns="61200" anchor="ctr">
            <ns219:noAutofit/>
          </ns219:bodyPr>
          <ns220:lstStyle xmlns:ns220="http://schemas.openxmlformats.org/drawingml/2006/main"/>
          <ns221:p xmlns:ns221="http://schemas.openxmlformats.org/drawingml/2006/main">
            <ns221:pPr algn="l">
              <ns221:lnSpc>
                <ns221:spcPct val="105000"/>
              </ns221:lnSpc>
              <ns221:defRPr sz="1300" b="1">
                <ns221:solidFill>
                  <ns221:srgbClr val="65727D"/>
                </ns221:solidFill>
                <ns221:latin typeface="Arial"/>
                <ns221:ea typeface="Arial"/>
                <ns221:cs typeface="Arial"/>
              </ns221:defRPr>
            </ns221:pPr>
            <ns221:r>
              <ns221:rPr sz="1300" b="1">
                <ns221:solidFill>
                  <ns221:srgbClr val="65727D"/>
                </ns221:solidFill>
                <ns221:latin typeface="Arial"/>
                <ns221:ea typeface="Arial"/>
                <ns221:cs typeface="Arial"/>
              </ns221:rPr>
              <ns221:t>Find sources</ns221:t>
            </ns221:r>
          </ns221:p>
        </p:txBody>
      </p:sp>
      <p:cxnSp>
        <p:nvCxnSpPr>
          <p:cNvPr id="37" name="analyst.sequence.0"/>
          <p:cNvCxnSpPr/>
          <p:nvPr/>
        </p:nvCxnSpPr>
        <p:spPr>
          <ns222:xfrm xmlns:ns222="http://schemas.openxmlformats.org/drawingml/2006/main">
            <ns222:off x="3830400" y="3321000"/>
            <ns222:ext cx="183600" cy="1"/>
          </ns222:xfrm>
          <ns223:prstGeom xmlns:ns223="http://schemas.openxmlformats.org/drawingml/2006/main" prst="line">
            <ns223:avLst/>
          </ns223:prstGeom>
          <ns224:ln xmlns:ns224="http://schemas.openxmlformats.org/drawingml/2006/main" w="11430">
            <ns224:solidFill>
              <ns224:srgbClr val="005A9C"/>
            </ns224:solidFill>
            <ns224:tailEnd type="triangle" w="sm" len="sm"/>
          </ns224:ln>
        </p:spPr>
      </p:cxnSp>
      <p:sp>
        <p:nvSpPr>
          <p:cNvPr id="38" name="analyst.action.1"/>
          <p:cNvSpPr/>
          <p:nvPr/>
        </p:nvSpPr>
        <p:spPr>
          <ns225:xfrm xmlns:ns225="http://schemas.openxmlformats.org/drawingml/2006/main">
            <ns225:off x="4050000" y="3060000"/>
            <ns225:ext cx="1382400" cy="522000"/>
          </ns225:xfrm>
          <ns226:prstGeom xmlns:ns226="http://schemas.openxmlformats.org/drawingml/2006/main" prst="roundRect">
            <ns226:avLst/>
          </ns226:prstGeom>
          <ns227:solidFill xmlns:ns227="http://schemas.openxmlformats.org/drawingml/2006/main">
            <ns227:srgbClr val="F3F7FA"/>
          </ns227:solidFill>
          <ns228:ln xmlns:ns228="http://schemas.openxmlformats.org/drawingml/2006/main" w="9525">
            <ns228:solidFill>
              <ns228:srgbClr val="65727D"/>
            </ns228:solidFill>
          </ns228:ln>
        </p:spPr>
        <p:txBody>
          <ns229:bodyPr xmlns:ns229="http://schemas.openxmlformats.org/drawingml/2006/main" wrap="square" lIns="61200" rIns="61200" tIns="61200" bIns="61200" anchor="ctr">
            <ns229:noAutofit/>
          </ns229:bodyPr>
          <ns230:lstStyle xmlns:ns230="http://schemas.openxmlformats.org/drawingml/2006/main"/>
          <ns231:p xmlns:ns231="http://schemas.openxmlformats.org/drawingml/2006/main">
            <ns231:pPr algn="l">
              <ns231:lnSpc>
                <ns231:spcPct val="105000"/>
              </ns231:lnSpc>
              <ns231:defRPr sz="1300" b="1">
                <ns231:solidFill>
                  <ns231:srgbClr val="65727D"/>
                </ns231:solidFill>
                <ns231:latin typeface="Arial"/>
                <ns231:ea typeface="Arial"/>
                <ns231:cs typeface="Arial"/>
              </ns231:defRPr>
            </ns231:pPr>
            <ns231:r>
              <ns231:rPr sz="1300" b="1">
                <ns231:solidFill>
                  <ns231:srgbClr val="65727D"/>
                </ns231:solidFill>
                <ns231:latin typeface="Arial"/>
                <ns231:ea typeface="Arial"/>
                <ns231:cs typeface="Arial"/>
              </ns231:rPr>
              <ns231:t>Extract / calculate</ns231:t>
            </ns231:r>
          </ns231:p>
        </p:txBody>
      </p:sp>
      <p:cxnSp>
        <p:nvCxnSpPr>
          <p:cNvPr id="39" name="analyst.sequence.1"/>
          <p:cNvCxnSpPr/>
          <p:nvPr/>
        </p:nvCxnSpPr>
        <p:spPr>
          <ns232:xfrm xmlns:ns232="http://schemas.openxmlformats.org/drawingml/2006/main">
            <ns232:off x="5457600" y="3321000"/>
            <ns232:ext cx="183600" cy="1"/>
          </ns232:xfrm>
          <ns233:prstGeom xmlns:ns233="http://schemas.openxmlformats.org/drawingml/2006/main" prst="line">
            <ns233:avLst/>
          </ns233:prstGeom>
          <ns234:ln xmlns:ns234="http://schemas.openxmlformats.org/drawingml/2006/main" w="11430">
            <ns234:solidFill>
              <ns234:srgbClr val="005A9C"/>
            </ns234:solidFill>
            <ns234:tailEnd type="triangle" w="sm" len="sm"/>
          </ns234:ln>
        </p:spPr>
      </p:cxnSp>
      <p:sp>
        <p:nvSpPr>
          <p:cNvPr id="40" name="analyst.action.2"/>
          <p:cNvSpPr/>
          <p:nvPr/>
        </p:nvSpPr>
        <p:spPr>
          <ns235:xfrm xmlns:ns235="http://schemas.openxmlformats.org/drawingml/2006/main">
            <ns235:off x="5677200" y="3060000"/>
            <ns235:ext cx="1382400" cy="522000"/>
          </ns235:xfrm>
          <ns236:prstGeom xmlns:ns236="http://schemas.openxmlformats.org/drawingml/2006/main" prst="roundRect">
            <ns236:avLst/>
          </ns236:prstGeom>
          <ns237:solidFill xmlns:ns237="http://schemas.openxmlformats.org/drawingml/2006/main">
            <ns237:srgbClr val="F3F7FA"/>
          </ns237:solidFill>
          <ns238:ln xmlns:ns238="http://schemas.openxmlformats.org/drawingml/2006/main" w="9525">
            <ns238:solidFill>
              <ns238:srgbClr val="65727D"/>
            </ns238:solidFill>
          </ns238:ln>
        </p:spPr>
        <p:txBody>
          <ns239:bodyPr xmlns:ns239="http://schemas.openxmlformats.org/drawingml/2006/main" wrap="square" lIns="61200" rIns="61200" tIns="61200" bIns="61200" anchor="ctr">
            <ns239:noAutofit/>
          </ns239:bodyPr>
          <ns240:lstStyle xmlns:ns240="http://schemas.openxmlformats.org/drawingml/2006/main"/>
          <ns241:p xmlns:ns241="http://schemas.openxmlformats.org/drawingml/2006/main">
            <ns241:pPr algn="l">
              <ns241:lnSpc>
                <ns241:spcPct val="105000"/>
              </ns241:lnSpc>
              <ns241:defRPr sz="1300" b="1">
                <ns241:solidFill>
                  <ns241:srgbClr val="65727D"/>
                </ns241:solidFill>
                <ns241:latin typeface="Arial"/>
                <ns241:ea typeface="Arial"/>
                <ns241:cs typeface="Arial"/>
              </ns241:defRPr>
            </ns241:pPr>
            <ns241:r>
              <ns241:rPr sz="1300" b="1">
                <ns241:solidFill>
                  <ns241:srgbClr val="65727D"/>
                </ns241:solidFill>
                <ns241:latin typeface="Arial"/>
                <ns241:ea typeface="Arial"/>
                <ns241:cs typeface="Arial"/>
              </ns241:rPr>
              <ns241:t>Compare views</ns241:t>
            </ns241:r>
          </ns241:p>
        </p:txBody>
      </p:sp>
      <p:cxnSp>
        <p:nvCxnSpPr>
          <p:cNvPr id="41" name="analyst.sequence.2"/>
          <p:cNvCxnSpPr/>
          <p:nvPr/>
        </p:nvCxnSpPr>
        <p:spPr>
          <ns242:xfrm xmlns:ns242="http://schemas.openxmlformats.org/drawingml/2006/main">
            <ns242:off x="7084800" y="3321000"/>
            <ns242:ext cx="183600" cy="1"/>
          </ns242:xfrm>
          <ns243:prstGeom xmlns:ns243="http://schemas.openxmlformats.org/drawingml/2006/main" prst="line">
            <ns243:avLst/>
          </ns243:prstGeom>
          <ns244:ln xmlns:ns244="http://schemas.openxmlformats.org/drawingml/2006/main" w="11430">
            <ns244:solidFill>
              <ns244:srgbClr val="005A9C"/>
            </ns244:solidFill>
            <ns244:tailEnd type="triangle" w="sm" len="sm"/>
          </ns244:ln>
        </p:spPr>
      </p:cxnSp>
      <p:sp>
        <p:nvSpPr>
          <p:cNvPr id="42" name="analyst.action.3"/>
          <p:cNvSpPr/>
          <p:nvPr/>
        </p:nvSpPr>
        <p:spPr>
          <ns245:xfrm xmlns:ns245="http://schemas.openxmlformats.org/drawingml/2006/main">
            <ns245:off x="7304400" y="3060000"/>
            <ns245:ext cx="1382400" cy="522000"/>
          </ns245:xfrm>
          <ns246:prstGeom xmlns:ns246="http://schemas.openxmlformats.org/drawingml/2006/main" prst="roundRect">
            <ns246:avLst/>
          </ns246:prstGeom>
          <ns247:solidFill xmlns:ns247="http://schemas.openxmlformats.org/drawingml/2006/main">
            <ns247:srgbClr val="F3F7FA"/>
          </ns247:solidFill>
          <ns248:ln xmlns:ns248="http://schemas.openxmlformats.org/drawingml/2006/main" w="9525">
            <ns248:solidFill>
              <ns248:srgbClr val="65727D"/>
            </ns248:solidFill>
          </ns248:ln>
        </p:spPr>
        <p:txBody>
          <ns249:bodyPr xmlns:ns249="http://schemas.openxmlformats.org/drawingml/2006/main" wrap="square" lIns="61200" rIns="61200" tIns="61200" bIns="61200" anchor="ctr">
            <ns249:noAutofit/>
          </ns249:bodyPr>
          <ns250:lstStyle xmlns:ns250="http://schemas.openxmlformats.org/drawingml/2006/main"/>
          <ns251:p xmlns:ns251="http://schemas.openxmlformats.org/drawingml/2006/main">
            <ns251:pPr algn="l">
              <ns251:lnSpc>
                <ns251:spcPct val="105000"/>
              </ns251:lnSpc>
              <ns251:defRPr sz="1300" b="1">
                <ns251:solidFill>
                  <ns251:srgbClr val="65727D"/>
                </ns251:solidFill>
                <ns251:latin typeface="Arial"/>
                <ns251:ea typeface="Arial"/>
                <ns251:cs typeface="Arial"/>
              </ns251:defRPr>
            </ns251:pPr>
            <ns251:r>
              <ns251:rPr sz="1300" b="1">
                <ns251:solidFill>
                  <ns251:srgbClr val="65727D"/>
                </ns251:solidFill>
                <ns251:latin typeface="Arial"/>
                <ns251:ea typeface="Arial"/>
                <ns251:cs typeface="Arial"/>
              </ns251:rPr>
              <ns251:t>Record reasoning</ns251:t>
            </ns251:r>
          </ns251:p>
        </p:txBody>
      </p:sp>
      <p:sp>
        <p:nvSpPr>
          <p:cNvPr id="43" name="output.research.view"/>
          <p:cNvSpPr/>
          <p:nvPr/>
        </p:nvSpPr>
        <p:spPr>
          <ns252:xfrm xmlns:ns252="http://schemas.openxmlformats.org/drawingml/2006/main">
            <ns252:off x="4392000" y="3924000"/>
            <ns252:ext cx="2556000" cy="547200"/>
          </ns252:xfrm>
          <ns253:prstGeom xmlns:ns253="http://schemas.openxmlformats.org/drawingml/2006/main" prst="rect">
            <ns253:avLst/>
          </ns253:prstGeom>
          <ns254:solidFill xmlns:ns254="http://schemas.openxmlformats.org/drawingml/2006/main">
            <ns254:srgbClr val="EFF6F4"/>
          </ns254:solidFill>
          <ns255:ln xmlns:ns255="http://schemas.openxmlformats.org/drawingml/2006/main" w="9525">
            <ns255:solidFill>
              <ns255:srgbClr val="317F7B"/>
            </ns255:solidFill>
          </ns255:ln>
        </p:spPr>
        <p:txBody>
          <ns256:bodyPr xmlns:ns256="http://schemas.openxmlformats.org/drawingml/2006/main" wrap="square" lIns="61200" rIns="61200" tIns="61200" bIns="61200" anchor="ctr">
            <ns256:noAutofit/>
          </ns256:bodyPr>
          <ns257:lstStyle xmlns:ns257="http://schemas.openxmlformats.org/drawingml/2006/main"/>
          <ns258:p xmlns:ns258="http://schemas.openxmlformats.org/drawingml/2006/main">
            <ns258:pPr algn="l">
              <ns258:lnSpc>
                <ns258:spcPct val="105000"/>
              </ns258:lnSpc>
              <ns258:defRPr sz="1300" b="1">
                <ns258:solidFill>
                  <ns258:srgbClr val="317F7B"/>
                </ns258:solidFill>
                <ns258:latin typeface="Arial"/>
                <ns258:ea typeface="Arial"/>
                <ns258:cs typeface="Arial"/>
              </ns258:defRPr>
            </ns258:pPr>
            <ns258:r>
              <ns258:rPr sz="1300" b="1">
                <ns258:solidFill>
                  <ns258:srgbClr val="317F7B"/>
                </ns258:solidFill>
                <ns258:latin typeface="Arial"/>
                <ns258:ea typeface="Arial"/>
                <ns258:cs typeface="Arial"/>
              </ns258:rPr>
              <ns258:t>Research view</ns258:t>
            </ns258:r>
          </ns258:p>
          <ns259:p xmlns:ns259="http://schemas.openxmlformats.org/drawingml/2006/main">
            <ns259:pPr algn="l">
              <ns259:lnSpc>
                <ns259:spcPct val="105000"/>
              </ns259:lnSpc>
              <ns259:defRPr sz="1150" b="0">
                <ns259:solidFill>
                  <ns259:srgbClr val="20262C"/>
                </ns259:solidFill>
                <ns259:latin typeface="Arial"/>
                <ns259:ea typeface="Arial"/>
                <ns259:cs typeface="Arial"/>
              </ns259:defRPr>
            </ns259:pPr>
            <ns259:r>
              <ns259:rPr sz="1150" b="0">
                <ns259:solidFill>
                  <ns259:srgbClr val="20262C"/>
                </ns259:solidFill>
                <ns259:latin typeface="Arial"/>
                <ns259:ea typeface="Arial"/>
                <ns259:cs typeface="Arial"/>
              </ns259:rPr>
              <ns259:t>Is growth sustainable?</ns259:t>
            </ns259:r>
          </ns259:p>
        </p:txBody>
      </p:sp>
      <p:cxnSp>
        <p:nvCxnSpPr>
          <p:cNvPr id="44" name="analysis.to.view.0"/>
          <p:cNvCxnSpPr/>
          <p:nvPr/>
        </p:nvCxnSpPr>
        <p:spPr>
          <ns260:xfrm xmlns:ns260="http://schemas.openxmlformats.org/drawingml/2006/main">
            <ns260:off x="7995600" y="3607200"/>
            <ns260:ext cx="1" cy="590400"/>
          </ns260:xfrm>
          <ns261:prstGeom xmlns:ns261="http://schemas.openxmlformats.org/drawingml/2006/main" prst="line">
            <ns261:avLst/>
          </ns261:prstGeom>
          <ns262:ln xmlns:ns262="http://schemas.openxmlformats.org/drawingml/2006/main" w="11430">
            <ns262:solidFill>
              <ns262:srgbClr val="317F7B"/>
            </ns262:solidFill>
          </ns262:ln>
        </p:spPr>
      </p:cxnSp>
      <p:cxnSp>
        <p:nvCxnSpPr>
          <p:cNvPr id="45" name="analysis.to.view.1"/>
          <p:cNvCxnSpPr/>
          <p:nvPr/>
        </p:nvCxnSpPr>
        <p:spPr>
          <ns263:xfrm xmlns:ns263="http://schemas.openxmlformats.org/drawingml/2006/main" flipH="1">
            <ns263:off x="6984000" y="4197600"/>
            <ns263:ext cx="1011600" cy="1"/>
          </ns263:xfrm>
          <ns264:prstGeom xmlns:ns264="http://schemas.openxmlformats.org/drawingml/2006/main" prst="line">
            <ns264:avLst/>
          </ns264:prstGeom>
          <ns265:ln xmlns:ns265="http://schemas.openxmlformats.org/drawingml/2006/main" w="11430">
            <ns265:solidFill>
              <ns265:srgbClr val="317F7B"/>
            </ns265:solidFill>
            <ns265:tailEnd type="triangle" w="sm" len="sm"/>
          </ns265:ln>
        </p:spPr>
      </p:cxnSp>
    </p:spTree>
    <p:extLst>
      <p:ext uri="{BB962C8B-B14F-4D97-AF65-F5344CB8AC3E}">
        <p14:creationId xmlns:p14="http://schemas.microsoft.com/office/powerpoint/2010/main" val="236805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Company Research: Assessing Growth Drivers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Tianhong Fund: Analyzing Earnings Drivers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Tianhong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8"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role.llm.structure"/>
          <p:cNvSpPr/>
          <p:nvPr/>
        </p:nvSpPr>
        <p:spPr>
          <ns111:xfrm xmlns:ns111="http://schemas.openxmlformats.org/drawingml/2006/main">
            <ns111:off x="2422800" y="1476000"/>
            <ns111:ext cx="6264000" cy="424800"/>
          </ns111:xfrm>
          <ns112:prstGeom xmlns:ns112="http://schemas.openxmlformats.org/drawingml/2006/main" prst="roundRect">
            <ns112:avLst/>
          </ns112:prstGeom>
          <ns113:solidFill xmlns:ns113="http://schemas.openxmlformats.org/drawingml/2006/main">
            <ns113:srgbClr val="EAF3FA"/>
          </ns113:solidFill>
          <ns114:ln xmlns:ns114="http://schemas.openxmlformats.org/drawingml/2006/main" w="9525">
            <ns114:solidFill>
              <ns114:srgbClr val="005A9C"/>
            </ns114:solidFill>
          </ns114:ln>
        </p:spPr>
        <p:txBody>
          <ns115:bodyPr xmlns:ns115="http://schemas.openxmlformats.org/drawingml/2006/main" wrap="square" lIns="61200" rIns="61200" tIns="61200" bIns="61200" anchor="ctr">
            <ns115:noAutofit/>
          </ns115:bodyPr>
          <ns116:lstStyle xmlns:ns116="http://schemas.openxmlformats.org/drawingml/2006/main"/>
          <ns117:p xmlns:ns117="http://schemas.openxmlformats.org/drawingml/2006/main">
            <ns117:pPr algn="l">
              <ns117:lnSpc>
                <ns117:spcPct val="105000"/>
              </ns117:lnSpc>
              <ns117:defRPr sz="1300" b="1">
                <ns117:solidFill>
                  <ns117:srgbClr val="005A9C"/>
                </ns117:solidFill>
                <ns117:latin typeface="Arial"/>
                <ns117:ea typeface="Arial"/>
                <ns117:cs typeface="Arial"/>
              </ns117:defRPr>
            </ns117:pPr>
            <ns117:r>
              <ns117:rPr sz="1300" b="1">
                <ns117:solidFill>
                  <ns117:srgbClr val="005A9C"/>
                </ns117:solidFill>
                <ns117:latin typeface="Arial"/>
                <ns117:ea typeface="Arial"/>
                <ns117:cs typeface="Arial"/>
              </ns117:rPr>
              <ns117:t>LLM structures the analysis</ns117:t>
            </ns117:r>
          </ns117:p>
          <ns118:p xmlns:ns118="http://schemas.openxmlformats.org/drawingml/2006/main">
            <ns118:pPr algn="l">
              <ns118:lnSpc>
                <ns118:spcPct val="105000"/>
              </ns118:lnSpc>
              <ns118:defRPr sz="1150" b="0">
                <ns118:solidFill>
                  <ns118:srgbClr val="20262C"/>
                </ns118:solidFill>
                <ns118:latin typeface="Arial"/>
                <ns118:ea typeface="Arial"/>
                <ns118:cs typeface="Arial"/>
              </ns118:defRPr>
            </ns118:pPr>
            <ns118:r>
              <ns118:rPr sz="1150" b="0">
                <ns118:solidFill>
                  <ns118:srgbClr val="20262C"/>
                </ns118:solidFill>
                <ns118:latin typeface="Arial"/>
                <ns118:ea typeface="Arial"/>
                <ns118:cs typeface="Arial"/>
              </ns118:rPr>
              <ns118:t>Link operating drivers to earnings changes</ns118:t>
            </ns118:r>
          </ns118:p>
        </p:txBody>
      </p:sp>
      <p:sp>
        <p:nvSpPr>
          <p:cNvPr id="19" name="analysis.net.profit"/>
          <p:cNvSpPr/>
          <p:nvPr/>
        </p:nvSpPr>
        <p:spPr>
          <ns119:xfrm xmlns:ns119="http://schemas.openxmlformats.org/drawingml/2006/main">
            <ns119:off x="2422800" y="2552400"/>
            <ns119:ext cx="1224000" cy="522000"/>
          </ns119:xfrm>
          <ns120:prstGeom xmlns:ns120="http://schemas.openxmlformats.org/drawingml/2006/main" prst="roundRect">
            <ns120:avLst/>
          </ns120:prstGeom>
          <ns121:solidFill xmlns:ns121="http://schemas.openxmlformats.org/drawingml/2006/main">
            <ns121:srgbClr val="EAF3FA"/>
          </ns121:solidFill>
          <ns122:ln xmlns:ns122="http://schemas.openxmlformats.org/drawingml/2006/main" w="9525">
            <ns122:solidFill>
              <ns122:srgbClr val="005A9C"/>
            </ns122:solidFill>
          </ns122:ln>
        </p:spPr>
        <p:txBody>
          <ns123:bodyPr xmlns:ns123="http://schemas.openxmlformats.org/drawingml/2006/main" wrap="square" lIns="61200" rIns="61200" tIns="61200" bIns="61200" anchor="ctr">
            <ns123:noAutofit/>
          </ns123:bodyPr>
          <ns124:lstStyle xmlns:ns124="http://schemas.openxmlformats.org/drawingml/2006/main"/>
          <ns125:p xmlns:ns125="http://schemas.openxmlformats.org/drawingml/2006/main">
            <ns125:pPr algn="l">
              <ns125:lnSpc>
                <ns125:spcPct val="105000"/>
              </ns125:lnSpc>
              <ns125:defRPr sz="1300" b="1">
                <ns125:solidFill>
                  <ns125:srgbClr val="005A9C"/>
                </ns125:solidFill>
                <ns125:latin typeface="Arial"/>
                <ns125:ea typeface="Arial"/>
                <ns125:cs typeface="Arial"/>
              </ns125:defRPr>
            </ns125:pPr>
            <ns125:r>
              <ns125:rPr sz="1300" b="1">
                <ns125:solidFill>
                  <ns125:srgbClr val="005A9C"/>
                </ns125:solidFill>
                <ns125:latin typeface="Arial"/>
                <ns125:ea typeface="Arial"/>
                <ns125:cs typeface="Arial"/>
              </ns125:rPr>
              <ns125:t>Change in net profit</ns125:t>
            </ns125:r>
          </ns125:p>
        </p:txBody>
      </p:sp>
      <p:cxnSp>
        <p:nvCxnSpPr>
          <p:cNvPr id="20" name="earnings.trunk"/>
          <p:cNvCxnSpPr/>
          <p:nvPr/>
        </p:nvCxnSpPr>
        <p:spPr>
          <ns126:xfrm xmlns:ns126="http://schemas.openxmlformats.org/drawingml/2006/main">
            <ns126:off x="3852000" y="2304000"/>
            <ns126:ext cx="1" cy="1296000"/>
          </ns126:xfrm>
          <ns127:prstGeom xmlns:ns127="http://schemas.openxmlformats.org/drawingml/2006/main" prst="line">
            <ns127:avLst/>
          </ns127:prstGeom>
          <ns128:ln xmlns:ns128="http://schemas.openxmlformats.org/drawingml/2006/main" w="11430">
            <ns128:solidFill>
              <ns128:srgbClr val="005A9C"/>
            </ns128:solidFill>
          </ns128:ln>
        </p:spPr>
      </p:cxnSp>
      <p:cxnSp>
        <p:nvCxnSpPr>
          <p:cNvPr id="21" name="earnings.root.link"/>
          <p:cNvCxnSpPr/>
          <p:nvPr/>
        </p:nvCxnSpPr>
        <p:spPr>
          <ns129:xfrm xmlns:ns129="http://schemas.openxmlformats.org/drawingml/2006/main">
            <ns129:off x="3646800" y="2813400"/>
            <ns129:ext cx="205200" cy="1"/>
          </ns129:xfrm>
          <ns130:prstGeom xmlns:ns130="http://schemas.openxmlformats.org/drawingml/2006/main" prst="line">
            <ns130:avLst/>
          </ns130:prstGeom>
          <ns131:ln xmlns:ns131="http://schemas.openxmlformats.org/drawingml/2006/main" w="11430">
            <ns131:solidFill>
              <ns131:srgbClr val="005A9C"/>
            </ns131:solidFill>
          </ns131:ln>
        </p:spPr>
      </p:cxnSp>
      <p:cxnSp>
        <p:nvCxnSpPr>
          <p:cNvPr id="22" name="earnings.branch.0"/>
          <p:cNvCxnSpPr/>
          <p:nvPr/>
        </p:nvCxnSpPr>
        <p:spPr>
          <ns132:xfrm xmlns:ns132="http://schemas.openxmlformats.org/drawingml/2006/main">
            <ns132:off x="3852000" y="2304000"/>
            <ns132:ext cx="144000" cy="1"/>
          </ns132:xfrm>
          <ns133:prstGeom xmlns:ns133="http://schemas.openxmlformats.org/drawingml/2006/main" prst="line">
            <ns133:avLst/>
          </ns133:prstGeom>
          <ns134:ln xmlns:ns134="http://schemas.openxmlformats.org/drawingml/2006/main" w="11430">
            <ns134:solidFill>
              <ns134:srgbClr val="005A9C"/>
            </ns134:solidFill>
          </ns134:ln>
        </p:spPr>
      </p:cxnSp>
      <p:sp>
        <p:nvSpPr>
          <p:cNvPr id="23" name="earnings.category.0"/>
          <p:cNvSpPr/>
          <p:nvPr/>
        </p:nvSpPr>
        <p:spPr>
          <ns135:xfrm xmlns:ns135="http://schemas.openxmlformats.org/drawingml/2006/main">
            <ns135:off x="3996000" y="2088000"/>
            <ns135:ext cx="1188000" cy="432000"/>
          </ns135:xfrm>
          <ns136:prstGeom xmlns:ns136="http://schemas.openxmlformats.org/drawingml/2006/main" prst="rect">
            <ns136:avLst/>
          </ns136:prstGeom>
          <ns137:solidFill xmlns:ns137="http://schemas.openxmlformats.org/drawingml/2006/main">
            <ns137:srgbClr val="F3F7FA"/>
          </ns137:solidFill>
          <ns138:ln xmlns:ns138="http://schemas.openxmlformats.org/drawingml/2006/main" w="9525">
            <ns138:solidFill>
              <ns138:srgbClr val="65727D"/>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65727D"/>
                </ns141:solidFill>
                <ns141:latin typeface="Arial"/>
                <ns141:ea typeface="Arial"/>
                <ns141:cs typeface="Arial"/>
              </ns141:defRPr>
            </ns141:pPr>
            <ns141:r>
              <ns141:rPr sz="1300" b="1">
                <ns141:solidFill>
                  <ns141:srgbClr val="65727D"/>
                </ns141:solidFill>
                <ns141:latin typeface="Arial"/>
                <ns141:ea typeface="Arial"/>
                <ns141:cs typeface="Arial"/>
              </ns141:rPr>
              <ns141:t>Revenue</ns141:t>
            </ns141:r>
          </ns141:p>
        </p:txBody>
      </p:sp>
      <p:cxnSp>
        <p:nvCxnSpPr>
          <p:cNvPr id="24" name="earnings.driver.link.0"/>
          <p:cNvCxnSpPr/>
          <p:nvPr/>
        </p:nvCxnSpPr>
        <p:spPr>
          <ns142:xfrm xmlns:ns142="http://schemas.openxmlformats.org/drawingml/2006/main">
            <ns142:off x="5184000" y="2304000"/>
            <ns142:ext cx="270000" cy="1"/>
          </ns142:xfrm>
          <ns143:prstGeom xmlns:ns143="http://schemas.openxmlformats.org/drawingml/2006/main" prst="line">
            <ns143:avLst/>
          </ns143:prstGeom>
          <ns144:ln xmlns:ns144="http://schemas.openxmlformats.org/drawingml/2006/main" w="11430">
            <ns144:solidFill>
              <ns144:srgbClr val="005A9C"/>
            </ns144:solidFill>
          </ns144:ln>
        </p:spPr>
      </p:cxnSp>
      <p:sp>
        <p:nvSpPr>
          <p:cNvPr id="25" name="earnings.driver.0"/>
          <p:cNvSpPr/>
          <p:nvPr/>
        </p:nvSpPr>
        <p:spPr>
          <ns145:xfrm xmlns:ns145="http://schemas.openxmlformats.org/drawingml/2006/main">
            <ns145:off x="5490000" y="2088000"/>
            <ns145:ext cx="1638000" cy="432000"/>
          </ns145:xfrm>
          <ns146:prstGeom xmlns:ns146="http://schemas.openxmlformats.org/drawingml/2006/main" prst="rect">
            <ns146:avLst/>
          </ns146:prstGeom>
          <ns147:solidFill xmlns:ns147="http://schemas.openxmlformats.org/drawingml/2006/main">
            <ns147:srgbClr val="F3F7FA"/>
          </ns147:solidFill>
          <ns148:ln xmlns:ns148="http://schemas.openxmlformats.org/drawingml/2006/main" w="9525">
            <ns148:solidFill>
              <ns148:srgbClr val="65727D"/>
            </ns148:solidFill>
          </ns148:ln>
        </p:spPr>
        <p:txBody>
          <ns149:bodyPr xmlns:ns149="http://schemas.openxmlformats.org/drawingml/2006/main" wrap="square" lIns="61200" rIns="61200" tIns="61200" bIns="61200" anchor="ctr">
            <ns149:noAutofit/>
          </ns149:bodyPr>
          <ns150:lstStyle xmlns:ns150="http://schemas.openxmlformats.org/drawingml/2006/main"/>
          <ns151:p xmlns:ns151="http://schemas.openxmlformats.org/drawingml/2006/main">
            <ns151:pPr algn="l">
              <ns151:lnSpc>
                <ns151:spcPct val="105000"/>
              </ns151:lnSpc>
              <ns151:defRPr sz="1300" b="1">
                <ns151:solidFill>
                  <ns151:srgbClr val="65727D"/>
                </ns151:solidFill>
                <ns151:latin typeface="Arial"/>
                <ns151:ea typeface="Arial"/>
                <ns151:cs typeface="Arial"/>
              </ns151:defRPr>
            </ns151:pPr>
            <ns151:r>
              <ns151:rPr sz="1300" b="1">
                <ns151:solidFill>
                  <ns151:srgbClr val="65727D"/>
                </ns151:solidFill>
                <ns151:latin typeface="Arial"/>
                <ns151:ea typeface="Arial"/>
                <ns151:cs typeface="Arial"/>
              </ns151:rPr>
              <ns151:t>Volume / price</ns151:t>
            </ns151:r>
          </ns151:p>
        </p:txBody>
      </p:sp>
      <p:cxnSp>
        <p:nvCxnSpPr>
          <p:cNvPr id="26" name="earnings.branch.1"/>
          <p:cNvCxnSpPr/>
          <p:nvPr/>
        </p:nvCxnSpPr>
        <p:spPr>
          <ns152:xfrm xmlns:ns152="http://schemas.openxmlformats.org/drawingml/2006/main">
            <ns152:off x="3852000" y="2952000"/>
            <ns152:ext cx="144000" cy="1"/>
          </ns152:xfrm>
          <ns153:prstGeom xmlns:ns153="http://schemas.openxmlformats.org/drawingml/2006/main" prst="line">
            <ns153:avLst/>
          </ns153:prstGeom>
          <ns154:ln xmlns:ns154="http://schemas.openxmlformats.org/drawingml/2006/main" w="11430">
            <ns154:solidFill>
              <ns154:srgbClr val="005A9C"/>
            </ns154:solidFill>
          </ns154:ln>
        </p:spPr>
      </p:cxnSp>
      <p:sp>
        <p:nvSpPr>
          <p:cNvPr id="27" name="earnings.category.1"/>
          <p:cNvSpPr/>
          <p:nvPr/>
        </p:nvSpPr>
        <p:spPr>
          <ns155:xfrm xmlns:ns155="http://schemas.openxmlformats.org/drawingml/2006/main">
            <ns155:off x="3996000" y="2736000"/>
            <ns155:ext cx="1188000" cy="432000"/>
          </ns155:xfrm>
          <ns156:prstGeom xmlns:ns156="http://schemas.openxmlformats.org/drawingml/2006/main" prst="rect">
            <ns156:avLst/>
          </ns156:prstGeom>
          <ns157:solidFill xmlns:ns157="http://schemas.openxmlformats.org/drawingml/2006/main">
            <ns157:srgbClr val="F3F7FA"/>
          </ns157:solidFill>
          <ns158:ln xmlns:ns158="http://schemas.openxmlformats.org/drawingml/2006/main" w="9525">
            <ns158:solidFill>
              <ns158:srgbClr val="65727D"/>
            </ns158:solidFill>
          </ns158:ln>
        </p:spPr>
        <p:txBody>
          <ns159:bodyPr xmlns:ns159="http://schemas.openxmlformats.org/drawingml/2006/main" wrap="square" lIns="61200" rIns="61200" tIns="61200" bIns="61200" anchor="ctr">
            <ns159:noAutofit/>
          </ns159:bodyPr>
          <ns160:lstStyle xmlns:ns160="http://schemas.openxmlformats.org/drawingml/2006/main"/>
          <ns161:p xmlns:ns161="http://schemas.openxmlformats.org/drawingml/2006/main">
            <ns161:pPr algn="l">
              <ns161:lnSpc>
                <ns161:spcPct val="105000"/>
              </ns161:lnSpc>
              <ns161:defRPr sz="1300" b="1">
                <ns161:solidFill>
                  <ns161:srgbClr val="65727D"/>
                </ns161:solidFill>
                <ns161:latin typeface="Arial"/>
                <ns161:ea typeface="Arial"/>
                <ns161:cs typeface="Arial"/>
              </ns161:defRPr>
            </ns161:pPr>
            <ns161:r>
              <ns161:rPr sz="1300" b="1">
                <ns161:solidFill>
                  <ns161:srgbClr val="65727D"/>
                </ns161:solidFill>
                <ns161:latin typeface="Arial"/>
                <ns161:ea typeface="Arial"/>
                <ns161:cs typeface="Arial"/>
              </ns161:rPr>
              <ns161:t>Cost of sales</ns161:t>
            </ns161:r>
          </ns161:p>
        </p:txBody>
      </p:sp>
      <p:cxnSp>
        <p:nvCxnSpPr>
          <p:cNvPr id="28" name="earnings.driver.link.1"/>
          <p:cNvCxnSpPr/>
          <p:nvPr/>
        </p:nvCxnSpPr>
        <p:spPr>
          <ns162:xfrm xmlns:ns162="http://schemas.openxmlformats.org/drawingml/2006/main">
            <ns162:off x="5184000" y="2952000"/>
            <ns162:ext cx="270000" cy="1"/>
          </ns162:xfrm>
          <ns163:prstGeom xmlns:ns163="http://schemas.openxmlformats.org/drawingml/2006/main" prst="line">
            <ns163:avLst/>
          </ns163:prstGeom>
          <ns164:ln xmlns:ns164="http://schemas.openxmlformats.org/drawingml/2006/main" w="11430">
            <ns164:solidFill>
              <ns164:srgbClr val="005A9C"/>
            </ns164:solidFill>
          </ns164:ln>
        </p:spPr>
      </p:cxnSp>
      <p:sp>
        <p:nvSpPr>
          <p:cNvPr id="29" name="earnings.driver.1"/>
          <p:cNvSpPr/>
          <p:nvPr/>
        </p:nvSpPr>
        <p:spPr>
          <ns165:xfrm xmlns:ns165="http://schemas.openxmlformats.org/drawingml/2006/main">
            <ns165:off x="5490000" y="2736000"/>
            <ns165:ext cx="1638000" cy="432000"/>
          </ns165:xfrm>
          <ns166:prstGeom xmlns:ns166="http://schemas.openxmlformats.org/drawingml/2006/main" prst="rect">
            <ns166:avLst/>
          </ns166:prstGeom>
          <ns167:solidFill xmlns:ns167="http://schemas.openxmlformats.org/drawingml/2006/main">
            <ns167:srgbClr val="F3F7FA"/>
          </ns167:solidFill>
          <ns168:ln xmlns:ns168="http://schemas.openxmlformats.org/drawingml/2006/main" w="9525">
            <ns168:solidFill>
              <ns168:srgbClr val="65727D"/>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65727D"/>
                </ns171:solidFill>
                <ns171:latin typeface="Arial"/>
                <ns171:ea typeface="Arial"/>
                <ns171:cs typeface="Arial"/>
              </ns171:defRPr>
            </ns171:pPr>
            <ns171:r>
              <ns171:rPr sz="1300" b="1">
                <ns171:solidFill>
                  <ns171:srgbClr val="65727D"/>
                </ns171:solidFill>
                <ns171:latin typeface="Arial"/>
                <ns171:ea typeface="Arial"/>
                <ns171:cs typeface="Arial"/>
              </ns171:rPr>
              <ns171:t>Materials / production</ns171:t>
            </ns171:r>
          </ns171:p>
        </p:txBody>
      </p:sp>
      <p:cxnSp>
        <p:nvCxnSpPr>
          <p:cNvPr id="30" name="earnings.branch.2"/>
          <p:cNvCxnSpPr/>
          <p:nvPr/>
        </p:nvCxnSpPr>
        <p:spPr>
          <ns172:xfrm xmlns:ns172="http://schemas.openxmlformats.org/drawingml/2006/main">
            <ns172:off x="3852000" y="3600000"/>
            <ns172:ext cx="144000" cy="1"/>
          </ns172:xfrm>
          <ns173:prstGeom xmlns:ns173="http://schemas.openxmlformats.org/drawingml/2006/main" prst="line">
            <ns173:avLst/>
          </ns173:prstGeom>
          <ns174:ln xmlns:ns174="http://schemas.openxmlformats.org/drawingml/2006/main" w="11430">
            <ns174:solidFill>
              <ns174:srgbClr val="005A9C"/>
            </ns174:solidFill>
          </ns174:ln>
        </p:spPr>
      </p:cxnSp>
      <p:sp>
        <p:nvSpPr>
          <p:cNvPr id="31" name="earnings.category.2"/>
          <p:cNvSpPr/>
          <p:nvPr/>
        </p:nvSpPr>
        <p:spPr>
          <ns175:xfrm xmlns:ns175="http://schemas.openxmlformats.org/drawingml/2006/main">
            <ns175:off x="3996000" y="3384000"/>
            <ns175:ext cx="1188000" cy="432000"/>
          </ns175:xfrm>
          <ns176:prstGeom xmlns:ns176="http://schemas.openxmlformats.org/drawingml/2006/main" prst="rect">
            <ns176:avLst/>
          </ns176:prstGeom>
          <ns177:solidFill xmlns:ns177="http://schemas.openxmlformats.org/drawingml/2006/main">
            <ns177:srgbClr val="F3F7FA"/>
          </ns177:solidFill>
          <ns178:ln xmlns:ns178="http://schemas.openxmlformats.org/drawingml/2006/main" w="9525">
            <ns178:solidFill>
              <ns178:srgbClr val="65727D"/>
            </ns178:solidFill>
          </ns178:ln>
        </p:spPr>
        <p:txBody>
          <ns179:bodyPr xmlns:ns179="http://schemas.openxmlformats.org/drawingml/2006/main" wrap="square" lIns="61200" rIns="61200" tIns="61200" bIns="61200" anchor="ctr">
            <ns179:noAutofit/>
          </ns179:bodyPr>
          <ns180:lstStyle xmlns:ns180="http://schemas.openxmlformats.org/drawingml/2006/main"/>
          <ns181:p xmlns:ns181="http://schemas.openxmlformats.org/drawingml/2006/main">
            <ns181:pPr algn="l">
              <ns181:lnSpc>
                <ns181:spcPct val="105000"/>
              </ns181:lnSpc>
              <ns181:defRPr sz="1300" b="1">
                <ns181:solidFill>
                  <ns181:srgbClr val="65727D"/>
                </ns181:solidFill>
                <ns181:latin typeface="Arial"/>
                <ns181:ea typeface="Arial"/>
                <ns181:cs typeface="Arial"/>
              </ns181:defRPr>
            </ns181:pPr>
            <ns181:r>
              <ns181:rPr sz="1300" b="1">
                <ns181:solidFill>
                  <ns181:srgbClr val="65727D"/>
                </ns181:solidFill>
                <ns181:latin typeface="Arial"/>
                <ns181:ea typeface="Arial"/>
                <ns181:cs typeface="Arial"/>
              </ns181:rPr>
              <ns181:t>Expenses</ns181:t>
            </ns181:r>
          </ns181:p>
        </p:txBody>
      </p:sp>
      <p:cxnSp>
        <p:nvCxnSpPr>
          <p:cNvPr id="32" name="earnings.driver.link.2"/>
          <p:cNvCxnSpPr/>
          <p:nvPr/>
        </p:nvCxnSpPr>
        <p:spPr>
          <ns182:xfrm xmlns:ns182="http://schemas.openxmlformats.org/drawingml/2006/main">
            <ns182:off x="5184000" y="3600000"/>
            <ns182:ext cx="270000" cy="1"/>
          </ns182:xfrm>
          <ns183:prstGeom xmlns:ns183="http://schemas.openxmlformats.org/drawingml/2006/main" prst="line">
            <ns183:avLst/>
          </ns183:prstGeom>
          <ns184:ln xmlns:ns184="http://schemas.openxmlformats.org/drawingml/2006/main" w="11430">
            <ns184:solidFill>
              <ns184:srgbClr val="005A9C"/>
            </ns184:solidFill>
          </ns184:ln>
        </p:spPr>
      </p:cxnSp>
      <p:sp>
        <p:nvSpPr>
          <p:cNvPr id="33" name="earnings.driver.2"/>
          <p:cNvSpPr/>
          <p:nvPr/>
        </p:nvSpPr>
        <p:spPr>
          <ns185:xfrm xmlns:ns185="http://schemas.openxmlformats.org/drawingml/2006/main">
            <ns185:off x="5490000" y="3384000"/>
            <ns185:ext cx="1638000" cy="432000"/>
          </ns185:xfrm>
          <ns186:prstGeom xmlns:ns186="http://schemas.openxmlformats.org/drawingml/2006/main" prst="rect">
            <ns186:avLst/>
          </ns186:prstGeom>
          <ns187:solidFill xmlns:ns187="http://schemas.openxmlformats.org/drawingml/2006/main">
            <ns187:srgbClr val="F3F7FA"/>
          </ns187:solidFill>
          <ns188:ln xmlns:ns188="http://schemas.openxmlformats.org/drawingml/2006/main" w="9525">
            <ns188:solidFill>
              <ns188:srgbClr val="65727D"/>
            </ns188:solidFill>
          </ns188:ln>
        </p:spPr>
        <p:txBody>
          <ns189:bodyPr xmlns:ns189="http://schemas.openxmlformats.org/drawingml/2006/main" wrap="square" lIns="61200" rIns="61200" tIns="61200" bIns="61200" anchor="ctr">
            <ns189:noAutofit/>
          </ns189:bodyPr>
          <ns190:lstStyle xmlns:ns190="http://schemas.openxmlformats.org/drawingml/2006/main"/>
          <ns191:p xmlns:ns191="http://schemas.openxmlformats.org/drawingml/2006/main">
            <ns191:pPr algn="l">
              <ns191:lnSpc>
                <ns191:spcPct val="105000"/>
              </ns191:lnSpc>
              <ns191:defRPr sz="1300" b="1">
                <ns191:solidFill>
                  <ns191:srgbClr val="65727D"/>
                </ns191:solidFill>
                <ns191:latin typeface="Arial"/>
                <ns191:ea typeface="Arial"/>
                <ns191:cs typeface="Arial"/>
              </ns191:defRPr>
            </ns191:pPr>
            <ns191:r>
              <ns191:rPr sz="1300" b="1">
                <ns191:solidFill>
                  <ns191:srgbClr val="65727D"/>
                </ns191:solidFill>
                <ns191:latin typeface="Arial"/>
                <ns191:ea typeface="Arial"/>
                <ns191:cs typeface="Arial"/>
              </ns191:rPr>
              <ns191:t>Distribution / selling</ns191:t>
            </ns191:r>
          </ns191:p>
        </p:txBody>
      </p:sp>
      <p:sp>
        <p:nvSpPr>
          <p:cNvPr id="34" name="tool.data.calculation"/>
          <p:cNvSpPr/>
          <p:nvPr/>
        </p:nvSpPr>
        <p:spPr>
          <ns192:xfrm xmlns:ns192="http://schemas.openxmlformats.org/drawingml/2006/main">
            <ns192:off x="7405200" y="2088000"/>
            <ns192:ext cx="1281600" cy="1728000"/>
          </ns192:xfrm>
          <ns193:prstGeom xmlns:ns193="http://schemas.openxmlformats.org/drawingml/2006/main" prst="roundRect">
            <ns193:avLst/>
          </ns193:prstGeom>
          <ns194:solidFill xmlns:ns194="http://schemas.openxmlformats.org/drawingml/2006/main">
            <ns194:srgbClr val="F3F7FA"/>
          </ns194:solidFill>
          <ns195:ln xmlns:ns195="http://schemas.openxmlformats.org/drawingml/2006/main" w="9525">
            <ns195:solidFill>
              <ns195:srgbClr val="65727D"/>
            </ns195:solidFill>
          </ns195:ln>
        </p:spPr>
        <p:txBody>
          <ns196:bodyPr xmlns:ns196="http://schemas.openxmlformats.org/drawingml/2006/main" wrap="square" lIns="61200" rIns="61200" tIns="61200" bIns="61200" anchor="ctr">
            <ns196:noAutofit/>
          </ns196:bodyPr>
          <ns197:lstStyle xmlns:ns197="http://schemas.openxmlformats.org/drawingml/2006/main"/>
          <ns198:p xmlns:ns198="http://schemas.openxmlformats.org/drawingml/2006/main">
            <ns198:pPr algn="l">
              <ns198:lnSpc>
                <ns198:spcPct val="105000"/>
              </ns198:lnSpc>
              <ns198:defRPr sz="1300" b="1">
                <ns198:solidFill>
                  <ns198:srgbClr val="65727D"/>
                </ns198:solidFill>
                <ns198:latin typeface="Arial"/>
                <ns198:ea typeface="Arial"/>
                <ns198:cs typeface="Arial"/>
              </ns198:defRPr>
            </ns198:pPr>
            <ns198:r>
              <ns198:rPr sz="1300" b="1">
                <ns198:solidFill>
                  <ns198:srgbClr val="65727D"/>
                </ns198:solidFill>
                <ns198:latin typeface="Arial"/>
                <ns198:ea typeface="Arial"/>
                <ns198:cs typeface="Arial"/>
              </ns198:rPr>
              <ns198:t>Data / calculation tools</ns198:t>
            </ns198:r>
          </ns198:p>
          <ns199:p xmlns:ns199="http://schemas.openxmlformats.org/drawingml/2006/main">
            <ns199:pPr algn="l">
              <ns199:lnSpc>
                <ns199:spcPct val="105000"/>
              </ns199:lnSpc>
              <ns199:defRPr sz="1100" b="0">
                <ns199:solidFill>
                  <ns199:srgbClr val="20262C"/>
                </ns199:solidFill>
                <ns199:latin typeface="Arial"/>
                <ns199:ea typeface="Arial"/>
                <ns199:cs typeface="Arial"/>
              </ns199:defRPr>
            </ns199:pPr>
            <ns199:r>
              <ns199:rPr sz="1100" b="0">
                <ns199:solidFill>
                  <ns199:srgbClr val="20262C"/>
                </ns199:solidFill>
                <ns199:latin typeface="Arial"/>
                <ns199:ea typeface="Arial"/>
                <ns199:cs typeface="Arial"/>
              </ns199:rPr>
              <ns199:t>Retrieve data</ns199:t>
            </ns199:r>
          </ns199:p>
          <ns200:p xmlns:ns200="http://schemas.openxmlformats.org/drawingml/2006/main">
            <ns200:pPr algn="l">
              <ns200:lnSpc>
                <ns200:spcPct val="105000"/>
              </ns200:lnSpc>
              <ns200:defRPr sz="1100" b="0">
                <ns200:solidFill>
                  <ns200:srgbClr val="20262C"/>
                </ns200:solidFill>
                <ns200:latin typeface="Arial"/>
                <ns200:ea typeface="Arial"/>
                <ns200:cs typeface="Arial"/>
              </ns200:defRPr>
            </ns200:pPr>
            <ns200:r>
              <ns200:rPr sz="1100" b="0">
                <ns200:solidFill>
                  <ns200:srgbClr val="20262C"/>
                </ns200:solidFill>
                <ns200:latin typeface="Arial"/>
                <ns200:ea typeface="Arial"/>
                <ns200:cs typeface="Arial"/>
              </ns200:rPr>
              <ns200:t>Calculate changes</ns200:t>
            </ns200:r>
          </ns200:p>
        </p:txBody>
      </p:sp>
      <p:cxnSp>
        <p:nvCxnSpPr>
          <p:cNvPr id="35" name="tool.support.entry"/>
          <p:cNvCxnSpPr/>
          <p:nvPr/>
        </p:nvCxnSpPr>
        <p:spPr>
          <ns201:xfrm xmlns:ns201="http://schemas.openxmlformats.org/drawingml/2006/main" flipH="1">
            <ns201:off x="7243200" y="2952000"/>
            <ns201:ext cx="126000" cy="1"/>
          </ns201:xfrm>
          <ns202:prstGeom xmlns:ns202="http://schemas.openxmlformats.org/drawingml/2006/main" prst="line">
            <ns202:avLst/>
          </ns202:prstGeom>
          <ns203:ln xmlns:ns203="http://schemas.openxmlformats.org/drawingml/2006/main" w="11430">
            <ns203:solidFill>
              <ns203:srgbClr val="005A9C"/>
            </ns203:solidFill>
          </ns203:ln>
        </p:spPr>
      </p:cxnSp>
      <p:cxnSp>
        <p:nvCxnSpPr>
          <p:cNvPr id="36" name="tool.support.bus"/>
          <p:cNvCxnSpPr/>
          <p:nvPr/>
        </p:nvCxnSpPr>
        <p:spPr>
          <ns204:xfrm xmlns:ns204="http://schemas.openxmlformats.org/drawingml/2006/main">
            <ns204:off x="7243200" y="2304000"/>
            <ns204:ext cx="1" cy="1296000"/>
          </ns204:xfrm>
          <ns205:prstGeom xmlns:ns205="http://schemas.openxmlformats.org/drawingml/2006/main" prst="line">
            <ns205:avLst/>
          </ns205:prstGeom>
          <ns206:ln xmlns:ns206="http://schemas.openxmlformats.org/drawingml/2006/main" w="11430">
            <ns206:solidFill>
              <ns206:srgbClr val="005A9C"/>
            </ns206:solidFill>
          </ns206:ln>
        </p:spPr>
      </p:cxnSp>
      <p:cxnSp>
        <p:nvCxnSpPr>
          <p:cNvPr id="37" name="tool.driver.support.0"/>
          <p:cNvCxnSpPr/>
          <p:nvPr/>
        </p:nvCxnSpPr>
        <p:spPr>
          <ns207:xfrm xmlns:ns207="http://schemas.openxmlformats.org/drawingml/2006/main" flipH="1">
            <ns207:off x="7164000" y="2304000"/>
            <ns207:ext cx="79200" cy="1"/>
          </ns207:xfrm>
          <ns208:prstGeom xmlns:ns208="http://schemas.openxmlformats.org/drawingml/2006/main" prst="line">
            <ns208:avLst/>
          </ns208:prstGeom>
          <ns209:ln xmlns:ns209="http://schemas.openxmlformats.org/drawingml/2006/main" w="9525">
            <ns209:solidFill>
              <ns209:srgbClr val="65727D"/>
            </ns209:solidFill>
            <ns209:tailEnd type="triangle" w="sm" len="sm"/>
          </ns209:ln>
        </p:spPr>
      </p:cxnSp>
      <p:cxnSp>
        <p:nvCxnSpPr>
          <p:cNvPr id="38" name="tool.driver.support.1"/>
          <p:cNvCxnSpPr/>
          <p:nvPr/>
        </p:nvCxnSpPr>
        <p:spPr>
          <ns210:xfrm xmlns:ns210="http://schemas.openxmlformats.org/drawingml/2006/main" flipH="1">
            <ns210:off x="7164000" y="2952000"/>
            <ns210:ext cx="79200" cy="1"/>
          </ns210:xfrm>
          <ns211:prstGeom xmlns:ns211="http://schemas.openxmlformats.org/drawingml/2006/main" prst="line">
            <ns211:avLst/>
          </ns211:prstGeom>
          <ns212:ln xmlns:ns212="http://schemas.openxmlformats.org/drawingml/2006/main" w="9525">
            <ns212:solidFill>
              <ns212:srgbClr val="65727D"/>
            </ns212:solidFill>
            <ns212:tailEnd type="triangle" w="sm" len="sm"/>
          </ns212:ln>
        </p:spPr>
      </p:cxnSp>
      <p:cxnSp>
        <p:nvCxnSpPr>
          <p:cNvPr id="39" name="tool.driver.support.2"/>
          <p:cNvCxnSpPr/>
          <p:nvPr/>
        </p:nvCxnSpPr>
        <p:spPr>
          <ns213:xfrm xmlns:ns213="http://schemas.openxmlformats.org/drawingml/2006/main" flipH="1">
            <ns213:off x="7164000" y="3600000"/>
            <ns213:ext cx="79200" cy="1"/>
          </ns213:xfrm>
          <ns214:prstGeom xmlns:ns214="http://schemas.openxmlformats.org/drawingml/2006/main" prst="line">
            <ns214:avLst/>
          </ns214:prstGeom>
          <ns215:ln xmlns:ns215="http://schemas.openxmlformats.org/drawingml/2006/main" w="9525">
            <ns215:solidFill>
              <ns215:srgbClr val="65727D"/>
            </ns215:solidFill>
            <ns215:tailEnd type="triangle" w="sm" len="sm"/>
          </ns215:ln>
        </p:spPr>
      </p:cxnSp>
      <p:sp>
        <p:nvSpPr>
          <p:cNvPr id="40" name="human.analyst.quality"/>
          <p:cNvSpPr/>
          <p:nvPr/>
        </p:nvSpPr>
        <p:spPr>
          <ns216:xfrm xmlns:ns216="http://schemas.openxmlformats.org/drawingml/2006/main">
            <ns216:off x="3996000" y="4122000"/>
            <ns216:ext cx="4690800" cy="360000"/>
          </ns216:xfrm>
          <ns217:prstGeom xmlns:ns217="http://schemas.openxmlformats.org/drawingml/2006/main" prst="roundRect">
            <ns217:avLst/>
          </ns217:prstGeom>
          <ns218:solidFill xmlns:ns218="http://schemas.openxmlformats.org/drawingml/2006/main">
            <ns218:srgbClr val="F3F7FA"/>
          </ns218:solidFill>
          <ns219:ln xmlns:ns219="http://schemas.openxmlformats.org/drawingml/2006/main" w="9525">
            <ns219:solidFill>
              <ns219:srgbClr val="65727D"/>
            </ns219:solidFill>
          </ns219:ln>
        </p:spPr>
        <p:txBody>
          <ns220:bodyPr xmlns:ns220="http://schemas.openxmlformats.org/drawingml/2006/main" wrap="square" lIns="61200" rIns="61200" tIns="61200" bIns="61200" anchor="ctr">
            <ns220:noAutofit/>
          </ns220:bodyPr>
          <ns221:lstStyle xmlns:ns221="http://schemas.openxmlformats.org/drawingml/2006/main"/>
          <ns222:p xmlns:ns222="http://schemas.openxmlformats.org/drawingml/2006/main">
            <ns222:pPr algn="l">
              <ns222:lnSpc>
                <ns222:spcPct val="105000"/>
              </ns222:lnSpc>
              <ns222:defRPr sz="1300" b="1">
                <ns222:solidFill>
                  <ns222:srgbClr val="65727D"/>
                </ns222:solidFill>
                <ns222:latin typeface="Arial"/>
                <ns222:ea typeface="Arial"/>
                <ns222:cs typeface="Arial"/>
              </ns222:defRPr>
            </ns222:pPr>
            <ns222:r>
              <ns222:rPr sz="1300" b="1">
                <ns222:solidFill>
                  <ns222:srgbClr val="65727D"/>
                </ns222:solidFill>
                <ns222:latin typeface="Arial"/>
                <ns222:ea typeface="Arial"/>
                <ns222:cs typeface="Arial"/>
              </ns222:rPr>
              <ns222:t>Analyst assesses quality of growth</ns222:t>
            </ns222:r>
          </ns222:p>
        </p:txBody>
      </p:sp>
      <p:sp>
        <p:nvSpPr>
          <p:cNvPr id="41" name="analysis.driver.structure"/>
          <p:cNvSpPr/>
          <p:nvPr/>
        </p:nvSpPr>
        <p:spPr>
          <ns223:xfrm xmlns:ns223="http://schemas.openxmlformats.org/drawingml/2006/main">
            <ns223:off x="2422800" y="1998000"/>
            <ns223:ext cx="4770000" cy="1908000"/>
          </ns223:xfrm>
          <ns224:prstGeom xmlns:ns224="http://schemas.openxmlformats.org/drawingml/2006/main" prst="rect">
            <ns224:avLst/>
          </ns224:prstGeom>
          <ns225:noFill xmlns:ns225="http://schemas.openxmlformats.org/drawingml/2006/main"/>
          <ns226:ln xmlns:ns226="http://schemas.openxmlformats.org/drawingml/2006/main" w="6350">
            <ns226:solidFill>
              <ns226:srgbClr val="CBD4DA"/>
            </ns226:solidFill>
          </ns226:ln>
        </p:spPr>
      </p:sp>
      <p:cxnSp>
        <p:nvCxnSpPr>
          <p:cNvPr id="42" name="analysis.to.quality"/>
          <p:cNvCxnSpPr/>
          <p:nvPr/>
        </p:nvCxnSpPr>
        <p:spPr>
          <ns227:xfrm xmlns:ns227="http://schemas.openxmlformats.org/drawingml/2006/main">
            <ns227:off x="4807800" y="3942000"/>
            <ns227:ext cx="1" cy="144000"/>
          </ns227:xfrm>
          <ns228:prstGeom xmlns:ns228="http://schemas.openxmlformats.org/drawingml/2006/main" prst="line">
            <ns228:avLst/>
          </ns228:prstGeom>
          <ns229:ln xmlns:ns229="http://schemas.openxmlformats.org/drawingml/2006/main" w="11430">
            <ns229:solidFill>
              <ns229:srgbClr val="005A9C"/>
            </ns229:solidFill>
            <ns229:tailEnd type="triangle" w="sm" len="sm"/>
          </ns229:ln>
        </p:spPr>
      </p:cxnSp>
    </p:spTree>
    <p:extLst>
      <p:ext uri="{BB962C8B-B14F-4D97-AF65-F5344CB8AC3E}">
        <p14:creationId xmlns:p14="http://schemas.microsoft.com/office/powerpoint/2010/main" val="111288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Company Research: Assessing Growth Drivers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Fullgoal Fund: Comparing Research Views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Fullgoal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8"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source.report.a.paper"/>
          <p:cNvSpPr/>
          <p:nvPr/>
        </p:nvSpPr>
        <p:spPr>
          <ns111:xfrm xmlns:ns111="http://schemas.openxmlformats.org/drawingml/2006/main">
            <ns111:off x="2422800" y="1530000"/>
            <ns111:ext cx="1620000" cy="1098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9" name="source.report.a.title"/>
          <p:cNvSpPr/>
          <p:nvPr/>
        </p:nvSpPr>
        <p:spPr>
          <ns115:xfrm xmlns:ns115="http://schemas.openxmlformats.org/drawingml/2006/main">
            <ns115:off x="2487600" y="1573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Report A</ns121:t>
            </ns121:r>
          </ns121:p>
        </p:txBody>
      </p:sp>
      <p:sp>
        <p:nvSpPr>
          <p:cNvPr id="20" name="source.report.a.content"/>
          <p:cNvSpPr/>
          <p:nvPr/>
        </p:nvSpPr>
        <p:spPr>
          <ns122:xfrm xmlns:ns122="http://schemas.openxmlformats.org/drawingml/2006/main">
            <ns122:off x="2487600" y="1789200"/>
            <ns122:ext cx="1490400" cy="788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00" b="0">
                <ns128:solidFill>
                  <ns128:srgbClr val="20262C"/>
                </ns128:solidFill>
                <ns128:latin typeface="Arial"/>
                <ns128:ea typeface="Arial"/>
                <ns128:cs typeface="Arial"/>
              </ns128:defRPr>
            </ns128:pPr>
            <ns128:r>
              <ns128:rPr sz="1100" b="0">
                <ns128:solidFill>
                  <ns128:srgbClr val="20262C"/>
                </ns128:solidFill>
                <ns128:latin typeface="Arial"/>
                <ns128:ea typeface="Arial"/>
                <ns128:cs typeface="Arial"/>
              </ns128:rPr>
              <ns128:t>Higher volume lifted</ns128:t>
            </ns128:r>
          </ns128:p>
          <ns129:p xmlns:ns129="http://schemas.openxmlformats.org/drawingml/2006/main">
            <ns129:pPr algn="l">
              <ns129:lnSpc>
                <ns129:spcPct val="100000"/>
              </ns129:lnSpc>
              <ns129:defRPr sz="1100" b="0">
                <ns129:solidFill>
                  <ns129:srgbClr val="20262C"/>
                </ns129:solidFill>
                <ns129:latin typeface="Arial"/>
                <ns129:ea typeface="Arial"/>
                <ns129:cs typeface="Arial"/>
              </ns129:defRPr>
            </ns129:pPr>
            <ns129:r>
              <ns129:rPr sz="1100" b="0">
                <ns129:solidFill>
                  <ns129:srgbClr val="20262C"/>
                </ns129:solidFill>
                <ns129:latin typeface="Arial"/>
                <ns129:ea typeface="Arial"/>
                <ns129:cs typeface="Arial"/>
              </ns129:rPr>
              <ns129:t>revenue.</ns129:t>
            </ns129:r>
          </ns129:p>
          <ns130:p xmlns:ns130="http://schemas.openxmlformats.org/drawingml/2006/main">
            <ns130:pPr algn="l">
              <ns130:lnSpc>
                <ns130:spcPct val="100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Demand recovery can</ns130:t>
            </ns130:r>
          </ns130:p>
          <ns131:p xmlns:ns131="http://schemas.openxmlformats.org/drawingml/2006/main">
            <ns131:pPr algn="l">
              <ns131:lnSpc>
                <ns131:spcPct val="100000"/>
              </ns131:lnSpc>
              <ns131:defRPr sz="1100" b="0">
                <ns131:solidFill>
                  <ns131:srgbClr val="20262C"/>
                </ns131:solidFill>
                <ns131:latin typeface="Arial"/>
                <ns131:ea typeface="Arial"/>
                <ns131:cs typeface="Arial"/>
              </ns131:defRPr>
            </ns131:pPr>
            <ns131:r>
              <ns131:rPr sz="1100" b="0">
                <ns131:solidFill>
                  <ns131:srgbClr val="20262C"/>
                </ns131:solidFill>
                <ns131:latin typeface="Arial"/>
                <ns131:ea typeface="Arial"/>
                <ns131:cs typeface="Arial"/>
              </ns131:rPr>
              <ns131:t>sustain growth.</ns131:t>
            </ns131:r>
          </ns131:p>
        </p:txBody>
      </p:sp>
      <p:sp>
        <p:nvSpPr>
          <p:cNvPr id="21" name="source.report.b.paper"/>
          <p:cNvSpPr/>
          <p:nvPr/>
        </p:nvSpPr>
        <p:spPr>
          <ns132:xfrm xmlns:ns132="http://schemas.openxmlformats.org/drawingml/2006/main">
            <ns132:off x="2422800" y="2934000"/>
            <ns132:ext cx="1620000" cy="1098000"/>
          </ns132:xfrm>
          <ns133:prstGeom xmlns:ns133="http://schemas.openxmlformats.org/drawingml/2006/main" prst="foldedCorner">
            <ns133:avLst/>
          </ns133:prstGeom>
          <ns134:solidFill xmlns:ns134="http://schemas.openxmlformats.org/drawingml/2006/main">
            <ns134:srgbClr val="FFFFFF"/>
          </ns134:solidFill>
          <ns135:ln xmlns:ns135="http://schemas.openxmlformats.org/drawingml/2006/main" w="9525">
            <ns135:solidFill>
              <ns135:srgbClr val="317F7B"/>
            </ns135:solidFill>
          </ns135:ln>
        </p:spPr>
      </p:sp>
      <p:sp>
        <p:nvSpPr>
          <p:cNvPr id="22" name="source.report.b.title"/>
          <p:cNvSpPr/>
          <p:nvPr/>
        </p:nvSpPr>
        <p:spPr>
          <ns136:xfrm xmlns:ns136="http://schemas.openxmlformats.org/drawingml/2006/main">
            <ns136:off x="2487600" y="2977200"/>
            <ns136:ext cx="1422000" cy="198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1250" b="1">
                <ns142:solidFill>
                  <ns142:srgbClr val="317F7B"/>
                </ns142:solidFill>
                <ns142:latin typeface="Arial"/>
                <ns142:ea typeface="Arial"/>
                <ns142:cs typeface="Arial"/>
              </ns142:defRPr>
            </ns142:pPr>
            <ns142:r>
              <ns142:rPr sz="1250" b="1">
                <ns142:solidFill>
                  <ns142:srgbClr val="317F7B"/>
                </ns142:solidFill>
                <ns142:latin typeface="Arial"/>
                <ns142:ea typeface="Arial"/>
                <ns142:cs typeface="Arial"/>
              </ns142:rPr>
              <ns142:t>Report B</ns142:t>
            </ns142:r>
          </ns142:p>
        </p:txBody>
      </p:sp>
      <p:sp>
        <p:nvSpPr>
          <p:cNvPr id="23" name="source.report.b.content"/>
          <p:cNvSpPr/>
          <p:nvPr/>
        </p:nvSpPr>
        <p:spPr>
          <ns143:xfrm xmlns:ns143="http://schemas.openxmlformats.org/drawingml/2006/main">
            <ns143:off x="2487600" y="3193200"/>
            <ns143:ext cx="1490400" cy="7884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0000"/>
              </ns149:lnSpc>
              <ns149:defRPr sz="1100" b="0">
                <ns149:solidFill>
                  <ns149:srgbClr val="20262C"/>
                </ns149:solidFill>
                <ns149:latin typeface="Arial"/>
                <ns149:ea typeface="Arial"/>
                <ns149:cs typeface="Arial"/>
              </ns149:defRPr>
            </ns149:pPr>
            <ns149:r>
              <ns149:rPr sz="1100" b="0">
                <ns149:solidFill>
                  <ns149:srgbClr val="20262C"/>
                </ns149:solidFill>
                <ns149:latin typeface="Arial"/>
                <ns149:ea typeface="Arial"/>
                <ns149:cs typeface="Arial"/>
              </ns149:rPr>
              <ns149:t>Restocking lifted</ns149:t>
            </ns149:r>
          </ns149:p>
          <ns150:p xmlns:ns150="http://schemas.openxmlformats.org/drawingml/2006/main">
            <ns150:pPr algn="l">
              <ns150:lnSpc>
                <ns150:spcPct val="100000"/>
              </ns150:lnSpc>
              <ns150:defRPr sz="1100" b="0">
                <ns150:solidFill>
                  <ns150:srgbClr val="20262C"/>
                </ns150:solidFill>
                <ns150:latin typeface="Arial"/>
                <ns150:ea typeface="Arial"/>
                <ns150:cs typeface="Arial"/>
              </ns150:defRPr>
            </ns150:pPr>
            <ns150:r>
              <ns150:rPr sz="1100" b="0">
                <ns150:solidFill>
                  <ns150:srgbClr val="20262C"/>
                </ns150:solidFill>
                <ns150:latin typeface="Arial"/>
                <ns150:ea typeface="Arial"/>
                <ns150:cs typeface="Arial"/>
              </ns150:rPr>
              <ns150:t>shipments.</ns150:t>
            </ns150:r>
          </ns150:p>
          <ns151:p xmlns:ns151="http://schemas.openxmlformats.org/drawingml/2006/main">
            <ns151:pPr algn="l">
              <ns151:lnSpc>
                <ns151:spcPct val="100000"/>
              </ns151:lnSpc>
              <ns151:defRPr sz="1100" b="0">
                <ns151:solidFill>
                  <ns151:srgbClr val="20262C"/>
                </ns151:solidFill>
                <ns151:latin typeface="Arial"/>
                <ns151:ea typeface="Arial"/>
                <ns151:cs typeface="Arial"/>
              </ns151:defRPr>
            </ns151:pPr>
            <ns151:r>
              <ns151:rPr sz="1100" b="0">
                <ns151:solidFill>
                  <ns151:srgbClr val="20262C"/>
                </ns151:solidFill>
                <ns151:latin typeface="Arial"/>
                <ns151:ea typeface="Arial"/>
                <ns151:cs typeface="Arial"/>
              </ns151:rPr>
              <ns151:t>Continued restocking</ns151:t>
            </ns151:r>
          </ns151:p>
          <ns152:p xmlns:ns152="http://schemas.openxmlformats.org/drawingml/2006/main">
            <ns152:pPr algn="l">
              <ns152:lnSpc>
                <ns152:spcPct val="100000"/>
              </ns152:lnSpc>
              <ns152:defRPr sz="1100" b="0">
                <ns152:solidFill>
                  <ns152:srgbClr val="20262C"/>
                </ns152:solidFill>
                <ns152:latin typeface="Arial"/>
                <ns152:ea typeface="Arial"/>
                <ns152:cs typeface="Arial"/>
              </ns152:defRPr>
            </ns152:pPr>
            <ns152:r>
              <ns152:rPr sz="1100" b="0">
                <ns152:solidFill>
                  <ns152:srgbClr val="20262C"/>
                </ns152:solidFill>
                <ns152:latin typeface="Arial"/>
                <ns152:ea typeface="Arial"/>
                <ns152:cs typeface="Arial"/>
              </ns152:rPr>
              <ns152:t>remains uncertain.</ns152:t>
            </ns152:r>
          </ns152:p>
        </p:txBody>
      </p:sp>
      <p:sp>
        <p:nvSpPr>
          <p:cNvPr id="24" name="role.llm.compare"/>
          <p:cNvSpPr/>
          <p:nvPr/>
        </p:nvSpPr>
        <p:spPr>
          <ns153:xfrm xmlns:ns153="http://schemas.openxmlformats.org/drawingml/2006/main">
            <ns153:off x="4392000" y="2304000"/>
            <ns153:ext cx="1458000" cy="792000"/>
          </ns153:xfrm>
          <ns154:prstGeom xmlns:ns154="http://schemas.openxmlformats.org/drawingml/2006/main" prst="roundRect">
            <ns154:avLst/>
          </ns154:prstGeom>
          <ns155:solidFill xmlns:ns155="http://schemas.openxmlformats.org/drawingml/2006/main">
            <ns155:srgbClr val="EAF3FA"/>
          </ns155:solidFill>
          <ns156:ln xmlns:ns156="http://schemas.openxmlformats.org/drawingml/2006/main" w="9525">
            <ns156:solidFill>
              <ns156:srgbClr val="005A9C"/>
            </ns156:solidFill>
          </ns156:ln>
        </p:spPr>
        <p:txBody>
          <ns157:bodyPr xmlns:ns157="http://schemas.openxmlformats.org/drawingml/2006/main" wrap="square" lIns="61200" rIns="61200" tIns="61200" bIns="61200" anchor="ctr">
            <ns157:noAutofit/>
          </ns157:bodyPr>
          <ns158:lstStyle xmlns:ns158="http://schemas.openxmlformats.org/drawingml/2006/main"/>
          <ns159:p xmlns:ns159="http://schemas.openxmlformats.org/drawingml/2006/main">
            <ns159:pPr algn="l">
              <ns159:lnSpc>
                <ns159:spcPct val="105000"/>
              </ns159:lnSpc>
              <ns159:defRPr sz="1300" b="1">
                <ns159:solidFill>
                  <ns159:srgbClr val="005A9C"/>
                </ns159:solidFill>
                <ns159:latin typeface="Arial"/>
                <ns159:ea typeface="Arial"/>
                <ns159:cs typeface="Arial"/>
              </ns159:defRPr>
            </ns159:pPr>
            <ns159:r>
              <ns159:rPr sz="1300" b="1">
                <ns159:solidFill>
                  <ns159:srgbClr val="005A9C"/>
                </ns159:solidFill>
                <ns159:latin typeface="Arial"/>
                <ns159:ea typeface="Arial"/>
                <ns159:cs typeface="Arial"/>
              </ns159:rPr>
              <ns159:t>LLM compares views</ns159:t>
            </ns159:r>
          </ns159:p>
          <ns160:p xmlns:ns160="http://schemas.openxmlformats.org/drawingml/2006/main">
            <ns160:pPr algn="l">
              <ns160:lnSpc>
                <ns160:spcPct val="105000"/>
              </ns160:lnSpc>
              <ns160:defRPr sz="1150" b="0">
                <ns160:solidFill>
                  <ns160:srgbClr val="20262C"/>
                </ns160:solidFill>
                <ns160:latin typeface="Arial"/>
                <ns160:ea typeface="Arial"/>
                <ns160:cs typeface="Arial"/>
              </ns160:defRPr>
            </ns160:pPr>
            <ns160:r>
              <ns160:rPr sz="1150" b="0">
                <ns160:solidFill>
                  <ns160:srgbClr val="20262C"/>
                </ns160:solidFill>
                <ns160:latin typeface="Arial"/>
                <ns160:ea typeface="Arial"/>
                <ns160:cs typeface="Arial"/>
              </ns160:rPr>
              <ns160:t>Find agreement</ns160:t>
            </ns160:r>
          </ns160:p>
          <ns161:p xmlns:ns161="http://schemas.openxmlformats.org/drawingml/2006/main">
            <ns161:pPr algn="l">
              <ns161:lnSpc>
                <ns161:spcPct val="105000"/>
              </ns161:lnSpc>
              <ns161:defRPr sz="1150" b="0">
                <ns161:solidFill>
                  <ns161:srgbClr val="20262C"/>
                </ns161:solidFill>
                <ns161:latin typeface="Arial"/>
                <ns161:ea typeface="Arial"/>
                <ns161:cs typeface="Arial"/>
              </ns161:defRPr>
            </ns161:pPr>
            <ns161:r>
              <ns161:rPr sz="1150" b="0">
                <ns161:solidFill>
                  <ns161:srgbClr val="20262C"/>
                </ns161:solidFill>
                <ns161:latin typeface="Arial"/>
                <ns161:ea typeface="Arial"/>
                <ns161:cs typeface="Arial"/>
              </ns161:rPr>
              <ns161:t>Identify difference</ns161:t>
            </ns161:r>
          </ns161:p>
        </p:txBody>
      </p:sp>
      <p:cxnSp>
        <p:nvCxnSpPr>
          <p:cNvPr id="25" name="reports.to.comparison.source.0"/>
          <p:cNvCxnSpPr/>
          <p:nvPr/>
        </p:nvCxnSpPr>
        <p:spPr>
          <ns162:xfrm xmlns:ns162="http://schemas.openxmlformats.org/drawingml/2006/main">
            <ns162:off x="4042800" y="2079000"/>
            <ns162:ext cx="151200" cy="1"/>
          </ns162:xfrm>
          <ns163:prstGeom xmlns:ns163="http://schemas.openxmlformats.org/drawingml/2006/main" prst="line">
            <ns163:avLst/>
          </ns163:prstGeom>
          <ns164:ln xmlns:ns164="http://schemas.openxmlformats.org/drawingml/2006/main" w="9525">
            <ns164:solidFill>
              <ns164:srgbClr val="317F7B"/>
            </ns164:solidFill>
          </ns164:ln>
        </p:spPr>
      </p:cxnSp>
      <p:cxnSp>
        <p:nvCxnSpPr>
          <p:cNvPr id="26" name="reports.to.comparison.source.1"/>
          <p:cNvCxnSpPr/>
          <p:nvPr/>
        </p:nvCxnSpPr>
        <p:spPr>
          <ns165:xfrm xmlns:ns165="http://schemas.openxmlformats.org/drawingml/2006/main">
            <ns165:off x="4042800" y="3483000"/>
            <ns165:ext cx="151200" cy="1"/>
          </ns165:xfrm>
          <ns166:prstGeom xmlns:ns166="http://schemas.openxmlformats.org/drawingml/2006/main" prst="line">
            <ns166:avLst/>
          </ns166:prstGeom>
          <ns167:ln xmlns:ns167="http://schemas.openxmlformats.org/drawingml/2006/main" w="9525">
            <ns167:solidFill>
              <ns167:srgbClr val="317F7B"/>
            </ns167:solidFill>
          </ns167:ln>
        </p:spPr>
      </p:cxnSp>
      <p:cxnSp>
        <p:nvCxnSpPr>
          <p:cNvPr id="27" name="reports.to.comparison.bus"/>
          <p:cNvCxnSpPr/>
          <p:nvPr/>
        </p:nvCxnSpPr>
        <p:spPr>
          <ns168:xfrm xmlns:ns168="http://schemas.openxmlformats.org/drawingml/2006/main">
            <ns168:off x="4194000" y="2079000"/>
            <ns168:ext cx="1" cy="1404000"/>
          </ns168:xfrm>
          <ns169:prstGeom xmlns:ns169="http://schemas.openxmlformats.org/drawingml/2006/main" prst="line">
            <ns169:avLst/>
          </ns169:prstGeom>
          <ns170:ln xmlns:ns170="http://schemas.openxmlformats.org/drawingml/2006/main" w="9525">
            <ns170:solidFill>
              <ns170:srgbClr val="317F7B"/>
            </ns170:solidFill>
          </ns170:ln>
        </p:spPr>
      </p:cxnSp>
      <p:cxnSp>
        <p:nvCxnSpPr>
          <p:cNvPr id="28" name="reports.to.comparison.target"/>
          <p:cNvCxnSpPr/>
          <p:nvPr/>
        </p:nvCxnSpPr>
        <p:spPr>
          <ns171:xfrm xmlns:ns171="http://schemas.openxmlformats.org/drawingml/2006/main">
            <ns171:off x="4194000" y="2700000"/>
            <ns171:ext cx="198000" cy="1"/>
          </ns171:xfrm>
          <ns172:prstGeom xmlns:ns172="http://schemas.openxmlformats.org/drawingml/2006/main" prst="line">
            <ns172:avLst/>
          </ns172:prstGeom>
          <ns173:ln xmlns:ns173="http://schemas.openxmlformats.org/drawingml/2006/main" w="11430">
            <ns173:solidFill>
              <ns173:srgbClr val="317F7B"/>
            </ns173:solidFill>
            <ns173:tailEnd type="triangle" w="sm" len="sm"/>
          </ns173:ln>
        </p:spPr>
      </p:cxnSp>
      <p:sp>
        <p:nvSpPr>
          <p:cNvPr id="29" name="output.shared.finding"/>
          <p:cNvSpPr/>
          <p:nvPr/>
        </p:nvSpPr>
        <p:spPr>
          <ns174:xfrm xmlns:ns174="http://schemas.openxmlformats.org/drawingml/2006/main">
            <ns174:off x="6127200" y="1710000"/>
            <ns174:ext cx="2559600" cy="738000"/>
          </ns174:xfrm>
          <ns175:prstGeom xmlns:ns175="http://schemas.openxmlformats.org/drawingml/2006/main" prst="rect">
            <ns175:avLst/>
          </ns175:prstGeom>
          <ns176:solidFill xmlns:ns176="http://schemas.openxmlformats.org/drawingml/2006/main">
            <ns176:srgbClr val="EFF6F4"/>
          </ns176:solidFill>
          <ns177:ln xmlns:ns177="http://schemas.openxmlformats.org/drawingml/2006/main" w="9525">
            <ns177:solidFill>
              <ns177:srgbClr val="317F7B"/>
            </ns177:solidFill>
          </ns177:ln>
        </p:spPr>
        <p:txBody>
          <ns178:bodyPr xmlns:ns178="http://schemas.openxmlformats.org/drawingml/2006/main" wrap="square" lIns="61200" rIns="61200" tIns="61200" bIns="61200" anchor="ctr">
            <ns178:noAutofit/>
          </ns178:bodyPr>
          <ns179:lstStyle xmlns:ns179="http://schemas.openxmlformats.org/drawingml/2006/main"/>
          <ns180:p xmlns:ns180="http://schemas.openxmlformats.org/drawingml/2006/main">
            <ns180:pPr algn="l">
              <ns180:lnSpc>
                <ns180:spcPct val="105000"/>
              </ns180:lnSpc>
              <ns180:defRPr sz="1300" b="1">
                <ns180:solidFill>
                  <ns180:srgbClr val="317F7B"/>
                </ns180:solidFill>
                <ns180:latin typeface="Arial"/>
                <ns180:ea typeface="Arial"/>
                <ns180:cs typeface="Arial"/>
              </ns180:defRPr>
            </ns180:pPr>
            <ns180:r>
              <ns180:rPr sz="1300" b="1">
                <ns180:solidFill>
                  <ns180:srgbClr val="317F7B"/>
                </ns180:solidFill>
                <ns180:latin typeface="Arial"/>
                <ns180:ea typeface="Arial"/>
                <ns180:cs typeface="Arial"/>
              </ns180:rPr>
              <ns180:t>Shared finding</ns180:t>
            </ns180:r>
          </ns180:p>
          <ns181:p xmlns:ns181="http://schemas.openxmlformats.org/drawingml/2006/main">
            <ns181:pPr algn="l">
              <ns181:lnSpc>
                <ns181:spcPct val="105000"/>
              </ns181:lnSpc>
              <ns181:defRPr sz="1200" b="0">
                <ns181:solidFill>
                  <ns181:srgbClr val="20262C"/>
                </ns181:solidFill>
                <ns181:latin typeface="Arial"/>
                <ns181:ea typeface="Arial"/>
                <ns181:cs typeface="Arial"/>
              </ns181:defRPr>
            </ns181:pPr>
            <ns181:r>
              <ns181:rPr sz="1200" b="0">
                <ns181:solidFill>
                  <ns181:srgbClr val="20262C"/>
                </ns181:solidFill>
                <ns181:latin typeface="Arial"/>
                <ns181:ea typeface="Arial"/>
                <ns181:cs typeface="Arial"/>
              </ns181:rPr>
              <ns181:t>Higher volumes</ns181:t>
            </ns181:r>
          </ns181:p>
          <ns182:p xmlns:ns182="http://schemas.openxmlformats.org/drawingml/2006/main">
            <ns182:pPr algn="l">
              <ns182:lnSpc>
                <ns182:spcPct val="105000"/>
              </ns182:lnSpc>
              <ns182:defRPr sz="1200" b="0">
                <ns182:solidFill>
                  <ns182:srgbClr val="20262C"/>
                </ns182:solidFill>
                <ns182:latin typeface="Arial"/>
                <ns182:ea typeface="Arial"/>
                <ns182:cs typeface="Arial"/>
              </ns182:defRPr>
            </ns182:pPr>
            <ns182:r>
              <ns182:rPr sz="1200" b="0">
                <ns182:solidFill>
                  <ns182:srgbClr val="20262C"/>
                </ns182:solidFill>
                <ns182:latin typeface="Arial"/>
                <ns182:ea typeface="Arial"/>
                <ns182:cs typeface="Arial"/>
              </ns182:rPr>
              <ns182:t>supported revenue</ns182:t>
            </ns182:r>
          </ns182:p>
        </p:txBody>
      </p:sp>
      <p:sp>
        <p:nvSpPr>
          <p:cNvPr id="30" name="output.open.question"/>
          <p:cNvSpPr/>
          <p:nvPr/>
        </p:nvSpPr>
        <p:spPr>
          <ns183:xfrm xmlns:ns183="http://schemas.openxmlformats.org/drawingml/2006/main">
            <ns183:off x="6127200" y="2898000"/>
            <ns183:ext cx="2559600" cy="738000"/>
          </ns183:xfrm>
          <ns184:prstGeom xmlns:ns184="http://schemas.openxmlformats.org/drawingml/2006/main" prst="rect">
            <ns184:avLst/>
          </ns184:prstGeom>
          <ns185:solidFill xmlns:ns185="http://schemas.openxmlformats.org/drawingml/2006/main">
            <ns185:srgbClr val="EFF6F4"/>
          </ns185:solidFill>
          <ns186:ln xmlns:ns186="http://schemas.openxmlformats.org/drawingml/2006/main" w="9525">
            <ns186:solidFill>
              <ns186:srgbClr val="317F7B"/>
            </ns186:solidFill>
          </ns186:ln>
        </p:spPr>
        <p:txBody>
          <ns187:bodyPr xmlns:ns187="http://schemas.openxmlformats.org/drawingml/2006/main" wrap="square" lIns="61200" rIns="61200" tIns="61200" bIns="61200" anchor="ctr">
            <ns187:noAutofit/>
          </ns187:bodyPr>
          <ns188:lstStyle xmlns:ns188="http://schemas.openxmlformats.org/drawingml/2006/main"/>
          <ns189:p xmlns:ns189="http://schemas.openxmlformats.org/drawingml/2006/main">
            <ns189:pPr algn="l">
              <ns189:lnSpc>
                <ns189:spcPct val="105000"/>
              </ns189:lnSpc>
              <ns189:defRPr sz="1300" b="1">
                <ns189:solidFill>
                  <ns189:srgbClr val="317F7B"/>
                </ns189:solidFill>
                <ns189:latin typeface="Arial"/>
                <ns189:ea typeface="Arial"/>
                <ns189:cs typeface="Arial"/>
              </ns189:defRPr>
            </ns189:pPr>
            <ns189:r>
              <ns189:rPr sz="1300" b="1">
                <ns189:solidFill>
                  <ns189:srgbClr val="317F7B"/>
                </ns189:solidFill>
                <ns189:latin typeface="Arial"/>
                <ns189:ea typeface="Arial"/>
                <ns189:cs typeface="Arial"/>
              </ns189:rPr>
              <ns189:t>Open question</ns189:t>
            </ns189:r>
          </ns189:p>
          <ns190:p xmlns:ns190="http://schemas.openxmlformats.org/drawingml/2006/main">
            <ns190:pPr algn="l">
              <ns190:lnSpc>
                <ns190:spcPct val="105000"/>
              </ns190:lnSpc>
              <ns190:defRPr sz="1200" b="0">
                <ns190:solidFill>
                  <ns190:srgbClr val="20262C"/>
                </ns190:solidFill>
                <ns190:latin typeface="Arial"/>
                <ns190:ea typeface="Arial"/>
                <ns190:cs typeface="Arial"/>
              </ns190:defRPr>
            </ns190:pPr>
            <ns190:r>
              <ns190:rPr sz="1200" b="0">
                <ns190:solidFill>
                  <ns190:srgbClr val="20262C"/>
                </ns190:solidFill>
                <ns190:latin typeface="Arial"/>
                <ns190:ea typeface="Arial"/>
                <ns190:cs typeface="Arial"/>
              </ns190:rPr>
              <ns190:t>Is volume growth</ns190:t>
            </ns190:r>
          </ns190:p>
          <ns191:p xmlns:ns191="http://schemas.openxmlformats.org/drawingml/2006/main">
            <ns191:pPr algn="l">
              <ns191:lnSpc>
                <ns191:spcPct val="105000"/>
              </ns191:lnSpc>
              <ns191:defRPr sz="1200" b="0">
                <ns191:solidFill>
                  <ns191:srgbClr val="20262C"/>
                </ns191:solidFill>
                <ns191:latin typeface="Arial"/>
                <ns191:ea typeface="Arial"/>
                <ns191:cs typeface="Arial"/>
              </ns191:defRPr>
            </ns191:pPr>
            <ns191:r>
              <ns191:rPr sz="1200" b="0">
                <ns191:solidFill>
                  <ns191:srgbClr val="20262C"/>
                </ns191:solidFill>
                <ns191:latin typeface="Arial"/>
                <ns191:ea typeface="Arial"/>
                <ns191:cs typeface="Arial"/>
              </ns191:rPr>
              <ns191:t>sustainable?</ns191:t>
            </ns191:r>
          </ns191:p>
        </p:txBody>
      </p:sp>
      <p:cxnSp>
        <p:nvCxnSpPr>
          <p:cNvPr id="31" name="comparison.findings.entry"/>
          <p:cNvCxnSpPr/>
          <p:nvPr/>
        </p:nvCxnSpPr>
        <p:spPr>
          <ns192:xfrm xmlns:ns192="http://schemas.openxmlformats.org/drawingml/2006/main">
            <ns192:off x="5850000" y="2700000"/>
            <ns192:ext cx="144000" cy="1"/>
          </ns192:xfrm>
          <ns193:prstGeom xmlns:ns193="http://schemas.openxmlformats.org/drawingml/2006/main" prst="line">
            <ns193:avLst/>
          </ns193:prstGeom>
          <ns194:ln xmlns:ns194="http://schemas.openxmlformats.org/drawingml/2006/main" w="11430">
            <ns194:solidFill>
              <ns194:srgbClr val="005A9C"/>
            </ns194:solidFill>
          </ns194:ln>
        </p:spPr>
      </p:cxnSp>
      <p:cxnSp>
        <p:nvCxnSpPr>
          <p:cNvPr id="32" name="comparison.findings.bus"/>
          <p:cNvCxnSpPr/>
          <p:nvPr/>
        </p:nvCxnSpPr>
        <p:spPr>
          <ns195:xfrm xmlns:ns195="http://schemas.openxmlformats.org/drawingml/2006/main">
            <ns195:off x="5994000" y="2079000"/>
            <ns195:ext cx="1" cy="1188000"/>
          </ns195:xfrm>
          <ns196:prstGeom xmlns:ns196="http://schemas.openxmlformats.org/drawingml/2006/main" prst="line">
            <ns196:avLst/>
          </ns196:prstGeom>
          <ns197:ln xmlns:ns197="http://schemas.openxmlformats.org/drawingml/2006/main" w="11430">
            <ns197:solidFill>
              <ns197:srgbClr val="005A9C"/>
            </ns197:solidFill>
          </ns197:ln>
        </p:spPr>
      </p:cxnSp>
      <p:cxnSp>
        <p:nvCxnSpPr>
          <p:cNvPr id="33" name="comparison.shared"/>
          <p:cNvCxnSpPr/>
          <p:nvPr/>
        </p:nvCxnSpPr>
        <p:spPr>
          <ns198:xfrm xmlns:ns198="http://schemas.openxmlformats.org/drawingml/2006/main">
            <ns198:off x="5994000" y="2079000"/>
            <ns198:ext cx="97200" cy="1"/>
          </ns198:xfrm>
          <ns199:prstGeom xmlns:ns199="http://schemas.openxmlformats.org/drawingml/2006/main" prst="line">
            <ns199:avLst/>
          </ns199:prstGeom>
          <ns200:ln xmlns:ns200="http://schemas.openxmlformats.org/drawingml/2006/main" w="11430">
            <ns200:solidFill>
              <ns200:srgbClr val="005A9C"/>
            </ns200:solidFill>
            <ns200:tailEnd type="triangle" w="sm" len="sm"/>
          </ns200:ln>
        </p:spPr>
      </p:cxnSp>
      <p:cxnSp>
        <p:nvCxnSpPr>
          <p:cNvPr id="34" name="comparison.open"/>
          <p:cNvCxnSpPr/>
          <p:nvPr/>
        </p:nvCxnSpPr>
        <p:spPr>
          <ns201:xfrm xmlns:ns201="http://schemas.openxmlformats.org/drawingml/2006/main">
            <ns201:off x="5994000" y="3267000"/>
            <ns201:ext cx="97200" cy="1"/>
          </ns201:xfrm>
          <ns202:prstGeom xmlns:ns202="http://schemas.openxmlformats.org/drawingml/2006/main" prst="line">
            <ns202:avLst/>
          </ns202:prstGeom>
          <ns203:ln xmlns:ns203="http://schemas.openxmlformats.org/drawingml/2006/main" w="11430">
            <ns203:solidFill>
              <ns203:srgbClr val="005A9C"/>
            </ns203:solidFill>
            <ns203:tailEnd type="triangle" w="sm" len="sm"/>
          </ns203:ln>
        </p:spPr>
      </p:cxnSp>
      <p:sp>
        <p:nvSpPr>
          <p:cNvPr id="35" name="human.analyst.investigates"/>
          <p:cNvSpPr/>
          <p:nvPr/>
        </p:nvSpPr>
        <p:spPr>
          <ns204:xfrm xmlns:ns204="http://schemas.openxmlformats.org/drawingml/2006/main">
            <ns204:off x="6127200" y="4039200"/>
            <ns204:ext cx="2559600" cy="403200"/>
          </ns204:xfrm>
          <ns205:prstGeom xmlns:ns205="http://schemas.openxmlformats.org/drawingml/2006/main" prst="roundRect">
            <ns205:avLst/>
          </ns205:prstGeom>
          <ns206:solidFill xmlns:ns206="http://schemas.openxmlformats.org/drawingml/2006/main">
            <ns206:srgbClr val="F3F7FA"/>
          </ns206:solidFill>
          <ns207:ln xmlns:ns207="http://schemas.openxmlformats.org/drawingml/2006/main" w="9525">
            <ns207:solidFill>
              <ns207:srgbClr val="65727D"/>
            </ns207:solidFill>
          </ns207:ln>
        </p:spPr>
        <p:txBody>
          <ns208:bodyPr xmlns:ns208="http://schemas.openxmlformats.org/drawingml/2006/main" wrap="square" lIns="61200" rIns="61200" tIns="61200" bIns="61200" anchor="ctr">
            <ns208:noAutofit/>
          </ns208:bodyPr>
          <ns209:lstStyle xmlns:ns209="http://schemas.openxmlformats.org/drawingml/2006/main"/>
          <ns210:p xmlns:ns210="http://schemas.openxmlformats.org/drawingml/2006/main">
            <ns210:pPr algn="l">
              <ns210:lnSpc>
                <ns210:spcPct val="105000"/>
              </ns210:lnSpc>
              <ns210:defRPr sz="1300" b="1">
                <ns210:solidFill>
                  <ns210:srgbClr val="65727D"/>
                </ns210:solidFill>
                <ns210:latin typeface="Arial"/>
                <ns210:ea typeface="Arial"/>
                <ns210:cs typeface="Arial"/>
              </ns210:defRPr>
            </ns210:pPr>
            <ns210:r>
              <ns210:rPr sz="1300" b="1">
                <ns210:solidFill>
                  <ns210:srgbClr val="65727D"/>
                </ns210:solidFill>
                <ns210:latin typeface="Arial"/>
                <ns210:ea typeface="Arial"/>
                <ns210:cs typeface="Arial"/>
              </ns210:rPr>
              <ns210:t>Analyst investigates disagreement</ns210:t>
            </ns210:r>
          </ns210:p>
        </p:txBody>
      </p:sp>
      <p:cxnSp>
        <p:nvCxnSpPr>
          <p:cNvPr id="36" name="open.to.analyst"/>
          <p:cNvCxnSpPr/>
          <p:nvPr/>
        </p:nvCxnSpPr>
        <p:spPr>
          <ns211:xfrm xmlns:ns211="http://schemas.openxmlformats.org/drawingml/2006/main">
            <ns211:off x="7405200" y="3672000"/>
            <ns211:ext cx="1" cy="331200"/>
          </ns211:xfrm>
          <ns212:prstGeom xmlns:ns212="http://schemas.openxmlformats.org/drawingml/2006/main" prst="line">
            <ns212:avLst/>
          </ns212:prstGeom>
          <ns213:ln xmlns:ns213="http://schemas.openxmlformats.org/drawingml/2006/main" w="11430">
            <ns213:solidFill>
              <ns213:srgbClr val="005A9C"/>
            </ns213:solidFill>
            <ns213:tailEnd type="triangle" w="sm" len="sm"/>
          </ns213:ln>
        </p:spPr>
      </p:cxnSp>
      <p:cxnSp>
        <p:nvCxnSpPr>
          <p:cNvPr id="37" name="analyst.source.check.return.0"/>
          <p:cNvCxnSpPr/>
          <p:nvPr/>
        </p:nvCxnSpPr>
        <p:spPr>
          <ns214:xfrm xmlns:ns214="http://schemas.openxmlformats.org/drawingml/2006/main">
            <ns214:off x="7407000" y="4478400"/>
            <ns214:ext cx="1" cy="21600"/>
          </ns214:xfrm>
          <ns215:prstGeom xmlns:ns215="http://schemas.openxmlformats.org/drawingml/2006/main" prst="line">
            <ns215:avLst/>
          </ns215:prstGeom>
          <ns216:ln xmlns:ns216="http://schemas.openxmlformats.org/drawingml/2006/main" w="8890">
            <ns216:solidFill>
              <ns216:srgbClr val="65727D"/>
            </ns216:solidFill>
          </ns216:ln>
        </p:spPr>
      </p:cxnSp>
      <p:cxnSp>
        <p:nvCxnSpPr>
          <p:cNvPr id="38" name="analyst.source.check.return.1"/>
          <p:cNvCxnSpPr/>
          <p:nvPr/>
        </p:nvCxnSpPr>
        <p:spPr>
          <ns217:xfrm xmlns:ns217="http://schemas.openxmlformats.org/drawingml/2006/main" flipH="1">
            <ns217:off x="2332800" y="4500000"/>
            <ns217:ext cx="5074200" cy="1"/>
          </ns217:xfrm>
          <ns218:prstGeom xmlns:ns218="http://schemas.openxmlformats.org/drawingml/2006/main" prst="line">
            <ns218:avLst/>
          </ns218:prstGeom>
          <ns219:ln xmlns:ns219="http://schemas.openxmlformats.org/drawingml/2006/main" w="8890">
            <ns219:solidFill>
              <ns219:srgbClr val="65727D"/>
            </ns219:solidFill>
          </ns219:ln>
        </p:spPr>
      </p:cxnSp>
      <p:cxnSp>
        <p:nvCxnSpPr>
          <p:cNvPr id="39" name="analyst.source.check.return.2"/>
          <p:cNvCxnSpPr/>
          <p:nvPr/>
        </p:nvCxnSpPr>
        <p:spPr>
          <ns220:xfrm xmlns:ns220="http://schemas.openxmlformats.org/drawingml/2006/main" flipV="1">
            <ns220:off x="2332800" y="2079000"/>
            <ns220:ext cx="1" cy="2421000"/>
          </ns220:xfrm>
          <ns221:prstGeom xmlns:ns221="http://schemas.openxmlformats.org/drawingml/2006/main" prst="line">
            <ns221:avLst/>
          </ns221:prstGeom>
          <ns222:ln xmlns:ns222="http://schemas.openxmlformats.org/drawingml/2006/main" w="8890">
            <ns222:solidFill>
              <ns222:srgbClr val="65727D"/>
            </ns222:solidFill>
          </ns222:ln>
        </p:spPr>
      </p:cxnSp>
      <p:cxnSp>
        <p:nvCxnSpPr>
          <p:cNvPr id="40" name="analyst.check.report.a"/>
          <p:cNvCxnSpPr/>
          <p:nvPr/>
        </p:nvCxnSpPr>
        <p:spPr>
          <ns223:xfrm xmlns:ns223="http://schemas.openxmlformats.org/drawingml/2006/main">
            <ns223:off x="2332800" y="2079000"/>
            <ns223:ext cx="54000" cy="1"/>
          </ns223:xfrm>
          <ns224:prstGeom xmlns:ns224="http://schemas.openxmlformats.org/drawingml/2006/main" prst="line">
            <ns224:avLst/>
          </ns224:prstGeom>
          <ns225:ln xmlns:ns225="http://schemas.openxmlformats.org/drawingml/2006/main" w="8890">
            <ns225:solidFill>
              <ns225:srgbClr val="65727D"/>
            </ns225:solidFill>
            <ns225:tailEnd type="triangle" w="sm" len="sm"/>
          </ns225:ln>
        </p:spPr>
      </p:cxnSp>
      <p:cxnSp>
        <p:nvCxnSpPr>
          <p:cNvPr id="41" name="analyst.check.report.b"/>
          <p:cNvCxnSpPr/>
          <p:nvPr/>
        </p:nvCxnSpPr>
        <p:spPr>
          <ns226:xfrm xmlns:ns226="http://schemas.openxmlformats.org/drawingml/2006/main">
            <ns226:off x="2332800" y="3483000"/>
            <ns226:ext cx="54000" cy="1"/>
          </ns226:xfrm>
          <ns227:prstGeom xmlns:ns227="http://schemas.openxmlformats.org/drawingml/2006/main" prst="line">
            <ns227:avLst/>
          </ns227:prstGeom>
          <ns228:ln xmlns:ns228="http://schemas.openxmlformats.org/drawingml/2006/main" w="8890">
            <ns228:solidFill>
              <ns228:srgbClr val="65727D"/>
            </ns228:solidFill>
            <ns228:tailEnd type="triangle" w="sm" len="sm"/>
          </ns228:ln>
        </p:spPr>
      </p:cxnSp>
      <p:sp>
        <p:nvSpPr>
          <p:cNvPr id="42" name="source.check.label"/>
          <p:cNvSpPr/>
          <p:nvPr/>
        </p:nvSpPr>
        <p:spPr>
          <ns229:xfrm xmlns:ns229="http://schemas.openxmlformats.org/drawingml/2006/main">
            <ns229:off x="4374000" y="4320000"/>
            <ns229:ext cx="1620000" cy="162000"/>
          </ns229:xfrm>
          <ns230:prstGeom xmlns:ns230="http://schemas.openxmlformats.org/drawingml/2006/main" prst="rect">
            <ns230:avLst/>
          </ns230:prstGeom>
          <ns231:noFill xmlns:ns231="http://schemas.openxmlformats.org/drawingml/2006/main"/>
          <ns232:ln xmlns:ns232="http://schemas.openxmlformats.org/drawingml/2006/main" w="0">
            <ns232:noFill/>
          </ns232:ln>
        </p:spPr>
        <p:txBody>
          <ns233:bodyPr xmlns:ns233="http://schemas.openxmlformats.org/drawingml/2006/main" wrap="square" lIns="0" rIns="0" tIns="0" bIns="0" anchor="t">
            <ns233:noAutofit/>
          </ns233:bodyPr>
          <ns234:lstStyle xmlns:ns234="http://schemas.openxmlformats.org/drawingml/2006/main"/>
          <ns235:p xmlns:ns235="http://schemas.openxmlformats.org/drawingml/2006/main">
            <ns235:pPr algn="l">
              <ns235:lnSpc>
                <ns235:spcPct val="105000"/>
              </ns235:lnSpc>
              <ns235:defRPr sz="950" b="0">
                <ns235:solidFill>
                  <ns235:srgbClr val="65727D"/>
                </ns235:solidFill>
                <ns235:latin typeface="Arial"/>
                <ns235:ea typeface="Arial"/>
                <ns235:cs typeface="Arial"/>
              </ns235:defRPr>
            </ns235:pPr>
            <ns235:r>
              <ns235:rPr sz="950" b="0">
                <ns235:solidFill>
                  <ns235:srgbClr val="65727D"/>
                </ns235:solidFill>
                <ns235:latin typeface="Arial"/>
                <ns235:ea typeface="Arial"/>
                <ns235:cs typeface="Arial"/>
              </ns235:rPr>
              <ns235:t>Source check</ns235:t>
            </ns235:r>
          </ns235:p>
        </p:txBody>
      </p:sp>
    </p:spTree>
    <p:extLst>
      <p:ext uri="{BB962C8B-B14F-4D97-AF65-F5344CB8AC3E}">
        <p14:creationId xmlns:p14="http://schemas.microsoft.com/office/powerpoint/2010/main" val="7025265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Company Research: Assessing Growth Drivers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 Drafting Research Summaries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Tianhong; Fullgoal; Zhong Ou; Aegon-Industrial</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8"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research.scope"/>
          <p:cNvSpPr/>
          <p:nvPr/>
        </p:nvSpPr>
        <p:spPr>
          <ns111:xfrm xmlns:ns111="http://schemas.openxmlformats.org/drawingml/2006/main">
            <ns111:off x="2422800" y="1454400"/>
            <ns111:ext cx="6264000" cy="198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200" b="0">
                <ns117:solidFill>
                  <ns117:srgbClr val="005A9C"/>
                </ns117:solidFill>
                <ns117:latin typeface="Arial"/>
                <ns117:ea typeface="Arial"/>
                <ns117:cs typeface="Arial"/>
              </ns117:defRPr>
            </ns117:pPr>
            <ns117:r>
              <ns117:rPr sz="1200" b="0">
                <ns117:solidFill>
                  <ns117:srgbClr val="005A9C"/>
                </ns117:solidFill>
                <ns117:latin typeface="Arial"/>
                <ns117:ea typeface="Arial"/>
                <ns117:cs typeface="Arial"/>
              </ns117:rPr>
              <ns117:t>Company A: quarterly growth and sustainability</ns117:t>
            </ns117:r>
          </ns117:p>
        </p:txBody>
      </p:sp>
      <p:sp>
        <p:nvSpPr>
          <p:cNvPr id="19" name="input.quarter.results.paper"/>
          <p:cNvSpPr/>
          <p:nvPr/>
        </p:nvSpPr>
        <p:spPr>
          <ns118:xfrm xmlns:ns118="http://schemas.openxmlformats.org/drawingml/2006/main">
            <ns118:off x="2422800" y="1692000"/>
            <ns118:ext cx="1620000" cy="1080000"/>
          </ns118:xfrm>
          <ns119:prstGeom xmlns:ns119="http://schemas.openxmlformats.org/drawingml/2006/main" prst="foldedCorner">
            <ns119:avLst/>
          </ns119:prstGeom>
          <ns120:solidFill xmlns:ns120="http://schemas.openxmlformats.org/drawingml/2006/main">
            <ns120:srgbClr val="FFFFFF"/>
          </ns120:solidFill>
          <ns121:ln xmlns:ns121="http://schemas.openxmlformats.org/drawingml/2006/main" w="9525">
            <ns121:solidFill>
              <ns121:srgbClr val="317F7B"/>
            </ns121:solidFill>
          </ns121:ln>
        </p:spPr>
      </p:sp>
      <p:sp>
        <p:nvSpPr>
          <p:cNvPr id="20" name="input.quarter.results.title"/>
          <p:cNvSpPr/>
          <p:nvPr/>
        </p:nvSpPr>
        <p:spPr>
          <ns122:xfrm xmlns:ns122="http://schemas.openxmlformats.org/drawingml/2006/main">
            <ns122:off x="2476800" y="1735200"/>
            <ns122:ext cx="1440000" cy="1620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5000"/>
              </ns128:lnSpc>
              <ns128:defRPr sz="1250" b="1">
                <ns128:solidFill>
                  <ns128:srgbClr val="317F7B"/>
                </ns128:solidFill>
                <ns128:latin typeface="Arial"/>
                <ns128:ea typeface="Arial"/>
                <ns128:cs typeface="Arial"/>
              </ns128:defRPr>
            </ns128:pPr>
            <ns128:r>
              <ns128:rPr sz="1250" b="1">
                <ns128:solidFill>
                  <ns128:srgbClr val="317F7B"/>
                </ns128:solidFill>
                <ns128:latin typeface="Arial"/>
                <ns128:ea typeface="Arial"/>
                <ns128:cs typeface="Arial"/>
              </ns128:rPr>
              <ns128:t>[1] Company A</ns128:t>
            </ns128:r>
          </ns128:p>
        </p:txBody>
      </p:sp>
      <p:sp>
        <p:nvSpPr>
          <p:cNvPr id="21" name="input.quarter.results.period"/>
          <p:cNvSpPr/>
          <p:nvPr/>
        </p:nvSpPr>
        <p:spPr>
          <ns129:xfrm xmlns:ns129="http://schemas.openxmlformats.org/drawingml/2006/main">
            <ns129:off x="2476800" y="1922400"/>
            <ns129:ext cx="1512000" cy="162000"/>
          </ns129:xfrm>
          <ns130:prstGeom xmlns:ns130="http://schemas.openxmlformats.org/drawingml/2006/main" prst="rect">
            <ns130:avLst/>
          </ns130:prstGeom>
          <ns131:noFill xmlns:ns131="http://schemas.openxmlformats.org/drawingml/2006/main"/>
          <ns132:ln xmlns:ns132="http://schemas.openxmlformats.org/drawingml/2006/main" w="0">
            <ns132:noFill/>
          </ns132:ln>
        </p:spPr>
        <p:txBody>
          <ns133:bodyPr xmlns:ns133="http://schemas.openxmlformats.org/drawingml/2006/main" wrap="square" lIns="0" rIns="0" tIns="0" bIns="0" anchor="t">
            <ns133:noAutofit/>
          </ns133:bodyPr>
          <ns134:lstStyle xmlns:ns134="http://schemas.openxmlformats.org/drawingml/2006/main"/>
          <ns135:p xmlns:ns135="http://schemas.openxmlformats.org/drawingml/2006/main">
            <ns135:pPr algn="l">
              <ns135:lnSpc>
                <ns135:spcPct val="105000"/>
              </ns135:lnSpc>
              <ns135:defRPr sz="950" b="0">
                <ns135:solidFill>
                  <ns135:srgbClr val="65727D"/>
                </ns135:solidFill>
                <ns135:latin typeface="Arial"/>
                <ns135:ea typeface="Arial"/>
                <ns135:cs typeface="Arial"/>
              </ns135:defRPr>
            </ns135:pPr>
            <ns135:r>
              <ns135:rPr sz="950" b="0">
                <ns135:solidFill>
                  <ns135:srgbClr val="65727D"/>
                </ns135:solidFill>
                <ns135:latin typeface="Arial"/>
                <ns135:ea typeface="Arial"/>
                <ns135:cs typeface="Arial"/>
              </ns135:rPr>
              <ns135:t>Prior / current quarter</ns135:t>
            </ns135:r>
          </ns135:p>
        </p:txBody>
      </p:sp>
      <p:sp>
        <p:nvSpPr>
          <p:cNvPr id="22" name="input.quarter.results.revenue.label"/>
          <p:cNvSpPr/>
          <p:nvPr/>
        </p:nvSpPr>
        <p:spPr>
          <ns136:xfrm xmlns:ns136="http://schemas.openxmlformats.org/drawingml/2006/main">
            <ns136:off x="2476800" y="2080800"/>
            <ns136:ext cx="846000" cy="342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1050" b="0">
                <ns142:solidFill>
                  <ns142:srgbClr val="20262C"/>
                </ns142:solidFill>
                <ns142:latin typeface="Arial"/>
                <ns142:ea typeface="Arial"/>
                <ns142:cs typeface="Arial"/>
              </ns142:defRPr>
            </ns142:pPr>
            <ns142:r>
              <ns142:rPr sz="1050" b="0">
                <ns142:solidFill>
                  <ns142:srgbClr val="20262C"/>
                </ns142:solidFill>
                <ns142:latin typeface="Arial"/>
                <ns142:ea typeface="Arial"/>
                <ns142:cs typeface="Arial"/>
              </ns142:rPr>
              <ns142:t>Revenue</ns142:t>
            </ns142:r>
          </ns142:p>
          <ns143:p xmlns:ns143="http://schemas.openxmlformats.org/drawingml/2006/main">
            <ns143:pPr algn="l">
              <ns143:lnSpc>
                <ns143:spcPct val="105000"/>
              </ns143:lnSpc>
              <ns143:defRPr sz="1050" b="0">
                <ns143:solidFill>
                  <ns143:srgbClr val="20262C"/>
                </ns143:solidFill>
                <ns143:latin typeface="Arial"/>
                <ns143:ea typeface="Arial"/>
                <ns143:cs typeface="Arial"/>
              </ns143:defRPr>
            </ns143:pPr>
            <ns143:r>
              <ns143:rPr sz="1050" b="0">
                <ns143:solidFill>
                  <ns143:srgbClr val="20262C"/>
                </ns143:solidFill>
                <ns143:latin typeface="Arial"/>
                <ns143:ea typeface="Arial"/>
                <ns143:cs typeface="Arial"/>
              </ns143:rPr>
              <ns143:t>(RMB m)</ns143:t>
            </ns143:r>
          </ns143:p>
        </p:txBody>
      </p:sp>
      <p:sp>
        <p:nvSpPr>
          <p:cNvPr id="23" name="input.quarter.results.revenue.values"/>
          <p:cNvSpPr/>
          <p:nvPr/>
        </p:nvSpPr>
        <p:spPr>
          <ns144:xfrm xmlns:ns144="http://schemas.openxmlformats.org/drawingml/2006/main">
            <ns144:off x="3322800" y="2109600"/>
            <ns144:ext cx="666000" cy="198000"/>
          </ns144:xfrm>
          <ns145:prstGeom xmlns:ns145="http://schemas.openxmlformats.org/drawingml/2006/main" prst="rect">
            <ns145:avLst/>
          </ns145:prstGeom>
          <ns146:noFill xmlns:ns146="http://schemas.openxmlformats.org/drawingml/2006/main"/>
          <ns147:ln xmlns:ns147="http://schemas.openxmlformats.org/drawingml/2006/main" w="0">
            <ns147:noFill/>
          </ns147:ln>
        </p:spPr>
        <p:txBody>
          <ns148:bodyPr xmlns:ns148="http://schemas.openxmlformats.org/drawingml/2006/main" wrap="square" lIns="0" rIns="0" tIns="0" bIns="0" anchor="t">
            <ns148:noAutofit/>
          </ns148:bodyPr>
          <ns149:lstStyle xmlns:ns149="http://schemas.openxmlformats.org/drawingml/2006/main"/>
          <ns150:p xmlns:ns150="http://schemas.openxmlformats.org/drawingml/2006/main">
            <ns150:pPr algn="l">
              <ns150:lnSpc>
                <ns150:spcPct val="105000"/>
              </ns150:lnSpc>
              <ns150:defRPr sz="1200" b="1">
                <ns150:solidFill>
                  <ns150:srgbClr val="317F7B"/>
                </ns150:solidFill>
                <ns150:latin typeface="Arial"/>
                <ns150:ea typeface="Arial"/>
                <ns150:cs typeface="Arial"/>
              </ns150:defRPr>
            </ns150:pPr>
            <ns150:r>
              <ns150:rPr sz="1200" b="1">
                <ns150:solidFill>
                  <ns150:srgbClr val="317F7B"/>
                </ns150:solidFill>
                <ns150:latin typeface="Arial"/>
                <ns150:ea typeface="Arial"/>
                <ns150:cs typeface="Arial"/>
              </ns150:rPr>
              <ns150:t>100 / 110</ns150:t>
            </ns150:r>
          </ns150:p>
        </p:txBody>
      </p:sp>
      <p:sp>
        <p:nvSpPr>
          <p:cNvPr id="24" name="input.quarter.results.volume.label"/>
          <p:cNvSpPr/>
          <p:nvPr/>
        </p:nvSpPr>
        <p:spPr>
          <ns151:xfrm xmlns:ns151="http://schemas.openxmlformats.org/drawingml/2006/main">
            <ns151:off x="2476800" y="2379600"/>
            <ns151:ext cx="846000" cy="342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Sales volume</ns157:t>
            </ns157:r>
          </ns157:p>
          <ns158:p xmlns:ns158="http://schemas.openxmlformats.org/drawingml/2006/main">
            <ns158:pPr algn="l">
              <ns158:lnSpc>
                <ns158:spcPct val="105000"/>
              </ns158:lnSpc>
              <ns158:defRPr sz="1050" b="0">
                <ns158:solidFill>
                  <ns158:srgbClr val="20262C"/>
                </ns158:solidFill>
                <ns158:latin typeface="Arial"/>
                <ns158:ea typeface="Arial"/>
                <ns158:cs typeface="Arial"/>
              </ns158:defRPr>
            </ns158:pPr>
            <ns158:r>
              <ns158:rPr sz="1050" b="0">
                <ns158:solidFill>
                  <ns158:srgbClr val="20262C"/>
                </ns158:solidFill>
                <ns158:latin typeface="Arial"/>
                <ns158:ea typeface="Arial"/>
                <ns158:cs typeface="Arial"/>
              </ns158:rPr>
              <ns158:t>(m units)</ns158:t>
            </ns158:r>
          </ns158:p>
        </p:txBody>
      </p:sp>
      <p:sp>
        <p:nvSpPr>
          <p:cNvPr id="25" name="input.quarter.results.volume.values"/>
          <p:cNvSpPr/>
          <p:nvPr/>
        </p:nvSpPr>
        <p:spPr>
          <ns159:xfrm xmlns:ns159="http://schemas.openxmlformats.org/drawingml/2006/main">
            <ns159:off x="3322800" y="2408400"/>
            <ns159:ext cx="666000" cy="1980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5000"/>
              </ns165:lnSpc>
              <ns165:defRPr sz="1200" b="1">
                <ns165:solidFill>
                  <ns165:srgbClr val="317F7B"/>
                </ns165:solidFill>
                <ns165:latin typeface="Arial"/>
                <ns165:ea typeface="Arial"/>
                <ns165:cs typeface="Arial"/>
              </ns165:defRPr>
            </ns165:pPr>
            <ns165:r>
              <ns165:rPr sz="1200" b="1">
                <ns165:solidFill>
                  <ns165:srgbClr val="317F7B"/>
                </ns165:solidFill>
                <ns165:latin typeface="Arial"/>
                <ns165:ea typeface="Arial"/>
                <ns165:cs typeface="Arial"/>
              </ns165:rPr>
              <ns165:t>1.0 / 1.1</ns165:t>
            </ns165:r>
          </ns165:p>
        </p:txBody>
      </p:sp>
      <p:sp>
        <p:nvSpPr>
          <p:cNvPr id="26" name="input.meeting.notes.paper"/>
          <p:cNvSpPr/>
          <p:nvPr/>
        </p:nvSpPr>
        <p:spPr>
          <ns166:xfrm xmlns:ns166="http://schemas.openxmlformats.org/drawingml/2006/main">
            <ns166:off x="2422800" y="2862000"/>
            <ns166:ext cx="1620000" cy="666000"/>
          </ns166:xfrm>
          <ns167:prstGeom xmlns:ns167="http://schemas.openxmlformats.org/drawingml/2006/main" prst="foldedCorner">
            <ns167:avLst/>
          </ns167:prstGeom>
          <ns168:solidFill xmlns:ns168="http://schemas.openxmlformats.org/drawingml/2006/main">
            <ns168:srgbClr val="FFFFFF"/>
          </ns168:solidFill>
          <ns169:ln xmlns:ns169="http://schemas.openxmlformats.org/drawingml/2006/main" w="9525">
            <ns169:solidFill>
              <ns169:srgbClr val="317F7B"/>
            </ns169:solidFill>
          </ns169:ln>
        </p:spPr>
      </p:sp>
      <p:sp>
        <p:nvSpPr>
          <p:cNvPr id="27" name="input.meeting.notes.title"/>
          <p:cNvSpPr/>
          <p:nvPr/>
        </p:nvSpPr>
        <p:spPr>
          <ns170:xfrm xmlns:ns170="http://schemas.openxmlformats.org/drawingml/2006/main">
            <ns170:off x="2487600" y="2905200"/>
            <ns170:ext cx="1422000" cy="198000"/>
          </ns170:xfrm>
          <ns171:prstGeom xmlns:ns171="http://schemas.openxmlformats.org/drawingml/2006/main" prst="rect">
            <ns171:avLst/>
          </ns171:prstGeom>
          <ns172:noFill xmlns:ns172="http://schemas.openxmlformats.org/drawingml/2006/main"/>
          <ns173:ln xmlns:ns173="http://schemas.openxmlformats.org/drawingml/2006/main" w="0">
            <ns173:noFill/>
          </ns173:ln>
        </p:spPr>
        <p:txBody>
          <ns174:bodyPr xmlns:ns174="http://schemas.openxmlformats.org/drawingml/2006/main" wrap="square" lIns="0" rIns="0" tIns="0" bIns="0" anchor="t">
            <ns174:noAutofit/>
          </ns174:bodyPr>
          <ns175:lstStyle xmlns:ns175="http://schemas.openxmlformats.org/drawingml/2006/main"/>
          <ns176:p xmlns:ns176="http://schemas.openxmlformats.org/drawingml/2006/main">
            <ns176:pPr algn="l">
              <ns176:lnSpc>
                <ns176:spcPct val="105000"/>
              </ns176:lnSpc>
              <ns176:defRPr sz="1250" b="1">
                <ns176:solidFill>
                  <ns176:srgbClr val="317F7B"/>
                </ns176:solidFill>
                <ns176:latin typeface="Arial"/>
                <ns176:ea typeface="Arial"/>
                <ns176:cs typeface="Arial"/>
              </ns176:defRPr>
            </ns176:pPr>
            <ns176:r>
              <ns176:rPr sz="1250" b="1">
                <ns176:solidFill>
                  <ns176:srgbClr val="317F7B"/>
                </ns176:solidFill>
                <ns176:latin typeface="Arial"/>
                <ns176:ea typeface="Arial"/>
                <ns176:cs typeface="Arial"/>
              </ns176:rPr>
              <ns176:t>[2] Meeting notes</ns176:t>
            </ns176:r>
          </ns176:p>
        </p:txBody>
      </p:sp>
      <p:sp>
        <p:nvSpPr>
          <p:cNvPr id="28" name="input.meeting.notes.content"/>
          <p:cNvSpPr/>
          <p:nvPr/>
        </p:nvSpPr>
        <p:spPr>
          <ns177:xfrm xmlns:ns177="http://schemas.openxmlformats.org/drawingml/2006/main">
            <ns177:off x="2487600" y="3121200"/>
            <ns177:ext cx="1490400" cy="356400"/>
          </ns177:xfrm>
          <ns178:prstGeom xmlns:ns178="http://schemas.openxmlformats.org/drawingml/2006/main" prst="rect">
            <ns178:avLst/>
          </ns178:prstGeom>
          <ns179:noFill xmlns:ns179="http://schemas.openxmlformats.org/drawingml/2006/main"/>
          <ns180:ln xmlns:ns180="http://schemas.openxmlformats.org/drawingml/2006/main" w="0">
            <ns180:noFill/>
          </ns180:ln>
        </p:spPr>
        <p:txBody>
          <ns181:bodyPr xmlns:ns181="http://schemas.openxmlformats.org/drawingml/2006/main" wrap="square" lIns="0" rIns="0" tIns="0" bIns="0" anchor="t">
            <ns181:noAutofit/>
          </ns181:bodyPr>
          <ns182:lstStyle xmlns:ns182="http://schemas.openxmlformats.org/drawingml/2006/main"/>
          <ns183:p xmlns:ns183="http://schemas.openxmlformats.org/drawingml/2006/main">
            <ns183:pPr algn="l">
              <ns183:lnSpc>
                <ns183:spcPct val="100000"/>
              </ns183:lnSpc>
              <ns183:defRPr sz="1150" b="0">
                <ns183:solidFill>
                  <ns183:srgbClr val="20262C"/>
                </ns183:solidFill>
                <ns183:latin typeface="Arial"/>
                <ns183:ea typeface="Arial"/>
                <ns183:cs typeface="Arial"/>
              </ns183:defRPr>
            </ns183:pPr>
            <ns183:r>
              <ns183:rPr sz="1150" b="0">
                <ns183:solidFill>
                  <ns183:srgbClr val="20262C"/>
                </ns183:solidFill>
                <ns183:latin typeface="Arial"/>
                <ns183:ea typeface="Arial"/>
                <ns183:cs typeface="Arial"/>
              </ns183:rPr>
              <ns183:t>Restocking lifted</ns183:t>
            </ns183:r>
          </ns183:p>
          <ns184:p xmlns:ns184="http://schemas.openxmlformats.org/drawingml/2006/main">
            <ns184:pPr algn="l">
              <ns184:lnSpc>
                <ns184:spcPct val="100000"/>
              </ns184:lnSpc>
              <ns184:defRPr sz="1150" b="0">
                <ns184:solidFill>
                  <ns184:srgbClr val="20262C"/>
                </ns184:solidFill>
                <ns184:latin typeface="Arial"/>
                <ns184:ea typeface="Arial"/>
                <ns184:cs typeface="Arial"/>
              </ns184:defRPr>
            </ns184:pPr>
            <ns184:r>
              <ns184:rPr sz="1150" b="0">
                <ns184:solidFill>
                  <ns184:srgbClr val="20262C"/>
                </ns184:solidFill>
                <ns184:latin typeface="Arial"/>
                <ns184:ea typeface="Arial"/>
                <ns184:cs typeface="Arial"/>
              </ns184:rPr>
              <ns184:t>shipments</ns184:t>
            </ns184:r>
          </ns184:p>
        </p:txBody>
      </p:sp>
      <p:sp>
        <p:nvSpPr>
          <p:cNvPr id="29" name="input.research.reports.paper"/>
          <p:cNvSpPr/>
          <p:nvPr/>
        </p:nvSpPr>
        <p:spPr>
          <ns185:xfrm xmlns:ns185="http://schemas.openxmlformats.org/drawingml/2006/main">
            <ns185:off x="2422800" y="3618000"/>
            <ns185:ext cx="1620000" cy="928800"/>
          </ns185:xfrm>
          <ns186:prstGeom xmlns:ns186="http://schemas.openxmlformats.org/drawingml/2006/main" prst="foldedCorner">
            <ns186:avLst/>
          </ns186:prstGeom>
          <ns187:solidFill xmlns:ns187="http://schemas.openxmlformats.org/drawingml/2006/main">
            <ns187:srgbClr val="FFFFFF"/>
          </ns187:solidFill>
          <ns188:ln xmlns:ns188="http://schemas.openxmlformats.org/drawingml/2006/main" w="9525">
            <ns188:solidFill>
              <ns188:srgbClr val="317F7B"/>
            </ns188:solidFill>
          </ns188:ln>
        </p:spPr>
      </p:sp>
      <p:sp>
        <p:nvSpPr>
          <p:cNvPr id="30" name="input.research.reports.title"/>
          <p:cNvSpPr/>
          <p:nvPr/>
        </p:nvSpPr>
        <p:spPr>
          <ns189:xfrm xmlns:ns189="http://schemas.openxmlformats.org/drawingml/2006/main">
            <ns189:off x="2487600" y="3661200"/>
            <ns189:ext cx="1422000" cy="1980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5000"/>
              </ns195:lnSpc>
              <ns195:defRPr sz="1250" b="1">
                <ns195:solidFill>
                  <ns195:srgbClr val="317F7B"/>
                </ns195:solidFill>
                <ns195:latin typeface="Arial"/>
                <ns195:ea typeface="Arial"/>
                <ns195:cs typeface="Arial"/>
              </ns195:defRPr>
            </ns195:pPr>
            <ns195:r>
              <ns195:rPr sz="1250" b="1">
                <ns195:solidFill>
                  <ns195:srgbClr val="317F7B"/>
                </ns195:solidFill>
                <ns195:latin typeface="Arial"/>
                <ns195:ea typeface="Arial"/>
                <ns195:cs typeface="Arial"/>
              </ns195:rPr>
              <ns195:t>[3] Reports</ns195:t>
            </ns195:r>
          </ns195:p>
        </p:txBody>
      </p:sp>
      <p:sp>
        <p:nvSpPr>
          <p:cNvPr id="31" name="input.research.reports.content"/>
          <p:cNvSpPr/>
          <p:nvPr/>
        </p:nvSpPr>
        <p:spPr>
          <ns196:xfrm xmlns:ns196="http://schemas.openxmlformats.org/drawingml/2006/main">
            <ns196:off x="2487600" y="3877200"/>
            <ns196:ext cx="1490400" cy="619200"/>
          </ns196:xfrm>
          <ns197:prstGeom xmlns:ns197="http://schemas.openxmlformats.org/drawingml/2006/main" prst="rect">
            <ns197:avLst/>
          </ns197:prstGeom>
          <ns198:noFill xmlns:ns198="http://schemas.openxmlformats.org/drawingml/2006/main"/>
          <ns199:ln xmlns:ns199="http://schemas.openxmlformats.org/drawingml/2006/main" w="0">
            <ns199:noFill/>
          </ns199:ln>
        </p:spPr>
        <p:txBody>
          <ns200:bodyPr xmlns:ns200="http://schemas.openxmlformats.org/drawingml/2006/main" wrap="square" lIns="0" rIns="0" tIns="0" bIns="0" anchor="t">
            <ns200:noAutofit/>
          </ns200:bodyPr>
          <ns201:lstStyle xmlns:ns201="http://schemas.openxmlformats.org/drawingml/2006/main"/>
          <ns202:p xmlns:ns202="http://schemas.openxmlformats.org/drawingml/2006/main">
            <ns202:pPr algn="l">
              <ns202:lnSpc>
                <ns202:spcPct val="100000"/>
              </ns202:lnSpc>
              <ns202:defRPr sz="1050" b="0">
                <ns202:solidFill>
                  <ns202:srgbClr val="20262C"/>
                </ns202:solidFill>
                <ns202:latin typeface="Arial"/>
                <ns202:ea typeface="Arial"/>
                <ns202:cs typeface="Arial"/>
              </ns202:defRPr>
            </ns202:pPr>
            <ns202:r>
              <ns202:rPr sz="1050" b="0">
                <ns202:solidFill>
                  <ns202:srgbClr val="20262C"/>
                </ns202:solidFill>
                <ns202:latin typeface="Arial"/>
                <ns202:ea typeface="Arial"/>
                <ns202:cs typeface="Arial"/>
              </ns202:rPr>
              <ns202:t>A: demand recovery</ns202:t>
            </ns202:r>
          </ns202:p>
          <ns203:p xmlns:ns203="http://schemas.openxmlformats.org/drawingml/2006/main">
            <ns203:pPr algn="l">
              <ns203:lnSpc>
                <ns203:spcPct val="100000"/>
              </ns203:lnSpc>
              <ns203:defRPr sz="1050" b="0">
                <ns203:solidFill>
                  <ns203:srgbClr val="20262C"/>
                </ns203:solidFill>
                <ns203:latin typeface="Arial"/>
                <ns203:ea typeface="Arial"/>
                <ns203:cs typeface="Arial"/>
              </ns203:defRPr>
            </ns203:pPr>
            <ns203:r>
              <ns203:rPr sz="1050" b="0">
                <ns203:solidFill>
                  <ns203:srgbClr val="20262C"/>
                </ns203:solidFill>
                <ns203:latin typeface="Arial"/>
                <ns203:ea typeface="Arial"/>
                <ns203:cs typeface="Arial"/>
              </ns203:rPr>
              <ns203:t>can sustain growth</ns203:t>
            </ns203:r>
          </ns203:p>
          <ns204:p xmlns:ns204="http://schemas.openxmlformats.org/drawingml/2006/main">
            <ns204:pPr algn="l">
              <ns204:lnSpc>
                <ns204:spcPct val="100000"/>
              </ns204:lnSpc>
              <ns204:defRPr sz="1050" b="0">
                <ns204:solidFill>
                  <ns204:srgbClr val="20262C"/>
                </ns204:solidFill>
                <ns204:latin typeface="Arial"/>
                <ns204:ea typeface="Arial"/>
                <ns204:cs typeface="Arial"/>
              </ns204:defRPr>
            </ns204:pPr>
            <ns204:r>
              <ns204:rPr sz="1050" b="0">
                <ns204:solidFill>
                  <ns204:srgbClr val="20262C"/>
                </ns204:solidFill>
                <ns204:latin typeface="Arial"/>
                <ns204:ea typeface="Arial"/>
                <ns204:cs typeface="Arial"/>
              </ns204:rPr>
              <ns204:t>B: continued restocking</ns204:t>
            </ns204:r>
          </ns204:p>
          <ns205:p xmlns:ns205="http://schemas.openxmlformats.org/drawingml/2006/main">
            <ns205:pPr algn="l">
              <ns205:lnSpc>
                <ns205:spcPct val="100000"/>
              </ns205:lnSpc>
              <ns205:defRPr sz="1050" b="0">
                <ns205:solidFill>
                  <ns205:srgbClr val="20262C"/>
                </ns205:solidFill>
                <ns205:latin typeface="Arial"/>
                <ns205:ea typeface="Arial"/>
                <ns205:cs typeface="Arial"/>
              </ns205:defRPr>
            </ns205:pPr>
            <ns205:r>
              <ns205:rPr sz="1050" b="0">
                <ns205:solidFill>
                  <ns205:srgbClr val="20262C"/>
                </ns205:solidFill>
                <ns205:latin typeface="Arial"/>
                <ns205:ea typeface="Arial"/>
                <ns205:cs typeface="Arial"/>
              </ns205:rPr>
              <ns205:t>is uncertain</ns205:t>
            </ns205:r>
          </ns205:p>
        </p:txBody>
      </p:sp>
      <p:sp>
        <p:nvSpPr>
          <p:cNvPr id="32" name="actor.llm"/>
          <p:cNvSpPr/>
          <p:nvPr/>
        </p:nvSpPr>
        <p:spPr>
          <ns206:xfrm xmlns:ns206="http://schemas.openxmlformats.org/drawingml/2006/main">
            <ns206:off x="4392000" y="1890000"/>
            <ns206:ext cx="1458000" cy="972000"/>
          </ns206:xfrm>
          <ns207:prstGeom xmlns:ns207="http://schemas.openxmlformats.org/drawingml/2006/main" prst="roundRect">
            <ns207:avLst/>
          </ns207:prstGeom>
          <ns208:solidFill xmlns:ns208="http://schemas.openxmlformats.org/drawingml/2006/main">
            <ns208:srgbClr val="EAF3FA"/>
          </ns208:solidFill>
          <ns209:ln xmlns:ns209="http://schemas.openxmlformats.org/drawingml/2006/main" w="9525">
            <ns209:solidFill>
              <ns209:srgbClr val="005A9C"/>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005A9C"/>
                </ns212:solidFill>
                <ns212:latin typeface="Arial"/>
                <ns212:ea typeface="Arial"/>
                <ns212:cs typeface="Arial"/>
              </ns212:defRPr>
            </ns212:pPr>
            <ns212:r>
              <ns212:rPr sz="1300" b="1">
                <ns212:solidFill>
                  <ns212:srgbClr val="005A9C"/>
                </ns212:solidFill>
                <ns212:latin typeface="Arial"/>
                <ns212:ea typeface="Arial"/>
                <ns212:cs typeface="Arial"/>
              </ns212:rPr>
              <ns212:t>LLM</ns212:t>
            </ns212:r>
          </ns212:p>
          <ns213:p xmlns:ns213="http://schemas.openxmlformats.org/drawingml/2006/main">
            <ns213:pPr algn="l">
              <ns213:lnSpc>
                <ns213:spcPct val="105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Compare sources</ns213:t>
            </ns213:r>
          </ns213:p>
          <ns214:p xmlns:ns214="http://schemas.openxmlformats.org/drawingml/2006/main">
            <ns214:pPr algn="l">
              <ns214:lnSpc>
                <ns214:spcPct val="105000"/>
              </ns214:lnSpc>
              <ns214:defRPr sz="1150" b="0">
                <ns214:solidFill>
                  <ns214:srgbClr val="20262C"/>
                </ns214:solidFill>
                <ns214:latin typeface="Arial"/>
                <ns214:ea typeface="Arial"/>
                <ns214:cs typeface="Arial"/>
              </ns214:defRPr>
            </ns214:pPr>
            <ns214:r>
              <ns214:rPr sz="1150" b="0">
                <ns214:solidFill>
                  <ns214:srgbClr val="20262C"/>
                </ns214:solidFill>
                <ns214:latin typeface="Arial"/>
                <ns214:ea typeface="Arial"/>
                <ns214:cs typeface="Arial"/>
              </ns214:rPr>
              <ns214:t>Link drivers</ns214:t>
            </ns214:r>
          </ns214:p>
          <ns215:p xmlns:ns215="http://schemas.openxmlformats.org/drawingml/2006/main">
            <ns215:pPr algn="l">
              <ns215:lnSpc>
                <ns215:spcPct val="105000"/>
              </ns215:lnSpc>
              <ns215:defRPr sz="1150" b="0">
                <ns215:solidFill>
                  <ns215:srgbClr val="20262C"/>
                </ns215:solidFill>
                <ns215:latin typeface="Arial"/>
                <ns215:ea typeface="Arial"/>
                <ns215:cs typeface="Arial"/>
              </ns215:defRPr>
            </ns215:pPr>
            <ns215:r>
              <ns215:rPr sz="1150" b="0">
                <ns215:solidFill>
                  <ns215:srgbClr val="20262C"/>
                </ns215:solidFill>
                <ns215:latin typeface="Arial"/>
                <ns215:ea typeface="Arial"/>
                <ns215:cs typeface="Arial"/>
              </ns215:rPr>
              <ns215:t>Compare views</ns215:t>
            </ns215:r>
          </ns215:p>
        </p:txBody>
      </p:sp>
      <p:cxnSp>
        <p:nvCxnSpPr>
          <p:cNvPr id="33" name="flow.sources.to.llm.source.0"/>
          <p:cNvCxnSpPr/>
          <p:nvPr/>
        </p:nvCxnSpPr>
        <p:spPr>
          <ns216:xfrm xmlns:ns216="http://schemas.openxmlformats.org/drawingml/2006/main">
            <ns216:off x="4042800" y="2232000"/>
            <ns216:ext cx="151200" cy="1"/>
          </ns216:xfrm>
          <ns217:prstGeom xmlns:ns217="http://schemas.openxmlformats.org/drawingml/2006/main" prst="line">
            <ns217:avLst/>
          </ns217:prstGeom>
          <ns218:ln xmlns:ns218="http://schemas.openxmlformats.org/drawingml/2006/main" w="9525">
            <ns218:solidFill>
              <ns218:srgbClr val="317F7B"/>
            </ns218:solidFill>
          </ns218:ln>
        </p:spPr>
      </p:cxnSp>
      <p:cxnSp>
        <p:nvCxnSpPr>
          <p:cNvPr id="34" name="flow.sources.to.llm.source.1"/>
          <p:cNvCxnSpPr/>
          <p:nvPr/>
        </p:nvCxnSpPr>
        <p:spPr>
          <ns219:xfrm xmlns:ns219="http://schemas.openxmlformats.org/drawingml/2006/main">
            <ns219:off x="4042800" y="3195000"/>
            <ns219:ext cx="151200" cy="1"/>
          </ns219:xfrm>
          <ns220:prstGeom xmlns:ns220="http://schemas.openxmlformats.org/drawingml/2006/main" prst="line">
            <ns220:avLst/>
          </ns220:prstGeom>
          <ns221:ln xmlns:ns221="http://schemas.openxmlformats.org/drawingml/2006/main" w="9525">
            <ns221:solidFill>
              <ns221:srgbClr val="317F7B"/>
            </ns221:solidFill>
          </ns221:ln>
        </p:spPr>
      </p:cxnSp>
      <p:cxnSp>
        <p:nvCxnSpPr>
          <p:cNvPr id="35" name="flow.sources.to.llm.source.2"/>
          <p:cNvCxnSpPr/>
          <p:nvPr/>
        </p:nvCxnSpPr>
        <p:spPr>
          <ns222:xfrm xmlns:ns222="http://schemas.openxmlformats.org/drawingml/2006/main">
            <ns222:off x="4042800" y="4064400"/>
            <ns222:ext cx="151200" cy="1"/>
          </ns222:xfrm>
          <ns223:prstGeom xmlns:ns223="http://schemas.openxmlformats.org/drawingml/2006/main" prst="line">
            <ns223:avLst/>
          </ns223:prstGeom>
          <ns224:ln xmlns:ns224="http://schemas.openxmlformats.org/drawingml/2006/main" w="9525">
            <ns224:solidFill>
              <ns224:srgbClr val="317F7B"/>
            </ns224:solidFill>
          </ns224:ln>
        </p:spPr>
      </p:cxnSp>
      <p:cxnSp>
        <p:nvCxnSpPr>
          <p:cNvPr id="36" name="flow.sources.to.llm.bus"/>
          <p:cNvCxnSpPr/>
          <p:nvPr/>
        </p:nvCxnSpPr>
        <p:spPr>
          <ns225:xfrm xmlns:ns225="http://schemas.openxmlformats.org/drawingml/2006/main">
            <ns225:off x="4194000" y="2232000"/>
            <ns225:ext cx="1" cy="1832400"/>
          </ns225:xfrm>
          <ns226:prstGeom xmlns:ns226="http://schemas.openxmlformats.org/drawingml/2006/main" prst="line">
            <ns226:avLst/>
          </ns226:prstGeom>
          <ns227:ln xmlns:ns227="http://schemas.openxmlformats.org/drawingml/2006/main" w="9525">
            <ns227:solidFill>
              <ns227:srgbClr val="317F7B"/>
            </ns227:solidFill>
          </ns227:ln>
        </p:spPr>
      </p:cxnSp>
      <p:cxnSp>
        <p:nvCxnSpPr>
          <p:cNvPr id="37" name="flow.sources.to.llm.target"/>
          <p:cNvCxnSpPr/>
          <p:nvPr/>
        </p:nvCxnSpPr>
        <p:spPr>
          <ns228:xfrm xmlns:ns228="http://schemas.openxmlformats.org/drawingml/2006/main">
            <ns228:off x="4194000" y="2376000"/>
            <ns228:ext cx="198000" cy="1"/>
          </ns228:xfrm>
          <ns229:prstGeom xmlns:ns229="http://schemas.openxmlformats.org/drawingml/2006/main" prst="line">
            <ns229:avLst/>
          </ns229:prstGeom>
          <ns230:ln xmlns:ns230="http://schemas.openxmlformats.org/drawingml/2006/main" w="11430">
            <ns230:solidFill>
              <ns230:srgbClr val="317F7B"/>
            </ns230:solidFill>
            <ns230:tailEnd type="triangle" w="sm" len="sm"/>
          </ns230:ln>
        </p:spPr>
      </p:cxnSp>
      <p:sp>
        <p:nvSpPr>
          <p:cNvPr id="38" name="tool.calculation"/>
          <p:cNvSpPr/>
          <p:nvPr/>
        </p:nvSpPr>
        <p:spPr>
          <ns231:xfrm xmlns:ns231="http://schemas.openxmlformats.org/drawingml/2006/main">
            <ns231:off x="4392000" y="3348000"/>
            <ns231:ext cx="1602000" cy="1152000"/>
          </ns231:xfrm>
          <ns232:prstGeom xmlns:ns232="http://schemas.openxmlformats.org/drawingml/2006/main" prst="roundRect">
            <ns232:avLst/>
          </ns232:prstGeom>
          <ns233:solidFill xmlns:ns233="http://schemas.openxmlformats.org/drawingml/2006/main">
            <ns233:srgbClr val="F3F7FA"/>
          </ns233:solidFill>
          <ns234:ln xmlns:ns234="http://schemas.openxmlformats.org/drawingml/2006/main" w="9525">
            <ns234:solidFill>
              <ns234:srgbClr val="65727D"/>
            </ns234:solidFill>
          </ns234:ln>
        </p:spPr>
        <p:txBody>
          <ns235:bodyPr xmlns:ns235="http://schemas.openxmlformats.org/drawingml/2006/main" wrap="square" lIns="61200" rIns="61200" tIns="61200" bIns="61200" anchor="ctr">
            <ns235:noAutofit/>
          </ns235:bodyPr>
          <ns236:lstStyle xmlns:ns236="http://schemas.openxmlformats.org/drawingml/2006/main"/>
          <ns237:p xmlns:ns237="http://schemas.openxmlformats.org/drawingml/2006/main">
            <ns237:pPr algn="l">
              <ns237:lnSpc>
                <ns237:spcPct val="105000"/>
              </ns237:lnSpc>
              <ns237:defRPr sz="1300" b="1">
                <ns237:solidFill>
                  <ns237:srgbClr val="65727D"/>
                </ns237:solidFill>
                <ns237:latin typeface="Arial"/>
                <ns237:ea typeface="Arial"/>
                <ns237:cs typeface="Arial"/>
              </ns237:defRPr>
            </ns237:pPr>
            <ns237:r>
              <ns237:rPr sz="1300" b="1">
                <ns237:solidFill>
                  <ns237:srgbClr val="65727D"/>
                </ns237:solidFill>
                <ns237:latin typeface="Arial"/>
                <ns237:ea typeface="Arial"/>
                <ns237:cs typeface="Arial"/>
              </ns237:rPr>
              <ns237:t>Tools</ns237:t>
            </ns237:r>
          </ns237:p>
          <ns238:p xmlns:ns238="http://schemas.openxmlformats.org/drawingml/2006/main">
            <ns238:pPr algn="l">
              <ns238:lnSpc>
                <ns238:spcPct val="105000"/>
              </ns238:lnSpc>
              <ns238:defRPr sz="1150" b="0">
                <ns238:solidFill>
                  <ns238:srgbClr val="20262C"/>
                </ns238:solidFill>
                <ns238:latin typeface="Arial"/>
                <ns238:ea typeface="Arial"/>
                <ns238:cs typeface="Arial"/>
              </ns238:defRPr>
            </ns238:pPr>
            <ns238:r>
              <ns238:rPr sz="1150" b="0">
                <ns238:solidFill>
                  <ns238:srgbClr val="20262C"/>
                </ns238:solidFill>
                <ns238:latin typeface="Arial"/>
                <ns238:ea typeface="Arial"/>
                <ns238:cs typeface="Arial"/>
              </ns238:rPr>
              <ns238:t>Revenue +10%</ns238:t>
            </ns238:r>
          </ns238:p>
          <ns239:p xmlns:ns239="http://schemas.openxmlformats.org/drawingml/2006/main">
            <ns239:pPr algn="l">
              <ns239:lnSpc>
                <ns239:spcPct val="105000"/>
              </ns239:lnSpc>
              <ns239:defRPr sz="1150" b="0">
                <ns239:solidFill>
                  <ns239:srgbClr val="20262C"/>
                </ns239:solidFill>
                <ns239:latin typeface="Arial"/>
                <ns239:ea typeface="Arial"/>
                <ns239:cs typeface="Arial"/>
              </ns239:defRPr>
            </ns239:pPr>
            <ns239:r>
              <ns239:rPr sz="1150" b="0">
                <ns239:solidFill>
                  <ns239:srgbClr val="20262C"/>
                </ns239:solidFill>
                <ns239:latin typeface="Arial"/>
                <ns239:ea typeface="Arial"/>
                <ns239:cs typeface="Arial"/>
              </ns239:rPr>
              <ns239:t>Sales volume +10%</ns239:t>
            </ns239:r>
          </ns239:p>
          <ns240:p xmlns:ns240="http://schemas.openxmlformats.org/drawingml/2006/main">
            <ns240:pPr algn="l">
              <ns240:lnSpc>
                <ns240:spcPct val="105000"/>
              </ns240:lnSpc>
              <ns240:defRPr sz="1150" b="0">
                <ns240:solidFill>
                  <ns240:srgbClr val="20262C"/>
                </ns240:solidFill>
                <ns240:latin typeface="Arial"/>
                <ns240:ea typeface="Arial"/>
                <ns240:cs typeface="Arial"/>
              </ns240:defRPr>
            </ns240:pPr>
            <ns240:r>
              <ns240:rPr sz="1150" b="0">
                <ns240:solidFill>
                  <ns240:srgbClr val="20262C"/>
                </ns240:solidFill>
                <ns240:latin typeface="Arial"/>
                <ns240:ea typeface="Arial"/>
                <ns240:cs typeface="Arial"/>
              </ns240:rPr>
              <ns240:t>Average price unchanged</ns240:t>
            </ns240:r>
          </ns240:p>
        </p:txBody>
      </p:sp>
      <p:cxnSp>
        <p:nvCxnSpPr>
          <p:cNvPr id="39" name="flow.llm.calculate.request"/>
          <p:cNvCxnSpPr/>
          <p:nvPr/>
        </p:nvCxnSpPr>
        <p:spPr>
          <ns241:xfrm xmlns:ns241="http://schemas.openxmlformats.org/drawingml/2006/main">
            <ns241:off x="4716000" y="2887200"/>
            <ns241:ext cx="1" cy="424800"/>
          </ns241:xfrm>
          <ns242:prstGeom xmlns:ns242="http://schemas.openxmlformats.org/drawingml/2006/main" prst="line">
            <ns242:avLst/>
          </ns242:prstGeom>
          <ns243:ln xmlns:ns243="http://schemas.openxmlformats.org/drawingml/2006/main" w="11430">
            <ns243:solidFill>
              <ns243:srgbClr val="005A9C"/>
            </ns243:solidFill>
            <ns243:tailEnd type="triangle" w="sm" len="sm"/>
          </ns243:ln>
        </p:spPr>
      </p:cxnSp>
      <p:cxnSp>
        <p:nvCxnSpPr>
          <p:cNvPr id="40" name="flow.calculate.result.return"/>
          <p:cNvCxnSpPr/>
          <p:nvPr/>
        </p:nvCxnSpPr>
        <p:spPr>
          <ns244:xfrm xmlns:ns244="http://schemas.openxmlformats.org/drawingml/2006/main" flipV="1">
            <ns244:off x="5486400" y="2887200"/>
            <ns244:ext cx="1" cy="424800"/>
          </ns244:xfrm>
          <ns245:prstGeom xmlns:ns245="http://schemas.openxmlformats.org/drawingml/2006/main" prst="line">
            <ns245:avLst/>
          </ns245:prstGeom>
          <ns246:ln xmlns:ns246="http://schemas.openxmlformats.org/drawingml/2006/main" w="11430">
            <ns246:solidFill>
              <ns246:srgbClr val="005A9C"/>
            </ns246:solidFill>
            <ns246:tailEnd type="triangle" w="sm" len="sm"/>
          </ns246:ln>
        </p:spPr>
      </p:cxnSp>
      <p:sp>
        <p:nvSpPr>
          <p:cNvPr id="41" name="calculate.request.label"/>
          <p:cNvSpPr/>
          <p:nvPr/>
        </p:nvSpPr>
        <p:spPr>
          <ns247:xfrm xmlns:ns247="http://schemas.openxmlformats.org/drawingml/2006/main">
            <ns247:off x="4806000" y="3034800"/>
            <ns247:ext cx="504000" cy="1368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5000"/>
              </ns253:lnSpc>
              <ns253:defRPr sz="850" b="0">
                <ns253:solidFill>
                  <ns253:srgbClr val="65727D"/>
                </ns253:solidFill>
                <ns253:latin typeface="Arial"/>
                <ns253:ea typeface="Arial"/>
                <ns253:cs typeface="Arial"/>
              </ns253:defRPr>
            </ns253:pPr>
            <ns253:r>
              <ns253:rPr sz="850" b="0">
                <ns253:solidFill>
                  <ns253:srgbClr val="65727D"/>
                </ns253:solidFill>
                <ns253:latin typeface="Arial"/>
                <ns253:ea typeface="Arial"/>
                <ns253:cs typeface="Arial"/>
              </ns253:rPr>
              <ns253:t>Calculate</ns253:t>
            </ns253:r>
          </ns253:p>
        </p:txBody>
      </p:sp>
      <p:sp>
        <p:nvSpPr>
          <p:cNvPr id="42" name="calculate.return.label"/>
          <p:cNvSpPr/>
          <p:nvPr/>
        </p:nvSpPr>
        <p:spPr>
          <ns254:xfrm xmlns:ns254="http://schemas.openxmlformats.org/drawingml/2006/main">
            <ns254:off x="5562000" y="3034800"/>
            <ns254:ext cx="396000" cy="136800"/>
          </ns254:xfrm>
          <ns255:prstGeom xmlns:ns255="http://schemas.openxmlformats.org/drawingml/2006/main" prst="rect">
            <ns255:avLst/>
          </ns255:prstGeom>
          <ns256:noFill xmlns:ns256="http://schemas.openxmlformats.org/drawingml/2006/main"/>
          <ns257:ln xmlns:ns257="http://schemas.openxmlformats.org/drawingml/2006/main" w="0">
            <ns257:noFill/>
          </ns257:ln>
        </p:spPr>
        <p:txBody>
          <ns258:bodyPr xmlns:ns258="http://schemas.openxmlformats.org/drawingml/2006/main" wrap="square" lIns="0" rIns="0" tIns="0" bIns="0" anchor="t">
            <ns258:noAutofit/>
          </ns258:bodyPr>
          <ns259:lstStyle xmlns:ns259="http://schemas.openxmlformats.org/drawingml/2006/main"/>
          <ns260:p xmlns:ns260="http://schemas.openxmlformats.org/drawingml/2006/main">
            <ns260:pPr algn="l">
              <ns260:lnSpc>
                <ns260:spcPct val="105000"/>
              </ns260:lnSpc>
              <ns260:defRPr sz="850" b="0">
                <ns260:solidFill>
                  <ns260:srgbClr val="65727D"/>
                </ns260:solidFill>
                <ns260:latin typeface="Arial"/>
                <ns260:ea typeface="Arial"/>
                <ns260:cs typeface="Arial"/>
              </ns260:defRPr>
            </ns260:pPr>
            <ns260:r>
              <ns260:rPr sz="850" b="0">
                <ns260:solidFill>
                  <ns260:srgbClr val="65727D"/>
                </ns260:solidFill>
                <ns260:latin typeface="Arial"/>
                <ns260:ea typeface="Arial"/>
                <ns260:cs typeface="Arial"/>
              </ns260:rPr>
              <ns260:t>Result</ns260:t>
            </ns260:r>
          </ns260:p>
        </p:txBody>
      </p:sp>
      <p:sp>
        <p:nvSpPr>
          <p:cNvPr id="43" name="output.research.draft.paper"/>
          <p:cNvSpPr/>
          <p:nvPr/>
        </p:nvSpPr>
        <p:spPr>
          <ns261:xfrm xmlns:ns261="http://schemas.openxmlformats.org/drawingml/2006/main">
            <ns261:off x="6127200" y="1778400"/>
            <ns261:ext cx="2559600" cy="1476000"/>
          </ns261:xfrm>
          <ns262:prstGeom xmlns:ns262="http://schemas.openxmlformats.org/drawingml/2006/main" prst="foldedCorner">
            <ns262:avLst/>
          </ns262:prstGeom>
          <ns263:solidFill xmlns:ns263="http://schemas.openxmlformats.org/drawingml/2006/main">
            <ns263:srgbClr val="FFFFFF"/>
          </ns263:solidFill>
          <ns264:ln xmlns:ns264="http://schemas.openxmlformats.org/drawingml/2006/main" w="9525">
            <ns264:solidFill>
              <ns264:srgbClr val="317F7B"/>
            </ns264:solidFill>
          </ns264:ln>
        </p:spPr>
      </p:sp>
      <p:sp>
        <p:nvSpPr>
          <p:cNvPr id="44" name="output.research.draft.title"/>
          <p:cNvSpPr/>
          <p:nvPr/>
        </p:nvSpPr>
        <p:spPr>
          <ns265:xfrm xmlns:ns265="http://schemas.openxmlformats.org/drawingml/2006/main">
            <ns265:off x="6192000" y="1821600"/>
            <ns265:ext cx="2361600" cy="198000"/>
          </ns265:xfrm>
          <ns266:prstGeom xmlns:ns266="http://schemas.openxmlformats.org/drawingml/2006/main" prst="rect">
            <ns266:avLst/>
          </ns266:prstGeom>
          <ns267:noFill xmlns:ns267="http://schemas.openxmlformats.org/drawingml/2006/main"/>
          <ns268:ln xmlns:ns268="http://schemas.openxmlformats.org/drawingml/2006/main" w="0">
            <ns268:noFill/>
          </ns268:ln>
        </p:spPr>
        <p:txBody>
          <ns269:bodyPr xmlns:ns269="http://schemas.openxmlformats.org/drawingml/2006/main" wrap="square" lIns="0" rIns="0" tIns="0" bIns="0" anchor="t">
            <ns269:noAutofit/>
          </ns269:bodyPr>
          <ns270:lstStyle xmlns:ns270="http://schemas.openxmlformats.org/drawingml/2006/main"/>
          <ns271:p xmlns:ns271="http://schemas.openxmlformats.org/drawingml/2006/main">
            <ns271:pPr algn="l">
              <ns271:lnSpc>
                <ns271:spcPct val="105000"/>
              </ns271:lnSpc>
              <ns271:defRPr sz="1250" b="1">
                <ns271:solidFill>
                  <ns271:srgbClr val="317F7B"/>
                </ns271:solidFill>
                <ns271:latin typeface="Arial"/>
                <ns271:ea typeface="Arial"/>
                <ns271:cs typeface="Arial"/>
              </ns271:defRPr>
            </ns271:pPr>
            <ns271:r>
              <ns271:rPr sz="1250" b="1">
                <ns271:solidFill>
                  <ns271:srgbClr val="317F7B"/>
                </ns271:solidFill>
                <ns271:latin typeface="Arial"/>
                <ns271:ea typeface="Arial"/>
                <ns271:cs typeface="Arial"/>
              </ns271:rPr>
              <ns271:t>Draft research view</ns271:t>
            </ns271:r>
          </ns271:p>
        </p:txBody>
      </p:sp>
      <p:sp>
        <p:nvSpPr>
          <p:cNvPr id="45" name="output.research.draft.content"/>
          <p:cNvSpPr/>
          <p:nvPr/>
        </p:nvSpPr>
        <p:spPr>
          <ns272:xfrm xmlns:ns272="http://schemas.openxmlformats.org/drawingml/2006/main">
            <ns272:off x="6192000" y="2037600"/>
            <ns272:ext cx="2430000" cy="1166400"/>
          </ns272:xfrm>
          <ns273:prstGeom xmlns:ns273="http://schemas.openxmlformats.org/drawingml/2006/main" prst="rect">
            <ns273:avLst/>
          </ns273:prstGeom>
          <ns274:noFill xmlns:ns274="http://schemas.openxmlformats.org/drawingml/2006/main"/>
          <ns275:ln xmlns:ns275="http://schemas.openxmlformats.org/drawingml/2006/main" w="0">
            <ns275:noFill/>
          </ns275:ln>
        </p:spPr>
        <p:txBody>
          <ns276:bodyPr xmlns:ns276="http://schemas.openxmlformats.org/drawingml/2006/main" wrap="square" lIns="0" rIns="0" tIns="0" bIns="0" anchor="t">
            <ns276:noAutofit/>
          </ns276:bodyPr>
          <ns277:lstStyle xmlns:ns277="http://schemas.openxmlformats.org/drawingml/2006/main"/>
          <ns278:p xmlns:ns278="http://schemas.openxmlformats.org/drawingml/2006/main">
            <ns278:pPr algn="l">
              <ns278:lnSpc>
                <ns278:spcPct val="100000"/>
              </ns278:lnSpc>
              <ns278:defRPr sz="1200" b="0">
                <ns278:solidFill>
                  <ns278:srgbClr val="20262C"/>
                </ns278:solidFill>
                <ns278:latin typeface="Arial"/>
                <ns278:ea typeface="Arial"/>
                <ns278:cs typeface="Arial"/>
              </ns278:defRPr>
            </ns278:pPr>
            <ns278:r>
              <ns278:rPr sz="1200" b="0">
                <ns278:solidFill>
                  <ns278:srgbClr val="20262C"/>
                </ns278:solidFill>
                <ns278:latin typeface="Arial"/>
                <ns278:ea typeface="Arial"/>
                <ns278:cs typeface="Arial"/>
              </ns278:rPr>
              <ns278:t>Volume drove growth [1]</ns278:t>
            </ns278:r>
          </ns278:p>
          <ns279:p xmlns:ns279="http://schemas.openxmlformats.org/drawingml/2006/main">
            <ns279:pPr algn="l">
              <ns279:lnSpc>
                <ns279:spcPct val="100000"/>
              </ns279:lnSpc>
              <ns279:defRPr sz="1200" b="0">
                <ns279:solidFill>
                  <ns279:srgbClr val="20262C"/>
                </ns279:solidFill>
                <ns279:latin typeface="Arial"/>
                <ns279:ea typeface="Arial"/>
                <ns279:cs typeface="Arial"/>
              </ns279:defRPr>
            </ns279:pPr>
            <ns279:r>
              <ns279:rPr sz="1200" b="0">
                <ns279:solidFill>
                  <ns279:srgbClr val="20262C"/>
                </ns279:solidFill>
                <ns279:latin typeface="Arial"/>
                <ns279:ea typeface="Arial"/>
                <ns279:cs typeface="Arial"/>
              </ns279:rPr>
              <ns279:t>Restocking supported shipments [2]</ns279:t>
            </ns279:r>
          </ns279:p>
          <ns280:p xmlns:ns280="http://schemas.openxmlformats.org/drawingml/2006/main">
            <ns280:pPr algn="l">
              <ns280:lnSpc>
                <ns280:spcPct val="100000"/>
              </ns280:lnSpc>
              <ns280:defRPr sz="1200" b="0">
                <ns280:solidFill>
                  <ns280:srgbClr val="20262C"/>
                </ns280:solidFill>
                <ns280:latin typeface="Arial"/>
                <ns280:ea typeface="Arial"/>
                <ns280:cs typeface="Arial"/>
              </ns280:defRPr>
            </ns280:pPr>
            <ns280:r>
              <ns280:rPr sz="1200" b="0">
                <ns280:solidFill>
                  <ns280:srgbClr val="20262C"/>
                </ns280:solidFill>
                <ns280:latin typeface="Arial"/>
                <ns280:ea typeface="Arial"/>
                <ns280:cs typeface="Arial"/>
              </ns280:rPr>
              <ns280:t>Sustainability: views differ [3]</ns280:t>
            </ns280:r>
          </ns280:p>
          <ns281:p xmlns:ns281="http://schemas.openxmlformats.org/drawingml/2006/main">
            <ns281:pPr algn="l">
              <ns281:lnSpc>
                <ns281:spcPct val="100000"/>
              </ns281:lnSpc>
              <ns281:defRPr sz="1200" b="0">
                <ns281:solidFill>
                  <ns281:srgbClr val="20262C"/>
                </ns281:solidFill>
                <ns281:latin typeface="Arial"/>
                <ns281:ea typeface="Arial"/>
                <ns281:cs typeface="Arial"/>
              </ns281:defRPr>
            </ns281:pPr>
            <ns281:r>
              <ns281:rPr sz="1200" b="0">
                <ns281:solidFill>
                  <ns281:srgbClr val="20262C"/>
                </ns281:solidFill>
                <ns281:latin typeface="Arial"/>
                <ns281:ea typeface="Arial"/>
                <ns281:cs typeface="Arial"/>
              </ns281:rPr>
              <ns281:t>Watch demand and input costs</ns281:t>
            </ns281:r>
          </ns281:p>
        </p:txBody>
      </p:sp>
      <p:cxnSp>
        <p:nvCxnSpPr>
          <p:cNvPr id="46" name="flow.llm.to.research.draft"/>
          <p:cNvCxnSpPr/>
          <p:nvPr/>
        </p:nvCxnSpPr>
        <p:spPr>
          <ns282:xfrm xmlns:ns282="http://schemas.openxmlformats.org/drawingml/2006/main">
            <ns282:off x="5850000" y="2376000"/>
            <ns282:ext cx="241200" cy="1"/>
          </ns282:xfrm>
          <ns283:prstGeom xmlns:ns283="http://schemas.openxmlformats.org/drawingml/2006/main" prst="line">
            <ns283:avLst/>
          </ns283:prstGeom>
          <ns284:ln xmlns:ns284="http://schemas.openxmlformats.org/drawingml/2006/main" w="11430">
            <ns284:solidFill>
              <ns284:srgbClr val="005A9C"/>
            </ns284:solidFill>
            <ns284:tailEnd type="triangle" w="sm" len="sm"/>
          </ns284:ln>
        </p:spPr>
      </p:cxnSp>
      <p:sp>
        <p:nvSpPr>
          <p:cNvPr id="47" name="human.analyst.judgment"/>
          <p:cNvSpPr/>
          <p:nvPr/>
        </p:nvSpPr>
        <p:spPr>
          <ns285:xfrm xmlns:ns285="http://schemas.openxmlformats.org/drawingml/2006/main">
            <ns285:off x="6127200" y="3564000"/>
            <ns285:ext cx="2559600" cy="864000"/>
          </ns285:xfrm>
          <ns286:prstGeom xmlns:ns286="http://schemas.openxmlformats.org/drawingml/2006/main" prst="roundRect">
            <ns286:avLst/>
          </ns286:prstGeom>
          <ns287:solidFill xmlns:ns287="http://schemas.openxmlformats.org/drawingml/2006/main">
            <ns287:srgbClr val="F3F7FA"/>
          </ns287:solidFill>
          <ns288:ln xmlns:ns288="http://schemas.openxmlformats.org/drawingml/2006/main" w="9525">
            <ns288:solidFill>
              <ns288:srgbClr val="65727D"/>
            </ns288:solidFill>
          </ns288:ln>
        </p:spPr>
        <p:txBody>
          <ns289:bodyPr xmlns:ns289="http://schemas.openxmlformats.org/drawingml/2006/main" wrap="square" lIns="61200" rIns="61200" tIns="61200" bIns="61200" anchor="ctr">
            <ns289:noAutofit/>
          </ns289:bodyPr>
          <ns290:lstStyle xmlns:ns290="http://schemas.openxmlformats.org/drawingml/2006/main"/>
          <ns291:p xmlns:ns291="http://schemas.openxmlformats.org/drawingml/2006/main">
            <ns291:pPr algn="l">
              <ns291:lnSpc>
                <ns291:spcPct val="105000"/>
              </ns291:lnSpc>
              <ns291:defRPr sz="1300" b="1">
                <ns291:solidFill>
                  <ns291:srgbClr val="65727D"/>
                </ns291:solidFill>
                <ns291:latin typeface="Arial"/>
                <ns291:ea typeface="Arial"/>
                <ns291:cs typeface="Arial"/>
              </ns291:defRPr>
            </ns291:pPr>
            <ns291:r>
              <ns291:rPr sz="1300" b="1">
                <ns291:solidFill>
                  <ns291:srgbClr val="65727D"/>
                </ns291:solidFill>
                <ns291:latin typeface="Arial"/>
                <ns291:ea typeface="Arial"/>
                <ns291:cs typeface="Arial"/>
              </ns291:rPr>
              <ns291:t>Analyst</ns291:t>
            </ns291:r>
          </ns291:p>
          <ns292:p xmlns:ns292="http://schemas.openxmlformats.org/drawingml/2006/main">
            <ns292:pPr algn="l">
              <ns292:lnSpc>
                <ns292:spcPct val="105000"/>
              </ns292:lnSpc>
              <ns292:defRPr sz="1150" b="0">
                <ns292:solidFill>
                  <ns292:srgbClr val="20262C"/>
                </ns292:solidFill>
                <ns292:latin typeface="Arial"/>
                <ns292:ea typeface="Arial"/>
                <ns292:cs typeface="Arial"/>
              </ns292:defRPr>
            </ns292:pPr>
            <ns292:r>
              <ns292:rPr sz="1150" b="0">
                <ns292:solidFill>
                  <ns292:srgbClr val="20262C"/>
                </ns292:solidFill>
                <ns292:latin typeface="Arial"/>
                <ns292:ea typeface="Arial"/>
                <ns292:cs typeface="Arial"/>
              </ns292:rPr>
              <ns292:t>Check sources</ns292:t>
            </ns292:r>
          </ns292:p>
          <ns293:p xmlns:ns293="http://schemas.openxmlformats.org/drawingml/2006/main">
            <ns293:pPr algn="l">
              <ns293:lnSpc>
                <ns293:spcPct val="105000"/>
              </ns293:lnSpc>
              <ns293:defRPr sz="1150" b="0">
                <ns293:solidFill>
                  <ns293:srgbClr val="20262C"/>
                </ns293:solidFill>
                <ns293:latin typeface="Arial"/>
                <ns293:ea typeface="Arial"/>
                <ns293:cs typeface="Arial"/>
              </ns293:defRPr>
            </ns293:pPr>
            <ns293:r>
              <ns293:rPr sz="1150" b="0">
                <ns293:solidFill>
                  <ns293:srgbClr val="20262C"/>
                </ns293:solidFill>
                <ns293:latin typeface="Arial"/>
                <ns293:ea typeface="Arial"/>
                <ns293:cs typeface="Arial"/>
              </ns293:rPr>
              <ns293:t>Test thesis</ns293:t>
            </ns293:r>
          </ns293:p>
          <ns294:p xmlns:ns294="http://schemas.openxmlformats.org/drawingml/2006/main">
            <ns294:pPr algn="l">
              <ns294:lnSpc>
                <ns294:spcPct val="105000"/>
              </ns294:lnSpc>
              <ns294:defRPr sz="1150" b="0">
                <ns294:solidFill>
                  <ns294:srgbClr val="20262C"/>
                </ns294:solidFill>
                <ns294:latin typeface="Arial"/>
                <ns294:ea typeface="Arial"/>
                <ns294:cs typeface="Arial"/>
              </ns294:defRPr>
            </ns294:pPr>
            <ns294:r>
              <ns294:rPr sz="1150" b="0">
                <ns294:solidFill>
                  <ns294:srgbClr val="20262C"/>
                </ns294:solidFill>
                <ns294:latin typeface="Arial"/>
                <ns294:ea typeface="Arial"/>
                <ns294:cs typeface="Arial"/>
              </ns294:rPr>
              <ns294:t>Form view</ns294:t>
            </ns294:r>
          </ns294:p>
        </p:txBody>
      </p:sp>
      <p:cxnSp>
        <p:nvCxnSpPr>
          <p:cNvPr id="48" name="flow.draft.to.analyst"/>
          <p:cNvCxnSpPr/>
          <p:nvPr/>
        </p:nvCxnSpPr>
        <p:spPr>
          <ns295:xfrm xmlns:ns295="http://schemas.openxmlformats.org/drawingml/2006/main">
            <ns295:off x="7405200" y="3276000"/>
            <ns295:ext cx="1" cy="252000"/>
          </ns295:xfrm>
          <ns296:prstGeom xmlns:ns296="http://schemas.openxmlformats.org/drawingml/2006/main" prst="line">
            <ns296:avLst/>
          </ns296:prstGeom>
          <ns297:ln xmlns:ns297="http://schemas.openxmlformats.org/drawingml/2006/main" w="11430">
            <ns297:solidFill>
              <ns297:srgbClr val="317F7B"/>
            </ns297:solidFill>
            <ns297:tailEnd type="triangle" w="sm" len="sm"/>
          </ns297:ln>
        </p:spPr>
      </p:cxnSp>
    </p:spTree>
    <p:extLst>
      <p:ext uri="{BB962C8B-B14F-4D97-AF65-F5344CB8AC3E}">
        <p14:creationId xmlns:p14="http://schemas.microsoft.com/office/powerpoint/2010/main" val="9517909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Trading Support: Preparing Bond Quote Summaries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Bond Quote Preparation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7" name="map.task.focus.trade"/>
          <p:cNvSpPr/>
          <p:nvPr/>
        </p:nvSpPr>
        <p:spPr>
          <ns31:xfrm xmlns:ns31="http://schemas.openxmlformats.org/drawingml/2006/main">
            <ns31:off x="486000" y="1998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8"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Trading support</ns41:t>
            </ns41:r>
          </ns41:p>
        </p:txBody>
      </p:sp>
      <p:sp>
        <p:nvSpPr>
          <p:cNvPr id="9"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Client communications</ns48:t>
            </ns48:r>
          </ns48:p>
        </p:txBody>
      </p:sp>
      <p:sp>
        <p:nvSpPr>
          <p:cNvPr id="10"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2" name="map.task.risk"/>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Risk analysis</ns65:t>
            </ns65:r>
          </ns65:p>
        </p:txBody>
      </p:sp>
      <p:sp>
        <p:nvSpPr>
          <p:cNvPr id="13" name="map.office.2"/>
          <p:cNvSpPr/>
          <p:nvPr/>
        </p:nvSpPr>
        <p:spPr>
          <ns66:xfrm xmlns:ns66="http://schemas.openxmlformats.org/drawingml/2006/main">
            <ns66:off x="486000" y="3391200"/>
            <ns66:ext cx="1692000" cy="1800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100" b="1">
                <ns72:solidFill>
                  <ns72:srgbClr val="65727D"/>
                </ns72:solidFill>
                <ns72:latin typeface="Arial"/>
                <ns72:ea typeface="Arial"/>
                <ns72:cs typeface="Arial"/>
              </ns72:defRPr>
            </ns72:pPr>
            <ns72:r>
              <ns72:rPr sz="1100" b="1">
                <ns72:solidFill>
                  <ns72:srgbClr val="65727D"/>
                </ns72:solidFill>
                <ns72:latin typeface="Arial"/>
                <ns72:ea typeface="Arial"/>
                <ns72:cs typeface="Arial"/>
              </ns72:rPr>
              <ns72:t>Back office</ns72:t>
            </ns72:r>
          </ns72:p>
        </p:txBody>
      </p:sp>
      <p:cxnSp>
        <p:nvCxnSpPr>
          <p:cNvPr id="14" name="map.office.rule.2"/>
          <p:cNvCxnSpPr/>
          <p:nvPr/>
        </p:nvCxnSpPr>
        <p:spPr>
          <ns73:xfrm xmlns:ns73="http://schemas.openxmlformats.org/drawingml/2006/main">
            <ns73:off x="457200" y="3610800"/>
            <ns73:ext cx="1742400" cy="1"/>
          </ns73:xfrm>
          <ns74:prstGeom xmlns:ns74="http://schemas.openxmlformats.org/drawingml/2006/main" prst="line">
            <ns74:avLst/>
          </ns74:prstGeom>
          <ns75:ln xmlns:ns75="http://schemas.openxmlformats.org/drawingml/2006/main" w="7620">
            <ns75:solidFill>
              <ns75:srgbClr val="CBD4DA"/>
            </ns75:solidFill>
          </ns75:ln>
        </p:spPr>
      </p:cxnSp>
      <p:sp>
        <p:nvSpPr>
          <p:cNvPr id="15" name="map.task.records"/>
          <p:cNvSpPr/>
          <p:nvPr/>
        </p:nvSpPr>
        <p:spPr>
          <ns76:xfrm xmlns:ns76="http://schemas.openxmlformats.org/drawingml/2006/main">
            <ns76:off x="554400" y="3690000"/>
            <ns76:ext cx="1562400" cy="1656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050" b="0">
                <ns82:solidFill>
                  <ns82:srgbClr val="65727D"/>
                </ns82:solidFill>
                <ns82:latin typeface="Arial"/>
                <ns82:ea typeface="Arial"/>
                <ns82:cs typeface="Arial"/>
              </ns82:defRPr>
            </ns82:pPr>
            <ns82:r>
              <ns82:rPr sz="1050" b="0">
                <ns82:solidFill>
                  <ns82:srgbClr val="65727D"/>
                </ns82:solidFill>
                <ns82:latin typeface="Arial"/>
                <ns82:ea typeface="Arial"/>
                <ns82:cs typeface="Arial"/>
              </ns82:rPr>
              <ns82:t>Record entry</ns82:t>
            </ns82:r>
          </ns82:p>
        </p:txBody>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Tool development</ns89:t>
            </ns89:r>
          </ns89:p>
        </p:txBody>
      </p:sp>
      <p:sp>
        <p:nvSpPr>
          <p:cNvPr id="17" name="material.manager.request.paper"/>
          <p:cNvSpPr/>
          <p:nvPr/>
        </p:nvSpPr>
        <p:spPr>
          <ns104:xfrm xmlns:ns104="http://schemas.openxmlformats.org/drawingml/2006/main">
            <ns104:off x="2422800" y="1504800"/>
            <ns104:ext cx="1969200" cy="882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317F7B"/>
            </ns107:solidFill>
          </ns107:ln>
        </p:spPr>
      </p:sp>
      <p:sp>
        <p:nvSpPr>
          <p:cNvPr id="18" name="material.manager.request.title"/>
          <p:cNvSpPr/>
          <p:nvPr/>
        </p:nvSpPr>
        <p:spPr>
          <ns108:xfrm xmlns:ns108="http://schemas.openxmlformats.org/drawingml/2006/main">
            <ns108:off x="2487600" y="1548000"/>
            <ns108:ext cx="17712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317F7B"/>
                </ns114:solidFill>
                <ns114:latin typeface="Arial"/>
                <ns114:ea typeface="Arial"/>
                <ns114:cs typeface="Arial"/>
              </ns114:defRPr>
            </ns114:pPr>
            <ns114:r>
              <ns114:rPr sz="1250" b="1">
                <ns114:solidFill>
                  <ns114:srgbClr val="317F7B"/>
                </ns114:solidFill>
                <ns114:latin typeface="Arial"/>
                <ns114:ea typeface="Arial"/>
                <ns114:cs typeface="Arial"/>
              </ns114:rPr>
              <ns114:t>Company A bonds</ns114:t>
            </ns114:r>
          </ns114:p>
        </p:txBody>
      </p:sp>
      <p:sp>
        <p:nvSpPr>
          <p:cNvPr id="19" name="material.manager.request.content"/>
          <p:cNvSpPr/>
          <p:nvPr/>
        </p:nvSpPr>
        <p:spPr>
          <ns115:xfrm xmlns:ns115="http://schemas.openxmlformats.org/drawingml/2006/main">
            <ns115:off x="2487600" y="1764000"/>
            <ns115:ext cx="1839600" cy="572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150" b="0">
                <ns121:solidFill>
                  <ns121:srgbClr val="20262C"/>
                </ns121:solidFill>
                <ns121:latin typeface="Arial"/>
                <ns121:ea typeface="Arial"/>
                <ns121:cs typeface="Arial"/>
              </ns121:defRPr>
            </ns121:pPr>
            <ns121:r>
              <ns121:rPr sz="1150" b="0">
                <ns121:solidFill>
                  <ns121:srgbClr val="20262C"/>
                </ns121:solidFill>
                <ns121:latin typeface="Arial"/>
                <ns121:ea typeface="Arial"/>
                <ns121:cs typeface="Arial"/>
              </ns121:rPr>
              <ns121:t>Maturity: within two years</ns121:t>
            </ns121:r>
          </ns121:p>
          <ns122:p xmlns:ns122="http://schemas.openxmlformats.org/drawingml/2006/main">
            <ns122:pPr algn="l">
              <ns122:lnSpc>
                <ns122:spcPct val="100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Check holdings</ns122:t>
            </ns122:r>
          </ns122:p>
          <ns123:p xmlns:ns123="http://schemas.openxmlformats.org/drawingml/2006/main">
            <ns123:pPr algn="l">
              <ns123:lnSpc>
                <ns123:spcPct val="100000"/>
              </ns123:lnSpc>
              <ns123:defRPr sz="1150" b="0">
                <ns123:solidFill>
                  <ns123:srgbClr val="20262C"/>
                </ns123:solidFill>
                <ns123:latin typeface="Arial"/>
                <ns123:ea typeface="Arial"/>
                <ns123:cs typeface="Arial"/>
              </ns123:defRPr>
            </ns123:pPr>
            <ns123:r>
              <ns123:rPr sz="1150" b="0">
                <ns123:solidFill>
                  <ns123:srgbClr val="20262C"/>
                </ns123:solidFill>
                <ns123:latin typeface="Arial"/>
                <ns123:ea typeface="Arial"/>
                <ns123:cs typeface="Arial"/>
              </ns123:rPr>
              <ns123:t>Collect offer quotes</ns123:t>
            </ns123:r>
          </ns123:p>
        </p:txBody>
      </p:sp>
      <p:sp>
        <p:nvSpPr>
          <p:cNvPr id="20" name="actor.portfolio.manager"/>
          <p:cNvSpPr/>
          <p:nvPr/>
        </p:nvSpPr>
        <p:spPr>
          <ns124:xfrm xmlns:ns124="http://schemas.openxmlformats.org/drawingml/2006/main">
            <ns124:off x="2422800" y="2599200"/>
            <ns124:ext cx="1620000" cy="540000"/>
          </ns124:xfrm>
          <ns125:prstGeom xmlns:ns125="http://schemas.openxmlformats.org/drawingml/2006/main" prst="roundRect">
            <ns125:avLst/>
          </ns125:prstGeom>
          <ns126:solidFill xmlns:ns126="http://schemas.openxmlformats.org/drawingml/2006/main">
            <ns126:srgbClr val="F3F7FA"/>
          </ns126:solidFill>
          <ns127:ln xmlns:ns127="http://schemas.openxmlformats.org/drawingml/2006/main" w="9525">
            <ns127:solidFill>
              <ns127:srgbClr val="65727D"/>
            </ns127:solidFill>
          </ns127:ln>
        </p:spPr>
        <p:txBody>
          <ns128:bodyPr xmlns:ns128="http://schemas.openxmlformats.org/drawingml/2006/main" wrap="square" lIns="61200" rIns="61200" tIns="61200" bIns="61200" anchor="ctr">
            <ns128:noAutofit/>
          </ns128:bodyPr>
          <ns129:lstStyle xmlns:ns129="http://schemas.openxmlformats.org/drawingml/2006/main"/>
          <ns130:p xmlns:ns130="http://schemas.openxmlformats.org/drawingml/2006/main">
            <ns130:pPr algn="l">
              <ns130:lnSpc>
                <ns130:spcPct val="105000"/>
              </ns130:lnSpc>
              <ns130:defRPr sz="1300" b="1">
                <ns130:solidFill>
                  <ns130:srgbClr val="65727D"/>
                </ns130:solidFill>
                <ns130:latin typeface="Arial"/>
                <ns130:ea typeface="Arial"/>
                <ns130:cs typeface="Arial"/>
              </ns130:defRPr>
            </ns130:pPr>
            <ns130:r>
              <ns130:rPr sz="1300" b="1">
                <ns130:solidFill>
                  <ns130:srgbClr val="65727D"/>
                </ns130:solidFill>
                <ns130:latin typeface="Arial"/>
                <ns130:ea typeface="Arial"/>
                <ns130:cs typeface="Arial"/>
              </ns130:rPr>
              <ns130:t>Portfolio manager</ns130:t>
            </ns130:r>
          </ns130:p>
          <ns131:p xmlns:ns131="http://schemas.openxmlformats.org/drawingml/2006/main">
            <ns131:pPr algn="l">
              <ns131:lnSpc>
                <ns131:spcPct val="105000"/>
              </ns131:lnSpc>
              <ns131:defRPr sz="1200" b="0">
                <ns131:solidFill>
                  <ns131:srgbClr val="20262C"/>
                </ns131:solidFill>
                <ns131:latin typeface="Arial"/>
                <ns131:ea typeface="Arial"/>
                <ns131:cs typeface="Arial"/>
              </ns131:defRPr>
            </ns131:pPr>
            <ns131:r>
              <ns131:rPr sz="1200" b="0">
                <ns131:solidFill>
                  <ns131:srgbClr val="20262C"/>
                </ns131:solidFill>
                <ns131:latin typeface="Arial"/>
                <ns131:ea typeface="Arial"/>
                <ns131:cs typeface="Arial"/>
              </ns131:rPr>
              <ns131:t>Define request</ns131:t>
            </ns131:r>
          </ns131:p>
        </p:txBody>
      </p:sp>
      <p:sp>
        <p:nvSpPr>
          <p:cNvPr id="21" name="actor.trader"/>
          <p:cNvSpPr/>
          <p:nvPr/>
        </p:nvSpPr>
        <p:spPr>
          <ns132:xfrm xmlns:ns132="http://schemas.openxmlformats.org/drawingml/2006/main">
            <ns132:off x="4752000" y="2599200"/>
            <ns132:ext cx="1548000" cy="540000"/>
          </ns132:xfrm>
          <ns133:prstGeom xmlns:ns133="http://schemas.openxmlformats.org/drawingml/2006/main" prst="roundRect">
            <ns133:avLst/>
          </ns133:prstGeom>
          <ns134:solidFill xmlns:ns134="http://schemas.openxmlformats.org/drawingml/2006/main">
            <ns134:srgbClr val="F3F7FA"/>
          </ns134:solidFill>
          <ns135:ln xmlns:ns135="http://schemas.openxmlformats.org/drawingml/2006/main" w="9525">
            <ns135:solidFill>
              <ns135:srgbClr val="65727D"/>
            </ns135:solidFill>
          </ns135:ln>
        </p:spPr>
        <p:txBody>
          <ns136:bodyPr xmlns:ns136="http://schemas.openxmlformats.org/drawingml/2006/main" wrap="square" lIns="61200" rIns="61200" tIns="61200" bIns="61200" anchor="ctr">
            <ns136:noAutofit/>
          </ns136:bodyPr>
          <ns137:lstStyle xmlns:ns137="http://schemas.openxmlformats.org/drawingml/2006/main"/>
          <ns138:p xmlns:ns138="http://schemas.openxmlformats.org/drawingml/2006/main">
            <ns138:pPr algn="l">
              <ns138:lnSpc>
                <ns138:spcPct val="105000"/>
              </ns138:lnSpc>
              <ns138:defRPr sz="1300" b="1">
                <ns138:solidFill>
                  <ns138:srgbClr val="65727D"/>
                </ns138:solidFill>
                <ns138:latin typeface="Arial"/>
                <ns138:ea typeface="Arial"/>
                <ns138:cs typeface="Arial"/>
              </ns138:defRPr>
            </ns138:pPr>
            <ns138:r>
              <ns138:rPr sz="1300" b="1">
                <ns138:solidFill>
                  <ns138:srgbClr val="65727D"/>
                </ns138:solidFill>
                <ns138:latin typeface="Arial"/>
                <ns138:ea typeface="Arial"/>
                <ns138:cs typeface="Arial"/>
              </ns138:rPr>
              <ns138:t>Trader</ns138:t>
            </ns138:r>
          </ns138:p>
          <ns139:p xmlns:ns139="http://schemas.openxmlformats.org/drawingml/2006/main">
            <ns139:pPr algn="l">
              <ns139:lnSpc>
                <ns139:spcPct val="105000"/>
              </ns139:lnSpc>
              <ns139:defRPr sz="1050" b="0">
                <ns139:solidFill>
                  <ns139:srgbClr val="20262C"/>
                </ns139:solidFill>
                <ns139:latin typeface="Arial"/>
                <ns139:ea typeface="Arial"/>
                <ns139:cs typeface="Arial"/>
              </ns139:defRPr>
            </ns139:pPr>
            <ns139:r>
              <ns139:rPr sz="1050" b="0">
                <ns139:solidFill>
                  <ns139:srgbClr val="20262C"/>
                </ns139:solidFill>
                <ns139:latin typeface="Arial"/>
                <ns139:ea typeface="Arial"/>
                <ns139:cs typeface="Arial"/>
              </ns139:rPr>
              <ns139:t>Screen / request / summarize</ns139:t>
            </ns139:r>
          </ns139:p>
        </p:txBody>
      </p:sp>
      <p:sp>
        <p:nvSpPr>
          <p:cNvPr id="22" name="actor.market.holdings.systems"/>
          <p:cNvSpPr/>
          <p:nvPr/>
        </p:nvSpPr>
        <p:spPr>
          <ns140:xfrm xmlns:ns140="http://schemas.openxmlformats.org/drawingml/2006/main">
            <ns140:off x="6901200" y="1504800"/>
            <ns140:ext cx="1785600" cy="792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Market / holdings systems</ns146:t>
            </ns146:r>
          </ns146:p>
          <ns147:p xmlns:ns147="http://schemas.openxmlformats.org/drawingml/2006/main">
            <ns147:pPr algn="l">
              <ns147:lnSpc>
                <ns147:spcPct val="105000"/>
              </ns147:lnSpc>
              <ns147:defRPr sz="1150" b="0">
                <ns147:solidFill>
                  <ns147:srgbClr val="20262C"/>
                </ns147:solidFill>
                <ns147:latin typeface="Arial"/>
                <ns147:ea typeface="Arial"/>
                <ns147:cs typeface="Arial"/>
              </ns147:defRPr>
            </ns147:pPr>
            <ns147:r>
              <ns147:rPr sz="1150" b="0">
                <ns147:solidFill>
                  <ns147:srgbClr val="20262C"/>
                </ns147:solidFill>
                <ns147:latin typeface="Arial"/>
                <ns147:ea typeface="Arial"/>
                <ns147:cs typeface="Arial"/>
              </ns147:rPr>
              <ns147:t>Bonds and holdings</ns147:t>
            </ns147:r>
          </ns147:p>
          <ns148:p xmlns:ns148="http://schemas.openxmlformats.org/drawingml/2006/main">
            <ns148:pPr algn="l">
              <ns148:lnSpc>
                <ns148:spcPct val="105000"/>
              </ns148:lnSpc>
              <ns148:defRPr sz="1150" b="0">
                <ns148:solidFill>
                  <ns148:srgbClr val="20262C"/>
                </ns148:solidFill>
                <ns148:latin typeface="Arial"/>
                <ns148:ea typeface="Arial"/>
                <ns148:cs typeface="Arial"/>
              </ns148:defRPr>
            </ns148:pPr>
            <ns148:r>
              <ns148:rPr sz="1150" b="0">
                <ns148:solidFill>
                  <ns148:srgbClr val="20262C"/>
                </ns148:solidFill>
                <ns148:latin typeface="Arial"/>
                <ns148:ea typeface="Arial"/>
                <ns148:cs typeface="Arial"/>
              </ns148:rPr>
              <ns148:t>Data timestamp</ns148:t>
            </ns148:r>
          </ns148:p>
        </p:txBody>
      </p:sp>
      <p:sp>
        <p:nvSpPr>
          <p:cNvPr id="23" name="actor.counterparty"/>
          <p:cNvSpPr/>
          <p:nvPr/>
        </p:nvSpPr>
        <p:spPr>
          <ns149:xfrm xmlns:ns149="http://schemas.openxmlformats.org/drawingml/2006/main">
            <ns149:off x="6901200" y="3618000"/>
            <ns149:ext cx="1785600" cy="756000"/>
          </ns149:xfrm>
          <ns150:prstGeom xmlns:ns150="http://schemas.openxmlformats.org/drawingml/2006/main" prst="roundRect">
            <ns150:avLst/>
          </ns150:prstGeom>
          <ns151:solidFill xmlns:ns151="http://schemas.openxmlformats.org/drawingml/2006/main">
            <ns151:srgbClr val="F3F7FA"/>
          </ns151:solidFill>
          <ns152:ln xmlns:ns152="http://schemas.openxmlformats.org/drawingml/2006/main" w="9525">
            <ns152:solidFill>
              <ns152:srgbClr val="65727D"/>
            </ns152:solidFill>
          </ns152:ln>
        </p:spPr>
        <p:txBody>
          <ns153:bodyPr xmlns:ns153="http://schemas.openxmlformats.org/drawingml/2006/main" wrap="square" lIns="61200" rIns="61200" tIns="61200" bIns="61200" anchor="ctr">
            <ns153:noAutofit/>
          </ns153:bodyPr>
          <ns154:lstStyle xmlns:ns154="http://schemas.openxmlformats.org/drawingml/2006/main"/>
          <ns155:p xmlns:ns155="http://schemas.openxmlformats.org/drawingml/2006/main">
            <ns155:pPr algn="l">
              <ns155:lnSpc>
                <ns155:spcPct val="105000"/>
              </ns155:lnSpc>
              <ns155:defRPr sz="1300" b="1">
                <ns155:solidFill>
                  <ns155:srgbClr val="65727D"/>
                </ns155:solidFill>
                <ns155:latin typeface="Arial"/>
                <ns155:ea typeface="Arial"/>
                <ns155:cs typeface="Arial"/>
              </ns155:defRPr>
            </ns155:pPr>
            <ns155:r>
              <ns155:rPr sz="1300" b="1">
                <ns155:solidFill>
                  <ns155:srgbClr val="65727D"/>
                </ns155:solidFill>
                <ns155:latin typeface="Arial"/>
                <ns155:ea typeface="Arial"/>
                <ns155:cs typeface="Arial"/>
              </ns155:rPr>
              <ns155:t>Counterparty</ns155:t>
            </ns155:r>
          </ns155:p>
          <ns156:p xmlns:ns156="http://schemas.openxmlformats.org/drawingml/2006/main">
            <ns156:pPr algn="l">
              <ns156:lnSpc>
                <ns156:spcPct val="105000"/>
              </ns156:lnSpc>
              <ns156:defRPr sz="1150" b="0">
                <ns156:solidFill>
                  <ns156:srgbClr val="20262C"/>
                </ns156:solidFill>
                <ns156:latin typeface="Arial"/>
                <ns156:ea typeface="Arial"/>
                <ns156:cs typeface="Arial"/>
              </ns156:defRPr>
            </ns156:pPr>
            <ns156:r>
              <ns156:rPr sz="1150" b="0">
                <ns156:solidFill>
                  <ns156:srgbClr val="20262C"/>
                </ns156:solidFill>
                <ns156:latin typeface="Arial"/>
                <ns156:ea typeface="Arial"/>
                <ns156:cs typeface="Arial"/>
              </ns156:rPr>
              <ns156:t>Offer price</ns156:t>
            </ns156:r>
          </ns156:p>
          <ns157:p xmlns:ns157="http://schemas.openxmlformats.org/drawingml/2006/main">
            <ns157:pPr algn="l">
              <ns157:lnSpc>
                <ns157:spcPct val="105000"/>
              </ns157:lnSpc>
              <ns157:defRPr sz="1150" b="0">
                <ns157:solidFill>
                  <ns157:srgbClr val="20262C"/>
                </ns157:solidFill>
                <ns157:latin typeface="Arial"/>
                <ns157:ea typeface="Arial"/>
                <ns157:cs typeface="Arial"/>
              </ns157:defRPr>
            </ns157:pPr>
            <ns157:r>
              <ns157:rPr sz="1150" b="0">
                <ns157:solidFill>
                  <ns157:srgbClr val="20262C"/>
                </ns157:solidFill>
                <ns157:latin typeface="Arial"/>
                <ns157:ea typeface="Arial"/>
                <ns157:cs typeface="Arial"/>
              </ns157:rPr>
              <ns157:t>Available size</ns157:t>
            </ns157:r>
          </ns157:p>
        </p:txBody>
      </p:sp>
      <p:cxnSp>
        <p:nvCxnSpPr>
          <p:cNvPr id="24" name="flow.manager.defines.request"/>
          <p:cNvCxnSpPr/>
          <p:nvPr/>
        </p:nvCxnSpPr>
        <p:spPr>
          <ns158:xfrm xmlns:ns158="http://schemas.openxmlformats.org/drawingml/2006/main" flipV="1">
            <ns158:off x="3232800" y="2422800"/>
            <ns158:ext cx="1" cy="140400"/>
          </ns158:xfrm>
          <ns159:prstGeom xmlns:ns159="http://schemas.openxmlformats.org/drawingml/2006/main" prst="line">
            <ns159:avLst/>
          </ns159:prstGeom>
          <ns160:ln xmlns:ns160="http://schemas.openxmlformats.org/drawingml/2006/main" w="11430">
            <ns160:solidFill>
              <ns160:srgbClr val="005A9C"/>
            </ns160:solidFill>
            <ns160:tailEnd type="triangle" w="sm" len="sm"/>
          </ns160:ln>
        </p:spPr>
      </p:cxnSp>
      <p:cxnSp>
        <p:nvCxnSpPr>
          <p:cNvPr id="25" name="flow.request.to.trader.0"/>
          <p:cNvCxnSpPr/>
          <p:nvPr/>
        </p:nvCxnSpPr>
        <p:spPr>
          <ns161:xfrm xmlns:ns161="http://schemas.openxmlformats.org/drawingml/2006/main">
            <ns161:off x="4392000" y="1944000"/>
            <ns161:ext cx="180000" cy="1"/>
          </ns161:xfrm>
          <ns162:prstGeom xmlns:ns162="http://schemas.openxmlformats.org/drawingml/2006/main" prst="line">
            <ns162:avLst/>
          </ns162:prstGeom>
          <ns163:ln xmlns:ns163="http://schemas.openxmlformats.org/drawingml/2006/main" w="11430">
            <ns163:solidFill>
              <ns163:srgbClr val="317F7B"/>
            </ns163:solidFill>
          </ns163:ln>
        </p:spPr>
      </p:cxnSp>
      <p:cxnSp>
        <p:nvCxnSpPr>
          <p:cNvPr id="26" name="flow.request.to.trader.1"/>
          <p:cNvCxnSpPr/>
          <p:nvPr/>
        </p:nvCxnSpPr>
        <p:spPr>
          <ns164:xfrm xmlns:ns164="http://schemas.openxmlformats.org/drawingml/2006/main">
            <ns164:off x="4572000" y="1944000"/>
            <ns164:ext cx="1" cy="781200"/>
          </ns164:xfrm>
          <ns165:prstGeom xmlns:ns165="http://schemas.openxmlformats.org/drawingml/2006/main" prst="line">
            <ns165:avLst/>
          </ns165:prstGeom>
          <ns166:ln xmlns:ns166="http://schemas.openxmlformats.org/drawingml/2006/main" w="11430">
            <ns166:solidFill>
              <ns166:srgbClr val="317F7B"/>
            </ns166:solidFill>
          </ns166:ln>
        </p:spPr>
      </p:cxnSp>
      <p:cxnSp>
        <p:nvCxnSpPr>
          <p:cNvPr id="27" name="flow.request.to.trader.2"/>
          <p:cNvCxnSpPr/>
          <p:nvPr/>
        </p:nvCxnSpPr>
        <p:spPr>
          <ns167:xfrm xmlns:ns167="http://schemas.openxmlformats.org/drawingml/2006/main">
            <ns167:off x="4572000" y="2725200"/>
            <ns167:ext cx="144000" cy="1"/>
          </ns167:xfrm>
          <ns168:prstGeom xmlns:ns168="http://schemas.openxmlformats.org/drawingml/2006/main" prst="line">
            <ns168:avLst/>
          </ns168:prstGeom>
          <ns169:ln xmlns:ns169="http://schemas.openxmlformats.org/drawingml/2006/main" w="11430">
            <ns169:solidFill>
              <ns169:srgbClr val="317F7B"/>
            </ns169:solidFill>
            <ns169:tailEnd type="triangle" w="sm" len="sm"/>
          </ns169:ln>
        </p:spPr>
      </p:cxnSp>
      <p:cxnSp>
        <p:nvCxnSpPr>
          <p:cNvPr id="28" name="flow.trader.query.0"/>
          <p:cNvCxnSpPr/>
          <p:nvPr/>
        </p:nvCxnSpPr>
        <p:spPr>
          <ns170:xfrm xmlns:ns170="http://schemas.openxmlformats.org/drawingml/2006/main" flipV="1">
            <ns170:off x="5472000" y="1818000"/>
            <ns170:ext cx="1" cy="745200"/>
          </ns170:xfrm>
          <ns171:prstGeom xmlns:ns171="http://schemas.openxmlformats.org/drawingml/2006/main" prst="line">
            <ns171:avLst/>
          </ns171:prstGeom>
          <ns172:ln xmlns:ns172="http://schemas.openxmlformats.org/drawingml/2006/main" w="11430">
            <ns172:solidFill>
              <ns172:srgbClr val="005A9C"/>
            </ns172:solidFill>
          </ns172:ln>
        </p:spPr>
      </p:cxnSp>
      <p:cxnSp>
        <p:nvCxnSpPr>
          <p:cNvPr id="29" name="flow.trader.query.1"/>
          <p:cNvCxnSpPr/>
          <p:nvPr/>
        </p:nvCxnSpPr>
        <p:spPr>
          <ns173:xfrm xmlns:ns173="http://schemas.openxmlformats.org/drawingml/2006/main">
            <ns173:off x="5472000" y="1818000"/>
            <ns173:ext cx="1393200" cy="1"/>
          </ns173:xfrm>
          <ns174:prstGeom xmlns:ns174="http://schemas.openxmlformats.org/drawingml/2006/main" prst="line">
            <ns174:avLst/>
          </ns174:prstGeom>
          <ns175:ln xmlns:ns175="http://schemas.openxmlformats.org/drawingml/2006/main" w="11430">
            <ns175:solidFill>
              <ns175:srgbClr val="005A9C"/>
            </ns175:solidFill>
            <ns175:tailEnd type="triangle" w="sm" len="sm"/>
          </ns175:ln>
        </p:spPr>
      </p:cxnSp>
      <p:sp>
        <p:nvSpPr>
          <p:cNvPr id="30" name="query.label"/>
          <p:cNvSpPr/>
          <p:nvPr/>
        </p:nvSpPr>
        <p:spPr>
          <ns176:xfrm xmlns:ns176="http://schemas.openxmlformats.org/drawingml/2006/main">
            <ns176:off x="5886000" y="1630800"/>
            <ns176:ext cx="828000" cy="162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050" b="0">
                <ns182:solidFill>
                  <ns182:srgbClr val="65727D"/>
                </ns182:solidFill>
                <ns182:latin typeface="Arial"/>
                <ns182:ea typeface="Arial"/>
                <ns182:cs typeface="Arial"/>
              </ns182:defRPr>
            </ns182:pPr>
            <ns182:r>
              <ns182:rPr sz="1050" b="0">
                <ns182:solidFill>
                  <ns182:srgbClr val="65727D"/>
                </ns182:solidFill>
                <ns182:latin typeface="Arial"/>
                <ns182:ea typeface="Arial"/>
                <ns182:cs typeface="Arial"/>
              </ns182:rPr>
              <ns182:t>Query</ns182:t>
            </ns182:r>
          </ns182:p>
        </p:txBody>
      </p:sp>
      <p:cxnSp>
        <p:nvCxnSpPr>
          <p:cNvPr id="31" name="flow.systems.query.result.0"/>
          <p:cNvCxnSpPr/>
          <p:nvPr/>
        </p:nvCxnSpPr>
        <p:spPr>
          <ns183:xfrm xmlns:ns183="http://schemas.openxmlformats.org/drawingml/2006/main">
            <ns183:off x="7722000" y="2332800"/>
            <ns183:ext cx="1" cy="129600"/>
          </ns183:xfrm>
          <ns184:prstGeom xmlns:ns184="http://schemas.openxmlformats.org/drawingml/2006/main" prst="line">
            <ns184:avLst/>
          </ns184:prstGeom>
          <ns185:ln xmlns:ns185="http://schemas.openxmlformats.org/drawingml/2006/main" w="11430">
            <ns185:solidFill>
              <ns185:srgbClr val="005A9C"/>
            </ns185:solidFill>
          </ns185:ln>
        </p:spPr>
      </p:cxnSp>
      <p:cxnSp>
        <p:nvCxnSpPr>
          <p:cNvPr id="32" name="flow.systems.query.result.1"/>
          <p:cNvCxnSpPr/>
          <p:nvPr/>
        </p:nvCxnSpPr>
        <p:spPr>
          <ns186:xfrm xmlns:ns186="http://schemas.openxmlformats.org/drawingml/2006/main" flipH="1">
            <ns186:off x="5824800" y="2462400"/>
            <ns186:ext cx="1897200" cy="1"/>
          </ns186:xfrm>
          <ns187:prstGeom xmlns:ns187="http://schemas.openxmlformats.org/drawingml/2006/main" prst="line">
            <ns187:avLst/>
          </ns187:prstGeom>
          <ns188:ln xmlns:ns188="http://schemas.openxmlformats.org/drawingml/2006/main" w="11430">
            <ns188:solidFill>
              <ns188:srgbClr val="005A9C"/>
            </ns188:solidFill>
          </ns188:ln>
        </p:spPr>
      </p:cxnSp>
      <p:cxnSp>
        <p:nvCxnSpPr>
          <p:cNvPr id="33" name="flow.systems.query.result.2"/>
          <p:cNvCxnSpPr/>
          <p:nvPr/>
        </p:nvCxnSpPr>
        <p:spPr>
          <ns189:xfrm xmlns:ns189="http://schemas.openxmlformats.org/drawingml/2006/main">
            <ns189:off x="5824800" y="2462400"/>
            <ns189:ext cx="1" cy="100800"/>
          </ns189:xfrm>
          <ns190:prstGeom xmlns:ns190="http://schemas.openxmlformats.org/drawingml/2006/main" prst="line">
            <ns190:avLst/>
          </ns190:prstGeom>
          <ns191:ln xmlns:ns191="http://schemas.openxmlformats.org/drawingml/2006/main" w="11430">
            <ns191:solidFill>
              <ns191:srgbClr val="005A9C"/>
            </ns191:solidFill>
            <ns191:tailEnd type="triangle" w="sm" len="sm"/>
          </ns191:ln>
        </p:spPr>
      </p:cxnSp>
      <p:sp>
        <p:nvSpPr>
          <p:cNvPr id="34" name="query.result.label"/>
          <p:cNvSpPr/>
          <p:nvPr/>
        </p:nvSpPr>
        <p:spPr>
          <ns192:xfrm xmlns:ns192="http://schemas.openxmlformats.org/drawingml/2006/main">
            <ns192:off x="6156000" y="2264400"/>
            <ns192:ext cx="1728000" cy="162000"/>
          </ns192:xfrm>
          <ns193:prstGeom xmlns:ns193="http://schemas.openxmlformats.org/drawingml/2006/main" prst="rect">
            <ns193:avLst/>
          </ns193:prstGeom>
          <ns194:noFill xmlns:ns194="http://schemas.openxmlformats.org/drawingml/2006/main"/>
          <ns195:ln xmlns:ns195="http://schemas.openxmlformats.org/drawingml/2006/main" w="0">
            <ns195:noFill/>
          </ns195:ln>
        </p:spPr>
        <p:txBody>
          <ns196:bodyPr xmlns:ns196="http://schemas.openxmlformats.org/drawingml/2006/main" wrap="square" lIns="0" rIns="0" tIns="0" bIns="0" anchor="t">
            <ns196:noAutofit/>
          </ns196:bodyPr>
          <ns197:lstStyle xmlns:ns197="http://schemas.openxmlformats.org/drawingml/2006/main"/>
          <ns198:p xmlns:ns198="http://schemas.openxmlformats.org/drawingml/2006/main">
            <ns198:pPr algn="l">
              <ns198:lnSpc>
                <ns198:spcPct val="105000"/>
              </ns198:lnSpc>
              <ns198:defRPr sz="1000" b="0">
                <ns198:solidFill>
                  <ns198:srgbClr val="65727D"/>
                </ns198:solidFill>
                <ns198:latin typeface="Arial"/>
                <ns198:ea typeface="Arial"/>
                <ns198:cs typeface="Arial"/>
              </ns198:defRPr>
            </ns198:pPr>
            <ns198:r>
              <ns198:rPr sz="1000" b="0">
                <ns198:solidFill>
                  <ns198:srgbClr val="65727D"/>
                </ns198:solidFill>
                <ns198:latin typeface="Arial"/>
                <ns198:ea typeface="Arial"/>
                <ns198:cs typeface="Arial"/>
              </ns198:rPr>
              <ns198:t>Bonds + holdings</ns198:t>
            </ns198:r>
          </ns198:p>
        </p:txBody>
      </p:sp>
      <p:cxnSp>
        <p:nvCxnSpPr>
          <p:cNvPr id="35" name="flow.trader.requests.offers.0"/>
          <p:cNvCxnSpPr/>
          <p:nvPr/>
        </p:nvCxnSpPr>
        <p:spPr>
          <ns199:xfrm xmlns:ns199="http://schemas.openxmlformats.org/drawingml/2006/main">
            <ns199:off x="6336000" y="2754000"/>
            <ns199:ext cx="306000" cy="1"/>
          </ns199:xfrm>
          <ns200:prstGeom xmlns:ns200="http://schemas.openxmlformats.org/drawingml/2006/main" prst="line">
            <ns200:avLst/>
          </ns200:prstGeom>
          <ns201:ln xmlns:ns201="http://schemas.openxmlformats.org/drawingml/2006/main" w="11430">
            <ns201:solidFill>
              <ns201:srgbClr val="005A9C"/>
            </ns201:solidFill>
          </ns201:ln>
        </p:spPr>
      </p:cxnSp>
      <p:cxnSp>
        <p:nvCxnSpPr>
          <p:cNvPr id="36" name="flow.trader.requests.offers.1"/>
          <p:cNvCxnSpPr/>
          <p:nvPr/>
        </p:nvCxnSpPr>
        <p:spPr>
          <ns202:xfrm xmlns:ns202="http://schemas.openxmlformats.org/drawingml/2006/main">
            <ns202:off x="6642000" y="2754000"/>
            <ns202:ext cx="1" cy="1044000"/>
          </ns202:xfrm>
          <ns203:prstGeom xmlns:ns203="http://schemas.openxmlformats.org/drawingml/2006/main" prst="line">
            <ns203:avLst/>
          </ns203:prstGeom>
          <ns204:ln xmlns:ns204="http://schemas.openxmlformats.org/drawingml/2006/main" w="11430">
            <ns204:solidFill>
              <ns204:srgbClr val="005A9C"/>
            </ns204:solidFill>
          </ns204:ln>
        </p:spPr>
      </p:cxnSp>
      <p:cxnSp>
        <p:nvCxnSpPr>
          <p:cNvPr id="37" name="flow.trader.requests.offers.2"/>
          <p:cNvCxnSpPr/>
          <p:nvPr/>
        </p:nvCxnSpPr>
        <p:spPr>
          <ns205:xfrm xmlns:ns205="http://schemas.openxmlformats.org/drawingml/2006/main">
            <ns205:off x="6642000" y="3798000"/>
            <ns205:ext cx="223200" cy="1"/>
          </ns205:xfrm>
          <ns206:prstGeom xmlns:ns206="http://schemas.openxmlformats.org/drawingml/2006/main" prst="line">
            <ns206:avLst/>
          </ns206:prstGeom>
          <ns207:ln xmlns:ns207="http://schemas.openxmlformats.org/drawingml/2006/main" w="11430">
            <ns207:solidFill>
              <ns207:srgbClr val="005A9C"/>
            </ns207:solidFill>
            <ns207:tailEnd type="triangle" w="sm" len="sm"/>
          </ns207:ln>
        </p:spPr>
      </p:cxnSp>
      <p:sp>
        <p:nvSpPr>
          <p:cNvPr id="38" name="offer.request.label"/>
          <p:cNvSpPr/>
          <p:nvPr/>
        </p:nvSpPr>
        <p:spPr>
          <ns208:xfrm xmlns:ns208="http://schemas.openxmlformats.org/drawingml/2006/main">
            <ns208:off x="5472000" y="3434400"/>
            <ns208:ext cx="936000" cy="162000"/>
          </ns208:xfrm>
          <ns209:prstGeom xmlns:ns209="http://schemas.openxmlformats.org/drawingml/2006/main" prst="rect">
            <ns209:avLst/>
          </ns209:prstGeom>
          <ns210:noFill xmlns:ns210="http://schemas.openxmlformats.org/drawingml/2006/main"/>
          <ns211:ln xmlns:ns211="http://schemas.openxmlformats.org/drawingml/2006/main" w="0">
            <ns211:noFill/>
          </ns211:ln>
        </p:spPr>
        <p:txBody>
          <ns212:bodyPr xmlns:ns212="http://schemas.openxmlformats.org/drawingml/2006/main" wrap="square" lIns="0" rIns="0" tIns="0" bIns="0" anchor="t">
            <ns212:noAutofit/>
          </ns212:bodyPr>
          <ns213:lstStyle xmlns:ns213="http://schemas.openxmlformats.org/drawingml/2006/main"/>
          <ns214:p xmlns:ns214="http://schemas.openxmlformats.org/drawingml/2006/main">
            <ns214:pPr algn="l">
              <ns214:lnSpc>
                <ns214:spcPct val="105000"/>
              </ns214:lnSpc>
              <ns214:defRPr sz="950" b="0">
                <ns214:solidFill>
                  <ns214:srgbClr val="65727D"/>
                </ns214:solidFill>
                <ns214:latin typeface="Arial"/>
                <ns214:ea typeface="Arial"/>
                <ns214:cs typeface="Arial"/>
              </ns214:defRPr>
            </ns214:pPr>
            <ns214:r>
              <ns214:rPr sz="950" b="0">
                <ns214:solidFill>
                  <ns214:srgbClr val="65727D"/>
                </ns214:solidFill>
                <ns214:latin typeface="Arial"/>
                <ns214:ea typeface="Arial"/>
                <ns214:cs typeface="Arial"/>
              </ns214:rPr>
              <ns214:t>Request offers</ns214:t>
            </ns214:r>
          </ns214:p>
        </p:txBody>
      </p:sp>
      <p:cxnSp>
        <p:nvCxnSpPr>
          <p:cNvPr id="39" name="flow.counterparty.returns.quotes.0"/>
          <p:cNvCxnSpPr/>
          <p:nvPr/>
        </p:nvCxnSpPr>
        <p:spPr>
          <ns215:xfrm xmlns:ns215="http://schemas.openxmlformats.org/drawingml/2006/main" flipH="1">
            <ns215:off x="6462000" y="4060800"/>
            <ns215:ext cx="403200" cy="1"/>
          </ns215:xfrm>
          <ns216:prstGeom xmlns:ns216="http://schemas.openxmlformats.org/drawingml/2006/main" prst="line">
            <ns216:avLst/>
          </ns216:prstGeom>
          <ns217:ln xmlns:ns217="http://schemas.openxmlformats.org/drawingml/2006/main" w="11430">
            <ns217:solidFill>
              <ns217:srgbClr val="005A9C"/>
            </ns217:solidFill>
          </ns217:ln>
        </p:spPr>
      </p:cxnSp>
      <p:cxnSp>
        <p:nvCxnSpPr>
          <p:cNvPr id="40" name="flow.counterparty.returns.quotes.1"/>
          <p:cNvCxnSpPr/>
          <p:nvPr/>
        </p:nvCxnSpPr>
        <p:spPr>
          <ns218:xfrm xmlns:ns218="http://schemas.openxmlformats.org/drawingml/2006/main" flipV="1">
            <ns218:off x="6462000" y="2988000"/>
            <ns218:ext cx="1" cy="1072800"/>
          </ns218:xfrm>
          <ns219:prstGeom xmlns:ns219="http://schemas.openxmlformats.org/drawingml/2006/main" prst="line">
            <ns219:avLst/>
          </ns219:prstGeom>
          <ns220:ln xmlns:ns220="http://schemas.openxmlformats.org/drawingml/2006/main" w="11430">
            <ns220:solidFill>
              <ns220:srgbClr val="005A9C"/>
            </ns220:solidFill>
          </ns220:ln>
        </p:spPr>
      </p:cxnSp>
      <p:cxnSp>
        <p:nvCxnSpPr>
          <p:cNvPr id="41" name="flow.counterparty.returns.quotes.2"/>
          <p:cNvCxnSpPr/>
          <p:nvPr/>
        </p:nvCxnSpPr>
        <p:spPr>
          <ns221:xfrm xmlns:ns221="http://schemas.openxmlformats.org/drawingml/2006/main" flipH="1">
            <ns221:off x="6336000" y="2988000"/>
            <ns221:ext cx="126000" cy="1"/>
          </ns221:xfrm>
          <ns222:prstGeom xmlns:ns222="http://schemas.openxmlformats.org/drawingml/2006/main" prst="line">
            <ns222:avLst/>
          </ns222:prstGeom>
          <ns223:ln xmlns:ns223="http://schemas.openxmlformats.org/drawingml/2006/main" w="11430">
            <ns223:solidFill>
              <ns223:srgbClr val="005A9C"/>
            </ns223:solidFill>
            <ns223:tailEnd type="triangle" w="sm" len="sm"/>
          </ns223:ln>
        </p:spPr>
      </p:cxnSp>
      <p:sp>
        <p:nvSpPr>
          <p:cNvPr id="42" name="offer.return.label"/>
          <p:cNvSpPr/>
          <p:nvPr/>
        </p:nvSpPr>
        <p:spPr>
          <ns224:xfrm xmlns:ns224="http://schemas.openxmlformats.org/drawingml/2006/main">
            <ns224:off x="5464800" y="4086000"/>
            <ns224:ext cx="936000" cy="162000"/>
          </ns224:xfrm>
          <ns225:prstGeom xmlns:ns225="http://schemas.openxmlformats.org/drawingml/2006/main" prst="rect">
            <ns225:avLst/>
          </ns225:prstGeom>
          <ns226:noFill xmlns:ns226="http://schemas.openxmlformats.org/drawingml/2006/main"/>
          <ns227:ln xmlns:ns227="http://schemas.openxmlformats.org/drawingml/2006/main" w="0">
            <ns227:noFill/>
          </ns227:ln>
        </p:spPr>
        <p:txBody>
          <ns228:bodyPr xmlns:ns228="http://schemas.openxmlformats.org/drawingml/2006/main" wrap="square" lIns="0" rIns="0" tIns="0" bIns="0" anchor="t">
            <ns228:noAutofit/>
          </ns228:bodyPr>
          <ns229:lstStyle xmlns:ns229="http://schemas.openxmlformats.org/drawingml/2006/main"/>
          <ns230:p xmlns:ns230="http://schemas.openxmlformats.org/drawingml/2006/main">
            <ns230:pPr algn="l">
              <ns230:lnSpc>
                <ns230:spcPct val="105000"/>
              </ns230:lnSpc>
              <ns230:defRPr sz="950" b="0">
                <ns230:solidFill>
                  <ns230:srgbClr val="65727D"/>
                </ns230:solidFill>
                <ns230:latin typeface="Arial"/>
                <ns230:ea typeface="Arial"/>
                <ns230:cs typeface="Arial"/>
              </ns230:defRPr>
            </ns230:pPr>
            <ns230:r>
              <ns230:rPr sz="950" b="0">
                <ns230:solidFill>
                  <ns230:srgbClr val="65727D"/>
                </ns230:solidFill>
                <ns230:latin typeface="Arial"/>
                <ns230:ea typeface="Arial"/>
                <ns230:cs typeface="Arial"/>
              </ns230:rPr>
              <ns230:t>Offer quotes</ns230:t>
            </ns230:r>
          </ns230:p>
        </p:txBody>
      </p:sp>
      <p:cxnSp>
        <p:nvCxnSpPr>
          <p:cNvPr id="43" name="flow.trader.summary.to.manager.0"/>
          <p:cNvCxnSpPr/>
          <p:nvPr/>
        </p:nvCxnSpPr>
        <p:spPr>
          <ns231:xfrm xmlns:ns231="http://schemas.openxmlformats.org/drawingml/2006/main">
            <ns231:off x="5119200" y="3175200"/>
            <ns231:ext cx="1" cy="266400"/>
          </ns231:xfrm>
          <ns232:prstGeom xmlns:ns232="http://schemas.openxmlformats.org/drawingml/2006/main" prst="line">
            <ns232:avLst/>
          </ns232:prstGeom>
          <ns233:ln xmlns:ns233="http://schemas.openxmlformats.org/drawingml/2006/main" w="11430">
            <ns233:solidFill>
              <ns233:srgbClr val="005A9C"/>
            </ns233:solidFill>
          </ns233:ln>
        </p:spPr>
      </p:cxnSp>
      <p:cxnSp>
        <p:nvCxnSpPr>
          <p:cNvPr id="44" name="flow.trader.summary.to.manager.1"/>
          <p:cNvCxnSpPr/>
          <p:nvPr/>
        </p:nvCxnSpPr>
        <p:spPr>
          <ns234:xfrm xmlns:ns234="http://schemas.openxmlformats.org/drawingml/2006/main" flipH="1">
            <ns234:off x="3232800" y="3441600"/>
            <ns234:ext cx="1886400" cy="1"/>
          </ns234:xfrm>
          <ns235:prstGeom xmlns:ns235="http://schemas.openxmlformats.org/drawingml/2006/main" prst="line">
            <ns235:avLst/>
          </ns235:prstGeom>
          <ns236:ln xmlns:ns236="http://schemas.openxmlformats.org/drawingml/2006/main" w="11430">
            <ns236:solidFill>
              <ns236:srgbClr val="005A9C"/>
            </ns236:solidFill>
          </ns236:ln>
        </p:spPr>
      </p:cxnSp>
      <p:cxnSp>
        <p:nvCxnSpPr>
          <p:cNvPr id="45" name="flow.trader.summary.to.manager.2"/>
          <p:cNvCxnSpPr/>
          <p:nvPr/>
        </p:nvCxnSpPr>
        <p:spPr>
          <ns237:xfrm xmlns:ns237="http://schemas.openxmlformats.org/drawingml/2006/main" flipV="1">
            <ns237:off x="3232800" y="3175200"/>
            <ns237:ext cx="1" cy="266400"/>
          </ns237:xfrm>
          <ns238:prstGeom xmlns:ns238="http://schemas.openxmlformats.org/drawingml/2006/main" prst="line">
            <ns238:avLst/>
          </ns238:prstGeom>
          <ns239:ln xmlns:ns239="http://schemas.openxmlformats.org/drawingml/2006/main" w="11430">
            <ns239:solidFill>
              <ns239:srgbClr val="005A9C"/>
            </ns239:solidFill>
            <ns239:tailEnd type="triangle" w="sm" len="sm"/>
          </ns239:ln>
        </p:spPr>
      </p:cxnSp>
      <p:sp>
        <p:nvSpPr>
          <p:cNvPr id="46" name="summary.return.label"/>
          <p:cNvSpPr/>
          <p:nvPr/>
        </p:nvSpPr>
        <p:spPr>
          <ns240:xfrm xmlns:ns240="http://schemas.openxmlformats.org/drawingml/2006/main">
            <ns240:off x="3600000" y="3520800"/>
            <ns240:ext cx="2088000" cy="162000"/>
          </ns240:xfrm>
          <ns241:prstGeom xmlns:ns241="http://schemas.openxmlformats.org/drawingml/2006/main" prst="rect">
            <ns241:avLst/>
          </ns241:prstGeom>
          <ns242:noFill xmlns:ns242="http://schemas.openxmlformats.org/drawingml/2006/main"/>
          <ns243:ln xmlns:ns243="http://schemas.openxmlformats.org/drawingml/2006/main" w="0">
            <ns243:noFill/>
          </ns243:ln>
        </p:spPr>
        <p:txBody>
          <ns244:bodyPr xmlns:ns244="http://schemas.openxmlformats.org/drawingml/2006/main" wrap="square" lIns="0" rIns="0" tIns="0" bIns="0" anchor="t">
            <ns244:noAutofit/>
          </ns244:bodyPr>
          <ns245:lstStyle xmlns:ns245="http://schemas.openxmlformats.org/drawingml/2006/main"/>
          <ns246:p xmlns:ns246="http://schemas.openxmlformats.org/drawingml/2006/main">
            <ns246:pPr algn="l">
              <ns246:lnSpc>
                <ns246:spcPct val="105000"/>
              </ns246:lnSpc>
              <ns246:defRPr sz="1050" b="0">
                <ns246:solidFill>
                  <ns246:srgbClr val="65727D"/>
                </ns246:solidFill>
                <ns246:latin typeface="Arial"/>
                <ns246:ea typeface="Arial"/>
                <ns246:cs typeface="Arial"/>
              </ns246:defRPr>
            </ns246:pPr>
            <ns246:r>
              <ns246:rPr sz="1050" b="0">
                <ns246:solidFill>
                  <ns246:srgbClr val="65727D"/>
                </ns246:solidFill>
                <ns246:latin typeface="Arial"/>
                <ns246:ea typeface="Arial"/>
                <ns246:cs typeface="Arial"/>
              </ns246:rPr>
              <ns246:t>Bond / quote summary</ns246:t>
            </ns246:r>
          </ns246:p>
        </p:txBody>
      </p:sp>
      <p:sp>
        <p:nvSpPr>
          <p:cNvPr id="47" name="work.repetition"/>
          <p:cNvSpPr/>
          <p:nvPr/>
        </p:nvSpPr>
        <p:spPr>
          <ns247:xfrm xmlns:ns247="http://schemas.openxmlformats.org/drawingml/2006/main">
            <ns247:off x="2422800" y="4327200"/>
            <ns247:ext cx="6264000" cy="1800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5000"/>
              </ns253:lnSpc>
              <ns253:defRPr sz="1050" b="0">
                <ns253:solidFill>
                  <ns253:srgbClr val="65727D"/>
                </ns253:solidFill>
                <ns253:latin typeface="Arial"/>
                <ns253:ea typeface="Arial"/>
                <ns253:cs typeface="Arial"/>
              </ns253:defRPr>
            </ns253:pPr>
            <ns253:r>
              <ns253:rPr sz="1050" b="0">
                <ns253:solidFill>
                  <ns253:srgbClr val="65727D"/>
                </ns253:solidFill>
                <ns253:latin typeface="Arial"/>
                <ns253:ea typeface="Arial"/>
                <ns253:cs typeface="Arial"/>
              </ns253:rPr>
              <ns253:t>Repeated filters, system switches and message copying</ns253:t>
            </ns253:r>
          </ns253:p>
        </p:txBody>
      </p:sp>
    </p:spTree>
    <p:extLst>
      <p:ext uri="{BB962C8B-B14F-4D97-AF65-F5344CB8AC3E}">
        <p14:creationId xmlns:p14="http://schemas.microsoft.com/office/powerpoint/2010/main" val="10937266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Trading Support: Preparing Bond Quote Summaries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Southern and Aegon-Industrial: Trading Queries and Quote Extraction</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Southern Asset Management; Aegon-Industrial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focus.trade"/>
          <p:cNvSpPr/>
          <p:nvPr/>
        </p:nvSpPr>
        <p:spPr>
          <ns38:xfrm xmlns:ns38="http://schemas.openxmlformats.org/drawingml/2006/main">
            <ns38:off x="486000" y="1998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peer.label.0"/>
          <p:cNvSpPr/>
          <p:nvPr/>
        </p:nvSpPr>
        <p:spPr>
          <ns111:xfrm xmlns:ns111="http://schemas.openxmlformats.org/drawingml/2006/main">
            <ns111:off x="2422800" y="1504800"/>
            <ns111:ext cx="62640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250" b="0">
                <ns117:solidFill>
                  <ns117:srgbClr val="005A9C"/>
                </ns117:solidFill>
                <ns117:latin typeface="Arial"/>
                <ns117:ea typeface="Arial"/>
                <ns117:cs typeface="Arial"/>
              </ns117:defRPr>
            </ns117:pPr>
            <ns117:r>
              <ns117:rPr sz="1250" b="0">
                <ns117:solidFill>
                  <ns117:srgbClr val="005A9C"/>
                </ns117:solidFill>
                <ns117:latin typeface="Arial"/>
                <ns117:ea typeface="Arial"/>
                <ns117:cs typeface="Arial"/>
              </ns117:rPr>
              <ns117:t>Southern / Xiaonan</ns117:t>
            </ns117:r>
          </ns117:p>
        </p:txBody>
      </p:sp>
      <p:sp>
        <p:nvSpPr>
          <p:cNvPr id="19" name="peer.0.step.0"/>
          <p:cNvSpPr/>
          <p:nvPr/>
        </p:nvSpPr>
        <p:spPr>
          <ns118:xfrm xmlns:ns118="http://schemas.openxmlformats.org/drawingml/2006/main">
            <ns118:off x="2422800" y="1828800"/>
            <ns118:ext cx="1332000" cy="756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User request</ns124:t>
            </ns124:r>
          </ns124:p>
          <ns125:p xmlns:ns125="http://schemas.openxmlformats.org/drawingml/2006/main">
            <ns125:pPr algn="l">
              <ns125:lnSpc>
                <ns125:spcPct val="105000"/>
              </ns125:lnSpc>
              <ns125:defRPr sz="1050" b="0">
                <ns125:solidFill>
                  <ns125:srgbClr val="20262C"/>
                </ns125:solidFill>
                <ns125:latin typeface="Arial"/>
                <ns125:ea typeface="Arial"/>
                <ns125:cs typeface="Arial"/>
              </ns125:defRPr>
            </ns125:pPr>
            <ns125:r>
              <ns125:rPr sz="1050" b="0">
                <ns125:solidFill>
                  <ns125:srgbClr val="20262C"/>
                </ns125:solidFill>
                <ns125:latin typeface="Arial"/>
                <ns125:ea typeface="Arial"/>
                <ns125:cs typeface="Arial"/>
              </ns125:rPr>
              <ns125:t>Bond query / task</ns125:t>
            </ns125:r>
          </ns125:p>
        </p:txBody>
      </p:sp>
      <p:cxnSp>
        <p:nvCxnSpPr>
          <p:cNvPr id="20" name="peer.0.flow.0"/>
          <p:cNvCxnSpPr/>
          <p:nvPr/>
        </p:nvCxnSpPr>
        <p:spPr>
          <ns126:xfrm xmlns:ns126="http://schemas.openxmlformats.org/drawingml/2006/main">
            <ns126:off x="3783600" y="2206800"/>
            <ns126:ext cx="230400" cy="1"/>
          </ns126:xfrm>
          <ns127:prstGeom xmlns:ns127="http://schemas.openxmlformats.org/drawingml/2006/main" prst="line">
            <ns127:avLst/>
          </ns127:prstGeom>
          <ns128:ln xmlns:ns128="http://schemas.openxmlformats.org/drawingml/2006/main" w="11430">
            <ns128:solidFill>
              <ns128:srgbClr val="005A9C"/>
            </ns128:solidFill>
            <ns128:tailEnd type="triangle" w="sm" len="sm"/>
          </ns128:ln>
        </p:spPr>
      </p:cxnSp>
      <p:sp>
        <p:nvSpPr>
          <p:cNvPr id="21" name="peer.0.step.1"/>
          <p:cNvSpPr/>
          <p:nvPr/>
        </p:nvSpPr>
        <p:spPr>
          <ns129:xfrm xmlns:ns129="http://schemas.openxmlformats.org/drawingml/2006/main">
            <ns129:off x="4050000" y="1828800"/>
            <ns129:ext cx="1332000" cy="756000"/>
          </ns129:xfrm>
          <ns130:prstGeom xmlns:ns130="http://schemas.openxmlformats.org/drawingml/2006/main" prst="roundRect">
            <ns130:avLst/>
          </ns130:prstGeom>
          <ns131:solidFill xmlns:ns131="http://schemas.openxmlformats.org/drawingml/2006/main">
            <ns131:srgbClr val="EAF3FA"/>
          </ns131:solidFill>
          <ns132:ln xmlns:ns132="http://schemas.openxmlformats.org/drawingml/2006/main" w="9525">
            <ns132:solidFill>
              <ns132:srgbClr val="005A9C"/>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005A9C"/>
                </ns135:solidFill>
                <ns135:latin typeface="Arial"/>
                <ns135:ea typeface="Arial"/>
                <ns135:cs typeface="Arial"/>
              </ns135:defRPr>
            </ns135:pPr>
            <ns135:r>
              <ns135:rPr sz="1300" b="1">
                <ns135:solidFill>
                  <ns135:srgbClr val="005A9C"/>
                </ns135:solidFill>
                <ns135:latin typeface="Arial"/>
                <ns135:ea typeface="Arial"/>
                <ns135:cs typeface="Arial"/>
              </ns135:rPr>
              <ns135:t>LLM</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Interpret / select tools</ns136:t>
            </ns136:r>
          </ns136:p>
        </p:txBody>
      </p:sp>
      <p:cxnSp>
        <p:nvCxnSpPr>
          <p:cNvPr id="22" name="peer.0.flow.1"/>
          <p:cNvCxnSpPr/>
          <p:nvPr/>
        </p:nvCxnSpPr>
        <p:spPr>
          <ns137:xfrm xmlns:ns137="http://schemas.openxmlformats.org/drawingml/2006/main">
            <ns137:off x="5410800" y="2206800"/>
            <ns137:ext cx="230400" cy="1"/>
          </ns137:xfrm>
          <ns138:prstGeom xmlns:ns138="http://schemas.openxmlformats.org/drawingml/2006/main" prst="line">
            <ns138:avLst/>
          </ns138:prstGeom>
          <ns139:ln xmlns:ns139="http://schemas.openxmlformats.org/drawingml/2006/main" w="11430">
            <ns139:solidFill>
              <ns139:srgbClr val="005A9C"/>
            </ns139:solidFill>
            <ns139:tailEnd type="triangle" w="sm" len="sm"/>
          </ns139:ln>
        </p:spPr>
      </p:cxnSp>
      <p:sp>
        <p:nvSpPr>
          <p:cNvPr id="23" name="peer.0.step.2"/>
          <p:cNvSpPr/>
          <p:nvPr/>
        </p:nvSpPr>
        <p:spPr>
          <ns140:xfrm xmlns:ns140="http://schemas.openxmlformats.org/drawingml/2006/main">
            <ns140:off x="5677200" y="1828800"/>
            <ns140:ext cx="1332000" cy="756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Systems</ns146:t>
            </ns146:r>
          </ns146:p>
          <ns147:p xmlns:ns147="http://schemas.openxmlformats.org/drawingml/2006/main">
            <ns147:pPr algn="l">
              <ns147:lnSpc>
                <ns147:spcPct val="105000"/>
              </ns147:lnSpc>
              <ns147:defRPr sz="1050" b="0">
                <ns147:solidFill>
                  <ns147:srgbClr val="20262C"/>
                </ns147:solidFill>
                <ns147:latin typeface="Arial"/>
                <ns147:ea typeface="Arial"/>
                <ns147:cs typeface="Arial"/>
              </ns147:defRPr>
            </ns147:pPr>
            <ns147:r>
              <ns147:rPr sz="1050" b="0">
                <ns147:solidFill>
                  <ns147:srgbClr val="20262C"/>
                </ns147:solidFill>
                <ns147:latin typeface="Arial"/>
                <ns147:ea typeface="Arial"/>
                <ns147:cs typeface="Arial"/>
              </ns147:rPr>
              <ns147:t>Run / return result</ns147:t>
            </ns147:r>
          </ns147:p>
        </p:txBody>
      </p:sp>
      <p:cxnSp>
        <p:nvCxnSpPr>
          <p:cNvPr id="24" name="peer.0.flow.2"/>
          <p:cNvCxnSpPr/>
          <p:nvPr/>
        </p:nvCxnSpPr>
        <p:spPr>
          <ns148:xfrm xmlns:ns148="http://schemas.openxmlformats.org/drawingml/2006/main">
            <ns148:off x="7038000" y="2206800"/>
            <ns148:ext cx="230400" cy="1"/>
          </ns148:xfrm>
          <ns149:prstGeom xmlns:ns149="http://schemas.openxmlformats.org/drawingml/2006/main" prst="line">
            <ns149:avLst/>
          </ns149:prstGeom>
          <ns150:ln xmlns:ns150="http://schemas.openxmlformats.org/drawingml/2006/main" w="11430">
            <ns150:solidFill>
              <ns150:srgbClr val="005A9C"/>
            </ns150:solidFill>
            <ns150:tailEnd type="triangle" w="sm" len="sm"/>
          </ns150:ln>
        </p:spPr>
      </p:cxnSp>
      <p:sp>
        <p:nvSpPr>
          <p:cNvPr id="25" name="peer.0.step.3"/>
          <p:cNvSpPr/>
          <p:nvPr/>
        </p:nvSpPr>
        <p:spPr>
          <ns151:xfrm xmlns:ns151="http://schemas.openxmlformats.org/drawingml/2006/main">
            <ns151:off x="7304400" y="1828800"/>
            <ns151:ext cx="1382400" cy="756000"/>
          </ns151:xfrm>
          <ns152:prstGeom xmlns:ns152="http://schemas.openxmlformats.org/drawingml/2006/main" prst="roundRect">
            <ns152:avLst/>
          </ns152:prstGeom>
          <ns153:solidFill xmlns:ns153="http://schemas.openxmlformats.org/drawingml/2006/main">
            <ns153:srgbClr val="F3F7FA"/>
          </ns153:solidFill>
          <ns154:ln xmlns:ns154="http://schemas.openxmlformats.org/drawingml/2006/main" w="9525">
            <ns154:solidFill>
              <ns154:srgbClr val="65727D"/>
            </ns154:solidFill>
          </ns154:ln>
        </p:spPr>
        <p:txBody>
          <ns155:bodyPr xmlns:ns155="http://schemas.openxmlformats.org/drawingml/2006/main" wrap="square" lIns="61200" rIns="61200" tIns="61200" bIns="61200" anchor="ctr">
            <ns155:noAutofit/>
          </ns155:bodyPr>
          <ns156:lstStyle xmlns:ns156="http://schemas.openxmlformats.org/drawingml/2006/main"/>
          <ns157:p xmlns:ns157="http://schemas.openxmlformats.org/drawingml/2006/main">
            <ns157:pPr algn="l">
              <ns157:lnSpc>
                <ns157:spcPct val="105000"/>
              </ns157:lnSpc>
              <ns157:defRPr sz="1300" b="1">
                <ns157:solidFill>
                  <ns157:srgbClr val="65727D"/>
                </ns157:solidFill>
                <ns157:latin typeface="Arial"/>
                <ns157:ea typeface="Arial"/>
                <ns157:cs typeface="Arial"/>
              </ns157:defRPr>
            </ns157:pPr>
            <ns157:r>
              <ns157:rPr sz="1300" b="1">
                <ns157:solidFill>
                  <ns157:srgbClr val="65727D"/>
                </ns157:solidFill>
                <ns157:latin typeface="Arial"/>
                <ns157:ea typeface="Arial"/>
                <ns157:cs typeface="Arial"/>
              </ns157:rPr>
              <ns157:t>User</ns157:t>
            </ns157:r>
          </ns157:p>
          <ns158:p xmlns:ns158="http://schemas.openxmlformats.org/drawingml/2006/main">
            <ns158:pPr algn="l">
              <ns158:lnSpc>
                <ns158:spcPct val="105000"/>
              </ns158:lnSpc>
              <ns158:defRPr sz="1050" b="0">
                <ns158:solidFill>
                  <ns158:srgbClr val="20262C"/>
                </ns158:solidFill>
                <ns158:latin typeface="Arial"/>
                <ns158:ea typeface="Arial"/>
                <ns158:cs typeface="Arial"/>
              </ns158:defRPr>
            </ns158:pPr>
            <ns158:r>
              <ns158:rPr sz="1050" b="0">
                <ns158:solidFill>
                  <ns158:srgbClr val="20262C"/>
                </ns158:solidFill>
                <ns158:latin typeface="Arial"/>
                <ns158:ea typeface="Arial"/>
                <ns158:cs typeface="Arial"/>
              </ns158:rPr>
              <ns158:t>Review / confirm</ns158:t>
            </ns158:r>
          </ns158:p>
        </p:txBody>
      </p:sp>
      <p:sp>
        <p:nvSpPr>
          <p:cNvPr id="26" name="peer.label.1"/>
          <p:cNvSpPr/>
          <p:nvPr/>
        </p:nvSpPr>
        <p:spPr>
          <ns159:xfrm xmlns:ns159="http://schemas.openxmlformats.org/drawingml/2006/main">
            <ns159:off x="2422800" y="2887200"/>
            <ns159:ext cx="6264000" cy="216000"/>
          </ns159:xfrm>
          <ns160:prstGeom xmlns:ns160="http://schemas.openxmlformats.org/drawingml/2006/main" prst="rect">
            <ns160:avLst/>
          </ns160:prstGeom>
          <ns161:noFill xmlns:ns161="http://schemas.openxmlformats.org/drawingml/2006/main"/>
          <ns162:ln xmlns:ns162="http://schemas.openxmlformats.org/drawingml/2006/main" w="0">
            <ns162:noFill/>
          </ns162:ln>
        </p:spPr>
        <p:txBody>
          <ns163:bodyPr xmlns:ns163="http://schemas.openxmlformats.org/drawingml/2006/main" wrap="square" lIns="0" rIns="0" tIns="0" bIns="0" anchor="t">
            <ns163:noAutofit/>
          </ns163:bodyPr>
          <ns164:lstStyle xmlns:ns164="http://schemas.openxmlformats.org/drawingml/2006/main"/>
          <ns165:p xmlns:ns165="http://schemas.openxmlformats.org/drawingml/2006/main">
            <ns165:pPr algn="l">
              <ns165:lnSpc>
                <ns165:spcPct val="105000"/>
              </ns165:lnSpc>
              <ns165:defRPr sz="1250" b="0">
                <ns165:solidFill>
                  <ns165:srgbClr val="005A9C"/>
                </ns165:solidFill>
                <ns165:latin typeface="Arial"/>
                <ns165:ea typeface="Arial"/>
                <ns165:cs typeface="Arial"/>
              </ns165:defRPr>
            </ns165:pPr>
            <ns165:r>
              <ns165:rPr sz="1250" b="0">
                <ns165:solidFill>
                  <ns165:srgbClr val="005A9C"/>
                </ns165:solidFill>
                <ns165:latin typeface="Arial"/>
                <ns165:ea typeface="Arial"/>
                <ns165:cs typeface="Arial"/>
              </ns165:rPr>
              <ns165:t>Aegon-Industrial / Qtrade</ns165:t>
            </ns165:r>
          </ns165:p>
        </p:txBody>
      </p:sp>
      <p:sp>
        <p:nvSpPr>
          <p:cNvPr id="27" name="peer.1.step.0"/>
          <p:cNvSpPr/>
          <p:nvPr/>
        </p:nvSpPr>
        <p:spPr>
          <ns166:xfrm xmlns:ns166="http://schemas.openxmlformats.org/drawingml/2006/main">
            <ns166:off x="2422800" y="3211200"/>
            <ns166:ext cx="1044000" cy="936000"/>
          </ns166:xfrm>
          <ns167:prstGeom xmlns:ns167="http://schemas.openxmlformats.org/drawingml/2006/main" prst="rect">
            <ns167:avLst/>
          </ns167:prstGeom>
          <ns168:solidFill xmlns:ns168="http://schemas.openxmlformats.org/drawingml/2006/main">
            <ns168:srgbClr val="F3F7FA"/>
          </ns168:solidFill>
          <ns169:ln xmlns:ns169="http://schemas.openxmlformats.org/drawingml/2006/main" w="9525">
            <ns169:solidFill>
              <ns169:srgbClr val="65727D"/>
            </ns169:solidFill>
          </ns169:ln>
        </p:spPr>
        <p:txBody>
          <ns170:bodyPr xmlns:ns170="http://schemas.openxmlformats.org/drawingml/2006/main" wrap="square" lIns="61200" rIns="61200" tIns="61200" bIns="61200" anchor="ctr">
            <ns170:noAutofit/>
          </ns170:bodyPr>
          <ns171:lstStyle xmlns:ns171="http://schemas.openxmlformats.org/drawingml/2006/main"/>
          <ns172:p xmlns:ns172="http://schemas.openxmlformats.org/drawingml/2006/main">
            <ns172:pPr algn="l">
              <ns172:lnSpc>
                <ns172:spcPct val="105000"/>
              </ns172:lnSpc>
              <ns172:defRPr sz="1300" b="1">
                <ns172:solidFill>
                  <ns172:srgbClr val="65727D"/>
                </ns172:solidFill>
                <ns172:latin typeface="Arial"/>
                <ns172:ea typeface="Arial"/>
                <ns172:cs typeface="Arial"/>
              </ns172:defRPr>
            </ns172:pPr>
            <ns172:r>
              <ns172:rPr sz="1300" b="1">
                <ns172:solidFill>
                  <ns172:srgbClr val="65727D"/>
                </ns172:solidFill>
                <ns172:latin typeface="Arial"/>
                <ns172:ea typeface="Arial"/>
                <ns172:cs typeface="Arial"/>
              </ns172:rPr>
              <ns172:t>Qtrade records</ns172:t>
            </ns172:r>
          </ns172:p>
          <ns173:p xmlns:ns173="http://schemas.openxmlformats.org/drawingml/2006/main">
            <ns173:pPr algn="l">
              <ns173:lnSpc>
                <ns173:spcPct val="105000"/>
              </ns173:lnSpc>
              <ns173:defRPr sz="1050" b="0">
                <ns173:solidFill>
                  <ns173:srgbClr val="20262C"/>
                </ns173:solidFill>
                <ns173:latin typeface="Arial"/>
                <ns173:ea typeface="Arial"/>
                <ns173:cs typeface="Arial"/>
              </ns173:defRPr>
            </ns173:pPr>
            <ns173:r>
              <ns173:rPr sz="1050" b="0">
                <ns173:solidFill>
                  <ns173:srgbClr val="20262C"/>
                </ns173:solidFill>
                <ns173:latin typeface="Arial"/>
                <ns173:ea typeface="Arial"/>
                <ns173:cs typeface="Arial"/>
              </ns173:rPr>
              <ns173:t>Bond / side</ns173:t>
            </ns173:r>
          </ns173:p>
          <ns174:p xmlns:ns174="http://schemas.openxmlformats.org/drawingml/2006/main">
            <ns174:pPr algn="l">
              <ns174:lnSpc>
                <ns174:spcPct val="105000"/>
              </ns174:lnSpc>
              <ns174:defRPr sz="1050" b="0">
                <ns174:solidFill>
                  <ns174:srgbClr val="20262C"/>
                </ns174:solidFill>
                <ns174:latin typeface="Arial"/>
                <ns174:ea typeface="Arial"/>
                <ns174:cs typeface="Arial"/>
              </ns174:defRPr>
            </ns174:pPr>
            <ns174:r>
              <ns174:rPr sz="1050" b="0">
                <ns174:solidFill>
                  <ns174:srgbClr val="20262C"/>
                </ns174:solidFill>
                <ns174:latin typeface="Arial"/>
                <ns174:ea typeface="Arial"/>
                <ns174:cs typeface="Arial"/>
              </ns174:rPr>
              <ns174:t>Price / size</ns174:t>
            </ns174:r>
          </ns174:p>
        </p:txBody>
      </p:sp>
      <p:cxnSp>
        <p:nvCxnSpPr>
          <p:cNvPr id="28" name="peer.1.flow.0"/>
          <p:cNvCxnSpPr/>
          <p:nvPr/>
        </p:nvCxnSpPr>
        <p:spPr>
          <ns175:xfrm xmlns:ns175="http://schemas.openxmlformats.org/drawingml/2006/main">
            <ns175:off x="3495600" y="3589200"/>
            <ns175:ext cx="196200" cy="1"/>
          </ns175:xfrm>
          <ns176:prstGeom xmlns:ns176="http://schemas.openxmlformats.org/drawingml/2006/main" prst="line">
            <ns176:avLst/>
          </ns176:prstGeom>
          <ns177:ln xmlns:ns177="http://schemas.openxmlformats.org/drawingml/2006/main" w="11430">
            <ns177:solidFill>
              <ns177:srgbClr val="005A9C"/>
            </ns177:solidFill>
            <ns177:tailEnd type="triangle" w="sm" len="sm"/>
          </ns177:ln>
        </p:spPr>
      </p:cxnSp>
      <p:sp>
        <p:nvSpPr>
          <p:cNvPr id="29" name="peer.1.step.1"/>
          <p:cNvSpPr/>
          <p:nvPr/>
        </p:nvSpPr>
        <p:spPr>
          <ns178:xfrm xmlns:ns178="http://schemas.openxmlformats.org/drawingml/2006/main">
            <ns178:off x="3727800" y="3211200"/>
            <ns178:ext cx="1044000" cy="936000"/>
          </ns178:xfrm>
          <ns179:prstGeom xmlns:ns179="http://schemas.openxmlformats.org/drawingml/2006/main" prst="roundRect">
            <ns179:avLst/>
          </ns179:prstGeom>
          <ns180:solidFill xmlns:ns180="http://schemas.openxmlformats.org/drawingml/2006/main">
            <ns180:srgbClr val="EAF3FA"/>
          </ns180:solidFill>
          <ns181:ln xmlns:ns181="http://schemas.openxmlformats.org/drawingml/2006/main" w="9525">
            <ns181:solidFill>
              <ns181:srgbClr val="005A9C"/>
            </ns181:solidFill>
          </ns181:ln>
        </p:spPr>
        <p:txBody>
          <ns182:bodyPr xmlns:ns182="http://schemas.openxmlformats.org/drawingml/2006/main" wrap="square" lIns="61200" rIns="61200" tIns="61200" bIns="61200" anchor="ctr">
            <ns182:noAutofit/>
          </ns182:bodyPr>
          <ns183:lstStyle xmlns:ns183="http://schemas.openxmlformats.org/drawingml/2006/main"/>
          <ns184:p xmlns:ns184="http://schemas.openxmlformats.org/drawingml/2006/main">
            <ns184:pPr algn="l">
              <ns184:lnSpc>
                <ns184:spcPct val="105000"/>
              </ns184:lnSpc>
              <ns184:defRPr sz="1300" b="1">
                <ns184:solidFill>
                  <ns184:srgbClr val="005A9C"/>
                </ns184:solidFill>
                <ns184:latin typeface="Arial"/>
                <ns184:ea typeface="Arial"/>
                <ns184:cs typeface="Arial"/>
              </ns184:defRPr>
            </ns184:pPr>
            <ns184:r>
              <ns184:rPr sz="1300" b="1">
                <ns184:solidFill>
                  <ns184:srgbClr val="005A9C"/>
                </ns184:solidFill>
                <ns184:latin typeface="Arial"/>
                <ns184:ea typeface="Arial"/>
                <ns184:cs typeface="Arial"/>
              </ns184:rPr>
              <ns184:t>AI</ns184:t>
            </ns184:r>
          </ns184:p>
          <ns185:p xmlns:ns185="http://schemas.openxmlformats.org/drawingml/2006/main">
            <ns185:pPr algn="l">
              <ns185:lnSpc>
                <ns185:spcPct val="105000"/>
              </ns185:lnSpc>
              <ns185:defRPr sz="1050" b="0">
                <ns185:solidFill>
                  <ns185:srgbClr val="20262C"/>
                </ns185:solidFill>
                <ns185:latin typeface="Arial"/>
                <ns185:ea typeface="Arial"/>
                <ns185:cs typeface="Arial"/>
              </ns185:defRPr>
            </ns185:pPr>
            <ns185:r>
              <ns185:rPr sz="1050" b="0">
                <ns185:solidFill>
                  <ns185:srgbClr val="20262C"/>
                </ns185:solidFill>
                <ns185:latin typeface="Arial"/>
                <ns185:ea typeface="Arial"/>
                <ns185:cs typeface="Arial"/>
              </ns185:rPr>
              <ns185:t>Extract fields</ns185:t>
            </ns185:r>
          </ns185:p>
        </p:txBody>
      </p:sp>
      <p:cxnSp>
        <p:nvCxnSpPr>
          <p:cNvPr id="30" name="peer.1.flow.1"/>
          <p:cNvCxnSpPr/>
          <p:nvPr/>
        </p:nvCxnSpPr>
        <p:spPr>
          <ns186:xfrm xmlns:ns186="http://schemas.openxmlformats.org/drawingml/2006/main">
            <ns186:off x="4800600" y="3589200"/>
            <ns186:ext cx="196200" cy="1"/>
          </ns186:xfrm>
          <ns187:prstGeom xmlns:ns187="http://schemas.openxmlformats.org/drawingml/2006/main" prst="line">
            <ns187:avLst/>
          </ns187:prstGeom>
          <ns188:ln xmlns:ns188="http://schemas.openxmlformats.org/drawingml/2006/main" w="11430">
            <ns188:solidFill>
              <ns188:srgbClr val="005A9C"/>
            </ns188:solidFill>
            <ns188:tailEnd type="triangle" w="sm" len="sm"/>
          </ns188:ln>
        </p:spPr>
      </p:cxnSp>
      <p:sp>
        <p:nvSpPr>
          <p:cNvPr id="31" name="peer.1.step.2"/>
          <p:cNvSpPr/>
          <p:nvPr/>
        </p:nvSpPr>
        <p:spPr>
          <ns189:xfrm xmlns:ns189="http://schemas.openxmlformats.org/drawingml/2006/main">
            <ns189:off x="5032800" y="3211200"/>
            <ns189:ext cx="1044000" cy="936000"/>
          </ns189:xfrm>
          <ns190:prstGeom xmlns:ns190="http://schemas.openxmlformats.org/drawingml/2006/main" prst="roundRect">
            <ns190:avLst/>
          </ns190:prstGeom>
          <ns191:solidFill xmlns:ns191="http://schemas.openxmlformats.org/drawingml/2006/main">
            <ns191:srgbClr val="F3F7FA"/>
          </ns191:solidFill>
          <ns192:ln xmlns:ns192="http://schemas.openxmlformats.org/drawingml/2006/main" w="9525">
            <ns192:solidFill>
              <ns192:srgbClr val="65727D"/>
            </ns192:solidFill>
          </ns192:ln>
        </p:spPr>
        <p:txBody>
          <ns193:bodyPr xmlns:ns193="http://schemas.openxmlformats.org/drawingml/2006/main" wrap="square" lIns="61200" rIns="61200" tIns="61200" bIns="61200" anchor="ctr">
            <ns193:noAutofit/>
          </ns193:bodyPr>
          <ns194:lstStyle xmlns:ns194="http://schemas.openxmlformats.org/drawingml/2006/main"/>
          <ns195:p xmlns:ns195="http://schemas.openxmlformats.org/drawingml/2006/main">
            <ns195:pPr algn="l">
              <ns195:lnSpc>
                <ns195:spcPct val="105000"/>
              </ns195:lnSpc>
              <ns195:defRPr sz="1300" b="1">
                <ns195:solidFill>
                  <ns195:srgbClr val="65727D"/>
                </ns195:solidFill>
                <ns195:latin typeface="Arial"/>
                <ns195:ea typeface="Arial"/>
                <ns195:cs typeface="Arial"/>
              </ns195:defRPr>
            </ns195:pPr>
            <ns195:r>
              <ns195:rPr sz="1300" b="1">
                <ns195:solidFill>
                  <ns195:srgbClr val="65727D"/>
                </ns195:solidFill>
                <ns195:latin typeface="Arial"/>
                <ns195:ea typeface="Arial"/>
                <ns195:cs typeface="Arial"/>
              </ns195:rPr>
              <ns195:t>Match / route</ns195:t>
            </ns195:r>
          </ns195:p>
          <ns196:p xmlns:ns196="http://schemas.openxmlformats.org/drawingml/2006/main">
            <ns196:pPr algn="l">
              <ns196:lnSpc>
                <ns196:spcPct val="105000"/>
              </ns196:lnSpc>
              <ns196:defRPr sz="1050" b="0">
                <ns196:solidFill>
                  <ns196:srgbClr val="20262C"/>
                </ns196:solidFill>
                <ns196:latin typeface="Arial"/>
                <ns196:ea typeface="Arial"/>
                <ns196:cs typeface="Arial"/>
              </ns196:defRPr>
            </ns196:pPr>
            <ns196:r>
              <ns196:rPr sz="1050" b="0">
                <ns196:solidFill>
                  <ns196:srgbClr val="20262C"/>
                </ns196:solidFill>
                <ns196:latin typeface="Arial"/>
                <ns196:ea typeface="Arial"/>
                <ns196:cs typeface="Arial"/>
              </ns196:rPr>
              <ns196:t>Match request</ns196:t>
            </ns196:r>
          </ns196:p>
          <ns197:p xmlns:ns197="http://schemas.openxmlformats.org/drawingml/2006/main">
            <ns197:pPr algn="l">
              <ns197:lnSpc>
                <ns197:spcPct val="105000"/>
              </ns197:lnSpc>
              <ns197:defRPr sz="1050" b="0">
                <ns197:solidFill>
                  <ns197:srgbClr val="20262C"/>
                </ns197:solidFill>
                <ns197:latin typeface="Arial"/>
                <ns197:ea typeface="Arial"/>
                <ns197:cs typeface="Arial"/>
              </ns197:defRPr>
            </ns197:pPr>
            <ns197:r>
              <ns197:rPr sz="1050" b="0">
                <ns197:solidFill>
                  <ns197:srgbClr val="20262C"/>
                </ns197:solidFill>
                <ns197:latin typeface="Arial"/>
                <ns197:ea typeface="Arial"/>
                <ns197:cs typeface="Arial"/>
              </ns197:rPr>
              <ns197:t>Route details</ns197:t>
            </ns197:r>
          </ns197:p>
        </p:txBody>
      </p:sp>
      <p:cxnSp>
        <p:nvCxnSpPr>
          <p:cNvPr id="32" name="peer.1.flow.2"/>
          <p:cNvCxnSpPr/>
          <p:nvPr/>
        </p:nvCxnSpPr>
        <p:spPr>
          <ns198:xfrm xmlns:ns198="http://schemas.openxmlformats.org/drawingml/2006/main">
            <ns198:off x="6105600" y="3589200"/>
            <ns198:ext cx="196200" cy="1"/>
          </ns198:xfrm>
          <ns199:prstGeom xmlns:ns199="http://schemas.openxmlformats.org/drawingml/2006/main" prst="line">
            <ns199:avLst/>
          </ns199:prstGeom>
          <ns200:ln xmlns:ns200="http://schemas.openxmlformats.org/drawingml/2006/main" w="11430">
            <ns200:solidFill>
              <ns200:srgbClr val="005A9C"/>
            </ns200:solidFill>
            <ns200:tailEnd type="triangle" w="sm" len="sm"/>
          </ns200:ln>
        </p:spPr>
      </p:cxnSp>
      <p:sp>
        <p:nvSpPr>
          <p:cNvPr id="33" name="peer.1.step.3"/>
          <p:cNvSpPr/>
          <p:nvPr/>
        </p:nvSpPr>
        <p:spPr>
          <ns201:xfrm xmlns:ns201="http://schemas.openxmlformats.org/drawingml/2006/main">
            <ns201:off x="6337800" y="3211200"/>
            <ns201:ext cx="1044000" cy="936000"/>
          </ns201:xfrm>
          <ns202:prstGeom xmlns:ns202="http://schemas.openxmlformats.org/drawingml/2006/main" prst="roundRect">
            <ns202:avLst/>
          </ns202:prstGeom>
          <ns203:solidFill xmlns:ns203="http://schemas.openxmlformats.org/drawingml/2006/main">
            <ns203:srgbClr val="F3F7FA"/>
          </ns203:solidFill>
          <ns204:ln xmlns:ns204="http://schemas.openxmlformats.org/drawingml/2006/main" w="9525">
            <ns204:solidFill>
              <ns204:srgbClr val="65727D"/>
            </ns204:solidFill>
          </ns204:ln>
        </p:spPr>
        <p:txBody>
          <ns205:bodyPr xmlns:ns205="http://schemas.openxmlformats.org/drawingml/2006/main" wrap="square" lIns="61200" rIns="61200" tIns="61200" bIns="61200" anchor="ctr">
            <ns205:noAutofit/>
          </ns205:bodyPr>
          <ns206:lstStyle xmlns:ns206="http://schemas.openxmlformats.org/drawingml/2006/main"/>
          <ns207:p xmlns:ns207="http://schemas.openxmlformats.org/drawingml/2006/main">
            <ns207:pPr algn="l">
              <ns207:lnSpc>
                <ns207:spcPct val="105000"/>
              </ns207:lnSpc>
              <ns207:defRPr sz="1300" b="1">
                <ns207:solidFill>
                  <ns207:srgbClr val="65727D"/>
                </ns207:solidFill>
                <ns207:latin typeface="Arial"/>
                <ns207:ea typeface="Arial"/>
                <ns207:cs typeface="Arial"/>
              </ns207:defRPr>
            </ns207:pPr>
            <ns207:r>
              <ns207:rPr sz="1300" b="1">
                <ns207:solidFill>
                  <ns207:srgbClr val="65727D"/>
                </ns207:solidFill>
                <ns207:latin typeface="Arial"/>
                <ns207:ea typeface="Arial"/>
                <ns207:cs typeface="Arial"/>
              </ns207:rPr>
              <ns207:t>Trading system</ns207:t>
            </ns207:r>
          </ns207:p>
          <ns208:p xmlns:ns208="http://schemas.openxmlformats.org/drawingml/2006/main">
            <ns208:pPr algn="l">
              <ns208:lnSpc>
                <ns208:spcPct val="105000"/>
              </ns208:lnSpc>
              <ns208:defRPr sz="1050" b="0">
                <ns208:solidFill>
                  <ns208:srgbClr val="20262C"/>
                </ns208:solidFill>
                <ns208:latin typeface="Arial"/>
                <ns208:ea typeface="Arial"/>
                <ns208:cs typeface="Arial"/>
              </ns208:defRPr>
            </ns208:pPr>
            <ns208:r>
              <ns208:rPr sz="1050" b="0">
                <ns208:solidFill>
                  <ns208:srgbClr val="20262C"/>
                </ns208:solidFill>
                <ns208:latin typeface="Arial"/>
                <ns208:ea typeface="Arial"/>
                <ns208:cs typeface="Arial"/>
              </ns208:rPr>
              <ns208:t>Receive details</ns208:t>
            </ns208:r>
          </ns208:p>
        </p:txBody>
      </p:sp>
      <p:cxnSp>
        <p:nvCxnSpPr>
          <p:cNvPr id="34" name="peer.1.flow.3"/>
          <p:cNvCxnSpPr/>
          <p:nvPr/>
        </p:nvCxnSpPr>
        <p:spPr>
          <ns209:xfrm xmlns:ns209="http://schemas.openxmlformats.org/drawingml/2006/main">
            <ns209:off x="7410600" y="3589200"/>
            <ns209:ext cx="196200" cy="1"/>
          </ns209:xfrm>
          <ns210:prstGeom xmlns:ns210="http://schemas.openxmlformats.org/drawingml/2006/main" prst="line">
            <ns210:avLst/>
          </ns210:prstGeom>
          <ns211:ln xmlns:ns211="http://schemas.openxmlformats.org/drawingml/2006/main" w="11430">
            <ns211:solidFill>
              <ns211:srgbClr val="005A9C"/>
            </ns211:solidFill>
            <ns211:tailEnd type="triangle" w="sm" len="sm"/>
          </ns211:ln>
        </p:spPr>
      </p:cxnSp>
      <p:sp>
        <p:nvSpPr>
          <p:cNvPr id="35" name="peer.1.step.4"/>
          <p:cNvSpPr/>
          <p:nvPr/>
        </p:nvSpPr>
        <p:spPr>
          <ns212:xfrm xmlns:ns212="http://schemas.openxmlformats.org/drawingml/2006/main">
            <ns212:off x="7642800" y="3211200"/>
            <ns212:ext cx="1044000" cy="936000"/>
          </ns212:xfrm>
          <ns213:prstGeom xmlns:ns213="http://schemas.openxmlformats.org/drawingml/2006/main" prst="roundRect">
            <ns213:avLst/>
          </ns213:prstGeom>
          <ns214:solidFill xmlns:ns214="http://schemas.openxmlformats.org/drawingml/2006/main">
            <ns214:srgbClr val="F3F7FA"/>
          </ns214:solidFill>
          <ns215:ln xmlns:ns215="http://schemas.openxmlformats.org/drawingml/2006/main" w="9525">
            <ns215:solidFill>
              <ns215:srgbClr val="65727D"/>
            </ns215:solidFill>
          </ns215:ln>
        </p:spPr>
        <p:txBody>
          <ns216:bodyPr xmlns:ns216="http://schemas.openxmlformats.org/drawingml/2006/main" wrap="square" lIns="61200" rIns="61200" tIns="61200" bIns="61200" anchor="ctr">
            <ns216:noAutofit/>
          </ns216:bodyPr>
          <ns217:lstStyle xmlns:ns217="http://schemas.openxmlformats.org/drawingml/2006/main"/>
          <ns218:p xmlns:ns218="http://schemas.openxmlformats.org/drawingml/2006/main">
            <ns218:pPr algn="l">
              <ns218:lnSpc>
                <ns218:spcPct val="105000"/>
              </ns218:lnSpc>
              <ns218:defRPr sz="1300" b="1">
                <ns218:solidFill>
                  <ns218:srgbClr val="65727D"/>
                </ns218:solidFill>
                <ns218:latin typeface="Arial"/>
                <ns218:ea typeface="Arial"/>
                <ns218:cs typeface="Arial"/>
              </ns218:defRPr>
            </ns218:pPr>
            <ns218:r>
              <ns218:rPr sz="1300" b="1">
                <ns218:solidFill>
                  <ns218:srgbClr val="65727D"/>
                </ns218:solidFill>
                <ns218:latin typeface="Arial"/>
                <ns218:ea typeface="Arial"/>
                <ns218:cs typeface="Arial"/>
              </ns218:rPr>
              <ns218:t>Portfolio manager</ns218:t>
            </ns218:r>
          </ns218:p>
          <ns219:p xmlns:ns219="http://schemas.openxmlformats.org/drawingml/2006/main">
            <ns219:pPr algn="l">
              <ns219:lnSpc>
                <ns219:spcPct val="105000"/>
              </ns219:lnSpc>
              <ns219:defRPr sz="1050" b="0">
                <ns219:solidFill>
                  <ns219:srgbClr val="20262C"/>
                </ns219:solidFill>
                <ns219:latin typeface="Arial"/>
                <ns219:ea typeface="Arial"/>
                <ns219:cs typeface="Arial"/>
              </ns219:defRPr>
            </ns219:pPr>
            <ns219:r>
              <ns219:rPr sz="1050" b="0">
                <ns219:solidFill>
                  <ns219:srgbClr val="20262C"/>
                </ns219:solidFill>
                <ns219:latin typeface="Arial"/>
                <ns219:ea typeface="Arial"/>
                <ns219:cs typeface="Arial"/>
              </ns219:rPr>
              <ns219:t>Submit instruction</ns219:t>
            </ns219:r>
          </ns219:p>
        </p:txBody>
      </p:sp>
      <p:sp>
        <p:nvSpPr>
          <p:cNvPr id="36" name="xiaonan.scope"/>
          <p:cNvSpPr/>
          <p:nvPr/>
        </p:nvSpPr>
        <p:spPr>
          <ns220:xfrm xmlns:ns220="http://schemas.openxmlformats.org/drawingml/2006/main">
            <ns220:off x="2422800" y="2646000"/>
            <ns220:ext cx="6264000" cy="162000"/>
          </ns220:xfrm>
          <ns221:prstGeom xmlns:ns221="http://schemas.openxmlformats.org/drawingml/2006/main" prst="rect">
            <ns221:avLst/>
          </ns221:prstGeom>
          <ns222:noFill xmlns:ns222="http://schemas.openxmlformats.org/drawingml/2006/main"/>
          <ns223:ln xmlns:ns223="http://schemas.openxmlformats.org/drawingml/2006/main" w="0">
            <ns223:noFill/>
          </ns223:ln>
        </p:spPr>
        <p:txBody>
          <ns224:bodyPr xmlns:ns224="http://schemas.openxmlformats.org/drawingml/2006/main" wrap="square" lIns="0" rIns="0" tIns="0" bIns="0" anchor="t">
            <ns224:noAutofit/>
          </ns224:bodyPr>
          <ns225:lstStyle xmlns:ns225="http://schemas.openxmlformats.org/drawingml/2006/main"/>
          <ns226:p xmlns:ns226="http://schemas.openxmlformats.org/drawingml/2006/main">
            <ns226:pPr algn="l">
              <ns226:lnSpc>
                <ns226:spcPct val="105000"/>
              </ns226:lnSpc>
              <ns226:defRPr sz="1050" b="0">
                <ns226:solidFill>
                  <ns226:srgbClr val="65727D"/>
                </ns226:solidFill>
                <ns226:latin typeface="Arial"/>
                <ns226:ea typeface="Arial"/>
                <ns226:cs typeface="Arial"/>
              </ns226:defRPr>
            </ns226:pPr>
            <ns226:r>
              <ns226:rPr sz="1050" b="0">
                <ns226:solidFill>
                  <ns226:srgbClr val="65727D"/>
                </ns226:solidFill>
                <ns226:latin typeface="Arial"/>
                <ns226:ea typeface="Arial"/>
                <ns226:cs typeface="Arial"/>
              </ns226:rPr>
              <ns226:t>Queries / screening / instructions / notifications</ns226:t>
            </ns226:r>
          </ns226:p>
        </p:txBody>
      </p:sp>
    </p:spTree>
    <p:extLst>
      <p:ext uri="{BB962C8B-B14F-4D97-AF65-F5344CB8AC3E}">
        <p14:creationId xmlns:p14="http://schemas.microsoft.com/office/powerpoint/2010/main" val="12882049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Trading Support: Preparing Bond Quote Summaries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 Summarizing Holdings and Quotes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Southern Asset Management; Aegon-Industrial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focus.trade"/>
          <p:cNvSpPr/>
          <p:nvPr/>
        </p:nvSpPr>
        <p:spPr>
          <ns38:xfrm xmlns:ns38="http://schemas.openxmlformats.org/drawingml/2006/main">
            <ns38:off x="486000" y="1998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input.bond.request.paper"/>
          <p:cNvSpPr/>
          <p:nvPr/>
        </p:nvSpPr>
        <p:spPr>
          <ns111:xfrm xmlns:ns111="http://schemas.openxmlformats.org/drawingml/2006/main">
            <ns111:off x="2422800" y="1504800"/>
            <ns111:ext cx="1785600" cy="90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9" name="input.bond.request.title"/>
          <p:cNvSpPr/>
          <p:nvPr/>
        </p:nvSpPr>
        <p:spPr>
          <ns115:xfrm xmlns:ns115="http://schemas.openxmlformats.org/drawingml/2006/main">
            <ns115:off x="2487600" y="1548000"/>
            <ns115:ext cx="15876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Manager request</ns121:t>
            </ns121:r>
          </ns121:p>
        </p:txBody>
      </p:sp>
      <p:sp>
        <p:nvSpPr>
          <p:cNvPr id="20" name="input.bond.request.content"/>
          <p:cNvSpPr/>
          <p:nvPr/>
        </p:nvSpPr>
        <p:spPr>
          <ns122:xfrm xmlns:ns122="http://schemas.openxmlformats.org/drawingml/2006/main">
            <ns122:off x="2487600" y="1764000"/>
            <ns122:ext cx="1656000" cy="59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200" b="0">
                <ns128:solidFill>
                  <ns128:srgbClr val="20262C"/>
                </ns128:solidFill>
                <ns128:latin typeface="Arial"/>
                <ns128:ea typeface="Arial"/>
                <ns128:cs typeface="Arial"/>
              </ns128:defRPr>
            </ns128:pPr>
            <ns128:r>
              <ns128:rPr sz="1200" b="0">
                <ns128:solidFill>
                  <ns128:srgbClr val="20262C"/>
                </ns128:solidFill>
                <ns128:latin typeface="Arial"/>
                <ns128:ea typeface="Arial"/>
                <ns128:cs typeface="Arial"/>
              </ns128:rPr>
              <ns128:t>Company A / buy</ns128:t>
            </ns128:r>
          </ns128:p>
          <ns129:p xmlns:ns129="http://schemas.openxmlformats.org/drawingml/2006/main">
            <ns129:pPr algn="l">
              <ns129:lnSpc>
                <ns129:spcPct val="100000"/>
              </ns129:lnSpc>
              <ns129:defRPr sz="1200" b="0">
                <ns129:solidFill>
                  <ns129:srgbClr val="20262C"/>
                </ns129:solidFill>
                <ns129:latin typeface="Arial"/>
                <ns129:ea typeface="Arial"/>
                <ns129:cs typeface="Arial"/>
              </ns129:defRPr>
            </ns129:pPr>
            <ns129:r>
              <ns129:rPr sz="1200" b="0">
                <ns129:solidFill>
                  <ns129:srgbClr val="20262C"/>
                </ns129:solidFill>
                <ns129:latin typeface="Arial"/>
                <ns129:ea typeface="Arial"/>
                <ns129:cs typeface="Arial"/>
              </ns129:rPr>
              <ns129:t>Within two years</ns129:t>
            </ns129:r>
          </ns129:p>
        </p:txBody>
      </p:sp>
      <p:sp>
        <p:nvSpPr>
          <p:cNvPr id="21" name="role.llm.criteria"/>
          <p:cNvSpPr/>
          <p:nvPr/>
        </p:nvSpPr>
        <p:spPr>
          <ns130:xfrm xmlns:ns130="http://schemas.openxmlformats.org/drawingml/2006/main">
            <ns130:off x="4392000" y="1504800"/>
            <ns130:ext cx="1458000" cy="900000"/>
          </ns130:xfrm>
          <ns131:prstGeom xmlns:ns131="http://schemas.openxmlformats.org/drawingml/2006/main" prst="roundRect">
            <ns131:avLst/>
          </ns131:prstGeom>
          <ns132:solidFill xmlns:ns132="http://schemas.openxmlformats.org/drawingml/2006/main">
            <ns132:srgbClr val="EAF3FA"/>
          </ns132:solidFill>
          <ns133:ln xmlns:ns133="http://schemas.openxmlformats.org/drawingml/2006/main" w="9525">
            <ns133:solidFill>
              <ns133:srgbClr val="005A9C"/>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005A9C"/>
                </ns136:solidFill>
                <ns136:latin typeface="Arial"/>
                <ns136:ea typeface="Arial"/>
                <ns136:cs typeface="Arial"/>
              </ns136:defRPr>
            </ns136:pPr>
            <ns136:r>
              <ns136:rPr sz="1300" b="1">
                <ns136:solidFill>
                  <ns136:srgbClr val="005A9C"/>
                </ns136:solidFill>
                <ns136:latin typeface="Arial"/>
                <ns136:ea typeface="Arial"/>
                <ns136:cs typeface="Arial"/>
              </ns136:rPr>
              <ns136:t>LLM criteria</ns136:t>
            </ns136:r>
          </ns136:p>
          <ns137:p xmlns:ns137="http://schemas.openxmlformats.org/drawingml/2006/main">
            <ns137:pPr algn="l">
              <ns137:lnSpc>
                <ns137:spcPct val="105000"/>
              </ns137:lnSpc>
              <ns137:defRPr sz="1100" b="0">
                <ns137:solidFill>
                  <ns137:srgbClr val="20262C"/>
                </ns137:solidFill>
                <ns137:latin typeface="Arial"/>
                <ns137:ea typeface="Arial"/>
                <ns137:cs typeface="Arial"/>
              </ns137:defRPr>
            </ns137:pPr>
            <ns137:r>
              <ns137:rPr sz="1100" b="0">
                <ns137:solidFill>
                  <ns137:srgbClr val="20262C"/>
                </ns137:solidFill>
                <ns137:latin typeface="Arial"/>
                <ns137:ea typeface="Arial"/>
                <ns137:cs typeface="Arial"/>
              </ns137:rPr>
              <ns137:t>Issuer / side / maturity</ns137:t>
            </ns137:r>
          </ns137:p>
        </p:txBody>
      </p:sp>
      <p:sp>
        <p:nvSpPr>
          <p:cNvPr id="22" name="tool.holdings.result"/>
          <p:cNvSpPr/>
          <p:nvPr/>
        </p:nvSpPr>
        <p:spPr>
          <ns138:xfrm xmlns:ns138="http://schemas.openxmlformats.org/drawingml/2006/main">
            <ns138:off x="6127200" y="1504800"/>
            <ns138:ext cx="2559600" cy="900000"/>
          </ns138:xfrm>
          <ns139:prstGeom xmlns:ns139="http://schemas.openxmlformats.org/drawingml/2006/main" prst="roundRect">
            <ns139:avLst/>
          </ns139:prstGeom>
          <ns140:solidFill xmlns:ns140="http://schemas.openxmlformats.org/drawingml/2006/main">
            <ns140:srgbClr val="F3F7FA"/>
          </ns140:solidFill>
          <ns141:ln xmlns:ns141="http://schemas.openxmlformats.org/drawingml/2006/main" w="9525">
            <ns141:solidFill>
              <ns141:srgbClr val="65727D"/>
            </ns141:solidFill>
          </ns141:ln>
        </p:spPr>
        <p:txBody>
          <ns142:bodyPr xmlns:ns142="http://schemas.openxmlformats.org/drawingml/2006/main" wrap="square" lIns="61200" rIns="61200" tIns="61200" bIns="61200" anchor="ctr">
            <ns142:noAutofit/>
          </ns142:bodyPr>
          <ns143:lstStyle xmlns:ns143="http://schemas.openxmlformats.org/drawingml/2006/main"/>
          <ns144:p xmlns:ns144="http://schemas.openxmlformats.org/drawingml/2006/main">
            <ns144:pPr algn="l">
              <ns144:lnSpc>
                <ns144:spcPct val="105000"/>
              </ns144:lnSpc>
              <ns144:defRPr sz="1300" b="1">
                <ns144:solidFill>
                  <ns144:srgbClr val="65727D"/>
                </ns144:solidFill>
                <ns144:latin typeface="Arial"/>
                <ns144:ea typeface="Arial"/>
                <ns144:cs typeface="Arial"/>
              </ns144:defRPr>
            </ns144:pPr>
            <ns144:r>
              <ns144:rPr sz="1300" b="1">
                <ns144:solidFill>
                  <ns144:srgbClr val="65727D"/>
                </ns144:solidFill>
                <ns144:latin typeface="Arial"/>
                <ns144:ea typeface="Arial"/>
                <ns144:cs typeface="Arial"/>
              </ns144:rPr>
              <ns144:t>Systems result</ns144:t>
            </ns144:r>
          </ns144:p>
          <ns145:p xmlns:ns145="http://schemas.openxmlformats.org/drawingml/2006/main">
            <ns145:pPr algn="l">
              <ns145:lnSpc>
                <ns145:spcPct val="105000"/>
              </ns145:lnSpc>
              <ns145:defRPr sz="1150" b="0">
                <ns145:solidFill>
                  <ns145:srgbClr val="20262C"/>
                </ns145:solidFill>
                <ns145:latin typeface="Arial"/>
                <ns145:ea typeface="Arial"/>
                <ns145:cs typeface="Arial"/>
              </ns145:defRPr>
            </ns145:pPr>
            <ns145:r>
              <ns145:rPr sz="1150" b="0">
                <ns145:solidFill>
                  <ns145:srgbClr val="20262C"/>
                </ns145:solidFill>
                <ns145:latin typeface="Arial"/>
                <ns145:ea typeface="Arial"/>
                <ns145:cs typeface="Arial"/>
              </ns145:rPr>
              <ns145:t>Bond A: 1.2 years</ns145:t>
            </ns145:r>
          </ns145:p>
          <ns146:p xmlns:ns146="http://schemas.openxmlformats.org/drawingml/2006/main">
            <ns146:pPr algn="l">
              <ns146:lnSpc>
                <ns146:spcPct val="105000"/>
              </ns146:lnSpc>
              <ns146:defRPr sz="1150" b="0">
                <ns146:solidFill>
                  <ns146:srgbClr val="20262C"/>
                </ns146:solidFill>
                <ns146:latin typeface="Arial"/>
                <ns146:ea typeface="Arial"/>
                <ns146:cs typeface="Arial"/>
              </ns146:defRPr>
            </ns146:pPr>
            <ns146:r>
              <ns146:rPr sz="1150" b="0">
                <ns146:solidFill>
                  <ns146:srgbClr val="20262C"/>
                </ns146:solidFill>
                <ns146:latin typeface="Arial"/>
                <ns146:ea typeface="Arial"/>
                <ns146:cs typeface="Arial"/>
              </ns146:rPr>
              <ns146:t>Holding: RMB 20m</ns146:t>
            </ns146:r>
          </ns146:p>
          <ns147:p xmlns:ns147="http://schemas.openxmlformats.org/drawingml/2006/main">
            <ns147:pPr algn="l">
              <ns147:lnSpc>
                <ns147:spcPct val="105000"/>
              </ns147:lnSpc>
              <ns147:defRPr sz="1150" b="0">
                <ns147:solidFill>
                  <ns147:srgbClr val="20262C"/>
                </ns147:solidFill>
                <ns147:latin typeface="Arial"/>
                <ns147:ea typeface="Arial"/>
                <ns147:cs typeface="Arial"/>
              </ns147:defRPr>
            </ns147:pPr>
            <ns147:r>
              <ns147:rPr sz="1150" b="0">
                <ns147:solidFill>
                  <ns147:srgbClr val="20262C"/>
                </ns147:solidFill>
                <ns147:latin typeface="Arial"/>
                <ns147:ea typeface="Arial"/>
                <ns147:cs typeface="Arial"/>
              </ns147:rPr>
              <ns147:t>face value</ns147:t>
            </ns147:r>
          </ns147:p>
        </p:txBody>
      </p:sp>
      <p:cxnSp>
        <p:nvCxnSpPr>
          <p:cNvPr id="23" name="request.to.criteria"/>
          <p:cNvCxnSpPr/>
          <p:nvPr/>
        </p:nvCxnSpPr>
        <p:spPr>
          <ns148:xfrm xmlns:ns148="http://schemas.openxmlformats.org/drawingml/2006/main">
            <ns148:off x="4244400" y="1954800"/>
            <ns148:ext cx="111600" cy="1"/>
          </ns148:xfrm>
          <ns149:prstGeom xmlns:ns149="http://schemas.openxmlformats.org/drawingml/2006/main" prst="line">
            <ns149:avLst/>
          </ns149:prstGeom>
          <ns150:ln xmlns:ns150="http://schemas.openxmlformats.org/drawingml/2006/main" w="11430">
            <ns150:solidFill>
              <ns150:srgbClr val="317F7B"/>
            </ns150:solidFill>
            <ns150:tailEnd type="triangle" w="sm" len="sm"/>
          </ns150:ln>
        </p:spPr>
      </p:cxnSp>
      <p:cxnSp>
        <p:nvCxnSpPr>
          <p:cNvPr id="24" name="criteria.query"/>
          <p:cNvCxnSpPr/>
          <p:nvPr/>
        </p:nvCxnSpPr>
        <p:spPr>
          <ns151:xfrm xmlns:ns151="http://schemas.openxmlformats.org/drawingml/2006/main">
            <ns151:off x="5886000" y="1821600"/>
            <ns151:ext cx="205200" cy="1"/>
          </ns151:xfrm>
          <ns152:prstGeom xmlns:ns152="http://schemas.openxmlformats.org/drawingml/2006/main" prst="line">
            <ns152:avLst/>
          </ns152:prstGeom>
          <ns153:ln xmlns:ns153="http://schemas.openxmlformats.org/drawingml/2006/main" w="11430">
            <ns153:solidFill>
              <ns153:srgbClr val="005A9C"/>
            </ns153:solidFill>
            <ns153:tailEnd type="triangle" w="sm" len="sm"/>
          </ns153:ln>
        </p:spPr>
      </p:cxnSp>
      <p:cxnSp>
        <p:nvCxnSpPr>
          <p:cNvPr id="25" name="systems.return"/>
          <p:cNvCxnSpPr/>
          <p:nvPr/>
        </p:nvCxnSpPr>
        <p:spPr>
          <ns154:xfrm xmlns:ns154="http://schemas.openxmlformats.org/drawingml/2006/main" flipH="1">
            <ns154:off x="5886000" y="2178000"/>
            <ns154:ext cx="205200" cy="1"/>
          </ns154:xfrm>
          <ns155:prstGeom xmlns:ns155="http://schemas.openxmlformats.org/drawingml/2006/main" prst="line">
            <ns155:avLst/>
          </ns155:prstGeom>
          <ns156:ln xmlns:ns156="http://schemas.openxmlformats.org/drawingml/2006/main" w="11430">
            <ns156:solidFill>
              <ns156:srgbClr val="005A9C"/>
            </ns156:solidFill>
            <ns156:tailEnd type="triangle" w="sm" len="sm"/>
          </ns156:ln>
        </p:spPr>
      </p:cxnSp>
      <p:sp>
        <p:nvSpPr>
          <p:cNvPr id="26" name="input.trader.quote.paper"/>
          <p:cNvSpPr/>
          <p:nvPr/>
        </p:nvSpPr>
        <p:spPr>
          <ns157:xfrm xmlns:ns157="http://schemas.openxmlformats.org/drawingml/2006/main">
            <ns157:off x="2422800" y="2473200"/>
            <ns157:ext cx="1785600" cy="630000"/>
          </ns157:xfrm>
          <ns158:prstGeom xmlns:ns158="http://schemas.openxmlformats.org/drawingml/2006/main" prst="foldedCorner">
            <ns158:avLst/>
          </ns158:prstGeom>
          <ns159:solidFill xmlns:ns159="http://schemas.openxmlformats.org/drawingml/2006/main">
            <ns159:srgbClr val="FFFFFF"/>
          </ns159:solidFill>
          <ns160:ln xmlns:ns160="http://schemas.openxmlformats.org/drawingml/2006/main" w="9525">
            <ns160:solidFill>
              <ns160:srgbClr val="317F7B"/>
            </ns160:solidFill>
          </ns160:ln>
        </p:spPr>
      </p:sp>
      <p:sp>
        <p:nvSpPr>
          <p:cNvPr id="27" name="input.trader.quote.title"/>
          <p:cNvSpPr/>
          <p:nvPr/>
        </p:nvSpPr>
        <p:spPr>
          <ns161:xfrm xmlns:ns161="http://schemas.openxmlformats.org/drawingml/2006/main">
            <ns161:off x="2487600" y="2516400"/>
            <ns161:ext cx="1587600" cy="1980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5000"/>
              </ns167:lnSpc>
              <ns167:defRPr sz="1250" b="1">
                <ns167:solidFill>
                  <ns167:srgbClr val="317F7B"/>
                </ns167:solidFill>
                <ns167:latin typeface="Arial"/>
                <ns167:ea typeface="Arial"/>
                <ns167:cs typeface="Arial"/>
              </ns167:defRPr>
            </ns167:pPr>
            <ns167:r>
              <ns167:rPr sz="1250" b="1">
                <ns167:solidFill>
                  <ns167:srgbClr val="317F7B"/>
                </ns167:solidFill>
                <ns167:latin typeface="Arial"/>
                <ns167:ea typeface="Arial"/>
                <ns167:cs typeface="Arial"/>
              </ns167:rPr>
              <ns167:t>Quote from trader</ns167:t>
            </ns167:r>
          </ns167:p>
        </p:txBody>
      </p:sp>
      <p:sp>
        <p:nvSpPr>
          <p:cNvPr id="28" name="input.trader.quote.content"/>
          <p:cNvSpPr/>
          <p:nvPr/>
        </p:nvSpPr>
        <p:spPr>
          <ns168:xfrm xmlns:ns168="http://schemas.openxmlformats.org/drawingml/2006/main">
            <ns168:off x="2487600" y="2732400"/>
            <ns168:ext cx="1656000" cy="320400"/>
          </ns168:xfrm>
          <ns169:prstGeom xmlns:ns169="http://schemas.openxmlformats.org/drawingml/2006/main" prst="rect">
            <ns169:avLst/>
          </ns169:prstGeom>
          <ns170:noFill xmlns:ns170="http://schemas.openxmlformats.org/drawingml/2006/main"/>
          <ns171:ln xmlns:ns171="http://schemas.openxmlformats.org/drawingml/2006/main" w="0">
            <ns171:noFill/>
          </ns171:ln>
        </p:spPr>
        <p:txBody>
          <ns172:bodyPr xmlns:ns172="http://schemas.openxmlformats.org/drawingml/2006/main" wrap="square" lIns="0" rIns="0" tIns="0" bIns="0" anchor="t">
            <ns172:noAutofit/>
          </ns172:bodyPr>
          <ns173:lstStyle xmlns:ns173="http://schemas.openxmlformats.org/drawingml/2006/main"/>
          <ns174:p xmlns:ns174="http://schemas.openxmlformats.org/drawingml/2006/main">
            <ns174:pPr algn="l">
              <ns174:lnSpc>
                <ns174:spcPct val="100000"/>
              </ns174:lnSpc>
              <ns174:defRPr sz="1050" b="0">
                <ns174:solidFill>
                  <ns174:srgbClr val="20262C"/>
                </ns174:solidFill>
                <ns174:latin typeface="Arial"/>
                <ns174:ea typeface="Arial"/>
                <ns174:cs typeface="Arial"/>
              </ns174:defRPr>
            </ns174:pPr>
            <ns174:r>
              <ns174:rPr sz="1050" b="0">
                <ns174:solidFill>
                  <ns174:srgbClr val="20262C"/>
                </ns174:solidFill>
                <ns174:latin typeface="Arial"/>
                <ns174:ea typeface="Arial"/>
                <ns174:cs typeface="Arial"/>
              </ns174:rPr>
              <ns174:t>Bond A: 100.20</ns174:t>
            </ns174:r>
          </ns174:p>
          <ns175:p xmlns:ns175="http://schemas.openxmlformats.org/drawingml/2006/main">
            <ns175:pPr algn="l">
              <ns175:lnSpc>
                <ns175:spcPct val="100000"/>
              </ns175:lnSpc>
              <ns175:defRPr sz="1050" b="0">
                <ns175:solidFill>
                  <ns175:srgbClr val="20262C"/>
                </ns175:solidFill>
                <ns175:latin typeface="Arial"/>
                <ns175:ea typeface="Arial"/>
                <ns175:cs typeface="Arial"/>
              </ns175:defRPr>
            </ns175:pPr>
            <ns175:r>
              <ns175:rPr sz="1050" b="0">
                <ns175:solidFill>
                  <ns175:srgbClr val="20262C"/>
                </ns175:solidFill>
                <ns175:latin typeface="Arial"/>
                <ns175:ea typeface="Arial"/>
                <ns175:cs typeface="Arial"/>
              </ns175:rPr>
              <ns175:t>Available: RMB 20m face</ns175:t>
            </ns175:r>
          </ns175:p>
        </p:txBody>
      </p:sp>
      <p:sp>
        <p:nvSpPr>
          <p:cNvPr id="29" name="role.llm.quote.extraction"/>
          <p:cNvSpPr/>
          <p:nvPr/>
        </p:nvSpPr>
        <p:spPr>
          <ns176:xfrm xmlns:ns176="http://schemas.openxmlformats.org/drawingml/2006/main">
            <ns176:off x="4392000" y="2473200"/>
            <ns176:ext cx="1458000" cy="630000"/>
          </ns176:xfrm>
          <ns177:prstGeom xmlns:ns177="http://schemas.openxmlformats.org/drawingml/2006/main" prst="roundRect">
            <ns177:avLst/>
          </ns177:prstGeom>
          <ns178:solidFill xmlns:ns178="http://schemas.openxmlformats.org/drawingml/2006/main">
            <ns178:srgbClr val="EAF3FA"/>
          </ns178:solidFill>
          <ns179:ln xmlns:ns179="http://schemas.openxmlformats.org/drawingml/2006/main" w="9525">
            <ns179:solidFill>
              <ns179:srgbClr val="005A9C"/>
            </ns179:solidFill>
          </ns179:ln>
        </p:spPr>
        <p:txBody>
          <ns180:bodyPr xmlns:ns180="http://schemas.openxmlformats.org/drawingml/2006/main" wrap="square" lIns="61200" rIns="61200" tIns="61200" bIns="61200" anchor="ctr">
            <ns180:noAutofit/>
          </ns180:bodyPr>
          <ns181:lstStyle xmlns:ns181="http://schemas.openxmlformats.org/drawingml/2006/main"/>
          <ns182:p xmlns:ns182="http://schemas.openxmlformats.org/drawingml/2006/main">
            <ns182:pPr algn="l">
              <ns182:lnSpc>
                <ns182:spcPct val="105000"/>
              </ns182:lnSpc>
              <ns182:defRPr sz="1300" b="1">
                <ns182:solidFill>
                  <ns182:srgbClr val="005A9C"/>
                </ns182:solidFill>
                <ns182:latin typeface="Arial"/>
                <ns182:ea typeface="Arial"/>
                <ns182:cs typeface="Arial"/>
              </ns182:defRPr>
            </ns182:pPr>
            <ns182:r>
              <ns182:rPr sz="1300" b="1">
                <ns182:solidFill>
                  <ns182:srgbClr val="005A9C"/>
                </ns182:solidFill>
                <ns182:latin typeface="Arial"/>
                <ns182:ea typeface="Arial"/>
                <ns182:cs typeface="Arial"/>
              </ns182:rPr>
              <ns182:t>LLM extracts</ns182:t>
            </ns182:r>
          </ns182:p>
          <ns183:p xmlns:ns183="http://schemas.openxmlformats.org/drawingml/2006/main">
            <ns183:pPr algn="l">
              <ns183:lnSpc>
                <ns183:spcPct val="105000"/>
              </ns183:lnSpc>
              <ns183:defRPr sz="1050" b="0">
                <ns183:solidFill>
                  <ns183:srgbClr val="20262C"/>
                </ns183:solidFill>
                <ns183:latin typeface="Arial"/>
                <ns183:ea typeface="Arial"/>
                <ns183:cs typeface="Arial"/>
              </ns183:defRPr>
            </ns183:pPr>
            <ns183:r>
              <ns183:rPr sz="1050" b="0">
                <ns183:solidFill>
                  <ns183:srgbClr val="20262C"/>
                </ns183:solidFill>
                <ns183:latin typeface="Arial"/>
                <ns183:ea typeface="Arial"/>
                <ns183:cs typeface="Arial"/>
              </ns183:rPr>
              <ns183:t>Bond / price / size</ns183:t>
            </ns183:r>
          </ns183:p>
        </p:txBody>
      </p:sp>
      <p:cxnSp>
        <p:nvCxnSpPr>
          <p:cNvPr id="30" name="quote.to.extraction"/>
          <p:cNvCxnSpPr/>
          <p:nvPr/>
        </p:nvCxnSpPr>
        <p:spPr>
          <ns184:xfrm xmlns:ns184="http://schemas.openxmlformats.org/drawingml/2006/main">
            <ns184:off x="4244400" y="2788200"/>
            <ns184:ext cx="111600" cy="1"/>
          </ns184:xfrm>
          <ns185:prstGeom xmlns:ns185="http://schemas.openxmlformats.org/drawingml/2006/main" prst="line">
            <ns185:avLst/>
          </ns185:prstGeom>
          <ns186:ln xmlns:ns186="http://schemas.openxmlformats.org/drawingml/2006/main" w="11430">
            <ns186:solidFill>
              <ns186:srgbClr val="317F7B"/>
            </ns186:solidFill>
            <ns186:tailEnd type="triangle" w="sm" len="sm"/>
          </ns186:ln>
        </p:spPr>
      </p:cxnSp>
      <p:sp>
        <p:nvSpPr>
          <p:cNvPr id="31" name="role.llm.common.summary"/>
          <p:cNvSpPr/>
          <p:nvPr/>
        </p:nvSpPr>
        <p:spPr>
          <ns187:xfrm xmlns:ns187="http://schemas.openxmlformats.org/drawingml/2006/main">
            <ns187:off x="2422800" y="3150000"/>
            <ns187:ext cx="6264000" cy="180000"/>
          </ns187:xfrm>
          <ns188:prstGeom xmlns:ns188="http://schemas.openxmlformats.org/drawingml/2006/main" prst="rect">
            <ns188:avLst/>
          </ns188:prstGeom>
          <ns189:solidFill xmlns:ns189="http://schemas.openxmlformats.org/drawingml/2006/main">
            <ns189:srgbClr val="EAF3FA"/>
          </ns189:solidFill>
          <ns190:ln xmlns:ns190="http://schemas.openxmlformats.org/drawingml/2006/main" w="9525">
            <ns190:solidFill>
              <ns190:srgbClr val="005A9C"/>
            </ns190:solidFill>
          </ns190:ln>
        </p:spPr>
        <p:txBody>
          <ns191:bodyPr xmlns:ns191="http://schemas.openxmlformats.org/drawingml/2006/main" wrap="square" lIns="7200" rIns="7200" tIns="7200" bIns="7200" anchor="ctr">
            <ns191:noAutofit/>
          </ns191:bodyPr>
          <ns192:lstStyle xmlns:ns192="http://schemas.openxmlformats.org/drawingml/2006/main"/>
          <ns193:p xmlns:ns193="http://schemas.openxmlformats.org/drawingml/2006/main">
            <ns193:pPr algn="ctr">
              <ns193:lnSpc>
                <ns193:spcPct val="105000"/>
              </ns193:lnSpc>
              <ns193:defRPr sz="1200" b="1">
                <ns193:solidFill>
                  <ns193:srgbClr val="005A9C"/>
                </ns193:solidFill>
                <ns193:latin typeface="Arial"/>
                <ns193:ea typeface="Arial"/>
                <ns193:cs typeface="Arial"/>
              </ns193:defRPr>
            </ns193:pPr>
            <ns193:r>
              <ns193:rPr sz="1200" b="1">
                <ns193:solidFill>
                  <ns193:srgbClr val="005A9C"/>
                </ns193:solidFill>
                <ns193:latin typeface="Arial"/>
                <ns193:ea typeface="Arial"/>
                <ns193:cs typeface="Arial"/>
              </ns193:rPr>
              <ns193:t>LLM prepares the summary</ns193:t>
            </ns193:r>
          </ns193:p>
        </p:txBody>
      </p:sp>
      <p:cxnSp>
        <p:nvCxnSpPr>
          <p:cNvPr id="32" name="quote.fields.to.summary"/>
          <p:cNvCxnSpPr/>
          <p:nvPr/>
        </p:nvCxnSpPr>
        <p:spPr>
          <ns194:xfrm xmlns:ns194="http://schemas.openxmlformats.org/drawingml/2006/main">
            <ns194:off x="5121000" y="3117600"/>
            <ns194:ext cx="1" cy="21600"/>
          </ns194:xfrm>
          <ns195:prstGeom xmlns:ns195="http://schemas.openxmlformats.org/drawingml/2006/main" prst="line">
            <ns195:avLst/>
          </ns195:prstGeom>
          <ns196:ln xmlns:ns196="http://schemas.openxmlformats.org/drawingml/2006/main" w="11430">
            <ns196:solidFill>
              <ns196:srgbClr val="005A9C"/>
            </ns196:solidFill>
            <ns196:tailEnd type="triangle" w="sm" len="sm"/>
          </ns196:ln>
        </p:spPr>
      </p:cxnSp>
      <p:cxnSp>
        <p:nvCxnSpPr>
          <p:cNvPr id="33" name="holdings.to.summary"/>
          <p:cNvCxnSpPr/>
          <p:nvPr/>
        </p:nvCxnSpPr>
        <p:spPr>
          <ns197:xfrm xmlns:ns197="http://schemas.openxmlformats.org/drawingml/2006/main">
            <ns197:off x="7407000" y="2440800"/>
            <ns197:ext cx="1" cy="698400"/>
          </ns197:xfrm>
          <ns198:prstGeom xmlns:ns198="http://schemas.openxmlformats.org/drawingml/2006/main" prst="line">
            <ns198:avLst/>
          </ns198:prstGeom>
          <ns199:ln xmlns:ns199="http://schemas.openxmlformats.org/drawingml/2006/main" w="11430">
            <ns199:solidFill>
              <ns199:srgbClr val="005A9C"/>
            </ns199:solidFill>
            <ns199:tailEnd type="triangle" w="sm" len="sm"/>
          </ns199:ln>
        </p:spPr>
      </p:cxnSp>
      <p:sp>
        <p:nvSpPr>
          <p:cNvPr id="34" name="holdings.path.label"/>
          <p:cNvSpPr/>
          <p:nvPr/>
        </p:nvSpPr>
        <p:spPr>
          <ns200:xfrm xmlns:ns200="http://schemas.openxmlformats.org/drawingml/2006/main">
            <ns200:off x="7560000" y="2923200"/>
            <ns200:ext cx="1080000" cy="162000"/>
          </ns200:xfrm>
          <ns201:prstGeom xmlns:ns201="http://schemas.openxmlformats.org/drawingml/2006/main" prst="rect">
            <ns201:avLst/>
          </ns201:prstGeom>
          <ns202:noFill xmlns:ns202="http://schemas.openxmlformats.org/drawingml/2006/main"/>
          <ns203:ln xmlns:ns203="http://schemas.openxmlformats.org/drawingml/2006/main" w="0">
            <ns203:noFill/>
          </ns203:ln>
        </p:spPr>
        <p:txBody>
          <ns204:bodyPr xmlns:ns204="http://schemas.openxmlformats.org/drawingml/2006/main" wrap="square" lIns="0" rIns="0" tIns="0" bIns="0" anchor="t">
            <ns204:noAutofit/>
          </ns204:bodyPr>
          <ns205:lstStyle xmlns:ns205="http://schemas.openxmlformats.org/drawingml/2006/main"/>
          <ns206:p xmlns:ns206="http://schemas.openxmlformats.org/drawingml/2006/main">
            <ns206:pPr algn="l">
              <ns206:lnSpc>
                <ns206:spcPct val="105000"/>
              </ns206:lnSpc>
              <ns206:defRPr sz="1050" b="0">
                <ns206:solidFill>
                  <ns206:srgbClr val="65727D"/>
                </ns206:solidFill>
                <ns206:latin typeface="Arial"/>
                <ns206:ea typeface="Arial"/>
                <ns206:cs typeface="Arial"/>
              </ns206:defRPr>
            </ns206:pPr>
            <ns206:r>
              <ns206:rPr sz="1050" b="0">
                <ns206:solidFill>
                  <ns206:srgbClr val="65727D"/>
                </ns206:solidFill>
                <ns206:latin typeface="Arial"/>
                <ns206:ea typeface="Arial"/>
                <ns206:cs typeface="Arial"/>
              </ns206:rPr>
              <ns206:t>Holdings</ns206:t>
            </ns206:r>
          </ns206:p>
        </p:txBody>
      </p:sp>
      <p:graphicFrame>
        <p:nvGraphicFramePr>
          <p:cNvPr id="35" name="output.bond.quote.table">
            <a:extLst xmlns:a="http://schemas.openxmlformats.org/drawingml/2006/main">
              <a:ext uri="{FF2B5EF4-FFF2-40B4-BE49-F238E27FC236}">
                <a16:creationId xmlns:a16="http://schemas.microsoft.com/office/drawing/2014/main" id="{5468D175-A76B-485C-BBD7-6E86EE98C9A0}"/>
              </a:ext>
            </a:extLst>
          </p:cNvPr>
          <p:cNvGraphicFramePr/>
          <p:nvPr/>
        </p:nvGraphicFramePr>
        <p:xfrm>
          <a:off xmlns:a="http://schemas.openxmlformats.org/drawingml/2006/main" x="2422800" y="3348000"/>
          <a:ext xmlns:a="http://schemas.openxmlformats.org/drawingml/2006/main" cx="6264000" cy="954000"/>
        </p:xfrm>
        <a:graphic xmlns:a="http://schemas.openxmlformats.org/drawingml/2006/main">
          <a:graphicData uri="http://schemas.openxmlformats.org/drawingml/2006/table">
            <a:tbl>
              <a:tblPr/>
              <a:tblGrid>
                <a:gridCol w="1224000"/>
                <a:gridCol w="1548000"/>
                <a:gridCol w="1944000"/>
                <a:gridCol w="1548000"/>
              </a:tblGrid>
              <a:tr h="504000">
                <a:tc>
                  <a:txBody>
                    <a:bodyPr/>
                    <a:lstStyle/>
                    <a:p>
                      <a:r>
                        <a:rPr sz="1200" b="1">
                          <a:solidFill>
                            <a:srgbClr val="FFFFFF"/>
                          </a:solidFill>
                          <a:latin typeface="Arial"/>
                          <a:ea typeface="Arial"/>
                          <a:cs typeface="Arial"/>
                        </a:rPr>
                        <a:t>Bond / time to maturity</a:t>
                      </a:r>
                    </a:p>
                  </a:txBody>
                  <a:tcPr marL="43200" marR="43200" marT="28800" marB="28800" anchor="ctr">
                    <a:lnL w="6350">
                      <a:solidFill>
                        <a:srgbClr val="BCC6CF"/>
                      </a:solidFill>
                      <a:prstDash val="solid"/>
                    </a:lnL>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Current holding</a:t>
                      </a:r>
                    </a:p>
                    <a:p>
                      <a:r>
                        <a:rPr sz="1200" b="1">
                          <a:solidFill>
                            <a:srgbClr val="FFFFFF"/>
                          </a:solidFill>
                          <a:latin typeface="Arial"/>
                          <a:ea typeface="Arial"/>
                          <a:cs typeface="Arial"/>
                        </a:rPr>
                        <a:t>(RMB m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Clean price</a:t>
                      </a:r>
                    </a:p>
                    <a:p>
                      <a:r>
                        <a:rPr sz="1200" b="1">
                          <a:solidFill>
                            <a:srgbClr val="FFFFFF"/>
                          </a:solidFill>
                          <a:latin typeface="Arial"/>
                          <a:ea typeface="Arial"/>
                          <a:cs typeface="Arial"/>
                        </a:rPr>
                        <a:t>per RMB 100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c>
                  <a:txBody>
                    <a:bodyPr/>
                    <a:lstStyle/>
                    <a:p>
                      <a:r>
                        <a:rPr sz="1200" b="1">
                          <a:solidFill>
                            <a:srgbClr val="FFFFFF"/>
                          </a:solidFill>
                          <a:latin typeface="Arial"/>
                          <a:ea typeface="Arial"/>
                          <a:cs typeface="Arial"/>
                        </a:rPr>
                        <a:t>Available size</a:t>
                      </a:r>
                    </a:p>
                    <a:p>
                      <a:r>
                        <a:rPr sz="1200" b="1">
                          <a:solidFill>
                            <a:srgbClr val="FFFFFF"/>
                          </a:solidFill>
                          <a:latin typeface="Arial"/>
                          <a:ea typeface="Arial"/>
                          <a:cs typeface="Arial"/>
                        </a:rPr>
                        <a:t>(RMB m face value)</a:t>
                      </a:r>
                    </a:p>
                  </a:txBody>
                  <a:tcPr marL="43200" marR="43200" marT="28800" marB="28800" anchor="ctr">
                    <a:lnR w="6350">
                      <a:solidFill>
                        <a:srgbClr val="BCC6CF"/>
                      </a:solidFill>
                      <a:prstDash val="solid"/>
                    </a:lnR>
                    <a:lnT w="6350">
                      <a:solidFill>
                        <a:srgbClr val="BCC6CF"/>
                      </a:solidFill>
                      <a:prstDash val="solid"/>
                    </a:lnT>
                    <a:lnB w="6350">
                      <a:solidFill>
                        <a:srgbClr val="BCC6CF"/>
                      </a:solidFill>
                      <a:prstDash val="solid"/>
                    </a:lnB>
                    <a:solidFill>
                      <a:srgbClr val="005A9C"/>
                    </a:solidFill>
                  </a:tcPr>
                </a:tc>
              </a:tr>
              <a:tr h="450000">
                <a:tc>
                  <a:txBody>
                    <a:bodyPr/>
                    <a:lstStyle/>
                    <a:p>
                      <a:r>
                        <a:rPr sz="1200">
                          <a:solidFill>
                            <a:srgbClr val="20262C"/>
                          </a:solidFill>
                          <a:latin typeface="Arial"/>
                          <a:ea typeface="Arial"/>
                          <a:cs typeface="Arial"/>
                        </a:rPr>
                        <a:t>Bond A / 1.2 years</a:t>
                      </a:r>
                    </a:p>
                  </a:txBody>
                  <a:tcPr marL="43200" marR="43200" marT="28800" marB="28800" anchor="ctr">
                    <a:lnL w="6350">
                      <a:solidFill>
                        <a:srgbClr val="BCC6CF"/>
                      </a:solidFill>
                      <a:prstDash val="solid"/>
                    </a:lnL>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100.20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c>
                  <a:txBody>
                    <a:bodyPr/>
                    <a:lstStyle/>
                    <a:p>
                      <a:r>
                        <a:rPr sz="1200">
                          <a:solidFill>
                            <a:srgbClr val="20262C"/>
                          </a:solidFill>
                          <a:latin typeface="Arial"/>
                          <a:ea typeface="Arial"/>
                          <a:cs typeface="Arial"/>
                        </a:rPr>
                        <a:t>20</a:t>
                      </a:r>
                    </a:p>
                  </a:txBody>
                  <a:tcPr marL="43200" marR="43200" marT="28800" marB="28800" anchor="ctr">
                    <a:lnR w="6350">
                      <a:solidFill>
                        <a:srgbClr val="BCC6CF"/>
                      </a:solidFill>
                      <a:prstDash val="solid"/>
                    </a:lnR>
                    <a:lnB w="6350">
                      <a:solidFill>
                        <a:srgbClr val="BCC6CF"/>
                      </a:solidFill>
                      <a:prstDash val="solid"/>
                    </a:lnB>
                    <a:solidFill>
                      <a:srgbClr val="FFFFFF"/>
                    </a:solidFill>
                  </a:tcPr>
                </a:tc>
              </a:tr>
            </a:tbl>
          </a:graphicData>
        </a:graphic>
      </p:graphicFrame>
      <p:sp>
        <p:nvSpPr>
          <p:cNvPr id="36" name="human.trader.verifies"/>
          <p:cNvSpPr/>
          <p:nvPr/>
        </p:nvSpPr>
        <p:spPr>
          <ns207:xfrm xmlns:ns207="http://schemas.openxmlformats.org/drawingml/2006/main">
            <ns207:off x="2422800" y="4384800"/>
            <ns207:ext cx="2556000" cy="169200"/>
          </ns207:xfrm>
          <ns208:prstGeom xmlns:ns208="http://schemas.openxmlformats.org/drawingml/2006/main" prst="rect">
            <ns208:avLst/>
          </ns208:prstGeom>
          <ns209:solidFill xmlns:ns209="http://schemas.openxmlformats.org/drawingml/2006/main">
            <ns209:srgbClr val="F3F7FA"/>
          </ns209:solidFill>
          <ns210:ln xmlns:ns210="http://schemas.openxmlformats.org/drawingml/2006/main" w="9525">
            <ns210:solidFill>
              <ns210:srgbClr val="65727D"/>
            </ns210:solidFill>
          </ns210:ln>
        </p:spPr>
        <p:txBody>
          <ns211:bodyPr xmlns:ns211="http://schemas.openxmlformats.org/drawingml/2006/main" wrap="square" lIns="10800" rIns="10800" tIns="10800" bIns="10800" anchor="ctr">
            <ns211:noAutofit/>
          </ns211:bodyPr>
          <ns212:lstStyle xmlns:ns212="http://schemas.openxmlformats.org/drawingml/2006/main"/>
          <ns213:p xmlns:ns213="http://schemas.openxmlformats.org/drawingml/2006/main">
            <ns213:pPr algn="l">
              <ns213:lnSpc>
                <ns213:spcPct val="105000"/>
              </ns213:lnSpc>
              <ns213:defRPr sz="1100" b="1">
                <ns213:solidFill>
                  <ns213:srgbClr val="20262C"/>
                </ns213:solidFill>
                <ns213:latin typeface="Arial"/>
                <ns213:ea typeface="Arial"/>
                <ns213:cs typeface="Arial"/>
              </ns213:defRPr>
            </ns213:pPr>
            <ns213:r>
              <ns213:rPr sz="1100" b="1">
                <ns213:solidFill>
                  <ns213:srgbClr val="20262C"/>
                </ns213:solidFill>
                <ns213:latin typeface="Arial"/>
                <ns213:ea typeface="Arial"/>
                <ns213:cs typeface="Arial"/>
              </ns213:rPr>
              <ns213:t>Trader verifies</ns213:t>
            </ns213:r>
          </ns213:p>
        </p:txBody>
      </p:sp>
      <p:sp>
        <p:nvSpPr>
          <p:cNvPr id="37" name="human.manager.reviews"/>
          <p:cNvSpPr/>
          <p:nvPr/>
        </p:nvSpPr>
        <p:spPr>
          <ns214:xfrm xmlns:ns214="http://schemas.openxmlformats.org/drawingml/2006/main">
            <ns214:off x="5443200" y="4384800"/>
            <ns214:ext cx="3243600" cy="169200"/>
          </ns214:xfrm>
          <ns215:prstGeom xmlns:ns215="http://schemas.openxmlformats.org/drawingml/2006/main" prst="rect">
            <ns215:avLst/>
          </ns215:prstGeom>
          <ns216:solidFill xmlns:ns216="http://schemas.openxmlformats.org/drawingml/2006/main">
            <ns216:srgbClr val="F3F7FA"/>
          </ns216:solidFill>
          <ns217:ln xmlns:ns217="http://schemas.openxmlformats.org/drawingml/2006/main" w="9525">
            <ns217:solidFill>
              <ns217:srgbClr val="65727D"/>
            </ns217:solidFill>
          </ns217:ln>
        </p:spPr>
        <p:txBody>
          <ns218:bodyPr xmlns:ns218="http://schemas.openxmlformats.org/drawingml/2006/main" wrap="square" lIns="10800" rIns="10800" tIns="10800" bIns="10800" anchor="ctr">
            <ns218:noAutofit/>
          </ns218:bodyPr>
          <ns219:lstStyle xmlns:ns219="http://schemas.openxmlformats.org/drawingml/2006/main"/>
          <ns220:p xmlns:ns220="http://schemas.openxmlformats.org/drawingml/2006/main">
            <ns220:pPr algn="l">
              <ns220:lnSpc>
                <ns220:spcPct val="105000"/>
              </ns220:lnSpc>
              <ns220:defRPr sz="1100" b="1">
                <ns220:solidFill>
                  <ns220:srgbClr val="20262C"/>
                </ns220:solidFill>
                <ns220:latin typeface="Arial"/>
                <ns220:ea typeface="Arial"/>
                <ns220:cs typeface="Arial"/>
              </ns220:defRPr>
            </ns220:pPr>
            <ns220:r>
              <ns220:rPr sz="1100" b="1">
                <ns220:solidFill>
                  <ns220:srgbClr val="20262C"/>
                </ns220:solidFill>
                <ns220:latin typeface="Arial"/>
                <ns220:ea typeface="Arial"/>
                <ns220:cs typeface="Arial"/>
              </ns220:rPr>
              <ns220:t>Manager reviews with trader</ns220:t>
            </ns220:r>
          </ns220:p>
        </p:txBody>
      </p:sp>
      <p:cxnSp>
        <p:nvCxnSpPr>
          <p:cNvPr id="38" name="table.to.trader"/>
          <p:cNvCxnSpPr/>
          <p:nvPr/>
        </p:nvCxnSpPr>
        <p:spPr>
          <ns221:xfrm xmlns:ns221="http://schemas.openxmlformats.org/drawingml/2006/main">
            <ns221:off x="3700800" y="4327200"/>
            <ns221:ext cx="1" cy="39600"/>
          </ns221:xfrm>
          <ns222:prstGeom xmlns:ns222="http://schemas.openxmlformats.org/drawingml/2006/main" prst="line">
            <ns222:avLst/>
          </ns222:prstGeom>
          <ns223:ln xmlns:ns223="http://schemas.openxmlformats.org/drawingml/2006/main" w="11430">
            <ns223:solidFill>
              <ns223:srgbClr val="005A9C"/>
            </ns223:solidFill>
            <ns223:tailEnd type="triangle" w="sm" len="sm"/>
          </ns223:ln>
        </p:spPr>
      </p:cxnSp>
      <p:cxnSp>
        <p:nvCxnSpPr>
          <p:cNvPr id="39" name="trader.to.manager.review"/>
          <p:cNvCxnSpPr/>
          <p:nvPr/>
        </p:nvCxnSpPr>
        <p:spPr>
          <ns224:xfrm xmlns:ns224="http://schemas.openxmlformats.org/drawingml/2006/main">
            <ns224:off x="5014800" y="4469400"/>
            <ns224:ext cx="392400" cy="1"/>
          </ns224:xfrm>
          <ns225:prstGeom xmlns:ns225="http://schemas.openxmlformats.org/drawingml/2006/main" prst="line">
            <ns225:avLst/>
          </ns225:prstGeom>
          <ns226:ln xmlns:ns226="http://schemas.openxmlformats.org/drawingml/2006/main" w="11430">
            <ns226:solidFill>
              <ns226:srgbClr val="005A9C"/>
            </ns226:solidFill>
            <ns226:tailEnd type="triangle" w="sm" len="sm"/>
          </ns226:ln>
        </p:spPr>
      </p:cxnSp>
    </p:spTree>
    <p:extLst>
      <p:ext uri="{BB962C8B-B14F-4D97-AF65-F5344CB8AC3E}">
        <p14:creationId xmlns:p14="http://schemas.microsoft.com/office/powerpoint/2010/main" val="3544095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Client Communications: Drafting and Review</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Client Material Preparation and Review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7"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8" name="map.task.focus.client"/>
          <p:cNvSpPr/>
          <p:nvPr/>
        </p:nvSpPr>
        <p:spPr>
          <ns38:xfrm xmlns:ns38="http://schemas.openxmlformats.org/drawingml/2006/main">
            <ns38:off x="486000" y="2196000"/>
            <ns38:ext cx="1677600" cy="176400"/>
          </ns38:xfrm>
          <ns39:prstGeom xmlns:ns39="http://schemas.openxmlformats.org/drawingml/2006/main" prst="rect">
            <ns39:avLst/>
          </ns39:prstGeom>
          <ns40:solidFill xmlns:ns40="http://schemas.openxmlformats.org/drawingml/2006/main">
            <ns40:srgbClr val="D9EAF7"/>
          </ns40:solidFill>
          <ns41:ln xmlns:ns41="http://schemas.openxmlformats.org/drawingml/2006/main" w="0">
            <ns41:noFill/>
          </ns41:ln>
        </p:spPr>
      </p:sp>
      <p:sp>
        <p:nvSpPr>
          <p:cNvPr id="9" name="map.task.client"/>
          <p:cNvSpPr/>
          <p:nvPr/>
        </p:nvSpPr>
        <p:spPr>
          <ns42:xfrm xmlns:ns42="http://schemas.openxmlformats.org/drawingml/2006/main">
            <ns42:off x="554400" y="2199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1">
                <ns48:solidFill>
                  <ns48:srgbClr val="005A9C"/>
                </ns48:solidFill>
                <ns48:latin typeface="Arial"/>
                <ns48:ea typeface="Arial"/>
                <ns48:cs typeface="Arial"/>
              </ns48:defRPr>
            </ns48:pPr>
            <ns48:r>
              <ns48:rPr sz="1050" b="1">
                <ns48:solidFill>
                  <ns48:srgbClr val="005A9C"/>
                </ns48:solidFill>
                <ns48:latin typeface="Arial"/>
                <ns48:ea typeface="Arial"/>
                <ns48:cs typeface="Arial"/>
              </ns48:rPr>
              <ns48:t>Client communications</ns48:t>
            </ns48:r>
          </ns48:p>
        </p:txBody>
      </p:sp>
      <p:sp>
        <p:nvSpPr>
          <p:cNvPr id="10" name="map.office.1"/>
          <p:cNvSpPr/>
          <p:nvPr/>
        </p:nvSpPr>
        <p:spPr>
          <ns49:xfrm xmlns:ns49="http://schemas.openxmlformats.org/drawingml/2006/main">
            <ns49:off x="486000" y="2548800"/>
            <ns49:ext cx="1692000" cy="1800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100" b="1">
                <ns55:solidFill>
                  <ns55:srgbClr val="65727D"/>
                </ns55:solidFill>
                <ns55:latin typeface="Arial"/>
                <ns55:ea typeface="Arial"/>
                <ns55:cs typeface="Arial"/>
              </ns55:defRPr>
            </ns55:pPr>
            <ns55:r>
              <ns55:rPr sz="1100" b="1">
                <ns55:solidFill>
                  <ns55:srgbClr val="65727D"/>
                </ns55:solidFill>
                <ns55:latin typeface="Arial"/>
                <ns55:ea typeface="Arial"/>
                <ns55:cs typeface="Arial"/>
              </ns55:rPr>
              <ns55:t>Middle office</ns55:t>
            </ns55:r>
          </ns55:p>
        </p:txBody>
      </p:sp>
      <p:cxnSp>
        <p:nvCxnSpPr>
          <p:cNvPr id="11" name="map.office.rule.1"/>
          <p:cNvCxnSpPr/>
          <p:nvPr/>
        </p:nvCxnSpPr>
        <p:spPr>
          <ns56:xfrm xmlns:ns56="http://schemas.openxmlformats.org/drawingml/2006/main">
            <ns56:off x="457200" y="2768400"/>
            <ns56:ext cx="1742400" cy="1"/>
          </ns56:xfrm>
          <ns57:prstGeom xmlns:ns57="http://schemas.openxmlformats.org/drawingml/2006/main" prst="line">
            <ns57:avLst/>
          </ns57:prstGeom>
          <ns58:ln xmlns:ns58="http://schemas.openxmlformats.org/drawingml/2006/main" w="7620">
            <ns58:solidFill>
              <ns58:srgbClr val="CBD4DA"/>
            </ns58:solidFill>
          </ns58:ln>
        </p:spPr>
      </p:cxnSp>
      <p:sp>
        <p:nvSpPr>
          <p:cNvPr id="12" name="map.task.risk"/>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0">
                <ns65:solidFill>
                  <ns65:srgbClr val="65727D"/>
                </ns65:solidFill>
                <ns65:latin typeface="Arial"/>
                <ns65:ea typeface="Arial"/>
                <ns65:cs typeface="Arial"/>
              </ns65:defRPr>
            </ns65:pPr>
            <ns65:r>
              <ns65:rPr sz="1050" b="0">
                <ns65:solidFill>
                  <ns65:srgbClr val="65727D"/>
                </ns65:solidFill>
                <ns65:latin typeface="Arial"/>
                <ns65:ea typeface="Arial"/>
                <ns65:cs typeface="Arial"/>
              </ns65:rPr>
              <ns65:t>Risk analysis</ns65:t>
            </ns65:r>
          </ns65:p>
        </p:txBody>
      </p:sp>
      <p:sp>
        <p:nvSpPr>
          <p:cNvPr id="13" name="map.office.2"/>
          <p:cNvSpPr/>
          <p:nvPr/>
        </p:nvSpPr>
        <p:spPr>
          <ns66:xfrm xmlns:ns66="http://schemas.openxmlformats.org/drawingml/2006/main">
            <ns66:off x="486000" y="3391200"/>
            <ns66:ext cx="1692000" cy="1800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100" b="1">
                <ns72:solidFill>
                  <ns72:srgbClr val="65727D"/>
                </ns72:solidFill>
                <ns72:latin typeface="Arial"/>
                <ns72:ea typeface="Arial"/>
                <ns72:cs typeface="Arial"/>
              </ns72:defRPr>
            </ns72:pPr>
            <ns72:r>
              <ns72:rPr sz="1100" b="1">
                <ns72:solidFill>
                  <ns72:srgbClr val="65727D"/>
                </ns72:solidFill>
                <ns72:latin typeface="Arial"/>
                <ns72:ea typeface="Arial"/>
                <ns72:cs typeface="Arial"/>
              </ns72:rPr>
              <ns72:t>Back office</ns72:t>
            </ns72:r>
          </ns72:p>
        </p:txBody>
      </p:sp>
      <p:cxnSp>
        <p:nvCxnSpPr>
          <p:cNvPr id="14" name="map.office.rule.2"/>
          <p:cNvCxnSpPr/>
          <p:nvPr/>
        </p:nvCxnSpPr>
        <p:spPr>
          <ns73:xfrm xmlns:ns73="http://schemas.openxmlformats.org/drawingml/2006/main">
            <ns73:off x="457200" y="3610800"/>
            <ns73:ext cx="1742400" cy="1"/>
          </ns73:xfrm>
          <ns74:prstGeom xmlns:ns74="http://schemas.openxmlformats.org/drawingml/2006/main" prst="line">
            <ns74:avLst/>
          </ns74:prstGeom>
          <ns75:ln xmlns:ns75="http://schemas.openxmlformats.org/drawingml/2006/main" w="7620">
            <ns75:solidFill>
              <ns75:srgbClr val="CBD4DA"/>
            </ns75:solidFill>
          </ns75:ln>
        </p:spPr>
      </p:cxnSp>
      <p:sp>
        <p:nvSpPr>
          <p:cNvPr id="15" name="map.task.records"/>
          <p:cNvSpPr/>
          <p:nvPr/>
        </p:nvSpPr>
        <p:spPr>
          <ns76:xfrm xmlns:ns76="http://schemas.openxmlformats.org/drawingml/2006/main">
            <ns76:off x="554400" y="3690000"/>
            <ns76:ext cx="1562400" cy="1656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050" b="0">
                <ns82:solidFill>
                  <ns82:srgbClr val="65727D"/>
                </ns82:solidFill>
                <ns82:latin typeface="Arial"/>
                <ns82:ea typeface="Arial"/>
                <ns82:cs typeface="Arial"/>
              </ns82:defRPr>
            </ns82:pPr>
            <ns82:r>
              <ns82:rPr sz="1050" b="0">
                <ns82:solidFill>
                  <ns82:srgbClr val="65727D"/>
                </ns82:solidFill>
                <ns82:latin typeface="Arial"/>
                <ns82:ea typeface="Arial"/>
                <ns82:cs typeface="Arial"/>
              </ns82:rPr>
              <ns82:t>Record entry</ns82:t>
            </ns82:r>
          </ns82:p>
        </p:txBody>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Tool development</ns89:t>
            </ns89:r>
          </ns89:p>
        </p:txBody>
      </p:sp>
      <p:sp>
        <p:nvSpPr>
          <p:cNvPr id="17" name="input.client.question.paper"/>
          <p:cNvSpPr/>
          <p:nvPr/>
        </p:nvSpPr>
        <p:spPr>
          <ns90:xfrm xmlns:ns90="http://schemas.openxmlformats.org/drawingml/2006/main">
            <ns90:off x="2422800" y="1530000"/>
            <ns90:ext cx="1620000" cy="630000"/>
          </ns90:xfrm>
          <ns91:prstGeom xmlns:ns91="http://schemas.openxmlformats.org/drawingml/2006/main" prst="foldedCorner">
            <ns91:avLst/>
          </ns91:prstGeom>
          <ns92:solidFill xmlns:ns92="http://schemas.openxmlformats.org/drawingml/2006/main">
            <ns92:srgbClr val="FFFFFF"/>
          </ns92:solidFill>
          <ns93:ln xmlns:ns93="http://schemas.openxmlformats.org/drawingml/2006/main" w="9525">
            <ns93:solidFill>
              <ns93:srgbClr val="7363A6"/>
            </ns93:solidFill>
          </ns93:ln>
        </p:spPr>
      </p:sp>
      <p:sp>
        <p:nvSpPr>
          <p:cNvPr id="18" name="input.client.question.title"/>
          <p:cNvSpPr/>
          <p:nvPr/>
        </p:nvSpPr>
        <p:spPr>
          <ns94:xfrm xmlns:ns94="http://schemas.openxmlformats.org/drawingml/2006/main">
            <ns94:off x="2487600" y="1573200"/>
            <ns94:ext cx="1422000" cy="1980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5000"/>
              </ns100:lnSpc>
              <ns100:defRPr sz="1250" b="1">
                <ns100:solidFill>
                  <ns100:srgbClr val="7363A6"/>
                </ns100:solidFill>
                <ns100:latin typeface="Arial"/>
                <ns100:ea typeface="Arial"/>
                <ns100:cs typeface="Arial"/>
              </ns100:defRPr>
            </ns100:pPr>
            <ns100:r>
              <ns100:rPr sz="1250" b="1">
                <ns100:solidFill>
                  <ns100:srgbClr val="7363A6"/>
                </ns100:solidFill>
                <ns100:latin typeface="Arial"/>
                <ns100:ea typeface="Arial"/>
                <ns100:cs typeface="Arial"/>
              </ns100:rPr>
              <ns100:t>Client question</ns100:t>
            </ns100:r>
          </ns100:p>
        </p:txBody>
      </p:sp>
      <p:sp>
        <p:nvSpPr>
          <p:cNvPr id="19" name="input.client.question.content"/>
          <p:cNvSpPr/>
          <p:nvPr/>
        </p:nvSpPr>
        <p:spPr>
          <ns101:xfrm xmlns:ns101="http://schemas.openxmlformats.org/drawingml/2006/main">
            <ns101:off x="2487600" y="1789200"/>
            <ns101:ext cx="1490400" cy="320400"/>
          </ns101:xfrm>
          <ns102:prstGeom xmlns:ns102="http://schemas.openxmlformats.org/drawingml/2006/main" prst="rect">
            <ns102:avLst/>
          </ns102:prstGeom>
          <ns103:noFill xmlns:ns103="http://schemas.openxmlformats.org/drawingml/2006/main"/>
          <ns104:ln xmlns:ns104="http://schemas.openxmlformats.org/drawingml/2006/main" w="0">
            <ns104:noFill/>
          </ns104:ln>
        </p:spPr>
        <p:txBody>
          <ns105:bodyPr xmlns:ns105="http://schemas.openxmlformats.org/drawingml/2006/main" wrap="square" lIns="0" rIns="0" tIns="0" bIns="0" anchor="t">
            <ns105:noAutofit/>
          </ns105:bodyPr>
          <ns106:lstStyle xmlns:ns106="http://schemas.openxmlformats.org/drawingml/2006/main"/>
          <ns107:p xmlns:ns107="http://schemas.openxmlformats.org/drawingml/2006/main">
            <ns107:pPr algn="l">
              <ns107:lnSpc>
                <ns107:spcPct val="100000"/>
              </ns107:lnSpc>
              <ns107:defRPr sz="1150" b="0">
                <ns107:solidFill>
                  <ns107:srgbClr val="20262C"/>
                </ns107:solidFill>
                <ns107:latin typeface="Arial"/>
                <ns107:ea typeface="Arial"/>
                <ns107:cs typeface="Arial"/>
              </ns107:defRPr>
            </ns107:pPr>
            <ns107:r>
              <ns107:rPr sz="1150" b="0">
                <ns107:solidFill>
                  <ns107:srgbClr val="20262C"/>
                </ns107:solidFill>
                <ns107:latin typeface="Arial"/>
                <ns107:ea typeface="Arial"/>
                <ns107:cs typeface="Arial"/>
              </ns107:rPr>
              <ns107:t>Quarterly changes?</ns107:t>
            </ns107:r>
          </ns107:p>
        </p:txBody>
      </p:sp>
      <p:sp>
        <p:nvSpPr>
          <p:cNvPr id="20" name="input.client.pm.views.paper"/>
          <p:cNvSpPr/>
          <p:nvPr/>
        </p:nvSpPr>
        <p:spPr>
          <ns108:xfrm xmlns:ns108="http://schemas.openxmlformats.org/drawingml/2006/main">
            <ns108:off x="2422800" y="2322000"/>
            <ns108:ext cx="1620000" cy="630000"/>
          </ns108:xfrm>
          <ns109:prstGeom xmlns:ns109="http://schemas.openxmlformats.org/drawingml/2006/main" prst="foldedCorner">
            <ns109:avLst/>
          </ns109:prstGeom>
          <ns110:solidFill xmlns:ns110="http://schemas.openxmlformats.org/drawingml/2006/main">
            <ns110:srgbClr val="FFFFFF"/>
          </ns110:solidFill>
          <ns111:ln xmlns:ns111="http://schemas.openxmlformats.org/drawingml/2006/main" w="9525">
            <ns111:solidFill>
              <ns111:srgbClr val="7363A6"/>
            </ns111:solidFill>
          </ns111:ln>
        </p:spPr>
      </p:sp>
      <p:sp>
        <p:nvSpPr>
          <p:cNvPr id="21" name="input.client.pm.views.title"/>
          <p:cNvSpPr/>
          <p:nvPr/>
        </p:nvSpPr>
        <p:spPr>
          <ns112:xfrm xmlns:ns112="http://schemas.openxmlformats.org/drawingml/2006/main">
            <ns112:off x="2487600" y="2365200"/>
            <ns112:ext cx="1422000" cy="198000"/>
          </ns112:xfrm>
          <ns113:prstGeom xmlns:ns113="http://schemas.openxmlformats.org/drawingml/2006/main" prst="rect">
            <ns113:avLst/>
          </ns113:prstGeom>
          <ns114:noFill xmlns:ns114="http://schemas.openxmlformats.org/drawingml/2006/main"/>
          <ns115:ln xmlns:ns115="http://schemas.openxmlformats.org/drawingml/2006/main" w="0">
            <ns115:noFill/>
          </ns115:ln>
        </p:spPr>
        <p:txBody>
          <ns116:bodyPr xmlns:ns116="http://schemas.openxmlformats.org/drawingml/2006/main" wrap="square" lIns="0" rIns="0" tIns="0" bIns="0" anchor="t">
            <ns116:noAutofit/>
          </ns116:bodyPr>
          <ns117:lstStyle xmlns:ns117="http://schemas.openxmlformats.org/drawingml/2006/main"/>
          <ns118:p xmlns:ns118="http://schemas.openxmlformats.org/drawingml/2006/main">
            <ns118:pPr algn="l">
              <ns118:lnSpc>
                <ns118:spcPct val="105000"/>
              </ns118:lnSpc>
              <ns118:defRPr sz="1250" b="1">
                <ns118:solidFill>
                  <ns118:srgbClr val="7363A6"/>
                </ns118:solidFill>
                <ns118:latin typeface="Arial"/>
                <ns118:ea typeface="Arial"/>
                <ns118:cs typeface="Arial"/>
              </ns118:defRPr>
            </ns118:pPr>
            <ns118:r>
              <ns118:rPr sz="1250" b="1">
                <ns118:solidFill>
                  <ns118:srgbClr val="7363A6"/>
                </ns118:solidFill>
                <ns118:latin typeface="Arial"/>
                <ns118:ea typeface="Arial"/>
                <ns118:cs typeface="Arial"/>
              </ns118:rPr>
              <ns118:t>PM views</ns118:t>
            </ns118:r>
          </ns118:p>
        </p:txBody>
      </p:sp>
      <p:sp>
        <p:nvSpPr>
          <p:cNvPr id="22" name="input.client.pm.views.content"/>
          <p:cNvSpPr/>
          <p:nvPr/>
        </p:nvSpPr>
        <p:spPr>
          <ns119:xfrm xmlns:ns119="http://schemas.openxmlformats.org/drawingml/2006/main">
            <ns119:off x="2487600" y="2581200"/>
            <ns119:ext cx="1490400" cy="3204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0000"/>
              </ns125:lnSpc>
              <ns125:defRPr sz="1150" b="0">
                <ns125:solidFill>
                  <ns125:srgbClr val="20262C"/>
                </ns125:solidFill>
                <ns125:latin typeface="Arial"/>
                <ns125:ea typeface="Arial"/>
                <ns125:cs typeface="Arial"/>
              </ns125:defRPr>
            </ns125:pPr>
            <ns125:r>
              <ns125:rPr sz="1150" b="0">
                <ns125:solidFill>
                  <ns125:srgbClr val="20262C"/>
                </ns125:solidFill>
                <ns125:latin typeface="Arial"/>
                <ns125:ea typeface="Arial"/>
                <ns125:cs typeface="Arial"/>
              </ns125:rPr>
              <ns125:t>Investment explanation</ns125:t>
            </ns125:r>
          </ns125:p>
        </p:txBody>
      </p:sp>
      <p:sp>
        <p:nvSpPr>
          <p:cNvPr id="23" name="input.client.product.paper"/>
          <p:cNvSpPr/>
          <p:nvPr/>
        </p:nvSpPr>
        <p:spPr>
          <ns126:xfrm xmlns:ns126="http://schemas.openxmlformats.org/drawingml/2006/main">
            <ns126:off x="2422800" y="3114000"/>
            <ns126:ext cx="1620000" cy="810000"/>
          </ns126:xfrm>
          <ns127:prstGeom xmlns:ns127="http://schemas.openxmlformats.org/drawingml/2006/main" prst="foldedCorner">
            <ns127:avLst/>
          </ns127:prstGeom>
          <ns128:solidFill xmlns:ns128="http://schemas.openxmlformats.org/drawingml/2006/main">
            <ns128:srgbClr val="FFFFFF"/>
          </ns128:solidFill>
          <ns129:ln xmlns:ns129="http://schemas.openxmlformats.org/drawingml/2006/main" w="9525">
            <ns129:solidFill>
              <ns129:srgbClr val="65727D"/>
            </ns129:solidFill>
          </ns129:ln>
        </p:spPr>
      </p:sp>
      <p:sp>
        <p:nvSpPr>
          <p:cNvPr id="24" name="input.client.product.title"/>
          <p:cNvSpPr/>
          <p:nvPr/>
        </p:nvSpPr>
        <p:spPr>
          <ns130:xfrm xmlns:ns130="http://schemas.openxmlformats.org/drawingml/2006/main">
            <ns130:off x="2487600" y="3157200"/>
            <ns130:ext cx="1422000" cy="198000"/>
          </ns130:xfrm>
          <ns131:prstGeom xmlns:ns131="http://schemas.openxmlformats.org/drawingml/2006/main" prst="rect">
            <ns131:avLst/>
          </ns131:prstGeom>
          <ns132:noFill xmlns:ns132="http://schemas.openxmlformats.org/drawingml/2006/main"/>
          <ns133:ln xmlns:ns133="http://schemas.openxmlformats.org/drawingml/2006/main" w="0">
            <ns133:noFill/>
          </ns133:ln>
        </p:spPr>
        <p:txBody>
          <ns134:bodyPr xmlns:ns134="http://schemas.openxmlformats.org/drawingml/2006/main" wrap="square" lIns="0" rIns="0" tIns="0" bIns="0" anchor="t">
            <ns134:noAutofit/>
          </ns134:bodyPr>
          <ns135:lstStyle xmlns:ns135="http://schemas.openxmlformats.org/drawingml/2006/main"/>
          <ns136:p xmlns:ns136="http://schemas.openxmlformats.org/drawingml/2006/main">
            <ns136:pPr algn="l">
              <ns136:lnSpc>
                <ns136:spcPct val="105000"/>
              </ns136:lnSpc>
              <ns136:defRPr sz="1250" b="1">
                <ns136:solidFill>
                  <ns136:srgbClr val="65727D"/>
                </ns136:solidFill>
                <ns136:latin typeface="Arial"/>
                <ns136:ea typeface="Arial"/>
                <ns136:cs typeface="Arial"/>
              </ns136:defRPr>
            </ns136:pPr>
            <ns136:r>
              <ns136:rPr sz="1250" b="1">
                <ns136:solidFill>
                  <ns136:srgbClr val="65727D"/>
                </ns136:solidFill>
                <ns136:latin typeface="Arial"/>
                <ns136:ea typeface="Arial"/>
                <ns136:cs typeface="Arial"/>
              </ns136:rPr>
              <ns136:t>Product sources</ns136:t>
            </ns136:r>
          </ns136:p>
        </p:txBody>
      </p:sp>
      <p:sp>
        <p:nvSpPr>
          <p:cNvPr id="25" name="input.client.product.content"/>
          <p:cNvSpPr/>
          <p:nvPr/>
        </p:nvSpPr>
        <p:spPr>
          <ns137:xfrm xmlns:ns137="http://schemas.openxmlformats.org/drawingml/2006/main">
            <ns137:off x="2487600" y="3373200"/>
            <ns137:ext cx="1490400" cy="5004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0000"/>
              </ns143:lnSpc>
              <ns143:defRPr sz="1150" b="0">
                <ns143:solidFill>
                  <ns143:srgbClr val="20262C"/>
                </ns143:solidFill>
                <ns143:latin typeface="Arial"/>
                <ns143:ea typeface="Arial"/>
                <ns143:cs typeface="Arial"/>
              </ns143:defRPr>
            </ns143:pPr>
            <ns143:r>
              <ns143:rPr sz="1150" b="0">
                <ns143:solidFill>
                  <ns143:srgbClr val="20262C"/>
                </ns143:solidFill>
                <ns143:latin typeface="Arial"/>
                <ns143:ea typeface="Arial"/>
                <ns143:cs typeface="Arial"/>
              </ns143:rPr>
              <ns143:t>Fund / period / risk</ns143:t>
            </ns143:r>
          </ns143:p>
          <ns144:p xmlns:ns144="http://schemas.openxmlformats.org/drawingml/2006/main">
            <ns144:pPr algn="l">
              <ns144:lnSpc>
                <ns144:spcPct val="100000"/>
              </ns144:lnSpc>
              <ns144:defRPr sz="1150" b="0">
                <ns144:solidFill>
                  <ns144:srgbClr val="20262C"/>
                </ns144:solidFill>
                <ns144:latin typeface="Arial"/>
                <ns144:ea typeface="Arial"/>
                <ns144:cs typeface="Arial"/>
              </ns144:defRPr>
            </ns144:pPr>
            <ns144:r>
              <ns144:rPr sz="1150" b="0">
                <ns144:solidFill>
                  <ns144:srgbClr val="20262C"/>
                </ns144:solidFill>
                <ns144:latin typeface="Arial"/>
                <ns144:ea typeface="Arial"/>
                <ns144:cs typeface="Arial"/>
              </ns144:rPr>
              <ns144:t>Prior client material</ns144:t>
            </ns144:r>
          </ns144:p>
        </p:txBody>
      </p:sp>
      <p:sp>
        <p:nvSpPr>
          <p:cNvPr id="26" name="human.client.author"/>
          <p:cNvSpPr/>
          <p:nvPr/>
        </p:nvSpPr>
        <p:spPr>
          <ns145:xfrm xmlns:ns145="http://schemas.openxmlformats.org/drawingml/2006/main">
            <ns145:off x="4392000" y="1872000"/>
            <ns145:ext cx="1458000" cy="810000"/>
          </ns145:xfrm>
          <ns146:prstGeom xmlns:ns146="http://schemas.openxmlformats.org/drawingml/2006/main" prst="roundRect">
            <ns146:avLst/>
          </ns146:prstGeom>
          <ns147:solidFill xmlns:ns147="http://schemas.openxmlformats.org/drawingml/2006/main">
            <ns147:srgbClr val="F3F7FA"/>
          </ns147:solidFill>
          <ns148:ln xmlns:ns148="http://schemas.openxmlformats.org/drawingml/2006/main" w="9525">
            <ns148:solidFill>
              <ns148:srgbClr val="65727D"/>
            </ns148:solidFill>
          </ns148:ln>
        </p:spPr>
        <p:txBody>
          <ns149:bodyPr xmlns:ns149="http://schemas.openxmlformats.org/drawingml/2006/main" wrap="square" lIns="61200" rIns="61200" tIns="61200" bIns="61200" anchor="ctr">
            <ns149:noAutofit/>
          </ns149:bodyPr>
          <ns150:lstStyle xmlns:ns150="http://schemas.openxmlformats.org/drawingml/2006/main"/>
          <ns151:p xmlns:ns151="http://schemas.openxmlformats.org/drawingml/2006/main">
            <ns151:pPr algn="l">
              <ns151:lnSpc>
                <ns151:spcPct val="105000"/>
              </ns151:lnSpc>
              <ns151:defRPr sz="1300" b="1">
                <ns151:solidFill>
                  <ns151:srgbClr val="65727D"/>
                </ns151:solidFill>
                <ns151:latin typeface="Arial"/>
                <ns151:ea typeface="Arial"/>
                <ns151:cs typeface="Arial"/>
              </ns151:defRPr>
            </ns151:pPr>
            <ns151:r>
              <ns151:rPr sz="1300" b="1">
                <ns151:solidFill>
                  <ns151:srgbClr val="65727D"/>
                </ns151:solidFill>
                <ns151:latin typeface="Arial"/>
                <ns151:ea typeface="Arial"/>
                <ns151:cs typeface="Arial"/>
              </ns151:rPr>
              <ns151:t>Front-office author</ns151:t>
            </ns151:r>
          </ns151:p>
          <ns152:p xmlns:ns152="http://schemas.openxmlformats.org/drawingml/2006/main">
            <ns152:pPr algn="l">
              <ns152:lnSpc>
                <ns152:spcPct val="105000"/>
              </ns152:lnSpc>
              <ns152:defRPr sz="1150" b="0">
                <ns152:solidFill>
                  <ns152:srgbClr val="20262C"/>
                </ns152:solidFill>
                <ns152:latin typeface="Arial"/>
                <ns152:ea typeface="Arial"/>
                <ns152:cs typeface="Arial"/>
              </ns152:defRPr>
            </ns152:pPr>
            <ns152:r>
              <ns152:rPr sz="1150" b="0">
                <ns152:solidFill>
                  <ns152:srgbClr val="20262C"/>
                </ns152:solidFill>
                <ns152:latin typeface="Arial"/>
                <ns152:ea typeface="Arial"/>
                <ns152:cs typeface="Arial"/>
              </ns152:rPr>
              <ns152:t>Select sources</ns152:t>
            </ns152:r>
          </ns152:p>
          <ns153:p xmlns:ns153="http://schemas.openxmlformats.org/drawingml/2006/main">
            <ns153:pPr algn="l">
              <ns153:lnSpc>
                <ns153:spcPct val="105000"/>
              </ns153:lnSpc>
              <ns153:defRPr sz="1150" b="0">
                <ns153:solidFill>
                  <ns153:srgbClr val="20262C"/>
                </ns153:solidFill>
                <ns153:latin typeface="Arial"/>
                <ns153:ea typeface="Arial"/>
                <ns153:cs typeface="Arial"/>
              </ns153:defRPr>
            </ns153:pPr>
            <ns153:r>
              <ns153:rPr sz="1150" b="0">
                <ns153:solidFill>
                  <ns153:srgbClr val="20262C"/>
                </ns153:solidFill>
                <ns153:latin typeface="Arial"/>
                <ns153:ea typeface="Arial"/>
                <ns153:cs typeface="Arial"/>
              </ns153:rPr>
              <ns153:t>Draft wording</ns153:t>
            </ns153:r>
          </ns153:p>
        </p:txBody>
      </p:sp>
      <p:cxnSp>
        <p:nvCxnSpPr>
          <p:cNvPr id="27" name="sources.to.author.source.0"/>
          <p:cNvCxnSpPr/>
          <p:nvPr/>
        </p:nvCxnSpPr>
        <p:spPr>
          <ns154:xfrm xmlns:ns154="http://schemas.openxmlformats.org/drawingml/2006/main">
            <ns154:off x="4042800" y="1845000"/>
            <ns154:ext cx="151200" cy="1"/>
          </ns154:xfrm>
          <ns155:prstGeom xmlns:ns155="http://schemas.openxmlformats.org/drawingml/2006/main" prst="line">
            <ns155:avLst/>
          </ns155:prstGeom>
          <ns156:ln xmlns:ns156="http://schemas.openxmlformats.org/drawingml/2006/main" w="9525">
            <ns156:solidFill>
              <ns156:srgbClr val="65727D"/>
            </ns156:solidFill>
          </ns156:ln>
        </p:spPr>
      </p:cxnSp>
      <p:cxnSp>
        <p:nvCxnSpPr>
          <p:cNvPr id="28" name="sources.to.author.source.1"/>
          <p:cNvCxnSpPr/>
          <p:nvPr/>
        </p:nvCxnSpPr>
        <p:spPr>
          <ns157:xfrm xmlns:ns157="http://schemas.openxmlformats.org/drawingml/2006/main">
            <ns157:off x="4042800" y="2637000"/>
            <ns157:ext cx="151200" cy="1"/>
          </ns157:xfrm>
          <ns158:prstGeom xmlns:ns158="http://schemas.openxmlformats.org/drawingml/2006/main" prst="line">
            <ns158:avLst/>
          </ns158:prstGeom>
          <ns159:ln xmlns:ns159="http://schemas.openxmlformats.org/drawingml/2006/main" w="9525">
            <ns159:solidFill>
              <ns159:srgbClr val="65727D"/>
            </ns159:solidFill>
          </ns159:ln>
        </p:spPr>
      </p:cxnSp>
      <p:cxnSp>
        <p:nvCxnSpPr>
          <p:cNvPr id="29" name="sources.to.author.source.2"/>
          <p:cNvCxnSpPr/>
          <p:nvPr/>
        </p:nvCxnSpPr>
        <p:spPr>
          <ns160:xfrm xmlns:ns160="http://schemas.openxmlformats.org/drawingml/2006/main">
            <ns160:off x="4042800" y="3519000"/>
            <ns160:ext cx="151200" cy="1"/>
          </ns160:xfrm>
          <ns161:prstGeom xmlns:ns161="http://schemas.openxmlformats.org/drawingml/2006/main" prst="line">
            <ns161:avLst/>
          </ns161:prstGeom>
          <ns162:ln xmlns:ns162="http://schemas.openxmlformats.org/drawingml/2006/main" w="9525">
            <ns162:solidFill>
              <ns162:srgbClr val="65727D"/>
            </ns162:solidFill>
          </ns162:ln>
        </p:spPr>
      </p:cxnSp>
      <p:cxnSp>
        <p:nvCxnSpPr>
          <p:cNvPr id="30" name="sources.to.author.bus"/>
          <p:cNvCxnSpPr/>
          <p:nvPr/>
        </p:nvCxnSpPr>
        <p:spPr>
          <ns163:xfrm xmlns:ns163="http://schemas.openxmlformats.org/drawingml/2006/main">
            <ns163:off x="4194000" y="1845000"/>
            <ns163:ext cx="1" cy="1674000"/>
          </ns163:xfrm>
          <ns164:prstGeom xmlns:ns164="http://schemas.openxmlformats.org/drawingml/2006/main" prst="line">
            <ns164:avLst/>
          </ns164:prstGeom>
          <ns165:ln xmlns:ns165="http://schemas.openxmlformats.org/drawingml/2006/main" w="9525">
            <ns165:solidFill>
              <ns165:srgbClr val="65727D"/>
            </ns165:solidFill>
          </ns165:ln>
        </p:spPr>
      </p:cxnSp>
      <p:cxnSp>
        <p:nvCxnSpPr>
          <p:cNvPr id="31" name="sources.to.author.target"/>
          <p:cNvCxnSpPr/>
          <p:nvPr/>
        </p:nvCxnSpPr>
        <p:spPr>
          <ns166:xfrm xmlns:ns166="http://schemas.openxmlformats.org/drawingml/2006/main">
            <ns166:off x="4194000" y="2277000"/>
            <ns166:ext cx="198000" cy="1"/>
          </ns166:xfrm>
          <ns167:prstGeom xmlns:ns167="http://schemas.openxmlformats.org/drawingml/2006/main" prst="line">
            <ns167:avLst/>
          </ns167:prstGeom>
          <ns168:ln xmlns:ns168="http://schemas.openxmlformats.org/drawingml/2006/main" w="11430">
            <ns168:solidFill>
              <ns168:srgbClr val="65727D"/>
            </ns168:solidFill>
            <ns168:tailEnd type="triangle" w="sm" len="sm"/>
          </ns168:ln>
        </p:spPr>
      </p:cxnSp>
      <p:sp>
        <p:nvSpPr>
          <p:cNvPr id="32" name="output.client.draft.paper"/>
          <p:cNvSpPr/>
          <p:nvPr/>
        </p:nvSpPr>
        <p:spPr>
          <ns169:xfrm xmlns:ns169="http://schemas.openxmlformats.org/drawingml/2006/main">
            <ns169:off x="6127200" y="1656000"/>
            <ns169:ext cx="2559600" cy="828000"/>
          </ns169:xfrm>
          <ns170:prstGeom xmlns:ns170="http://schemas.openxmlformats.org/drawingml/2006/main" prst="foldedCorner">
            <ns170:avLst/>
          </ns170:prstGeom>
          <ns171:solidFill xmlns:ns171="http://schemas.openxmlformats.org/drawingml/2006/main">
            <ns171:srgbClr val="FFFFFF"/>
          </ns171:solidFill>
          <ns172:ln xmlns:ns172="http://schemas.openxmlformats.org/drawingml/2006/main" w="9525">
            <ns172:solidFill>
              <ns172:srgbClr val="7363A6"/>
            </ns172:solidFill>
          </ns172:ln>
        </p:spPr>
      </p:sp>
      <p:sp>
        <p:nvSpPr>
          <p:cNvPr id="33" name="output.client.draft.title"/>
          <p:cNvSpPr/>
          <p:nvPr/>
        </p:nvSpPr>
        <p:spPr>
          <ns173:xfrm xmlns:ns173="http://schemas.openxmlformats.org/drawingml/2006/main">
            <ns173:off x="6192000" y="1699200"/>
            <ns173:ext cx="2361600" cy="198000"/>
          </ns173:xfrm>
          <ns174:prstGeom xmlns:ns174="http://schemas.openxmlformats.org/drawingml/2006/main" prst="rect">
            <ns174:avLst/>
          </ns174:prstGeom>
          <ns175:noFill xmlns:ns175="http://schemas.openxmlformats.org/drawingml/2006/main"/>
          <ns176:ln xmlns:ns176="http://schemas.openxmlformats.org/drawingml/2006/main" w="0">
            <ns176:noFill/>
          </ns176:ln>
        </p:spPr>
        <p:txBody>
          <ns177:bodyPr xmlns:ns177="http://schemas.openxmlformats.org/drawingml/2006/main" wrap="square" lIns="0" rIns="0" tIns="0" bIns="0" anchor="t">
            <ns177:noAutofit/>
          </ns177:bodyPr>
          <ns178:lstStyle xmlns:ns178="http://schemas.openxmlformats.org/drawingml/2006/main"/>
          <ns179:p xmlns:ns179="http://schemas.openxmlformats.org/drawingml/2006/main">
            <ns179:pPr algn="l">
              <ns179:lnSpc>
                <ns179:spcPct val="105000"/>
              </ns179:lnSpc>
              <ns179:defRPr sz="1250" b="1">
                <ns179:solidFill>
                  <ns179:srgbClr val="7363A6"/>
                </ns179:solidFill>
                <ns179:latin typeface="Arial"/>
                <ns179:ea typeface="Arial"/>
                <ns179:cs typeface="Arial"/>
              </ns179:defRPr>
            </ns179:pPr>
            <ns179:r>
              <ns179:rPr sz="1250" b="1">
                <ns179:solidFill>
                  <ns179:srgbClr val="7363A6"/>
                </ns179:solidFill>
                <ns179:latin typeface="Arial"/>
                <ns179:ea typeface="Arial"/>
                <ns179:cs typeface="Arial"/>
              </ns179:rPr>
              <ns179:t>Draft client material</ns179:t>
            </ns179:r>
          </ns179:p>
        </p:txBody>
      </p:sp>
      <p:sp>
        <p:nvSpPr>
          <p:cNvPr id="34" name="output.client.draft.content"/>
          <p:cNvSpPr/>
          <p:nvPr/>
        </p:nvSpPr>
        <p:spPr>
          <ns180:xfrm xmlns:ns180="http://schemas.openxmlformats.org/drawingml/2006/main">
            <ns180:off x="6192000" y="1915200"/>
            <ns180:ext cx="2430000" cy="518400"/>
          </ns180:xfrm>
          <ns181:prstGeom xmlns:ns181="http://schemas.openxmlformats.org/drawingml/2006/main" prst="rect">
            <ns181:avLst/>
          </ns181:prstGeom>
          <ns182:noFill xmlns:ns182="http://schemas.openxmlformats.org/drawingml/2006/main"/>
          <ns183:ln xmlns:ns183="http://schemas.openxmlformats.org/drawingml/2006/main" w="0">
            <ns183:noFill/>
          </ns183:ln>
        </p:spPr>
        <p:txBody>
          <ns184:bodyPr xmlns:ns184="http://schemas.openxmlformats.org/drawingml/2006/main" wrap="square" lIns="0" rIns="0" tIns="0" bIns="0" anchor="t">
            <ns184:noAutofit/>
          </ns184:bodyPr>
          <ns185:lstStyle xmlns:ns185="http://schemas.openxmlformats.org/drawingml/2006/main"/>
          <ns186:p xmlns:ns186="http://schemas.openxmlformats.org/drawingml/2006/main">
            <ns186:pPr algn="l">
              <ns186:lnSpc>
                <ns186:spcPct val="100000"/>
              </ns186:lnSpc>
              <ns186:defRPr sz="1200" b="0">
                <ns186:solidFill>
                  <ns186:srgbClr val="20262C"/>
                </ns186:solidFill>
                <ns186:latin typeface="Arial"/>
                <ns186:ea typeface="Arial"/>
                <ns186:cs typeface="Arial"/>
              </ns186:defRPr>
            </ns186:pPr>
            <ns186:r>
              <ns186:rPr sz="1200" b="0">
                <ns186:solidFill>
                  <ns186:srgbClr val="20262C"/>
                </ns186:solidFill>
                <ns186:latin typeface="Arial"/>
                <ns186:ea typeface="Arial"/>
                <ns186:cs typeface="Arial"/>
              </ns186:rPr>
              <ns186:t>Investment view</ns186:t>
            </ns186:r>
          </ns186:p>
          <ns187:p xmlns:ns187="http://schemas.openxmlformats.org/drawingml/2006/main">
            <ns187:pPr algn="l">
              <ns187:lnSpc>
                <ns187:spcPct val="100000"/>
              </ns187:lnSpc>
              <ns187:defRPr sz="1200" b="0">
                <ns187:solidFill>
                  <ns187:srgbClr val="20262C"/>
                </ns187:solidFill>
                <ns187:latin typeface="Arial"/>
                <ns187:ea typeface="Arial"/>
                <ns187:cs typeface="Arial"/>
              </ns187:defRPr>
            </ns187:pPr>
            <ns187:r>
              <ns187:rPr sz="1200" b="0">
                <ns187:solidFill>
                  <ns187:srgbClr val="20262C"/>
                </ns187:solidFill>
                <ns187:latin typeface="Arial"/>
                <ns187:ea typeface="Arial"/>
                <ns187:cs typeface="Arial"/>
              </ns187:rPr>
              <ns187:t>Fund, period and risk</ns187:t>
            </ns187:r>
          </ns187:p>
        </p:txBody>
      </p:sp>
      <p:cxnSp>
        <p:nvCxnSpPr>
          <p:cNvPr id="35" name="author.to.draft"/>
          <p:cNvCxnSpPr/>
          <p:nvPr/>
        </p:nvCxnSpPr>
        <p:spPr>
          <ns188:xfrm xmlns:ns188="http://schemas.openxmlformats.org/drawingml/2006/main">
            <ns188:off x="5850000" y="2277000"/>
            <ns188:ext cx="241200" cy="1"/>
          </ns188:xfrm>
          <ns189:prstGeom xmlns:ns189="http://schemas.openxmlformats.org/drawingml/2006/main" prst="line">
            <ns189:avLst/>
          </ns189:prstGeom>
          <ns190:ln xmlns:ns190="http://schemas.openxmlformats.org/drawingml/2006/main" w="11430">
            <ns190:solidFill>
              <ns190:srgbClr val="005A9C"/>
            </ns190:solidFill>
            <ns190:tailEnd type="triangle" w="sm" len="sm"/>
          </ns190:ln>
        </p:spPr>
      </p:cxnSp>
      <p:sp>
        <p:nvSpPr>
          <p:cNvPr id="36" name="human.middle.reviewer"/>
          <p:cNvSpPr/>
          <p:nvPr/>
        </p:nvSpPr>
        <p:spPr>
          <ns191:xfrm xmlns:ns191="http://schemas.openxmlformats.org/drawingml/2006/main">
            <ns191:off x="6127200" y="2718000"/>
            <ns191:ext cx="2559600" cy="684000"/>
          </ns191:xfrm>
          <ns192:prstGeom xmlns:ns192="http://schemas.openxmlformats.org/drawingml/2006/main" prst="roundRect">
            <ns192:avLst/>
          </ns192:prstGeom>
          <ns193:solidFill xmlns:ns193="http://schemas.openxmlformats.org/drawingml/2006/main">
            <ns193:srgbClr val="F3F7FA"/>
          </ns193:solidFill>
          <ns194:ln xmlns:ns194="http://schemas.openxmlformats.org/drawingml/2006/main" w="9525">
            <ns194:solidFill>
              <ns194:srgbClr val="65727D"/>
            </ns194:solidFill>
          </ns194:ln>
        </p:spPr>
        <p:txBody>
          <ns195:bodyPr xmlns:ns195="http://schemas.openxmlformats.org/drawingml/2006/main" wrap="square" lIns="61200" rIns="61200" tIns="61200" bIns="61200" anchor="ctr">
            <ns195:noAutofit/>
          </ns195:bodyPr>
          <ns196:lstStyle xmlns:ns196="http://schemas.openxmlformats.org/drawingml/2006/main"/>
          <ns197:p xmlns:ns197="http://schemas.openxmlformats.org/drawingml/2006/main">
            <ns197:pPr algn="l">
              <ns197:lnSpc>
                <ns197:spcPct val="105000"/>
              </ns197:lnSpc>
              <ns197:defRPr sz="1300" b="1">
                <ns197:solidFill>
                  <ns197:srgbClr val="65727D"/>
                </ns197:solidFill>
                <ns197:latin typeface="Arial"/>
                <ns197:ea typeface="Arial"/>
                <ns197:cs typeface="Arial"/>
              </ns197:defRPr>
            </ns197:pPr>
            <ns197:r>
              <ns197:rPr sz="1300" b="1">
                <ns197:solidFill>
                  <ns197:srgbClr val="65727D"/>
                </ns197:solidFill>
                <ns197:latin typeface="Arial"/>
                <ns197:ea typeface="Arial"/>
                <ns197:cs typeface="Arial"/>
              </ns197:rPr>
              <ns197:t>Middle-office reviewer</ns197:t>
            </ns197:r>
          </ns197:p>
          <ns198:p xmlns:ns198="http://schemas.openxmlformats.org/drawingml/2006/main">
            <ns198:pPr algn="l">
              <ns198:lnSpc>
                <ns198:spcPct val="105000"/>
              </ns198:lnSpc>
              <ns198:defRPr sz="1150" b="0">
                <ns198:solidFill>
                  <ns198:srgbClr val="20262C"/>
                </ns198:solidFill>
                <ns198:latin typeface="Arial"/>
                <ns198:ea typeface="Arial"/>
                <ns198:cs typeface="Arial"/>
              </ns198:defRPr>
            </ns198:pPr>
            <ns198:r>
              <ns198:rPr sz="1150" b="0">
                <ns198:solidFill>
                  <ns198:srgbClr val="20262C"/>
                </ns198:solidFill>
                <ns198:latin typeface="Arial"/>
                <ns198:ea typeface="Arial"/>
                <ns198:cs typeface="Arial"/>
              </ns198:rPr>
              <ns198:t>Check current sources</ns198:t>
            </ns198:r>
          </ns198:p>
          <ns199:p xmlns:ns199="http://schemas.openxmlformats.org/drawingml/2006/main">
            <ns199:pPr algn="l">
              <ns199:lnSpc>
                <ns199:spcPct val="105000"/>
              </ns199:lnSpc>
              <ns199:defRPr sz="1150" b="0">
                <ns199:solidFill>
                  <ns199:srgbClr val="20262C"/>
                </ns199:solidFill>
                <ns199:latin typeface="Arial"/>
                <ns199:ea typeface="Arial"/>
                <ns199:cs typeface="Arial"/>
              </ns199:defRPr>
            </ns199:pPr>
            <ns199:r>
              <ns199:rPr sz="1150" b="0">
                <ns199:solidFill>
                  <ns199:srgbClr val="20262C"/>
                </ns199:solidFill>
                <ns199:latin typeface="Arial"/>
                <ns199:ea typeface="Arial"/>
                <ns199:cs typeface="Arial"/>
              </ns199:rPr>
              <ns199:t>Explain issues</ns199:t>
            </ns199:r>
          </ns199:p>
        </p:txBody>
      </p:sp>
      <p:cxnSp>
        <p:nvCxnSpPr>
          <p:cNvPr id="37" name="draft.to.review"/>
          <p:cNvCxnSpPr/>
          <p:nvPr/>
        </p:nvCxnSpPr>
        <p:spPr>
          <ns200:xfrm xmlns:ns200="http://schemas.openxmlformats.org/drawingml/2006/main">
            <ns200:off x="7407000" y="2520000"/>
            <ns200:ext cx="1" cy="162000"/>
          </ns200:xfrm>
          <ns201:prstGeom xmlns:ns201="http://schemas.openxmlformats.org/drawingml/2006/main" prst="line">
            <ns201:avLst/>
          </ns201:prstGeom>
          <ns202:ln xmlns:ns202="http://schemas.openxmlformats.org/drawingml/2006/main" w="11430">
            <ns202:solidFill>
              <ns202:srgbClr val="7363A6"/>
            </ns202:solidFill>
            <ns202:tailEnd type="triangle" w="sm" len="sm"/>
          </ns202:ln>
        </p:spPr>
      </p:cxnSp>
      <p:sp>
        <p:nvSpPr>
          <p:cNvPr id="38" name="human.author.revision"/>
          <p:cNvSpPr/>
          <p:nvPr/>
        </p:nvSpPr>
        <p:spPr>
          <ns203:xfrm xmlns:ns203="http://schemas.openxmlformats.org/drawingml/2006/main">
            <ns203:off x="4392000" y="3276000"/>
            <ns203:ext cx="1458000" cy="576000"/>
          </ns203:xfrm>
          <ns204:prstGeom xmlns:ns204="http://schemas.openxmlformats.org/drawingml/2006/main" prst="roundRect">
            <ns204:avLst/>
          </ns204:prstGeom>
          <ns205:solidFill xmlns:ns205="http://schemas.openxmlformats.org/drawingml/2006/main">
            <ns205:srgbClr val="F3F7FA"/>
          </ns205:solidFill>
          <ns206:ln xmlns:ns206="http://schemas.openxmlformats.org/drawingml/2006/main" w="9525">
            <ns206:solidFill>
              <ns206:srgbClr val="65727D"/>
            </ns206:solidFill>
          </ns206:ln>
        </p:spPr>
        <p:txBody>
          <ns207:bodyPr xmlns:ns207="http://schemas.openxmlformats.org/drawingml/2006/main" wrap="square" lIns="61200" rIns="61200" tIns="61200" bIns="61200" anchor="ctr">
            <ns207:noAutofit/>
          </ns207:bodyPr>
          <ns208:lstStyle xmlns:ns208="http://schemas.openxmlformats.org/drawingml/2006/main"/>
          <ns209:p xmlns:ns209="http://schemas.openxmlformats.org/drawingml/2006/main">
            <ns209:pPr algn="l">
              <ns209:lnSpc>
                <ns209:spcPct val="105000"/>
              </ns209:lnSpc>
              <ns209:defRPr sz="1300" b="1">
                <ns209:solidFill>
                  <ns209:srgbClr val="65727D"/>
                </ns209:solidFill>
                <ns209:latin typeface="Arial"/>
                <ns209:ea typeface="Arial"/>
                <ns209:cs typeface="Arial"/>
              </ns209:defRPr>
            </ns209:pPr>
            <ns209:r>
              <ns209:rPr sz="1300" b="1">
                <ns209:solidFill>
                  <ns209:srgbClr val="65727D"/>
                </ns209:solidFill>
                <ns209:latin typeface="Arial"/>
                <ns209:ea typeface="Arial"/>
                <ns209:cs typeface="Arial"/>
              </ns209:rPr>
              <ns209:t>Author revises</ns209:t>
            </ns209:r>
          </ns209:p>
          <ns210:p xmlns:ns210="http://schemas.openxmlformats.org/drawingml/2006/main">
            <ns210:pPr algn="l">
              <ns210:lnSpc>
                <ns210:spcPct val="105000"/>
              </ns210:lnSpc>
              <ns210:defRPr sz="1150" b="0">
                <ns210:solidFill>
                  <ns210:srgbClr val="20262C"/>
                </ns210:solidFill>
                <ns210:latin typeface="Arial"/>
                <ns210:ea typeface="Arial"/>
                <ns210:cs typeface="Arial"/>
              </ns210:defRPr>
            </ns210:pPr>
            <ns210:r>
              <ns210:rPr sz="1150" b="0">
                <ns210:solidFill>
                  <ns210:srgbClr val="20262C"/>
                </ns210:solidFill>
                <ns210:latin typeface="Arial"/>
                <ns210:ea typeface="Arial"/>
                <ns210:cs typeface="Arial"/>
              </ns210:rPr>
              <ns210:t>Address findings</ns210:t>
            </ns210:r>
          </ns210:p>
        </p:txBody>
      </p:sp>
      <p:cxnSp>
        <p:nvCxnSpPr>
          <p:cNvPr id="39" name="review.findings.to.author.0"/>
          <p:cNvCxnSpPr/>
          <p:nvPr/>
        </p:nvCxnSpPr>
        <p:spPr>
          <ns211:xfrm xmlns:ns211="http://schemas.openxmlformats.org/drawingml/2006/main" flipH="1">
            <ns211:off x="5983200" y="3060000"/>
            <ns211:ext cx="108000" cy="1"/>
          </ns211:xfrm>
          <ns212:prstGeom xmlns:ns212="http://schemas.openxmlformats.org/drawingml/2006/main" prst="line">
            <ns212:avLst/>
          </ns212:prstGeom>
          <ns213:ln xmlns:ns213="http://schemas.openxmlformats.org/drawingml/2006/main" w="11430">
            <ns213:solidFill>
              <ns213:srgbClr val="005A9C"/>
            </ns213:solidFill>
          </ns213:ln>
        </p:spPr>
      </p:cxnSp>
      <p:cxnSp>
        <p:nvCxnSpPr>
          <p:cNvPr id="40" name="review.findings.to.author.1"/>
          <p:cNvCxnSpPr/>
          <p:nvPr/>
        </p:nvCxnSpPr>
        <p:spPr>
          <ns214:xfrm xmlns:ns214="http://schemas.openxmlformats.org/drawingml/2006/main">
            <ns214:off x="5983200" y="3060000"/>
            <ns214:ext cx="1" cy="504000"/>
          </ns214:xfrm>
          <ns215:prstGeom xmlns:ns215="http://schemas.openxmlformats.org/drawingml/2006/main" prst="line">
            <ns215:avLst/>
          </ns215:prstGeom>
          <ns216:ln xmlns:ns216="http://schemas.openxmlformats.org/drawingml/2006/main" w="11430">
            <ns216:solidFill>
              <ns216:srgbClr val="005A9C"/>
            </ns216:solidFill>
          </ns216:ln>
        </p:spPr>
      </p:cxnSp>
      <p:cxnSp>
        <p:nvCxnSpPr>
          <p:cNvPr id="41" name="review.findings.to.author.2"/>
          <p:cNvCxnSpPr/>
          <p:nvPr/>
        </p:nvCxnSpPr>
        <p:spPr>
          <ns217:xfrm xmlns:ns217="http://schemas.openxmlformats.org/drawingml/2006/main" flipH="1">
            <ns217:off x="5886000" y="3564000"/>
            <ns217:ext cx="97200" cy="1"/>
          </ns217:xfrm>
          <ns218:prstGeom xmlns:ns218="http://schemas.openxmlformats.org/drawingml/2006/main" prst="line">
            <ns218:avLst/>
          </ns218:prstGeom>
          <ns219:ln xmlns:ns219="http://schemas.openxmlformats.org/drawingml/2006/main" w="11430">
            <ns219:solidFill>
              <ns219:srgbClr val="005A9C"/>
            </ns219:solidFill>
            <ns219:tailEnd type="triangle" w="sm" len="sm"/>
          </ns219:ln>
        </p:spPr>
      </p:cxnSp>
      <p:sp>
        <p:nvSpPr>
          <p:cNvPr id="42" name="output.client.approved.paper"/>
          <p:cNvSpPr/>
          <p:nvPr/>
        </p:nvSpPr>
        <p:spPr>
          <ns220:xfrm xmlns:ns220="http://schemas.openxmlformats.org/drawingml/2006/main">
            <ns220:off x="6127200" y="3834000"/>
            <ns220:ext cx="2559600" cy="684000"/>
          </ns220:xfrm>
          <ns221:prstGeom xmlns:ns221="http://schemas.openxmlformats.org/drawingml/2006/main" prst="foldedCorner">
            <ns221:avLst/>
          </ns221:prstGeom>
          <ns222:solidFill xmlns:ns222="http://schemas.openxmlformats.org/drawingml/2006/main">
            <ns222:srgbClr val="FFFFFF"/>
          </ns222:solidFill>
          <ns223:ln xmlns:ns223="http://schemas.openxmlformats.org/drawingml/2006/main" w="9525">
            <ns223:solidFill>
              <ns223:srgbClr val="7363A6"/>
            </ns223:solidFill>
          </ns223:ln>
        </p:spPr>
      </p:sp>
      <p:sp>
        <p:nvSpPr>
          <p:cNvPr id="43" name="output.client.approved.title"/>
          <p:cNvSpPr/>
          <p:nvPr/>
        </p:nvSpPr>
        <p:spPr>
          <ns224:xfrm xmlns:ns224="http://schemas.openxmlformats.org/drawingml/2006/main">
            <ns224:off x="6192000" y="3877200"/>
            <ns224:ext cx="2361600" cy="198000"/>
          </ns224:xfrm>
          <ns225:prstGeom xmlns:ns225="http://schemas.openxmlformats.org/drawingml/2006/main" prst="rect">
            <ns225:avLst/>
          </ns225:prstGeom>
          <ns226:noFill xmlns:ns226="http://schemas.openxmlformats.org/drawingml/2006/main"/>
          <ns227:ln xmlns:ns227="http://schemas.openxmlformats.org/drawingml/2006/main" w="0">
            <ns227:noFill/>
          </ns227:ln>
        </p:spPr>
        <p:txBody>
          <ns228:bodyPr xmlns:ns228="http://schemas.openxmlformats.org/drawingml/2006/main" wrap="square" lIns="0" rIns="0" tIns="0" bIns="0" anchor="t">
            <ns228:noAutofit/>
          </ns228:bodyPr>
          <ns229:lstStyle xmlns:ns229="http://schemas.openxmlformats.org/drawingml/2006/main"/>
          <ns230:p xmlns:ns230="http://schemas.openxmlformats.org/drawingml/2006/main">
            <ns230:pPr algn="l">
              <ns230:lnSpc>
                <ns230:spcPct val="105000"/>
              </ns230:lnSpc>
              <ns230:defRPr sz="1250" b="1">
                <ns230:solidFill>
                  <ns230:srgbClr val="7363A6"/>
                </ns230:solidFill>
                <ns230:latin typeface="Arial"/>
                <ns230:ea typeface="Arial"/>
                <ns230:cs typeface="Arial"/>
              </ns230:defRPr>
            </ns230:pPr>
            <ns230:r>
              <ns230:rPr sz="1250" b="1">
                <ns230:solidFill>
                  <ns230:srgbClr val="7363A6"/>
                </ns230:solidFill>
                <ns230:latin typeface="Arial"/>
                <ns230:ea typeface="Arial"/>
                <ns230:cs typeface="Arial"/>
              </ns230:rPr>
              <ns230:t>Approved client material</ns230:t>
            </ns230:r>
          </ns230:p>
        </p:txBody>
      </p:sp>
      <p:sp>
        <p:nvSpPr>
          <p:cNvPr id="44" name="output.client.approved.content"/>
          <p:cNvSpPr/>
          <p:nvPr/>
        </p:nvSpPr>
        <p:spPr>
          <ns231:xfrm xmlns:ns231="http://schemas.openxmlformats.org/drawingml/2006/main">
            <ns231:off x="6192000" y="4093200"/>
            <ns231:ext cx="2430000" cy="374400"/>
          </ns231:xfrm>
          <ns232:prstGeom xmlns:ns232="http://schemas.openxmlformats.org/drawingml/2006/main" prst="rect">
            <ns232:avLst/>
          </ns232:prstGeom>
          <ns233:noFill xmlns:ns233="http://schemas.openxmlformats.org/drawingml/2006/main"/>
          <ns234:ln xmlns:ns234="http://schemas.openxmlformats.org/drawingml/2006/main" w="0">
            <ns234:noFill/>
          </ns234:ln>
        </p:spPr>
        <p:txBody>
          <ns235:bodyPr xmlns:ns235="http://schemas.openxmlformats.org/drawingml/2006/main" wrap="square" lIns="0" rIns="0" tIns="0" bIns="0" anchor="t">
            <ns235:noAutofit/>
          </ns235:bodyPr>
          <ns236:lstStyle xmlns:ns236="http://schemas.openxmlformats.org/drawingml/2006/main"/>
          <ns237:p xmlns:ns237="http://schemas.openxmlformats.org/drawingml/2006/main">
            <ns237:pPr algn="l">
              <ns237:lnSpc>
                <ns237:spcPct val="100000"/>
              </ns237:lnSpc>
              <ns237:defRPr sz="1150" b="0">
                <ns237:solidFill>
                  <ns237:srgbClr val="20262C"/>
                </ns237:solidFill>
                <ns237:latin typeface="Arial"/>
                <ns237:ea typeface="Arial"/>
                <ns237:cs typeface="Arial"/>
              </ns237:defRPr>
            </ns237:pPr>
            <ns237:r>
              <ns237:rPr sz="1150" b="0">
                <ns237:solidFill>
                  <ns237:srgbClr val="20262C"/>
                </ns237:solidFill>
                <ns237:latin typeface="Arial"/>
                <ns237:ea typeface="Arial"/>
                <ns237:cs typeface="Arial"/>
              </ns237:rPr>
              <ns237:t>Checked against current sources</ns237:t>
            </ns237:r>
          </ns237:p>
        </p:txBody>
      </p:sp>
      <p:cxnSp>
        <p:nvCxnSpPr>
          <p:cNvPr id="45" name="revision.to.approval.0"/>
          <p:cNvCxnSpPr/>
          <p:nvPr/>
        </p:nvCxnSpPr>
        <p:spPr>
          <ns238:xfrm xmlns:ns238="http://schemas.openxmlformats.org/drawingml/2006/main">
            <ns238:off x="5121000" y="3888000"/>
            <ns238:ext cx="1" cy="288000"/>
          </ns238:xfrm>
          <ns239:prstGeom xmlns:ns239="http://schemas.openxmlformats.org/drawingml/2006/main" prst="line">
            <ns239:avLst/>
          </ns239:prstGeom>
          <ns240:ln xmlns:ns240="http://schemas.openxmlformats.org/drawingml/2006/main" w="11430">
            <ns240:solidFill>
              <ns240:srgbClr val="005A9C"/>
            </ns240:solidFill>
          </ns240:ln>
        </p:spPr>
      </p:cxnSp>
      <p:cxnSp>
        <p:nvCxnSpPr>
          <p:cNvPr id="46" name="revision.to.approval.1"/>
          <p:cNvCxnSpPr/>
          <p:nvPr/>
        </p:nvCxnSpPr>
        <p:spPr>
          <ns241:xfrm xmlns:ns241="http://schemas.openxmlformats.org/drawingml/2006/main">
            <ns241:off x="5121000" y="4176000"/>
            <ns241:ext cx="970200" cy="1"/>
          </ns241:xfrm>
          <ns242:prstGeom xmlns:ns242="http://schemas.openxmlformats.org/drawingml/2006/main" prst="line">
            <ns242:avLst/>
          </ns242:prstGeom>
          <ns243:ln xmlns:ns243="http://schemas.openxmlformats.org/drawingml/2006/main" w="11430">
            <ns243:solidFill>
              <ns243:srgbClr val="005A9C"/>
            </ns243:solidFill>
            <ns243:tailEnd type="triangle" w="sm" len="sm"/>
          </ns243:ln>
        </p:spPr>
      </p:cxnSp>
      <p:sp>
        <p:nvSpPr>
          <p:cNvPr id="47" name="approval.role"/>
          <p:cNvSpPr/>
          <p:nvPr/>
        </p:nvSpPr>
        <p:spPr>
          <ns244:xfrm xmlns:ns244="http://schemas.openxmlformats.org/drawingml/2006/main">
            <ns244:off x="4392000" y="3960000"/>
            <ns244:ext cx="630000" cy="162000"/>
          </ns244:xfrm>
          <ns245:prstGeom xmlns:ns245="http://schemas.openxmlformats.org/drawingml/2006/main" prst="rect">
            <ns245:avLst/>
          </ns245:prstGeom>
          <ns246:noFill xmlns:ns246="http://schemas.openxmlformats.org/drawingml/2006/main"/>
          <ns247:ln xmlns:ns247="http://schemas.openxmlformats.org/drawingml/2006/main" w="0">
            <ns247:noFill/>
          </ns247:ln>
        </p:spPr>
        <p:txBody>
          <ns248:bodyPr xmlns:ns248="http://schemas.openxmlformats.org/drawingml/2006/main" wrap="square" lIns="0" rIns="0" tIns="0" bIns="0" anchor="t">
            <ns248:noAutofit/>
          </ns248:bodyPr>
          <ns249:lstStyle xmlns:ns249="http://schemas.openxmlformats.org/drawingml/2006/main"/>
          <ns250:p xmlns:ns250="http://schemas.openxmlformats.org/drawingml/2006/main">
            <ns250:pPr algn="l">
              <ns250:lnSpc>
                <ns250:spcPct val="105000"/>
              </ns250:lnSpc>
              <ns250:defRPr sz="1050" b="0">
                <ns250:solidFill>
                  <ns250:srgbClr val="65727D"/>
                </ns250:solidFill>
                <ns250:latin typeface="Arial"/>
                <ns250:ea typeface="Arial"/>
                <ns250:cs typeface="Arial"/>
              </ns250:defRPr>
            </ns250:pPr>
            <ns250:r>
              <ns250:rPr sz="1050" b="0">
                <ns250:solidFill>
                  <ns250:srgbClr val="65727D"/>
                </ns250:solidFill>
                <ns250:latin typeface="Arial"/>
                <ns250:ea typeface="Arial"/>
                <ns250:cs typeface="Arial"/>
              </ns250:rPr>
              <ns250:t>Approval</ns250:t>
            </ns250:r>
          </ns250:p>
        </p:txBody>
      </p:sp>
    </p:spTree>
    <p:extLst>
      <p:ext uri="{BB962C8B-B14F-4D97-AF65-F5344CB8AC3E}">
        <p14:creationId xmlns:p14="http://schemas.microsoft.com/office/powerpoint/2010/main" val="13401618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Client Communications: Drafting and Review</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ICBCUBS and Penghua: Drafting and Reviewing Client Materials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ICBCUBS; Penghua / AMAC; Yingmi</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case.icbcubs"/>
          <p:cNvSpPr/>
          <p:nvPr/>
        </p:nvSpPr>
        <p:spPr>
          <ns97:xfrm xmlns:ns97="http://schemas.openxmlformats.org/drawingml/2006/main">
            <ns97:off x="2422800" y="1468800"/>
            <ns97:ext cx="6264000" cy="198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300" b="0">
                <ns103:solidFill>
                  <ns103:srgbClr val="005A9C"/>
                </ns103:solidFill>
                <ns103:latin typeface="Arial"/>
                <ns103:ea typeface="Arial"/>
                <ns103:cs typeface="Arial"/>
              </ns103:defRPr>
            </ns103:pPr>
            <ns103:r>
              <ns103:rPr sz="1300" b="0">
                <ns103:solidFill>
                  <ns103:srgbClr val="005A9C"/>
                </ns103:solidFill>
                <ns103:latin typeface="Arial"/>
                <ns103:ea typeface="Arial"/>
                <ns103:cs typeface="Arial"/>
              </ns103:rPr>
              <ns103:t>ICBCUBS: institutional RFP drafting</ns103:t>
            </ns103:r>
          </ns103:p>
        </p:txBody>
      </p:sp>
      <p:sp>
        <p:nvSpPr>
          <p:cNvPr id="19" name="peer.rfp.source.paper"/>
          <p:cNvSpPr/>
          <p:nvPr/>
        </p:nvSpPr>
        <p:spPr>
          <ns104:xfrm xmlns:ns104="http://schemas.openxmlformats.org/drawingml/2006/main">
            <ns104:off x="2422800" y="1782000"/>
            <ns104:ext cx="1620000" cy="882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65727D"/>
            </ns107:solidFill>
          </ns107:ln>
        </p:spPr>
      </p:sp>
      <p:sp>
        <p:nvSpPr>
          <p:cNvPr id="20" name="peer.rfp.source.title"/>
          <p:cNvSpPr/>
          <p:nvPr/>
        </p:nvSpPr>
        <p:spPr>
          <ns108:xfrm xmlns:ns108="http://schemas.openxmlformats.org/drawingml/2006/main">
            <ns108:off x="2487600" y="1825200"/>
            <ns108:ext cx="1422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65727D"/>
                </ns114:solidFill>
                <ns114:latin typeface="Arial"/>
                <ns114:ea typeface="Arial"/>
                <ns114:cs typeface="Arial"/>
              </ns114:defRPr>
            </ns114:pPr>
            <ns114:r>
              <ns114:rPr sz="1250" b="1">
                <ns114:solidFill>
                  <ns114:srgbClr val="65727D"/>
                </ns114:solidFill>
                <ns114:latin typeface="Arial"/>
                <ns114:ea typeface="Arial"/>
                <ns114:cs typeface="Arial"/>
              </ns114:rPr>
              <ns114:t>Knowledge base</ns114:t>
            </ns114:r>
          </ns114:p>
        </p:txBody>
      </p:sp>
      <p:sp>
        <p:nvSpPr>
          <p:cNvPr id="21" name="peer.rfp.source.content"/>
          <p:cNvSpPr/>
          <p:nvPr/>
        </p:nvSpPr>
        <p:spPr>
          <ns115:xfrm xmlns:ns115="http://schemas.openxmlformats.org/drawingml/2006/main">
            <ns115:off x="2487600" y="2041200"/>
            <ns115:ext cx="1490400" cy="572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150" b="0">
                <ns121:solidFill>
                  <ns121:srgbClr val="20262C"/>
                </ns121:solidFill>
                <ns121:latin typeface="Arial"/>
                <ns121:ea typeface="Arial"/>
                <ns121:cs typeface="Arial"/>
              </ns121:defRPr>
            </ns121:pPr>
            <ns121:r>
              <ns121:rPr sz="1150" b="0">
                <ns121:solidFill>
                  <ns121:srgbClr val="20262C"/>
                </ns121:solidFill>
                <ns121:latin typeface="Arial"/>
                <ns121:ea typeface="Arial"/>
                <ns121:cs typeface="Arial"/>
              </ns121:rPr>
              <ns121:t>Research roles</ns121:t>
            </ns121:r>
          </ns121:p>
          <ns122:p xmlns:ns122="http://schemas.openxmlformats.org/drawingml/2006/main">
            <ns122:pPr algn="l">
              <ns122:lnSpc>
                <ns122:spcPct val="100000"/>
              </ns122:lnSpc>
              <ns122:defRPr sz="1150" b="0">
                <ns122:solidFill>
                  <ns122:srgbClr val="20262C"/>
                </ns122:solidFill>
                <ns122:latin typeface="Arial"/>
                <ns122:ea typeface="Arial"/>
                <ns122:cs typeface="Arial"/>
              </ns122:defRPr>
            </ns122:pPr>
            <ns122:r>
              <ns122:rPr sz="1150" b="0">
                <ns122:solidFill>
                  <ns122:srgbClr val="20262C"/>
                </ns122:solidFill>
                <ns122:latin typeface="Arial"/>
                <ns122:ea typeface="Arial"/>
                <ns122:cs typeface="Arial"/>
              </ns122:rPr>
              <ns122:t>Process description</ns122:t>
            </ns122:r>
          </ns122:p>
        </p:txBody>
      </p:sp>
      <p:sp>
        <p:nvSpPr>
          <p:cNvPr id="22" name="peer.fundgpt"/>
          <p:cNvSpPr/>
          <p:nvPr/>
        </p:nvSpPr>
        <p:spPr>
          <ns123:xfrm xmlns:ns123="http://schemas.openxmlformats.org/drawingml/2006/main">
            <ns123:off x="4392000" y="1782000"/>
            <ns123:ext cx="1458000" cy="882000"/>
          </ns123:xfrm>
          <ns124:prstGeom xmlns:ns124="http://schemas.openxmlformats.org/drawingml/2006/main" prst="roundRect">
            <ns124:avLst/>
          </ns124:prstGeom>
          <ns125:solidFill xmlns:ns125="http://schemas.openxmlformats.org/drawingml/2006/main">
            <ns125:srgbClr val="EAF3FA"/>
          </ns125:solidFill>
          <ns126:ln xmlns:ns126="http://schemas.openxmlformats.org/drawingml/2006/main" w="9525">
            <ns126:solidFill>
              <ns126:srgbClr val="005A9C"/>
            </ns126:solidFill>
          </ns126:ln>
        </p:spPr>
        <p:txBody>
          <ns127:bodyPr xmlns:ns127="http://schemas.openxmlformats.org/drawingml/2006/main" wrap="square" lIns="61200" rIns="61200" tIns="61200" bIns="61200" anchor="ctr">
            <ns127:noAutofit/>
          </ns127:bodyPr>
          <ns128:lstStyle xmlns:ns128="http://schemas.openxmlformats.org/drawingml/2006/main"/>
          <ns129:p xmlns:ns129="http://schemas.openxmlformats.org/drawingml/2006/main">
            <ns129:pPr algn="l">
              <ns129:lnSpc>
                <ns129:spcPct val="105000"/>
              </ns129:lnSpc>
              <ns129:defRPr sz="1300" b="1">
                <ns129:solidFill>
                  <ns129:srgbClr val="005A9C"/>
                </ns129:solidFill>
                <ns129:latin typeface="Arial"/>
                <ns129:ea typeface="Arial"/>
                <ns129:cs typeface="Arial"/>
              </ns129:defRPr>
            </ns129:pPr>
            <ns129:r>
              <ns129:rPr sz="1300" b="1">
                <ns129:solidFill>
                  <ns129:srgbClr val="005A9C"/>
                </ns129:solidFill>
                <ns129:latin typeface="Arial"/>
                <ns129:ea typeface="Arial"/>
                <ns129:cs typeface="Arial"/>
              </ns129:rPr>
              <ns129:t>FundGPT</ns129:t>
            </ns129:r>
          </ns129:p>
          <ns130:p xmlns:ns130="http://schemas.openxmlformats.org/drawingml/2006/main">
            <ns130:pPr algn="l">
              <ns130:lnSpc>
                <ns130:spcPct val="105000"/>
              </ns130:lnSpc>
              <ns130:defRPr sz="1150" b="0">
                <ns130:solidFill>
                  <ns130:srgbClr val="20262C"/>
                </ns130:solidFill>
                <ns130:latin typeface="Arial"/>
                <ns130:ea typeface="Arial"/>
                <ns130:cs typeface="Arial"/>
              </ns130:defRPr>
            </ns130:pPr>
            <ns130:r>
              <ns130:rPr sz="1150" b="0">
                <ns130:solidFill>
                  <ns130:srgbClr val="20262C"/>
                </ns130:solidFill>
                <ns130:latin typeface="Arial"/>
                <ns130:ea typeface="Arial"/>
                <ns130:cs typeface="Arial"/>
              </ns130:rPr>
              <ns130:t>Retrieve sources</ns130:t>
            </ns130:r>
          </ns130:p>
          <ns131:p xmlns:ns131="http://schemas.openxmlformats.org/drawingml/2006/main">
            <ns131:pPr algn="l">
              <ns131:lnSpc>
                <ns131:spcPct val="105000"/>
              </ns131:lnSpc>
              <ns131:defRPr sz="1150" b="0">
                <ns131:solidFill>
                  <ns131:srgbClr val="20262C"/>
                </ns131:solidFill>
                <ns131:latin typeface="Arial"/>
                <ns131:ea typeface="Arial"/>
                <ns131:cs typeface="Arial"/>
              </ns131:defRPr>
            </ns131:pPr>
            <ns131:r>
              <ns131:rPr sz="1150" b="0">
                <ns131:solidFill>
                  <ns131:srgbClr val="20262C"/>
                </ns131:solidFill>
                <ns131:latin typeface="Arial"/>
                <ns131:ea typeface="Arial"/>
                <ns131:cs typeface="Arial"/>
              </ns131:rPr>
              <ns131:t>Draft response</ns131:t>
            </ns131:r>
          </ns131:p>
        </p:txBody>
      </p:sp>
      <p:sp>
        <p:nvSpPr>
          <p:cNvPr id="23" name="peer.rfp.response.paper"/>
          <p:cNvSpPr/>
          <p:nvPr/>
        </p:nvSpPr>
        <p:spPr>
          <ns132:xfrm xmlns:ns132="http://schemas.openxmlformats.org/drawingml/2006/main">
            <ns132:off x="6127200" y="1782000"/>
            <ns132:ext cx="2559600" cy="882000"/>
          </ns132:xfrm>
          <ns133:prstGeom xmlns:ns133="http://schemas.openxmlformats.org/drawingml/2006/main" prst="foldedCorner">
            <ns133:avLst/>
          </ns133:prstGeom>
          <ns134:solidFill xmlns:ns134="http://schemas.openxmlformats.org/drawingml/2006/main">
            <ns134:srgbClr val="FFFFFF"/>
          </ns134:solidFill>
          <ns135:ln xmlns:ns135="http://schemas.openxmlformats.org/drawingml/2006/main" w="9525">
            <ns135:solidFill>
              <ns135:srgbClr val="005A9C"/>
            </ns135:solidFill>
          </ns135:ln>
        </p:spPr>
      </p:sp>
      <p:sp>
        <p:nvSpPr>
          <p:cNvPr id="24" name="peer.rfp.response.title"/>
          <p:cNvSpPr/>
          <p:nvPr/>
        </p:nvSpPr>
        <p:spPr>
          <ns136:xfrm xmlns:ns136="http://schemas.openxmlformats.org/drawingml/2006/main">
            <ns136:off x="6192000" y="1825200"/>
            <ns136:ext cx="2361600" cy="198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1250" b="1">
                <ns142:solidFill>
                  <ns142:srgbClr val="005A9C"/>
                </ns142:solidFill>
                <ns142:latin typeface="Arial"/>
                <ns142:ea typeface="Arial"/>
                <ns142:cs typeface="Arial"/>
              </ns142:defRPr>
            </ns142:pPr>
            <ns142:r>
              <ns142:rPr sz="1250" b="1">
                <ns142:solidFill>
                  <ns142:srgbClr val="005A9C"/>
                </ns142:solidFill>
                <ns142:latin typeface="Arial"/>
                <ns142:ea typeface="Arial"/>
                <ns142:cs typeface="Arial"/>
              </ns142:rPr>
              <ns142:t>RFP response</ns142:t>
            </ns142:r>
          </ns142:p>
        </p:txBody>
      </p:sp>
      <p:sp>
        <p:nvSpPr>
          <p:cNvPr id="25" name="peer.rfp.response.content"/>
          <p:cNvSpPr/>
          <p:nvPr/>
        </p:nvSpPr>
        <p:spPr>
          <ns143:xfrm xmlns:ns143="http://schemas.openxmlformats.org/drawingml/2006/main">
            <ns143:off x="6192000" y="2041200"/>
            <ns143:ext cx="2430000" cy="5724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0000"/>
              </ns149:lnSpc>
              <ns149:defRPr sz="1150" b="0">
                <ns149:solidFill>
                  <ns149:srgbClr val="20262C"/>
                </ns149:solidFill>
                <ns149:latin typeface="Arial"/>
                <ns149:ea typeface="Arial"/>
                <ns149:cs typeface="Arial"/>
              </ns149:defRPr>
            </ns149:pPr>
            <ns149:r>
              <ns149:rPr sz="1150" b="0">
                <ns149:solidFill>
                  <ns149:srgbClr val="20262C"/>
                </ns149:solidFill>
                <ns149:latin typeface="Arial"/>
                <ns149:ea typeface="Arial"/>
                <ns149:cs typeface="Arial"/>
              </ns149:rPr>
              <ns149:t>Relevant responsibilities</ns149:t>
            </ns149:r>
          </ns149:p>
          <ns150:p xmlns:ns150="http://schemas.openxmlformats.org/drawingml/2006/main">
            <ns150:pPr algn="l">
              <ns150:lnSpc>
                <ns150:spcPct val="100000"/>
              </ns150:lnSpc>
              <ns150:defRPr sz="1150" b="0">
                <ns150:solidFill>
                  <ns150:srgbClr val="20262C"/>
                </ns150:solidFill>
                <ns150:latin typeface="Arial"/>
                <ns150:ea typeface="Arial"/>
                <ns150:cs typeface="Arial"/>
              </ns150:defRPr>
            </ns150:pPr>
            <ns150:r>
              <ns150:rPr sz="1150" b="0">
                <ns150:solidFill>
                  <ns150:srgbClr val="20262C"/>
                </ns150:solidFill>
                <ns150:latin typeface="Arial"/>
                <ns150:ea typeface="Arial"/>
                <ns150:cs typeface="Arial"/>
              </ns150:rPr>
              <ns150:t>Source-backed explanation</ns150:t>
            </ns150:r>
          </ns150:p>
          <ns151:p xmlns:ns151="http://schemas.openxmlformats.org/drawingml/2006/main">
            <ns151:pPr algn="l">
              <ns151:lnSpc>
                <ns151:spcPct val="100000"/>
              </ns151:lnSpc>
              <ns151:defRPr sz="1150" b="0">
                <ns151:solidFill>
                  <ns151:srgbClr val="20262C"/>
                </ns151:solidFill>
                <ns151:latin typeface="Arial"/>
                <ns151:ea typeface="Arial"/>
                <ns151:cs typeface="Arial"/>
              </ns151:defRPr>
            </ns151:pPr>
            <ns151:r>
              <ns151:rPr sz="1150" b="0">
                <ns151:solidFill>
                  <ns151:srgbClr val="20262C"/>
                </ns151:solidFill>
                <ns151:latin typeface="Arial"/>
                <ns151:ea typeface="Arial"/>
                <ns151:cs typeface="Arial"/>
              </ns151:rPr>
              <ns151:t>Source reference</ns151:t>
            </ns151:r>
          </ns151:p>
        </p:txBody>
      </p:sp>
      <p:cxnSp>
        <p:nvCxnSpPr>
          <p:cNvPr id="26" name="knowledge.to.fundgpt"/>
          <p:cNvCxnSpPr/>
          <p:nvPr/>
        </p:nvCxnSpPr>
        <p:spPr>
          <ns152:xfrm xmlns:ns152="http://schemas.openxmlformats.org/drawingml/2006/main">
            <ns152:off x="4078800" y="2223000"/>
            <ns152:ext cx="277200" cy="1"/>
          </ns152:xfrm>
          <ns153:prstGeom xmlns:ns153="http://schemas.openxmlformats.org/drawingml/2006/main" prst="line">
            <ns153:avLst/>
          </ns153:prstGeom>
          <ns154:ln xmlns:ns154="http://schemas.openxmlformats.org/drawingml/2006/main" w="11430">
            <ns154:solidFill>
              <ns154:srgbClr val="005A9C"/>
            </ns154:solidFill>
            <ns154:tailEnd type="triangle" w="sm" len="sm"/>
          </ns154:ln>
        </p:spPr>
      </p:cxnSp>
      <p:cxnSp>
        <p:nvCxnSpPr>
          <p:cNvPr id="27" name="fundgpt.to.response"/>
          <p:cNvCxnSpPr/>
          <p:nvPr/>
        </p:nvCxnSpPr>
        <p:spPr>
          <ns155:xfrm xmlns:ns155="http://schemas.openxmlformats.org/drawingml/2006/main">
            <ns155:off x="5886000" y="2223000"/>
            <ns155:ext cx="205200" cy="1"/>
          </ns155:xfrm>
          <ns156:prstGeom xmlns:ns156="http://schemas.openxmlformats.org/drawingml/2006/main" prst="line">
            <ns156:avLst/>
          </ns156:prstGeom>
          <ns157:ln xmlns:ns157="http://schemas.openxmlformats.org/drawingml/2006/main" w="11430">
            <ns157:solidFill>
              <ns157:srgbClr val="005A9C"/>
            </ns157:solidFill>
            <ns157:tailEnd type="triangle" w="sm" len="sm"/>
          </ns157:ln>
        </p:spPr>
      </p:cxnSp>
      <p:sp>
        <p:nvSpPr>
          <p:cNvPr id="28" name="peer.rfp.human"/>
          <p:cNvSpPr/>
          <p:nvPr/>
        </p:nvSpPr>
        <p:spPr>
          <ns158:xfrm xmlns:ns158="http://schemas.openxmlformats.org/drawingml/2006/main">
            <ns158:off x="2422800" y="2754000"/>
            <ns158:ext cx="6264000" cy="162000"/>
          </ns158:xfrm>
          <ns159:prstGeom xmlns:ns159="http://schemas.openxmlformats.org/drawingml/2006/main" prst="rect">
            <ns159:avLst/>
          </ns159:prstGeom>
          <ns160:noFill xmlns:ns160="http://schemas.openxmlformats.org/drawingml/2006/main"/>
          <ns161:ln xmlns:ns161="http://schemas.openxmlformats.org/drawingml/2006/main" w="0">
            <ns161:noFill/>
          </ns161:ln>
        </p:spPr>
        <p:txBody>
          <ns162:bodyPr xmlns:ns162="http://schemas.openxmlformats.org/drawingml/2006/main" wrap="square" lIns="0" rIns="0" tIns="0" bIns="0" anchor="t">
            <ns162:noAutofit/>
          </ns162:bodyPr>
          <ns163:lstStyle xmlns:ns163="http://schemas.openxmlformats.org/drawingml/2006/main"/>
          <ns164:p xmlns:ns164="http://schemas.openxmlformats.org/drawingml/2006/main">
            <ns164:pPr algn="l">
              <ns164:lnSpc>
                <ns164:spcPct val="105000"/>
              </ns164:lnSpc>
              <ns164:defRPr sz="1100" b="0">
                <ns164:solidFill>
                  <ns164:srgbClr val="65727D"/>
                </ns164:solidFill>
                <ns164:latin typeface="Arial"/>
                <ns164:ea typeface="Arial"/>
                <ns164:cs typeface="Arial"/>
              </ns164:defRPr>
            </ns164:pPr>
            <ns164:r>
              <ns164:rPr sz="1100" b="0">
                <ns164:solidFill>
                  <ns164:srgbClr val="65727D"/>
                </ns164:solidFill>
                <ns164:latin typeface="Arial"/>
                <ns164:ea typeface="Arial"/>
                <ns164:cs typeface="Arial"/>
              </ns164:rPr>
              <ns164:t>Business team checks the answer and sources</ns164:t>
            </ns164:r>
          </ns164:p>
        </p:txBody>
      </p:sp>
      <p:sp>
        <p:nvSpPr>
          <p:cNvPr id="29" name="case.penghua"/>
          <p:cNvSpPr/>
          <p:nvPr/>
        </p:nvSpPr>
        <p:spPr>
          <ns165:xfrm xmlns:ns165="http://schemas.openxmlformats.org/drawingml/2006/main">
            <ns165:off x="2422800" y="2988000"/>
            <ns165:ext cx="6264000" cy="198000"/>
          </ns165:xfrm>
          <ns166:prstGeom xmlns:ns166="http://schemas.openxmlformats.org/drawingml/2006/main" prst="rect">
            <ns166:avLst/>
          </ns166:prstGeom>
          <ns167:noFill xmlns:ns167="http://schemas.openxmlformats.org/drawingml/2006/main"/>
          <ns168:ln xmlns:ns168="http://schemas.openxmlformats.org/drawingml/2006/main" w="0">
            <ns168:noFill/>
          </ns168:ln>
        </p:spPr>
        <p:txBody>
          <ns169:bodyPr xmlns:ns169="http://schemas.openxmlformats.org/drawingml/2006/main" wrap="square" lIns="0" rIns="0" tIns="0" bIns="0" anchor="t">
            <ns169:noAutofit/>
          </ns169:bodyPr>
          <ns170:lstStyle xmlns:ns170="http://schemas.openxmlformats.org/drawingml/2006/main"/>
          <ns171:p xmlns:ns171="http://schemas.openxmlformats.org/drawingml/2006/main">
            <ns171:pPr algn="l">
              <ns171:lnSpc>
                <ns171:spcPct val="105000"/>
              </ns171:lnSpc>
              <ns171:defRPr sz="1300" b="0">
                <ns171:solidFill>
                  <ns171:srgbClr val="005A9C"/>
                </ns171:solidFill>
                <ns171:latin typeface="Arial"/>
                <ns171:ea typeface="Arial"/>
                <ns171:cs typeface="Arial"/>
              </ns171:defRPr>
            </ns171:pPr>
            <ns171:r>
              <ns171:rPr sz="1300" b="0">
                <ns171:solidFill>
                  <ns171:srgbClr val="005A9C"/>
                </ns171:solidFill>
                <ns171:latin typeface="Arial"/>
                <ns171:ea typeface="Arial"/>
                <ns171:cs typeface="Arial"/>
              </ns171:rPr>
              <ns171:t>Penghua: marketing-material review</ns171:t>
            </ns171:r>
          </ns171:p>
        </p:txBody>
      </p:sp>
      <p:sp>
        <p:nvSpPr>
          <p:cNvPr id="30" name="peer.review.inputs.paper"/>
          <p:cNvSpPr/>
          <p:nvPr/>
        </p:nvSpPr>
        <p:spPr>
          <ns172:xfrm xmlns:ns172="http://schemas.openxmlformats.org/drawingml/2006/main">
            <ns172:off x="2422800" y="3276000"/>
            <ns172:ext cx="1620000" cy="936000"/>
          </ns172:xfrm>
          <ns173:prstGeom xmlns:ns173="http://schemas.openxmlformats.org/drawingml/2006/main" prst="foldedCorner">
            <ns173:avLst/>
          </ns173:prstGeom>
          <ns174:solidFill xmlns:ns174="http://schemas.openxmlformats.org/drawingml/2006/main">
            <ns174:srgbClr val="FFFFFF"/>
          </ns174:solidFill>
          <ns175:ln xmlns:ns175="http://schemas.openxmlformats.org/drawingml/2006/main" w="9525">
            <ns175:solidFill>
              <ns175:srgbClr val="65727D"/>
            </ns175:solidFill>
          </ns175:ln>
        </p:spPr>
      </p:sp>
      <p:sp>
        <p:nvSpPr>
          <p:cNvPr id="31" name="peer.review.inputs.title"/>
          <p:cNvSpPr/>
          <p:nvPr/>
        </p:nvSpPr>
        <p:spPr>
          <ns176:xfrm xmlns:ns176="http://schemas.openxmlformats.org/drawingml/2006/main">
            <ns176:off x="2487600" y="3319200"/>
            <ns176:ext cx="1422000" cy="198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250" b="1">
                <ns182:solidFill>
                  <ns182:srgbClr val="65727D"/>
                </ns182:solidFill>
                <ns182:latin typeface="Arial"/>
                <ns182:ea typeface="Arial"/>
                <ns182:cs typeface="Arial"/>
              </ns182:defRPr>
            </ns182:pPr>
            <ns182:r>
              <ns182:rPr sz="1250" b="1">
                <ns182:solidFill>
                  <ns182:srgbClr val="65727D"/>
                </ns182:solidFill>
                <ns182:latin typeface="Arial"/>
                <ns182:ea typeface="Arial"/>
                <ns182:cs typeface="Arial"/>
              </ns182:rPr>
              <ns182:t>Draft and rules</ns182:t>
            </ns182:r>
          </ns182:p>
        </p:txBody>
      </p:sp>
      <p:sp>
        <p:nvSpPr>
          <p:cNvPr id="32" name="peer.review.inputs.content"/>
          <p:cNvSpPr/>
          <p:nvPr/>
        </p:nvSpPr>
        <p:spPr>
          <ns183:xfrm xmlns:ns183="http://schemas.openxmlformats.org/drawingml/2006/main">
            <ns183:off x="2487600" y="3535200"/>
            <ns183:ext cx="1490400" cy="626400"/>
          </ns183:xfrm>
          <ns184:prstGeom xmlns:ns184="http://schemas.openxmlformats.org/drawingml/2006/main" prst="rect">
            <ns184:avLst/>
          </ns184:prstGeom>
          <ns185:noFill xmlns:ns185="http://schemas.openxmlformats.org/drawingml/2006/main"/>
          <ns186:ln xmlns:ns186="http://schemas.openxmlformats.org/drawingml/2006/main" w="0">
            <ns186:noFill/>
          </ns186:ln>
        </p:spPr>
        <p:txBody>
          <ns187:bodyPr xmlns:ns187="http://schemas.openxmlformats.org/drawingml/2006/main" wrap="square" lIns="0" rIns="0" tIns="0" bIns="0" anchor="t">
            <ns187:noAutofit/>
          </ns187:bodyPr>
          <ns188:lstStyle xmlns:ns188="http://schemas.openxmlformats.org/drawingml/2006/main"/>
          <ns189:p xmlns:ns189="http://schemas.openxmlformats.org/drawingml/2006/main">
            <ns189:pPr algn="l">
              <ns189:lnSpc>
                <ns189:spcPct val="100000"/>
              </ns189:lnSpc>
              <ns189:defRPr sz="1150" b="0">
                <ns189:solidFill>
                  <ns189:srgbClr val="20262C"/>
                </ns189:solidFill>
                <ns189:latin typeface="Arial"/>
                <ns189:ea typeface="Arial"/>
                <ns189:cs typeface="Arial"/>
              </ns189:defRPr>
            </ns189:pPr>
            <ns189:r>
              <ns189:rPr sz="1150" b="0">
                <ns189:solidFill>
                  <ns189:srgbClr val="20262C"/>
                </ns189:solidFill>
                <ns189:latin typeface="Arial"/>
                <ns189:ea typeface="Arial"/>
                <ns189:cs typeface="Arial"/>
              </ns189:rPr>
              <ns189:t>Marketing material</ns189:t>
            </ns189:r>
          </ns189:p>
          <ns190:p xmlns:ns190="http://schemas.openxmlformats.org/drawingml/2006/main">
            <ns190:pPr algn="l">
              <ns190:lnSpc>
                <ns190:spcPct val="100000"/>
              </ns190:lnSpc>
              <ns190:defRPr sz="1150" b="0">
                <ns190:solidFill>
                  <ns190:srgbClr val="20262C"/>
                </ns190:solidFill>
                <ns190:latin typeface="Arial"/>
                <ns190:ea typeface="Arial"/>
                <ns190:cs typeface="Arial"/>
              </ns190:defRPr>
            </ns190:pPr>
            <ns190:r>
              <ns190:rPr sz="1150" b="0">
                <ns190:solidFill>
                  <ns190:srgbClr val="20262C"/>
                </ns190:solidFill>
                <ns190:latin typeface="Arial"/>
                <ns190:ea typeface="Arial"/>
                <ns190:cs typeface="Arial"/>
              </ns190:rPr>
              <ns190:t>Review requirements</ns190:t>
            </ns190:r>
          </ns190:p>
        </p:txBody>
      </p:sp>
      <p:sp>
        <p:nvSpPr>
          <p:cNvPr id="33" name="peer.penghua.llm"/>
          <p:cNvSpPr/>
          <p:nvPr/>
        </p:nvSpPr>
        <p:spPr>
          <ns191:xfrm xmlns:ns191="http://schemas.openxmlformats.org/drawingml/2006/main">
            <ns191:off x="4392000" y="3276000"/>
            <ns191:ext cx="1458000" cy="936000"/>
          </ns191:xfrm>
          <ns192:prstGeom xmlns:ns192="http://schemas.openxmlformats.org/drawingml/2006/main" prst="roundRect">
            <ns192:avLst/>
          </ns192:prstGeom>
          <ns193:solidFill xmlns:ns193="http://schemas.openxmlformats.org/drawingml/2006/main">
            <ns193:srgbClr val="EAF3FA"/>
          </ns193:solidFill>
          <ns194:ln xmlns:ns194="http://schemas.openxmlformats.org/drawingml/2006/main" w="9525">
            <ns194:solidFill>
              <ns194:srgbClr val="005A9C"/>
            </ns194:solidFill>
          </ns194:ln>
        </p:spPr>
        <p:txBody>
          <ns195:bodyPr xmlns:ns195="http://schemas.openxmlformats.org/drawingml/2006/main" wrap="square" lIns="61200" rIns="61200" tIns="61200" bIns="61200" anchor="ctr">
            <ns195:noAutofit/>
          </ns195:bodyPr>
          <ns196:lstStyle xmlns:ns196="http://schemas.openxmlformats.org/drawingml/2006/main"/>
          <ns197:p xmlns:ns197="http://schemas.openxmlformats.org/drawingml/2006/main">
            <ns197:pPr algn="l">
              <ns197:lnSpc>
                <ns197:spcPct val="105000"/>
              </ns197:lnSpc>
              <ns197:defRPr sz="1300" b="1">
                <ns197:solidFill>
                  <ns197:srgbClr val="005A9C"/>
                </ns197:solidFill>
                <ns197:latin typeface="Arial"/>
                <ns197:ea typeface="Arial"/>
                <ns197:cs typeface="Arial"/>
              </ns197:defRPr>
            </ns197:pPr>
            <ns197:r>
              <ns197:rPr sz="1300" b="1">
                <ns197:solidFill>
                  <ns197:srgbClr val="005A9C"/>
                </ns197:solidFill>
                <ns197:latin typeface="Arial"/>
                <ns197:ea typeface="Arial"/>
                <ns197:cs typeface="Arial"/>
              </ns197:rPr>
              <ns197:t>LLM reviews</ns197:t>
            </ns197:r>
          </ns197:p>
          <ns198:p xmlns:ns198="http://schemas.openxmlformats.org/drawingml/2006/main">
            <ns198:pPr algn="l">
              <ns198:lnSpc>
                <ns198:spcPct val="105000"/>
              </ns198:lnSpc>
              <ns198:defRPr sz="1150" b="0">
                <ns198:solidFill>
                  <ns198:srgbClr val="20262C"/>
                </ns198:solidFill>
                <ns198:latin typeface="Arial"/>
                <ns198:ea typeface="Arial"/>
                <ns198:cs typeface="Arial"/>
              </ns198:defRPr>
            </ns198:pPr>
            <ns198:r>
              <ns198:rPr sz="1150" b="0">
                <ns198:solidFill>
                  <ns198:srgbClr val="20262C"/>
                </ns198:solidFill>
                <ns198:latin typeface="Arial"/>
                <ns198:ea typeface="Arial"/>
                <ns198:cs typeface="Arial"/>
              </ns198:rPr>
              <ns198:t>Explain findings</ns198:t>
            </ns198:r>
          </ns198:p>
          <ns199:p xmlns:ns199="http://schemas.openxmlformats.org/drawingml/2006/main">
            <ns199:pPr algn="l">
              <ns199:lnSpc>
                <ns199:spcPct val="105000"/>
              </ns199:lnSpc>
              <ns199:defRPr sz="1150" b="0">
                <ns199:solidFill>
                  <ns199:srgbClr val="20262C"/>
                </ns199:solidFill>
                <ns199:latin typeface="Arial"/>
                <ns199:ea typeface="Arial"/>
                <ns199:cs typeface="Arial"/>
              </ns199:defRPr>
            </ns199:pPr>
            <ns199:r>
              <ns199:rPr sz="1150" b="0">
                <ns199:solidFill>
                  <ns199:srgbClr val="20262C"/>
                </ns199:solidFill>
                <ns199:latin typeface="Arial"/>
                <ns199:ea typeface="Arial"/>
                <ns199:cs typeface="Arial"/>
              </ns199:rPr>
              <ns199:t>Suggest edits</ns199:t>
            </ns199:r>
          </ns199:p>
        </p:txBody>
      </p:sp>
      <p:sp>
        <p:nvSpPr>
          <p:cNvPr id="34" name="peer.review.output.paper"/>
          <p:cNvSpPr/>
          <p:nvPr/>
        </p:nvSpPr>
        <p:spPr>
          <ns200:xfrm xmlns:ns200="http://schemas.openxmlformats.org/drawingml/2006/main">
            <ns200:off x="6127200" y="3276000"/>
            <ns200:ext cx="2559600" cy="936000"/>
          </ns200:xfrm>
          <ns201:prstGeom xmlns:ns201="http://schemas.openxmlformats.org/drawingml/2006/main" prst="foldedCorner">
            <ns201:avLst/>
          </ns201:prstGeom>
          <ns202:solidFill xmlns:ns202="http://schemas.openxmlformats.org/drawingml/2006/main">
            <ns202:srgbClr val="FFFFFF"/>
          </ns202:solidFill>
          <ns203:ln xmlns:ns203="http://schemas.openxmlformats.org/drawingml/2006/main" w="9525">
            <ns203:solidFill>
              <ns203:srgbClr val="65727D"/>
            </ns203:solidFill>
          </ns203:ln>
        </p:spPr>
      </p:sp>
      <p:sp>
        <p:nvSpPr>
          <p:cNvPr id="35" name="peer.review.output.title"/>
          <p:cNvSpPr/>
          <p:nvPr/>
        </p:nvSpPr>
        <p:spPr>
          <ns204:xfrm xmlns:ns204="http://schemas.openxmlformats.org/drawingml/2006/main">
            <ns204:off x="6192000" y="3319200"/>
            <ns204:ext cx="2361600" cy="198000"/>
          </ns204:xfrm>
          <ns205:prstGeom xmlns:ns205="http://schemas.openxmlformats.org/drawingml/2006/main" prst="rect">
            <ns205:avLst/>
          </ns205:prstGeom>
          <ns206:noFill xmlns:ns206="http://schemas.openxmlformats.org/drawingml/2006/main"/>
          <ns207:ln xmlns:ns207="http://schemas.openxmlformats.org/drawingml/2006/main" w="0">
            <ns207:noFill/>
          </ns207:ln>
        </p:spPr>
        <p:txBody>
          <ns208:bodyPr xmlns:ns208="http://schemas.openxmlformats.org/drawingml/2006/main" wrap="square" lIns="0" rIns="0" tIns="0" bIns="0" anchor="t">
            <ns208:noAutofit/>
          </ns208:bodyPr>
          <ns209:lstStyle xmlns:ns209="http://schemas.openxmlformats.org/drawingml/2006/main"/>
          <ns210:p xmlns:ns210="http://schemas.openxmlformats.org/drawingml/2006/main">
            <ns210:pPr algn="l">
              <ns210:lnSpc>
                <ns210:spcPct val="105000"/>
              </ns210:lnSpc>
              <ns210:defRPr sz="1250" b="1">
                <ns210:solidFill>
                  <ns210:srgbClr val="65727D"/>
                </ns210:solidFill>
                <ns210:latin typeface="Arial"/>
                <ns210:ea typeface="Arial"/>
                <ns210:cs typeface="Arial"/>
              </ns210:defRPr>
            </ns210:pPr>
            <ns210:r>
              <ns210:rPr sz="1250" b="1">
                <ns210:solidFill>
                  <ns210:srgbClr val="65727D"/>
                </ns210:solidFill>
                <ns210:latin typeface="Arial"/>
                <ns210:ea typeface="Arial"/>
                <ns210:cs typeface="Arial"/>
              </ns210:rPr>
              <ns210:t>Suggested revisions</ns210:t>
            </ns210:r>
          </ns210:p>
        </p:txBody>
      </p:sp>
      <p:sp>
        <p:nvSpPr>
          <p:cNvPr id="36" name="peer.review.output.content"/>
          <p:cNvSpPr/>
          <p:nvPr/>
        </p:nvSpPr>
        <p:spPr>
          <ns211:xfrm xmlns:ns211="http://schemas.openxmlformats.org/drawingml/2006/main">
            <ns211:off x="6192000" y="3535200"/>
            <ns211:ext cx="2430000" cy="626400"/>
          </ns211:xfrm>
          <ns212:prstGeom xmlns:ns212="http://schemas.openxmlformats.org/drawingml/2006/main" prst="rect">
            <ns212:avLst/>
          </ns212:prstGeom>
          <ns213:noFill xmlns:ns213="http://schemas.openxmlformats.org/drawingml/2006/main"/>
          <ns214:ln xmlns:ns214="http://schemas.openxmlformats.org/drawingml/2006/main" w="0">
            <ns214:noFill/>
          </ns214:ln>
        </p:spPr>
        <p:txBody>
          <ns215:bodyPr xmlns:ns215="http://schemas.openxmlformats.org/drawingml/2006/main" wrap="square" lIns="0" rIns="0" tIns="0" bIns="0" anchor="t">
            <ns215:noAutofit/>
          </ns215:bodyPr>
          <ns216:lstStyle xmlns:ns216="http://schemas.openxmlformats.org/drawingml/2006/main"/>
          <ns217:p xmlns:ns217="http://schemas.openxmlformats.org/drawingml/2006/main">
            <ns217:pPr algn="l">
              <ns217:lnSpc>
                <ns217:spcPct val="100000"/>
              </ns217:lnSpc>
              <ns217:defRPr sz="1150" b="0">
                <ns217:solidFill>
                  <ns217:srgbClr val="20262C"/>
                </ns217:solidFill>
                <ns217:latin typeface="Arial"/>
                <ns217:ea typeface="Arial"/>
                <ns217:cs typeface="Arial"/>
              </ns217:defRPr>
            </ns217:pPr>
            <ns217:r>
              <ns217:rPr sz="1150" b="0">
                <ns217:solidFill>
                  <ns217:srgbClr val="20262C"/>
                </ns217:solidFill>
                <ns217:latin typeface="Arial"/>
                <ns217:ea typeface="Arial"/>
                <ns217:cs typeface="Arial"/>
              </ns217:rPr>
              <ns217:t>Fund information</ns217:t>
            </ns217:r>
          </ns217:p>
          <ns218:p xmlns:ns218="http://schemas.openxmlformats.org/drawingml/2006/main">
            <ns218:pPr algn="l">
              <ns218:lnSpc>
                <ns218:spcPct val="100000"/>
              </ns218:lnSpc>
              <ns218:defRPr sz="1150" b="0">
                <ns218:solidFill>
                  <ns218:srgbClr val="20262C"/>
                </ns218:solidFill>
                <ns218:latin typeface="Arial"/>
                <ns218:ea typeface="Arial"/>
                <ns218:cs typeface="Arial"/>
              </ns218:defRPr>
            </ns218:pPr>
            <ns218:r>
              <ns218:rPr sz="1150" b="0">
                <ns218:solidFill>
                  <ns218:srgbClr val="20262C"/>
                </ns218:solidFill>
                <ns218:latin typeface="Arial"/>
                <ns218:ea typeface="Arial"/>
                <ns218:cs typeface="Arial"/>
              </ns218:rPr>
              <ns218:t>Risk wording</ns218:t>
            </ns218:r>
          </ns218:p>
          <ns219:p xmlns:ns219="http://schemas.openxmlformats.org/drawingml/2006/main">
            <ns219:pPr algn="l">
              <ns219:lnSpc>
                <ns219:spcPct val="100000"/>
              </ns219:lnSpc>
              <ns219:defRPr sz="1150" b="0">
                <ns219:solidFill>
                  <ns219:srgbClr val="20262C"/>
                </ns219:solidFill>
                <ns219:latin typeface="Arial"/>
                <ns219:ea typeface="Arial"/>
                <ns219:cs typeface="Arial"/>
              </ns219:defRPr>
            </ns219:pPr>
            <ns219:r>
              <ns219:rPr sz="1150" b="0">
                <ns219:solidFill>
                  <ns219:srgbClr val="20262C"/>
                </ns219:solidFill>
                <ns219:latin typeface="Arial"/>
                <ns219:ea typeface="Arial"/>
                <ns219:cs typeface="Arial"/>
              </ns219:rPr>
              <ns219:t>Review rationale</ns219:t>
            </ns219:r>
          </ns219:p>
        </p:txBody>
      </p:sp>
      <p:cxnSp>
        <p:nvCxnSpPr>
          <p:cNvPr id="37" name="rules.to.review"/>
          <p:cNvCxnSpPr/>
          <p:nvPr/>
        </p:nvCxnSpPr>
        <p:spPr>
          <ns220:xfrm xmlns:ns220="http://schemas.openxmlformats.org/drawingml/2006/main">
            <ns220:off x="4078800" y="3744000"/>
            <ns220:ext cx="277200" cy="1"/>
          </ns220:xfrm>
          <ns221:prstGeom xmlns:ns221="http://schemas.openxmlformats.org/drawingml/2006/main" prst="line">
            <ns221:avLst/>
          </ns221:prstGeom>
          <ns222:ln xmlns:ns222="http://schemas.openxmlformats.org/drawingml/2006/main" w="11430">
            <ns222:solidFill>
              <ns222:srgbClr val="005A9C"/>
            </ns222:solidFill>
            <ns222:tailEnd type="triangle" w="sm" len="sm"/>
          </ns222:ln>
        </p:spPr>
      </p:cxnSp>
      <p:cxnSp>
        <p:nvCxnSpPr>
          <p:cNvPr id="38" name="review.to.revisions"/>
          <p:cNvCxnSpPr/>
          <p:nvPr/>
        </p:nvCxnSpPr>
        <p:spPr>
          <ns223:xfrm xmlns:ns223="http://schemas.openxmlformats.org/drawingml/2006/main">
            <ns223:off x="5886000" y="3744000"/>
            <ns223:ext cx="205200" cy="1"/>
          </ns223:xfrm>
          <ns224:prstGeom xmlns:ns224="http://schemas.openxmlformats.org/drawingml/2006/main" prst="line">
            <ns224:avLst/>
          </ns224:prstGeom>
          <ns225:ln xmlns:ns225="http://schemas.openxmlformats.org/drawingml/2006/main" w="11430">
            <ns225:solidFill>
              <ns225:srgbClr val="005A9C"/>
            </ns225:solidFill>
            <ns225:tailEnd type="triangle" w="sm" len="sm"/>
          </ns225:ln>
        </p:spPr>
      </p:cxnSp>
      <p:sp>
        <p:nvSpPr>
          <p:cNvPr id="39" name="peer.review.human"/>
          <p:cNvSpPr/>
          <p:nvPr/>
        </p:nvSpPr>
        <p:spPr>
          <ns226:xfrm xmlns:ns226="http://schemas.openxmlformats.org/drawingml/2006/main">
            <ns226:off x="2422800" y="4320000"/>
            <ns226:ext cx="6264000" cy="162000"/>
          </ns226:xfrm>
          <ns227:prstGeom xmlns:ns227="http://schemas.openxmlformats.org/drawingml/2006/main" prst="rect">
            <ns227:avLst/>
          </ns227:prstGeom>
          <ns228:noFill xmlns:ns228="http://schemas.openxmlformats.org/drawingml/2006/main"/>
          <ns229:ln xmlns:ns229="http://schemas.openxmlformats.org/drawingml/2006/main" w="0">
            <ns229:noFill/>
          </ns229:ln>
        </p:spPr>
        <p:txBody>
          <ns230:bodyPr xmlns:ns230="http://schemas.openxmlformats.org/drawingml/2006/main" wrap="square" lIns="0" rIns="0" tIns="0" bIns="0" anchor="t">
            <ns230:noAutofit/>
          </ns230:bodyPr>
          <ns231:lstStyle xmlns:ns231="http://schemas.openxmlformats.org/drawingml/2006/main"/>
          <ns232:p xmlns:ns232="http://schemas.openxmlformats.org/drawingml/2006/main">
            <ns232:pPr algn="l">
              <ns232:lnSpc>
                <ns232:spcPct val="105000"/>
              </ns232:lnSpc>
              <ns232:defRPr sz="1100" b="0">
                <ns232:solidFill>
                  <ns232:srgbClr val="65727D"/>
                </ns232:solidFill>
                <ns232:latin typeface="Arial"/>
                <ns232:ea typeface="Arial"/>
                <ns232:cs typeface="Arial"/>
              </ns232:defRPr>
            </ns232:pPr>
            <ns232:r>
              <ns232:rPr sz="1100" b="0">
                <ns232:solidFill>
                  <ns232:srgbClr val="65727D"/>
                </ns232:solidFill>
                <ns232:latin typeface="Arial"/>
                <ns232:ea typeface="Arial"/>
                <ns232:cs typeface="Arial"/>
              </ns232:rPr>
              <ns232:t>Author revises and reviewer checks</ns232:t>
            </ns232:r>
          </ns232:p>
        </p:txBody>
      </p:sp>
    </p:spTree>
    <p:extLst>
      <p:ext uri="{BB962C8B-B14F-4D97-AF65-F5344CB8AC3E}">
        <p14:creationId xmlns:p14="http://schemas.microsoft.com/office/powerpoint/2010/main" val="12856268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Client Communications: Drafting and Review</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 Drafting and Reviewing Client Updates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Tianhong; Penghua / AMAC; Yingmi</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input.supplied.sources"/>
          <p:cNvSpPr/>
          <p:nvPr/>
        </p:nvSpPr>
        <p:spPr>
          <ns97:xfrm xmlns:ns97="http://schemas.openxmlformats.org/drawingml/2006/main">
            <ns97:off x="2422800" y="1504800"/>
            <ns97:ext cx="1476000" cy="486000"/>
          </ns97:xfrm>
          <ns98:prstGeom xmlns:ns98="http://schemas.openxmlformats.org/drawingml/2006/main" prst="rect">
            <ns98:avLst/>
          </ns98:prstGeom>
          <ns99:solidFill xmlns:ns99="http://schemas.openxmlformats.org/drawingml/2006/main">
            <ns99:srgbClr val="F7F4FB"/>
          </ns99:solidFill>
          <ns100:ln xmlns:ns100="http://schemas.openxmlformats.org/drawingml/2006/main" w="9525">
            <ns100:solidFill>
              <ns100:srgbClr val="7363A6"/>
            </ns100:solidFill>
          </ns100:ln>
        </p:spPr>
        <p:txBody>
          <ns101:bodyPr xmlns:ns101="http://schemas.openxmlformats.org/drawingml/2006/main" wrap="square" lIns="61200" rIns="61200" tIns="61200" bIns="61200" anchor="ctr">
            <ns101:noAutofit/>
          </ns101:bodyPr>
          <ns102:lstStyle xmlns:ns102="http://schemas.openxmlformats.org/drawingml/2006/main"/>
          <ns103:p xmlns:ns103="http://schemas.openxmlformats.org/drawingml/2006/main">
            <ns103:pPr algn="l">
              <ns103:lnSpc>
                <ns103:spcPct val="105000"/>
              </ns103:lnSpc>
              <ns103:defRPr sz="1300" b="1">
                <ns103:solidFill>
                  <ns103:srgbClr val="7363A6"/>
                </ns103:solidFill>
                <ns103:latin typeface="Arial"/>
                <ns103:ea typeface="Arial"/>
                <ns103:cs typeface="Arial"/>
              </ns103:defRPr>
            </ns103:pPr>
            <ns103:r>
              <ns103:rPr sz="1300" b="1">
                <ns103:solidFill>
                  <ns103:srgbClr val="7363A6"/>
                </ns103:solidFill>
                <ns103:latin typeface="Arial"/>
                <ns103:ea typeface="Arial"/>
                <ns103:cs typeface="Arial"/>
              </ns103:rPr>
              <ns103:t>Sources</ns103:t>
            </ns103:r>
          </ns103:p>
          <ns104:p xmlns:ns104="http://schemas.openxmlformats.org/drawingml/2006/main">
            <ns104:pPr algn="l">
              <ns104:lnSpc>
                <ns104:spcPct val="105000"/>
              </ns104:lnSpc>
              <ns104:defRPr sz="1050" b="0">
                <ns104:solidFill>
                  <ns104:srgbClr val="20262C"/>
                </ns104:solidFill>
                <ns104:latin typeface="Arial"/>
                <ns104:ea typeface="Arial"/>
                <ns104:cs typeface="Arial"/>
              </ns104:defRPr>
            </ns104:pPr>
            <ns104:r>
              <ns104:rPr sz="1050" b="0">
                <ns104:solidFill>
                  <ns104:srgbClr val="20262C"/>
                </ns104:solidFill>
                <ns104:latin typeface="Arial"/>
                <ns104:ea typeface="Arial"/>
                <ns104:cs typeface="Arial"/>
              </ns104:rPr>
              <ns104:t>Client / PM input</ns104:t>
            </ns104:r>
          </ns104:p>
        </p:txBody>
      </p:sp>
      <p:sp>
        <p:nvSpPr>
          <p:cNvPr id="19" name="role.llm.drafts"/>
          <p:cNvSpPr/>
          <p:nvPr/>
        </p:nvSpPr>
        <p:spPr>
          <ns105:xfrm xmlns:ns105="http://schemas.openxmlformats.org/drawingml/2006/main">
            <ns105:off x="4114800" y="1504800"/>
            <ns105:ext cx="1368000" cy="486000"/>
          </ns105:xfrm>
          <ns106:prstGeom xmlns:ns106="http://schemas.openxmlformats.org/drawingml/2006/main" prst="roundRect">
            <ns106:avLst/>
          </ns106:prstGeom>
          <ns107:solidFill xmlns:ns107="http://schemas.openxmlformats.org/drawingml/2006/main">
            <ns107:srgbClr val="EAF3FA"/>
          </ns107:solidFill>
          <ns108:ln xmlns:ns108="http://schemas.openxmlformats.org/drawingml/2006/main" w="9525">
            <ns108:solidFill>
              <ns108:srgbClr val="005A9C"/>
            </ns108:solidFill>
          </ns108:ln>
        </p:spPr>
        <p:txBody>
          <ns109:bodyPr xmlns:ns109="http://schemas.openxmlformats.org/drawingml/2006/main" wrap="square" lIns="61200" rIns="61200" tIns="61200" bIns="61200" anchor="ctr">
            <ns109:noAutofit/>
          </ns109:bodyPr>
          <ns110:lstStyle xmlns:ns110="http://schemas.openxmlformats.org/drawingml/2006/main"/>
          <ns111:p xmlns:ns111="http://schemas.openxmlformats.org/drawingml/2006/main">
            <ns111:pPr algn="l">
              <ns111:lnSpc>
                <ns111:spcPct val="105000"/>
              </ns111:lnSpc>
              <ns111:defRPr sz="1300" b="1">
                <ns111:solidFill>
                  <ns111:srgbClr val="005A9C"/>
                </ns111:solidFill>
                <ns111:latin typeface="Arial"/>
                <ns111:ea typeface="Arial"/>
                <ns111:cs typeface="Arial"/>
              </ns111:defRPr>
            </ns111:pPr>
            <ns111:r>
              <ns111:rPr sz="1300" b="1">
                <ns111:solidFill>
                  <ns111:srgbClr val="005A9C"/>
                </ns111:solidFill>
                <ns111:latin typeface="Arial"/>
                <ns111:ea typeface="Arial"/>
                <ns111:cs typeface="Arial"/>
              </ns111:rPr>
              <ns111:t>LLM drafts</ns111:t>
            </ns111:r>
          </ns111:p>
        </p:txBody>
      </p:sp>
      <p:cxnSp>
        <p:nvCxnSpPr>
          <p:cNvPr id="20" name="sources.to.llm.draft"/>
          <p:cNvCxnSpPr/>
          <p:nvPr/>
        </p:nvCxnSpPr>
        <p:spPr>
          <ns112:xfrm xmlns:ns112="http://schemas.openxmlformats.org/drawingml/2006/main">
            <ns112:off x="3934800" y="1747800"/>
            <ns112:ext cx="144000" cy="1"/>
          </ns112:xfrm>
          <ns113:prstGeom xmlns:ns113="http://schemas.openxmlformats.org/drawingml/2006/main" prst="line">
            <ns113:avLst/>
          </ns113:prstGeom>
          <ns114:ln xmlns:ns114="http://schemas.openxmlformats.org/drawingml/2006/main" w="11430">
            <ns114:solidFill>
              <ns114:srgbClr val="7363A6"/>
            </ns114:solidFill>
            <ns114:tailEnd type="triangle" w="sm" len="sm"/>
          </ns114:ln>
        </p:spPr>
      </p:cxnSp>
      <p:sp>
        <p:nvSpPr>
          <p:cNvPr id="21" name="input.current.review.sources.paper"/>
          <p:cNvSpPr/>
          <p:nvPr/>
        </p:nvSpPr>
        <p:spPr>
          <ns115:xfrm xmlns:ns115="http://schemas.openxmlformats.org/drawingml/2006/main">
            <ns115:off x="6127200" y="1504800"/>
            <ns115:ext cx="2559600" cy="486000"/>
          </ns115:xfrm>
          <ns116:prstGeom xmlns:ns116="http://schemas.openxmlformats.org/drawingml/2006/main" prst="foldedCorner">
            <ns116:avLst/>
          </ns116:prstGeom>
          <ns117:solidFill xmlns:ns117="http://schemas.openxmlformats.org/drawingml/2006/main">
            <ns117:srgbClr val="FFFFFF"/>
          </ns117:solidFill>
          <ns118:ln xmlns:ns118="http://schemas.openxmlformats.org/drawingml/2006/main" w="9525">
            <ns118:solidFill>
              <ns118:srgbClr val="65727D"/>
            </ns118:solidFill>
          </ns118:ln>
        </p:spPr>
      </p:sp>
      <p:sp>
        <p:nvSpPr>
          <p:cNvPr id="22" name="input.current.review.sources.title"/>
          <p:cNvSpPr/>
          <p:nvPr/>
        </p:nvSpPr>
        <p:spPr>
          <ns119:xfrm xmlns:ns119="http://schemas.openxmlformats.org/drawingml/2006/main">
            <ns119:off x="6192000" y="1548000"/>
            <ns119:ext cx="2361600" cy="198000"/>
          </ns119:xfrm>
          <ns120:prstGeom xmlns:ns120="http://schemas.openxmlformats.org/drawingml/2006/main" prst="rect">
            <ns120:avLst/>
          </ns120:prstGeom>
          <ns121:noFill xmlns:ns121="http://schemas.openxmlformats.org/drawingml/2006/main"/>
          <ns122:ln xmlns:ns122="http://schemas.openxmlformats.org/drawingml/2006/main" w="0">
            <ns122:noFill/>
          </ns122:ln>
        </p:spPr>
        <p:txBody>
          <ns123:bodyPr xmlns:ns123="http://schemas.openxmlformats.org/drawingml/2006/main" wrap="square" lIns="0" rIns="0" tIns="0" bIns="0" anchor="t">
            <ns123:noAutofit/>
          </ns123:bodyPr>
          <ns124:lstStyle xmlns:ns124="http://schemas.openxmlformats.org/drawingml/2006/main"/>
          <ns125:p xmlns:ns125="http://schemas.openxmlformats.org/drawingml/2006/main">
            <ns125:pPr algn="l">
              <ns125:lnSpc>
                <ns125:spcPct val="105000"/>
              </ns125:lnSpc>
              <ns125:defRPr sz="1250" b="1">
                <ns125:solidFill>
                  <ns125:srgbClr val="65727D"/>
                </ns125:solidFill>
                <ns125:latin typeface="Arial"/>
                <ns125:ea typeface="Arial"/>
                <ns125:cs typeface="Arial"/>
              </ns125:defRPr>
            </ns125:pPr>
            <ns125:r>
              <ns125:rPr sz="1250" b="1">
                <ns125:solidFill>
                  <ns125:srgbClr val="65727D"/>
                </ns125:solidFill>
                <ns125:latin typeface="Arial"/>
                <ns125:ea typeface="Arial"/>
                <ns125:cs typeface="Arial"/>
              </ns125:rPr>
              <ns125:t>Current review sources</ns125:t>
            </ns125:r>
          </ns125:p>
        </p:txBody>
      </p:sp>
      <p:sp>
        <p:nvSpPr>
          <p:cNvPr id="23" name="input.current.review.sources.content"/>
          <p:cNvSpPr/>
          <p:nvPr/>
        </p:nvSpPr>
        <p:spPr>
          <ns126:xfrm xmlns:ns126="http://schemas.openxmlformats.org/drawingml/2006/main">
            <ns126:off x="6192000" y="1764000"/>
            <ns126:ext cx="2430000" cy="176400"/>
          </ns126:xfrm>
          <ns127:prstGeom xmlns:ns127="http://schemas.openxmlformats.org/drawingml/2006/main" prst="rect">
            <ns127:avLst/>
          </ns127:prstGeom>
          <ns128:noFill xmlns:ns128="http://schemas.openxmlformats.org/drawingml/2006/main"/>
          <ns129:ln xmlns:ns129="http://schemas.openxmlformats.org/drawingml/2006/main" w="0">
            <ns129:noFill/>
          </ns129:ln>
        </p:spPr>
        <p:txBody>
          <ns130:bodyPr xmlns:ns130="http://schemas.openxmlformats.org/drawingml/2006/main" wrap="square" lIns="0" rIns="0" tIns="0" bIns="0" anchor="t">
            <ns130:noAutofit/>
          </ns130:bodyPr>
          <ns131:lstStyle xmlns:ns131="http://schemas.openxmlformats.org/drawingml/2006/main"/>
          <ns132:p xmlns:ns132="http://schemas.openxmlformats.org/drawingml/2006/main">
            <ns132:pPr algn="l">
              <ns132:lnSpc>
                <ns132:spcPct val="100000"/>
              </ns132:lnSpc>
              <ns132:defRPr sz="1050" b="0">
                <ns132:solidFill>
                  <ns132:srgbClr val="20262C"/>
                </ns132:solidFill>
                <ns132:latin typeface="Arial"/>
                <ns132:ea typeface="Arial"/>
                <ns132:cs typeface="Arial"/>
              </ns132:defRPr>
            </ns132:pPr>
            <ns132:r>
              <ns132:rPr sz="1050" b="0">
                <ns132:solidFill>
                  <ns132:srgbClr val="20262C"/>
                </ns132:solidFill>
                <ns132:latin typeface="Arial"/>
                <ns132:ea typeface="Arial"/>
                <ns132:cs typeface="Arial"/>
              </ns132:rPr>
              <ns132:t>PM view / product information</ns132:t>
            </ns132:r>
          </ns132:p>
        </p:txBody>
      </p:sp>
      <p:sp>
        <p:nvSpPr>
          <p:cNvPr id="24" name="evidence.client.v1.paper"/>
          <p:cNvSpPr/>
          <p:nvPr/>
        </p:nvSpPr>
        <p:spPr>
          <ns133:xfrm xmlns:ns133="http://schemas.openxmlformats.org/drawingml/2006/main">
            <ns133:off x="2422800" y="2188800"/>
            <ns133:ext cx="2556000" cy="1566000"/>
          </ns133:xfrm>
          <ns134:prstGeom xmlns:ns134="http://schemas.openxmlformats.org/drawingml/2006/main" prst="rect">
            <ns134:avLst/>
          </ns134:prstGeom>
          <ns135:solidFill xmlns:ns135="http://schemas.openxmlformats.org/drawingml/2006/main">
            <ns135:srgbClr val="FFFFFF"/>
          </ns135:solidFill>
          <ns136:ln xmlns:ns136="http://schemas.openxmlformats.org/drawingml/2006/main" w="10160">
            <ns136:solidFill>
              <ns136:srgbClr val="7363A6"/>
            </ns136:solidFill>
          </ns136:ln>
        </p:spPr>
      </p:sp>
      <p:sp>
        <p:nvSpPr>
          <p:cNvPr id="25" name="evidence.client.v1.title"/>
          <p:cNvSpPr/>
          <p:nvPr/>
        </p:nvSpPr>
        <p:spPr>
          <ns137:xfrm xmlns:ns137="http://schemas.openxmlformats.org/drawingml/2006/main">
            <ns137:off x="2494800" y="2239200"/>
            <ns137:ext cx="2412000" cy="198000"/>
          </ns137:xfrm>
          <ns138:prstGeom xmlns:ns138="http://schemas.openxmlformats.org/drawingml/2006/main" prst="rect">
            <ns138:avLst/>
          </ns138:prstGeom>
          <ns139:noFill xmlns:ns139="http://schemas.openxmlformats.org/drawingml/2006/main"/>
          <ns140:ln xmlns:ns140="http://schemas.openxmlformats.org/drawingml/2006/main" w="0">
            <ns140:noFill/>
          </ns140:ln>
        </p:spPr>
        <p:txBody>
          <ns141:bodyPr xmlns:ns141="http://schemas.openxmlformats.org/drawingml/2006/main" wrap="square" lIns="0" rIns="0" tIns="0" bIns="0" anchor="t">
            <ns141:noAutofit/>
          </ns141:bodyPr>
          <ns142:lstStyle xmlns:ns142="http://schemas.openxmlformats.org/drawingml/2006/main"/>
          <ns143:p xmlns:ns143="http://schemas.openxmlformats.org/drawingml/2006/main">
            <ns143:pPr algn="l">
              <ns143:lnSpc>
                <ns143:spcPct val="105000"/>
              </ns143:lnSpc>
              <ns143:defRPr sz="1300" b="1">
                <ns143:solidFill>
                  <ns143:srgbClr val="7363A6"/>
                </ns143:solidFill>
                <ns143:latin typeface="Arial"/>
                <ns143:ea typeface="Arial"/>
                <ns143:cs typeface="Arial"/>
              </ns143:defRPr>
            </ns143:pPr>
            <ns143:r>
              <ns143:rPr sz="1300" b="1">
                <ns143:solidFill>
                  <ns143:srgbClr val="7363A6"/>
                </ns143:solidFill>
                <ns143:latin typeface="Arial"/>
                <ns143:ea typeface="Arial"/>
                <ns143:cs typeface="Arial"/>
              </ns143:rPr>
              <ns143:t>Draft V1</ns143:t>
            </ns143:r>
          </ns143:p>
        </p:txBody>
      </p:sp>
      <p:sp>
        <p:nvSpPr>
          <p:cNvPr id="26" name="evidence.client.v1.period"/>
          <p:cNvSpPr/>
          <p:nvPr/>
        </p:nvSpPr>
        <p:spPr>
          <ns144:xfrm xmlns:ns144="http://schemas.openxmlformats.org/drawingml/2006/main">
            <ns144:off x="2494800" y="2484000"/>
            <ns144:ext cx="2412000" cy="151200"/>
          </ns144:xfrm>
          <ns145:prstGeom xmlns:ns145="http://schemas.openxmlformats.org/drawingml/2006/main" prst="rect">
            <ns145:avLst/>
          </ns145:prstGeom>
          <ns146:noFill xmlns:ns146="http://schemas.openxmlformats.org/drawingml/2006/main"/>
          <ns147:ln xmlns:ns147="http://schemas.openxmlformats.org/drawingml/2006/main" w="0">
            <ns147:noFill/>
          </ns147:ln>
        </p:spPr>
        <p:txBody>
          <ns148:bodyPr xmlns:ns148="http://schemas.openxmlformats.org/drawingml/2006/main" wrap="square" lIns="0" rIns="0" tIns="0" bIns="0" anchor="t">
            <ns148:noAutofit/>
          </ns148:bodyPr>
          <ns149:lstStyle xmlns:ns149="http://schemas.openxmlformats.org/drawingml/2006/main"/>
          <ns150:p xmlns:ns150="http://schemas.openxmlformats.org/drawingml/2006/main">
            <ns150:pPr algn="l">
              <ns150:lnSpc>
                <ns150:spcPct val="105000"/>
              </ns150:lnSpc>
              <ns150:defRPr sz="1050" b="0">
                <ns150:solidFill>
                  <ns150:srgbClr val="65727D"/>
                </ns150:solidFill>
                <ns150:latin typeface="Arial"/>
                <ns150:ea typeface="Arial"/>
                <ns150:cs typeface="Arial"/>
              </ns150:defRPr>
            </ns150:pPr>
            <ns150:r>
              <ns150:rPr sz="1050" b="0">
                <ns150:solidFill>
                  <ns150:srgbClr val="65727D"/>
                </ns150:solidFill>
                <ns150:latin typeface="Arial"/>
                <ns150:ea typeface="Arial"/>
                <ns150:cs typeface="Arial"/>
              </ns150:rPr>
              <ns150:t>Q2 product source</ns150:t>
            </ns150:r>
          </ns150:p>
        </p:txBody>
      </p:sp>
      <p:sp>
        <p:nvSpPr>
          <p:cNvPr id="27" name="evidence.client.v1.view.label"/>
          <p:cNvSpPr/>
          <p:nvPr/>
        </p:nvSpPr>
        <p:spPr>
          <ns151:xfrm xmlns:ns151="http://schemas.openxmlformats.org/drawingml/2006/main">
            <ns151:off x="2494800" y="2678400"/>
            <ns151:ext cx="2412000" cy="1512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050" b="1">
                <ns157:solidFill>
                  <ns157:srgbClr val="20262C"/>
                </ns157:solidFill>
                <ns157:latin typeface="Arial"/>
                <ns157:ea typeface="Arial"/>
                <ns157:cs typeface="Arial"/>
              </ns157:defRPr>
            </ns157:pPr>
            <ns157:r>
              <ns157:rPr sz="1050" b="1">
                <ns157:solidFill>
                  <ns157:srgbClr val="20262C"/>
                </ns157:solidFill>
                <ns157:latin typeface="Arial"/>
                <ns157:ea typeface="Arial"/>
                <ns157:cs typeface="Arial"/>
              </ns157:rPr>
              <ns157:t>Investment view</ns157:t>
            </ns157:r>
          </ns157:p>
        </p:txBody>
      </p:sp>
      <p:sp>
        <p:nvSpPr>
          <p:cNvPr id="28" name="evidence.client.v1.view.line.0.0"/>
          <p:cNvSpPr/>
          <p:nvPr/>
        </p:nvSpPr>
        <p:spPr>
          <ns158:xfrm xmlns:ns158="http://schemas.openxmlformats.org/drawingml/2006/main">
            <ns158:off x="2494800" y="2880000"/>
            <ns158:ext cx="2412000" cy="208800"/>
          </ns158:xfrm>
          <ns159:prstGeom xmlns:ns159="http://schemas.openxmlformats.org/drawingml/2006/main" prst="rect">
            <ns159:avLst/>
          </ns159:prstGeom>
          <ns160:noFill xmlns:ns160="http://schemas.openxmlformats.org/drawingml/2006/main"/>
          <ns161:ln xmlns:ns161="http://schemas.openxmlformats.org/drawingml/2006/main" w="0">
            <ns161:noFill/>
          </ns161:ln>
        </p:spPr>
        <p:txBody>
          <ns162:bodyPr xmlns:ns162="http://schemas.openxmlformats.org/drawingml/2006/main" wrap="square" lIns="0" rIns="0" tIns="0" bIns="0" anchor="t">
            <ns162:noAutofit/>
          </ns162:bodyPr>
          <ns163:lstStyle xmlns:ns163="http://schemas.openxmlformats.org/drawingml/2006/main"/>
          <ns164:p xmlns:ns164="http://schemas.openxmlformats.org/drawingml/2006/main">
            <ns164:pPr algn="l">
              <ns164:lnSpc>
                <ns164:spcPct val="100000"/>
              </ns164:lnSpc>
              <ns164:defRPr sz="1200" b="0">
                <ns164:solidFill>
                  <ns164:srgbClr val="20262C"/>
                </ns164:solidFill>
                <ns164:latin typeface="Arial"/>
                <ns164:ea typeface="Arial"/>
                <ns164:cs typeface="Arial"/>
              </ns164:defRPr>
            </ns164:pPr>
            <ns164:r>
              <ns164:rPr sz="1200" b="0">
                <ns164:solidFill>
                  <ns164:srgbClr val="20262C"/>
                </ns164:solidFill>
                <ns164:latin typeface="Arial"/>
                <ns164:ea typeface="Arial"/>
                <ns164:cs typeface="Arial"/>
              </ns164:rPr>
              <ns164:t>Higher sales volumes drove</ns164:t>
            </ns164:r>
          </ns164:p>
        </p:txBody>
      </p:sp>
      <p:sp>
        <p:nvSpPr>
          <p:cNvPr id="29" name="evidence.client.v1.view.line.0.1"/>
          <p:cNvSpPr/>
          <p:nvPr/>
        </p:nvSpPr>
        <p:spPr>
          <ns165:xfrm xmlns:ns165="http://schemas.openxmlformats.org/drawingml/2006/main">
            <ns165:off x="2494800" y="3081600"/>
            <ns165:ext cx="2412000" cy="208800"/>
          </ns165:xfrm>
          <ns166:prstGeom xmlns:ns166="http://schemas.openxmlformats.org/drawingml/2006/main" prst="rect">
            <ns166:avLst/>
          </ns166:prstGeom>
          <ns167:noFill xmlns:ns167="http://schemas.openxmlformats.org/drawingml/2006/main"/>
          <ns168:ln xmlns:ns168="http://schemas.openxmlformats.org/drawingml/2006/main" w="0">
            <ns168:noFill/>
          </ns168:ln>
        </p:spPr>
        <p:txBody>
          <ns169:bodyPr xmlns:ns169="http://schemas.openxmlformats.org/drawingml/2006/main" wrap="square" lIns="0" rIns="0" tIns="0" bIns="0" anchor="t">
            <ns169:noAutofit/>
          </ns169:bodyPr>
          <ns170:lstStyle xmlns:ns170="http://schemas.openxmlformats.org/drawingml/2006/main"/>
          <ns171:p xmlns:ns171="http://schemas.openxmlformats.org/drawingml/2006/main">
            <ns171:pPr algn="l">
              <ns171:lnSpc>
                <ns171:spcPct val="100000"/>
              </ns171:lnSpc>
              <ns171:defRPr sz="1200" b="0">
                <ns171:solidFill>
                  <ns171:srgbClr val="20262C"/>
                </ns171:solidFill>
                <ns171:latin typeface="Arial"/>
                <ns171:ea typeface="Arial"/>
                <ns171:cs typeface="Arial"/>
              </ns171:defRPr>
            </ns171:pPr>
            <ns171:r>
              <ns171:rPr sz="1200" b="0">
                <ns171:solidFill>
                  <ns171:srgbClr val="20262C"/>
                </ns171:solidFill>
                <ns171:latin typeface="Arial"/>
                <ns171:ea typeface="Arial"/>
                <ns171:cs typeface="Arial"/>
              </ns171:rPr>
              <ns171:t>Company A’s revenue growth.</ns171:t>
            </ns171:r>
          </ns171:p>
        </p:txBody>
      </p:sp>
      <p:sp>
        <p:nvSpPr>
          <p:cNvPr id="30" name="evidence.client.v1.view.line.1.0"/>
          <p:cNvSpPr/>
          <p:nvPr/>
        </p:nvSpPr>
        <p:spPr>
          <ns172:xfrm xmlns:ns172="http://schemas.openxmlformats.org/drawingml/2006/main">
            <ns172:off x="2494800" y="3319200"/>
            <ns172:ext cx="2412000" cy="208800"/>
          </ns172:xfrm>
          <ns173:prstGeom xmlns:ns173="http://schemas.openxmlformats.org/drawingml/2006/main" prst="rect">
            <ns173:avLst/>
          </ns173:prstGeom>
          <ns174:noFill xmlns:ns174="http://schemas.openxmlformats.org/drawingml/2006/main"/>
          <ns175:ln xmlns:ns175="http://schemas.openxmlformats.org/drawingml/2006/main" w="0">
            <ns175:noFill/>
          </ns175:ln>
        </p:spPr>
        <p:txBody>
          <ns176:bodyPr xmlns:ns176="http://schemas.openxmlformats.org/drawingml/2006/main" wrap="square" lIns="0" rIns="0" tIns="0" bIns="0" anchor="t">
            <ns176:noAutofit/>
          </ns176:bodyPr>
          <ns177:lstStyle xmlns:ns177="http://schemas.openxmlformats.org/drawingml/2006/main"/>
          <ns178:p xmlns:ns178="http://schemas.openxmlformats.org/drawingml/2006/main">
            <ns178:pPr algn="l">
              <ns178:lnSpc>
                <ns178:spcPct val="100000"/>
              </ns178:lnSpc>
              <ns178:defRPr sz="1200" b="0">
                <ns178:solidFill>
                  <ns178:srgbClr val="20262C"/>
                </ns178:solidFill>
                <ns178:latin typeface="Arial"/>
                <ns178:ea typeface="Arial"/>
                <ns178:cs typeface="Arial"/>
              </ns178:defRPr>
            </ns178:pPr>
            <ns178:r>
              <ns178:rPr sz="1200" b="0">
                <ns178:solidFill>
                  <ns178:srgbClr val="20262C"/>
                </ns178:solidFill>
                <ns178:latin typeface="Arial"/>
                <ns178:ea typeface="Arial"/>
                <ns178:cs typeface="Arial"/>
              </ns178:rPr>
              <ns178:t>We are monitoring raw-material</ns178:t>
            </ns178:r>
          </ns178:p>
        </p:txBody>
      </p:sp>
      <p:sp>
        <p:nvSpPr>
          <p:cNvPr id="31" name="evidence.client.v1.view.line.1.1"/>
          <p:cNvSpPr/>
          <p:nvPr/>
        </p:nvSpPr>
        <p:spPr>
          <ns179:xfrm xmlns:ns179="http://schemas.openxmlformats.org/drawingml/2006/main">
            <ns179:off x="2494800" y="3520800"/>
            <ns179:ext cx="2412000" cy="208800"/>
          </ns179:xfrm>
          <ns180:prstGeom xmlns:ns180="http://schemas.openxmlformats.org/drawingml/2006/main" prst="rect">
            <ns180:avLst/>
          </ns180:prstGeom>
          <ns181:noFill xmlns:ns181="http://schemas.openxmlformats.org/drawingml/2006/main"/>
          <ns182:ln xmlns:ns182="http://schemas.openxmlformats.org/drawingml/2006/main" w="0">
            <ns182:noFill/>
          </ns182:ln>
        </p:spPr>
        <p:txBody>
          <ns183:bodyPr xmlns:ns183="http://schemas.openxmlformats.org/drawingml/2006/main" wrap="square" lIns="0" rIns="0" tIns="0" bIns="0" anchor="t">
            <ns183:noAutofit/>
          </ns183:bodyPr>
          <ns184:lstStyle xmlns:ns184="http://schemas.openxmlformats.org/drawingml/2006/main"/>
          <ns185:p xmlns:ns185="http://schemas.openxmlformats.org/drawingml/2006/main">
            <ns185:pPr algn="l">
              <ns185:lnSpc>
                <ns185:spcPct val="100000"/>
              </ns185:lnSpc>
              <ns185:defRPr sz="1200" b="0">
                <ns185:solidFill>
                  <ns185:srgbClr val="20262C"/>
                </ns185:solidFill>
                <ns185:latin typeface="Arial"/>
                <ns185:ea typeface="Arial"/>
                <ns185:cs typeface="Arial"/>
              </ns185:defRPr>
            </ns185:pPr>
            <ns185:r>
              <ns185:rPr sz="1200" b="0">
                <ns185:solidFill>
                  <ns185:srgbClr val="20262C"/>
                </ns185:solidFill>
                <ns185:latin typeface="Arial"/>
                <ns185:ea typeface="Arial"/>
                <ns185:cs typeface="Arial"/>
              </ns185:rPr>
              <ns185:t>costs.</ns185:t>
            </ns185:r>
          </ns185:p>
        </p:txBody>
      </p:sp>
      <p:sp>
        <p:nvSpPr>
          <p:cNvPr id="32" name="evidence.client.v2.paper"/>
          <p:cNvSpPr/>
          <p:nvPr/>
        </p:nvSpPr>
        <p:spPr>
          <ns186:xfrm xmlns:ns186="http://schemas.openxmlformats.org/drawingml/2006/main">
            <ns186:off x="5490000" y="2188800"/>
            <ns186:ext cx="3196800" cy="1566000"/>
          </ns186:xfrm>
          <ns187:prstGeom xmlns:ns187="http://schemas.openxmlformats.org/drawingml/2006/main" prst="rect">
            <ns187:avLst/>
          </ns187:prstGeom>
          <ns188:solidFill xmlns:ns188="http://schemas.openxmlformats.org/drawingml/2006/main">
            <ns188:srgbClr val="FFFFFF"/>
          </ns188:solidFill>
          <ns189:ln xmlns:ns189="http://schemas.openxmlformats.org/drawingml/2006/main" w="10160">
            <ns189:solidFill>
              <ns189:srgbClr val="7363A6"/>
            </ns189:solidFill>
          </ns189:ln>
        </p:spPr>
      </p:sp>
      <p:sp>
        <p:nvSpPr>
          <p:cNvPr id="33" name="evidence.client.v2.title"/>
          <p:cNvSpPr/>
          <p:nvPr/>
        </p:nvSpPr>
        <p:spPr>
          <ns190:xfrm xmlns:ns190="http://schemas.openxmlformats.org/drawingml/2006/main">
            <ns190:off x="5562000" y="2239200"/>
            <ns190:ext cx="3052800" cy="198000"/>
          </ns190:xfrm>
          <ns191:prstGeom xmlns:ns191="http://schemas.openxmlformats.org/drawingml/2006/main" prst="rect">
            <ns191:avLst/>
          </ns191:prstGeom>
          <ns192:noFill xmlns:ns192="http://schemas.openxmlformats.org/drawingml/2006/main"/>
          <ns193:ln xmlns:ns193="http://schemas.openxmlformats.org/drawingml/2006/main" w="0">
            <ns193:noFill/>
          </ns193:ln>
        </p:spPr>
        <p:txBody>
          <ns194:bodyPr xmlns:ns194="http://schemas.openxmlformats.org/drawingml/2006/main" wrap="square" lIns="0" rIns="0" tIns="0" bIns="0" anchor="t">
            <ns194:noAutofit/>
          </ns194:bodyPr>
          <ns195:lstStyle xmlns:ns195="http://schemas.openxmlformats.org/drawingml/2006/main"/>
          <ns196:p xmlns:ns196="http://schemas.openxmlformats.org/drawingml/2006/main">
            <ns196:pPr algn="l">
              <ns196:lnSpc>
                <ns196:spcPct val="105000"/>
              </ns196:lnSpc>
              <ns196:defRPr sz="1300" b="1">
                <ns196:solidFill>
                  <ns196:srgbClr val="7363A6"/>
                </ns196:solidFill>
                <ns196:latin typeface="Arial"/>
                <ns196:ea typeface="Arial"/>
                <ns196:cs typeface="Arial"/>
              </ns196:defRPr>
            </ns196:pPr>
            <ns196:r>
              <ns196:rPr sz="1300" b="1">
                <ns196:solidFill>
                  <ns196:srgbClr val="7363A6"/>
                </ns196:solidFill>
                <ns196:latin typeface="Arial"/>
                <ns196:ea typeface="Arial"/>
                <ns196:cs typeface="Arial"/>
              </ns196:rPr>
              <ns196:t>Revised V2</ns196:t>
            </ns196:r>
          </ns196:p>
        </p:txBody>
      </p:sp>
      <p:sp>
        <p:nvSpPr>
          <p:cNvPr id="34" name="evidence.client.v2.period"/>
          <p:cNvSpPr/>
          <p:nvPr/>
        </p:nvSpPr>
        <p:spPr>
          <ns197:xfrm xmlns:ns197="http://schemas.openxmlformats.org/drawingml/2006/main">
            <ns197:off x="5562000" y="2484000"/>
            <ns197:ext cx="3052800" cy="151200"/>
          </ns197:xfrm>
          <ns198:prstGeom xmlns:ns198="http://schemas.openxmlformats.org/drawingml/2006/main" prst="rect">
            <ns198:avLst/>
          </ns198:prstGeom>
          <ns199:noFill xmlns:ns199="http://schemas.openxmlformats.org/drawingml/2006/main"/>
          <ns200:ln xmlns:ns200="http://schemas.openxmlformats.org/drawingml/2006/main" w="0">
            <ns200:noFill/>
          </ns200:ln>
        </p:spPr>
        <p:txBody>
          <ns201:bodyPr xmlns:ns201="http://schemas.openxmlformats.org/drawingml/2006/main" wrap="square" lIns="0" rIns="0" tIns="0" bIns="0" anchor="t">
            <ns201:noAutofit/>
          </ns201:bodyPr>
          <ns202:lstStyle xmlns:ns202="http://schemas.openxmlformats.org/drawingml/2006/main"/>
          <ns203:p xmlns:ns203="http://schemas.openxmlformats.org/drawingml/2006/main">
            <ns203:pPr algn="l">
              <ns203:lnSpc>
                <ns203:spcPct val="105000"/>
              </ns203:lnSpc>
              <ns203:defRPr sz="1050" b="0">
                <ns203:solidFill>
                  <ns203:srgbClr val="65727D"/>
                </ns203:solidFill>
                <ns203:latin typeface="Arial"/>
                <ns203:ea typeface="Arial"/>
                <ns203:cs typeface="Arial"/>
              </ns203:defRPr>
            </ns203:pPr>
            <ns203:r>
              <ns203:rPr sz="1050" b="0">
                <ns203:solidFill>
                  <ns203:srgbClr val="65727D"/>
                </ns203:solidFill>
                <ns203:latin typeface="Arial"/>
                <ns203:ea typeface="Arial"/>
                <ns203:cs typeface="Arial"/>
              </ns203:rPr>
              <ns203:t>Q3 product source</ns203:t>
            </ns203:r>
          </ns203:p>
        </p:txBody>
      </p:sp>
      <p:sp>
        <p:nvSpPr>
          <p:cNvPr id="35" name="evidence.client.v2.view.label"/>
          <p:cNvSpPr/>
          <p:nvPr/>
        </p:nvSpPr>
        <p:spPr>
          <ns204:xfrm xmlns:ns204="http://schemas.openxmlformats.org/drawingml/2006/main">
            <ns204:off x="5562000" y="2678400"/>
            <ns204:ext cx="3052800" cy="151200"/>
          </ns204:xfrm>
          <ns205:prstGeom xmlns:ns205="http://schemas.openxmlformats.org/drawingml/2006/main" prst="rect">
            <ns205:avLst/>
          </ns205:prstGeom>
          <ns206:noFill xmlns:ns206="http://schemas.openxmlformats.org/drawingml/2006/main"/>
          <ns207:ln xmlns:ns207="http://schemas.openxmlformats.org/drawingml/2006/main" w="0">
            <ns207:noFill/>
          </ns207:ln>
        </p:spPr>
        <p:txBody>
          <ns208:bodyPr xmlns:ns208="http://schemas.openxmlformats.org/drawingml/2006/main" wrap="square" lIns="0" rIns="0" tIns="0" bIns="0" anchor="t">
            <ns208:noAutofit/>
          </ns208:bodyPr>
          <ns209:lstStyle xmlns:ns209="http://schemas.openxmlformats.org/drawingml/2006/main"/>
          <ns210:p xmlns:ns210="http://schemas.openxmlformats.org/drawingml/2006/main">
            <ns210:pPr algn="l">
              <ns210:lnSpc>
                <ns210:spcPct val="105000"/>
              </ns210:lnSpc>
              <ns210:defRPr sz="1050" b="1">
                <ns210:solidFill>
                  <ns210:srgbClr val="20262C"/>
                </ns210:solidFill>
                <ns210:latin typeface="Arial"/>
                <ns210:ea typeface="Arial"/>
                <ns210:cs typeface="Arial"/>
              </ns210:defRPr>
            </ns210:pPr>
            <ns210:r>
              <ns210:rPr sz="1050" b="1">
                <ns210:solidFill>
                  <ns210:srgbClr val="20262C"/>
                </ns210:solidFill>
                <ns210:latin typeface="Arial"/>
                <ns210:ea typeface="Arial"/>
                <ns210:cs typeface="Arial"/>
              </ns210:rPr>
              <ns210:t>Investment view</ns210:t>
            </ns210:r>
          </ns210:p>
        </p:txBody>
      </p:sp>
      <p:sp>
        <p:nvSpPr>
          <p:cNvPr id="36" name="evidence.client.v2.view.highlight.0.0.0"/>
          <p:cNvSpPr/>
          <p:nvPr/>
        </p:nvSpPr>
        <p:spPr>
          <ns211:xfrm xmlns:ns211="http://schemas.openxmlformats.org/drawingml/2006/main">
            <ns211:off x="5562000" y="2905200"/>
            <ns211:ext cx="2038350" cy="169200"/>
          </ns211:xfrm>
          <ns212:prstGeom xmlns:ns212="http://schemas.openxmlformats.org/drawingml/2006/main" prst="rect">
            <ns212:avLst/>
          </ns212:prstGeom>
          <ns213:solidFill xmlns:ns213="http://schemas.openxmlformats.org/drawingml/2006/main">
            <ns213:srgbClr val="FFF0BE"/>
          </ns213:solidFill>
          <ns214:ln xmlns:ns214="http://schemas.openxmlformats.org/drawingml/2006/main" w="0">
            <ns214:noFill/>
          </ns214:ln>
        </p:spPr>
      </p:sp>
      <p:sp>
        <p:nvSpPr>
          <p:cNvPr id="37" name="evidence.client.v2.view.line.0.0"/>
          <p:cNvSpPr/>
          <p:nvPr/>
        </p:nvSpPr>
        <p:spPr>
          <ns215:xfrm xmlns:ns215="http://schemas.openxmlformats.org/drawingml/2006/main">
            <ns215:off x="5562000" y="2880000"/>
            <ns215:ext cx="3052800" cy="208800"/>
          </ns215:xfrm>
          <ns216:prstGeom xmlns:ns216="http://schemas.openxmlformats.org/drawingml/2006/main" prst="rect">
            <ns216:avLst/>
          </ns216:prstGeom>
          <ns217:noFill xmlns:ns217="http://schemas.openxmlformats.org/drawingml/2006/main"/>
          <ns218:ln xmlns:ns218="http://schemas.openxmlformats.org/drawingml/2006/main" w="0">
            <ns218:noFill/>
          </ns218:ln>
        </p:spPr>
        <p:txBody>
          <ns219:bodyPr xmlns:ns219="http://schemas.openxmlformats.org/drawingml/2006/main" wrap="square" lIns="0" rIns="0" tIns="0" bIns="0" anchor="t">
            <ns219:noAutofit/>
          </ns219:bodyPr>
          <ns220:lstStyle xmlns:ns220="http://schemas.openxmlformats.org/drawingml/2006/main"/>
          <ns221:p xmlns:ns221="http://schemas.openxmlformats.org/drawingml/2006/main">
            <ns221:pPr algn="l">
              <ns221:lnSpc>
                <ns221:spcPct val="100000"/>
              </ns221:lnSpc>
              <ns221:defRPr sz="1200" b="0">
                <ns221:solidFill>
                  <ns221:srgbClr val="20262C"/>
                </ns221:solidFill>
                <ns221:latin typeface="Arial"/>
                <ns221:ea typeface="Arial"/>
                <ns221:cs typeface="Arial"/>
              </ns221:defRPr>
            </ns221:pPr>
            <ns221:r>
              <ns221:rPr sz="1200" b="0">
                <ns221:solidFill>
                  <ns221:srgbClr val="20262C"/>
                </ns221:solidFill>
                <ns221:latin typeface="Arial"/>
                <ns221:ea typeface="Arial"/>
                <ns221:cs typeface="Arial"/>
              </ns221:rPr>
              <ns221:t>Channel restocking supported Company A’s</ns221:t>
            </ns221:r>
          </ns221:p>
        </p:txBody>
      </p:sp>
      <p:sp>
        <p:nvSpPr>
          <p:cNvPr id="38" name="evidence.client.v2.view.highlight.0.1.1"/>
          <p:cNvSpPr/>
          <p:nvPr/>
        </p:nvSpPr>
        <p:spPr>
          <ns222:xfrm xmlns:ns222="http://schemas.openxmlformats.org/drawingml/2006/main">
            <ns222:off x="5562000" y="3106800"/>
            <ns222:ext cx="892969" cy="169200"/>
          </ns222:xfrm>
          <ns223:prstGeom xmlns:ns223="http://schemas.openxmlformats.org/drawingml/2006/main" prst="rect">
            <ns223:avLst/>
          </ns223:prstGeom>
          <ns224:solidFill xmlns:ns224="http://schemas.openxmlformats.org/drawingml/2006/main">
            <ns224:srgbClr val="FFF0BE"/>
          </ns224:solidFill>
          <ns225:ln xmlns:ns225="http://schemas.openxmlformats.org/drawingml/2006/main" w="0">
            <ns225:noFill/>
          </ns225:ln>
        </p:spPr>
      </p:sp>
      <p:sp>
        <p:nvSpPr>
          <p:cNvPr id="39" name="evidence.client.v2.view.line.0.1"/>
          <p:cNvSpPr/>
          <p:nvPr/>
        </p:nvSpPr>
        <p:spPr>
          <ns226:xfrm xmlns:ns226="http://schemas.openxmlformats.org/drawingml/2006/main">
            <ns226:off x="5562000" y="3081600"/>
            <ns226:ext cx="3052800" cy="208800"/>
          </ns226:xfrm>
          <ns227:prstGeom xmlns:ns227="http://schemas.openxmlformats.org/drawingml/2006/main" prst="rect">
            <ns227:avLst/>
          </ns227:prstGeom>
          <ns228:noFill xmlns:ns228="http://schemas.openxmlformats.org/drawingml/2006/main"/>
          <ns229:ln xmlns:ns229="http://schemas.openxmlformats.org/drawingml/2006/main" w="0">
            <ns229:noFill/>
          </ns229:ln>
        </p:spPr>
        <p:txBody>
          <ns230:bodyPr xmlns:ns230="http://schemas.openxmlformats.org/drawingml/2006/main" wrap="square" lIns="0" rIns="0" tIns="0" bIns="0" anchor="t">
            <ns230:noAutofit/>
          </ns230:bodyPr>
          <ns231:lstStyle xmlns:ns231="http://schemas.openxmlformats.org/drawingml/2006/main"/>
          <ns232:p xmlns:ns232="http://schemas.openxmlformats.org/drawingml/2006/main">
            <ns232:pPr algn="l">
              <ns232:lnSpc>
                <ns232:spcPct val="100000"/>
              </ns232:lnSpc>
              <ns232:defRPr sz="1200" b="0">
                <ns232:solidFill>
                  <ns232:srgbClr val="20262C"/>
                </ns232:solidFill>
                <ns232:latin typeface="Arial"/>
                <ns232:ea typeface="Arial"/>
                <ns232:cs typeface="Arial"/>
              </ns232:defRPr>
            </ns232:pPr>
            <ns232:r>
              <ns232:rPr sz="1200" b="0">
                <ns232:solidFill>
                  <ns232:srgbClr val="20262C"/>
                </ns232:solidFill>
                <ns232:latin typeface="Arial"/>
                <ns232:ea typeface="Arial"/>
                <ns232:cs typeface="Arial"/>
              </ns232:rPr>
              <ns232:t>sales volume growth.</ns232:t>
            </ns232:r>
          </ns232:p>
        </p:txBody>
      </p:sp>
      <p:sp>
        <p:nvSpPr>
          <p:cNvPr id="40" name="evidence.client.v2.view.highlight.1.0.0"/>
          <p:cNvSpPr/>
          <p:nvPr/>
        </p:nvSpPr>
        <p:spPr>
          <ns233:xfrm xmlns:ns233="http://schemas.openxmlformats.org/drawingml/2006/main">
            <ns233:off x="6854982" y="3344400"/>
            <ns233:ext cx="1285875" cy="169200"/>
          </ns233:xfrm>
          <ns234:prstGeom xmlns:ns234="http://schemas.openxmlformats.org/drawingml/2006/main" prst="rect">
            <ns234:avLst/>
          </ns234:prstGeom>
          <ns235:solidFill xmlns:ns235="http://schemas.openxmlformats.org/drawingml/2006/main">
            <ns235:srgbClr val="FFF0BE"/>
          </ns235:solidFill>
          <ns236:ln xmlns:ns236="http://schemas.openxmlformats.org/drawingml/2006/main" w="0">
            <ns236:noFill/>
          </ns236:ln>
        </p:spPr>
      </p:sp>
      <p:sp>
        <p:nvSpPr>
          <p:cNvPr id="41" name="evidence.client.v2.view.line.1.0"/>
          <p:cNvSpPr/>
          <p:nvPr/>
        </p:nvSpPr>
        <p:spPr>
          <ns237:xfrm xmlns:ns237="http://schemas.openxmlformats.org/drawingml/2006/main">
            <ns237:off x="5562000" y="3319200"/>
            <ns237:ext cx="3052800" cy="208800"/>
          </ns237:xfrm>
          <ns238:prstGeom xmlns:ns238="http://schemas.openxmlformats.org/drawingml/2006/main" prst="rect">
            <ns238:avLst/>
          </ns238:prstGeom>
          <ns239:noFill xmlns:ns239="http://schemas.openxmlformats.org/drawingml/2006/main"/>
          <ns240:ln xmlns:ns240="http://schemas.openxmlformats.org/drawingml/2006/main" w="0">
            <ns240:noFill/>
          </ns240:ln>
        </p:spPr>
        <p:txBody>
          <ns241:bodyPr xmlns:ns241="http://schemas.openxmlformats.org/drawingml/2006/main" wrap="square" lIns="0" rIns="0" tIns="0" bIns="0" anchor="t">
            <ns241:noAutofit/>
          </ns241:bodyPr>
          <ns242:lstStyle xmlns:ns242="http://schemas.openxmlformats.org/drawingml/2006/main"/>
          <ns243:p xmlns:ns243="http://schemas.openxmlformats.org/drawingml/2006/main">
            <ns243:pPr algn="l">
              <ns243:lnSpc>
                <ns243:spcPct val="100000"/>
              </ns243:lnSpc>
              <ns243:defRPr sz="1200" b="0">
                <ns243:solidFill>
                  <ns243:srgbClr val="20262C"/>
                </ns243:solidFill>
                <ns243:latin typeface="Arial"/>
                <ns243:ea typeface="Arial"/>
                <ns243:cs typeface="Arial"/>
              </ns243:defRPr>
            </ns243:pPr>
            <ns243:r>
              <ns243:rPr sz="1200" b="0">
                <ns243:solidFill>
                  <ns243:srgbClr val="20262C"/>
                </ns243:solidFill>
                <ns243:latin typeface="Arial"/>
                <ns243:ea typeface="Arial"/>
                <ns243:cs typeface="Arial"/>
              </ns243:rPr>
              <ns243:t>We are monitoring whether restocking</ns243:t>
            </ns243:r>
          </ns243:p>
        </p:txBody>
      </p:sp>
      <p:sp>
        <p:nvSpPr>
          <p:cNvPr id="42" name="evidence.client.v2.view.highlight.1.1.0"/>
          <p:cNvSpPr/>
          <p:nvPr/>
        </p:nvSpPr>
        <p:spPr>
          <ns244:xfrm xmlns:ns244="http://schemas.openxmlformats.org/drawingml/2006/main">
            <ns244:off x="5562000" y="3546000"/>
            <ns244:ext cx="1400175" cy="169200"/>
          </ns244:xfrm>
          <ns245:prstGeom xmlns:ns245="http://schemas.openxmlformats.org/drawingml/2006/main" prst="rect">
            <ns245:avLst/>
          </ns245:prstGeom>
          <ns246:solidFill xmlns:ns246="http://schemas.openxmlformats.org/drawingml/2006/main">
            <ns246:srgbClr val="FFF0BE"/>
          </ns246:solidFill>
          <ns247:ln xmlns:ns247="http://schemas.openxmlformats.org/drawingml/2006/main" w="0">
            <ns247:noFill/>
          </ns247:ln>
        </p:spPr>
      </p:sp>
      <p:sp>
        <p:nvSpPr>
          <p:cNvPr id="43" name="evidence.client.v2.view.line.1.1"/>
          <p:cNvSpPr/>
          <p:nvPr/>
        </p:nvSpPr>
        <p:spPr>
          <ns248:xfrm xmlns:ns248="http://schemas.openxmlformats.org/drawingml/2006/main">
            <ns248:off x="5562000" y="3520800"/>
            <ns248:ext cx="3052800" cy="208800"/>
          </ns248:xfrm>
          <ns249:prstGeom xmlns:ns249="http://schemas.openxmlformats.org/drawingml/2006/main" prst="rect">
            <ns249:avLst/>
          </ns249:prstGeom>
          <ns250:noFill xmlns:ns250="http://schemas.openxmlformats.org/drawingml/2006/main"/>
          <ns251:ln xmlns:ns251="http://schemas.openxmlformats.org/drawingml/2006/main" w="0">
            <ns251:noFill/>
          </ns251:ln>
        </p:spPr>
        <p:txBody>
          <ns252:bodyPr xmlns:ns252="http://schemas.openxmlformats.org/drawingml/2006/main" wrap="square" lIns="0" rIns="0" tIns="0" bIns="0" anchor="t">
            <ns252:noAutofit/>
          </ns252:bodyPr>
          <ns253:lstStyle xmlns:ns253="http://schemas.openxmlformats.org/drawingml/2006/main"/>
          <ns254:p xmlns:ns254="http://schemas.openxmlformats.org/drawingml/2006/main">
            <ns254:pPr algn="l">
              <ns254:lnSpc>
                <ns254:spcPct val="100000"/>
              </ns254:lnSpc>
              <ns254:defRPr sz="1200" b="0">
                <ns254:solidFill>
                  <ns254:srgbClr val="20262C"/>
                </ns254:solidFill>
                <ns254:latin typeface="Arial"/>
                <ns254:ea typeface="Arial"/>
                <ns254:cs typeface="Arial"/>
              </ns254:defRPr>
            </ns254:pPr>
            <ns254:r>
              <ns254:rPr sz="1200" b="0">
                <ns254:solidFill>
                  <ns254:srgbClr val="20262C"/>
                </ns254:solidFill>
                <ns254:latin typeface="Arial"/>
                <ns254:ea typeface="Arial"/>
                <ns254:cs typeface="Arial"/>
              </ns254:rPr>
              <ns254:t>continues, alongside raw-material costs.</ns254:t>
            </ns254:r>
          </ns254:p>
        </p:txBody>
      </p:sp>
      <p:cxnSp>
        <p:nvCxnSpPr>
          <p:cNvPr id="44" name="draft.to.v1.0"/>
          <p:cNvCxnSpPr/>
          <p:nvPr/>
        </p:nvCxnSpPr>
        <p:spPr>
          <ns255:xfrm xmlns:ns255="http://schemas.openxmlformats.org/drawingml/2006/main">
            <ns255:off x="4798800" y="2026800"/>
            <ns255:ext cx="1" cy="72000"/>
          </ns255:xfrm>
          <ns256:prstGeom xmlns:ns256="http://schemas.openxmlformats.org/drawingml/2006/main" prst="line">
            <ns256:avLst/>
          </ns256:prstGeom>
          <ns257:ln xmlns:ns257="http://schemas.openxmlformats.org/drawingml/2006/main" w="11430">
            <ns257:solidFill>
              <ns257:srgbClr val="7363A6"/>
            </ns257:solidFill>
          </ns257:ln>
        </p:spPr>
      </p:cxnSp>
      <p:cxnSp>
        <p:nvCxnSpPr>
          <p:cNvPr id="45" name="draft.to.v1.1"/>
          <p:cNvCxnSpPr/>
          <p:nvPr/>
        </p:nvCxnSpPr>
        <p:spPr>
          <ns258:xfrm xmlns:ns258="http://schemas.openxmlformats.org/drawingml/2006/main" flipH="1">
            <ns258:off x="3700800" y="2098800"/>
            <ns258:ext cx="1098000" cy="1"/>
          </ns258:xfrm>
          <ns259:prstGeom xmlns:ns259="http://schemas.openxmlformats.org/drawingml/2006/main" prst="line">
            <ns259:avLst/>
          </ns259:prstGeom>
          <ns260:ln xmlns:ns260="http://schemas.openxmlformats.org/drawingml/2006/main" w="11430">
            <ns260:solidFill>
              <ns260:srgbClr val="7363A6"/>
            </ns260:solidFill>
          </ns260:ln>
        </p:spPr>
      </p:cxnSp>
      <p:cxnSp>
        <p:nvCxnSpPr>
          <p:cNvPr id="46" name="draft.to.v1.2"/>
          <p:cNvCxnSpPr/>
          <p:nvPr/>
        </p:nvCxnSpPr>
        <p:spPr>
          <ns261:xfrm xmlns:ns261="http://schemas.openxmlformats.org/drawingml/2006/main">
            <ns261:off x="3700800" y="2098800"/>
            <ns261:ext cx="1" cy="54000"/>
          </ns261:xfrm>
          <ns262:prstGeom xmlns:ns262="http://schemas.openxmlformats.org/drawingml/2006/main" prst="line">
            <ns262:avLst/>
          </ns262:prstGeom>
          <ns263:ln xmlns:ns263="http://schemas.openxmlformats.org/drawingml/2006/main" w="11430">
            <ns263:solidFill>
              <ns263:srgbClr val="7363A6"/>
            </ns263:solidFill>
            <ns263:tailEnd type="triangle" w="sm" len="sm"/>
          </ns263:ln>
        </p:spPr>
      </p:cxnSp>
      <p:sp>
        <p:nvSpPr>
          <p:cNvPr id="47" name="tool.review.match"/>
          <p:cNvSpPr/>
          <p:nvPr/>
        </p:nvSpPr>
        <p:spPr>
          <ns264:xfrm xmlns:ns264="http://schemas.openxmlformats.org/drawingml/2006/main">
            <ns264:off x="2422800" y="4014000"/>
            <ns264:ext cx="1620000" cy="630000"/>
          </ns264:xfrm>
          <ns265:prstGeom xmlns:ns265="http://schemas.openxmlformats.org/drawingml/2006/main" prst="roundRect">
            <ns265:avLst/>
          </ns265:prstGeom>
          <ns266:solidFill xmlns:ns266="http://schemas.openxmlformats.org/drawingml/2006/main">
            <ns266:srgbClr val="F3F7FA"/>
          </ns266:solidFill>
          <ns267:ln xmlns:ns267="http://schemas.openxmlformats.org/drawingml/2006/main" w="9525">
            <ns267:solidFill>
              <ns267:srgbClr val="65727D"/>
            </ns267:solidFill>
          </ns267:ln>
        </p:spPr>
        <p:txBody>
          <ns268:bodyPr xmlns:ns268="http://schemas.openxmlformats.org/drawingml/2006/main" wrap="square" lIns="61200" rIns="61200" tIns="61200" bIns="61200" anchor="ctr">
            <ns268:noAutofit/>
          </ns268:bodyPr>
          <ns269:lstStyle xmlns:ns269="http://schemas.openxmlformats.org/drawingml/2006/main"/>
          <ns270:p xmlns:ns270="http://schemas.openxmlformats.org/drawingml/2006/main">
            <ns270:pPr algn="l">
              <ns270:lnSpc>
                <ns270:spcPct val="105000"/>
              </ns270:lnSpc>
              <ns270:defRPr sz="1300" b="1">
                <ns270:solidFill>
                  <ns270:srgbClr val="65727D"/>
                </ns270:solidFill>
                <ns270:latin typeface="Arial"/>
                <ns270:ea typeface="Arial"/>
                <ns270:cs typeface="Arial"/>
              </ns270:defRPr>
            </ns270:pPr>
            <ns270:r>
              <ns270:rPr sz="1300" b="1">
                <ns270:solidFill>
                  <ns270:srgbClr val="65727D"/>
                </ns270:solidFill>
                <ns270:latin typeface="Arial"/>
                <ns270:ea typeface="Arial"/>
                <ns270:cs typeface="Arial"/>
              </ns270:rPr>
              <ns270:t>Document tools</ns270:t>
            </ns270:r>
          </ns270:p>
          <ns271:p xmlns:ns271="http://schemas.openxmlformats.org/drawingml/2006/main">
            <ns271:pPr algn="l">
              <ns271:lnSpc>
                <ns271:spcPct val="105000"/>
              </ns271:lnSpc>
              <ns271:defRPr sz="1150" b="0">
                <ns271:solidFill>
                  <ns271:srgbClr val="20262C"/>
                </ns271:solidFill>
                <ns271:latin typeface="Arial"/>
                <ns271:ea typeface="Arial"/>
                <ns271:cs typeface="Arial"/>
              </ns271:defRPr>
            </ns271:pPr>
            <ns271:r>
              <ns271:rPr sz="1150" b="0">
                <ns271:solidFill>
                  <ns271:srgbClr val="20262C"/>
                </ns271:solidFill>
                <ns271:latin typeface="Arial"/>
                <ns271:ea typeface="Arial"/>
                <ns271:cs typeface="Arial"/>
              </ns271:rPr>
              <ns271:t>Match passages</ns271:t>
            </ns271:r>
          </ns271:p>
        </p:txBody>
      </p:sp>
      <p:sp>
        <p:nvSpPr>
          <p:cNvPr id="48" name="role.llm.revises"/>
          <p:cNvSpPr/>
          <p:nvPr/>
        </p:nvSpPr>
        <p:spPr>
          <ns272:xfrm xmlns:ns272="http://schemas.openxmlformats.org/drawingml/2006/main">
            <ns272:off x="4194000" y="4014000"/>
            <ns272:ext cx="1728000" cy="630000"/>
          </ns272:xfrm>
          <ns273:prstGeom xmlns:ns273="http://schemas.openxmlformats.org/drawingml/2006/main" prst="roundRect">
            <ns273:avLst/>
          </ns273:prstGeom>
          <ns274:solidFill xmlns:ns274="http://schemas.openxmlformats.org/drawingml/2006/main">
            <ns274:srgbClr val="EAF3FA"/>
          </ns274:solidFill>
          <ns275:ln xmlns:ns275="http://schemas.openxmlformats.org/drawingml/2006/main" w="9525">
            <ns275:solidFill>
              <ns275:srgbClr val="005A9C"/>
            </ns275:solidFill>
          </ns275:ln>
        </p:spPr>
        <p:txBody>
          <ns276:bodyPr xmlns:ns276="http://schemas.openxmlformats.org/drawingml/2006/main" wrap="square" lIns="61200" rIns="61200" tIns="61200" bIns="61200" anchor="ctr">
            <ns276:noAutofit/>
          </ns276:bodyPr>
          <ns277:lstStyle xmlns:ns277="http://schemas.openxmlformats.org/drawingml/2006/main"/>
          <ns278:p xmlns:ns278="http://schemas.openxmlformats.org/drawingml/2006/main">
            <ns278:pPr algn="l">
              <ns278:lnSpc>
                <ns278:spcPct val="105000"/>
              </ns278:lnSpc>
              <ns278:defRPr sz="1300" b="1">
                <ns278:solidFill>
                  <ns278:srgbClr val="005A9C"/>
                </ns278:solidFill>
                <ns278:latin typeface="Arial"/>
                <ns278:ea typeface="Arial"/>
                <ns278:cs typeface="Arial"/>
              </ns278:defRPr>
            </ns278:pPr>
            <ns278:r>
              <ns278:rPr sz="1300" b="1">
                <ns278:solidFill>
                  <ns278:srgbClr val="005A9C"/>
                </ns278:solidFill>
                <ns278:latin typeface="Arial"/>
                <ns278:ea typeface="Arial"/>
                <ns278:cs typeface="Arial"/>
              </ns278:rPr>
              <ns278:t>LLM revises</ns278:t>
            </ns278:r>
          </ns278:p>
          <ns279:p xmlns:ns279="http://schemas.openxmlformats.org/drawingml/2006/main">
            <ns279:pPr algn="l">
              <ns279:lnSpc>
                <ns279:spcPct val="105000"/>
              </ns279:lnSpc>
              <ns279:defRPr sz="1150" b="0">
                <ns279:solidFill>
                  <ns279:srgbClr val="20262C"/>
                </ns279:solidFill>
                <ns279:latin typeface="Arial"/>
                <ns279:ea typeface="Arial"/>
                <ns279:cs typeface="Arial"/>
              </ns279:defRPr>
            </ns279:pPr>
            <ns279:r>
              <ns279:rPr sz="1150" b="0">
                <ns279:solidFill>
                  <ns279:srgbClr val="20262C"/>
                </ns279:solidFill>
                <ns279:latin typeface="Arial"/>
                <ns279:ea typeface="Arial"/>
                <ns279:cs typeface="Arial"/>
              </ns279:rPr>
              <ns279:t>Explain mismatches</ns279:t>
            </ns279:r>
          </ns279:p>
          <ns280:p xmlns:ns280="http://schemas.openxmlformats.org/drawingml/2006/main">
            <ns280:pPr algn="l">
              <ns280:lnSpc>
                <ns280:spcPct val="105000"/>
              </ns280:lnSpc>
              <ns280:defRPr sz="1150" b="0">
                <ns280:solidFill>
                  <ns280:srgbClr val="20262C"/>
                </ns280:solidFill>
                <ns280:latin typeface="Arial"/>
                <ns280:ea typeface="Arial"/>
                <ns280:cs typeface="Arial"/>
              </ns280:defRPr>
            </ns280:pPr>
            <ns280:r>
              <ns280:rPr sz="1150" b="0">
                <ns280:solidFill>
                  <ns280:srgbClr val="20262C"/>
                </ns280:solidFill>
                <ns280:latin typeface="Arial"/>
                <ns280:ea typeface="Arial"/>
                <ns280:cs typeface="Arial"/>
              </ns280:rPr>
              <ns280:t>Propose edits</ns280:t>
            </ns280:r>
          </ns280:p>
        </p:txBody>
      </p:sp>
      <p:sp>
        <p:nvSpPr>
          <p:cNvPr id="49" name="human.approval"/>
          <p:cNvSpPr/>
          <p:nvPr/>
        </p:nvSpPr>
        <p:spPr>
          <ns281:xfrm xmlns:ns281="http://schemas.openxmlformats.org/drawingml/2006/main">
            <ns281:off x="6480000" y="4014000"/>
            <ns281:ext cx="2206800" cy="630000"/>
          </ns281:xfrm>
          <ns282:prstGeom xmlns:ns282="http://schemas.openxmlformats.org/drawingml/2006/main" prst="roundRect">
            <ns282:avLst/>
          </ns282:prstGeom>
          <ns283:solidFill xmlns:ns283="http://schemas.openxmlformats.org/drawingml/2006/main">
            <ns283:srgbClr val="F3F7FA"/>
          </ns283:solidFill>
          <ns284:ln xmlns:ns284="http://schemas.openxmlformats.org/drawingml/2006/main" w="9525">
            <ns284:solidFill>
              <ns284:srgbClr val="65727D"/>
            </ns284:solidFill>
          </ns284:ln>
        </p:spPr>
        <p:txBody>
          <ns285:bodyPr xmlns:ns285="http://schemas.openxmlformats.org/drawingml/2006/main" wrap="square" lIns="61200" rIns="61200" tIns="61200" bIns="61200" anchor="ctr">
            <ns285:noAutofit/>
          </ns285:bodyPr>
          <ns286:lstStyle xmlns:ns286="http://schemas.openxmlformats.org/drawingml/2006/main"/>
          <ns287:p xmlns:ns287="http://schemas.openxmlformats.org/drawingml/2006/main">
            <ns287:pPr algn="l">
              <ns287:lnSpc>
                <ns287:spcPct val="105000"/>
              </ns287:lnSpc>
              <ns287:defRPr sz="1300" b="1">
                <ns287:solidFill>
                  <ns287:srgbClr val="65727D"/>
                </ns287:solidFill>
                <ns287:latin typeface="Arial"/>
                <ns287:ea typeface="Arial"/>
                <ns287:cs typeface="Arial"/>
              </ns287:defRPr>
            </ns287:pPr>
            <ns287:r>
              <ns287:rPr sz="1300" b="1">
                <ns287:solidFill>
                  <ns287:srgbClr val="65727D"/>
                </ns287:solidFill>
                <ns287:latin typeface="Arial"/>
                <ns287:ea typeface="Arial"/>
                <ns287:cs typeface="Arial"/>
              </ns287:rPr>
              <ns287:t>Author / reviewer</ns287:t>
            </ns287:r>
          </ns287:p>
          <ns288:p xmlns:ns288="http://schemas.openxmlformats.org/drawingml/2006/main">
            <ns288:pPr algn="l">
              <ns288:lnSpc>
                <ns288:spcPct val="105000"/>
              </ns288:lnSpc>
              <ns288:defRPr sz="1150" b="0">
                <ns288:solidFill>
                  <ns288:srgbClr val="20262C"/>
                </ns288:solidFill>
                <ns288:latin typeface="Arial"/>
                <ns288:ea typeface="Arial"/>
                <ns288:cs typeface="Arial"/>
              </ns288:defRPr>
            </ns288:pPr>
            <ns288:r>
              <ns288:rPr sz="1150" b="0">
                <ns288:solidFill>
                  <ns288:srgbClr val="20262C"/>
                </ns288:solidFill>
                <ns288:latin typeface="Arial"/>
                <ns288:ea typeface="Arial"/>
                <ns288:cs typeface="Arial"/>
              </ns288:rPr>
              <ns288:t>Author approves</ns288:t>
            </ns288:r>
          </ns288:p>
          <ns289:p xmlns:ns289="http://schemas.openxmlformats.org/drawingml/2006/main">
            <ns289:pPr algn="l">
              <ns289:lnSpc>
                <ns289:spcPct val="105000"/>
              </ns289:lnSpc>
              <ns289:defRPr sz="1150" b="0">
                <ns289:solidFill>
                  <ns289:srgbClr val="20262C"/>
                </ns289:solidFill>
                <ns289:latin typeface="Arial"/>
                <ns289:ea typeface="Arial"/>
                <ns289:cs typeface="Arial"/>
              </ns289:defRPr>
            </ns289:pPr>
            <ns289:r>
              <ns289:rPr sz="1150" b="0">
                <ns289:solidFill>
                  <ns289:srgbClr val="20262C"/>
                </ns289:solidFill>
                <ns289:latin typeface="Arial"/>
                <ns289:ea typeface="Arial"/>
                <ns289:cs typeface="Arial"/>
              </ns289:rPr>
              <ns289:t>Middle office checks</ns289:t>
            </ns289:r>
          </ns289:p>
        </p:txBody>
      </p:sp>
      <p:cxnSp>
        <p:nvCxnSpPr>
          <p:cNvPr id="50" name="v1.to.match"/>
          <p:cNvCxnSpPr/>
          <p:nvPr/>
        </p:nvCxnSpPr>
        <p:spPr>
          <ns290:xfrm xmlns:ns290="http://schemas.openxmlformats.org/drawingml/2006/main">
            <ns290:off x="3232800" y="3790800"/>
            <ns290:ext cx="1" cy="187200"/>
          </ns290:xfrm>
          <ns291:prstGeom xmlns:ns291="http://schemas.openxmlformats.org/drawingml/2006/main" prst="line">
            <ns291:avLst/>
          </ns291:prstGeom>
          <ns292:ln xmlns:ns292="http://schemas.openxmlformats.org/drawingml/2006/main" w="11430">
            <ns292:solidFill>
              <ns292:srgbClr val="7363A6"/>
            </ns292:solidFill>
            <ns292:tailEnd type="triangle" w="sm" len="sm"/>
          </ns292:ln>
        </p:spPr>
      </p:cxnSp>
      <p:cxnSp>
        <p:nvCxnSpPr>
          <p:cNvPr id="51" name="current.sources.to.match.0"/>
          <p:cNvCxnSpPr/>
          <p:nvPr/>
        </p:nvCxnSpPr>
        <p:spPr>
          <ns293:xfrm xmlns:ns293="http://schemas.openxmlformats.org/drawingml/2006/main">
            <ns293:off x="7407000" y="2026800"/>
            <ns293:ext cx="1" cy="61200"/>
          </ns293:xfrm>
          <ns294:prstGeom xmlns:ns294="http://schemas.openxmlformats.org/drawingml/2006/main" prst="line">
            <ns294:avLst/>
          </ns294:prstGeom>
          <ns295:ln xmlns:ns295="http://schemas.openxmlformats.org/drawingml/2006/main" w="9525">
            <ns295:solidFill>
              <ns295:srgbClr val="65727D"/>
            </ns295:solidFill>
          </ns295:ln>
        </p:spPr>
      </p:cxnSp>
      <p:cxnSp>
        <p:nvCxnSpPr>
          <p:cNvPr id="52" name="current.sources.to.match.1"/>
          <p:cNvCxnSpPr/>
          <p:nvPr/>
        </p:nvCxnSpPr>
        <p:spPr>
          <ns296:xfrm xmlns:ns296="http://schemas.openxmlformats.org/drawingml/2006/main" flipH="1">
            <ns296:off x="5220000" y="2088000"/>
            <ns296:ext cx="2187000" cy="1"/>
          </ns296:xfrm>
          <ns297:prstGeom xmlns:ns297="http://schemas.openxmlformats.org/drawingml/2006/main" prst="line">
            <ns297:avLst/>
          </ns297:prstGeom>
          <ns298:ln xmlns:ns298="http://schemas.openxmlformats.org/drawingml/2006/main" w="9525">
            <ns298:solidFill>
              <ns298:srgbClr val="65727D"/>
            </ns298:solidFill>
          </ns298:ln>
        </p:spPr>
      </p:cxnSp>
      <p:cxnSp>
        <p:nvCxnSpPr>
          <p:cNvPr id="53" name="current.sources.to.match.2"/>
          <p:cNvCxnSpPr/>
          <p:nvPr/>
        </p:nvCxnSpPr>
        <p:spPr>
          <ns299:xfrm xmlns:ns299="http://schemas.openxmlformats.org/drawingml/2006/main">
            <ns299:off x="5220000" y="2088000"/>
            <ns299:ext cx="1" cy="1789200"/>
          </ns299:xfrm>
          <ns300:prstGeom xmlns:ns300="http://schemas.openxmlformats.org/drawingml/2006/main" prst="line">
            <ns300:avLst/>
          </ns300:prstGeom>
          <ns301:ln xmlns:ns301="http://schemas.openxmlformats.org/drawingml/2006/main" w="9525">
            <ns301:solidFill>
              <ns301:srgbClr val="65727D"/>
            </ns301:solidFill>
          </ns301:ln>
        </p:spPr>
      </p:cxnSp>
      <p:cxnSp>
        <p:nvCxnSpPr>
          <p:cNvPr id="54" name="current.sources.to.match.3"/>
          <p:cNvCxnSpPr/>
          <p:nvPr/>
        </p:nvCxnSpPr>
        <p:spPr>
          <ns302:xfrm xmlns:ns302="http://schemas.openxmlformats.org/drawingml/2006/main" flipH="1">
            <ns302:off x="3232800" y="3877200"/>
            <ns302:ext cx="1987200" cy="1"/>
          </ns302:xfrm>
          <ns303:prstGeom xmlns:ns303="http://schemas.openxmlformats.org/drawingml/2006/main" prst="line">
            <ns303:avLst/>
          </ns303:prstGeom>
          <ns304:ln xmlns:ns304="http://schemas.openxmlformats.org/drawingml/2006/main" w="9525">
            <ns304:solidFill>
              <ns304:srgbClr val="65727D"/>
            </ns304:solidFill>
          </ns304:ln>
        </p:spPr>
      </p:cxnSp>
      <p:cxnSp>
        <p:nvCxnSpPr>
          <p:cNvPr id="55" name="matched.passages.to.llm"/>
          <p:cNvCxnSpPr/>
          <p:nvPr/>
        </p:nvCxnSpPr>
        <p:spPr>
          <ns305:xfrm xmlns:ns305="http://schemas.openxmlformats.org/drawingml/2006/main">
            <ns305:off x="4078800" y="4329000"/>
            <ns305:ext cx="79200" cy="1"/>
          </ns305:xfrm>
          <ns306:prstGeom xmlns:ns306="http://schemas.openxmlformats.org/drawingml/2006/main" prst="line">
            <ns306:avLst/>
          </ns306:prstGeom>
          <ns307:ln xmlns:ns307="http://schemas.openxmlformats.org/drawingml/2006/main" w="11430">
            <ns307:solidFill>
              <ns307:srgbClr val="005A9C"/>
            </ns307:solidFill>
            <ns307:tailEnd type="triangle" w="sm" len="sm"/>
          </ns307:ln>
        </p:spPr>
      </p:cxnSp>
      <p:cxnSp>
        <p:nvCxnSpPr>
          <p:cNvPr id="56" name="revisions.to.v2.0"/>
          <p:cNvCxnSpPr/>
          <p:nvPr/>
        </p:nvCxnSpPr>
        <p:spPr>
          <ns308:xfrm xmlns:ns308="http://schemas.openxmlformats.org/drawingml/2006/main">
            <ns308:off x="5958000" y="4329000"/>
            <ns308:ext cx="90000" cy="1"/>
          </ns308:xfrm>
          <ns309:prstGeom xmlns:ns309="http://schemas.openxmlformats.org/drawingml/2006/main" prst="line">
            <ns309:avLst/>
          </ns309:prstGeom>
          <ns310:ln xmlns:ns310="http://schemas.openxmlformats.org/drawingml/2006/main" w="11430">
            <ns310:solidFill>
              <ns310:srgbClr val="7363A6"/>
            </ns310:solidFill>
          </ns310:ln>
        </p:spPr>
      </p:cxnSp>
      <p:cxnSp>
        <p:nvCxnSpPr>
          <p:cNvPr id="57" name="revisions.to.v2.1"/>
          <p:cNvCxnSpPr/>
          <p:nvPr/>
        </p:nvCxnSpPr>
        <p:spPr>
          <ns311:xfrm xmlns:ns311="http://schemas.openxmlformats.org/drawingml/2006/main" flipV="1">
            <ns311:off x="6048000" y="3790800"/>
            <ns311:ext cx="1" cy="538200"/>
          </ns311:xfrm>
          <ns312:prstGeom xmlns:ns312="http://schemas.openxmlformats.org/drawingml/2006/main" prst="line">
            <ns312:avLst/>
          </ns312:prstGeom>
          <ns313:ln xmlns:ns313="http://schemas.openxmlformats.org/drawingml/2006/main" w="11430">
            <ns313:solidFill>
              <ns313:srgbClr val="7363A6"/>
            </ns313:solidFill>
            <ns313:tailEnd type="triangle" w="sm" len="sm"/>
          </ns313:ln>
        </p:spPr>
      </p:cxnSp>
      <p:cxnSp>
        <p:nvCxnSpPr>
          <p:cNvPr id="58" name="v2.to.human.approval"/>
          <p:cNvCxnSpPr/>
          <p:nvPr/>
        </p:nvCxnSpPr>
        <p:spPr>
          <ns314:xfrm xmlns:ns314="http://schemas.openxmlformats.org/drawingml/2006/main">
            <ns314:off x="7578000" y="3790800"/>
            <ns314:ext cx="1" cy="187200"/>
          </ns314:xfrm>
          <ns315:prstGeom xmlns:ns315="http://schemas.openxmlformats.org/drawingml/2006/main" prst="line">
            <ns315:avLst/>
          </ns315:prstGeom>
          <ns316:ln xmlns:ns316="http://schemas.openxmlformats.org/drawingml/2006/main" w="11430">
            <ns316:solidFill>
              <ns316:srgbClr val="7363A6"/>
            </ns316:solidFill>
            <ns316:tailEnd type="triangle" w="sm" len="sm"/>
          </ns316:ln>
        </p:spPr>
      </p:cxnSp>
    </p:spTree>
    <p:extLst>
      <p:ext uri="{BB962C8B-B14F-4D97-AF65-F5344CB8AC3E}">
        <p14:creationId xmlns:p14="http://schemas.microsoft.com/office/powerpoint/2010/main" val="17261152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Risk Analysis: Assessing Credit Events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Credit Risk Assessment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6"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7"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8"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communications</ns44:t>
            </ns44:r>
          </ns44:p>
        </p:txBody>
      </p:sp>
      <p:sp>
        <p:nvSpPr>
          <p:cNvPr id="9"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005A9C"/>
                </ns51:solidFill>
                <ns51:latin typeface="Arial"/>
                <ns51:ea typeface="Arial"/>
                <ns51:cs typeface="Arial"/>
              </ns51:defRPr>
            </ns51:pPr>
            <ns51:r>
              <ns51:rPr sz="1100" b="1">
                <ns51:solidFill>
                  <ns51:srgbClr val="005A9C"/>
                </ns51:solidFill>
                <ns51:latin typeface="Arial"/>
                <ns51:ea typeface="Arial"/>
                <ns51:cs typeface="Arial"/>
              </ns51:rPr>
              <ns51:t>Middle office</ns51:t>
            </ns51:r>
          </ns51:p>
        </p:txBody>
      </p:sp>
      <p:cxnSp>
        <p:nvCxnSpPr>
          <p:cNvPr id="10"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005A9C"/>
            </ns54:solidFill>
          </ns54:ln>
        </p:spPr>
      </p:cxnSp>
      <p:sp>
        <p:nvSpPr>
          <p:cNvPr id="11" name="map.task.focus.risk"/>
          <p:cNvSpPr/>
          <p:nvPr/>
        </p:nvSpPr>
        <p:spPr>
          <ns55:xfrm xmlns:ns55="http://schemas.openxmlformats.org/drawingml/2006/main">
            <ns55:off x="486000" y="2844000"/>
            <ns55:ext cx="1677600" cy="176400"/>
          </ns55:xfrm>
          <ns56:prstGeom xmlns:ns56="http://schemas.openxmlformats.org/drawingml/2006/main" prst="rect">
            <ns56:avLst/>
          </ns56:prstGeom>
          <ns57:solidFill xmlns:ns57="http://schemas.openxmlformats.org/drawingml/2006/main">
            <ns57:srgbClr val="D9EAF7"/>
          </ns57:solidFill>
          <ns58:ln xmlns:ns58="http://schemas.openxmlformats.org/drawingml/2006/main" w="0">
            <ns58:noFill/>
          </ns58:ln>
        </p:spPr>
      </p:sp>
      <p:sp>
        <p:nvSpPr>
          <p:cNvPr id="12" name="map.task.risk"/>
          <p:cNvSpPr/>
          <p:nvPr/>
        </p:nvSpPr>
        <p:spPr>
          <ns59:xfrm xmlns:ns59="http://schemas.openxmlformats.org/drawingml/2006/main">
            <ns59:off x="554400" y="2847600"/>
            <ns59:ext cx="1562400" cy="165600"/>
          </ns59:xfrm>
          <ns60:prstGeom xmlns:ns60="http://schemas.openxmlformats.org/drawingml/2006/main" prst="rect">
            <ns60:avLst/>
          </ns60:prstGeom>
          <ns61:noFill xmlns:ns61="http://schemas.openxmlformats.org/drawingml/2006/main"/>
          <ns62:ln xmlns:ns62="http://schemas.openxmlformats.org/drawingml/2006/main" w="0">
            <ns62:noFill/>
          </ns62:ln>
        </p:spPr>
        <p:txBody>
          <ns63:bodyPr xmlns:ns63="http://schemas.openxmlformats.org/drawingml/2006/main" wrap="square" lIns="0" rIns="0" tIns="0" bIns="0" anchor="t">
            <ns63:noAutofit/>
          </ns63:bodyPr>
          <ns64:lstStyle xmlns:ns64="http://schemas.openxmlformats.org/drawingml/2006/main"/>
          <ns65:p xmlns:ns65="http://schemas.openxmlformats.org/drawingml/2006/main">
            <ns65:pPr algn="l">
              <ns65:lnSpc>
                <ns65:spcPct val="105000"/>
              </ns65:lnSpc>
              <ns65:defRPr sz="1050" b="1">
                <ns65:solidFill>
                  <ns65:srgbClr val="005A9C"/>
                </ns65:solidFill>
                <ns65:latin typeface="Arial"/>
                <ns65:ea typeface="Arial"/>
                <ns65:cs typeface="Arial"/>
              </ns65:defRPr>
            </ns65:pPr>
            <ns65:r>
              <ns65:rPr sz="1050" b="1">
                <ns65:solidFill>
                  <ns65:srgbClr val="005A9C"/>
                </ns65:solidFill>
                <ns65:latin typeface="Arial"/>
                <ns65:ea typeface="Arial"/>
                <ns65:cs typeface="Arial"/>
              </ns65:rPr>
              <ns65:t>Risk analysis</ns65:t>
            </ns65:r>
          </ns65:p>
        </p:txBody>
      </p:sp>
      <p:sp>
        <p:nvSpPr>
          <p:cNvPr id="13" name="map.office.2"/>
          <p:cNvSpPr/>
          <p:nvPr/>
        </p:nvSpPr>
        <p:spPr>
          <ns66:xfrm xmlns:ns66="http://schemas.openxmlformats.org/drawingml/2006/main">
            <ns66:off x="486000" y="3391200"/>
            <ns66:ext cx="1692000" cy="1800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100" b="1">
                <ns72:solidFill>
                  <ns72:srgbClr val="65727D"/>
                </ns72:solidFill>
                <ns72:latin typeface="Arial"/>
                <ns72:ea typeface="Arial"/>
                <ns72:cs typeface="Arial"/>
              </ns72:defRPr>
            </ns72:pPr>
            <ns72:r>
              <ns72:rPr sz="1100" b="1">
                <ns72:solidFill>
                  <ns72:srgbClr val="65727D"/>
                </ns72:solidFill>
                <ns72:latin typeface="Arial"/>
                <ns72:ea typeface="Arial"/>
                <ns72:cs typeface="Arial"/>
              </ns72:rPr>
              <ns72:t>Back office</ns72:t>
            </ns72:r>
          </ns72:p>
        </p:txBody>
      </p:sp>
      <p:cxnSp>
        <p:nvCxnSpPr>
          <p:cNvPr id="14" name="map.office.rule.2"/>
          <p:cNvCxnSpPr/>
          <p:nvPr/>
        </p:nvCxnSpPr>
        <p:spPr>
          <ns73:xfrm xmlns:ns73="http://schemas.openxmlformats.org/drawingml/2006/main">
            <ns73:off x="457200" y="3610800"/>
            <ns73:ext cx="1742400" cy="1"/>
          </ns73:xfrm>
          <ns74:prstGeom xmlns:ns74="http://schemas.openxmlformats.org/drawingml/2006/main" prst="line">
            <ns74:avLst/>
          </ns74:prstGeom>
          <ns75:ln xmlns:ns75="http://schemas.openxmlformats.org/drawingml/2006/main" w="7620">
            <ns75:solidFill>
              <ns75:srgbClr val="CBD4DA"/>
            </ns75:solidFill>
          </ns75:ln>
        </p:spPr>
      </p:cxnSp>
      <p:sp>
        <p:nvSpPr>
          <p:cNvPr id="15" name="map.task.records"/>
          <p:cNvSpPr/>
          <p:nvPr/>
        </p:nvSpPr>
        <p:spPr>
          <ns76:xfrm xmlns:ns76="http://schemas.openxmlformats.org/drawingml/2006/main">
            <ns76:off x="554400" y="3690000"/>
            <ns76:ext cx="1562400" cy="1656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050" b="0">
                <ns82:solidFill>
                  <ns82:srgbClr val="65727D"/>
                </ns82:solidFill>
                <ns82:latin typeface="Arial"/>
                <ns82:ea typeface="Arial"/>
                <ns82:cs typeface="Arial"/>
              </ns82:defRPr>
            </ns82:pPr>
            <ns82:r>
              <ns82:rPr sz="1050" b="0">
                <ns82:solidFill>
                  <ns82:srgbClr val="65727D"/>
                </ns82:solidFill>
                <ns82:latin typeface="Arial"/>
                <ns82:ea typeface="Arial"/>
                <ns82:cs typeface="Arial"/>
              </ns82:rPr>
              <ns82:t>Record entry</ns82:t>
            </ns82:r>
          </ns82:p>
        </p:txBody>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Tool development</ns89:t>
            </ns89:r>
          </ns89:p>
        </p:txBody>
      </p:sp>
      <p:sp>
        <p:nvSpPr>
          <p:cNvPr id="17" name="input.risk.alert"/>
          <p:cNvSpPr/>
          <p:nvPr/>
        </p:nvSpPr>
        <p:spPr>
          <ns104:xfrm xmlns:ns104="http://schemas.openxmlformats.org/drawingml/2006/main">
            <ns104:off x="2422800" y="1530000"/>
            <ns104:ext cx="6264000" cy="648000"/>
          </ns104:xfrm>
          <ns105:prstGeom xmlns:ns105="http://schemas.openxmlformats.org/drawingml/2006/main" prst="rect">
            <ns105:avLst/>
          </ns105:prstGeom>
          <ns106:solidFill xmlns:ns106="http://schemas.openxmlformats.org/drawingml/2006/main">
            <ns106:srgbClr val="EFF6F4"/>
          </ns106:solidFill>
          <ns107:ln xmlns:ns107="http://schemas.openxmlformats.org/drawingml/2006/main" w="9525">
            <ns107:solidFill>
              <ns107:srgbClr val="317F7B"/>
            </ns107:solidFill>
          </ns107:ln>
        </p:spPr>
        <p:txBody>
          <ns108:bodyPr xmlns:ns108="http://schemas.openxmlformats.org/drawingml/2006/main" wrap="square" lIns="61200" rIns="61200" tIns="61200" bIns="61200" anchor="ctr">
            <ns108:noAutofit/>
          </ns108:bodyPr>
          <ns109:lstStyle xmlns:ns109="http://schemas.openxmlformats.org/drawingml/2006/main"/>
          <ns110:p xmlns:ns110="http://schemas.openxmlformats.org/drawingml/2006/main">
            <ns110:pPr algn="l">
              <ns110:lnSpc>
                <ns110:spcPct val="105000"/>
              </ns110:lnSpc>
              <ns110:defRPr sz="1300" b="1">
                <ns110:solidFill>
                  <ns110:srgbClr val="317F7B"/>
                </ns110:solidFill>
                <ns110:latin typeface="Arial"/>
                <ns110:ea typeface="Arial"/>
                <ns110:cs typeface="Arial"/>
              </ns110:defRPr>
            </ns110:pPr>
            <ns110:r>
              <ns110:rPr sz="1300" b="1">
                <ns110:solidFill>
                  <ns110:srgbClr val="317F7B"/>
                </ns110:solidFill>
                <ns110:latin typeface="Arial"/>
                <ns110:ea typeface="Arial"/>
                <ns110:cs typeface="Arial"/>
              </ns110:rPr>
              <ns110:t>Company A alert</ns110:t>
            </ns110:r>
          </ns110:p>
          <ns111:p xmlns:ns111="http://schemas.openxmlformats.org/drawingml/2006/main">
            <ns111:pPr algn="l">
              <ns111:lnSpc>
                <ns111:spcPct val="105000"/>
              </ns111:lnSpc>
              <ns111:defRPr sz="1200" b="0">
                <ns111:solidFill>
                  <ns111:srgbClr val="20262C"/>
                </ns111:solidFill>
                <ns111:latin typeface="Arial"/>
                <ns111:ea typeface="Arial"/>
                <ns111:cs typeface="Arial"/>
              </ns111:defRPr>
            </ns111:pPr>
            <ns111:r>
              <ns111:rPr sz="1200" b="0">
                <ns111:solidFill>
                  <ns111:srgbClr val="20262C"/>
                </ns111:solidFill>
                <ns111:latin typeface="Arial"/>
                <ns111:ea typeface="Arial"/>
                <ns111:cs typeface="Arial"/>
              </ns111:rPr>
              <ns111:t>Credit rating on watch</ns111:t>
            </ns111:r>
          </ns111:p>
          <ns112:p xmlns:ns112="http://schemas.openxmlformats.org/drawingml/2006/main">
            <ns112:pPr algn="l">
              <ns112:lnSpc>
                <ns112:spcPct val="105000"/>
              </ns112:lnSpc>
              <ns112:defRPr sz="1200" b="0">
                <ns112:solidFill>
                  <ns112:srgbClr val="20262C"/>
                </ns112:solidFill>
                <ns112:latin typeface="Arial"/>
                <ns112:ea typeface="Arial"/>
                <ns112:cs typeface="Arial"/>
              </ns112:defRPr>
            </ns112:pPr>
            <ns112:r>
              <ns112:rPr sz="1200" b="0">
                <ns112:solidFill>
                  <ns112:srgbClr val="20262C"/>
                </ns112:solidFill>
                <ns112:latin typeface="Arial"/>
                <ns112:ea typeface="Arial"/>
                <ns112:cs typeface="Arial"/>
              </ns112:rPr>
              <ns112:t>Operating cash flow under pressure</ns112:t>
            </ns112:r>
          </ns112:p>
        </p:txBody>
      </p:sp>
      <p:sp>
        <p:nvSpPr>
          <p:cNvPr id="18" name="human.risk.analyst"/>
          <p:cNvSpPr/>
          <p:nvPr/>
        </p:nvSpPr>
        <p:spPr>
          <ns113:xfrm xmlns:ns113="http://schemas.openxmlformats.org/drawingml/2006/main">
            <ns113:off x="2422800" y="2520000"/>
            <ns113:ext cx="1620000" cy="594000"/>
          </ns113:xfrm>
          <ns114:prstGeom xmlns:ns114="http://schemas.openxmlformats.org/drawingml/2006/main" prst="roundRect">
            <ns114:avLst/>
          </ns114:prstGeom>
          <ns115:solidFill xmlns:ns115="http://schemas.openxmlformats.org/drawingml/2006/main">
            <ns115:srgbClr val="F3F7FA"/>
          </ns115:solidFill>
          <ns116:ln xmlns:ns116="http://schemas.openxmlformats.org/drawingml/2006/main" w="9525">
            <ns116:solidFill>
              <ns116:srgbClr val="65727D"/>
            </ns116:solidFill>
          </ns116:ln>
        </p:spPr>
        <p:txBody>
          <ns117:bodyPr xmlns:ns117="http://schemas.openxmlformats.org/drawingml/2006/main" wrap="square" lIns="61200" rIns="61200" tIns="61200" bIns="61200" anchor="ctr">
            <ns117:noAutofit/>
          </ns117:bodyPr>
          <ns118:lstStyle xmlns:ns118="http://schemas.openxmlformats.org/drawingml/2006/main"/>
          <ns119:p xmlns:ns119="http://schemas.openxmlformats.org/drawingml/2006/main">
            <ns119:pPr algn="l">
              <ns119:lnSpc>
                <ns119:spcPct val="105000"/>
              </ns119:lnSpc>
              <ns119:defRPr sz="1300" b="1">
                <ns119:solidFill>
                  <ns119:srgbClr val="65727D"/>
                </ns119:solidFill>
                <ns119:latin typeface="Arial"/>
                <ns119:ea typeface="Arial"/>
                <ns119:cs typeface="Arial"/>
              </ns119:defRPr>
            </ns119:pPr>
            <ns119:r>
              <ns119:rPr sz="1300" b="1">
                <ns119:solidFill>
                  <ns119:srgbClr val="65727D"/>
                </ns119:solidFill>
                <ns119:latin typeface="Arial"/>
                <ns119:ea typeface="Arial"/>
                <ns119:cs typeface="Arial"/>
              </ns119:rPr>
              <ns119:t>Risk analyst</ns119:t>
            </ns119:r>
          </ns119:p>
          <ns120:p xmlns:ns120="http://schemas.openxmlformats.org/drawingml/2006/main">
            <ns120:pPr algn="l">
              <ns120:lnSpc>
                <ns120:spcPct val="105000"/>
              </ns120:lnSpc>
              <ns120:defRPr sz="1200" b="0">
                <ns120:solidFill>
                  <ns120:srgbClr val="20262C"/>
                </ns120:solidFill>
                <ns120:latin typeface="Arial"/>
                <ns120:ea typeface="Arial"/>
                <ns120:cs typeface="Arial"/>
              </ns120:defRPr>
            </ns120:pPr>
            <ns120:r>
              <ns120:rPr sz="1200" b="0">
                <ns120:solidFill>
                  <ns120:srgbClr val="20262C"/>
                </ns120:solidFill>
                <ns120:latin typeface="Arial"/>
                <ns120:ea typeface="Arial"/>
                <ns120:cs typeface="Arial"/>
              </ns120:rPr>
              <ns120:t>Gather evidence</ns120:t>
            </ns120:r>
          </ns120:p>
        </p:txBody>
      </p:sp>
      <p:sp>
        <p:nvSpPr>
          <p:cNvPr id="19" name="source.risk.0"/>
          <p:cNvSpPr/>
          <p:nvPr/>
        </p:nvSpPr>
        <p:spPr>
          <ns121:xfrm xmlns:ns121="http://schemas.openxmlformats.org/drawingml/2006/main">
            <ns121:off x="4392000" y="2376000"/>
            <ns121:ext cx="1458000" cy="594000"/>
          </ns121:xfrm>
          <ns122:prstGeom xmlns:ns122="http://schemas.openxmlformats.org/drawingml/2006/main" prst="rect">
            <ns122:avLst/>
          </ns122:prstGeom>
          <ns123:solidFill xmlns:ns123="http://schemas.openxmlformats.org/drawingml/2006/main">
            <ns123:srgbClr val="F3F7FA"/>
          </ns123:solidFill>
          <ns124:ln xmlns:ns124="http://schemas.openxmlformats.org/drawingml/2006/main" w="9525">
            <ns124:solidFill>
              <ns124:srgbClr val="65727D"/>
            </ns124:solidFill>
          </ns124:ln>
        </p:spPr>
        <p:txBody>
          <ns125:bodyPr xmlns:ns125="http://schemas.openxmlformats.org/drawingml/2006/main" wrap="square" lIns="61200" rIns="61200" tIns="61200" bIns="61200" anchor="ctr">
            <ns125:noAutofit/>
          </ns125:bodyPr>
          <ns126:lstStyle xmlns:ns126="http://schemas.openxmlformats.org/drawingml/2006/main"/>
          <ns127:p xmlns:ns127="http://schemas.openxmlformats.org/drawingml/2006/main">
            <ns127:pPr algn="l">
              <ns127:lnSpc>
                <ns127:spcPct val="105000"/>
              </ns127:lnSpc>
              <ns127:defRPr sz="1300" b="1">
                <ns127:solidFill>
                  <ns127:srgbClr val="65727D"/>
                </ns127:solidFill>
                <ns127:latin typeface="Arial"/>
                <ns127:ea typeface="Arial"/>
                <ns127:cs typeface="Arial"/>
              </ns127:defRPr>
            </ns127:pPr>
            <ns127:r>
              <ns127:rPr sz="1300" b="1">
                <ns127:solidFill>
                  <ns127:srgbClr val="65727D"/>
                </ns127:solidFill>
                <ns127:latin typeface="Arial"/>
                <ns127:ea typeface="Arial"/>
                <ns127:cs typeface="Arial"/>
              </ns127:rPr>
              <ns127:t>Holdings</ns127:t>
            </ns127:r>
          </ns127:p>
          <ns128:p xmlns:ns128="http://schemas.openxmlformats.org/drawingml/2006/main">
            <ns128:pPr algn="l">
              <ns128:lnSpc>
                <ns128:spcPct val="105000"/>
              </ns128:lnSpc>
              <ns128:defRPr sz="1050" b="0">
                <ns128:solidFill>
                  <ns128:srgbClr val="20262C"/>
                </ns128:solidFill>
                <ns128:latin typeface="Arial"/>
                <ns128:ea typeface="Arial"/>
                <ns128:cs typeface="Arial"/>
              </ns128:defRPr>
            </ns128:pPr>
            <ns128:r>
              <ns128:rPr sz="1050" b="0">
                <ns128:solidFill>
                  <ns128:srgbClr val="20262C"/>
                </ns128:solidFill>
                <ns128:latin typeface="Arial"/>
                <ns128:ea typeface="Arial"/>
                <ns128:cs typeface="Arial"/>
              </ns128:rPr>
              <ns128:t>Exposed funds?</ns128:t>
            </ns128:r>
          </ns128:p>
        </p:txBody>
      </p:sp>
      <p:sp>
        <p:nvSpPr>
          <p:cNvPr id="20" name="source.risk.1"/>
          <p:cNvSpPr/>
          <p:nvPr/>
        </p:nvSpPr>
        <p:spPr>
          <ns129:xfrm xmlns:ns129="http://schemas.openxmlformats.org/drawingml/2006/main">
            <ns129:off x="4392000" y="3139200"/>
            <ns129:ext cx="1458000" cy="594000"/>
          </ns129:xfrm>
          <ns130:prstGeom xmlns:ns130="http://schemas.openxmlformats.org/drawingml/2006/main" prst="rect">
            <ns130:avLst/>
          </ns130:prstGeom>
          <ns131:solidFill xmlns:ns131="http://schemas.openxmlformats.org/drawingml/2006/main">
            <ns131:srgbClr val="F3F7FA"/>
          </ns131:solidFill>
          <ns132:ln xmlns:ns132="http://schemas.openxmlformats.org/drawingml/2006/main" w="9525">
            <ns132:solidFill>
              <ns132:srgbClr val="65727D"/>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65727D"/>
                </ns135:solidFill>
                <ns135:latin typeface="Arial"/>
                <ns135:ea typeface="Arial"/>
                <ns135:cs typeface="Arial"/>
              </ns135:defRPr>
            </ns135:pPr>
            <ns135:r>
              <ns135:rPr sz="1300" b="1">
                <ns135:solidFill>
                  <ns135:srgbClr val="65727D"/>
                </ns135:solidFill>
                <ns135:latin typeface="Arial"/>
                <ns135:ea typeface="Arial"/>
                <ns135:cs typeface="Arial"/>
              </ns135:rPr>
              <ns135:t>Contracts / policies</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Applicable rules?</ns136:t>
            </ns136:r>
          </ns136:p>
        </p:txBody>
      </p:sp>
      <p:sp>
        <p:nvSpPr>
          <p:cNvPr id="21" name="source.risk.2"/>
          <p:cNvSpPr/>
          <p:nvPr/>
        </p:nvSpPr>
        <p:spPr>
          <ns137:xfrm xmlns:ns137="http://schemas.openxmlformats.org/drawingml/2006/main">
            <ns137:off x="4392000" y="3902400"/>
            <ns137:ext cx="1458000" cy="594000"/>
          </ns137:xfrm>
          <ns138:prstGeom xmlns:ns138="http://schemas.openxmlformats.org/drawingml/2006/main" prst="rect">
            <ns138:avLst/>
          </ns138:prstGeom>
          <ns139:solidFill xmlns:ns139="http://schemas.openxmlformats.org/drawingml/2006/main">
            <ns139:srgbClr val="F3F7FA"/>
          </ns139:solidFill>
          <ns140:ln xmlns:ns140="http://schemas.openxmlformats.org/drawingml/2006/main" w="9525">
            <ns140:solidFill>
              <ns140:srgbClr val="65727D"/>
            </ns140:solidFill>
          </ns140:ln>
        </p:spPr>
        <p:txBody>
          <ns141:bodyPr xmlns:ns141="http://schemas.openxmlformats.org/drawingml/2006/main" wrap="square" lIns="61200" rIns="61200" tIns="61200" bIns="61200" anchor="ctr">
            <ns141:noAutofit/>
          </ns141:bodyPr>
          <ns142:lstStyle xmlns:ns142="http://schemas.openxmlformats.org/drawingml/2006/main"/>
          <ns143:p xmlns:ns143="http://schemas.openxmlformats.org/drawingml/2006/main">
            <ns143:pPr algn="l">
              <ns143:lnSpc>
                <ns143:spcPct val="105000"/>
              </ns143:lnSpc>
              <ns143:defRPr sz="1300" b="1">
                <ns143:solidFill>
                  <ns143:srgbClr val="65727D"/>
                </ns143:solidFill>
                <ns143:latin typeface="Arial"/>
                <ns143:ea typeface="Arial"/>
                <ns143:cs typeface="Arial"/>
              </ns143:defRPr>
            </ns143:pPr>
            <ns143:r>
              <ns143:rPr sz="1300" b="1">
                <ns143:solidFill>
                  <ns143:srgbClr val="65727D"/>
                </ns143:solidFill>
                <ns143:latin typeface="Arial"/>
                <ns143:ea typeface="Arial"/>
                <ns143:cs typeface="Arial"/>
              </ns143:rPr>
              <ns143:t>Issuer research</ns143:t>
            </ns143:r>
          </ns143:p>
          <ns144:p xmlns:ns144="http://schemas.openxmlformats.org/drawingml/2006/main">
            <ns144:pPr algn="l">
              <ns144:lnSpc>
                <ns144:spcPct val="105000"/>
              </ns144:lnSpc>
              <ns144:defRPr sz="1050" b="0">
                <ns144:solidFill>
                  <ns144:srgbClr val="20262C"/>
                </ns144:solidFill>
                <ns144:latin typeface="Arial"/>
                <ns144:ea typeface="Arial"/>
                <ns144:cs typeface="Arial"/>
              </ns144:defRPr>
            </ns144:pPr>
            <ns144:r>
              <ns144:rPr sz="1050" b="0">
                <ns144:solidFill>
                  <ns144:srgbClr val="20262C"/>
                </ns144:solidFill>
                <ns144:latin typeface="Arial"/>
                <ns144:ea typeface="Arial"/>
                <ns144:cs typeface="Arial"/>
              </ns144:rPr>
              <ns144:t>Event impact?</ns144:t>
            </ns144:r>
          </ns144:p>
        </p:txBody>
      </p:sp>
      <p:cxnSp>
        <p:nvCxnSpPr>
          <p:cNvPr id="22" name="alert.to.analyst"/>
          <p:cNvCxnSpPr/>
          <p:nvPr/>
        </p:nvCxnSpPr>
        <p:spPr>
          <ns145:xfrm xmlns:ns145="http://schemas.openxmlformats.org/drawingml/2006/main">
            <ns145:off x="3232800" y="2214000"/>
            <ns145:ext cx="1" cy="270000"/>
          </ns145:xfrm>
          <ns146:prstGeom xmlns:ns146="http://schemas.openxmlformats.org/drawingml/2006/main" prst="line">
            <ns146:avLst/>
          </ns146:prstGeom>
          <ns147:ln xmlns:ns147="http://schemas.openxmlformats.org/drawingml/2006/main" w="11430">
            <ns147:solidFill>
              <ns147:srgbClr val="317F7B"/>
            </ns147:solidFill>
            <ns147:tailEnd type="triangle" w="sm" len="sm"/>
          </ns147:ln>
        </p:spPr>
      </p:cxnSp>
      <p:cxnSp>
        <p:nvCxnSpPr>
          <p:cNvPr id="23" name="analyst.evidence.entry"/>
          <p:cNvCxnSpPr/>
          <p:nvPr/>
        </p:nvCxnSpPr>
        <p:spPr>
          <ns148:xfrm xmlns:ns148="http://schemas.openxmlformats.org/drawingml/2006/main">
            <ns148:off x="4078800" y="2817000"/>
            <ns148:ext cx="115200" cy="1"/>
          </ns148:xfrm>
          <ns149:prstGeom xmlns:ns149="http://schemas.openxmlformats.org/drawingml/2006/main" prst="line">
            <ns149:avLst/>
          </ns149:prstGeom>
          <ns150:ln xmlns:ns150="http://schemas.openxmlformats.org/drawingml/2006/main" w="11430">
            <ns150:solidFill>
              <ns150:srgbClr val="005A9C"/>
            </ns150:solidFill>
          </ns150:ln>
        </p:spPr>
      </p:cxnSp>
      <p:cxnSp>
        <p:nvCxnSpPr>
          <p:cNvPr id="24" name="analyst.evidence.branch"/>
          <p:cNvCxnSpPr/>
          <p:nvPr/>
        </p:nvCxnSpPr>
        <p:spPr>
          <ns151:xfrm xmlns:ns151="http://schemas.openxmlformats.org/drawingml/2006/main">
            <ns151:off x="4194000" y="2673000"/>
            <ns151:ext cx="1" cy="1526400"/>
          </ns151:xfrm>
          <ns152:prstGeom xmlns:ns152="http://schemas.openxmlformats.org/drawingml/2006/main" prst="line">
            <ns152:avLst/>
          </ns152:prstGeom>
          <ns153:ln xmlns:ns153="http://schemas.openxmlformats.org/drawingml/2006/main" w="11430">
            <ns153:solidFill>
              <ns153:srgbClr val="005A9C"/>
            </ns153:solidFill>
          </ns153:ln>
        </p:spPr>
      </p:cxnSp>
      <p:cxnSp>
        <p:nvCxnSpPr>
          <p:cNvPr id="25" name="risk.parallel.search.0"/>
          <p:cNvCxnSpPr/>
          <p:nvPr/>
        </p:nvCxnSpPr>
        <p:spPr>
          <ns154:xfrm xmlns:ns154="http://schemas.openxmlformats.org/drawingml/2006/main">
            <ns154:off x="4194000" y="2673000"/>
            <ns154:ext cx="162000" cy="1"/>
          </ns154:xfrm>
          <ns155:prstGeom xmlns:ns155="http://schemas.openxmlformats.org/drawingml/2006/main" prst="line">
            <ns155:avLst/>
          </ns155:prstGeom>
          <ns156:ln xmlns:ns156="http://schemas.openxmlformats.org/drawingml/2006/main" w="11430">
            <ns156:solidFill>
              <ns156:srgbClr val="005A9C"/>
            </ns156:solidFill>
            <ns156:tailEnd type="triangle" w="sm" len="sm"/>
          </ns156:ln>
        </p:spPr>
      </p:cxnSp>
      <p:cxnSp>
        <p:nvCxnSpPr>
          <p:cNvPr id="26" name="risk.parallel.search.1"/>
          <p:cNvCxnSpPr/>
          <p:nvPr/>
        </p:nvCxnSpPr>
        <p:spPr>
          <ns157:xfrm xmlns:ns157="http://schemas.openxmlformats.org/drawingml/2006/main">
            <ns157:off x="4194000" y="3436200"/>
            <ns157:ext cx="162000" cy="1"/>
          </ns157:xfrm>
          <ns158:prstGeom xmlns:ns158="http://schemas.openxmlformats.org/drawingml/2006/main" prst="line">
            <ns158:avLst/>
          </ns158:prstGeom>
          <ns159:ln xmlns:ns159="http://schemas.openxmlformats.org/drawingml/2006/main" w="11430">
            <ns159:solidFill>
              <ns159:srgbClr val="005A9C"/>
            </ns159:solidFill>
            <ns159:tailEnd type="triangle" w="sm" len="sm"/>
          </ns159:ln>
        </p:spPr>
      </p:cxnSp>
      <p:cxnSp>
        <p:nvCxnSpPr>
          <p:cNvPr id="27" name="risk.parallel.search.2"/>
          <p:cNvCxnSpPr/>
          <p:nvPr/>
        </p:nvCxnSpPr>
        <p:spPr>
          <ns160:xfrm xmlns:ns160="http://schemas.openxmlformats.org/drawingml/2006/main">
            <ns160:off x="4194000" y="4199400"/>
            <ns160:ext cx="162000" cy="1"/>
          </ns160:xfrm>
          <ns161:prstGeom xmlns:ns161="http://schemas.openxmlformats.org/drawingml/2006/main" prst="line">
            <ns161:avLst/>
          </ns161:prstGeom>
          <ns162:ln xmlns:ns162="http://schemas.openxmlformats.org/drawingml/2006/main" w="11430">
            <ns162:solidFill>
              <ns162:srgbClr val="005A9C"/>
            </ns162:solidFill>
            <ns162:tailEnd type="triangle" w="sm" len="sm"/>
          </ns162:ln>
        </p:spPr>
      </p:cxnSp>
      <p:sp>
        <p:nvSpPr>
          <p:cNvPr id="28" name="output.human.assessment"/>
          <p:cNvSpPr/>
          <p:nvPr/>
        </p:nvSpPr>
        <p:spPr>
          <ns163:xfrm xmlns:ns163="http://schemas.openxmlformats.org/drawingml/2006/main">
            <ns163:off x="6127200" y="2952000"/>
            <ns163:ext cx="2559600" cy="810000"/>
          </ns163:xfrm>
          <ns164:prstGeom xmlns:ns164="http://schemas.openxmlformats.org/drawingml/2006/main" prst="rect">
            <ns164:avLst/>
          </ns164:prstGeom>
          <ns165:solidFill xmlns:ns165="http://schemas.openxmlformats.org/drawingml/2006/main">
            <ns165:srgbClr val="F3F7FA"/>
          </ns165:solidFill>
          <ns166:ln xmlns:ns166="http://schemas.openxmlformats.org/drawingml/2006/main" w="9525">
            <ns166:solidFill>
              <ns166:srgbClr val="65727D"/>
            </ns166:solidFill>
          </ns166:ln>
        </p:spPr>
        <p:txBody>
          <ns167:bodyPr xmlns:ns167="http://schemas.openxmlformats.org/drawingml/2006/main" wrap="square" lIns="61200" rIns="61200" tIns="61200" bIns="61200" anchor="ctr">
            <ns167:noAutofit/>
          </ns167:bodyPr>
          <ns168:lstStyle xmlns:ns168="http://schemas.openxmlformats.org/drawingml/2006/main"/>
          <ns169:p xmlns:ns169="http://schemas.openxmlformats.org/drawingml/2006/main">
            <ns169:pPr algn="l">
              <ns169:lnSpc>
                <ns169:spcPct val="105000"/>
              </ns169:lnSpc>
              <ns169:defRPr sz="1300" b="1">
                <ns169:solidFill>
                  <ns169:srgbClr val="65727D"/>
                </ns169:solidFill>
                <ns169:latin typeface="Arial"/>
                <ns169:ea typeface="Arial"/>
                <ns169:cs typeface="Arial"/>
              </ns169:defRPr>
            </ns169:pPr>
            <ns169:r>
              <ns169:rPr sz="1300" b="1">
                <ns169:solidFill>
                  <ns169:srgbClr val="65727D"/>
                </ns169:solidFill>
                <ns169:latin typeface="Arial"/>
                <ns169:ea typeface="Arial"/>
                <ns169:cs typeface="Arial"/>
              </ns169:rPr>
              <ns169:t>Event assessment</ns169:t>
            </ns169:r>
          </ns169:p>
          <ns170:p xmlns:ns170="http://schemas.openxmlformats.org/drawingml/2006/main">
            <ns170:pPr algn="l">
              <ns170:lnSpc>
                <ns170:spcPct val="105000"/>
              </ns170:lnSpc>
              <ns170:defRPr sz="1150" b="0">
                <ns170:solidFill>
                  <ns170:srgbClr val="20262C"/>
                </ns170:solidFill>
                <ns170:latin typeface="Arial"/>
                <ns170:ea typeface="Arial"/>
                <ns170:cs typeface="Arial"/>
              </ns170:defRPr>
            </ns170:pPr>
            <ns170:r>
              <ns170:rPr sz="1150" b="0">
                <ns170:solidFill>
                  <ns170:srgbClr val="20262C"/>
                </ns170:solidFill>
                <ns170:latin typeface="Arial"/>
                <ns170:ea typeface="Arial"/>
                <ns170:cs typeface="Arial"/>
              </ns170:rPr>
              <ns170:t>Exposure / rules / impact</ns170:t>
            </ns170:r>
          </ns170:p>
        </p:txBody>
      </p:sp>
      <p:cxnSp>
        <p:nvCxnSpPr>
          <p:cNvPr id="29" name="risk.evidence.converges.source.0"/>
          <p:cNvCxnSpPr/>
          <p:nvPr/>
        </p:nvCxnSpPr>
        <p:spPr>
          <ns171:xfrm xmlns:ns171="http://schemas.openxmlformats.org/drawingml/2006/main">
            <ns171:off x="5850000" y="2673000"/>
            <ns171:ext cx="144000" cy="1"/>
          </ns171:xfrm>
          <ns172:prstGeom xmlns:ns172="http://schemas.openxmlformats.org/drawingml/2006/main" prst="line">
            <ns172:avLst/>
          </ns172:prstGeom>
          <ns173:ln xmlns:ns173="http://schemas.openxmlformats.org/drawingml/2006/main" w="9525">
            <ns173:solidFill>
              <ns173:srgbClr val="005A9C"/>
            </ns173:solidFill>
          </ns173:ln>
        </p:spPr>
      </p:cxnSp>
      <p:cxnSp>
        <p:nvCxnSpPr>
          <p:cNvPr id="30" name="risk.evidence.converges.source.1"/>
          <p:cNvCxnSpPr/>
          <p:nvPr/>
        </p:nvCxnSpPr>
        <p:spPr>
          <ns174:xfrm xmlns:ns174="http://schemas.openxmlformats.org/drawingml/2006/main">
            <ns174:off x="5850000" y="3436200"/>
            <ns174:ext cx="144000" cy="1"/>
          </ns174:xfrm>
          <ns175:prstGeom xmlns:ns175="http://schemas.openxmlformats.org/drawingml/2006/main" prst="line">
            <ns175:avLst/>
          </ns175:prstGeom>
          <ns176:ln xmlns:ns176="http://schemas.openxmlformats.org/drawingml/2006/main" w="9525">
            <ns176:solidFill>
              <ns176:srgbClr val="005A9C"/>
            </ns176:solidFill>
          </ns176:ln>
        </p:spPr>
      </p:cxnSp>
      <p:cxnSp>
        <p:nvCxnSpPr>
          <p:cNvPr id="31" name="risk.evidence.converges.source.2"/>
          <p:cNvCxnSpPr/>
          <p:nvPr/>
        </p:nvCxnSpPr>
        <p:spPr>
          <ns177:xfrm xmlns:ns177="http://schemas.openxmlformats.org/drawingml/2006/main">
            <ns177:off x="5850000" y="4199400"/>
            <ns177:ext cx="144000" cy="1"/>
          </ns177:xfrm>
          <ns178:prstGeom xmlns:ns178="http://schemas.openxmlformats.org/drawingml/2006/main" prst="line">
            <ns178:avLst/>
          </ns178:prstGeom>
          <ns179:ln xmlns:ns179="http://schemas.openxmlformats.org/drawingml/2006/main" w="9525">
            <ns179:solidFill>
              <ns179:srgbClr val="005A9C"/>
            </ns179:solidFill>
          </ns179:ln>
        </p:spPr>
      </p:cxnSp>
      <p:cxnSp>
        <p:nvCxnSpPr>
          <p:cNvPr id="32" name="risk.evidence.converges.bus"/>
          <p:cNvCxnSpPr/>
          <p:nvPr/>
        </p:nvCxnSpPr>
        <p:spPr>
          <ns180:xfrm xmlns:ns180="http://schemas.openxmlformats.org/drawingml/2006/main">
            <ns180:off x="5994000" y="2673000"/>
            <ns180:ext cx="1" cy="1526400"/>
          </ns180:xfrm>
          <ns181:prstGeom xmlns:ns181="http://schemas.openxmlformats.org/drawingml/2006/main" prst="line">
            <ns181:avLst/>
          </ns181:prstGeom>
          <ns182:ln xmlns:ns182="http://schemas.openxmlformats.org/drawingml/2006/main" w="9525">
            <ns182:solidFill>
              <ns182:srgbClr val="005A9C"/>
            </ns182:solidFill>
          </ns182:ln>
        </p:spPr>
      </p:cxnSp>
      <p:cxnSp>
        <p:nvCxnSpPr>
          <p:cNvPr id="33" name="risk.evidence.converges.target"/>
          <p:cNvCxnSpPr/>
          <p:nvPr/>
        </p:nvCxnSpPr>
        <p:spPr>
          <ns183:xfrm xmlns:ns183="http://schemas.openxmlformats.org/drawingml/2006/main">
            <ns183:off x="5994000" y="3357000"/>
            <ns183:ext cx="133200" cy="1"/>
          </ns183:xfrm>
          <ns184:prstGeom xmlns:ns184="http://schemas.openxmlformats.org/drawingml/2006/main" prst="line">
            <ns184:avLst/>
          </ns184:prstGeom>
          <ns185:ln xmlns:ns185="http://schemas.openxmlformats.org/drawingml/2006/main" w="11430">
            <ns185:solidFill>
              <ns185:srgbClr val="005A9C"/>
            </ns185:solidFill>
            <ns185:tailEnd type="triangle" w="sm" len="sm"/>
          </ns185:ln>
        </p:spPr>
      </p:cxnSp>
    </p:spTree>
    <p:extLst>
      <p:ext uri="{BB962C8B-B14F-4D97-AF65-F5344CB8AC3E}">
        <p14:creationId xmlns:p14="http://schemas.microsoft.com/office/powerpoint/2010/main" val="3894480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Risk Analysis: Assessing Credit Events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China Universal and Tianhong: Risk Monitoring and Event Assessment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China Universal; Tianhong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2" name="map.task.focus.risk"/>
          <p:cNvSpPr/>
          <p:nvPr/>
        </p:nvSpPr>
        <p:spPr>
          <ns62:xfrm xmlns:ns62="http://schemas.openxmlformats.org/drawingml/2006/main">
            <ns62:off x="486000" y="2844000"/>
            <ns62:ext cx="1677600" cy="176400"/>
          </ns62:xfrm>
          <ns63:prstGeom xmlns:ns63="http://schemas.openxmlformats.org/drawingml/2006/main" prst="rect">
            <ns63:avLst/>
          </ns63:prstGeom>
          <ns64:solidFill xmlns:ns64="http://schemas.openxmlformats.org/drawingml/2006/main">
            <ns64:srgbClr val="D9EAF7"/>
          </ns64:solidFill>
          <ns65:ln xmlns:ns65="http://schemas.openxmlformats.org/drawingml/2006/main" w="0">
            <ns65:noFill/>
          </ns65:ln>
        </p:spPr>
      </p: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1">
                <ns72:solidFill>
                  <ns72:srgbClr val="005A9C"/>
                </ns72:solidFill>
                <ns72:latin typeface="Arial"/>
                <ns72:ea typeface="Arial"/>
                <ns72:cs typeface="Arial"/>
              </ns72:defRPr>
            </ns72:pPr>
            <ns72:r>
              <ns72:rPr sz="1050" b="1">
                <ns72:solidFill>
                  <ns72:srgbClr val="005A9C"/>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peer.china.universal"/>
          <p:cNvSpPr/>
          <p:nvPr/>
        </p:nvSpPr>
        <p:spPr>
          <ns111:xfrm xmlns:ns111="http://schemas.openxmlformats.org/drawingml/2006/main">
            <ns111:off x="2422800" y="1458000"/>
            <ns111:ext cx="30672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300" b="0">
                <ns117:solidFill>
                  <ns117:srgbClr val="005A9C"/>
                </ns117:solidFill>
                <ns117:latin typeface="Arial"/>
                <ns117:ea typeface="Arial"/>
                <ns117:cs typeface="Arial"/>
              </ns117:defRPr>
            </ns117:pPr>
            <ns117:r>
              <ns117:rPr sz="1300" b="0">
                <ns117:solidFill>
                  <ns117:srgbClr val="005A9C"/>
                </ns117:solidFill>
                <ns117:latin typeface="Arial"/>
                <ns117:ea typeface="Arial"/>
                <ns117:cs typeface="Arial"/>
              </ns117:rPr>
              <ns117:t>China Universal</ns117:t>
            </ns117:r>
          </ns117:p>
        </p:txBody>
      </p:sp>
      <p:sp>
        <p:nvSpPr>
          <p:cNvPr id="19" name="peer.tianhong"/>
          <p:cNvSpPr/>
          <p:nvPr/>
        </p:nvSpPr>
        <p:spPr>
          <ns118:xfrm xmlns:ns118="http://schemas.openxmlformats.org/drawingml/2006/main">
            <ns118:off x="5850000" y="1458000"/>
            <ns118:ext cx="2836800" cy="216000"/>
          </ns118:xfrm>
          <ns119:prstGeom xmlns:ns119="http://schemas.openxmlformats.org/drawingml/2006/main" prst="rect">
            <ns119:avLst/>
          </ns119:prstGeom>
          <ns120:noFill xmlns:ns120="http://schemas.openxmlformats.org/drawingml/2006/main"/>
          <ns121:ln xmlns:ns121="http://schemas.openxmlformats.org/drawingml/2006/main" w="0">
            <ns121:noFill/>
          </ns121:ln>
        </p:spPr>
        <p:txBody>
          <ns122:bodyPr xmlns:ns122="http://schemas.openxmlformats.org/drawingml/2006/main" wrap="square" lIns="0" rIns="0" tIns="0" bIns="0" anchor="t">
            <ns122:noAutofit/>
          </ns122:bodyPr>
          <ns123:lstStyle xmlns:ns123="http://schemas.openxmlformats.org/drawingml/2006/main"/>
          <ns124:p xmlns:ns124="http://schemas.openxmlformats.org/drawingml/2006/main">
            <ns124:pPr algn="l">
              <ns124:lnSpc>
                <ns124:spcPct val="105000"/>
              </ns124:lnSpc>
              <ns124:defRPr sz="1300" b="0">
                <ns124:solidFill>
                  <ns124:srgbClr val="005A9C"/>
                </ns124:solidFill>
                <ns124:latin typeface="Arial"/>
                <ns124:ea typeface="Arial"/>
                <ns124:cs typeface="Arial"/>
              </ns124:defRPr>
            </ns124:pPr>
            <ns124:r>
              <ns124:rPr sz="1300" b="0">
                <ns124:solidFill>
                  <ns124:srgbClr val="005A9C"/>
                </ns124:solidFill>
                <ns124:latin typeface="Arial"/>
                <ns124:ea typeface="Arial"/>
                <ns124:cs typeface="Arial"/>
              </ns124:rPr>
              <ns124:t>Tianhong</ns124:t>
            </ns124:r>
          </ns124:p>
        </p:txBody>
      </p:sp>
      <p:sp>
        <p:nvSpPr>
          <p:cNvPr id="20" name="input.custodian.alert"/>
          <p:cNvSpPr/>
          <p:nvPr/>
        </p:nvSpPr>
        <p:spPr>
          <ns125:xfrm xmlns:ns125="http://schemas.openxmlformats.org/drawingml/2006/main">
            <ns125:off x="2422800" y="1818000"/>
            <ns125:ext cx="1188000" cy="540000"/>
          </ns125:xfrm>
          <ns126:prstGeom xmlns:ns126="http://schemas.openxmlformats.org/drawingml/2006/main" prst="rect">
            <ns126:avLst/>
          </ns126:prstGeom>
          <ns127:solidFill xmlns:ns127="http://schemas.openxmlformats.org/drawingml/2006/main">
            <ns127:srgbClr val="F3F7FA"/>
          </ns127:solidFill>
          <ns128:ln xmlns:ns128="http://schemas.openxmlformats.org/drawingml/2006/main" w="9525">
            <ns128:solidFill>
              <ns128:srgbClr val="65727D"/>
            </ns128:solidFill>
          </ns128:ln>
        </p:spPr>
        <p:txBody>
          <ns129:bodyPr xmlns:ns129="http://schemas.openxmlformats.org/drawingml/2006/main" wrap="square" lIns="61200" rIns="61200" tIns="61200" bIns="61200" anchor="ctr">
            <ns129:noAutofit/>
          </ns129:bodyPr>
          <ns130:lstStyle xmlns:ns130="http://schemas.openxmlformats.org/drawingml/2006/main"/>
          <ns131:p xmlns:ns131="http://schemas.openxmlformats.org/drawingml/2006/main">
            <ns131:pPr algn="l">
              <ns131:lnSpc>
                <ns131:spcPct val="105000"/>
              </ns131:lnSpc>
              <ns131:defRPr sz="1300" b="1">
                <ns131:solidFill>
                  <ns131:srgbClr val="65727D"/>
                </ns131:solidFill>
                <ns131:latin typeface="Arial"/>
                <ns131:ea typeface="Arial"/>
                <ns131:cs typeface="Arial"/>
              </ns131:defRPr>
            </ns131:pPr>
            <ns131:r>
              <ns131:rPr sz="1300" b="1">
                <ns131:solidFill>
                  <ns131:srgbClr val="65727D"/>
                </ns131:solidFill>
                <ns131:latin typeface="Arial"/>
                <ns131:ea typeface="Arial"/>
                <ns131:cs typeface="Arial"/>
              </ns131:rPr>
              <ns131:t>Custodian alert</ns131:t>
            </ns131:r>
          </ns131:p>
        </p:txBody>
      </p:sp>
      <p:sp>
        <p:nvSpPr>
          <p:cNvPr id="21" name="role.alert.extraction"/>
          <p:cNvSpPr/>
          <p:nvPr/>
        </p:nvSpPr>
        <p:spPr>
          <ns132:xfrm xmlns:ns132="http://schemas.openxmlformats.org/drawingml/2006/main">
            <ns132:off x="3942000" y="1818000"/>
            <ns132:ext cx="1368000" cy="540000"/>
          </ns132:xfrm>
          <ns133:prstGeom xmlns:ns133="http://schemas.openxmlformats.org/drawingml/2006/main" prst="roundRect">
            <ns133:avLst/>
          </ns133:prstGeom>
          <ns134:solidFill xmlns:ns134="http://schemas.openxmlformats.org/drawingml/2006/main">
            <ns134:srgbClr val="EAF3FA"/>
          </ns134:solidFill>
          <ns135:ln xmlns:ns135="http://schemas.openxmlformats.org/drawingml/2006/main" w="9525">
            <ns135:solidFill>
              <ns135:srgbClr val="005A9C"/>
            </ns135:solidFill>
          </ns135:ln>
        </p:spPr>
        <p:txBody>
          <ns136:bodyPr xmlns:ns136="http://schemas.openxmlformats.org/drawingml/2006/main" wrap="square" lIns="61200" rIns="61200" tIns="61200" bIns="61200" anchor="ctr">
            <ns136:noAutofit/>
          </ns136:bodyPr>
          <ns137:lstStyle xmlns:ns137="http://schemas.openxmlformats.org/drawingml/2006/main"/>
          <ns138:p xmlns:ns138="http://schemas.openxmlformats.org/drawingml/2006/main">
            <ns138:pPr algn="l">
              <ns138:lnSpc>
                <ns138:spcPct val="105000"/>
              </ns138:lnSpc>
              <ns138:defRPr sz="1300" b="1">
                <ns138:solidFill>
                  <ns138:srgbClr val="005A9C"/>
                </ns138:solidFill>
                <ns138:latin typeface="Arial"/>
                <ns138:ea typeface="Arial"/>
                <ns138:cs typeface="Arial"/>
              </ns138:defRPr>
            </ns138:pPr>
            <ns138:r>
              <ns138:rPr sz="1300" b="1">
                <ns138:solidFill>
                  <ns138:srgbClr val="005A9C"/>
                </ns138:solidFill>
                <ns138:latin typeface="Arial"/>
                <ns138:ea typeface="Arial"/>
                <ns138:cs typeface="Arial"/>
              </ns138:rPr>
              <ns138:t>LLM</ns138:t>
            </ns138:r>
          </ns138:p>
          <ns139:p xmlns:ns139="http://schemas.openxmlformats.org/drawingml/2006/main">
            <ns139:pPr algn="l">
              <ns139:lnSpc>
                <ns139:spcPct val="105000"/>
              </ns139:lnSpc>
              <ns139:defRPr sz="1050" b="0">
                <ns139:solidFill>
                  <ns139:srgbClr val="20262C"/>
                </ns139:solidFill>
                <ns139:latin typeface="Arial"/>
                <ns139:ea typeface="Arial"/>
                <ns139:cs typeface="Arial"/>
              </ns139:defRPr>
            </ns139:pPr>
            <ns139:r>
              <ns139:rPr sz="1050" b="0">
                <ns139:solidFill>
                  <ns139:srgbClr val="20262C"/>
                </ns139:solidFill>
                <ns139:latin typeface="Arial"/>
                <ns139:ea typeface="Arial"/>
                <ns139:cs typeface="Arial"/>
              </ns139:rPr>
              <ns139:t>Extract / route</ns139:t>
            </ns139:r>
          </ns139:p>
        </p:txBody>
      </p:sp>
      <p:cxnSp>
        <p:nvCxnSpPr>
          <p:cNvPr id="22" name="custodian.to.extraction"/>
          <p:cNvCxnSpPr/>
          <p:nvPr/>
        </p:nvCxnSpPr>
        <p:spPr>
          <ns140:xfrm xmlns:ns140="http://schemas.openxmlformats.org/drawingml/2006/main">
            <ns140:off x="3646800" y="2088000"/>
            <ns140:ext cx="259200" cy="1"/>
          </ns140:xfrm>
          <ns141:prstGeom xmlns:ns141="http://schemas.openxmlformats.org/drawingml/2006/main" prst="line">
            <ns141:avLst/>
          </ns141:prstGeom>
          <ns142:ln xmlns:ns142="http://schemas.openxmlformats.org/drawingml/2006/main" w="11430">
            <ns142:solidFill>
              <ns142:srgbClr val="005A9C"/>
            </ns142:solidFill>
            <ns142:tailEnd type="triangle" w="sm" len="sm"/>
          </ns142:ln>
        </p:spPr>
      </p:cxnSp>
      <p:sp>
        <p:nvSpPr>
          <p:cNvPr id="23" name="output.risk.workspace"/>
          <p:cNvSpPr/>
          <p:nvPr/>
        </p:nvSpPr>
        <p:spPr>
          <ns143:xfrm xmlns:ns143="http://schemas.openxmlformats.org/drawingml/2006/main">
            <ns143:off x="2422800" y="2556000"/>
            <ns143:ext cx="2887200" cy="342000"/>
          </ns143:xfrm>
          <ns144:prstGeom xmlns:ns144="http://schemas.openxmlformats.org/drawingml/2006/main" prst="rect">
            <ns144:avLst/>
          </ns144:prstGeom>
          <ns145:solidFill xmlns:ns145="http://schemas.openxmlformats.org/drawingml/2006/main">
            <ns145:srgbClr val="F3F7FA"/>
          </ns145:solidFill>
          <ns146:ln xmlns:ns146="http://schemas.openxmlformats.org/drawingml/2006/main" w="9525">
            <ns146:solidFill>
              <ns146:srgbClr val="65727D"/>
            </ns146:solidFill>
          </ns146:ln>
        </p:spPr>
        <p:txBody>
          <ns147:bodyPr xmlns:ns147="http://schemas.openxmlformats.org/drawingml/2006/main" wrap="square" lIns="61200" rIns="61200" tIns="61200" bIns="61200" anchor="ctr">
            <ns147:noAutofit/>
          </ns147:bodyPr>
          <ns148:lstStyle xmlns:ns148="http://schemas.openxmlformats.org/drawingml/2006/main"/>
          <ns149:p xmlns:ns149="http://schemas.openxmlformats.org/drawingml/2006/main">
            <ns149:pPr algn="l">
              <ns149:lnSpc>
                <ns149:spcPct val="105000"/>
              </ns149:lnSpc>
              <ns149:defRPr sz="1300" b="1">
                <ns149:solidFill>
                  <ns149:srgbClr val="65727D"/>
                </ns149:solidFill>
                <ns149:latin typeface="Arial"/>
                <ns149:ea typeface="Arial"/>
                <ns149:cs typeface="Arial"/>
              </ns149:defRPr>
            </ns149:pPr>
            <ns149:r>
              <ns149:rPr sz="1300" b="1">
                <ns149:solidFill>
                  <ns149:srgbClr val="65727D"/>
                </ns149:solidFill>
                <ns149:latin typeface="Arial"/>
                <ns149:ea typeface="Arial"/>
                <ns149:cs typeface="Arial"/>
              </ns149:rPr>
              <ns149:t>Risk workspace</ns149:t>
            </ns149:r>
          </ns149:p>
        </p:txBody>
      </p:sp>
      <p:cxnSp>
        <p:nvCxnSpPr>
          <p:cNvPr id="24" name="alert.to.workspace"/>
          <p:cNvCxnSpPr/>
          <p:nvPr/>
        </p:nvCxnSpPr>
        <p:spPr>
          <ns150:xfrm xmlns:ns150="http://schemas.openxmlformats.org/drawingml/2006/main">
            <ns150:off x="4626000" y="2394000"/>
            <ns150:ext cx="1" cy="126000"/>
          </ns150:xfrm>
          <ns151:prstGeom xmlns:ns151="http://schemas.openxmlformats.org/drawingml/2006/main" prst="line">
            <ns151:avLst/>
          </ns151:prstGeom>
          <ns152:ln xmlns:ns152="http://schemas.openxmlformats.org/drawingml/2006/main" w="11430">
            <ns152:solidFill>
              <ns152:srgbClr val="005A9C"/>
            </ns152:solidFill>
            <ns152:tailEnd type="triangle" w="sm" len="sm"/>
          </ns152:ln>
        </p:spPr>
      </p:cxnSp>
      <p:sp>
        <p:nvSpPr>
          <p:cNvPr id="25" name="input.rule.sources.paper"/>
          <p:cNvSpPr/>
          <p:nvPr/>
        </p:nvSpPr>
        <p:spPr>
          <ns153:xfrm xmlns:ns153="http://schemas.openxmlformats.org/drawingml/2006/main">
            <ns153:off x="2422800" y="3132000"/>
            <ns153:ext cx="1188000" cy="792000"/>
          </ns153:xfrm>
          <ns154:prstGeom xmlns:ns154="http://schemas.openxmlformats.org/drawingml/2006/main" prst="foldedCorner">
            <ns154:avLst/>
          </ns154:prstGeom>
          <ns155:solidFill xmlns:ns155="http://schemas.openxmlformats.org/drawingml/2006/main">
            <ns155:srgbClr val="FFFFFF"/>
          </ns155:solidFill>
          <ns156:ln xmlns:ns156="http://schemas.openxmlformats.org/drawingml/2006/main" w="9525">
            <ns156:solidFill>
              <ns156:srgbClr val="65727D"/>
            </ns156:solidFill>
          </ns156:ln>
        </p:spPr>
      </p:sp>
      <p:sp>
        <p:nvSpPr>
          <p:cNvPr id="26" name="input.rule.sources.title"/>
          <p:cNvSpPr/>
          <p:nvPr/>
        </p:nvSpPr>
        <p:spPr>
          <ns157:xfrm xmlns:ns157="http://schemas.openxmlformats.org/drawingml/2006/main">
            <ns157:off x="2487600" y="3175200"/>
            <ns157:ext cx="990000" cy="198000"/>
          </ns157:xfrm>
          <ns158:prstGeom xmlns:ns158="http://schemas.openxmlformats.org/drawingml/2006/main" prst="rect">
            <ns158:avLst/>
          </ns158:prstGeom>
          <ns159:noFill xmlns:ns159="http://schemas.openxmlformats.org/drawingml/2006/main"/>
          <ns160:ln xmlns:ns160="http://schemas.openxmlformats.org/drawingml/2006/main" w="0">
            <ns160:noFill/>
          </ns160:ln>
        </p:spPr>
        <p:txBody>
          <ns161:bodyPr xmlns:ns161="http://schemas.openxmlformats.org/drawingml/2006/main" wrap="square" lIns="0" rIns="0" tIns="0" bIns="0" anchor="t">
            <ns161:noAutofit/>
          </ns161:bodyPr>
          <ns162:lstStyle xmlns:ns162="http://schemas.openxmlformats.org/drawingml/2006/main"/>
          <ns163:p xmlns:ns163="http://schemas.openxmlformats.org/drawingml/2006/main">
            <ns163:pPr algn="l">
              <ns163:lnSpc>
                <ns163:spcPct val="105000"/>
              </ns163:lnSpc>
              <ns163:defRPr sz="1250" b="1">
                <ns163:solidFill>
                  <ns163:srgbClr val="65727D"/>
                </ns163:solidFill>
                <ns163:latin typeface="Arial"/>
                <ns163:ea typeface="Arial"/>
                <ns163:cs typeface="Arial"/>
              </ns163:defRPr>
            </ns163:pPr>
            <ns163:r>
              <ns163:rPr sz="1250" b="1">
                <ns163:solidFill>
                  <ns163:srgbClr val="65727D"/>
                </ns163:solidFill>
                <ns163:latin typeface="Arial"/>
                <ns163:ea typeface="Arial"/>
                <ns163:cs typeface="Arial"/>
              </ns163:rPr>
              <ns163:t>Sources</ns163:t>
            </ns163:r>
          </ns163:p>
        </p:txBody>
      </p:sp>
      <p:sp>
        <p:nvSpPr>
          <p:cNvPr id="27" name="input.rule.sources.content"/>
          <p:cNvSpPr/>
          <p:nvPr/>
        </p:nvSpPr>
        <p:spPr>
          <ns164:xfrm xmlns:ns164="http://schemas.openxmlformats.org/drawingml/2006/main">
            <ns164:off x="2487600" y="3391200"/>
            <ns164:ext cx="1058400" cy="482400"/>
          </ns164:xfrm>
          <ns165:prstGeom xmlns:ns165="http://schemas.openxmlformats.org/drawingml/2006/main" prst="rect">
            <ns165:avLst/>
          </ns165:prstGeom>
          <ns166:noFill xmlns:ns166="http://schemas.openxmlformats.org/drawingml/2006/main"/>
          <ns167:ln xmlns:ns167="http://schemas.openxmlformats.org/drawingml/2006/main" w="0">
            <ns167:noFill/>
          </ns167:ln>
        </p:spPr>
        <p:txBody>
          <ns168:bodyPr xmlns:ns168="http://schemas.openxmlformats.org/drawingml/2006/main" wrap="square" lIns="0" rIns="0" tIns="0" bIns="0" anchor="t">
            <ns168:noAutofit/>
          </ns168:bodyPr>
          <ns169:lstStyle xmlns:ns169="http://schemas.openxmlformats.org/drawingml/2006/main"/>
          <ns170:p xmlns:ns170="http://schemas.openxmlformats.org/drawingml/2006/main">
            <ns170:pPr algn="l">
              <ns170:lnSpc>
                <ns170:spcPct val="100000"/>
              </ns170:lnSpc>
              <ns170:defRPr sz="1050" b="0">
                <ns170:solidFill>
                  <ns170:srgbClr val="20262C"/>
                </ns170:solidFill>
                <ns170:latin typeface="Arial"/>
                <ns170:ea typeface="Arial"/>
                <ns170:cs typeface="Arial"/>
              </ns170:defRPr>
            </ns170:pPr>
            <ns170:r>
              <ns170:rPr sz="1050" b="0">
                <ns170:solidFill>
                  <ns170:srgbClr val="20262C"/>
                </ns170:solidFill>
                <ns170:latin typeface="Arial"/>
                <ns170:ea typeface="Arial"/>
                <ns170:cs typeface="Arial"/>
              </ns170:rPr>
              <ns170:t>Regulations</ns170:t>
            </ns170:r>
          </ns170:p>
          <ns171:p xmlns:ns171="http://schemas.openxmlformats.org/drawingml/2006/main">
            <ns171:pPr algn="l">
              <ns171:lnSpc>
                <ns171:spcPct val="100000"/>
              </ns171:lnSpc>
              <ns171:defRPr sz="1050" b="0">
                <ns171:solidFill>
                  <ns171:srgbClr val="20262C"/>
                </ns171:solidFill>
                <ns171:latin typeface="Arial"/>
                <ns171:ea typeface="Arial"/>
                <ns171:cs typeface="Arial"/>
              </ns171:defRPr>
            </ns171:pPr>
            <ns171:r>
              <ns171:rPr sz="1050" b="0">
                <ns171:solidFill>
                  <ns171:srgbClr val="20262C"/>
                </ns171:solidFill>
                <ns171:latin typeface="Arial"/>
                <ns171:ea typeface="Arial"/>
                <ns171:cs typeface="Arial"/>
              </ns171:rPr>
              <ns171:t>Controls</ns171:t>
            </ns171:r>
          </ns171:p>
          <ns172:p xmlns:ns172="http://schemas.openxmlformats.org/drawingml/2006/main">
            <ns172:pPr algn="l">
              <ns172:lnSpc>
                <ns172:spcPct val="100000"/>
              </ns172:lnSpc>
              <ns172:defRPr sz="1050" b="0">
                <ns172:solidFill>
                  <ns172:srgbClr val="20262C"/>
                </ns172:solidFill>
                <ns172:latin typeface="Arial"/>
                <ns172:ea typeface="Arial"/>
                <ns172:cs typeface="Arial"/>
              </ns172:defRPr>
            </ns172:pPr>
            <ns172:r>
              <ns172:rPr sz="1050" b="0">
                <ns172:solidFill>
                  <ns172:srgbClr val="20262C"/>
                </ns172:solidFill>
                <ns172:latin typeface="Arial"/>
                <ns172:ea typeface="Arial"/>
                <ns172:cs typeface="Arial"/>
              </ns172:rPr>
              <ns172:t>Contracts</ns172:t>
            </ns172:r>
          </ns172:p>
        </p:txBody>
      </p:sp>
      <p:sp>
        <p:nvSpPr>
          <p:cNvPr id="28" name="tool.rule.links"/>
          <p:cNvSpPr/>
          <p:nvPr/>
        </p:nvSpPr>
        <p:spPr>
          <ns173:xfrm xmlns:ns173="http://schemas.openxmlformats.org/drawingml/2006/main">
            <ns173:off x="3942000" y="3132000"/>
            <ns173:ext cx="1368000" cy="684000"/>
          </ns173:xfrm>
          <ns174:prstGeom xmlns:ns174="http://schemas.openxmlformats.org/drawingml/2006/main" prst="roundRect">
            <ns174:avLst/>
          </ns174:prstGeom>
          <ns175:solidFill xmlns:ns175="http://schemas.openxmlformats.org/drawingml/2006/main">
            <ns175:srgbClr val="F3F7FA"/>
          </ns175:solidFill>
          <ns176:ln xmlns:ns176="http://schemas.openxmlformats.org/drawingml/2006/main" w="9525">
            <ns176:solidFill>
              <ns176:srgbClr val="65727D"/>
            </ns176:solidFill>
          </ns176:ln>
        </p:spPr>
        <p:txBody>
          <ns177:bodyPr xmlns:ns177="http://schemas.openxmlformats.org/drawingml/2006/main" wrap="square" lIns="61200" rIns="61200" tIns="61200" bIns="61200" anchor="ctr">
            <ns177:noAutofit/>
          </ns177:bodyPr>
          <ns178:lstStyle xmlns:ns178="http://schemas.openxmlformats.org/drawingml/2006/main"/>
          <ns179:p xmlns:ns179="http://schemas.openxmlformats.org/drawingml/2006/main">
            <ns179:pPr algn="l">
              <ns179:lnSpc>
                <ns179:spcPct val="105000"/>
              </ns179:lnSpc>
              <ns179:defRPr sz="1300" b="1">
                <ns179:solidFill>
                  <ns179:srgbClr val="65727D"/>
                </ns179:solidFill>
                <ns179:latin typeface="Arial"/>
                <ns179:ea typeface="Arial"/>
                <ns179:cs typeface="Arial"/>
              </ns179:defRPr>
            </ns179:pPr>
            <ns179:r>
              <ns179:rPr sz="1300" b="1">
                <ns179:solidFill>
                  <ns179:srgbClr val="65727D"/>
                </ns179:solidFill>
                <ns179:latin typeface="Arial"/>
                <ns179:ea typeface="Arial"/>
                <ns179:cs typeface="Arial"/>
              </ns179:rPr>
              <ns179:t>System</ns179:t>
            </ns179:r>
          </ns179:p>
          <ns180:p xmlns:ns180="http://schemas.openxmlformats.org/drawingml/2006/main">
            <ns180:pPr algn="l">
              <ns180:lnSpc>
                <ns180:spcPct val="105000"/>
              </ns180:lnSpc>
              <ns180:defRPr sz="1050" b="0">
                <ns180:solidFill>
                  <ns180:srgbClr val="20262C"/>
                </ns180:solidFill>
                <ns180:latin typeface="Arial"/>
                <ns180:ea typeface="Arial"/>
                <ns180:cs typeface="Arial"/>
              </ns180:defRPr>
            </ns180:pPr>
            <ns180:r>
              <ns180:rPr sz="1050" b="0">
                <ns180:solidFill>
                  <ns180:srgbClr val="20262C"/>
                </ns180:solidFill>
                <ns180:latin typeface="Arial"/>
                <ns180:ea typeface="Arial"/>
                <ns180:cs typeface="Arial"/>
              </ns180:rPr>
              <ns180:t>Link rules to source</ns180:t>
            </ns180:r>
          </ns180:p>
        </p:txBody>
      </p:sp>
      <p:cxnSp>
        <p:nvCxnSpPr>
          <p:cNvPr id="29" name="source.rule.links"/>
          <p:cNvCxnSpPr/>
          <p:nvPr/>
        </p:nvCxnSpPr>
        <p:spPr>
          <ns181:xfrm xmlns:ns181="http://schemas.openxmlformats.org/drawingml/2006/main">
            <ns181:off x="3646800" y="3474000"/>
            <ns181:ext cx="259200" cy="1"/>
          </ns181:xfrm>
          <ns182:prstGeom xmlns:ns182="http://schemas.openxmlformats.org/drawingml/2006/main" prst="line">
            <ns182:avLst/>
          </ns182:prstGeom>
          <ns183:ln xmlns:ns183="http://schemas.openxmlformats.org/drawingml/2006/main" w="11430">
            <ns183:solidFill>
              <ns183:srgbClr val="005A9C"/>
            </ns183:solidFill>
            <ns183:tailEnd type="triangle" w="sm" len="sm"/>
          </ns183:ln>
        </p:spPr>
      </p:cxnSp>
      <p:sp>
        <p:nvSpPr>
          <p:cNvPr id="30" name="output.rule.explanation"/>
          <p:cNvSpPr/>
          <p:nvPr/>
        </p:nvSpPr>
        <p:spPr>
          <ns184:xfrm xmlns:ns184="http://schemas.openxmlformats.org/drawingml/2006/main">
            <ns184:off x="2422800" y="3978000"/>
            <ns184:ext cx="2887200" cy="522000"/>
          </ns184:xfrm>
          <ns185:prstGeom xmlns:ns185="http://schemas.openxmlformats.org/drawingml/2006/main" prst="roundRect">
            <ns185:avLst/>
          </ns185:prstGeom>
          <ns186:solidFill xmlns:ns186="http://schemas.openxmlformats.org/drawingml/2006/main">
            <ns186:srgbClr val="EAF3FA"/>
          </ns186:solidFill>
          <ns187:ln xmlns:ns187="http://schemas.openxmlformats.org/drawingml/2006/main" w="9525">
            <ns187:solidFill>
              <ns187:srgbClr val="005A9C"/>
            </ns187:solidFill>
          </ns187:ln>
        </p:spPr>
        <p:txBody>
          <ns188:bodyPr xmlns:ns188="http://schemas.openxmlformats.org/drawingml/2006/main" wrap="square" lIns="61200" rIns="61200" tIns="61200" bIns="61200" anchor="ctr">
            <ns188:noAutofit/>
          </ns188:bodyPr>
          <ns189:lstStyle xmlns:ns189="http://schemas.openxmlformats.org/drawingml/2006/main"/>
          <ns190:p xmlns:ns190="http://schemas.openxmlformats.org/drawingml/2006/main">
            <ns190:pPr algn="l">
              <ns190:lnSpc>
                <ns190:spcPct val="105000"/>
              </ns190:lnSpc>
              <ns190:defRPr sz="1300" b="1">
                <ns190:solidFill>
                  <ns190:srgbClr val="005A9C"/>
                </ns190:solidFill>
                <ns190:latin typeface="Arial"/>
                <ns190:ea typeface="Arial"/>
                <ns190:cs typeface="Arial"/>
              </ns190:defRPr>
            </ns190:pPr>
            <ns190:r>
              <ns190:rPr sz="1300" b="1">
                <ns190:solidFill>
                  <ns190:srgbClr val="005A9C"/>
                </ns190:solidFill>
                <ns190:latin typeface="Arial"/>
                <ns190:ea typeface="Arial"/>
                <ns190:cs typeface="Arial"/>
              </ns190:rPr>
              <ns190:t>LLM trigger explanation</ns190:t>
            </ns190:r>
          </ns190:p>
          <ns191:p xmlns:ns191="http://schemas.openxmlformats.org/drawingml/2006/main">
            <ns191:pPr algn="l">
              <ns191:lnSpc>
                <ns191:spcPct val="105000"/>
              </ns191:lnSpc>
              <ns191:defRPr sz="1050" b="0">
                <ns191:solidFill>
                  <ns191:srgbClr val="20262C"/>
                </ns191:solidFill>
                <ns191:latin typeface="Arial"/>
                <ns191:ea typeface="Arial"/>
                <ns191:cs typeface="Arial"/>
              </ns191:defRPr>
            </ns191:pPr>
            <ns191:r>
              <ns191:rPr sz="1050" b="0">
                <ns191:solidFill>
                  <ns191:srgbClr val="20262C"/>
                </ns191:solidFill>
                <ns191:latin typeface="Arial"/>
                <ns191:ea typeface="Arial"/>
                <ns191:cs typeface="Arial"/>
              </ns191:rPr>
              <ns191:t>Source basis</ns191:t>
            </ns191:r>
          </ns191:p>
        </p:txBody>
      </p:sp>
      <p:cxnSp>
        <p:nvCxnSpPr>
          <p:cNvPr id="31" name="rule.link.explanation"/>
          <p:cNvCxnSpPr/>
          <p:nvPr/>
        </p:nvCxnSpPr>
        <p:spPr>
          <ns192:xfrm xmlns:ns192="http://schemas.openxmlformats.org/drawingml/2006/main">
            <ns192:off x="4626000" y="3852000"/>
            <ns192:ext cx="1" cy="90000"/>
          </ns192:xfrm>
          <ns193:prstGeom xmlns:ns193="http://schemas.openxmlformats.org/drawingml/2006/main" prst="line">
            <ns193:avLst/>
          </ns193:prstGeom>
          <ns194:ln xmlns:ns194="http://schemas.openxmlformats.org/drawingml/2006/main" w="11430">
            <ns194:solidFill>
              <ns194:srgbClr val="005A9C"/>
            </ns194:solidFill>
            <ns194:tailEnd type="triangle" w="sm" len="sm"/>
          </ns194:ln>
        </p:spPr>
      </p:cxnSp>
      <p:sp>
        <p:nvSpPr>
          <p:cNvPr id="32" name="input.event.cases.paper"/>
          <p:cNvSpPr/>
          <p:nvPr/>
        </p:nvSpPr>
        <p:spPr>
          <ns195:xfrm xmlns:ns195="http://schemas.openxmlformats.org/drawingml/2006/main">
            <ns195:off x="5850000" y="1818000"/>
            <ns195:ext cx="2836800" cy="756000"/>
          </ns195:xfrm>
          <ns196:prstGeom xmlns:ns196="http://schemas.openxmlformats.org/drawingml/2006/main" prst="foldedCorner">
            <ns196:avLst/>
          </ns196:prstGeom>
          <ns197:solidFill xmlns:ns197="http://schemas.openxmlformats.org/drawingml/2006/main">
            <ns197:srgbClr val="FFFFFF"/>
          </ns197:solidFill>
          <ns198:ln xmlns:ns198="http://schemas.openxmlformats.org/drawingml/2006/main" w="9525">
            <ns198:solidFill>
              <ns198:srgbClr val="65727D"/>
            </ns198:solidFill>
          </ns198:ln>
        </p:spPr>
      </p:sp>
      <p:sp>
        <p:nvSpPr>
          <p:cNvPr id="33" name="input.event.cases.title"/>
          <p:cNvSpPr/>
          <p:nvPr/>
        </p:nvSpPr>
        <p:spPr>
          <ns199:xfrm xmlns:ns199="http://schemas.openxmlformats.org/drawingml/2006/main">
            <ns199:off x="5914800" y="1861200"/>
            <ns199:ext cx="2638800" cy="198000"/>
          </ns199:xfrm>
          <ns200:prstGeom xmlns:ns200="http://schemas.openxmlformats.org/drawingml/2006/main" prst="rect">
            <ns200:avLst/>
          </ns200:prstGeom>
          <ns201:noFill xmlns:ns201="http://schemas.openxmlformats.org/drawingml/2006/main"/>
          <ns202:ln xmlns:ns202="http://schemas.openxmlformats.org/drawingml/2006/main" w="0">
            <ns202:noFill/>
          </ns202:ln>
        </p:spPr>
        <p:txBody>
          <ns203:bodyPr xmlns:ns203="http://schemas.openxmlformats.org/drawingml/2006/main" wrap="square" lIns="0" rIns="0" tIns="0" bIns="0" anchor="t">
            <ns203:noAutofit/>
          </ns203:bodyPr>
          <ns204:lstStyle xmlns:ns204="http://schemas.openxmlformats.org/drawingml/2006/main"/>
          <ns205:p xmlns:ns205="http://schemas.openxmlformats.org/drawingml/2006/main">
            <ns205:pPr algn="l">
              <ns205:lnSpc>
                <ns205:spcPct val="105000"/>
              </ns205:lnSpc>
              <ns205:defRPr sz="1250" b="1">
                <ns205:solidFill>
                  <ns205:srgbClr val="65727D"/>
                </ns205:solidFill>
                <ns205:latin typeface="Arial"/>
                <ns205:ea typeface="Arial"/>
                <ns205:cs typeface="Arial"/>
              </ns205:defRPr>
            </ns205:pPr>
            <ns205:r>
              <ns205:rPr sz="1250" b="1">
                <ns205:solidFill>
                  <ns205:srgbClr val="65727D"/>
                </ns205:solidFill>
                <ns205:latin typeface="Arial"/>
                <ns205:ea typeface="Arial"/>
                <ns205:cs typeface="Arial"/>
              </ns205:rPr>
              <ns205:t>Event / past cases</ns205:t>
            </ns205:r>
          </ns205:p>
        </p:txBody>
      </p:sp>
      <p:sp>
        <p:nvSpPr>
          <p:cNvPr id="34" name="input.event.cases.content"/>
          <p:cNvSpPr/>
          <p:nvPr/>
        </p:nvSpPr>
        <p:spPr>
          <ns206:xfrm xmlns:ns206="http://schemas.openxmlformats.org/drawingml/2006/main">
            <ns206:off x="5914800" y="2077200"/>
            <ns206:ext cx="2707200" cy="446400"/>
          </ns206:xfrm>
          <ns207:prstGeom xmlns:ns207="http://schemas.openxmlformats.org/drawingml/2006/main" prst="rect">
            <ns207:avLst/>
          </ns207:prstGeom>
          <ns208:noFill xmlns:ns208="http://schemas.openxmlformats.org/drawingml/2006/main"/>
          <ns209:ln xmlns:ns209="http://schemas.openxmlformats.org/drawingml/2006/main" w="0">
            <ns209:noFill/>
          </ns209:ln>
        </p:spPr>
        <p:txBody>
          <ns210:bodyPr xmlns:ns210="http://schemas.openxmlformats.org/drawingml/2006/main" wrap="square" lIns="0" rIns="0" tIns="0" bIns="0" anchor="t">
            <ns210:noAutofit/>
          </ns210:bodyPr>
          <ns211:lstStyle xmlns:ns211="http://schemas.openxmlformats.org/drawingml/2006/main"/>
          <ns212:p xmlns:ns212="http://schemas.openxmlformats.org/drawingml/2006/main">
            <ns212:pPr algn="l">
              <ns212:lnSpc>
                <ns212:spcPct val="100000"/>
              </ns212:lnSpc>
              <ns212:defRPr sz="1150" b="0">
                <ns212:solidFill>
                  <ns212:srgbClr val="20262C"/>
                </ns212:solidFill>
                <ns212:latin typeface="Arial"/>
                <ns212:ea typeface="Arial"/>
                <ns212:cs typeface="Arial"/>
              </ns212:defRPr>
            </ns212:pPr>
            <ns212:r>
              <ns212:rPr sz="1150" b="0">
                <ns212:solidFill>
                  <ns212:srgbClr val="20262C"/>
                </ns212:solidFill>
                <ns212:latin typeface="Arial"/>
                <ns212:ea typeface="Arial"/>
                <ns212:cs typeface="Arial"/>
              </ns212:rPr>
              <ns212:t>Event details</ns212:t>
            </ns212:r>
          </ns212:p>
          <ns213:p xmlns:ns213="http://schemas.openxmlformats.org/drawingml/2006/main">
            <ns213:pPr algn="l">
              <ns213:lnSpc>
                <ns213:spcPct val="100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Comparable events</ns213:t>
            </ns213:r>
          </ns213:p>
        </p:txBody>
      </p:sp>
      <p:sp>
        <p:nvSpPr>
          <p:cNvPr id="35" name="role.event.assessment"/>
          <p:cNvSpPr/>
          <p:nvPr/>
        </p:nvSpPr>
        <p:spPr>
          <ns214:xfrm xmlns:ns214="http://schemas.openxmlformats.org/drawingml/2006/main">
            <ns214:off x="5850000" y="2826000"/>
            <ns214:ext cx="2836800" cy="756000"/>
          </ns214:xfrm>
          <ns215:prstGeom xmlns:ns215="http://schemas.openxmlformats.org/drawingml/2006/main" prst="roundRect">
            <ns215:avLst/>
          </ns215:prstGeom>
          <ns216:solidFill xmlns:ns216="http://schemas.openxmlformats.org/drawingml/2006/main">
            <ns216:srgbClr val="EAF3FA"/>
          </ns216:solidFill>
          <ns217:ln xmlns:ns217="http://schemas.openxmlformats.org/drawingml/2006/main" w="9525">
            <ns217:solidFill>
              <ns217:srgbClr val="005A9C"/>
            </ns217:solidFill>
          </ns217:ln>
        </p:spPr>
        <p:txBody>
          <ns218:bodyPr xmlns:ns218="http://schemas.openxmlformats.org/drawingml/2006/main" wrap="square" lIns="61200" rIns="61200" tIns="61200" bIns="61200" anchor="ctr">
            <ns218:noAutofit/>
          </ns218:bodyPr>
          <ns219:lstStyle xmlns:ns219="http://schemas.openxmlformats.org/drawingml/2006/main"/>
          <ns220:p xmlns:ns220="http://schemas.openxmlformats.org/drawingml/2006/main">
            <ns220:pPr algn="l">
              <ns220:lnSpc>
                <ns220:spcPct val="105000"/>
              </ns220:lnSpc>
              <ns220:defRPr sz="1300" b="1">
                <ns220:solidFill>
                  <ns220:srgbClr val="005A9C"/>
                </ns220:solidFill>
                <ns220:latin typeface="Arial"/>
                <ns220:ea typeface="Arial"/>
                <ns220:cs typeface="Arial"/>
              </ns220:defRPr>
            </ns220:pPr>
            <ns220:r>
              <ns220:rPr sz="1300" b="1">
                <ns220:solidFill>
                  <ns220:srgbClr val="005A9C"/>
                </ns220:solidFill>
                <ns220:latin typeface="Arial"/>
                <ns220:ea typeface="Arial"/>
                <ns220:cs typeface="Arial"/>
              </ns220:rPr>
              <ns220:t>LLM assessment</ns220:t>
            </ns220:r>
          </ns220:p>
          <ns221:p xmlns:ns221="http://schemas.openxmlformats.org/drawingml/2006/main">
            <ns221:pPr algn="l">
              <ns221:lnSpc>
                <ns221:spcPct val="105000"/>
              </ns221:lnSpc>
              <ns221:defRPr sz="1150" b="0">
                <ns221:solidFill>
                  <ns221:srgbClr val="20262C"/>
                </ns221:solidFill>
                <ns221:latin typeface="Arial"/>
                <ns221:ea typeface="Arial"/>
                <ns221:cs typeface="Arial"/>
              </ns221:defRPr>
            </ns221:pPr>
            <ns221:r>
              <ns221:rPr sz="1150" b="0">
                <ns221:solidFill>
                  <ns221:srgbClr val="20262C"/>
                </ns221:solidFill>
                <ns221:latin typeface="Arial"/>
                <ns221:ea typeface="Arial"/>
                <ns221:cs typeface="Arial"/>
              </ns221:rPr>
              <ns221:t>Compare cases</ns221:t>
            </ns221:r>
          </ns221:p>
          <ns222:p xmlns:ns222="http://schemas.openxmlformats.org/drawingml/2006/main">
            <ns222:pPr algn="l">
              <ns222:lnSpc>
                <ns222:spcPct val="105000"/>
              </ns222:lnSpc>
              <ns222:defRPr sz="1150" b="0">
                <ns222:solidFill>
                  <ns222:srgbClr val="20262C"/>
                </ns222:solidFill>
                <ns222:latin typeface="Arial"/>
                <ns222:ea typeface="Arial"/>
                <ns222:cs typeface="Arial"/>
              </ns222:defRPr>
            </ns222:pPr>
            <ns222:r>
              <ns222:rPr sz="1150" b="0">
                <ns222:solidFill>
                  <ns222:srgbClr val="20262C"/>
                </ns222:solidFill>
                <ns222:latin typeface="Arial"/>
                <ns222:ea typeface="Arial"/>
                <ns222:cs typeface="Arial"/>
              </ns222:rPr>
              <ns222:t>Outline impact / follow-up</ns222:t>
            </ns222:r>
          </ns222:p>
        </p:txBody>
      </p:sp>
      <p:cxnSp>
        <p:nvCxnSpPr>
          <p:cNvPr id="36" name="events.to.assessment"/>
          <p:cNvCxnSpPr/>
          <p:nvPr/>
        </p:nvCxnSpPr>
        <p:spPr>
          <ns223:xfrm xmlns:ns223="http://schemas.openxmlformats.org/drawingml/2006/main">
            <ns223:off x="7268400" y="2610000"/>
            <ns223:ext cx="1" cy="180000"/>
          </ns223:xfrm>
          <ns224:prstGeom xmlns:ns224="http://schemas.openxmlformats.org/drawingml/2006/main" prst="line">
            <ns224:avLst/>
          </ns224:prstGeom>
          <ns225:ln xmlns:ns225="http://schemas.openxmlformats.org/drawingml/2006/main" w="11430">
            <ns225:solidFill>
              <ns225:srgbClr val="005A9C"/>
            </ns225:solidFill>
            <ns225:tailEnd type="triangle" w="sm" len="sm"/>
          </ns225:ln>
        </p:spPr>
      </p:cxnSp>
      <p:sp>
        <p:nvSpPr>
          <p:cNvPr id="37" name="human.event.discussion"/>
          <p:cNvSpPr/>
          <p:nvPr/>
        </p:nvSpPr>
        <p:spPr>
          <ns226:xfrm xmlns:ns226="http://schemas.openxmlformats.org/drawingml/2006/main">
            <ns226:off x="5850000" y="3834000"/>
            <ns226:ext cx="2836800" cy="648000"/>
          </ns226:xfrm>
          <ns227:prstGeom xmlns:ns227="http://schemas.openxmlformats.org/drawingml/2006/main" prst="roundRect">
            <ns227:avLst/>
          </ns227:prstGeom>
          <ns228:solidFill xmlns:ns228="http://schemas.openxmlformats.org/drawingml/2006/main">
            <ns228:srgbClr val="F3F7FA"/>
          </ns228:solidFill>
          <ns229:ln xmlns:ns229="http://schemas.openxmlformats.org/drawingml/2006/main" w="9525">
            <ns229:solidFill>
              <ns229:srgbClr val="65727D"/>
            </ns229:solidFill>
          </ns229:ln>
        </p:spPr>
        <p:txBody>
          <ns230:bodyPr xmlns:ns230="http://schemas.openxmlformats.org/drawingml/2006/main" wrap="square" lIns="61200" rIns="61200" tIns="61200" bIns="61200" anchor="ctr">
            <ns230:noAutofit/>
          </ns230:bodyPr>
          <ns231:lstStyle xmlns:ns231="http://schemas.openxmlformats.org/drawingml/2006/main"/>
          <ns232:p xmlns:ns232="http://schemas.openxmlformats.org/drawingml/2006/main">
            <ns232:pPr algn="l">
              <ns232:lnSpc>
                <ns232:spcPct val="105000"/>
              </ns232:lnSpc>
              <ns232:defRPr sz="1300" b="1">
                <ns232:solidFill>
                  <ns232:srgbClr val="65727D"/>
                </ns232:solidFill>
                <ns232:latin typeface="Arial"/>
                <ns232:ea typeface="Arial"/>
                <ns232:cs typeface="Arial"/>
              </ns232:defRPr>
            </ns232:pPr>
            <ns232:r>
              <ns232:rPr sz="1300" b="1">
                <ns232:solidFill>
                  <ns232:srgbClr val="65727D"/>
                </ns232:solidFill>
                <ns232:latin typeface="Arial"/>
                <ns232:ea typeface="Arial"/>
                <ns232:cs typeface="Arial"/>
              </ns232:rPr>
              <ns232:t>Investment / risk teams</ns232:t>
            </ns232:r>
          </ns232:p>
          <ns233:p xmlns:ns233="http://schemas.openxmlformats.org/drawingml/2006/main">
            <ns233:pPr algn="l">
              <ns233:lnSpc>
                <ns233:spcPct val="105000"/>
              </ns233:lnSpc>
              <ns233:defRPr sz="1150" b="0">
                <ns233:solidFill>
                  <ns233:srgbClr val="20262C"/>
                </ns233:solidFill>
                <ns233:latin typeface="Arial"/>
                <ns233:ea typeface="Arial"/>
                <ns233:cs typeface="Arial"/>
              </ns233:defRPr>
            </ns233:pPr>
            <ns233:r>
              <ns233:rPr sz="1150" b="0">
                <ns233:solidFill>
                  <ns233:srgbClr val="20262C"/>
                </ns233:solidFill>
                <ns233:latin typeface="Arial"/>
                <ns233:ea typeface="Arial"/>
                <ns233:cs typeface="Arial"/>
              </ns233:rPr>
              <ns233:t>Discuss implications</ns233:t>
            </ns233:r>
          </ns233:p>
        </p:txBody>
      </p:sp>
      <p:cxnSp>
        <p:nvCxnSpPr>
          <p:cNvPr id="38" name="assessment.to.discussion"/>
          <p:cNvCxnSpPr/>
          <p:nvPr/>
        </p:nvCxnSpPr>
        <p:spPr>
          <ns234:xfrm xmlns:ns234="http://schemas.openxmlformats.org/drawingml/2006/main">
            <ns234:off x="7268400" y="3618000"/>
            <ns234:ext cx="1" cy="180000"/>
          </ns234:xfrm>
          <ns235:prstGeom xmlns:ns235="http://schemas.openxmlformats.org/drawingml/2006/main" prst="line">
            <ns235:avLst/>
          </ns235:prstGeom>
          <ns236:ln xmlns:ns236="http://schemas.openxmlformats.org/drawingml/2006/main" w="11430">
            <ns236:solidFill>
              <ns236:srgbClr val="005A9C"/>
            </ns236:solidFill>
            <ns236:tailEnd type="triangle" w="sm" len="sm"/>
          </ns236:ln>
        </p:spPr>
      </p:cxnSp>
    </p:spTree>
    <p:extLst>
      <p:ext uri="{BB962C8B-B14F-4D97-AF65-F5344CB8AC3E}">
        <p14:creationId xmlns:p14="http://schemas.microsoft.com/office/powerpoint/2010/main" val="7661700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Risk Analysis: Assessing Credit Events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 Drafting Credit Assessments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China Universal; Tianhong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005A9C"/>
                </ns58:solidFill>
                <ns58:latin typeface="Arial"/>
                <ns58:ea typeface="Arial"/>
                <ns58:cs typeface="Arial"/>
              </ns58:defRPr>
            </ns58:pPr>
            <ns58:r>
              <ns58:rPr sz="1100" b="1">
                <ns58:solidFill>
                  <ns58:srgbClr val="005A9C"/>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005A9C"/>
            </ns61:solidFill>
          </ns61:ln>
        </p:spPr>
      </p:cxnSp>
      <p:sp>
        <p:nvSpPr>
          <p:cNvPr id="12" name="map.task.focus.risk"/>
          <p:cNvSpPr/>
          <p:nvPr/>
        </p:nvSpPr>
        <p:spPr>
          <ns62:xfrm xmlns:ns62="http://schemas.openxmlformats.org/drawingml/2006/main">
            <ns62:off x="486000" y="2844000"/>
            <ns62:ext cx="1677600" cy="176400"/>
          </ns62:xfrm>
          <ns63:prstGeom xmlns:ns63="http://schemas.openxmlformats.org/drawingml/2006/main" prst="rect">
            <ns63:avLst/>
          </ns63:prstGeom>
          <ns64:solidFill xmlns:ns64="http://schemas.openxmlformats.org/drawingml/2006/main">
            <ns64:srgbClr val="D9EAF7"/>
          </ns64:solidFill>
          <ns65:ln xmlns:ns65="http://schemas.openxmlformats.org/drawingml/2006/main" w="0">
            <ns65:noFill/>
          </ns65:ln>
        </p:spPr>
      </p: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1">
                <ns72:solidFill>
                  <ns72:srgbClr val="005A9C"/>
                </ns72:solidFill>
                <ns72:latin typeface="Arial"/>
                <ns72:ea typeface="Arial"/>
                <ns72:cs typeface="Arial"/>
              </ns72:defRPr>
            </ns72:pPr>
            <ns72:r>
              <ns72:rPr sz="1050" b="1">
                <ns72:solidFill>
                  <ns72:srgbClr val="005A9C"/>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input.alert.paper"/>
          <p:cNvSpPr/>
          <p:nvPr/>
        </p:nvSpPr>
        <p:spPr>
          <ns111:xfrm xmlns:ns111="http://schemas.openxmlformats.org/drawingml/2006/main">
            <ns111:off x="2422800" y="1512000"/>
            <ns111:ext cx="1620000" cy="72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317F7B"/>
            </ns114:solidFill>
          </ns114:ln>
        </p:spPr>
      </p:sp>
      <p:sp>
        <p:nvSpPr>
          <p:cNvPr id="19" name="input.alert.title"/>
          <p:cNvSpPr/>
          <p:nvPr/>
        </p:nvSpPr>
        <p:spPr>
          <ns115:xfrm xmlns:ns115="http://schemas.openxmlformats.org/drawingml/2006/main">
            <ns115:off x="2487600" y="1555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317F7B"/>
                </ns121:solidFill>
                <ns121:latin typeface="Arial"/>
                <ns121:ea typeface="Arial"/>
                <ns121:cs typeface="Arial"/>
              </ns121:defRPr>
            </ns121:pPr>
            <ns121:r>
              <ns121:rPr sz="1250" b="1">
                <ns121:solidFill>
                  <ns121:srgbClr val="317F7B"/>
                </ns121:solidFill>
                <ns121:latin typeface="Arial"/>
                <ns121:ea typeface="Arial"/>
                <ns121:cs typeface="Arial"/>
              </ns121:rPr>
              <ns121:t>Company A alert</ns121:t>
            </ns121:r>
          </ns121:p>
        </p:txBody>
      </p:sp>
      <p:sp>
        <p:nvSpPr>
          <p:cNvPr id="20" name="input.alert.content"/>
          <p:cNvSpPr/>
          <p:nvPr/>
        </p:nvSpPr>
        <p:spPr>
          <ns122:xfrm xmlns:ns122="http://schemas.openxmlformats.org/drawingml/2006/main">
            <ns122:off x="2487600" y="1771200"/>
            <ns122:ext cx="1490400" cy="41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150" b="0">
                <ns128:solidFill>
                  <ns128:srgbClr val="20262C"/>
                </ns128:solidFill>
                <ns128:latin typeface="Arial"/>
                <ns128:ea typeface="Arial"/>
                <ns128:cs typeface="Arial"/>
              </ns128:defRPr>
            </ns128:pPr>
            <ns128:r>
              <ns128:rPr sz="1150" b="0">
                <ns128:solidFill>
                  <ns128:srgbClr val="20262C"/>
                </ns128:solidFill>
                <ns128:latin typeface="Arial"/>
                <ns128:ea typeface="Arial"/>
                <ns128:cs typeface="Arial"/>
              </ns128:rPr>
              <ns128:t>Credit watch</ns128:t>
            </ns128:r>
          </ns128:p>
          <ns129:p xmlns:ns129="http://schemas.openxmlformats.org/drawingml/2006/main">
            <ns129:pPr algn="l">
              <ns129:lnSpc>
                <ns129:spcPct val="100000"/>
              </ns129:lnSpc>
              <ns129:defRPr sz="1150" b="0">
                <ns129:solidFill>
                  <ns129:srgbClr val="20262C"/>
                </ns129:solidFill>
                <ns129:latin typeface="Arial"/>
                <ns129:ea typeface="Arial"/>
                <ns129:cs typeface="Arial"/>
              </ns129:defRPr>
            </ns129:pPr>
            <ns129:r>
              <ns129:rPr sz="1150" b="0">
                <ns129:solidFill>
                  <ns129:srgbClr val="20262C"/>
                </ns129:solidFill>
                <ns129:latin typeface="Arial"/>
                <ns129:ea typeface="Arial"/>
                <ns129:cs typeface="Arial"/>
              </ns129:rPr>
              <ns129:t>Cash-flow pressure</ns129:t>
            </ns129:r>
          </ns129:p>
        </p:txBody>
      </p:sp>
      <p:sp>
        <p:nvSpPr>
          <p:cNvPr id="21" name="input.holdings.record.paper"/>
          <p:cNvSpPr/>
          <p:nvPr/>
        </p:nvSpPr>
        <p:spPr>
          <ns130:xfrm xmlns:ns130="http://schemas.openxmlformats.org/drawingml/2006/main">
            <ns130:off x="2422800" y="2304000"/>
            <ns130:ext cx="1620000" cy="828000"/>
          </ns130:xfrm>
          <ns131:prstGeom xmlns:ns131="http://schemas.openxmlformats.org/drawingml/2006/main" prst="foldedCorner">
            <ns131:avLst/>
          </ns131:prstGeom>
          <ns132:solidFill xmlns:ns132="http://schemas.openxmlformats.org/drawingml/2006/main">
            <ns132:srgbClr val="FFFFFF"/>
          </ns132:solidFill>
          <ns133:ln xmlns:ns133="http://schemas.openxmlformats.org/drawingml/2006/main" w="9525">
            <ns133:solidFill>
              <ns133:srgbClr val="317F7B"/>
            </ns133:solidFill>
          </ns133:ln>
        </p:spPr>
      </p:sp>
      <p:sp>
        <p:nvSpPr>
          <p:cNvPr id="22" name="input.holdings.record.title"/>
          <p:cNvSpPr/>
          <p:nvPr/>
        </p:nvSpPr>
        <p:spPr>
          <ns134:xfrm xmlns:ns134="http://schemas.openxmlformats.org/drawingml/2006/main">
            <ns134:off x="2487600" y="2347200"/>
            <ns134:ext cx="1422000" cy="198000"/>
          </ns134:xfrm>
          <ns135:prstGeom xmlns:ns135="http://schemas.openxmlformats.org/drawingml/2006/main" prst="rect">
            <ns135:avLst/>
          </ns135:prstGeom>
          <ns136:noFill xmlns:ns136="http://schemas.openxmlformats.org/drawingml/2006/main"/>
          <ns137:ln xmlns:ns137="http://schemas.openxmlformats.org/drawingml/2006/main" w="0">
            <ns137:noFill/>
          </ns137:ln>
        </p:spPr>
        <p:txBody>
          <ns138:bodyPr xmlns:ns138="http://schemas.openxmlformats.org/drawingml/2006/main" wrap="square" lIns="0" rIns="0" tIns="0" bIns="0" anchor="t">
            <ns138:noAutofit/>
          </ns138:bodyPr>
          <ns139:lstStyle xmlns:ns139="http://schemas.openxmlformats.org/drawingml/2006/main"/>
          <ns140:p xmlns:ns140="http://schemas.openxmlformats.org/drawingml/2006/main">
            <ns140:pPr algn="l">
              <ns140:lnSpc>
                <ns140:spcPct val="105000"/>
              </ns140:lnSpc>
              <ns140:defRPr sz="1250" b="1">
                <ns140:solidFill>
                  <ns140:srgbClr val="317F7B"/>
                </ns140:solidFill>
                <ns140:latin typeface="Arial"/>
                <ns140:ea typeface="Arial"/>
                <ns140:cs typeface="Arial"/>
              </ns140:defRPr>
            </ns140:pPr>
            <ns140:r>
              <ns140:rPr sz="1250" b="1">
                <ns140:solidFill>
                  <ns140:srgbClr val="317F7B"/>
                </ns140:solidFill>
                <ns140:latin typeface="Arial"/>
                <ns140:ea typeface="Arial"/>
                <ns140:cs typeface="Arial"/>
              </ns140:rPr>
              <ns140:t>Holdings record</ns140:t>
            </ns140:r>
          </ns140:p>
        </p:txBody>
      </p:sp>
      <p:sp>
        <p:nvSpPr>
          <p:cNvPr id="23" name="input.holdings.record.content"/>
          <p:cNvSpPr/>
          <p:nvPr/>
        </p:nvSpPr>
        <p:spPr>
          <ns141:xfrm xmlns:ns141="http://schemas.openxmlformats.org/drawingml/2006/main">
            <ns141:off x="2487600" y="2563200"/>
            <ns141:ext cx="1490400" cy="518400"/>
          </ns141:xfrm>
          <ns142:prstGeom xmlns:ns142="http://schemas.openxmlformats.org/drawingml/2006/main" prst="rect">
            <ns142:avLst/>
          </ns142:prstGeom>
          <ns143:noFill xmlns:ns143="http://schemas.openxmlformats.org/drawingml/2006/main"/>
          <ns144:ln xmlns:ns144="http://schemas.openxmlformats.org/drawingml/2006/main" w="0">
            <ns144:noFill/>
          </ns144:ln>
        </p:spPr>
        <p:txBody>
          <ns145:bodyPr xmlns:ns145="http://schemas.openxmlformats.org/drawingml/2006/main" wrap="square" lIns="0" rIns="0" tIns="0" bIns="0" anchor="t">
            <ns145:noAutofit/>
          </ns145:bodyPr>
          <ns146:lstStyle xmlns:ns146="http://schemas.openxmlformats.org/drawingml/2006/main"/>
          <ns147:p xmlns:ns147="http://schemas.openxmlformats.org/drawingml/2006/main">
            <ns147:pPr algn="l">
              <ns147:lnSpc>
                <ns147:spcPct val="100000"/>
              </ns147:lnSpc>
              <ns147:defRPr sz="1100" b="0">
                <ns147:solidFill>
                  <ns147:srgbClr val="20262C"/>
                </ns147:solidFill>
                <ns147:latin typeface="Arial"/>
                <ns147:ea typeface="Arial"/>
                <ns147:cs typeface="Arial"/>
              </ns147:defRPr>
            </ns147:pPr>
            <ns147:r>
              <ns147:rPr sz="1100" b="0">
                <ns147:solidFill>
                  <ns147:srgbClr val="20262C"/>
                </ns147:solidFill>
                <ns147:latin typeface="Arial"/>
                <ns147:ea typeface="Arial"/>
                <ns147:cs typeface="Arial"/>
              </ns147:rPr>
              <ns147:t>Product A holds</ns147:t>
            </ns147:r>
          </ns147:p>
          <ns148:p xmlns:ns148="http://schemas.openxmlformats.org/drawingml/2006/main">
            <ns148:pPr algn="l">
              <ns148:lnSpc>
                <ns148:spcPct val="100000"/>
              </ns148:lnSpc>
              <ns148:defRPr sz="1100" b="0">
                <ns148:solidFill>
                  <ns148:srgbClr val="20262C"/>
                </ns148:solidFill>
                <ns148:latin typeface="Arial"/>
                <ns148:ea typeface="Arial"/>
                <ns148:cs typeface="Arial"/>
              </ns148:defRPr>
            </ns148:pPr>
            <ns148:r>
              <ns148:rPr sz="1100" b="0">
                <ns148:solidFill>
                  <ns148:srgbClr val="20262C"/>
                </ns148:solidFill>
                <ns148:latin typeface="Arial"/>
                <ns148:ea typeface="Arial"/>
                <ns148:cs typeface="Arial"/>
              </ns148:rPr>
              <ns148:t>Company A bonds</ns148:t>
            </ns148:r>
          </ns148:p>
          <ns149:p xmlns:ns149="http://schemas.openxmlformats.org/drawingml/2006/main">
            <ns149:pPr algn="l">
              <ns149:lnSpc>
                <ns149:spcPct val="100000"/>
              </ns149:lnSpc>
              <ns149:defRPr sz="1100" b="0">
                <ns149:solidFill>
                  <ns149:srgbClr val="20262C"/>
                </ns149:solidFill>
                <ns149:latin typeface="Arial"/>
                <ns149:ea typeface="Arial"/>
                <ns149:cs typeface="Arial"/>
              </ns149:defRPr>
            </ns149:pPr>
            <ns149:r>
              <ns149:rPr sz="1100" b="0">
                <ns149:solidFill>
                  <ns149:srgbClr val="20262C"/>
                </ns149:solidFill>
                <ns149:latin typeface="Arial"/>
                <ns149:ea typeface="Arial"/>
                <ns149:cs typeface="Arial"/>
              </ns149:rPr>
              <ns149:t>RMB 20m face value</ns149:t>
            </ns149:r>
          </ns149:p>
        </p:txBody>
      </p:sp>
      <p:sp>
        <p:nvSpPr>
          <p:cNvPr id="24" name="input.monitoring.rule.paper"/>
          <p:cNvSpPr/>
          <p:nvPr/>
        </p:nvSpPr>
        <p:spPr>
          <ns150:xfrm xmlns:ns150="http://schemas.openxmlformats.org/drawingml/2006/main">
            <ns150:off x="2422800" y="3222000"/>
            <ns150:ext cx="1620000" cy="666000"/>
          </ns150:xfrm>
          <ns151:prstGeom xmlns:ns151="http://schemas.openxmlformats.org/drawingml/2006/main" prst="foldedCorner">
            <ns151:avLst/>
          </ns151:prstGeom>
          <ns152:solidFill xmlns:ns152="http://schemas.openxmlformats.org/drawingml/2006/main">
            <ns152:srgbClr val="FFFFFF"/>
          </ns152:solidFill>
          <ns153:ln xmlns:ns153="http://schemas.openxmlformats.org/drawingml/2006/main" w="9525">
            <ns153:solidFill>
              <ns153:srgbClr val="65727D"/>
            </ns153:solidFill>
          </ns153:ln>
        </p:spPr>
      </p:sp>
      <p:sp>
        <p:nvSpPr>
          <p:cNvPr id="25" name="input.monitoring.rule.title"/>
          <p:cNvSpPr/>
          <p:nvPr/>
        </p:nvSpPr>
        <p:spPr>
          <ns154:xfrm xmlns:ns154="http://schemas.openxmlformats.org/drawingml/2006/main">
            <ns154:off x="2487600" y="3265200"/>
            <ns154:ext cx="1422000" cy="1980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5000"/>
              </ns160:lnSpc>
              <ns160:defRPr sz="1250" b="1">
                <ns160:solidFill>
                  <ns160:srgbClr val="65727D"/>
                </ns160:solidFill>
                <ns160:latin typeface="Arial"/>
                <ns160:ea typeface="Arial"/>
                <ns160:cs typeface="Arial"/>
              </ns160:defRPr>
            </ns160:pPr>
            <ns160:r>
              <ns160:rPr sz="1250" b="1">
                <ns160:solidFill>
                  <ns160:srgbClr val="65727D"/>
                </ns160:solidFill>
                <ns160:latin typeface="Arial"/>
                <ns160:ea typeface="Arial"/>
                <ns160:cs typeface="Arial"/>
              </ns160:rPr>
              <ns160:t>Requirement</ns160:t>
            </ns160:r>
          </ns160:p>
        </p:txBody>
      </p:sp>
      <p:sp>
        <p:nvSpPr>
          <p:cNvPr id="26" name="input.monitoring.rule.content"/>
          <p:cNvSpPr/>
          <p:nvPr/>
        </p:nvSpPr>
        <p:spPr>
          <ns161:xfrm xmlns:ns161="http://schemas.openxmlformats.org/drawingml/2006/main">
            <ns161:off x="2487600" y="3481200"/>
            <ns161:ext cx="1490400" cy="3564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0000"/>
              </ns167:lnSpc>
              <ns167:defRPr sz="1100" b="0">
                <ns167:solidFill>
                  <ns167:srgbClr val="20262C"/>
                </ns167:solidFill>
                <ns167:latin typeface="Arial"/>
                <ns167:ea typeface="Arial"/>
                <ns167:cs typeface="Arial"/>
              </ns167:defRPr>
            </ns167:pPr>
            <ns167:r>
              <ns167:rPr sz="1100" b="0">
                <ns167:solidFill>
                  <ns167:srgbClr val="20262C"/>
                </ns167:solidFill>
                <ns167:latin typeface="Arial"/>
                <ns167:ea typeface="Arial"/>
                <ns167:cs typeface="Arial"/>
              </ns167:rPr>
              <ns167:t>Update issuer research</ns167:t>
            </ns167:r>
          </ns167:p>
          <ns168:p xmlns:ns168="http://schemas.openxmlformats.org/drawingml/2006/main">
            <ns168:pPr algn="l">
              <ns168:lnSpc>
                <ns168:spcPct val="100000"/>
              </ns168:lnSpc>
              <ns168:defRPr sz="1100" b="0">
                <ns168:solidFill>
                  <ns168:srgbClr val="20262C"/>
                </ns168:solidFill>
                <ns168:latin typeface="Arial"/>
                <ns168:ea typeface="Arial"/>
                <ns168:cs typeface="Arial"/>
              </ns168:defRPr>
            </ns168:pPr>
            <ns168:r>
              <ns168:rPr sz="1100" b="0">
                <ns168:solidFill>
                  <ns168:srgbClr val="20262C"/>
                </ns168:solidFill>
                <ns168:latin typeface="Arial"/>
                <ns168:ea typeface="Arial"/>
                <ns168:cs typeface="Arial"/>
              </ns168:rPr>
              <ns168:t>after a credit event</ns168:t>
            </ns168:r>
          </ns168:p>
        </p:txBody>
      </p:sp>
      <p:sp>
        <p:nvSpPr>
          <p:cNvPr id="27" name="role.llm.link.evidence"/>
          <p:cNvSpPr/>
          <p:nvPr/>
        </p:nvSpPr>
        <p:spPr>
          <ns169:xfrm xmlns:ns169="http://schemas.openxmlformats.org/drawingml/2006/main">
            <ns169:off x="4392000" y="2304000"/>
            <ns169:ext cx="1458000" cy="1080000"/>
          </ns169:xfrm>
          <ns170:prstGeom xmlns:ns170="http://schemas.openxmlformats.org/drawingml/2006/main" prst="roundRect">
            <ns170:avLst/>
          </ns170:prstGeom>
          <ns171:solidFill xmlns:ns171="http://schemas.openxmlformats.org/drawingml/2006/main">
            <ns171:srgbClr val="EAF3FA"/>
          </ns171:solidFill>
          <ns172:ln xmlns:ns172="http://schemas.openxmlformats.org/drawingml/2006/main" w="9525">
            <ns172:solidFill>
              <ns172:srgbClr val="005A9C"/>
            </ns172:solidFill>
          </ns172:ln>
        </p:spPr>
        <p:txBody>
          <ns173:bodyPr xmlns:ns173="http://schemas.openxmlformats.org/drawingml/2006/main" wrap="square" lIns="61200" rIns="61200" tIns="61200" bIns="61200" anchor="ctr">
            <ns173:noAutofit/>
          </ns173:bodyPr>
          <ns174:lstStyle xmlns:ns174="http://schemas.openxmlformats.org/drawingml/2006/main"/>
          <ns175:p xmlns:ns175="http://schemas.openxmlformats.org/drawingml/2006/main">
            <ns175:pPr algn="l">
              <ns175:lnSpc>
                <ns175:spcPct val="105000"/>
              </ns175:lnSpc>
              <ns175:defRPr sz="1300" b="1">
                <ns175:solidFill>
                  <ns175:srgbClr val="005A9C"/>
                </ns175:solidFill>
                <ns175:latin typeface="Arial"/>
                <ns175:ea typeface="Arial"/>
                <ns175:cs typeface="Arial"/>
              </ns175:defRPr>
            </ns175:pPr>
            <ns175:r>
              <ns175:rPr sz="1300" b="1">
                <ns175:solidFill>
                  <ns175:srgbClr val="005A9C"/>
                </ns175:solidFill>
                <ns175:latin typeface="Arial"/>
                <ns175:ea typeface="Arial"/>
                <ns175:cs typeface="Arial"/>
              </ns175:rPr>
              <ns175:t>LLM</ns175:t>
            </ns175:r>
          </ns175:p>
          <ns176:p xmlns:ns176="http://schemas.openxmlformats.org/drawingml/2006/main">
            <ns176:pPr algn="l">
              <ns176:lnSpc>
                <ns176:spcPct val="105000"/>
              </ns176:lnSpc>
              <ns176:defRPr sz="1050" b="0">
                <ns176:solidFill>
                  <ns176:srgbClr val="20262C"/>
                </ns176:solidFill>
                <ns176:latin typeface="Arial"/>
                <ns176:ea typeface="Arial"/>
                <ns176:cs typeface="Arial"/>
              </ns176:defRPr>
            </ns176:pPr>
            <ns176:r>
              <ns176:rPr sz="1050" b="0">
                <ns176:solidFill>
                  <ns176:srgbClr val="20262C"/>
                </ns176:solidFill>
                <ns176:latin typeface="Arial"/>
                <ns176:ea typeface="Arial"/>
                <ns176:cs typeface="Arial"/>
              </ns176:rPr>
              <ns176:t>Match issuer / exposure</ns176:t>
            </ns176:r>
          </ns176:p>
          <ns177:p xmlns:ns177="http://schemas.openxmlformats.org/drawingml/2006/main">
            <ns177:pPr algn="l">
              <ns177:lnSpc>
                <ns177:spcPct val="105000"/>
              </ns177:lnSpc>
              <ns177:defRPr sz="1050" b="0">
                <ns177:solidFill>
                  <ns177:srgbClr val="20262C"/>
                </ns177:solidFill>
                <ns177:latin typeface="Arial"/>
                <ns177:ea typeface="Arial"/>
                <ns177:cs typeface="Arial"/>
              </ns177:defRPr>
            </ns177:pPr>
            <ns177:r>
              <ns177:rPr sz="1050" b="0">
                <ns177:solidFill>
                  <ns177:srgbClr val="20262C"/>
                </ns177:solidFill>
                <ns177:latin typeface="Arial"/>
                <ns177:ea typeface="Arial"/>
                <ns177:cs typeface="Arial"/>
              </ns177:rPr>
              <ns177:t>Interpret clauses / research</ns177:t>
            </ns177:r>
          </ns177:p>
          <ns178:p xmlns:ns178="http://schemas.openxmlformats.org/drawingml/2006/main">
            <ns178:pPr algn="l">
              <ns178:lnSpc>
                <ns178:spcPct val="105000"/>
              </ns178:lnSpc>
              <ns178:defRPr sz="1050" b="0">
                <ns178:solidFill>
                  <ns178:srgbClr val="20262C"/>
                </ns178:solidFill>
                <ns178:latin typeface="Arial"/>
                <ns178:ea typeface="Arial"/>
                <ns178:cs typeface="Arial"/>
              </ns178:defRPr>
            </ns178:pPr>
            <ns178:r>
              <ns178:rPr sz="1050" b="0">
                <ns178:solidFill>
                  <ns178:srgbClr val="20262C"/>
                </ns178:solidFill>
                <ns178:latin typeface="Arial"/>
                <ns178:ea typeface="Arial"/>
                <ns178:cs typeface="Arial"/>
              </ns178:rPr>
              <ns178:t>Draft assessment</ns178:t>
            </ns178:r>
          </ns178:p>
        </p:txBody>
      </p:sp>
      <p:cxnSp>
        <p:nvCxnSpPr>
          <p:cNvPr id="28" name="credit.inputs.merge.source.0"/>
          <p:cNvCxnSpPr/>
          <p:nvPr/>
        </p:nvCxnSpPr>
        <p:spPr>
          <ns179:xfrm xmlns:ns179="http://schemas.openxmlformats.org/drawingml/2006/main">
            <ns179:off x="4042800" y="1872000"/>
            <ns179:ext cx="151200" cy="1"/>
          </ns179:xfrm>
          <ns180:prstGeom xmlns:ns180="http://schemas.openxmlformats.org/drawingml/2006/main" prst="line">
            <ns180:avLst/>
          </ns180:prstGeom>
          <ns181:ln xmlns:ns181="http://schemas.openxmlformats.org/drawingml/2006/main" w="9525">
            <ns181:solidFill>
              <ns181:srgbClr val="317F7B"/>
            </ns181:solidFill>
          </ns181:ln>
        </p:spPr>
      </p:cxnSp>
      <p:cxnSp>
        <p:nvCxnSpPr>
          <p:cNvPr id="29" name="credit.inputs.merge.source.1"/>
          <p:cNvCxnSpPr/>
          <p:nvPr/>
        </p:nvCxnSpPr>
        <p:spPr>
          <ns182:xfrm xmlns:ns182="http://schemas.openxmlformats.org/drawingml/2006/main">
            <ns182:off x="4042800" y="2718000"/>
            <ns182:ext cx="151200" cy="1"/>
          </ns182:xfrm>
          <ns183:prstGeom xmlns:ns183="http://schemas.openxmlformats.org/drawingml/2006/main" prst="line">
            <ns183:avLst/>
          </ns183:prstGeom>
          <ns184:ln xmlns:ns184="http://schemas.openxmlformats.org/drawingml/2006/main" w="9525">
            <ns184:solidFill>
              <ns184:srgbClr val="317F7B"/>
            </ns184:solidFill>
          </ns184:ln>
        </p:spPr>
      </p:cxnSp>
      <p:cxnSp>
        <p:nvCxnSpPr>
          <p:cNvPr id="30" name="credit.inputs.merge.source.2"/>
          <p:cNvCxnSpPr/>
          <p:nvPr/>
        </p:nvCxnSpPr>
        <p:spPr>
          <ns185:xfrm xmlns:ns185="http://schemas.openxmlformats.org/drawingml/2006/main">
            <ns185:off x="4042800" y="3555000"/>
            <ns185:ext cx="151200" cy="1"/>
          </ns185:xfrm>
          <ns186:prstGeom xmlns:ns186="http://schemas.openxmlformats.org/drawingml/2006/main" prst="line">
            <ns186:avLst/>
          </ns186:prstGeom>
          <ns187:ln xmlns:ns187="http://schemas.openxmlformats.org/drawingml/2006/main" w="9525">
            <ns187:solidFill>
              <ns187:srgbClr val="317F7B"/>
            </ns187:solidFill>
          </ns187:ln>
        </p:spPr>
      </p:cxnSp>
      <p:cxnSp>
        <p:nvCxnSpPr>
          <p:cNvPr id="31" name="credit.inputs.merge.bus"/>
          <p:cNvCxnSpPr/>
          <p:nvPr/>
        </p:nvCxnSpPr>
        <p:spPr>
          <ns188:xfrm xmlns:ns188="http://schemas.openxmlformats.org/drawingml/2006/main">
            <ns188:off x="4194000" y="1872000"/>
            <ns188:ext cx="1" cy="1683000"/>
          </ns188:xfrm>
          <ns189:prstGeom xmlns:ns189="http://schemas.openxmlformats.org/drawingml/2006/main" prst="line">
            <ns189:avLst/>
          </ns189:prstGeom>
          <ns190:ln xmlns:ns190="http://schemas.openxmlformats.org/drawingml/2006/main" w="9525">
            <ns190:solidFill>
              <ns190:srgbClr val="317F7B"/>
            </ns190:solidFill>
          </ns190:ln>
        </p:spPr>
      </p:cxnSp>
      <p:cxnSp>
        <p:nvCxnSpPr>
          <p:cNvPr id="32" name="credit.inputs.merge.target"/>
          <p:cNvCxnSpPr/>
          <p:nvPr/>
        </p:nvCxnSpPr>
        <p:spPr>
          <ns191:xfrm xmlns:ns191="http://schemas.openxmlformats.org/drawingml/2006/main">
            <ns191:off x="4194000" y="2844000"/>
            <ns191:ext cx="198000" cy="1"/>
          </ns191:xfrm>
          <ns192:prstGeom xmlns:ns192="http://schemas.openxmlformats.org/drawingml/2006/main" prst="line">
            <ns192:avLst/>
          </ns192:prstGeom>
          <ns193:ln xmlns:ns193="http://schemas.openxmlformats.org/drawingml/2006/main" w="11430">
            <ns193:solidFill>
              <ns193:srgbClr val="317F7B"/>
            </ns193:solidFill>
            <ns193:tailEnd type="triangle" w="sm" len="sm"/>
          </ns193:ln>
        </p:spPr>
      </p:cxnSp>
      <p:sp>
        <p:nvSpPr>
          <p:cNvPr id="33" name="output.credit.assessment.paper"/>
          <p:cNvSpPr/>
          <p:nvPr/>
        </p:nvSpPr>
        <p:spPr>
          <ns194:xfrm xmlns:ns194="http://schemas.openxmlformats.org/drawingml/2006/main">
            <ns194:off x="6127200" y="1512000"/>
            <ns194:ext cx="2559600" cy="2214000"/>
          </ns194:xfrm>
          <ns195:prstGeom xmlns:ns195="http://schemas.openxmlformats.org/drawingml/2006/main" prst="foldedCorner">
            <ns195:avLst/>
          </ns195:prstGeom>
          <ns196:solidFill xmlns:ns196="http://schemas.openxmlformats.org/drawingml/2006/main">
            <ns196:srgbClr val="FFFFFF"/>
          </ns196:solidFill>
          <ns197:ln xmlns:ns197="http://schemas.openxmlformats.org/drawingml/2006/main" w="9525">
            <ns197:solidFill>
              <ns197:srgbClr val="317F7B"/>
            </ns197:solidFill>
          </ns197:ln>
        </p:spPr>
      </p:sp>
      <p:sp>
        <p:nvSpPr>
          <p:cNvPr id="34" name="output.credit.assessment.title"/>
          <p:cNvSpPr/>
          <p:nvPr/>
        </p:nvSpPr>
        <p:spPr>
          <ns198:xfrm xmlns:ns198="http://schemas.openxmlformats.org/drawingml/2006/main">
            <ns198:off x="6192000" y="1555200"/>
            <ns198:ext cx="2361600" cy="198000"/>
          </ns198:xfrm>
          <ns199:prstGeom xmlns:ns199="http://schemas.openxmlformats.org/drawingml/2006/main" prst="rect">
            <ns199:avLst/>
          </ns199:prstGeom>
          <ns200:noFill xmlns:ns200="http://schemas.openxmlformats.org/drawingml/2006/main"/>
          <ns201:ln xmlns:ns201="http://schemas.openxmlformats.org/drawingml/2006/main" w="0">
            <ns201:noFill/>
          </ns201:ln>
        </p:spPr>
        <p:txBody>
          <ns202:bodyPr xmlns:ns202="http://schemas.openxmlformats.org/drawingml/2006/main" wrap="square" lIns="0" rIns="0" tIns="0" bIns="0" anchor="t">
            <ns202:noAutofit/>
          </ns202:bodyPr>
          <ns203:lstStyle xmlns:ns203="http://schemas.openxmlformats.org/drawingml/2006/main"/>
          <ns204:p xmlns:ns204="http://schemas.openxmlformats.org/drawingml/2006/main">
            <ns204:pPr algn="l">
              <ns204:lnSpc>
                <ns204:spcPct val="105000"/>
              </ns204:lnSpc>
              <ns204:defRPr sz="1250" b="1">
                <ns204:solidFill>
                  <ns204:srgbClr val="317F7B"/>
                </ns204:solidFill>
                <ns204:latin typeface="Arial"/>
                <ns204:ea typeface="Arial"/>
                <ns204:cs typeface="Arial"/>
              </ns204:defRPr>
            </ns204:pPr>
            <ns204:r>
              <ns204:rPr sz="1250" b="1">
                <ns204:solidFill>
                  <ns204:srgbClr val="317F7B"/>
                </ns204:solidFill>
                <ns204:latin typeface="Arial"/>
                <ns204:ea typeface="Arial"/>
                <ns204:cs typeface="Arial"/>
              </ns204:rPr>
              <ns204:t>Assessment / follow-up</ns204:t>
            </ns204:r>
          </ns204:p>
        </p:txBody>
      </p:sp>
      <p:sp>
        <p:nvSpPr>
          <p:cNvPr id="35" name="output.credit.assessment.content"/>
          <p:cNvSpPr/>
          <p:nvPr/>
        </p:nvSpPr>
        <p:spPr>
          <ns205:xfrm xmlns:ns205="http://schemas.openxmlformats.org/drawingml/2006/main">
            <ns205:off x="6192000" y="1771200"/>
            <ns205:ext cx="2430000" cy="1904400"/>
          </ns205:xfrm>
          <ns206:prstGeom xmlns:ns206="http://schemas.openxmlformats.org/drawingml/2006/main" prst="rect">
            <ns206:avLst/>
          </ns206:prstGeom>
          <ns207:noFill xmlns:ns207="http://schemas.openxmlformats.org/drawingml/2006/main"/>
          <ns208:ln xmlns:ns208="http://schemas.openxmlformats.org/drawingml/2006/main" w="0">
            <ns208:noFill/>
          </ns208:ln>
        </p:spPr>
        <p:txBody>
          <ns209:bodyPr xmlns:ns209="http://schemas.openxmlformats.org/drawingml/2006/main" wrap="square" lIns="0" rIns="0" tIns="0" bIns="0" anchor="t">
            <ns209:noAutofit/>
          </ns209:bodyPr>
          <ns210:lstStyle xmlns:ns210="http://schemas.openxmlformats.org/drawingml/2006/main"/>
          <ns211:p xmlns:ns211="http://schemas.openxmlformats.org/drawingml/2006/main">
            <ns211:pPr algn="l">
              <ns211:lnSpc>
                <ns211:spcPct val="100000"/>
              </ns211:lnSpc>
              <ns211:defRPr sz="1150" b="0">
                <ns211:solidFill>
                  <ns211:srgbClr val="20262C"/>
                </ns211:solidFill>
                <ns211:latin typeface="Arial"/>
                <ns211:ea typeface="Arial"/>
                <ns211:cs typeface="Arial"/>
              </ns211:defRPr>
            </ns211:pPr>
            <ns211:r>
              <ns211:rPr sz="1150" b="0">
                <ns211:solidFill>
                  <ns211:srgbClr val="20262C"/>
                </ns211:solidFill>
                <ns211:latin typeface="Arial"/>
                <ns211:ea typeface="Arial"/>
                <ns211:cs typeface="Arial"/>
              </ns211:rPr>
              <ns211:t>Cash-flow pressure affects</ns211:t>
            </ns211:r>
          </ns211:p>
          <ns212:p xmlns:ns212="http://schemas.openxmlformats.org/drawingml/2006/main">
            <ns212:pPr algn="l">
              <ns212:lnSpc>
                <ns212:spcPct val="100000"/>
              </ns212:lnSpc>
              <ns212:defRPr sz="1150" b="0">
                <ns212:solidFill>
                  <ns212:srgbClr val="20262C"/>
                </ns212:solidFill>
                <ns212:latin typeface="Arial"/>
                <ns212:ea typeface="Arial"/>
                <ns212:cs typeface="Arial"/>
              </ns212:defRPr>
            </ns212:pPr>
            <ns212:r>
              <ns212:rPr sz="1150" b="0">
                <ns212:solidFill>
                  <ns212:srgbClr val="20262C"/>
                </ns212:solidFill>
                <ns212:latin typeface="Arial"/>
                <ns212:ea typeface="Arial"/>
                <ns212:cs typeface="Arial"/>
              </ns212:rPr>
              <ns212:t>capacity to service debt.</ns212:t>
            </ns212:r>
          </ns212:p>
          <ns213:p xmlns:ns213="http://schemas.openxmlformats.org/drawingml/2006/main">
            <ns213:pPr algn="l">
              <ns213:lnSpc>
                <ns213:spcPct val="100000"/>
              </ns213:lnSpc>
              <ns213:defRPr sz="1150" b="0">
                <ns213:solidFill>
                  <ns213:srgbClr val="20262C"/>
                </ns213:solidFill>
                <ns213:latin typeface="Arial"/>
                <ns213:ea typeface="Arial"/>
                <ns213:cs typeface="Arial"/>
              </ns213:defRPr>
            </ns213:pPr>
            <ns213:r>
              <ns213:rPr sz="1150" b="0">
                <ns213:solidFill>
                  <ns213:srgbClr val="20262C"/>
                </ns213:solidFill>
                <ns213:latin typeface="Arial"/>
                <ns213:ea typeface="Arial"/>
                <ns213:cs typeface="Arial"/>
              </ns213:rPr>
              <ns213:t/>
            </ns213:r>
          </ns213:p>
          <ns214:p xmlns:ns214="http://schemas.openxmlformats.org/drawingml/2006/main">
            <ns214:pPr algn="l">
              <ns214:lnSpc>
                <ns214:spcPct val="100000"/>
              </ns214:lnSpc>
              <ns214:defRPr sz="1150" b="0">
                <ns214:solidFill>
                  <ns214:srgbClr val="20262C"/>
                </ns214:solidFill>
                <ns214:latin typeface="Arial"/>
                <ns214:ea typeface="Arial"/>
                <ns214:cs typeface="Arial"/>
              </ns214:defRPr>
            </ns214:pPr>
            <ns214:r>
              <ns214:rPr sz="1150" b="0">
                <ns214:solidFill>
                  <ns214:srgbClr val="20262C"/>
                </ns214:solidFill>
                <ns214:latin typeface="Arial"/>
                <ns214:ea typeface="Arial"/>
                <ns214:cs typeface="Arial"/>
              </ns214:rPr>
              <ns214:t>Affected fund: Product A</ns214:t>
            </ns214:r>
          </ns214:p>
          <ns215:p xmlns:ns215="http://schemas.openxmlformats.org/drawingml/2006/main">
            <ns215:pPr algn="l">
              <ns215:lnSpc>
                <ns215:spcPct val="100000"/>
              </ns215:lnSpc>
              <ns215:defRPr sz="1150" b="0">
                <ns215:solidFill>
                  <ns215:srgbClr val="20262C"/>
                </ns215:solidFill>
                <ns215:latin typeface="Arial"/>
                <ns215:ea typeface="Arial"/>
                <ns215:cs typeface="Arial"/>
              </ns215:defRPr>
            </ns215:pPr>
            <ns215:r>
              <ns215:rPr sz="1150" b="0">
                <ns215:solidFill>
                  <ns215:srgbClr val="20262C"/>
                </ns215:solidFill>
                <ns215:latin typeface="Arial"/>
                <ns215:ea typeface="Arial"/>
                <ns215:cs typeface="Arial"/>
              </ns215:rPr>
              <ns215:t>Research follow-up:</ns215:t>
            </ns215:r>
          </ns215:p>
          <ns216:p xmlns:ns216="http://schemas.openxmlformats.org/drawingml/2006/main">
            <ns216:pPr algn="l">
              <ns216:lnSpc>
                <ns216:spcPct val="100000"/>
              </ns216:lnSpc>
              <ns216:defRPr sz="1150" b="0">
                <ns216:solidFill>
                  <ns216:srgbClr val="20262C"/>
                </ns216:solidFill>
                <ns216:latin typeface="Arial"/>
                <ns216:ea typeface="Arial"/>
                <ns216:cs typeface="Arial"/>
              </ns216:defRPr>
            </ns216:pPr>
            <ns216:r>
              <ns216:rPr sz="1150" b="0">
                <ns216:solidFill>
                  <ns216:srgbClr val="20262C"/>
                </ns216:solidFill>
                <ns216:latin typeface="Arial"/>
                <ns216:ea typeface="Arial"/>
                <ns216:cs typeface="Arial"/>
              </ns216:rPr>
              <ns216:t>assess cash-flow trends</ns216:t>
            </ns216:r>
          </ns216:p>
        </p:txBody>
      </p:sp>
      <p:cxnSp>
        <p:nvCxnSpPr>
          <p:cNvPr id="36" name="llm.credit.output"/>
          <p:cNvCxnSpPr/>
          <p:nvPr/>
        </p:nvCxnSpPr>
        <p:spPr>
          <ns217:xfrm xmlns:ns217="http://schemas.openxmlformats.org/drawingml/2006/main">
            <ns217:off x="5850000" y="2844000"/>
            <ns217:ext cx="241200" cy="1"/>
          </ns217:xfrm>
          <ns218:prstGeom xmlns:ns218="http://schemas.openxmlformats.org/drawingml/2006/main" prst="line">
            <ns218:avLst/>
          </ns218:prstGeom>
          <ns219:ln xmlns:ns219="http://schemas.openxmlformats.org/drawingml/2006/main" w="11430">
            <ns219:solidFill>
              <ns219:srgbClr val="005A9C"/>
            </ns219:solidFill>
            <ns219:tailEnd type="triangle" w="sm" len="sm"/>
          </ns219:ln>
        </p:spPr>
      </p:cxnSp>
      <p:sp>
        <p:nvSpPr>
          <p:cNvPr id="37" name="human.credit.action.0"/>
          <p:cNvSpPr/>
          <p:nvPr/>
        </p:nvSpPr>
        <p:spPr>
          <ns220:xfrm xmlns:ns220="http://schemas.openxmlformats.org/drawingml/2006/main">
            <ns220:off x="2422800" y="4032000"/>
            <ns220:ext cx="2005200" cy="468000"/>
          </ns220:xfrm>
          <ns221:prstGeom xmlns:ns221="http://schemas.openxmlformats.org/drawingml/2006/main" prst="roundRect">
            <ns221:avLst/>
          </ns221:prstGeom>
          <ns222:solidFill xmlns:ns222="http://schemas.openxmlformats.org/drawingml/2006/main">
            <ns222:srgbClr val="F3F7FA"/>
          </ns222:solidFill>
          <ns223:ln xmlns:ns223="http://schemas.openxmlformats.org/drawingml/2006/main" w="9525">
            <ns223:solidFill>
              <ns223:srgbClr val="65727D"/>
            </ns223:solidFill>
          </ns223:ln>
        </p:spPr>
        <p:txBody>
          <ns224:bodyPr xmlns:ns224="http://schemas.openxmlformats.org/drawingml/2006/main" wrap="square" lIns="61200" rIns="61200" tIns="61200" bIns="61200" anchor="ctr">
            <ns224:noAutofit/>
          </ns224:bodyPr>
          <ns225:lstStyle xmlns:ns225="http://schemas.openxmlformats.org/drawingml/2006/main"/>
          <ns226:p xmlns:ns226="http://schemas.openxmlformats.org/drawingml/2006/main">
            <ns226:pPr algn="l">
              <ns226:lnSpc>
                <ns226:spcPct val="105000"/>
              </ns226:lnSpc>
              <ns226:defRPr sz="1300" b="1">
                <ns226:solidFill>
                  <ns226:srgbClr val="65727D"/>
                </ns226:solidFill>
                <ns226:latin typeface="Arial"/>
                <ns226:ea typeface="Arial"/>
                <ns226:cs typeface="Arial"/>
              </ns226:defRPr>
            </ns226:pPr>
            <ns226:r>
              <ns226:rPr sz="1300" b="1">
                <ns226:solidFill>
                  <ns226:srgbClr val="65727D"/>
                </ns226:solidFill>
                <ns226:latin typeface="Arial"/>
                <ns226:ea typeface="Arial"/>
                <ns226:cs typeface="Arial"/>
              </ns226:rPr>
              <ns226:t>Risk staff</ns226:t>
            </ns226:r>
          </ns226:p>
          <ns227:p xmlns:ns227="http://schemas.openxmlformats.org/drawingml/2006/main">
            <ns227:pPr algn="l">
              <ns227:lnSpc>
                <ns227:spcPct val="105000"/>
              </ns227:lnSpc>
              <ns227:defRPr sz="1050" b="0">
                <ns227:solidFill>
                  <ns227:srgbClr val="20262C"/>
                </ns227:solidFill>
                <ns227:latin typeface="Arial"/>
                <ns227:ea typeface="Arial"/>
                <ns227:cs typeface="Arial"/>
              </ns227:defRPr>
            </ns227:pPr>
            <ns227:r>
              <ns227:rPr sz="1050" b="0">
                <ns227:solidFill>
                  <ns227:srgbClr val="20262C"/>
                </ns227:solidFill>
                <ns227:latin typeface="Arial"/>
                <ns227:ea typeface="Arial"/>
                <ns227:cs typeface="Arial"/>
              </ns227:rPr>
              <ns227:t>Verify</ns227:t>
            </ns227:r>
          </ns227:p>
        </p:txBody>
      </p:sp>
      <p:cxnSp>
        <p:nvCxnSpPr>
          <p:cNvPr id="38" name="human.credit.handoff.0"/>
          <p:cNvCxnSpPr/>
          <p:nvPr/>
        </p:nvCxnSpPr>
        <p:spPr>
          <ns228:xfrm xmlns:ns228="http://schemas.openxmlformats.org/drawingml/2006/main">
            <ns228:off x="4456800" y="4266000"/>
            <ns228:ext cx="61200" cy="1"/>
          </ns228:xfrm>
          <ns229:prstGeom xmlns:ns229="http://schemas.openxmlformats.org/drawingml/2006/main" prst="line">
            <ns229:avLst/>
          </ns229:prstGeom>
          <ns230:ln xmlns:ns230="http://schemas.openxmlformats.org/drawingml/2006/main" w="11430">
            <ns230:solidFill>
              <ns230:srgbClr val="005A9C"/>
            </ns230:solidFill>
            <ns230:tailEnd type="triangle" w="sm" len="sm"/>
          </ns230:ln>
        </p:spPr>
      </p:cxnSp>
      <p:sp>
        <p:nvSpPr>
          <p:cNvPr id="39" name="human.credit.action.1"/>
          <p:cNvSpPr/>
          <p:nvPr/>
        </p:nvSpPr>
        <p:spPr>
          <ns231:xfrm xmlns:ns231="http://schemas.openxmlformats.org/drawingml/2006/main">
            <ns231:off x="4554000" y="4032000"/>
            <ns231:ext cx="2005200" cy="468000"/>
          </ns231:xfrm>
          <ns232:prstGeom xmlns:ns232="http://schemas.openxmlformats.org/drawingml/2006/main" prst="roundRect">
            <ns232:avLst/>
          </ns232:prstGeom>
          <ns233:solidFill xmlns:ns233="http://schemas.openxmlformats.org/drawingml/2006/main">
            <ns233:srgbClr val="F3F7FA"/>
          </ns233:solidFill>
          <ns234:ln xmlns:ns234="http://schemas.openxmlformats.org/drawingml/2006/main" w="9525">
            <ns234:solidFill>
              <ns234:srgbClr val="65727D"/>
            </ns234:solidFill>
          </ns234:ln>
        </p:spPr>
        <p:txBody>
          <ns235:bodyPr xmlns:ns235="http://schemas.openxmlformats.org/drawingml/2006/main" wrap="square" lIns="61200" rIns="61200" tIns="61200" bIns="61200" anchor="ctr">
            <ns235:noAutofit/>
          </ns235:bodyPr>
          <ns236:lstStyle xmlns:ns236="http://schemas.openxmlformats.org/drawingml/2006/main"/>
          <ns237:p xmlns:ns237="http://schemas.openxmlformats.org/drawingml/2006/main">
            <ns237:pPr algn="l">
              <ns237:lnSpc>
                <ns237:spcPct val="105000"/>
              </ns237:lnSpc>
              <ns237:defRPr sz="1300" b="1">
                <ns237:solidFill>
                  <ns237:srgbClr val="65727D"/>
                </ns237:solidFill>
                <ns237:latin typeface="Arial"/>
                <ns237:ea typeface="Arial"/>
                <ns237:cs typeface="Arial"/>
              </ns237:defRPr>
            </ns237:pPr>
            <ns237:r>
              <ns237:rPr sz="1300" b="1">
                <ns237:solidFill>
                  <ns237:srgbClr val="65727D"/>
                </ns237:solidFill>
                <ns237:latin typeface="Arial"/>
                <ns237:ea typeface="Arial"/>
                <ns237:cs typeface="Arial"/>
              </ns237:rPr>
              <ns237:t>Analyst</ns237:t>
            </ns237:r>
          </ns237:p>
          <ns238:p xmlns:ns238="http://schemas.openxmlformats.org/drawingml/2006/main">
            <ns238:pPr algn="l">
              <ns238:lnSpc>
                <ns238:spcPct val="105000"/>
              </ns238:lnSpc>
              <ns238:defRPr sz="1050" b="0">
                <ns238:solidFill>
                  <ns238:srgbClr val="20262C"/>
                </ns238:solidFill>
                <ns238:latin typeface="Arial"/>
                <ns238:ea typeface="Arial"/>
                <ns238:cs typeface="Arial"/>
              </ns238:defRPr>
            </ns238:pPr>
            <ns238:r>
              <ns238:rPr sz="1050" b="0">
                <ns238:solidFill>
                  <ns238:srgbClr val="20262C"/>
                </ns238:solidFill>
                <ns238:latin typeface="Arial"/>
                <ns238:ea typeface="Arial"/>
                <ns238:cs typeface="Arial"/>
              </ns238:rPr>
              <ns238:t>Update assessment</ns238:t>
            </ns238:r>
          </ns238:p>
        </p:txBody>
      </p:sp>
      <p:cxnSp>
        <p:nvCxnSpPr>
          <p:cNvPr id="40" name="human.credit.handoff.1"/>
          <p:cNvCxnSpPr/>
          <p:nvPr/>
        </p:nvCxnSpPr>
        <p:spPr>
          <ns239:xfrm xmlns:ns239="http://schemas.openxmlformats.org/drawingml/2006/main">
            <ns239:off x="6588000" y="4266000"/>
            <ns239:ext cx="61200" cy="1"/>
          </ns239:xfrm>
          <ns240:prstGeom xmlns:ns240="http://schemas.openxmlformats.org/drawingml/2006/main" prst="line">
            <ns240:avLst/>
          </ns240:prstGeom>
          <ns241:ln xmlns:ns241="http://schemas.openxmlformats.org/drawingml/2006/main" w="11430">
            <ns241:solidFill>
              <ns241:srgbClr val="005A9C"/>
            </ns241:solidFill>
            <ns241:tailEnd type="triangle" w="sm" len="sm"/>
          </ns241:ln>
        </p:spPr>
      </p:cxnSp>
      <p:sp>
        <p:nvSpPr>
          <p:cNvPr id="41" name="human.credit.action.2"/>
          <p:cNvSpPr/>
          <p:nvPr/>
        </p:nvSpPr>
        <p:spPr>
          <ns242:xfrm xmlns:ns242="http://schemas.openxmlformats.org/drawingml/2006/main">
            <ns242:off x="6685200" y="4032000"/>
            <ns242:ext cx="2001600" cy="468000"/>
          </ns242:xfrm>
          <ns243:prstGeom xmlns:ns243="http://schemas.openxmlformats.org/drawingml/2006/main" prst="roundRect">
            <ns243:avLst/>
          </ns243:prstGeom>
          <ns244:solidFill xmlns:ns244="http://schemas.openxmlformats.org/drawingml/2006/main">
            <ns244:srgbClr val="F3F7FA"/>
          </ns244:solidFill>
          <ns245:ln xmlns:ns245="http://schemas.openxmlformats.org/drawingml/2006/main" w="9525">
            <ns245:solidFill>
              <ns245:srgbClr val="65727D"/>
            </ns245:solidFill>
          </ns245:ln>
        </p:spPr>
        <p:txBody>
          <ns246:bodyPr xmlns:ns246="http://schemas.openxmlformats.org/drawingml/2006/main" wrap="square" lIns="61200" rIns="61200" tIns="61200" bIns="61200" anchor="ctr">
            <ns246:noAutofit/>
          </ns246:bodyPr>
          <ns247:lstStyle xmlns:ns247="http://schemas.openxmlformats.org/drawingml/2006/main"/>
          <ns248:p xmlns:ns248="http://schemas.openxmlformats.org/drawingml/2006/main">
            <ns248:pPr algn="l">
              <ns248:lnSpc>
                <ns248:spcPct val="105000"/>
              </ns248:lnSpc>
              <ns248:defRPr sz="1300" b="1">
                <ns248:solidFill>
                  <ns248:srgbClr val="65727D"/>
                </ns248:solidFill>
                <ns248:latin typeface="Arial"/>
                <ns248:ea typeface="Arial"/>
                <ns248:cs typeface="Arial"/>
              </ns248:defRPr>
            </ns248:pPr>
            <ns248:r>
              <ns248:rPr sz="1300" b="1">
                <ns248:solidFill>
                  <ns248:srgbClr val="65727D"/>
                </ns248:solidFill>
                <ns248:latin typeface="Arial"/>
                <ns248:ea typeface="Arial"/>
                <ns248:cs typeface="Arial"/>
              </ns248:rPr>
              <ns248:t>Portfolio manager</ns248:t>
            </ns248:r>
          </ns248:p>
          <ns249:p xmlns:ns249="http://schemas.openxmlformats.org/drawingml/2006/main">
            <ns249:pPr algn="l">
              <ns249:lnSpc>
                <ns249:spcPct val="105000"/>
              </ns249:lnSpc>
              <ns249:defRPr sz="1050" b="0">
                <ns249:solidFill>
                  <ns249:srgbClr val="20262C"/>
                </ns249:solidFill>
                <ns249:latin typeface="Arial"/>
                <ns249:ea typeface="Arial"/>
                <ns249:cs typeface="Arial"/>
              </ns249:defRPr>
            </ns249:pPr>
            <ns249:r>
              <ns249:rPr sz="1050" b="0">
                <ns249:solidFill>
                  <ns249:srgbClr val="20262C"/>
                </ns249:solidFill>
                <ns249:latin typeface="Arial"/>
                <ns249:ea typeface="Arial"/>
                <ns249:cs typeface="Arial"/>
              </ns249:rPr>
              <ns249:t>Discuss response</ns249:t>
            </ns249:r>
          </ns249:p>
        </p:txBody>
      </p:sp>
      <p:cxnSp>
        <p:nvCxnSpPr>
          <p:cNvPr id="42" name="assessment.to.risk.staff.0"/>
          <p:cNvCxnSpPr/>
          <p:nvPr/>
        </p:nvCxnSpPr>
        <p:spPr>
          <ns250:xfrm xmlns:ns250="http://schemas.openxmlformats.org/drawingml/2006/main">
            <ns250:off x="7407000" y="3762000"/>
            <ns250:ext cx="1" cy="198000"/>
          </ns250:xfrm>
          <ns251:prstGeom xmlns:ns251="http://schemas.openxmlformats.org/drawingml/2006/main" prst="line">
            <ns251:avLst/>
          </ns251:prstGeom>
          <ns252:ln xmlns:ns252="http://schemas.openxmlformats.org/drawingml/2006/main" w="11430">
            <ns252:solidFill>
              <ns252:srgbClr val="317F7B"/>
            </ns252:solidFill>
          </ns252:ln>
        </p:spPr>
      </p:cxnSp>
      <p:cxnSp>
        <p:nvCxnSpPr>
          <p:cNvPr id="43" name="assessment.to.risk.staff.1"/>
          <p:cNvCxnSpPr/>
          <p:nvPr/>
        </p:nvCxnSpPr>
        <p:spPr>
          <ns253:xfrm xmlns:ns253="http://schemas.openxmlformats.org/drawingml/2006/main" flipH="1">
            <ns253:off x="3425400" y="3960000"/>
            <ns253:ext cx="3981600" cy="1"/>
          </ns253:xfrm>
          <ns254:prstGeom xmlns:ns254="http://schemas.openxmlformats.org/drawingml/2006/main" prst="line">
            <ns254:avLst/>
          </ns254:prstGeom>
          <ns255:ln xmlns:ns255="http://schemas.openxmlformats.org/drawingml/2006/main" w="11430">
            <ns255:solidFill>
              <ns255:srgbClr val="317F7B"/>
            </ns255:solidFill>
          </ns255:ln>
        </p:spPr>
      </p:cxnSp>
      <p:cxnSp>
        <p:nvCxnSpPr>
          <p:cNvPr id="44" name="assessment.to.risk.staff.2"/>
          <p:cNvCxnSpPr/>
          <p:nvPr/>
        </p:nvCxnSpPr>
        <p:spPr>
          <ns256:xfrm xmlns:ns256="http://schemas.openxmlformats.org/drawingml/2006/main">
            <ns256:off x="3425400" y="3960000"/>
            <ns256:ext cx="1" cy="36000"/>
          </ns256:xfrm>
          <ns257:prstGeom xmlns:ns257="http://schemas.openxmlformats.org/drawingml/2006/main" prst="line">
            <ns257:avLst/>
          </ns257:prstGeom>
          <ns258:ln xmlns:ns258="http://schemas.openxmlformats.org/drawingml/2006/main" w="11430">
            <ns258:solidFill>
              <ns258:srgbClr val="317F7B"/>
            </ns258:solidFill>
            <ns258:tailEnd type="triangle" w="sm" len="sm"/>
          </ns258:ln>
        </p:spPr>
      </p:cxnSp>
    </p:spTree>
    <p:extLst>
      <p:ext uri="{BB962C8B-B14F-4D97-AF65-F5344CB8AC3E}">
        <p14:creationId xmlns:p14="http://schemas.microsoft.com/office/powerpoint/2010/main" val="20765208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Operations: Record Entry and Validation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Document Entry and Validation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6"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7"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8"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communications</ns44:t>
            </ns44:r>
          </ns44:p>
        </p:txBody>
      </p:sp>
      <p:sp>
        <p:nvSpPr>
          <p:cNvPr id="9"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65727D"/>
                </ns51:solidFill>
                <ns51:latin typeface="Arial"/>
                <ns51:ea typeface="Arial"/>
                <ns51:cs typeface="Arial"/>
              </ns51:defRPr>
            </ns51:pPr>
            <ns51:r>
              <ns51:rPr sz="1100" b="1">
                <ns51:solidFill>
                  <ns51:srgbClr val="65727D"/>
                </ns51:solidFill>
                <ns51:latin typeface="Arial"/>
                <ns51:ea typeface="Arial"/>
                <ns51:cs typeface="Arial"/>
              </ns51:rPr>
              <ns51:t>Middle office</ns51:t>
            </ns51:r>
          </ns51:p>
        </p:txBody>
      </p:sp>
      <p:cxnSp>
        <p:nvCxnSpPr>
          <p:cNvPr id="10"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CBD4DA"/>
            </ns54:solidFill>
          </ns54:ln>
        </p:spPr>
      </p:cxnSp>
      <p:sp>
        <p:nvSpPr>
          <p:cNvPr id="11" name="map.task.risk"/>
          <p:cNvSpPr/>
          <p:nvPr/>
        </p:nvSpPr>
        <p:spPr>
          <ns55:xfrm xmlns:ns55="http://schemas.openxmlformats.org/drawingml/2006/main">
            <ns55:off x="554400" y="2847600"/>
            <ns55:ext cx="1562400" cy="1656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5000"/>
              </ns61:lnSpc>
              <ns61:defRPr sz="1050" b="0">
                <ns61:solidFill>
                  <ns61:srgbClr val="65727D"/>
                </ns61:solidFill>
                <ns61:latin typeface="Arial"/>
                <ns61:ea typeface="Arial"/>
                <ns61:cs typeface="Arial"/>
              </ns61:defRPr>
            </ns61:pPr>
            <ns61:r>
              <ns61:rPr sz="1050" b="0">
                <ns61:solidFill>
                  <ns61:srgbClr val="65727D"/>
                </ns61:solidFill>
                <ns61:latin typeface="Arial"/>
                <ns61:ea typeface="Arial"/>
                <ns61:cs typeface="Arial"/>
              </ns61:rPr>
              <ns61:t>Risk analysis</ns61:t>
            </ns61:r>
          </ns61:p>
        </p:txBody>
      </p:sp>
      <p:sp>
        <p:nvSpPr>
          <p:cNvPr id="12" name="map.office.2"/>
          <p:cNvSpPr/>
          <p:nvPr/>
        </p:nvSpPr>
        <p:spPr>
          <ns62:xfrm xmlns:ns62="http://schemas.openxmlformats.org/drawingml/2006/main">
            <ns62:off x="486000" y="3391200"/>
            <ns62:ext cx="1692000" cy="1800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100" b="1">
                <ns68:solidFill>
                  <ns68:srgbClr val="005A9C"/>
                </ns68:solidFill>
                <ns68:latin typeface="Arial"/>
                <ns68:ea typeface="Arial"/>
                <ns68:cs typeface="Arial"/>
              </ns68:defRPr>
            </ns68:pPr>
            <ns68:r>
              <ns68:rPr sz="1100" b="1">
                <ns68:solidFill>
                  <ns68:srgbClr val="005A9C"/>
                </ns68:solidFill>
                <ns68:latin typeface="Arial"/>
                <ns68:ea typeface="Arial"/>
                <ns68:cs typeface="Arial"/>
              </ns68:rPr>
              <ns68:t>Back office</ns68:t>
            </ns68:r>
          </ns68:p>
        </p:txBody>
      </p:sp>
      <p:cxnSp>
        <p:nvCxnSpPr>
          <p:cNvPr id="13" name="map.office.rule.2"/>
          <p:cNvCxnSpPr/>
          <p:nvPr/>
        </p:nvCxnSpPr>
        <p:spPr>
          <ns69:xfrm xmlns:ns69="http://schemas.openxmlformats.org/drawingml/2006/main">
            <ns69:off x="457200" y="3610800"/>
            <ns69:ext cx="1742400" cy="1"/>
          </ns69:xfrm>
          <ns70:prstGeom xmlns:ns70="http://schemas.openxmlformats.org/drawingml/2006/main" prst="line">
            <ns70:avLst/>
          </ns70:prstGeom>
          <ns71:ln xmlns:ns71="http://schemas.openxmlformats.org/drawingml/2006/main" w="7620">
            <ns71:solidFill>
              <ns71:srgbClr val="005A9C"/>
            </ns71:solidFill>
          </ns71:ln>
        </p:spPr>
      </p:cxnSp>
      <p:sp>
        <p:nvSpPr>
          <p:cNvPr id="14" name="map.task.focus.records"/>
          <p:cNvSpPr/>
          <p:nvPr/>
        </p:nvSpPr>
        <p:spPr>
          <ns72:xfrm xmlns:ns72="http://schemas.openxmlformats.org/drawingml/2006/main">
            <ns72:off x="486000" y="3686400"/>
            <ns72:ext cx="1677600" cy="176400"/>
          </ns72:xfrm>
          <ns73:prstGeom xmlns:ns73="http://schemas.openxmlformats.org/drawingml/2006/main" prst="rect">
            <ns73:avLst/>
          </ns73:prstGeom>
          <ns74:solidFill xmlns:ns74="http://schemas.openxmlformats.org/drawingml/2006/main">
            <ns74:srgbClr val="D9EAF7"/>
          </ns74:solidFill>
          <ns75:ln xmlns:ns75="http://schemas.openxmlformats.org/drawingml/2006/main" w="0">
            <ns75:noFill/>
          </ns75:ln>
        </p:spPr>
      </p:sp>
      <p:sp>
        <p:nvSpPr>
          <p:cNvPr id="15" name="map.task.records"/>
          <p:cNvSpPr/>
          <p:nvPr/>
        </p:nvSpPr>
        <p:spPr>
          <ns76:xfrm xmlns:ns76="http://schemas.openxmlformats.org/drawingml/2006/main">
            <ns76:off x="554400" y="3690000"/>
            <ns76:ext cx="1562400" cy="165600"/>
          </ns76:xfrm>
          <ns77:prstGeom xmlns:ns77="http://schemas.openxmlformats.org/drawingml/2006/main" prst="rect">
            <ns77:avLst/>
          </ns77:prstGeom>
          <ns78:noFill xmlns:ns78="http://schemas.openxmlformats.org/drawingml/2006/main"/>
          <ns79:ln xmlns:ns79="http://schemas.openxmlformats.org/drawingml/2006/main" w="0">
            <ns79:noFill/>
          </ns79:ln>
        </p:spPr>
        <p:txBody>
          <ns80:bodyPr xmlns:ns80="http://schemas.openxmlformats.org/drawingml/2006/main" wrap="square" lIns="0" rIns="0" tIns="0" bIns="0" anchor="t">
            <ns80:noAutofit/>
          </ns80:bodyPr>
          <ns81:lstStyle xmlns:ns81="http://schemas.openxmlformats.org/drawingml/2006/main"/>
          <ns82:p xmlns:ns82="http://schemas.openxmlformats.org/drawingml/2006/main">
            <ns82:pPr algn="l">
              <ns82:lnSpc>
                <ns82:spcPct val="105000"/>
              </ns82:lnSpc>
              <ns82:defRPr sz="1050" b="1">
                <ns82:solidFill>
                  <ns82:srgbClr val="005A9C"/>
                </ns82:solidFill>
                <ns82:latin typeface="Arial"/>
                <ns82:ea typeface="Arial"/>
                <ns82:cs typeface="Arial"/>
              </ns82:defRPr>
            </ns82:pPr>
            <ns82:r>
              <ns82:rPr sz="1050" b="1">
                <ns82:solidFill>
                  <ns82:srgbClr val="005A9C"/>
                </ns82:solidFill>
                <ns82:latin typeface="Arial"/>
                <ns82:ea typeface="Arial"/>
                <ns82:cs typeface="Arial"/>
              </ns82:rPr>
              <ns82:t>Record entry</ns82:t>
            </ns82:r>
          </ns82:p>
        </p:txBody>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Tool development</ns89:t>
            </ns89:r>
          </ns89:p>
        </p:txBody>
      </p:sp>
      <p:sp>
        <p:nvSpPr>
          <p:cNvPr id="17" name="input.received.document.paper"/>
          <p:cNvSpPr/>
          <p:nvPr/>
        </p:nvSpPr>
        <p:spPr>
          <ns90:xfrm xmlns:ns90="http://schemas.openxmlformats.org/drawingml/2006/main">
            <ns90:off x="2422800" y="1620000"/>
            <ns90:ext cx="1620000" cy="1242000"/>
          </ns90:xfrm>
          <ns91:prstGeom xmlns:ns91="http://schemas.openxmlformats.org/drawingml/2006/main" prst="foldedCorner">
            <ns91:avLst/>
          </ns91:prstGeom>
          <ns92:solidFill xmlns:ns92="http://schemas.openxmlformats.org/drawingml/2006/main">
            <ns92:srgbClr val="FFFFFF"/>
          </ns92:solidFill>
          <ns93:ln xmlns:ns93="http://schemas.openxmlformats.org/drawingml/2006/main" w="9525">
            <ns93:solidFill>
              <ns93:srgbClr val="65727D"/>
            </ns93:solidFill>
          </ns93:ln>
        </p:spPr>
      </p:sp>
      <p:sp>
        <p:nvSpPr>
          <p:cNvPr id="18" name="input.received.document.title"/>
          <p:cNvSpPr/>
          <p:nvPr/>
        </p:nvSpPr>
        <p:spPr>
          <ns94:xfrm xmlns:ns94="http://schemas.openxmlformats.org/drawingml/2006/main">
            <ns94:off x="2487600" y="1663200"/>
            <ns94:ext cx="1422000" cy="198000"/>
          </ns94:xfrm>
          <ns95:prstGeom xmlns:ns95="http://schemas.openxmlformats.org/drawingml/2006/main" prst="rect">
            <ns95:avLst/>
          </ns95:prstGeom>
          <ns96:noFill xmlns:ns96="http://schemas.openxmlformats.org/drawingml/2006/main"/>
          <ns97:ln xmlns:ns97="http://schemas.openxmlformats.org/drawingml/2006/main" w="0">
            <ns97:noFill/>
          </ns97:ln>
        </p:spPr>
        <p:txBody>
          <ns98:bodyPr xmlns:ns98="http://schemas.openxmlformats.org/drawingml/2006/main" wrap="square" lIns="0" rIns="0" tIns="0" bIns="0" anchor="t">
            <ns98:noAutofit/>
          </ns98:bodyPr>
          <ns99:lstStyle xmlns:ns99="http://schemas.openxmlformats.org/drawingml/2006/main"/>
          <ns100:p xmlns:ns100="http://schemas.openxmlformats.org/drawingml/2006/main">
            <ns100:pPr algn="l">
              <ns100:lnSpc>
                <ns100:spcPct val="105000"/>
              </ns100:lnSpc>
              <ns100:defRPr sz="1250" b="1">
                <ns100:solidFill>
                  <ns100:srgbClr val="65727D"/>
                </ns100:solidFill>
                <ns100:latin typeface="Arial"/>
                <ns100:ea typeface="Arial"/>
                <ns100:cs typeface="Arial"/>
              </ns100:defRPr>
            </ns100:pPr>
            <ns100:r>
              <ns100:rPr sz="1250" b="1">
                <ns100:solidFill>
                  <ns100:srgbClr val="65727D"/>
                </ns100:solidFill>
                <ns100:latin typeface="Arial"/>
                <ns100:ea typeface="Arial"/>
                <ns100:cs typeface="Arial"/>
              </ns100:rPr>
              <ns100:t>Fax / form</ns100:t>
            </ns100:r>
          </ns100:p>
        </p:txBody>
      </p:sp>
      <p:sp>
        <p:nvSpPr>
          <p:cNvPr id="19" name="input.received.document.content"/>
          <p:cNvSpPr/>
          <p:nvPr/>
        </p:nvSpPr>
        <p:spPr>
          <ns101:xfrm xmlns:ns101="http://schemas.openxmlformats.org/drawingml/2006/main">
            <ns101:off x="2487600" y="1879200"/>
            <ns101:ext cx="1490400" cy="932400"/>
          </ns101:xfrm>
          <ns102:prstGeom xmlns:ns102="http://schemas.openxmlformats.org/drawingml/2006/main" prst="rect">
            <ns102:avLst/>
          </ns102:prstGeom>
          <ns103:noFill xmlns:ns103="http://schemas.openxmlformats.org/drawingml/2006/main"/>
          <ns104:ln xmlns:ns104="http://schemas.openxmlformats.org/drawingml/2006/main" w="0">
            <ns104:noFill/>
          </ns104:ln>
        </p:spPr>
        <p:txBody>
          <ns105:bodyPr xmlns:ns105="http://schemas.openxmlformats.org/drawingml/2006/main" wrap="square" lIns="0" rIns="0" tIns="0" bIns="0" anchor="t">
            <ns105:noAutofit/>
          </ns105:bodyPr>
          <ns106:lstStyle xmlns:ns106="http://schemas.openxmlformats.org/drawingml/2006/main"/>
          <ns107:p xmlns:ns107="http://schemas.openxmlformats.org/drawingml/2006/main">
            <ns107:pPr algn="l">
              <ns107:lnSpc>
                <ns107:spcPct val="100000"/>
              </ns107:lnSpc>
              <ns107:defRPr sz="1200" b="0">
                <ns107:solidFill>
                  <ns107:srgbClr val="20262C"/>
                </ns107:solidFill>
                <ns107:latin typeface="Arial"/>
                <ns107:ea typeface="Arial"/>
                <ns107:cs typeface="Arial"/>
              </ns107:defRPr>
            </ns107:pPr>
            <ns107:r>
              <ns107:rPr sz="1200" b="0">
                <ns107:solidFill>
                  <ns107:srgbClr val="20262C"/>
                </ns107:solidFill>
                <ns107:latin typeface="Arial"/>
                <ns107:ea typeface="Arial"/>
                <ns107:cs typeface="Arial"/>
              </ns107:rPr>
              <ns107:t>Received information</ns107:t>
            </ns107:r>
          </ns107:p>
          <ns108:p xmlns:ns108="http://schemas.openxmlformats.org/drawingml/2006/main">
            <ns108:pPr algn="l">
              <ns108:lnSpc>
                <ns108:spcPct val="100000"/>
              </ns108:lnSpc>
              <ns108:defRPr sz="1200" b="0">
                <ns108:solidFill>
                  <ns108:srgbClr val="20262C"/>
                </ns108:solidFill>
                <ns108:latin typeface="Arial"/>
                <ns108:ea typeface="Arial"/>
                <ns108:cs typeface="Arial"/>
              </ns108:defRPr>
            </ns108:pPr>
            <ns108:r>
              <ns108:rPr sz="1200" b="0">
                <ns108:solidFill>
                  <ns108:srgbClr val="20262C"/>
                </ns108:solidFill>
                <ns108:latin typeface="Arial"/>
                <ns108:ea typeface="Arial"/>
                <ns108:cs typeface="Arial"/>
              </ns108:rPr>
              <ns108:t>Required fields</ns108:t>
            </ns108:r>
          </ns108:p>
        </p:txBody>
      </p:sp>
      <p:sp>
        <p:nvSpPr>
          <p:cNvPr id="20" name="human.operations.capture"/>
          <p:cNvSpPr/>
          <p:nvPr/>
        </p:nvSpPr>
        <p:spPr>
          <ns109:xfrm xmlns:ns109="http://schemas.openxmlformats.org/drawingml/2006/main">
            <ns109:off x="4392000" y="1620000"/>
            <ns109:ext cx="1458000" cy="738000"/>
          </ns109:xfrm>
          <ns110:prstGeom xmlns:ns110="http://schemas.openxmlformats.org/drawingml/2006/main" prst="roundRect">
            <ns110:avLst/>
          </ns110:prstGeom>
          <ns111:solidFill xmlns:ns111="http://schemas.openxmlformats.org/drawingml/2006/main">
            <ns111:srgbClr val="F3F7FA"/>
          </ns111:solidFill>
          <ns112:ln xmlns:ns112="http://schemas.openxmlformats.org/drawingml/2006/main" w="9525">
            <ns112:solidFill>
              <ns112:srgbClr val="65727D"/>
            </ns112:solidFill>
          </ns112:ln>
        </p:spPr>
        <p:txBody>
          <ns113:bodyPr xmlns:ns113="http://schemas.openxmlformats.org/drawingml/2006/main" wrap="square" lIns="61200" rIns="61200" tIns="61200" bIns="61200" anchor="ctr">
            <ns113:noAutofit/>
          </ns113:bodyPr>
          <ns114:lstStyle xmlns:ns114="http://schemas.openxmlformats.org/drawingml/2006/main"/>
          <ns115:p xmlns:ns115="http://schemas.openxmlformats.org/drawingml/2006/main">
            <ns115:pPr algn="l">
              <ns115:lnSpc>
                <ns115:spcPct val="105000"/>
              </ns115:lnSpc>
              <ns115:defRPr sz="1300" b="1">
                <ns115:solidFill>
                  <ns115:srgbClr val="65727D"/>
                </ns115:solidFill>
                <ns115:latin typeface="Arial"/>
                <ns115:ea typeface="Arial"/>
                <ns115:cs typeface="Arial"/>
              </ns115:defRPr>
            </ns115:pPr>
            <ns115:r>
              <ns115:rPr sz="1300" b="1">
                <ns115:solidFill>
                  <ns115:srgbClr val="65727D"/>
                </ns115:solidFill>
                <ns115:latin typeface="Arial"/>
                <ns115:ea typeface="Arial"/>
                <ns115:cs typeface="Arial"/>
              </ns115:rPr>
              <ns115:t>Operations</ns115:t>
            </ns115:r>
          </ns115:p>
          <ns116:p xmlns:ns116="http://schemas.openxmlformats.org/drawingml/2006/main">
            <ns116:pPr algn="l">
              <ns116:lnSpc>
                <ns116:spcPct val="105000"/>
              </ns116:lnSpc>
              <ns116:defRPr sz="1150" b="0">
                <ns116:solidFill>
                  <ns116:srgbClr val="20262C"/>
                </ns116:solidFill>
                <ns116:latin typeface="Arial"/>
                <ns116:ea typeface="Arial"/>
                <ns116:cs typeface="Arial"/>
              </ns116:defRPr>
            </ns116:pPr>
            <ns116:r>
              <ns116:rPr sz="1150" b="0">
                <ns116:solidFill>
                  <ns116:srgbClr val="20262C"/>
                </ns116:solidFill>
                <ns116:latin typeface="Arial"/>
                <ns116:ea typeface="Arial"/>
                <ns116:cs typeface="Arial"/>
              </ns116:rPr>
              <ns116:t>Read / enter fields</ns116:t>
            </ns116:r>
          </ns116:p>
        </p:txBody>
      </p:sp>
      <p:sp>
        <p:nvSpPr>
          <p:cNvPr id="21" name="record.unchecked.paper"/>
          <p:cNvSpPr/>
          <p:nvPr/>
        </p:nvSpPr>
        <p:spPr>
          <ns117:xfrm xmlns:ns117="http://schemas.openxmlformats.org/drawingml/2006/main">
            <ns117:off x="6127200" y="1620000"/>
            <ns117:ext cx="2559600" cy="738000"/>
          </ns117:xfrm>
          <ns118:prstGeom xmlns:ns118="http://schemas.openxmlformats.org/drawingml/2006/main" prst="foldedCorner">
            <ns118:avLst/>
          </ns118:prstGeom>
          <ns119:solidFill xmlns:ns119="http://schemas.openxmlformats.org/drawingml/2006/main">
            <ns119:srgbClr val="FFFFFF"/>
          </ns119:solidFill>
          <ns120:ln xmlns:ns120="http://schemas.openxmlformats.org/drawingml/2006/main" w="9525">
            <ns120:solidFill>
              <ns120:srgbClr val="65727D"/>
            </ns120:solidFill>
          </ns120:ln>
        </p:spPr>
      </p:sp>
      <p:sp>
        <p:nvSpPr>
          <p:cNvPr id="22" name="record.unchecked.title"/>
          <p:cNvSpPr/>
          <p:nvPr/>
        </p:nvSpPr>
        <p:spPr>
          <ns121:xfrm xmlns:ns121="http://schemas.openxmlformats.org/drawingml/2006/main">
            <ns121:off x="6192000" y="1663200"/>
            <ns121:ext cx="2361600" cy="198000"/>
          </ns121:xfrm>
          <ns122:prstGeom xmlns:ns122="http://schemas.openxmlformats.org/drawingml/2006/main" prst="rect">
            <ns122:avLst/>
          </ns122:prstGeom>
          <ns123:noFill xmlns:ns123="http://schemas.openxmlformats.org/drawingml/2006/main"/>
          <ns124:ln xmlns:ns124="http://schemas.openxmlformats.org/drawingml/2006/main" w="0">
            <ns124:noFill/>
          </ns124:ln>
        </p:spPr>
        <p:txBody>
          <ns125:bodyPr xmlns:ns125="http://schemas.openxmlformats.org/drawingml/2006/main" wrap="square" lIns="0" rIns="0" tIns="0" bIns="0" anchor="t">
            <ns125:noAutofit/>
          </ns125:bodyPr>
          <ns126:lstStyle xmlns:ns126="http://schemas.openxmlformats.org/drawingml/2006/main"/>
          <ns127:p xmlns:ns127="http://schemas.openxmlformats.org/drawingml/2006/main">
            <ns127:pPr algn="l">
              <ns127:lnSpc>
                <ns127:spcPct val="105000"/>
              </ns127:lnSpc>
              <ns127:defRPr sz="1250" b="1">
                <ns127:solidFill>
                  <ns127:srgbClr val="65727D"/>
                </ns127:solidFill>
                <ns127:latin typeface="Arial"/>
                <ns127:ea typeface="Arial"/>
                <ns127:cs typeface="Arial"/>
              </ns127:defRPr>
            </ns127:pPr>
            <ns127:r>
              <ns127:rPr sz="1250" b="1">
                <ns127:solidFill>
                  <ns127:srgbClr val="65727D"/>
                </ns127:solidFill>
                <ns127:latin typeface="Arial"/>
                <ns127:ea typeface="Arial"/>
                <ns127:cs typeface="Arial"/>
              </ns127:rPr>
              <ns127:t>Entered record</ns127:t>
            </ns127:r>
          </ns127:p>
        </p:txBody>
      </p:sp>
      <p:sp>
        <p:nvSpPr>
          <p:cNvPr id="23" name="record.unchecked.content"/>
          <p:cNvSpPr/>
          <p:nvPr/>
        </p:nvSpPr>
        <p:spPr>
          <ns128:xfrm xmlns:ns128="http://schemas.openxmlformats.org/drawingml/2006/main">
            <ns128:off x="6192000" y="1879200"/>
            <ns128:ext cx="2430000" cy="428400"/>
          </ns128:xfrm>
          <ns129:prstGeom xmlns:ns129="http://schemas.openxmlformats.org/drawingml/2006/main" prst="rect">
            <ns129:avLst/>
          </ns129:prstGeom>
          <ns130:noFill xmlns:ns130="http://schemas.openxmlformats.org/drawingml/2006/main"/>
          <ns131:ln xmlns:ns131="http://schemas.openxmlformats.org/drawingml/2006/main" w="0">
            <ns131:noFill/>
          </ns131:ln>
        </p:spPr>
        <p:txBody>
          <ns132:bodyPr xmlns:ns132="http://schemas.openxmlformats.org/drawingml/2006/main" wrap="square" lIns="0" rIns="0" tIns="0" bIns="0" anchor="t">
            <ns132:noAutofit/>
          </ns132:bodyPr>
          <ns133:lstStyle xmlns:ns133="http://schemas.openxmlformats.org/drawingml/2006/main"/>
          <ns134:p xmlns:ns134="http://schemas.openxmlformats.org/drawingml/2006/main">
            <ns134:pPr algn="l">
              <ns134:lnSpc>
                <ns134:spcPct val="100000"/>
              </ns134:lnSpc>
              <ns134:defRPr sz="1150" b="0">
                <ns134:solidFill>
                  <ns134:srgbClr val="20262C"/>
                </ns134:solidFill>
                <ns134:latin typeface="Arial"/>
                <ns134:ea typeface="Arial"/>
                <ns134:cs typeface="Arial"/>
              </ns134:defRPr>
            </ns134:pPr>
            <ns134:r>
              <ns134:rPr sz="1150" b="0">
                <ns134:solidFill>
                  <ns134:srgbClr val="20262C"/>
                </ns134:solidFill>
                <ns134:latin typeface="Arial"/>
                <ns134:ea typeface="Arial"/>
                <ns134:cs typeface="Arial"/>
              </ns134:rPr>
              <ns134:t>Fields awaiting validation</ns134:t>
            </ns134:r>
          </ns134:p>
        </p:txBody>
      </p:sp>
      <p:cxnSp>
        <p:nvCxnSpPr>
          <p:cNvPr id="24" name="document.to.capture"/>
          <p:cNvCxnSpPr/>
          <p:nvPr/>
        </p:nvCxnSpPr>
        <p:spPr>
          <ns135:xfrm xmlns:ns135="http://schemas.openxmlformats.org/drawingml/2006/main">
            <ns135:off x="4078800" y="1989000"/>
            <ns135:ext cx="277200" cy="1"/>
          </ns135:xfrm>
          <ns136:prstGeom xmlns:ns136="http://schemas.openxmlformats.org/drawingml/2006/main" prst="line">
            <ns136:avLst/>
          </ns136:prstGeom>
          <ns137:ln xmlns:ns137="http://schemas.openxmlformats.org/drawingml/2006/main" w="11430">
            <ns137:solidFill>
              <ns137:srgbClr val="005A9C"/>
            </ns137:solidFill>
            <ns137:tailEnd type="triangle" w="sm" len="sm"/>
          </ns137:ln>
        </p:spPr>
      </p:cxnSp>
      <p:cxnSp>
        <p:nvCxnSpPr>
          <p:cNvPr id="25" name="capture.to.record"/>
          <p:cNvCxnSpPr/>
          <p:nvPr/>
        </p:nvCxnSpPr>
        <p:spPr>
          <ns138:xfrm xmlns:ns138="http://schemas.openxmlformats.org/drawingml/2006/main">
            <ns138:off x="5886000" y="1989000"/>
            <ns138:ext cx="205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sp>
        <p:nvSpPr>
          <p:cNvPr id="26" name="human.operations.validate"/>
          <p:cNvSpPr/>
          <p:nvPr/>
        </p:nvSpPr>
        <p:spPr>
          <ns141:xfrm xmlns:ns141="http://schemas.openxmlformats.org/drawingml/2006/main">
            <ns141:off x="4392000" y="3240000"/>
            <ns141:ext cx="1458000" cy="792000"/>
          </ns141:xfrm>
          <ns142:prstGeom xmlns:ns142="http://schemas.openxmlformats.org/drawingml/2006/main" prst="roundRect">
            <ns142:avLst/>
          </ns142:prstGeom>
          <ns143:solidFill xmlns:ns143="http://schemas.openxmlformats.org/drawingml/2006/main">
            <ns143:srgbClr val="F3F7FA"/>
          </ns143:solidFill>
          <ns144:ln xmlns:ns144="http://schemas.openxmlformats.org/drawingml/2006/main" w="9525">
            <ns144:solidFill>
              <ns144:srgbClr val="65727D"/>
            </ns144:solidFill>
          </ns144:ln>
        </p:spPr>
        <p:txBody>
          <ns145:bodyPr xmlns:ns145="http://schemas.openxmlformats.org/drawingml/2006/main" wrap="square" lIns="61200" rIns="61200" tIns="61200" bIns="61200" anchor="ctr">
            <ns145:noAutofit/>
          </ns145:bodyPr>
          <ns146:lstStyle xmlns:ns146="http://schemas.openxmlformats.org/drawingml/2006/main"/>
          <ns147:p xmlns:ns147="http://schemas.openxmlformats.org/drawingml/2006/main">
            <ns147:pPr algn="l">
              <ns147:lnSpc>
                <ns147:spcPct val="105000"/>
              </ns147:lnSpc>
              <ns147:defRPr sz="1300" b="1">
                <ns147:solidFill>
                  <ns147:srgbClr val="65727D"/>
                </ns147:solidFill>
                <ns147:latin typeface="Arial"/>
                <ns147:ea typeface="Arial"/>
                <ns147:cs typeface="Arial"/>
              </ns147:defRPr>
            </ns147:pPr>
            <ns147:r>
              <ns147:rPr sz="1300" b="1">
                <ns147:solidFill>
                  <ns147:srgbClr val="65727D"/>
                </ns147:solidFill>
                <ns147:latin typeface="Arial"/>
                <ns147:ea typeface="Arial"/>
                <ns147:cs typeface="Arial"/>
              </ns147:rPr>
              <ns147:t>Operations</ns147:t>
            </ns147:r>
          </ns147:p>
          <ns148:p xmlns:ns148="http://schemas.openxmlformats.org/drawingml/2006/main">
            <ns148:pPr algn="l">
              <ns148:lnSpc>
                <ns148:spcPct val="105000"/>
              </ns148:lnSpc>
              <ns148:defRPr sz="1150" b="0">
                <ns148:solidFill>
                  <ns148:srgbClr val="20262C"/>
                </ns148:solidFill>
                <ns148:latin typeface="Arial"/>
                <ns148:ea typeface="Arial"/>
                <ns148:cs typeface="Arial"/>
              </ns148:defRPr>
            </ns148:pPr>
            <ns148:r>
              <ns148:rPr sz="1150" b="0">
                <ns148:solidFill>
                  <ns148:srgbClr val="20262C"/>
                </ns148:solidFill>
                <ns148:latin typeface="Arial"/>
                <ns148:ea typeface="Arial"/>
                <ns148:cs typeface="Arial"/>
              </ns148:rPr>
              <ns148:t>Check source</ns148:t>
            </ns148:r>
          </ns148:p>
          <ns149:p xmlns:ns149="http://schemas.openxmlformats.org/drawingml/2006/main">
            <ns149:pPr algn="l">
              <ns149:lnSpc>
                <ns149:spcPct val="105000"/>
              </ns149:lnSpc>
              <ns149:defRPr sz="1150" b="0">
                <ns149:solidFill>
                  <ns149:srgbClr val="20262C"/>
                </ns149:solidFill>
                <ns149:latin typeface="Arial"/>
                <ns149:ea typeface="Arial"/>
                <ns149:cs typeface="Arial"/>
              </ns149:defRPr>
            </ns149:pPr>
            <ns149:r>
              <ns149:rPr sz="1150" b="0">
                <ns149:solidFill>
                  <ns149:srgbClr val="20262C"/>
                </ns149:solidFill>
                <ns149:latin typeface="Arial"/>
                <ns149:ea typeface="Arial"/>
                <ns149:cs typeface="Arial"/>
              </ns149:rPr>
              <ns149:t>Correct fields</ns149:t>
            </ns149:r>
          </ns149:p>
        </p:txBody>
      </p:sp>
      <p:sp>
        <p:nvSpPr>
          <p:cNvPr id="27" name="output.business.record.paper"/>
          <p:cNvSpPr/>
          <p:nvPr/>
        </p:nvSpPr>
        <p:spPr>
          <ns150:xfrm xmlns:ns150="http://schemas.openxmlformats.org/drawingml/2006/main">
            <ns150:off x="6127200" y="3240000"/>
            <ns150:ext cx="2559600" cy="792000"/>
          </ns150:xfrm>
          <ns151:prstGeom xmlns:ns151="http://schemas.openxmlformats.org/drawingml/2006/main" prst="foldedCorner">
            <ns151:avLst/>
          </ns151:prstGeom>
          <ns152:solidFill xmlns:ns152="http://schemas.openxmlformats.org/drawingml/2006/main">
            <ns152:srgbClr val="FFFFFF"/>
          </ns152:solidFill>
          <ns153:ln xmlns:ns153="http://schemas.openxmlformats.org/drawingml/2006/main" w="9525">
            <ns153:solidFill>
              <ns153:srgbClr val="65727D"/>
            </ns153:solidFill>
          </ns153:ln>
        </p:spPr>
      </p:sp>
      <p:sp>
        <p:nvSpPr>
          <p:cNvPr id="28" name="output.business.record.title"/>
          <p:cNvSpPr/>
          <p:nvPr/>
        </p:nvSpPr>
        <p:spPr>
          <ns154:xfrm xmlns:ns154="http://schemas.openxmlformats.org/drawingml/2006/main">
            <ns154:off x="6192000" y="3283200"/>
            <ns154:ext cx="2361600" cy="1980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5000"/>
              </ns160:lnSpc>
              <ns160:defRPr sz="1250" b="1">
                <ns160:solidFill>
                  <ns160:srgbClr val="65727D"/>
                </ns160:solidFill>
                <ns160:latin typeface="Arial"/>
                <ns160:ea typeface="Arial"/>
                <ns160:cs typeface="Arial"/>
              </ns160:defRPr>
            </ns160:pPr>
            <ns160:r>
              <ns160:rPr sz="1250" b="1">
                <ns160:solidFill>
                  <ns160:srgbClr val="65727D"/>
                </ns160:solidFill>
                <ns160:latin typeface="Arial"/>
                <ns160:ea typeface="Arial"/>
                <ns160:cs typeface="Arial"/>
              </ns160:rPr>
              <ns160:t>Business record</ns160:t>
            </ns160:r>
          </ns160:p>
        </p:txBody>
      </p:sp>
      <p:sp>
        <p:nvSpPr>
          <p:cNvPr id="29" name="output.business.record.content"/>
          <p:cNvSpPr/>
          <p:nvPr/>
        </p:nvSpPr>
        <p:spPr>
          <ns161:xfrm xmlns:ns161="http://schemas.openxmlformats.org/drawingml/2006/main">
            <ns161:off x="6192000" y="3499200"/>
            <ns161:ext cx="2430000" cy="482400"/>
          </ns161:xfrm>
          <ns162:prstGeom xmlns:ns162="http://schemas.openxmlformats.org/drawingml/2006/main" prst="rect">
            <ns162:avLst/>
          </ns162:prstGeom>
          <ns163:noFill xmlns:ns163="http://schemas.openxmlformats.org/drawingml/2006/main"/>
          <ns164:ln xmlns:ns164="http://schemas.openxmlformats.org/drawingml/2006/main" w="0">
            <ns164:noFill/>
          </ns164:ln>
        </p:spPr>
        <p:txBody>
          <ns165:bodyPr xmlns:ns165="http://schemas.openxmlformats.org/drawingml/2006/main" wrap="square" lIns="0" rIns="0" tIns="0" bIns="0" anchor="t">
            <ns165:noAutofit/>
          </ns165:bodyPr>
          <ns166:lstStyle xmlns:ns166="http://schemas.openxmlformats.org/drawingml/2006/main"/>
          <ns167:p xmlns:ns167="http://schemas.openxmlformats.org/drawingml/2006/main">
            <ns167:pPr algn="l">
              <ns167:lnSpc>
                <ns167:spcPct val="100000"/>
              </ns167:lnSpc>
              <ns167:defRPr sz="1150" b="0">
                <ns167:solidFill>
                  <ns167:srgbClr val="20262C"/>
                </ns167:solidFill>
                <ns167:latin typeface="Arial"/>
                <ns167:ea typeface="Arial"/>
                <ns167:cs typeface="Arial"/>
              </ns167:defRPr>
            </ns167:pPr>
            <ns167:r>
              <ns167:rPr sz="1150" b="0">
                <ns167:solidFill>
                  <ns167:srgbClr val="20262C"/>
                </ns167:solidFill>
                <ns167:latin typeface="Arial"/>
                <ns167:ea typeface="Arial"/>
                <ns167:cs typeface="Arial"/>
              </ns167:rPr>
              <ns167:t>Validated fields</ns167:t>
            </ns167:r>
          </ns167:p>
          <ns168:p xmlns:ns168="http://schemas.openxmlformats.org/drawingml/2006/main">
            <ns168:pPr algn="l">
              <ns168:lnSpc>
                <ns168:spcPct val="100000"/>
              </ns168:lnSpc>
              <ns168:defRPr sz="1150" b="0">
                <ns168:solidFill>
                  <ns168:srgbClr val="20262C"/>
                </ns168:solidFill>
                <ns168:latin typeface="Arial"/>
                <ns168:ea typeface="Arial"/>
                <ns168:cs typeface="Arial"/>
              </ns168:defRPr>
            </ns168:pPr>
            <ns168:r>
              <ns168:rPr sz="1150" b="0">
                <ns168:solidFill>
                  <ns168:srgbClr val="20262C"/>
                </ns168:solidFill>
                <ns168:latin typeface="Arial"/>
                <ns168:ea typeface="Arial"/>
                <ns168:cs typeface="Arial"/>
              </ns168:rPr>
              <ns168:t>Source reference</ns168:t>
            </ns168:r>
          </ns168:p>
        </p:txBody>
      </p:sp>
      <p:cxnSp>
        <p:nvCxnSpPr>
          <p:cNvPr id="30" name="record.to.validation.0"/>
          <p:cNvCxnSpPr/>
          <p:nvPr/>
        </p:nvCxnSpPr>
        <p:spPr>
          <ns169:xfrm xmlns:ns169="http://schemas.openxmlformats.org/drawingml/2006/main">
            <ns169:off x="7407000" y="2394000"/>
            <ns169:ext cx="1" cy="432000"/>
          </ns169:xfrm>
          <ns170:prstGeom xmlns:ns170="http://schemas.openxmlformats.org/drawingml/2006/main" prst="line">
            <ns170:avLst/>
          </ns170:prstGeom>
          <ns171:ln xmlns:ns171="http://schemas.openxmlformats.org/drawingml/2006/main" w="11430">
            <ns171:solidFill>
              <ns171:srgbClr val="005A9C"/>
            </ns171:solidFill>
          </ns171:ln>
        </p:spPr>
      </p:cxnSp>
      <p:cxnSp>
        <p:nvCxnSpPr>
          <p:cNvPr id="31" name="record.to.validation.1"/>
          <p:cNvCxnSpPr/>
          <p:nvPr/>
        </p:nvCxnSpPr>
        <p:spPr>
          <ns172:xfrm xmlns:ns172="http://schemas.openxmlformats.org/drawingml/2006/main" flipH="1">
            <ns172:off x="5121000" y="2826000"/>
            <ns172:ext cx="2286000" cy="1"/>
          </ns172:xfrm>
          <ns173:prstGeom xmlns:ns173="http://schemas.openxmlformats.org/drawingml/2006/main" prst="line">
            <ns173:avLst/>
          </ns173:prstGeom>
          <ns174:ln xmlns:ns174="http://schemas.openxmlformats.org/drawingml/2006/main" w="11430">
            <ns174:solidFill>
              <ns174:srgbClr val="005A9C"/>
            </ns174:solidFill>
          </ns174:ln>
        </p:spPr>
      </p:cxnSp>
      <p:cxnSp>
        <p:nvCxnSpPr>
          <p:cNvPr id="32" name="record.to.validation.2"/>
          <p:cNvCxnSpPr/>
          <p:nvPr/>
        </p:nvCxnSpPr>
        <p:spPr>
          <ns175:xfrm xmlns:ns175="http://schemas.openxmlformats.org/drawingml/2006/main">
            <ns175:off x="5121000" y="2826000"/>
            <ns175:ext cx="1" cy="378000"/>
          </ns175:xfrm>
          <ns176:prstGeom xmlns:ns176="http://schemas.openxmlformats.org/drawingml/2006/main" prst="line">
            <ns176:avLst/>
          </ns176:prstGeom>
          <ns177:ln xmlns:ns177="http://schemas.openxmlformats.org/drawingml/2006/main" w="11430">
            <ns177:solidFill>
              <ns177:srgbClr val="005A9C"/>
            </ns177:solidFill>
            <ns177:tailEnd type="triangle" w="sm" len="sm"/>
          </ns177:ln>
        </p:spPr>
      </p:cxnSp>
      <p:cxnSp>
        <p:nvCxnSpPr>
          <p:cNvPr id="33" name="source.to.validation.0"/>
          <p:cNvCxnSpPr/>
          <p:nvPr/>
        </p:nvCxnSpPr>
        <p:spPr>
          <ns178:xfrm xmlns:ns178="http://schemas.openxmlformats.org/drawingml/2006/main">
            <ns178:off x="3232800" y="2898000"/>
            <ns178:ext cx="1" cy="738000"/>
          </ns178:xfrm>
          <ns179:prstGeom xmlns:ns179="http://schemas.openxmlformats.org/drawingml/2006/main" prst="line">
            <ns179:avLst/>
          </ns179:prstGeom>
          <ns180:ln xmlns:ns180="http://schemas.openxmlformats.org/drawingml/2006/main" w="9525">
            <ns180:solidFill>
              <ns180:srgbClr val="65727D"/>
            </ns180:solidFill>
          </ns180:ln>
        </p:spPr>
      </p:cxnSp>
      <p:cxnSp>
        <p:nvCxnSpPr>
          <p:cNvPr id="34" name="source.to.validation.1"/>
          <p:cNvCxnSpPr/>
          <p:nvPr/>
        </p:nvCxnSpPr>
        <p:spPr>
          <ns181:xfrm xmlns:ns181="http://schemas.openxmlformats.org/drawingml/2006/main">
            <ns181:off x="3232800" y="3636000"/>
            <ns181:ext cx="1123200" cy="1"/>
          </ns181:xfrm>
          <ns182:prstGeom xmlns:ns182="http://schemas.openxmlformats.org/drawingml/2006/main" prst="line">
            <ns182:avLst/>
          </ns182:prstGeom>
          <ns183:ln xmlns:ns183="http://schemas.openxmlformats.org/drawingml/2006/main" w="9525">
            <ns183:solidFill>
              <ns183:srgbClr val="65727D"/>
            </ns183:solidFill>
            <ns183:tailEnd type="triangle" w="sm" len="sm"/>
          </ns183:ln>
        </p:spPr>
      </p:cxnSp>
      <p:cxnSp>
        <p:nvCxnSpPr>
          <p:cNvPr id="35" name="validated.to.record"/>
          <p:cNvCxnSpPr/>
          <p:nvPr/>
        </p:nvCxnSpPr>
        <p:spPr>
          <ns184:xfrm xmlns:ns184="http://schemas.openxmlformats.org/drawingml/2006/main">
            <ns184:off x="5886000" y="3636000"/>
            <ns184:ext cx="205200" cy="1"/>
          </ns184:xfrm>
          <ns185:prstGeom xmlns:ns185="http://schemas.openxmlformats.org/drawingml/2006/main" prst="line">
            <ns185:avLst/>
          </ns185:prstGeom>
          <ns186:ln xmlns:ns186="http://schemas.openxmlformats.org/drawingml/2006/main" w="11430">
            <ns186:solidFill>
              <ns186:srgbClr val="005A9C"/>
            </ns186:solidFill>
            <ns186:tailEnd type="triangle" w="sm" len="sm"/>
          </ns186:ln>
        </p:spPr>
      </p:cxnSp>
      <p:sp>
        <p:nvSpPr>
          <p:cNvPr id="36" name="records.pain"/>
          <p:cNvSpPr/>
          <p:nvPr/>
        </p:nvSpPr>
        <p:spPr>
          <ns187:xfrm xmlns:ns187="http://schemas.openxmlformats.org/drawingml/2006/main">
            <ns187:off x="2422800" y="4374000"/>
            <ns187:ext cx="6264000" cy="172800"/>
          </ns187:xfrm>
          <ns188:prstGeom xmlns:ns188="http://schemas.openxmlformats.org/drawingml/2006/main" prst="rect">
            <ns188:avLst/>
          </ns188:prstGeom>
          <ns189:noFill xmlns:ns189="http://schemas.openxmlformats.org/drawingml/2006/main"/>
          <ns190:ln xmlns:ns190="http://schemas.openxmlformats.org/drawingml/2006/main" w="0">
            <ns190:noFill/>
          </ns190:ln>
        </p:spPr>
        <p:txBody>
          <ns191:bodyPr xmlns:ns191="http://schemas.openxmlformats.org/drawingml/2006/main" wrap="square" lIns="0" rIns="0" tIns="0" bIns="0" anchor="t">
            <ns191:noAutofit/>
          </ns191:bodyPr>
          <ns192:lstStyle xmlns:ns192="http://schemas.openxmlformats.org/drawingml/2006/main"/>
          <ns193:p xmlns:ns193="http://schemas.openxmlformats.org/drawingml/2006/main">
            <ns193:pPr algn="l">
              <ns193:lnSpc>
                <ns193:spcPct val="105000"/>
              </ns193:lnSpc>
              <ns193:defRPr sz="1200" b="0">
                <ns193:solidFill>
                  <ns193:srgbClr val="005A9C"/>
                </ns193:solidFill>
                <ns193:latin typeface="Arial"/>
                <ns193:ea typeface="Arial"/>
                <ns193:cs typeface="Arial"/>
              </ns193:defRPr>
            </ns193:pPr>
            <ns193:r>
              <ns193:rPr sz="1200" b="0">
                <ns193:solidFill>
                  <ns193:srgbClr val="005A9C"/>
                </ns193:solidFill>
                <ns193:latin typeface="Arial"/>
                <ns193:ea typeface="Arial"/>
                <ns193:cs typeface="Arial"/>
              </ns193:rPr>
              <ns193:t>Repeated reading, field entry and source checks</ns193:t>
            </ns193:r>
          </ns193:p>
        </p:txBody>
      </p:sp>
    </p:spTree>
    <p:extLst>
      <p:ext uri="{BB962C8B-B14F-4D97-AF65-F5344CB8AC3E}">
        <p14:creationId xmlns:p14="http://schemas.microsoft.com/office/powerpoint/2010/main" val="12141000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Operations: Record Entry and Validation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Automated Record Entry: Industry Evidence and Our Proposal</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HuaAn / CCF</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2" name="map.task.risk"/>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3"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4"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5" name="map.task.focus.records"/>
          <p:cNvSpPr/>
          <p:nvPr/>
        </p:nvSpPr>
        <p:spPr>
          <ns79:xfrm xmlns:ns79="http://schemas.openxmlformats.org/drawingml/2006/main">
            <ns79:off x="486000" y="3686400"/>
            <ns79:ext cx="1677600" cy="176400"/>
          </ns79:xfrm>
          <ns80:prstGeom xmlns:ns80="http://schemas.openxmlformats.org/drawingml/2006/main" prst="rect">
            <ns80:avLst/>
          </ns80:prstGeom>
          <ns81:solidFill xmlns:ns81="http://schemas.openxmlformats.org/drawingml/2006/main">
            <ns81:srgbClr val="D9EAF7"/>
          </ns81:solidFill>
          <ns82:ln xmlns:ns82="http://schemas.openxmlformats.org/drawingml/2006/main" w="0">
            <ns82:noFill/>
          </ns82:ln>
        </p:spPr>
      </p: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1">
                <ns89:solidFill>
                  <ns89:srgbClr val="005A9C"/>
                </ns89:solidFill>
                <ns89:latin typeface="Arial"/>
                <ns89:ea typeface="Arial"/>
                <ns89:cs typeface="Arial"/>
              </ns89:defRPr>
            </ns89:pPr>
            <ns89:r>
              <ns89:rPr sz="1050" b="1">
                <ns89:solidFill>
                  <ns89:srgbClr val="005A9C"/>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case.huaan"/>
          <p:cNvSpPr/>
          <p:nvPr/>
        </p:nvSpPr>
        <p:spPr>
          <ns97:xfrm xmlns:ns97="http://schemas.openxmlformats.org/drawingml/2006/main">
            <ns97:off x="2422800" y="1468800"/>
            <ns97:ext cx="6264000" cy="198000"/>
          </ns97:xfrm>
          <ns98:prstGeom xmlns:ns98="http://schemas.openxmlformats.org/drawingml/2006/main" prst="rect">
            <ns98:avLst/>
          </ns98:prstGeom>
          <ns99:noFill xmlns:ns99="http://schemas.openxmlformats.org/drawingml/2006/main"/>
          <ns100:ln xmlns:ns100="http://schemas.openxmlformats.org/drawingml/2006/main" w="0">
            <ns100:noFill/>
          </ns100:ln>
        </p:spPr>
        <p:txBody>
          <ns101:bodyPr xmlns:ns101="http://schemas.openxmlformats.org/drawingml/2006/main" wrap="square" lIns="0" rIns="0" tIns="0" bIns="0" anchor="t">
            <ns101:noAutofit/>
          </ns101:bodyPr>
          <ns102:lstStyle xmlns:ns102="http://schemas.openxmlformats.org/drawingml/2006/main"/>
          <ns103:p xmlns:ns103="http://schemas.openxmlformats.org/drawingml/2006/main">
            <ns103:pPr algn="l">
              <ns103:lnSpc>
                <ns103:spcPct val="105000"/>
              </ns103:lnSpc>
              <ns103:defRPr sz="1300" b="0">
                <ns103:solidFill>
                  <ns103:srgbClr val="005A9C"/>
                </ns103:solidFill>
                <ns103:latin typeface="Arial"/>
                <ns103:ea typeface="Arial"/>
                <ns103:cs typeface="Arial"/>
              </ns103:defRPr>
            </ns103:pPr>
            <ns103:r>
              <ns103:rPr sz="1300" b="0">
                <ns103:solidFill>
                  <ns103:srgbClr val="005A9C"/>
                </ns103:solidFill>
                <ns103:latin typeface="Arial"/>
                <ns103:ea typeface="Arial"/>
                <ns103:cs typeface="Arial"/>
              </ns103:rPr>
              <ns103:t>HuaAn: automated fax entry</ns103:t>
            </ns103:r>
          </ns103:p>
        </p:txBody>
      </p:sp>
      <p:sp>
        <p:nvSpPr>
          <p:cNvPr id="19" name="huaan.input.paper"/>
          <p:cNvSpPr/>
          <p:nvPr/>
        </p:nvSpPr>
        <p:spPr>
          <ns104:xfrm xmlns:ns104="http://schemas.openxmlformats.org/drawingml/2006/main">
            <ns104:off x="2422800" y="1782000"/>
            <ns104:ext cx="1620000" cy="666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65727D"/>
            </ns107:solidFill>
          </ns107:ln>
        </p:spPr>
      </p:sp>
      <p:sp>
        <p:nvSpPr>
          <p:cNvPr id="20" name="huaan.input.title"/>
          <p:cNvSpPr/>
          <p:nvPr/>
        </p:nvSpPr>
        <p:spPr>
          <ns108:xfrm xmlns:ns108="http://schemas.openxmlformats.org/drawingml/2006/main">
            <ns108:off x="2487600" y="1825200"/>
            <ns108:ext cx="1422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65727D"/>
                </ns114:solidFill>
                <ns114:latin typeface="Arial"/>
                <ns114:ea typeface="Arial"/>
                <ns114:cs typeface="Arial"/>
              </ns114:defRPr>
            </ns114:pPr>
            <ns114:r>
              <ns114:rPr sz="1250" b="1">
                <ns114:solidFill>
                  <ns114:srgbClr val="65727D"/>
                </ns114:solidFill>
                <ns114:latin typeface="Arial"/>
                <ns114:ea typeface="Arial"/>
                <ns114:cs typeface="Arial"/>
              </ns114:rPr>
              <ns114:t>Fax / form</ns114:t>
            </ns114:r>
          </ns114:p>
        </p:txBody>
      </p:sp>
      <p:sp>
        <p:nvSpPr>
          <p:cNvPr id="21" name="huaan.input.content"/>
          <p:cNvSpPr/>
          <p:nvPr/>
        </p:nvSpPr>
        <p:spPr>
          <ns115:xfrm xmlns:ns115="http://schemas.openxmlformats.org/drawingml/2006/main">
            <ns115:off x="2487600" y="2041200"/>
            <ns115:ext cx="1490400" cy="356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150" b="0">
                <ns121:solidFill>
                  <ns121:srgbClr val="20262C"/>
                </ns121:solidFill>
                <ns121:latin typeface="Arial"/>
                <ns121:ea typeface="Arial"/>
                <ns121:cs typeface="Arial"/>
              </ns121:defRPr>
            </ns121:pPr>
            <ns121:r>
              <ns121:rPr sz="1150" b="0">
                <ns121:solidFill>
                  <ns121:srgbClr val="20262C"/>
                </ns121:solidFill>
                <ns121:latin typeface="Arial"/>
                <ns121:ea typeface="Arial"/>
                <ns121:cs typeface="Arial"/>
              </ns121:rPr>
              <ns121:t>Direct-sales counter</ns121:t>
            </ns121:r>
          </ns121:p>
        </p:txBody>
      </p:sp>
      <p:sp>
        <p:nvSpPr>
          <p:cNvPr id="22" name="huaan.model"/>
          <p:cNvSpPr/>
          <p:nvPr/>
        </p:nvSpPr>
        <p:spPr>
          <ns122:xfrm xmlns:ns122="http://schemas.openxmlformats.org/drawingml/2006/main">
            <ns122:off x="4392000" y="1782000"/>
            <ns122:ext cx="1458000" cy="666000"/>
          </ns122:xfrm>
          <ns123:prstGeom xmlns:ns123="http://schemas.openxmlformats.org/drawingml/2006/main" prst="roundRect">
            <ns123:avLst/>
          </ns123:prstGeom>
          <ns124:solidFill xmlns:ns124="http://schemas.openxmlformats.org/drawingml/2006/main">
            <ns124:srgbClr val="EAF3FA"/>
          </ns124:solidFill>
          <ns125:ln xmlns:ns125="http://schemas.openxmlformats.org/drawingml/2006/main" w="9525">
            <ns125:solidFill>
              <ns125:srgbClr val="005A9C"/>
            </ns125:solidFill>
          </ns125:ln>
        </p:spPr>
        <p:txBody>
          <ns126:bodyPr xmlns:ns126="http://schemas.openxmlformats.org/drawingml/2006/main" wrap="square" lIns="61200" rIns="61200" tIns="61200" bIns="61200" anchor="ctr">
            <ns126:noAutofit/>
          </ns126:bodyPr>
          <ns127:lstStyle xmlns:ns127="http://schemas.openxmlformats.org/drawingml/2006/main"/>
          <ns128:p xmlns:ns128="http://schemas.openxmlformats.org/drawingml/2006/main">
            <ns128:pPr algn="l">
              <ns128:lnSpc>
                <ns128:spcPct val="105000"/>
              </ns128:lnSpc>
              <ns128:defRPr sz="1300" b="1">
                <ns128:solidFill>
                  <ns128:srgbClr val="005A9C"/>
                </ns128:solidFill>
                <ns128:latin typeface="Arial"/>
                <ns128:ea typeface="Arial"/>
                <ns128:cs typeface="Arial"/>
              </ns128:defRPr>
            </ns128:pPr>
            <ns128:r>
              <ns128:rPr sz="1300" b="1">
                <ns128:solidFill>
                  <ns128:srgbClr val="005A9C"/>
                </ns128:solidFill>
                <ns128:latin typeface="Arial"/>
                <ns128:ea typeface="Arial"/>
                <ns128:cs typeface="Arial"/>
              </ns128:rPr>
              <ns128:t>Model extracts</ns128:t>
            </ns128:r>
          </ns128:p>
          <ns129:p xmlns:ns129="http://schemas.openxmlformats.org/drawingml/2006/main">
            <ns129:pPr algn="l">
              <ns129:lnSpc>
                <ns129:spcPct val="105000"/>
              </ns129:lnSpc>
              <ns129:defRPr sz="1150" b="0">
                <ns129:solidFill>
                  <ns129:srgbClr val="20262C"/>
                </ns129:solidFill>
                <ns129:latin typeface="Arial"/>
                <ns129:ea typeface="Arial"/>
                <ns129:cs typeface="Arial"/>
              </ns129:defRPr>
            </ns129:pPr>
            <ns129:r>
              <ns129:rPr sz="1150" b="0">
                <ns129:solidFill>
                  <ns129:srgbClr val="20262C"/>
                </ns129:solidFill>
                <ns129:latin typeface="Arial"/>
                <ns129:ea typeface="Arial"/>
                <ns129:cs typeface="Arial"/>
              </ns129:rPr>
              <ns129:t>Required fields</ns129:t>
            </ns129:r>
          </ns129:p>
        </p:txBody>
      </p:sp>
      <p:sp>
        <p:nvSpPr>
          <p:cNvPr id="23" name="huaan.output"/>
          <p:cNvSpPr/>
          <p:nvPr/>
        </p:nvSpPr>
        <p:spPr>
          <ns130:xfrm xmlns:ns130="http://schemas.openxmlformats.org/drawingml/2006/main">
            <ns130:off x="6127200" y="1782000"/>
            <ns130:ext cx="2559600" cy="666000"/>
          </ns130:xfrm>
          <ns131:prstGeom xmlns:ns131="http://schemas.openxmlformats.org/drawingml/2006/main" prst="rect">
            <ns131:avLst/>
          </ns131:prstGeom>
          <ns132:solidFill xmlns:ns132="http://schemas.openxmlformats.org/drawingml/2006/main">
            <ns132:srgbClr val="F3F7FA"/>
          </ns132:solidFill>
          <ns133:ln xmlns:ns133="http://schemas.openxmlformats.org/drawingml/2006/main" w="9525">
            <ns133:solidFill>
              <ns133:srgbClr val="65727D"/>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65727D"/>
                </ns136:solidFill>
                <ns136:latin typeface="Arial"/>
                <ns136:ea typeface="Arial"/>
                <ns136:cs typeface="Arial"/>
              </ns136:defRPr>
            </ns136:pPr>
            <ns136:r>
              <ns136:rPr sz="1300" b="1">
                <ns136:solidFill>
                  <ns136:srgbClr val="65727D"/>
                </ns136:solidFill>
                <ns136:latin typeface="Arial"/>
                <ns136:ea typeface="Arial"/>
                <ns136:cs typeface="Arial"/>
              </ns136:rPr>
              <ns136:t>Client-service record</ns136:t>
            </ns136:r>
          </ns136:p>
          <ns137:p xmlns:ns137="http://schemas.openxmlformats.org/drawingml/2006/main">
            <ns137:pPr algn="l">
              <ns137:lnSpc>
                <ns137:spcPct val="105000"/>
              </ns137:lnSpc>
              <ns137:defRPr sz="1150" b="0">
                <ns137:solidFill>
                  <ns137:srgbClr val="20262C"/>
                </ns137:solidFill>
                <ns137:latin typeface="Arial"/>
                <ns137:ea typeface="Arial"/>
                <ns137:cs typeface="Arial"/>
              </ns137:defRPr>
            </ns137:pPr>
            <ns137:r>
              <ns137:rPr sz="1150" b="0">
                <ns137:solidFill>
                  <ns137:srgbClr val="20262C"/>
                </ns137:solidFill>
                <ns137:latin typeface="Arial"/>
                <ns137:ea typeface="Arial"/>
                <ns137:cs typeface="Arial"/>
              </ns137:rPr>
              <ns137:t>Populated fields</ns137:t>
            </ns137:r>
          </ns137:p>
        </p:txBody>
      </p:sp>
      <p:cxnSp>
        <p:nvCxnSpPr>
          <p:cNvPr id="24" name="huaan.doc.to.model"/>
          <p:cNvCxnSpPr/>
          <p:nvPr/>
        </p:nvCxnSpPr>
        <p:spPr>
          <ns138:xfrm xmlns:ns138="http://schemas.openxmlformats.org/drawingml/2006/main">
            <ns138:off x="4078800" y="2115000"/>
            <ns138:ext cx="277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cxnSp>
        <p:nvCxnSpPr>
          <p:cNvPr id="25" name="huaan.model.to.record"/>
          <p:cNvCxnSpPr/>
          <p:nvPr/>
        </p:nvCxnSpPr>
        <p:spPr>
          <ns141:xfrm xmlns:ns141="http://schemas.openxmlformats.org/drawingml/2006/main">
            <ns141:off x="5886000" y="2115000"/>
            <ns141:ext cx="205200" cy="1"/>
          </ns141:xfrm>
          <ns142:prstGeom xmlns:ns142="http://schemas.openxmlformats.org/drawingml/2006/main" prst="line">
            <ns142:avLst/>
          </ns142:prstGeom>
          <ns143:ln xmlns:ns143="http://schemas.openxmlformats.org/drawingml/2006/main" w="11430">
            <ns143:solidFill>
              <ns143:srgbClr val="005A9C"/>
            </ns143:solidFill>
            <ns143:tailEnd type="triangle" w="sm" len="sm"/>
          </ns143:ln>
        </p:spPr>
      </p:cxnSp>
      <p:sp>
        <p:nvSpPr>
          <p:cNvPr id="26" name="huaan.metric"/>
          <p:cNvSpPr/>
          <p:nvPr/>
        </p:nvSpPr>
        <p:spPr>
          <ns144:xfrm xmlns:ns144="http://schemas.openxmlformats.org/drawingml/2006/main">
            <ns144:off x="2422800" y="2556000"/>
            <ns144:ext cx="6264000" cy="180000"/>
          </ns144:xfrm>
          <ns145:prstGeom xmlns:ns145="http://schemas.openxmlformats.org/drawingml/2006/main" prst="rect">
            <ns145:avLst/>
          </ns145:prstGeom>
          <ns146:noFill xmlns:ns146="http://schemas.openxmlformats.org/drawingml/2006/main"/>
          <ns147:ln xmlns:ns147="http://schemas.openxmlformats.org/drawingml/2006/main" w="0">
            <ns147:noFill/>
          </ns147:ln>
        </p:spPr>
        <p:txBody>
          <ns148:bodyPr xmlns:ns148="http://schemas.openxmlformats.org/drawingml/2006/main" wrap="square" lIns="0" rIns="0" tIns="0" bIns="0" anchor="t">
            <ns148:noAutofit/>
          </ns148:bodyPr>
          <ns149:lstStyle xmlns:ns149="http://schemas.openxmlformats.org/drawingml/2006/main"/>
          <ns150:p xmlns:ns150="http://schemas.openxmlformats.org/drawingml/2006/main">
            <ns150:pPr algn="l">
              <ns150:lnSpc>
                <ns150:spcPct val="105000"/>
              </ns150:lnSpc>
              <ns150:defRPr sz="1100" b="0">
                <ns150:solidFill>
                  <ns150:srgbClr val="005A9C"/>
                </ns150:solidFill>
                <ns150:latin typeface="Arial"/>
                <ns150:ea typeface="Arial"/>
                <ns150:cs typeface="Arial"/>
              </ns150:defRPr>
            </ns150:pPr>
            <ns150:r>
              <ns150:rPr sz="1100" b="0">
                <ns150:solidFill>
                  <ns150:srgbClr val="005A9C"/>
                </ns150:solidFill>
                <ns150:latin typeface="Arial"/>
                <ns150:ea typeface="Arial"/>
                <ns150:cs typeface="Arial"/>
              </ns150:rPr>
              <ns150:t>Direct-sales counter: more than 80% of faxes entered automatically</ns150:t>
            </ns150:r>
          </ns150:p>
        </p:txBody>
      </p:sp>
      <p:sp>
        <p:nvSpPr>
          <p:cNvPr id="27" name="proposal.record.entry"/>
          <p:cNvSpPr/>
          <p:nvPr/>
        </p:nvSpPr>
        <p:spPr>
          <ns151:xfrm xmlns:ns151="http://schemas.openxmlformats.org/drawingml/2006/main">
            <ns151:off x="2422800" y="2970000"/>
            <ns151:ext cx="6264000" cy="198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300" b="0">
                <ns157:solidFill>
                  <ns157:srgbClr val="005A9C"/>
                </ns157:solidFill>
                <ns157:latin typeface="Arial"/>
                <ns157:ea typeface="Arial"/>
                <ns157:cs typeface="Arial"/>
              </ns157:defRPr>
            </ns157:pPr>
            <ns157:r>
              <ns157:rPr sz="1300" b="0">
                <ns157:solidFill>
                  <ns157:srgbClr val="005A9C"/>
                </ns157:solidFill>
                <ns157:latin typeface="Arial"/>
                <ns157:ea typeface="Arial"/>
                <ns157:cs typeface="Arial"/>
              </ns157:rPr>
              <ns157:t>Proposed application: record entry and validation</ns157:t>
            </ns157:r>
          </ns157:p>
        </p:txBody>
      </p:sp>
      <p:sp>
        <p:nvSpPr>
          <p:cNvPr id="28" name="company.record.input.paper"/>
          <p:cNvSpPr/>
          <p:nvPr/>
        </p:nvSpPr>
        <p:spPr>
          <ns158:xfrm xmlns:ns158="http://schemas.openxmlformats.org/drawingml/2006/main">
            <ns158:off x="2422800" y="3294000"/>
            <ns158:ext cx="1152000" cy="810000"/>
          </ns158:xfrm>
          <ns159:prstGeom xmlns:ns159="http://schemas.openxmlformats.org/drawingml/2006/main" prst="foldedCorner">
            <ns159:avLst/>
          </ns159:prstGeom>
          <ns160:solidFill xmlns:ns160="http://schemas.openxmlformats.org/drawingml/2006/main">
            <ns160:srgbClr val="FFFFFF"/>
          </ns160:solidFill>
          <ns161:ln xmlns:ns161="http://schemas.openxmlformats.org/drawingml/2006/main" w="9525">
            <ns161:solidFill>
              <ns161:srgbClr val="65727D"/>
            </ns161:solidFill>
          </ns161:ln>
        </p:spPr>
      </p:sp>
      <p:sp>
        <p:nvSpPr>
          <p:cNvPr id="29" name="company.record.input.title"/>
          <p:cNvSpPr/>
          <p:nvPr/>
        </p:nvSpPr>
        <p:spPr>
          <ns162:xfrm xmlns:ns162="http://schemas.openxmlformats.org/drawingml/2006/main">
            <ns162:off x="2487600" y="3337200"/>
            <ns162:ext cx="954000" cy="1980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5000"/>
              </ns168:lnSpc>
              <ns168:defRPr sz="1250" b="1">
                <ns168:solidFill>
                  <ns168:srgbClr val="65727D"/>
                </ns168:solidFill>
                <ns168:latin typeface="Arial"/>
                <ns168:ea typeface="Arial"/>
                <ns168:cs typeface="Arial"/>
              </ns168:defRPr>
            </ns168:pPr>
            <ns168:r>
              <ns168:rPr sz="1250" b="1">
                <ns168:solidFill>
                  <ns168:srgbClr val="65727D"/>
                </ns168:solidFill>
                <ns168:latin typeface="Arial"/>
                <ns168:ea typeface="Arial"/>
                <ns168:cs typeface="Arial"/>
              </ns168:rPr>
              <ns168:t>Document</ns168:t>
            </ns168:r>
          </ns168:p>
        </p:txBody>
      </p:sp>
      <p:sp>
        <p:nvSpPr>
          <p:cNvPr id="30" name="company.record.input.content"/>
          <p:cNvSpPr/>
          <p:nvPr/>
        </p:nvSpPr>
        <p:spPr>
          <ns169:xfrm xmlns:ns169="http://schemas.openxmlformats.org/drawingml/2006/main">
            <ns169:off x="2487600" y="3553200"/>
            <ns169:ext cx="1022400" cy="5004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0000"/>
              </ns175:lnSpc>
              <ns175:defRPr sz="1050" b="0">
                <ns175:solidFill>
                  <ns175:srgbClr val="20262C"/>
                </ns175:solidFill>
                <ns175:latin typeface="Arial"/>
                <ns175:ea typeface="Arial"/>
                <ns175:cs typeface="Arial"/>
              </ns175:defRPr>
            </ns175:pPr>
            <ns175:r>
              <ns175:rPr sz="1050" b="0">
                <ns175:solidFill>
                  <ns175:srgbClr val="20262C"/>
                </ns175:solidFill>
                <ns175:latin typeface="Arial"/>
                <ns175:ea typeface="Arial"/>
                <ns175:cs typeface="Arial"/>
              </ns175:rPr>
              <ns175:t>Source information</ns175:t>
            </ns175:r>
          </ns175:p>
        </p:txBody>
      </p:sp>
      <p:sp>
        <p:nvSpPr>
          <p:cNvPr id="31" name="company.record.llm"/>
          <p:cNvSpPr/>
          <p:nvPr/>
        </p:nvSpPr>
        <p:spPr>
          <ns176:xfrm xmlns:ns176="http://schemas.openxmlformats.org/drawingml/2006/main">
            <ns176:off x="3754800" y="3294000"/>
            <ns176:ext cx="1332000" cy="810000"/>
          </ns176:xfrm>
          <ns177:prstGeom xmlns:ns177="http://schemas.openxmlformats.org/drawingml/2006/main" prst="roundRect">
            <ns177:avLst/>
          </ns177:prstGeom>
          <ns178:solidFill xmlns:ns178="http://schemas.openxmlformats.org/drawingml/2006/main">
            <ns178:srgbClr val="EAF3FA"/>
          </ns178:solidFill>
          <ns179:ln xmlns:ns179="http://schemas.openxmlformats.org/drawingml/2006/main" w="9525">
            <ns179:solidFill>
              <ns179:srgbClr val="005A9C"/>
            </ns179:solidFill>
          </ns179:ln>
        </p:spPr>
        <p:txBody>
          <ns180:bodyPr xmlns:ns180="http://schemas.openxmlformats.org/drawingml/2006/main" wrap="square" lIns="61200" rIns="61200" tIns="61200" bIns="61200" anchor="ctr">
            <ns180:noAutofit/>
          </ns180:bodyPr>
          <ns181:lstStyle xmlns:ns181="http://schemas.openxmlformats.org/drawingml/2006/main"/>
          <ns182:p xmlns:ns182="http://schemas.openxmlformats.org/drawingml/2006/main">
            <ns182:pPr algn="l">
              <ns182:lnSpc>
                <ns182:spcPct val="105000"/>
              </ns182:lnSpc>
              <ns182:defRPr sz="1300" b="1">
                <ns182:solidFill>
                  <ns182:srgbClr val="005A9C"/>
                </ns182:solidFill>
                <ns182:latin typeface="Arial"/>
                <ns182:ea typeface="Arial"/>
                <ns182:cs typeface="Arial"/>
              </ns182:defRPr>
            </ns182:pPr>
            <ns182:r>
              <ns182:rPr sz="1300" b="1">
                <ns182:solidFill>
                  <ns182:srgbClr val="005A9C"/>
                </ns182:solidFill>
                <ns182:latin typeface="Arial"/>
                <ns182:ea typeface="Arial"/>
                <ns182:cs typeface="Arial"/>
              </ns182:rPr>
              <ns182:t>LLM extracts</ns182:t>
            </ns182:r>
          </ns182:p>
          <ns183:p xmlns:ns183="http://schemas.openxmlformats.org/drawingml/2006/main">
            <ns183:pPr algn="l">
              <ns183:lnSpc>
                <ns183:spcPct val="105000"/>
              </ns183:lnSpc>
              <ns183:defRPr sz="1150" b="0">
                <ns183:solidFill>
                  <ns183:srgbClr val="20262C"/>
                </ns183:solidFill>
                <ns183:latin typeface="Arial"/>
                <ns183:ea typeface="Arial"/>
                <ns183:cs typeface="Arial"/>
              </ns183:defRPr>
            </ns183:pPr>
            <ns183:r>
              <ns183:rPr sz="1150" b="0">
                <ns183:solidFill>
                  <ns183:srgbClr val="20262C"/>
                </ns183:solidFill>
                <ns183:latin typeface="Arial"/>
                <ns183:ea typeface="Arial"/>
                <ns183:cs typeface="Arial"/>
              </ns183:rPr>
              <ns183:t>Required fields</ns183:t>
            </ns183:r>
          </ns183:p>
        </p:txBody>
      </p:sp>
      <p:sp>
        <p:nvSpPr>
          <p:cNvPr id="32" name="company.record.validation"/>
          <p:cNvSpPr/>
          <p:nvPr/>
        </p:nvSpPr>
        <p:spPr>
          <ns184:xfrm xmlns:ns184="http://schemas.openxmlformats.org/drawingml/2006/main">
            <ns184:off x="5266800" y="3294000"/>
            <ns184:ext cx="1512000" cy="810000"/>
          </ns184:xfrm>
          <ns185:prstGeom xmlns:ns185="http://schemas.openxmlformats.org/drawingml/2006/main" prst="roundRect">
            <ns185:avLst/>
          </ns185:prstGeom>
          <ns186:solidFill xmlns:ns186="http://schemas.openxmlformats.org/drawingml/2006/main">
            <ns186:srgbClr val="F3F7FA"/>
          </ns186:solidFill>
          <ns187:ln xmlns:ns187="http://schemas.openxmlformats.org/drawingml/2006/main" w="9525">
            <ns187:solidFill>
              <ns187:srgbClr val="65727D"/>
            </ns187:solidFill>
          </ns187:ln>
        </p:spPr>
        <p:txBody>
          <ns188:bodyPr xmlns:ns188="http://schemas.openxmlformats.org/drawingml/2006/main" wrap="square" lIns="61200" rIns="61200" tIns="61200" bIns="61200" anchor="ctr">
            <ns188:noAutofit/>
          </ns188:bodyPr>
          <ns189:lstStyle xmlns:ns189="http://schemas.openxmlformats.org/drawingml/2006/main"/>
          <ns190:p xmlns:ns190="http://schemas.openxmlformats.org/drawingml/2006/main">
            <ns190:pPr algn="l">
              <ns190:lnSpc>
                <ns190:spcPct val="105000"/>
              </ns190:lnSpc>
              <ns190:defRPr sz="1300" b="1">
                <ns190:solidFill>
                  <ns190:srgbClr val="65727D"/>
                </ns190:solidFill>
                <ns190:latin typeface="Arial"/>
                <ns190:ea typeface="Arial"/>
                <ns190:cs typeface="Arial"/>
              </ns190:defRPr>
            </ns190:pPr>
            <ns190:r>
              <ns190:rPr sz="1300" b="1">
                <ns190:solidFill>
                  <ns190:srgbClr val="65727D"/>
                </ns190:solidFill>
                <ns190:latin typeface="Arial"/>
                <ns190:ea typeface="Arial"/>
                <ns190:cs typeface="Arial"/>
              </ns190:rPr>
              <ns190:t>Operations</ns190:t>
            </ns190:r>
          </ns190:p>
          <ns191:p xmlns:ns191="http://schemas.openxmlformats.org/drawingml/2006/main">
            <ns191:pPr algn="l">
              <ns191:lnSpc>
                <ns191:spcPct val="105000"/>
              </ns191:lnSpc>
              <ns191:defRPr sz="1150" b="0">
                <ns191:solidFill>
                  <ns191:srgbClr val="20262C"/>
                </ns191:solidFill>
                <ns191:latin typeface="Arial"/>
                <ns191:ea typeface="Arial"/>
                <ns191:cs typeface="Arial"/>
              </ns191:defRPr>
            </ns191:pPr>
            <ns191:r>
              <ns191:rPr sz="1150" b="0">
                <ns191:solidFill>
                  <ns191:srgbClr val="20262C"/>
                </ns191:solidFill>
                <ns191:latin typeface="Arial"/>
                <ns191:ea typeface="Arial"/>
                <ns191:cs typeface="Arial"/>
              </ns191:rPr>
              <ns191:t>Validate source</ns191:t>
            </ns191:r>
          </ns191:p>
          <ns192:p xmlns:ns192="http://schemas.openxmlformats.org/drawingml/2006/main">
            <ns192:pPr algn="l">
              <ns192:lnSpc>
                <ns192:spcPct val="105000"/>
              </ns192:lnSpc>
              <ns192:defRPr sz="1150" b="0">
                <ns192:solidFill>
                  <ns192:srgbClr val="20262C"/>
                </ns192:solidFill>
                <ns192:latin typeface="Arial"/>
                <ns192:ea typeface="Arial"/>
                <ns192:cs typeface="Arial"/>
              </ns192:defRPr>
            </ns192:pPr>
            <ns192:r>
              <ns192:rPr sz="1150" b="0">
                <ns192:solidFill>
                  <ns192:srgbClr val="20262C"/>
                </ns192:solidFill>
                <ns192:latin typeface="Arial"/>
                <ns192:ea typeface="Arial"/>
                <ns192:cs typeface="Arial"/>
              </ns192:rPr>
              <ns192:t>Correct fields</ns192:t>
            </ns192:r>
          </ns192:p>
        </p:txBody>
      </p:sp>
      <p:sp>
        <p:nvSpPr>
          <p:cNvPr id="33" name="company.record.output.paper"/>
          <p:cNvSpPr/>
          <p:nvPr/>
        </p:nvSpPr>
        <p:spPr>
          <ns193:xfrm xmlns:ns193="http://schemas.openxmlformats.org/drawingml/2006/main">
            <ns193:off x="6958800" y="3294000"/>
            <ns193:ext cx="1728000" cy="810000"/>
          </ns193:xfrm>
          <ns194:prstGeom xmlns:ns194="http://schemas.openxmlformats.org/drawingml/2006/main" prst="foldedCorner">
            <ns194:avLst/>
          </ns194:prstGeom>
          <ns195:solidFill xmlns:ns195="http://schemas.openxmlformats.org/drawingml/2006/main">
            <ns195:srgbClr val="FFFFFF"/>
          </ns195:solidFill>
          <ns196:ln xmlns:ns196="http://schemas.openxmlformats.org/drawingml/2006/main" w="9525">
            <ns196:solidFill>
              <ns196:srgbClr val="65727D"/>
            </ns196:solidFill>
          </ns196:ln>
        </p:spPr>
      </p:sp>
      <p:sp>
        <p:nvSpPr>
          <p:cNvPr id="34" name="company.record.output.title"/>
          <p:cNvSpPr/>
          <p:nvPr/>
        </p:nvSpPr>
        <p:spPr>
          <ns197:xfrm xmlns:ns197="http://schemas.openxmlformats.org/drawingml/2006/main">
            <ns197:off x="7023600" y="3337200"/>
            <ns197:ext cx="1530000" cy="198000"/>
          </ns197:xfrm>
          <ns198:prstGeom xmlns:ns198="http://schemas.openxmlformats.org/drawingml/2006/main" prst="rect">
            <ns198:avLst/>
          </ns198:prstGeom>
          <ns199:noFill xmlns:ns199="http://schemas.openxmlformats.org/drawingml/2006/main"/>
          <ns200:ln xmlns:ns200="http://schemas.openxmlformats.org/drawingml/2006/main" w="0">
            <ns200:noFill/>
          </ns200:ln>
        </p:spPr>
        <p:txBody>
          <ns201:bodyPr xmlns:ns201="http://schemas.openxmlformats.org/drawingml/2006/main" wrap="square" lIns="0" rIns="0" tIns="0" bIns="0" anchor="t">
            <ns201:noAutofit/>
          </ns201:bodyPr>
          <ns202:lstStyle xmlns:ns202="http://schemas.openxmlformats.org/drawingml/2006/main"/>
          <ns203:p xmlns:ns203="http://schemas.openxmlformats.org/drawingml/2006/main">
            <ns203:pPr algn="l">
              <ns203:lnSpc>
                <ns203:spcPct val="105000"/>
              </ns203:lnSpc>
              <ns203:defRPr sz="1250" b="1">
                <ns203:solidFill>
                  <ns203:srgbClr val="65727D"/>
                </ns203:solidFill>
                <ns203:latin typeface="Arial"/>
                <ns203:ea typeface="Arial"/>
                <ns203:cs typeface="Arial"/>
              </ns203:defRPr>
            </ns203:pPr>
            <ns203:r>
              <ns203:rPr sz="1250" b="1">
                <ns203:solidFill>
                  <ns203:srgbClr val="65727D"/>
                </ns203:solidFill>
                <ns203:latin typeface="Arial"/>
                <ns203:ea typeface="Arial"/>
                <ns203:cs typeface="Arial"/>
              </ns203:rPr>
              <ns203:t>Business record</ns203:t>
            </ns203:r>
          </ns203:p>
        </p:txBody>
      </p:sp>
      <p:sp>
        <p:nvSpPr>
          <p:cNvPr id="35" name="company.record.output.content"/>
          <p:cNvSpPr/>
          <p:nvPr/>
        </p:nvSpPr>
        <p:spPr>
          <ns204:xfrm xmlns:ns204="http://schemas.openxmlformats.org/drawingml/2006/main">
            <ns204:off x="7023600" y="3553200"/>
            <ns204:ext cx="1598400" cy="500400"/>
          </ns204:xfrm>
          <ns205:prstGeom xmlns:ns205="http://schemas.openxmlformats.org/drawingml/2006/main" prst="rect">
            <ns205:avLst/>
          </ns205:prstGeom>
          <ns206:noFill xmlns:ns206="http://schemas.openxmlformats.org/drawingml/2006/main"/>
          <ns207:ln xmlns:ns207="http://schemas.openxmlformats.org/drawingml/2006/main" w="0">
            <ns207:noFill/>
          </ns207:ln>
        </p:spPr>
        <p:txBody>
          <ns208:bodyPr xmlns:ns208="http://schemas.openxmlformats.org/drawingml/2006/main" wrap="square" lIns="0" rIns="0" tIns="0" bIns="0" anchor="t">
            <ns208:noAutofit/>
          </ns208:bodyPr>
          <ns209:lstStyle xmlns:ns209="http://schemas.openxmlformats.org/drawingml/2006/main"/>
          <ns210:p xmlns:ns210="http://schemas.openxmlformats.org/drawingml/2006/main">
            <ns210:pPr algn="l">
              <ns210:lnSpc>
                <ns210:spcPct val="100000"/>
              </ns210:lnSpc>
              <ns210:defRPr sz="1150" b="0">
                <ns210:solidFill>
                  <ns210:srgbClr val="20262C"/>
                </ns210:solidFill>
                <ns210:latin typeface="Arial"/>
                <ns210:ea typeface="Arial"/>
                <ns210:cs typeface="Arial"/>
              </ns210:defRPr>
            </ns210:pPr>
            <ns210:r>
              <ns210:rPr sz="1150" b="0">
                <ns210:solidFill>
                  <ns210:srgbClr val="20262C"/>
                </ns210:solidFill>
                <ns210:latin typeface="Arial"/>
                <ns210:ea typeface="Arial"/>
                <ns210:cs typeface="Arial"/>
              </ns210:rPr>
              <ns210:t>Validated fields</ns210:t>
            </ns210:r>
          </ns210:p>
          <ns211:p xmlns:ns211="http://schemas.openxmlformats.org/drawingml/2006/main">
            <ns211:pPr algn="l">
              <ns211:lnSpc>
                <ns211:spcPct val="100000"/>
              </ns211:lnSpc>
              <ns211:defRPr sz="1150" b="0">
                <ns211:solidFill>
                  <ns211:srgbClr val="20262C"/>
                </ns211:solidFill>
                <ns211:latin typeface="Arial"/>
                <ns211:ea typeface="Arial"/>
                <ns211:cs typeface="Arial"/>
              </ns211:defRPr>
            </ns211:pPr>
            <ns211:r>
              <ns211:rPr sz="1150" b="0">
                <ns211:solidFill>
                  <ns211:srgbClr val="20262C"/>
                </ns211:solidFill>
                <ns211:latin typeface="Arial"/>
                <ns211:ea typeface="Arial"/>
                <ns211:cs typeface="Arial"/>
              </ns211:rPr>
              <ns211:t>Source reference</ns211:t>
            </ns211:r>
          </ns211:p>
        </p:txBody>
      </p:sp>
      <p:cxnSp>
        <p:nvCxnSpPr>
          <p:cNvPr id="36" name="record.entry.sequence.0"/>
          <p:cNvCxnSpPr/>
          <p:nvPr/>
        </p:nvCxnSpPr>
        <p:spPr>
          <ns212:xfrm xmlns:ns212="http://schemas.openxmlformats.org/drawingml/2006/main">
            <ns212:off x="3574800" y="3699000"/>
            <ns212:ext cx="144000" cy="1"/>
          </ns212:xfrm>
          <ns213:prstGeom xmlns:ns213="http://schemas.openxmlformats.org/drawingml/2006/main" prst="line">
            <ns213:avLst/>
          </ns213:prstGeom>
          <ns214:ln xmlns:ns214="http://schemas.openxmlformats.org/drawingml/2006/main" w="11430">
            <ns214:solidFill>
              <ns214:srgbClr val="005A9C"/>
            </ns214:solidFill>
            <ns214:tailEnd type="triangle" w="sm" len="sm"/>
          </ns214:ln>
        </p:spPr>
      </p:cxnSp>
      <p:cxnSp>
        <p:nvCxnSpPr>
          <p:cNvPr id="37" name="record.entry.sequence.1"/>
          <p:cNvCxnSpPr/>
          <p:nvPr/>
        </p:nvCxnSpPr>
        <p:spPr>
          <ns215:xfrm xmlns:ns215="http://schemas.openxmlformats.org/drawingml/2006/main">
            <ns215:off x="5122800" y="3699000"/>
            <ns215:ext cx="108000" cy="1"/>
          </ns215:xfrm>
          <ns216:prstGeom xmlns:ns216="http://schemas.openxmlformats.org/drawingml/2006/main" prst="line">
            <ns216:avLst/>
          </ns216:prstGeom>
          <ns217:ln xmlns:ns217="http://schemas.openxmlformats.org/drawingml/2006/main" w="11430">
            <ns217:solidFill>
              <ns217:srgbClr val="005A9C"/>
            </ns217:solidFill>
            <ns217:tailEnd type="triangle" w="sm" len="sm"/>
          </ns217:ln>
        </p:spPr>
      </p:cxnSp>
      <p:cxnSp>
        <p:nvCxnSpPr>
          <p:cNvPr id="38" name="record.entry.sequence.2"/>
          <p:cNvCxnSpPr/>
          <p:nvPr/>
        </p:nvCxnSpPr>
        <p:spPr>
          <ns218:xfrm xmlns:ns218="http://schemas.openxmlformats.org/drawingml/2006/main">
            <ns218:off x="6814800" y="3699000"/>
            <ns218:ext cx="108000" cy="1"/>
          </ns218:xfrm>
          <ns219:prstGeom xmlns:ns219="http://schemas.openxmlformats.org/drawingml/2006/main" prst="line">
            <ns219:avLst/>
          </ns219:prstGeom>
          <ns220:ln xmlns:ns220="http://schemas.openxmlformats.org/drawingml/2006/main" w="11430">
            <ns220:solidFill>
              <ns220:srgbClr val="005A9C"/>
            </ns220:solidFill>
            <ns220:tailEnd type="triangle" w="sm" len="sm"/>
          </ns220:ln>
        </p:spPr>
      </p:cxnSp>
      <p:sp>
        <p:nvSpPr>
          <p:cNvPr id="39" name="record.accountability"/>
          <p:cNvSpPr/>
          <p:nvPr/>
        </p:nvSpPr>
        <p:spPr>
          <ns221:xfrm xmlns:ns221="http://schemas.openxmlformats.org/drawingml/2006/main">
            <ns221:off x="2422800" y="4338000"/>
            <ns221:ext cx="6264000" cy="180000"/>
          </ns221:xfrm>
          <ns222:prstGeom xmlns:ns222="http://schemas.openxmlformats.org/drawingml/2006/main" prst="rect">
            <ns222:avLst/>
          </ns222:prstGeom>
          <ns223:noFill xmlns:ns223="http://schemas.openxmlformats.org/drawingml/2006/main"/>
          <ns224:ln xmlns:ns224="http://schemas.openxmlformats.org/drawingml/2006/main" w="0">
            <ns224:noFill/>
          </ns224:ln>
        </p:spPr>
        <p:txBody>
          <ns225:bodyPr xmlns:ns225="http://schemas.openxmlformats.org/drawingml/2006/main" wrap="square" lIns="0" rIns="0" tIns="0" bIns="0" anchor="t">
            <ns225:noAutofit/>
          </ns225:bodyPr>
          <ns226:lstStyle xmlns:ns226="http://schemas.openxmlformats.org/drawingml/2006/main"/>
          <ns227:p xmlns:ns227="http://schemas.openxmlformats.org/drawingml/2006/main">
            <ns227:pPr algn="l">
              <ns227:lnSpc>
                <ns227:spcPct val="105000"/>
              </ns227:lnSpc>
              <ns227:defRPr sz="1150" b="0">
                <ns227:solidFill>
                  <ns227:srgbClr val="65727D"/>
                </ns227:solidFill>
                <ns227:latin typeface="Arial"/>
                <ns227:ea typeface="Arial"/>
                <ns227:cs typeface="Arial"/>
              </ns227:defRPr>
            </ns227:pPr>
            <ns227:r>
              <ns227:rPr sz="1150" b="0">
                <ns227:solidFill>
                  <ns227:srgbClr val="65727D"/>
                </ns227:solidFill>
                <ns227:latin typeface="Arial"/>
                <ns227:ea typeface="Arial"/>
                <ns227:cs typeface="Arial"/>
              </ns227:rPr>
              <ns227:t>Staff validate the extracted information before record entry</ns227:t>
            </ns227:r>
          </ns227:p>
        </p:txBody>
      </p:sp>
    </p:spTree>
    <p:extLst>
      <p:ext uri="{BB962C8B-B14F-4D97-AF65-F5344CB8AC3E}">
        <p14:creationId xmlns:p14="http://schemas.microsoft.com/office/powerpoint/2010/main" val="15787176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Tool Development: Automating Document Comparison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Development and Testing Workflow</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65727D"/>
                </ns20:solidFill>
                <ns20:latin typeface="Arial"/>
                <ns20:ea typeface="Arial"/>
                <ns20:cs typeface="Arial"/>
              </ns20:defRPr>
            </ns20:pPr>
            <ns20:r>
              <ns20:rPr sz="1100" b="1">
                <ns20:solidFill>
                  <ns20:srgbClr val="65727D"/>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CBD4DA"/>
            </ns23:solidFill>
          </ns23:ln>
        </p:spPr>
      </p:cxnSp>
      <p:sp>
        <p:nvSpPr>
          <p:cNvPr id="6" name="map.task.research"/>
          <p:cNvSpPr/>
          <p:nvPr/>
        </p:nvSpPr>
        <p:spPr>
          <ns24:xfrm xmlns:ns24="http://schemas.openxmlformats.org/drawingml/2006/main">
            <ns24:off x="554400" y="1803600"/>
            <ns24:ext cx="1562400" cy="165600"/>
          </ns24:xfrm>
          <ns25:prstGeom xmlns:ns25="http://schemas.openxmlformats.org/drawingml/2006/main" prst="rect">
            <ns25:avLst/>
          </ns25:prstGeom>
          <ns26:noFill xmlns:ns26="http://schemas.openxmlformats.org/drawingml/2006/main"/>
          <ns27:ln xmlns:ns27="http://schemas.openxmlformats.org/drawingml/2006/main" w="0">
            <ns27:noFill/>
          </ns27:ln>
        </p:spPr>
        <p:txBody>
          <ns28:bodyPr xmlns:ns28="http://schemas.openxmlformats.org/drawingml/2006/main" wrap="square" lIns="0" rIns="0" tIns="0" bIns="0" anchor="t">
            <ns28:noAutofit/>
          </ns28:bodyPr>
          <ns29:lstStyle xmlns:ns29="http://schemas.openxmlformats.org/drawingml/2006/main"/>
          <ns30:p xmlns:ns30="http://schemas.openxmlformats.org/drawingml/2006/main">
            <ns30:pPr algn="l">
              <ns30:lnSpc>
                <ns30:spcPct val="105000"/>
              </ns30:lnSpc>
              <ns30:defRPr sz="1050" b="0">
                <ns30:solidFill>
                  <ns30:srgbClr val="65727D"/>
                </ns30:solidFill>
                <ns30:latin typeface="Arial"/>
                <ns30:ea typeface="Arial"/>
                <ns30:cs typeface="Arial"/>
              </ns30:defRPr>
            </ns30:pPr>
            <ns30:r>
              <ns30:rPr sz="1050" b="0">
                <ns30:solidFill>
                  <ns30:srgbClr val="65727D"/>
                </ns30:solidFill>
                <ns30:latin typeface="Arial"/>
                <ns30:ea typeface="Arial"/>
                <ns30:cs typeface="Arial"/>
              </ns30:rPr>
              <ns30:t>Research</ns30:t>
            </ns30:r>
          </ns30:p>
        </p:txBody>
      </p:sp>
      <p:sp>
        <p:nvSpPr>
          <p:cNvPr id="7" name="map.task.trade"/>
          <p:cNvSpPr/>
          <p:nvPr/>
        </p:nvSpPr>
        <p:spPr>
          <ns31:xfrm xmlns:ns31="http://schemas.openxmlformats.org/drawingml/2006/main">
            <ns31:off x="554400" y="2001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Trading support</ns37:t>
            </ns37:r>
          </ns37:p>
        </p:txBody>
      </p:sp>
      <p:sp>
        <p:nvSpPr>
          <p:cNvPr id="8" name="map.task.client"/>
          <p:cNvSpPr/>
          <p:nvPr/>
        </p:nvSpPr>
        <p:spPr>
          <ns38:xfrm xmlns:ns38="http://schemas.openxmlformats.org/drawingml/2006/main">
            <ns38:off x="554400" y="2199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Client communications</ns44:t>
            </ns44:r>
          </ns44:p>
        </p:txBody>
      </p:sp>
      <p:sp>
        <p:nvSpPr>
          <p:cNvPr id="9" name="map.office.1"/>
          <p:cNvSpPr/>
          <p:nvPr/>
        </p:nvSpPr>
        <p:spPr>
          <ns45:xfrm xmlns:ns45="http://schemas.openxmlformats.org/drawingml/2006/main">
            <ns45:off x="486000" y="2548800"/>
            <ns45:ext cx="1692000" cy="1800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100" b="1">
                <ns51:solidFill>
                  <ns51:srgbClr val="65727D"/>
                </ns51:solidFill>
                <ns51:latin typeface="Arial"/>
                <ns51:ea typeface="Arial"/>
                <ns51:cs typeface="Arial"/>
              </ns51:defRPr>
            </ns51:pPr>
            <ns51:r>
              <ns51:rPr sz="1100" b="1">
                <ns51:solidFill>
                  <ns51:srgbClr val="65727D"/>
                </ns51:solidFill>
                <ns51:latin typeface="Arial"/>
                <ns51:ea typeface="Arial"/>
                <ns51:cs typeface="Arial"/>
              </ns51:rPr>
              <ns51:t>Middle office</ns51:t>
            </ns51:r>
          </ns51:p>
        </p:txBody>
      </p:sp>
      <p:cxnSp>
        <p:nvCxnSpPr>
          <p:cNvPr id="10" name="map.office.rule.1"/>
          <p:cNvCxnSpPr/>
          <p:nvPr/>
        </p:nvCxnSpPr>
        <p:spPr>
          <ns52:xfrm xmlns:ns52="http://schemas.openxmlformats.org/drawingml/2006/main">
            <ns52:off x="457200" y="2768400"/>
            <ns52:ext cx="1742400" cy="1"/>
          </ns52:xfrm>
          <ns53:prstGeom xmlns:ns53="http://schemas.openxmlformats.org/drawingml/2006/main" prst="line">
            <ns53:avLst/>
          </ns53:prstGeom>
          <ns54:ln xmlns:ns54="http://schemas.openxmlformats.org/drawingml/2006/main" w="7620">
            <ns54:solidFill>
              <ns54:srgbClr val="CBD4DA"/>
            </ns54:solidFill>
          </ns54:ln>
        </p:spPr>
      </p:cxnSp>
      <p:sp>
        <p:nvSpPr>
          <p:cNvPr id="11" name="map.task.risk"/>
          <p:cNvSpPr/>
          <p:nvPr/>
        </p:nvSpPr>
        <p:spPr>
          <ns55:xfrm xmlns:ns55="http://schemas.openxmlformats.org/drawingml/2006/main">
            <ns55:off x="554400" y="2847600"/>
            <ns55:ext cx="1562400" cy="165600"/>
          </ns55:xfrm>
          <ns56:prstGeom xmlns:ns56="http://schemas.openxmlformats.org/drawingml/2006/main" prst="rect">
            <ns56:avLst/>
          </ns56:prstGeom>
          <ns57:noFill xmlns:ns57="http://schemas.openxmlformats.org/drawingml/2006/main"/>
          <ns58:ln xmlns:ns58="http://schemas.openxmlformats.org/drawingml/2006/main" w="0">
            <ns58:noFill/>
          </ns58:ln>
        </p:spPr>
        <p:txBody>
          <ns59:bodyPr xmlns:ns59="http://schemas.openxmlformats.org/drawingml/2006/main" wrap="square" lIns="0" rIns="0" tIns="0" bIns="0" anchor="t">
            <ns59:noAutofit/>
          </ns59:bodyPr>
          <ns60:lstStyle xmlns:ns60="http://schemas.openxmlformats.org/drawingml/2006/main"/>
          <ns61:p xmlns:ns61="http://schemas.openxmlformats.org/drawingml/2006/main">
            <ns61:pPr algn="l">
              <ns61:lnSpc>
                <ns61:spcPct val="105000"/>
              </ns61:lnSpc>
              <ns61:defRPr sz="1050" b="0">
                <ns61:solidFill>
                  <ns61:srgbClr val="65727D"/>
                </ns61:solidFill>
                <ns61:latin typeface="Arial"/>
                <ns61:ea typeface="Arial"/>
                <ns61:cs typeface="Arial"/>
              </ns61:defRPr>
            </ns61:pPr>
            <ns61:r>
              <ns61:rPr sz="1050" b="0">
                <ns61:solidFill>
                  <ns61:srgbClr val="65727D"/>
                </ns61:solidFill>
                <ns61:latin typeface="Arial"/>
                <ns61:ea typeface="Arial"/>
                <ns61:cs typeface="Arial"/>
              </ns61:rPr>
              <ns61:t>Risk analysis</ns61:t>
            </ns61:r>
          </ns61:p>
        </p:txBody>
      </p:sp>
      <p:sp>
        <p:nvSpPr>
          <p:cNvPr id="12" name="map.office.2"/>
          <p:cNvSpPr/>
          <p:nvPr/>
        </p:nvSpPr>
        <p:spPr>
          <ns62:xfrm xmlns:ns62="http://schemas.openxmlformats.org/drawingml/2006/main">
            <ns62:off x="486000" y="3391200"/>
            <ns62:ext cx="1692000" cy="1800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100" b="1">
                <ns68:solidFill>
                  <ns68:srgbClr val="005A9C"/>
                </ns68:solidFill>
                <ns68:latin typeface="Arial"/>
                <ns68:ea typeface="Arial"/>
                <ns68:cs typeface="Arial"/>
              </ns68:defRPr>
            </ns68:pPr>
            <ns68:r>
              <ns68:rPr sz="1100" b="1">
                <ns68:solidFill>
                  <ns68:srgbClr val="005A9C"/>
                </ns68:solidFill>
                <ns68:latin typeface="Arial"/>
                <ns68:ea typeface="Arial"/>
                <ns68:cs typeface="Arial"/>
              </ns68:rPr>
              <ns68:t>Back office</ns68:t>
            </ns68:r>
          </ns68:p>
        </p:txBody>
      </p:sp>
      <p:cxnSp>
        <p:nvCxnSpPr>
          <p:cNvPr id="13" name="map.office.rule.2"/>
          <p:cNvCxnSpPr/>
          <p:nvPr/>
        </p:nvCxnSpPr>
        <p:spPr>
          <ns69:xfrm xmlns:ns69="http://schemas.openxmlformats.org/drawingml/2006/main">
            <ns69:off x="457200" y="3610800"/>
            <ns69:ext cx="1742400" cy="1"/>
          </ns69:xfrm>
          <ns70:prstGeom xmlns:ns70="http://schemas.openxmlformats.org/drawingml/2006/main" prst="line">
            <ns70:avLst/>
          </ns70:prstGeom>
          <ns71:ln xmlns:ns71="http://schemas.openxmlformats.org/drawingml/2006/main" w="7620">
            <ns71:solidFill>
              <ns71:srgbClr val="005A9C"/>
            </ns71:solidFill>
          </ns71:ln>
        </p:spPr>
      </p:cxnSp>
      <p:sp>
        <p:nvSpPr>
          <p:cNvPr id="14" name="map.task.records"/>
          <p:cNvSpPr/>
          <p:nvPr/>
        </p:nvSpPr>
        <p:spPr>
          <ns72:xfrm xmlns:ns72="http://schemas.openxmlformats.org/drawingml/2006/main">
            <ns72:off x="554400" y="3690000"/>
            <ns72:ext cx="1562400" cy="165600"/>
          </ns72:xfrm>
          <ns73:prstGeom xmlns:ns73="http://schemas.openxmlformats.org/drawingml/2006/main" prst="rect">
            <ns73:avLst/>
          </ns73:prstGeom>
          <ns74:noFill xmlns:ns74="http://schemas.openxmlformats.org/drawingml/2006/main"/>
          <ns75:ln xmlns:ns75="http://schemas.openxmlformats.org/drawingml/2006/main" w="0">
            <ns75:noFill/>
          </ns75:ln>
        </p:spPr>
        <p:txBody>
          <ns76:bodyPr xmlns:ns76="http://schemas.openxmlformats.org/drawingml/2006/main" wrap="square" lIns="0" rIns="0" tIns="0" bIns="0" anchor="t">
            <ns76:noAutofit/>
          </ns76:bodyPr>
          <ns77:lstStyle xmlns:ns77="http://schemas.openxmlformats.org/drawingml/2006/main"/>
          <ns78:p xmlns:ns78="http://schemas.openxmlformats.org/drawingml/2006/main">
            <ns78:pPr algn="l">
              <ns78:lnSpc>
                <ns78:spcPct val="105000"/>
              </ns78:lnSpc>
              <ns78:defRPr sz="1050" b="0">
                <ns78:solidFill>
                  <ns78:srgbClr val="65727D"/>
                </ns78:solidFill>
                <ns78:latin typeface="Arial"/>
                <ns78:ea typeface="Arial"/>
                <ns78:cs typeface="Arial"/>
              </ns78:defRPr>
            </ns78:pPr>
            <ns78:r>
              <ns78:rPr sz="1050" b="0">
                <ns78:solidFill>
                  <ns78:srgbClr val="65727D"/>
                </ns78:solidFill>
                <ns78:latin typeface="Arial"/>
                <ns78:ea typeface="Arial"/>
                <ns78:cs typeface="Arial"/>
              </ns78:rPr>
              <ns78:t>Record entry</ns78:t>
            </ns78:r>
          </ns78:p>
        </p:txBody>
      </p:sp>
      <p:sp>
        <p:nvSpPr>
          <p:cNvPr id="15" name="map.task.focus.dev"/>
          <p:cNvSpPr/>
          <p:nvPr/>
        </p:nvSpPr>
        <p:spPr>
          <ns79:xfrm xmlns:ns79="http://schemas.openxmlformats.org/drawingml/2006/main">
            <ns79:off x="486000" y="3884400"/>
            <ns79:ext cx="1677600" cy="176400"/>
          </ns79:xfrm>
          <ns80:prstGeom xmlns:ns80="http://schemas.openxmlformats.org/drawingml/2006/main" prst="rect">
            <ns80:avLst/>
          </ns80:prstGeom>
          <ns81:solidFill xmlns:ns81="http://schemas.openxmlformats.org/drawingml/2006/main">
            <ns81:srgbClr val="D9EAF7"/>
          </ns81:solidFill>
          <ns82:ln xmlns:ns82="http://schemas.openxmlformats.org/drawingml/2006/main" w="0">
            <ns82:noFill/>
          </ns82:ln>
        </p:spPr>
      </p:sp>
      <p:sp>
        <p:nvSpPr>
          <p:cNvPr id="16" name="map.task.dev"/>
          <p:cNvSpPr/>
          <p:nvPr/>
        </p:nvSpPr>
        <p:spPr>
          <ns83:xfrm xmlns:ns83="http://schemas.openxmlformats.org/drawingml/2006/main">
            <ns83:off x="554400" y="3888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1">
                <ns89:solidFill>
                  <ns89:srgbClr val="005A9C"/>
                </ns89:solidFill>
                <ns89:latin typeface="Arial"/>
                <ns89:ea typeface="Arial"/>
                <ns89:cs typeface="Arial"/>
              </ns89:defRPr>
            </ns89:pPr>
            <ns89:r>
              <ns89:rPr sz="1050" b="1">
                <ns89:solidFill>
                  <ns89:srgbClr val="005A9C"/>
                </ns89:solidFill>
                <ns89:latin typeface="Arial"/>
                <ns89:ea typeface="Arial"/>
                <ns89:cs typeface="Arial"/>
              </ns89:rPr>
              <ns89:t>Tool development</ns89:t>
            </ns89:r>
          </ns89:p>
        </p:txBody>
      </p:sp>
      <p:sp>
        <p:nvSpPr>
          <p:cNvPr id="17" name="input.dev.version.0.paper"/>
          <p:cNvSpPr/>
          <p:nvPr/>
        </p:nvSpPr>
        <p:spPr>
          <ns104:xfrm xmlns:ns104="http://schemas.openxmlformats.org/drawingml/2006/main">
            <ns104:off x="2422800" y="1530000"/>
            <ns104:ext cx="1620000" cy="1008000"/>
          </ns104:xfrm>
          <ns105:prstGeom xmlns:ns105="http://schemas.openxmlformats.org/drawingml/2006/main" prst="foldedCorner">
            <ns105:avLst/>
          </ns105:prstGeom>
          <ns106:solidFill xmlns:ns106="http://schemas.openxmlformats.org/drawingml/2006/main">
            <ns106:srgbClr val="FFFFFF"/>
          </ns106:solidFill>
          <ns107:ln xmlns:ns107="http://schemas.openxmlformats.org/drawingml/2006/main" w="9525">
            <ns107:solidFill>
              <ns107:srgbClr val="7363A6"/>
            </ns107:solidFill>
          </ns107:ln>
        </p:spPr>
      </p:sp>
      <p:sp>
        <p:nvSpPr>
          <p:cNvPr id="18" name="input.dev.version.0.title"/>
          <p:cNvSpPr/>
          <p:nvPr/>
        </p:nvSpPr>
        <p:spPr>
          <ns108:xfrm xmlns:ns108="http://schemas.openxmlformats.org/drawingml/2006/main">
            <ns108:off x="2487600" y="1573200"/>
            <ns108:ext cx="1422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50" b="1">
                <ns114:solidFill>
                  <ns114:srgbClr val="7363A6"/>
                </ns114:solidFill>
                <ns114:latin typeface="Arial"/>
                <ns114:ea typeface="Arial"/>
                <ns114:cs typeface="Arial"/>
              </ns114:defRPr>
            </ns114:pPr>
            <ns114:r>
              <ns114:rPr sz="1250" b="1">
                <ns114:solidFill>
                  <ns114:srgbClr val="7363A6"/>
                </ns114:solidFill>
                <ns114:latin typeface="Arial"/>
                <ns114:ea typeface="Arial"/>
                <ns114:cs typeface="Arial"/>
              </ns114:rPr>
              <ns114:t>V1 sample</ns114:t>
            </ns114:r>
          </ns114:p>
        </p:txBody>
      </p:sp>
      <p:sp>
        <p:nvSpPr>
          <p:cNvPr id="19" name="input.dev.version.0.content"/>
          <p:cNvSpPr/>
          <p:nvPr/>
        </p:nvSpPr>
        <p:spPr>
          <ns115:xfrm xmlns:ns115="http://schemas.openxmlformats.org/drawingml/2006/main">
            <ns115:off x="2487600" y="1789200"/>
            <ns115:ext cx="1490400" cy="6984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0000"/>
              </ns121:lnSpc>
              <ns121:defRPr sz="1200" b="0">
                <ns121:solidFill>
                  <ns121:srgbClr val="20262C"/>
                </ns121:solidFill>
                <ns121:latin typeface="Arial"/>
                <ns121:ea typeface="Arial"/>
                <ns121:cs typeface="Arial"/>
              </ns121:defRPr>
            </ns121:pPr>
            <ns121:r>
              <ns121:rPr sz="1200" b="0">
                <ns121:solidFill>
                  <ns121:srgbClr val="20262C"/>
                </ns121:solidFill>
                <ns121:latin typeface="Arial"/>
                <ns121:ea typeface="Arial"/>
                <ns121:cs typeface="Arial"/>
              </ns121:rPr>
              <ns121:t/>
            </ns121:r>
          </ns121:p>
        </p:txBody>
      </p:sp>
      <p:sp>
        <p:nvSpPr>
          <p:cNvPr id="20" name="sample.header.0"/>
          <p:cNvSpPr/>
          <p:nvPr/>
        </p:nvSpPr>
        <p:spPr>
          <ns122:xfrm xmlns:ns122="http://schemas.openxmlformats.org/drawingml/2006/main">
            <ns122:off x="2487600" y="1828800"/>
            <ns122:ext cx="1490400" cy="216000"/>
          </ns122:xfrm>
          <ns123:prstGeom xmlns:ns123="http://schemas.openxmlformats.org/drawingml/2006/main" prst="rect">
            <ns123:avLst/>
          </ns123:prstGeom>
          <ns124:solidFill xmlns:ns124="http://schemas.openxmlformats.org/drawingml/2006/main">
            <ns124:srgbClr val="F3F7FA"/>
          </ns124:solidFill>
          <ns125:ln xmlns:ns125="http://schemas.openxmlformats.org/drawingml/2006/main" w="9525">
            <ns125:solidFill>
              <ns125:srgbClr val="65727D"/>
            </ns125:solidFill>
          </ns125:ln>
        </p:spPr>
        <p:txBody>
          <ns126:bodyPr xmlns:ns126="http://schemas.openxmlformats.org/drawingml/2006/main" wrap="square" lIns="10800" rIns="10800" tIns="10800" bIns="10800" anchor="t">
            <ns126:noAutofit/>
          </ns126:bodyPr>
          <ns127:lstStyle xmlns:ns127="http://schemas.openxmlformats.org/drawingml/2006/main"/>
          <ns128:p xmlns:ns128="http://schemas.openxmlformats.org/drawingml/2006/main">
            <ns128:pPr algn="ctr">
              <ns128:lnSpc>
                <ns128:spcPct val="105000"/>
              </ns128:lnSpc>
              <ns128:defRPr sz="1050" b="0">
                <ns128:solidFill>
                  <ns128:srgbClr val="65727D"/>
                </ns128:solidFill>
                <ns128:latin typeface="Arial"/>
                <ns128:ea typeface="Arial"/>
                <ns128:cs typeface="Arial"/>
              </ns128:defRPr>
            </ns128:pPr>
            <ns128:r>
              <ns128:rPr sz="1050" b="0">
                <ns128:solidFill>
                  <ns128:srgbClr val="65727D"/>
                </ns128:solidFill>
                <ns128:latin typeface="Arial"/>
                <ns128:ea typeface="Arial"/>
                <ns128:cs typeface="Arial"/>
              </ns128:rPr>
              <ns128:t>Repeated header</ns128:t>
            </ns128:r>
          </ns128:p>
        </p:txBody>
      </p:sp>
      <p:sp>
        <p:nvSpPr>
          <p:cNvPr id="21" name="sample.body.0"/>
          <p:cNvSpPr/>
          <p:nvPr/>
        </p:nvSpPr>
        <p:spPr>
          <ns129:xfrm xmlns:ns129="http://schemas.openxmlformats.org/drawingml/2006/main">
            <ns129:off x="2487600" y="2196000"/>
            <ns129:ext cx="1490400" cy="216000"/>
          </ns129:xfrm>
          <ns130:prstGeom xmlns:ns130="http://schemas.openxmlformats.org/drawingml/2006/main" prst="rect">
            <ns130:avLst/>
          </ns130:prstGeom>
          <ns131:noFill xmlns:ns131="http://schemas.openxmlformats.org/drawingml/2006/main"/>
          <ns132:ln xmlns:ns132="http://schemas.openxmlformats.org/drawingml/2006/main" w="9525">
            <ns132:solidFill>
              <ns132:srgbClr val="7363A6"/>
            </ns132:solidFill>
          </ns132:ln>
        </p:spPr>
        <p:txBody>
          <ns133:bodyPr xmlns:ns133="http://schemas.openxmlformats.org/drawingml/2006/main" wrap="square" lIns="10800" rIns="10800" tIns="10800" bIns="10800" anchor="t">
            <ns133:noAutofit/>
          </ns133:bodyPr>
          <ns134:lstStyle xmlns:ns134="http://schemas.openxmlformats.org/drawingml/2006/main"/>
          <ns135:p xmlns:ns135="http://schemas.openxmlformats.org/drawingml/2006/main">
            <ns135:pPr algn="ctr">
              <ns135:lnSpc>
                <ns135:spcPct val="105000"/>
              </ns135:lnSpc>
              <ns135:defRPr sz="1150" b="1">
                <ns135:solidFill>
                  <ns135:srgbClr val="7363A6"/>
                </ns135:solidFill>
                <ns135:latin typeface="Arial"/>
                <ns135:ea typeface="Arial"/>
                <ns135:cs typeface="Arial"/>
              </ns135:defRPr>
            </ns135:pPr>
            <ns135:r>
              <ns135:rPr sz="1150" b="1">
                <ns135:solidFill>
                  <ns135:srgbClr val="7363A6"/>
                </ns135:solidFill>
                <ns135:latin typeface="Arial"/>
                <ns135:ea typeface="Arial"/>
                <ns135:cs typeface="Arial"/>
              </ns135:rPr>
              <ns135:t>Body text</ns135:t>
            </ns135:r>
          </ns135:p>
        </p:txBody>
      </p:sp>
      <p:sp>
        <p:nvSpPr>
          <p:cNvPr id="22" name="sample.ignore.0"/>
          <p:cNvSpPr/>
          <p:nvPr/>
        </p:nvSpPr>
        <p:spPr>
          <ns136:xfrm xmlns:ns136="http://schemas.openxmlformats.org/drawingml/2006/main">
            <ns136:off x="2487600" y="2059200"/>
            <ns136:ext cx="1490400" cy="126000"/>
          </ns136:xfrm>
          <ns137:prstGeom xmlns:ns137="http://schemas.openxmlformats.org/drawingml/2006/main" prst="rect">
            <ns137:avLst/>
          </ns137:prstGeom>
          <ns138:noFill xmlns:ns138="http://schemas.openxmlformats.org/drawingml/2006/main"/>
          <ns139:ln xmlns:ns139="http://schemas.openxmlformats.org/drawingml/2006/main" w="0">
            <ns139:noFill/>
          </ns139:ln>
        </p:spPr>
        <p:txBody>
          <ns140:bodyPr xmlns:ns140="http://schemas.openxmlformats.org/drawingml/2006/main" wrap="square" lIns="0" rIns="0" tIns="0" bIns="0" anchor="t">
            <ns140:noAutofit/>
          </ns140:bodyPr>
          <ns141:lstStyle xmlns:ns141="http://schemas.openxmlformats.org/drawingml/2006/main"/>
          <ns142:p xmlns:ns142="http://schemas.openxmlformats.org/drawingml/2006/main">
            <ns142:pPr algn="l">
              <ns142:lnSpc>
                <ns142:spcPct val="105000"/>
              </ns142:lnSpc>
              <ns142:defRPr sz="950" b="0">
                <ns142:solidFill>
                  <ns142:srgbClr val="65727D"/>
                </ns142:solidFill>
                <ns142:latin typeface="Arial"/>
                <ns142:ea typeface="Arial"/>
                <ns142:cs typeface="Arial"/>
              </ns142:defRPr>
            </ns142:pPr>
            <ns142:r>
              <ns142:rPr sz="950" b="0">
                <ns142:solidFill>
                  <ns142:srgbClr val="65727D"/>
                </ns142:solidFill>
                <ns142:latin typeface="Arial"/>
                <ns142:ea typeface="Arial"/>
                <ns142:cs typeface="Arial"/>
              </ns142:rPr>
              <ns142:t>Ignore</ns142:t>
            </ns142:r>
          </ns142:p>
        </p:txBody>
      </p:sp>
      <p:sp>
        <p:nvSpPr>
          <p:cNvPr id="23" name="input.dev.version.1.paper"/>
          <p:cNvSpPr/>
          <p:nvPr/>
        </p:nvSpPr>
        <p:spPr>
          <ns143:xfrm xmlns:ns143="http://schemas.openxmlformats.org/drawingml/2006/main">
            <ns143:off x="4392000" y="1530000"/>
            <ns143:ext cx="1458000" cy="1008000"/>
          </ns143:xfrm>
          <ns144:prstGeom xmlns:ns144="http://schemas.openxmlformats.org/drawingml/2006/main" prst="foldedCorner">
            <ns144:avLst/>
          </ns144:prstGeom>
          <ns145:solidFill xmlns:ns145="http://schemas.openxmlformats.org/drawingml/2006/main">
            <ns145:srgbClr val="FFFFFF"/>
          </ns145:solidFill>
          <ns146:ln xmlns:ns146="http://schemas.openxmlformats.org/drawingml/2006/main" w="9525">
            <ns146:solidFill>
              <ns146:srgbClr val="7363A6"/>
            </ns146:solidFill>
          </ns146:ln>
        </p:spPr>
      </p:sp>
      <p:sp>
        <p:nvSpPr>
          <p:cNvPr id="24" name="input.dev.version.1.title"/>
          <p:cNvSpPr/>
          <p:nvPr/>
        </p:nvSpPr>
        <p:spPr>
          <ns147:xfrm xmlns:ns147="http://schemas.openxmlformats.org/drawingml/2006/main">
            <ns147:off x="4456800" y="1573200"/>
            <ns147:ext cx="1260000" cy="198000"/>
          </ns147:xfrm>
          <ns148:prstGeom xmlns:ns148="http://schemas.openxmlformats.org/drawingml/2006/main" prst="rect">
            <ns148:avLst/>
          </ns148:prstGeom>
          <ns149:noFill xmlns:ns149="http://schemas.openxmlformats.org/drawingml/2006/main"/>
          <ns150:ln xmlns:ns150="http://schemas.openxmlformats.org/drawingml/2006/main" w="0">
            <ns150:noFill/>
          </ns150:ln>
        </p:spPr>
        <p:txBody>
          <ns151:bodyPr xmlns:ns151="http://schemas.openxmlformats.org/drawingml/2006/main" wrap="square" lIns="0" rIns="0" tIns="0" bIns="0" anchor="t">
            <ns151:noAutofit/>
          </ns151:bodyPr>
          <ns152:lstStyle xmlns:ns152="http://schemas.openxmlformats.org/drawingml/2006/main"/>
          <ns153:p xmlns:ns153="http://schemas.openxmlformats.org/drawingml/2006/main">
            <ns153:pPr algn="l">
              <ns153:lnSpc>
                <ns153:spcPct val="105000"/>
              </ns153:lnSpc>
              <ns153:defRPr sz="1250" b="1">
                <ns153:solidFill>
                  <ns153:srgbClr val="7363A6"/>
                </ns153:solidFill>
                <ns153:latin typeface="Arial"/>
                <ns153:ea typeface="Arial"/>
                <ns153:cs typeface="Arial"/>
              </ns153:defRPr>
            </ns153:pPr>
            <ns153:r>
              <ns153:rPr sz="1250" b="1">
                <ns153:solidFill>
                  <ns153:srgbClr val="7363A6"/>
                </ns153:solidFill>
                <ns153:latin typeface="Arial"/>
                <ns153:ea typeface="Arial"/>
                <ns153:cs typeface="Arial"/>
              </ns153:rPr>
              <ns153:t>V2 sample</ns153:t>
            </ns153:r>
          </ns153:p>
        </p:txBody>
      </p:sp>
      <p:sp>
        <p:nvSpPr>
          <p:cNvPr id="25" name="input.dev.version.1.content"/>
          <p:cNvSpPr/>
          <p:nvPr/>
        </p:nvSpPr>
        <p:spPr>
          <ns154:xfrm xmlns:ns154="http://schemas.openxmlformats.org/drawingml/2006/main">
            <ns154:off x="4456800" y="1789200"/>
            <ns154:ext cx="1328400" cy="698400"/>
          </ns154:xfrm>
          <ns155:prstGeom xmlns:ns155="http://schemas.openxmlformats.org/drawingml/2006/main" prst="rect">
            <ns155:avLst/>
          </ns155:prstGeom>
          <ns156:noFill xmlns:ns156="http://schemas.openxmlformats.org/drawingml/2006/main"/>
          <ns157:ln xmlns:ns157="http://schemas.openxmlformats.org/drawingml/2006/main" w="0">
            <ns157:noFill/>
          </ns157:ln>
        </p:spPr>
        <p:txBody>
          <ns158:bodyPr xmlns:ns158="http://schemas.openxmlformats.org/drawingml/2006/main" wrap="square" lIns="0" rIns="0" tIns="0" bIns="0" anchor="t">
            <ns158:noAutofit/>
          </ns158:bodyPr>
          <ns159:lstStyle xmlns:ns159="http://schemas.openxmlformats.org/drawingml/2006/main"/>
          <ns160:p xmlns:ns160="http://schemas.openxmlformats.org/drawingml/2006/main">
            <ns160:pPr algn="l">
              <ns160:lnSpc>
                <ns160:spcPct val="100000"/>
              </ns160:lnSpc>
              <ns160:defRPr sz="1200" b="0">
                <ns160:solidFill>
                  <ns160:srgbClr val="20262C"/>
                </ns160:solidFill>
                <ns160:latin typeface="Arial"/>
                <ns160:ea typeface="Arial"/>
                <ns160:cs typeface="Arial"/>
              </ns160:defRPr>
            </ns160:pPr>
            <ns160:r>
              <ns160:rPr sz="1200" b="0">
                <ns160:solidFill>
                  <ns160:srgbClr val="20262C"/>
                </ns160:solidFill>
                <ns160:latin typeface="Arial"/>
                <ns160:ea typeface="Arial"/>
                <ns160:cs typeface="Arial"/>
              </ns160:rPr>
              <ns160:t/>
            </ns160:r>
          </ns160:p>
        </p:txBody>
      </p:sp>
      <p:sp>
        <p:nvSpPr>
          <p:cNvPr id="26" name="sample.header.1"/>
          <p:cNvSpPr/>
          <p:nvPr/>
        </p:nvSpPr>
        <p:spPr>
          <ns161:xfrm xmlns:ns161="http://schemas.openxmlformats.org/drawingml/2006/main">
            <ns161:off x="4456800" y="1828800"/>
            <ns161:ext cx="1328400" cy="216000"/>
          </ns161:xfrm>
          <ns162:prstGeom xmlns:ns162="http://schemas.openxmlformats.org/drawingml/2006/main" prst="rect">
            <ns162:avLst/>
          </ns162:prstGeom>
          <ns163:solidFill xmlns:ns163="http://schemas.openxmlformats.org/drawingml/2006/main">
            <ns163:srgbClr val="F3F7FA"/>
          </ns163:solidFill>
          <ns164:ln xmlns:ns164="http://schemas.openxmlformats.org/drawingml/2006/main" w="9525">
            <ns164:solidFill>
              <ns164:srgbClr val="65727D"/>
            </ns164:solidFill>
          </ns164:ln>
        </p:spPr>
        <p:txBody>
          <ns165:bodyPr xmlns:ns165="http://schemas.openxmlformats.org/drawingml/2006/main" wrap="square" lIns="10800" rIns="10800" tIns="10800" bIns="10800" anchor="t">
            <ns165:noAutofit/>
          </ns165:bodyPr>
          <ns166:lstStyle xmlns:ns166="http://schemas.openxmlformats.org/drawingml/2006/main"/>
          <ns167:p xmlns:ns167="http://schemas.openxmlformats.org/drawingml/2006/main">
            <ns167:pPr algn="ctr">
              <ns167:lnSpc>
                <ns167:spcPct val="105000"/>
              </ns167:lnSpc>
              <ns167:defRPr sz="1050" b="0">
                <ns167:solidFill>
                  <ns167:srgbClr val="65727D"/>
                </ns167:solidFill>
                <ns167:latin typeface="Arial"/>
                <ns167:ea typeface="Arial"/>
                <ns167:cs typeface="Arial"/>
              </ns167:defRPr>
            </ns167:pPr>
            <ns167:r>
              <ns167:rPr sz="1050" b="0">
                <ns167:solidFill>
                  <ns167:srgbClr val="65727D"/>
                </ns167:solidFill>
                <ns167:latin typeface="Arial"/>
                <ns167:ea typeface="Arial"/>
                <ns167:cs typeface="Arial"/>
              </ns167:rPr>
              <ns167:t>Repeated header</ns167:t>
            </ns167:r>
          </ns167:p>
        </p:txBody>
      </p:sp>
      <p:sp>
        <p:nvSpPr>
          <p:cNvPr id="27" name="sample.body.1"/>
          <p:cNvSpPr/>
          <p:nvPr/>
        </p:nvSpPr>
        <p:spPr>
          <ns168:xfrm xmlns:ns168="http://schemas.openxmlformats.org/drawingml/2006/main">
            <ns168:off x="4456800" y="2196000"/>
            <ns168:ext cx="1328400" cy="216000"/>
          </ns168:xfrm>
          <ns169:prstGeom xmlns:ns169="http://schemas.openxmlformats.org/drawingml/2006/main" prst="rect">
            <ns169:avLst/>
          </ns169:prstGeom>
          <ns170:noFill xmlns:ns170="http://schemas.openxmlformats.org/drawingml/2006/main"/>
          <ns171:ln xmlns:ns171="http://schemas.openxmlformats.org/drawingml/2006/main" w="9525">
            <ns171:solidFill>
              <ns171:srgbClr val="7363A6"/>
            </ns171:solidFill>
          </ns171:ln>
        </p:spPr>
        <p:txBody>
          <ns172:bodyPr xmlns:ns172="http://schemas.openxmlformats.org/drawingml/2006/main" wrap="square" lIns="10800" rIns="10800" tIns="10800" bIns="10800" anchor="t">
            <ns172:noAutofit/>
          </ns172:bodyPr>
          <ns173:lstStyle xmlns:ns173="http://schemas.openxmlformats.org/drawingml/2006/main"/>
          <ns174:p xmlns:ns174="http://schemas.openxmlformats.org/drawingml/2006/main">
            <ns174:pPr algn="ctr">
              <ns174:lnSpc>
                <ns174:spcPct val="105000"/>
              </ns174:lnSpc>
              <ns174:defRPr sz="1150" b="1">
                <ns174:solidFill>
                  <ns174:srgbClr val="7363A6"/>
                </ns174:solidFill>
                <ns174:latin typeface="Arial"/>
                <ns174:ea typeface="Arial"/>
                <ns174:cs typeface="Arial"/>
              </ns174:defRPr>
            </ns174:pPr>
            <ns174:r>
              <ns174:rPr sz="1150" b="1">
                <ns174:solidFill>
                  <ns174:srgbClr val="7363A6"/>
                </ns174:solidFill>
                <ns174:latin typeface="Arial"/>
                <ns174:ea typeface="Arial"/>
                <ns174:cs typeface="Arial"/>
              </ns174:rPr>
              <ns174:t>Body text</ns174:t>
            </ns174:r>
          </ns174:p>
        </p:txBody>
      </p:sp>
      <p:sp>
        <p:nvSpPr>
          <p:cNvPr id="28" name="sample.ignore.1"/>
          <p:cNvSpPr/>
          <p:nvPr/>
        </p:nvSpPr>
        <p:spPr>
          <ns175:xfrm xmlns:ns175="http://schemas.openxmlformats.org/drawingml/2006/main">
            <ns175:off x="4456800" y="2059200"/>
            <ns175:ext cx="1328400" cy="126000"/>
          </ns175:xfrm>
          <ns176:prstGeom xmlns:ns176="http://schemas.openxmlformats.org/drawingml/2006/main" prst="rect">
            <ns176:avLst/>
          </ns176:prstGeom>
          <ns177:noFill xmlns:ns177="http://schemas.openxmlformats.org/drawingml/2006/main"/>
          <ns178:ln xmlns:ns178="http://schemas.openxmlformats.org/drawingml/2006/main" w="0">
            <ns178:noFill/>
          </ns178:ln>
        </p:spPr>
        <p:txBody>
          <ns179:bodyPr xmlns:ns179="http://schemas.openxmlformats.org/drawingml/2006/main" wrap="square" lIns="0" rIns="0" tIns="0" bIns="0" anchor="t">
            <ns179:noAutofit/>
          </ns179:bodyPr>
          <ns180:lstStyle xmlns:ns180="http://schemas.openxmlformats.org/drawingml/2006/main"/>
          <ns181:p xmlns:ns181="http://schemas.openxmlformats.org/drawingml/2006/main">
            <ns181:pPr algn="l">
              <ns181:lnSpc>
                <ns181:spcPct val="105000"/>
              </ns181:lnSpc>
              <ns181:defRPr sz="950" b="0">
                <ns181:solidFill>
                  <ns181:srgbClr val="65727D"/>
                </ns181:solidFill>
                <ns181:latin typeface="Arial"/>
                <ns181:ea typeface="Arial"/>
                <ns181:cs typeface="Arial"/>
              </ns181:defRPr>
            </ns181:pPr>
            <ns181:r>
              <ns181:rPr sz="950" b="0">
                <ns181:solidFill>
                  <ns181:srgbClr val="65727D"/>
                </ns181:solidFill>
                <ns181:latin typeface="Arial"/>
                <ns181:ea typeface="Arial"/>
                <ns181:cs typeface="Arial"/>
              </ns181:rPr>
              <ns181:t>Ignore</ns181:t>
            </ns181:r>
          </ns181:p>
        </p:txBody>
      </p:sp>
      <p:sp>
        <p:nvSpPr>
          <p:cNvPr id="29" name="input.comparison.rule"/>
          <p:cNvSpPr/>
          <p:nvPr/>
        </p:nvSpPr>
        <p:spPr>
          <ns182:xfrm xmlns:ns182="http://schemas.openxmlformats.org/drawingml/2006/main">
            <ns182:off x="6127200" y="1530000"/>
            <ns182:ext cx="2559600" cy="1008000"/>
          </ns182:xfrm>
          <ns183:prstGeom xmlns:ns183="http://schemas.openxmlformats.org/drawingml/2006/main" prst="rect">
            <ns183:avLst/>
          </ns183:prstGeom>
          <ns184:solidFill xmlns:ns184="http://schemas.openxmlformats.org/drawingml/2006/main">
            <ns184:srgbClr val="F3F7FA"/>
          </ns184:solidFill>
          <ns185:ln xmlns:ns185="http://schemas.openxmlformats.org/drawingml/2006/main" w="9525">
            <ns185:solidFill>
              <ns185:srgbClr val="65727D"/>
            </ns185:solidFill>
          </ns185:ln>
        </p:spPr>
        <p:txBody>
          <ns186:bodyPr xmlns:ns186="http://schemas.openxmlformats.org/drawingml/2006/main" wrap="square" lIns="61200" rIns="61200" tIns="61200" bIns="61200" anchor="ctr">
            <ns186:noAutofit/>
          </ns186:bodyPr>
          <ns187:lstStyle xmlns:ns187="http://schemas.openxmlformats.org/drawingml/2006/main"/>
          <ns188:p xmlns:ns188="http://schemas.openxmlformats.org/drawingml/2006/main">
            <ns188:pPr algn="l">
              <ns188:lnSpc>
                <ns188:spcPct val="105000"/>
              </ns188:lnSpc>
              <ns188:defRPr sz="1300" b="1">
                <ns188:solidFill>
                  <ns188:srgbClr val="65727D"/>
                </ns188:solidFill>
                <ns188:latin typeface="Arial"/>
                <ns188:ea typeface="Arial"/>
                <ns188:cs typeface="Arial"/>
              </ns188:defRPr>
            </ns188:pPr>
            <ns188:r>
              <ns188:rPr sz="1300" b="1">
                <ns188:solidFill>
                  <ns188:srgbClr val="65727D"/>
                </ns188:solidFill>
                <ns188:latin typeface="Arial"/>
                <ns188:ea typeface="Arial"/>
                <ns188:cs typeface="Arial"/>
              </ns188:rPr>
              <ns188:t>Business rule</ns188:t>
            </ns188:r>
          </ns188:p>
          <ns189:p xmlns:ns189="http://schemas.openxmlformats.org/drawingml/2006/main">
            <ns189:pPr algn="l">
              <ns189:lnSpc>
                <ns189:spcPct val="105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Ignore repeated headers</ns189:t>
            </ns189:r>
          </ns189:p>
          <ns190:p xmlns:ns190="http://schemas.openxmlformats.org/drawingml/2006/main">
            <ns190:pPr algn="l">
              <ns190:lnSpc>
                <ns190:spcPct val="105000"/>
              </ns190:lnSpc>
              <ns190:defRPr sz="1200" b="0">
                <ns190:solidFill>
                  <ns190:srgbClr val="20262C"/>
                </ns190:solidFill>
                <ns190:latin typeface="Arial"/>
                <ns190:ea typeface="Arial"/>
                <ns190:cs typeface="Arial"/>
              </ns190:defRPr>
            </ns190:pPr>
            <ns190:r>
              <ns190:rPr sz="1200" b="0">
                <ns190:solidFill>
                  <ns190:srgbClr val="20262C"/>
                </ns190:solidFill>
                <ns190:latin typeface="Arial"/>
                <ns190:ea typeface="Arial"/>
                <ns190:cs typeface="Arial"/>
              </ns190:rPr>
              <ns190:t>Compare body text</ns190:t>
            </ns190:r>
          </ns190:p>
        </p:txBody>
      </p:sp>
      <p:cxnSp>
        <p:nvCxnSpPr>
          <p:cNvPr id="30" name="development.inputs.8.98"/>
          <p:cNvCxnSpPr/>
          <p:nvPr/>
        </p:nvCxnSpPr>
        <p:spPr>
          <ns191:xfrm xmlns:ns191="http://schemas.openxmlformats.org/drawingml/2006/main">
            <ns191:off x="3232800" y="2574000"/>
            <ns191:ext cx="1" cy="190800"/>
          </ns191:xfrm>
          <ns192:prstGeom xmlns:ns192="http://schemas.openxmlformats.org/drawingml/2006/main" prst="line">
            <ns192:avLst/>
          </ns192:prstGeom>
          <ns193:ln xmlns:ns193="http://schemas.openxmlformats.org/drawingml/2006/main" w="11430">
            <ns193:solidFill>
              <ns193:srgbClr val="005A9C"/>
            </ns193:solidFill>
          </ns193:ln>
        </p:spPr>
      </p:cxnSp>
      <p:cxnSp>
        <p:nvCxnSpPr>
          <p:cNvPr id="31" name="development.inputs.14.225"/>
          <p:cNvCxnSpPr/>
          <p:nvPr/>
        </p:nvCxnSpPr>
        <p:spPr>
          <ns194:xfrm xmlns:ns194="http://schemas.openxmlformats.org/drawingml/2006/main">
            <ns194:off x="5121000" y="2574000"/>
            <ns194:ext cx="1" cy="190800"/>
          </ns194:xfrm>
          <ns195:prstGeom xmlns:ns195="http://schemas.openxmlformats.org/drawingml/2006/main" prst="line">
            <ns195:avLst/>
          </ns195:prstGeom>
          <ns196:ln xmlns:ns196="http://schemas.openxmlformats.org/drawingml/2006/main" w="11430">
            <ns196:solidFill>
              <ns196:srgbClr val="005A9C"/>
            </ns196:solidFill>
          </ns196:ln>
        </p:spPr>
      </p:cxnSp>
      <p:cxnSp>
        <p:nvCxnSpPr>
          <p:cNvPr id="32" name="development.inputs.20.575"/>
          <p:cNvCxnSpPr/>
          <p:nvPr/>
        </p:nvCxnSpPr>
        <p:spPr>
          <ns197:xfrm xmlns:ns197="http://schemas.openxmlformats.org/drawingml/2006/main">
            <ns197:off x="7407000" y="2574000"/>
            <ns197:ext cx="1" cy="190800"/>
          </ns197:xfrm>
          <ns198:prstGeom xmlns:ns198="http://schemas.openxmlformats.org/drawingml/2006/main" prst="line">
            <ns198:avLst/>
          </ns198:prstGeom>
          <ns199:ln xmlns:ns199="http://schemas.openxmlformats.org/drawingml/2006/main" w="11430">
            <ns199:solidFill>
              <ns199:srgbClr val="005A9C"/>
            </ns199:solidFill>
          </ns199:ln>
        </p:spPr>
      </p:cxnSp>
      <p:cxnSp>
        <p:nvCxnSpPr>
          <p:cNvPr id="33" name="development.requirements.merge"/>
          <p:cNvCxnSpPr/>
          <p:nvPr/>
        </p:nvCxnSpPr>
        <p:spPr>
          <ns200:xfrm xmlns:ns200="http://schemas.openxmlformats.org/drawingml/2006/main">
            <ns200:off x="3232800" y="2764800"/>
            <ns200:ext cx="4174200" cy="1"/>
          </ns200:xfrm>
          <ns201:prstGeom xmlns:ns201="http://schemas.openxmlformats.org/drawingml/2006/main" prst="line">
            <ns201:avLst/>
          </ns201:prstGeom>
          <ns202:ln xmlns:ns202="http://schemas.openxmlformats.org/drawingml/2006/main" w="11430">
            <ns202:solidFill>
              <ns202:srgbClr val="005A9C"/>
            </ns202:solidFill>
          </ns202:ln>
        </p:spPr>
      </p:cxnSp>
      <p:cxnSp>
        <p:nvCxnSpPr>
          <p:cNvPr id="34" name="inputs.to.requirements"/>
          <p:cNvCxnSpPr/>
          <p:nvPr/>
        </p:nvCxnSpPr>
        <p:spPr>
          <ns203:xfrm xmlns:ns203="http://schemas.openxmlformats.org/drawingml/2006/main">
            <ns203:off x="3232800" y="2764800"/>
            <ns203:ext cx="1" cy="223200"/>
          </ns203:xfrm>
          <ns204:prstGeom xmlns:ns204="http://schemas.openxmlformats.org/drawingml/2006/main" prst="line">
            <ns204:avLst/>
          </ns204:prstGeom>
          <ns205:ln xmlns:ns205="http://schemas.openxmlformats.org/drawingml/2006/main" w="11430">
            <ns205:solidFill>
              <ns205:srgbClr val="005A9C"/>
            </ns205:solidFill>
            <ns205:tailEnd type="triangle" w="sm" len="sm"/>
          </ns205:ln>
        </p:spPr>
      </p:cxnSp>
      <p:sp>
        <p:nvSpPr>
          <p:cNvPr id="35" name="human.development.0"/>
          <p:cNvSpPr/>
          <p:nvPr/>
        </p:nvSpPr>
        <p:spPr>
          <ns206:xfrm xmlns:ns206="http://schemas.openxmlformats.org/drawingml/2006/main">
            <ns206:off x="2422800" y="3024000"/>
            <ns206:ext cx="1620000" cy="594000"/>
          </ns206:xfrm>
          <ns207:prstGeom xmlns:ns207="http://schemas.openxmlformats.org/drawingml/2006/main" prst="roundRect">
            <ns207:avLst/>
          </ns207:prstGeom>
          <ns208:solidFill xmlns:ns208="http://schemas.openxmlformats.org/drawingml/2006/main">
            <ns208:srgbClr val="F3F7FA"/>
          </ns208:solidFill>
          <ns209:ln xmlns:ns209="http://schemas.openxmlformats.org/drawingml/2006/main" w="9525">
            <ns209:solidFill>
              <ns209:srgbClr val="65727D"/>
            </ns209:solidFill>
          </ns209:ln>
        </p:spPr>
        <p:txBody>
          <ns210:bodyPr xmlns:ns210="http://schemas.openxmlformats.org/drawingml/2006/main" wrap="square" lIns="61200" rIns="61200" tIns="61200" bIns="61200" anchor="ctr">
            <ns210:noAutofit/>
          </ns210:bodyPr>
          <ns211:lstStyle xmlns:ns211="http://schemas.openxmlformats.org/drawingml/2006/main"/>
          <ns212:p xmlns:ns212="http://schemas.openxmlformats.org/drawingml/2006/main">
            <ns212:pPr algn="l">
              <ns212:lnSpc>
                <ns212:spcPct val="105000"/>
              </ns212:lnSpc>
              <ns212:defRPr sz="1300" b="1">
                <ns212:solidFill>
                  <ns212:srgbClr val="65727D"/>
                </ns212:solidFill>
                <ns212:latin typeface="Arial"/>
                <ns212:ea typeface="Arial"/>
                <ns212:cs typeface="Arial"/>
              </ns212:defRPr>
            </ns212:pPr>
            <ns212:r>
              <ns212:rPr sz="1300" b="1">
                <ns212:solidFill>
                  <ns212:srgbClr val="65727D"/>
                </ns212:solidFill>
                <ns212:latin typeface="Arial"/>
                <ns212:ea typeface="Arial"/>
                <ns212:cs typeface="Arial"/>
              </ns212:rPr>
              <ns212:t>Developer</ns212:t>
            </ns212:r>
          </ns212:p>
          <ns213:p xmlns:ns213="http://schemas.openxmlformats.org/drawingml/2006/main">
            <ns213:pPr algn="l">
              <ns213:lnSpc>
                <ns213:spcPct val="105000"/>
              </ns213:lnSpc>
              <ns213:defRPr sz="1200" b="0">
                <ns213:solidFill>
                  <ns213:srgbClr val="20262C"/>
                </ns213:solidFill>
                <ns213:latin typeface="Arial"/>
                <ns213:ea typeface="Arial"/>
                <ns213:cs typeface="Arial"/>
              </ns213:defRPr>
            </ns213:pPr>
            <ns213:r>
              <ns213:rPr sz="1200" b="0">
                <ns213:solidFill>
                  <ns213:srgbClr val="20262C"/>
                </ns213:solidFill>
                <ns213:latin typeface="Arial"/>
                <ns213:ea typeface="Arial"/>
                <ns213:cs typeface="Arial"/>
              </ns213:rPr>
              <ns213:t>Requirements</ns213:t>
            </ns213:r>
          </ns213:p>
        </p:txBody>
      </p:sp>
      <p:cxnSp>
        <p:nvCxnSpPr>
          <p:cNvPr id="36" name="development.action.0"/>
          <p:cNvCxnSpPr/>
          <p:nvPr/>
        </p:nvCxnSpPr>
        <p:spPr>
          <ns214:xfrm xmlns:ns214="http://schemas.openxmlformats.org/drawingml/2006/main">
            <ns214:off x="4078800" y="3321000"/>
            <ns214:ext cx="277200" cy="1"/>
          </ns214:xfrm>
          <ns215:prstGeom xmlns:ns215="http://schemas.openxmlformats.org/drawingml/2006/main" prst="line">
            <ns215:avLst/>
          </ns215:prstGeom>
          <ns216:ln xmlns:ns216="http://schemas.openxmlformats.org/drawingml/2006/main" w="11430">
            <ns216:solidFill>
              <ns216:srgbClr val="005A9C"/>
            </ns216:solidFill>
            <ns216:tailEnd type="triangle" w="sm" len="sm"/>
          </ns216:ln>
        </p:spPr>
      </p:cxnSp>
      <p:sp>
        <p:nvSpPr>
          <p:cNvPr id="37" name="human.development.1"/>
          <p:cNvSpPr/>
          <p:nvPr/>
        </p:nvSpPr>
        <p:spPr>
          <ns217:xfrm xmlns:ns217="http://schemas.openxmlformats.org/drawingml/2006/main">
            <ns217:off x="4392000" y="3024000"/>
            <ns217:ext cx="1458000" cy="594000"/>
          </ns217:xfrm>
          <ns218:prstGeom xmlns:ns218="http://schemas.openxmlformats.org/drawingml/2006/main" prst="roundRect">
            <ns218:avLst/>
          </ns218:prstGeom>
          <ns219:solidFill xmlns:ns219="http://schemas.openxmlformats.org/drawingml/2006/main">
            <ns219:srgbClr val="F3F7FA"/>
          </ns219:solidFill>
          <ns220:ln xmlns:ns220="http://schemas.openxmlformats.org/drawingml/2006/main" w="9525">
            <ns220:solidFill>
              <ns220:srgbClr val="65727D"/>
            </ns220:solidFill>
          </ns220:ln>
        </p:spPr>
        <p:txBody>
          <ns221:bodyPr xmlns:ns221="http://schemas.openxmlformats.org/drawingml/2006/main" wrap="square" lIns="61200" rIns="61200" tIns="61200" bIns="61200" anchor="ctr">
            <ns221:noAutofit/>
          </ns221:bodyPr>
          <ns222:lstStyle xmlns:ns222="http://schemas.openxmlformats.org/drawingml/2006/main"/>
          <ns223:p xmlns:ns223="http://schemas.openxmlformats.org/drawingml/2006/main">
            <ns223:pPr algn="l">
              <ns223:lnSpc>
                <ns223:spcPct val="105000"/>
              </ns223:lnSpc>
              <ns223:defRPr sz="1300" b="1">
                <ns223:solidFill>
                  <ns223:srgbClr val="65727D"/>
                </ns223:solidFill>
                <ns223:latin typeface="Arial"/>
                <ns223:ea typeface="Arial"/>
                <ns223:cs typeface="Arial"/>
              </ns223:defRPr>
            </ns223:pPr>
            <ns223:r>
              <ns223:rPr sz="1300" b="1">
                <ns223:solidFill>
                  <ns223:srgbClr val="65727D"/>
                </ns223:solidFill>
                <ns223:latin typeface="Arial"/>
                <ns223:ea typeface="Arial"/>
                <ns223:cs typeface="Arial"/>
              </ns223:rPr>
              <ns223:t>Developer</ns223:t>
            </ns223:r>
          </ns223:p>
          <ns224:p xmlns:ns224="http://schemas.openxmlformats.org/drawingml/2006/main">
            <ns224:pPr algn="l">
              <ns224:lnSpc>
                <ns224:spcPct val="105000"/>
              </ns224:lnSpc>
              <ns224:defRPr sz="1200" b="0">
                <ns224:solidFill>
                  <ns224:srgbClr val="20262C"/>
                </ns224:solidFill>
                <ns224:latin typeface="Arial"/>
                <ns224:ea typeface="Arial"/>
                <ns224:cs typeface="Arial"/>
              </ns224:defRPr>
            </ns224:pPr>
            <ns224:r>
              <ns224:rPr sz="1200" b="0">
                <ns224:solidFill>
                  <ns224:srgbClr val="20262C"/>
                </ns224:solidFill>
                <ns224:latin typeface="Arial"/>
                <ns224:ea typeface="Arial"/>
                <ns224:cs typeface="Arial"/>
              </ns224:rPr>
              <ns224:t>Code</ns224:t>
            </ns224:r>
          </ns224:p>
        </p:txBody>
      </p:sp>
      <p:cxnSp>
        <p:nvCxnSpPr>
          <p:cNvPr id="38" name="development.action.1"/>
          <p:cNvCxnSpPr/>
          <p:nvPr/>
        </p:nvCxnSpPr>
        <p:spPr>
          <ns225:xfrm xmlns:ns225="http://schemas.openxmlformats.org/drawingml/2006/main">
            <ns225:off x="5886000" y="3321000"/>
            <ns225:ext cx="205200" cy="1"/>
          </ns225:xfrm>
          <ns226:prstGeom xmlns:ns226="http://schemas.openxmlformats.org/drawingml/2006/main" prst="line">
            <ns226:avLst/>
          </ns226:prstGeom>
          <ns227:ln xmlns:ns227="http://schemas.openxmlformats.org/drawingml/2006/main" w="11430">
            <ns227:solidFill>
              <ns227:srgbClr val="005A9C"/>
            </ns227:solidFill>
            <ns227:tailEnd type="triangle" w="sm" len="sm"/>
          </ns227:ln>
        </p:spPr>
      </p:cxnSp>
      <p:sp>
        <p:nvSpPr>
          <p:cNvPr id="39" name="human.development.2"/>
          <p:cNvSpPr/>
          <p:nvPr/>
        </p:nvSpPr>
        <p:spPr>
          <ns228:xfrm xmlns:ns228="http://schemas.openxmlformats.org/drawingml/2006/main">
            <ns228:off x="6127200" y="3024000"/>
            <ns228:ext cx="2559600" cy="594000"/>
          </ns228:xfrm>
          <ns229:prstGeom xmlns:ns229="http://schemas.openxmlformats.org/drawingml/2006/main" prst="roundRect">
            <ns229:avLst/>
          </ns229:prstGeom>
          <ns230:solidFill xmlns:ns230="http://schemas.openxmlformats.org/drawingml/2006/main">
            <ns230:srgbClr val="F3F7FA"/>
          </ns230:solidFill>
          <ns231:ln xmlns:ns231="http://schemas.openxmlformats.org/drawingml/2006/main" w="9525">
            <ns231:solidFill>
              <ns231:srgbClr val="65727D"/>
            </ns231:solidFill>
          </ns231:ln>
        </p:spPr>
        <p:txBody>
          <ns232:bodyPr xmlns:ns232="http://schemas.openxmlformats.org/drawingml/2006/main" wrap="square" lIns="61200" rIns="61200" tIns="61200" bIns="61200" anchor="ctr">
            <ns232:noAutofit/>
          </ns232:bodyPr>
          <ns233:lstStyle xmlns:ns233="http://schemas.openxmlformats.org/drawingml/2006/main"/>
          <ns234:p xmlns:ns234="http://schemas.openxmlformats.org/drawingml/2006/main">
            <ns234:pPr algn="l">
              <ns234:lnSpc>
                <ns234:spcPct val="105000"/>
              </ns234:lnSpc>
              <ns234:defRPr sz="1300" b="1">
                <ns234:solidFill>
                  <ns234:srgbClr val="65727D"/>
                </ns234:solidFill>
                <ns234:latin typeface="Arial"/>
                <ns234:ea typeface="Arial"/>
                <ns234:cs typeface="Arial"/>
              </ns234:defRPr>
            </ns234:pPr>
            <ns234:r>
              <ns234:rPr sz="1300" b="1">
                <ns234:solidFill>
                  <ns234:srgbClr val="65727D"/>
                </ns234:solidFill>
                <ns234:latin typeface="Arial"/>
                <ns234:ea typeface="Arial"/>
                <ns234:cs typeface="Arial"/>
              </ns234:rPr>
              <ns234:t>Developer</ns234:t>
            </ns234:r>
          </ns234:p>
          <ns235:p xmlns:ns235="http://schemas.openxmlformats.org/drawingml/2006/main">
            <ns235:pPr algn="l">
              <ns235:lnSpc>
                <ns235:spcPct val="105000"/>
              </ns235:lnSpc>
              <ns235:defRPr sz="1200" b="0">
                <ns235:solidFill>
                  <ns235:srgbClr val="20262C"/>
                </ns235:solidFill>
                <ns235:latin typeface="Arial"/>
                <ns235:ea typeface="Arial"/>
                <ns235:cs typeface="Arial"/>
              </ns235:defRPr>
            </ns235:pPr>
            <ns235:r>
              <ns235:rPr sz="1200" b="0">
                <ns235:solidFill>
                  <ns235:srgbClr val="20262C"/>
                </ns235:solidFill>
                <ns235:latin typeface="Arial"/>
                <ns235:ea typeface="Arial"/>
                <ns235:cs typeface="Arial"/>
              </ns235:rPr>
              <ns235:t>Test</ns235:t>
            </ns235:r>
          </ns235:p>
        </p:txBody>
      </p:sp>
      <p:sp>
        <p:nvSpPr>
          <p:cNvPr id="40" name="output.comparison.tool.paper"/>
          <p:cNvSpPr/>
          <p:nvPr/>
        </p:nvSpPr>
        <p:spPr>
          <ns236:xfrm xmlns:ns236="http://schemas.openxmlformats.org/drawingml/2006/main">
            <ns236:off x="2422800" y="3906000"/>
            <ns236:ext cx="1620000" cy="576000"/>
          </ns236:xfrm>
          <ns237:prstGeom xmlns:ns237="http://schemas.openxmlformats.org/drawingml/2006/main" prst="foldedCorner">
            <ns237:avLst/>
          </ns237:prstGeom>
          <ns238:solidFill xmlns:ns238="http://schemas.openxmlformats.org/drawingml/2006/main">
            <ns238:srgbClr val="FFFFFF"/>
          </ns238:solidFill>
          <ns239:ln xmlns:ns239="http://schemas.openxmlformats.org/drawingml/2006/main" w="9525">
            <ns239:solidFill>
              <ns239:srgbClr val="65727D"/>
            </ns239:solidFill>
          </ns239:ln>
        </p:spPr>
      </p:sp>
      <p:sp>
        <p:nvSpPr>
          <p:cNvPr id="41" name="output.comparison.tool.title"/>
          <p:cNvSpPr/>
          <p:nvPr/>
        </p:nvSpPr>
        <p:spPr>
          <ns240:xfrm xmlns:ns240="http://schemas.openxmlformats.org/drawingml/2006/main">
            <ns240:off x="2487600" y="3949200"/>
            <ns240:ext cx="1422000" cy="198000"/>
          </ns240:xfrm>
          <ns241:prstGeom xmlns:ns241="http://schemas.openxmlformats.org/drawingml/2006/main" prst="rect">
            <ns241:avLst/>
          </ns241:prstGeom>
          <ns242:noFill xmlns:ns242="http://schemas.openxmlformats.org/drawingml/2006/main"/>
          <ns243:ln xmlns:ns243="http://schemas.openxmlformats.org/drawingml/2006/main" w="0">
            <ns243:noFill/>
          </ns243:ln>
        </p:spPr>
        <p:txBody>
          <ns244:bodyPr xmlns:ns244="http://schemas.openxmlformats.org/drawingml/2006/main" wrap="square" lIns="0" rIns="0" tIns="0" bIns="0" anchor="t">
            <ns244:noAutofit/>
          </ns244:bodyPr>
          <ns245:lstStyle xmlns:ns245="http://schemas.openxmlformats.org/drawingml/2006/main"/>
          <ns246:p xmlns:ns246="http://schemas.openxmlformats.org/drawingml/2006/main">
            <ns246:pPr algn="l">
              <ns246:lnSpc>
                <ns246:spcPct val="105000"/>
              </ns246:lnSpc>
              <ns246:defRPr sz="1250" b="1">
                <ns246:solidFill>
                  <ns246:srgbClr val="65727D"/>
                </ns246:solidFill>
                <ns246:latin typeface="Arial"/>
                <ns246:ea typeface="Arial"/>
                <ns246:cs typeface="Arial"/>
              </ns246:defRPr>
            </ns246:pPr>
            <ns246:r>
              <ns246:rPr sz="1250" b="1">
                <ns246:solidFill>
                  <ns246:srgbClr val="65727D"/>
                </ns246:solidFill>
                <ns246:latin typeface="Arial"/>
                <ns246:ea typeface="Arial"/>
                <ns246:cs typeface="Arial"/>
              </ns246:rPr>
              <ns246:t>Comparison tool</ns246:t>
            </ns246:r>
          </ns246:p>
        </p:txBody>
      </p:sp>
      <p:sp>
        <p:nvSpPr>
          <p:cNvPr id="42" name="output.comparison.tool.content"/>
          <p:cNvSpPr/>
          <p:nvPr/>
        </p:nvSpPr>
        <p:spPr>
          <ns247:xfrm xmlns:ns247="http://schemas.openxmlformats.org/drawingml/2006/main">
            <ns247:off x="2487600" y="4165200"/>
            <ns247:ext cx="1490400" cy="266400"/>
          </ns247:xfrm>
          <ns248:prstGeom xmlns:ns248="http://schemas.openxmlformats.org/drawingml/2006/main" prst="rect">
            <ns248:avLst/>
          </ns248:prstGeom>
          <ns249:noFill xmlns:ns249="http://schemas.openxmlformats.org/drawingml/2006/main"/>
          <ns250:ln xmlns:ns250="http://schemas.openxmlformats.org/drawingml/2006/main" w="0">
            <ns250:noFill/>
          </ns250:ln>
        </p:spPr>
        <p:txBody>
          <ns251:bodyPr xmlns:ns251="http://schemas.openxmlformats.org/drawingml/2006/main" wrap="square" lIns="0" rIns="0" tIns="0" bIns="0" anchor="t">
            <ns251:noAutofit/>
          </ns251:bodyPr>
          <ns252:lstStyle xmlns:ns252="http://schemas.openxmlformats.org/drawingml/2006/main"/>
          <ns253:p xmlns:ns253="http://schemas.openxmlformats.org/drawingml/2006/main">
            <ns253:pPr algn="l">
              <ns253:lnSpc>
                <ns253:spcPct val="100000"/>
              </ns253:lnSpc>
              <ns253:defRPr sz="1050" b="0">
                <ns253:solidFill>
                  <ns253:srgbClr val="20262C"/>
                </ns253:solidFill>
                <ns253:latin typeface="Arial"/>
                <ns253:ea typeface="Arial"/>
                <ns253:cs typeface="Arial"/>
              </ns253:defRPr>
            </ns253:pPr>
            <ns253:r>
              <ns253:rPr sz="1050" b="0">
                <ns253:solidFill>
                  <ns253:srgbClr val="20262C"/>
                </ns253:solidFill>
                <ns253:latin typeface="Arial"/>
                <ns253:ea typeface="Arial"/>
                <ns253:cs typeface="Arial"/>
              </ns253:rPr>
              <ns253:t>Code artifact</ns253:t>
            </ns253:r>
          </ns253:p>
        </p:txBody>
      </p:sp>
      <p:sp>
        <p:nvSpPr>
          <p:cNvPr id="43" name="output.test.failure"/>
          <p:cNvSpPr/>
          <p:nvPr/>
        </p:nvSpPr>
        <p:spPr>
          <ns254:xfrm xmlns:ns254="http://schemas.openxmlformats.org/drawingml/2006/main">
            <ns254:off x="6127200" y="3906000"/>
            <ns254:ext cx="2559600" cy="576000"/>
          </ns254:xfrm>
          <ns255:prstGeom xmlns:ns255="http://schemas.openxmlformats.org/drawingml/2006/main" prst="rect">
            <ns255:avLst/>
          </ns255:prstGeom>
          <ns256:solidFill xmlns:ns256="http://schemas.openxmlformats.org/drawingml/2006/main">
            <ns256:srgbClr val="F3F7FA"/>
          </ns256:solidFill>
          <ns257:ln xmlns:ns257="http://schemas.openxmlformats.org/drawingml/2006/main" w="9525">
            <ns257:solidFill>
              <ns257:srgbClr val="65727D"/>
            </ns257:solidFill>
          </ns257:ln>
        </p:spPr>
        <p:txBody>
          <ns258:bodyPr xmlns:ns258="http://schemas.openxmlformats.org/drawingml/2006/main" wrap="square" lIns="61200" rIns="61200" tIns="61200" bIns="61200" anchor="ctr">
            <ns258:noAutofit/>
          </ns258:bodyPr>
          <ns259:lstStyle xmlns:ns259="http://schemas.openxmlformats.org/drawingml/2006/main"/>
          <ns260:p xmlns:ns260="http://schemas.openxmlformats.org/drawingml/2006/main">
            <ns260:pPr algn="l">
              <ns260:lnSpc>
                <ns260:spcPct val="105000"/>
              </ns260:lnSpc>
              <ns260:defRPr sz="1300" b="1">
                <ns260:solidFill>
                  <ns260:srgbClr val="65727D"/>
                </ns260:solidFill>
                <ns260:latin typeface="Arial"/>
                <ns260:ea typeface="Arial"/>
                <ns260:cs typeface="Arial"/>
              </ns260:defRPr>
            </ns260:pPr>
            <ns260:r>
              <ns260:rPr sz="1300" b="1">
                <ns260:solidFill>
                  <ns260:srgbClr val="65727D"/>
                </ns260:solidFill>
                <ns260:latin typeface="Arial"/>
                <ns260:ea typeface="Arial"/>
                <ns260:cs typeface="Arial"/>
              </ns260:rPr>
              <ns260:t>Test failure</ns260:t>
            </ns260:r>
          </ns260:p>
          <ns261:p xmlns:ns261="http://schemas.openxmlformats.org/drawingml/2006/main">
            <ns261:pPr algn="l">
              <ns261:lnSpc>
                <ns261:spcPct val="105000"/>
              </ns261:lnSpc>
              <ns261:defRPr sz="1100" b="0">
                <ns261:solidFill>
                  <ns261:srgbClr val="20262C"/>
                </ns261:solidFill>
                <ns261:latin typeface="Arial"/>
                <ns261:ea typeface="Arial"/>
                <ns261:cs typeface="Arial"/>
              </ns261:defRPr>
            </ns261:pPr>
            <ns261:r>
              <ns261:rPr sz="1100" b="0">
                <ns261:solidFill>
                  <ns261:srgbClr val="20262C"/>
                </ns261:solidFill>
                <ns261:latin typeface="Arial"/>
                <ns261:ea typeface="Arial"/>
                <ns261:cs typeface="Arial"/>
              </ns261:rPr>
              <ns261:t>Repeated header wrongly flagged</ns261:t>
            </ns261:r>
          </ns261:p>
        </p:txBody>
      </p:sp>
      <p:cxnSp>
        <p:nvCxnSpPr>
          <p:cNvPr id="44" name="code.to.tool.artifact.0"/>
          <p:cNvCxnSpPr/>
          <p:nvPr/>
        </p:nvCxnSpPr>
        <p:spPr>
          <ns262:xfrm xmlns:ns262="http://schemas.openxmlformats.org/drawingml/2006/main">
            <ns262:off x="4680000" y="3654000"/>
            <ns262:ext cx="1" cy="108000"/>
          </ns262:xfrm>
          <ns263:prstGeom xmlns:ns263="http://schemas.openxmlformats.org/drawingml/2006/main" prst="line">
            <ns263:avLst/>
          </ns263:prstGeom>
          <ns264:ln xmlns:ns264="http://schemas.openxmlformats.org/drawingml/2006/main" w="11430">
            <ns264:solidFill>
              <ns264:srgbClr val="005A9C"/>
            </ns264:solidFill>
          </ns264:ln>
        </p:spPr>
      </p:cxnSp>
      <p:cxnSp>
        <p:nvCxnSpPr>
          <p:cNvPr id="45" name="code.to.tool.artifact.1"/>
          <p:cNvCxnSpPr/>
          <p:nvPr/>
        </p:nvCxnSpPr>
        <p:spPr>
          <ns265:xfrm xmlns:ns265="http://schemas.openxmlformats.org/drawingml/2006/main" flipH="1">
            <ns265:off x="3232800" y="3762000"/>
            <ns265:ext cx="1447200" cy="1"/>
          </ns265:xfrm>
          <ns266:prstGeom xmlns:ns266="http://schemas.openxmlformats.org/drawingml/2006/main" prst="line">
            <ns266:avLst/>
          </ns266:prstGeom>
          <ns267:ln xmlns:ns267="http://schemas.openxmlformats.org/drawingml/2006/main" w="11430">
            <ns267:solidFill>
              <ns267:srgbClr val="005A9C"/>
            </ns267:solidFill>
          </ns267:ln>
        </p:spPr>
      </p:cxnSp>
      <p:cxnSp>
        <p:nvCxnSpPr>
          <p:cNvPr id="46" name="code.to.tool.artifact.2"/>
          <p:cNvCxnSpPr/>
          <p:nvPr/>
        </p:nvCxnSpPr>
        <p:spPr>
          <ns268:xfrm xmlns:ns268="http://schemas.openxmlformats.org/drawingml/2006/main">
            <ns268:off x="3232800" y="3762000"/>
            <ns268:ext cx="1" cy="108000"/>
          </ns268:xfrm>
          <ns269:prstGeom xmlns:ns269="http://schemas.openxmlformats.org/drawingml/2006/main" prst="line">
            <ns269:avLst/>
          </ns269:prstGeom>
          <ns270:ln xmlns:ns270="http://schemas.openxmlformats.org/drawingml/2006/main" w="11430">
            <ns270:solidFill>
              <ns270:srgbClr val="005A9C"/>
            </ns270:solidFill>
            <ns270:tailEnd type="triangle" w="sm" len="sm"/>
          </ns270:ln>
        </p:spPr>
      </p:cxnSp>
      <p:cxnSp>
        <p:nvCxnSpPr>
          <p:cNvPr id="47" name="test.failure.output"/>
          <p:cNvCxnSpPr/>
          <p:nvPr/>
        </p:nvCxnSpPr>
        <p:spPr>
          <ns271:xfrm xmlns:ns271="http://schemas.openxmlformats.org/drawingml/2006/main">
            <ns271:off x="7407000" y="3654000"/>
            <ns271:ext cx="1" cy="216000"/>
          </ns271:xfrm>
          <ns272:prstGeom xmlns:ns272="http://schemas.openxmlformats.org/drawingml/2006/main" prst="line">
            <ns272:avLst/>
          </ns272:prstGeom>
          <ns273:ln xmlns:ns273="http://schemas.openxmlformats.org/drawingml/2006/main" w="11430">
            <ns273:solidFill>
              <ns273:srgbClr val="005A9C"/>
            </ns273:solidFill>
            <ns273:tailEnd type="triangle" w="sm" len="sm"/>
          </ns273:ln>
        </p:spPr>
      </p:cxnSp>
      <p:cxnSp>
        <p:nvCxnSpPr>
          <p:cNvPr id="48" name="failure.to.debug.0"/>
          <p:cNvCxnSpPr/>
          <p:nvPr/>
        </p:nvCxnSpPr>
        <p:spPr>
          <ns274:xfrm xmlns:ns274="http://schemas.openxmlformats.org/drawingml/2006/main" flipH="1">
            <ns274:off x="5490000" y="4194000"/>
            <ns274:ext cx="601200" cy="1"/>
          </ns274:xfrm>
          <ns275:prstGeom xmlns:ns275="http://schemas.openxmlformats.org/drawingml/2006/main" prst="line">
            <ns275:avLst/>
          </ns275:prstGeom>
          <ns276:ln xmlns:ns276="http://schemas.openxmlformats.org/drawingml/2006/main" w="11430">
            <ns276:solidFill>
              <ns276:srgbClr val="005A9C"/>
            </ns276:solidFill>
          </ns276:ln>
        </p:spPr>
      </p:cxnSp>
      <p:cxnSp>
        <p:nvCxnSpPr>
          <p:cNvPr id="49" name="failure.to.debug.1"/>
          <p:cNvCxnSpPr/>
          <p:nvPr/>
        </p:nvCxnSpPr>
        <p:spPr>
          <ns277:xfrm xmlns:ns277="http://schemas.openxmlformats.org/drawingml/2006/main" flipV="1">
            <ns277:off x="5490000" y="3654000"/>
            <ns277:ext cx="1" cy="540000"/>
          </ns277:xfrm>
          <ns278:prstGeom xmlns:ns278="http://schemas.openxmlformats.org/drawingml/2006/main" prst="line">
            <ns278:avLst/>
          </ns278:prstGeom>
          <ns279:ln xmlns:ns279="http://schemas.openxmlformats.org/drawingml/2006/main" w="11430">
            <ns279:solidFill>
              <ns279:srgbClr val="005A9C"/>
            </ns279:solidFill>
            <ns279:tailEnd type="triangle" w="sm" len="sm"/>
          </ns279:ln>
        </p:spPr>
      </p:cxnSp>
      <p:sp>
        <p:nvSpPr>
          <p:cNvPr id="50" name="debug.return.label"/>
          <p:cNvSpPr/>
          <p:nvPr/>
        </p:nvSpPr>
        <p:spPr>
          <ns280:xfrm xmlns:ns280="http://schemas.openxmlformats.org/drawingml/2006/main">
            <ns280:off x="5562000" y="3888000"/>
            <ns280:ext cx="504000" cy="162000"/>
          </ns280:xfrm>
          <ns281:prstGeom xmlns:ns281="http://schemas.openxmlformats.org/drawingml/2006/main" prst="rect">
            <ns281:avLst/>
          </ns281:prstGeom>
          <ns282:noFill xmlns:ns282="http://schemas.openxmlformats.org/drawingml/2006/main"/>
          <ns283:ln xmlns:ns283="http://schemas.openxmlformats.org/drawingml/2006/main" w="0">
            <ns283:noFill/>
          </ns283:ln>
        </p:spPr>
        <p:txBody>
          <ns284:bodyPr xmlns:ns284="http://schemas.openxmlformats.org/drawingml/2006/main" wrap="square" lIns="0" rIns="0" tIns="0" bIns="0" anchor="t">
            <ns284:noAutofit/>
          </ns284:bodyPr>
          <ns285:lstStyle xmlns:ns285="http://schemas.openxmlformats.org/drawingml/2006/main"/>
          <ns286:p xmlns:ns286="http://schemas.openxmlformats.org/drawingml/2006/main">
            <ns286:pPr algn="l">
              <ns286:lnSpc>
                <ns286:spcPct val="105000"/>
              </ns286:lnSpc>
              <ns286:defRPr sz="950" b="0">
                <ns286:solidFill>
                  <ns286:srgbClr val="65727D"/>
                </ns286:solidFill>
                <ns286:latin typeface="Arial"/>
                <ns286:ea typeface="Arial"/>
                <ns286:cs typeface="Arial"/>
              </ns286:defRPr>
            </ns286:pPr>
            <ns286:r>
              <ns286:rPr sz="950" b="0">
                <ns286:solidFill>
                  <ns286:srgbClr val="65727D"/>
                </ns286:solidFill>
                <ns286:latin typeface="Arial"/>
                <ns286:ea typeface="Arial"/>
                <ns286:cs typeface="Arial"/>
              </ns286:rPr>
              <ns286:t>Debug</ns286:t>
            </ns286:r>
          </ns286:p>
        </p:txBody>
      </p:sp>
    </p:spTree>
    <p:extLst>
      <p:ext uri="{BB962C8B-B14F-4D97-AF65-F5344CB8AC3E}">
        <p14:creationId xmlns:p14="http://schemas.microsoft.com/office/powerpoint/2010/main" val="18908983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Tool Development: Automating Document Comparison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E Fund and Invesco Great Wall: Supporting Software Development</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E Fund; Invesco Great Wall</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2" name="map.task.risk"/>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3"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4"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5" name="map.task.records"/>
          <p:cNvSpPr/>
          <p:nvPr/>
        </p:nvSpPr>
        <p:spPr>
          <ns79:xfrm xmlns:ns79="http://schemas.openxmlformats.org/drawingml/2006/main">
            <ns79:off x="554400" y="3690000"/>
            <ns79:ext cx="1562400" cy="1656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5000"/>
              </ns85:lnSpc>
              <ns85:defRPr sz="1050" b="0">
                <ns85:solidFill>
                  <ns85:srgbClr val="65727D"/>
                </ns85:solidFill>
                <ns85:latin typeface="Arial"/>
                <ns85:ea typeface="Arial"/>
                <ns85:cs typeface="Arial"/>
              </ns85:defRPr>
            </ns85:pPr>
            <ns85:r>
              <ns85:rPr sz="1050" b="0">
                <ns85:solidFill>
                  <ns85:srgbClr val="65727D"/>
                </ns85:solidFill>
                <ns85:latin typeface="Arial"/>
                <ns85:ea typeface="Arial"/>
                <ns85:cs typeface="Arial"/>
              </ns85:rPr>
              <ns85:t>Record entry</ns85:t>
            </ns85:r>
          </ns85:p>
        </p:txBody>
      </p:sp>
      <p:sp>
        <p:nvSpPr>
          <p:cNvPr id="16" name="map.task.focus.dev"/>
          <p:cNvSpPr/>
          <p:nvPr/>
        </p:nvSpPr>
        <p:spPr>
          <ns86:xfrm xmlns:ns86="http://schemas.openxmlformats.org/drawingml/2006/main">
            <ns86:off x="486000" y="3884400"/>
            <ns86:ext cx="1677600" cy="176400"/>
          </ns86:xfrm>
          <ns87:prstGeom xmlns:ns87="http://schemas.openxmlformats.org/drawingml/2006/main" prst="rect">
            <ns87:avLst/>
          </ns87:prstGeom>
          <ns88:solidFill xmlns:ns88="http://schemas.openxmlformats.org/drawingml/2006/main">
            <ns88:srgbClr val="D9EAF7"/>
          </ns88:solidFill>
          <ns89:ln xmlns:ns89="http://schemas.openxmlformats.org/drawingml/2006/main" w="0">
            <ns89:noFill/>
          </ns89:ln>
        </p:spPr>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1">
                <ns96:solidFill>
                  <ns96:srgbClr val="005A9C"/>
                </ns96:solidFill>
                <ns96:latin typeface="Arial"/>
                <ns96:ea typeface="Arial"/>
                <ns96:cs typeface="Arial"/>
              </ns96:defRPr>
            </ns96:pPr>
            <ns96:r>
              <ns96:rPr sz="1050" b="1">
                <ns96:solidFill>
                  <ns96:srgbClr val="005A9C"/>
                </ns96:solidFill>
                <ns96:latin typeface="Arial"/>
                <ns96:ea typeface="Arial"/>
                <ns96:cs typeface="Arial"/>
              </ns96:rPr>
              <ns96:t>Tool development</ns96:t>
            </ns96:r>
          </ns96:p>
        </p:txBody>
      </p:sp>
      <p:sp>
        <p:nvSpPr>
          <p:cNvPr id="18" name="peer.development.0"/>
          <p:cNvSpPr/>
          <p:nvPr/>
        </p:nvSpPr>
        <p:spPr>
          <ns111:xfrm xmlns:ns111="http://schemas.openxmlformats.org/drawingml/2006/main">
            <ns111:off x="2422800" y="1476000"/>
            <ns111:ext cx="6264000" cy="216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300" b="0">
                <ns117:solidFill>
                  <ns117:srgbClr val="005A9C"/>
                </ns117:solidFill>
                <ns117:latin typeface="Arial"/>
                <ns117:ea typeface="Arial"/>
                <ns117:cs typeface="Arial"/>
              </ns117:defRPr>
            </ns117:pPr>
            <ns117:r>
              <ns117:rPr sz="1300" b="0">
                <ns117:solidFill>
                  <ns117:srgbClr val="005A9C"/>
                </ns117:solidFill>
                <ns117:latin typeface="Arial"/>
                <ns117:ea typeface="Arial"/>
                <ns117:cs typeface="Arial"/>
              </ns117:rPr>
              <ns117:t>E Fund</ns117:t>
            </ns117:r>
          </ns117:p>
        </p:txBody>
      </p:sp>
      <p:sp>
        <p:nvSpPr>
          <p:cNvPr id="19" name="peer.development.0.0"/>
          <p:cNvSpPr/>
          <p:nvPr/>
        </p:nvSpPr>
        <p:spPr>
          <ns118:xfrm xmlns:ns118="http://schemas.openxmlformats.org/drawingml/2006/main">
            <ns118:off x="2422800" y="1782000"/>
            <ns118:ext cx="1620000" cy="756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Developer task</ns124:t>
            </ns124:r>
          </ns124:p>
          <ns125:p xmlns:ns125="http://schemas.openxmlformats.org/drawingml/2006/main">
            <ns125:pPr algn="l">
              <ns125:lnSpc>
                <ns125:spcPct val="105000"/>
              </ns125:lnSpc>
              <ns125:defRPr sz="1050" b="0">
                <ns125:solidFill>
                  <ns125:srgbClr val="20262C"/>
                </ns125:solidFill>
                <ns125:latin typeface="Arial"/>
                <ns125:ea typeface="Arial"/>
                <ns125:cs typeface="Arial"/>
              </ns125:defRPr>
            </ns125:pPr>
            <ns125:r>
              <ns125:rPr sz="1050" b="0">
                <ns125:solidFill>
                  <ns125:srgbClr val="20262C"/>
                </ns125:solidFill>
                <ns125:latin typeface="Arial"/>
                <ns125:ea typeface="Arial"/>
                <ns125:cs typeface="Arial"/>
              </ns125:rPr>
              <ns125:t>Examples / expected results</ns125:t>
            </ns125:r>
          </ns125:p>
        </p:txBody>
      </p:sp>
      <p:cxnSp>
        <p:nvCxnSpPr>
          <p:cNvPr id="20" name="peer.development.flow.0.0"/>
          <p:cNvCxnSpPr/>
          <p:nvPr/>
        </p:nvCxnSpPr>
        <p:spPr>
          <ns126:xfrm xmlns:ns126="http://schemas.openxmlformats.org/drawingml/2006/main">
            <ns126:off x="4078800" y="2160000"/>
            <ns126:ext cx="277200" cy="1"/>
          </ns126:xfrm>
          <ns127:prstGeom xmlns:ns127="http://schemas.openxmlformats.org/drawingml/2006/main" prst="line">
            <ns127:avLst/>
          </ns127:prstGeom>
          <ns128:ln xmlns:ns128="http://schemas.openxmlformats.org/drawingml/2006/main" w="11430">
            <ns128:solidFill>
              <ns128:srgbClr val="005A9C"/>
            </ns128:solidFill>
            <ns128:tailEnd type="triangle" w="sm" len="sm"/>
          </ns128:ln>
        </p:spPr>
      </p:cxnSp>
      <p:sp>
        <p:nvSpPr>
          <p:cNvPr id="21" name="peer.development.0.1"/>
          <p:cNvSpPr/>
          <p:nvPr/>
        </p:nvSpPr>
        <p:spPr>
          <ns129:xfrm xmlns:ns129="http://schemas.openxmlformats.org/drawingml/2006/main">
            <ns129:off x="4392000" y="1782000"/>
            <ns129:ext cx="1458000" cy="756000"/>
          </ns129:xfrm>
          <ns130:prstGeom xmlns:ns130="http://schemas.openxmlformats.org/drawingml/2006/main" prst="roundRect">
            <ns130:avLst/>
          </ns130:prstGeom>
          <ns131:solidFill xmlns:ns131="http://schemas.openxmlformats.org/drawingml/2006/main">
            <ns131:srgbClr val="EAF3FA"/>
          </ns131:solidFill>
          <ns132:ln xmlns:ns132="http://schemas.openxmlformats.org/drawingml/2006/main" w="9525">
            <ns132:solidFill>
              <ns132:srgbClr val="005A9C"/>
            </ns132:solidFill>
          </ns132:ln>
        </p:spPr>
        <p:txBody>
          <ns133:bodyPr xmlns:ns133="http://schemas.openxmlformats.org/drawingml/2006/main" wrap="square" lIns="61200" rIns="61200" tIns="61200" bIns="61200" anchor="ctr">
            <ns133:noAutofit/>
          </ns133:bodyPr>
          <ns134:lstStyle xmlns:ns134="http://schemas.openxmlformats.org/drawingml/2006/main"/>
          <ns135:p xmlns:ns135="http://schemas.openxmlformats.org/drawingml/2006/main">
            <ns135:pPr algn="l">
              <ns135:lnSpc>
                <ns135:spcPct val="105000"/>
              </ns135:lnSpc>
              <ns135:defRPr sz="1300" b="1">
                <ns135:solidFill>
                  <ns135:srgbClr val="005A9C"/>
                </ns135:solidFill>
                <ns135:latin typeface="Arial"/>
                <ns135:ea typeface="Arial"/>
                <ns135:cs typeface="Arial"/>
              </ns135:defRPr>
            </ns135:pPr>
            <ns135:r>
              <ns135:rPr sz="1300" b="1">
                <ns135:solidFill>
                  <ns135:srgbClr val="005A9C"/>
                </ns135:solidFill>
                <ns135:latin typeface="Arial"/>
                <ns135:ea typeface="Arial"/>
                <ns135:cs typeface="Arial"/>
              </ns135:rPr>
              <ns135:t>LLM</ns135:t>
            </ns135:r>
          </ns135:p>
          <ns136:p xmlns:ns136="http://schemas.openxmlformats.org/drawingml/2006/main">
            <ns136:pPr algn="l">
              <ns136:lnSpc>
                <ns136:spcPct val="105000"/>
              </ns136:lnSpc>
              <ns136:defRPr sz="1050" b="0">
                <ns136:solidFill>
                  <ns136:srgbClr val="20262C"/>
                </ns136:solidFill>
                <ns136:latin typeface="Arial"/>
                <ns136:ea typeface="Arial"/>
                <ns136:cs typeface="Arial"/>
              </ns136:defRPr>
            </ns136:pPr>
            <ns136:r>
              <ns136:rPr sz="1050" b="0">
                <ns136:solidFill>
                  <ns136:srgbClr val="20262C"/>
                </ns136:solidFill>
                <ns136:latin typeface="Arial"/>
                <ns136:ea typeface="Arial"/>
                <ns136:cs typeface="Arial"/>
              </ns136:rPr>
              <ns136:t>Code / tests</ns136:t>
            </ns136:r>
          </ns136:p>
        </p:txBody>
      </p:sp>
      <p:cxnSp>
        <p:nvCxnSpPr>
          <p:cNvPr id="22" name="peer.development.flow.0.1"/>
          <p:cNvCxnSpPr/>
          <p:nvPr/>
        </p:nvCxnSpPr>
        <p:spPr>
          <ns137:xfrm xmlns:ns137="http://schemas.openxmlformats.org/drawingml/2006/main">
            <ns137:off x="5886000" y="2160000"/>
            <ns137:ext cx="205200" cy="1"/>
          </ns137:xfrm>
          <ns138:prstGeom xmlns:ns138="http://schemas.openxmlformats.org/drawingml/2006/main" prst="line">
            <ns138:avLst/>
          </ns138:prstGeom>
          <ns139:ln xmlns:ns139="http://schemas.openxmlformats.org/drawingml/2006/main" w="11430">
            <ns139:solidFill>
              <ns139:srgbClr val="005A9C"/>
            </ns139:solidFill>
            <ns139:tailEnd type="triangle" w="sm" len="sm"/>
          </ns139:ln>
        </p:spPr>
      </p:cxnSp>
      <p:sp>
        <p:nvSpPr>
          <p:cNvPr id="23" name="peer.development.0.2"/>
          <p:cNvSpPr/>
          <p:nvPr/>
        </p:nvSpPr>
        <p:spPr>
          <ns140:xfrm xmlns:ns140="http://schemas.openxmlformats.org/drawingml/2006/main">
            <ns140:off x="6127200" y="1782000"/>
            <ns140:ext cx="2559600" cy="756000"/>
          </ns140:xfrm>
          <ns141:prstGeom xmlns:ns141="http://schemas.openxmlformats.org/drawingml/2006/main" prst="roundRect">
            <ns141:avLst/>
          </ns141:prstGeom>
          <ns142:solidFill xmlns:ns142="http://schemas.openxmlformats.org/drawingml/2006/main">
            <ns142:srgbClr val="F3F7FA"/>
          </ns142:solidFill>
          <ns143:ln xmlns:ns143="http://schemas.openxmlformats.org/drawingml/2006/main" w="9525">
            <ns143:solidFill>
              <ns143:srgbClr val="65727D"/>
            </ns143:solidFill>
          </ns143:ln>
        </p:spPr>
        <p:txBody>
          <ns144:bodyPr xmlns:ns144="http://schemas.openxmlformats.org/drawingml/2006/main" wrap="square" lIns="61200" rIns="61200" tIns="61200" bIns="61200" anchor="ctr">
            <ns144:noAutofit/>
          </ns144:bodyPr>
          <ns145:lstStyle xmlns:ns145="http://schemas.openxmlformats.org/drawingml/2006/main"/>
          <ns146:p xmlns:ns146="http://schemas.openxmlformats.org/drawingml/2006/main">
            <ns146:pPr algn="l">
              <ns146:lnSpc>
                <ns146:spcPct val="105000"/>
              </ns146:lnSpc>
              <ns146:defRPr sz="1300" b="1">
                <ns146:solidFill>
                  <ns146:srgbClr val="65727D"/>
                </ns146:solidFill>
                <ns146:latin typeface="Arial"/>
                <ns146:ea typeface="Arial"/>
                <ns146:cs typeface="Arial"/>
              </ns146:defRPr>
            </ns146:pPr>
            <ns146:r>
              <ns146:rPr sz="1300" b="1">
                <ns146:solidFill>
                  <ns146:srgbClr val="65727D"/>
                </ns146:solidFill>
                <ns146:latin typeface="Arial"/>
                <ns146:ea typeface="Arial"/>
                <ns146:cs typeface="Arial"/>
              </ns146:rPr>
              <ns146:t>Developer</ns146:t>
            </ns146:r>
          </ns146:p>
          <ns147:p xmlns:ns147="http://schemas.openxmlformats.org/drawingml/2006/main">
            <ns147:pPr algn="l">
              <ns147:lnSpc>
                <ns147:spcPct val="105000"/>
              </ns147:lnSpc>
              <ns147:defRPr sz="1050" b="0">
                <ns147:solidFill>
                  <ns147:srgbClr val="20262C"/>
                </ns147:solidFill>
                <ns147:latin typeface="Arial"/>
                <ns147:ea typeface="Arial"/>
                <ns147:cs typeface="Arial"/>
              </ns147:defRPr>
            </ns147:pPr>
            <ns147:r>
              <ns147:rPr sz="1050" b="0">
                <ns147:solidFill>
                  <ns147:srgbClr val="20262C"/>
                </ns147:solidFill>
                <ns147:latin typeface="Arial"/>
                <ns147:ea typeface="Arial"/>
                <ns147:cs typeface="Arial"/>
              </ns147:rPr>
              <ns147:t>Run / check / feedback</ns147:t>
            </ns147:r>
          </ns147:p>
        </p:txBody>
      </p:sp>
      <p:sp>
        <p:nvSpPr>
          <p:cNvPr id="24" name="peer.development.1"/>
          <p:cNvSpPr/>
          <p:nvPr/>
        </p:nvSpPr>
        <p:spPr>
          <ns148:xfrm xmlns:ns148="http://schemas.openxmlformats.org/drawingml/2006/main">
            <ns148:off x="2422800" y="3060000"/>
            <ns148:ext cx="6264000" cy="216000"/>
          </ns148:xfrm>
          <ns149:prstGeom xmlns:ns149="http://schemas.openxmlformats.org/drawingml/2006/main" prst="rect">
            <ns149:avLst/>
          </ns149:prstGeom>
          <ns150:noFill xmlns:ns150="http://schemas.openxmlformats.org/drawingml/2006/main"/>
          <ns151:ln xmlns:ns151="http://schemas.openxmlformats.org/drawingml/2006/main" w="0">
            <ns151:noFill/>
          </ns151:ln>
        </p:spPr>
        <p:txBody>
          <ns152:bodyPr xmlns:ns152="http://schemas.openxmlformats.org/drawingml/2006/main" wrap="square" lIns="0" rIns="0" tIns="0" bIns="0" anchor="t">
            <ns152:noAutofit/>
          </ns152:bodyPr>
          <ns153:lstStyle xmlns:ns153="http://schemas.openxmlformats.org/drawingml/2006/main"/>
          <ns154:p xmlns:ns154="http://schemas.openxmlformats.org/drawingml/2006/main">
            <ns154:pPr algn="l">
              <ns154:lnSpc>
                <ns154:spcPct val="105000"/>
              </ns154:lnSpc>
              <ns154:defRPr sz="1300" b="0">
                <ns154:solidFill>
                  <ns154:srgbClr val="005A9C"/>
                </ns154:solidFill>
                <ns154:latin typeface="Arial"/>
                <ns154:ea typeface="Arial"/>
                <ns154:cs typeface="Arial"/>
              </ns154:defRPr>
            </ns154:pPr>
            <ns154:r>
              <ns154:rPr sz="1300" b="0">
                <ns154:solidFill>
                  <ns154:srgbClr val="005A9C"/>
                </ns154:solidFill>
                <ns154:latin typeface="Arial"/>
                <ns154:ea typeface="Arial"/>
                <ns154:cs typeface="Arial"/>
              </ns154:rPr>
              <ns154:t>Invesco Great Wall</ns154:t>
            </ns154:r>
          </ns154:p>
        </p:txBody>
      </p:sp>
      <p:sp>
        <p:nvSpPr>
          <p:cNvPr id="25" name="peer.development.1.0"/>
          <p:cNvSpPr/>
          <p:nvPr/>
        </p:nvSpPr>
        <p:spPr>
          <ns155:xfrm xmlns:ns155="http://schemas.openxmlformats.org/drawingml/2006/main">
            <ns155:off x="2422800" y="3366000"/>
            <ns155:ext cx="1620000" cy="756000"/>
          </ns155:xfrm>
          <ns156:prstGeom xmlns:ns156="http://schemas.openxmlformats.org/drawingml/2006/main" prst="roundRect">
            <ns156:avLst/>
          </ns156:prstGeom>
          <ns157:solidFill xmlns:ns157="http://schemas.openxmlformats.org/drawingml/2006/main">
            <ns157:srgbClr val="F3F7FA"/>
          </ns157:solidFill>
          <ns158:ln xmlns:ns158="http://schemas.openxmlformats.org/drawingml/2006/main" w="9525">
            <ns158:solidFill>
              <ns158:srgbClr val="65727D"/>
            </ns158:solidFill>
          </ns158:ln>
        </p:spPr>
        <p:txBody>
          <ns159:bodyPr xmlns:ns159="http://schemas.openxmlformats.org/drawingml/2006/main" wrap="square" lIns="61200" rIns="61200" tIns="61200" bIns="61200" anchor="ctr">
            <ns159:noAutofit/>
          </ns159:bodyPr>
          <ns160:lstStyle xmlns:ns160="http://schemas.openxmlformats.org/drawingml/2006/main"/>
          <ns161:p xmlns:ns161="http://schemas.openxmlformats.org/drawingml/2006/main">
            <ns161:pPr algn="l">
              <ns161:lnSpc>
                <ns161:spcPct val="105000"/>
              </ns161:lnSpc>
              <ns161:defRPr sz="1300" b="1">
                <ns161:solidFill>
                  <ns161:srgbClr val="65727D"/>
                </ns161:solidFill>
                <ns161:latin typeface="Arial"/>
                <ns161:ea typeface="Arial"/>
                <ns161:cs typeface="Arial"/>
              </ns161:defRPr>
            </ns161:pPr>
            <ns161:r>
              <ns161:rPr sz="1300" b="1">
                <ns161:solidFill>
                  <ns161:srgbClr val="65727D"/>
                </ns161:solidFill>
                <ns161:latin typeface="Arial"/>
                <ns161:ea typeface="Arial"/>
                <ns161:cs typeface="Arial"/>
              </ns161:rPr>
              <ns161:t>Quantitative team</ns161:t>
            </ns161:r>
          </ns161:p>
          <ns162:p xmlns:ns162="http://schemas.openxmlformats.org/drawingml/2006/main">
            <ns162:pPr algn="l">
              <ns162:lnSpc>
                <ns162:spcPct val="105000"/>
              </ns162:lnSpc>
              <ns162:defRPr sz="1050" b="0">
                <ns162:solidFill>
                  <ns162:srgbClr val="20262C"/>
                </ns162:solidFill>
                <ns162:latin typeface="Arial"/>
                <ns162:ea typeface="Arial"/>
                <ns162:cs typeface="Arial"/>
              </ns162:defRPr>
            </ns162:pPr>
            <ns162:r>
              <ns162:rPr sz="1050" b="0">
                <ns162:solidFill>
                  <ns162:srgbClr val="20262C"/>
                </ns162:solidFill>
                <ns162:latin typeface="Arial"/>
                <ns162:ea typeface="Arial"/>
                <ns162:cs typeface="Arial"/>
              </ns162:rPr>
              <ns162:t>Coding task</ns162:t>
            </ns162:r>
          </ns162:p>
        </p:txBody>
      </p:sp>
      <p:cxnSp>
        <p:nvCxnSpPr>
          <p:cNvPr id="26" name="peer.development.flow.1.0"/>
          <p:cNvCxnSpPr/>
          <p:nvPr/>
        </p:nvCxnSpPr>
        <p:spPr>
          <ns163:xfrm xmlns:ns163="http://schemas.openxmlformats.org/drawingml/2006/main">
            <ns163:off x="4078800" y="3744000"/>
            <ns163:ext cx="277200" cy="1"/>
          </ns163:xfrm>
          <ns164:prstGeom xmlns:ns164="http://schemas.openxmlformats.org/drawingml/2006/main" prst="line">
            <ns164:avLst/>
          </ns164:prstGeom>
          <ns165:ln xmlns:ns165="http://schemas.openxmlformats.org/drawingml/2006/main" w="11430">
            <ns165:solidFill>
              <ns165:srgbClr val="005A9C"/>
            </ns165:solidFill>
            <ns165:tailEnd type="triangle" w="sm" len="sm"/>
          </ns165:ln>
        </p:spPr>
      </p:cxnSp>
      <p:sp>
        <p:nvSpPr>
          <p:cNvPr id="27" name="peer.development.1.1"/>
          <p:cNvSpPr/>
          <p:nvPr/>
        </p:nvSpPr>
        <p:spPr>
          <ns166:xfrm xmlns:ns166="http://schemas.openxmlformats.org/drawingml/2006/main">
            <ns166:off x="4392000" y="3366000"/>
            <ns166:ext cx="1458000" cy="756000"/>
          </ns166:xfrm>
          <ns167:prstGeom xmlns:ns167="http://schemas.openxmlformats.org/drawingml/2006/main" prst="roundRect">
            <ns167:avLst/>
          </ns167:prstGeom>
          <ns168:solidFill xmlns:ns168="http://schemas.openxmlformats.org/drawingml/2006/main">
            <ns168:srgbClr val="EAF3FA"/>
          </ns168:solidFill>
          <ns169:ln xmlns:ns169="http://schemas.openxmlformats.org/drawingml/2006/main" w="9525">
            <ns169:solidFill>
              <ns169:srgbClr val="005A9C"/>
            </ns169:solidFill>
          </ns169:ln>
        </p:spPr>
        <p:txBody>
          <ns170:bodyPr xmlns:ns170="http://schemas.openxmlformats.org/drawingml/2006/main" wrap="square" lIns="61200" rIns="61200" tIns="61200" bIns="61200" anchor="ctr">
            <ns170:noAutofit/>
          </ns170:bodyPr>
          <ns171:lstStyle xmlns:ns171="http://schemas.openxmlformats.org/drawingml/2006/main"/>
          <ns172:p xmlns:ns172="http://schemas.openxmlformats.org/drawingml/2006/main">
            <ns172:pPr algn="l">
              <ns172:lnSpc>
                <ns172:spcPct val="105000"/>
              </ns172:lnSpc>
              <ns172:defRPr sz="1300" b="1">
                <ns172:solidFill>
                  <ns172:srgbClr val="005A9C"/>
                </ns172:solidFill>
                <ns172:latin typeface="Arial"/>
                <ns172:ea typeface="Arial"/>
                <ns172:cs typeface="Arial"/>
              </ns172:defRPr>
            </ns172:pPr>
            <ns172:r>
              <ns172:rPr sz="1300" b="1">
                <ns172:solidFill>
                  <ns172:srgbClr val="005A9C"/>
                </ns172:solidFill>
                <ns172:latin typeface="Arial"/>
                <ns172:ea typeface="Arial"/>
                <ns172:cs typeface="Arial"/>
              </ns172:rPr>
              <ns172:t>Local model</ns172:t>
            </ns172:r>
          </ns172:p>
          <ns173:p xmlns:ns173="http://schemas.openxmlformats.org/drawingml/2006/main">
            <ns173:pPr algn="l">
              <ns173:lnSpc>
                <ns173:spcPct val="105000"/>
              </ns173:lnSpc>
              <ns173:defRPr sz="1050" b="0">
                <ns173:solidFill>
                  <ns173:srgbClr val="20262C"/>
                </ns173:solidFill>
                <ns173:latin typeface="Arial"/>
                <ns173:ea typeface="Arial"/>
                <ns173:cs typeface="Arial"/>
              </ns173:defRPr>
            </ns173:pPr>
            <ns173:r>
              <ns173:rPr sz="1050" b="0">
                <ns173:solidFill>
                  <ns173:srgbClr val="20262C"/>
                </ns173:solidFill>
                <ns173:latin typeface="Arial"/>
                <ns173:ea typeface="Arial"/>
                <ns173:cs typeface="Arial"/>
              </ns173:rPr>
              <ns173:t>Coding support</ns173:t>
            </ns173:r>
          </ns173:p>
        </p:txBody>
      </p:sp>
      <p:cxnSp>
        <p:nvCxnSpPr>
          <p:cNvPr id="28" name="peer.development.flow.1.1"/>
          <p:cNvCxnSpPr/>
          <p:nvPr/>
        </p:nvCxnSpPr>
        <p:spPr>
          <ns174:xfrm xmlns:ns174="http://schemas.openxmlformats.org/drawingml/2006/main">
            <ns174:off x="5886000" y="3744000"/>
            <ns174:ext cx="205200" cy="1"/>
          </ns174:xfrm>
          <ns175:prstGeom xmlns:ns175="http://schemas.openxmlformats.org/drawingml/2006/main" prst="line">
            <ns175:avLst/>
          </ns175:prstGeom>
          <ns176:ln xmlns:ns176="http://schemas.openxmlformats.org/drawingml/2006/main" w="11430">
            <ns176:solidFill>
              <ns176:srgbClr val="005A9C"/>
            </ns176:solidFill>
            <ns176:tailEnd type="triangle" w="sm" len="sm"/>
          </ns176:ln>
        </p:spPr>
      </p:cxnSp>
      <p:sp>
        <p:nvSpPr>
          <p:cNvPr id="29" name="peer.development.1.2"/>
          <p:cNvSpPr/>
          <p:nvPr/>
        </p:nvSpPr>
        <p:spPr>
          <ns177:xfrm xmlns:ns177="http://schemas.openxmlformats.org/drawingml/2006/main">
            <ns177:off x="6127200" y="3366000"/>
            <ns177:ext cx="2559600" cy="756000"/>
          </ns177:xfrm>
          <ns178:prstGeom xmlns:ns178="http://schemas.openxmlformats.org/drawingml/2006/main" prst="roundRect">
            <ns178:avLst/>
          </ns178:prstGeom>
          <ns179:solidFill xmlns:ns179="http://schemas.openxmlformats.org/drawingml/2006/main">
            <ns179:srgbClr val="F3F7FA"/>
          </ns179:solidFill>
          <ns180:ln xmlns:ns180="http://schemas.openxmlformats.org/drawingml/2006/main" w="9525">
            <ns180:solidFill>
              <ns180:srgbClr val="65727D"/>
            </ns180:solidFill>
          </ns180:ln>
        </p:spPr>
        <p:txBody>
          <ns181:bodyPr xmlns:ns181="http://schemas.openxmlformats.org/drawingml/2006/main" wrap="square" lIns="61200" rIns="61200" tIns="61200" bIns="61200" anchor="ctr">
            <ns181:noAutofit/>
          </ns181:bodyPr>
          <ns182:lstStyle xmlns:ns182="http://schemas.openxmlformats.org/drawingml/2006/main"/>
          <ns183:p xmlns:ns183="http://schemas.openxmlformats.org/drawingml/2006/main">
            <ns183:pPr algn="l">
              <ns183:lnSpc>
                <ns183:spcPct val="105000"/>
              </ns183:lnSpc>
              <ns183:defRPr sz="1300" b="1">
                <ns183:solidFill>
                  <ns183:srgbClr val="65727D"/>
                </ns183:solidFill>
                <ns183:latin typeface="Arial"/>
                <ns183:ea typeface="Arial"/>
                <ns183:cs typeface="Arial"/>
              </ns183:defRPr>
            </ns183:pPr>
            <ns183:r>
              <ns183:rPr sz="1300" b="1">
                <ns183:solidFill>
                  <ns183:srgbClr val="65727D"/>
                </ns183:solidFill>
                <ns183:latin typeface="Arial"/>
                <ns183:ea typeface="Arial"/>
                <ns183:cs typeface="Arial"/>
              </ns183:rPr>
              <ns183:t>Developer</ns183:t>
            </ns183:r>
          </ns183:p>
          <ns184:p xmlns:ns184="http://schemas.openxmlformats.org/drawingml/2006/main">
            <ns184:pPr algn="l">
              <ns184:lnSpc>
                <ns184:spcPct val="105000"/>
              </ns184:lnSpc>
              <ns184:defRPr sz="1050" b="0">
                <ns184:solidFill>
                  <ns184:srgbClr val="20262C"/>
                </ns184:solidFill>
                <ns184:latin typeface="Arial"/>
                <ns184:ea typeface="Arial"/>
                <ns184:cs typeface="Arial"/>
              </ns184:defRPr>
            </ns184:pPr>
            <ns184:r>
              <ns184:rPr sz="1050" b="0">
                <ns184:solidFill>
                  <ns184:srgbClr val="20262C"/>
                </ns184:solidFill>
                <ns184:latin typeface="Arial"/>
                <ns184:ea typeface="Arial"/>
                <ns184:cs typeface="Arial"/>
              </ns184:rPr>
              <ns184:t>Check output</ns184:t>
            </ns184:r>
          </ns184:p>
        </p:txBody>
      </p:sp>
      <p:cxnSp>
        <p:nvCxnSpPr>
          <p:cNvPr id="30" name="efund.test.feedback.0"/>
          <p:cNvCxnSpPr/>
          <p:nvPr/>
        </p:nvCxnSpPr>
        <p:spPr>
          <ns185:xfrm xmlns:ns185="http://schemas.openxmlformats.org/drawingml/2006/main">
            <ns185:off x="7407000" y="2574000"/>
            <ns185:ext cx="1" cy="198000"/>
          </ns185:xfrm>
          <ns186:prstGeom xmlns:ns186="http://schemas.openxmlformats.org/drawingml/2006/main" prst="line">
            <ns186:avLst/>
          </ns186:prstGeom>
          <ns187:ln xmlns:ns187="http://schemas.openxmlformats.org/drawingml/2006/main" w="9525">
            <ns187:solidFill>
              <ns187:srgbClr val="65727D"/>
            </ns187:solidFill>
          </ns187:ln>
        </p:spPr>
      </p:cxnSp>
      <p:cxnSp>
        <p:nvCxnSpPr>
          <p:cNvPr id="31" name="efund.test.feedback.1"/>
          <p:cNvCxnSpPr/>
          <p:nvPr/>
        </p:nvCxnSpPr>
        <p:spPr>
          <ns188:xfrm xmlns:ns188="http://schemas.openxmlformats.org/drawingml/2006/main" flipH="1">
            <ns188:off x="5121000" y="2772000"/>
            <ns188:ext cx="2286000" cy="1"/>
          </ns188:xfrm>
          <ns189:prstGeom xmlns:ns189="http://schemas.openxmlformats.org/drawingml/2006/main" prst="line">
            <ns189:avLst/>
          </ns189:prstGeom>
          <ns190:ln xmlns:ns190="http://schemas.openxmlformats.org/drawingml/2006/main" w="9525">
            <ns190:solidFill>
              <ns190:srgbClr val="65727D"/>
            </ns190:solidFill>
          </ns190:ln>
        </p:spPr>
      </p:cxnSp>
      <p:cxnSp>
        <p:nvCxnSpPr>
          <p:cNvPr id="32" name="efund.test.feedback.2"/>
          <p:cNvCxnSpPr/>
          <p:nvPr/>
        </p:nvCxnSpPr>
        <p:spPr>
          <ns191:xfrm xmlns:ns191="http://schemas.openxmlformats.org/drawingml/2006/main" flipV="1">
            <ns191:off x="5121000" y="2574000"/>
            <ns191:ext cx="1" cy="198000"/>
          </ns191:xfrm>
          <ns192:prstGeom xmlns:ns192="http://schemas.openxmlformats.org/drawingml/2006/main" prst="line">
            <ns192:avLst/>
          </ns192:prstGeom>
          <ns193:ln xmlns:ns193="http://schemas.openxmlformats.org/drawingml/2006/main" w="9525">
            <ns193:solidFill>
              <ns193:srgbClr val="65727D"/>
            </ns193:solidFill>
            <ns193:tailEnd type="triangle" w="sm" len="sm"/>
          </ns193:ln>
        </p:spPr>
      </p:cxnSp>
      <p:sp>
        <p:nvSpPr>
          <p:cNvPr id="33" name="efund.feedback.label"/>
          <p:cNvSpPr/>
          <p:nvPr/>
        </p:nvSpPr>
        <p:spPr>
          <ns194:xfrm xmlns:ns194="http://schemas.openxmlformats.org/drawingml/2006/main">
            <ns194:off x="5454000" y="2592000"/>
            <ns194:ext cx="1800000" cy="162000"/>
          </ns194:xfrm>
          <ns195:prstGeom xmlns:ns195="http://schemas.openxmlformats.org/drawingml/2006/main" prst="rect">
            <ns195:avLst/>
          </ns195:prstGeom>
          <ns196:noFill xmlns:ns196="http://schemas.openxmlformats.org/drawingml/2006/main"/>
          <ns197:ln xmlns:ns197="http://schemas.openxmlformats.org/drawingml/2006/main" w="0">
            <ns197:noFill/>
          </ns197:ln>
        </p:spPr>
        <p:txBody>
          <ns198:bodyPr xmlns:ns198="http://schemas.openxmlformats.org/drawingml/2006/main" wrap="square" lIns="0" rIns="0" tIns="0" bIns="0" anchor="t">
            <ns198:noAutofit/>
          </ns198:bodyPr>
          <ns199:lstStyle xmlns:ns199="http://schemas.openxmlformats.org/drawingml/2006/main"/>
          <ns200:p xmlns:ns200="http://schemas.openxmlformats.org/drawingml/2006/main">
            <ns200:pPr algn="l">
              <ns200:lnSpc>
                <ns200:spcPct val="105000"/>
              </ns200:lnSpc>
              <ns200:defRPr sz="1050" b="0">
                <ns200:solidFill>
                  <ns200:srgbClr val="65727D"/>
                </ns200:solidFill>
                <ns200:latin typeface="Arial"/>
                <ns200:ea typeface="Arial"/>
                <ns200:cs typeface="Arial"/>
              </ns200:defRPr>
            </ns200:pPr>
            <ns200:r>
              <ns200:rPr sz="1050" b="0">
                <ns200:solidFill>
                  <ns200:srgbClr val="65727D"/>
                </ns200:solidFill>
                <ns200:latin typeface="Arial"/>
                <ns200:ea typeface="Arial"/>
                <ns200:cs typeface="Arial"/>
              </ns200:rPr>
              <ns200:t>Test feedback</ns200:t>
            </ns200:r>
          </ns200:p>
        </p:txBody>
      </p:sp>
    </p:spTree>
    <p:extLst>
      <p:ext uri="{BB962C8B-B14F-4D97-AF65-F5344CB8AC3E}">
        <p14:creationId xmlns:p14="http://schemas.microsoft.com/office/powerpoint/2010/main" val="211842429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Tool Development: Automating Document Comparison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Proposed Application: Developing a Comparison Tool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E Fund; Invesco Great Wall</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2" name="map.task.risk"/>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3"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4"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5" name="map.task.records"/>
          <p:cNvSpPr/>
          <p:nvPr/>
        </p:nvSpPr>
        <p:spPr>
          <ns79:xfrm xmlns:ns79="http://schemas.openxmlformats.org/drawingml/2006/main">
            <ns79:off x="554400" y="3690000"/>
            <ns79:ext cx="1562400" cy="1656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5000"/>
              </ns85:lnSpc>
              <ns85:defRPr sz="1050" b="0">
                <ns85:solidFill>
                  <ns85:srgbClr val="65727D"/>
                </ns85:solidFill>
                <ns85:latin typeface="Arial"/>
                <ns85:ea typeface="Arial"/>
                <ns85:cs typeface="Arial"/>
              </ns85:defRPr>
            </ns85:pPr>
            <ns85:r>
              <ns85:rPr sz="1050" b="0">
                <ns85:solidFill>
                  <ns85:srgbClr val="65727D"/>
                </ns85:solidFill>
                <ns85:latin typeface="Arial"/>
                <ns85:ea typeface="Arial"/>
                <ns85:cs typeface="Arial"/>
              </ns85:rPr>
              <ns85:t>Record entry</ns85:t>
            </ns85:r>
          </ns85:p>
        </p:txBody>
      </p:sp>
      <p:sp>
        <p:nvSpPr>
          <p:cNvPr id="16" name="map.task.focus.dev"/>
          <p:cNvSpPr/>
          <p:nvPr/>
        </p:nvSpPr>
        <p:spPr>
          <ns86:xfrm xmlns:ns86="http://schemas.openxmlformats.org/drawingml/2006/main">
            <ns86:off x="486000" y="3884400"/>
            <ns86:ext cx="1677600" cy="176400"/>
          </ns86:xfrm>
          <ns87:prstGeom xmlns:ns87="http://schemas.openxmlformats.org/drawingml/2006/main" prst="rect">
            <ns87:avLst/>
          </ns87:prstGeom>
          <ns88:solidFill xmlns:ns88="http://schemas.openxmlformats.org/drawingml/2006/main">
            <ns88:srgbClr val="D9EAF7"/>
          </ns88:solidFill>
          <ns89:ln xmlns:ns89="http://schemas.openxmlformats.org/drawingml/2006/main" w="0">
            <ns89:noFill/>
          </ns89:ln>
        </p:spPr>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1">
                <ns96:solidFill>
                  <ns96:srgbClr val="005A9C"/>
                </ns96:solidFill>
                <ns96:latin typeface="Arial"/>
                <ns96:ea typeface="Arial"/>
                <ns96:cs typeface="Arial"/>
              </ns96:defRPr>
            </ns96:pPr>
            <ns96:r>
              <ns96:rPr sz="1050" b="1">
                <ns96:solidFill>
                  <ns96:srgbClr val="005A9C"/>
                </ns96:solidFill>
                <ns96:latin typeface="Arial"/>
                <ns96:ea typeface="Arial"/>
                <ns96:cs typeface="Arial"/>
              </ns96:rPr>
              <ns96:t>Tool development</ns96:t>
            </ns96:r>
          </ns96:p>
        </p:txBody>
      </p:sp>
      <p:sp>
        <p:nvSpPr>
          <p:cNvPr id="18" name="development.requirement"/>
          <p:cNvSpPr/>
          <p:nvPr/>
        </p:nvSpPr>
        <p:spPr>
          <ns111:xfrm xmlns:ns111="http://schemas.openxmlformats.org/drawingml/2006/main">
            <ns111:off x="2422800" y="1440000"/>
            <ns111:ext cx="6264000" cy="198000"/>
          </ns111:xfrm>
          <ns112:prstGeom xmlns:ns112="http://schemas.openxmlformats.org/drawingml/2006/main" prst="rect">
            <ns112:avLst/>
          </ns112:prstGeom>
          <ns113:noFill xmlns:ns113="http://schemas.openxmlformats.org/drawingml/2006/main"/>
          <ns114:ln xmlns:ns114="http://schemas.openxmlformats.org/drawingml/2006/main" w="0">
            <ns114:noFill/>
          </ns114:ln>
        </p:spPr>
        <p:txBody>
          <ns115:bodyPr xmlns:ns115="http://schemas.openxmlformats.org/drawingml/2006/main" wrap="square" lIns="0" rIns="0" tIns="0" bIns="0" anchor="t">
            <ns115:noAutofit/>
          </ns115:bodyPr>
          <ns116:lstStyle xmlns:ns116="http://schemas.openxmlformats.org/drawingml/2006/main"/>
          <ns117:p xmlns:ns117="http://schemas.openxmlformats.org/drawingml/2006/main">
            <ns117:pPr algn="l">
              <ns117:lnSpc>
                <ns117:spcPct val="105000"/>
              </ns117:lnSpc>
              <ns117:defRPr sz="1150" b="0">
                <ns117:solidFill>
                  <ns117:srgbClr val="005A9C"/>
                </ns117:solidFill>
                <ns117:latin typeface="Arial"/>
                <ns117:ea typeface="Arial"/>
                <ns117:cs typeface="Arial"/>
              </ns117:defRPr>
            </ns117:pPr>
            <ns117:r>
              <ns117:rPr sz="1150" b="0">
                <ns117:solidFill>
                  <ns117:srgbClr val="005A9C"/>
                </ns117:solidFill>
                <ns117:latin typeface="Arial"/>
                <ns117:ea typeface="Arial"/>
                <ns117:cs typeface="Arial"/>
              </ns117:rPr>
              <ns117:t>Compare V1/V2 body text. Ignore repeated page headers.</ns117:t>
            </ns117:r>
          </ns117:p>
        </p:txBody>
      </p:sp>
      <p:sp>
        <p:nvSpPr>
          <p:cNvPr id="19" name="development.top.0"/>
          <p:cNvSpPr/>
          <p:nvPr/>
        </p:nvSpPr>
        <p:spPr>
          <ns118:xfrm xmlns:ns118="http://schemas.openxmlformats.org/drawingml/2006/main">
            <ns118:off x="2422800" y="1746000"/>
            <ns118:ext cx="1620000" cy="684000"/>
          </ns118:xfrm>
          <ns119:prstGeom xmlns:ns119="http://schemas.openxmlformats.org/drawingml/2006/main" prst="roundRect">
            <ns119:avLst/>
          </ns119:prstGeom>
          <ns120:solidFill xmlns:ns120="http://schemas.openxmlformats.org/drawingml/2006/main">
            <ns120:srgbClr val="F3F7FA"/>
          </ns120:solidFill>
          <ns121:ln xmlns:ns121="http://schemas.openxmlformats.org/drawingml/2006/main" w="9525">
            <ns121:solidFill>
              <ns121:srgbClr val="65727D"/>
            </ns121:solidFill>
          </ns121:ln>
        </p:spPr>
        <p:txBody>
          <ns122:bodyPr xmlns:ns122="http://schemas.openxmlformats.org/drawingml/2006/main" wrap="square" lIns="61200" rIns="61200" tIns="61200" bIns="61200" anchor="ctr">
            <ns122:noAutofit/>
          </ns122:bodyPr>
          <ns123:lstStyle xmlns:ns123="http://schemas.openxmlformats.org/drawingml/2006/main"/>
          <ns124:p xmlns:ns124="http://schemas.openxmlformats.org/drawingml/2006/main">
            <ns124:pPr algn="l">
              <ns124:lnSpc>
                <ns124:spcPct val="105000"/>
              </ns124:lnSpc>
              <ns124:defRPr sz="1300" b="1">
                <ns124:solidFill>
                  <ns124:srgbClr val="65727D"/>
                </ns124:solidFill>
                <ns124:latin typeface="Arial"/>
                <ns124:ea typeface="Arial"/>
                <ns124:cs typeface="Arial"/>
              </ns124:defRPr>
            </ns124:pPr>
            <ns124:r>
              <ns124:rPr sz="1300" b="1">
                <ns124:solidFill>
                  <ns124:srgbClr val="65727D"/>
                </ns124:solidFill>
                <ns124:latin typeface="Arial"/>
                <ns124:ea typeface="Arial"/>
                <ns124:cs typeface="Arial"/>
              </ns124:rPr>
              <ns124:t>1 Developer</ns124:t>
            </ns124:r>
          </ns124:p>
          <ns125:p xmlns:ns125="http://schemas.openxmlformats.org/drawingml/2006/main">
            <ns125:pPr algn="l">
              <ns125:lnSpc>
                <ns125:spcPct val="105000"/>
              </ns125:lnSpc>
              <ns125:defRPr sz="1100" b="0">
                <ns125:solidFill>
                  <ns125:srgbClr val="20262C"/>
                </ns125:solidFill>
                <ns125:latin typeface="Arial"/>
                <ns125:ea typeface="Arial"/>
                <ns125:cs typeface="Arial"/>
              </ns125:defRPr>
            </ns125:pPr>
            <ns125:r>
              <ns125:rPr sz="1100" b="0">
                <ns125:solidFill>
                  <ns125:srgbClr val="20262C"/>
                </ns125:solidFill>
                <ns125:latin typeface="Arial"/>
                <ns125:ea typeface="Arial"/>
                <ns125:cs typeface="Arial"/>
              </ns125:rPr>
              <ns125:t>Define examples</ns125:t>
            </ns125:r>
          </ns125:p>
          <ns126:p xmlns:ns126="http://schemas.openxmlformats.org/drawingml/2006/main">
            <ns126:pPr algn="l">
              <ns126:lnSpc>
                <ns126:spcPct val="105000"/>
              </ns126:lnSpc>
              <ns126:defRPr sz="1100" b="0">
                <ns126:solidFill>
                  <ns126:srgbClr val="20262C"/>
                </ns126:solidFill>
                <ns126:latin typeface="Arial"/>
                <ns126:ea typeface="Arial"/>
                <ns126:cs typeface="Arial"/>
              </ns126:defRPr>
            </ns126:pPr>
            <ns126:r>
              <ns126:rPr sz="1100" b="0">
                <ns126:solidFill>
                  <ns126:srgbClr val="20262C"/>
                </ns126:solidFill>
                <ns126:latin typeface="Arial"/>
                <ns126:ea typeface="Arial"/>
                <ns126:cs typeface="Arial"/>
              </ns126:rPr>
              <ns126:t>Expected results</ns126:t>
            </ns126:r>
          </ns126:p>
        </p:txBody>
      </p:sp>
      <p:cxnSp>
        <p:nvCxnSpPr>
          <p:cNvPr id="20" name="development.top.flow.0"/>
          <p:cNvCxnSpPr/>
          <p:nvPr/>
        </p:nvCxnSpPr>
        <p:spPr>
          <ns127:xfrm xmlns:ns127="http://schemas.openxmlformats.org/drawingml/2006/main">
            <ns127:off x="4078800" y="2088000"/>
            <ns127:ext cx="277200" cy="1"/>
          </ns127:xfrm>
          <ns128:prstGeom xmlns:ns128="http://schemas.openxmlformats.org/drawingml/2006/main" prst="line">
            <ns128:avLst/>
          </ns128:prstGeom>
          <ns129:ln xmlns:ns129="http://schemas.openxmlformats.org/drawingml/2006/main" w="11430">
            <ns129:solidFill>
              <ns129:srgbClr val="005A9C"/>
            </ns129:solidFill>
            <ns129:tailEnd type="triangle" w="sm" len="sm"/>
          </ns129:ln>
        </p:spPr>
      </p:cxnSp>
      <p:sp>
        <p:nvSpPr>
          <p:cNvPr id="21" name="development.top.1"/>
          <p:cNvSpPr/>
          <p:nvPr/>
        </p:nvSpPr>
        <p:spPr>
          <ns130:xfrm xmlns:ns130="http://schemas.openxmlformats.org/drawingml/2006/main">
            <ns130:off x="4392000" y="1746000"/>
            <ns130:ext cx="1458000" cy="684000"/>
          </ns130:xfrm>
          <ns131:prstGeom xmlns:ns131="http://schemas.openxmlformats.org/drawingml/2006/main" prst="roundRect">
            <ns131:avLst/>
          </ns131:prstGeom>
          <ns132:solidFill xmlns:ns132="http://schemas.openxmlformats.org/drawingml/2006/main">
            <ns132:srgbClr val="EAF3FA"/>
          </ns132:solidFill>
          <ns133:ln xmlns:ns133="http://schemas.openxmlformats.org/drawingml/2006/main" w="9525">
            <ns133:solidFill>
              <ns133:srgbClr val="005A9C"/>
            </ns133:solidFill>
          </ns133:ln>
        </p:spPr>
        <p:txBody>
          <ns134:bodyPr xmlns:ns134="http://schemas.openxmlformats.org/drawingml/2006/main" wrap="square" lIns="61200" rIns="61200" tIns="61200" bIns="61200" anchor="ctr">
            <ns134:noAutofit/>
          </ns134:bodyPr>
          <ns135:lstStyle xmlns:ns135="http://schemas.openxmlformats.org/drawingml/2006/main"/>
          <ns136:p xmlns:ns136="http://schemas.openxmlformats.org/drawingml/2006/main">
            <ns136:pPr algn="l">
              <ns136:lnSpc>
                <ns136:spcPct val="105000"/>
              </ns136:lnSpc>
              <ns136:defRPr sz="1300" b="1">
                <ns136:solidFill>
                  <ns136:srgbClr val="005A9C"/>
                </ns136:solidFill>
                <ns136:latin typeface="Arial"/>
                <ns136:ea typeface="Arial"/>
                <ns136:cs typeface="Arial"/>
              </ns136:defRPr>
            </ns136:pPr>
            <ns136:r>
              <ns136:rPr sz="1300" b="1">
                <ns136:solidFill>
                  <ns136:srgbClr val="005A9C"/>
                </ns136:solidFill>
                <ns136:latin typeface="Arial"/>
                <ns136:ea typeface="Arial"/>
                <ns136:cs typeface="Arial"/>
              </ns136:rPr>
              <ns136:t>2 LLM</ns136:t>
            </ns136:r>
          </ns136:p>
          <ns137:p xmlns:ns137="http://schemas.openxmlformats.org/drawingml/2006/main">
            <ns137:pPr algn="l">
              <ns137:lnSpc>
                <ns137:spcPct val="105000"/>
              </ns137:lnSpc>
              <ns137:defRPr sz="1100" b="0">
                <ns137:solidFill>
                  <ns137:srgbClr val="20262C"/>
                </ns137:solidFill>
                <ns137:latin typeface="Arial"/>
                <ns137:ea typeface="Arial"/>
                <ns137:cs typeface="Arial"/>
              </ns137:defRPr>
            </ns137:pPr>
            <ns137:r>
              <ns137:rPr sz="1100" b="0">
                <ns137:solidFill>
                  <ns137:srgbClr val="20262C"/>
                </ns137:solidFill>
                <ns137:latin typeface="Arial"/>
                <ns137:ea typeface="Arial"/>
                <ns137:cs typeface="Arial"/>
              </ns137:rPr>
              <ns137:t>Code / tests</ns137:t>
            </ns137:r>
          </ns137:p>
        </p:txBody>
      </p:sp>
      <p:cxnSp>
        <p:nvCxnSpPr>
          <p:cNvPr id="22" name="development.top.flow.1"/>
          <p:cNvCxnSpPr/>
          <p:nvPr/>
        </p:nvCxnSpPr>
        <p:spPr>
          <ns138:xfrm xmlns:ns138="http://schemas.openxmlformats.org/drawingml/2006/main">
            <ns138:off x="5886000" y="2088000"/>
            <ns138:ext cx="205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sp>
        <p:nvSpPr>
          <p:cNvPr id="23" name="development.top.2"/>
          <p:cNvSpPr/>
          <p:nvPr/>
        </p:nvSpPr>
        <p:spPr>
          <ns141:xfrm xmlns:ns141="http://schemas.openxmlformats.org/drawingml/2006/main">
            <ns141:off x="6127200" y="1746000"/>
            <ns141:ext cx="2559600" cy="684000"/>
          </ns141:xfrm>
          <ns142:prstGeom xmlns:ns142="http://schemas.openxmlformats.org/drawingml/2006/main" prst="roundRect">
            <ns142:avLst/>
          </ns142:prstGeom>
          <ns143:solidFill xmlns:ns143="http://schemas.openxmlformats.org/drawingml/2006/main">
            <ns143:srgbClr val="F3F7FA"/>
          </ns143:solidFill>
          <ns144:ln xmlns:ns144="http://schemas.openxmlformats.org/drawingml/2006/main" w="9525">
            <ns144:solidFill>
              <ns144:srgbClr val="65727D"/>
            </ns144:solidFill>
          </ns144:ln>
        </p:spPr>
        <p:txBody>
          <ns145:bodyPr xmlns:ns145="http://schemas.openxmlformats.org/drawingml/2006/main" wrap="square" lIns="61200" rIns="61200" tIns="61200" bIns="61200" anchor="ctr">
            <ns145:noAutofit/>
          </ns145:bodyPr>
          <ns146:lstStyle xmlns:ns146="http://schemas.openxmlformats.org/drawingml/2006/main"/>
          <ns147:p xmlns:ns147="http://schemas.openxmlformats.org/drawingml/2006/main">
            <ns147:pPr algn="l">
              <ns147:lnSpc>
                <ns147:spcPct val="105000"/>
              </ns147:lnSpc>
              <ns147:defRPr sz="1300" b="1">
                <ns147:solidFill>
                  <ns147:srgbClr val="65727D"/>
                </ns147:solidFill>
                <ns147:latin typeface="Arial"/>
                <ns147:ea typeface="Arial"/>
                <ns147:cs typeface="Arial"/>
              </ns147:defRPr>
            </ns147:pPr>
            <ns147:r>
              <ns147:rPr sz="1300" b="1">
                <ns147:solidFill>
                  <ns147:srgbClr val="65727D"/>
                </ns147:solidFill>
                <ns147:latin typeface="Arial"/>
                <ns147:ea typeface="Arial"/>
                <ns147:cs typeface="Arial"/>
              </ns147:rPr>
              <ns147:t>3 Test runner</ns147:t>
            </ns147:r>
          </ns147:p>
          <ns148:p xmlns:ns148="http://schemas.openxmlformats.org/drawingml/2006/main">
            <ns148:pPr algn="l">
              <ns148:lnSpc>
                <ns148:spcPct val="105000"/>
              </ns148:lnSpc>
              <ns148:defRPr sz="1100" b="0">
                <ns148:solidFill>
                  <ns148:srgbClr val="20262C"/>
                </ns148:solidFill>
                <ns148:latin typeface="Arial"/>
                <ns148:ea typeface="Arial"/>
                <ns148:cs typeface="Arial"/>
              </ns148:defRPr>
            </ns148:pPr>
            <ns148:r>
              <ns148:rPr sz="1100" b="0">
                <ns148:solidFill>
                  <ns148:srgbClr val="20262C"/>
                </ns148:solidFill>
                <ns148:latin typeface="Arial"/>
                <ns148:ea typeface="Arial"/>
                <ns148:cs typeface="Arial"/>
              </ns148:rPr>
              <ns148:t>Run tests</ns148:t>
            </ns148:r>
          </ns148:p>
        </p:txBody>
      </p:sp>
      <p:sp>
        <p:nvSpPr>
          <p:cNvPr id="24" name="input.dev.examples.paper"/>
          <p:cNvSpPr/>
          <p:nvPr/>
        </p:nvSpPr>
        <p:spPr>
          <ns149:xfrm xmlns:ns149="http://schemas.openxmlformats.org/drawingml/2006/main">
            <ns149:off x="2422800" y="2574000"/>
            <ns149:ext cx="1620000" cy="828000"/>
          </ns149:xfrm>
          <ns150:prstGeom xmlns:ns150="http://schemas.openxmlformats.org/drawingml/2006/main" prst="foldedCorner">
            <ns150:avLst/>
          </ns150:prstGeom>
          <ns151:solidFill xmlns:ns151="http://schemas.openxmlformats.org/drawingml/2006/main">
            <ns151:srgbClr val="FFFFFF"/>
          </ns151:solidFill>
          <ns152:ln xmlns:ns152="http://schemas.openxmlformats.org/drawingml/2006/main" w="9525">
            <ns152:solidFill>
              <ns152:srgbClr val="7363A6"/>
            </ns152:solidFill>
          </ns152:ln>
        </p:spPr>
      </p:sp>
      <p:sp>
        <p:nvSpPr>
          <p:cNvPr id="25" name="input.dev.examples.title"/>
          <p:cNvSpPr/>
          <p:nvPr/>
        </p:nvSpPr>
        <p:spPr>
          <ns153:xfrm xmlns:ns153="http://schemas.openxmlformats.org/drawingml/2006/main">
            <ns153:off x="2487600" y="2617200"/>
            <ns153:ext cx="1422000" cy="1980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5000"/>
              </ns159:lnSpc>
              <ns159:defRPr sz="1250" b="1">
                <ns159:solidFill>
                  <ns159:srgbClr val="7363A6"/>
                </ns159:solidFill>
                <ns159:latin typeface="Arial"/>
                <ns159:ea typeface="Arial"/>
                <ns159:cs typeface="Arial"/>
              </ns159:defRPr>
            </ns159:pPr>
            <ns159:r>
              <ns159:rPr sz="1250" b="1">
                <ns159:solidFill>
                  <ns159:srgbClr val="7363A6"/>
                </ns159:solidFill>
                <ns159:latin typeface="Arial"/>
                <ns159:ea typeface="Arial"/>
                <ns159:cs typeface="Arial"/>
              </ns159:rPr>
              <ns159:t>V1 / V2 examples</ns159:t>
            </ns159:r>
          </ns159:p>
        </p:txBody>
      </p:sp>
      <p:sp>
        <p:nvSpPr>
          <p:cNvPr id="26" name="input.dev.examples.content"/>
          <p:cNvSpPr/>
          <p:nvPr/>
        </p:nvSpPr>
        <p:spPr>
          <ns160:xfrm xmlns:ns160="http://schemas.openxmlformats.org/drawingml/2006/main">
            <ns160:off x="2487600" y="2833200"/>
            <ns160:ext cx="1490400" cy="518400"/>
          </ns160:xfrm>
          <ns161:prstGeom xmlns:ns161="http://schemas.openxmlformats.org/drawingml/2006/main" prst="rect">
            <ns161:avLst/>
          </ns161:prstGeom>
          <ns162:noFill xmlns:ns162="http://schemas.openxmlformats.org/drawingml/2006/main"/>
          <ns163:ln xmlns:ns163="http://schemas.openxmlformats.org/drawingml/2006/main" w="0">
            <ns163:noFill/>
          </ns163:ln>
        </p:spPr>
        <p:txBody>
          <ns164:bodyPr xmlns:ns164="http://schemas.openxmlformats.org/drawingml/2006/main" wrap="square" lIns="0" rIns="0" tIns="0" bIns="0" anchor="t">
            <ns164:noAutofit/>
          </ns164:bodyPr>
          <ns165:lstStyle xmlns:ns165="http://schemas.openxmlformats.org/drawingml/2006/main"/>
          <ns166:p xmlns:ns166="http://schemas.openxmlformats.org/drawingml/2006/main">
            <ns166:pPr algn="l">
              <ns166:lnSpc>
                <ns166:spcPct val="100000"/>
              </ns166:lnSpc>
              <ns166:defRPr sz="1150" b="0">
                <ns166:solidFill>
                  <ns166:srgbClr val="20262C"/>
                </ns166:solidFill>
                <ns166:latin typeface="Arial"/>
                <ns166:ea typeface="Arial"/>
                <ns166:cs typeface="Arial"/>
              </ns166:defRPr>
            </ns166:pPr>
            <ns166:r>
              <ns166:rPr sz="1150" b="0">
                <ns166:solidFill>
                  <ns166:srgbClr val="20262C"/>
                </ns166:solidFill>
                <ns166:latin typeface="Arial"/>
                <ns166:ea typeface="Arial"/>
                <ns166:cs typeface="Arial"/>
              </ns166:rPr>
              <ns166:t>Expected differences</ns166:t>
            </ns166:r>
          </ns166:p>
          <ns167:p xmlns:ns167="http://schemas.openxmlformats.org/drawingml/2006/main">
            <ns167:pPr algn="l">
              <ns167:lnSpc>
                <ns167:spcPct val="100000"/>
              </ns167:lnSpc>
              <ns167:defRPr sz="1150" b="0">
                <ns167:solidFill>
                  <ns167:srgbClr val="20262C"/>
                </ns167:solidFill>
                <ns167:latin typeface="Arial"/>
                <ns167:ea typeface="Arial"/>
                <ns167:cs typeface="Arial"/>
              </ns167:defRPr>
            </ns167:pPr>
            <ns167:r>
              <ns167:rPr sz="1150" b="0">
                <ns167:solidFill>
                  <ns167:srgbClr val="20262C"/>
                </ns167:solidFill>
                <ns167:latin typeface="Arial"/>
                <ns167:ea typeface="Arial"/>
                <ns167:cs typeface="Arial"/>
              </ns167:rPr>
              <ns167:t>marked</ns167:t>
            </ns167:r>
          </ns167:p>
        </p:txBody>
      </p:sp>
      <p:cxnSp>
        <p:nvCxnSpPr>
          <p:cNvPr id="27" name="examples.to.developer"/>
          <p:cNvCxnSpPr/>
          <p:nvPr/>
        </p:nvCxnSpPr>
        <p:spPr>
          <ns168:xfrm xmlns:ns168="http://schemas.openxmlformats.org/drawingml/2006/main" flipV="1">
            <ns168:off x="3232800" y="2466000"/>
            <ns168:ext cx="1" cy="72000"/>
          </ns168:xfrm>
          <ns169:prstGeom xmlns:ns169="http://schemas.openxmlformats.org/drawingml/2006/main" prst="line">
            <ns169:avLst/>
          </ns169:prstGeom>
          <ns170:ln xmlns:ns170="http://schemas.openxmlformats.org/drawingml/2006/main" w="11430">
            <ns170:solidFill>
              <ns170:srgbClr val="7363A6"/>
            </ns170:solidFill>
            <ns170:tailEnd type="triangle" w="sm" len="sm"/>
          </ns170:ln>
        </p:spPr>
      </p:cxnSp>
      <p:sp>
        <p:nvSpPr>
          <p:cNvPr id="28" name="output.test.results.paper"/>
          <p:cNvSpPr/>
          <p:nvPr/>
        </p:nvSpPr>
        <p:spPr>
          <ns171:xfrm xmlns:ns171="http://schemas.openxmlformats.org/drawingml/2006/main">
            <ns171:off x="6127200" y="2574000"/>
            <ns171:ext cx="2559600" cy="828000"/>
          </ns171:xfrm>
          <ns172:prstGeom xmlns:ns172="http://schemas.openxmlformats.org/drawingml/2006/main" prst="foldedCorner">
            <ns172:avLst/>
          </ns172:prstGeom>
          <ns173:solidFill xmlns:ns173="http://schemas.openxmlformats.org/drawingml/2006/main">
            <ns173:srgbClr val="FFFFFF"/>
          </ns173:solidFill>
          <ns174:ln xmlns:ns174="http://schemas.openxmlformats.org/drawingml/2006/main" w="9525">
            <ns174:solidFill>
              <ns174:srgbClr val="65727D"/>
            </ns174:solidFill>
          </ns174:ln>
        </p:spPr>
      </p:sp>
      <p:sp>
        <p:nvSpPr>
          <p:cNvPr id="29" name="output.test.results.title"/>
          <p:cNvSpPr/>
          <p:nvPr/>
        </p:nvSpPr>
        <p:spPr>
          <ns175:xfrm xmlns:ns175="http://schemas.openxmlformats.org/drawingml/2006/main">
            <ns175:off x="6192000" y="2617200"/>
            <ns175:ext cx="2361600" cy="198000"/>
          </ns175:xfrm>
          <ns176:prstGeom xmlns:ns176="http://schemas.openxmlformats.org/drawingml/2006/main" prst="rect">
            <ns176:avLst/>
          </ns176:prstGeom>
          <ns177:noFill xmlns:ns177="http://schemas.openxmlformats.org/drawingml/2006/main"/>
          <ns178:ln xmlns:ns178="http://schemas.openxmlformats.org/drawingml/2006/main" w="0">
            <ns178:noFill/>
          </ns178:ln>
        </p:spPr>
        <p:txBody>
          <ns179:bodyPr xmlns:ns179="http://schemas.openxmlformats.org/drawingml/2006/main" wrap="square" lIns="0" rIns="0" tIns="0" bIns="0" anchor="t">
            <ns179:noAutofit/>
          </ns179:bodyPr>
          <ns180:lstStyle xmlns:ns180="http://schemas.openxmlformats.org/drawingml/2006/main"/>
          <ns181:p xmlns:ns181="http://schemas.openxmlformats.org/drawingml/2006/main">
            <ns181:pPr algn="l">
              <ns181:lnSpc>
                <ns181:spcPct val="105000"/>
              </ns181:lnSpc>
              <ns181:defRPr sz="1250" b="1">
                <ns181:solidFill>
                  <ns181:srgbClr val="65727D"/>
                </ns181:solidFill>
                <ns181:latin typeface="Arial"/>
                <ns181:ea typeface="Arial"/>
                <ns181:cs typeface="Arial"/>
              </ns181:defRPr>
            </ns181:pPr>
            <ns181:r>
              <ns181:rPr sz="1250" b="1">
                <ns181:solidFill>
                  <ns181:srgbClr val="65727D"/>
                </ns181:solidFill>
                <ns181:latin typeface="Arial"/>
                <ns181:ea typeface="Arial"/>
                <ns181:cs typeface="Arial"/>
              </ns181:rPr>
              <ns181:t>Test results</ns181:t>
            </ns181:r>
          </ns181:p>
        </p:txBody>
      </p:sp>
      <p:sp>
        <p:nvSpPr>
          <p:cNvPr id="30" name="output.test.results.content"/>
          <p:cNvSpPr/>
          <p:nvPr/>
        </p:nvSpPr>
        <p:spPr>
          <ns182:xfrm xmlns:ns182="http://schemas.openxmlformats.org/drawingml/2006/main">
            <ns182:off x="6192000" y="2833200"/>
            <ns182:ext cx="2430000" cy="518400"/>
          </ns182:xfrm>
          <ns183:prstGeom xmlns:ns183="http://schemas.openxmlformats.org/drawingml/2006/main" prst="rect">
            <ns183:avLst/>
          </ns183:prstGeom>
          <ns184:noFill xmlns:ns184="http://schemas.openxmlformats.org/drawingml/2006/main"/>
          <ns185:ln xmlns:ns185="http://schemas.openxmlformats.org/drawingml/2006/main" w="0">
            <ns185:noFill/>
          </ns185:ln>
        </p:spPr>
        <p:txBody>
          <ns186:bodyPr xmlns:ns186="http://schemas.openxmlformats.org/drawingml/2006/main" wrap="square" lIns="0" rIns="0" tIns="0" bIns="0" anchor="t">
            <ns186:noAutofit/>
          </ns186:bodyPr>
          <ns187:lstStyle xmlns:ns187="http://schemas.openxmlformats.org/drawingml/2006/main"/>
          <ns188:p xmlns:ns188="http://schemas.openxmlformats.org/drawingml/2006/main">
            <ns188:pPr algn="l">
              <ns188:lnSpc>
                <ns188:spcPct val="100000"/>
              </ns188:lnSpc>
              <ns188:defRPr sz="1200" b="0">
                <ns188:solidFill>
                  <ns188:srgbClr val="20262C"/>
                </ns188:solidFill>
                <ns188:latin typeface="Arial"/>
                <ns188:ea typeface="Arial"/>
                <ns188:cs typeface="Arial"/>
              </ns188:defRPr>
            </ns188:pPr>
            <ns188:r>
              <ns188:rPr sz="1200" b="0">
                <ns188:solidFill>
                  <ns188:srgbClr val="20262C"/>
                </ns188:solidFill>
                <ns188:latin typeface="Arial"/>
                <ns188:ea typeface="Arial"/>
                <ns188:cs typeface="Arial"/>
              </ns188:rPr>
              <ns188:t>Body changes detected</ns188:t>
            </ns188:r>
          </ns188:p>
          <ns189:p xmlns:ns189="http://schemas.openxmlformats.org/drawingml/2006/main">
            <ns189:pPr algn="l">
              <ns189:lnSpc>
                <ns189:spcPct val="100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Headers wrongly flagged</ns189:t>
            </ns189:r>
          </ns189:p>
        </p:txBody>
      </p:sp>
      <p:cxnSp>
        <p:nvCxnSpPr>
          <p:cNvPr id="31" name="runner.to.results"/>
          <p:cNvCxnSpPr/>
          <p:nvPr/>
        </p:nvCxnSpPr>
        <p:spPr>
          <ns190:xfrm xmlns:ns190="http://schemas.openxmlformats.org/drawingml/2006/main">
            <ns190:off x="7407000" y="2466000"/>
            <ns190:ext cx="1" cy="72000"/>
          </ns190:xfrm>
          <ns191:prstGeom xmlns:ns191="http://schemas.openxmlformats.org/drawingml/2006/main" prst="line">
            <ns191:avLst/>
          </ns191:prstGeom>
          <ns192:ln xmlns:ns192="http://schemas.openxmlformats.org/drawingml/2006/main" w="11430">
            <ns192:solidFill>
              <ns192:srgbClr val="005A9C"/>
            </ns192:solidFill>
            <ns192:tailEnd type="triangle" w="sm" len="sm"/>
          </ns192:ln>
        </p:spPr>
      </p:cxnSp>
      <p:sp>
        <p:nvSpPr>
          <p:cNvPr id="32" name="development.bottom.0"/>
          <p:cNvSpPr/>
          <p:nvPr/>
        </p:nvSpPr>
        <p:spPr>
          <ns193:xfrm xmlns:ns193="http://schemas.openxmlformats.org/drawingml/2006/main">
            <ns193:off x="2422800" y="3618000"/>
            <ns193:ext cx="1620000" cy="846000"/>
          </ns193:xfrm>
          <ns194:prstGeom xmlns:ns194="http://schemas.openxmlformats.org/drawingml/2006/main" prst="roundRect">
            <ns194:avLst/>
          </ns194:prstGeom>
          <ns195:solidFill xmlns:ns195="http://schemas.openxmlformats.org/drawingml/2006/main">
            <ns195:srgbClr val="F3F7FA"/>
          </ns195:solidFill>
          <ns196:ln xmlns:ns196="http://schemas.openxmlformats.org/drawingml/2006/main" w="9525">
            <ns196:solidFill>
              <ns196:srgbClr val="65727D"/>
            </ns196:solidFill>
          </ns196:ln>
        </p:spPr>
        <p:txBody>
          <ns197:bodyPr xmlns:ns197="http://schemas.openxmlformats.org/drawingml/2006/main" wrap="square" lIns="61200" rIns="61200" tIns="61200" bIns="61200" anchor="ctr">
            <ns197:noAutofit/>
          </ns197:bodyPr>
          <ns198:lstStyle xmlns:ns198="http://schemas.openxmlformats.org/drawingml/2006/main"/>
          <ns199:p xmlns:ns199="http://schemas.openxmlformats.org/drawingml/2006/main">
            <ns199:pPr algn="l">
              <ns199:lnSpc>
                <ns199:spcPct val="105000"/>
              </ns199:lnSpc>
              <ns199:defRPr sz="1300" b="1">
                <ns199:solidFill>
                  <ns199:srgbClr val="65727D"/>
                </ns199:solidFill>
                <ns199:latin typeface="Arial"/>
                <ns199:ea typeface="Arial"/>
                <ns199:cs typeface="Arial"/>
              </ns199:defRPr>
            </ns199:pPr>
            <ns199:r>
              <ns199:rPr sz="1300" b="1">
                <ns199:solidFill>
                  <ns199:srgbClr val="65727D"/>
                </ns199:solidFill>
                <ns199:latin typeface="Arial"/>
                <ns199:ea typeface="Arial"/>
                <ns199:cs typeface="Arial"/>
              </ns199:rPr>
              <ns199:t>6 Developer</ns199:t>
            </ns199:r>
          </ns199:p>
          <ns200:p xmlns:ns200="http://schemas.openxmlformats.org/drawingml/2006/main">
            <ns200:pPr algn="l">
              <ns200:lnSpc>
                <ns200:spcPct val="105000"/>
              </ns200:lnSpc>
              <ns200:defRPr sz="1150" b="0">
                <ns200:solidFill>
                  <ns200:srgbClr val="20262C"/>
                </ns200:solidFill>
                <ns200:latin typeface="Arial"/>
                <ns200:ea typeface="Arial"/>
                <ns200:cs typeface="Arial"/>
              </ns200:defRPr>
            </ns200:pPr>
            <ns200:r>
              <ns200:rPr sz="1150" b="0">
                <ns200:solidFill>
                  <ns200:srgbClr val="20262C"/>
                </ns200:solidFill>
                <ns200:latin typeface="Arial"/>
                <ns200:ea typeface="Arial"/>
                <ns200:cs typeface="Arial"/>
              </ns200:rPr>
              <ns200:t>Retest / deliver</ns200:t>
            </ns200:r>
          </ns200:p>
          <ns201:p xmlns:ns201="http://schemas.openxmlformats.org/drawingml/2006/main">
            <ns201:pPr algn="l">
              <ns201:lnSpc>
                <ns201:spcPct val="105000"/>
              </ns201:lnSpc>
              <ns201:defRPr sz="1150" b="0">
                <ns201:solidFill>
                  <ns201:srgbClr val="20262C"/>
                </ns201:solidFill>
                <ns201:latin typeface="Arial"/>
                <ns201:ea typeface="Arial"/>
                <ns201:cs typeface="Arial"/>
              </ns201:defRPr>
            </ns201:pPr>
            <ns201:r>
              <ns201:rPr sz="1150" b="0">
                <ns201:solidFill>
                  <ns201:srgbClr val="20262C"/>
                </ns201:solidFill>
                <ns201:latin typeface="Arial"/>
                <ns201:ea typeface="Arial"/>
                <ns201:cs typeface="Arial"/>
              </ns201:rPr>
              <ns201:t>Tool + user guide</ns201:t>
            </ns201:r>
          </ns201:p>
        </p:txBody>
      </p:sp>
      <p:sp>
        <p:nvSpPr>
          <p:cNvPr id="33" name="development.bottom.1"/>
          <p:cNvSpPr/>
          <p:nvPr/>
        </p:nvSpPr>
        <p:spPr>
          <ns202:xfrm xmlns:ns202="http://schemas.openxmlformats.org/drawingml/2006/main">
            <ns202:off x="4392000" y="3618000"/>
            <ns202:ext cx="1458000" cy="846000"/>
          </ns202:xfrm>
          <ns203:prstGeom xmlns:ns203="http://schemas.openxmlformats.org/drawingml/2006/main" prst="roundRect">
            <ns203:avLst/>
          </ns203:prstGeom>
          <ns204:solidFill xmlns:ns204="http://schemas.openxmlformats.org/drawingml/2006/main">
            <ns204:srgbClr val="EAF3FA"/>
          </ns204:solidFill>
          <ns205:ln xmlns:ns205="http://schemas.openxmlformats.org/drawingml/2006/main" w="9525">
            <ns205:solidFill>
              <ns205:srgbClr val="005A9C"/>
            </ns205:solidFill>
          </ns205:ln>
        </p:spPr>
        <p:txBody>
          <ns206:bodyPr xmlns:ns206="http://schemas.openxmlformats.org/drawingml/2006/main" wrap="square" lIns="61200" rIns="61200" tIns="61200" bIns="61200" anchor="ctr">
            <ns206:noAutofit/>
          </ns206:bodyPr>
          <ns207:lstStyle xmlns:ns207="http://schemas.openxmlformats.org/drawingml/2006/main"/>
          <ns208:p xmlns:ns208="http://schemas.openxmlformats.org/drawingml/2006/main">
            <ns208:pPr algn="l">
              <ns208:lnSpc>
                <ns208:spcPct val="105000"/>
              </ns208:lnSpc>
              <ns208:defRPr sz="1300" b="1">
                <ns208:solidFill>
                  <ns208:srgbClr val="005A9C"/>
                </ns208:solidFill>
                <ns208:latin typeface="Arial"/>
                <ns208:ea typeface="Arial"/>
                <ns208:cs typeface="Arial"/>
              </ns208:defRPr>
            </ns208:pPr>
            <ns208:r>
              <ns208:rPr sz="1300" b="1">
                <ns208:solidFill>
                  <ns208:srgbClr val="005A9C"/>
                </ns208:solidFill>
                <ns208:latin typeface="Arial"/>
                <ns208:ea typeface="Arial"/>
                <ns208:cs typeface="Arial"/>
              </ns208:rPr>
              <ns208:t>5 LLM</ns208:t>
            </ns208:r>
          </ns208:p>
          <ns209:p xmlns:ns209="http://schemas.openxmlformats.org/drawingml/2006/main">
            <ns209:pPr algn="l">
              <ns209:lnSpc>
                <ns209:spcPct val="105000"/>
              </ns209:lnSpc>
              <ns209:defRPr sz="1150" b="0">
                <ns209:solidFill>
                  <ns209:srgbClr val="20262C"/>
                </ns209:solidFill>
                <ns209:latin typeface="Arial"/>
                <ns209:ea typeface="Arial"/>
                <ns209:cs typeface="Arial"/>
              </ns209:defRPr>
            </ns209:pPr>
            <ns209:r>
              <ns209:rPr sz="1150" b="0">
                <ns209:solidFill>
                  <ns209:srgbClr val="20262C"/>
                </ns209:solidFill>
                <ns209:latin typeface="Arial"/>
                <ns209:ea typeface="Arial"/>
                <ns209:cs typeface="Arial"/>
              </ns209:rPr>
              <ns209:t>Fix header filter</ns209:t>
            </ns209:r>
          </ns209:p>
          <ns210:p xmlns:ns210="http://schemas.openxmlformats.org/drawingml/2006/main">
            <ns210:pPr algn="l">
              <ns210:lnSpc>
                <ns210:spcPct val="105000"/>
              </ns210:lnSpc>
              <ns210:defRPr sz="1150" b="0">
                <ns210:solidFill>
                  <ns210:srgbClr val="20262C"/>
                </ns210:solidFill>
                <ns210:latin typeface="Arial"/>
                <ns210:ea typeface="Arial"/>
                <ns210:cs typeface="Arial"/>
              </ns210:defRPr>
            </ns210:pPr>
            <ns210:r>
              <ns210:rPr sz="1150" b="0">
                <ns210:solidFill>
                  <ns210:srgbClr val="20262C"/>
                </ns210:solidFill>
                <ns210:latin typeface="Arial"/>
                <ns210:ea typeface="Arial"/>
                <ns210:cs typeface="Arial"/>
              </ns210:rPr>
              <ns210:t>Add regression test</ns210:t>
            </ns210:r>
          </ns210:p>
        </p:txBody>
      </p:sp>
      <p:sp>
        <p:nvSpPr>
          <p:cNvPr id="34" name="development.bottom.2"/>
          <p:cNvSpPr/>
          <p:nvPr/>
        </p:nvSpPr>
        <p:spPr>
          <ns211:xfrm xmlns:ns211="http://schemas.openxmlformats.org/drawingml/2006/main">
            <ns211:off x="6127200" y="3618000"/>
            <ns211:ext cx="2559600" cy="846000"/>
          </ns211:xfrm>
          <ns212:prstGeom xmlns:ns212="http://schemas.openxmlformats.org/drawingml/2006/main" prst="roundRect">
            <ns212:avLst/>
          </ns212:prstGeom>
          <ns213:solidFill xmlns:ns213="http://schemas.openxmlformats.org/drawingml/2006/main">
            <ns213:srgbClr val="F3F7FA"/>
          </ns213:solidFill>
          <ns214:ln xmlns:ns214="http://schemas.openxmlformats.org/drawingml/2006/main" w="9525">
            <ns214:solidFill>
              <ns214:srgbClr val="65727D"/>
            </ns214:solidFill>
          </ns214:ln>
        </p:spPr>
        <p:txBody>
          <ns215:bodyPr xmlns:ns215="http://schemas.openxmlformats.org/drawingml/2006/main" wrap="square" lIns="61200" rIns="61200" tIns="61200" bIns="61200" anchor="ctr">
            <ns215:noAutofit/>
          </ns215:bodyPr>
          <ns216:lstStyle xmlns:ns216="http://schemas.openxmlformats.org/drawingml/2006/main"/>
          <ns217:p xmlns:ns217="http://schemas.openxmlformats.org/drawingml/2006/main">
            <ns217:pPr algn="l">
              <ns217:lnSpc>
                <ns217:spcPct val="105000"/>
              </ns217:lnSpc>
              <ns217:defRPr sz="1300" b="1">
                <ns217:solidFill>
                  <ns217:srgbClr val="65727D"/>
                </ns217:solidFill>
                <ns217:latin typeface="Arial"/>
                <ns217:ea typeface="Arial"/>
                <ns217:cs typeface="Arial"/>
              </ns217:defRPr>
            </ns217:pPr>
            <ns217:r>
              <ns217:rPr sz="1300" b="1">
                <ns217:solidFill>
                  <ns217:srgbClr val="65727D"/>
                </ns217:solidFill>
                <ns217:latin typeface="Arial"/>
                <ns217:ea typeface="Arial"/>
                <ns217:cs typeface="Arial"/>
              </ns217:rPr>
              <ns217:t>4 Developer</ns217:t>
            </ns217:r>
          </ns217:p>
          <ns218:p xmlns:ns218="http://schemas.openxmlformats.org/drawingml/2006/main">
            <ns218:pPr algn="l">
              <ns218:lnSpc>
                <ns218:spcPct val="105000"/>
              </ns218:lnSpc>
              <ns218:defRPr sz="1150" b="0">
                <ns218:solidFill>
                  <ns218:srgbClr val="20262C"/>
                </ns218:solidFill>
                <ns218:latin typeface="Arial"/>
                <ns218:ea typeface="Arial"/>
                <ns218:cs typeface="Arial"/>
              </ns218:defRPr>
            </ns218:pPr>
            <ns218:r>
              <ns218:rPr sz="1150" b="0">
                <ns218:solidFill>
                  <ns218:srgbClr val="20262C"/>
                </ns218:solidFill>
                <ns218:latin typeface="Arial"/>
                <ns218:ea typeface="Arial"/>
                <ns218:cs typeface="Arial"/>
              </ns218:rPr>
              <ns218:t>Exclude headers</ns218:t>
            </ns218:r>
          </ns218:p>
          <ns219:p xmlns:ns219="http://schemas.openxmlformats.org/drawingml/2006/main">
            <ns219:pPr algn="l">
              <ns219:lnSpc>
                <ns219:spcPct val="105000"/>
              </ns219:lnSpc>
              <ns219:defRPr sz="1150" b="0">
                <ns219:solidFill>
                  <ns219:srgbClr val="20262C"/>
                </ns219:solidFill>
                <ns219:latin typeface="Arial"/>
                <ns219:ea typeface="Arial"/>
                <ns219:cs typeface="Arial"/>
              </ns219:defRPr>
            </ns219:pPr>
            <ns219:r>
              <ns219:rPr sz="1150" b="0">
                <ns219:solidFill>
                  <ns219:srgbClr val="20262C"/>
                </ns219:solidFill>
                <ns219:latin typeface="Arial"/>
                <ns219:ea typeface="Arial"/>
                <ns219:cs typeface="Arial"/>
              </ns219:rPr>
              <ns219:t>Retain body changes</ns219:t>
            </ns219:r>
          </ns219:p>
        </p:txBody>
      </p:sp>
      <p:cxnSp>
        <p:nvCxnSpPr>
          <p:cNvPr id="35" name="results.to.explanation"/>
          <p:cNvCxnSpPr/>
          <p:nvPr/>
        </p:nvCxnSpPr>
        <p:spPr>
          <ns220:xfrm xmlns:ns220="http://schemas.openxmlformats.org/drawingml/2006/main">
            <ns220:off x="7407000" y="3438000"/>
            <ns220:ext cx="1" cy="144000"/>
          </ns220:xfrm>
          <ns221:prstGeom xmlns:ns221="http://schemas.openxmlformats.org/drawingml/2006/main" prst="line">
            <ns221:avLst/>
          </ns221:prstGeom>
          <ns222:ln xmlns:ns222="http://schemas.openxmlformats.org/drawingml/2006/main" w="11430">
            <ns222:solidFill>
              <ns222:srgbClr val="005A9C"/>
            </ns222:solidFill>
            <ns222:tailEnd type="triangle" w="sm" len="sm"/>
          </ns222:ln>
        </p:spPr>
      </p:cxnSp>
      <p:cxnSp>
        <p:nvCxnSpPr>
          <p:cNvPr id="36" name="feedback.to.revision"/>
          <p:cNvCxnSpPr/>
          <p:nvPr/>
        </p:nvCxnSpPr>
        <p:spPr>
          <ns223:xfrm xmlns:ns223="http://schemas.openxmlformats.org/drawingml/2006/main" flipH="1">
            <ns223:off x="5886000" y="4041000"/>
            <ns223:ext cx="205200" cy="1"/>
          </ns223:xfrm>
          <ns224:prstGeom xmlns:ns224="http://schemas.openxmlformats.org/drawingml/2006/main" prst="line">
            <ns224:avLst/>
          </ns224:prstGeom>
          <ns225:ln xmlns:ns225="http://schemas.openxmlformats.org/drawingml/2006/main" w="11430">
            <ns225:solidFill>
              <ns225:srgbClr val="005A9C"/>
            </ns225:solidFill>
            <ns225:tailEnd type="triangle" w="sm" len="sm"/>
          </ns225:ln>
        </p:spPr>
      </p:cxnSp>
      <p:cxnSp>
        <p:nvCxnSpPr>
          <p:cNvPr id="37" name="revision.to.retest"/>
          <p:cNvCxnSpPr/>
          <p:nvPr/>
        </p:nvCxnSpPr>
        <p:spPr>
          <ns226:xfrm xmlns:ns226="http://schemas.openxmlformats.org/drawingml/2006/main" flipH="1">
            <ns226:off x="4078800" y="4041000"/>
            <ns226:ext cx="277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spTree>
    <p:extLst>
      <p:ext uri="{BB962C8B-B14F-4D97-AF65-F5344CB8AC3E}">
        <p14:creationId xmlns:p14="http://schemas.microsoft.com/office/powerpoint/2010/main" val="56563593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Six Proposed Applications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Employee Roles and Business Outputs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Tianhong; Southern; Penghua; China Universal; ICBCUBS; E Fund</ns20:t>
            </ns20:r>
          </ns20:p>
        </p:txBody>
      </p:sp>
      <p:sp>
        <p:nvSpPr>
          <p:cNvPr id="5" name="firm.root"/>
          <p:cNvSpPr/>
          <p:nvPr/>
        </p:nvSpPr>
        <p:spPr>
          <ns21:xfrm xmlns:ns21="http://schemas.openxmlformats.org/drawingml/2006/main">
            <ns21:off x="3294000" y="1454400"/>
            <ns21:ext cx="2556000" cy="342000"/>
          </ns21:xfrm>
          <ns22:prstGeom xmlns:ns22="http://schemas.openxmlformats.org/drawingml/2006/main" prst="roundRect">
            <ns22:avLst/>
          </ns22:prstGeom>
          <ns23:solidFill xmlns:ns23="http://schemas.openxmlformats.org/drawingml/2006/main">
            <ns23:srgbClr val="EAF3FA"/>
          </ns23:solidFill>
          <ns24:ln xmlns:ns24="http://schemas.openxmlformats.org/drawingml/2006/main" w="9525">
            <ns24:solidFill>
              <ns24:srgbClr val="005A9C"/>
            </ns24:solidFill>
          </ns24:ln>
        </p:spPr>
        <p:txBody>
          <ns25:bodyPr xmlns:ns25="http://schemas.openxmlformats.org/drawingml/2006/main" wrap="square" lIns="61200" rIns="61200" tIns="61200" bIns="61200" anchor="ctr">
            <ns25:noAutofit/>
          </ns25:bodyPr>
          <ns26:lstStyle xmlns:ns26="http://schemas.openxmlformats.org/drawingml/2006/main"/>
          <ns27:p xmlns:ns27="http://schemas.openxmlformats.org/drawingml/2006/main">
            <ns27:pPr algn="l">
              <ns27:lnSpc>
                <ns27:spcPct val="105000"/>
              </ns27:lnSpc>
              <ns27:defRPr sz="1300" b="1">
                <ns27:solidFill>
                  <ns27:srgbClr val="005A9C"/>
                </ns27:solidFill>
                <ns27:latin typeface="Arial"/>
                <ns27:ea typeface="Arial"/>
                <ns27:cs typeface="Arial"/>
              </ns27:defRPr>
            </ns27:pPr>
            <ns27:r>
              <ns27:rPr sz="1300" b="1">
                <ns27:solidFill>
                  <ns27:srgbClr val="005A9C"/>
                </ns27:solidFill>
                <ns27:latin typeface="Arial"/>
                <ns27:ea typeface="Arial"/>
                <ns27:cs typeface="Arial"/>
              </ns27:rPr>
              <ns27:t>Proposed applications</ns27:t>
            </ns27:r>
          </ns27:p>
        </p:txBody>
      </p:sp>
      <p:cxnSp>
        <p:nvCxnSpPr>
          <p:cNvPr id="6" name="firm.trunk"/>
          <p:cNvCxnSpPr/>
          <p:nvPr/>
        </p:nvCxnSpPr>
        <p:spPr>
          <ns28:xfrm xmlns:ns28="http://schemas.openxmlformats.org/drawingml/2006/main">
            <ns28:off x="4572000" y="1800000"/>
            <ns28:ext cx="1" cy="136800"/>
          </ns28:xfrm>
          <ns29:prstGeom xmlns:ns29="http://schemas.openxmlformats.org/drawingml/2006/main" prst="line">
            <ns29:avLst/>
          </ns29:prstGeom>
          <ns30:ln xmlns:ns30="http://schemas.openxmlformats.org/drawingml/2006/main" w="11430">
            <ns30:solidFill>
              <ns30:srgbClr val="005A9C"/>
            </ns30:solidFill>
          </ns30:ln>
        </p:spPr>
      </p:cxnSp>
      <p:cxnSp>
        <p:nvCxnSpPr>
          <p:cNvPr id="7" name="firm.branch"/>
          <p:cNvCxnSpPr/>
          <p:nvPr/>
        </p:nvCxnSpPr>
        <p:spPr>
          <ns31:xfrm xmlns:ns31="http://schemas.openxmlformats.org/drawingml/2006/main">
            <ns31:off x="1737000" y="1936800"/>
            <ns31:ext cx="5670000" cy="1"/>
          </ns31:xfrm>
          <ns32:prstGeom xmlns:ns32="http://schemas.openxmlformats.org/drawingml/2006/main" prst="line">
            <ns32:avLst/>
          </ns32:prstGeom>
          <ns33:ln xmlns:ns33="http://schemas.openxmlformats.org/drawingml/2006/main" w="11430">
            <ns33:solidFill>
              <ns33:srgbClr val="005A9C"/>
            </ns33:solidFill>
          </ns33:ln>
        </p:spPr>
      </p:cxnSp>
      <p:cxnSp>
        <p:nvCxnSpPr>
          <p:cNvPr id="8" name="firm.office.branch.0"/>
          <p:cNvCxnSpPr/>
          <p:nvPr/>
        </p:nvCxnSpPr>
        <p:spPr>
          <ns34:xfrm xmlns:ns34="http://schemas.openxmlformats.org/drawingml/2006/main">
            <ns34:off x="1737000" y="1936800"/>
            <ns34:ext cx="1" cy="93600"/>
          </ns34:xfrm>
          <ns35:prstGeom xmlns:ns35="http://schemas.openxmlformats.org/drawingml/2006/main" prst="line">
            <ns35:avLst/>
          </ns35:prstGeom>
          <ns36:ln xmlns:ns36="http://schemas.openxmlformats.org/drawingml/2006/main" w="11430">
            <ns36:solidFill>
              <ns36:srgbClr val="005A9C"/>
            </ns36:solidFill>
          </ns36:ln>
        </p:spPr>
      </p:cxnSp>
      <p:sp>
        <p:nvSpPr>
          <p:cNvPr id="9" name="firm.office.0"/>
          <p:cNvSpPr/>
          <p:nvPr/>
        </p:nvSpPr>
        <p:spPr>
          <ns37:xfrm xmlns:ns37="http://schemas.openxmlformats.org/drawingml/2006/main">
            <ns37:off x="457200" y="2059200"/>
            <ns37:ext cx="2559600" cy="342000"/>
          </ns37:xfrm>
          <ns38:prstGeom xmlns:ns38="http://schemas.openxmlformats.org/drawingml/2006/main" prst="roundRect">
            <ns38:avLst/>
          </ns38:prstGeom>
          <ns39:solidFill xmlns:ns39="http://schemas.openxmlformats.org/drawingml/2006/main">
            <ns39:srgbClr val="EAF3FA"/>
          </ns39:solidFill>
          <ns40:ln xmlns:ns40="http://schemas.openxmlformats.org/drawingml/2006/main" w="9525">
            <ns40:solidFill>
              <ns40:srgbClr val="005A9C"/>
            </ns40:solidFill>
          </ns40:ln>
        </p:spPr>
        <p:txBody>
          <ns41:bodyPr xmlns:ns41="http://schemas.openxmlformats.org/drawingml/2006/main" wrap="square" lIns="61200" rIns="61200" tIns="61200" bIns="61200" anchor="ctr">
            <ns41:noAutofit/>
          </ns41:bodyPr>
          <ns42:lstStyle xmlns:ns42="http://schemas.openxmlformats.org/drawingml/2006/main"/>
          <ns43:p xmlns:ns43="http://schemas.openxmlformats.org/drawingml/2006/main">
            <ns43:pPr algn="l">
              <ns43:lnSpc>
                <ns43:spcPct val="105000"/>
              </ns43:lnSpc>
              <ns43:defRPr sz="1300" b="1">
                <ns43:solidFill>
                  <ns43:srgbClr val="005A9C"/>
                </ns43:solidFill>
                <ns43:latin typeface="Arial"/>
                <ns43:ea typeface="Arial"/>
                <ns43:cs typeface="Arial"/>
              </ns43:defRPr>
            </ns43:pPr>
            <ns43:r>
              <ns43:rPr sz="1300" b="1">
                <ns43:solidFill>
                  <ns43:srgbClr val="005A9C"/>
                </ns43:solidFill>
                <ns43:latin typeface="Arial"/>
                <ns43:ea typeface="Arial"/>
                <ns43:cs typeface="Arial"/>
              </ns43:rPr>
              <ns43:t>Front office</ns43:t>
            </ns43:r>
          </ns43:p>
        </p:txBody>
      </p:sp>
      <p:sp>
        <p:nvSpPr>
          <p:cNvPr id="10" name="firm.task.0.0"/>
          <p:cNvSpPr/>
          <p:nvPr/>
        </p:nvSpPr>
        <p:spPr>
          <ns44:xfrm xmlns:ns44="http://schemas.openxmlformats.org/drawingml/2006/main">
            <ns44:off x="457200" y="2512800"/>
            <ns44:ext cx="2559600" cy="468000"/>
          </ns44:xfrm>
          <ns45:prstGeom xmlns:ns45="http://schemas.openxmlformats.org/drawingml/2006/main" prst="rect">
            <ns45:avLst/>
          </ns45:prstGeom>
          <ns46:solidFill xmlns:ns46="http://schemas.openxmlformats.org/drawingml/2006/main">
            <ns46:srgbClr val="F3F7FA"/>
          </ns46:solidFill>
          <ns47:ln xmlns:ns47="http://schemas.openxmlformats.org/drawingml/2006/main" w="9525">
            <ns47:solidFill>
              <ns47:srgbClr val="65727D"/>
            </ns47:solidFill>
          </ns47:ln>
        </p:spPr>
        <p:txBody>
          <ns48:bodyPr xmlns:ns48="http://schemas.openxmlformats.org/drawingml/2006/main" wrap="square" lIns="61200" rIns="61200" tIns="61200" bIns="61200" anchor="ctr">
            <ns48:noAutofit/>
          </ns48:bodyPr>
          <ns49:lstStyle xmlns:ns49="http://schemas.openxmlformats.org/drawingml/2006/main"/>
          <ns50:p xmlns:ns50="http://schemas.openxmlformats.org/drawingml/2006/main">
            <ns50:pPr algn="l">
              <ns50:lnSpc>
                <ns50:spcPct val="105000"/>
              </ns50:lnSpc>
              <ns50:defRPr sz="1300" b="1">
                <ns50:solidFill>
                  <ns50:srgbClr val="65727D"/>
                </ns50:solidFill>
                <ns50:latin typeface="Arial"/>
                <ns50:ea typeface="Arial"/>
                <ns50:cs typeface="Arial"/>
              </ns50:defRPr>
            </ns50:pPr>
            <ns50:r>
              <ns50:rPr sz="1300" b="1">
                <ns50:solidFill>
                  <ns50:srgbClr val="65727D"/>
                </ns50:solidFill>
                <ns50:latin typeface="Arial"/>
                <ns50:ea typeface="Arial"/>
                <ns50:cs typeface="Arial"/>
              </ns50:rPr>
              <ns50:t>Research</ns50:t>
            </ns50:r>
          </ns50:p>
          <ns51:p xmlns:ns51="http://schemas.openxmlformats.org/drawingml/2006/main">
            <ns51:pPr algn="l">
              <ns51:lnSpc>
                <ns51:spcPct val="105000"/>
              </ns51:lnSpc>
              <ns51:defRPr sz="1050" b="0">
                <ns51:solidFill>
                  <ns51:srgbClr val="20262C"/>
                </ns51:solidFill>
                <ns51:latin typeface="Arial"/>
                <ns51:ea typeface="Arial"/>
                <ns51:cs typeface="Arial"/>
              </ns51:defRPr>
            </ns51:pPr>
            <ns51:r>
              <ns51:rPr sz="1050" b="0">
                <ns51:solidFill>
                  <ns51:srgbClr val="20262C"/>
                </ns51:solidFill>
                <ns51:latin typeface="Arial"/>
                <ns51:ea typeface="Arial"/>
                <ns51:cs typeface="Arial"/>
              </ns51:rPr>
              <ns51:t>Analyst: summary with sources</ns51:t>
            </ns51:r>
          </ns51:p>
        </p:txBody>
      </p:sp>
      <p:sp>
        <p:nvSpPr>
          <p:cNvPr id="11" name="firm.task.0.1"/>
          <p:cNvSpPr/>
          <p:nvPr/>
        </p:nvSpPr>
        <p:spPr>
          <ns52:xfrm xmlns:ns52="http://schemas.openxmlformats.org/drawingml/2006/main">
            <ns52:off x="457200" y="3034800"/>
            <ns52:ext cx="2559600" cy="468000"/>
          </ns52:xfrm>
          <ns53:prstGeom xmlns:ns53="http://schemas.openxmlformats.org/drawingml/2006/main" prst="rect">
            <ns53:avLst/>
          </ns53:prstGeom>
          <ns54:solidFill xmlns:ns54="http://schemas.openxmlformats.org/drawingml/2006/main">
            <ns54:srgbClr val="F3F7FA"/>
          </ns54:solidFill>
          <ns55:ln xmlns:ns55="http://schemas.openxmlformats.org/drawingml/2006/main" w="9525">
            <ns55:solidFill>
              <ns55:srgbClr val="65727D"/>
            </ns55:solidFill>
          </ns55:ln>
        </p:spPr>
        <p:txBody>
          <ns56:bodyPr xmlns:ns56="http://schemas.openxmlformats.org/drawingml/2006/main" wrap="square" lIns="61200" rIns="61200" tIns="61200" bIns="61200" anchor="ctr">
            <ns56:noAutofit/>
          </ns56:bodyPr>
          <ns57:lstStyle xmlns:ns57="http://schemas.openxmlformats.org/drawingml/2006/main"/>
          <ns58:p xmlns:ns58="http://schemas.openxmlformats.org/drawingml/2006/main">
            <ns58:pPr algn="l">
              <ns58:lnSpc>
                <ns58:spcPct val="105000"/>
              </ns58:lnSpc>
              <ns58:defRPr sz="1300" b="1">
                <ns58:solidFill>
                  <ns58:srgbClr val="65727D"/>
                </ns58:solidFill>
                <ns58:latin typeface="Arial"/>
                <ns58:ea typeface="Arial"/>
                <ns58:cs typeface="Arial"/>
              </ns58:defRPr>
            </ns58:pPr>
            <ns58:r>
              <ns58:rPr sz="1300" b="1">
                <ns58:solidFill>
                  <ns58:srgbClr val="65727D"/>
                </ns58:solidFill>
                <ns58:latin typeface="Arial"/>
                <ns58:ea typeface="Arial"/>
                <ns58:cs typeface="Arial"/>
              </ns58:rPr>
              <ns58:t>Trading support</ns58:t>
            </ns58:r>
          </ns58:p>
          <ns59:p xmlns:ns59="http://schemas.openxmlformats.org/drawingml/2006/main">
            <ns59:pPr algn="l">
              <ns59:lnSpc>
                <ns59:spcPct val="105000"/>
              </ns59:lnSpc>
              <ns59:defRPr sz="1050" b="0">
                <ns59:solidFill>
                  <ns59:srgbClr val="20262C"/>
                </ns59:solidFill>
                <ns59:latin typeface="Arial"/>
                <ns59:ea typeface="Arial"/>
                <ns59:cs typeface="Arial"/>
              </ns59:defRPr>
            </ns59:pPr>
            <ns59:r>
              <ns59:rPr sz="1050" b="0">
                <ns59:solidFill>
                  <ns59:srgbClr val="20262C"/>
                </ns59:solidFill>
                <ns59:latin typeface="Arial"/>
                <ns59:ea typeface="Arial"/>
                <ns59:cs typeface="Arial"/>
              </ns59:rPr>
              <ns59:t>Trader: holdings and quote summary</ns59:t>
            </ns59:r>
          </ns59:p>
        </p:txBody>
      </p:sp>
      <p:sp>
        <p:nvSpPr>
          <p:cNvPr id="12" name="firm.task.0.2"/>
          <p:cNvSpPr/>
          <p:nvPr/>
        </p:nvSpPr>
        <p:spPr>
          <ns60:xfrm xmlns:ns60="http://schemas.openxmlformats.org/drawingml/2006/main">
            <ns60:off x="457200" y="3556800"/>
            <ns60:ext cx="2559600" cy="468000"/>
          </ns60:xfrm>
          <ns61:prstGeom xmlns:ns61="http://schemas.openxmlformats.org/drawingml/2006/main" prst="rect">
            <ns61:avLst/>
          </ns61:prstGeom>
          <ns62:solidFill xmlns:ns62="http://schemas.openxmlformats.org/drawingml/2006/main">
            <ns62:srgbClr val="F3F7FA"/>
          </ns62:solidFill>
          <ns63:ln xmlns:ns63="http://schemas.openxmlformats.org/drawingml/2006/main" w="9525">
            <ns63:solidFill>
              <ns63:srgbClr val="65727D"/>
            </ns63:solidFill>
          </ns63:ln>
        </p:spPr>
        <p:txBody>
          <ns64:bodyPr xmlns:ns64="http://schemas.openxmlformats.org/drawingml/2006/main" wrap="square" lIns="61200" rIns="61200" tIns="61200" bIns="61200" anchor="ctr">
            <ns64:noAutofit/>
          </ns64:bodyPr>
          <ns65:lstStyle xmlns:ns65="http://schemas.openxmlformats.org/drawingml/2006/main"/>
          <ns66:p xmlns:ns66="http://schemas.openxmlformats.org/drawingml/2006/main">
            <ns66:pPr algn="l">
              <ns66:lnSpc>
                <ns66:spcPct val="105000"/>
              </ns66:lnSpc>
              <ns66:defRPr sz="1300" b="1">
                <ns66:solidFill>
                  <ns66:srgbClr val="65727D"/>
                </ns66:solidFill>
                <ns66:latin typeface="Arial"/>
                <ns66:ea typeface="Arial"/>
                <ns66:cs typeface="Arial"/>
              </ns66:defRPr>
            </ns66:pPr>
            <ns66:r>
              <ns66:rPr sz="1300" b="1">
                <ns66:solidFill>
                  <ns66:srgbClr val="65727D"/>
                </ns66:solidFill>
                <ns66:latin typeface="Arial"/>
                <ns66:ea typeface="Arial"/>
                <ns66:cs typeface="Arial"/>
              </ns66:rPr>
              <ns66:t>Client communications</ns66:t>
            </ns66:r>
          </ns66:p>
          <ns67:p xmlns:ns67="http://schemas.openxmlformats.org/drawingml/2006/main">
            <ns67:pPr algn="l">
              <ns67:lnSpc>
                <ns67:spcPct val="105000"/>
              </ns67:lnSpc>
              <ns67:defRPr sz="1050" b="0">
                <ns67:solidFill>
                  <ns67:srgbClr val="20262C"/>
                </ns67:solidFill>
                <ns67:latin typeface="Arial"/>
                <ns67:ea typeface="Arial"/>
                <ns67:cs typeface="Arial"/>
              </ns67:defRPr>
            </ns67:pPr>
            <ns67:r>
              <ns67:rPr sz="1050" b="0">
                <ns67:solidFill>
                  <ns67:srgbClr val="20262C"/>
                </ns67:solidFill>
                <ns67:latin typeface="Arial"/>
                <ns67:ea typeface="Arial"/>
                <ns67:cs typeface="Arial"/>
              </ns67:rPr>
              <ns67:t>Client team: approved material</ns67:t>
            </ns67:r>
          </ns67:p>
        </p:txBody>
      </p:sp>
      <p:cxnSp>
        <p:nvCxnSpPr>
          <p:cNvPr id="13" name="firm.office.branch.1"/>
          <p:cNvCxnSpPr/>
          <p:nvPr/>
        </p:nvCxnSpPr>
        <p:spPr>
          <ns68:xfrm xmlns:ns68="http://schemas.openxmlformats.org/drawingml/2006/main">
            <ns68:off x="4572000" y="1936800"/>
            <ns68:ext cx="1" cy="93600"/>
          </ns68:xfrm>
          <ns69:prstGeom xmlns:ns69="http://schemas.openxmlformats.org/drawingml/2006/main" prst="line">
            <ns69:avLst/>
          </ns69:prstGeom>
          <ns70:ln xmlns:ns70="http://schemas.openxmlformats.org/drawingml/2006/main" w="11430">
            <ns70:solidFill>
              <ns70:srgbClr val="005A9C"/>
            </ns70:solidFill>
          </ns70:ln>
        </p:spPr>
      </p:cxnSp>
      <p:sp>
        <p:nvSpPr>
          <p:cNvPr id="14" name="firm.office.1"/>
          <p:cNvSpPr/>
          <p:nvPr/>
        </p:nvSpPr>
        <p:spPr>
          <ns71:xfrm xmlns:ns71="http://schemas.openxmlformats.org/drawingml/2006/main">
            <ns71:off x="3294000" y="2059200"/>
            <ns71:ext cx="2556000" cy="342000"/>
          </ns71:xfrm>
          <ns72:prstGeom xmlns:ns72="http://schemas.openxmlformats.org/drawingml/2006/main" prst="roundRect">
            <ns72:avLst/>
          </ns72:prstGeom>
          <ns73:solidFill xmlns:ns73="http://schemas.openxmlformats.org/drawingml/2006/main">
            <ns73:srgbClr val="EAF3FA"/>
          </ns73:solidFill>
          <ns74:ln xmlns:ns74="http://schemas.openxmlformats.org/drawingml/2006/main" w="9525">
            <ns74:solidFill>
              <ns74:srgbClr val="005A9C"/>
            </ns74:solidFill>
          </ns74:ln>
        </p:spPr>
        <p:txBody>
          <ns75:bodyPr xmlns:ns75="http://schemas.openxmlformats.org/drawingml/2006/main" wrap="square" lIns="61200" rIns="61200" tIns="61200" bIns="61200" anchor="ctr">
            <ns75:noAutofit/>
          </ns75:bodyPr>
          <ns76:lstStyle xmlns:ns76="http://schemas.openxmlformats.org/drawingml/2006/main"/>
          <ns77:p xmlns:ns77="http://schemas.openxmlformats.org/drawingml/2006/main">
            <ns77:pPr algn="l">
              <ns77:lnSpc>
                <ns77:spcPct val="105000"/>
              </ns77:lnSpc>
              <ns77:defRPr sz="1300" b="1">
                <ns77:solidFill>
                  <ns77:srgbClr val="005A9C"/>
                </ns77:solidFill>
                <ns77:latin typeface="Arial"/>
                <ns77:ea typeface="Arial"/>
                <ns77:cs typeface="Arial"/>
              </ns77:defRPr>
            </ns77:pPr>
            <ns77:r>
              <ns77:rPr sz="1300" b="1">
                <ns77:solidFill>
                  <ns77:srgbClr val="005A9C"/>
                </ns77:solidFill>
                <ns77:latin typeface="Arial"/>
                <ns77:ea typeface="Arial"/>
                <ns77:cs typeface="Arial"/>
              </ns77:rPr>
              <ns77:t>Middle office</ns77:t>
            </ns77:r>
          </ns77:p>
        </p:txBody>
      </p:sp>
      <p:sp>
        <p:nvSpPr>
          <p:cNvPr id="15" name="firm.task.1.0"/>
          <p:cNvSpPr/>
          <p:nvPr/>
        </p:nvSpPr>
        <p:spPr>
          <ns78:xfrm xmlns:ns78="http://schemas.openxmlformats.org/drawingml/2006/main">
            <ns78:off x="3294000" y="2512800"/>
            <ns78:ext cx="2556000" cy="468000"/>
          </ns78:xfrm>
          <ns79:prstGeom xmlns:ns79="http://schemas.openxmlformats.org/drawingml/2006/main" prst="rect">
            <ns79:avLst/>
          </ns79:prstGeom>
          <ns80:solidFill xmlns:ns80="http://schemas.openxmlformats.org/drawingml/2006/main">
            <ns80:srgbClr val="F3F7FA"/>
          </ns80:solidFill>
          <ns81:ln xmlns:ns81="http://schemas.openxmlformats.org/drawingml/2006/main" w="9525">
            <ns81:solidFill>
              <ns81:srgbClr val="65727D"/>
            </ns81:solidFill>
          </ns81:ln>
        </p:spPr>
        <p:txBody>
          <ns82:bodyPr xmlns:ns82="http://schemas.openxmlformats.org/drawingml/2006/main" wrap="square" lIns="61200" rIns="61200" tIns="61200" bIns="61200" anchor="ctr">
            <ns82:noAutofit/>
          </ns82:bodyPr>
          <ns83:lstStyle xmlns:ns83="http://schemas.openxmlformats.org/drawingml/2006/main"/>
          <ns84:p xmlns:ns84="http://schemas.openxmlformats.org/drawingml/2006/main">
            <ns84:pPr algn="l">
              <ns84:lnSpc>
                <ns84:spcPct val="105000"/>
              </ns84:lnSpc>
              <ns84:defRPr sz="1300" b="1">
                <ns84:solidFill>
                  <ns84:srgbClr val="65727D"/>
                </ns84:solidFill>
                <ns84:latin typeface="Arial"/>
                <ns84:ea typeface="Arial"/>
                <ns84:cs typeface="Arial"/>
              </ns84:defRPr>
            </ns84:pPr>
            <ns84:r>
              <ns84:rPr sz="1300" b="1">
                <ns84:solidFill>
                  <ns84:srgbClr val="65727D"/>
                </ns84:solidFill>
                <ns84:latin typeface="Arial"/>
                <ns84:ea typeface="Arial"/>
                <ns84:cs typeface="Arial"/>
              </ns84:rPr>
              <ns84:t>Risk analysis</ns84:t>
            </ns84:r>
          </ns84:p>
          <ns85:p xmlns:ns85="http://schemas.openxmlformats.org/drawingml/2006/main">
            <ns85:pPr algn="l">
              <ns85:lnSpc>
                <ns85:spcPct val="105000"/>
              </ns85:lnSpc>
              <ns85:defRPr sz="1050" b="0">
                <ns85:solidFill>
                  <ns85:srgbClr val="20262C"/>
                </ns85:solidFill>
                <ns85:latin typeface="Arial"/>
                <ns85:ea typeface="Arial"/>
                <ns85:cs typeface="Arial"/>
              </ns85:defRPr>
            </ns85:pPr>
            <ns85:r>
              <ns85:rPr sz="1050" b="0">
                <ns85:solidFill>
                  <ns85:srgbClr val="20262C"/>
                </ns85:solidFill>
                <ns85:latin typeface="Arial"/>
                <ns85:ea typeface="Arial"/>
                <ns85:cs typeface="Arial"/>
              </ns85:rPr>
              <ns85:t>Risk team: assessment and follow-up</ns85:t>
            </ns85:r>
          </ns85:p>
        </p:txBody>
      </p:sp>
      <p:cxnSp>
        <p:nvCxnSpPr>
          <p:cNvPr id="16" name="firm.office.branch.2"/>
          <p:cNvCxnSpPr/>
          <p:nvPr/>
        </p:nvCxnSpPr>
        <p:spPr>
          <ns86:xfrm xmlns:ns86="http://schemas.openxmlformats.org/drawingml/2006/main">
            <ns86:off x="7407000" y="1936800"/>
            <ns86:ext cx="1" cy="93600"/>
          </ns86:xfrm>
          <ns87:prstGeom xmlns:ns87="http://schemas.openxmlformats.org/drawingml/2006/main" prst="line">
            <ns87:avLst/>
          </ns87:prstGeom>
          <ns88:ln xmlns:ns88="http://schemas.openxmlformats.org/drawingml/2006/main" w="11430">
            <ns88:solidFill>
              <ns88:srgbClr val="005A9C"/>
            </ns88:solidFill>
          </ns88:ln>
        </p:spPr>
      </p:cxnSp>
      <p:sp>
        <p:nvSpPr>
          <p:cNvPr id="17" name="firm.office.2"/>
          <p:cNvSpPr/>
          <p:nvPr/>
        </p:nvSpPr>
        <p:spPr>
          <ns89:xfrm xmlns:ns89="http://schemas.openxmlformats.org/drawingml/2006/main">
            <ns89:off x="6127200" y="2059200"/>
            <ns89:ext cx="2559600" cy="342000"/>
          </ns89:xfrm>
          <ns90:prstGeom xmlns:ns90="http://schemas.openxmlformats.org/drawingml/2006/main" prst="roundRect">
            <ns90:avLst/>
          </ns90:prstGeom>
          <ns91:solidFill xmlns:ns91="http://schemas.openxmlformats.org/drawingml/2006/main">
            <ns91:srgbClr val="EAF3FA"/>
          </ns91:solidFill>
          <ns92:ln xmlns:ns92="http://schemas.openxmlformats.org/drawingml/2006/main" w="9525">
            <ns92:solidFill>
              <ns92:srgbClr val="005A9C"/>
            </ns92:solidFill>
          </ns92:ln>
        </p:spPr>
        <p:txBody>
          <ns93:bodyPr xmlns:ns93="http://schemas.openxmlformats.org/drawingml/2006/main" wrap="square" lIns="61200" rIns="61200" tIns="61200" bIns="61200" anchor="ctr">
            <ns93:noAutofit/>
          </ns93:bodyPr>
          <ns94:lstStyle xmlns:ns94="http://schemas.openxmlformats.org/drawingml/2006/main"/>
          <ns95:p xmlns:ns95="http://schemas.openxmlformats.org/drawingml/2006/main">
            <ns95:pPr algn="l">
              <ns95:lnSpc>
                <ns95:spcPct val="105000"/>
              </ns95:lnSpc>
              <ns95:defRPr sz="1300" b="1">
                <ns95:solidFill>
                  <ns95:srgbClr val="005A9C"/>
                </ns95:solidFill>
                <ns95:latin typeface="Arial"/>
                <ns95:ea typeface="Arial"/>
                <ns95:cs typeface="Arial"/>
              </ns95:defRPr>
            </ns95:pPr>
            <ns95:r>
              <ns95:rPr sz="1300" b="1">
                <ns95:solidFill>
                  <ns95:srgbClr val="005A9C"/>
                </ns95:solidFill>
                <ns95:latin typeface="Arial"/>
                <ns95:ea typeface="Arial"/>
                <ns95:cs typeface="Arial"/>
              </ns95:rPr>
              <ns95:t>Back office</ns95:t>
            </ns95:r>
          </ns95:p>
        </p:txBody>
      </p:sp>
      <p:sp>
        <p:nvSpPr>
          <p:cNvPr id="18" name="firm.task.2.0"/>
          <p:cNvSpPr/>
          <p:nvPr/>
        </p:nvSpPr>
        <p:spPr>
          <ns96:xfrm xmlns:ns96="http://schemas.openxmlformats.org/drawingml/2006/main">
            <ns96:off x="6127200" y="2512800"/>
            <ns96:ext cx="2559600" cy="468000"/>
          </ns96:xfrm>
          <ns97:prstGeom xmlns:ns97="http://schemas.openxmlformats.org/drawingml/2006/main" prst="rect">
            <ns97:avLst/>
          </ns97:prstGeom>
          <ns98:solidFill xmlns:ns98="http://schemas.openxmlformats.org/drawingml/2006/main">
            <ns98:srgbClr val="F3F7FA"/>
          </ns98:solidFill>
          <ns99:ln xmlns:ns99="http://schemas.openxmlformats.org/drawingml/2006/main" w="9525">
            <ns99:solidFill>
              <ns99:srgbClr val="65727D"/>
            </ns99:solidFill>
          </ns99:ln>
        </p:spPr>
        <p:txBody>
          <ns100:bodyPr xmlns:ns100="http://schemas.openxmlformats.org/drawingml/2006/main" wrap="square" lIns="61200" rIns="61200" tIns="61200" bIns="61200" anchor="ctr">
            <ns100:noAutofit/>
          </ns100:bodyPr>
          <ns101:lstStyle xmlns:ns101="http://schemas.openxmlformats.org/drawingml/2006/main"/>
          <ns102:p xmlns:ns102="http://schemas.openxmlformats.org/drawingml/2006/main">
            <ns102:pPr algn="l">
              <ns102:lnSpc>
                <ns102:spcPct val="105000"/>
              </ns102:lnSpc>
              <ns102:defRPr sz="1300" b="1">
                <ns102:solidFill>
                  <ns102:srgbClr val="65727D"/>
                </ns102:solidFill>
                <ns102:latin typeface="Arial"/>
                <ns102:ea typeface="Arial"/>
                <ns102:cs typeface="Arial"/>
              </ns102:defRPr>
            </ns102:pPr>
            <ns102:r>
              <ns102:rPr sz="1300" b="1">
                <ns102:solidFill>
                  <ns102:srgbClr val="65727D"/>
                </ns102:solidFill>
                <ns102:latin typeface="Arial"/>
                <ns102:ea typeface="Arial"/>
                <ns102:cs typeface="Arial"/>
              </ns102:rPr>
              <ns102:t>Record entry</ns102:t>
            </ns102:r>
          </ns102:p>
          <ns103:p xmlns:ns103="http://schemas.openxmlformats.org/drawingml/2006/main">
            <ns103:pPr algn="l">
              <ns103:lnSpc>
                <ns103:spcPct val="105000"/>
              </ns103:lnSpc>
              <ns103:defRPr sz="1050" b="0">
                <ns103:solidFill>
                  <ns103:srgbClr val="20262C"/>
                </ns103:solidFill>
                <ns103:latin typeface="Arial"/>
                <ns103:ea typeface="Arial"/>
                <ns103:cs typeface="Arial"/>
              </ns103:defRPr>
            </ns103:pPr>
            <ns103:r>
              <ns103:rPr sz="1050" b="0">
                <ns103:solidFill>
                  <ns103:srgbClr val="20262C"/>
                </ns103:solidFill>
                <ns103:latin typeface="Arial"/>
                <ns103:ea typeface="Arial"/>
                <ns103:cs typeface="Arial"/>
              </ns103:rPr>
              <ns103:t>Operations: validated records</ns103:t>
            </ns103:r>
          </ns103:p>
        </p:txBody>
      </p:sp>
      <p:sp>
        <p:nvSpPr>
          <p:cNvPr id="19" name="firm.task.2.1"/>
          <p:cNvSpPr/>
          <p:nvPr/>
        </p:nvSpPr>
        <p:spPr>
          <ns104:xfrm xmlns:ns104="http://schemas.openxmlformats.org/drawingml/2006/main">
            <ns104:off x="6127200" y="3034800"/>
            <ns104:ext cx="2559600" cy="468000"/>
          </ns104:xfrm>
          <ns105:prstGeom xmlns:ns105="http://schemas.openxmlformats.org/drawingml/2006/main" prst="rect">
            <ns105:avLst/>
          </ns105:prstGeom>
          <ns106:solidFill xmlns:ns106="http://schemas.openxmlformats.org/drawingml/2006/main">
            <ns106:srgbClr val="F3F7FA"/>
          </ns106:solidFill>
          <ns107:ln xmlns:ns107="http://schemas.openxmlformats.org/drawingml/2006/main" w="9525">
            <ns107:solidFill>
              <ns107:srgbClr val="65727D"/>
            </ns107:solidFill>
          </ns107:ln>
        </p:spPr>
        <p:txBody>
          <ns108:bodyPr xmlns:ns108="http://schemas.openxmlformats.org/drawingml/2006/main" wrap="square" lIns="61200" rIns="61200" tIns="61200" bIns="61200" anchor="ctr">
            <ns108:noAutofit/>
          </ns108:bodyPr>
          <ns109:lstStyle xmlns:ns109="http://schemas.openxmlformats.org/drawingml/2006/main"/>
          <ns110:p xmlns:ns110="http://schemas.openxmlformats.org/drawingml/2006/main">
            <ns110:pPr algn="l">
              <ns110:lnSpc>
                <ns110:spcPct val="105000"/>
              </ns110:lnSpc>
              <ns110:defRPr sz="1300" b="1">
                <ns110:solidFill>
                  <ns110:srgbClr val="65727D"/>
                </ns110:solidFill>
                <ns110:latin typeface="Arial"/>
                <ns110:ea typeface="Arial"/>
                <ns110:cs typeface="Arial"/>
              </ns110:defRPr>
            </ns110:pPr>
            <ns110:r>
              <ns110:rPr sz="1300" b="1">
                <ns110:solidFill>
                  <ns110:srgbClr val="65727D"/>
                </ns110:solidFill>
                <ns110:latin typeface="Arial"/>
                <ns110:ea typeface="Arial"/>
                <ns110:cs typeface="Arial"/>
              </ns110:rPr>
              <ns110:t>Tool development</ns110:t>
            </ns110:r>
          </ns110:p>
          <ns111:p xmlns:ns111="http://schemas.openxmlformats.org/drawingml/2006/main">
            <ns111:pPr algn="l">
              <ns111:lnSpc>
                <ns111:spcPct val="105000"/>
              </ns111:lnSpc>
              <ns111:defRPr sz="1050" b="0">
                <ns111:solidFill>
                  <ns111:srgbClr val="20262C"/>
                </ns111:solidFill>
                <ns111:latin typeface="Arial"/>
                <ns111:ea typeface="Arial"/>
                <ns111:cs typeface="Arial"/>
              </ns111:defRPr>
            </ns111:pPr>
            <ns111:r>
              <ns111:rPr sz="1050" b="0">
                <ns111:solidFill>
                  <ns111:srgbClr val="20262C"/>
                </ns111:solidFill>
                <ns111:latin typeface="Arial"/>
                <ns111:ea typeface="Arial"/>
                <ns111:cs typeface="Arial"/>
              </ns111:rPr>
              <ns111:t>Developer: code and tests</ns111:t>
            </ns111:r>
          </ns111:p>
        </p:txBody>
      </p:sp>
      <p:sp>
        <p:nvSpPr>
          <p:cNvPr id="20" name="human.shared.judgment"/>
          <p:cNvSpPr/>
          <p:nvPr/>
        </p:nvSpPr>
        <p:spPr>
          <ns112:xfrm xmlns:ns112="http://schemas.openxmlformats.org/drawingml/2006/main">
            <ns112:off x="457200" y="4320000"/>
            <ns112:ext cx="8229600" cy="234000"/>
          </ns112:xfrm>
          <ns113:prstGeom xmlns:ns113="http://schemas.openxmlformats.org/drawingml/2006/main" prst="rect">
            <ns113:avLst/>
          </ns113:prstGeom>
          <ns114:solidFill xmlns:ns114="http://schemas.openxmlformats.org/drawingml/2006/main">
            <ns114:srgbClr val="F3F7FA"/>
          </ns114:solidFill>
          <ns115:ln xmlns:ns115="http://schemas.openxmlformats.org/drawingml/2006/main" w="9525">
            <ns115:solidFill>
              <ns115:srgbClr val="65727D"/>
            </ns115:solidFill>
          </ns115:ln>
        </p:spPr>
        <p:txBody>
          <ns116:bodyPr xmlns:ns116="http://schemas.openxmlformats.org/drawingml/2006/main" wrap="square" lIns="14400" rIns="14400" tIns="14400" bIns="14400" anchor="ctr">
            <ns116:noAutofit/>
          </ns116:bodyPr>
          <ns117:lstStyle xmlns:ns117="http://schemas.openxmlformats.org/drawingml/2006/main"/>
          <ns118:p xmlns:ns118="http://schemas.openxmlformats.org/drawingml/2006/main">
            <ns118:pPr algn="ctr">
              <ns118:lnSpc>
                <ns118:spcPct val="105000"/>
              </ns118:lnSpc>
              <ns118:defRPr sz="1200" b="1">
                <ns118:solidFill>
                  <ns118:srgbClr val="20262C"/>
                </ns118:solidFill>
                <ns118:latin typeface="Arial"/>
                <ns118:ea typeface="Arial"/>
                <ns118:cs typeface="Arial"/>
              </ns118:defRPr>
            </ns118:pPr>
            <ns118:r>
              <ns118:rPr sz="1200" b="1">
                <ns118:solidFill>
                  <ns118:srgbClr val="20262C"/>
                </ns118:solidFill>
                <ns118:latin typeface="Arial"/>
                <ns118:ea typeface="Arial"/>
                <ns118:cs typeface="Arial"/>
              </ns118:rPr>
              <ns118:t>Colleagues verify outputs and exercise professional judgment</ns118:t>
            </ns118:r>
          </ns118:p>
        </p:txBody>
      </p:sp>
    </p:spTree>
    <p:extLst>
      <p:ext uri="{BB962C8B-B14F-4D97-AF65-F5344CB8AC3E}">
        <p14:creationId xmlns:p14="http://schemas.microsoft.com/office/powerpoint/2010/main" val="170129515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Information Flows Across the Firm</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Company A Information and the Quarterly Client Update</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7"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8"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9"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communications</ns56:t>
            </ns56:r>
          </ns56:p>
        </p:txBody>
      </p:sp>
      <p:sp>
        <p:nvSpPr>
          <p:cNvPr id="12"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3"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4" name="map.task.focus.risk"/>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5" name="map.task.risk"/>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Risk analysis</ns77:t>
            </ns77:r>
          </ns77:p>
        </p:txBody>
      </p:sp>
      <p:sp>
        <p:nvSpPr>
          <p:cNvPr id="16" name="map.office.2"/>
          <p:cNvSpPr/>
          <p:nvPr/>
        </p:nvSpPr>
        <p:spPr>
          <ns78:xfrm xmlns:ns78="http://schemas.openxmlformats.org/drawingml/2006/main">
            <ns78:off x="486000" y="3391200"/>
            <ns78:ext cx="1692000" cy="1800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5000"/>
              </ns84:lnSpc>
              <ns84:defRPr sz="1100" b="1">
                <ns84:solidFill>
                  <ns84:srgbClr val="005A9C"/>
                </ns84:solidFill>
                <ns84:latin typeface="Arial"/>
                <ns84:ea typeface="Arial"/>
                <ns84:cs typeface="Arial"/>
              </ns84:defRPr>
            </ns84:pPr>
            <ns84:r>
              <ns84:rPr sz="1100" b="1">
                <ns84:solidFill>
                  <ns84:srgbClr val="005A9C"/>
                </ns84:solidFill>
                <ns84:latin typeface="Arial"/>
                <ns84:ea typeface="Arial"/>
                <ns84:cs typeface="Arial"/>
              </ns84:rPr>
              <ns84:t>Back office</ns84:t>
            </ns84:r>
          </ns84:p>
        </p:txBody>
      </p:sp>
      <p:cxnSp>
        <p:nvCxnSpPr>
          <p:cNvPr id="17" name="map.office.rule.2"/>
          <p:cNvCxnSpPr/>
          <p:nvPr/>
        </p:nvCxnSpPr>
        <p:spPr>
          <ns85:xfrm xmlns:ns85="http://schemas.openxmlformats.org/drawingml/2006/main">
            <ns85:off x="457200" y="3610800"/>
            <ns85:ext cx="1742400" cy="1"/>
          </ns85:xfrm>
          <ns86:prstGeom xmlns:ns86="http://schemas.openxmlformats.org/drawingml/2006/main" prst="line">
            <ns86:avLst/>
          </ns86:prstGeom>
          <ns87:ln xmlns:ns87="http://schemas.openxmlformats.org/drawingml/2006/main" w="7620">
            <ns87:solidFill>
              <ns87:srgbClr val="005A9C"/>
            </ns87:solidFill>
          </ns87:ln>
        </p:spPr>
      </p:cxnSp>
      <p:sp>
        <p:nvSpPr>
          <p:cNvPr id="18" name="map.task.focus.records"/>
          <p:cNvSpPr/>
          <p:nvPr/>
        </p:nvSpPr>
        <p:spPr>
          <ns88:xfrm xmlns:ns88="http://schemas.openxmlformats.org/drawingml/2006/main">
            <ns88:off x="486000" y="3686400"/>
            <ns88:ext cx="1677600" cy="176400"/>
          </ns88:xfrm>
          <ns89:prstGeom xmlns:ns89="http://schemas.openxmlformats.org/drawingml/2006/main" prst="rect">
            <ns89:avLst/>
          </ns89:prstGeom>
          <ns90:solidFill xmlns:ns90="http://schemas.openxmlformats.org/drawingml/2006/main">
            <ns90:srgbClr val="D9EAF7"/>
          </ns90:solidFill>
          <ns91:ln xmlns:ns91="http://schemas.openxmlformats.org/drawingml/2006/main" w="0">
            <ns91:noFill/>
          </ns91:ln>
        </p:spPr>
      </p:sp>
      <p:sp>
        <p:nvSpPr>
          <p:cNvPr id="19" name="map.task.records"/>
          <p:cNvSpPr/>
          <p:nvPr/>
        </p:nvSpPr>
        <p:spPr>
          <ns92:xfrm xmlns:ns92="http://schemas.openxmlformats.org/drawingml/2006/main">
            <ns92:off x="554400" y="3690000"/>
            <ns92:ext cx="1562400" cy="165600"/>
          </ns92:xfrm>
          <ns93:prstGeom xmlns:ns93="http://schemas.openxmlformats.org/drawingml/2006/main" prst="rect">
            <ns93:avLst/>
          </ns93:prstGeom>
          <ns94:noFill xmlns:ns94="http://schemas.openxmlformats.org/drawingml/2006/main"/>
          <ns95:ln xmlns:ns95="http://schemas.openxmlformats.org/drawingml/2006/main" w="0">
            <ns95:noFill/>
          </ns95:ln>
        </p:spPr>
        <p:txBody>
          <ns96:bodyPr xmlns:ns96="http://schemas.openxmlformats.org/drawingml/2006/main" wrap="square" lIns="0" rIns="0" tIns="0" bIns="0" anchor="t">
            <ns96:noAutofit/>
          </ns96:bodyPr>
          <ns97:lstStyle xmlns:ns97="http://schemas.openxmlformats.org/drawingml/2006/main"/>
          <ns98:p xmlns:ns98="http://schemas.openxmlformats.org/drawingml/2006/main">
            <ns98:pPr algn="l">
              <ns98:lnSpc>
                <ns98:spcPct val="105000"/>
              </ns98:lnSpc>
              <ns98:defRPr sz="1050" b="1">
                <ns98:solidFill>
                  <ns98:srgbClr val="005A9C"/>
                </ns98:solidFill>
                <ns98:latin typeface="Arial"/>
                <ns98:ea typeface="Arial"/>
                <ns98:cs typeface="Arial"/>
              </ns98:defRPr>
            </ns98:pPr>
            <ns98:r>
              <ns98:rPr sz="1050" b="1">
                <ns98:solidFill>
                  <ns98:srgbClr val="005A9C"/>
                </ns98:solidFill>
                <ns98:latin typeface="Arial"/>
                <ns98:ea typeface="Arial"/>
                <ns98:cs typeface="Arial"/>
              </ns98:rPr>
              <ns98:t>Record entry</ns98:t>
            </ns98:r>
          </ns98:p>
        </p:txBody>
      </p:sp>
      <p:sp>
        <p:nvSpPr>
          <p:cNvPr id="20" name="map.task.dev"/>
          <p:cNvSpPr/>
          <p:nvPr/>
        </p:nvSpPr>
        <p:spPr>
          <ns99:xfrm xmlns:ns99="http://schemas.openxmlformats.org/drawingml/2006/main">
            <ns99:off x="554400" y="3888000"/>
            <ns99:ext cx="1562400" cy="165600"/>
          </ns99:xfrm>
          <ns100:prstGeom xmlns:ns100="http://schemas.openxmlformats.org/drawingml/2006/main" prst="rect">
            <ns100:avLst/>
          </ns100:prstGeom>
          <ns101:noFill xmlns:ns101="http://schemas.openxmlformats.org/drawingml/2006/main"/>
          <ns102:ln xmlns:ns102="http://schemas.openxmlformats.org/drawingml/2006/main" w="0">
            <ns102:noFill/>
          </ns102:ln>
        </p:spPr>
        <p:txBody>
          <ns103:bodyPr xmlns:ns103="http://schemas.openxmlformats.org/drawingml/2006/main" wrap="square" lIns="0" rIns="0" tIns="0" bIns="0" anchor="t">
            <ns103:noAutofit/>
          </ns103:bodyPr>
          <ns104:lstStyle xmlns:ns104="http://schemas.openxmlformats.org/drawingml/2006/main"/>
          <ns105:p xmlns:ns105="http://schemas.openxmlformats.org/drawingml/2006/main">
            <ns105:pPr algn="l">
              <ns105:lnSpc>
                <ns105:spcPct val="105000"/>
              </ns105:lnSpc>
              <ns105:defRPr sz="1050" b="0">
                <ns105:solidFill>
                  <ns105:srgbClr val="65727D"/>
                </ns105:solidFill>
                <ns105:latin typeface="Arial"/>
                <ns105:ea typeface="Arial"/>
                <ns105:cs typeface="Arial"/>
              </ns105:defRPr>
            </ns105:pPr>
            <ns105:r>
              <ns105:rPr sz="1050" b="0">
                <ns105:solidFill>
                  <ns105:srgbClr val="65727D"/>
                </ns105:solidFill>
                <ns105:latin typeface="Arial"/>
                <ns105:ea typeface="Arial"/>
                <ns105:cs typeface="Arial"/>
              </ns105:rPr>
              <ns105:t>Tool development</ns105:t>
            </ns105:r>
          </ns105:p>
        </p:txBody>
      </p:sp>
      <p:sp>
        <p:nvSpPr>
          <p:cNvPr id="21" name="cross.office.0"/>
          <p:cNvSpPr/>
          <p:nvPr/>
        </p:nvSpPr>
        <p:spPr>
          <ns124:xfrm xmlns:ns124="http://schemas.openxmlformats.org/drawingml/2006/main">
            <ns124:off x="2422800" y="1476000"/>
            <ns124:ext cx="2005200" cy="216000"/>
          </ns124:xfrm>
          <ns125:prstGeom xmlns:ns125="http://schemas.openxmlformats.org/drawingml/2006/main" prst="rect">
            <ns125:avLst/>
          </ns125:prstGeom>
          <ns126:noFill xmlns:ns126="http://schemas.openxmlformats.org/drawingml/2006/main"/>
          <ns127:ln xmlns:ns127="http://schemas.openxmlformats.org/drawingml/2006/main" w="0">
            <ns127:noFill/>
          </ns127:ln>
        </p:spPr>
        <p:txBody>
          <ns128:bodyPr xmlns:ns128="http://schemas.openxmlformats.org/drawingml/2006/main" wrap="square" lIns="0" rIns="0" tIns="0" bIns="0" anchor="t">
            <ns128:noAutofit/>
          </ns128:bodyPr>
          <ns129:lstStyle xmlns:ns129="http://schemas.openxmlformats.org/drawingml/2006/main"/>
          <ns130:p xmlns:ns130="http://schemas.openxmlformats.org/drawingml/2006/main">
            <ns130:pPr algn="l">
              <ns130:lnSpc>
                <ns130:spcPct val="105000"/>
              </ns130:lnSpc>
              <ns130:defRPr sz="1300" b="0">
                <ns130:solidFill>
                  <ns130:srgbClr val="005A9C"/>
                </ns130:solidFill>
                <ns130:latin typeface="Arial"/>
                <ns130:ea typeface="Arial"/>
                <ns130:cs typeface="Arial"/>
              </ns130:defRPr>
            </ns130:pPr>
            <ns130:r>
              <ns130:rPr sz="1300" b="0">
                <ns130:solidFill>
                  <ns130:srgbClr val="005A9C"/>
                </ns130:solidFill>
                <ns130:latin typeface="Arial"/>
                <ns130:ea typeface="Arial"/>
                <ns130:cs typeface="Arial"/>
              </ns130:rPr>
              <ns130:t>Front office</ns130:t>
            </ns130:r>
          </ns130:p>
        </p:txBody>
      </p:sp>
      <p:sp>
        <p:nvSpPr>
          <p:cNvPr id="22" name="cross.office.1"/>
          <p:cNvSpPr/>
          <p:nvPr/>
        </p:nvSpPr>
        <p:spPr>
          <ns131:xfrm xmlns:ns131="http://schemas.openxmlformats.org/drawingml/2006/main">
            <ns131:off x="4554000" y="1476000"/>
            <ns131:ext cx="2005200" cy="216000"/>
          </ns131:xfrm>
          <ns132:prstGeom xmlns:ns132="http://schemas.openxmlformats.org/drawingml/2006/main" prst="rect">
            <ns132:avLst/>
          </ns132:prstGeom>
          <ns133:noFill xmlns:ns133="http://schemas.openxmlformats.org/drawingml/2006/main"/>
          <ns134:ln xmlns:ns134="http://schemas.openxmlformats.org/drawingml/2006/main" w="0">
            <ns134:noFill/>
          </ns134:ln>
        </p:spPr>
        <p:txBody>
          <ns135:bodyPr xmlns:ns135="http://schemas.openxmlformats.org/drawingml/2006/main" wrap="square" lIns="0" rIns="0" tIns="0" bIns="0" anchor="t">
            <ns135:noAutofit/>
          </ns135:bodyPr>
          <ns136:lstStyle xmlns:ns136="http://schemas.openxmlformats.org/drawingml/2006/main"/>
          <ns137:p xmlns:ns137="http://schemas.openxmlformats.org/drawingml/2006/main">
            <ns137:pPr algn="l">
              <ns137:lnSpc>
                <ns137:spcPct val="105000"/>
              </ns137:lnSpc>
              <ns137:defRPr sz="1300" b="0">
                <ns137:solidFill>
                  <ns137:srgbClr val="005A9C"/>
                </ns137:solidFill>
                <ns137:latin typeface="Arial"/>
                <ns137:ea typeface="Arial"/>
                <ns137:cs typeface="Arial"/>
              </ns137:defRPr>
            </ns137:pPr>
            <ns137:r>
              <ns137:rPr sz="1300" b="0">
                <ns137:solidFill>
                  <ns137:srgbClr val="005A9C"/>
                </ns137:solidFill>
                <ns137:latin typeface="Arial"/>
                <ns137:ea typeface="Arial"/>
                <ns137:cs typeface="Arial"/>
              </ns137:rPr>
              <ns137:t>Middle office</ns137:t>
            </ns137:r>
          </ns137:p>
        </p:txBody>
      </p:sp>
      <p:sp>
        <p:nvSpPr>
          <p:cNvPr id="23" name="cross.office.2"/>
          <p:cNvSpPr/>
          <p:nvPr/>
        </p:nvSpPr>
        <p:spPr>
          <ns138:xfrm xmlns:ns138="http://schemas.openxmlformats.org/drawingml/2006/main">
            <ns138:off x="6685200" y="1476000"/>
            <ns138:ext cx="2001600" cy="2160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5000"/>
              </ns144:lnSpc>
              <ns144:defRPr sz="1300" b="0">
                <ns144:solidFill>
                  <ns144:srgbClr val="005A9C"/>
                </ns144:solidFill>
                <ns144:latin typeface="Arial"/>
                <ns144:ea typeface="Arial"/>
                <ns144:cs typeface="Arial"/>
              </ns144:defRPr>
            </ns144:pPr>
            <ns144:r>
              <ns144:rPr sz="1300" b="0">
                <ns144:solidFill>
                  <ns144:srgbClr val="005A9C"/>
                </ns144:solidFill>
                <ns144:latin typeface="Arial"/>
                <ns144:ea typeface="Arial"/>
                <ns144:cs typeface="Arial"/>
              </ns144:rPr>
              <ns144:t>Back office</ns144:t>
            </ns144:r>
          </ns144:p>
        </p:txBody>
      </p:sp>
      <p:sp>
        <p:nvSpPr>
          <p:cNvPr id="24" name="story.issuer.label"/>
          <p:cNvSpPr/>
          <p:nvPr/>
        </p:nvSpPr>
        <p:spPr>
          <ns145:xfrm xmlns:ns145="http://schemas.openxmlformats.org/drawingml/2006/main">
            <ns145:off x="2422800" y="1800000"/>
            <ns145:ext cx="6264000" cy="180000"/>
          </ns145:xfrm>
          <ns146:prstGeom xmlns:ns146="http://schemas.openxmlformats.org/drawingml/2006/main" prst="rect">
            <ns146:avLst/>
          </ns146:prstGeom>
          <ns147:noFill xmlns:ns147="http://schemas.openxmlformats.org/drawingml/2006/main"/>
          <ns148:ln xmlns:ns148="http://schemas.openxmlformats.org/drawingml/2006/main" w="0">
            <ns148:noFill/>
          </ns148:ln>
        </p:spPr>
        <p:txBody>
          <ns149:bodyPr xmlns:ns149="http://schemas.openxmlformats.org/drawingml/2006/main" wrap="square" lIns="0" rIns="0" tIns="0" bIns="0" anchor="t">
            <ns149:noAutofit/>
          </ns149:bodyPr>
          <ns150:lstStyle xmlns:ns150="http://schemas.openxmlformats.org/drawingml/2006/main"/>
          <ns151:p xmlns:ns151="http://schemas.openxmlformats.org/drawingml/2006/main">
            <ns151:pPr algn="l">
              <ns151:lnSpc>
                <ns151:spcPct val="105000"/>
              </ns151:lnSpc>
              <ns151:defRPr sz="1200" b="0">
                <ns151:solidFill>
                  <ns151:srgbClr val="317F7B"/>
                </ns151:solidFill>
                <ns151:latin typeface="Arial"/>
                <ns151:ea typeface="Arial"/>
                <ns151:cs typeface="Arial"/>
              </ns151:defRPr>
            </ns151:pPr>
            <ns151:r>
              <ns151:rPr sz="1200" b="0">
                <ns151:solidFill>
                  <ns151:srgbClr val="317F7B"/>
                </ns151:solidFill>
                <ns151:latin typeface="Arial"/>
                <ns151:ea typeface="Arial"/>
                <ns151:cs typeface="Arial"/>
              </ns151:rPr>
              <ns151:t>Company A information</ns151:t>
            </ns151:r>
          </ns151:p>
        </p:txBody>
      </p:sp>
      <p:sp>
        <p:nvSpPr>
          <p:cNvPr id="25" name="issuer.office.state.0"/>
          <p:cNvSpPr/>
          <p:nvPr/>
        </p:nvSpPr>
        <p:spPr>
          <ns152:xfrm xmlns:ns152="http://schemas.openxmlformats.org/drawingml/2006/main">
            <ns152:off x="2422800" y="2070000"/>
            <ns152:ext cx="2005200" cy="846000"/>
          </ns152:xfrm>
          <ns153:prstGeom xmlns:ns153="http://schemas.openxmlformats.org/drawingml/2006/main" prst="rect">
            <ns153:avLst/>
          </ns153:prstGeom>
          <ns154:solidFill xmlns:ns154="http://schemas.openxmlformats.org/drawingml/2006/main">
            <ns154:srgbClr val="EFF6F4"/>
          </ns154:solidFill>
          <ns155:ln xmlns:ns155="http://schemas.openxmlformats.org/drawingml/2006/main" w="9525">
            <ns155:solidFill>
              <ns155:srgbClr val="317F7B"/>
            </ns155:solidFill>
          </ns155:ln>
        </p:spPr>
        <p:txBody>
          <ns156:bodyPr xmlns:ns156="http://schemas.openxmlformats.org/drawingml/2006/main" wrap="square" lIns="61200" rIns="61200" tIns="61200" bIns="61200" anchor="ctr">
            <ns156:noAutofit/>
          </ns156:bodyPr>
          <ns157:lstStyle xmlns:ns157="http://schemas.openxmlformats.org/drawingml/2006/main"/>
          <ns158:p xmlns:ns158="http://schemas.openxmlformats.org/drawingml/2006/main">
            <ns158:pPr algn="l">
              <ns158:lnSpc>
                <ns158:spcPct val="105000"/>
              </ns158:lnSpc>
              <ns158:defRPr sz="1300" b="1">
                <ns158:solidFill>
                  <ns158:srgbClr val="317F7B"/>
                </ns158:solidFill>
                <ns158:latin typeface="Arial"/>
                <ns158:ea typeface="Arial"/>
                <ns158:cs typeface="Arial"/>
              </ns158:defRPr>
            </ns158:pPr>
            <ns158:r>
              <ns158:rPr sz="1300" b="1">
                <ns158:solidFill>
                  <ns158:srgbClr val="317F7B"/>
                </ns158:solidFill>
                <ns158:latin typeface="Arial"/>
                <ns158:ea typeface="Arial"/>
                <ns158:cs typeface="Arial"/>
              </ns158:rPr>
              <ns158:t>Research / trading</ns158:t>
            </ns158:r>
          </ns158:p>
          <ns159:p xmlns:ns159="http://schemas.openxmlformats.org/drawingml/2006/main">
            <ns159:pPr algn="l">
              <ns159:lnSpc>
                <ns159:spcPct val="105000"/>
              </ns159:lnSpc>
              <ns159:defRPr sz="1100" b="0">
                <ns159:solidFill>
                  <ns159:srgbClr val="20262C"/>
                </ns159:solidFill>
                <ns159:latin typeface="Arial"/>
                <ns159:ea typeface="Arial"/>
                <ns159:cs typeface="Arial"/>
              </ns159:defRPr>
            </ns159:pPr>
            <ns159:r>
              <ns159:rPr sz="1100" b="0">
                <ns159:solidFill>
                  <ns159:srgbClr val="20262C"/>
                </ns159:solidFill>
                <ns159:latin typeface="Arial"/>
                <ns159:ea typeface="Arial"/>
                <ns159:cs typeface="Arial"/>
              </ns159:rPr>
              <ns159:t>Company analysis</ns159:t>
            </ns159:r>
          </ns159:p>
          <ns160:p xmlns:ns160="http://schemas.openxmlformats.org/drawingml/2006/main">
            <ns160:pPr algn="l">
              <ns160:lnSpc>
                <ns160:spcPct val="105000"/>
              </ns160:lnSpc>
              <ns160:defRPr sz="1100" b="0">
                <ns160:solidFill>
                  <ns160:srgbClr val="20262C"/>
                </ns160:solidFill>
                <ns160:latin typeface="Arial"/>
                <ns160:ea typeface="Arial"/>
                <ns160:cs typeface="Arial"/>
              </ns160:defRPr>
            </ns160:pPr>
            <ns160:r>
              <ns160:rPr sz="1100" b="0">
                <ns160:solidFill>
                  <ns160:srgbClr val="20262C"/>
                </ns160:solidFill>
                <ns160:latin typeface="Arial"/>
                <ns160:ea typeface="Arial"/>
                <ns160:cs typeface="Arial"/>
              </ns160:rPr>
              <ns160:t>Bond / quote summary</ns160:t>
            </ns160:r>
          </ns160:p>
        </p:txBody>
      </p:sp>
      <p:sp>
        <p:nvSpPr>
          <p:cNvPr id="26" name="issuer.office.state.1"/>
          <p:cNvSpPr/>
          <p:nvPr/>
        </p:nvSpPr>
        <p:spPr>
          <ns161:xfrm xmlns:ns161="http://schemas.openxmlformats.org/drawingml/2006/main">
            <ns161:off x="4554000" y="2070000"/>
            <ns161:ext cx="2005200" cy="846000"/>
          </ns161:xfrm>
          <ns162:prstGeom xmlns:ns162="http://schemas.openxmlformats.org/drawingml/2006/main" prst="rect">
            <ns162:avLst/>
          </ns162:prstGeom>
          <ns163:solidFill xmlns:ns163="http://schemas.openxmlformats.org/drawingml/2006/main">
            <ns163:srgbClr val="EFF6F4"/>
          </ns163:solidFill>
          <ns164:ln xmlns:ns164="http://schemas.openxmlformats.org/drawingml/2006/main" w="9525">
            <ns164:solidFill>
              <ns164:srgbClr val="317F7B"/>
            </ns164:solidFill>
          </ns164:ln>
        </p:spPr>
        <p:txBody>
          <ns165:bodyPr xmlns:ns165="http://schemas.openxmlformats.org/drawingml/2006/main" wrap="square" lIns="61200" rIns="61200" tIns="61200" bIns="61200" anchor="ctr">
            <ns165:noAutofit/>
          </ns165:bodyPr>
          <ns166:lstStyle xmlns:ns166="http://schemas.openxmlformats.org/drawingml/2006/main"/>
          <ns167:p xmlns:ns167="http://schemas.openxmlformats.org/drawingml/2006/main">
            <ns167:pPr algn="l">
              <ns167:lnSpc>
                <ns167:spcPct val="105000"/>
              </ns167:lnSpc>
              <ns167:defRPr sz="1300" b="1">
                <ns167:solidFill>
                  <ns167:srgbClr val="317F7B"/>
                </ns167:solidFill>
                <ns167:latin typeface="Arial"/>
                <ns167:ea typeface="Arial"/>
                <ns167:cs typeface="Arial"/>
              </ns167:defRPr>
            </ns167:pPr>
            <ns167:r>
              <ns167:rPr sz="1300" b="1">
                <ns167:solidFill>
                  <ns167:srgbClr val="317F7B"/>
                </ns167:solidFill>
                <ns167:latin typeface="Arial"/>
                <ns167:ea typeface="Arial"/>
                <ns167:cs typeface="Arial"/>
              </ns167:rPr>
              <ns167:t>Risk work</ns167:t>
            </ns167:r>
          </ns167:p>
          <ns168:p xmlns:ns168="http://schemas.openxmlformats.org/drawingml/2006/main">
            <ns168:pPr algn="l">
              <ns168:lnSpc>
                <ns168:spcPct val="105000"/>
              </ns168:lnSpc>
              <ns168:defRPr sz="1100" b="0">
                <ns168:solidFill>
                  <ns168:srgbClr val="20262C"/>
                </ns168:solidFill>
                <ns168:latin typeface="Arial"/>
                <ns168:ea typeface="Arial"/>
                <ns168:cs typeface="Arial"/>
              </ns168:defRPr>
            </ns168:pPr>
            <ns168:r>
              <ns168:rPr sz="1100" b="0">
                <ns168:solidFill>
                  <ns168:srgbClr val="20262C"/>
                </ns168:solidFill>
                <ns168:latin typeface="Arial"/>
                <ns168:ea typeface="Arial"/>
                <ns168:cs typeface="Arial"/>
              </ns168:rPr>
              <ns168:t>Event assessment</ns168:t>
            </ns168:r>
          </ns168:p>
          <ns169:p xmlns:ns169="http://schemas.openxmlformats.org/drawingml/2006/main">
            <ns169:pPr algn="l">
              <ns169:lnSpc>
                <ns169:spcPct val="105000"/>
              </ns169:lnSpc>
              <ns169:defRPr sz="1100" b="0">
                <ns169:solidFill>
                  <ns169:srgbClr val="20262C"/>
                </ns169:solidFill>
                <ns169:latin typeface="Arial"/>
                <ns169:ea typeface="Arial"/>
                <ns169:cs typeface="Arial"/>
              </ns169:defRPr>
            </ns169:pPr>
            <ns169:r>
              <ns169:rPr sz="1100" b="0">
                <ns169:solidFill>
                  <ns169:srgbClr val="20262C"/>
                </ns169:solidFill>
                <ns169:latin typeface="Arial"/>
                <ns169:ea typeface="Arial"/>
                <ns169:cs typeface="Arial"/>
              </ns169:rPr>
              <ns169:t>Exposure monitoring</ns169:t>
            </ns169:r>
          </ns169:p>
        </p:txBody>
      </p:sp>
      <p:sp>
        <p:nvSpPr>
          <p:cNvPr id="27" name="issuer.office.state.2"/>
          <p:cNvSpPr/>
          <p:nvPr/>
        </p:nvSpPr>
        <p:spPr>
          <ns170:xfrm xmlns:ns170="http://schemas.openxmlformats.org/drawingml/2006/main">
            <ns170:off x="6685200" y="2070000"/>
            <ns170:ext cx="2001600" cy="846000"/>
          </ns170:xfrm>
          <ns171:prstGeom xmlns:ns171="http://schemas.openxmlformats.org/drawingml/2006/main" prst="rect">
            <ns171:avLst/>
          </ns171:prstGeom>
          <ns172:solidFill xmlns:ns172="http://schemas.openxmlformats.org/drawingml/2006/main">
            <ns172:srgbClr val="EFF6F4"/>
          </ns172:solidFill>
          <ns173:ln xmlns:ns173="http://schemas.openxmlformats.org/drawingml/2006/main" w="9525">
            <ns173:solidFill>
              <ns173:srgbClr val="317F7B"/>
            </ns173:solidFill>
          </ns173:ln>
        </p:spPr>
        <p:txBody>
          <ns174:bodyPr xmlns:ns174="http://schemas.openxmlformats.org/drawingml/2006/main" wrap="square" lIns="61200" rIns="61200" tIns="61200" bIns="61200" anchor="ctr">
            <ns174:noAutofit/>
          </ns174:bodyPr>
          <ns175:lstStyle xmlns:ns175="http://schemas.openxmlformats.org/drawingml/2006/main"/>
          <ns176:p xmlns:ns176="http://schemas.openxmlformats.org/drawingml/2006/main">
            <ns176:pPr algn="l">
              <ns176:lnSpc>
                <ns176:spcPct val="105000"/>
              </ns176:lnSpc>
              <ns176:defRPr sz="1300" b="1">
                <ns176:solidFill>
                  <ns176:srgbClr val="317F7B"/>
                </ns176:solidFill>
                <ns176:latin typeface="Arial"/>
                <ns176:ea typeface="Arial"/>
                <ns176:cs typeface="Arial"/>
              </ns176:defRPr>
            </ns176:pPr>
            <ns176:r>
              <ns176:rPr sz="1300" b="1">
                <ns176:solidFill>
                  <ns176:srgbClr val="317F7B"/>
                </ns176:solidFill>
                <ns176:latin typeface="Arial"/>
                <ns176:ea typeface="Arial"/>
                <ns176:cs typeface="Arial"/>
              </ns176:rPr>
              <ns176:t>Operations</ns176:t>
            </ns176:r>
          </ns176:p>
          <ns177:p xmlns:ns177="http://schemas.openxmlformats.org/drawingml/2006/main">
            <ns177:pPr algn="l">
              <ns177:lnSpc>
                <ns177:spcPct val="105000"/>
              </ns177:lnSpc>
              <ns177:defRPr sz="1100" b="0">
                <ns177:solidFill>
                  <ns177:srgbClr val="20262C"/>
                </ns177:solidFill>
                <ns177:latin typeface="Arial"/>
                <ns177:ea typeface="Arial"/>
                <ns177:cs typeface="Arial"/>
              </ns177:defRPr>
            </ns177:pPr>
            <ns177:r>
              <ns177:rPr sz="1100" b="0">
                <ns177:solidFill>
                  <ns177:srgbClr val="20262C"/>
                </ns177:solidFill>
                <ns177:latin typeface="Arial"/>
                <ns177:ea typeface="Arial"/>
                <ns177:cs typeface="Arial"/>
              </ns177:rPr>
              <ns177:t>Issuer-related records</ns177:t>
            </ns177:r>
          </ns177:p>
          <ns178:p xmlns:ns178="http://schemas.openxmlformats.org/drawingml/2006/main">
            <ns178:pPr algn="l">
              <ns178:lnSpc>
                <ns178:spcPct val="105000"/>
              </ns178:lnSpc>
              <ns178:defRPr sz="1100" b="0">
                <ns178:solidFill>
                  <ns178:srgbClr val="20262C"/>
                </ns178:solidFill>
                <ns178:latin typeface="Arial"/>
                <ns178:ea typeface="Arial"/>
                <ns178:cs typeface="Arial"/>
              </ns178:defRPr>
            </ns178:pPr>
            <ns178:r>
              <ns178:rPr sz="1100" b="0">
                <ns178:solidFill>
                  <ns178:srgbClr val="20262C"/>
                </ns178:solidFill>
                <ns178:latin typeface="Arial"/>
                <ns178:ea typeface="Arial"/>
                <ns178:cs typeface="Arial"/>
              </ns178:rPr>
              <ns178:t>Validated information</ns178:t>
            </ns178:r>
          </ns178:p>
        </p:txBody>
      </p:sp>
      <p:cxnSp>
        <p:nvCxnSpPr>
          <p:cNvPr id="28" name="issuer.share.forward.0"/>
          <p:cNvCxnSpPr/>
          <p:nvPr/>
        </p:nvCxnSpPr>
        <p:spPr>
          <ns179:xfrm xmlns:ns179="http://schemas.openxmlformats.org/drawingml/2006/main">
            <ns179:off x="4456800" y="2332800"/>
            <ns179:ext cx="61200" cy="1"/>
          </ns179:xfrm>
          <ns180:prstGeom xmlns:ns180="http://schemas.openxmlformats.org/drawingml/2006/main" prst="line">
            <ns180:avLst/>
          </ns180:prstGeom>
          <ns181:ln xmlns:ns181="http://schemas.openxmlformats.org/drawingml/2006/main" w="11430">
            <ns181:solidFill>
              <ns181:srgbClr val="317F7B"/>
            </ns181:solidFill>
            <ns181:tailEnd type="triangle" w="sm" len="sm"/>
          </ns181:ln>
        </p:spPr>
      </p:cxnSp>
      <p:cxnSp>
        <p:nvCxnSpPr>
          <p:cNvPr id="29" name="issuer.share.return.0"/>
          <p:cNvCxnSpPr/>
          <p:nvPr/>
        </p:nvCxnSpPr>
        <p:spPr>
          <ns182:xfrm xmlns:ns182="http://schemas.openxmlformats.org/drawingml/2006/main" flipH="1">
            <ns182:off x="4456800" y="2638800"/>
            <ns182:ext cx="61200" cy="1"/>
          </ns182:xfrm>
          <ns183:prstGeom xmlns:ns183="http://schemas.openxmlformats.org/drawingml/2006/main" prst="line">
            <ns183:avLst/>
          </ns183:prstGeom>
          <ns184:ln xmlns:ns184="http://schemas.openxmlformats.org/drawingml/2006/main" w="11430">
            <ns184:solidFill>
              <ns184:srgbClr val="317F7B"/>
            </ns184:solidFill>
            <ns184:tailEnd type="triangle" w="sm" len="sm"/>
          </ns184:ln>
        </p:spPr>
      </p:cxnSp>
      <p:cxnSp>
        <p:nvCxnSpPr>
          <p:cNvPr id="30" name="issuer.share.forward.1"/>
          <p:cNvCxnSpPr/>
          <p:nvPr/>
        </p:nvCxnSpPr>
        <p:spPr>
          <ns185:xfrm xmlns:ns185="http://schemas.openxmlformats.org/drawingml/2006/main">
            <ns185:off x="6588000" y="2332800"/>
            <ns185:ext cx="61200" cy="1"/>
          </ns185:xfrm>
          <ns186:prstGeom xmlns:ns186="http://schemas.openxmlformats.org/drawingml/2006/main" prst="line">
            <ns186:avLst/>
          </ns186:prstGeom>
          <ns187:ln xmlns:ns187="http://schemas.openxmlformats.org/drawingml/2006/main" w="11430">
            <ns187:solidFill>
              <ns187:srgbClr val="317F7B"/>
            </ns187:solidFill>
            <ns187:tailEnd type="triangle" w="sm" len="sm"/>
          </ns187:ln>
        </p:spPr>
      </p:cxnSp>
      <p:cxnSp>
        <p:nvCxnSpPr>
          <p:cNvPr id="31" name="issuer.share.return.1"/>
          <p:cNvCxnSpPr/>
          <p:nvPr/>
        </p:nvCxnSpPr>
        <p:spPr>
          <ns188:xfrm xmlns:ns188="http://schemas.openxmlformats.org/drawingml/2006/main" flipH="1">
            <ns188:off x="6588000" y="2638800"/>
            <ns188:ext cx="61200" cy="1"/>
          </ns188:xfrm>
          <ns189:prstGeom xmlns:ns189="http://schemas.openxmlformats.org/drawingml/2006/main" prst="line">
            <ns189:avLst/>
          </ns189:prstGeom>
          <ns190:ln xmlns:ns190="http://schemas.openxmlformats.org/drawingml/2006/main" w="11430">
            <ns190:solidFill>
              <ns190:srgbClr val="317F7B"/>
            </ns190:solidFill>
            <ns190:tailEnd type="triangle" w="sm" len="sm"/>
          </ns190:ln>
        </p:spPr>
      </p:cxnSp>
      <p:sp>
        <p:nvSpPr>
          <p:cNvPr id="32" name="story.client.label"/>
          <p:cNvSpPr/>
          <p:nvPr/>
        </p:nvSpPr>
        <p:spPr>
          <ns191:xfrm xmlns:ns191="http://schemas.openxmlformats.org/drawingml/2006/main">
            <ns191:off x="2422800" y="3168000"/>
            <ns191:ext cx="6264000" cy="180000"/>
          </ns191:xfrm>
          <ns192:prstGeom xmlns:ns192="http://schemas.openxmlformats.org/drawingml/2006/main" prst="rect">
            <ns192:avLst/>
          </ns192:prstGeom>
          <ns193:noFill xmlns:ns193="http://schemas.openxmlformats.org/drawingml/2006/main"/>
          <ns194:ln xmlns:ns194="http://schemas.openxmlformats.org/drawingml/2006/main" w="0">
            <ns194:noFill/>
          </ns194:ln>
        </p:spPr>
        <p:txBody>
          <ns195:bodyPr xmlns:ns195="http://schemas.openxmlformats.org/drawingml/2006/main" wrap="square" lIns="0" rIns="0" tIns="0" bIns="0" anchor="t">
            <ns195:noAutofit/>
          </ns195:bodyPr>
          <ns196:lstStyle xmlns:ns196="http://schemas.openxmlformats.org/drawingml/2006/main"/>
          <ns197:p xmlns:ns197="http://schemas.openxmlformats.org/drawingml/2006/main">
            <ns197:pPr algn="l">
              <ns197:lnSpc>
                <ns197:spcPct val="105000"/>
              </ns197:lnSpc>
              <ns197:defRPr sz="1200" b="0">
                <ns197:solidFill>
                  <ns197:srgbClr val="7363A6"/>
                </ns197:solidFill>
                <ns197:latin typeface="Arial"/>
                <ns197:ea typeface="Arial"/>
                <ns197:cs typeface="Arial"/>
              </ns197:defRPr>
            </ns197:pPr>
            <ns197:r>
              <ns197:rPr sz="1200" b="0">
                <ns197:solidFill>
                  <ns197:srgbClr val="7363A6"/>
                </ns197:solidFill>
                <ns197:latin typeface="Arial"/>
                <ns197:ea typeface="Arial"/>
                <ns197:cs typeface="Arial"/>
              </ns197:rPr>
              <ns197:t>Quarterly client update</ns197:t>
            </ns197:r>
          </ns197:p>
        </p:txBody>
      </p:sp>
      <p:sp>
        <p:nvSpPr>
          <p:cNvPr id="33" name="client.office.state.0"/>
          <p:cNvSpPr/>
          <p:nvPr/>
        </p:nvSpPr>
        <p:spPr>
          <ns198:xfrm xmlns:ns198="http://schemas.openxmlformats.org/drawingml/2006/main">
            <ns198:off x="2422800" y="3438000"/>
            <ns198:ext cx="2005200" cy="828000"/>
          </ns198:xfrm>
          <ns199:prstGeom xmlns:ns199="http://schemas.openxmlformats.org/drawingml/2006/main" prst="rect">
            <ns199:avLst/>
          </ns199:prstGeom>
          <ns200:solidFill xmlns:ns200="http://schemas.openxmlformats.org/drawingml/2006/main">
            <ns200:srgbClr val="F7F4FB"/>
          </ns200:solidFill>
          <ns201:ln xmlns:ns201="http://schemas.openxmlformats.org/drawingml/2006/main" w="9525">
            <ns201:solidFill>
              <ns201:srgbClr val="7363A6"/>
            </ns201:solidFill>
          </ns201:ln>
        </p:spPr>
        <p:txBody>
          <ns202:bodyPr xmlns:ns202="http://schemas.openxmlformats.org/drawingml/2006/main" wrap="square" lIns="61200" rIns="61200" tIns="61200" bIns="61200" anchor="ctr">
            <ns202:noAutofit/>
          </ns202:bodyPr>
          <ns203:lstStyle xmlns:ns203="http://schemas.openxmlformats.org/drawingml/2006/main"/>
          <ns204:p xmlns:ns204="http://schemas.openxmlformats.org/drawingml/2006/main">
            <ns204:pPr algn="l">
              <ns204:lnSpc>
                <ns204:spcPct val="105000"/>
              </ns204:lnSpc>
              <ns204:defRPr sz="1300" b="1">
                <ns204:solidFill>
                  <ns204:srgbClr val="7363A6"/>
                </ns204:solidFill>
                <ns204:latin typeface="Arial"/>
                <ns204:ea typeface="Arial"/>
                <ns204:cs typeface="Arial"/>
              </ns204:defRPr>
            </ns204:pPr>
            <ns204:r>
              <ns204:rPr sz="1300" b="1">
                <ns204:solidFill>
                  <ns204:srgbClr val="7363A6"/>
                </ns204:solidFill>
                <ns204:latin typeface="Arial"/>
                <ns204:ea typeface="Arial"/>
                <ns204:cs typeface="Arial"/>
              </ns204:rPr>
              <ns204:t>Draft V1</ns204:t>
            </ns204:r>
          </ns204:p>
          <ns205:p xmlns:ns205="http://schemas.openxmlformats.org/drawingml/2006/main">
            <ns205:pPr algn="l">
              <ns205:lnSpc>
                <ns205:spcPct val="105000"/>
              </ns205:lnSpc>
              <ns205:defRPr sz="1150" b="0">
                <ns205:solidFill>
                  <ns205:srgbClr val="20262C"/>
                </ns205:solidFill>
                <ns205:latin typeface="Arial"/>
                <ns205:ea typeface="Arial"/>
                <ns205:cs typeface="Arial"/>
              </ns205:defRPr>
            </ns205:pPr>
            <ns205:r>
              <ns205:rPr sz="1150" b="0">
                <ns205:solidFill>
                  <ns205:srgbClr val="20262C"/>
                </ns205:solidFill>
                <ns205:latin typeface="Arial"/>
                <ns205:ea typeface="Arial"/>
                <ns205:cs typeface="Arial"/>
              </ns205:rPr>
              <ns205:t>Client team</ns205:t>
            </ns205:r>
          </ns205:p>
        </p:txBody>
      </p:sp>
      <p:cxnSp>
        <p:nvCxnSpPr>
          <p:cNvPr id="34" name="client.version.handoff.0"/>
          <p:cNvCxnSpPr/>
          <p:nvPr/>
        </p:nvCxnSpPr>
        <p:spPr>
          <ns206:xfrm xmlns:ns206="http://schemas.openxmlformats.org/drawingml/2006/main">
            <ns206:off x="4456800" y="3852000"/>
            <ns206:ext cx="61200" cy="1"/>
          </ns206:xfrm>
          <ns207:prstGeom xmlns:ns207="http://schemas.openxmlformats.org/drawingml/2006/main" prst="line">
            <ns207:avLst/>
          </ns207:prstGeom>
          <ns208:ln xmlns:ns208="http://schemas.openxmlformats.org/drawingml/2006/main" w="11430">
            <ns208:solidFill>
              <ns208:srgbClr val="7363A6"/>
            </ns208:solidFill>
            <ns208:tailEnd type="triangle" w="sm" len="sm"/>
          </ns208:ln>
        </p:spPr>
      </p:cxnSp>
      <p:sp>
        <p:nvSpPr>
          <p:cNvPr id="35" name="client.office.state.1"/>
          <p:cNvSpPr/>
          <p:nvPr/>
        </p:nvSpPr>
        <p:spPr>
          <ns209:xfrm xmlns:ns209="http://schemas.openxmlformats.org/drawingml/2006/main">
            <ns209:off x="4554000" y="3438000"/>
            <ns209:ext cx="2005200" cy="828000"/>
          </ns209:xfrm>
          <ns210:prstGeom xmlns:ns210="http://schemas.openxmlformats.org/drawingml/2006/main" prst="rect">
            <ns210:avLst/>
          </ns210:prstGeom>
          <ns211:solidFill xmlns:ns211="http://schemas.openxmlformats.org/drawingml/2006/main">
            <ns211:srgbClr val="F7F4FB"/>
          </ns211:solidFill>
          <ns212:ln xmlns:ns212="http://schemas.openxmlformats.org/drawingml/2006/main" w="9525">
            <ns212:solidFill>
              <ns212:srgbClr val="7363A6"/>
            </ns212:solidFill>
          </ns212:ln>
        </p:spPr>
        <p:txBody>
          <ns213:bodyPr xmlns:ns213="http://schemas.openxmlformats.org/drawingml/2006/main" wrap="square" lIns="61200" rIns="61200" tIns="61200" bIns="61200" anchor="ctr">
            <ns213:noAutofit/>
          </ns213:bodyPr>
          <ns214:lstStyle xmlns:ns214="http://schemas.openxmlformats.org/drawingml/2006/main"/>
          <ns215:p xmlns:ns215="http://schemas.openxmlformats.org/drawingml/2006/main">
            <ns215:pPr algn="l">
              <ns215:lnSpc>
                <ns215:spcPct val="105000"/>
              </ns215:lnSpc>
              <ns215:defRPr sz="1300" b="1">
                <ns215:solidFill>
                  <ns215:srgbClr val="7363A6"/>
                </ns215:solidFill>
                <ns215:latin typeface="Arial"/>
                <ns215:ea typeface="Arial"/>
                <ns215:cs typeface="Arial"/>
              </ns215:defRPr>
            </ns215:pPr>
            <ns215:r>
              <ns215:rPr sz="1300" b="1">
                <ns215:solidFill>
                  <ns215:srgbClr val="7363A6"/>
                </ns215:solidFill>
                <ns215:latin typeface="Arial"/>
                <ns215:ea typeface="Arial"/>
                <ns215:cs typeface="Arial"/>
              </ns215:rPr>
              <ns215:t>Approved V2</ns215:t>
            </ns215:r>
          </ns215:p>
          <ns216:p xmlns:ns216="http://schemas.openxmlformats.org/drawingml/2006/main">
            <ns216:pPr algn="l">
              <ns216:lnSpc>
                <ns216:spcPct val="105000"/>
              </ns216:lnSpc>
              <ns216:defRPr sz="1150" b="0">
                <ns216:solidFill>
                  <ns216:srgbClr val="20262C"/>
                </ns216:solidFill>
                <ns216:latin typeface="Arial"/>
                <ns216:ea typeface="Arial"/>
                <ns216:cs typeface="Arial"/>
              </ns216:defRPr>
            </ns216:pPr>
            <ns216:r>
              <ns216:rPr sz="1150" b="0">
                <ns216:solidFill>
                  <ns216:srgbClr val="20262C"/>
                </ns216:solidFill>
                <ns216:latin typeface="Arial"/>
                <ns216:ea typeface="Arial"/>
                <ns216:cs typeface="Arial"/>
              </ns216:rPr>
              <ns216:t>Author / reviewer</ns216:t>
            </ns216:r>
          </ns216:p>
        </p:txBody>
      </p:sp>
      <p:cxnSp>
        <p:nvCxnSpPr>
          <p:cNvPr id="36" name="client.version.handoff.1"/>
          <p:cNvCxnSpPr/>
          <p:nvPr/>
        </p:nvCxnSpPr>
        <p:spPr>
          <ns217:xfrm xmlns:ns217="http://schemas.openxmlformats.org/drawingml/2006/main">
            <ns217:off x="6588000" y="3852000"/>
            <ns217:ext cx="61200" cy="1"/>
          </ns217:xfrm>
          <ns218:prstGeom xmlns:ns218="http://schemas.openxmlformats.org/drawingml/2006/main" prst="line">
            <ns218:avLst/>
          </ns218:prstGeom>
          <ns219:ln xmlns:ns219="http://schemas.openxmlformats.org/drawingml/2006/main" w="11430">
            <ns219:solidFill>
              <ns219:srgbClr val="7363A6"/>
            </ns219:solidFill>
            <ns219:tailEnd type="triangle" w="sm" len="sm"/>
          </ns219:ln>
        </p:spPr>
      </p:cxnSp>
      <p:sp>
        <p:nvSpPr>
          <p:cNvPr id="37" name="client.office.state.2"/>
          <p:cNvSpPr/>
          <p:nvPr/>
        </p:nvSpPr>
        <p:spPr>
          <ns220:xfrm xmlns:ns220="http://schemas.openxmlformats.org/drawingml/2006/main">
            <ns220:off x="6685200" y="3438000"/>
            <ns220:ext cx="2001600" cy="828000"/>
          </ns220:xfrm>
          <ns221:prstGeom xmlns:ns221="http://schemas.openxmlformats.org/drawingml/2006/main" prst="rect">
            <ns221:avLst/>
          </ns221:prstGeom>
          <ns222:solidFill xmlns:ns222="http://schemas.openxmlformats.org/drawingml/2006/main">
            <ns222:srgbClr val="F7F4FB"/>
          </ns222:solidFill>
          <ns223:ln xmlns:ns223="http://schemas.openxmlformats.org/drawingml/2006/main" w="9525">
            <ns223:solidFill>
              <ns223:srgbClr val="7363A6"/>
            </ns223:solidFill>
          </ns223:ln>
        </p:spPr>
        <p:txBody>
          <ns224:bodyPr xmlns:ns224="http://schemas.openxmlformats.org/drawingml/2006/main" wrap="square" lIns="61200" rIns="61200" tIns="61200" bIns="61200" anchor="ctr">
            <ns224:noAutofit/>
          </ns224:bodyPr>
          <ns225:lstStyle xmlns:ns225="http://schemas.openxmlformats.org/drawingml/2006/main"/>
          <ns226:p xmlns:ns226="http://schemas.openxmlformats.org/drawingml/2006/main">
            <ns226:pPr algn="l">
              <ns226:lnSpc>
                <ns226:spcPct val="105000"/>
              </ns226:lnSpc>
              <ns226:defRPr sz="1300" b="1">
                <ns226:solidFill>
                  <ns226:srgbClr val="7363A6"/>
                </ns226:solidFill>
                <ns226:latin typeface="Arial"/>
                <ns226:ea typeface="Arial"/>
                <ns226:cs typeface="Arial"/>
              </ns226:defRPr>
            </ns226:pPr>
            <ns226:r>
              <ns226:rPr sz="1300" b="1">
                <ns226:solidFill>
                  <ns226:srgbClr val="7363A6"/>
                </ns226:solidFill>
                <ns226:latin typeface="Arial"/>
                <ns226:ea typeface="Arial"/>
                <ns226:cs typeface="Arial"/>
              </ns226:rPr>
              <ns226:t>Approved material</ns226:t>
            </ns226:r>
          </ns226:p>
          <ns227:p xmlns:ns227="http://schemas.openxmlformats.org/drawingml/2006/main">
            <ns227:pPr algn="l">
              <ns227:lnSpc>
                <ns227:spcPct val="105000"/>
              </ns227:lnSpc>
              <ns227:defRPr sz="1150" b="0">
                <ns227:solidFill>
                  <ns227:srgbClr val="20262C"/>
                </ns227:solidFill>
                <ns227:latin typeface="Arial"/>
                <ns227:ea typeface="Arial"/>
                <ns227:cs typeface="Arial"/>
              </ns227:defRPr>
            </ns227:pPr>
            <ns227:r>
              <ns227:rPr sz="1150" b="0">
                <ns227:solidFill>
                  <ns227:srgbClr val="20262C"/>
                </ns227:solidFill>
                <ns227:latin typeface="Arial"/>
                <ns227:ea typeface="Arial"/>
                <ns227:cs typeface="Arial"/>
              </ns227:rPr>
              <ns227:t>Filing / related updates</ns227:t>
            </ns227:r>
          </ns227:p>
        </p:txBody>
      </p:sp>
    </p:spTree>
    <p:extLst>
      <p:ext uri="{BB962C8B-B14F-4D97-AF65-F5344CB8AC3E}">
        <p14:creationId xmlns:p14="http://schemas.microsoft.com/office/powerpoint/2010/main" val="101643060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Proposed Implementation Sequence</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Priority Workflows, Teams and Deliverables</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7"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8" name="map.task.focus.trade"/>
          <p:cNvSpPr/>
          <p:nvPr/>
        </p:nvSpPr>
        <p:spPr>
          <ns35:xfrm xmlns:ns35="http://schemas.openxmlformats.org/drawingml/2006/main">
            <ns35:off x="486000" y="1998000"/>
            <ns35:ext cx="1677600" cy="176400"/>
          </ns35:xfrm>
          <ns36:prstGeom xmlns:ns36="http://schemas.openxmlformats.org/drawingml/2006/main" prst="rect">
            <ns36:avLst/>
          </ns36:prstGeom>
          <ns37:solidFill xmlns:ns37="http://schemas.openxmlformats.org/drawingml/2006/main">
            <ns37:srgbClr val="D9EAF7"/>
          </ns37:solidFill>
          <ns38:ln xmlns:ns38="http://schemas.openxmlformats.org/drawingml/2006/main" w="0">
            <ns38:noFill/>
          </ns38:ln>
        </p:spPr>
      </p:sp>
      <p:sp>
        <p:nvSpPr>
          <p:cNvPr id="9" name="map.task.trade"/>
          <p:cNvSpPr/>
          <p:nvPr/>
        </p:nvSpPr>
        <p:spPr>
          <ns39:xfrm xmlns:ns39="http://schemas.openxmlformats.org/drawingml/2006/main">
            <ns39:off x="554400" y="2001600"/>
            <ns39:ext cx="1562400" cy="165600"/>
          </ns39:xfrm>
          <ns40:prstGeom xmlns:ns40="http://schemas.openxmlformats.org/drawingml/2006/main" prst="rect">
            <ns40:avLst/>
          </ns40:prstGeom>
          <ns41:noFill xmlns:ns41="http://schemas.openxmlformats.org/drawingml/2006/main"/>
          <ns42:ln xmlns:ns42="http://schemas.openxmlformats.org/drawingml/2006/main" w="0">
            <ns42:noFill/>
          </ns42:ln>
        </p:spPr>
        <p:txBody>
          <ns43:bodyPr xmlns:ns43="http://schemas.openxmlformats.org/drawingml/2006/main" wrap="square" lIns="0" rIns="0" tIns="0" bIns="0" anchor="t">
            <ns43:noAutofit/>
          </ns43:bodyPr>
          <ns44:lstStyle xmlns:ns44="http://schemas.openxmlformats.org/drawingml/2006/main"/>
          <ns45:p xmlns:ns45="http://schemas.openxmlformats.org/drawingml/2006/main">
            <ns45:pPr algn="l">
              <ns45:lnSpc>
                <ns45:spcPct val="105000"/>
              </ns45:lnSpc>
              <ns45:defRPr sz="1050" b="1">
                <ns45:solidFill>
                  <ns45:srgbClr val="005A9C"/>
                </ns45:solidFill>
                <ns45:latin typeface="Arial"/>
                <ns45:ea typeface="Arial"/>
                <ns45:cs typeface="Arial"/>
              </ns45:defRPr>
            </ns45:pPr>
            <ns45:r>
              <ns45:rPr sz="1050" b="1">
                <ns45:solidFill>
                  <ns45:srgbClr val="005A9C"/>
                </ns45:solidFill>
                <ns45:latin typeface="Arial"/>
                <ns45:ea typeface="Arial"/>
                <ns45:cs typeface="Arial"/>
              </ns45:rPr>
              <ns45:t>Trading support</ns45:t>
            </ns45:r>
          </ns45:p>
        </p:txBody>
      </p:sp>
      <p:sp>
        <p:nvSpPr>
          <p:cNvPr id="10" name="map.task.focus.client"/>
          <p:cNvSpPr/>
          <p:nvPr/>
        </p:nvSpPr>
        <p:spPr>
          <ns46:xfrm xmlns:ns46="http://schemas.openxmlformats.org/drawingml/2006/main">
            <ns46:off x="486000" y="2196000"/>
            <ns46:ext cx="1677600" cy="176400"/>
          </ns46:xfrm>
          <ns47:prstGeom xmlns:ns47="http://schemas.openxmlformats.org/drawingml/2006/main" prst="rect">
            <ns47:avLst/>
          </ns47:prstGeom>
          <ns48:solidFill xmlns:ns48="http://schemas.openxmlformats.org/drawingml/2006/main">
            <ns48:srgbClr val="D9EAF7"/>
          </ns48:solidFill>
          <ns49:ln xmlns:ns49="http://schemas.openxmlformats.org/drawingml/2006/main" w="0">
            <ns49:noFill/>
          </ns49:ln>
        </p:spPr>
      </p:sp>
      <p:sp>
        <p:nvSpPr>
          <p:cNvPr id="11" name="map.task.client"/>
          <p:cNvSpPr/>
          <p:nvPr/>
        </p:nvSpPr>
        <p:spPr>
          <ns50:xfrm xmlns:ns50="http://schemas.openxmlformats.org/drawingml/2006/main">
            <ns50:off x="554400" y="2199600"/>
            <ns50:ext cx="1562400" cy="165600"/>
          </ns50:xfrm>
          <ns51:prstGeom xmlns:ns51="http://schemas.openxmlformats.org/drawingml/2006/main" prst="rect">
            <ns51:avLst/>
          </ns51:prstGeom>
          <ns52:noFill xmlns:ns52="http://schemas.openxmlformats.org/drawingml/2006/main"/>
          <ns53:ln xmlns:ns53="http://schemas.openxmlformats.org/drawingml/2006/main" w="0">
            <ns53:noFill/>
          </ns53:ln>
        </p:spPr>
        <p:txBody>
          <ns54:bodyPr xmlns:ns54="http://schemas.openxmlformats.org/drawingml/2006/main" wrap="square" lIns="0" rIns="0" tIns="0" bIns="0" anchor="t">
            <ns54:noAutofit/>
          </ns54:bodyPr>
          <ns55:lstStyle xmlns:ns55="http://schemas.openxmlformats.org/drawingml/2006/main"/>
          <ns56:p xmlns:ns56="http://schemas.openxmlformats.org/drawingml/2006/main">
            <ns56:pPr algn="l">
              <ns56:lnSpc>
                <ns56:spcPct val="105000"/>
              </ns56:lnSpc>
              <ns56:defRPr sz="1050" b="1">
                <ns56:solidFill>
                  <ns56:srgbClr val="005A9C"/>
                </ns56:solidFill>
                <ns56:latin typeface="Arial"/>
                <ns56:ea typeface="Arial"/>
                <ns56:cs typeface="Arial"/>
              </ns56:defRPr>
            </ns56:pPr>
            <ns56:r>
              <ns56:rPr sz="1050" b="1">
                <ns56:solidFill>
                  <ns56:srgbClr val="005A9C"/>
                </ns56:solidFill>
                <ns56:latin typeface="Arial"/>
                <ns56:ea typeface="Arial"/>
                <ns56:cs typeface="Arial"/>
              </ns56:rPr>
              <ns56:t>Client communications</ns56:t>
            </ns56:r>
          </ns56:p>
        </p:txBody>
      </p:sp>
      <p:sp>
        <p:nvSpPr>
          <p:cNvPr id="12" name="map.office.1"/>
          <p:cNvSpPr/>
          <p:nvPr/>
        </p:nvSpPr>
        <p:spPr>
          <ns57:xfrm xmlns:ns57="http://schemas.openxmlformats.org/drawingml/2006/main">
            <ns57:off x="486000" y="2548800"/>
            <ns57:ext cx="1692000" cy="180000"/>
          </ns57:xfrm>
          <ns58:prstGeom xmlns:ns58="http://schemas.openxmlformats.org/drawingml/2006/main" prst="rect">
            <ns58:avLst/>
          </ns58:prstGeom>
          <ns59:noFill xmlns:ns59="http://schemas.openxmlformats.org/drawingml/2006/main"/>
          <ns60:ln xmlns:ns60="http://schemas.openxmlformats.org/drawingml/2006/main" w="0">
            <ns60:noFill/>
          </ns60:ln>
        </p:spPr>
        <p:txBody>
          <ns61:bodyPr xmlns:ns61="http://schemas.openxmlformats.org/drawingml/2006/main" wrap="square" lIns="0" rIns="0" tIns="0" bIns="0" anchor="t">
            <ns61:noAutofit/>
          </ns61:bodyPr>
          <ns62:lstStyle xmlns:ns62="http://schemas.openxmlformats.org/drawingml/2006/main"/>
          <ns63:p xmlns:ns63="http://schemas.openxmlformats.org/drawingml/2006/main">
            <ns63:pPr algn="l">
              <ns63:lnSpc>
                <ns63:spcPct val="105000"/>
              </ns63:lnSpc>
              <ns63:defRPr sz="1100" b="1">
                <ns63:solidFill>
                  <ns63:srgbClr val="005A9C"/>
                </ns63:solidFill>
                <ns63:latin typeface="Arial"/>
                <ns63:ea typeface="Arial"/>
                <ns63:cs typeface="Arial"/>
              </ns63:defRPr>
            </ns63:pPr>
            <ns63:r>
              <ns63:rPr sz="1100" b="1">
                <ns63:solidFill>
                  <ns63:srgbClr val="005A9C"/>
                </ns63:solidFill>
                <ns63:latin typeface="Arial"/>
                <ns63:ea typeface="Arial"/>
                <ns63:cs typeface="Arial"/>
              </ns63:rPr>
              <ns63:t>Middle office</ns63:t>
            </ns63:r>
          </ns63:p>
        </p:txBody>
      </p:sp>
      <p:cxnSp>
        <p:nvCxnSpPr>
          <p:cNvPr id="13" name="map.office.rule.1"/>
          <p:cNvCxnSpPr/>
          <p:nvPr/>
        </p:nvCxnSpPr>
        <p:spPr>
          <ns64:xfrm xmlns:ns64="http://schemas.openxmlformats.org/drawingml/2006/main">
            <ns64:off x="457200" y="2768400"/>
            <ns64:ext cx="1742400" cy="1"/>
          </ns64:xfrm>
          <ns65:prstGeom xmlns:ns65="http://schemas.openxmlformats.org/drawingml/2006/main" prst="line">
            <ns65:avLst/>
          </ns65:prstGeom>
          <ns66:ln xmlns:ns66="http://schemas.openxmlformats.org/drawingml/2006/main" w="7620">
            <ns66:solidFill>
              <ns66:srgbClr val="005A9C"/>
            </ns66:solidFill>
          </ns66:ln>
        </p:spPr>
      </p:cxnSp>
      <p:sp>
        <p:nvSpPr>
          <p:cNvPr id="14" name="map.task.focus.risk"/>
          <p:cNvSpPr/>
          <p:nvPr/>
        </p:nvSpPr>
        <p:spPr>
          <ns67:xfrm xmlns:ns67="http://schemas.openxmlformats.org/drawingml/2006/main">
            <ns67:off x="486000" y="2844000"/>
            <ns67:ext cx="1677600" cy="176400"/>
          </ns67:xfrm>
          <ns68:prstGeom xmlns:ns68="http://schemas.openxmlformats.org/drawingml/2006/main" prst="rect">
            <ns68:avLst/>
          </ns68:prstGeom>
          <ns69:solidFill xmlns:ns69="http://schemas.openxmlformats.org/drawingml/2006/main">
            <ns69:srgbClr val="D9EAF7"/>
          </ns69:solidFill>
          <ns70:ln xmlns:ns70="http://schemas.openxmlformats.org/drawingml/2006/main" w="0">
            <ns70:noFill/>
          </ns70:ln>
        </p:spPr>
      </p:sp>
      <p:sp>
        <p:nvSpPr>
          <p:cNvPr id="15" name="map.task.risk"/>
          <p:cNvSpPr/>
          <p:nvPr/>
        </p:nvSpPr>
        <p:spPr>
          <ns71:xfrm xmlns:ns71="http://schemas.openxmlformats.org/drawingml/2006/main">
            <ns71:off x="554400" y="2847600"/>
            <ns71:ext cx="1562400" cy="165600"/>
          </ns71:xfrm>
          <ns72:prstGeom xmlns:ns72="http://schemas.openxmlformats.org/drawingml/2006/main" prst="rect">
            <ns72:avLst/>
          </ns72:prstGeom>
          <ns73:noFill xmlns:ns73="http://schemas.openxmlformats.org/drawingml/2006/main"/>
          <ns74:ln xmlns:ns74="http://schemas.openxmlformats.org/drawingml/2006/main" w="0">
            <ns74:noFill/>
          </ns74:ln>
        </p:spPr>
        <p:txBody>
          <ns75:bodyPr xmlns:ns75="http://schemas.openxmlformats.org/drawingml/2006/main" wrap="square" lIns="0" rIns="0" tIns="0" bIns="0" anchor="t">
            <ns75:noAutofit/>
          </ns75:bodyPr>
          <ns76:lstStyle xmlns:ns76="http://schemas.openxmlformats.org/drawingml/2006/main"/>
          <ns77:p xmlns:ns77="http://schemas.openxmlformats.org/drawingml/2006/main">
            <ns77:pPr algn="l">
              <ns77:lnSpc>
                <ns77:spcPct val="105000"/>
              </ns77:lnSpc>
              <ns77:defRPr sz="1050" b="1">
                <ns77:solidFill>
                  <ns77:srgbClr val="005A9C"/>
                </ns77:solidFill>
                <ns77:latin typeface="Arial"/>
                <ns77:ea typeface="Arial"/>
                <ns77:cs typeface="Arial"/>
              </ns77:defRPr>
            </ns77:pPr>
            <ns77:r>
              <ns77:rPr sz="1050" b="1">
                <ns77:solidFill>
                  <ns77:srgbClr val="005A9C"/>
                </ns77:solidFill>
                <ns77:latin typeface="Arial"/>
                <ns77:ea typeface="Arial"/>
                <ns77:cs typeface="Arial"/>
              </ns77:rPr>
              <ns77:t>Risk analysis</ns77:t>
            </ns77:r>
          </ns77:p>
        </p:txBody>
      </p:sp>
      <p:sp>
        <p:nvSpPr>
          <p:cNvPr id="16" name="map.office.2"/>
          <p:cNvSpPr/>
          <p:nvPr/>
        </p:nvSpPr>
        <p:spPr>
          <ns78:xfrm xmlns:ns78="http://schemas.openxmlformats.org/drawingml/2006/main">
            <ns78:off x="486000" y="3391200"/>
            <ns78:ext cx="1692000" cy="180000"/>
          </ns78:xfrm>
          <ns79:prstGeom xmlns:ns79="http://schemas.openxmlformats.org/drawingml/2006/main" prst="rect">
            <ns79:avLst/>
          </ns79:prstGeom>
          <ns80:noFill xmlns:ns80="http://schemas.openxmlformats.org/drawingml/2006/main"/>
          <ns81:ln xmlns:ns81="http://schemas.openxmlformats.org/drawingml/2006/main" w="0">
            <ns81:noFill/>
          </ns81:ln>
        </p:spPr>
        <p:txBody>
          <ns82:bodyPr xmlns:ns82="http://schemas.openxmlformats.org/drawingml/2006/main" wrap="square" lIns="0" rIns="0" tIns="0" bIns="0" anchor="t">
            <ns82:noAutofit/>
          </ns82:bodyPr>
          <ns83:lstStyle xmlns:ns83="http://schemas.openxmlformats.org/drawingml/2006/main"/>
          <ns84:p xmlns:ns84="http://schemas.openxmlformats.org/drawingml/2006/main">
            <ns84:pPr algn="l">
              <ns84:lnSpc>
                <ns84:spcPct val="105000"/>
              </ns84:lnSpc>
              <ns84:defRPr sz="1100" b="1">
                <ns84:solidFill>
                  <ns84:srgbClr val="005A9C"/>
                </ns84:solidFill>
                <ns84:latin typeface="Arial"/>
                <ns84:ea typeface="Arial"/>
                <ns84:cs typeface="Arial"/>
              </ns84:defRPr>
            </ns84:pPr>
            <ns84:r>
              <ns84:rPr sz="1100" b="1">
                <ns84:solidFill>
                  <ns84:srgbClr val="005A9C"/>
                </ns84:solidFill>
                <ns84:latin typeface="Arial"/>
                <ns84:ea typeface="Arial"/>
                <ns84:cs typeface="Arial"/>
              </ns84:rPr>
              <ns84:t>Back office</ns84:t>
            </ns84:r>
          </ns84:p>
        </p:txBody>
      </p:sp>
      <p:cxnSp>
        <p:nvCxnSpPr>
          <p:cNvPr id="17" name="map.office.rule.2"/>
          <p:cNvCxnSpPr/>
          <p:nvPr/>
        </p:nvCxnSpPr>
        <p:spPr>
          <ns85:xfrm xmlns:ns85="http://schemas.openxmlformats.org/drawingml/2006/main">
            <ns85:off x="457200" y="3610800"/>
            <ns85:ext cx="1742400" cy="1"/>
          </ns85:xfrm>
          <ns86:prstGeom xmlns:ns86="http://schemas.openxmlformats.org/drawingml/2006/main" prst="line">
            <ns86:avLst/>
          </ns86:prstGeom>
          <ns87:ln xmlns:ns87="http://schemas.openxmlformats.org/drawingml/2006/main" w="7620">
            <ns87:solidFill>
              <ns87:srgbClr val="005A9C"/>
            </ns87:solidFill>
          </ns87:ln>
        </p:spPr>
      </p:cxnSp>
      <p:sp>
        <p:nvSpPr>
          <p:cNvPr id="18" name="map.task.focus.records"/>
          <p:cNvSpPr/>
          <p:nvPr/>
        </p:nvSpPr>
        <p:spPr>
          <ns88:xfrm xmlns:ns88="http://schemas.openxmlformats.org/drawingml/2006/main">
            <ns88:off x="486000" y="3686400"/>
            <ns88:ext cx="1677600" cy="176400"/>
          </ns88:xfrm>
          <ns89:prstGeom xmlns:ns89="http://schemas.openxmlformats.org/drawingml/2006/main" prst="rect">
            <ns89:avLst/>
          </ns89:prstGeom>
          <ns90:solidFill xmlns:ns90="http://schemas.openxmlformats.org/drawingml/2006/main">
            <ns90:srgbClr val="D9EAF7"/>
          </ns90:solidFill>
          <ns91:ln xmlns:ns91="http://schemas.openxmlformats.org/drawingml/2006/main" w="0">
            <ns91:noFill/>
          </ns91:ln>
        </p:spPr>
      </p:sp>
      <p:sp>
        <p:nvSpPr>
          <p:cNvPr id="19" name="map.task.records"/>
          <p:cNvSpPr/>
          <p:nvPr/>
        </p:nvSpPr>
        <p:spPr>
          <ns92:xfrm xmlns:ns92="http://schemas.openxmlformats.org/drawingml/2006/main">
            <ns92:off x="554400" y="3690000"/>
            <ns92:ext cx="1562400" cy="165600"/>
          </ns92:xfrm>
          <ns93:prstGeom xmlns:ns93="http://schemas.openxmlformats.org/drawingml/2006/main" prst="rect">
            <ns93:avLst/>
          </ns93:prstGeom>
          <ns94:noFill xmlns:ns94="http://schemas.openxmlformats.org/drawingml/2006/main"/>
          <ns95:ln xmlns:ns95="http://schemas.openxmlformats.org/drawingml/2006/main" w="0">
            <ns95:noFill/>
          </ns95:ln>
        </p:spPr>
        <p:txBody>
          <ns96:bodyPr xmlns:ns96="http://schemas.openxmlformats.org/drawingml/2006/main" wrap="square" lIns="0" rIns="0" tIns="0" bIns="0" anchor="t">
            <ns96:noAutofit/>
          </ns96:bodyPr>
          <ns97:lstStyle xmlns:ns97="http://schemas.openxmlformats.org/drawingml/2006/main"/>
          <ns98:p xmlns:ns98="http://schemas.openxmlformats.org/drawingml/2006/main">
            <ns98:pPr algn="l">
              <ns98:lnSpc>
                <ns98:spcPct val="105000"/>
              </ns98:lnSpc>
              <ns98:defRPr sz="1050" b="1">
                <ns98:solidFill>
                  <ns98:srgbClr val="005A9C"/>
                </ns98:solidFill>
                <ns98:latin typeface="Arial"/>
                <ns98:ea typeface="Arial"/>
                <ns98:cs typeface="Arial"/>
              </ns98:defRPr>
            </ns98:pPr>
            <ns98:r>
              <ns98:rPr sz="1050" b="1">
                <ns98:solidFill>
                  <ns98:srgbClr val="005A9C"/>
                </ns98:solidFill>
                <ns98:latin typeface="Arial"/>
                <ns98:ea typeface="Arial"/>
                <ns98:cs typeface="Arial"/>
              </ns98:rPr>
              <ns98:t>Record entry</ns98:t>
            </ns98:r>
          </ns98:p>
        </p:txBody>
      </p:sp>
      <p:sp>
        <p:nvSpPr>
          <p:cNvPr id="20" name="map.task.focus.dev"/>
          <p:cNvSpPr/>
          <p:nvPr/>
        </p:nvSpPr>
        <p:spPr>
          <ns99:xfrm xmlns:ns99="http://schemas.openxmlformats.org/drawingml/2006/main">
            <ns99:off x="486000" y="3884400"/>
            <ns99:ext cx="1677600" cy="176400"/>
          </ns99:xfrm>
          <ns100:prstGeom xmlns:ns100="http://schemas.openxmlformats.org/drawingml/2006/main" prst="rect">
            <ns100:avLst/>
          </ns100:prstGeom>
          <ns101:solidFill xmlns:ns101="http://schemas.openxmlformats.org/drawingml/2006/main">
            <ns101:srgbClr val="D9EAF7"/>
          </ns101:solidFill>
          <ns102:ln xmlns:ns102="http://schemas.openxmlformats.org/drawingml/2006/main" w="0">
            <ns102:noFill/>
          </ns102:ln>
        </p:spPr>
      </p:sp>
      <p:sp>
        <p:nvSpPr>
          <p:cNvPr id="21" name="map.task.dev"/>
          <p:cNvSpPr/>
          <p:nvPr/>
        </p:nvSpPr>
        <p:spPr>
          <ns103:xfrm xmlns:ns103="http://schemas.openxmlformats.org/drawingml/2006/main">
            <ns103:off x="554400" y="3888000"/>
            <ns103:ext cx="1562400" cy="165600"/>
          </ns103:xfrm>
          <ns104:prstGeom xmlns:ns104="http://schemas.openxmlformats.org/drawingml/2006/main" prst="rect">
            <ns104:avLst/>
          </ns104:prstGeom>
          <ns105:noFill xmlns:ns105="http://schemas.openxmlformats.org/drawingml/2006/main"/>
          <ns106:ln xmlns:ns106="http://schemas.openxmlformats.org/drawingml/2006/main" w="0">
            <ns106:noFill/>
          </ns106:ln>
        </p:spPr>
        <p:txBody>
          <ns107:bodyPr xmlns:ns107="http://schemas.openxmlformats.org/drawingml/2006/main" wrap="square" lIns="0" rIns="0" tIns="0" bIns="0" anchor="t">
            <ns107:noAutofit/>
          </ns107:bodyPr>
          <ns108:lstStyle xmlns:ns108="http://schemas.openxmlformats.org/drawingml/2006/main"/>
          <ns109:p xmlns:ns109="http://schemas.openxmlformats.org/drawingml/2006/main">
            <ns109:pPr algn="l">
              <ns109:lnSpc>
                <ns109:spcPct val="105000"/>
              </ns109:lnSpc>
              <ns109:defRPr sz="1050" b="1">
                <ns109:solidFill>
                  <ns109:srgbClr val="005A9C"/>
                </ns109:solidFill>
                <ns109:latin typeface="Arial"/>
                <ns109:ea typeface="Arial"/>
                <ns109:cs typeface="Arial"/>
              </ns109:defRPr>
            </ns109:pPr>
            <ns109:r>
              <ns109:rPr sz="1050" b="1">
                <ns109:solidFill>
                  <ns109:srgbClr val="005A9C"/>
                </ns109:solidFill>
                <ns109:latin typeface="Arial"/>
                <ns109:ea typeface="Arial"/>
                <ns109:cs typeface="Arial"/>
              </ns109:rPr>
              <ns109:t>Tool development</ns109:t>
            </ns109:r>
          </ns109:p>
        </p:txBody>
      </p:sp>
      <p:cxnSp>
        <p:nvCxnSpPr>
          <p:cNvPr id="22" name="phase.timeline"/>
          <p:cNvCxnSpPr/>
          <p:nvPr/>
        </p:nvCxnSpPr>
        <p:spPr>
          <ns128:xfrm xmlns:ns128="http://schemas.openxmlformats.org/drawingml/2006/main">
            <ns128:off x="2584800" y="1827000"/>
            <ns128:ext cx="6001200" cy="1"/>
          </ns128:xfrm>
          <ns129:prstGeom xmlns:ns129="http://schemas.openxmlformats.org/drawingml/2006/main" prst="line">
            <ns129:avLst/>
          </ns129:prstGeom>
          <ns130:ln xmlns:ns130="http://schemas.openxmlformats.org/drawingml/2006/main" w="16510">
            <ns130:solidFill>
              <ns130:srgbClr val="005A9C"/>
            </ns130:solidFill>
            <ns130:tailEnd type="triangle" w="sm" len="sm"/>
          </ns130:ln>
        </p:spPr>
      </p:cxnSp>
      <p:sp>
        <p:nvSpPr>
          <p:cNvPr id="23" name="phase.marker.0"/>
          <p:cNvSpPr/>
          <p:nvPr/>
        </p:nvSpPr>
        <p:spPr>
          <ns131:xfrm xmlns:ns131="http://schemas.openxmlformats.org/drawingml/2006/main">
            <ns131:off x="2422800" y="1674000"/>
            <ns131:ext cx="324000" cy="306000"/>
          </ns131:xfrm>
          <ns132:prstGeom xmlns:ns132="http://schemas.openxmlformats.org/drawingml/2006/main" prst="ellipse">
            <ns132:avLst/>
          </ns132:prstGeom>
          <ns133:solidFill xmlns:ns133="http://schemas.openxmlformats.org/drawingml/2006/main">
            <ns133:srgbClr val="005A9C"/>
          </ns133:solidFill>
          <ns134:ln xmlns:ns134="http://schemas.openxmlformats.org/drawingml/2006/main" w="0">
            <ns134:noFill/>
          </ns134:ln>
        </p:spPr>
        <p:txBody>
          <ns135:bodyPr xmlns:ns135="http://schemas.openxmlformats.org/drawingml/2006/main" wrap="square" lIns="0" rIns="0" tIns="0" bIns="0" anchor="ctr">
            <ns135:noAutofit/>
          </ns135:bodyPr>
          <ns136:lstStyle xmlns:ns136="http://schemas.openxmlformats.org/drawingml/2006/main"/>
          <ns137:p xmlns:ns137="http://schemas.openxmlformats.org/drawingml/2006/main">
            <ns137:pPr algn="ctr">
              <ns137:lnSpc>
                <ns137:spcPct val="105000"/>
              </ns137:lnSpc>
              <ns137:defRPr sz="1600" b="1">
                <ns137:solidFill>
                  <ns137:srgbClr val="FFFFFF"/>
                </ns137:solidFill>
                <ns137:latin typeface="Arial"/>
                <ns137:ea typeface="Arial"/>
                <ns137:cs typeface="Arial"/>
              </ns137:defRPr>
            </ns137:pPr>
            <ns137:r>
              <ns137:rPr sz="1600" b="1">
                <ns137:solidFill>
                  <ns137:srgbClr val="FFFFFF"/>
                </ns137:solidFill>
                <ns137:latin typeface="Arial"/>
                <ns137:ea typeface="Arial"/>
                <ns137:cs typeface="Arial"/>
              </ns137:rPr>
              <ns137:t>1</ns137:t>
            </ns137:r>
          </ns137:p>
        </p:txBody>
      </p:sp>
      <p:sp>
        <p:nvSpPr>
          <p:cNvPr id="24" name="phase.title.0"/>
          <p:cNvSpPr/>
          <p:nvPr/>
        </p:nvSpPr>
        <p:spPr>
          <ns138:xfrm xmlns:ns138="http://schemas.openxmlformats.org/drawingml/2006/main">
            <ns138:off x="2422800" y="2124000"/>
            <ns138:ext cx="2005200" cy="450000"/>
          </ns138:xfrm>
          <ns139:prstGeom xmlns:ns139="http://schemas.openxmlformats.org/drawingml/2006/main" prst="rect">
            <ns139:avLst/>
          </ns139:prstGeom>
          <ns140:noFill xmlns:ns140="http://schemas.openxmlformats.org/drawingml/2006/main"/>
          <ns141:ln xmlns:ns141="http://schemas.openxmlformats.org/drawingml/2006/main" w="0">
            <ns141:noFill/>
          </ns141:ln>
        </p:spPr>
        <p:txBody>
          <ns142:bodyPr xmlns:ns142="http://schemas.openxmlformats.org/drawingml/2006/main" wrap="square" lIns="0" rIns="0" tIns="0" bIns="0" anchor="t">
            <ns142:noAutofit/>
          </ns142:bodyPr>
          <ns143:lstStyle xmlns:ns143="http://schemas.openxmlformats.org/drawingml/2006/main"/>
          <ns144:p xmlns:ns144="http://schemas.openxmlformats.org/drawingml/2006/main">
            <ns144:pPr algn="l">
              <ns144:lnSpc>
                <ns144:spcPct val="105000"/>
              </ns144:lnSpc>
              <ns144:defRPr sz="1300" b="1">
                <ns144:solidFill>
                  <ns144:srgbClr val="005A9C"/>
                </ns144:solidFill>
                <ns144:latin typeface="Arial"/>
                <ns144:ea typeface="Arial"/>
                <ns144:cs typeface="Arial"/>
              </ns144:defRPr>
            </ns144:pPr>
            <ns144:r>
              <ns144:rPr sz="1300" b="1">
                <ns144:solidFill>
                  <ns144:srgbClr val="005A9C"/>
                </ns144:solidFill>
                <ns144:latin typeface="Arial"/>
                <ns144:ea typeface="Arial"/>
                <ns144:cs typeface="Arial"/>
              </ns144:rPr>
              <ns144:t>Research / client</ns144:t>
            </ns144:r>
          </ns144:p>
          <ns145:p xmlns:ns145="http://schemas.openxmlformats.org/drawingml/2006/main">
            <ns145:pPr algn="l">
              <ns145:lnSpc>
                <ns145:spcPct val="105000"/>
              </ns145:lnSpc>
              <ns145:defRPr sz="1300" b="1">
                <ns145:solidFill>
                  <ns145:srgbClr val="005A9C"/>
                </ns145:solidFill>
                <ns145:latin typeface="Arial"/>
                <ns145:ea typeface="Arial"/>
                <ns145:cs typeface="Arial"/>
              </ns145:defRPr>
            </ns145:pPr>
            <ns145:r>
              <ns145:rPr sz="1300" b="1">
                <ns145:solidFill>
                  <ns145:srgbClr val="005A9C"/>
                </ns145:solidFill>
                <ns145:latin typeface="Arial"/>
                <ns145:ea typeface="Arial"/>
                <ns145:cs typeface="Arial"/>
              </ns145:rPr>
              <ns145:t>communications</ns145:t>
            </ns145:r>
          </ns145:p>
        </p:txBody>
      </p:sp>
      <p:sp>
        <p:nvSpPr>
          <p:cNvPr id="25" name="phase.teams.label.0"/>
          <p:cNvSpPr/>
          <p:nvPr/>
        </p:nvSpPr>
        <p:spPr>
          <ns146:xfrm xmlns:ns146="http://schemas.openxmlformats.org/drawingml/2006/main">
            <ns146:off x="2422800" y="2682000"/>
            <ns146:ext cx="2005200" cy="144000"/>
          </ns146:xfrm>
          <ns147:prstGeom xmlns:ns147="http://schemas.openxmlformats.org/drawingml/2006/main" prst="rect">
            <ns147:avLst/>
          </ns147:prstGeom>
          <ns148:noFill xmlns:ns148="http://schemas.openxmlformats.org/drawingml/2006/main"/>
          <ns149:ln xmlns:ns149="http://schemas.openxmlformats.org/drawingml/2006/main" w="0">
            <ns149:noFill/>
          </ns149:ln>
        </p:spPr>
        <p:txBody>
          <ns150:bodyPr xmlns:ns150="http://schemas.openxmlformats.org/drawingml/2006/main" wrap="square" lIns="0" rIns="0" tIns="0" bIns="0" anchor="t">
            <ns150:noAutofit/>
          </ns150:bodyPr>
          <ns151:lstStyle xmlns:ns151="http://schemas.openxmlformats.org/drawingml/2006/main"/>
          <ns152:p xmlns:ns152="http://schemas.openxmlformats.org/drawingml/2006/main">
            <ns152:pPr algn="l">
              <ns152:lnSpc>
                <ns152:spcPct val="105000"/>
              </ns152:lnSpc>
              <ns152:defRPr sz="950" b="0">
                <ns152:solidFill>
                  <ns152:srgbClr val="65727D"/>
                </ns152:solidFill>
                <ns152:latin typeface="Arial"/>
                <ns152:ea typeface="Arial"/>
                <ns152:cs typeface="Arial"/>
              </ns152:defRPr>
            </ns152:pPr>
            <ns152:r>
              <ns152:rPr sz="950" b="0">
                <ns152:solidFill>
                  <ns152:srgbClr val="65727D"/>
                </ns152:solidFill>
                <ns152:latin typeface="Arial"/>
                <ns152:ea typeface="Arial"/>
                <ns152:cs typeface="Arial"/>
              </ns152:rPr>
              <ns152:t>Participating teams</ns152:t>
            </ns152:r>
          </ns152:p>
        </p:txBody>
      </p:sp>
      <p:sp>
        <p:nvSpPr>
          <p:cNvPr id="26" name="phase.teams.0"/>
          <p:cNvSpPr/>
          <p:nvPr/>
        </p:nvSpPr>
        <p:spPr>
          <ns153:xfrm xmlns:ns153="http://schemas.openxmlformats.org/drawingml/2006/main">
            <ns153:off x="2422800" y="2890800"/>
            <ns153:ext cx="2005200" cy="349200"/>
          </ns153:xfrm>
          <ns154:prstGeom xmlns:ns154="http://schemas.openxmlformats.org/drawingml/2006/main" prst="rect">
            <ns154:avLst/>
          </ns154:prstGeom>
          <ns155:noFill xmlns:ns155="http://schemas.openxmlformats.org/drawingml/2006/main"/>
          <ns156:ln xmlns:ns156="http://schemas.openxmlformats.org/drawingml/2006/main" w="0">
            <ns156:noFill/>
          </ns156:ln>
        </p:spPr>
        <p:txBody>
          <ns157:bodyPr xmlns:ns157="http://schemas.openxmlformats.org/drawingml/2006/main" wrap="square" lIns="0" rIns="0" tIns="0" bIns="0" anchor="t">
            <ns157:noAutofit/>
          </ns157:bodyPr>
          <ns158:lstStyle xmlns:ns158="http://schemas.openxmlformats.org/drawingml/2006/main"/>
          <ns159:p xmlns:ns159="http://schemas.openxmlformats.org/drawingml/2006/main">
            <ns159:pPr algn="l">
              <ns159:lnSpc>
                <ns159:spcPct val="105000"/>
              </ns159:lnSpc>
              <ns159:defRPr sz="1050" b="0">
                <ns159:solidFill>
                  <ns159:srgbClr val="20262C"/>
                </ns159:solidFill>
                <ns159:latin typeface="Arial"/>
                <ns159:ea typeface="Arial"/>
                <ns159:cs typeface="Arial"/>
              </ns159:defRPr>
            </ns159:pPr>
            <ns159:r>
              <ns159:rPr sz="1050" b="0">
                <ns159:solidFill>
                  <ns159:srgbClr val="20262C"/>
                </ns159:solidFill>
                <ns159:latin typeface="Arial"/>
                <ns159:ea typeface="Arial"/>
                <ns159:cs typeface="Arial"/>
              </ns159:rPr>
              <ns159:t>Research / Sales</ns159:t>
            </ns159:r>
          </ns159:p>
          <ns160:p xmlns:ns160="http://schemas.openxmlformats.org/drawingml/2006/main">
            <ns160:pPr algn="l">
              <ns160:lnSpc>
                <ns160:spcPct val="105000"/>
              </ns160:lnSpc>
              <ns160:defRPr sz="1050" b="0">
                <ns160:solidFill>
                  <ns160:srgbClr val="20262C"/>
                </ns160:solidFill>
                <ns160:latin typeface="Arial"/>
                <ns160:ea typeface="Arial"/>
                <ns160:cs typeface="Arial"/>
              </ns160:defRPr>
            </ns160:pPr>
            <ns160:r>
              <ns160:rPr sz="1050" b="0">
                <ns160:solidFill>
                  <ns160:srgbClr val="20262C"/>
                </ns160:solidFill>
                <ns160:latin typeface="Arial"/>
                <ns160:ea typeface="Arial"/>
                <ns160:cs typeface="Arial"/>
              </ns160:rPr>
              <ns160:t>Compliance / IT</ns160:t>
            </ns160:r>
          </ns160:p>
        </p:txBody>
      </p:sp>
      <p:sp>
        <p:nvSpPr>
          <p:cNvPr id="27" name="phase.deliverables.0.paper"/>
          <p:cNvSpPr/>
          <p:nvPr/>
        </p:nvSpPr>
        <p:spPr>
          <ns161:xfrm xmlns:ns161="http://schemas.openxmlformats.org/drawingml/2006/main">
            <ns161:off x="2422800" y="3348000"/>
            <ns161:ext cx="2005200" cy="1062000"/>
          </ns161:xfrm>
          <ns162:prstGeom xmlns:ns162="http://schemas.openxmlformats.org/drawingml/2006/main" prst="foldedCorner">
            <ns162:avLst/>
          </ns162:prstGeom>
          <ns163:solidFill xmlns:ns163="http://schemas.openxmlformats.org/drawingml/2006/main">
            <ns163:srgbClr val="FFFFFF"/>
          </ns163:solidFill>
          <ns164:ln xmlns:ns164="http://schemas.openxmlformats.org/drawingml/2006/main" w="9525">
            <ns164:solidFill>
              <ns164:srgbClr val="65727D"/>
            </ns164:solidFill>
          </ns164:ln>
        </p:spPr>
      </p:sp>
      <p:sp>
        <p:nvSpPr>
          <p:cNvPr id="28" name="phase.deliverables.0.title"/>
          <p:cNvSpPr/>
          <p:nvPr/>
        </p:nvSpPr>
        <p:spPr>
          <ns165:xfrm xmlns:ns165="http://schemas.openxmlformats.org/drawingml/2006/main">
            <ns165:off x="2487600" y="3391200"/>
            <ns165:ext cx="1807200" cy="198000"/>
          </ns165:xfrm>
          <ns166:prstGeom xmlns:ns166="http://schemas.openxmlformats.org/drawingml/2006/main" prst="rect">
            <ns166:avLst/>
          </ns166:prstGeom>
          <ns167:noFill xmlns:ns167="http://schemas.openxmlformats.org/drawingml/2006/main"/>
          <ns168:ln xmlns:ns168="http://schemas.openxmlformats.org/drawingml/2006/main" w="0">
            <ns168:noFill/>
          </ns168:ln>
        </p:spPr>
        <p:txBody>
          <ns169:bodyPr xmlns:ns169="http://schemas.openxmlformats.org/drawingml/2006/main" wrap="square" lIns="0" rIns="0" tIns="0" bIns="0" anchor="t">
            <ns169:noAutofit/>
          </ns169:bodyPr>
          <ns170:lstStyle xmlns:ns170="http://schemas.openxmlformats.org/drawingml/2006/main"/>
          <ns171:p xmlns:ns171="http://schemas.openxmlformats.org/drawingml/2006/main">
            <ns171:pPr algn="l">
              <ns171:lnSpc>
                <ns171:spcPct val="105000"/>
              </ns171:lnSpc>
              <ns171:defRPr sz="1250" b="1">
                <ns171:solidFill>
                  <ns171:srgbClr val="65727D"/>
                </ns171:solidFill>
                <ns171:latin typeface="Arial"/>
                <ns171:ea typeface="Arial"/>
                <ns171:cs typeface="Arial"/>
              </ns171:defRPr>
            </ns171:pPr>
            <ns171:r>
              <ns171:rPr sz="1250" b="1">
                <ns171:solidFill>
                  <ns171:srgbClr val="65727D"/>
                </ns171:solidFill>
                <ns171:latin typeface="Arial"/>
                <ns171:ea typeface="Arial"/>
                <ns171:cs typeface="Arial"/>
              </ns171:rPr>
              <ns171:t>Deliverables</ns171:t>
            </ns171:r>
          </ns171:p>
        </p:txBody>
      </p:sp>
      <p:sp>
        <p:nvSpPr>
          <p:cNvPr id="29" name="phase.deliverables.0.content"/>
          <p:cNvSpPr/>
          <p:nvPr/>
        </p:nvSpPr>
        <p:spPr>
          <ns172:xfrm xmlns:ns172="http://schemas.openxmlformats.org/drawingml/2006/main">
            <ns172:off x="2487600" y="3607200"/>
            <ns172:ext cx="1875600" cy="752400"/>
          </ns172:xfrm>
          <ns173:prstGeom xmlns:ns173="http://schemas.openxmlformats.org/drawingml/2006/main" prst="rect">
            <ns173:avLst/>
          </ns173:prstGeom>
          <ns174:noFill xmlns:ns174="http://schemas.openxmlformats.org/drawingml/2006/main"/>
          <ns175:ln xmlns:ns175="http://schemas.openxmlformats.org/drawingml/2006/main" w="0">
            <ns175:noFill/>
          </ns175:ln>
        </p:spPr>
        <p:txBody>
          <ns176:bodyPr xmlns:ns176="http://schemas.openxmlformats.org/drawingml/2006/main" wrap="square" lIns="0" rIns="0" tIns="0" bIns="0" anchor="t">
            <ns176:noAutofit/>
          </ns176:bodyPr>
          <ns177:lstStyle xmlns:ns177="http://schemas.openxmlformats.org/drawingml/2006/main"/>
          <ns178:p xmlns:ns178="http://schemas.openxmlformats.org/drawingml/2006/main">
            <ns178:pPr algn="l">
              <ns178:lnSpc>
                <ns178:spcPct val="100000"/>
              </ns178:lnSpc>
              <ns178:defRPr sz="1150" b="0">
                <ns178:solidFill>
                  <ns178:srgbClr val="20262C"/>
                </ns178:solidFill>
                <ns178:latin typeface="Arial"/>
                <ns178:ea typeface="Arial"/>
                <ns178:cs typeface="Arial"/>
              </ns178:defRPr>
            </ns178:pPr>
            <ns178:r>
              <ns178:rPr sz="1150" b="0">
                <ns178:solidFill>
                  <ns178:srgbClr val="20262C"/>
                </ns178:solidFill>
                <ns178:latin typeface="Arial"/>
                <ns178:ea typeface="Arial"/>
                <ns178:cs typeface="Arial"/>
              </ns178:rPr>
              <ns178:t>Sample tasks</ns178:t>
            </ns178:r>
          </ns178:p>
          <ns179:p xmlns:ns179="http://schemas.openxmlformats.org/drawingml/2006/main">
            <ns179:pPr algn="l">
              <ns179:lnSpc>
                <ns179:spcPct val="100000"/>
              </ns179:lnSpc>
              <ns179:defRPr sz="1150" b="0">
                <ns179:solidFill>
                  <ns179:srgbClr val="20262C"/>
                </ns179:solidFill>
                <ns179:latin typeface="Arial"/>
                <ns179:ea typeface="Arial"/>
                <ns179:cs typeface="Arial"/>
              </ns179:defRPr>
            </ns179:pPr>
            <ns179:r>
              <ns179:rPr sz="1150" b="0">
                <ns179:solidFill>
                  <ns179:srgbClr val="20262C"/>
                </ns179:solidFill>
                <ns179:latin typeface="Arial"/>
                <ns179:ea typeface="Arial"/>
                <ns179:cs typeface="Arial"/>
              </ns179:rPr>
              <ns179:t>Source inventory</ns179:t>
            </ns179:r>
          </ns179:p>
          <ns180:p xmlns:ns180="http://schemas.openxmlformats.org/drawingml/2006/main">
            <ns180:pPr algn="l">
              <ns180:lnSpc>
                <ns180:spcPct val="100000"/>
              </ns180:lnSpc>
              <ns180:defRPr sz="1150" b="0">
                <ns180:solidFill>
                  <ns180:srgbClr val="20262C"/>
                </ns180:solidFill>
                <ns180:latin typeface="Arial"/>
                <ns180:ea typeface="Arial"/>
                <ns180:cs typeface="Arial"/>
              </ns180:defRPr>
            </ns180:pPr>
            <ns180:r>
              <ns180:rPr sz="1150" b="0">
                <ns180:solidFill>
                  <ns180:srgbClr val="20262C"/>
                </ns180:solidFill>
                <ns180:latin typeface="Arial"/>
                <ns180:ea typeface="Arial"/>
                <ns180:cs typeface="Arial"/>
              </ns180:rPr>
              <ns180:t>Initial applications</ns180:t>
            </ns180:r>
          </ns180:p>
        </p:txBody>
      </p:sp>
      <p:sp>
        <p:nvSpPr>
          <p:cNvPr id="30" name="phase.marker.1"/>
          <p:cNvSpPr/>
          <p:nvPr/>
        </p:nvSpPr>
        <p:spPr>
          <ns181:xfrm xmlns:ns181="http://schemas.openxmlformats.org/drawingml/2006/main">
            <ns181:off x="4554000" y="1674000"/>
            <ns181:ext cx="324000" cy="306000"/>
          </ns181:xfrm>
          <ns182:prstGeom xmlns:ns182="http://schemas.openxmlformats.org/drawingml/2006/main" prst="ellipse">
            <ns182:avLst/>
          </ns182:prstGeom>
          <ns183:solidFill xmlns:ns183="http://schemas.openxmlformats.org/drawingml/2006/main">
            <ns183:srgbClr val="005A9C"/>
          </ns183:solidFill>
          <ns184:ln xmlns:ns184="http://schemas.openxmlformats.org/drawingml/2006/main" w="0">
            <ns184:noFill/>
          </ns184:ln>
        </p:spPr>
        <p:txBody>
          <ns185:bodyPr xmlns:ns185="http://schemas.openxmlformats.org/drawingml/2006/main" wrap="square" lIns="0" rIns="0" tIns="0" bIns="0" anchor="ctr">
            <ns185:noAutofit/>
          </ns185:bodyPr>
          <ns186:lstStyle xmlns:ns186="http://schemas.openxmlformats.org/drawingml/2006/main"/>
          <ns187:p xmlns:ns187="http://schemas.openxmlformats.org/drawingml/2006/main">
            <ns187:pPr algn="ctr">
              <ns187:lnSpc>
                <ns187:spcPct val="105000"/>
              </ns187:lnSpc>
              <ns187:defRPr sz="1600" b="1">
                <ns187:solidFill>
                  <ns187:srgbClr val="FFFFFF"/>
                </ns187:solidFill>
                <ns187:latin typeface="Arial"/>
                <ns187:ea typeface="Arial"/>
                <ns187:cs typeface="Arial"/>
              </ns187:defRPr>
            </ns187:pPr>
            <ns187:r>
              <ns187:rPr sz="1600" b="1">
                <ns187:solidFill>
                  <ns187:srgbClr val="FFFFFF"/>
                </ns187:solidFill>
                <ns187:latin typeface="Arial"/>
                <ns187:ea typeface="Arial"/>
                <ns187:cs typeface="Arial"/>
              </ns187:rPr>
              <ns187:t>2</ns187:t>
            </ns187:r>
          </ns187:p>
        </p:txBody>
      </p:sp>
      <p:sp>
        <p:nvSpPr>
          <p:cNvPr id="31" name="phase.title.1"/>
          <p:cNvSpPr/>
          <p:nvPr/>
        </p:nvSpPr>
        <p:spPr>
          <ns188:xfrm xmlns:ns188="http://schemas.openxmlformats.org/drawingml/2006/main">
            <ns188:off x="4554000" y="2124000"/>
            <ns188:ext cx="2005200" cy="450000"/>
          </ns188:xfrm>
          <ns189:prstGeom xmlns:ns189="http://schemas.openxmlformats.org/drawingml/2006/main" prst="rect">
            <ns189:avLst/>
          </ns189:prstGeom>
          <ns190:noFill xmlns:ns190="http://schemas.openxmlformats.org/drawingml/2006/main"/>
          <ns191:ln xmlns:ns191="http://schemas.openxmlformats.org/drawingml/2006/main" w="0">
            <ns191:noFill/>
          </ns191:ln>
        </p:spPr>
        <p:txBody>
          <ns192:bodyPr xmlns:ns192="http://schemas.openxmlformats.org/drawingml/2006/main" wrap="square" lIns="0" rIns="0" tIns="0" bIns="0" anchor="t">
            <ns192:noAutofit/>
          </ns192:bodyPr>
          <ns193:lstStyle xmlns:ns193="http://schemas.openxmlformats.org/drawingml/2006/main"/>
          <ns194:p xmlns:ns194="http://schemas.openxmlformats.org/drawingml/2006/main">
            <ns194:pPr algn="l">
              <ns194:lnSpc>
                <ns194:spcPct val="105000"/>
              </ns194:lnSpc>
              <ns194:defRPr sz="1300" b="1">
                <ns194:solidFill>
                  <ns194:srgbClr val="005A9C"/>
                </ns194:solidFill>
                <ns194:latin typeface="Arial"/>
                <ns194:ea typeface="Arial"/>
                <ns194:cs typeface="Arial"/>
              </ns194:defRPr>
            </ns194:pPr>
            <ns194:r>
              <ns194:rPr sz="1300" b="1">
                <ns194:solidFill>
                  <ns194:srgbClr val="005A9C"/>
                </ns194:solidFill>
                <ns194:latin typeface="Arial"/>
                <ns194:ea typeface="Arial"/>
                <ns194:cs typeface="Arial"/>
              </ns194:rPr>
              <ns194:t>Trading /</ns194:t>
            </ns194:r>
          </ns194:p>
          <ns195:p xmlns:ns195="http://schemas.openxmlformats.org/drawingml/2006/main">
            <ns195:pPr algn="l">
              <ns195:lnSpc>
                <ns195:spcPct val="105000"/>
              </ns195:lnSpc>
              <ns195:defRPr sz="1300" b="1">
                <ns195:solidFill>
                  <ns195:srgbClr val="005A9C"/>
                </ns195:solidFill>
                <ns195:latin typeface="Arial"/>
                <ns195:ea typeface="Arial"/>
                <ns195:cs typeface="Arial"/>
              </ns195:defRPr>
            </ns195:pPr>
            <ns195:r>
              <ns195:rPr sz="1300" b="1">
                <ns195:solidFill>
                  <ns195:srgbClr val="005A9C"/>
                </ns195:solidFill>
                <ns195:latin typeface="Arial"/>
                <ns195:ea typeface="Arial"/>
                <ns195:cs typeface="Arial"/>
              </ns195:rPr>
              <ns195:t>operations</ns195:t>
            </ns195:r>
          </ns195:p>
        </p:txBody>
      </p:sp>
      <p:sp>
        <p:nvSpPr>
          <p:cNvPr id="32" name="phase.teams.label.1"/>
          <p:cNvSpPr/>
          <p:nvPr/>
        </p:nvSpPr>
        <p:spPr>
          <ns196:xfrm xmlns:ns196="http://schemas.openxmlformats.org/drawingml/2006/main">
            <ns196:off x="4554000" y="2682000"/>
            <ns196:ext cx="2005200" cy="144000"/>
          </ns196:xfrm>
          <ns197:prstGeom xmlns:ns197="http://schemas.openxmlformats.org/drawingml/2006/main" prst="rect">
            <ns197:avLst/>
          </ns197:prstGeom>
          <ns198:noFill xmlns:ns198="http://schemas.openxmlformats.org/drawingml/2006/main"/>
          <ns199:ln xmlns:ns199="http://schemas.openxmlformats.org/drawingml/2006/main" w="0">
            <ns199:noFill/>
          </ns199:ln>
        </p:spPr>
        <p:txBody>
          <ns200:bodyPr xmlns:ns200="http://schemas.openxmlformats.org/drawingml/2006/main" wrap="square" lIns="0" rIns="0" tIns="0" bIns="0" anchor="t">
            <ns200:noAutofit/>
          </ns200:bodyPr>
          <ns201:lstStyle xmlns:ns201="http://schemas.openxmlformats.org/drawingml/2006/main"/>
          <ns202:p xmlns:ns202="http://schemas.openxmlformats.org/drawingml/2006/main">
            <ns202:pPr algn="l">
              <ns202:lnSpc>
                <ns202:spcPct val="105000"/>
              </ns202:lnSpc>
              <ns202:defRPr sz="950" b="0">
                <ns202:solidFill>
                  <ns202:srgbClr val="65727D"/>
                </ns202:solidFill>
                <ns202:latin typeface="Arial"/>
                <ns202:ea typeface="Arial"/>
                <ns202:cs typeface="Arial"/>
              </ns202:defRPr>
            </ns202:pPr>
            <ns202:r>
              <ns202:rPr sz="950" b="0">
                <ns202:solidFill>
                  <ns202:srgbClr val="65727D"/>
                </ns202:solidFill>
                <ns202:latin typeface="Arial"/>
                <ns202:ea typeface="Arial"/>
                <ns202:cs typeface="Arial"/>
              </ns202:rPr>
              <ns202:t>Participating teams</ns202:t>
            </ns202:r>
          </ns202:p>
        </p:txBody>
      </p:sp>
      <p:sp>
        <p:nvSpPr>
          <p:cNvPr id="33" name="phase.teams.1"/>
          <p:cNvSpPr/>
          <p:nvPr/>
        </p:nvSpPr>
        <p:spPr>
          <ns203:xfrm xmlns:ns203="http://schemas.openxmlformats.org/drawingml/2006/main">
            <ns203:off x="4554000" y="2890800"/>
            <ns203:ext cx="2005200" cy="349200"/>
          </ns203:xfrm>
          <ns204:prstGeom xmlns:ns204="http://schemas.openxmlformats.org/drawingml/2006/main" prst="rect">
            <ns204:avLst/>
          </ns204:prstGeom>
          <ns205:noFill xmlns:ns205="http://schemas.openxmlformats.org/drawingml/2006/main"/>
          <ns206:ln xmlns:ns206="http://schemas.openxmlformats.org/drawingml/2006/main" w="0">
            <ns206:noFill/>
          </ns206:ln>
        </p:spPr>
        <p:txBody>
          <ns207:bodyPr xmlns:ns207="http://schemas.openxmlformats.org/drawingml/2006/main" wrap="square" lIns="0" rIns="0" tIns="0" bIns="0" anchor="t">
            <ns207:noAutofit/>
          </ns207:bodyPr>
          <ns208:lstStyle xmlns:ns208="http://schemas.openxmlformats.org/drawingml/2006/main"/>
          <ns209:p xmlns:ns209="http://schemas.openxmlformats.org/drawingml/2006/main">
            <ns209:pPr algn="l">
              <ns209:lnSpc>
                <ns209:spcPct val="105000"/>
              </ns209:lnSpc>
              <ns209:defRPr sz="1050" b="0">
                <ns209:solidFill>
                  <ns209:srgbClr val="20262C"/>
                </ns209:solidFill>
                <ns209:latin typeface="Arial"/>
                <ns209:ea typeface="Arial"/>
                <ns209:cs typeface="Arial"/>
              </ns209:defRPr>
            </ns209:pPr>
            <ns209:r>
              <ns209:rPr sz="1050" b="0">
                <ns209:solidFill>
                  <ns209:srgbClr val="20262C"/>
                </ns209:solidFill>
                <ns209:latin typeface="Arial"/>
                <ns209:ea typeface="Arial"/>
                <ns209:cs typeface="Arial"/>
              </ns209:rPr>
              <ns209:t>Trading / Operations</ns209:t>
            </ns209:r>
          </ns209:p>
          <ns210:p xmlns:ns210="http://schemas.openxmlformats.org/drawingml/2006/main">
            <ns210:pPr algn="l">
              <ns210:lnSpc>
                <ns210:spcPct val="105000"/>
              </ns210:lnSpc>
              <ns210:defRPr sz="1050" b="0">
                <ns210:solidFill>
                  <ns210:srgbClr val="20262C"/>
                </ns210:solidFill>
                <ns210:latin typeface="Arial"/>
                <ns210:ea typeface="Arial"/>
                <ns210:cs typeface="Arial"/>
              </ns210:defRPr>
            </ns210:pPr>
            <ns210:r>
              <ns210:rPr sz="1050" b="0">
                <ns210:solidFill>
                  <ns210:srgbClr val="20262C"/>
                </ns210:solidFill>
                <ns210:latin typeface="Arial"/>
                <ns210:ea typeface="Arial"/>
                <ns210:cs typeface="Arial"/>
              </ns210:rPr>
              <ns210:t>IT</ns210:t>
            </ns210:r>
          </ns210:p>
        </p:txBody>
      </p:sp>
      <p:sp>
        <p:nvSpPr>
          <p:cNvPr id="34" name="phase.deliverables.1.paper"/>
          <p:cNvSpPr/>
          <p:nvPr/>
        </p:nvSpPr>
        <p:spPr>
          <ns211:xfrm xmlns:ns211="http://schemas.openxmlformats.org/drawingml/2006/main">
            <ns211:off x="4554000" y="3348000"/>
            <ns211:ext cx="2005200" cy="1062000"/>
          </ns211:xfrm>
          <ns212:prstGeom xmlns:ns212="http://schemas.openxmlformats.org/drawingml/2006/main" prst="foldedCorner">
            <ns212:avLst/>
          </ns212:prstGeom>
          <ns213:solidFill xmlns:ns213="http://schemas.openxmlformats.org/drawingml/2006/main">
            <ns213:srgbClr val="FFFFFF"/>
          </ns213:solidFill>
          <ns214:ln xmlns:ns214="http://schemas.openxmlformats.org/drawingml/2006/main" w="9525">
            <ns214:solidFill>
              <ns214:srgbClr val="65727D"/>
            </ns214:solidFill>
          </ns214:ln>
        </p:spPr>
      </p:sp>
      <p:sp>
        <p:nvSpPr>
          <p:cNvPr id="35" name="phase.deliverables.1.title"/>
          <p:cNvSpPr/>
          <p:nvPr/>
        </p:nvSpPr>
        <p:spPr>
          <ns215:xfrm xmlns:ns215="http://schemas.openxmlformats.org/drawingml/2006/main">
            <ns215:off x="4618800" y="3391200"/>
            <ns215:ext cx="1807200" cy="198000"/>
          </ns215:xfrm>
          <ns216:prstGeom xmlns:ns216="http://schemas.openxmlformats.org/drawingml/2006/main" prst="rect">
            <ns216:avLst/>
          </ns216:prstGeom>
          <ns217:noFill xmlns:ns217="http://schemas.openxmlformats.org/drawingml/2006/main"/>
          <ns218:ln xmlns:ns218="http://schemas.openxmlformats.org/drawingml/2006/main" w="0">
            <ns218:noFill/>
          </ns218:ln>
        </p:spPr>
        <p:txBody>
          <ns219:bodyPr xmlns:ns219="http://schemas.openxmlformats.org/drawingml/2006/main" wrap="square" lIns="0" rIns="0" tIns="0" bIns="0" anchor="t">
            <ns219:noAutofit/>
          </ns219:bodyPr>
          <ns220:lstStyle xmlns:ns220="http://schemas.openxmlformats.org/drawingml/2006/main"/>
          <ns221:p xmlns:ns221="http://schemas.openxmlformats.org/drawingml/2006/main">
            <ns221:pPr algn="l">
              <ns221:lnSpc>
                <ns221:spcPct val="105000"/>
              </ns221:lnSpc>
              <ns221:defRPr sz="1250" b="1">
                <ns221:solidFill>
                  <ns221:srgbClr val="65727D"/>
                </ns221:solidFill>
                <ns221:latin typeface="Arial"/>
                <ns221:ea typeface="Arial"/>
                <ns221:cs typeface="Arial"/>
              </ns221:defRPr>
            </ns221:pPr>
            <ns221:r>
              <ns221:rPr sz="1250" b="1">
                <ns221:solidFill>
                  <ns221:srgbClr val="65727D"/>
                </ns221:solidFill>
                <ns221:latin typeface="Arial"/>
                <ns221:ea typeface="Arial"/>
                <ns221:cs typeface="Arial"/>
              </ns221:rPr>
              <ns221:t>Deliverables</ns221:t>
            </ns221:r>
          </ns221:p>
        </p:txBody>
      </p:sp>
      <p:sp>
        <p:nvSpPr>
          <p:cNvPr id="36" name="phase.deliverables.1.content"/>
          <p:cNvSpPr/>
          <p:nvPr/>
        </p:nvSpPr>
        <p:spPr>
          <ns222:xfrm xmlns:ns222="http://schemas.openxmlformats.org/drawingml/2006/main">
            <ns222:off x="4618800" y="3607200"/>
            <ns222:ext cx="1875600" cy="752400"/>
          </ns222:xfrm>
          <ns223:prstGeom xmlns:ns223="http://schemas.openxmlformats.org/drawingml/2006/main" prst="rect">
            <ns223:avLst/>
          </ns223:prstGeom>
          <ns224:noFill xmlns:ns224="http://schemas.openxmlformats.org/drawingml/2006/main"/>
          <ns225:ln xmlns:ns225="http://schemas.openxmlformats.org/drawingml/2006/main" w="0">
            <ns225:noFill/>
          </ns225:ln>
        </p:spPr>
        <p:txBody>
          <ns226:bodyPr xmlns:ns226="http://schemas.openxmlformats.org/drawingml/2006/main" wrap="square" lIns="0" rIns="0" tIns="0" bIns="0" anchor="t">
            <ns226:noAutofit/>
          </ns226:bodyPr>
          <ns227:lstStyle xmlns:ns227="http://schemas.openxmlformats.org/drawingml/2006/main"/>
          <ns228:p xmlns:ns228="http://schemas.openxmlformats.org/drawingml/2006/main">
            <ns228:pPr algn="l">
              <ns228:lnSpc>
                <ns228:spcPct val="100000"/>
              </ns228:lnSpc>
              <ns228:defRPr sz="1150" b="0">
                <ns228:solidFill>
                  <ns228:srgbClr val="20262C"/>
                </ns228:solidFill>
                <ns228:latin typeface="Arial"/>
                <ns228:ea typeface="Arial"/>
                <ns228:cs typeface="Arial"/>
              </ns228:defRPr>
            </ns228:pPr>
            <ns228:r>
              <ns228:rPr sz="1150" b="0">
                <ns228:solidFill>
                  <ns228:srgbClr val="20262C"/>
                </ns228:solidFill>
                <ns228:latin typeface="Arial"/>
                <ns228:ea typeface="Arial"/>
                <ns228:cs typeface="Arial"/>
              </ns228:rPr>
              <ns228:t>Data definitions</ns228:t>
            </ns228:r>
          </ns228:p>
          <ns229:p xmlns:ns229="http://schemas.openxmlformats.org/drawingml/2006/main">
            <ns229:pPr algn="l">
              <ns229:lnSpc>
                <ns229:spcPct val="100000"/>
              </ns229:lnSpc>
              <ns229:defRPr sz="1150" b="0">
                <ns229:solidFill>
                  <ns229:srgbClr val="20262C"/>
                </ns229:solidFill>
                <ns229:latin typeface="Arial"/>
                <ns229:ea typeface="Arial"/>
                <ns229:cs typeface="Arial"/>
              </ns229:defRPr>
            </ns229:pPr>
            <ns229:r>
              <ns229:rPr sz="1150" b="0">
                <ns229:solidFill>
                  <ns229:srgbClr val="20262C"/>
                </ns229:solidFill>
                <ns229:latin typeface="Arial"/>
                <ns229:ea typeface="Arial"/>
                <ns229:cs typeface="Arial"/>
              </ns229:rPr>
              <ns229:t>Query interfaces</ns229:t>
            </ns229:r>
          </ns229:p>
          <ns230:p xmlns:ns230="http://schemas.openxmlformats.org/drawingml/2006/main">
            <ns230:pPr algn="l">
              <ns230:lnSpc>
                <ns230:spcPct val="100000"/>
              </ns230:lnSpc>
              <ns230:defRPr sz="1150" b="0">
                <ns230:solidFill>
                  <ns230:srgbClr val="20262C"/>
                </ns230:solidFill>
                <ns230:latin typeface="Arial"/>
                <ns230:ea typeface="Arial"/>
                <ns230:cs typeface="Arial"/>
              </ns230:defRPr>
            </ns230:pPr>
            <ns230:r>
              <ns230:rPr sz="1150" b="0">
                <ns230:solidFill>
                  <ns230:srgbClr val="20262C"/>
                </ns230:solidFill>
                <ns230:latin typeface="Arial"/>
                <ns230:ea typeface="Arial"/>
                <ns230:cs typeface="Arial"/>
              </ns230:rPr>
              <ns230:t>Document workflows</ns230:t>
            </ns230:r>
          </ns230:p>
        </p:txBody>
      </p:sp>
      <p:sp>
        <p:nvSpPr>
          <p:cNvPr id="37" name="phase.marker.2"/>
          <p:cNvSpPr/>
          <p:nvPr/>
        </p:nvSpPr>
        <p:spPr>
          <ns231:xfrm xmlns:ns231="http://schemas.openxmlformats.org/drawingml/2006/main">
            <ns231:off x="6685200" y="1674000"/>
            <ns231:ext cx="324000" cy="306000"/>
          </ns231:xfrm>
          <ns232:prstGeom xmlns:ns232="http://schemas.openxmlformats.org/drawingml/2006/main" prst="ellipse">
            <ns232:avLst/>
          </ns232:prstGeom>
          <ns233:solidFill xmlns:ns233="http://schemas.openxmlformats.org/drawingml/2006/main">
            <ns233:srgbClr val="005A9C"/>
          </ns233:solidFill>
          <ns234:ln xmlns:ns234="http://schemas.openxmlformats.org/drawingml/2006/main" w="0">
            <ns234:noFill/>
          </ns234:ln>
        </p:spPr>
        <p:txBody>
          <ns235:bodyPr xmlns:ns235="http://schemas.openxmlformats.org/drawingml/2006/main" wrap="square" lIns="0" rIns="0" tIns="0" bIns="0" anchor="ctr">
            <ns235:noAutofit/>
          </ns235:bodyPr>
          <ns236:lstStyle xmlns:ns236="http://schemas.openxmlformats.org/drawingml/2006/main"/>
          <ns237:p xmlns:ns237="http://schemas.openxmlformats.org/drawingml/2006/main">
            <ns237:pPr algn="ctr">
              <ns237:lnSpc>
                <ns237:spcPct val="105000"/>
              </ns237:lnSpc>
              <ns237:defRPr sz="1600" b="1">
                <ns237:solidFill>
                  <ns237:srgbClr val="FFFFFF"/>
                </ns237:solidFill>
                <ns237:latin typeface="Arial"/>
                <ns237:ea typeface="Arial"/>
                <ns237:cs typeface="Arial"/>
              </ns237:defRPr>
            </ns237:pPr>
            <ns237:r>
              <ns237:rPr sz="1600" b="1">
                <ns237:solidFill>
                  <ns237:srgbClr val="FFFFFF"/>
                </ns237:solidFill>
                <ns237:latin typeface="Arial"/>
                <ns237:ea typeface="Arial"/>
                <ns237:cs typeface="Arial"/>
              </ns237:rPr>
              <ns237:t>3</ns237:t>
            </ns237:r>
          </ns237:p>
        </p:txBody>
      </p:sp>
      <p:sp>
        <p:nvSpPr>
          <p:cNvPr id="38" name="phase.title.2"/>
          <p:cNvSpPr/>
          <p:nvPr/>
        </p:nvSpPr>
        <p:spPr>
          <ns238:xfrm xmlns:ns238="http://schemas.openxmlformats.org/drawingml/2006/main">
            <ns238:off x="6685200" y="2124000"/>
            <ns238:ext cx="2001600" cy="450000"/>
          </ns238:xfrm>
          <ns239:prstGeom xmlns:ns239="http://schemas.openxmlformats.org/drawingml/2006/main" prst="rect">
            <ns239:avLst/>
          </ns239:prstGeom>
          <ns240:noFill xmlns:ns240="http://schemas.openxmlformats.org/drawingml/2006/main"/>
          <ns241:ln xmlns:ns241="http://schemas.openxmlformats.org/drawingml/2006/main" w="0">
            <ns241:noFill/>
          </ns241:ln>
        </p:spPr>
        <p:txBody>
          <ns242:bodyPr xmlns:ns242="http://schemas.openxmlformats.org/drawingml/2006/main" wrap="square" lIns="0" rIns="0" tIns="0" bIns="0" anchor="t">
            <ns242:noAutofit/>
          </ns242:bodyPr>
          <ns243:lstStyle xmlns:ns243="http://schemas.openxmlformats.org/drawingml/2006/main"/>
          <ns244:p xmlns:ns244="http://schemas.openxmlformats.org/drawingml/2006/main">
            <ns244:pPr algn="l">
              <ns244:lnSpc>
                <ns244:spcPct val="105000"/>
              </ns244:lnSpc>
              <ns244:defRPr sz="1300" b="1">
                <ns244:solidFill>
                  <ns244:srgbClr val="005A9C"/>
                </ns244:solidFill>
                <ns244:latin typeface="Arial"/>
                <ns244:ea typeface="Arial"/>
                <ns244:cs typeface="Arial"/>
              </ns244:defRPr>
            </ns244:pPr>
            <ns244:r>
              <ns244:rPr sz="1300" b="1">
                <ns244:solidFill>
                  <ns244:srgbClr val="005A9C"/>
                </ns244:solidFill>
                <ns244:latin typeface="Arial"/>
                <ns244:ea typeface="Arial"/>
                <ns244:cs typeface="Arial"/>
              </ns244:rPr>
              <ns244:t>Development /</ns244:t>
            </ns244:r>
          </ns244:p>
          <ns245:p xmlns:ns245="http://schemas.openxmlformats.org/drawingml/2006/main">
            <ns245:pPr algn="l">
              <ns245:lnSpc>
                <ns245:spcPct val="105000"/>
              </ns245:lnSpc>
              <ns245:defRPr sz="1300" b="1">
                <ns245:solidFill>
                  <ns245:srgbClr val="005A9C"/>
                </ns245:solidFill>
                <ns245:latin typeface="Arial"/>
                <ns245:ea typeface="Arial"/>
                <ns245:cs typeface="Arial"/>
              </ns245:defRPr>
            </ns245:pPr>
            <ns245:r>
              <ns245:rPr sz="1300" b="1">
                <ns245:solidFill>
                  <ns245:srgbClr val="005A9C"/>
                </ns245:solidFill>
                <ns245:latin typeface="Arial"/>
                <ns245:ea typeface="Arial"/>
                <ns245:cs typeface="Arial"/>
              </ns245:rPr>
              <ns245:t>internal services</ns245:t>
            </ns245:r>
          </ns245:p>
        </p:txBody>
      </p:sp>
      <p:sp>
        <p:nvSpPr>
          <p:cNvPr id="39" name="phase.teams.label.2"/>
          <p:cNvSpPr/>
          <p:nvPr/>
        </p:nvSpPr>
        <p:spPr>
          <ns246:xfrm xmlns:ns246="http://schemas.openxmlformats.org/drawingml/2006/main">
            <ns246:off x="6685200" y="2682000"/>
            <ns246:ext cx="2001600" cy="144000"/>
          </ns246:xfrm>
          <ns247:prstGeom xmlns:ns247="http://schemas.openxmlformats.org/drawingml/2006/main" prst="rect">
            <ns247:avLst/>
          </ns247:prstGeom>
          <ns248:noFill xmlns:ns248="http://schemas.openxmlformats.org/drawingml/2006/main"/>
          <ns249:ln xmlns:ns249="http://schemas.openxmlformats.org/drawingml/2006/main" w="0">
            <ns249:noFill/>
          </ns249:ln>
        </p:spPr>
        <p:txBody>
          <ns250:bodyPr xmlns:ns250="http://schemas.openxmlformats.org/drawingml/2006/main" wrap="square" lIns="0" rIns="0" tIns="0" bIns="0" anchor="t">
            <ns250:noAutofit/>
          </ns250:bodyPr>
          <ns251:lstStyle xmlns:ns251="http://schemas.openxmlformats.org/drawingml/2006/main"/>
          <ns252:p xmlns:ns252="http://schemas.openxmlformats.org/drawingml/2006/main">
            <ns252:pPr algn="l">
              <ns252:lnSpc>
                <ns252:spcPct val="105000"/>
              </ns252:lnSpc>
              <ns252:defRPr sz="950" b="0">
                <ns252:solidFill>
                  <ns252:srgbClr val="65727D"/>
                </ns252:solidFill>
                <ns252:latin typeface="Arial"/>
                <ns252:ea typeface="Arial"/>
                <ns252:cs typeface="Arial"/>
              </ns252:defRPr>
            </ns252:pPr>
            <ns252:r>
              <ns252:rPr sz="950" b="0">
                <ns252:solidFill>
                  <ns252:srgbClr val="65727D"/>
                </ns252:solidFill>
                <ns252:latin typeface="Arial"/>
                <ns252:ea typeface="Arial"/>
                <ns252:cs typeface="Arial"/>
              </ns252:rPr>
              <ns252:t>Participating teams</ns252:t>
            </ns252:r>
          </ns252:p>
        </p:txBody>
      </p:sp>
      <p:sp>
        <p:nvSpPr>
          <p:cNvPr id="40" name="phase.teams.2"/>
          <p:cNvSpPr/>
          <p:nvPr/>
        </p:nvSpPr>
        <p:spPr>
          <ns253:xfrm xmlns:ns253="http://schemas.openxmlformats.org/drawingml/2006/main">
            <ns253:off x="6685200" y="2890800"/>
            <ns253:ext cx="2001600" cy="349200"/>
          </ns253:xfrm>
          <ns254:prstGeom xmlns:ns254="http://schemas.openxmlformats.org/drawingml/2006/main" prst="rect">
            <ns254:avLst/>
          </ns254:prstGeom>
          <ns255:noFill xmlns:ns255="http://schemas.openxmlformats.org/drawingml/2006/main"/>
          <ns256:ln xmlns:ns256="http://schemas.openxmlformats.org/drawingml/2006/main" w="0">
            <ns256:noFill/>
          </ns256:ln>
        </p:spPr>
        <p:txBody>
          <ns257:bodyPr xmlns:ns257="http://schemas.openxmlformats.org/drawingml/2006/main" wrap="square" lIns="0" rIns="0" tIns="0" bIns="0" anchor="t">
            <ns257:noAutofit/>
          </ns257:bodyPr>
          <ns258:lstStyle xmlns:ns258="http://schemas.openxmlformats.org/drawingml/2006/main"/>
          <ns259:p xmlns:ns259="http://schemas.openxmlformats.org/drawingml/2006/main">
            <ns259:pPr algn="l">
              <ns259:lnSpc>
                <ns259:spcPct val="105000"/>
              </ns259:lnSpc>
              <ns259:defRPr sz="1050" b="0">
                <ns259:solidFill>
                  <ns259:srgbClr val="20262C"/>
                </ns259:solidFill>
                <ns259:latin typeface="Arial"/>
                <ns259:ea typeface="Arial"/>
                <ns259:cs typeface="Arial"/>
              </ns259:defRPr>
            </ns259:pPr>
            <ns259:r>
              <ns259:rPr sz="1050" b="0">
                <ns259:solidFill>
                  <ns259:srgbClr val="20262C"/>
                </ns259:solidFill>
                <ns259:latin typeface="Arial"/>
                <ns259:ea typeface="Arial"/>
                <ns259:cs typeface="Arial"/>
              </ns259:rPr>
              <ns259:t>Business teams / IT</ns259:t>
            </ns259:r>
          </ns259:p>
        </p:txBody>
      </p:sp>
      <p:sp>
        <p:nvSpPr>
          <p:cNvPr id="41" name="phase.deliverables.2.paper"/>
          <p:cNvSpPr/>
          <p:nvPr/>
        </p:nvSpPr>
        <p:spPr>
          <ns260:xfrm xmlns:ns260="http://schemas.openxmlformats.org/drawingml/2006/main">
            <ns260:off x="6685200" y="3348000"/>
            <ns260:ext cx="2001600" cy="1062000"/>
          </ns260:xfrm>
          <ns261:prstGeom xmlns:ns261="http://schemas.openxmlformats.org/drawingml/2006/main" prst="foldedCorner">
            <ns261:avLst/>
          </ns261:prstGeom>
          <ns262:solidFill xmlns:ns262="http://schemas.openxmlformats.org/drawingml/2006/main">
            <ns262:srgbClr val="FFFFFF"/>
          </ns262:solidFill>
          <ns263:ln xmlns:ns263="http://schemas.openxmlformats.org/drawingml/2006/main" w="9525">
            <ns263:solidFill>
              <ns263:srgbClr val="65727D"/>
            </ns263:solidFill>
          </ns263:ln>
        </p:spPr>
      </p:sp>
      <p:sp>
        <p:nvSpPr>
          <p:cNvPr id="42" name="phase.deliverables.2.title"/>
          <p:cNvSpPr/>
          <p:nvPr/>
        </p:nvSpPr>
        <p:spPr>
          <ns264:xfrm xmlns:ns264="http://schemas.openxmlformats.org/drawingml/2006/main">
            <ns264:off x="6750000" y="3391200"/>
            <ns264:ext cx="1803600" cy="198000"/>
          </ns264:xfrm>
          <ns265:prstGeom xmlns:ns265="http://schemas.openxmlformats.org/drawingml/2006/main" prst="rect">
            <ns265:avLst/>
          </ns265:prstGeom>
          <ns266:noFill xmlns:ns266="http://schemas.openxmlformats.org/drawingml/2006/main"/>
          <ns267:ln xmlns:ns267="http://schemas.openxmlformats.org/drawingml/2006/main" w="0">
            <ns267:noFill/>
          </ns267:ln>
        </p:spPr>
        <p:txBody>
          <ns268:bodyPr xmlns:ns268="http://schemas.openxmlformats.org/drawingml/2006/main" wrap="square" lIns="0" rIns="0" tIns="0" bIns="0" anchor="t">
            <ns268:noAutofit/>
          </ns268:bodyPr>
          <ns269:lstStyle xmlns:ns269="http://schemas.openxmlformats.org/drawingml/2006/main"/>
          <ns270:p xmlns:ns270="http://schemas.openxmlformats.org/drawingml/2006/main">
            <ns270:pPr algn="l">
              <ns270:lnSpc>
                <ns270:spcPct val="105000"/>
              </ns270:lnSpc>
              <ns270:defRPr sz="1250" b="1">
                <ns270:solidFill>
                  <ns270:srgbClr val="65727D"/>
                </ns270:solidFill>
                <ns270:latin typeface="Arial"/>
                <ns270:ea typeface="Arial"/>
                <ns270:cs typeface="Arial"/>
              </ns270:defRPr>
            </ns270:pPr>
            <ns270:r>
              <ns270:rPr sz="1250" b="1">
                <ns270:solidFill>
                  <ns270:srgbClr val="65727D"/>
                </ns270:solidFill>
                <ns270:latin typeface="Arial"/>
                <ns270:ea typeface="Arial"/>
                <ns270:cs typeface="Arial"/>
              </ns270:rPr>
              <ns270:t>Deliverables</ns270:t>
            </ns270:r>
          </ns270:p>
        </p:txBody>
      </p:sp>
      <p:sp>
        <p:nvSpPr>
          <p:cNvPr id="43" name="phase.deliverables.2.content"/>
          <p:cNvSpPr/>
          <p:nvPr/>
        </p:nvSpPr>
        <p:spPr>
          <ns271:xfrm xmlns:ns271="http://schemas.openxmlformats.org/drawingml/2006/main">
            <ns271:off x="6750000" y="3607200"/>
            <ns271:ext cx="1872000" cy="752400"/>
          </ns271:xfrm>
          <ns272:prstGeom xmlns:ns272="http://schemas.openxmlformats.org/drawingml/2006/main" prst="rect">
            <ns272:avLst/>
          </ns272:prstGeom>
          <ns273:noFill xmlns:ns273="http://schemas.openxmlformats.org/drawingml/2006/main"/>
          <ns274:ln xmlns:ns274="http://schemas.openxmlformats.org/drawingml/2006/main" w="0">
            <ns274:noFill/>
          </ns274:ln>
        </p:spPr>
        <p:txBody>
          <ns275:bodyPr xmlns:ns275="http://schemas.openxmlformats.org/drawingml/2006/main" wrap="square" lIns="0" rIns="0" tIns="0" bIns="0" anchor="t">
            <ns275:noAutofit/>
          </ns275:bodyPr>
          <ns276:lstStyle xmlns:ns276="http://schemas.openxmlformats.org/drawingml/2006/main"/>
          <ns277:p xmlns:ns277="http://schemas.openxmlformats.org/drawingml/2006/main">
            <ns277:pPr algn="l">
              <ns277:lnSpc>
                <ns277:spcPct val="100000"/>
              </ns277:lnSpc>
              <ns277:defRPr sz="1150" b="0">
                <ns277:solidFill>
                  <ns277:srgbClr val="20262C"/>
                </ns277:solidFill>
                <ns277:latin typeface="Arial"/>
                <ns277:ea typeface="Arial"/>
                <ns277:cs typeface="Arial"/>
              </ns277:defRPr>
            </ns277:pPr>
            <ns277:r>
              <ns277:rPr sz="1150" b="0">
                <ns277:solidFill>
                  <ns277:srgbClr val="20262C"/>
                </ns277:solidFill>
                <ns277:latin typeface="Arial"/>
                <ns277:ea typeface="Arial"/>
                <ns277:cs typeface="Arial"/>
              </ns277:rPr>
              <ns277:t>Business tools</ns277:t>
            </ns277:r>
          </ns277:p>
          <ns278:p xmlns:ns278="http://schemas.openxmlformats.org/drawingml/2006/main">
            <ns278:pPr algn="l">
              <ns278:lnSpc>
                <ns278:spcPct val="100000"/>
              </ns278:lnSpc>
              <ns278:defRPr sz="1150" b="0">
                <ns278:solidFill>
                  <ns278:srgbClr val="20262C"/>
                </ns278:solidFill>
                <ns278:latin typeface="Arial"/>
                <ns278:ea typeface="Arial"/>
                <ns278:cs typeface="Arial"/>
              </ns278:defRPr>
            </ns278:pPr>
            <ns278:r>
              <ns278:rPr sz="1150" b="0">
                <ns278:solidFill>
                  <ns278:srgbClr val="20262C"/>
                </ns278:solidFill>
                <ns278:latin typeface="Arial"/>
                <ns278:ea typeface="Arial"/>
                <ns278:cs typeface="Arial"/>
              </ns278:rPr>
              <ns278:t>User guides</ns278:t>
            </ns278:r>
          </ns278:p>
          <ns279:p xmlns:ns279="http://schemas.openxmlformats.org/drawingml/2006/main">
            <ns279:pPr algn="l">
              <ns279:lnSpc>
                <ns279:spcPct val="100000"/>
              </ns279:lnSpc>
              <ns279:defRPr sz="1150" b="0">
                <ns279:solidFill>
                  <ns279:srgbClr val="20262C"/>
                </ns279:solidFill>
                <ns279:latin typeface="Arial"/>
                <ns279:ea typeface="Arial"/>
                <ns279:cs typeface="Arial"/>
              </ns279:defRPr>
            </ns279:pPr>
            <ns279:r>
              <ns279:rPr sz="1150" b="0">
                <ns279:solidFill>
                  <ns279:srgbClr val="20262C"/>
                </ns279:solidFill>
                <ns279:latin typeface="Arial"/>
                <ns279:ea typeface="Arial"/>
                <ns279:cs typeface="Arial"/>
              </ns279:rPr>
              <ns279:t>Named maintenance owner</ns279:t>
            </ns279:r>
          </ns279:p>
        </p:txBody>
      </p:sp>
    </p:spTree>
    <p:extLst>
      <p:ext uri="{BB962C8B-B14F-4D97-AF65-F5344CB8AC3E}">
        <p14:creationId xmlns:p14="http://schemas.microsoft.com/office/powerpoint/2010/main" val="78915621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Evaluating Application Use and Task Outcomes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Baseline Comparison and Workflow Refinement</ns13:t>
            </ns13:r>
          </ns13:p>
        </p:txBody>
      </p:sp>
      <p:sp>
        <p:nvSpPr>
          <p:cNvPr id="4" name="map.office.0"/>
          <p:cNvSpPr/>
          <p:nvPr/>
        </p:nvSpPr>
        <p:spPr>
          <ns14:xfrm xmlns:ns14="http://schemas.openxmlformats.org/drawingml/2006/main">
            <ns14:off x="486000" y="1504800"/>
            <ns14:ext cx="1692000" cy="1800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1100" b="1">
                <ns20:solidFill>
                  <ns20:srgbClr val="005A9C"/>
                </ns20:solidFill>
                <ns20:latin typeface="Arial"/>
                <ns20:ea typeface="Arial"/>
                <ns20:cs typeface="Arial"/>
              </ns20:defRPr>
            </ns20:pPr>
            <ns20:r>
              <ns20:rPr sz="1100" b="1">
                <ns20:solidFill>
                  <ns20:srgbClr val="005A9C"/>
                </ns20:solidFill>
                <ns20:latin typeface="Arial"/>
                <ns20:ea typeface="Arial"/>
                <ns20:cs typeface="Arial"/>
              </ns20:rPr>
              <ns20:t>Front office</ns20:t>
            </ns20:r>
          </ns20:p>
        </p:txBody>
      </p:sp>
      <p:cxnSp>
        <p:nvCxnSpPr>
          <p:cNvPr id="5" name="map.office.rule.0"/>
          <p:cNvCxnSpPr/>
          <p:nvPr/>
        </p:nvCxnSpPr>
        <p:spPr>
          <ns21:xfrm xmlns:ns21="http://schemas.openxmlformats.org/drawingml/2006/main">
            <ns21:off x="457200" y="1724400"/>
            <ns21:ext cx="1742400" cy="1"/>
          </ns21:xfrm>
          <ns22:prstGeom xmlns:ns22="http://schemas.openxmlformats.org/drawingml/2006/main" prst="line">
            <ns22:avLst/>
          </ns22:prstGeom>
          <ns23:ln xmlns:ns23="http://schemas.openxmlformats.org/drawingml/2006/main" w="7620">
            <ns23:solidFill>
              <ns23:srgbClr val="005A9C"/>
            </ns23:solidFill>
          </ns23:ln>
        </p:spPr>
      </p:cxnSp>
      <p:sp>
        <p:nvSpPr>
          <p:cNvPr id="6" name="map.task.focus.research"/>
          <p:cNvSpPr/>
          <p:nvPr/>
        </p:nvSpPr>
        <p:spPr>
          <ns24:xfrm xmlns:ns24="http://schemas.openxmlformats.org/drawingml/2006/main">
            <ns24:off x="486000" y="1800000"/>
            <ns24:ext cx="1677600" cy="176400"/>
          </ns24:xfrm>
          <ns25:prstGeom xmlns:ns25="http://schemas.openxmlformats.org/drawingml/2006/main" prst="rect">
            <ns25:avLst/>
          </ns25:prstGeom>
          <ns26:solidFill xmlns:ns26="http://schemas.openxmlformats.org/drawingml/2006/main">
            <ns26:srgbClr val="D9EAF7"/>
          </ns26:solidFill>
          <ns27:ln xmlns:ns27="http://schemas.openxmlformats.org/drawingml/2006/main" w="0">
            <ns27:noFill/>
          </ns27:ln>
        </p:spPr>
      </p:sp>
      <p:sp>
        <p:nvSpPr>
          <p:cNvPr id="7" name="map.task.research"/>
          <p:cNvSpPr/>
          <p:nvPr/>
        </p:nvSpPr>
        <p:spPr>
          <ns28:xfrm xmlns:ns28="http://schemas.openxmlformats.org/drawingml/2006/main">
            <ns28:off x="554400" y="1803600"/>
            <ns28:ext cx="1562400" cy="165600"/>
          </ns28:xfrm>
          <ns29:prstGeom xmlns:ns29="http://schemas.openxmlformats.org/drawingml/2006/main" prst="rect">
            <ns29:avLst/>
          </ns29:prstGeom>
          <ns30:noFill xmlns:ns30="http://schemas.openxmlformats.org/drawingml/2006/main"/>
          <ns31:ln xmlns:ns31="http://schemas.openxmlformats.org/drawingml/2006/main" w="0">
            <ns31:noFill/>
          </ns31:ln>
        </p:spPr>
        <p:txBody>
          <ns32:bodyPr xmlns:ns32="http://schemas.openxmlformats.org/drawingml/2006/main" wrap="square" lIns="0" rIns="0" tIns="0" bIns="0" anchor="t">
            <ns32:noAutofit/>
          </ns32:bodyPr>
          <ns33:lstStyle xmlns:ns33="http://schemas.openxmlformats.org/drawingml/2006/main"/>
          <ns34:p xmlns:ns34="http://schemas.openxmlformats.org/drawingml/2006/main">
            <ns34:pPr algn="l">
              <ns34:lnSpc>
                <ns34:spcPct val="105000"/>
              </ns34:lnSpc>
              <ns34:defRPr sz="1050" b="1">
                <ns34:solidFill>
                  <ns34:srgbClr val="005A9C"/>
                </ns34:solidFill>
                <ns34:latin typeface="Arial"/>
                <ns34:ea typeface="Arial"/>
                <ns34:cs typeface="Arial"/>
              </ns34:defRPr>
            </ns34:pPr>
            <ns34:r>
              <ns34:rPr sz="1050" b="1">
                <ns34:solidFill>
                  <ns34:srgbClr val="005A9C"/>
                </ns34:solidFill>
                <ns34:latin typeface="Arial"/>
                <ns34:ea typeface="Arial"/>
                <ns34:cs typeface="Arial"/>
              </ns34:rPr>
              <ns34:t>Research</ns34:t>
            </ns34:r>
          </ns34:p>
        </p:txBody>
      </p:sp>
      <p:sp>
        <p:nvSpPr>
          <p:cNvPr id="8" name="map.task.trade"/>
          <p:cNvSpPr/>
          <p:nvPr/>
        </p:nvSpPr>
        <p:spPr>
          <ns35:xfrm xmlns:ns35="http://schemas.openxmlformats.org/drawingml/2006/main">
            <ns35:off x="554400" y="2001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0">
                <ns41:solidFill>
                  <ns41:srgbClr val="65727D"/>
                </ns41:solidFill>
                <ns41:latin typeface="Arial"/>
                <ns41:ea typeface="Arial"/>
                <ns41:cs typeface="Arial"/>
              </ns41:defRPr>
            </ns41:pPr>
            <ns41:r>
              <ns41:rPr sz="1050" b="0">
                <ns41:solidFill>
                  <ns41:srgbClr val="65727D"/>
                </ns41:solidFill>
                <ns41:latin typeface="Arial"/>
                <ns41:ea typeface="Arial"/>
                <ns41:cs typeface="Arial"/>
              </ns41:rPr>
              <ns41:t>Trading support</ns41:t>
            </ns41:r>
          </ns41:p>
        </p:txBody>
      </p:sp>
      <p:sp>
        <p:nvSpPr>
          <p:cNvPr id="9" name="map.task.focus.client"/>
          <p:cNvSpPr/>
          <p:nvPr/>
        </p:nvSpPr>
        <p:spPr>
          <ns42:xfrm xmlns:ns42="http://schemas.openxmlformats.org/drawingml/2006/main">
            <ns42:off x="486000" y="2196000"/>
            <ns42:ext cx="1677600" cy="176400"/>
          </ns42:xfrm>
          <ns43:prstGeom xmlns:ns43="http://schemas.openxmlformats.org/drawingml/2006/main" prst="rect">
            <ns43:avLst/>
          </ns43:prstGeom>
          <ns44:solidFill xmlns:ns44="http://schemas.openxmlformats.org/drawingml/2006/main">
            <ns44:srgbClr val="D9EAF7"/>
          </ns44:solidFill>
          <ns45:ln xmlns:ns45="http://schemas.openxmlformats.org/drawingml/2006/main" w="0">
            <ns45:noFill/>
          </ns45:ln>
        </p:spPr>
      </p:sp>
      <p:sp>
        <p:nvSpPr>
          <p:cNvPr id="10" name="map.task.client"/>
          <p:cNvSpPr/>
          <p:nvPr/>
        </p:nvSpPr>
        <p:spPr>
          <ns46:xfrm xmlns:ns46="http://schemas.openxmlformats.org/drawingml/2006/main">
            <ns46:off x="554400" y="2199600"/>
            <ns46:ext cx="1562400" cy="165600"/>
          </ns46:xfrm>
          <ns47:prstGeom xmlns:ns47="http://schemas.openxmlformats.org/drawingml/2006/main" prst="rect">
            <ns47:avLst/>
          </ns47:prstGeom>
          <ns48:noFill xmlns:ns48="http://schemas.openxmlformats.org/drawingml/2006/main"/>
          <ns49:ln xmlns:ns49="http://schemas.openxmlformats.org/drawingml/2006/main" w="0">
            <ns49:noFill/>
          </ns49:ln>
        </p:spPr>
        <p:txBody>
          <ns50:bodyPr xmlns:ns50="http://schemas.openxmlformats.org/drawingml/2006/main" wrap="square" lIns="0" rIns="0" tIns="0" bIns="0" anchor="t">
            <ns50:noAutofit/>
          </ns50:bodyPr>
          <ns51:lstStyle xmlns:ns51="http://schemas.openxmlformats.org/drawingml/2006/main"/>
          <ns52:p xmlns:ns52="http://schemas.openxmlformats.org/drawingml/2006/main">
            <ns52:pPr algn="l">
              <ns52:lnSpc>
                <ns52:spcPct val="105000"/>
              </ns52:lnSpc>
              <ns52:defRPr sz="1050" b="1">
                <ns52:solidFill>
                  <ns52:srgbClr val="005A9C"/>
                </ns52:solidFill>
                <ns52:latin typeface="Arial"/>
                <ns52:ea typeface="Arial"/>
                <ns52:cs typeface="Arial"/>
              </ns52:defRPr>
            </ns52:pPr>
            <ns52:r>
              <ns52:rPr sz="1050" b="1">
                <ns52:solidFill>
                  <ns52:srgbClr val="005A9C"/>
                </ns52:solidFill>
                <ns52:latin typeface="Arial"/>
                <ns52:ea typeface="Arial"/>
                <ns52:cs typeface="Arial"/>
              </ns52:rPr>
              <ns52:t>Client communications</ns52:t>
            </ns52:r>
          </ns52:p>
        </p:txBody>
      </p:sp>
      <p:sp>
        <p:nvSpPr>
          <p:cNvPr id="11" name="map.office.1"/>
          <p:cNvSpPr/>
          <p:nvPr/>
        </p:nvSpPr>
        <p:spPr>
          <ns53:xfrm xmlns:ns53="http://schemas.openxmlformats.org/drawingml/2006/main">
            <ns53:off x="486000" y="2548800"/>
            <ns53:ext cx="1692000" cy="180000"/>
          </ns53:xfrm>
          <ns54:prstGeom xmlns:ns54="http://schemas.openxmlformats.org/drawingml/2006/main" prst="rect">
            <ns54:avLst/>
          </ns54:prstGeom>
          <ns55:noFill xmlns:ns55="http://schemas.openxmlformats.org/drawingml/2006/main"/>
          <ns56:ln xmlns:ns56="http://schemas.openxmlformats.org/drawingml/2006/main" w="0">
            <ns56:noFill/>
          </ns56:ln>
        </p:spPr>
        <p:txBody>
          <ns57:bodyPr xmlns:ns57="http://schemas.openxmlformats.org/drawingml/2006/main" wrap="square" lIns="0" rIns="0" tIns="0" bIns="0" anchor="t">
            <ns57:noAutofit/>
          </ns57:bodyPr>
          <ns58:lstStyle xmlns:ns58="http://schemas.openxmlformats.org/drawingml/2006/main"/>
          <ns59:p xmlns:ns59="http://schemas.openxmlformats.org/drawingml/2006/main">
            <ns59:pPr algn="l">
              <ns59:lnSpc>
                <ns59:spcPct val="105000"/>
              </ns59:lnSpc>
              <ns59:defRPr sz="1100" b="1">
                <ns59:solidFill>
                  <ns59:srgbClr val="65727D"/>
                </ns59:solidFill>
                <ns59:latin typeface="Arial"/>
                <ns59:ea typeface="Arial"/>
                <ns59:cs typeface="Arial"/>
              </ns59:defRPr>
            </ns59:pPr>
            <ns59:r>
              <ns59:rPr sz="1100" b="1">
                <ns59:solidFill>
                  <ns59:srgbClr val="65727D"/>
                </ns59:solidFill>
                <ns59:latin typeface="Arial"/>
                <ns59:ea typeface="Arial"/>
                <ns59:cs typeface="Arial"/>
              </ns59:rPr>
              <ns59:t>Middle office</ns59:t>
            </ns59:r>
          </ns59:p>
        </p:txBody>
      </p:sp>
      <p:cxnSp>
        <p:nvCxnSpPr>
          <p:cNvPr id="12" name="map.office.rule.1"/>
          <p:cNvCxnSpPr/>
          <p:nvPr/>
        </p:nvCxnSpPr>
        <p:spPr>
          <ns60:xfrm xmlns:ns60="http://schemas.openxmlformats.org/drawingml/2006/main">
            <ns60:off x="457200" y="2768400"/>
            <ns60:ext cx="1742400" cy="1"/>
          </ns60:xfrm>
          <ns61:prstGeom xmlns:ns61="http://schemas.openxmlformats.org/drawingml/2006/main" prst="line">
            <ns61:avLst/>
          </ns61:prstGeom>
          <ns62:ln xmlns:ns62="http://schemas.openxmlformats.org/drawingml/2006/main" w="7620">
            <ns62:solidFill>
              <ns62:srgbClr val="CBD4DA"/>
            </ns62:solidFill>
          </ns62:ln>
        </p:spPr>
      </p:cxnSp>
      <p:sp>
        <p:nvSpPr>
          <p:cNvPr id="13" name="map.task.risk"/>
          <p:cNvSpPr/>
          <p:nvPr/>
        </p:nvSpPr>
        <p:spPr>
          <ns63:xfrm xmlns:ns63="http://schemas.openxmlformats.org/drawingml/2006/main">
            <ns63:off x="554400" y="2847600"/>
            <ns63:ext cx="1562400" cy="165600"/>
          </ns63:xfrm>
          <ns64:prstGeom xmlns:ns64="http://schemas.openxmlformats.org/drawingml/2006/main" prst="rect">
            <ns64:avLst/>
          </ns64:prstGeom>
          <ns65:noFill xmlns:ns65="http://schemas.openxmlformats.org/drawingml/2006/main"/>
          <ns66:ln xmlns:ns66="http://schemas.openxmlformats.org/drawingml/2006/main" w="0">
            <ns66:noFill/>
          </ns66:ln>
        </p:spPr>
        <p:txBody>
          <ns67:bodyPr xmlns:ns67="http://schemas.openxmlformats.org/drawingml/2006/main" wrap="square" lIns="0" rIns="0" tIns="0" bIns="0" anchor="t">
            <ns67:noAutofit/>
          </ns67:bodyPr>
          <ns68:lstStyle xmlns:ns68="http://schemas.openxmlformats.org/drawingml/2006/main"/>
          <ns69:p xmlns:ns69="http://schemas.openxmlformats.org/drawingml/2006/main">
            <ns69:pPr algn="l">
              <ns69:lnSpc>
                <ns69:spcPct val="105000"/>
              </ns69:lnSpc>
              <ns69:defRPr sz="1050" b="0">
                <ns69:solidFill>
                  <ns69:srgbClr val="65727D"/>
                </ns69:solidFill>
                <ns69:latin typeface="Arial"/>
                <ns69:ea typeface="Arial"/>
                <ns69:cs typeface="Arial"/>
              </ns69:defRPr>
            </ns69:pPr>
            <ns69:r>
              <ns69:rPr sz="1050" b="0">
                <ns69:solidFill>
                  <ns69:srgbClr val="65727D"/>
                </ns69:solidFill>
                <ns69:latin typeface="Arial"/>
                <ns69:ea typeface="Arial"/>
                <ns69:cs typeface="Arial"/>
              </ns69:rPr>
              <ns69:t>Risk analysis</ns69:t>
            </ns69:r>
          </ns69:p>
        </p:txBody>
      </p:sp>
      <p:sp>
        <p:nvSpPr>
          <p:cNvPr id="14" name="map.office.2"/>
          <p:cNvSpPr/>
          <p:nvPr/>
        </p:nvSpPr>
        <p:spPr>
          <ns70:xfrm xmlns:ns70="http://schemas.openxmlformats.org/drawingml/2006/main">
            <ns70:off x="486000" y="3391200"/>
            <ns70:ext cx="1692000" cy="180000"/>
          </ns70:xfrm>
          <ns71:prstGeom xmlns:ns71="http://schemas.openxmlformats.org/drawingml/2006/main" prst="rect">
            <ns71:avLst/>
          </ns71:prstGeom>
          <ns72:noFill xmlns:ns72="http://schemas.openxmlformats.org/drawingml/2006/main"/>
          <ns73:ln xmlns:ns73="http://schemas.openxmlformats.org/drawingml/2006/main" w="0">
            <ns73:noFill/>
          </ns73:ln>
        </p:spPr>
        <p:txBody>
          <ns74:bodyPr xmlns:ns74="http://schemas.openxmlformats.org/drawingml/2006/main" wrap="square" lIns="0" rIns="0" tIns="0" bIns="0" anchor="t">
            <ns74:noAutofit/>
          </ns74:bodyPr>
          <ns75:lstStyle xmlns:ns75="http://schemas.openxmlformats.org/drawingml/2006/main"/>
          <ns76:p xmlns:ns76="http://schemas.openxmlformats.org/drawingml/2006/main">
            <ns76:pPr algn="l">
              <ns76:lnSpc>
                <ns76:spcPct val="105000"/>
              </ns76:lnSpc>
              <ns76:defRPr sz="1100" b="1">
                <ns76:solidFill>
                  <ns76:srgbClr val="65727D"/>
                </ns76:solidFill>
                <ns76:latin typeface="Arial"/>
                <ns76:ea typeface="Arial"/>
                <ns76:cs typeface="Arial"/>
              </ns76:defRPr>
            </ns76:pPr>
            <ns76:r>
              <ns76:rPr sz="1100" b="1">
                <ns76:solidFill>
                  <ns76:srgbClr val="65727D"/>
                </ns76:solidFill>
                <ns76:latin typeface="Arial"/>
                <ns76:ea typeface="Arial"/>
                <ns76:cs typeface="Arial"/>
              </ns76:rPr>
              <ns76:t>Back office</ns76:t>
            </ns76:r>
          </ns76:p>
        </p:txBody>
      </p:sp>
      <p:cxnSp>
        <p:nvCxnSpPr>
          <p:cNvPr id="15" name="map.office.rule.2"/>
          <p:cNvCxnSpPr/>
          <p:nvPr/>
        </p:nvCxnSpPr>
        <p:spPr>
          <ns77:xfrm xmlns:ns77="http://schemas.openxmlformats.org/drawingml/2006/main">
            <ns77:off x="457200" y="3610800"/>
            <ns77:ext cx="1742400" cy="1"/>
          </ns77:xfrm>
          <ns78:prstGeom xmlns:ns78="http://schemas.openxmlformats.org/drawingml/2006/main" prst="line">
            <ns78:avLst/>
          </ns78:prstGeom>
          <ns79:ln xmlns:ns79="http://schemas.openxmlformats.org/drawingml/2006/main" w="7620">
            <ns79:solidFill>
              <ns79:srgbClr val="CBD4DA"/>
            </ns79:solidFill>
          </ns79:ln>
        </p:spPr>
      </p:cxnSp>
      <p:sp>
        <p:nvSpPr>
          <p:cNvPr id="16" name="map.task.records"/>
          <p:cNvSpPr/>
          <p:nvPr/>
        </p:nvSpPr>
        <p:spPr>
          <ns80:xfrm xmlns:ns80="http://schemas.openxmlformats.org/drawingml/2006/main">
            <ns80:off x="554400" y="3690000"/>
            <ns80:ext cx="1562400" cy="165600"/>
          </ns80:xfrm>
          <ns81:prstGeom xmlns:ns81="http://schemas.openxmlformats.org/drawingml/2006/main" prst="rect">
            <ns81:avLst/>
          </ns81:prstGeom>
          <ns82:noFill xmlns:ns82="http://schemas.openxmlformats.org/drawingml/2006/main"/>
          <ns83:ln xmlns:ns83="http://schemas.openxmlformats.org/drawingml/2006/main" w="0">
            <ns83:noFill/>
          </ns83:ln>
        </p:spPr>
        <p:txBody>
          <ns84:bodyPr xmlns:ns84="http://schemas.openxmlformats.org/drawingml/2006/main" wrap="square" lIns="0" rIns="0" tIns="0" bIns="0" anchor="t">
            <ns84:noAutofit/>
          </ns84:bodyPr>
          <ns85:lstStyle xmlns:ns85="http://schemas.openxmlformats.org/drawingml/2006/main"/>
          <ns86:p xmlns:ns86="http://schemas.openxmlformats.org/drawingml/2006/main">
            <ns86:pPr algn="l">
              <ns86:lnSpc>
                <ns86:spcPct val="105000"/>
              </ns86:lnSpc>
              <ns86:defRPr sz="1050" b="0">
                <ns86:solidFill>
                  <ns86:srgbClr val="65727D"/>
                </ns86:solidFill>
                <ns86:latin typeface="Arial"/>
                <ns86:ea typeface="Arial"/>
                <ns86:cs typeface="Arial"/>
              </ns86:defRPr>
            </ns86:pPr>
            <ns86:r>
              <ns86:rPr sz="1050" b="0">
                <ns86:solidFill>
                  <ns86:srgbClr val="65727D"/>
                </ns86:solidFill>
                <ns86:latin typeface="Arial"/>
                <ns86:ea typeface="Arial"/>
                <ns86:cs typeface="Arial"/>
              </ns86:rPr>
              <ns86:t>Record entry</ns86:t>
            </ns86:r>
          </ns86:p>
        </p:txBody>
      </p:sp>
      <p:sp>
        <p:nvSpPr>
          <p:cNvPr id="17" name="map.task.dev"/>
          <p:cNvSpPr/>
          <p:nvPr/>
        </p:nvSpPr>
        <p:spPr>
          <ns87:xfrm xmlns:ns87="http://schemas.openxmlformats.org/drawingml/2006/main">
            <ns87:off x="554400" y="3888000"/>
            <ns87:ext cx="1562400" cy="165600"/>
          </ns87:xfrm>
          <ns88:prstGeom xmlns:ns88="http://schemas.openxmlformats.org/drawingml/2006/main" prst="rect">
            <ns88:avLst/>
          </ns88:prstGeom>
          <ns89:noFill xmlns:ns89="http://schemas.openxmlformats.org/drawingml/2006/main"/>
          <ns90:ln xmlns:ns90="http://schemas.openxmlformats.org/drawingml/2006/main" w="0">
            <ns90:noFill/>
          </ns90:ln>
        </p:spPr>
        <p:txBody>
          <ns91:bodyPr xmlns:ns91="http://schemas.openxmlformats.org/drawingml/2006/main" wrap="square" lIns="0" rIns="0" tIns="0" bIns="0" anchor="t">
            <ns91:noAutofit/>
          </ns91:bodyPr>
          <ns92:lstStyle xmlns:ns92="http://schemas.openxmlformats.org/drawingml/2006/main"/>
          <ns93:p xmlns:ns93="http://schemas.openxmlformats.org/drawingml/2006/main">
            <ns93:pPr algn="l">
              <ns93:lnSpc>
                <ns93:spcPct val="105000"/>
              </ns93:lnSpc>
              <ns93:defRPr sz="1050" b="0">
                <ns93:solidFill>
                  <ns93:srgbClr val="65727D"/>
                </ns93:solidFill>
                <ns93:latin typeface="Arial"/>
                <ns93:ea typeface="Arial"/>
                <ns93:cs typeface="Arial"/>
              </ns93:defRPr>
            </ns93:pPr>
            <ns93:r>
              <ns93:rPr sz="1050" b="0">
                <ns93:solidFill>
                  <ns93:srgbClr val="65727D"/>
                </ns93:solidFill>
                <ns93:latin typeface="Arial"/>
                <ns93:ea typeface="Arial"/>
                <ns93:cs typeface="Arial"/>
              </ns93:rPr>
              <ns93:t>Tool development</ns93:t>
            </ns93:r>
          </ns93:p>
        </p:txBody>
      </p:sp>
      <p:sp>
        <p:nvSpPr>
          <p:cNvPr id="18" name="evaluation.initial.focus"/>
          <p:cNvSpPr/>
          <p:nvPr/>
        </p:nvSpPr>
        <p:spPr>
          <ns108:xfrm xmlns:ns108="http://schemas.openxmlformats.org/drawingml/2006/main">
            <ns108:off x="2422800" y="1440000"/>
            <ns108:ext cx="6264000" cy="198000"/>
          </ns108:xfrm>
          <ns109:prstGeom xmlns:ns109="http://schemas.openxmlformats.org/drawingml/2006/main" prst="rect">
            <ns109:avLst/>
          </ns109:prstGeom>
          <ns110:noFill xmlns:ns110="http://schemas.openxmlformats.org/drawingml/2006/main"/>
          <ns111:ln xmlns:ns111="http://schemas.openxmlformats.org/drawingml/2006/main" w="0">
            <ns111:noFill/>
          </ns111:ln>
        </p:spPr>
        <p:txBody>
          <ns112:bodyPr xmlns:ns112="http://schemas.openxmlformats.org/drawingml/2006/main" wrap="square" lIns="0" rIns="0" tIns="0" bIns="0" anchor="t">
            <ns112:noAutofit/>
          </ns112:bodyPr>
          <ns113:lstStyle xmlns:ns113="http://schemas.openxmlformats.org/drawingml/2006/main"/>
          <ns114:p xmlns:ns114="http://schemas.openxmlformats.org/drawingml/2006/main">
            <ns114:pPr algn="l">
              <ns114:lnSpc>
                <ns114:spcPct val="105000"/>
              </ns114:lnSpc>
              <ns114:defRPr sz="1200" b="0">
                <ns114:solidFill>
                  <ns114:srgbClr val="005A9C"/>
                </ns114:solidFill>
                <ns114:latin typeface="Arial"/>
                <ns114:ea typeface="Arial"/>
                <ns114:cs typeface="Arial"/>
              </ns114:defRPr>
            </ns114:pPr>
            <ns114:r>
              <ns114:rPr sz="1200" b="0">
                <ns114:solidFill>
                  <ns114:srgbClr val="005A9C"/>
                </ns114:solidFill>
                <ns114:latin typeface="Arial"/>
                <ns114:ea typeface="Arial"/>
                <ns114:cs typeface="Arial"/>
              </ns114:rPr>
              <ns114:t>Initial focus: research / client communications</ns114:t>
            </ns114:r>
          </ns114:p>
        </p:txBody>
      </p:sp>
      <p:sp>
        <p:nvSpPr>
          <p:cNvPr id="19" name="input.evaluation.baseline"/>
          <p:cNvSpPr/>
          <p:nvPr/>
        </p:nvSpPr>
        <p:spPr>
          <ns115:xfrm xmlns:ns115="http://schemas.openxmlformats.org/drawingml/2006/main">
            <ns115:off x="2422800" y="1746000"/>
            <ns115:ext cx="1620000" cy="612000"/>
          </ns115:xfrm>
          <ns116:prstGeom xmlns:ns116="http://schemas.openxmlformats.org/drawingml/2006/main" prst="rect">
            <ns116:avLst/>
          </ns116:prstGeom>
          <ns117:solidFill xmlns:ns117="http://schemas.openxmlformats.org/drawingml/2006/main">
            <ns117:srgbClr val="F3F7FA"/>
          </ns117:solidFill>
          <ns118:ln xmlns:ns118="http://schemas.openxmlformats.org/drawingml/2006/main" w="9525">
            <ns118:solidFill>
              <ns118:srgbClr val="65727D"/>
            </ns118:solidFill>
          </ns118:ln>
        </p:spPr>
        <p:txBody>
          <ns119:bodyPr xmlns:ns119="http://schemas.openxmlformats.org/drawingml/2006/main" wrap="square" lIns="61200" rIns="61200" tIns="61200" bIns="61200" anchor="ctr">
            <ns119:noAutofit/>
          </ns119:bodyPr>
          <ns120:lstStyle xmlns:ns120="http://schemas.openxmlformats.org/drawingml/2006/main"/>
          <ns121:p xmlns:ns121="http://schemas.openxmlformats.org/drawingml/2006/main">
            <ns121:pPr algn="l">
              <ns121:lnSpc>
                <ns121:spcPct val="105000"/>
              </ns121:lnSpc>
              <ns121:defRPr sz="1300" b="1">
                <ns121:solidFill>
                  <ns121:srgbClr val="65727D"/>
                </ns121:solidFill>
                <ns121:latin typeface="Arial"/>
                <ns121:ea typeface="Arial"/>
                <ns121:cs typeface="Arial"/>
              </ns121:defRPr>
            </ns121:pPr>
            <ns121:r>
              <ns121:rPr sz="1300" b="1">
                <ns121:solidFill>
                  <ns121:srgbClr val="65727D"/>
                </ns121:solidFill>
                <ns121:latin typeface="Arial"/>
                <ns121:ea typeface="Arial"/>
                <ns121:cs typeface="Arial"/>
              </ns121:rPr>
              <ns121:t>Baseline</ns121:t>
            </ns121:r>
          </ns121:p>
          <ns122:p xmlns:ns122="http://schemas.openxmlformats.org/drawingml/2006/main">
            <ns122:pPr algn="l">
              <ns122:lnSpc>
                <ns122:spcPct val="105000"/>
              </ns122:lnSpc>
              <ns122:defRPr sz="1100" b="0">
                <ns122:solidFill>
                  <ns122:srgbClr val="20262C"/>
                </ns122:solidFill>
                <ns122:latin typeface="Arial"/>
                <ns122:ea typeface="Arial"/>
                <ns122:cs typeface="Arial"/>
              </ns122:defRPr>
            </ns122:pPr>
            <ns122:r>
              <ns122:rPr sz="1100" b="0">
                <ns122:solidFill>
                  <ns122:srgbClr val="20262C"/>
                </ns122:solidFill>
                <ns122:latin typeface="Arial"/>
                <ns122:ea typeface="Arial"/>
                <ns122:cs typeface="Arial"/>
              </ns122:rPr>
              <ns122:t>Current task outcomes</ns122:t>
            </ns122:r>
          </ns122:p>
        </p:txBody>
      </p:sp>
      <p:sp>
        <p:nvSpPr>
          <p:cNvPr id="20" name="activity.application.use"/>
          <p:cNvSpPr/>
          <p:nvPr/>
        </p:nvSpPr>
        <p:spPr>
          <ns123:xfrm xmlns:ns123="http://schemas.openxmlformats.org/drawingml/2006/main">
            <ns123:off x="4392000" y="1746000"/>
            <ns123:ext cx="1458000" cy="612000"/>
          </ns123:xfrm>
          <ns124:prstGeom xmlns:ns124="http://schemas.openxmlformats.org/drawingml/2006/main" prst="roundRect">
            <ns124:avLst/>
          </ns124:prstGeom>
          <ns125:solidFill xmlns:ns125="http://schemas.openxmlformats.org/drawingml/2006/main">
            <ns125:srgbClr val="F3F7FA"/>
          </ns125:solidFill>
          <ns126:ln xmlns:ns126="http://schemas.openxmlformats.org/drawingml/2006/main" w="9525">
            <ns126:solidFill>
              <ns126:srgbClr val="65727D"/>
            </ns126:solidFill>
          </ns126:ln>
        </p:spPr>
        <p:txBody>
          <ns127:bodyPr xmlns:ns127="http://schemas.openxmlformats.org/drawingml/2006/main" wrap="square" lIns="61200" rIns="61200" tIns="61200" bIns="61200" anchor="ctr">
            <ns127:noAutofit/>
          </ns127:bodyPr>
          <ns128:lstStyle xmlns:ns128="http://schemas.openxmlformats.org/drawingml/2006/main"/>
          <ns129:p xmlns:ns129="http://schemas.openxmlformats.org/drawingml/2006/main">
            <ns129:pPr algn="l">
              <ns129:lnSpc>
                <ns129:spcPct val="105000"/>
              </ns129:lnSpc>
              <ns129:defRPr sz="1300" b="1">
                <ns129:solidFill>
                  <ns129:srgbClr val="65727D"/>
                </ns129:solidFill>
                <ns129:latin typeface="Arial"/>
                <ns129:ea typeface="Arial"/>
                <ns129:cs typeface="Arial"/>
              </ns129:defRPr>
            </ns129:pPr>
            <ns129:r>
              <ns129:rPr sz="1300" b="1">
                <ns129:solidFill>
                  <ns129:srgbClr val="65727D"/>
                </ns129:solidFill>
                <ns129:latin typeface="Arial"/>
                <ns129:ea typeface="Arial"/>
                <ns129:cs typeface="Arial"/>
              </ns129:rPr>
              <ns129:t>Application use</ns129:t>
            </ns129:r>
          </ns129:p>
          <ns130:p xmlns:ns130="http://schemas.openxmlformats.org/drawingml/2006/main">
            <ns130:pPr algn="l">
              <ns130:lnSpc>
                <ns130:spcPct val="105000"/>
              </ns130:lnSpc>
              <ns130:defRPr sz="1100" b="0">
                <ns130:solidFill>
                  <ns130:srgbClr val="20262C"/>
                </ns130:solidFill>
                <ns130:latin typeface="Arial"/>
                <ns130:ea typeface="Arial"/>
                <ns130:cs typeface="Arial"/>
              </ns130:defRPr>
            </ns130:pPr>
            <ns130:r>
              <ns130:rPr sz="1100" b="0">
                <ns130:solidFill>
                  <ns130:srgbClr val="20262C"/>
                </ns130:solidFill>
                <ns130:latin typeface="Arial"/>
                <ns130:ea typeface="Arial"/>
                <ns130:cs typeface="Arial"/>
              </ns130:rPr>
              <ns130:t>Employee task</ns130:t>
            </ns130:r>
          </ns130:p>
        </p:txBody>
      </p:sp>
      <p:sp>
        <p:nvSpPr>
          <p:cNvPr id="21" name="activity.record.results"/>
          <p:cNvSpPr/>
          <p:nvPr/>
        </p:nvSpPr>
        <p:spPr>
          <ns131:xfrm xmlns:ns131="http://schemas.openxmlformats.org/drawingml/2006/main">
            <ns131:off x="6127200" y="1746000"/>
            <ns131:ext cx="2559600" cy="612000"/>
          </ns131:xfrm>
          <ns132:prstGeom xmlns:ns132="http://schemas.openxmlformats.org/drawingml/2006/main" prst="rect">
            <ns132:avLst/>
          </ns132:prstGeom>
          <ns133:solidFill xmlns:ns133="http://schemas.openxmlformats.org/drawingml/2006/main">
            <ns133:srgbClr val="F3F7FA"/>
          </ns133:solidFill>
          <ns134:ln xmlns:ns134="http://schemas.openxmlformats.org/drawingml/2006/main" w="9525">
            <ns134:solidFill>
              <ns134:srgbClr val="65727D"/>
            </ns134:solidFill>
          </ns134:ln>
        </p:spPr>
        <p:txBody>
          <ns135:bodyPr xmlns:ns135="http://schemas.openxmlformats.org/drawingml/2006/main" wrap="square" lIns="61200" rIns="61200" tIns="61200" bIns="61200" anchor="ctr">
            <ns135:noAutofit/>
          </ns135:bodyPr>
          <ns136:lstStyle xmlns:ns136="http://schemas.openxmlformats.org/drawingml/2006/main"/>
          <ns137:p xmlns:ns137="http://schemas.openxmlformats.org/drawingml/2006/main">
            <ns137:pPr algn="l">
              <ns137:lnSpc>
                <ns137:spcPct val="105000"/>
              </ns137:lnSpc>
              <ns137:defRPr sz="1300" b="1">
                <ns137:solidFill>
                  <ns137:srgbClr val="65727D"/>
                </ns137:solidFill>
                <ns137:latin typeface="Arial"/>
                <ns137:ea typeface="Arial"/>
                <ns137:cs typeface="Arial"/>
              </ns137:defRPr>
            </ns137:pPr>
            <ns137:r>
              <ns137:rPr sz="1300" b="1">
                <ns137:solidFill>
                  <ns137:srgbClr val="65727D"/>
                </ns137:solidFill>
                <ns137:latin typeface="Arial"/>
                <ns137:ea typeface="Arial"/>
                <ns137:cs typeface="Arial"/>
              </ns137:rPr>
              <ns137:t>Record results</ns137:t>
            </ns137:r>
          </ns137:p>
        </p:txBody>
      </p:sp>
      <p:cxnSp>
        <p:nvCxnSpPr>
          <p:cNvPr id="22" name="baseline.to.use"/>
          <p:cNvCxnSpPr/>
          <p:nvPr/>
        </p:nvCxnSpPr>
        <p:spPr>
          <ns138:xfrm xmlns:ns138="http://schemas.openxmlformats.org/drawingml/2006/main">
            <ns138:off x="4078800" y="2052000"/>
            <ns138:ext cx="277200" cy="1"/>
          </ns138:xfrm>
          <ns139:prstGeom xmlns:ns139="http://schemas.openxmlformats.org/drawingml/2006/main" prst="line">
            <ns139:avLst/>
          </ns139:prstGeom>
          <ns140:ln xmlns:ns140="http://schemas.openxmlformats.org/drawingml/2006/main" w="11430">
            <ns140:solidFill>
              <ns140:srgbClr val="005A9C"/>
            </ns140:solidFill>
            <ns140:tailEnd type="triangle" w="sm" len="sm"/>
          </ns140:ln>
        </p:spPr>
      </p:cxnSp>
      <p:cxnSp>
        <p:nvCxnSpPr>
          <p:cNvPr id="23" name="use.to.results"/>
          <p:cNvCxnSpPr/>
          <p:nvPr/>
        </p:nvCxnSpPr>
        <p:spPr>
          <ns141:xfrm xmlns:ns141="http://schemas.openxmlformats.org/drawingml/2006/main">
            <ns141:off x="5886000" y="2052000"/>
            <ns141:ext cx="205200" cy="1"/>
          </ns141:xfrm>
          <ns142:prstGeom xmlns:ns142="http://schemas.openxmlformats.org/drawingml/2006/main" prst="line">
            <ns142:avLst/>
          </ns142:prstGeom>
          <ns143:ln xmlns:ns143="http://schemas.openxmlformats.org/drawingml/2006/main" w="11430">
            <ns143:solidFill>
              <ns143:srgbClr val="005A9C"/>
            </ns143:solidFill>
            <ns143:tailEnd type="triangle" w="sm" len="sm"/>
          </ns143:ln>
        </p:spPr>
      </p:cxnSp>
      <p:sp>
        <p:nvSpPr>
          <p:cNvPr id="24" name="output.results.measures"/>
          <p:cNvSpPr/>
          <p:nvPr/>
        </p:nvSpPr>
        <p:spPr>
          <ns144:xfrm xmlns:ns144="http://schemas.openxmlformats.org/drawingml/2006/main">
            <ns144:off x="6127200" y="2664000"/>
            <ns144:ext cx="2559600" cy="1224000"/>
          </ns144:xfrm>
          <ns145:prstGeom xmlns:ns145="http://schemas.openxmlformats.org/drawingml/2006/main" prst="rect">
            <ns145:avLst/>
          </ns145:prstGeom>
          <ns146:solidFill xmlns:ns146="http://schemas.openxmlformats.org/drawingml/2006/main">
            <ns146:srgbClr val="F3F7FA"/>
          </ns146:solidFill>
          <ns147:ln xmlns:ns147="http://schemas.openxmlformats.org/drawingml/2006/main" w="9525">
            <ns147:solidFill>
              <ns147:srgbClr val="65727D"/>
            </ns147:solidFill>
          </ns147:ln>
        </p:spPr>
        <p:txBody>
          <ns148:bodyPr xmlns:ns148="http://schemas.openxmlformats.org/drawingml/2006/main" wrap="square" lIns="61200" rIns="61200" tIns="61200" bIns="61200" anchor="ctr">
            <ns148:noAutofit/>
          </ns148:bodyPr>
          <ns149:lstStyle xmlns:ns149="http://schemas.openxmlformats.org/drawingml/2006/main"/>
          <ns150:p xmlns:ns150="http://schemas.openxmlformats.org/drawingml/2006/main">
            <ns150:pPr algn="l">
              <ns150:lnSpc>
                <ns150:spcPct val="105000"/>
              </ns150:lnSpc>
              <ns150:defRPr sz="1300" b="1">
                <ns150:solidFill>
                  <ns150:srgbClr val="65727D"/>
                </ns150:solidFill>
                <ns150:latin typeface="Arial"/>
                <ns150:ea typeface="Arial"/>
                <ns150:cs typeface="Arial"/>
              </ns150:defRPr>
            </ns150:pPr>
            <ns150:r>
              <ns150:rPr sz="1300" b="1">
                <ns150:solidFill>
                  <ns150:srgbClr val="65727D"/>
                </ns150:solidFill>
                <ns150:latin typeface="Arial"/>
                <ns150:ea typeface="Arial"/>
                <ns150:cs typeface="Arial"/>
              </ns150:rPr>
              <ns150:t>Outcome measures</ns150:t>
            </ns150:r>
          </ns150:p>
          <ns151:p xmlns:ns151="http://schemas.openxmlformats.org/drawingml/2006/main">
            <ns151:pPr algn="l">
              <ns151:lnSpc>
                <ns151:spcPct val="105000"/>
              </ns151:lnSpc>
              <ns151:defRPr sz="1200" b="0">
                <ns151:solidFill>
                  <ns151:srgbClr val="20262C"/>
                </ns151:solidFill>
                <ns151:latin typeface="Arial"/>
                <ns151:ea typeface="Arial"/>
                <ns151:cs typeface="Arial"/>
              </ns151:defRPr>
            </ns151:pPr>
            <ns151:r>
              <ns151:rPr sz="1200" b="0">
                <ns151:solidFill>
                  <ns151:srgbClr val="20262C"/>
                </ns151:solidFill>
                <ns151:latin typeface="Arial"/>
                <ns151:ea typeface="Arial"/>
                <ns151:cs typeface="Arial"/>
              </ns151:rPr>
              <ns151:t>Completion time</ns151:t>
            </ns151:r>
          </ns151:p>
          <ns152:p xmlns:ns152="http://schemas.openxmlformats.org/drawingml/2006/main">
            <ns152:pPr algn="l">
              <ns152:lnSpc>
                <ns152:spcPct val="105000"/>
              </ns152:lnSpc>
              <ns152:defRPr sz="1200" b="0">
                <ns152:solidFill>
                  <ns152:srgbClr val="20262C"/>
                </ns152:solidFill>
                <ns152:latin typeface="Arial"/>
                <ns152:ea typeface="Arial"/>
                <ns152:cs typeface="Arial"/>
              </ns152:defRPr>
            </ns152:pPr>
            <ns152:r>
              <ns152:rPr sz="1200" b="0">
                <ns152:solidFill>
                  <ns152:srgbClr val="20262C"/>
                </ns152:solidFill>
                <ns152:latin typeface="Arial"/>
                <ns152:ea typeface="Arial"/>
                <ns152:cs typeface="Arial"/>
              </ns152:rPr>
              <ns152:t>Output use</ns152:t>
            </ns152:r>
          </ns152:p>
          <ns153:p xmlns:ns153="http://schemas.openxmlformats.org/drawingml/2006/main">
            <ns153:pPr algn="l">
              <ns153:lnSpc>
                <ns153:spcPct val="105000"/>
              </ns153:lnSpc>
              <ns153:defRPr sz="1200" b="0">
                <ns153:solidFill>
                  <ns153:srgbClr val="20262C"/>
                </ns153:solidFill>
                <ns153:latin typeface="Arial"/>
                <ns153:ea typeface="Arial"/>
                <ns153:cs typeface="Arial"/>
              </ns153:defRPr>
            </ns153:pPr>
            <ns153:r>
              <ns153:rPr sz="1200" b="0">
                <ns153:solidFill>
                  <ns153:srgbClr val="20262C"/>
                </ns153:solidFill>
                <ns153:latin typeface="Arial"/>
                <ns153:ea typeface="Arial"/>
                <ns153:cs typeface="Arial"/>
              </ns153:rPr>
              <ns153:t>Rework</ns153:t>
            </ns153:r>
          </ns153:p>
          <ns154:p xmlns:ns154="http://schemas.openxmlformats.org/drawingml/2006/main">
            <ns154:pPr algn="l">
              <ns154:lnSpc>
                <ns154:spcPct val="105000"/>
              </ns154:lnSpc>
              <ns154:defRPr sz="1200" b="0">
                <ns154:solidFill>
                  <ns154:srgbClr val="20262C"/>
                </ns154:solidFill>
                <ns154:latin typeface="Arial"/>
                <ns154:ea typeface="Arial"/>
                <ns154:cs typeface="Arial"/>
              </ns154:defRPr>
            </ns154:pPr>
            <ns154:r>
              <ns154:rPr sz="1200" b="0">
                <ns154:solidFill>
                  <ns154:srgbClr val="20262C"/>
                </ns154:solidFill>
                <ns154:latin typeface="Arial"/>
                <ns154:ea typeface="Arial"/>
                <ns154:cs typeface="Arial"/>
              </ns154:rPr>
              <ns154:t>Repeat usage</ns154:t>
            </ns154:r>
          </ns154:p>
        </p:txBody>
      </p:sp>
      <p:cxnSp>
        <p:nvCxnSpPr>
          <p:cNvPr id="25" name="results.to.measures"/>
          <p:cNvCxnSpPr/>
          <p:nvPr/>
        </p:nvCxnSpPr>
        <p:spPr>
          <ns155:xfrm xmlns:ns155="http://schemas.openxmlformats.org/drawingml/2006/main">
            <ns155:off x="7407000" y="2394000"/>
            <ns155:ext cx="1" cy="234000"/>
          </ns155:xfrm>
          <ns156:prstGeom xmlns:ns156="http://schemas.openxmlformats.org/drawingml/2006/main" prst="line">
            <ns156:avLst/>
          </ns156:prstGeom>
          <ns157:ln xmlns:ns157="http://schemas.openxmlformats.org/drawingml/2006/main" w="11430">
            <ns157:solidFill>
              <ns157:srgbClr val="005A9C"/>
            </ns157:solidFill>
            <ns157:tailEnd type="triangle" w="sm" len="sm"/>
          </ns157:ln>
        </p:spPr>
      </p:cxnSp>
      <p:sp>
        <p:nvSpPr>
          <p:cNvPr id="26" name="human.team.refines"/>
          <p:cNvSpPr/>
          <p:nvPr/>
        </p:nvSpPr>
        <p:spPr>
          <ns158:xfrm xmlns:ns158="http://schemas.openxmlformats.org/drawingml/2006/main">
            <ns158:off x="2422800" y="3384000"/>
            <ns158:ext cx="3427200" cy="828000"/>
          </ns158:xfrm>
          <ns159:prstGeom xmlns:ns159="http://schemas.openxmlformats.org/drawingml/2006/main" prst="roundRect">
            <ns159:avLst/>
          </ns159:prstGeom>
          <ns160:solidFill xmlns:ns160="http://schemas.openxmlformats.org/drawingml/2006/main">
            <ns160:srgbClr val="F3F7FA"/>
          </ns160:solidFill>
          <ns161:ln xmlns:ns161="http://schemas.openxmlformats.org/drawingml/2006/main" w="9525">
            <ns161:solidFill>
              <ns161:srgbClr val="65727D"/>
            </ns161:solidFill>
          </ns161:ln>
        </p:spPr>
        <p:txBody>
          <ns162:bodyPr xmlns:ns162="http://schemas.openxmlformats.org/drawingml/2006/main" wrap="square" lIns="61200" rIns="61200" tIns="61200" bIns="61200" anchor="ctr">
            <ns162:noAutofit/>
          </ns162:bodyPr>
          <ns163:lstStyle xmlns:ns163="http://schemas.openxmlformats.org/drawingml/2006/main"/>
          <ns164:p xmlns:ns164="http://schemas.openxmlformats.org/drawingml/2006/main">
            <ns164:pPr algn="l">
              <ns164:lnSpc>
                <ns164:spcPct val="105000"/>
              </ns164:lnSpc>
              <ns164:defRPr sz="1300" b="1">
                <ns164:solidFill>
                  <ns164:srgbClr val="65727D"/>
                </ns164:solidFill>
                <ns164:latin typeface="Arial"/>
                <ns164:ea typeface="Arial"/>
                <ns164:cs typeface="Arial"/>
              </ns164:defRPr>
            </ns164:pPr>
            <ns164:r>
              <ns164:rPr sz="1300" b="1">
                <ns164:solidFill>
                  <ns164:srgbClr val="65727D"/>
                </ns164:solidFill>
                <ns164:latin typeface="Arial"/>
                <ns164:ea typeface="Arial"/>
                <ns164:cs typeface="Arial"/>
              </ns164:rPr>
              <ns164:t>Team review</ns164:t>
            </ns164:r>
          </ns164:p>
          <ns165:p xmlns:ns165="http://schemas.openxmlformats.org/drawingml/2006/main">
            <ns165:pPr algn="l">
              <ns165:lnSpc>
                <ns165:spcPct val="105000"/>
              </ns165:lnSpc>
              <ns165:defRPr sz="1200" b="0">
                <ns165:solidFill>
                  <ns165:srgbClr val="20262C"/>
                </ns165:solidFill>
                <ns165:latin typeface="Arial"/>
                <ns165:ea typeface="Arial"/>
                <ns165:cs typeface="Arial"/>
              </ns165:defRPr>
            </ns165:pPr>
            <ns165:r>
              <ns165:rPr sz="1200" b="0">
                <ns165:solidFill>
                  <ns165:srgbClr val="20262C"/>
                </ns165:solidFill>
                <ns165:latin typeface="Arial"/>
                <ns165:ea typeface="Arial"/>
                <ns165:cs typeface="Arial"/>
              </ns165:rPr>
              <ns165:t>Compare with baseline</ns165:t>
            </ns165:r>
          </ns165:p>
          <ns166:p xmlns:ns166="http://schemas.openxmlformats.org/drawingml/2006/main">
            <ns166:pPr algn="l">
              <ns166:lnSpc>
                <ns166:spcPct val="105000"/>
              </ns166:lnSpc>
              <ns166:defRPr sz="1200" b="0">
                <ns166:solidFill>
                  <ns166:srgbClr val="20262C"/>
                </ns166:solidFill>
                <ns166:latin typeface="Arial"/>
                <ns166:ea typeface="Arial"/>
                <ns166:cs typeface="Arial"/>
              </ns166:defRPr>
            </ns166:pPr>
            <ns166:r>
              <ns166:rPr sz="1200" b="0">
                <ns166:solidFill>
                  <ns166:srgbClr val="20262C"/>
                </ns166:solidFill>
                <ns166:latin typeface="Arial"/>
                <ns166:ea typeface="Arial"/>
                <ns166:cs typeface="Arial"/>
              </ns166:rPr>
              <ns166:t>Refine workflow</ns166:t>
            </ns166:r>
          </ns166:p>
        </p:txBody>
      </p:sp>
      <p:cxnSp>
        <p:nvCxnSpPr>
          <p:cNvPr id="27" name="measures.to.team"/>
          <p:cNvCxnSpPr/>
          <p:nvPr/>
        </p:nvCxnSpPr>
        <p:spPr>
          <ns167:xfrm xmlns:ns167="http://schemas.openxmlformats.org/drawingml/2006/main" flipH="1">
            <ns167:off x="5886000" y="3690000"/>
            <ns167:ext cx="205200" cy="1"/>
          </ns167:xfrm>
          <ns168:prstGeom xmlns:ns168="http://schemas.openxmlformats.org/drawingml/2006/main" prst="line">
            <ns168:avLst/>
          </ns168:prstGeom>
          <ns169:ln xmlns:ns169="http://schemas.openxmlformats.org/drawingml/2006/main" w="11430">
            <ns169:solidFill>
              <ns169:srgbClr val="005A9C"/>
            </ns169:solidFill>
            <ns169:tailEnd type="triangle" w="sm" len="sm"/>
          </ns169:ln>
        </p:spPr>
      </p:cxnSp>
      <p:cxnSp>
        <p:nvCxnSpPr>
          <p:cNvPr id="28" name="baseline.to.comparison"/>
          <p:cNvCxnSpPr/>
          <p:nvPr/>
        </p:nvCxnSpPr>
        <p:spPr>
          <ns170:xfrm xmlns:ns170="http://schemas.openxmlformats.org/drawingml/2006/main">
            <ns170:off x="3232800" y="2394000"/>
            <ns170:ext cx="1" cy="954000"/>
          </ns170:xfrm>
          <ns171:prstGeom xmlns:ns171="http://schemas.openxmlformats.org/drawingml/2006/main" prst="line">
            <ns171:avLst/>
          </ns171:prstGeom>
          <ns172:ln xmlns:ns172="http://schemas.openxmlformats.org/drawingml/2006/main" w="9525">
            <ns172:solidFill>
              <ns172:srgbClr val="65727D"/>
            </ns172:solidFill>
            <ns172:tailEnd type="triangle" w="sm" len="sm"/>
          </ns172:ln>
        </p:spPr>
      </p:cxnSp>
      <p:cxnSp>
        <p:nvCxnSpPr>
          <p:cNvPr id="29" name="refined.workflow.return.0"/>
          <p:cNvCxnSpPr/>
          <p:nvPr/>
        </p:nvCxnSpPr>
        <p:spPr>
          <ns173:xfrm xmlns:ns173="http://schemas.openxmlformats.org/drawingml/2006/main" flipV="1">
            <ns173:off x="4136400" y="3078000"/>
            <ns173:ext cx="1" cy="270000"/>
          </ns173:xfrm>
          <ns174:prstGeom xmlns:ns174="http://schemas.openxmlformats.org/drawingml/2006/main" prst="line">
            <ns174:avLst/>
          </ns174:prstGeom>
          <ns175:ln xmlns:ns175="http://schemas.openxmlformats.org/drawingml/2006/main" w="11430">
            <ns175:solidFill>
              <ns175:srgbClr val="005A9C"/>
            </ns175:solidFill>
          </ns175:ln>
        </p:spPr>
      </p:cxnSp>
      <p:cxnSp>
        <p:nvCxnSpPr>
          <p:cNvPr id="30" name="refined.workflow.return.1"/>
          <p:cNvCxnSpPr/>
          <p:nvPr/>
        </p:nvCxnSpPr>
        <p:spPr>
          <ns176:xfrm xmlns:ns176="http://schemas.openxmlformats.org/drawingml/2006/main">
            <ns176:off x="4136400" y="3078000"/>
            <ns176:ext cx="984600" cy="1"/>
          </ns176:xfrm>
          <ns177:prstGeom xmlns:ns177="http://schemas.openxmlformats.org/drawingml/2006/main" prst="line">
            <ns177:avLst/>
          </ns177:prstGeom>
          <ns178:ln xmlns:ns178="http://schemas.openxmlformats.org/drawingml/2006/main" w="11430">
            <ns178:solidFill>
              <ns178:srgbClr val="005A9C"/>
            </ns178:solidFill>
          </ns178:ln>
        </p:spPr>
      </p:cxnSp>
      <p:cxnSp>
        <p:nvCxnSpPr>
          <p:cNvPr id="31" name="refined.workflow.return.2"/>
          <p:cNvCxnSpPr/>
          <p:nvPr/>
        </p:nvCxnSpPr>
        <p:spPr>
          <ns179:xfrm xmlns:ns179="http://schemas.openxmlformats.org/drawingml/2006/main" flipV="1">
            <ns179:off x="5121000" y="2394000"/>
            <ns179:ext cx="1" cy="684000"/>
          </ns179:xfrm>
          <ns180:prstGeom xmlns:ns180="http://schemas.openxmlformats.org/drawingml/2006/main" prst="line">
            <ns180:avLst/>
          </ns180:prstGeom>
          <ns181:ln xmlns:ns181="http://schemas.openxmlformats.org/drawingml/2006/main" w="11430">
            <ns181:solidFill>
              <ns181:srgbClr val="005A9C"/>
            </ns181:solidFill>
            <ns181:tailEnd type="triangle" w="sm" len="sm"/>
          </ns181:ln>
        </p:spPr>
      </p:cxnSp>
      <p:sp>
        <p:nvSpPr>
          <p:cNvPr id="32" name="refinement.return.label"/>
          <p:cNvSpPr/>
          <p:nvPr/>
        </p:nvSpPr>
        <p:spPr>
          <ns182:xfrm xmlns:ns182="http://schemas.openxmlformats.org/drawingml/2006/main">
            <ns182:off x="4363200" y="2894400"/>
            <ns182:ext cx="1422000" cy="162000"/>
          </ns182:xfrm>
          <ns183:prstGeom xmlns:ns183="http://schemas.openxmlformats.org/drawingml/2006/main" prst="rect">
            <ns183:avLst/>
          </ns183:prstGeom>
          <ns184:noFill xmlns:ns184="http://schemas.openxmlformats.org/drawingml/2006/main"/>
          <ns185:ln xmlns:ns185="http://schemas.openxmlformats.org/drawingml/2006/main" w="0">
            <ns185:noFill/>
          </ns185:ln>
        </p:spPr>
        <p:txBody>
          <ns186:bodyPr xmlns:ns186="http://schemas.openxmlformats.org/drawingml/2006/main" wrap="square" lIns="0" rIns="0" tIns="0" bIns="0" anchor="t">
            <ns186:noAutofit/>
          </ns186:bodyPr>
          <ns187:lstStyle xmlns:ns187="http://schemas.openxmlformats.org/drawingml/2006/main"/>
          <ns188:p xmlns:ns188="http://schemas.openxmlformats.org/drawingml/2006/main">
            <ns188:pPr algn="l">
              <ns188:lnSpc>
                <ns188:spcPct val="105000"/>
              </ns188:lnSpc>
              <ns188:defRPr sz="1050" b="0">
                <ns188:solidFill>
                  <ns188:srgbClr val="65727D"/>
                </ns188:solidFill>
                <ns188:latin typeface="Arial"/>
                <ns188:ea typeface="Arial"/>
                <ns188:cs typeface="Arial"/>
              </ns188:defRPr>
            </ns188:pPr>
            <ns188:r>
              <ns188:rPr sz="1050" b="0">
                <ns188:solidFill>
                  <ns188:srgbClr val="65727D"/>
                </ns188:solidFill>
                <ns188:latin typeface="Arial"/>
                <ns188:ea typeface="Arial"/>
                <ns188:cs typeface="Arial"/>
              </ns188:rPr>
              <ns188:t>Refined task</ns188:t>
            </ns188:r>
          </ns188:p>
        </p:txBody>
      </p:sp>
    </p:spTree>
    <p:extLst>
      <p:ext uri="{BB962C8B-B14F-4D97-AF65-F5344CB8AC3E}">
        <p14:creationId xmlns:p14="http://schemas.microsoft.com/office/powerpoint/2010/main" val="4989596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Appendix: Research Template Preparation</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Zhong Ou Fund: Populating Research Templates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Zhong Ou / Nanfang Plus and forum coverage</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focus.research"/>
          <p:cNvSpPr/>
          <p:nvPr/>
        </p:nvSpPr>
        <p:spPr>
          <ns31:xfrm xmlns:ns31="http://schemas.openxmlformats.org/drawingml/2006/main">
            <ns31:off x="486000" y="1800000"/>
            <ns31:ext cx="1677600" cy="176400"/>
          </ns31:xfrm>
          <ns32:prstGeom xmlns:ns32="http://schemas.openxmlformats.org/drawingml/2006/main" prst="rect">
            <ns32:avLst/>
          </ns32:prstGeom>
          <ns33:solidFill xmlns:ns33="http://schemas.openxmlformats.org/drawingml/2006/main">
            <ns33:srgbClr val="D9EAF7"/>
          </ns33:solidFill>
          <ns34:ln xmlns:ns34="http://schemas.openxmlformats.org/drawingml/2006/main" w="0">
            <ns34:noFill/>
          </ns34:ln>
        </p:spPr>
      </p:sp>
      <p:sp>
        <p:nvSpPr>
          <p:cNvPr id="8" name="map.task.research"/>
          <p:cNvSpPr/>
          <p:nvPr/>
        </p:nvSpPr>
        <p:spPr>
          <ns35:xfrm xmlns:ns35="http://schemas.openxmlformats.org/drawingml/2006/main">
            <ns35:off x="554400" y="1803600"/>
            <ns35:ext cx="1562400" cy="165600"/>
          </ns35:xfrm>
          <ns36:prstGeom xmlns:ns36="http://schemas.openxmlformats.org/drawingml/2006/main" prst="rect">
            <ns36:avLst/>
          </ns36:prstGeom>
          <ns37:noFill xmlns:ns37="http://schemas.openxmlformats.org/drawingml/2006/main"/>
          <ns38:ln xmlns:ns38="http://schemas.openxmlformats.org/drawingml/2006/main" w="0">
            <ns38:noFill/>
          </ns38:ln>
        </p:spPr>
        <p:txBody>
          <ns39:bodyPr xmlns:ns39="http://schemas.openxmlformats.org/drawingml/2006/main" wrap="square" lIns="0" rIns="0" tIns="0" bIns="0" anchor="t">
            <ns39:noAutofit/>
          </ns39:bodyPr>
          <ns40:lstStyle xmlns:ns40="http://schemas.openxmlformats.org/drawingml/2006/main"/>
          <ns41:p xmlns:ns41="http://schemas.openxmlformats.org/drawingml/2006/main">
            <ns41:pPr algn="l">
              <ns41:lnSpc>
                <ns41:spcPct val="105000"/>
              </ns41:lnSpc>
              <ns41:defRPr sz="1050" b="1">
                <ns41:solidFill>
                  <ns41:srgbClr val="005A9C"/>
                </ns41:solidFill>
                <ns41:latin typeface="Arial"/>
                <ns41:ea typeface="Arial"/>
                <ns41:cs typeface="Arial"/>
              </ns41:defRPr>
            </ns41:pPr>
            <ns41:r>
              <ns41:rPr sz="1050" b="1">
                <ns41:solidFill>
                  <ns41:srgbClr val="005A9C"/>
                </ns41:solidFill>
                <ns41:latin typeface="Arial"/>
                <ns41:ea typeface="Arial"/>
                <ns41:cs typeface="Arial"/>
              </ns41:rPr>
              <ns41:t>Research</ns41:t>
            </ns41:r>
          </ns41:p>
        </p:txBody>
      </p:sp>
      <p:sp>
        <p:nvSpPr>
          <p:cNvPr id="9" name="map.task.trade"/>
          <p:cNvSpPr/>
          <p:nvPr/>
        </p:nvSpPr>
        <p:spPr>
          <ns42:xfrm xmlns:ns42="http://schemas.openxmlformats.org/drawingml/2006/main">
            <ns42:off x="554400" y="2001600"/>
            <ns42:ext cx="1562400" cy="165600"/>
          </ns42:xfrm>
          <ns43:prstGeom xmlns:ns43="http://schemas.openxmlformats.org/drawingml/2006/main" prst="rect">
            <ns43:avLst/>
          </ns43:prstGeom>
          <ns44:noFill xmlns:ns44="http://schemas.openxmlformats.org/drawingml/2006/main"/>
          <ns45:ln xmlns:ns45="http://schemas.openxmlformats.org/drawingml/2006/main" w="0">
            <ns45:noFill/>
          </ns45:ln>
        </p:spPr>
        <p:txBody>
          <ns46:bodyPr xmlns:ns46="http://schemas.openxmlformats.org/drawingml/2006/main" wrap="square" lIns="0" rIns="0" tIns="0" bIns="0" anchor="t">
            <ns46:noAutofit/>
          </ns46:bodyPr>
          <ns47:lstStyle xmlns:ns47="http://schemas.openxmlformats.org/drawingml/2006/main"/>
          <ns48:p xmlns:ns48="http://schemas.openxmlformats.org/drawingml/2006/main">
            <ns48:pPr algn="l">
              <ns48:lnSpc>
                <ns48:spcPct val="105000"/>
              </ns48:lnSpc>
              <ns48:defRPr sz="1050" b="0">
                <ns48:solidFill>
                  <ns48:srgbClr val="65727D"/>
                </ns48:solidFill>
                <ns48:latin typeface="Arial"/>
                <ns48:ea typeface="Arial"/>
                <ns48:cs typeface="Arial"/>
              </ns48:defRPr>
            </ns48:pPr>
            <ns48:r>
              <ns48:rPr sz="1050" b="0">
                <ns48:solidFill>
                  <ns48:srgbClr val="65727D"/>
                </ns48:solidFill>
                <ns48:latin typeface="Arial"/>
                <ns48:ea typeface="Arial"/>
                <ns48:cs typeface="Arial"/>
              </ns48:rPr>
              <ns48:t>Trading support</ns48:t>
            </ns48:r>
          </ns48:p>
        </p:txBody>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0">
                <ns55:solidFill>
                  <ns55:srgbClr val="65727D"/>
                </ns55:solidFill>
                <ns55:latin typeface="Arial"/>
                <ns55:ea typeface="Arial"/>
                <ns55:cs typeface="Arial"/>
              </ns55:defRPr>
            </ns55:pPr>
            <ns55:r>
              <ns55:rPr sz="1050" b="0">
                <ns55:solidFill>
                  <ns55:srgbClr val="65727D"/>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source.template.0"/>
          <p:cNvSpPr/>
          <p:nvPr/>
        </p:nvSpPr>
        <p:spPr>
          <ns111:xfrm xmlns:ns111="http://schemas.openxmlformats.org/drawingml/2006/main">
            <ns111:off x="2422800" y="1584000"/>
            <ns111:ext cx="1440000" cy="594000"/>
          </ns111:xfrm>
          <ns112:prstGeom xmlns:ns112="http://schemas.openxmlformats.org/drawingml/2006/main" prst="rect">
            <ns112:avLst/>
          </ns112:prstGeom>
          <ns113:solidFill xmlns:ns113="http://schemas.openxmlformats.org/drawingml/2006/main">
            <ns113:srgbClr val="EFF6F4"/>
          </ns113:solidFill>
          <ns114:ln xmlns:ns114="http://schemas.openxmlformats.org/drawingml/2006/main" w="9525">
            <ns114:solidFill>
              <ns114:srgbClr val="317F7B"/>
            </ns114:solidFill>
          </ns114:ln>
        </p:spPr>
        <p:txBody>
          <ns115:bodyPr xmlns:ns115="http://schemas.openxmlformats.org/drawingml/2006/main" wrap="square" lIns="61200" rIns="61200" tIns="61200" bIns="61200" anchor="ctr">
            <ns115:noAutofit/>
          </ns115:bodyPr>
          <ns116:lstStyle xmlns:ns116="http://schemas.openxmlformats.org/drawingml/2006/main"/>
          <ns117:p xmlns:ns117="http://schemas.openxmlformats.org/drawingml/2006/main">
            <ns117:pPr algn="l">
              <ns117:lnSpc>
                <ns117:spcPct val="105000"/>
              </ns117:lnSpc>
              <ns117:defRPr sz="1300" b="1">
                <ns117:solidFill>
                  <ns117:srgbClr val="317F7B"/>
                </ns117:solidFill>
                <ns117:latin typeface="Arial"/>
                <ns117:ea typeface="Arial"/>
                <ns117:cs typeface="Arial"/>
              </ns117:defRPr>
            </ns117:pPr>
            <ns117:r>
              <ns117:rPr sz="1300" b="1">
                <ns117:solidFill>
                  <ns117:srgbClr val="317F7B"/>
                </ns117:solidFill>
                <ns117:latin typeface="Arial"/>
                <ns117:ea typeface="Arial"/>
                <ns117:cs typeface="Arial"/>
              </ns117:rPr>
              <ns117:t>Financials</ns117:t>
            </ns117:r>
          </ns117:p>
          <ns118:p xmlns:ns118="http://schemas.openxmlformats.org/drawingml/2006/main">
            <ns118:pPr algn="l">
              <ns118:lnSpc>
                <ns118:spcPct val="105000"/>
              </ns118:lnSpc>
              <ns118:defRPr sz="1050" b="0">
                <ns118:solidFill>
                  <ns118:srgbClr val="20262C"/>
                </ns118:solidFill>
                <ns118:latin typeface="Arial"/>
                <ns118:ea typeface="Arial"/>
                <ns118:cs typeface="Arial"/>
              </ns118:defRPr>
            </ns118:pPr>
            <ns118:r>
              <ns118:rPr sz="1050" b="0">
                <ns118:solidFill>
                  <ns118:srgbClr val="20262C"/>
                </ns118:solidFill>
                <ns118:latin typeface="Arial"/>
                <ns118:ea typeface="Arial"/>
                <ns118:cs typeface="Arial"/>
              </ns118:rPr>
              <ns118:t>Data / calculations</ns118:t>
            </ns118:r>
          </ns118:p>
        </p:txBody>
      </p:sp>
      <p:sp>
        <p:nvSpPr>
          <p:cNvPr id="19" name="source.template.1"/>
          <p:cNvSpPr/>
          <p:nvPr/>
        </p:nvSpPr>
        <p:spPr>
          <ns119:xfrm xmlns:ns119="http://schemas.openxmlformats.org/drawingml/2006/main">
            <ns119:off x="2422800" y="2358000"/>
            <ns119:ext cx="1440000" cy="594000"/>
          </ns119:xfrm>
          <ns120:prstGeom xmlns:ns120="http://schemas.openxmlformats.org/drawingml/2006/main" prst="rect">
            <ns120:avLst/>
          </ns120:prstGeom>
          <ns121:solidFill xmlns:ns121="http://schemas.openxmlformats.org/drawingml/2006/main">
            <ns121:srgbClr val="EFF6F4"/>
          </ns121:solidFill>
          <ns122:ln xmlns:ns122="http://schemas.openxmlformats.org/drawingml/2006/main" w="9525">
            <ns122:solidFill>
              <ns122:srgbClr val="317F7B"/>
            </ns122:solidFill>
          </ns122:ln>
        </p:spPr>
        <p:txBody>
          <ns123:bodyPr xmlns:ns123="http://schemas.openxmlformats.org/drawingml/2006/main" wrap="square" lIns="61200" rIns="61200" tIns="61200" bIns="61200" anchor="ctr">
            <ns123:noAutofit/>
          </ns123:bodyPr>
          <ns124:lstStyle xmlns:ns124="http://schemas.openxmlformats.org/drawingml/2006/main"/>
          <ns125:p xmlns:ns125="http://schemas.openxmlformats.org/drawingml/2006/main">
            <ns125:pPr algn="l">
              <ns125:lnSpc>
                <ns125:spcPct val="105000"/>
              </ns125:lnSpc>
              <ns125:defRPr sz="1300" b="1">
                <ns125:solidFill>
                  <ns125:srgbClr val="317F7B"/>
                </ns125:solidFill>
                <ns125:latin typeface="Arial"/>
                <ns125:ea typeface="Arial"/>
                <ns125:cs typeface="Arial"/>
              </ns125:defRPr>
            </ns125:pPr>
            <ns125:r>
              <ns125:rPr sz="1300" b="1">
                <ns125:solidFill>
                  <ns125:srgbClr val="317F7B"/>
                </ns125:solidFill>
                <ns125:latin typeface="Arial"/>
                <ns125:ea typeface="Arial"/>
                <ns125:cs typeface="Arial"/>
              </ns125:rPr>
              <ns125:t>Meeting notes</ns125:t>
            </ns125:r>
          </ns125:p>
          <ns126:p xmlns:ns126="http://schemas.openxmlformats.org/drawingml/2006/main">
            <ns126:pPr algn="l">
              <ns126:lnSpc>
                <ns126:spcPct val="105000"/>
              </ns126:lnSpc>
              <ns126:defRPr sz="1050" b="0">
                <ns126:solidFill>
                  <ns126:srgbClr val="20262C"/>
                </ns126:solidFill>
                <ns126:latin typeface="Arial"/>
                <ns126:ea typeface="Arial"/>
                <ns126:cs typeface="Arial"/>
              </ns126:defRPr>
            </ns126:pPr>
            <ns126:r>
              <ns126:rPr sz="1050" b="0">
                <ns126:solidFill>
                  <ns126:srgbClr val="20262C"/>
                </ns126:solidFill>
                <ns126:latin typeface="Arial"/>
                <ns126:ea typeface="Arial"/>
                <ns126:cs typeface="Arial"/>
              </ns126:rPr>
              <ns126:t>Restocking context</ns126:t>
            </ns126:r>
          </ns126:p>
        </p:txBody>
      </p:sp>
      <p:sp>
        <p:nvSpPr>
          <p:cNvPr id="20" name="source.template.2"/>
          <p:cNvSpPr/>
          <p:nvPr/>
        </p:nvSpPr>
        <p:spPr>
          <ns127:xfrm xmlns:ns127="http://schemas.openxmlformats.org/drawingml/2006/main">
            <ns127:off x="2422800" y="3132000"/>
            <ns127:ext cx="1440000" cy="594000"/>
          </ns127:xfrm>
          <ns128:prstGeom xmlns:ns128="http://schemas.openxmlformats.org/drawingml/2006/main" prst="rect">
            <ns128:avLst/>
          </ns128:prstGeom>
          <ns129:solidFill xmlns:ns129="http://schemas.openxmlformats.org/drawingml/2006/main">
            <ns129:srgbClr val="EFF6F4"/>
          </ns129:solidFill>
          <ns130:ln xmlns:ns130="http://schemas.openxmlformats.org/drawingml/2006/main" w="9525">
            <ns130:solidFill>
              <ns130:srgbClr val="317F7B"/>
            </ns130:solidFill>
          </ns130:ln>
        </p:spPr>
        <p:txBody>
          <ns131:bodyPr xmlns:ns131="http://schemas.openxmlformats.org/drawingml/2006/main" wrap="square" lIns="61200" rIns="61200" tIns="61200" bIns="61200" anchor="ctr">
            <ns131:noAutofit/>
          </ns131:bodyPr>
          <ns132:lstStyle xmlns:ns132="http://schemas.openxmlformats.org/drawingml/2006/main"/>
          <ns133:p xmlns:ns133="http://schemas.openxmlformats.org/drawingml/2006/main">
            <ns133:pPr algn="l">
              <ns133:lnSpc>
                <ns133:spcPct val="105000"/>
              </ns133:lnSpc>
              <ns133:defRPr sz="1300" b="1">
                <ns133:solidFill>
                  <ns133:srgbClr val="317F7B"/>
                </ns133:solidFill>
                <ns133:latin typeface="Arial"/>
                <ns133:ea typeface="Arial"/>
                <ns133:cs typeface="Arial"/>
              </ns133:defRPr>
            </ns133:pPr>
            <ns133:r>
              <ns133:rPr sz="1300" b="1">
                <ns133:solidFill>
                  <ns133:srgbClr val="317F7B"/>
                </ns133:solidFill>
                <ns133:latin typeface="Arial"/>
                <ns133:ea typeface="Arial"/>
                <ns133:cs typeface="Arial"/>
              </ns133:rPr>
              <ns133:t>Research reports</ns133:t>
            </ns133:r>
          </ns133:p>
          <ns134:p xmlns:ns134="http://schemas.openxmlformats.org/drawingml/2006/main">
            <ns134:pPr algn="l">
              <ns134:lnSpc>
                <ns134:spcPct val="105000"/>
              </ns134:lnSpc>
              <ns134:defRPr sz="1050" b="0">
                <ns134:solidFill>
                  <ns134:srgbClr val="20262C"/>
                </ns134:solidFill>
                <ns134:latin typeface="Arial"/>
                <ns134:ea typeface="Arial"/>
                <ns134:cs typeface="Arial"/>
              </ns134:defRPr>
            </ns134:pPr>
            <ns134:r>
              <ns134:rPr sz="1050" b="0">
                <ns134:solidFill>
                  <ns134:srgbClr val="20262C"/>
                </ns134:solidFill>
                <ns134:latin typeface="Arial"/>
                <ns134:ea typeface="Arial"/>
                <ns134:cs typeface="Arial"/>
              </ns134:rPr>
              <ns134:t>Continuation question</ns134:t>
            </ns134:r>
          </ns134:p>
        </p:txBody>
      </p:sp>
      <p:sp>
        <p:nvSpPr>
          <p:cNvPr id="21" name="role.llm.populate"/>
          <p:cNvSpPr/>
          <p:nvPr/>
        </p:nvSpPr>
        <p:spPr>
          <ns135:xfrm xmlns:ns135="http://schemas.openxmlformats.org/drawingml/2006/main">
            <ns135:off x="4114800" y="2358000"/>
            <ns135:ext cx="1440000" cy="738000"/>
          </ns135:xfrm>
          <ns136:prstGeom xmlns:ns136="http://schemas.openxmlformats.org/drawingml/2006/main" prst="roundRect">
            <ns136:avLst/>
          </ns136:prstGeom>
          <ns137:solidFill xmlns:ns137="http://schemas.openxmlformats.org/drawingml/2006/main">
            <ns137:srgbClr val="EAF3FA"/>
          </ns137:solidFill>
          <ns138:ln xmlns:ns138="http://schemas.openxmlformats.org/drawingml/2006/main" w="9525">
            <ns138:solidFill>
              <ns138:srgbClr val="005A9C"/>
            </ns138:solidFill>
          </ns138:ln>
        </p:spPr>
        <p:txBody>
          <ns139:bodyPr xmlns:ns139="http://schemas.openxmlformats.org/drawingml/2006/main" wrap="square" lIns="61200" rIns="61200" tIns="61200" bIns="61200" anchor="ctr">
            <ns139:noAutofit/>
          </ns139:bodyPr>
          <ns140:lstStyle xmlns:ns140="http://schemas.openxmlformats.org/drawingml/2006/main"/>
          <ns141:p xmlns:ns141="http://schemas.openxmlformats.org/drawingml/2006/main">
            <ns141:pPr algn="l">
              <ns141:lnSpc>
                <ns141:spcPct val="105000"/>
              </ns141:lnSpc>
              <ns141:defRPr sz="1300" b="1">
                <ns141:solidFill>
                  <ns141:srgbClr val="005A9C"/>
                </ns141:solidFill>
                <ns141:latin typeface="Arial"/>
                <ns141:ea typeface="Arial"/>
                <ns141:cs typeface="Arial"/>
              </ns141:defRPr>
            </ns141:pPr>
            <ns141:r>
              <ns141:rPr sz="1300" b="1">
                <ns141:solidFill>
                  <ns141:srgbClr val="005A9C"/>
                </ns141:solidFill>
                <ns141:latin typeface="Arial"/>
                <ns141:ea typeface="Arial"/>
                <ns141:cs typeface="Arial"/>
              </ns141:rPr>
              <ns141:t>LLM</ns141:t>
            </ns141:r>
          </ns141:p>
          <ns142:p xmlns:ns142="http://schemas.openxmlformats.org/drawingml/2006/main">
            <ns142:pPr algn="l">
              <ns142:lnSpc>
                <ns142:spcPct val="105000"/>
              </ns142:lnSpc>
              <ns142:defRPr sz="1200" b="0">
                <ns142:solidFill>
                  <ns142:srgbClr val="20262C"/>
                </ns142:solidFill>
                <ns142:latin typeface="Arial"/>
                <ns142:ea typeface="Arial"/>
                <ns142:cs typeface="Arial"/>
              </ns142:defRPr>
            </ns142:pPr>
            <ns142:r>
              <ns142:rPr sz="1200" b="0">
                <ns142:solidFill>
                  <ns142:srgbClr val="20262C"/>
                </ns142:solidFill>
                <ns142:latin typeface="Arial"/>
                <ns142:ea typeface="Arial"/>
                <ns142:cs typeface="Arial"/>
              </ns142:rPr>
              <ns142:t>Populate template</ns142:t>
            </ns142:r>
          </ns142:p>
        </p:txBody>
      </p:sp>
      <p:cxnSp>
        <p:nvCxnSpPr>
          <p:cNvPr id="22" name="template.sources.merge.source.0"/>
          <p:cNvCxnSpPr/>
          <p:nvPr/>
        </p:nvCxnSpPr>
        <p:spPr>
          <ns143:xfrm xmlns:ns143="http://schemas.openxmlformats.org/drawingml/2006/main">
            <ns143:off x="3862800" y="1881000"/>
            <ns143:ext cx="126000" cy="1"/>
          </ns143:xfrm>
          <ns144:prstGeom xmlns:ns144="http://schemas.openxmlformats.org/drawingml/2006/main" prst="line">
            <ns144:avLst/>
          </ns144:prstGeom>
          <ns145:ln xmlns:ns145="http://schemas.openxmlformats.org/drawingml/2006/main" w="9525">
            <ns145:solidFill>
              <ns145:srgbClr val="317F7B"/>
            </ns145:solidFill>
          </ns145:ln>
        </p:spPr>
      </p:cxnSp>
      <p:cxnSp>
        <p:nvCxnSpPr>
          <p:cNvPr id="23" name="template.sources.merge.source.1"/>
          <p:cNvCxnSpPr/>
          <p:nvPr/>
        </p:nvCxnSpPr>
        <p:spPr>
          <ns146:xfrm xmlns:ns146="http://schemas.openxmlformats.org/drawingml/2006/main">
            <ns146:off x="3862800" y="2655000"/>
            <ns146:ext cx="126000" cy="1"/>
          </ns146:xfrm>
          <ns147:prstGeom xmlns:ns147="http://schemas.openxmlformats.org/drawingml/2006/main" prst="line">
            <ns147:avLst/>
          </ns147:prstGeom>
          <ns148:ln xmlns:ns148="http://schemas.openxmlformats.org/drawingml/2006/main" w="9525">
            <ns148:solidFill>
              <ns148:srgbClr val="317F7B"/>
            </ns148:solidFill>
          </ns148:ln>
        </p:spPr>
      </p:cxnSp>
      <p:cxnSp>
        <p:nvCxnSpPr>
          <p:cNvPr id="24" name="template.sources.merge.source.2"/>
          <p:cNvCxnSpPr/>
          <p:nvPr/>
        </p:nvCxnSpPr>
        <p:spPr>
          <ns149:xfrm xmlns:ns149="http://schemas.openxmlformats.org/drawingml/2006/main">
            <ns149:off x="3862800" y="3429000"/>
            <ns149:ext cx="126000" cy="1"/>
          </ns149:xfrm>
          <ns150:prstGeom xmlns:ns150="http://schemas.openxmlformats.org/drawingml/2006/main" prst="line">
            <ns150:avLst/>
          </ns150:prstGeom>
          <ns151:ln xmlns:ns151="http://schemas.openxmlformats.org/drawingml/2006/main" w="9525">
            <ns151:solidFill>
              <ns151:srgbClr val="317F7B"/>
            </ns151:solidFill>
          </ns151:ln>
        </p:spPr>
      </p:cxnSp>
      <p:cxnSp>
        <p:nvCxnSpPr>
          <p:cNvPr id="25" name="template.sources.merge.bus"/>
          <p:cNvCxnSpPr/>
          <p:nvPr/>
        </p:nvCxnSpPr>
        <p:spPr>
          <ns152:xfrm xmlns:ns152="http://schemas.openxmlformats.org/drawingml/2006/main">
            <ns152:off x="3988800" y="1881000"/>
            <ns152:ext cx="1" cy="1548000"/>
          </ns152:xfrm>
          <ns153:prstGeom xmlns:ns153="http://schemas.openxmlformats.org/drawingml/2006/main" prst="line">
            <ns153:avLst/>
          </ns153:prstGeom>
          <ns154:ln xmlns:ns154="http://schemas.openxmlformats.org/drawingml/2006/main" w="9525">
            <ns154:solidFill>
              <ns154:srgbClr val="317F7B"/>
            </ns154:solidFill>
          </ns154:ln>
        </p:spPr>
      </p:cxnSp>
      <p:cxnSp>
        <p:nvCxnSpPr>
          <p:cNvPr id="26" name="template.sources.merge.target"/>
          <p:cNvCxnSpPr/>
          <p:nvPr/>
        </p:nvCxnSpPr>
        <p:spPr>
          <ns155:xfrm xmlns:ns155="http://schemas.openxmlformats.org/drawingml/2006/main">
            <ns155:off x="3988800" y="2727000"/>
            <ns155:ext cx="126000" cy="1"/>
          </ns155:xfrm>
          <ns156:prstGeom xmlns:ns156="http://schemas.openxmlformats.org/drawingml/2006/main" prst="line">
            <ns156:avLst/>
          </ns156:prstGeom>
          <ns157:ln xmlns:ns157="http://schemas.openxmlformats.org/drawingml/2006/main" w="11430">
            <ns157:solidFill>
              <ns157:srgbClr val="317F7B"/>
            </ns157:solidFill>
            <ns157:tailEnd type="triangle" w="sm" len="sm"/>
          </ns157:ln>
        </p:spPr>
      </p:cxnSp>
      <p:sp>
        <p:nvSpPr>
          <p:cNvPr id="27" name="output.research.template.paper"/>
          <p:cNvSpPr/>
          <p:nvPr/>
        </p:nvSpPr>
        <p:spPr>
          <ns158:xfrm xmlns:ns158="http://schemas.openxmlformats.org/drawingml/2006/main">
            <ns158:off x="5850000" y="1584000"/>
            <ns158:ext cx="2836800" cy="2131200"/>
          </ns158:xfrm>
          <ns159:prstGeom xmlns:ns159="http://schemas.openxmlformats.org/drawingml/2006/main" prst="foldedCorner">
            <ns159:avLst/>
          </ns159:prstGeom>
          <ns160:solidFill xmlns:ns160="http://schemas.openxmlformats.org/drawingml/2006/main">
            <ns160:srgbClr val="FFFFFF"/>
          </ns160:solidFill>
          <ns161:ln xmlns:ns161="http://schemas.openxmlformats.org/drawingml/2006/main" w="9525">
            <ns161:solidFill>
              <ns161:srgbClr val="317F7B"/>
            </ns161:solidFill>
          </ns161:ln>
        </p:spPr>
      </p:sp>
      <p:sp>
        <p:nvSpPr>
          <p:cNvPr id="28" name="output.research.template.title"/>
          <p:cNvSpPr/>
          <p:nvPr/>
        </p:nvSpPr>
        <p:spPr>
          <ns162:xfrm xmlns:ns162="http://schemas.openxmlformats.org/drawingml/2006/main">
            <ns162:off x="5914800" y="1627200"/>
            <ns162:ext cx="2638800" cy="198000"/>
          </ns162:xfrm>
          <ns163:prstGeom xmlns:ns163="http://schemas.openxmlformats.org/drawingml/2006/main" prst="rect">
            <ns163:avLst/>
          </ns163:prstGeom>
          <ns164:noFill xmlns:ns164="http://schemas.openxmlformats.org/drawingml/2006/main"/>
          <ns165:ln xmlns:ns165="http://schemas.openxmlformats.org/drawingml/2006/main" w="0">
            <ns165:noFill/>
          </ns165:ln>
        </p:spPr>
        <p:txBody>
          <ns166:bodyPr xmlns:ns166="http://schemas.openxmlformats.org/drawingml/2006/main" wrap="square" lIns="0" rIns="0" tIns="0" bIns="0" anchor="t">
            <ns166:noAutofit/>
          </ns166:bodyPr>
          <ns167:lstStyle xmlns:ns167="http://schemas.openxmlformats.org/drawingml/2006/main"/>
          <ns168:p xmlns:ns168="http://schemas.openxmlformats.org/drawingml/2006/main">
            <ns168:pPr algn="l">
              <ns168:lnSpc>
                <ns168:spcPct val="105000"/>
              </ns168:lnSpc>
              <ns168:defRPr sz="1250" b="1">
                <ns168:solidFill>
                  <ns168:srgbClr val="317F7B"/>
                </ns168:solidFill>
                <ns168:latin typeface="Arial"/>
                <ns168:ea typeface="Arial"/>
                <ns168:cs typeface="Arial"/>
              </ns168:defRPr>
            </ns168:pPr>
            <ns168:r>
              <ns168:rPr sz="1250" b="1">
                <ns168:solidFill>
                  <ns168:srgbClr val="317F7B"/>
                </ns168:solidFill>
                <ns168:latin typeface="Arial"/>
                <ns168:ea typeface="Arial"/>
                <ns168:cs typeface="Arial"/>
              </ns168:rPr>
              <ns168:t>Research template</ns168:t>
            </ns168:r>
          </ns168:p>
        </p:txBody>
      </p:sp>
      <p:sp>
        <p:nvSpPr>
          <p:cNvPr id="29" name="output.research.template.content"/>
          <p:cNvSpPr/>
          <p:nvPr/>
        </p:nvSpPr>
        <p:spPr>
          <ns169:xfrm xmlns:ns169="http://schemas.openxmlformats.org/drawingml/2006/main">
            <ns169:off x="5914800" y="1843200"/>
            <ns169:ext cx="2707200" cy="1821600"/>
          </ns169:xfrm>
          <ns170:prstGeom xmlns:ns170="http://schemas.openxmlformats.org/drawingml/2006/main" prst="rect">
            <ns170:avLst/>
          </ns170:prstGeom>
          <ns171:noFill xmlns:ns171="http://schemas.openxmlformats.org/drawingml/2006/main"/>
          <ns172:ln xmlns:ns172="http://schemas.openxmlformats.org/drawingml/2006/main" w="0">
            <ns172:noFill/>
          </ns172:ln>
        </p:spPr>
        <p:txBody>
          <ns173:bodyPr xmlns:ns173="http://schemas.openxmlformats.org/drawingml/2006/main" wrap="square" lIns="0" rIns="0" tIns="0" bIns="0" anchor="t">
            <ns173:noAutofit/>
          </ns173:bodyPr>
          <ns174:lstStyle xmlns:ns174="http://schemas.openxmlformats.org/drawingml/2006/main"/>
          <ns175:p xmlns:ns175="http://schemas.openxmlformats.org/drawingml/2006/main">
            <ns175:pPr algn="l">
              <ns175:lnSpc>
                <ns175:spcPct val="100000"/>
              </ns175:lnSpc>
              <ns175:defRPr sz="1200" b="0">
                <ns175:solidFill>
                  <ns175:srgbClr val="20262C"/>
                </ns175:solidFill>
                <ns175:latin typeface="Arial"/>
                <ns175:ea typeface="Arial"/>
                <ns175:cs typeface="Arial"/>
              </ns175:defRPr>
            </ns175:pPr>
            <ns175:r>
              <ns175:rPr sz="1200" b="0">
                <ns175:solidFill>
                  <ns175:srgbClr val="20262C"/>
                </ns175:solidFill>
                <ns175:latin typeface="Arial"/>
                <ns175:ea typeface="Arial"/>
                <ns175:cs typeface="Arial"/>
              </ns175:rPr>
              <ns175:t/>
            </ns175:r>
          </ns175:p>
        </p:txBody>
      </p:sp>
      <p:sp>
        <p:nvSpPr>
          <p:cNvPr id="30" name="template.field.0"/>
          <p:cNvSpPr/>
          <p:nvPr/>
        </p:nvSpPr>
        <p:spPr>
          <ns176:xfrm xmlns:ns176="http://schemas.openxmlformats.org/drawingml/2006/main">
            <ns176:off x="5947200" y="2023200"/>
            <ns176:ext cx="2638800" cy="180000"/>
          </ns176:xfrm>
          <ns177:prstGeom xmlns:ns177="http://schemas.openxmlformats.org/drawingml/2006/main" prst="rect">
            <ns177:avLst/>
          </ns177:prstGeom>
          <ns178:noFill xmlns:ns178="http://schemas.openxmlformats.org/drawingml/2006/main"/>
          <ns179:ln xmlns:ns179="http://schemas.openxmlformats.org/drawingml/2006/main" w="0">
            <ns179:noFill/>
          </ns179:ln>
        </p:spPr>
        <p:txBody>
          <ns180:bodyPr xmlns:ns180="http://schemas.openxmlformats.org/drawingml/2006/main" wrap="square" lIns="0" rIns="0" tIns="0" bIns="0" anchor="t">
            <ns180:noAutofit/>
          </ns180:bodyPr>
          <ns181:lstStyle xmlns:ns181="http://schemas.openxmlformats.org/drawingml/2006/main"/>
          <ns182:p xmlns:ns182="http://schemas.openxmlformats.org/drawingml/2006/main">
            <ns182:pPr algn="l">
              <ns182:lnSpc>
                <ns182:spcPct val="105000"/>
              </ns182:lnSpc>
              <ns182:defRPr sz="1050" b="1">
                <ns182:solidFill>
                  <ns182:srgbClr val="005A9C"/>
                </ns182:solidFill>
                <ns182:latin typeface="Arial"/>
                <ns182:ea typeface="Arial"/>
                <ns182:cs typeface="Arial"/>
              </ns182:defRPr>
            </ns182:pPr>
            <ns182:r>
              <ns182:rPr sz="1050" b="1">
                <ns182:solidFill>
                  <ns182:srgbClr val="005A9C"/>
                </ns182:solidFill>
                <ns182:latin typeface="Arial"/>
                <ns182:ea typeface="Arial"/>
                <ns182:cs typeface="Arial"/>
              </ns182:rPr>
              <ns182:t>Operating performance</ns182:t>
            </ns182:r>
          </ns182:p>
        </p:txBody>
      </p:sp>
      <p:sp>
        <p:nvSpPr>
          <p:cNvPr id="31" name="template.value.0"/>
          <p:cNvSpPr/>
          <p:nvPr/>
        </p:nvSpPr>
        <p:spPr>
          <ns183:xfrm xmlns:ns183="http://schemas.openxmlformats.org/drawingml/2006/main">
            <ns183:off x="5947200" y="2228400"/>
            <ns183:ext cx="2638800" cy="226800"/>
          </ns183:xfrm>
          <ns184:prstGeom xmlns:ns184="http://schemas.openxmlformats.org/drawingml/2006/main" prst="rect">
            <ns184:avLst/>
          </ns184:prstGeom>
          <ns185:noFill xmlns:ns185="http://schemas.openxmlformats.org/drawingml/2006/main"/>
          <ns186:ln xmlns:ns186="http://schemas.openxmlformats.org/drawingml/2006/main" w="0">
            <ns186:noFill/>
          </ns186:ln>
        </p:spPr>
        <p:txBody>
          <ns187:bodyPr xmlns:ns187="http://schemas.openxmlformats.org/drawingml/2006/main" wrap="square" lIns="0" rIns="0" tIns="0" bIns="0" anchor="t">
            <ns187:noAutofit/>
          </ns187:bodyPr>
          <ns188:lstStyle xmlns:ns188="http://schemas.openxmlformats.org/drawingml/2006/main"/>
          <ns189:p xmlns:ns189="http://schemas.openxmlformats.org/drawingml/2006/main">
            <ns189:pPr algn="l">
              <ns189:lnSpc>
                <ns189:spcPct val="105000"/>
              </ns189:lnSpc>
              <ns189:defRPr sz="1200" b="0">
                <ns189:solidFill>
                  <ns189:srgbClr val="20262C"/>
                </ns189:solidFill>
                <ns189:latin typeface="Arial"/>
                <ns189:ea typeface="Arial"/>
                <ns189:cs typeface="Arial"/>
              </ns189:defRPr>
            </ns189:pPr>
            <ns189:r>
              <ns189:rPr sz="1200" b="0">
                <ns189:solidFill>
                  <ns189:srgbClr val="20262C"/>
                </ns189:solidFill>
                <ns189:latin typeface="Arial"/>
                <ns189:ea typeface="Arial"/>
                <ns189:cs typeface="Arial"/>
              </ns189:rPr>
              <ns189:t>Sales volume up 10%</ns189:t>
            </ns189:r>
          </ns189:p>
        </p:txBody>
      </p:sp>
      <p:cxnSp>
        <p:nvCxnSpPr>
          <p:cNvPr id="32" name="template.row.rule.0"/>
          <p:cNvCxnSpPr/>
          <p:nvPr/>
        </p:nvCxnSpPr>
        <p:spPr>
          <ns190:xfrm xmlns:ns190="http://schemas.openxmlformats.org/drawingml/2006/main">
            <ns190:off x="5947200" y="2473200"/>
            <ns190:ext cx="2642400" cy="1"/>
          </ns190:xfrm>
          <ns191:prstGeom xmlns:ns191="http://schemas.openxmlformats.org/drawingml/2006/main" prst="line">
            <ns191:avLst/>
          </ns191:prstGeom>
          <ns192:ln xmlns:ns192="http://schemas.openxmlformats.org/drawingml/2006/main" w="6350">
            <ns192:solidFill>
              <ns192:srgbClr val="CBD4DA"/>
            </ns192:solidFill>
          </ns192:ln>
        </p:spPr>
      </p:cxnSp>
      <p:sp>
        <p:nvSpPr>
          <p:cNvPr id="33" name="template.field.1"/>
          <p:cNvSpPr/>
          <p:nvPr/>
        </p:nvSpPr>
        <p:spPr>
          <ns193:xfrm xmlns:ns193="http://schemas.openxmlformats.org/drawingml/2006/main">
            <ns193:off x="5947200" y="2527200"/>
            <ns193:ext cx="2638800" cy="180000"/>
          </ns193:xfrm>
          <ns194:prstGeom xmlns:ns194="http://schemas.openxmlformats.org/drawingml/2006/main" prst="rect">
            <ns194:avLst/>
          </ns194:prstGeom>
          <ns195:noFill xmlns:ns195="http://schemas.openxmlformats.org/drawingml/2006/main"/>
          <ns196:ln xmlns:ns196="http://schemas.openxmlformats.org/drawingml/2006/main" w="0">
            <ns196:noFill/>
          </ns196:ln>
        </p:spPr>
        <p:txBody>
          <ns197:bodyPr xmlns:ns197="http://schemas.openxmlformats.org/drawingml/2006/main" wrap="square" lIns="0" rIns="0" tIns="0" bIns="0" anchor="t">
            <ns197:noAutofit/>
          </ns197:bodyPr>
          <ns198:lstStyle xmlns:ns198="http://schemas.openxmlformats.org/drawingml/2006/main"/>
          <ns199:p xmlns:ns199="http://schemas.openxmlformats.org/drawingml/2006/main">
            <ns199:pPr algn="l">
              <ns199:lnSpc>
                <ns199:spcPct val="105000"/>
              </ns199:lnSpc>
              <ns199:defRPr sz="1050" b="1">
                <ns199:solidFill>
                  <ns199:srgbClr val="005A9C"/>
                </ns199:solidFill>
                <ns199:latin typeface="Arial"/>
                <ns199:ea typeface="Arial"/>
                <ns199:cs typeface="Arial"/>
              </ns199:defRPr>
            </ns199:pPr>
            <ns199:r>
              <ns199:rPr sz="1050" b="1">
                <ns199:solidFill>
                  <ns199:srgbClr val="005A9C"/>
                </ns199:solidFill>
                <ns199:latin typeface="Arial"/>
                <ns199:ea typeface="Arial"/>
                <ns199:cs typeface="Arial"/>
              </ns199:rPr>
              <ns199:t>Business driver</ns199:t>
            </ns199:r>
          </ns199:p>
        </p:txBody>
      </p:sp>
      <p:sp>
        <p:nvSpPr>
          <p:cNvPr id="34" name="template.value.1"/>
          <p:cNvSpPr/>
          <p:nvPr/>
        </p:nvSpPr>
        <p:spPr>
          <ns200:xfrm xmlns:ns200="http://schemas.openxmlformats.org/drawingml/2006/main">
            <ns200:off x="5947200" y="2732400"/>
            <ns200:ext cx="2638800" cy="226800"/>
          </ns200:xfrm>
          <ns201:prstGeom xmlns:ns201="http://schemas.openxmlformats.org/drawingml/2006/main" prst="rect">
            <ns201:avLst/>
          </ns201:prstGeom>
          <ns202:noFill xmlns:ns202="http://schemas.openxmlformats.org/drawingml/2006/main"/>
          <ns203:ln xmlns:ns203="http://schemas.openxmlformats.org/drawingml/2006/main" w="0">
            <ns203:noFill/>
          </ns203:ln>
        </p:spPr>
        <p:txBody>
          <ns204:bodyPr xmlns:ns204="http://schemas.openxmlformats.org/drawingml/2006/main" wrap="square" lIns="0" rIns="0" tIns="0" bIns="0" anchor="t">
            <ns204:noAutofit/>
          </ns204:bodyPr>
          <ns205:lstStyle xmlns:ns205="http://schemas.openxmlformats.org/drawingml/2006/main"/>
          <ns206:p xmlns:ns206="http://schemas.openxmlformats.org/drawingml/2006/main">
            <ns206:pPr algn="l">
              <ns206:lnSpc>
                <ns206:spcPct val="105000"/>
              </ns206:lnSpc>
              <ns206:defRPr sz="1200" b="0">
                <ns206:solidFill>
                  <ns206:srgbClr val="20262C"/>
                </ns206:solidFill>
                <ns206:latin typeface="Arial"/>
                <ns206:ea typeface="Arial"/>
                <ns206:cs typeface="Arial"/>
              </ns206:defRPr>
            </ns206:pPr>
            <ns206:r>
              <ns206:rPr sz="1200" b="0">
                <ns206:solidFill>
                  <ns206:srgbClr val="20262C"/>
                </ns206:solidFill>
                <ns206:latin typeface="Arial"/>
                <ns206:ea typeface="Arial"/>
                <ns206:cs typeface="Arial"/>
              </ns206:rPr>
              <ns206:t>Restocking lifted shipments</ns206:t>
            </ns206:r>
          </ns206:p>
        </p:txBody>
      </p:sp>
      <p:cxnSp>
        <p:nvCxnSpPr>
          <p:cNvPr id="35" name="template.row.rule.1"/>
          <p:cNvCxnSpPr/>
          <p:nvPr/>
        </p:nvCxnSpPr>
        <p:spPr>
          <ns207:xfrm xmlns:ns207="http://schemas.openxmlformats.org/drawingml/2006/main">
            <ns207:off x="5947200" y="2977200"/>
            <ns207:ext cx="2642400" cy="1"/>
          </ns207:xfrm>
          <ns208:prstGeom xmlns:ns208="http://schemas.openxmlformats.org/drawingml/2006/main" prst="line">
            <ns208:avLst/>
          </ns208:prstGeom>
          <ns209:ln xmlns:ns209="http://schemas.openxmlformats.org/drawingml/2006/main" w="6350">
            <ns209:solidFill>
              <ns209:srgbClr val="CBD4DA"/>
            </ns209:solidFill>
          </ns209:ln>
        </p:spPr>
      </p:cxnSp>
      <p:sp>
        <p:nvSpPr>
          <p:cNvPr id="36" name="template.field.2"/>
          <p:cNvSpPr/>
          <p:nvPr/>
        </p:nvSpPr>
        <p:spPr>
          <ns210:xfrm xmlns:ns210="http://schemas.openxmlformats.org/drawingml/2006/main">
            <ns210:off x="5947200" y="3031200"/>
            <ns210:ext cx="2638800" cy="180000"/>
          </ns210:xfrm>
          <ns211:prstGeom xmlns:ns211="http://schemas.openxmlformats.org/drawingml/2006/main" prst="rect">
            <ns211:avLst/>
          </ns211:prstGeom>
          <ns212:noFill xmlns:ns212="http://schemas.openxmlformats.org/drawingml/2006/main"/>
          <ns213:ln xmlns:ns213="http://schemas.openxmlformats.org/drawingml/2006/main" w="0">
            <ns213:noFill/>
          </ns213:ln>
        </p:spPr>
        <p:txBody>
          <ns214:bodyPr xmlns:ns214="http://schemas.openxmlformats.org/drawingml/2006/main" wrap="square" lIns="0" rIns="0" tIns="0" bIns="0" anchor="t">
            <ns214:noAutofit/>
          </ns214:bodyPr>
          <ns215:lstStyle xmlns:ns215="http://schemas.openxmlformats.org/drawingml/2006/main"/>
          <ns216:p xmlns:ns216="http://schemas.openxmlformats.org/drawingml/2006/main">
            <ns216:pPr algn="l">
              <ns216:lnSpc>
                <ns216:spcPct val="105000"/>
              </ns216:lnSpc>
              <ns216:defRPr sz="1050" b="1">
                <ns216:solidFill>
                  <ns216:srgbClr val="005A9C"/>
                </ns216:solidFill>
                <ns216:latin typeface="Arial"/>
                <ns216:ea typeface="Arial"/>
                <ns216:cs typeface="Arial"/>
              </ns216:defRPr>
            </ns216:pPr>
            <ns216:r>
              <ns216:rPr sz="1050" b="1">
                <ns216:solidFill>
                  <ns216:srgbClr val="005A9C"/>
                </ns216:solidFill>
                <ns216:latin typeface="Arial"/>
                <ns216:ea typeface="Arial"/>
                <ns216:cs typeface="Arial"/>
              </ns216:rPr>
              <ns216:t>Open question</ns216:t>
            </ns216:r>
          </ns216:p>
        </p:txBody>
      </p:sp>
      <p:sp>
        <p:nvSpPr>
          <p:cNvPr id="37" name="template.value.2"/>
          <p:cNvSpPr/>
          <p:nvPr/>
        </p:nvSpPr>
        <p:spPr>
          <ns217:xfrm xmlns:ns217="http://schemas.openxmlformats.org/drawingml/2006/main">
            <ns217:off x="5947200" y="3236400"/>
            <ns217:ext cx="2638800" cy="226800"/>
          </ns217:xfrm>
          <ns218:prstGeom xmlns:ns218="http://schemas.openxmlformats.org/drawingml/2006/main" prst="rect">
            <ns218:avLst/>
          </ns218:prstGeom>
          <ns219:noFill xmlns:ns219="http://schemas.openxmlformats.org/drawingml/2006/main"/>
          <ns220:ln xmlns:ns220="http://schemas.openxmlformats.org/drawingml/2006/main" w="0">
            <ns220:noFill/>
          </ns220:ln>
        </p:spPr>
        <p:txBody>
          <ns221:bodyPr xmlns:ns221="http://schemas.openxmlformats.org/drawingml/2006/main" wrap="square" lIns="0" rIns="0" tIns="0" bIns="0" anchor="t">
            <ns221:noAutofit/>
          </ns221:bodyPr>
          <ns222:lstStyle xmlns:ns222="http://schemas.openxmlformats.org/drawingml/2006/main"/>
          <ns223:p xmlns:ns223="http://schemas.openxmlformats.org/drawingml/2006/main">
            <ns223:pPr algn="l">
              <ns223:lnSpc>
                <ns223:spcPct val="105000"/>
              </ns223:lnSpc>
              <ns223:defRPr sz="1200" b="0">
                <ns223:solidFill>
                  <ns223:srgbClr val="20262C"/>
                </ns223:solidFill>
                <ns223:latin typeface="Arial"/>
                <ns223:ea typeface="Arial"/>
                <ns223:cs typeface="Arial"/>
              </ns223:defRPr>
            </ns223:pPr>
            <ns223:r>
              <ns223:rPr sz="1200" b="0">
                <ns223:solidFill>
                  <ns223:srgbClr val="20262C"/>
                </ns223:solidFill>
                <ns223:latin typeface="Arial"/>
                <ns223:ea typeface="Arial"/>
                <ns223:cs typeface="Arial"/>
              </ns223:rPr>
              <ns223:t>Will restocking continue?</ns223:t>
            </ns223:r>
          </ns223:p>
        </p:txBody>
      </p:sp>
      <p:cxnSp>
        <p:nvCxnSpPr>
          <p:cNvPr id="38" name="llm.to.template"/>
          <p:cNvCxnSpPr/>
          <p:nvPr/>
        </p:nvCxnSpPr>
        <p:spPr>
          <ns224:xfrm xmlns:ns224="http://schemas.openxmlformats.org/drawingml/2006/main">
            <ns224:off x="5590800" y="2727000"/>
            <ns224:ext cx="223200" cy="1"/>
          </ns224:xfrm>
          <ns225:prstGeom xmlns:ns225="http://schemas.openxmlformats.org/drawingml/2006/main" prst="line">
            <ns225:avLst/>
          </ns225:prstGeom>
          <ns226:ln xmlns:ns226="http://schemas.openxmlformats.org/drawingml/2006/main" w="11430">
            <ns226:solidFill>
              <ns226:srgbClr val="005A9C"/>
            </ns226:solidFill>
            <ns226:tailEnd type="triangle" w="sm" len="sm"/>
          </ns226:ln>
        </p:spPr>
      </p:cxnSp>
      <p:sp>
        <p:nvSpPr>
          <p:cNvPr id="39" name="human.analyst.template.check"/>
          <p:cNvSpPr/>
          <p:nvPr/>
        </p:nvSpPr>
        <p:spPr>
          <ns227:xfrm xmlns:ns227="http://schemas.openxmlformats.org/drawingml/2006/main">
            <ns227:off x="5850000" y="4006800"/>
            <ns227:ext cx="2836800" cy="468000"/>
          </ns227:xfrm>
          <ns228:prstGeom xmlns:ns228="http://schemas.openxmlformats.org/drawingml/2006/main" prst="roundRect">
            <ns228:avLst/>
          </ns228:prstGeom>
          <ns229:solidFill xmlns:ns229="http://schemas.openxmlformats.org/drawingml/2006/main">
            <ns229:srgbClr val="F3F7FA"/>
          </ns229:solidFill>
          <ns230:ln xmlns:ns230="http://schemas.openxmlformats.org/drawingml/2006/main" w="9525">
            <ns230:solidFill>
              <ns230:srgbClr val="65727D"/>
            </ns230:solidFill>
          </ns230:ln>
        </p:spPr>
        <p:txBody>
          <ns231:bodyPr xmlns:ns231="http://schemas.openxmlformats.org/drawingml/2006/main" wrap="square" lIns="61200" rIns="61200" tIns="61200" bIns="61200" anchor="ctr">
            <ns231:noAutofit/>
          </ns231:bodyPr>
          <ns232:lstStyle xmlns:ns232="http://schemas.openxmlformats.org/drawingml/2006/main"/>
          <ns233:p xmlns:ns233="http://schemas.openxmlformats.org/drawingml/2006/main">
            <ns233:pPr algn="l">
              <ns233:lnSpc>
                <ns233:spcPct val="105000"/>
              </ns233:lnSpc>
              <ns233:defRPr sz="1300" b="1">
                <ns233:solidFill>
                  <ns233:srgbClr val="65727D"/>
                </ns233:solidFill>
                <ns233:latin typeface="Arial"/>
                <ns233:ea typeface="Arial"/>
                <ns233:cs typeface="Arial"/>
              </ns233:defRPr>
            </ns233:pPr>
            <ns233:r>
              <ns233:rPr sz="1300" b="1">
                <ns233:solidFill>
                  <ns233:srgbClr val="65727D"/>
                </ns233:solidFill>
                <ns233:latin typeface="Arial"/>
                <ns233:ea typeface="Arial"/>
                <ns233:cs typeface="Arial"/>
              </ns233:rPr>
              <ns233:t>Analyst</ns233:t>
            </ns233:r>
          </ns233:p>
          <ns234:p xmlns:ns234="http://schemas.openxmlformats.org/drawingml/2006/main">
            <ns234:pPr algn="l">
              <ns234:lnSpc>
                <ns234:spcPct val="105000"/>
              </ns234:lnSpc>
              <ns234:defRPr sz="1050" b="0">
                <ns234:solidFill>
                  <ns234:srgbClr val="20262C"/>
                </ns234:solidFill>
                <ns234:latin typeface="Arial"/>
                <ns234:ea typeface="Arial"/>
                <ns234:cs typeface="Arial"/>
              </ns234:defRPr>
            </ns234:pPr>
            <ns234:r>
              <ns234:rPr sz="1050" b="0">
                <ns234:solidFill>
                  <ns234:srgbClr val="20262C"/>
                </ns234:solidFill>
                <ns234:latin typeface="Arial"/>
                <ns234:ea typeface="Arial"/>
                <ns234:cs typeface="Arial"/>
              </ns234:rPr>
              <ns234:t>Check entries / add assessment</ns234:t>
            </ns234:r>
          </ns234:p>
        </p:txBody>
      </p:sp>
      <p:cxnSp>
        <p:nvCxnSpPr>
          <p:cNvPr id="40" name="template.to.analyst"/>
          <p:cNvCxnSpPr/>
          <p:nvPr/>
        </p:nvCxnSpPr>
        <p:spPr>
          <ns235:xfrm xmlns:ns235="http://schemas.openxmlformats.org/drawingml/2006/main">
            <ns235:off x="7268400" y="3751200"/>
            <ns235:ext cx="1" cy="219600"/>
          </ns235:xfrm>
          <ns236:prstGeom xmlns:ns236="http://schemas.openxmlformats.org/drawingml/2006/main" prst="line">
            <ns236:avLst/>
          </ns236:prstGeom>
          <ns237:ln xmlns:ns237="http://schemas.openxmlformats.org/drawingml/2006/main" w="11430">
            <ns237:solidFill>
              <ns237:srgbClr val="317F7B"/>
            </ns237:solidFill>
            <ns237:tailEnd type="triangle" w="sm" len="sm"/>
          </ns237:ln>
        </p:spPr>
      </p:cxnSp>
      <p:sp>
        <p:nvSpPr>
          <p:cNvPr id="41" name="evidence.efficiency"/>
          <p:cNvSpPr/>
          <p:nvPr/>
        </p:nvSpPr>
        <p:spPr>
          <ns238:xfrm xmlns:ns238="http://schemas.openxmlformats.org/drawingml/2006/main">
            <ns238:off x="2422800" y="3974400"/>
            <ns238:ext cx="3175200" cy="522000"/>
          </ns238:xfrm>
          <ns239:prstGeom xmlns:ns239="http://schemas.openxmlformats.org/drawingml/2006/main" prst="rect">
            <ns239:avLst/>
          </ns239:prstGeom>
          <ns240:noFill xmlns:ns240="http://schemas.openxmlformats.org/drawingml/2006/main"/>
          <ns241:ln xmlns:ns241="http://schemas.openxmlformats.org/drawingml/2006/main" w="0">
            <ns241:noFill/>
          </ns241:ln>
        </p:spPr>
        <p:txBody>
          <ns242:bodyPr xmlns:ns242="http://schemas.openxmlformats.org/drawingml/2006/main" wrap="square" lIns="0" rIns="0" tIns="0" bIns="0" anchor="t">
            <ns242:noAutofit/>
          </ns242:bodyPr>
          <ns243:lstStyle xmlns:ns243="http://schemas.openxmlformats.org/drawingml/2006/main"/>
          <ns244:p xmlns:ns244="http://schemas.openxmlformats.org/drawingml/2006/main">
            <ns244:pPr algn="l">
              <ns244:lnSpc>
                <ns244:spcPct val="105000"/>
              </ns244:lnSpc>
              <ns244:defRPr sz="1300" b="1">
                <ns244:solidFill>
                  <ns244:srgbClr val="005A9C"/>
                </ns244:solidFill>
                <ns244:latin typeface="Arial"/>
                <ns244:ea typeface="Arial"/>
                <ns244:cs typeface="Arial"/>
              </ns244:defRPr>
            </ns244:pPr>
            <ns244:r>
              <ns244:rPr sz="1300" b="1">
                <ns244:solidFill>
                  <ns244:srgbClr val="005A9C"/>
                </ns244:solidFill>
                <ns244:latin typeface="Arial"/>
                <ns244:ea typeface="Arial"/>
                <ns244:cs typeface="Arial"/>
              </ns244:rPr>
              <ns244:t>Approximately 50% higher</ns244:t>
            </ns244:r>
          </ns244:p>
          <ns245:p xmlns:ns245="http://schemas.openxmlformats.org/drawingml/2006/main">
            <ns245:pPr algn="l">
              <ns245:lnSpc>
                <ns245:spcPct val="105000"/>
              </ns245:lnSpc>
              <ns245:defRPr sz="1000" b="0">
                <ns245:solidFill>
                  <ns245:srgbClr val="20262C"/>
                </ns245:solidFill>
                <ns245:latin typeface="Arial"/>
                <ns245:ea typeface="Arial"/>
                <ns245:cs typeface="Arial"/>
              </ns245:defRPr>
            </ns245:pPr>
            <ns245:r>
              <ns245:rPr sz="1000" b="0">
                <ns245:solidFill>
                  <ns245:srgbClr val="20262C"/>
                </ns245:solidFill>
                <ns245:latin typeface="Arial"/>
                <ns245:ea typeface="Arial"/>
                <ns245:cs typeface="Arial"/>
              </ns245:rPr>
              <ns245:t>Research-preparation efficiency</ns245:t>
            </ns245:r>
          </ns245:p>
          <ns246:p xmlns:ns246="http://schemas.openxmlformats.org/drawingml/2006/main">
            <ns246:pPr algn="l">
              <ns246:lnSpc>
                <ns246:spcPct val="105000"/>
              </ns246:lnSpc>
              <ns246:defRPr sz="950" b="0">
                <ns246:solidFill>
                  <ns246:srgbClr val="65727D"/>
                </ns246:solidFill>
                <ns246:latin typeface="Arial"/>
                <ns246:ea typeface="Arial"/>
                <ns246:cs typeface="Arial"/>
              </ns246:defRPr>
            </ns246:pPr>
            <ns246:r>
              <ns246:rPr sz="950" b="0">
                <ns246:solidFill>
                  <ns246:srgbClr val="65727D"/>
                </ns246:solidFill>
                <ns246:latin typeface="Arial"/>
                <ns246:ea typeface="Arial"/>
                <ns246:cs typeface="Arial"/>
              </ns246:rPr>
              <ns246:t>Reported by Zhong Ou, May 2026</ns246:t>
            </ns246:r>
          </ns246:p>
        </p:txBody>
      </p:sp>
    </p:spTree>
    <p:extLst>
      <p:ext uri="{BB962C8B-B14F-4D97-AF65-F5344CB8AC3E}">
        <p14:creationId xmlns:p14="http://schemas.microsoft.com/office/powerpoint/2010/main" val="58400565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Appendix: Investment View Summaries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Tianhong Fund: Summarizing Investment Views with LLMs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Tianhong / AMAC</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005A9C"/>
                </ns27:solidFill>
                <ns27:latin typeface="Arial"/>
                <ns27:ea typeface="Arial"/>
                <ns27:cs typeface="Arial"/>
              </ns27:defRPr>
            </ns27:pPr>
            <ns27:r>
              <ns27:rPr sz="1100" b="1">
                <ns27:solidFill>
                  <ns27:srgbClr val="005A9C"/>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005A9C"/>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focus.client"/>
          <p:cNvSpPr/>
          <p:nvPr/>
        </p:nvSpPr>
        <p:spPr>
          <ns45:xfrm xmlns:ns45="http://schemas.openxmlformats.org/drawingml/2006/main">
            <ns45:off x="486000" y="2196000"/>
            <ns45:ext cx="1677600" cy="176400"/>
          </ns45:xfrm>
          <ns46:prstGeom xmlns:ns46="http://schemas.openxmlformats.org/drawingml/2006/main" prst="rect">
            <ns46:avLst/>
          </ns46:prstGeom>
          <ns47:solidFill xmlns:ns47="http://schemas.openxmlformats.org/drawingml/2006/main">
            <ns47:srgbClr val="D9EAF7"/>
          </ns47:solidFill>
          <ns48:ln xmlns:ns48="http://schemas.openxmlformats.org/drawingml/2006/main" w="0">
            <ns48:noFill/>
          </ns48:ln>
        </p:spPr>
      </p:sp>
      <p:sp>
        <p:nvSpPr>
          <p:cNvPr id="10" name="map.task.client"/>
          <p:cNvSpPr/>
          <p:nvPr/>
        </p:nvSpPr>
        <p:spPr>
          <ns49:xfrm xmlns:ns49="http://schemas.openxmlformats.org/drawingml/2006/main">
            <ns49:off x="554400" y="2199600"/>
            <ns49:ext cx="1562400" cy="165600"/>
          </ns49:xfrm>
          <ns50:prstGeom xmlns:ns50="http://schemas.openxmlformats.org/drawingml/2006/main" prst="rect">
            <ns50:avLst/>
          </ns50:prstGeom>
          <ns51:noFill xmlns:ns51="http://schemas.openxmlformats.org/drawingml/2006/main"/>
          <ns52:ln xmlns:ns52="http://schemas.openxmlformats.org/drawingml/2006/main" w="0">
            <ns52:noFill/>
          </ns52:ln>
        </p:spPr>
        <p:txBody>
          <ns53:bodyPr xmlns:ns53="http://schemas.openxmlformats.org/drawingml/2006/main" wrap="square" lIns="0" rIns="0" tIns="0" bIns="0" anchor="t">
            <ns53:noAutofit/>
          </ns53:bodyPr>
          <ns54:lstStyle xmlns:ns54="http://schemas.openxmlformats.org/drawingml/2006/main"/>
          <ns55:p xmlns:ns55="http://schemas.openxmlformats.org/drawingml/2006/main">
            <ns55:pPr algn="l">
              <ns55:lnSpc>
                <ns55:spcPct val="105000"/>
              </ns55:lnSpc>
              <ns55:defRPr sz="1050" b="1">
                <ns55:solidFill>
                  <ns55:srgbClr val="005A9C"/>
                </ns55:solidFill>
                <ns55:latin typeface="Arial"/>
                <ns55:ea typeface="Arial"/>
                <ns55:cs typeface="Arial"/>
              </ns55:defRPr>
            </ns55:pPr>
            <ns55:r>
              <ns55:rPr sz="1050" b="1">
                <ns55:solidFill>
                  <ns55:srgbClr val="005A9C"/>
                </ns55:solidFill>
                <ns55:latin typeface="Arial"/>
                <ns55:ea typeface="Arial"/>
                <ns55:cs typeface="Arial"/>
              </ns55:rPr>
              <ns55:t>Client communications</ns55:t>
            </ns55:r>
          </ns55:p>
        </p:txBody>
      </p:sp>
      <p:sp>
        <p:nvSpPr>
          <p:cNvPr id="11" name="map.office.1"/>
          <p:cNvSpPr/>
          <p:nvPr/>
        </p:nvSpPr>
        <p:spPr>
          <ns56:xfrm xmlns:ns56="http://schemas.openxmlformats.org/drawingml/2006/main">
            <ns56:off x="486000" y="2548800"/>
            <ns56:ext cx="1692000" cy="180000"/>
          </ns56:xfrm>
          <ns57:prstGeom xmlns:ns57="http://schemas.openxmlformats.org/drawingml/2006/main" prst="rect">
            <ns57:avLst/>
          </ns57:prstGeom>
          <ns58:noFill xmlns:ns58="http://schemas.openxmlformats.org/drawingml/2006/main"/>
          <ns59:ln xmlns:ns59="http://schemas.openxmlformats.org/drawingml/2006/main" w="0">
            <ns59:noFill/>
          </ns59:ln>
        </p:spPr>
        <p:txBody>
          <ns60:bodyPr xmlns:ns60="http://schemas.openxmlformats.org/drawingml/2006/main" wrap="square" lIns="0" rIns="0" tIns="0" bIns="0" anchor="t">
            <ns60:noAutofit/>
          </ns60:bodyPr>
          <ns61:lstStyle xmlns:ns61="http://schemas.openxmlformats.org/drawingml/2006/main"/>
          <ns62:p xmlns:ns62="http://schemas.openxmlformats.org/drawingml/2006/main">
            <ns62:pPr algn="l">
              <ns62:lnSpc>
                <ns62:spcPct val="105000"/>
              </ns62:lnSpc>
              <ns62:defRPr sz="1100" b="1">
                <ns62:solidFill>
                  <ns62:srgbClr val="65727D"/>
                </ns62:solidFill>
                <ns62:latin typeface="Arial"/>
                <ns62:ea typeface="Arial"/>
                <ns62:cs typeface="Arial"/>
              </ns62:defRPr>
            </ns62:pPr>
            <ns62:r>
              <ns62:rPr sz="1100" b="1">
                <ns62:solidFill>
                  <ns62:srgbClr val="65727D"/>
                </ns62:solidFill>
                <ns62:latin typeface="Arial"/>
                <ns62:ea typeface="Arial"/>
                <ns62:cs typeface="Arial"/>
              </ns62:rPr>
              <ns62:t>Middle office</ns62:t>
            </ns62:r>
          </ns62:p>
        </p:txBody>
      </p:sp>
      <p:cxnSp>
        <p:nvCxnSpPr>
          <p:cNvPr id="12" name="map.office.rule.1"/>
          <p:cNvCxnSpPr/>
          <p:nvPr/>
        </p:nvCxnSpPr>
        <p:spPr>
          <ns63:xfrm xmlns:ns63="http://schemas.openxmlformats.org/drawingml/2006/main">
            <ns63:off x="457200" y="2768400"/>
            <ns63:ext cx="1742400" cy="1"/>
          </ns63:xfrm>
          <ns64:prstGeom xmlns:ns64="http://schemas.openxmlformats.org/drawingml/2006/main" prst="line">
            <ns64:avLst/>
          </ns64:prstGeom>
          <ns65:ln xmlns:ns65="http://schemas.openxmlformats.org/drawingml/2006/main" w="7620">
            <ns65:solidFill>
              <ns65:srgbClr val="CBD4DA"/>
            </ns65:solidFill>
          </ns65:ln>
        </p:spPr>
      </p:cxnSp>
      <p:sp>
        <p:nvSpPr>
          <p:cNvPr id="13" name="map.task.risk"/>
          <p:cNvSpPr/>
          <p:nvPr/>
        </p:nvSpPr>
        <p:spPr>
          <ns66:xfrm xmlns:ns66="http://schemas.openxmlformats.org/drawingml/2006/main">
            <ns66:off x="554400" y="2847600"/>
            <ns66:ext cx="1562400" cy="165600"/>
          </ns66:xfrm>
          <ns67:prstGeom xmlns:ns67="http://schemas.openxmlformats.org/drawingml/2006/main" prst="rect">
            <ns67:avLst/>
          </ns67:prstGeom>
          <ns68:noFill xmlns:ns68="http://schemas.openxmlformats.org/drawingml/2006/main"/>
          <ns69:ln xmlns:ns69="http://schemas.openxmlformats.org/drawingml/2006/main" w="0">
            <ns69:noFill/>
          </ns69:ln>
        </p:spPr>
        <p:txBody>
          <ns70:bodyPr xmlns:ns70="http://schemas.openxmlformats.org/drawingml/2006/main" wrap="square" lIns="0" rIns="0" tIns="0" bIns="0" anchor="t">
            <ns70:noAutofit/>
          </ns70:bodyPr>
          <ns71:lstStyle xmlns:ns71="http://schemas.openxmlformats.org/drawingml/2006/main"/>
          <ns72:p xmlns:ns72="http://schemas.openxmlformats.org/drawingml/2006/main">
            <ns72:pPr algn="l">
              <ns72:lnSpc>
                <ns72:spcPct val="105000"/>
              </ns72:lnSpc>
              <ns72:defRPr sz="1050" b="0">
                <ns72:solidFill>
                  <ns72:srgbClr val="65727D"/>
                </ns72:solidFill>
                <ns72:latin typeface="Arial"/>
                <ns72:ea typeface="Arial"/>
                <ns72:cs typeface="Arial"/>
              </ns72:defRPr>
            </ns72:pPr>
            <ns72:r>
              <ns72:rPr sz="1050" b="0">
                <ns72:solidFill>
                  <ns72:srgbClr val="65727D"/>
                </ns72:solidFill>
                <ns72:latin typeface="Arial"/>
                <ns72:ea typeface="Arial"/>
                <ns72:cs typeface="Arial"/>
              </ns72:rPr>
              <ns72:t>Risk analysis</ns72:t>
            </ns72:r>
          </ns72:p>
        </p:txBody>
      </p:sp>
      <p:sp>
        <p:nvSpPr>
          <p:cNvPr id="14" name="map.office.2"/>
          <p:cNvSpPr/>
          <p:nvPr/>
        </p:nvSpPr>
        <p:spPr>
          <ns73:xfrm xmlns:ns73="http://schemas.openxmlformats.org/drawingml/2006/main">
            <ns73:off x="486000" y="3391200"/>
            <ns73:ext cx="1692000" cy="180000"/>
          </ns73:xfrm>
          <ns74:prstGeom xmlns:ns74="http://schemas.openxmlformats.org/drawingml/2006/main" prst="rect">
            <ns74:avLst/>
          </ns74:prstGeom>
          <ns75:noFill xmlns:ns75="http://schemas.openxmlformats.org/drawingml/2006/main"/>
          <ns76:ln xmlns:ns76="http://schemas.openxmlformats.org/drawingml/2006/main" w="0">
            <ns76:noFill/>
          </ns76:ln>
        </p:spPr>
        <p:txBody>
          <ns77:bodyPr xmlns:ns77="http://schemas.openxmlformats.org/drawingml/2006/main" wrap="square" lIns="0" rIns="0" tIns="0" bIns="0" anchor="t">
            <ns77:noAutofit/>
          </ns77:bodyPr>
          <ns78:lstStyle xmlns:ns78="http://schemas.openxmlformats.org/drawingml/2006/main"/>
          <ns79:p xmlns:ns79="http://schemas.openxmlformats.org/drawingml/2006/main">
            <ns79:pPr algn="l">
              <ns79:lnSpc>
                <ns79:spcPct val="105000"/>
              </ns79:lnSpc>
              <ns79:defRPr sz="1100" b="1">
                <ns79:solidFill>
                  <ns79:srgbClr val="65727D"/>
                </ns79:solidFill>
                <ns79:latin typeface="Arial"/>
                <ns79:ea typeface="Arial"/>
                <ns79:cs typeface="Arial"/>
              </ns79:defRPr>
            </ns79:pPr>
            <ns79:r>
              <ns79:rPr sz="1100" b="1">
                <ns79:solidFill>
                  <ns79:srgbClr val="65727D"/>
                </ns79:solidFill>
                <ns79:latin typeface="Arial"/>
                <ns79:ea typeface="Arial"/>
                <ns79:cs typeface="Arial"/>
              </ns79:rPr>
              <ns79:t>Back office</ns79:t>
            </ns79:r>
          </ns79:p>
        </p:txBody>
      </p:sp>
      <p:cxnSp>
        <p:nvCxnSpPr>
          <p:cNvPr id="15" name="map.office.rule.2"/>
          <p:cNvCxnSpPr/>
          <p:nvPr/>
        </p:nvCxnSpPr>
        <p:spPr>
          <ns80:xfrm xmlns:ns80="http://schemas.openxmlformats.org/drawingml/2006/main">
            <ns80:off x="457200" y="3610800"/>
            <ns80:ext cx="1742400" cy="1"/>
          </ns80:xfrm>
          <ns81:prstGeom xmlns:ns81="http://schemas.openxmlformats.org/drawingml/2006/main" prst="line">
            <ns81:avLst/>
          </ns81:prstGeom>
          <ns82:ln xmlns:ns82="http://schemas.openxmlformats.org/drawingml/2006/main" w="7620">
            <ns82:solidFill>
              <ns82:srgbClr val="CBD4DA"/>
            </ns82:solidFill>
          </ns82:ln>
        </p:spPr>
      </p:cxnSp>
      <p:sp>
        <p:nvSpPr>
          <p:cNvPr id="16" name="map.task.records"/>
          <p:cNvSpPr/>
          <p:nvPr/>
        </p:nvSpPr>
        <p:spPr>
          <ns83:xfrm xmlns:ns83="http://schemas.openxmlformats.org/drawingml/2006/main">
            <ns83:off x="554400" y="3690000"/>
            <ns83:ext cx="1562400" cy="165600"/>
          </ns83:xfrm>
          <ns84:prstGeom xmlns:ns84="http://schemas.openxmlformats.org/drawingml/2006/main" prst="rect">
            <ns84:avLst/>
          </ns84:prstGeom>
          <ns85:noFill xmlns:ns85="http://schemas.openxmlformats.org/drawingml/2006/main"/>
          <ns86:ln xmlns:ns86="http://schemas.openxmlformats.org/drawingml/2006/main" w="0">
            <ns86:noFill/>
          </ns86:ln>
        </p:spPr>
        <p:txBody>
          <ns87:bodyPr xmlns:ns87="http://schemas.openxmlformats.org/drawingml/2006/main" wrap="square" lIns="0" rIns="0" tIns="0" bIns="0" anchor="t">
            <ns87:noAutofit/>
          </ns87:bodyPr>
          <ns88:lstStyle xmlns:ns88="http://schemas.openxmlformats.org/drawingml/2006/main"/>
          <ns89:p xmlns:ns89="http://schemas.openxmlformats.org/drawingml/2006/main">
            <ns89:pPr algn="l">
              <ns89:lnSpc>
                <ns89:spcPct val="105000"/>
              </ns89:lnSpc>
              <ns89:defRPr sz="1050" b="0">
                <ns89:solidFill>
                  <ns89:srgbClr val="65727D"/>
                </ns89:solidFill>
                <ns89:latin typeface="Arial"/>
                <ns89:ea typeface="Arial"/>
                <ns89:cs typeface="Arial"/>
              </ns89:defRPr>
            </ns89:pPr>
            <ns89:r>
              <ns89:rPr sz="1050" b="0">
                <ns89:solidFill>
                  <ns89:srgbClr val="65727D"/>
                </ns89:solidFill>
                <ns89:latin typeface="Arial"/>
                <ns89:ea typeface="Arial"/>
                <ns89:cs typeface="Arial"/>
              </ns89:rPr>
              <ns89:t>Record entry</ns89:t>
            </ns89:r>
          </ns89:p>
        </p:txBody>
      </p:sp>
      <p:sp>
        <p:nvSpPr>
          <p:cNvPr id="17" name="map.task.dev"/>
          <p:cNvSpPr/>
          <p:nvPr/>
        </p:nvSpPr>
        <p:spPr>
          <ns90:xfrm xmlns:ns90="http://schemas.openxmlformats.org/drawingml/2006/main">
            <ns90:off x="554400" y="3888000"/>
            <ns90:ext cx="1562400" cy="165600"/>
          </ns90:xfrm>
          <ns91:prstGeom xmlns:ns91="http://schemas.openxmlformats.org/drawingml/2006/main" prst="rect">
            <ns91:avLst/>
          </ns91:prstGeom>
          <ns92:noFill xmlns:ns92="http://schemas.openxmlformats.org/drawingml/2006/main"/>
          <ns93:ln xmlns:ns93="http://schemas.openxmlformats.org/drawingml/2006/main" w="0">
            <ns93:noFill/>
          </ns93:ln>
        </p:spPr>
        <p:txBody>
          <ns94:bodyPr xmlns:ns94="http://schemas.openxmlformats.org/drawingml/2006/main" wrap="square" lIns="0" rIns="0" tIns="0" bIns="0" anchor="t">
            <ns94:noAutofit/>
          </ns94:bodyPr>
          <ns95:lstStyle xmlns:ns95="http://schemas.openxmlformats.org/drawingml/2006/main"/>
          <ns96:p xmlns:ns96="http://schemas.openxmlformats.org/drawingml/2006/main">
            <ns96:pPr algn="l">
              <ns96:lnSpc>
                <ns96:spcPct val="105000"/>
              </ns96:lnSpc>
              <ns96:defRPr sz="1050" b="0">
                <ns96:solidFill>
                  <ns96:srgbClr val="65727D"/>
                </ns96:solidFill>
                <ns96:latin typeface="Arial"/>
                <ns96:ea typeface="Arial"/>
                <ns96:cs typeface="Arial"/>
              </ns96:defRPr>
            </ns96:pPr>
            <ns96:r>
              <ns96:rPr sz="1050" b="0">
                <ns96:solidFill>
                  <ns96:srgbClr val="65727D"/>
                </ns96:solidFill>
                <ns96:latin typeface="Arial"/>
                <ns96:ea typeface="Arial"/>
                <ns96:cs typeface="Arial"/>
              </ns96:rPr>
              <ns96:t>Tool development</ns96:t>
            </ns96:r>
          </ns96:p>
        </p:txBody>
      </p:sp>
      <p:sp>
        <p:nvSpPr>
          <p:cNvPr id="18" name="input.views.0.paper"/>
          <p:cNvSpPr/>
          <p:nvPr/>
        </p:nvSpPr>
        <p:spPr>
          <ns111:xfrm xmlns:ns111="http://schemas.openxmlformats.org/drawingml/2006/main">
            <ns111:off x="2422800" y="1566000"/>
            <ns111:ext cx="1620000" cy="540000"/>
          </ns111:xfrm>
          <ns112:prstGeom xmlns:ns112="http://schemas.openxmlformats.org/drawingml/2006/main" prst="foldedCorner">
            <ns112:avLst/>
          </ns112:prstGeom>
          <ns113:solidFill xmlns:ns113="http://schemas.openxmlformats.org/drawingml/2006/main">
            <ns113:srgbClr val="FFFFFF"/>
          </ns113:solidFill>
          <ns114:ln xmlns:ns114="http://schemas.openxmlformats.org/drawingml/2006/main" w="9525">
            <ns114:solidFill>
              <ns114:srgbClr val="65727D"/>
            </ns114:solidFill>
          </ns114:ln>
        </p:spPr>
      </p:sp>
      <p:sp>
        <p:nvSpPr>
          <p:cNvPr id="19" name="input.views.0.title"/>
          <p:cNvSpPr/>
          <p:nvPr/>
        </p:nvSpPr>
        <p:spPr>
          <ns115:xfrm xmlns:ns115="http://schemas.openxmlformats.org/drawingml/2006/main">
            <ns115:off x="2487600" y="1609200"/>
            <ns115:ext cx="1422000" cy="198000"/>
          </ns115:xfrm>
          <ns116:prstGeom xmlns:ns116="http://schemas.openxmlformats.org/drawingml/2006/main" prst="rect">
            <ns116:avLst/>
          </ns116:prstGeom>
          <ns117:noFill xmlns:ns117="http://schemas.openxmlformats.org/drawingml/2006/main"/>
          <ns118:ln xmlns:ns118="http://schemas.openxmlformats.org/drawingml/2006/main" w="0">
            <ns118:noFill/>
          </ns118:ln>
        </p:spPr>
        <p:txBody>
          <ns119:bodyPr xmlns:ns119="http://schemas.openxmlformats.org/drawingml/2006/main" wrap="square" lIns="0" rIns="0" tIns="0" bIns="0" anchor="t">
            <ns119:noAutofit/>
          </ns119:bodyPr>
          <ns120:lstStyle xmlns:ns120="http://schemas.openxmlformats.org/drawingml/2006/main"/>
          <ns121:p xmlns:ns121="http://schemas.openxmlformats.org/drawingml/2006/main">
            <ns121:pPr algn="l">
              <ns121:lnSpc>
                <ns121:spcPct val="105000"/>
              </ns121:lnSpc>
              <ns121:defRPr sz="1250" b="1">
                <ns121:solidFill>
                  <ns121:srgbClr val="65727D"/>
                </ns121:solidFill>
                <ns121:latin typeface="Arial"/>
                <ns121:ea typeface="Arial"/>
                <ns121:cs typeface="Arial"/>
              </ns121:defRPr>
            </ns121:pPr>
            <ns121:r>
              <ns121:rPr sz="1250" b="1">
                <ns121:solidFill>
                  <ns121:srgbClr val="65727D"/>
                </ns121:solidFill>
                <ns121:latin typeface="Arial"/>
                <ns121:ea typeface="Arial"/>
                <ns121:cs typeface="Arial"/>
              </ns121:rPr>
              <ns121:t>Presentations</ns121:t>
            </ns121:r>
          </ns121:p>
        </p:txBody>
      </p:sp>
      <p:sp>
        <p:nvSpPr>
          <p:cNvPr id="20" name="input.views.0.content"/>
          <p:cNvSpPr/>
          <p:nvPr/>
        </p:nvSpPr>
        <p:spPr>
          <ns122:xfrm xmlns:ns122="http://schemas.openxmlformats.org/drawingml/2006/main">
            <ns122:off x="2487600" y="1825200"/>
            <ns122:ext cx="1490400" cy="230400"/>
          </ns122:xfrm>
          <ns123:prstGeom xmlns:ns123="http://schemas.openxmlformats.org/drawingml/2006/main" prst="rect">
            <ns123:avLst/>
          </ns123:prstGeom>
          <ns124:noFill xmlns:ns124="http://schemas.openxmlformats.org/drawingml/2006/main"/>
          <ns125:ln xmlns:ns125="http://schemas.openxmlformats.org/drawingml/2006/main" w="0">
            <ns125:noFill/>
          </ns125:ln>
        </p:spPr>
        <p:txBody>
          <ns126:bodyPr xmlns:ns126="http://schemas.openxmlformats.org/drawingml/2006/main" wrap="square" lIns="0" rIns="0" tIns="0" bIns="0" anchor="t">
            <ns126:noAutofit/>
          </ns126:bodyPr>
          <ns127:lstStyle xmlns:ns127="http://schemas.openxmlformats.org/drawingml/2006/main"/>
          <ns128:p xmlns:ns128="http://schemas.openxmlformats.org/drawingml/2006/main">
            <ns128:pPr algn="l">
              <ns128:lnSpc>
                <ns128:spcPct val="100000"/>
              </ns128:lnSpc>
              <ns128:defRPr sz="1200" b="0">
                <ns128:solidFill>
                  <ns128:srgbClr val="20262C"/>
                </ns128:solidFill>
                <ns128:latin typeface="Arial"/>
                <ns128:ea typeface="Arial"/>
                <ns128:cs typeface="Arial"/>
              </ns128:defRPr>
            </ns128:pPr>
            <ns128:r>
              <ns128:rPr sz="1200" b="0">
                <ns128:solidFill>
                  <ns128:srgbClr val="20262C"/>
                </ns128:solidFill>
                <ns128:latin typeface="Arial"/>
                <ns128:ea typeface="Arial"/>
                <ns128:cs typeface="Arial"/>
              </ns128:rPr>
              <ns128:t/>
            </ns128:r>
          </ns128:p>
        </p:txBody>
      </p:sp>
      <p:sp>
        <p:nvSpPr>
          <p:cNvPr id="21" name="input.views.1.paper"/>
          <p:cNvSpPr/>
          <p:nvPr/>
        </p:nvSpPr>
        <p:spPr>
          <ns129:xfrm xmlns:ns129="http://schemas.openxmlformats.org/drawingml/2006/main">
            <ns129:off x="2422800" y="2358000"/>
            <ns129:ext cx="1620000" cy="540000"/>
          </ns129:xfrm>
          <ns130:prstGeom xmlns:ns130="http://schemas.openxmlformats.org/drawingml/2006/main" prst="foldedCorner">
            <ns130:avLst/>
          </ns130:prstGeom>
          <ns131:solidFill xmlns:ns131="http://schemas.openxmlformats.org/drawingml/2006/main">
            <ns131:srgbClr val="FFFFFF"/>
          </ns131:solidFill>
          <ns132:ln xmlns:ns132="http://schemas.openxmlformats.org/drawingml/2006/main" w="9525">
            <ns132:solidFill>
              <ns132:srgbClr val="65727D"/>
            </ns132:solidFill>
          </ns132:ln>
        </p:spPr>
      </p:sp>
      <p:sp>
        <p:nvSpPr>
          <p:cNvPr id="22" name="input.views.1.title"/>
          <p:cNvSpPr/>
          <p:nvPr/>
        </p:nvSpPr>
        <p:spPr>
          <ns133:xfrm xmlns:ns133="http://schemas.openxmlformats.org/drawingml/2006/main">
            <ns133:off x="2487600" y="2401200"/>
            <ns133:ext cx="1422000" cy="198000"/>
          </ns133:xfrm>
          <ns134:prstGeom xmlns:ns134="http://schemas.openxmlformats.org/drawingml/2006/main" prst="rect">
            <ns134:avLst/>
          </ns134:prstGeom>
          <ns135:noFill xmlns:ns135="http://schemas.openxmlformats.org/drawingml/2006/main"/>
          <ns136:ln xmlns:ns136="http://schemas.openxmlformats.org/drawingml/2006/main" w="0">
            <ns136:noFill/>
          </ns136:ln>
        </p:spPr>
        <p:txBody>
          <ns137:bodyPr xmlns:ns137="http://schemas.openxmlformats.org/drawingml/2006/main" wrap="square" lIns="0" rIns="0" tIns="0" bIns="0" anchor="t">
            <ns137:noAutofit/>
          </ns137:bodyPr>
          <ns138:lstStyle xmlns:ns138="http://schemas.openxmlformats.org/drawingml/2006/main"/>
          <ns139:p xmlns:ns139="http://schemas.openxmlformats.org/drawingml/2006/main">
            <ns139:pPr algn="l">
              <ns139:lnSpc>
                <ns139:spcPct val="105000"/>
              </ns139:lnSpc>
              <ns139:defRPr sz="1250" b="1">
                <ns139:solidFill>
                  <ns139:srgbClr val="65727D"/>
                </ns139:solidFill>
                <ns139:latin typeface="Arial"/>
                <ns139:ea typeface="Arial"/>
                <ns139:cs typeface="Arial"/>
              </ns139:defRPr>
            </ns139:pPr>
            <ns139:r>
              <ns139:rPr sz="1250" b="1">
                <ns139:solidFill>
                  <ns139:srgbClr val="65727D"/>
                </ns139:solidFill>
                <ns139:latin typeface="Arial"/>
                <ns139:ea typeface="Arial"/>
                <ns139:cs typeface="Arial"/>
              </ns139:rPr>
              <ns139:t>Commentary</ns139:t>
            </ns139:r>
          </ns139:p>
        </p:txBody>
      </p:sp>
      <p:sp>
        <p:nvSpPr>
          <p:cNvPr id="23" name="input.views.1.content"/>
          <p:cNvSpPr/>
          <p:nvPr/>
        </p:nvSpPr>
        <p:spPr>
          <ns140:xfrm xmlns:ns140="http://schemas.openxmlformats.org/drawingml/2006/main">
            <ns140:off x="2487600" y="2617200"/>
            <ns140:ext cx="1490400" cy="230400"/>
          </ns140:xfrm>
          <ns141:prstGeom xmlns:ns141="http://schemas.openxmlformats.org/drawingml/2006/main" prst="rect">
            <ns141:avLst/>
          </ns141:prstGeom>
          <ns142:noFill xmlns:ns142="http://schemas.openxmlformats.org/drawingml/2006/main"/>
          <ns143:ln xmlns:ns143="http://schemas.openxmlformats.org/drawingml/2006/main" w="0">
            <ns143:noFill/>
          </ns143:ln>
        </p:spPr>
        <p:txBody>
          <ns144:bodyPr xmlns:ns144="http://schemas.openxmlformats.org/drawingml/2006/main" wrap="square" lIns="0" rIns="0" tIns="0" bIns="0" anchor="t">
            <ns144:noAutofit/>
          </ns144:bodyPr>
          <ns145:lstStyle xmlns:ns145="http://schemas.openxmlformats.org/drawingml/2006/main"/>
          <ns146:p xmlns:ns146="http://schemas.openxmlformats.org/drawingml/2006/main">
            <ns146:pPr algn="l">
              <ns146:lnSpc>
                <ns146:spcPct val="100000"/>
              </ns146:lnSpc>
              <ns146:defRPr sz="1200" b="0">
                <ns146:solidFill>
                  <ns146:srgbClr val="20262C"/>
                </ns146:solidFill>
                <ns146:latin typeface="Arial"/>
                <ns146:ea typeface="Arial"/>
                <ns146:cs typeface="Arial"/>
              </ns146:defRPr>
            </ns146:pPr>
            <ns146:r>
              <ns146:rPr sz="1200" b="0">
                <ns146:solidFill>
                  <ns146:srgbClr val="20262C"/>
                </ns146:solidFill>
                <ns146:latin typeface="Arial"/>
                <ns146:ea typeface="Arial"/>
                <ns146:cs typeface="Arial"/>
              </ns146:rPr>
              <ns146:t/>
            </ns146:r>
          </ns146:p>
        </p:txBody>
      </p:sp>
      <p:sp>
        <p:nvSpPr>
          <p:cNvPr id="24" name="input.views.2.paper"/>
          <p:cNvSpPr/>
          <p:nvPr/>
        </p:nvSpPr>
        <p:spPr>
          <ns147:xfrm xmlns:ns147="http://schemas.openxmlformats.org/drawingml/2006/main">
            <ns147:off x="2422800" y="3150000"/>
            <ns147:ext cx="1620000" cy="540000"/>
          </ns147:xfrm>
          <ns148:prstGeom xmlns:ns148="http://schemas.openxmlformats.org/drawingml/2006/main" prst="foldedCorner">
            <ns148:avLst/>
          </ns148:prstGeom>
          <ns149:solidFill xmlns:ns149="http://schemas.openxmlformats.org/drawingml/2006/main">
            <ns149:srgbClr val="FFFFFF"/>
          </ns149:solidFill>
          <ns150:ln xmlns:ns150="http://schemas.openxmlformats.org/drawingml/2006/main" w="9525">
            <ns150:solidFill>
              <ns150:srgbClr val="65727D"/>
            </ns150:solidFill>
          </ns150:ln>
        </p:spPr>
      </p:sp>
      <p:sp>
        <p:nvSpPr>
          <p:cNvPr id="25" name="input.views.2.title"/>
          <p:cNvSpPr/>
          <p:nvPr/>
        </p:nvSpPr>
        <p:spPr>
          <ns151:xfrm xmlns:ns151="http://schemas.openxmlformats.org/drawingml/2006/main">
            <ns151:off x="2487600" y="3193200"/>
            <ns151:ext cx="1422000" cy="198000"/>
          </ns151:xfrm>
          <ns152:prstGeom xmlns:ns152="http://schemas.openxmlformats.org/drawingml/2006/main" prst="rect">
            <ns152:avLst/>
          </ns152:prstGeom>
          <ns153:noFill xmlns:ns153="http://schemas.openxmlformats.org/drawingml/2006/main"/>
          <ns154:ln xmlns:ns154="http://schemas.openxmlformats.org/drawingml/2006/main" w="0">
            <ns154:noFill/>
          </ns154:ln>
        </p:spPr>
        <p:txBody>
          <ns155:bodyPr xmlns:ns155="http://schemas.openxmlformats.org/drawingml/2006/main" wrap="square" lIns="0" rIns="0" tIns="0" bIns="0" anchor="t">
            <ns155:noAutofit/>
          </ns155:bodyPr>
          <ns156:lstStyle xmlns:ns156="http://schemas.openxmlformats.org/drawingml/2006/main"/>
          <ns157:p xmlns:ns157="http://schemas.openxmlformats.org/drawingml/2006/main">
            <ns157:pPr algn="l">
              <ns157:lnSpc>
                <ns157:spcPct val="105000"/>
              </ns157:lnSpc>
              <ns157:defRPr sz="1250" b="1">
                <ns157:solidFill>
                  <ns157:srgbClr val="65727D"/>
                </ns157:solidFill>
                <ns157:latin typeface="Arial"/>
                <ns157:ea typeface="Arial"/>
                <ns157:cs typeface="Arial"/>
              </ns157:defRPr>
            </ns157:pPr>
            <ns157:r>
              <ns157:rPr sz="1250" b="1">
                <ns157:solidFill>
                  <ns157:srgbClr val="65727D"/>
                </ns157:solidFill>
                <ns157:latin typeface="Arial"/>
                <ns157:ea typeface="Arial"/>
                <ns157:cs typeface="Arial"/>
              </ns157:rPr>
              <ns157:t>Research reports</ns157:t>
            </ns157:r>
          </ns157:p>
        </p:txBody>
      </p:sp>
      <p:sp>
        <p:nvSpPr>
          <p:cNvPr id="26" name="input.views.2.content"/>
          <p:cNvSpPr/>
          <p:nvPr/>
        </p:nvSpPr>
        <p:spPr>
          <ns158:xfrm xmlns:ns158="http://schemas.openxmlformats.org/drawingml/2006/main">
            <ns158:off x="2487600" y="3409200"/>
            <ns158:ext cx="1490400" cy="230400"/>
          </ns158:xfrm>
          <ns159:prstGeom xmlns:ns159="http://schemas.openxmlformats.org/drawingml/2006/main" prst="rect">
            <ns159:avLst/>
          </ns159:prstGeom>
          <ns160:noFill xmlns:ns160="http://schemas.openxmlformats.org/drawingml/2006/main"/>
          <ns161:ln xmlns:ns161="http://schemas.openxmlformats.org/drawingml/2006/main" w="0">
            <ns161:noFill/>
          </ns161:ln>
        </p:spPr>
        <p:txBody>
          <ns162:bodyPr xmlns:ns162="http://schemas.openxmlformats.org/drawingml/2006/main" wrap="square" lIns="0" rIns="0" tIns="0" bIns="0" anchor="t">
            <ns162:noAutofit/>
          </ns162:bodyPr>
          <ns163:lstStyle xmlns:ns163="http://schemas.openxmlformats.org/drawingml/2006/main"/>
          <ns164:p xmlns:ns164="http://schemas.openxmlformats.org/drawingml/2006/main">
            <ns164:pPr algn="l">
              <ns164:lnSpc>
                <ns164:spcPct val="100000"/>
              </ns164:lnSpc>
              <ns164:defRPr sz="1200" b="0">
                <ns164:solidFill>
                  <ns164:srgbClr val="20262C"/>
                </ns164:solidFill>
                <ns164:latin typeface="Arial"/>
                <ns164:ea typeface="Arial"/>
                <ns164:cs typeface="Arial"/>
              </ns164:defRPr>
            </ns164:pPr>
            <ns164:r>
              <ns164:rPr sz="1200" b="0">
                <ns164:solidFill>
                  <ns164:srgbClr val="20262C"/>
                </ns164:solidFill>
                <ns164:latin typeface="Arial"/>
                <ns164:ea typeface="Arial"/>
                <ns164:cs typeface="Arial"/>
              </ns164:rPr>
              <ns164:t/>
            </ns164:r>
          </ns164:p>
        </p:txBody>
      </p:sp>
      <p:sp>
        <p:nvSpPr>
          <p:cNvPr id="27" name="role.llm.consolidates"/>
          <p:cNvSpPr/>
          <p:nvPr/>
        </p:nvSpPr>
        <p:spPr>
          <ns165:xfrm xmlns:ns165="http://schemas.openxmlformats.org/drawingml/2006/main">
            <ns165:off x="4392000" y="2214000"/>
            <ns165:ext cx="1458000" cy="972000"/>
          </ns165:xfrm>
          <ns166:prstGeom xmlns:ns166="http://schemas.openxmlformats.org/drawingml/2006/main" prst="roundRect">
            <ns166:avLst/>
          </ns166:prstGeom>
          <ns167:solidFill xmlns:ns167="http://schemas.openxmlformats.org/drawingml/2006/main">
            <ns167:srgbClr val="EAF3FA"/>
          </ns167:solidFill>
          <ns168:ln xmlns:ns168="http://schemas.openxmlformats.org/drawingml/2006/main" w="9525">
            <ns168:solidFill>
              <ns168:srgbClr val="005A9C"/>
            </ns168:solidFill>
          </ns168:ln>
        </p:spPr>
        <p:txBody>
          <ns169:bodyPr xmlns:ns169="http://schemas.openxmlformats.org/drawingml/2006/main" wrap="square" lIns="61200" rIns="61200" tIns="61200" bIns="61200" anchor="ctr">
            <ns169:noAutofit/>
          </ns169:bodyPr>
          <ns170:lstStyle xmlns:ns170="http://schemas.openxmlformats.org/drawingml/2006/main"/>
          <ns171:p xmlns:ns171="http://schemas.openxmlformats.org/drawingml/2006/main">
            <ns171:pPr algn="l">
              <ns171:lnSpc>
                <ns171:spcPct val="105000"/>
              </ns171:lnSpc>
              <ns171:defRPr sz="1300" b="1">
                <ns171:solidFill>
                  <ns171:srgbClr val="005A9C"/>
                </ns171:solidFill>
                <ns171:latin typeface="Arial"/>
                <ns171:ea typeface="Arial"/>
                <ns171:cs typeface="Arial"/>
              </ns171:defRPr>
            </ns171:pPr>
            <ns171:r>
              <ns171:rPr sz="1300" b="1">
                <ns171:solidFill>
                  <ns171:srgbClr val="005A9C"/>
                </ns171:solidFill>
                <ns171:latin typeface="Arial"/>
                <ns171:ea typeface="Arial"/>
                <ns171:cs typeface="Arial"/>
              </ns171:rPr>
              <ns171:t>LLM</ns171:t>
            </ns171:r>
          </ns171:p>
          <ns172:p xmlns:ns172="http://schemas.openxmlformats.org/drawingml/2006/main">
            <ns172:pPr algn="l">
              <ns172:lnSpc>
                <ns172:spcPct val="105000"/>
              </ns172:lnSpc>
              <ns172:defRPr sz="1200" b="0">
                <ns172:solidFill>
                  <ns172:srgbClr val="20262C"/>
                </ns172:solidFill>
                <ns172:latin typeface="Arial"/>
                <ns172:ea typeface="Arial"/>
                <ns172:cs typeface="Arial"/>
              </ns172:defRPr>
            </ns172:pPr>
            <ns172:r>
              <ns172:rPr sz="1200" b="0">
                <ns172:solidFill>
                  <ns172:srgbClr val="20262C"/>
                </ns172:solidFill>
                <ns172:latin typeface="Arial"/>
                <ns172:ea typeface="Arial"/>
                <ns172:cs typeface="Arial"/>
              </ns172:rPr>
              <ns172:t>Find</ns172:t>
            </ns172:r>
          </ns172:p>
          <ns173:p xmlns:ns173="http://schemas.openxmlformats.org/drawingml/2006/main">
            <ns173:pPr algn="l">
              <ns173:lnSpc>
                <ns173:spcPct val="105000"/>
              </ns173:lnSpc>
              <ns173:defRPr sz="1200" b="0">
                <ns173:solidFill>
                  <ns173:srgbClr val="20262C"/>
                </ns173:solidFill>
                <ns173:latin typeface="Arial"/>
                <ns173:ea typeface="Arial"/>
                <ns173:cs typeface="Arial"/>
              </ns173:defRPr>
            </ns173:pPr>
            <ns173:r>
              <ns173:rPr sz="1200" b="0">
                <ns173:solidFill>
                  <ns173:srgbClr val="20262C"/>
                </ns173:solidFill>
                <ns173:latin typeface="Arial"/>
                <ns173:ea typeface="Arial"/>
                <ns173:cs typeface="Arial"/>
              </ns173:rPr>
              <ns173:t>Deduplicate</ns173:t>
            </ns173:r>
          </ns173:p>
          <ns174:p xmlns:ns174="http://schemas.openxmlformats.org/drawingml/2006/main">
            <ns174:pPr algn="l">
              <ns174:lnSpc>
                <ns174:spcPct val="105000"/>
              </ns174:lnSpc>
              <ns174:defRPr sz="1200" b="0">
                <ns174:solidFill>
                  <ns174:srgbClr val="20262C"/>
                </ns174:solidFill>
                <ns174:latin typeface="Arial"/>
                <ns174:ea typeface="Arial"/>
                <ns174:cs typeface="Arial"/>
              </ns174:defRPr>
            </ns174:pPr>
            <ns174:r>
              <ns174:rPr sz="1200" b="0">
                <ns174:solidFill>
                  <ns174:srgbClr val="20262C"/>
                </ns174:solidFill>
                <ns174:latin typeface="Arial"/>
                <ns174:ea typeface="Arial"/>
                <ns174:cs typeface="Arial"/>
              </ns174:rPr>
              <ns174:t>Summarize</ns174:t>
            </ns174:r>
          </ns174:p>
        </p:txBody>
      </p:sp>
      <p:cxnSp>
        <p:nvCxnSpPr>
          <p:cNvPr id="28" name="views.sources.merge.source.0"/>
          <p:cNvCxnSpPr/>
          <p:nvPr/>
        </p:nvCxnSpPr>
        <p:spPr>
          <ns175:xfrm xmlns:ns175="http://schemas.openxmlformats.org/drawingml/2006/main">
            <ns175:off x="4042800" y="1836000"/>
            <ns175:ext cx="151200" cy="1"/>
          </ns175:xfrm>
          <ns176:prstGeom xmlns:ns176="http://schemas.openxmlformats.org/drawingml/2006/main" prst="line">
            <ns176:avLst/>
          </ns176:prstGeom>
          <ns177:ln xmlns:ns177="http://schemas.openxmlformats.org/drawingml/2006/main" w="9525">
            <ns177:solidFill>
              <ns177:srgbClr val="005A9C"/>
            </ns177:solidFill>
          </ns177:ln>
        </p:spPr>
      </p:cxnSp>
      <p:cxnSp>
        <p:nvCxnSpPr>
          <p:cNvPr id="29" name="views.sources.merge.source.1"/>
          <p:cNvCxnSpPr/>
          <p:nvPr/>
        </p:nvCxnSpPr>
        <p:spPr>
          <ns178:xfrm xmlns:ns178="http://schemas.openxmlformats.org/drawingml/2006/main">
            <ns178:off x="4042800" y="2628000"/>
            <ns178:ext cx="151200" cy="1"/>
          </ns178:xfrm>
          <ns179:prstGeom xmlns:ns179="http://schemas.openxmlformats.org/drawingml/2006/main" prst="line">
            <ns179:avLst/>
          </ns179:prstGeom>
          <ns180:ln xmlns:ns180="http://schemas.openxmlformats.org/drawingml/2006/main" w="9525">
            <ns180:solidFill>
              <ns180:srgbClr val="005A9C"/>
            </ns180:solidFill>
          </ns180:ln>
        </p:spPr>
      </p:cxnSp>
      <p:cxnSp>
        <p:nvCxnSpPr>
          <p:cNvPr id="30" name="views.sources.merge.source.2"/>
          <p:cNvCxnSpPr/>
          <p:nvPr/>
        </p:nvCxnSpPr>
        <p:spPr>
          <ns181:xfrm xmlns:ns181="http://schemas.openxmlformats.org/drawingml/2006/main">
            <ns181:off x="4042800" y="3420000"/>
            <ns181:ext cx="151200" cy="1"/>
          </ns181:xfrm>
          <ns182:prstGeom xmlns:ns182="http://schemas.openxmlformats.org/drawingml/2006/main" prst="line">
            <ns182:avLst/>
          </ns182:prstGeom>
          <ns183:ln xmlns:ns183="http://schemas.openxmlformats.org/drawingml/2006/main" w="9525">
            <ns183:solidFill>
              <ns183:srgbClr val="005A9C"/>
            </ns183:solidFill>
          </ns183:ln>
        </p:spPr>
      </p:cxnSp>
      <p:cxnSp>
        <p:nvCxnSpPr>
          <p:cNvPr id="31" name="views.sources.merge.bus"/>
          <p:cNvCxnSpPr/>
          <p:nvPr/>
        </p:nvCxnSpPr>
        <p:spPr>
          <ns184:xfrm xmlns:ns184="http://schemas.openxmlformats.org/drawingml/2006/main">
            <ns184:off x="4194000" y="1836000"/>
            <ns184:ext cx="1" cy="1584000"/>
          </ns184:xfrm>
          <ns185:prstGeom xmlns:ns185="http://schemas.openxmlformats.org/drawingml/2006/main" prst="line">
            <ns185:avLst/>
          </ns185:prstGeom>
          <ns186:ln xmlns:ns186="http://schemas.openxmlformats.org/drawingml/2006/main" w="9525">
            <ns186:solidFill>
              <ns186:srgbClr val="005A9C"/>
            </ns186:solidFill>
          </ns186:ln>
        </p:spPr>
      </p:cxnSp>
      <p:cxnSp>
        <p:nvCxnSpPr>
          <p:cNvPr id="32" name="views.sources.merge.target"/>
          <p:cNvCxnSpPr/>
          <p:nvPr/>
        </p:nvCxnSpPr>
        <p:spPr>
          <ns187:xfrm xmlns:ns187="http://schemas.openxmlformats.org/drawingml/2006/main">
            <ns187:off x="4194000" y="2700000"/>
            <ns187:ext cx="198000" cy="1"/>
          </ns187:xfrm>
          <ns188:prstGeom xmlns:ns188="http://schemas.openxmlformats.org/drawingml/2006/main" prst="line">
            <ns188:avLst/>
          </ns188:prstGeom>
          <ns189:ln xmlns:ns189="http://schemas.openxmlformats.org/drawingml/2006/main" w="11430">
            <ns189:solidFill>
              <ns189:srgbClr val="005A9C"/>
            </ns189:solidFill>
            <ns189:tailEnd type="triangle" w="sm" len="sm"/>
          </ns189:ln>
        </p:spPr>
      </p:cxnSp>
      <p:sp>
        <p:nvSpPr>
          <p:cNvPr id="33" name="output.client.summary.paper"/>
          <p:cNvSpPr/>
          <p:nvPr/>
        </p:nvSpPr>
        <p:spPr>
          <ns190:xfrm xmlns:ns190="http://schemas.openxmlformats.org/drawingml/2006/main">
            <ns190:off x="6127200" y="1692000"/>
            <ns190:ext cx="2559600" cy="1656000"/>
          </ns190:xfrm>
          <ns191:prstGeom xmlns:ns191="http://schemas.openxmlformats.org/drawingml/2006/main" prst="foldedCorner">
            <ns191:avLst/>
          </ns191:prstGeom>
          <ns192:solidFill xmlns:ns192="http://schemas.openxmlformats.org/drawingml/2006/main">
            <ns192:srgbClr val="FFFFFF"/>
          </ns192:solidFill>
          <ns193:ln xmlns:ns193="http://schemas.openxmlformats.org/drawingml/2006/main" w="9525">
            <ns193:solidFill>
              <ns193:srgbClr val="7363A6"/>
            </ns193:solidFill>
          </ns193:ln>
        </p:spPr>
      </p:sp>
      <p:sp>
        <p:nvSpPr>
          <p:cNvPr id="34" name="output.client.summary.title"/>
          <p:cNvSpPr/>
          <p:nvPr/>
        </p:nvSpPr>
        <p:spPr>
          <ns194:xfrm xmlns:ns194="http://schemas.openxmlformats.org/drawingml/2006/main">
            <ns194:off x="6192000" y="1735200"/>
            <ns194:ext cx="2361600" cy="198000"/>
          </ns194:xfrm>
          <ns195:prstGeom xmlns:ns195="http://schemas.openxmlformats.org/drawingml/2006/main" prst="rect">
            <ns195:avLst/>
          </ns195:prstGeom>
          <ns196:noFill xmlns:ns196="http://schemas.openxmlformats.org/drawingml/2006/main"/>
          <ns197:ln xmlns:ns197="http://schemas.openxmlformats.org/drawingml/2006/main" w="0">
            <ns197:noFill/>
          </ns197:ln>
        </p:spPr>
        <p:txBody>
          <ns198:bodyPr xmlns:ns198="http://schemas.openxmlformats.org/drawingml/2006/main" wrap="square" lIns="0" rIns="0" tIns="0" bIns="0" anchor="t">
            <ns198:noAutofit/>
          </ns198:bodyPr>
          <ns199:lstStyle xmlns:ns199="http://schemas.openxmlformats.org/drawingml/2006/main"/>
          <ns200:p xmlns:ns200="http://schemas.openxmlformats.org/drawingml/2006/main">
            <ns200:pPr algn="l">
              <ns200:lnSpc>
                <ns200:spcPct val="105000"/>
              </ns200:lnSpc>
              <ns200:defRPr sz="1250" b="1">
                <ns200:solidFill>
                  <ns200:srgbClr val="7363A6"/>
                </ns200:solidFill>
                <ns200:latin typeface="Arial"/>
                <ns200:ea typeface="Arial"/>
                <ns200:cs typeface="Arial"/>
              </ns200:defRPr>
            </ns200:pPr>
            <ns200:r>
              <ns200:rPr sz="1250" b="1">
                <ns200:solidFill>
                  <ns200:srgbClr val="7363A6"/>
                </ns200:solidFill>
                <ns200:latin typeface="Arial"/>
                <ns200:ea typeface="Arial"/>
                <ns200:cs typeface="Arial"/>
              </ns200:rPr>
              <ns200:t>Client-team summary</ns200:t>
            </ns200:r>
          </ns200:p>
        </p:txBody>
      </p:sp>
      <p:sp>
        <p:nvSpPr>
          <p:cNvPr id="35" name="output.client.summary.content"/>
          <p:cNvSpPr/>
          <p:nvPr/>
        </p:nvSpPr>
        <p:spPr>
          <ns201:xfrm xmlns:ns201="http://schemas.openxmlformats.org/drawingml/2006/main">
            <ns201:off x="6192000" y="1951200"/>
            <ns201:ext cx="2430000" cy="1346400"/>
          </ns201:xfrm>
          <ns202:prstGeom xmlns:ns202="http://schemas.openxmlformats.org/drawingml/2006/main" prst="rect">
            <ns202:avLst/>
          </ns202:prstGeom>
          <ns203:noFill xmlns:ns203="http://schemas.openxmlformats.org/drawingml/2006/main"/>
          <ns204:ln xmlns:ns204="http://schemas.openxmlformats.org/drawingml/2006/main" w="0">
            <ns204:noFill/>
          </ns204:ln>
        </p:spPr>
        <p:txBody>
          <ns205:bodyPr xmlns:ns205="http://schemas.openxmlformats.org/drawingml/2006/main" wrap="square" lIns="0" rIns="0" tIns="0" bIns="0" anchor="t">
            <ns205:noAutofit/>
          </ns205:bodyPr>
          <ns206:lstStyle xmlns:ns206="http://schemas.openxmlformats.org/drawingml/2006/main"/>
          <ns207:p xmlns:ns207="http://schemas.openxmlformats.org/drawingml/2006/main">
            <ns207:pPr algn="l">
              <ns207:lnSpc>
                <ns207:spcPct val="100000"/>
              </ns207:lnSpc>
              <ns207:defRPr sz="1200" b="0">
                <ns207:solidFill>
                  <ns207:srgbClr val="20262C"/>
                </ns207:solidFill>
                <ns207:latin typeface="Arial"/>
                <ns207:ea typeface="Arial"/>
                <ns207:cs typeface="Arial"/>
              </ns207:defRPr>
            </ns207:pPr>
            <ns207:r>
              <ns207:rPr sz="1200" b="0">
                <ns207:solidFill>
                  <ns207:srgbClr val="20262C"/>
                </ns207:solidFill>
                <ns207:latin typeface="Arial"/>
                <ns207:ea typeface="Arial"/>
                <ns207:cs typeface="Arial"/>
              </ns207:rPr>
              <ns207:t>Company A</ns207:t>
            </ns207:r>
          </ns207:p>
          <ns208:p xmlns:ns208="http://schemas.openxmlformats.org/drawingml/2006/main">
            <ns208:pPr algn="l">
              <ns208:lnSpc>
                <ns208:spcPct val="100000"/>
              </ns208:lnSpc>
              <ns208:defRPr sz="1200" b="0">
                <ns208:solidFill>
                  <ns208:srgbClr val="20262C"/>
                </ns208:solidFill>
                <ns208:latin typeface="Arial"/>
                <ns208:ea typeface="Arial"/>
                <ns208:cs typeface="Arial"/>
              </ns208:defRPr>
            </ns208:pPr>
            <ns208:r>
              <ns208:rPr sz="1200" b="0">
                <ns208:solidFill>
                  <ns208:srgbClr val="20262C"/>
                </ns208:solidFill>
                <ns208:latin typeface="Arial"/>
                <ns208:ea typeface="Arial"/>
                <ns208:cs typeface="Arial"/>
              </ns208:rPr>
              <ns208:t>Higher sales volume</ns208:t>
            </ns208:r>
          </ns208:p>
          <ns209:p xmlns:ns209="http://schemas.openxmlformats.org/drawingml/2006/main">
            <ns209:pPr algn="l">
              <ns209:lnSpc>
                <ns209:spcPct val="100000"/>
              </ns209:lnSpc>
              <ns209:defRPr sz="1200" b="0">
                <ns209:solidFill>
                  <ns209:srgbClr val="20262C"/>
                </ns209:solidFill>
                <ns209:latin typeface="Arial"/>
                <ns209:ea typeface="Arial"/>
                <ns209:cs typeface="Arial"/>
              </ns209:defRPr>
            </ns209:pPr>
            <ns209:r>
              <ns209:rPr sz="1200" b="0">
                <ns209:solidFill>
                  <ns209:srgbClr val="20262C"/>
                </ns209:solidFill>
                <ns209:latin typeface="Arial"/>
                <ns209:ea typeface="Arial"/>
                <ns209:cs typeface="Arial"/>
              </ns209:rPr>
              <ns209:t>supported revenue growth.</ns209:t>
            </ns209:r>
          </ns209:p>
          <ns210:p xmlns:ns210="http://schemas.openxmlformats.org/drawingml/2006/main">
            <ns210:pPr algn="l">
              <ns210:lnSpc>
                <ns210:spcPct val="100000"/>
              </ns210:lnSpc>
              <ns210:defRPr sz="1200" b="0">
                <ns210:solidFill>
                  <ns210:srgbClr val="20262C"/>
                </ns210:solidFill>
                <ns210:latin typeface="Arial"/>
                <ns210:ea typeface="Arial"/>
                <ns210:cs typeface="Arial"/>
              </ns210:defRPr>
            </ns210:pPr>
            <ns210:r>
              <ns210:rPr sz="1200" b="0">
                <ns210:solidFill>
                  <ns210:srgbClr val="20262C"/>
                </ns210:solidFill>
                <ns210:latin typeface="Arial"/>
                <ns210:ea typeface="Arial"/>
                <ns210:cs typeface="Arial"/>
              </ns210:rPr>
              <ns210:t>Raw-material costs</ns210:t>
            </ns210:r>
          </ns210:p>
          <ns211:p xmlns:ns211="http://schemas.openxmlformats.org/drawingml/2006/main">
            <ns211:pPr algn="l">
              <ns211:lnSpc>
                <ns211:spcPct val="100000"/>
              </ns211:lnSpc>
              <ns211:defRPr sz="1200" b="0">
                <ns211:solidFill>
                  <ns211:srgbClr val="20262C"/>
                </ns211:solidFill>
                <ns211:latin typeface="Arial"/>
                <ns211:ea typeface="Arial"/>
                <ns211:cs typeface="Arial"/>
              </ns211:defRPr>
            </ns211:pPr>
            <ns211:r>
              <ns211:rPr sz="1200" b="0">
                <ns211:solidFill>
                  <ns211:srgbClr val="20262C"/>
                </ns211:solidFill>
                <ns211:latin typeface="Arial"/>
                <ns211:ea typeface="Arial"/>
                <ns211:cs typeface="Arial"/>
              </ns211:rPr>
              <ns211:t>remain a focus.</ns211:t>
            </ns211:r>
          </ns211:p>
        </p:txBody>
      </p:sp>
      <p:cxnSp>
        <p:nvCxnSpPr>
          <p:cNvPr id="36" name="llm.client.summary"/>
          <p:cNvCxnSpPr/>
          <p:nvPr/>
        </p:nvCxnSpPr>
        <p:spPr>
          <ns212:xfrm xmlns:ns212="http://schemas.openxmlformats.org/drawingml/2006/main">
            <ns212:off x="5850000" y="2700000"/>
            <ns212:ext cx="241200" cy="1"/>
          </ns212:xfrm>
          <ns213:prstGeom xmlns:ns213="http://schemas.openxmlformats.org/drawingml/2006/main" prst="line">
            <ns213:avLst/>
          </ns213:prstGeom>
          <ns214:ln xmlns:ns214="http://schemas.openxmlformats.org/drawingml/2006/main" w="11430">
            <ns214:solidFill>
              <ns214:srgbClr val="7363A6"/>
            </ns214:solidFill>
            <ns214:tailEnd type="triangle" w="sm" len="sm"/>
          </ns214:ln>
        </p:spPr>
      </p:cxnSp>
      <p:sp>
        <p:nvSpPr>
          <p:cNvPr id="37" name="human.client.team"/>
          <p:cNvSpPr/>
          <p:nvPr/>
        </p:nvSpPr>
        <p:spPr>
          <ns215:xfrm xmlns:ns215="http://schemas.openxmlformats.org/drawingml/2006/main">
            <ns215:off x="6127200" y="3726000"/>
            <ns215:ext cx="2559600" cy="648000"/>
          </ns215:xfrm>
          <ns216:prstGeom xmlns:ns216="http://schemas.openxmlformats.org/drawingml/2006/main" prst="roundRect">
            <ns216:avLst/>
          </ns216:prstGeom>
          <ns217:solidFill xmlns:ns217="http://schemas.openxmlformats.org/drawingml/2006/main">
            <ns217:srgbClr val="F3F7FA"/>
          </ns217:solidFill>
          <ns218:ln xmlns:ns218="http://schemas.openxmlformats.org/drawingml/2006/main" w="9525">
            <ns218:solidFill>
              <ns218:srgbClr val="65727D"/>
            </ns218:solidFill>
          </ns218:ln>
        </p:spPr>
        <p:txBody>
          <ns219:bodyPr xmlns:ns219="http://schemas.openxmlformats.org/drawingml/2006/main" wrap="square" lIns="61200" rIns="61200" tIns="61200" bIns="61200" anchor="ctr">
            <ns219:noAutofit/>
          </ns219:bodyPr>
          <ns220:lstStyle xmlns:ns220="http://schemas.openxmlformats.org/drawingml/2006/main"/>
          <ns221:p xmlns:ns221="http://schemas.openxmlformats.org/drawingml/2006/main">
            <ns221:pPr algn="l">
              <ns221:lnSpc>
                <ns221:spcPct val="105000"/>
              </ns221:lnSpc>
              <ns221:defRPr sz="1300" b="1">
                <ns221:solidFill>
                  <ns221:srgbClr val="65727D"/>
                </ns221:solidFill>
                <ns221:latin typeface="Arial"/>
                <ns221:ea typeface="Arial"/>
                <ns221:cs typeface="Arial"/>
              </ns221:defRPr>
            </ns221:pPr>
            <ns221:r>
              <ns221:rPr sz="1300" b="1">
                <ns221:solidFill>
                  <ns221:srgbClr val="65727D"/>
                </ns221:solidFill>
                <ns221:latin typeface="Arial"/>
                <ns221:ea typeface="Arial"/>
                <ns221:cs typeface="Arial"/>
              </ns221:rPr>
              <ns221:t>Client-facing team</ns221:t>
            </ns221:r>
          </ns221:p>
          <ns222:p xmlns:ns222="http://schemas.openxmlformats.org/drawingml/2006/main">
            <ns222:pPr algn="l">
              <ns222:lnSpc>
                <ns222:spcPct val="105000"/>
              </ns222:lnSpc>
              <ns222:defRPr sz="1200" b="0">
                <ns222:solidFill>
                  <ns222:srgbClr val="20262C"/>
                </ns222:solidFill>
                <ns222:latin typeface="Arial"/>
                <ns222:ea typeface="Arial"/>
                <ns222:cs typeface="Arial"/>
              </ns222:defRPr>
            </ns222:pPr>
            <ns222:r>
              <ns222:rPr sz="1200" b="0">
                <ns222:solidFill>
                  <ns222:srgbClr val="20262C"/>
                </ns222:solidFill>
                <ns222:latin typeface="Arial"/>
                <ns222:ea typeface="Arial"/>
                <ns222:cs typeface="Arial"/>
              </ns222:rPr>
              <ns222:t>Use summary</ns222:t>
            </ns222:r>
          </ns222:p>
        </p:txBody>
      </p:sp>
      <p:cxnSp>
        <p:nvCxnSpPr>
          <p:cNvPr id="38" name="summary.to.team"/>
          <p:cNvCxnSpPr/>
          <p:nvPr/>
        </p:nvCxnSpPr>
        <p:spPr>
          <ns223:xfrm xmlns:ns223="http://schemas.openxmlformats.org/drawingml/2006/main">
            <ns223:off x="7407000" y="3384000"/>
            <ns223:ext cx="1" cy="306000"/>
          </ns223:xfrm>
          <ns224:prstGeom xmlns:ns224="http://schemas.openxmlformats.org/drawingml/2006/main" prst="line">
            <ns224:avLst/>
          </ns224:prstGeom>
          <ns225:ln xmlns:ns225="http://schemas.openxmlformats.org/drawingml/2006/main" w="11430">
            <ns225:solidFill>
              <ns225:srgbClr val="7363A6"/>
            </ns225:solidFill>
            <ns225:tailEnd type="triangle" w="sm" len="sm"/>
          </ns225:ln>
        </p:spPr>
      </p:cxnSp>
      <p:sp>
        <p:nvSpPr>
          <p:cNvPr id="39" name="related.commentary.scope"/>
          <p:cNvSpPr/>
          <p:nvPr/>
        </p:nvSpPr>
        <p:spPr>
          <ns226:xfrm xmlns:ns226="http://schemas.openxmlformats.org/drawingml/2006/main">
            <ns226:off x="2422800" y="4248000"/>
            <ns226:ext cx="3492000" cy="180000"/>
          </ns226:xfrm>
          <ns227:prstGeom xmlns:ns227="http://schemas.openxmlformats.org/drawingml/2006/main" prst="rect">
            <ns227:avLst/>
          </ns227:prstGeom>
          <ns228:noFill xmlns:ns228="http://schemas.openxmlformats.org/drawingml/2006/main"/>
          <ns229:ln xmlns:ns229="http://schemas.openxmlformats.org/drawingml/2006/main" w="0">
            <ns229:noFill/>
          </ns229:ln>
        </p:spPr>
        <p:txBody>
          <ns230:bodyPr xmlns:ns230="http://schemas.openxmlformats.org/drawingml/2006/main" wrap="square" lIns="0" rIns="0" tIns="0" bIns="0" anchor="t">
            <ns230:noAutofit/>
          </ns230:bodyPr>
          <ns231:lstStyle xmlns:ns231="http://schemas.openxmlformats.org/drawingml/2006/main"/>
          <ns232:p xmlns:ns232="http://schemas.openxmlformats.org/drawingml/2006/main">
            <ns232:pPr algn="l">
              <ns232:lnSpc>
                <ns232:spcPct val="105000"/>
              </ns232:lnSpc>
              <ns232:defRPr sz="1050" b="0">
                <ns232:solidFill>
                  <ns232:srgbClr val="65727D"/>
                </ns232:solidFill>
                <ns232:latin typeface="Arial"/>
                <ns232:ea typeface="Arial"/>
                <ns232:cs typeface="Arial"/>
              </ns232:defRPr>
            </ns232:pPr>
            <ns232:r>
              <ns232:rPr sz="1050" b="0">
                <ns232:solidFill>
                  <ns232:srgbClr val="65727D"/>
                </ns232:solidFill>
                <ns232:latin typeface="Arial"/>
                <ns232:ea typeface="Arial"/>
                <ns232:cs typeface="Arial"/>
              </ns232:rPr>
              <ns232:t>Weekly sector views / daily market commentary</ns232:t>
            </ns232:r>
          </ns232:p>
        </p:txBody>
      </p:sp>
    </p:spTree>
    <p:extLst>
      <p:ext uri="{BB962C8B-B14F-4D97-AF65-F5344CB8AC3E}">
        <p14:creationId xmlns:p14="http://schemas.microsoft.com/office/powerpoint/2010/main" val="205893254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p:cNvSpPr/>
          <p:nvPr/>
        </p:nvSpPr>
        <p:spPr>
          <ns0:xfrm xmlns:ns0="http://schemas.openxmlformats.org/drawingml/2006/main">
            <ns0:off x="457200" y="720000"/>
            <ns0:ext cx="8229600" cy="34200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square" lIns="0" rIns="0" tIns="0" bIns="0" anchor="t">
            <ns4:noAutofit/>
          </ns4:bodyPr>
          <ns5:lstStyle xmlns:ns5="http://schemas.openxmlformats.org/drawingml/2006/main"/>
          <ns6:p xmlns:ns6="http://schemas.openxmlformats.org/drawingml/2006/main">
            <ns6:pPr algn="l">
              <ns6:lnSpc>
                <ns6:spcPct val="105000"/>
              </ns6:lnSpc>
              <ns6:defRPr sz="2400" b="1">
                <ns6:solidFill>
                  <ns6:srgbClr val="20262C"/>
                </ns6:solidFill>
                <ns6:latin typeface="Arial"/>
                <ns6:ea typeface="Arial"/>
                <ns6:cs typeface="Arial"/>
              </ns6:defRPr>
            </ns6:pPr>
            <ns6:r>
              <ns6:rPr sz="2400" b="1">
                <ns6:solidFill>
                  <ns6:srgbClr val="20262C"/>
                </ns6:solidFill>
                <ns6:latin typeface="Arial"/>
                <ns6:ea typeface="Arial"/>
                <ns6:cs typeface="Arial"/>
              </ns6:rPr>
              <ns6:t>Appendix: Additional Back-Office Applications</ns6:t>
            </ns6:r>
          </ns6:p>
        </p:txBody>
      </p:sp>
      <p:sp>
        <p:nvSpPr>
          <p:cNvPr id="3" name="subtitle"/>
          <p:cNvSpPr/>
          <p:nvPr/>
        </p:nvSpPr>
        <p:spPr>
          <ns7:xfrm xmlns:ns7="http://schemas.openxmlformats.org/drawingml/2006/main">
            <ns7:off x="457200" y="1080000"/>
            <ns7:ext cx="8229600" cy="270000"/>
          </ns7:xfrm>
          <ns8:prstGeom xmlns:ns8="http://schemas.openxmlformats.org/drawingml/2006/main" prst="rect">
            <ns8:avLst/>
          </ns8:prstGeom>
          <ns9:noFill xmlns:ns9="http://schemas.openxmlformats.org/drawingml/2006/main"/>
          <ns10:ln xmlns:ns10="http://schemas.openxmlformats.org/drawingml/2006/main" w="0">
            <ns10:noFill/>
          </ns10:ln>
        </p:spPr>
        <p:txBody>
          <ns11:bodyPr xmlns:ns11="http://schemas.openxmlformats.org/drawingml/2006/main" wrap="square" lIns="0" rIns="0" tIns="0" bIns="0" anchor="t">
            <ns11:noAutofit/>
          </ns11:bodyPr>
          <ns12:lstStyle xmlns:ns12="http://schemas.openxmlformats.org/drawingml/2006/main"/>
          <ns13:p xmlns:ns13="http://schemas.openxmlformats.org/drawingml/2006/main">
            <ns13:pPr algn="l">
              <ns13:lnSpc>
                <ns13:spcPct val="105000"/>
              </ns13:lnSpc>
              <ns13:defRPr sz="1600" b="0">
                <ns13:solidFill>
                  <ns13:srgbClr val="005A9C"/>
                </ns13:solidFill>
                <ns13:latin typeface="Arial"/>
                <ns13:ea typeface="Arial"/>
                <ns13:cs typeface="Arial"/>
              </ns13:defRPr>
            </ns13:pPr>
            <ns13:r>
              <ns13:rPr sz="1600" b="0">
                <ns13:solidFill>
                  <ns13:srgbClr val="005A9C"/>
                </ns13:solidFill>
                <ns13:latin typeface="Arial"/>
                <ns13:ea typeface="Arial"/>
                <ns13:cs typeface="Arial"/>
              </ns13:rPr>
              <ns13:t>Employee Guidance, Email Security and Business Analytics</ns13:t>
            </ns13:r>
          </ns13:p>
        </p:txBody>
      </p:sp>
      <p:sp>
        <p:nvSpPr>
          <p:cNvPr id="4" name="source.note"/>
          <p:cNvSpPr/>
          <p:nvPr/>
        </p:nvSpPr>
        <p:spPr>
          <ns14:xfrm xmlns:ns14="http://schemas.openxmlformats.org/drawingml/2006/main">
            <ns14:off x="457200" y="4741200"/>
            <ns14:ext cx="8229600" cy="118800"/>
          </ns14:xfrm>
          <ns15:prstGeom xmlns:ns15="http://schemas.openxmlformats.org/drawingml/2006/main" prst="rect">
            <ns15:avLst/>
          </ns15:prstGeom>
          <ns16:noFill xmlns:ns16="http://schemas.openxmlformats.org/drawingml/2006/main"/>
          <ns17:ln xmlns:ns17="http://schemas.openxmlformats.org/drawingml/2006/main" w="0">
            <ns17:noFill/>
          </ns17:ln>
        </p:spPr>
        <p:txBody>
          <ns18:bodyPr xmlns:ns18="http://schemas.openxmlformats.org/drawingml/2006/main" wrap="square" lIns="0" rIns="0" tIns="0" bIns="0" anchor="t">
            <ns18:noAutofit/>
          </ns18:bodyPr>
          <ns19:lstStyle xmlns:ns19="http://schemas.openxmlformats.org/drawingml/2006/main"/>
          <ns20:p xmlns:ns20="http://schemas.openxmlformats.org/drawingml/2006/main">
            <ns20:pPr algn="l">
              <ns20:lnSpc>
                <ns20:spcPct val="105000"/>
              </ns20:lnSpc>
              <ns20:defRPr sz="800" b="0">
                <ns20:solidFill>
                  <ns20:srgbClr val="65727D"/>
                </ns20:solidFill>
                <ns20:latin typeface="Arial"/>
                <ns20:ea typeface="Arial"/>
                <ns20:cs typeface="Arial"/>
              </ns20:defRPr>
            </ns20:pPr>
            <ns20:r>
              <ns20:rPr sz="800" b="0">
                <ns20:solidFill>
                  <ns20:srgbClr val="65727D"/>
                </ns20:solidFill>
                <ns20:latin typeface="Arial"/>
                <ns20:ea typeface="Arial"/>
                <ns20:cs typeface="Arial"/>
              </ns20:rPr>
              <ns20:t>Sources: China Merchants Fund; Ping An Fund; Maxwealth Fund; China Universal patent CN121958380A</ns20:t>
            </ns20:r>
          </ns20:p>
        </p:txBody>
      </p:sp>
      <p:sp>
        <p:nvSpPr>
          <p:cNvPr id="5" name="map.office.0"/>
          <p:cNvSpPr/>
          <p:nvPr/>
        </p:nvSpPr>
        <p:spPr>
          <ns21:xfrm xmlns:ns21="http://schemas.openxmlformats.org/drawingml/2006/main">
            <ns21:off x="486000" y="1504800"/>
            <ns21:ext cx="1692000" cy="180000"/>
          </ns21:xfrm>
          <ns22:prstGeom xmlns:ns22="http://schemas.openxmlformats.org/drawingml/2006/main" prst="rect">
            <ns22:avLst/>
          </ns22:prstGeom>
          <ns23:noFill xmlns:ns23="http://schemas.openxmlformats.org/drawingml/2006/main"/>
          <ns24:ln xmlns:ns24="http://schemas.openxmlformats.org/drawingml/2006/main" w="0">
            <ns24:noFill/>
          </ns24:ln>
        </p:spPr>
        <p:txBody>
          <ns25:bodyPr xmlns:ns25="http://schemas.openxmlformats.org/drawingml/2006/main" wrap="square" lIns="0" rIns="0" tIns="0" bIns="0" anchor="t">
            <ns25:noAutofit/>
          </ns25:bodyPr>
          <ns26:lstStyle xmlns:ns26="http://schemas.openxmlformats.org/drawingml/2006/main"/>
          <ns27:p xmlns:ns27="http://schemas.openxmlformats.org/drawingml/2006/main">
            <ns27:pPr algn="l">
              <ns27:lnSpc>
                <ns27:spcPct val="105000"/>
              </ns27:lnSpc>
              <ns27:defRPr sz="1100" b="1">
                <ns27:solidFill>
                  <ns27:srgbClr val="65727D"/>
                </ns27:solidFill>
                <ns27:latin typeface="Arial"/>
                <ns27:ea typeface="Arial"/>
                <ns27:cs typeface="Arial"/>
              </ns27:defRPr>
            </ns27:pPr>
            <ns27:r>
              <ns27:rPr sz="1100" b="1">
                <ns27:solidFill>
                  <ns27:srgbClr val="65727D"/>
                </ns27:solidFill>
                <ns27:latin typeface="Arial"/>
                <ns27:ea typeface="Arial"/>
                <ns27:cs typeface="Arial"/>
              </ns27:rPr>
              <ns27:t>Front office</ns27:t>
            </ns27:r>
          </ns27:p>
        </p:txBody>
      </p:sp>
      <p:cxnSp>
        <p:nvCxnSpPr>
          <p:cNvPr id="6" name="map.office.rule.0"/>
          <p:cNvCxnSpPr/>
          <p:nvPr/>
        </p:nvCxnSpPr>
        <p:spPr>
          <ns28:xfrm xmlns:ns28="http://schemas.openxmlformats.org/drawingml/2006/main">
            <ns28:off x="457200" y="1724400"/>
            <ns28:ext cx="1742400" cy="1"/>
          </ns28:xfrm>
          <ns29:prstGeom xmlns:ns29="http://schemas.openxmlformats.org/drawingml/2006/main" prst="line">
            <ns29:avLst/>
          </ns29:prstGeom>
          <ns30:ln xmlns:ns30="http://schemas.openxmlformats.org/drawingml/2006/main" w="7620">
            <ns30:solidFill>
              <ns30:srgbClr val="CBD4DA"/>
            </ns30:solidFill>
          </ns30:ln>
        </p:spPr>
      </p:cxnSp>
      <p:sp>
        <p:nvSpPr>
          <p:cNvPr id="7" name="map.task.research"/>
          <p:cNvSpPr/>
          <p:nvPr/>
        </p:nvSpPr>
        <p:spPr>
          <ns31:xfrm xmlns:ns31="http://schemas.openxmlformats.org/drawingml/2006/main">
            <ns31:off x="554400" y="1803600"/>
            <ns31:ext cx="1562400" cy="165600"/>
          </ns31:xfrm>
          <ns32:prstGeom xmlns:ns32="http://schemas.openxmlformats.org/drawingml/2006/main" prst="rect">
            <ns32:avLst/>
          </ns32:prstGeom>
          <ns33:noFill xmlns:ns33="http://schemas.openxmlformats.org/drawingml/2006/main"/>
          <ns34:ln xmlns:ns34="http://schemas.openxmlformats.org/drawingml/2006/main" w="0">
            <ns34:noFill/>
          </ns34:ln>
        </p:spPr>
        <p:txBody>
          <ns35:bodyPr xmlns:ns35="http://schemas.openxmlformats.org/drawingml/2006/main" wrap="square" lIns="0" rIns="0" tIns="0" bIns="0" anchor="t">
            <ns35:noAutofit/>
          </ns35:bodyPr>
          <ns36:lstStyle xmlns:ns36="http://schemas.openxmlformats.org/drawingml/2006/main"/>
          <ns37:p xmlns:ns37="http://schemas.openxmlformats.org/drawingml/2006/main">
            <ns37:pPr algn="l">
              <ns37:lnSpc>
                <ns37:spcPct val="105000"/>
              </ns37:lnSpc>
              <ns37:defRPr sz="1050" b="0">
                <ns37:solidFill>
                  <ns37:srgbClr val="65727D"/>
                </ns37:solidFill>
                <ns37:latin typeface="Arial"/>
                <ns37:ea typeface="Arial"/>
                <ns37:cs typeface="Arial"/>
              </ns37:defRPr>
            </ns37:pPr>
            <ns37:r>
              <ns37:rPr sz="1050" b="0">
                <ns37:solidFill>
                  <ns37:srgbClr val="65727D"/>
                </ns37:solidFill>
                <ns37:latin typeface="Arial"/>
                <ns37:ea typeface="Arial"/>
                <ns37:cs typeface="Arial"/>
              </ns37:rPr>
              <ns37:t>Research</ns37:t>
            </ns37:r>
          </ns37:p>
        </p:txBody>
      </p:sp>
      <p:sp>
        <p:nvSpPr>
          <p:cNvPr id="8" name="map.task.trade"/>
          <p:cNvSpPr/>
          <p:nvPr/>
        </p:nvSpPr>
        <p:spPr>
          <ns38:xfrm xmlns:ns38="http://schemas.openxmlformats.org/drawingml/2006/main">
            <ns38:off x="554400" y="2001600"/>
            <ns38:ext cx="1562400" cy="165600"/>
          </ns38:xfrm>
          <ns39:prstGeom xmlns:ns39="http://schemas.openxmlformats.org/drawingml/2006/main" prst="rect">
            <ns39:avLst/>
          </ns39:prstGeom>
          <ns40:noFill xmlns:ns40="http://schemas.openxmlformats.org/drawingml/2006/main"/>
          <ns41:ln xmlns:ns41="http://schemas.openxmlformats.org/drawingml/2006/main" w="0">
            <ns41:noFill/>
          </ns41:ln>
        </p:spPr>
        <p:txBody>
          <ns42:bodyPr xmlns:ns42="http://schemas.openxmlformats.org/drawingml/2006/main" wrap="square" lIns="0" rIns="0" tIns="0" bIns="0" anchor="t">
            <ns42:noAutofit/>
          </ns42:bodyPr>
          <ns43:lstStyle xmlns:ns43="http://schemas.openxmlformats.org/drawingml/2006/main"/>
          <ns44:p xmlns:ns44="http://schemas.openxmlformats.org/drawingml/2006/main">
            <ns44:pPr algn="l">
              <ns44:lnSpc>
                <ns44:spcPct val="105000"/>
              </ns44:lnSpc>
              <ns44:defRPr sz="1050" b="0">
                <ns44:solidFill>
                  <ns44:srgbClr val="65727D"/>
                </ns44:solidFill>
                <ns44:latin typeface="Arial"/>
                <ns44:ea typeface="Arial"/>
                <ns44:cs typeface="Arial"/>
              </ns44:defRPr>
            </ns44:pPr>
            <ns44:r>
              <ns44:rPr sz="1050" b="0">
                <ns44:solidFill>
                  <ns44:srgbClr val="65727D"/>
                </ns44:solidFill>
                <ns44:latin typeface="Arial"/>
                <ns44:ea typeface="Arial"/>
                <ns44:cs typeface="Arial"/>
              </ns44:rPr>
              <ns44:t>Trading support</ns44:t>
            </ns44:r>
          </ns44:p>
        </p:txBody>
      </p:sp>
      <p:sp>
        <p:nvSpPr>
          <p:cNvPr id="9" name="map.task.client"/>
          <p:cNvSpPr/>
          <p:nvPr/>
        </p:nvSpPr>
        <p:spPr>
          <ns45:xfrm xmlns:ns45="http://schemas.openxmlformats.org/drawingml/2006/main">
            <ns45:off x="554400" y="2199600"/>
            <ns45:ext cx="1562400" cy="165600"/>
          </ns45:xfrm>
          <ns46:prstGeom xmlns:ns46="http://schemas.openxmlformats.org/drawingml/2006/main" prst="rect">
            <ns46:avLst/>
          </ns46:prstGeom>
          <ns47:noFill xmlns:ns47="http://schemas.openxmlformats.org/drawingml/2006/main"/>
          <ns48:ln xmlns:ns48="http://schemas.openxmlformats.org/drawingml/2006/main" w="0">
            <ns48:noFill/>
          </ns48:ln>
        </p:spPr>
        <p:txBody>
          <ns49:bodyPr xmlns:ns49="http://schemas.openxmlformats.org/drawingml/2006/main" wrap="square" lIns="0" rIns="0" tIns="0" bIns="0" anchor="t">
            <ns49:noAutofit/>
          </ns49:bodyPr>
          <ns50:lstStyle xmlns:ns50="http://schemas.openxmlformats.org/drawingml/2006/main"/>
          <ns51:p xmlns:ns51="http://schemas.openxmlformats.org/drawingml/2006/main">
            <ns51:pPr algn="l">
              <ns51:lnSpc>
                <ns51:spcPct val="105000"/>
              </ns51:lnSpc>
              <ns51:defRPr sz="1050" b="0">
                <ns51:solidFill>
                  <ns51:srgbClr val="65727D"/>
                </ns51:solidFill>
                <ns51:latin typeface="Arial"/>
                <ns51:ea typeface="Arial"/>
                <ns51:cs typeface="Arial"/>
              </ns51:defRPr>
            </ns51:pPr>
            <ns51:r>
              <ns51:rPr sz="1050" b="0">
                <ns51:solidFill>
                  <ns51:srgbClr val="65727D"/>
                </ns51:solidFill>
                <ns51:latin typeface="Arial"/>
                <ns51:ea typeface="Arial"/>
                <ns51:cs typeface="Arial"/>
              </ns51:rPr>
              <ns51:t>Client communications</ns51:t>
            </ns51:r>
          </ns51:p>
        </p:txBody>
      </p:sp>
      <p:sp>
        <p:nvSpPr>
          <p:cNvPr id="10" name="map.office.1"/>
          <p:cNvSpPr/>
          <p:nvPr/>
        </p:nvSpPr>
        <p:spPr>
          <ns52:xfrm xmlns:ns52="http://schemas.openxmlformats.org/drawingml/2006/main">
            <ns52:off x="486000" y="2548800"/>
            <ns52:ext cx="1692000" cy="180000"/>
          </ns52:xfrm>
          <ns53:prstGeom xmlns:ns53="http://schemas.openxmlformats.org/drawingml/2006/main" prst="rect">
            <ns53:avLst/>
          </ns53:prstGeom>
          <ns54:noFill xmlns:ns54="http://schemas.openxmlformats.org/drawingml/2006/main"/>
          <ns55:ln xmlns:ns55="http://schemas.openxmlformats.org/drawingml/2006/main" w="0">
            <ns55:noFill/>
          </ns55:ln>
        </p:spPr>
        <p:txBody>
          <ns56:bodyPr xmlns:ns56="http://schemas.openxmlformats.org/drawingml/2006/main" wrap="square" lIns="0" rIns="0" tIns="0" bIns="0" anchor="t">
            <ns56:noAutofit/>
          </ns56:bodyPr>
          <ns57:lstStyle xmlns:ns57="http://schemas.openxmlformats.org/drawingml/2006/main"/>
          <ns58:p xmlns:ns58="http://schemas.openxmlformats.org/drawingml/2006/main">
            <ns58:pPr algn="l">
              <ns58:lnSpc>
                <ns58:spcPct val="105000"/>
              </ns58:lnSpc>
              <ns58:defRPr sz="1100" b="1">
                <ns58:solidFill>
                  <ns58:srgbClr val="65727D"/>
                </ns58:solidFill>
                <ns58:latin typeface="Arial"/>
                <ns58:ea typeface="Arial"/>
                <ns58:cs typeface="Arial"/>
              </ns58:defRPr>
            </ns58:pPr>
            <ns58:r>
              <ns58:rPr sz="1100" b="1">
                <ns58:solidFill>
                  <ns58:srgbClr val="65727D"/>
                </ns58:solidFill>
                <ns58:latin typeface="Arial"/>
                <ns58:ea typeface="Arial"/>
                <ns58:cs typeface="Arial"/>
              </ns58:rPr>
              <ns58:t>Middle office</ns58:t>
            </ns58:r>
          </ns58:p>
        </p:txBody>
      </p:sp>
      <p:cxnSp>
        <p:nvCxnSpPr>
          <p:cNvPr id="11" name="map.office.rule.1"/>
          <p:cNvCxnSpPr/>
          <p:nvPr/>
        </p:nvCxnSpPr>
        <p:spPr>
          <ns59:xfrm xmlns:ns59="http://schemas.openxmlformats.org/drawingml/2006/main">
            <ns59:off x="457200" y="2768400"/>
            <ns59:ext cx="1742400" cy="1"/>
          </ns59:xfrm>
          <ns60:prstGeom xmlns:ns60="http://schemas.openxmlformats.org/drawingml/2006/main" prst="line">
            <ns60:avLst/>
          </ns60:prstGeom>
          <ns61:ln xmlns:ns61="http://schemas.openxmlformats.org/drawingml/2006/main" w="7620">
            <ns61:solidFill>
              <ns61:srgbClr val="CBD4DA"/>
            </ns61:solidFill>
          </ns61:ln>
        </p:spPr>
      </p:cxnSp>
      <p:sp>
        <p:nvSpPr>
          <p:cNvPr id="12" name="map.task.risk"/>
          <p:cNvSpPr/>
          <p:nvPr/>
        </p:nvSpPr>
        <p:spPr>
          <ns62:xfrm xmlns:ns62="http://schemas.openxmlformats.org/drawingml/2006/main">
            <ns62:off x="554400" y="2847600"/>
            <ns62:ext cx="1562400" cy="165600"/>
          </ns62:xfrm>
          <ns63:prstGeom xmlns:ns63="http://schemas.openxmlformats.org/drawingml/2006/main" prst="rect">
            <ns63:avLst/>
          </ns63:prstGeom>
          <ns64:noFill xmlns:ns64="http://schemas.openxmlformats.org/drawingml/2006/main"/>
          <ns65:ln xmlns:ns65="http://schemas.openxmlformats.org/drawingml/2006/main" w="0">
            <ns65:noFill/>
          </ns65:ln>
        </p:spPr>
        <p:txBody>
          <ns66:bodyPr xmlns:ns66="http://schemas.openxmlformats.org/drawingml/2006/main" wrap="square" lIns="0" rIns="0" tIns="0" bIns="0" anchor="t">
            <ns66:noAutofit/>
          </ns66:bodyPr>
          <ns67:lstStyle xmlns:ns67="http://schemas.openxmlformats.org/drawingml/2006/main"/>
          <ns68:p xmlns:ns68="http://schemas.openxmlformats.org/drawingml/2006/main">
            <ns68:pPr algn="l">
              <ns68:lnSpc>
                <ns68:spcPct val="105000"/>
              </ns68:lnSpc>
              <ns68:defRPr sz="1050" b="0">
                <ns68:solidFill>
                  <ns68:srgbClr val="65727D"/>
                </ns68:solidFill>
                <ns68:latin typeface="Arial"/>
                <ns68:ea typeface="Arial"/>
                <ns68:cs typeface="Arial"/>
              </ns68:defRPr>
            </ns68:pPr>
            <ns68:r>
              <ns68:rPr sz="1050" b="0">
                <ns68:solidFill>
                  <ns68:srgbClr val="65727D"/>
                </ns68:solidFill>
                <ns68:latin typeface="Arial"/>
                <ns68:ea typeface="Arial"/>
                <ns68:cs typeface="Arial"/>
              </ns68:rPr>
              <ns68:t>Risk analysis</ns68:t>
            </ns68:r>
          </ns68:p>
        </p:txBody>
      </p:sp>
      <p:sp>
        <p:nvSpPr>
          <p:cNvPr id="13" name="map.office.2"/>
          <p:cNvSpPr/>
          <p:nvPr/>
        </p:nvSpPr>
        <p:spPr>
          <ns69:xfrm xmlns:ns69="http://schemas.openxmlformats.org/drawingml/2006/main">
            <ns69:off x="486000" y="3391200"/>
            <ns69:ext cx="1692000" cy="180000"/>
          </ns69:xfrm>
          <ns70:prstGeom xmlns:ns70="http://schemas.openxmlformats.org/drawingml/2006/main" prst="rect">
            <ns70:avLst/>
          </ns70:prstGeom>
          <ns71:noFill xmlns:ns71="http://schemas.openxmlformats.org/drawingml/2006/main"/>
          <ns72:ln xmlns:ns72="http://schemas.openxmlformats.org/drawingml/2006/main" w="0">
            <ns72:noFill/>
          </ns72:ln>
        </p:spPr>
        <p:txBody>
          <ns73:bodyPr xmlns:ns73="http://schemas.openxmlformats.org/drawingml/2006/main" wrap="square" lIns="0" rIns="0" tIns="0" bIns="0" anchor="t">
            <ns73:noAutofit/>
          </ns73:bodyPr>
          <ns74:lstStyle xmlns:ns74="http://schemas.openxmlformats.org/drawingml/2006/main"/>
          <ns75:p xmlns:ns75="http://schemas.openxmlformats.org/drawingml/2006/main">
            <ns75:pPr algn="l">
              <ns75:lnSpc>
                <ns75:spcPct val="105000"/>
              </ns75:lnSpc>
              <ns75:defRPr sz="1100" b="1">
                <ns75:solidFill>
                  <ns75:srgbClr val="005A9C"/>
                </ns75:solidFill>
                <ns75:latin typeface="Arial"/>
                <ns75:ea typeface="Arial"/>
                <ns75:cs typeface="Arial"/>
              </ns75:defRPr>
            </ns75:pPr>
            <ns75:r>
              <ns75:rPr sz="1100" b="1">
                <ns75:solidFill>
                  <ns75:srgbClr val="005A9C"/>
                </ns75:solidFill>
                <ns75:latin typeface="Arial"/>
                <ns75:ea typeface="Arial"/>
                <ns75:cs typeface="Arial"/>
              </ns75:rPr>
              <ns75:t>Back office</ns75:t>
            </ns75:r>
          </ns75:p>
        </p:txBody>
      </p:sp>
      <p:cxnSp>
        <p:nvCxnSpPr>
          <p:cNvPr id="14" name="map.office.rule.2"/>
          <p:cNvCxnSpPr/>
          <p:nvPr/>
        </p:nvCxnSpPr>
        <p:spPr>
          <ns76:xfrm xmlns:ns76="http://schemas.openxmlformats.org/drawingml/2006/main">
            <ns76:off x="457200" y="3610800"/>
            <ns76:ext cx="1742400" cy="1"/>
          </ns76:xfrm>
          <ns77:prstGeom xmlns:ns77="http://schemas.openxmlformats.org/drawingml/2006/main" prst="line">
            <ns77:avLst/>
          </ns77:prstGeom>
          <ns78:ln xmlns:ns78="http://schemas.openxmlformats.org/drawingml/2006/main" w="7620">
            <ns78:solidFill>
              <ns78:srgbClr val="005A9C"/>
            </ns78:solidFill>
          </ns78:ln>
        </p:spPr>
      </p:cxnSp>
      <p:sp>
        <p:nvSpPr>
          <p:cNvPr id="15" name="map.task.records"/>
          <p:cNvSpPr/>
          <p:nvPr/>
        </p:nvSpPr>
        <p:spPr>
          <ns79:xfrm xmlns:ns79="http://schemas.openxmlformats.org/drawingml/2006/main">
            <ns79:off x="554400" y="3690000"/>
            <ns79:ext cx="1562400" cy="165600"/>
          </ns79:xfrm>
          <ns80:prstGeom xmlns:ns80="http://schemas.openxmlformats.org/drawingml/2006/main" prst="rect">
            <ns80:avLst/>
          </ns80:prstGeom>
          <ns81:noFill xmlns:ns81="http://schemas.openxmlformats.org/drawingml/2006/main"/>
          <ns82:ln xmlns:ns82="http://schemas.openxmlformats.org/drawingml/2006/main" w="0">
            <ns82:noFill/>
          </ns82:ln>
        </p:spPr>
        <p:txBody>
          <ns83:bodyPr xmlns:ns83="http://schemas.openxmlformats.org/drawingml/2006/main" wrap="square" lIns="0" rIns="0" tIns="0" bIns="0" anchor="t">
            <ns83:noAutofit/>
          </ns83:bodyPr>
          <ns84:lstStyle xmlns:ns84="http://schemas.openxmlformats.org/drawingml/2006/main"/>
          <ns85:p xmlns:ns85="http://schemas.openxmlformats.org/drawingml/2006/main">
            <ns85:pPr algn="l">
              <ns85:lnSpc>
                <ns85:spcPct val="105000"/>
              </ns85:lnSpc>
              <ns85:defRPr sz="1050" b="0">
                <ns85:solidFill>
                  <ns85:srgbClr val="65727D"/>
                </ns85:solidFill>
                <ns85:latin typeface="Arial"/>
                <ns85:ea typeface="Arial"/>
                <ns85:cs typeface="Arial"/>
              </ns85:defRPr>
            </ns85:pPr>
            <ns85:r>
              <ns85:rPr sz="1050" b="0">
                <ns85:solidFill>
                  <ns85:srgbClr val="65727D"/>
                </ns85:solidFill>
                <ns85:latin typeface="Arial"/>
                <ns85:ea typeface="Arial"/>
                <ns85:cs typeface="Arial"/>
              </ns85:rPr>
              <ns85:t>Record entry</ns85:t>
            </ns85:r>
          </ns85:p>
        </p:txBody>
      </p:sp>
      <p:sp>
        <p:nvSpPr>
          <p:cNvPr id="16" name="map.task.dev"/>
          <p:cNvSpPr/>
          <p:nvPr/>
        </p:nvSpPr>
        <p:spPr>
          <ns86:xfrm xmlns:ns86="http://schemas.openxmlformats.org/drawingml/2006/main">
            <ns86:off x="554400" y="3888000"/>
            <ns86:ext cx="1562400" cy="165600"/>
          </ns86:xfrm>
          <ns87:prstGeom xmlns:ns87="http://schemas.openxmlformats.org/drawingml/2006/main" prst="rect">
            <ns87:avLst/>
          </ns87:prstGeom>
          <ns88:noFill xmlns:ns88="http://schemas.openxmlformats.org/drawingml/2006/main"/>
          <ns89:ln xmlns:ns89="http://schemas.openxmlformats.org/drawingml/2006/main" w="0">
            <ns89:noFill/>
          </ns89:ln>
        </p:spPr>
        <p:txBody>
          <ns90:bodyPr xmlns:ns90="http://schemas.openxmlformats.org/drawingml/2006/main" wrap="square" lIns="0" rIns="0" tIns="0" bIns="0" anchor="t">
            <ns90:noAutofit/>
          </ns90:bodyPr>
          <ns91:lstStyle xmlns:ns91="http://schemas.openxmlformats.org/drawingml/2006/main"/>
          <ns92:p xmlns:ns92="http://schemas.openxmlformats.org/drawingml/2006/main">
            <ns92:pPr algn="l">
              <ns92:lnSpc>
                <ns92:spcPct val="105000"/>
              </ns92:lnSpc>
              <ns92:defRPr sz="1050" b="0">
                <ns92:solidFill>
                  <ns92:srgbClr val="65727D"/>
                </ns92:solidFill>
                <ns92:latin typeface="Arial"/>
                <ns92:ea typeface="Arial"/>
                <ns92:cs typeface="Arial"/>
              </ns92:defRPr>
            </ns92:pPr>
            <ns92:r>
              <ns92:rPr sz="1050" b="0">
                <ns92:solidFill>
                  <ns92:srgbClr val="65727D"/>
                </ns92:solidFill>
                <ns92:latin typeface="Arial"/>
                <ns92:ea typeface="Arial"/>
                <ns92:cs typeface="Arial"/>
              </ns92:rPr>
              <ns92:t>Tool development</ns92:t>
            </ns92:r>
          </ns92:p>
        </p:txBody>
      </p:sp>
      <p:sp>
        <p:nvSpPr>
          <p:cNvPr id="17" name="other.employee.attribution"/>
          <p:cNvSpPr/>
          <p:nvPr/>
        </p:nvSpPr>
        <p:spPr>
          <ns107:xfrm xmlns:ns107="http://schemas.openxmlformats.org/drawingml/2006/main">
            <ns107:off x="2422800" y="1440000"/>
            <ns107:ext cx="6264000" cy="198000"/>
          </ns107:xfrm>
          <ns108:prstGeom xmlns:ns108="http://schemas.openxmlformats.org/drawingml/2006/main" prst="rect">
            <ns108:avLst/>
          </ns108:prstGeom>
          <ns109:noFill xmlns:ns109="http://schemas.openxmlformats.org/drawingml/2006/main"/>
          <ns110:ln xmlns:ns110="http://schemas.openxmlformats.org/drawingml/2006/main" w="0">
            <ns110:noFill/>
          </ns110:ln>
        </p:spPr>
        <p:txBody>
          <ns111:bodyPr xmlns:ns111="http://schemas.openxmlformats.org/drawingml/2006/main" wrap="square" lIns="0" rIns="0" tIns="0" bIns="0" anchor="t">
            <ns111:noAutofit/>
          </ns111:bodyPr>
          <ns112:lstStyle xmlns:ns112="http://schemas.openxmlformats.org/drawingml/2006/main"/>
          <ns113:p xmlns:ns113="http://schemas.openxmlformats.org/drawingml/2006/main">
            <ns113:pPr algn="l">
              <ns113:lnSpc>
                <ns113:spcPct val="105000"/>
              </ns113:lnSpc>
              <ns113:defRPr sz="1150" b="0">
                <ns113:solidFill>
                  <ns113:srgbClr val="005A9C"/>
                </ns113:solidFill>
                <ns113:latin typeface="Arial"/>
                <ns113:ea typeface="Arial"/>
                <ns113:cs typeface="Arial"/>
              </ns113:defRPr>
            </ns113:pPr>
            <ns113:r>
              <ns113:rPr sz="1150" b="0">
                <ns113:solidFill>
                  <ns113:srgbClr val="005A9C"/>
                </ns113:solidFill>
                <ns113:latin typeface="Arial"/>
                <ns113:ea typeface="Arial"/>
                <ns113:cs typeface="Arial"/>
              </ns113:rPr>
              <ns113:t>Employee support: China Merchants Fund / Ping An Fund</ns113:t>
            </ns113:r>
          </ns113:p>
        </p:txBody>
      </p:sp>
      <p:sp>
        <p:nvSpPr>
          <p:cNvPr id="18" name="other.employee.0"/>
          <p:cNvSpPr/>
          <p:nvPr/>
        </p:nvSpPr>
        <p:spPr>
          <ns114:xfrm xmlns:ns114="http://schemas.openxmlformats.org/drawingml/2006/main">
            <ns114:off x="2422800" y="1699200"/>
            <ns114:ext cx="1620000" cy="594000"/>
          </ns114:xfrm>
          <ns115:prstGeom xmlns:ns115="http://schemas.openxmlformats.org/drawingml/2006/main" prst="roundRect">
            <ns115:avLst/>
          </ns115:prstGeom>
          <ns116:solidFill xmlns:ns116="http://schemas.openxmlformats.org/drawingml/2006/main">
            <ns116:srgbClr val="F3F7FA"/>
          </ns116:solidFill>
          <ns117:ln xmlns:ns117="http://schemas.openxmlformats.org/drawingml/2006/main" w="9525">
            <ns117:solidFill>
              <ns117:srgbClr val="65727D"/>
            </ns117:solidFill>
          </ns117:ln>
        </p:spPr>
        <p:txBody>
          <ns118:bodyPr xmlns:ns118="http://schemas.openxmlformats.org/drawingml/2006/main" wrap="square" lIns="61200" rIns="61200" tIns="61200" bIns="61200" anchor="ctr">
            <ns118:noAutofit/>
          </ns118:bodyPr>
          <ns119:lstStyle xmlns:ns119="http://schemas.openxmlformats.org/drawingml/2006/main"/>
          <ns120:p xmlns:ns120="http://schemas.openxmlformats.org/drawingml/2006/main">
            <ns120:pPr algn="l">
              <ns120:lnSpc>
                <ns120:spcPct val="105000"/>
              </ns120:lnSpc>
              <ns120:defRPr sz="1300" b="1">
                <ns120:solidFill>
                  <ns120:srgbClr val="65727D"/>
                </ns120:solidFill>
                <ns120:latin typeface="Arial"/>
                <ns120:ea typeface="Arial"/>
                <ns120:cs typeface="Arial"/>
              </ns120:defRPr>
            </ns120:pPr>
            <ns120:r>
              <ns120:rPr sz="1300" b="1">
                <ns120:solidFill>
                  <ns120:srgbClr val="65727D"/>
                </ns120:solidFill>
                <ns120:latin typeface="Arial"/>
                <ns120:ea typeface="Arial"/>
                <ns120:cs typeface="Arial"/>
              </ns120:rPr>
              <ns120:t>Employee asks</ns120:t>
            </ns120:r>
          </ns120:p>
          <ns121:p xmlns:ns121="http://schemas.openxmlformats.org/drawingml/2006/main">
            <ns121:pPr algn="l">
              <ns121:lnSpc>
                <ns121:spcPct val="105000"/>
              </ns121:lnSpc>
              <ns121:defRPr sz="1100" b="0">
                <ns121:solidFill>
                  <ns121:srgbClr val="20262C"/>
                </ns121:solidFill>
                <ns121:latin typeface="Arial"/>
                <ns121:ea typeface="Arial"/>
                <ns121:cs typeface="Arial"/>
              </ns121:defRPr>
            </ns121:pPr>
            <ns121:r>
              <ns121:rPr sz="1100" b="0">
                <ns121:solidFill>
                  <ns121:srgbClr val="20262C"/>
                </ns121:solidFill>
                <ns121:latin typeface="Arial"/>
                <ns121:ea typeface="Arial"/>
                <ns121:cs typeface="Arial"/>
              </ns121:rPr>
              <ns121:t>Policy / process</ns121:t>
            </ns121:r>
          </ns121:p>
        </p:txBody>
      </p:sp>
      <p:cxnSp>
        <p:nvCxnSpPr>
          <p:cNvPr id="19" name="other.employee.flow.0"/>
          <p:cNvCxnSpPr/>
          <p:nvPr/>
        </p:nvCxnSpPr>
        <p:spPr>
          <ns122:xfrm xmlns:ns122="http://schemas.openxmlformats.org/drawingml/2006/main">
            <ns122:off x="4078800" y="1996200"/>
            <ns122:ext cx="277200" cy="1"/>
          </ns122:xfrm>
          <ns123:prstGeom xmlns:ns123="http://schemas.openxmlformats.org/drawingml/2006/main" prst="line">
            <ns123:avLst/>
          </ns123:prstGeom>
          <ns124:ln xmlns:ns124="http://schemas.openxmlformats.org/drawingml/2006/main" w="11430">
            <ns124:solidFill>
              <ns124:srgbClr val="005A9C"/>
            </ns124:solidFill>
            <ns124:tailEnd type="triangle" w="sm" len="sm"/>
          </ns124:ln>
        </p:spPr>
      </p:cxnSp>
      <p:sp>
        <p:nvSpPr>
          <p:cNvPr id="20" name="other.employee.1"/>
          <p:cNvSpPr/>
          <p:nvPr/>
        </p:nvSpPr>
        <p:spPr>
          <ns125:xfrm xmlns:ns125="http://schemas.openxmlformats.org/drawingml/2006/main">
            <ns125:off x="4392000" y="1699200"/>
            <ns125:ext cx="1458000" cy="594000"/>
          </ns125:xfrm>
          <ns126:prstGeom xmlns:ns126="http://schemas.openxmlformats.org/drawingml/2006/main" prst="roundRect">
            <ns126:avLst/>
          </ns126:prstGeom>
          <ns127:solidFill xmlns:ns127="http://schemas.openxmlformats.org/drawingml/2006/main">
            <ns127:srgbClr val="EAF3FA"/>
          </ns127:solidFill>
          <ns128:ln xmlns:ns128="http://schemas.openxmlformats.org/drawingml/2006/main" w="9525">
            <ns128:solidFill>
              <ns128:srgbClr val="005A9C"/>
            </ns128:solidFill>
          </ns128:ln>
        </p:spPr>
        <p:txBody>
          <ns129:bodyPr xmlns:ns129="http://schemas.openxmlformats.org/drawingml/2006/main" wrap="square" lIns="61200" rIns="61200" tIns="61200" bIns="61200" anchor="ctr">
            <ns129:noAutofit/>
          </ns129:bodyPr>
          <ns130:lstStyle xmlns:ns130="http://schemas.openxmlformats.org/drawingml/2006/main"/>
          <ns131:p xmlns:ns131="http://schemas.openxmlformats.org/drawingml/2006/main">
            <ns131:pPr algn="l">
              <ns131:lnSpc>
                <ns131:spcPct val="105000"/>
              </ns131:lnSpc>
              <ns131:defRPr sz="1300" b="1">
                <ns131:solidFill>
                  <ns131:srgbClr val="005A9C"/>
                </ns131:solidFill>
                <ns131:latin typeface="Arial"/>
                <ns131:ea typeface="Arial"/>
                <ns131:cs typeface="Arial"/>
              </ns131:defRPr>
            </ns131:pPr>
            <ns131:r>
              <ns131:rPr sz="1300" b="1">
                <ns131:solidFill>
                  <ns131:srgbClr val="005A9C"/>
                </ns131:solidFill>
                <ns131:latin typeface="Arial"/>
                <ns131:ea typeface="Arial"/>
                <ns131:cs typeface="Arial"/>
              </ns131:rPr>
              <ns131:t>LLM</ns131:t>
            </ns131:r>
          </ns131:p>
          <ns132:p xmlns:ns132="http://schemas.openxmlformats.org/drawingml/2006/main">
            <ns132:pPr algn="l">
              <ns132:lnSpc>
                <ns132:spcPct val="105000"/>
              </ns132:lnSpc>
              <ns132:defRPr sz="1100" b="0">
                <ns132:solidFill>
                  <ns132:srgbClr val="20262C"/>
                </ns132:solidFill>
                <ns132:latin typeface="Arial"/>
                <ns132:ea typeface="Arial"/>
                <ns132:cs typeface="Arial"/>
              </ns132:defRPr>
            </ns132:pPr>
            <ns132:r>
              <ns132:rPr sz="1100" b="0">
                <ns132:solidFill>
                  <ns132:srgbClr val="20262C"/>
                </ns132:solidFill>
                <ns132:latin typeface="Arial"/>
                <ns132:ea typeface="Arial"/>
                <ns132:cs typeface="Arial"/>
              </ns132:rPr>
              <ns132:t>Retrieve / explain</ns132:t>
            </ns132:r>
          </ns132:p>
        </p:txBody>
      </p:sp>
      <p:cxnSp>
        <p:nvCxnSpPr>
          <p:cNvPr id="21" name="other.employee.flow.1"/>
          <p:cNvCxnSpPr/>
          <p:nvPr/>
        </p:nvCxnSpPr>
        <p:spPr>
          <ns133:xfrm xmlns:ns133="http://schemas.openxmlformats.org/drawingml/2006/main">
            <ns133:off x="5886000" y="1996200"/>
            <ns133:ext cx="205200" cy="1"/>
          </ns133:xfrm>
          <ns134:prstGeom xmlns:ns134="http://schemas.openxmlformats.org/drawingml/2006/main" prst="line">
            <ns134:avLst/>
          </ns134:prstGeom>
          <ns135:ln xmlns:ns135="http://schemas.openxmlformats.org/drawingml/2006/main" w="11430">
            <ns135:solidFill>
              <ns135:srgbClr val="005A9C"/>
            </ns135:solidFill>
            <ns135:tailEnd type="triangle" w="sm" len="sm"/>
          </ns135:ln>
        </p:spPr>
      </p:cxnSp>
      <p:sp>
        <p:nvSpPr>
          <p:cNvPr id="22" name="other.employee.2"/>
          <p:cNvSpPr/>
          <p:nvPr/>
        </p:nvSpPr>
        <p:spPr>
          <ns136:xfrm xmlns:ns136="http://schemas.openxmlformats.org/drawingml/2006/main">
            <ns136:off x="6127200" y="1699200"/>
            <ns136:ext cx="2559600" cy="594000"/>
          </ns136:xfrm>
          <ns137:prstGeom xmlns:ns137="http://schemas.openxmlformats.org/drawingml/2006/main" prst="rect">
            <ns137:avLst/>
          </ns137:prstGeom>
          <ns138:solidFill xmlns:ns138="http://schemas.openxmlformats.org/drawingml/2006/main">
            <ns138:srgbClr val="F3F7FA"/>
          </ns138:solidFill>
          <ns139:ln xmlns:ns139="http://schemas.openxmlformats.org/drawingml/2006/main" w="9525">
            <ns139:solidFill>
              <ns139:srgbClr val="65727D"/>
            </ns139:solidFill>
          </ns139:ln>
        </p:spPr>
        <p:txBody>
          <ns140:bodyPr xmlns:ns140="http://schemas.openxmlformats.org/drawingml/2006/main" wrap="square" lIns="61200" rIns="61200" tIns="61200" bIns="61200" anchor="ctr">
            <ns140:noAutofit/>
          </ns140:bodyPr>
          <ns141:lstStyle xmlns:ns141="http://schemas.openxmlformats.org/drawingml/2006/main"/>
          <ns142:p xmlns:ns142="http://schemas.openxmlformats.org/drawingml/2006/main">
            <ns142:pPr algn="l">
              <ns142:lnSpc>
                <ns142:spcPct val="105000"/>
              </ns142:lnSpc>
              <ns142:defRPr sz="1300" b="1">
                <ns142:solidFill>
                  <ns142:srgbClr val="65727D"/>
                </ns142:solidFill>
                <ns142:latin typeface="Arial"/>
                <ns142:ea typeface="Arial"/>
                <ns142:cs typeface="Arial"/>
              </ns142:defRPr>
            </ns142:pPr>
            <ns142:r>
              <ns142:rPr sz="1300" b="1">
                <ns142:solidFill>
                  <ns142:srgbClr val="65727D"/>
                </ns142:solidFill>
                <ns142:latin typeface="Arial"/>
                <ns142:ea typeface="Arial"/>
                <ns142:cs typeface="Arial"/>
              </ns142:rPr>
              <ns142:t>Employee guidance</ns142:t>
            </ns142:r>
          </ns142:p>
        </p:txBody>
      </p:sp>
      <p:sp>
        <p:nvSpPr>
          <p:cNvPr id="23" name="other.security.attribution"/>
          <p:cNvSpPr/>
          <p:nvPr/>
        </p:nvSpPr>
        <p:spPr>
          <ns143:xfrm xmlns:ns143="http://schemas.openxmlformats.org/drawingml/2006/main">
            <ns143:off x="2422800" y="2422800"/>
            <ns143:ext cx="6264000" cy="198000"/>
          </ns143:xfrm>
          <ns144:prstGeom xmlns:ns144="http://schemas.openxmlformats.org/drawingml/2006/main" prst="rect">
            <ns144:avLst/>
          </ns144:prstGeom>
          <ns145:noFill xmlns:ns145="http://schemas.openxmlformats.org/drawingml/2006/main"/>
          <ns146:ln xmlns:ns146="http://schemas.openxmlformats.org/drawingml/2006/main" w="0">
            <ns146:noFill/>
          </ns146:ln>
        </p:spPr>
        <p:txBody>
          <ns147:bodyPr xmlns:ns147="http://schemas.openxmlformats.org/drawingml/2006/main" wrap="square" lIns="0" rIns="0" tIns="0" bIns="0" anchor="t">
            <ns147:noAutofit/>
          </ns147:bodyPr>
          <ns148:lstStyle xmlns:ns148="http://schemas.openxmlformats.org/drawingml/2006/main"/>
          <ns149:p xmlns:ns149="http://schemas.openxmlformats.org/drawingml/2006/main">
            <ns149:pPr algn="l">
              <ns149:lnSpc>
                <ns149:spcPct val="105000"/>
              </ns149:lnSpc>
              <ns149:defRPr sz="1150" b="0">
                <ns149:solidFill>
                  <ns149:srgbClr val="005A9C"/>
                </ns149:solidFill>
                <ns149:latin typeface="Arial"/>
                <ns149:ea typeface="Arial"/>
                <ns149:cs typeface="Arial"/>
              </ns149:defRPr>
            </ns149:pPr>
            <ns149:r>
              <ns149:rPr sz="1150" b="0">
                <ns149:solidFill>
                  <ns149:srgbClr val="005A9C"/>
                </ns149:solidFill>
                <ns149:latin typeface="Arial"/>
                <ns149:ea typeface="Arial"/>
                <ns149:cs typeface="Arial"/>
              </ns149:rPr>
              <ns149:t>Email security: Maxwealth Fund</ns149:t>
            </ns149:r>
          </ns149:p>
        </p:txBody>
      </p:sp>
      <p:sp>
        <p:nvSpPr>
          <p:cNvPr id="24" name="other.security.0"/>
          <p:cNvSpPr/>
          <p:nvPr/>
        </p:nvSpPr>
        <p:spPr>
          <ns150:xfrm xmlns:ns150="http://schemas.openxmlformats.org/drawingml/2006/main">
            <ns150:off x="2422800" y="2682000"/>
            <ns150:ext cx="1332000" cy="594000"/>
          </ns150:xfrm>
          <ns151:prstGeom xmlns:ns151="http://schemas.openxmlformats.org/drawingml/2006/main" prst="rect">
            <ns151:avLst/>
          </ns151:prstGeom>
          <ns152:solidFill xmlns:ns152="http://schemas.openxmlformats.org/drawingml/2006/main">
            <ns152:srgbClr val="F3F7FA"/>
          </ns152:solidFill>
          <ns153:ln xmlns:ns153="http://schemas.openxmlformats.org/drawingml/2006/main" w="9525">
            <ns153:solidFill>
              <ns153:srgbClr val="65727D"/>
            </ns153:solidFill>
          </ns153:ln>
        </p:spPr>
        <p:txBody>
          <ns154:bodyPr xmlns:ns154="http://schemas.openxmlformats.org/drawingml/2006/main" wrap="square" lIns="61200" rIns="61200" tIns="61200" bIns="61200" anchor="ctr">
            <ns154:noAutofit/>
          </ns154:bodyPr>
          <ns155:lstStyle xmlns:ns155="http://schemas.openxmlformats.org/drawingml/2006/main"/>
          <ns156:p xmlns:ns156="http://schemas.openxmlformats.org/drawingml/2006/main">
            <ns156:pPr algn="l">
              <ns156:lnSpc>
                <ns156:spcPct val="105000"/>
              </ns156:lnSpc>
              <ns156:defRPr sz="1300" b="1">
                <ns156:solidFill>
                  <ns156:srgbClr val="65727D"/>
                </ns156:solidFill>
                <ns156:latin typeface="Arial"/>
                <ns156:ea typeface="Arial"/>
                <ns156:cs typeface="Arial"/>
              </ns156:defRPr>
            </ns156:pPr>
            <ns156:r>
              <ns156:rPr sz="1300" b="1">
                <ns156:solidFill>
                  <ns156:srgbClr val="65727D"/>
                </ns156:solidFill>
                <ns156:latin typeface="Arial"/>
                <ns156:ea typeface="Arial"/>
                <ns156:cs typeface="Arial"/>
              </ns156:rPr>
              <ns156:t>Email / links</ns156:t>
            </ns156:r>
          </ns156:p>
          <ns157:p xmlns:ns157="http://schemas.openxmlformats.org/drawingml/2006/main">
            <ns157:pPr algn="l">
              <ns157:lnSpc>
                <ns157:spcPct val="105000"/>
              </ns157:lnSpc>
              <ns157:defRPr sz="1050" b="0">
                <ns157:solidFill>
                  <ns157:srgbClr val="20262C"/>
                </ns157:solidFill>
                <ns157:latin typeface="Arial"/>
                <ns157:ea typeface="Arial"/>
                <ns157:cs typeface="Arial"/>
              </ns157:defRPr>
            </ns157:pPr>
            <ns157:r>
              <ns157:rPr sz="1050" b="0">
                <ns157:solidFill>
                  <ns157:srgbClr val="20262C"/>
                </ns157:solidFill>
                <ns157:latin typeface="Arial"/>
                <ns157:ea typeface="Arial"/>
                <ns157:cs typeface="Arial"/>
              </ns157:rPr>
              <ns157:t>Attachments</ns157:t>
            </ns157:r>
          </ns157:p>
        </p:txBody>
      </p:sp>
      <p:cxnSp>
        <p:nvCxnSpPr>
          <p:cNvPr id="25" name="other.security.flow.0"/>
          <p:cNvCxnSpPr/>
          <p:nvPr/>
        </p:nvCxnSpPr>
        <p:spPr>
          <ns158:xfrm xmlns:ns158="http://schemas.openxmlformats.org/drawingml/2006/main">
            <ns158:off x="3790800" y="2979000"/>
            <ns158:ext cx="223200" cy="1"/>
          </ns158:xfrm>
          <ns159:prstGeom xmlns:ns159="http://schemas.openxmlformats.org/drawingml/2006/main" prst="line">
            <ns159:avLst/>
          </ns159:prstGeom>
          <ns160:ln xmlns:ns160="http://schemas.openxmlformats.org/drawingml/2006/main" w="11430">
            <ns160:solidFill>
              <ns160:srgbClr val="005A9C"/>
            </ns160:solidFill>
            <ns160:tailEnd type="triangle" w="sm" len="sm"/>
          </ns160:ln>
        </p:spPr>
      </p:cxnSp>
      <p:sp>
        <p:nvSpPr>
          <p:cNvPr id="26" name="other.security.1"/>
          <p:cNvSpPr/>
          <p:nvPr/>
        </p:nvSpPr>
        <p:spPr>
          <ns161:xfrm xmlns:ns161="http://schemas.openxmlformats.org/drawingml/2006/main">
            <ns161:off x="4050000" y="2682000"/>
            <ns161:ext cx="1332000" cy="594000"/>
          </ns161:xfrm>
          <ns162:prstGeom xmlns:ns162="http://schemas.openxmlformats.org/drawingml/2006/main" prst="roundRect">
            <ns162:avLst/>
          </ns162:prstGeom>
          <ns163:solidFill xmlns:ns163="http://schemas.openxmlformats.org/drawingml/2006/main">
            <ns163:srgbClr val="EAF3FA"/>
          </ns163:solidFill>
          <ns164:ln xmlns:ns164="http://schemas.openxmlformats.org/drawingml/2006/main" w="9525">
            <ns164:solidFill>
              <ns164:srgbClr val="005A9C"/>
            </ns164:solidFill>
          </ns164:ln>
        </p:spPr>
        <p:txBody>
          <ns165:bodyPr xmlns:ns165="http://schemas.openxmlformats.org/drawingml/2006/main" wrap="square" lIns="61200" rIns="61200" tIns="61200" bIns="61200" anchor="ctr">
            <ns165:noAutofit/>
          </ns165:bodyPr>
          <ns166:lstStyle xmlns:ns166="http://schemas.openxmlformats.org/drawingml/2006/main"/>
          <ns167:p xmlns:ns167="http://schemas.openxmlformats.org/drawingml/2006/main">
            <ns167:pPr algn="l">
              <ns167:lnSpc>
                <ns167:spcPct val="105000"/>
              </ns167:lnSpc>
              <ns167:defRPr sz="1300" b="1">
                <ns167:solidFill>
                  <ns167:srgbClr val="005A9C"/>
                </ns167:solidFill>
                <ns167:latin typeface="Arial"/>
                <ns167:ea typeface="Arial"/>
                <ns167:cs typeface="Arial"/>
              </ns167:defRPr>
            </ns167:pPr>
            <ns167:r>
              <ns167:rPr sz="1300" b="1">
                <ns167:solidFill>
                  <ns167:srgbClr val="005A9C"/>
                </ns167:solidFill>
                <ns167:latin typeface="Arial"/>
                <ns167:ea typeface="Arial"/>
                <ns167:cs typeface="Arial"/>
              </ns167:rPr>
              <ns167:t>LLM</ns167:t>
            </ns167:r>
          </ns167:p>
          <ns168:p xmlns:ns168="http://schemas.openxmlformats.org/drawingml/2006/main">
            <ns168:pPr algn="l">
              <ns168:lnSpc>
                <ns168:spcPct val="105000"/>
              </ns168:lnSpc>
              <ns168:defRPr sz="1050" b="0">
                <ns168:solidFill>
                  <ns168:srgbClr val="20262C"/>
                </ns168:solidFill>
                <ns168:latin typeface="Arial"/>
                <ns168:ea typeface="Arial"/>
                <ns168:cs typeface="Arial"/>
              </ns168:defRPr>
            </ns168:pPr>
            <ns168:r>
              <ns168:rPr sz="1050" b="0">
                <ns168:solidFill>
                  <ns168:srgbClr val="20262C"/>
                </ns168:solidFill>
                <ns168:latin typeface="Arial"/>
                <ns168:ea typeface="Arial"/>
                <ns168:cs typeface="Arial"/>
              </ns168:rPr>
              <ns168:t>Context / intent</ns168:t>
            </ns168:r>
          </ns168:p>
        </p:txBody>
      </p:sp>
      <p:cxnSp>
        <p:nvCxnSpPr>
          <p:cNvPr id="27" name="other.security.flow.1"/>
          <p:cNvCxnSpPr/>
          <p:nvPr/>
        </p:nvCxnSpPr>
        <p:spPr>
          <ns169:xfrm xmlns:ns169="http://schemas.openxmlformats.org/drawingml/2006/main">
            <ns169:off x="5418000" y="2979000"/>
            <ns169:ext cx="223200" cy="1"/>
          </ns169:xfrm>
          <ns170:prstGeom xmlns:ns170="http://schemas.openxmlformats.org/drawingml/2006/main" prst="line">
            <ns170:avLst/>
          </ns170:prstGeom>
          <ns171:ln xmlns:ns171="http://schemas.openxmlformats.org/drawingml/2006/main" w="11430">
            <ns171:solidFill>
              <ns171:srgbClr val="005A9C"/>
            </ns171:solidFill>
            <ns171:tailEnd type="triangle" w="sm" len="sm"/>
          </ns171:ln>
        </p:spPr>
      </p:cxnSp>
      <p:sp>
        <p:nvSpPr>
          <p:cNvPr id="28" name="other.security.2"/>
          <p:cNvSpPr/>
          <p:nvPr/>
        </p:nvSpPr>
        <p:spPr>
          <ns172:xfrm xmlns:ns172="http://schemas.openxmlformats.org/drawingml/2006/main">
            <ns172:off x="5677200" y="2682000"/>
            <ns172:ext cx="1332000" cy="594000"/>
          </ns172:xfrm>
          <ns173:prstGeom xmlns:ns173="http://schemas.openxmlformats.org/drawingml/2006/main" prst="roundRect">
            <ns173:avLst/>
          </ns173:prstGeom>
          <ns174:solidFill xmlns:ns174="http://schemas.openxmlformats.org/drawingml/2006/main">
            <ns174:srgbClr val="F3F7FA"/>
          </ns174:solidFill>
          <ns175:ln xmlns:ns175="http://schemas.openxmlformats.org/drawingml/2006/main" w="9525">
            <ns175:solidFill>
              <ns175:srgbClr val="65727D"/>
            </ns175:solidFill>
          </ns175:ln>
        </p:spPr>
        <p:txBody>
          <ns176:bodyPr xmlns:ns176="http://schemas.openxmlformats.org/drawingml/2006/main" wrap="square" lIns="61200" rIns="61200" tIns="61200" bIns="61200" anchor="ctr">
            <ns176:noAutofit/>
          </ns176:bodyPr>
          <ns177:lstStyle xmlns:ns177="http://schemas.openxmlformats.org/drawingml/2006/main"/>
          <ns178:p xmlns:ns178="http://schemas.openxmlformats.org/drawingml/2006/main">
            <ns178:pPr algn="l">
              <ns178:lnSpc>
                <ns178:spcPct val="105000"/>
              </ns178:lnSpc>
              <ns178:defRPr sz="1300" b="1">
                <ns178:solidFill>
                  <ns178:srgbClr val="65727D"/>
                </ns178:solidFill>
                <ns178:latin typeface="Arial"/>
                <ns178:ea typeface="Arial"/>
                <ns178:cs typeface="Arial"/>
              </ns178:defRPr>
            </ns178:pPr>
            <ns178:r>
              <ns178:rPr sz="1300" b="1">
                <ns178:solidFill>
                  <ns178:srgbClr val="65727D"/>
                </ns178:solidFill>
                <ns178:latin typeface="Arial"/>
                <ns178:ea typeface="Arial"/>
                <ns178:cs typeface="Arial"/>
              </ns178:rPr>
              <ns178:t>Detection tools</ns178:t>
            </ns178:r>
          </ns178:p>
        </p:txBody>
      </p:sp>
      <p:cxnSp>
        <p:nvCxnSpPr>
          <p:cNvPr id="29" name="other.security.flow.2"/>
          <p:cNvCxnSpPr/>
          <p:nvPr/>
        </p:nvCxnSpPr>
        <p:spPr>
          <ns179:xfrm xmlns:ns179="http://schemas.openxmlformats.org/drawingml/2006/main">
            <ns179:off x="7045200" y="2979000"/>
            <ns179:ext cx="223200" cy="1"/>
          </ns179:xfrm>
          <ns180:prstGeom xmlns:ns180="http://schemas.openxmlformats.org/drawingml/2006/main" prst="line">
            <ns180:avLst/>
          </ns180:prstGeom>
          <ns181:ln xmlns:ns181="http://schemas.openxmlformats.org/drawingml/2006/main" w="11430">
            <ns181:solidFill>
              <ns181:srgbClr val="005A9C"/>
            </ns181:solidFill>
            <ns181:tailEnd type="triangle" w="sm" len="sm"/>
          </ns181:ln>
        </p:spPr>
      </p:cxnSp>
      <p:sp>
        <p:nvSpPr>
          <p:cNvPr id="30" name="other.security.3"/>
          <p:cNvSpPr/>
          <p:nvPr/>
        </p:nvSpPr>
        <p:spPr>
          <ns182:xfrm xmlns:ns182="http://schemas.openxmlformats.org/drawingml/2006/main">
            <ns182:off x="7304400" y="2682000"/>
            <ns182:ext cx="1382400" cy="594000"/>
          </ns182:xfrm>
          <ns183:prstGeom xmlns:ns183="http://schemas.openxmlformats.org/drawingml/2006/main" prst="rect">
            <ns183:avLst/>
          </ns183:prstGeom>
          <ns184:solidFill xmlns:ns184="http://schemas.openxmlformats.org/drawingml/2006/main">
            <ns184:srgbClr val="F3F7FA"/>
          </ns184:solidFill>
          <ns185:ln xmlns:ns185="http://schemas.openxmlformats.org/drawingml/2006/main" w="9525">
            <ns185:solidFill>
              <ns185:srgbClr val="65727D"/>
            </ns185:solidFill>
          </ns185:ln>
        </p:spPr>
        <p:txBody>
          <ns186:bodyPr xmlns:ns186="http://schemas.openxmlformats.org/drawingml/2006/main" wrap="square" lIns="61200" rIns="61200" tIns="61200" bIns="61200" anchor="ctr">
            <ns186:noAutofit/>
          </ns186:bodyPr>
          <ns187:lstStyle xmlns:ns187="http://schemas.openxmlformats.org/drawingml/2006/main"/>
          <ns188:p xmlns:ns188="http://schemas.openxmlformats.org/drawingml/2006/main">
            <ns188:pPr algn="l">
              <ns188:lnSpc>
                <ns188:spcPct val="105000"/>
              </ns188:lnSpc>
              <ns188:defRPr sz="1300" b="1">
                <ns188:solidFill>
                  <ns188:srgbClr val="65727D"/>
                </ns188:solidFill>
                <ns188:latin typeface="Arial"/>
                <ns188:ea typeface="Arial"/>
                <ns188:cs typeface="Arial"/>
              </ns188:defRPr>
            </ns188:pPr>
            <ns188:r>
              <ns188:rPr sz="1300" b="1">
                <ns188:solidFill>
                  <ns188:srgbClr val="65727D"/>
                </ns188:solidFill>
                <ns188:latin typeface="Arial"/>
                <ns188:ea typeface="Arial"/>
                <ns188:cs typeface="Arial"/>
              </ns188:rPr>
              <ns188:t>Security response</ns188:t>
            </ns188:r>
          </ns188:p>
        </p:txBody>
      </p:sp>
      <p:sp>
        <p:nvSpPr>
          <p:cNvPr id="31" name="other.analytics.attribution"/>
          <p:cNvSpPr/>
          <p:nvPr/>
        </p:nvSpPr>
        <p:spPr>
          <ns189:xfrm xmlns:ns189="http://schemas.openxmlformats.org/drawingml/2006/main">
            <ns189:off x="2422800" y="3409200"/>
            <ns189:ext cx="6264000" cy="198000"/>
          </ns189:xfrm>
          <ns190:prstGeom xmlns:ns190="http://schemas.openxmlformats.org/drawingml/2006/main" prst="rect">
            <ns190:avLst/>
          </ns190:prstGeom>
          <ns191:noFill xmlns:ns191="http://schemas.openxmlformats.org/drawingml/2006/main"/>
          <ns192:ln xmlns:ns192="http://schemas.openxmlformats.org/drawingml/2006/main" w="0">
            <ns192:noFill/>
          </ns192:ln>
        </p:spPr>
        <p:txBody>
          <ns193:bodyPr xmlns:ns193="http://schemas.openxmlformats.org/drawingml/2006/main" wrap="square" lIns="0" rIns="0" tIns="0" bIns="0" anchor="t">
            <ns193:noAutofit/>
          </ns193:bodyPr>
          <ns194:lstStyle xmlns:ns194="http://schemas.openxmlformats.org/drawingml/2006/main"/>
          <ns195:p xmlns:ns195="http://schemas.openxmlformats.org/drawingml/2006/main">
            <ns195:pPr algn="l">
              <ns195:lnSpc>
                <ns195:spcPct val="105000"/>
              </ns195:lnSpc>
              <ns195:defRPr sz="1150" b="0">
                <ns195:solidFill>
                  <ns195:srgbClr val="005A9C"/>
                </ns195:solidFill>
                <ns195:latin typeface="Arial"/>
                <ns195:ea typeface="Arial"/>
                <ns195:cs typeface="Arial"/>
              </ns195:defRPr>
            </ns195:pPr>
            <ns195:r>
              <ns195:rPr sz="1150" b="0">
                <ns195:solidFill>
                  <ns195:srgbClr val="005A9C"/>
                </ns195:solidFill>
                <ns195:latin typeface="Arial"/>
                <ns195:ea typeface="Arial"/>
                <ns195:cs typeface="Arial"/>
              </ns195:rPr>
              <ns195:t>Business analytics: China Universal patent proposal</ns195:t>
            </ns195:r>
          </ns195:p>
        </p:txBody>
      </p:sp>
      <p:sp>
        <p:nvSpPr>
          <p:cNvPr id="32" name="other.analytics.0"/>
          <p:cNvSpPr/>
          <p:nvPr/>
        </p:nvSpPr>
        <p:spPr>
          <ns196:xfrm xmlns:ns196="http://schemas.openxmlformats.org/drawingml/2006/main">
            <ns196:off x="2422800" y="3664800"/>
            <ns196:ext cx="1332000" cy="792000"/>
          </ns196:xfrm>
          <ns197:prstGeom xmlns:ns197="http://schemas.openxmlformats.org/drawingml/2006/main" prst="rect">
            <ns197:avLst/>
          </ns197:prstGeom>
          <ns198:solidFill xmlns:ns198="http://schemas.openxmlformats.org/drawingml/2006/main">
            <ns198:srgbClr val="F3F7FA"/>
          </ns198:solidFill>
          <ns199:ln xmlns:ns199="http://schemas.openxmlformats.org/drawingml/2006/main" w="9525">
            <ns199:solidFill>
              <ns199:srgbClr val="65727D"/>
            </ns199:solidFill>
          </ns199:ln>
        </p:spPr>
        <p:txBody>
          <ns200:bodyPr xmlns:ns200="http://schemas.openxmlformats.org/drawingml/2006/main" wrap="square" lIns="61200" rIns="61200" tIns="61200" bIns="61200" anchor="ctr">
            <ns200:noAutofit/>
          </ns200:bodyPr>
          <ns201:lstStyle xmlns:ns201="http://schemas.openxmlformats.org/drawingml/2006/main"/>
          <ns202:p xmlns:ns202="http://schemas.openxmlformats.org/drawingml/2006/main">
            <ns202:pPr algn="l">
              <ns202:lnSpc>
                <ns202:spcPct val="105000"/>
              </ns202:lnSpc>
              <ns202:defRPr sz="1300" b="1">
                <ns202:solidFill>
                  <ns202:srgbClr val="65727D"/>
                </ns202:solidFill>
                <ns202:latin typeface="Arial"/>
                <ns202:ea typeface="Arial"/>
                <ns202:cs typeface="Arial"/>
              </ns202:defRPr>
            </ns202:pPr>
            <ns202:r>
              <ns202:rPr sz="1300" b="1">
                <ns202:solidFill>
                  <ns202:srgbClr val="65727D"/>
                </ns202:solidFill>
                <ns202:latin typeface="Arial"/>
                <ns202:ea typeface="Arial"/>
                <ns202:cs typeface="Arial"/>
              </ns202:rPr>
              <ns202:t>Request</ns202:t>
            </ns202:r>
          </ns202:p>
          <ns203:p xmlns:ns203="http://schemas.openxmlformats.org/drawingml/2006/main">
            <ns203:pPr algn="l">
              <ns203:lnSpc>
                <ns203:spcPct val="105000"/>
              </ns203:lnSpc>
              <ns203:defRPr sz="1050" b="0">
                <ns203:solidFill>
                  <ns203:srgbClr val="20262C"/>
                </ns203:solidFill>
                <ns203:latin typeface="Arial"/>
                <ns203:ea typeface="Arial"/>
                <ns203:cs typeface="Arial"/>
              </ns203:defRPr>
            </ns203:pPr>
            <ns203:r>
              <ns203:rPr sz="1050" b="0">
                <ns203:solidFill>
                  <ns203:srgbClr val="20262C"/>
                </ns203:solidFill>
                <ns203:latin typeface="Arial"/>
                <ns203:ea typeface="Arial"/>
                <ns203:cs typeface="Arial"/>
              </ns203:rPr>
              <ns203:t>Fund / period / metric</ns203:t>
            </ns203:r>
          </ns203:p>
        </p:txBody>
      </p:sp>
      <p:cxnSp>
        <p:nvCxnSpPr>
          <p:cNvPr id="33" name="other.analytics.flow.0"/>
          <p:cNvCxnSpPr/>
          <p:nvPr/>
        </p:nvCxnSpPr>
        <p:spPr>
          <ns204:xfrm xmlns:ns204="http://schemas.openxmlformats.org/drawingml/2006/main">
            <ns204:off x="3790800" y="4060800"/>
            <ns204:ext cx="223200" cy="1"/>
          </ns204:xfrm>
          <ns205:prstGeom xmlns:ns205="http://schemas.openxmlformats.org/drawingml/2006/main" prst="line">
            <ns205:avLst/>
          </ns205:prstGeom>
          <ns206:ln xmlns:ns206="http://schemas.openxmlformats.org/drawingml/2006/main" w="11430">
            <ns206:solidFill>
              <ns206:srgbClr val="005A9C"/>
            </ns206:solidFill>
            <ns206:tailEnd type="triangle" w="sm" len="sm"/>
          </ns206:ln>
        </p:spPr>
      </p:cxnSp>
      <p:sp>
        <p:nvSpPr>
          <p:cNvPr id="34" name="other.analytics.1"/>
          <p:cNvSpPr/>
          <p:nvPr/>
        </p:nvSpPr>
        <p:spPr>
          <ns207:xfrm xmlns:ns207="http://schemas.openxmlformats.org/drawingml/2006/main">
            <ns207:off x="4050000" y="3664800"/>
            <ns207:ext cx="1332000" cy="792000"/>
          </ns207:xfrm>
          <ns208:prstGeom xmlns:ns208="http://schemas.openxmlformats.org/drawingml/2006/main" prst="roundRect">
            <ns208:avLst/>
          </ns208:prstGeom>
          <ns209:solidFill xmlns:ns209="http://schemas.openxmlformats.org/drawingml/2006/main">
            <ns209:srgbClr val="EAF3FA"/>
          </ns209:solidFill>
          <ns210:ln xmlns:ns210="http://schemas.openxmlformats.org/drawingml/2006/main" w="9525">
            <ns210:solidFill>
              <ns210:srgbClr val="005A9C"/>
            </ns210:solidFill>
          </ns210:ln>
        </p:spPr>
        <p:txBody>
          <ns211:bodyPr xmlns:ns211="http://schemas.openxmlformats.org/drawingml/2006/main" wrap="square" lIns="61200" rIns="61200" tIns="61200" bIns="61200" anchor="ctr">
            <ns211:noAutofit/>
          </ns211:bodyPr>
          <ns212:lstStyle xmlns:ns212="http://schemas.openxmlformats.org/drawingml/2006/main"/>
          <ns213:p xmlns:ns213="http://schemas.openxmlformats.org/drawingml/2006/main">
            <ns213:pPr algn="l">
              <ns213:lnSpc>
                <ns213:spcPct val="105000"/>
              </ns213:lnSpc>
              <ns213:defRPr sz="1300" b="1">
                <ns213:solidFill>
                  <ns213:srgbClr val="005A9C"/>
                </ns213:solidFill>
                <ns213:latin typeface="Arial"/>
                <ns213:ea typeface="Arial"/>
                <ns213:cs typeface="Arial"/>
              </ns213:defRPr>
            </ns213:pPr>
            <ns213:r>
              <ns213:rPr sz="1300" b="1">
                <ns213:solidFill>
                  <ns213:srgbClr val="005A9C"/>
                </ns213:solidFill>
                <ns213:latin typeface="Arial"/>
                <ns213:ea typeface="Arial"/>
                <ns213:cs typeface="Arial"/>
              </ns213:rPr>
              <ns213:t>LLM</ns213:t>
            </ns213:r>
          </ns213:p>
          <ns214:p xmlns:ns214="http://schemas.openxmlformats.org/drawingml/2006/main">
            <ns214:pPr algn="l">
              <ns214:lnSpc>
                <ns214:spcPct val="105000"/>
              </ns214:lnSpc>
              <ns214:defRPr sz="1050" b="0">
                <ns214:solidFill>
                  <ns214:srgbClr val="20262C"/>
                </ns214:solidFill>
                <ns214:latin typeface="Arial"/>
                <ns214:ea typeface="Arial"/>
                <ns214:cs typeface="Arial"/>
              </ns214:defRPr>
            </ns214:pPr>
            <ns214:r>
              <ns214:rPr sz="1050" b="0">
                <ns214:solidFill>
                  <ns214:srgbClr val="20262C"/>
                </ns214:solidFill>
                <ns214:latin typeface="Arial"/>
                <ns214:ea typeface="Arial"/>
                <ns214:cs typeface="Arial"/>
              </ns214:rPr>
              <ns214:t>Interpret question</ns214:t>
            </ns214:r>
          </ns214:p>
        </p:txBody>
      </p:sp>
      <p:cxnSp>
        <p:nvCxnSpPr>
          <p:cNvPr id="35" name="other.analytics.flow.1"/>
          <p:cNvCxnSpPr/>
          <p:nvPr/>
        </p:nvCxnSpPr>
        <p:spPr>
          <ns215:xfrm xmlns:ns215="http://schemas.openxmlformats.org/drawingml/2006/main">
            <ns215:off x="5418000" y="4060800"/>
            <ns215:ext cx="223200" cy="1"/>
          </ns215:xfrm>
          <ns216:prstGeom xmlns:ns216="http://schemas.openxmlformats.org/drawingml/2006/main" prst="line">
            <ns216:avLst/>
          </ns216:prstGeom>
          <ns217:ln xmlns:ns217="http://schemas.openxmlformats.org/drawingml/2006/main" w="11430">
            <ns217:solidFill>
              <ns217:srgbClr val="005A9C"/>
            </ns217:solidFill>
            <ns217:tailEnd type="triangle" w="sm" len="sm"/>
          </ns217:ln>
        </p:spPr>
      </p:cxnSp>
      <p:sp>
        <p:nvSpPr>
          <p:cNvPr id="36" name="other.analytics.2"/>
          <p:cNvSpPr/>
          <p:nvPr/>
        </p:nvSpPr>
        <p:spPr>
          <ns218:xfrm xmlns:ns218="http://schemas.openxmlformats.org/drawingml/2006/main">
            <ns218:off x="5677200" y="3664800"/>
            <ns218:ext cx="1332000" cy="792000"/>
          </ns218:xfrm>
          <ns219:prstGeom xmlns:ns219="http://schemas.openxmlformats.org/drawingml/2006/main" prst="roundRect">
            <ns219:avLst/>
          </ns219:prstGeom>
          <ns220:solidFill xmlns:ns220="http://schemas.openxmlformats.org/drawingml/2006/main">
            <ns220:srgbClr val="F3F7FA"/>
          </ns220:solidFill>
          <ns221:ln xmlns:ns221="http://schemas.openxmlformats.org/drawingml/2006/main" w="9525">
            <ns221:solidFill>
              <ns221:srgbClr val="65727D"/>
            </ns221:solidFill>
          </ns221:ln>
        </p:spPr>
        <p:txBody>
          <ns222:bodyPr xmlns:ns222="http://schemas.openxmlformats.org/drawingml/2006/main" wrap="square" lIns="61200" rIns="61200" tIns="61200" bIns="61200" anchor="ctr">
            <ns222:noAutofit/>
          </ns222:bodyPr>
          <ns223:lstStyle xmlns:ns223="http://schemas.openxmlformats.org/drawingml/2006/main"/>
          <ns224:p xmlns:ns224="http://schemas.openxmlformats.org/drawingml/2006/main">
            <ns224:pPr algn="l">
              <ns224:lnSpc>
                <ns224:spcPct val="105000"/>
              </ns224:lnSpc>
              <ns224:defRPr sz="1300" b="1">
                <ns224:solidFill>
                  <ns224:srgbClr val="65727D"/>
                </ns224:solidFill>
                <ns224:latin typeface="Arial"/>
                <ns224:ea typeface="Arial"/>
                <ns224:cs typeface="Arial"/>
              </ns224:defRPr>
            </ns224:pPr>
            <ns224:r>
              <ns224:rPr sz="1300" b="1">
                <ns224:solidFill>
                  <ns224:srgbClr val="65727D"/>
                </ns224:solidFill>
                <ns224:latin typeface="Arial"/>
                <ns224:ea typeface="Arial"/>
                <ns224:cs typeface="Arial"/>
              </ns224:rPr>
              <ns224:t>Algorithms</ns224:t>
            </ns224:r>
          </ns224:p>
          <ns225:p xmlns:ns225="http://schemas.openxmlformats.org/drawingml/2006/main">
            <ns225:pPr algn="l">
              <ns225:lnSpc>
                <ns225:spcPct val="105000"/>
              </ns225:lnSpc>
              <ns225:defRPr sz="1050" b="0">
                <ns225:solidFill>
                  <ns225:srgbClr val="20262C"/>
                </ns225:solidFill>
                <ns225:latin typeface="Arial"/>
                <ns225:ea typeface="Arial"/>
                <ns225:cs typeface="Arial"/>
              </ns225:defRPr>
            </ns225:pPr>
            <ns225:r>
              <ns225:rPr sz="1050" b="0">
                <ns225:solidFill>
                  <ns225:srgbClr val="20262C"/>
                </ns225:solidFill>
                <ns225:latin typeface="Arial"/>
                <ns225:ea typeface="Arial"/>
                <ns225:cs typeface="Arial"/>
              </ns225:rPr>
              <ns225:t>Quantify contributions</ns225:t>
            </ns225:r>
          </ns225:p>
        </p:txBody>
      </p:sp>
      <p:cxnSp>
        <p:nvCxnSpPr>
          <p:cNvPr id="37" name="other.analytics.flow.2"/>
          <p:cNvCxnSpPr/>
          <p:nvPr/>
        </p:nvCxnSpPr>
        <p:spPr>
          <ns226:xfrm xmlns:ns226="http://schemas.openxmlformats.org/drawingml/2006/main">
            <ns226:off x="7045200" y="4060800"/>
            <ns226:ext cx="223200" cy="1"/>
          </ns226:xfrm>
          <ns227:prstGeom xmlns:ns227="http://schemas.openxmlformats.org/drawingml/2006/main" prst="line">
            <ns227:avLst/>
          </ns227:prstGeom>
          <ns228:ln xmlns:ns228="http://schemas.openxmlformats.org/drawingml/2006/main" w="11430">
            <ns228:solidFill>
              <ns228:srgbClr val="005A9C"/>
            </ns228:solidFill>
            <ns228:tailEnd type="triangle" w="sm" len="sm"/>
          </ns228:ln>
        </p:spPr>
      </p:cxnSp>
      <p:sp>
        <p:nvSpPr>
          <p:cNvPr id="38" name="other.analytics.3"/>
          <p:cNvSpPr/>
          <p:nvPr/>
        </p:nvSpPr>
        <p:spPr>
          <ns229:xfrm xmlns:ns229="http://schemas.openxmlformats.org/drawingml/2006/main">
            <ns229:off x="7304400" y="3664800"/>
            <ns229:ext cx="1382400" cy="792000"/>
          </ns229:xfrm>
          <ns230:prstGeom xmlns:ns230="http://schemas.openxmlformats.org/drawingml/2006/main" prst="roundRect">
            <ns230:avLst/>
          </ns230:prstGeom>
          <ns231:solidFill xmlns:ns231="http://schemas.openxmlformats.org/drawingml/2006/main">
            <ns231:srgbClr val="EAF3FA"/>
          </ns231:solidFill>
          <ns232:ln xmlns:ns232="http://schemas.openxmlformats.org/drawingml/2006/main" w="9525">
            <ns232:solidFill>
              <ns232:srgbClr val="005A9C"/>
            </ns232:solidFill>
          </ns232:ln>
        </p:spPr>
        <p:txBody>
          <ns233:bodyPr xmlns:ns233="http://schemas.openxmlformats.org/drawingml/2006/main" wrap="square" lIns="61200" rIns="61200" tIns="61200" bIns="61200" anchor="ctr">
            <ns233:noAutofit/>
          </ns233:bodyPr>
          <ns234:lstStyle xmlns:ns234="http://schemas.openxmlformats.org/drawingml/2006/main"/>
          <ns235:p xmlns:ns235="http://schemas.openxmlformats.org/drawingml/2006/main">
            <ns235:pPr algn="l">
              <ns235:lnSpc>
                <ns235:spcPct val="105000"/>
              </ns235:lnSpc>
              <ns235:defRPr sz="1300" b="1">
                <ns235:solidFill>
                  <ns235:srgbClr val="005A9C"/>
                </ns235:solidFill>
                <ns235:latin typeface="Arial"/>
                <ns235:ea typeface="Arial"/>
                <ns235:cs typeface="Arial"/>
              </ns235:defRPr>
            </ns235:pPr>
            <ns235:r>
              <ns235:rPr sz="1300" b="1">
                <ns235:solidFill>
                  <ns235:srgbClr val="005A9C"/>
                </ns235:solidFill>
                <ns235:latin typeface="Arial"/>
                <ns235:ea typeface="Arial"/>
                <ns235:cs typeface="Arial"/>
              </ns235:rPr>
              <ns235:t>LLM summary</ns235:t>
            </ns235:r>
          </ns235:p>
          <ns236:p xmlns:ns236="http://schemas.openxmlformats.org/drawingml/2006/main">
            <ns236:pPr algn="l">
              <ns236:lnSpc>
                <ns236:spcPct val="105000"/>
              </ns236:lnSpc>
              <ns236:defRPr sz="1050" b="0">
                <ns236:solidFill>
                  <ns236:srgbClr val="20262C"/>
                </ns236:solidFill>
                <ns236:latin typeface="Arial"/>
                <ns236:ea typeface="Arial"/>
                <ns236:cs typeface="Arial"/>
              </ns236:defRPr>
            </ns236:pPr>
            <ns236:r>
              <ns236:rPr sz="1050" b="0">
                <ns236:solidFill>
                  <ns236:srgbClr val="20262C"/>
                </ns236:solidFill>
                <ns236:latin typeface="Arial"/>
                <ns236:ea typeface="Arial"/>
                <ns236:cs typeface="Arial"/>
              </ns236:rPr>
              <ns236:t>Analytical text</ns236:t>
            </ns236:r>
          </ns236:p>
        </p:txBody>
      </p:sp>
    </p:spTree>
    <p:extLst>
      <p:ext uri="{BB962C8B-B14F-4D97-AF65-F5344CB8AC3E}">
        <p14:creationId xmlns:p14="http://schemas.microsoft.com/office/powerpoint/2010/main" val="1608397055"/>
      </p:ext>
    </p:extLst>
  </p:cSld>
</p:sld>
</file>

<file path=ppt/theme/theme1.xml><?xml version="1.0" encoding="utf-8"?>
<a:theme xmlns:a="http://schemas.openxmlformats.org/drawingml/2006/main" name="ChatGPT">
  <a:themeElements>
    <a:clrScheme name="Business workflow">
      <a:dk1>
        <a:srgbClr val="20262C"/>
      </a:dk1>
      <a:lt1>
        <a:srgbClr val="FFFFFF"/>
      </a:lt1>
      <a:dk2>
        <a:srgbClr val="005A9C"/>
      </a:dk2>
      <a:lt2>
        <a:srgbClr val="D9EAF7"/>
      </a:lt2>
      <a:accent1>
        <a:srgbClr val="005A9C"/>
      </a:accent1>
      <a:accent2>
        <a:srgbClr val="317F7B"/>
      </a:accent2>
      <a:accent3>
        <a:srgbClr val="7363A6"/>
      </a:accent3>
      <a:accent4>
        <a:srgbClr val="967335"/>
      </a:accent4>
      <a:accent5>
        <a:srgbClr val="AD5247"/>
      </a:accent5>
      <a:accent6>
        <a:srgbClr val="707C88"/>
      </a:accent6>
      <a:hlink>
        <a:srgbClr val="005A9C"/>
      </a:hlink>
      <a:folHlink>
        <a:srgbClr val="7363A6"/>
      </a:folHlink>
    </a:clrScheme>
    <a:fontScheme name="">
      <a:majorFont>
        <a:latin typeface="Arial"/>
        <a:ea typeface="Arial"/>
        <a:cs typeface="Arial"/>
      </a:majorFont>
      <a:minorFont>
        <a:latin typeface="Arial"/>
        <a:ea typeface="Arial"/>
        <a:cs typeface="Arial"/>
      </a:minorFont>
    </a:fontScheme>
    <a:fmtScheme name="Business workflo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28</ap:Slides>
  <ap:Notes>28</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2026-10-25T18:18:02.1310000Z</dcterms:created>
  <dcterms:modified xsi:type="dcterms:W3CDTF">2026-10-25T18:18:02.1310000Z</dcterms:modified>
</coreProperties>
</file>