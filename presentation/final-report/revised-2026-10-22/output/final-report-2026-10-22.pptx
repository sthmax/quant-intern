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slides/charts/chart3.xml" ContentType="application/vnd.openxmlformats-officedocument.drawingml.chart+xml"/>
  <Override PartName="/ppt/slides/charts/chart4.xml" ContentType="application/vnd.openxmlformats-officedocument.drawingml.chart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slides/charts/chart5.xml" ContentType="application/vnd.openxmlformats-officedocument.drawingml.chart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9117c870d874d1d" /><Relationship Type="http://schemas.openxmlformats.org/officeDocument/2006/relationships/extended-properties" Target="/docProps/app.xml" Id="R677c19d0bfeb4dac" /><Relationship Type="http://schemas.openxmlformats.org/officeDocument/2006/relationships/officeDocument" Target="/ppt/presentation.xml" Id="Re12be49cbe584cc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d81f8ac7b47484e"/>
  </p:sldMasterIdLst>
  <p:notesMasterIdLst>
    <p:notesMasterId xmlns:r="http://schemas.openxmlformats.org/officeDocument/2006/relationships" r:id="R4e629458690c4f6b"/>
  </p:notesMasterIdLst>
  <p:sldIdLst>
    <p:sldId xmlns:r="http://schemas.openxmlformats.org/officeDocument/2006/relationships" id="256" r:id="Rf157c76d90c84ef5"/>
    <p:sldId xmlns:r="http://schemas.openxmlformats.org/officeDocument/2006/relationships" id="257" r:id="R824c67cb29034de0"/>
    <p:sldId xmlns:r="http://schemas.openxmlformats.org/officeDocument/2006/relationships" id="258" r:id="Rb0ba6ef65c464b12"/>
    <p:sldId xmlns:r="http://schemas.openxmlformats.org/officeDocument/2006/relationships" id="259" r:id="Rc6acfa0c941b453e"/>
    <p:sldId xmlns:r="http://schemas.openxmlformats.org/officeDocument/2006/relationships" id="260" r:id="R2803cbc3243c40d8"/>
    <p:sldId xmlns:r="http://schemas.openxmlformats.org/officeDocument/2006/relationships" id="261" r:id="Rf66388091854490a"/>
    <p:sldId xmlns:r="http://schemas.openxmlformats.org/officeDocument/2006/relationships" id="262" r:id="R8e7e9c66a9e84ad5"/>
    <p:sldId xmlns:r="http://schemas.openxmlformats.org/officeDocument/2006/relationships" id="263" r:id="R97003da59d7343f7"/>
    <p:sldId xmlns:r="http://schemas.openxmlformats.org/officeDocument/2006/relationships" id="264" r:id="Rbb50fe8fc4004f67"/>
    <p:sldId xmlns:r="http://schemas.openxmlformats.org/officeDocument/2006/relationships" id="265" r:id="R4f2a04b20f3d4ea6"/>
    <p:sldId xmlns:r="http://schemas.openxmlformats.org/officeDocument/2006/relationships" id="266" r:id="Rd3a7fad567ca4277"/>
    <p:sldId xmlns:r="http://schemas.openxmlformats.org/officeDocument/2006/relationships" id="267" r:id="Rf9657d56c4494abf"/>
    <p:sldId xmlns:r="http://schemas.openxmlformats.org/officeDocument/2006/relationships" id="268" r:id="Rd832202d78d843ff"/>
    <p:sldId xmlns:r="http://schemas.openxmlformats.org/officeDocument/2006/relationships" id="269" r:id="R8168d39c66ad4524"/>
    <p:sldId xmlns:r="http://schemas.openxmlformats.org/officeDocument/2006/relationships" id="270" r:id="R4fc1c57d1bb5428b"/>
    <p:sldId xmlns:r="http://schemas.openxmlformats.org/officeDocument/2006/relationships" id="271" r:id="R02eea6c5ed684f0c"/>
    <p:sldId xmlns:r="http://schemas.openxmlformats.org/officeDocument/2006/relationships" id="272" r:id="R68491ccecaea49b8"/>
    <p:sldId xmlns:r="http://schemas.openxmlformats.org/officeDocument/2006/relationships" id="273" r:id="Rfc79f1e381a54430"/>
    <p:sldId xmlns:r="http://schemas.openxmlformats.org/officeDocument/2006/relationships" id="274" r:id="R5f39bdca0058462d"/>
    <p:sldId xmlns:r="http://schemas.openxmlformats.org/officeDocument/2006/relationships" id="275" r:id="Rfbe396fc7b4f47d7"/>
    <p:sldId xmlns:r="http://schemas.openxmlformats.org/officeDocument/2006/relationships" id="276" r:id="R5d9af43a0ae94914"/>
    <p:sldId xmlns:r="http://schemas.openxmlformats.org/officeDocument/2006/relationships" id="277" r:id="Ra1d1acb13dde41e1"/>
    <p:sldId xmlns:r="http://schemas.openxmlformats.org/officeDocument/2006/relationships" id="278" r:id="R366c388fb7774676"/>
    <p:sldId xmlns:r="http://schemas.openxmlformats.org/officeDocument/2006/relationships" id="279" r:id="R2f8641a26e744bcc"/>
    <p:sldId xmlns:r="http://schemas.openxmlformats.org/officeDocument/2006/relationships" id="280" r:id="Rf364b63faf0a4efb"/>
    <p:sldId xmlns:r="http://schemas.openxmlformats.org/officeDocument/2006/relationships" id="281" r:id="R8478090c94304189"/>
    <p:sldId xmlns:r="http://schemas.openxmlformats.org/officeDocument/2006/relationships" id="282" r:id="R0d02c874b4b24671"/>
    <p:sldId xmlns:r="http://schemas.openxmlformats.org/officeDocument/2006/relationships" id="283" r:id="R7242511243184fc8"/>
    <p:sldId xmlns:r="http://schemas.openxmlformats.org/officeDocument/2006/relationships" id="284" r:id="R3044006487b147b8"/>
    <p:sldId xmlns:r="http://schemas.openxmlformats.org/officeDocument/2006/relationships" id="285" r:id="Ra42d50d9f7c94a68"/>
    <p:sldId xmlns:r="http://schemas.openxmlformats.org/officeDocument/2006/relationships" id="286" r:id="Rddb6ed143161415b"/>
    <p:sldId xmlns:r="http://schemas.openxmlformats.org/officeDocument/2006/relationships" id="287" r:id="Rf5ae2fb019164837"/>
    <p:sldId xmlns:r="http://schemas.openxmlformats.org/officeDocument/2006/relationships" id="288" r:id="R01e1ccc24fbc4490"/>
    <p:sldId xmlns:r="http://schemas.openxmlformats.org/officeDocument/2006/relationships" id="289" r:id="Rd9871319b13a485c"/>
    <p:sldId xmlns:r="http://schemas.openxmlformats.org/officeDocument/2006/relationships" id="290" r:id="Rc2566a5d624d4bec"/>
    <p:sldId xmlns:r="http://schemas.openxmlformats.org/officeDocument/2006/relationships" id="291" r:id="Rfbeb9f98f0db4fdc"/>
    <p:sldId xmlns:r="http://schemas.openxmlformats.org/officeDocument/2006/relationships" id="292" r:id="Rb4795c14fcb6417f"/>
    <p:sldId xmlns:r="http://schemas.openxmlformats.org/officeDocument/2006/relationships" id="293" r:id="R0cec094b546d46ef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f91401794c64d31" /><Relationship Type="http://schemas.openxmlformats.org/officeDocument/2006/relationships/slideMaster" Target="/ppt/slideMasters/slideMaster1.xml" Id="R9d81f8ac7b47484e" /><Relationship Type="http://schemas.openxmlformats.org/officeDocument/2006/relationships/notesMaster" Target="/ppt/notesMasters/notesMaster1.xml" Id="R4e629458690c4f6b" /><Relationship Type="http://schemas.openxmlformats.org/officeDocument/2006/relationships/presProps" Target="/ppt/presProps.xml" Id="Re26bf11d8cce4383" /><Relationship Type="http://schemas.openxmlformats.org/officeDocument/2006/relationships/tableStyles" Target="/ppt/tableStyles.xml" Id="Ra3c6d6b85c9c4ad0" /><Relationship Type="http://schemas.openxmlformats.org/officeDocument/2006/relationships/slide" Target="/ppt/slides/slide1.xml" Id="Rf157c76d90c84ef5" /><Relationship Type="http://schemas.openxmlformats.org/officeDocument/2006/relationships/slide" Target="/ppt/slides/slide2.xml" Id="R824c67cb29034de0" /><Relationship Type="http://schemas.openxmlformats.org/officeDocument/2006/relationships/slide" Target="/ppt/slides/slide3.xml" Id="Rb0ba6ef65c464b12" /><Relationship Type="http://schemas.openxmlformats.org/officeDocument/2006/relationships/slide" Target="/ppt/slides/slide4.xml" Id="Rc6acfa0c941b453e" /><Relationship Type="http://schemas.openxmlformats.org/officeDocument/2006/relationships/slide" Target="/ppt/slides/slide5.xml" Id="R2803cbc3243c40d8" /><Relationship Type="http://schemas.openxmlformats.org/officeDocument/2006/relationships/slide" Target="/ppt/slides/slide6.xml" Id="Rf66388091854490a" /><Relationship Type="http://schemas.openxmlformats.org/officeDocument/2006/relationships/slide" Target="/ppt/slides/slide7.xml" Id="R8e7e9c66a9e84ad5" /><Relationship Type="http://schemas.openxmlformats.org/officeDocument/2006/relationships/slide" Target="/ppt/slides/slide8.xml" Id="R97003da59d7343f7" /><Relationship Type="http://schemas.openxmlformats.org/officeDocument/2006/relationships/slide" Target="/ppt/slides/slide9.xml" Id="Rbb50fe8fc4004f67" /><Relationship Type="http://schemas.openxmlformats.org/officeDocument/2006/relationships/slide" Target="/ppt/slides/slide10.xml" Id="R4f2a04b20f3d4ea6" /><Relationship Type="http://schemas.openxmlformats.org/officeDocument/2006/relationships/slide" Target="/ppt/slides/slide11.xml" Id="Rd3a7fad567ca4277" /><Relationship Type="http://schemas.openxmlformats.org/officeDocument/2006/relationships/slide" Target="/ppt/slides/slide12.xml" Id="Rf9657d56c4494abf" /><Relationship Type="http://schemas.openxmlformats.org/officeDocument/2006/relationships/slide" Target="/ppt/slides/slide13.xml" Id="Rd832202d78d843ff" /><Relationship Type="http://schemas.openxmlformats.org/officeDocument/2006/relationships/slide" Target="/ppt/slides/slide14.xml" Id="R8168d39c66ad4524" /><Relationship Type="http://schemas.openxmlformats.org/officeDocument/2006/relationships/slide" Target="/ppt/slides/slide15.xml" Id="R4fc1c57d1bb5428b" /><Relationship Type="http://schemas.openxmlformats.org/officeDocument/2006/relationships/slide" Target="/ppt/slides/slide16.xml" Id="R02eea6c5ed684f0c" /><Relationship Type="http://schemas.openxmlformats.org/officeDocument/2006/relationships/slide" Target="/ppt/slides/slide17.xml" Id="R68491ccecaea49b8" /><Relationship Type="http://schemas.openxmlformats.org/officeDocument/2006/relationships/slide" Target="/ppt/slides/slide18.xml" Id="Rfc79f1e381a54430" /><Relationship Type="http://schemas.openxmlformats.org/officeDocument/2006/relationships/slide" Target="/ppt/slides/slide19.xml" Id="R5f39bdca0058462d" /><Relationship Type="http://schemas.openxmlformats.org/officeDocument/2006/relationships/slide" Target="/ppt/slides/slide20.xml" Id="Rfbe396fc7b4f47d7" /><Relationship Type="http://schemas.openxmlformats.org/officeDocument/2006/relationships/slide" Target="/ppt/slides/slide21.xml" Id="R5d9af43a0ae94914" /><Relationship Type="http://schemas.openxmlformats.org/officeDocument/2006/relationships/slide" Target="/ppt/slides/slide22.xml" Id="Ra1d1acb13dde41e1" /><Relationship Type="http://schemas.openxmlformats.org/officeDocument/2006/relationships/slide" Target="/ppt/slides/slide23.xml" Id="R366c388fb7774676" /><Relationship Type="http://schemas.openxmlformats.org/officeDocument/2006/relationships/slide" Target="/ppt/slides/slide24.xml" Id="R2f8641a26e744bcc" /><Relationship Type="http://schemas.openxmlformats.org/officeDocument/2006/relationships/slide" Target="/ppt/slides/slide25.xml" Id="Rf364b63faf0a4efb" /><Relationship Type="http://schemas.openxmlformats.org/officeDocument/2006/relationships/slide" Target="/ppt/slides/slide26.xml" Id="R8478090c94304189" /><Relationship Type="http://schemas.openxmlformats.org/officeDocument/2006/relationships/slide" Target="/ppt/slides/slide27.xml" Id="R0d02c874b4b24671" /><Relationship Type="http://schemas.openxmlformats.org/officeDocument/2006/relationships/slide" Target="/ppt/slides/slide28.xml" Id="R7242511243184fc8" /><Relationship Type="http://schemas.openxmlformats.org/officeDocument/2006/relationships/slide" Target="/ppt/slides/slide29.xml" Id="R3044006487b147b8" /><Relationship Type="http://schemas.openxmlformats.org/officeDocument/2006/relationships/slide" Target="/ppt/slides/slide30.xml" Id="Ra42d50d9f7c94a68" /><Relationship Type="http://schemas.openxmlformats.org/officeDocument/2006/relationships/slide" Target="/ppt/slides/slide31.xml" Id="Rddb6ed143161415b" /><Relationship Type="http://schemas.openxmlformats.org/officeDocument/2006/relationships/slide" Target="/ppt/slides/slide32.xml" Id="Rf5ae2fb019164837" /><Relationship Type="http://schemas.openxmlformats.org/officeDocument/2006/relationships/slide" Target="/ppt/slides/slide33.xml" Id="R01e1ccc24fbc4490" /><Relationship Type="http://schemas.openxmlformats.org/officeDocument/2006/relationships/slide" Target="/ppt/slides/slide34.xml" Id="Rd9871319b13a485c" /><Relationship Type="http://schemas.openxmlformats.org/officeDocument/2006/relationships/slide" Target="/ppt/slides/slide35.xml" Id="Rc2566a5d624d4bec" /><Relationship Type="http://schemas.openxmlformats.org/officeDocument/2006/relationships/slide" Target="/ppt/slides/slide36.xml" Id="Rfbeb9f98f0db4fdc" /><Relationship Type="http://schemas.openxmlformats.org/officeDocument/2006/relationships/slide" Target="/ppt/slides/slide37.xml" Id="Rb4795c14fcb6417f" /><Relationship Type="http://schemas.openxmlformats.org/officeDocument/2006/relationships/slide" Target="/ppt/slides/slide38.xml" Id="R0cec094b546d46e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b40516ffe29405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PingFang SC"/>
        <a:ea typeface=""/>
        <a:cs typeface=""/>
      </a:majorFont>
      <a:minorFont>
        <a:latin typeface="PingFang S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6b02263271045ca" /><Relationship Type="http://schemas.openxmlformats.org/officeDocument/2006/relationships/notesMaster" Target="/ppt/notesMasters/notesMaster1.xml" Id="R7e29b6ba5873425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c977b12a8ec47b1" /><Relationship Type="http://schemas.openxmlformats.org/officeDocument/2006/relationships/notesMaster" Target="/ppt/notesMasters/notesMaster1.xml" Id="R72da02690b0f486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2504ee140d04628" /><Relationship Type="http://schemas.openxmlformats.org/officeDocument/2006/relationships/notesMaster" Target="/ppt/notesMasters/notesMaster1.xml" Id="Re704743ff0bd4f2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42bfad57f654873" /><Relationship Type="http://schemas.openxmlformats.org/officeDocument/2006/relationships/notesMaster" Target="/ppt/notesMasters/notesMaster1.xml" Id="R9fcbde5f3b5e4a6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52e381ebc83433a" /><Relationship Type="http://schemas.openxmlformats.org/officeDocument/2006/relationships/notesMaster" Target="/ppt/notesMasters/notesMaster1.xml" Id="R505466cbeb244d6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313b4b0dbad4b09" /><Relationship Type="http://schemas.openxmlformats.org/officeDocument/2006/relationships/notesMaster" Target="/ppt/notesMasters/notesMaster1.xml" Id="Rdb5f6a76850e462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9321c054e0f45f1" /><Relationship Type="http://schemas.openxmlformats.org/officeDocument/2006/relationships/notesMaster" Target="/ppt/notesMasters/notesMaster1.xml" Id="Rea9cdf75f18449a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b345d79c64a4a1b" /><Relationship Type="http://schemas.openxmlformats.org/officeDocument/2006/relationships/notesMaster" Target="/ppt/notesMasters/notesMaster1.xml" Id="R19f537edcaf643c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add472697bc412e" /><Relationship Type="http://schemas.openxmlformats.org/officeDocument/2006/relationships/notesMaster" Target="/ppt/notesMasters/notesMaster1.xml" Id="Rb062788f31f5455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93d0fc0034a4dc7" /><Relationship Type="http://schemas.openxmlformats.org/officeDocument/2006/relationships/notesMaster" Target="/ppt/notesMasters/notesMaster1.xml" Id="Rce1145dbd66b4db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20fead3654e4d85" /><Relationship Type="http://schemas.openxmlformats.org/officeDocument/2006/relationships/notesMaster" Target="/ppt/notesMasters/notesMaster1.xml" Id="R2d66c43b932448e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5467a6eaf1b4d86" /><Relationship Type="http://schemas.openxmlformats.org/officeDocument/2006/relationships/notesMaster" Target="/ppt/notesMasters/notesMaster1.xml" Id="Rd06380a25afc443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cda3be960cb465d" /><Relationship Type="http://schemas.openxmlformats.org/officeDocument/2006/relationships/notesMaster" Target="/ppt/notesMasters/notesMaster1.xml" Id="R20b52bf8fc6e465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d2e79b9bd1c462c" /><Relationship Type="http://schemas.openxmlformats.org/officeDocument/2006/relationships/notesMaster" Target="/ppt/notesMasters/notesMaster1.xml" Id="R0f7081ea7970402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9bb2631384d410e" /><Relationship Type="http://schemas.openxmlformats.org/officeDocument/2006/relationships/notesMaster" Target="/ppt/notesMasters/notesMaster1.xml" Id="R5bdfa60f2b46433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d763333d89e4086" /><Relationship Type="http://schemas.openxmlformats.org/officeDocument/2006/relationships/notesMaster" Target="/ppt/notesMasters/notesMaster1.xml" Id="Re6fbb77e56c4470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81d75270dfe4d92" /><Relationship Type="http://schemas.openxmlformats.org/officeDocument/2006/relationships/notesMaster" Target="/ppt/notesMasters/notesMaster1.xml" Id="R661565ce1e134ca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d43c3d97d8344f1" /><Relationship Type="http://schemas.openxmlformats.org/officeDocument/2006/relationships/notesMaster" Target="/ppt/notesMasters/notesMaster1.xml" Id="Rf80cc53531a343b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6d56ea3ce0e4e73" /><Relationship Type="http://schemas.openxmlformats.org/officeDocument/2006/relationships/notesMaster" Target="/ppt/notesMasters/notesMaster1.xml" Id="Ra6a6dba670d745ca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de67a689b413402b" /><Relationship Type="http://schemas.openxmlformats.org/officeDocument/2006/relationships/notesMaster" Target="/ppt/notesMasters/notesMaster1.xml" Id="R883454909e8148db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e6045949639f4d02" /><Relationship Type="http://schemas.openxmlformats.org/officeDocument/2006/relationships/notesMaster" Target="/ppt/notesMasters/notesMaster1.xml" Id="R4a4e89e0f4ab4916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bcc9e6d770314455" /><Relationship Type="http://schemas.openxmlformats.org/officeDocument/2006/relationships/notesMaster" Target="/ppt/notesMasters/notesMaster1.xml" Id="R0e7dcf336aa04f6e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fe4ad5867d0b4e0a" /><Relationship Type="http://schemas.openxmlformats.org/officeDocument/2006/relationships/notesMaster" Target="/ppt/notesMasters/notesMaster1.xml" Id="Rc278567310764646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5c307e8d4fa440ae" /><Relationship Type="http://schemas.openxmlformats.org/officeDocument/2006/relationships/notesMaster" Target="/ppt/notesMasters/notesMaster1.xml" Id="R02e7dd18595a45dc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7c88e4f1bcfe4574" /><Relationship Type="http://schemas.openxmlformats.org/officeDocument/2006/relationships/notesMaster" Target="/ppt/notesMasters/notesMaster1.xml" Id="R099f5ed3ea114fff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9a393310b29f4027" /><Relationship Type="http://schemas.openxmlformats.org/officeDocument/2006/relationships/notesMaster" Target="/ppt/notesMasters/notesMaster1.xml" Id="Re5025432defb4372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0b5fc811713e4c32" /><Relationship Type="http://schemas.openxmlformats.org/officeDocument/2006/relationships/notesMaster" Target="/ppt/notesMasters/notesMaster1.xml" Id="R09cec8f9306245e4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1dcc69183c6340df" /><Relationship Type="http://schemas.openxmlformats.org/officeDocument/2006/relationships/notesMaster" Target="/ppt/notesMasters/notesMaster1.xml" Id="Rbbb4ea8295a4424e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7ad0e77326bb4ace" /><Relationship Type="http://schemas.openxmlformats.org/officeDocument/2006/relationships/notesMaster" Target="/ppt/notesMasters/notesMaster1.xml" Id="R1a51bfa7a6a54a17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72fc7504364443a9" /><Relationship Type="http://schemas.openxmlformats.org/officeDocument/2006/relationships/notesMaster" Target="/ppt/notesMasters/notesMaster1.xml" Id="Rd60a024793f94fcf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84d466d77678484c" /><Relationship Type="http://schemas.openxmlformats.org/officeDocument/2006/relationships/notesMaster" Target="/ppt/notesMasters/notesMaster1.xml" Id="R9389a12e479448b8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b7c4780578d84230" /><Relationship Type="http://schemas.openxmlformats.org/officeDocument/2006/relationships/notesMaster" Target="/ppt/notesMasters/notesMaster1.xml" Id="R3dd8e23f40cf420b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87f34d25f1154021" /><Relationship Type="http://schemas.openxmlformats.org/officeDocument/2006/relationships/notesMaster" Target="/ppt/notesMasters/notesMaster1.xml" Id="Ra827dda99cbe4e0f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4f4cca8379c04b8d" /><Relationship Type="http://schemas.openxmlformats.org/officeDocument/2006/relationships/notesMaster" Target="/ppt/notesMasters/notesMaster1.xml" Id="R830b4bccdeff4b8a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3efe5e514300462f" /><Relationship Type="http://schemas.openxmlformats.org/officeDocument/2006/relationships/notesMaster" Target="/ppt/notesMasters/notesMaster1.xml" Id="R07c7235ca95b42a1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d1762655cdb541c9" /><Relationship Type="http://schemas.openxmlformats.org/officeDocument/2006/relationships/notesMaster" Target="/ppt/notesMasters/notesMaster1.xml" Id="R30f09575aecc416a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ae28caa592104b70" /><Relationship Type="http://schemas.openxmlformats.org/officeDocument/2006/relationships/notesMaster" Target="/ppt/notesMasters/notesMaster1.xml" Id="R243036c86c6145ad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5d7b9e8990a346b8" /><Relationship Type="http://schemas.openxmlformats.org/officeDocument/2006/relationships/notesMaster" Target="/ppt/notesMasters/notesMaster1.xml" Id="Racad13ca6772424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次汇报围绕同事实际使用时会遇到的问题展开：哪些工作能交给模型，怎样得到可以检查的文件，资料和模型放在哪里，以及需要投入多少。前面的例子使用虚构数据，后面的性能、采购和成本来自已完成的研究。我们会依次看到个人助手、公司知识库和多人共享助手三种方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各岗位可以从哪些工作开始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先看各个岗位每天需要交付什么。投研同事需要比较表和材料摘要，量化同事需要把公告中的日期、金额和事件状态整理成表格，也需要编写代码。合规同事要找出文案中的问题并给出规则依据，运营和IT同事要整理异常说明与测试结果。模型可以参与阅读、整理、写初稿和代码；业务人员选择口径、核查结果，再形成结论。下面用一个财报任务说明这些分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接续：从研究员手里的两份财报开始。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https://github.com/SthMax/quant-intern/releases/tag/phase1-2026-09-11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一个财报比较任务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假设我们拿到两期财报和一份数据表，想知道收入到底增长了多少。示例公司2025年收入120百万元，2024年最初披露90百万元，但后来重述为100百万元。完成任务不只是生成一段话，还要找到可比口径、算出20%的增幅，并把数值和出处写进可以复查的表格。右边是预期产物示例，不是已运行模型得到的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接续：模型在这个任务里怎样使用我们提供的资料？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虚构示例，来自评价包QA-01；右侧为预期产物。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大语言模型怎样利用我们提供的资料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LM就是大语言模型。它根据当前看到的文字理解要求，再生成文字、代码或工具调用指令。模型训练时学到的是一般知识，公司的最新制度、项目文件和具体分析口径，要在使用时提供。在财报例子里，年报和附注是依据，按重述口径是要求，Excel和出处是交付格式。把这几件事说清，比只写一句分析一下这家公司更容易得到能用的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接续：要求写清后，数字和结论又怎样检查？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模型读材料，程序算数字，人员核对结论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同样是120和90，直接算同比会得到33.3%，而采用重述后的100则是20%。困难先在于选择正确的口径，其次才是算术。模型适合读附注、识别重述信息；Python或Excel执行公式；人员检查来源和口径，再决定如何解释。最终留下的是带原数、公式和出处的工作底稿，员工可以逐项检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接续：行业里已经有把模型接入类似工作的公开案例。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虚构财报示例；两种算法的差别来自比较基期。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行业中的两种实际做法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富国的公开案例把模型用于研报材料整理，形成小结与观点；其披露的相关工作耗时从一周以上缩短到3小时以内。鹏华把审核规则和文案结合，生成修改建议，披露最新建议采纳率91%。这两项指标对应不同工作，前者是流程耗时，后者是建议采纳。它们说明行业应用已落在具体业务环节上，也提示我们优先选择有现成材料和明确产物的工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接续：接下来看看，Agent怎样把读文件、计算和保存结果这些步骤连起来。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https://github.com/SthMax/quant-intern/releases/tag/phase1-2026-09-11</a:t>
            </a:r>
          </a:p>
          <a:p xmlns:a="http://schemas.openxmlformats.org/drawingml/2006/main">
            <a:r>
              <a:t>公司公开披露的项目效果，指标口径不同。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文字问答与Agent任务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如果只要求一段文字回答，后续操作仍由员工完成。委托Agent任务时，应用会围绕目标多次调用模型和工具：先读文件，确定要算什么，调用Python，检查返回结果，最后保存Excel和说明。这里的Agent是组织这些步骤的应用，例如OpenCode或Hermes；语言模型负责判断和生成，真正打开文件、计算和写入的是工具。一次任务往往包含多轮调用，因此需要保留前面读到的材料和工具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接续：这套能力可以放在个人、小组或公司不同范围里。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三种使用范围，对应三套方案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三套方案按工作范围区分。个人助手主要面对员工手里的文件和代码；公司知识库主要解决去哪里找资料、员工能看哪些内容；共享Agent让多人使用同一套较大的模型服务，完成各自的多步骤任务。三者可以组合，例如Agent把知识库当作资料查询工具。接下来逐一介绍实际使用方式、等待时间和投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接续：首先看一名研究员怎样使用个人助手。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个人助手怎样完成一次任务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员工把相关文件放进一个任务目录，在OpenCode中说明目标。应用调用Spark上的Qwen模型，再在员工电脑上读取文件、执行Python、生成Excel。模型不需要知道所有文件，只需要看到当前任务提供的内容和工具返回。示例最终形成比较表、说明和可重复执行的计算文件；员工打开这些文件核对，再决定是否采用结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接续：为了运行这套流程，需要怎样的设备和软件？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操作流程设计；示例文件使用虚构财报数据。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一台Spark运行模型，电脑执行文件工具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ark可以理解为放在办公室里的小型模型服务器。它通过网络给员工电脑提供模型能力，文件工具和Python继续在员工电脑上运行。方案暂定Qwen3.8-27B，采用已有外部测试数据的FP8配置，也就是用较低精度保存模型数据，减少内存占用。27B表示模型参数规模，可以先理解为模型大小；一轮任务能放多少材料，还要看上下文窗口。选这条路线的原因是能够在单台设备上运行、已有性能参照，并能配合文件和代码工具完成个人工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接续：真正影响长任务体验的另一个概念是上下文。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https://docs.nvidia.com/dgx/dgx-spark/hardware.html</a:t>
            </a:r>
          </a:p>
          <a:p xmlns:a="http://schemas.openxmlformats.org/drawingml/2006/main">
            <a:r>
              <a:t>https://huggingface.co/Qwen/Qwen3.8-27B-FP8</a:t>
            </a:r>
          </a:p>
          <a:p xmlns:a="http://schemas.openxmlformats.org/drawingml/2006/main">
            <a:r>
              <a:t>硬件预算沿用10月12日研究，含原预算准备；软件按10月20日研究。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上下文是模型本轮能看到的材料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上下文包含任务要求、当前资料、已经发生的对话和工具结果。模型每次决定下一步时会使用这些内容。token是模型对文字的计量单位，不同语言和格式的换算不同，因此这里直接使用模型报告的长度。我们的Agent方案从131K和262K基础档起步，继续研究512K和1M。窗口越大，能放入的材料越多。实际放入的内容越长，模型处理输入和生成后续内容通常也要更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接续：这些长度会带来怎样的实际等待？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Spark处理长材料要等多久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等待分成两段。模型先处理输入，用户这时还看不到答案；随后开始逐步输出。在朋友的Spark测试中，输入100K时约2.4分钟出现首个输出，随后约20 token/s；输入500K时约24.5分钟，随后约15 token/s。长材料最明显的代价是第一次输入处理很慢。两组都是随机token性能测量，展示的是设备处理负载的能力。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接续：同一个项目继续追问时，怎样避免重新处理全部材料？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单Spark外部测试，随机token输入，未使用前缀缓存；完整配置见备查。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继续同一项任务，可以复用已处理的内容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例如财报已经处理过，下一轮只追加一段工具计算结果。系统把模型处理旧输入时算出的中间结果保留下来，这就是缓存。下一轮开头仍是相同内容、缓存也还可用时，就能省去旧输入的重复计算。在接近512K的任务里，按已有设备数据估算，追加1K内容的输入处理约5秒，追加8K约40秒。这些数值只计算新增内容的处理时间，开始输出前还要加上调度和首次生成的时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接续：如果今天暂停、明天再回来，这些状态应怎样保存？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https://github.com/bojieli/ai-infra-book</a:t>
            </a:r>
          </a:p>
          <a:p xmlns:a="http://schemas.openxmlformats.org/drawingml/2006/main">
            <a:r>
              <a:t>https://docs.vllm.ai/en/stable/features/kv_offloading_usage/</a:t>
            </a:r>
          </a:p>
          <a:p xmlns:a="http://schemas.openxmlformats.org/drawingml/2006/main">
            <a:r>
              <a:t>图中为输入处理时间估算；右侧假设旧内容的处理结果可完整复用。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暂停的长任务，怎样保存和继续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聊天记录保留了说过的话，但重新打开长项目时，模型可能还要重新处理这些文字。模型缓存则保留它读材料时已经算好的中间结果。工作时把这些结果放在内存，较久不用时存到SSD，回来后再读回。Spark方案计划用这种方式保留多个长任务，可采用vLLM的缓存卸载或LMCache。实际部署时，要检查这些中间结果是否保存齐全，以及能否正确接着计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接续：一台设备供三个人使用时，容量和速度怎样分配？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https://docs.vllm.ai/en/stable/features/kv_offloading_usage/</a:t>
            </a:r>
          </a:p>
          <a:p xmlns:a="http://schemas.openxmlformats.org/drawingml/2006/main">
            <a:r>
              <a:t>https://docs.lmcache.ai/mp/l2_storage.html</a:t>
            </a:r>
          </a:p>
          <a:p xmlns:a="http://schemas.openxmlformats.org/drawingml/2006/main">
            <a:r>
              <a:t>部署设计：SSD缓存尚未在本次Spark外部测试中启用。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个人独占与三人共享怎样选择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一人使用的首次投入估算6.8到8.2万元，三人共享约7.8到9.9万元，差别主要是多用户接入和检查。共享时，要分别看能保留多少材料、同时生成时有多快。外部测试的缓存池留余量后约1.6M token，能放下三份512K会话。已有三路100K测试中，三人都在输出的阶段每路约17.5 token/s；三人各用满512K时的速度还需另测。经常处理长材料的同事可安排独占时段，小组任务可以错峰使用。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接续：个人目录之外，公司公共与受限资料怎样查询？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首次投入为硬件＋实施预算；速度为三路100K输入的外部实测，容量与速度分别统计。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公司知识库：按权限找资料，再回答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公司知识库解决的是资料在哪里、哪个版本有效、员工能不能看到的问题。收到问题后，系统先按员工身份查找有权访问的相关片段，再交给模型组织答案，最后给出原文入口。这通常称为RAG，也就是先检索资料再生成回答。示例里旧制度是2万元，新制度是3万元；答案要引用当前有效文件，而不是依靠模型训练时的记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接续：这套知识库可以采购平台，也可以自行搭建。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https://milvus.io/docs/v2.6.x/filtered-search.md</a:t>
            </a:r>
          </a:p>
          <a:p xmlns:a="http://schemas.openxmlformats.org/drawingml/2006/main">
            <a:r>
              <a:t>虚构制度示例；员工权限在检索前生效，打开原文时再次校验。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知识库的两条建设路线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Onyx Enterprise提供企业知识库的搜索、问答、管理与连接器，项目工作集中在本公司的NAS与身份适配、解析效果和交付验收。自行搭建则由Open WebUI提供入口，Milvus负责检索，另外开发权限、文档处理和更新逻辑。两条路线都需要读取实际NAS权限、识别旧版文件和处理撤权。差别在于由谁交付、哪些部分由内部团队长期维护。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接续：采用相同回答模型时，两条路线的硬件与等待可以一起看。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https://www.onyx.app/pricing</a:t>
            </a:r>
          </a:p>
          <a:p xmlns:a="http://schemas.openxmlformats.org/drawingml/2006/main">
            <a:r>
              <a:t>https://milvus.io/docs/v2.6.x/filtered-search.md</a:t>
            </a:r>
          </a:p>
          <a:p xmlns:a="http://schemas.openxmlformats.org/drawingml/2006/main">
            <a:r>
              <a:t>Onyx企业授权按范围询价；具体NAS接入与权限同步属于实施交付项。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知识库需要什么设备，多久能答完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当前方案配置四张6000D，其中三张提供Qwen回答，一张承担检索辅助模型；另两台CPU服务器负责应用和索引。按20个短问答同时提交的情景估算，最后一位约37秒开始收到输出，整批约65秒完成。平台路线首次约84.5到158万元再加企业授权，自建约91.5到168.5万元。两者共用同一硬件口径，差异主要来自实施量和授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接续：知识库能提供资料，下一套方案进一步让多人调用工具完成工作。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工程估算：每问8K输入、600输出；非设备实测。首次费用沿用已归档预算，平台授权另询。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多人共用模型，分别完成项目工作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假设团队要比较多家公司。研究员分别向自己的助手提交财报，量化同事通过授权接口取得数据、运行比较脚本，负责人查看得到授权的工作底稿并形成汇总。每一步都可以调用同一套DeepSeek模型服务，任务、文件和结果仍按员工权限分别保存。共享的价值是把较大的模型集中部署，员工不必各自购置服务器。DeepSeek暂作公司共享候选，公开金融研究评测提供了能力参照；个人Qwen继续处理日常文件任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接续：共享模型时，怎样保留每个人自己的资料与任务？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https://huggingface.co/deepseek-ai/DeepSeek-V4.1-Flash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模型共享，文件和权限按员工分开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每名员工有自己的任务目录、会话和身份。Hermes这类Agent应用负责组织步骤，向共享模型发送当前任务所需的内容。模型要求查资料或运行程序时，应用把调用交给有权限的检索服务或隔离的CPU工具环境。模型生成服务与工具执行分开安排，因此运行Python不会占用模型卡来做普通CPU计算，输出文件也保存回各自任务目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接续：多人交错进行任务时，缓存怎样支持继续工作？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长任务交错运行，空闲会话怎样保存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同事A正在等Python计算时，其他人可能已经在生成回答。系统既要给正在生成的人提供算力，也要保留等待工具的人的任务内容。这里的GPU就是负责模型计算的显卡。显卡内存保存正在使用的计算结果，主机内存保存马上还会继续的任务状态，SSD保存较久不用的状态。工具返回后再读回所需状态，继续处理新增内容。例如20个请求正在生成，另有20个请求等待工具，就需要保留40份会话内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接续：能保存多少份长会话，取决于服务器配置。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https://github.com/bojieli/ai-infra-book</a:t>
            </a:r>
          </a:p>
          <a:p xmlns:a="http://schemas.openxmlformats.org/drawingml/2006/main">
            <a:r>
              <a:t>https://docs.vllm.ai/en/stable/features/kv_offloading_usage/</a:t>
            </a:r>
          </a:p>
          <a:p xmlns:a="http://schemas.openxmlformats.org/drawingml/2006/main">
            <a:r>
              <a:t>https://docs.lmcache.ai/mp/l2_storage.html</a:t>
            </a:r>
          </a:p>
          <a:p xmlns:a="http://schemas.openxmlformats.org/drawingml/2006/main">
            <a:r>
              <a:t>部署设计；缓存读回减少旧内容重算，当前请求仍要处理新增输入并生成输出。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20份长会话，对应哪些服务器选择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里把20份会话平均分配可用缓存。按照同一套预算方法，八H100约能给每份242K，四H200约762K，八H200可以达到配置上限1M。H200的价值主要体现在长上下文容量。已有A100也可以评估复用，但它的缓存和速度要按具体适配重新计算。表中价格是整机预算，没有把显卡单价当成全部采购成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接续：容量放得下之后，还要看同时工作的体验。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20份会话的缓存容量估算，已预留余量；预算沿用10月12日完整整机研究。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20人共享服务的响应目标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我们的目标是20个请求同时生成时，每人仍能达到约20 token/s。按500个输出token算，纯生成约25秒；这个目标要在实际长度上核验。公开H200多轮回放已有32路结果，平均约157K输入、前缀命中约95%，大多数请求几秒内开始输出。它提供上述输入长度下的多轮任务参照。满1M窗口下的服务速度仍是部署验收项，不能只由显存容量推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接续：达到这样的服务目标，预算中还要包括哪些部分？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目标与参照分开：公开回放约157K输入、95%前缀命中；满1M速度待在目标设备验证。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公司共享方案的设备与维护投入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八H200整机预算约291到304万元；若工具集中执行，再增加约12到26万元CPU服务器，也可以复用现有合格设备。首次实施按45个技术人日估算，约11万元；后续每年技术维护按60个人日估算，约15万元。维护人员平时检查运行状况、处理故障；安装升级后，再用原有任务检查是否还能正常工作。机房、电力与支持费用在三年成本中统一计算。A100路线继续使用成熟服务框架，并按硬件保留必要适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接续：除了自购设备，也可以调用供应商模型服务。两者该怎样比较？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技术人工按2,500元／人日估算；设备为研究预算，采购按具体SKU、供方与准入核查。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本地部署与API：资料在哪里处理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地部署把模型放在自有服务器，模型计算在内部完成。API可以先理解为供应商提供的调用接口：应用把获准处理的内容发过去，再接收模型结果，按用量付费。本地仍需运行应用、文件工具和权限管理。两条路径先由资料分类和服务条款决定。比如DeepSeek普通开放平台对商业秘密等内容有限制，所以后面的API成本以公开或符合条款的授权资料为范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接续：在相同任务用量下，先看一次多轮分析怎样产生费用。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https://cdn.deepseek.com/policies/zh-CN/deepseek-open-platform-terms-of-service.html</a:t>
            </a:r>
          </a:p>
          <a:p xmlns:a="http://schemas.openxmlformats.org/drawingml/2006/main">
            <a:r>
              <a:t>https://www.anthropic.com/news/updating-restrictions-of-sales-to-unsupported-regions</a:t>
            </a:r>
          </a:p>
          <a:p xmlns:a="http://schemas.openxmlformats.org/drawingml/2006/main">
            <a:r>
              <a:t>API比较使用公开或符合服务条款且获准的材料；Sonnet全球价格参照置于附录。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一次分析可能调用模型很多轮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员工只提出一次财报比较要求，Agent可能先读材料，再查数据、计算、复核并修改文件，多次调用模型。每轮都会提交当前上下文，重复部分命中缓存后按较低费率计费。本次成本采用8轮任务：输入从100K增加到170K，每轮输出2K。按DeepSeek费率和缓存假设，一项计划任务的模型费约0.63元；应用开发、工具和维护另外进入总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接续：把这类任务积累三年，再比较完整投入。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https://api-docs.deepseek.com/quick_start/pricing/</a:t>
            </a:r>
          </a:p>
          <a:p xmlns:a="http://schemas.openxmlformats.org/drawingml/2006/main">
            <a:r>
              <a:t>10月20日费率；可复用前缀命中率95%，额外重跑任务按10%计；汇率7.00，另加6%API预算准备金。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三年完整投入：新购本地与API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个人中等用量以首年每工作日3项任务、每年增加10%计算；公司为20人首年各每工作日5项、每年增加25%。按相同材料和输出规模预算，个人本地三年约9.05万元、DeepSeek API约1.66万元；公司本地约392.5万元、API约68.3万元。两条路线都计入实施和维护，公司API也包含工具服务器。这个用量下，设备投入是主要差异。 每年按250个工作日计算，业务人员逐项复核的时间另外计入净节省。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接续：公司本地方案的钱主要花在哪里？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https://api-docs.deepseek.com/quick_start/pricing/</a:t>
            </a:r>
          </a:p>
          <a:p xmlns:a="http://schemas.openxmlformats.org/drawingml/2006/main">
            <a:r>
              <a:t>统一任务用量预算；含实施与维护人工，采用10月20日费率与已归档硬件预算。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公司本地成本主要来自硬件与维护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约392.5万元的公司本地三年预算里，硬件与设施约318.4万元，包括运行模型的整机、供工具使用的CPU服务器，以及首次接入机房的费用。首次部署约11.3万元，三年维护人工45万元，用电、机位和软件支持约17.9万元。GPU与工具服务器的三年电费合计约6.5万元，在这个方案里不是最大的成本。因此是否新购设备，首先要看资料要求、工作量和维护能力，而不是只比较单次调用价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接续：如果使用量显著增加，本地固定成本会怎样变化？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三年预算，包含模型与工具服务器、部署、技术维护和运行费用。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使用量增加后，也要计算扩容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使用越多，每项任务分摊的设备成本会下降，但有一天会超过单机能力。研究中的中等情景是20人首年各每工作日5项任务，三年本地约393万元；高情景首年每工作日10项、年增50%，第二年开始需要两台GPU服务器，三年本地约713万元。对应API预算约68万元和77万元。因此要把实际任务量、增长和扩容一起算，不能假设现有设备可以无限承接新增工作。 每年按250个工作日计算。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接续：最后回到业务：哪些任务值得最先投入？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每年250个工作日；中量年增25%，高量年增50%；按100K–170K多轮任务规划容量。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首批任务优先选择容易核对的产物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先从公告提取和代码测试开始。公告可以逐字段核对金额、日期、状态和原文；代码可以通过既有测试和新增边界测试验收。随后扩展到财报比较，把提取、计算和说明合在一起。NAS问答需要同步完成身份和撤权流程，材料预审先保留为储备。顺序主要看结果是否容易检查，以及前一步需要的工具和资料是否已经准备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接续：这些任务做完以后，怎样衡量实际收益？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示例公告来自虚构评价任务NER-01；未运行模型。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收益记录：一个工时计算示例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例如一项财报比较，原来人工需要90分钟。使用助手后，操作和编辑25分钟，额外核对与返工20分钟，那么实际净节省45分钟。如果每月30项，就是22.5小时。这个例子强调，模型生成得快，并不自动意味着省下同样多的人工；必须把复核、修改和失败重做计入。按每小时150元估值，对应每月3375元工时价值，现金支出是否下降则看实际人力安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接续：用这些产物和工时指标安排下一阶段工作。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示例工作量与时间假设，非已实现收益；分析师工时价值按150元／小时。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下一阶段的三个交付物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一阶段交付可核查的公告字段和代码测试，第二阶段把这些能力组合成财报比较包，第三阶段接入一个部门的NAS目录并完成权限验收。业务同事提供样例和验收要求，技术团队负责应用、工具与模型服务。试点时记录任务次数、人工操作与复核时间，以及开始回答前的等待。用这些记录更新三年成本估算，再决定是否增加共享服务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接续：正文结束，附录用于查看具体配置、测量和计算依据。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备查：模型与公开金融评测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Finance Agent v2在同一作者框架下比较金融研究任务，分数为带门槛的加权部分得分。候选选择同时考虑资源、上下文和工具能力。这里保留Qwen、DeepSeek和GLM等对照，不把单一榜单作为购买硬件的充分依据。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https://www.vals.ai/benchmarks/fabv2</a:t>
            </a:r>
          </a:p>
          <a:p xmlns:a="http://schemas.openxmlformats.org/drawingml/2006/main">
            <a:r>
              <a:t>https://huggingface.co/Qwen/Qwen3.8-27B-FP8</a:t>
            </a:r>
          </a:p>
          <a:p xmlns:a="http://schemas.openxmlformats.org/drawingml/2006/main">
            <a:r>
              <a:t>https://huggingface.co/deepseek-ai/DeepSeek-V4.1-Flash</a:t>
            </a:r>
          </a:p>
          <a:p xmlns:a="http://schemas.openxmlformats.org/drawingml/2006/main">
            <a:r>
              <a:t>作者榜单10月18日更新，10月20日归档；原版与1017版的成绩和性能分别记录。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备查：Spark实测与上下文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外部测试FP8权重加FP8 KV、MTP3、FlashInfer、YaRN4、关闭前缀缓存。输入为随机token。1M仅输出64token，是容量样本；其他各档输出2048。预分配池1,806,907token，留10%后1,626,216。完整精度KV容量另按近似减半研究。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https://huggingface.co/Qwen/Qwen3.8-27B-FP8</a:t>
            </a:r>
          </a:p>
          <a:p xmlns:a="http://schemas.openxmlformats.org/drawingml/2006/main">
            <a:r>
              <a:t>来自用户提供的外部测试汇总；具体版本和方法保留在知识库。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备查：知识库的交付范围与预算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四张6000D服务器版84GB，三回答副本一辅助，另两台CPU节点。完整精度KV按预留后的模型计算，131K总长合计9份、262K合计3份。20路短问答的速度不套用到这些长会话。Onyx实施42到68人日，自建70到110人日；部门限定目录试点的工作量另在pilot研究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https://www.onyx.app/pricing</a:t>
            </a:r>
          </a:p>
          <a:p xmlns:a="http://schemas.openxmlformats.org/drawingml/2006/main">
            <a:r>
              <a:t>https://milvus.io/docs/v2.6.x/filtered-search.md</a:t>
            </a:r>
          </a:p>
          <a:p xmlns:a="http://schemas.openxmlformats.org/drawingml/2006/main">
            <a:r>
              <a:t>平台授权L待报价；全文档库规模仍需实地盘点。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备查：公司容量与A100公开结果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DeepSeek原生checkpoint510.286GB，Engram表202.758GB放主机内存，其余权重307.528GB。容量采用图捕获后预算等比例缩放并留10%。shi3z与modified vLLM公开速度来自不同硬件，不能将其直接写成同机倍速优势；公司选择modified vLLM保留成熟服务能力。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https://huggingface.co/deepseek-ai/DeepSeek-V4.1-Flash</a:t>
            </a:r>
          </a:p>
          <a:p xmlns:a="http://schemas.openxmlformats.org/drawingml/2006/main">
            <a:r>
              <a:t>https://github.com/Tokha233/deepseek-v4.1-flash-a100-turbo</a:t>
            </a:r>
          </a:p>
          <a:p xmlns:a="http://schemas.openxmlformats.org/drawingml/2006/main">
            <a:r>
              <a:t>https://github.com/shi3z/deepseekv4.1-A100-custom</a:t>
            </a:r>
          </a:p>
          <a:p xmlns:a="http://schemas.openxmlformats.org/drawingml/2006/main">
            <a:r>
              <a:t>容量估算与不同硬件的公开性能分别记录；完整推导与配置见知识库。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备查：三年成本计算输入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任务8轮，从100K增长到170K，每轮2K输出。累计输入1.08M，其中新增外部资料156K已包含；输出16K。DeepSeek命中877800、未命中202200。Sonnet缓存读864500、写215500。计划任务再加10%完整轨迹。模型公开价按2026年10月20日归档；汇率7和6%准备金为预算假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https://api-docs.deepseek.com/quick_start/pricing/</a:t>
            </a:r>
          </a:p>
          <a:p xmlns:a="http://schemas.openxmlformats.org/drawingml/2006/main">
            <a:r>
              <a:t>https://platform.claude.com/docs/en/about-claude/pricing</a:t>
            </a:r>
          </a:p>
          <a:p xmlns:a="http://schemas.openxmlformats.org/drawingml/2006/main">
            <a:r>
              <a:t>https://cdn.deepseek.com/policies/zh-CN/deepseek-open-platform-terms-of-service.html</a:t>
            </a:r>
          </a:p>
          <a:p xmlns:a="http://schemas.openxmlformats.org/drawingml/2006/main">
            <a:r>
              <a:t>https://www.anthropic.com/news/updating-restrictions-of-sales-to-unsupported-regions</a:t>
            </a:r>
          </a:p>
          <a:p xmlns:a="http://schemas.openxmlformats.org/drawingml/2006/main">
            <a:r>
              <a:t>费率单位：美元／百万token。Sonnet为适用主体和地域成立时的全球价格参照。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资料与详细方案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本次内容来自行业报告、公开模型与框架资料、外部Spark测量、部署研究和可复算成本模型。研究依据冻结到10月20日，演示稿于10月22日重新编排。详细数据、原文快照、公式和任务样例都保存在同一知识库中。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d01f427fdf4fa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7683dfe75a405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085f0b5f1048c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3b1e42c6d047b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297763405f4a0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e8db725af044c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90BA1E4-E458-4EC4-8C83-26E1632F85E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BF6AC8E-E0B0-4545-B813-E6DF7F8FB1D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0D5B05F-2A7D-4D11-ABFA-22859841BAD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6C01AC1-42AA-4337-8F85-3EDE12C5127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C6CFEF9-0DB5-4DB6-BC4C-9AA6096CA84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D1942CE-1A20-45A0-80D8-587F681CC72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87D1FEA-670C-4FA1-9DC1-66C21B12027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A34DB7D-826B-4EA4-903C-9693AAF23A3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ECFDF21-4ACD-440D-A3B9-3E90B00ADA3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E09DADA-FFF1-4361-8DB5-12B46028AF0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e82ef9cbcb54f84" /><Relationship Type="http://schemas.openxmlformats.org/officeDocument/2006/relationships/slideLayout" Target="/ppt/slideLayouts/slideLayout1.xml" Id="R4aeafe10e48f4ddb" /><Relationship Type="http://schemas.openxmlformats.org/officeDocument/2006/relationships/slideLayout" Target="/ppt/slideLayouts/slideLayout2.xml" Id="R755dd8ce69be4c79" /><Relationship Type="http://schemas.openxmlformats.org/officeDocument/2006/relationships/slideLayout" Target="/ppt/slideLayouts/slideLayout3.xml" Id="R20f80cbd54274a79" /><Relationship Type="http://schemas.openxmlformats.org/officeDocument/2006/relationships/slideLayout" Target="/ppt/slideLayouts/slideLayout4.xml" Id="R428ba602a327464e" /><Relationship Type="http://schemas.openxmlformats.org/officeDocument/2006/relationships/slideLayout" Target="/ppt/slideLayouts/slideLayout5.xml" Id="R5cdf0c5e7ad9417a" /><Relationship Type="http://schemas.openxmlformats.org/officeDocument/2006/relationships/slideLayout" Target="/ppt/slideLayouts/slideLayout6.xml" Id="R4552de279c31400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aeafe10e48f4ddb"/>
    <p:sldLayoutId xmlns:r="http://schemas.openxmlformats.org/officeDocument/2006/relationships" id="2147483650" r:id="R755dd8ce69be4c79"/>
    <p:sldLayoutId xmlns:r="http://schemas.openxmlformats.org/officeDocument/2006/relationships" id="2147483651" r:id="R20f80cbd54274a79"/>
    <p:sldLayoutId xmlns:r="http://schemas.openxmlformats.org/officeDocument/2006/relationships" id="2147483652" r:id="R428ba602a327464e"/>
    <p:sldLayoutId xmlns:r="http://schemas.openxmlformats.org/officeDocument/2006/relationships" id="2147483653" r:id="R5cdf0c5e7ad9417a"/>
    <p:sldLayoutId xmlns:r="http://schemas.openxmlformats.org/officeDocument/2006/relationships" id="2147483654" r:id="R4552de279c31400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PingFang SC"/>
        <a:ea typeface=""/>
        <a:cs typeface=""/>
      </a:majorFont>
      <a:minorFont>
        <a:latin typeface="PingFang S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09e95c6e1e14432" /><Relationship Type="http://schemas.openxmlformats.org/officeDocument/2006/relationships/notesSlide" Target="/ppt/notesSlides/notesSlide1.xml" Id="R80185d19b7a44f8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2e251f02024fd2" /><Relationship Type="http://schemas.openxmlformats.org/officeDocument/2006/relationships/notesSlide" Target="/ppt/notesSlides/notesSlide2.xml" Id="Rce254241e95648a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8d4842fa29f4954" /><Relationship Type="http://schemas.openxmlformats.org/officeDocument/2006/relationships/notesSlide" Target="/ppt/notesSlides/notesSlide3.xml" Id="R3a1f034738fe47c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1faef8819934609" /><Relationship Type="http://schemas.openxmlformats.org/officeDocument/2006/relationships/notesSlide" Target="/ppt/notesSlides/notesSlide4.xml" Id="R8eb49e3147c4483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f4240a343d54052" /><Relationship Type="http://schemas.openxmlformats.org/officeDocument/2006/relationships/notesSlide" Target="/ppt/notesSlides/notesSlide5.xml" Id="R0f8584b08e9d4dd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670270841341aa" /><Relationship Type="http://schemas.openxmlformats.org/officeDocument/2006/relationships/hyperlink" Target="https://github.com/SthMax/quant-intern/releases/tag/phase1-2026-09-11" TargetMode="External" Id="R8b26b26c07864a83" /><Relationship Type="http://schemas.openxmlformats.org/officeDocument/2006/relationships/notesSlide" Target="/ppt/notesSlides/notesSlide6.xml" Id="R46958db167964cb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0cd0366b5274e22" /><Relationship Type="http://schemas.openxmlformats.org/officeDocument/2006/relationships/notesSlide" Target="/ppt/notesSlides/notesSlide7.xml" Id="R9a0b886bc9e5411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5defad04aef4069" /><Relationship Type="http://schemas.openxmlformats.org/officeDocument/2006/relationships/notesSlide" Target="/ppt/notesSlides/notesSlide8.xml" Id="Rdf609eb2bbea476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f72d89093cc4fab" /><Relationship Type="http://schemas.openxmlformats.org/officeDocument/2006/relationships/notesSlide" Target="/ppt/notesSlides/notesSlide9.xml" Id="R402ba0d496a446c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a8ee03b7c2644db" /><Relationship Type="http://schemas.openxmlformats.org/officeDocument/2006/relationships/hyperlink" Target="https://docs.nvidia.com/dgx/dgx-spark/hardware.html" TargetMode="External" Id="Rd21bc73d05d4474c" /><Relationship Type="http://schemas.openxmlformats.org/officeDocument/2006/relationships/notesSlide" Target="/ppt/notesSlides/notesSlide10.xml" Id="Ra7d099169f8e4b0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2106ad10e604a0d" /><Relationship Type="http://schemas.openxmlformats.org/officeDocument/2006/relationships/notesSlide" Target="/ppt/notesSlides/notesSlide11.xml" Id="Re222a512c5894f0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f4b3f9b267c4f6f" /><Relationship Type="http://schemas.openxmlformats.org/officeDocument/2006/relationships/chart" Target="/ppt/slides/charts/chart1.xml" Id="Rc95e218a801d4211" /><Relationship Type="http://schemas.openxmlformats.org/officeDocument/2006/relationships/chart" Target="/ppt/slides/charts/chart2.xml" Id="R7052cd338b2c463a" /><Relationship Type="http://schemas.openxmlformats.org/officeDocument/2006/relationships/notesSlide" Target="/ppt/notesSlides/notesSlide12.xml" Id="Redf023bc97014a4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7c46b915d2b439b" /><Relationship Type="http://schemas.openxmlformats.org/officeDocument/2006/relationships/hyperlink" Target="https://github.com/bojieli/ai-infra-book" TargetMode="External" Id="R8ad1ddead9214dd1" /><Relationship Type="http://schemas.openxmlformats.org/officeDocument/2006/relationships/notesSlide" Target="/ppt/notesSlides/notesSlide13.xml" Id="Rcc0d5c46de39452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8eeebd3643f4091" /><Relationship Type="http://schemas.openxmlformats.org/officeDocument/2006/relationships/hyperlink" Target="https://docs.vllm.ai/en/stable/features/kv_offloading_usage/" TargetMode="External" Id="R05abacaff62a43fe" /><Relationship Type="http://schemas.openxmlformats.org/officeDocument/2006/relationships/notesSlide" Target="/ppt/notesSlides/notesSlide14.xml" Id="R921028b6d51f482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28b23b16e4461c" /><Relationship Type="http://schemas.openxmlformats.org/officeDocument/2006/relationships/notesSlide" Target="/ppt/notesSlides/notesSlide15.xml" Id="Rc71f04e546c54db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9ac4355778941aa" /><Relationship Type="http://schemas.openxmlformats.org/officeDocument/2006/relationships/hyperlink" Target="https://milvus.io/docs/v2.6.x/filtered-search.md" TargetMode="External" Id="R97e59db8539f4196" /><Relationship Type="http://schemas.openxmlformats.org/officeDocument/2006/relationships/notesSlide" Target="/ppt/notesSlides/notesSlide16.xml" Id="R4f5e117956ae462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014df843184eee" /><Relationship Type="http://schemas.openxmlformats.org/officeDocument/2006/relationships/hyperlink" Target="https://www.onyx.app/pricing" TargetMode="External" Id="Rc9f2f24e4f2e442d" /><Relationship Type="http://schemas.openxmlformats.org/officeDocument/2006/relationships/notesSlide" Target="/ppt/notesSlides/notesSlide17.xml" Id="R83bc8ff1846140c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ad859b043a94a0a" /><Relationship Type="http://schemas.openxmlformats.org/officeDocument/2006/relationships/notesSlide" Target="/ppt/notesSlides/notesSlide18.xml" Id="Rdaa94b173edf499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4501f2147c349f4" /><Relationship Type="http://schemas.openxmlformats.org/officeDocument/2006/relationships/notesSlide" Target="/ppt/notesSlides/notesSlide19.xml" Id="R1b5634ee35a14b6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056396541ec4048" /><Relationship Type="http://schemas.openxmlformats.org/officeDocument/2006/relationships/notesSlide" Target="/ppt/notesSlides/notesSlide20.xml" Id="R057c9a0f71214510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98a4b9abea5426b" /><Relationship Type="http://schemas.openxmlformats.org/officeDocument/2006/relationships/hyperlink" Target="https://github.com/bojieli/ai-infra-book" TargetMode="External" Id="Rd55b087ef2314035" /><Relationship Type="http://schemas.openxmlformats.org/officeDocument/2006/relationships/notesSlide" Target="/ppt/notesSlides/notesSlide21.xml" Id="R6b292b0cc721474f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9bf87cdb83a47e1" /><Relationship Type="http://schemas.openxmlformats.org/officeDocument/2006/relationships/notesSlide" Target="/ppt/notesSlides/notesSlide22.xml" Id="R0c219e235a4f4637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86c8fe955594cb2" /><Relationship Type="http://schemas.openxmlformats.org/officeDocument/2006/relationships/notesSlide" Target="/ppt/notesSlides/notesSlide23.xml" Id="R25940cb315f64fa7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6237ff845a4f28" /><Relationship Type="http://schemas.openxmlformats.org/officeDocument/2006/relationships/notesSlide" Target="/ppt/notesSlides/notesSlide24.xml" Id="R966c9a5afe7242f2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2b1ba9556cb4892" /><Relationship Type="http://schemas.openxmlformats.org/officeDocument/2006/relationships/hyperlink" Target="https://cdn.deepseek.com/policies/zh-CN/deepseek-open-platform-terms-of-service.html" TargetMode="External" Id="R66e81c2a6d644a43" /><Relationship Type="http://schemas.openxmlformats.org/officeDocument/2006/relationships/notesSlide" Target="/ppt/notesSlides/notesSlide25.xml" Id="R6f8c273caea54f31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613faa29e584734" /><Relationship Type="http://schemas.openxmlformats.org/officeDocument/2006/relationships/hyperlink" Target="https://api-docs.deepseek.com/quick_start/pricing/" TargetMode="External" Id="Reb094d102f9e4989" /><Relationship Type="http://schemas.openxmlformats.org/officeDocument/2006/relationships/notesSlide" Target="/ppt/notesSlides/notesSlide26.xml" Id="Rb575c5a9cc274add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89a9b486b064bf6" /><Relationship Type="http://schemas.openxmlformats.org/officeDocument/2006/relationships/hyperlink" Target="https://api-docs.deepseek.com/quick_start/pricing/" TargetMode="External" Id="R3ef2b825489846df" /><Relationship Type="http://schemas.openxmlformats.org/officeDocument/2006/relationships/chart" Target="/ppt/slides/charts/chart3.xml" Id="R9fb4b55658d94058" /><Relationship Type="http://schemas.openxmlformats.org/officeDocument/2006/relationships/chart" Target="/ppt/slides/charts/chart4.xml" Id="Rdd71e970450b4ae7" /><Relationship Type="http://schemas.openxmlformats.org/officeDocument/2006/relationships/notesSlide" Target="/ppt/notesSlides/notesSlide27.xml" Id="R31dc213bc3954670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972e25ead64a83" /><Relationship Type="http://schemas.openxmlformats.org/officeDocument/2006/relationships/chart" Target="/ppt/slides/charts/chart5.xml" Id="Rb8a1e9e1d87241ce" /><Relationship Type="http://schemas.openxmlformats.org/officeDocument/2006/relationships/notesSlide" Target="/ppt/notesSlides/notesSlide28.xml" Id="R5513463b45ad4e55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2b3a87d7314de7" /><Relationship Type="http://schemas.openxmlformats.org/officeDocument/2006/relationships/notesSlide" Target="/ppt/notesSlides/notesSlide29.xml" Id="R8657b1bdb94f4f1e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5457dc3456496a" /><Relationship Type="http://schemas.openxmlformats.org/officeDocument/2006/relationships/notesSlide" Target="/ppt/notesSlides/notesSlide30.xml" Id="R9c2c7f22c8fc4838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f3bb0ea45a4229" /><Relationship Type="http://schemas.openxmlformats.org/officeDocument/2006/relationships/notesSlide" Target="/ppt/notesSlides/notesSlide31.xml" Id="R95d04aa7835e49a6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5d20601062e4f87" /><Relationship Type="http://schemas.openxmlformats.org/officeDocument/2006/relationships/notesSlide" Target="/ppt/notesSlides/notesSlide32.xml" Id="Rd999375fc2fb4301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440a6e05364cba" /><Relationship Type="http://schemas.openxmlformats.org/officeDocument/2006/relationships/hyperlink" Target="https://www.vals.ai/benchmarks/fabv2" TargetMode="External" Id="R88d81ee35f6741c7" /><Relationship Type="http://schemas.openxmlformats.org/officeDocument/2006/relationships/notesSlide" Target="/ppt/notesSlides/notesSlide33.xml" Id="R7862c13994b14b48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a32e604760a42c5" /><Relationship Type="http://schemas.openxmlformats.org/officeDocument/2006/relationships/hyperlink" Target="https://huggingface.co/Qwen/Qwen3.8-27B-FP8" TargetMode="External" Id="R56e5f2dae07149a5" /><Relationship Type="http://schemas.openxmlformats.org/officeDocument/2006/relationships/notesSlide" Target="/ppt/notesSlides/notesSlide34.xml" Id="R9b699c72a5d140b2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2517495351c425b" /><Relationship Type="http://schemas.openxmlformats.org/officeDocument/2006/relationships/hyperlink" Target="https://www.onyx.app/pricing" TargetMode="External" Id="R2d8345e630ac4821" /><Relationship Type="http://schemas.openxmlformats.org/officeDocument/2006/relationships/notesSlide" Target="/ppt/notesSlides/notesSlide35.xml" Id="R8f6f7605e00b407e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53606d5e9794080" /><Relationship Type="http://schemas.openxmlformats.org/officeDocument/2006/relationships/hyperlink" Target="https://huggingface.co/deepseek-ai/DeepSeek-V4.1-Flash" TargetMode="External" Id="Raef4b22d9295461a" /><Relationship Type="http://schemas.openxmlformats.org/officeDocument/2006/relationships/notesSlide" Target="/ppt/notesSlides/notesSlide36.xml" Id="R582a87a896e94c71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bf35e8fc7524993" /><Relationship Type="http://schemas.openxmlformats.org/officeDocument/2006/relationships/hyperlink" Target="https://api-docs.deepseek.com/quick_start/pricing/" TargetMode="External" Id="Rb7aaae8959ce40f4" /><Relationship Type="http://schemas.openxmlformats.org/officeDocument/2006/relationships/notesSlide" Target="/ppt/notesSlides/notesSlide37.xml" Id="R05d2193579814084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f071f26e7546b1" /><Relationship Type="http://schemas.openxmlformats.org/officeDocument/2006/relationships/hyperlink" Target="https://github.com/SthMax/quant-intern/releases/tag/phase1-2026-09-11" TargetMode="External" Id="R000e508365c14d70" /><Relationship Type="http://schemas.openxmlformats.org/officeDocument/2006/relationships/hyperlink" Target="https://www.vals.ai/benchmarks/fabv2" TargetMode="External" Id="R73e95cc053bb481a" /><Relationship Type="http://schemas.openxmlformats.org/officeDocument/2006/relationships/hyperlink" Target="https://github.com/bojieli/ai-infra-book" TargetMode="External" Id="R4613c82704db4833" /><Relationship Type="http://schemas.openxmlformats.org/officeDocument/2006/relationships/hyperlink" Target="https://docs.vllm.ai/en/stable/features/kv_offloading_usage/" TargetMode="External" Id="R6de6ea9a939149c9" /><Relationship Type="http://schemas.openxmlformats.org/officeDocument/2006/relationships/hyperlink" Target="https://docs.lmcache.ai/mp/l2_storage.html" TargetMode="External" Id="R3207d85d265c4631" /><Relationship Type="http://schemas.openxmlformats.org/officeDocument/2006/relationships/hyperlink" Target="https://api-docs.deepseek.com/quick_start/pricing/" TargetMode="External" Id="R7ee39be84d744a9d" /><Relationship Type="http://schemas.openxmlformats.org/officeDocument/2006/relationships/hyperlink" Target="https://github.com/Tokha233/deepseek-v4.1-flash-a100-turbo" TargetMode="External" Id="Rdf449e40429f4a9f" /><Relationship Type="http://schemas.openxmlformats.org/officeDocument/2006/relationships/hyperlink" Target="https://github.com/SthMax/quant-intern" TargetMode="External" Id="R91b1e9bbd13d49fe" /><Relationship Type="http://schemas.openxmlformats.org/officeDocument/2006/relationships/notesSlide" Target="/ppt/notesSlides/notesSlide38.xml" Id="R2a25652540654b3e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250" b="1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首次出现输出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250" b="1">
              <a:solidFill>
                <a:srgbClr val="18313E"/>
              </a:solidFill>
              <a:latin typeface="PingFang SC"/>
              <a:ea typeface="PingFang SC"/>
              <a:cs typeface="PingFang SC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分钟</c:v>
          </c:tx>
          <c:spPr>
            <a:solidFill xmlns:a="http://schemas.openxmlformats.org/drawingml/2006/main">
              <a:srgbClr val="007F7A"/>
            </a:solidFill>
          </c:spPr>
          <c:invertIfNegative val="0"/>
          <c:cat>
            <c:strRef>
              <c:f>'Chart Data'!$A$2:$A$3</c:f>
              <c:strCache>
                <c:ptCount val="2"/>
                <c:pt idx="0">
                  <c:v>500K输入</c:v>
                </c:pt>
                <c:pt idx="1">
                  <c:v>100K输入</c:v>
                </c:pt>
              </c:strCache>
            </c:strRef>
          </c:cat>
          <c:val>
            <c:numRef>
              <c:f>'Chart Data'!$B$2:$B$3</c:f>
              <c:numCache>
                <c:formatCode>0.0</c:formatCode>
                <c:ptCount val="2"/>
                <c:pt idx="0">
                  <c:v>24.5017</c:v>
                </c:pt>
                <c:pt idx="1">
                  <c:v>2.4133</c:v>
                </c:pt>
              </c:numCache>
            </c:numRef>
          </c:val>
        </c:ser>
        <c:dLbls>
          <c:numFmt formatCode="0.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100" b="1">
                  <a:solidFill>
                    <a:srgbClr val="18313E"/>
                  </a:solidFill>
                  <a:latin typeface="PingFang SC"/>
                  <a:ea typeface="PingFang SC"/>
                  <a:cs typeface="PingFang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5715">
              <a:solidFill>
                <a:srgbClr val="C8D7DE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C8D7D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pPr>
          </a:p>
        </c:txPr>
        <c:crossAx val="48672768"/>
      </c:catAx>
      <c:valAx>
        <c:axId val="48672768"/>
        <c:scaling>
          <c:orientation val="minMax"/>
          <c:max val="30"/>
          <c:min val="0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</a:p>
        </c:txPr>
        <c:crossAx val="48650112"/>
        <c:crossBetween val="between"/>
        <c:majorUnit val="5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250" b="1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开始后的生成速度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250" b="1">
              <a:solidFill>
                <a:srgbClr val="18313E"/>
              </a:solidFill>
              <a:latin typeface="PingFang SC"/>
              <a:ea typeface="PingFang SC"/>
              <a:cs typeface="PingFang SC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token/s</c:v>
          </c:tx>
          <c:spPr>
            <a:solidFill xmlns:a="http://schemas.openxmlformats.org/drawingml/2006/main">
              <a:srgbClr val="007F7A"/>
            </a:solidFill>
          </c:spPr>
          <c:invertIfNegative val="0"/>
          <c:cat>
            <c:strRef>
              <c:f>'Chart Data'!$A$2:$A$3</c:f>
              <c:strCache>
                <c:ptCount val="2"/>
                <c:pt idx="0">
                  <c:v>500K输入</c:v>
                </c:pt>
                <c:pt idx="1">
                  <c:v>100K输入</c:v>
                </c:pt>
              </c:strCache>
            </c:strRef>
          </c:cat>
          <c:val>
            <c:numRef>
              <c:f>'Chart Data'!$B$2:$B$3</c:f>
              <c:numCache>
                <c:formatCode>0.0</c:formatCode>
                <c:ptCount val="2"/>
                <c:pt idx="0">
                  <c:v>14.82</c:v>
                </c:pt>
                <c:pt idx="1">
                  <c:v>20.11</c:v>
                </c:pt>
              </c:numCache>
            </c:numRef>
          </c:val>
        </c:ser>
        <c:dLbls>
          <c:numFmt formatCode="0.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100" b="1">
                  <a:solidFill>
                    <a:srgbClr val="18313E"/>
                  </a:solidFill>
                  <a:latin typeface="PingFang SC"/>
                  <a:ea typeface="PingFang SC"/>
                  <a:cs typeface="PingFang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5715">
              <a:solidFill>
                <a:srgbClr val="C8D7DE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C8D7D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pPr>
          </a:p>
        </c:txPr>
        <c:crossAx val="48672768"/>
      </c:catAx>
      <c:valAx>
        <c:axId val="48672768"/>
        <c:scaling>
          <c:orientation val="minMax"/>
          <c:max val="25"/>
          <c:min val="0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</a:p>
        </c:txPr>
        <c:crossAx val="48650112"/>
        <c:crossBetween val="between"/>
        <c:majorUnit val="5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250" b="1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个人：每工作日3项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250" b="1">
              <a:solidFill>
                <a:srgbClr val="18313E"/>
              </a:solidFill>
              <a:latin typeface="PingFang SC"/>
              <a:ea typeface="PingFang SC"/>
              <a:cs typeface="PingFang SC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万元</c:v>
          </c:tx>
          <c:spPr>
            <a:solidFill xmlns:a="http://schemas.openxmlformats.org/drawingml/2006/main">
              <a:srgbClr val="007F7A"/>
            </a:solidFill>
          </c:spPr>
          <c:invertIfNegative val="0"/>
          <c:cat>
            <c:strRef>
              <c:f>'Chart Data'!$A$2:$A$3</c:f>
              <c:strCache>
                <c:ptCount val="2"/>
                <c:pt idx="0">
                  <c:v>DeepSeek API</c:v>
                </c:pt>
                <c:pt idx="1">
                  <c:v>Spark本地</c:v>
                </c:pt>
              </c:strCache>
            </c:strRef>
          </c:cat>
          <c:val>
            <c:numRef>
              <c:f>'Chart Data'!$B$2:$B$3</c:f>
              <c:numCache>
                <c:formatCode>0.0</c:formatCode>
                <c:ptCount val="2"/>
                <c:pt idx="0">
                  <c:v>1.655237</c:v>
                </c:pt>
                <c:pt idx="1">
                  <c:v>9.046564</c:v>
                </c:pt>
              </c:numCache>
            </c:numRef>
          </c:val>
        </c:ser>
        <c:dLbls>
          <c:numFmt formatCode="0.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100" b="1">
                  <a:solidFill>
                    <a:srgbClr val="18313E"/>
                  </a:solidFill>
                  <a:latin typeface="PingFang SC"/>
                  <a:ea typeface="PingFang SC"/>
                  <a:cs typeface="PingFang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5715">
              <a:solidFill>
                <a:srgbClr val="C8D7DE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C8D7D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pPr>
          </a:p>
        </c:txPr>
        <c:crossAx val="48672768"/>
      </c:catAx>
      <c:valAx>
        <c:axId val="48672768"/>
        <c:scaling>
          <c:orientation val="minMax"/>
          <c:max val="12"/>
          <c:min val="0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</a:p>
        </c:txPr>
        <c:crossAx val="48650112"/>
        <c:crossBetween val="between"/>
        <c:majorUnit val="2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250" b="1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公司：20人，每人每工作日5项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250" b="1">
              <a:solidFill>
                <a:srgbClr val="18313E"/>
              </a:solidFill>
              <a:latin typeface="PingFang SC"/>
              <a:ea typeface="PingFang SC"/>
              <a:cs typeface="PingFang SC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万元</c:v>
          </c:tx>
          <c:spPr>
            <a:solidFill xmlns:a="http://schemas.openxmlformats.org/drawingml/2006/main">
              <a:srgbClr val="007F7A"/>
            </a:solidFill>
          </c:spPr>
          <c:invertIfNegative val="0"/>
          <c:cat>
            <c:strRef>
              <c:f>'Chart Data'!$A$2:$A$3</c:f>
              <c:strCache>
                <c:ptCount val="2"/>
                <c:pt idx="0">
                  <c:v>DeepSeek API</c:v>
                </c:pt>
                <c:pt idx="1">
                  <c:v>八H200本地</c:v>
                </c:pt>
              </c:strCache>
            </c:strRef>
          </c:cat>
          <c:val>
            <c:numRef>
              <c:f>'Chart Data'!$B$2:$B$3</c:f>
              <c:numCache>
                <c:formatCode>0</c:formatCode>
                <c:ptCount val="2"/>
                <c:pt idx="0">
                  <c:v>68.343132</c:v>
                </c:pt>
                <c:pt idx="1">
                  <c:v>392.540994</c:v>
                </c:pt>
              </c:numCache>
            </c:numRef>
          </c:val>
        </c:ser>
        <c:dLbls>
          <c:numFmt formatCode="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100" b="1">
                  <a:solidFill>
                    <a:srgbClr val="18313E"/>
                  </a:solidFill>
                  <a:latin typeface="PingFang SC"/>
                  <a:ea typeface="PingFang SC"/>
                  <a:cs typeface="PingFang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5715">
              <a:solidFill>
                <a:srgbClr val="C8D7DE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C8D7D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pPr>
          </a:p>
        </c:txPr>
        <c:crossAx val="48672768"/>
      </c:catAx>
      <c:valAx>
        <c:axId val="48672768"/>
        <c:scaling>
          <c:orientation val="minMax"/>
          <c:max val="450"/>
          <c:min val="0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</a:p>
        </c:txPr>
        <c:crossAx val="48650112"/>
        <c:crossBetween val="between"/>
        <c:majorUnit val="100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250" b="1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三年公司本地投入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250" b="1">
              <a:solidFill>
                <a:srgbClr val="18313E"/>
              </a:solidFill>
              <a:latin typeface="PingFang SC"/>
              <a:ea typeface="PingFang SC"/>
              <a:cs typeface="PingFang SC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万元</c:v>
          </c:tx>
          <c:spPr>
            <a:solidFill xmlns:a="http://schemas.openxmlformats.org/drawingml/2006/main">
              <a:srgbClr val="007F7A"/>
            </a:solidFill>
          </c:spPr>
          <c:invertIfNegative val="0"/>
          <c:cat>
            <c:strRef>
              <c:f>'Chart Data'!$A$2:$A$5</c:f>
              <c:strCache>
                <c:ptCount val="4"/>
                <c:pt idx="0">
                  <c:v>用电／机位／支持</c:v>
                </c:pt>
                <c:pt idx="1">
                  <c:v>维护人工</c:v>
                </c:pt>
                <c:pt idx="2">
                  <c:v>首次部署</c:v>
                </c:pt>
                <c:pt idx="3">
                  <c:v>硬件与设施</c:v>
                </c:pt>
              </c:strCache>
            </c:strRef>
          </c:cat>
          <c:val>
            <c:numRef>
              <c:f>'Chart Data'!$B$2:$B$5</c:f>
              <c:numCache>
                <c:formatCode>0.0</c:formatCode>
                <c:ptCount val="4"/>
                <c:pt idx="0">
                  <c:v>17.92633</c:v>
                </c:pt>
                <c:pt idx="1">
                  <c:v>45</c:v>
                </c:pt>
                <c:pt idx="2">
                  <c:v>11.25</c:v>
                </c:pt>
                <c:pt idx="3">
                  <c:v>318.364664</c:v>
                </c:pt>
              </c:numCache>
            </c:numRef>
          </c:val>
        </c:ser>
        <c:dLbls>
          <c:numFmt formatCode="0.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100" b="1">
                  <a:solidFill>
                    <a:srgbClr val="18313E"/>
                  </a:solidFill>
                  <a:latin typeface="PingFang SC"/>
                  <a:ea typeface="PingFang SC"/>
                  <a:cs typeface="PingFang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5715">
              <a:solidFill>
                <a:srgbClr val="C8D7DE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C8D7D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pPr>
          </a:p>
        </c:txPr>
        <c:crossAx val="48672768"/>
      </c:catAx>
      <c:valAx>
        <c:axId val="48672768"/>
        <c:scaling>
          <c:orientation val="minMax"/>
          <c:max val="350"/>
          <c:min val="0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</a:p>
        </c:txPr>
        <c:crossAx val="48650112"/>
        <c:crossBetween val="between"/>
        <c:majorUnit val="100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831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721E86-49FD-4425-94B6-48207FF64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28675"/>
            <a:ext cx="1143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A4C7C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75" b="0">
                <a:solidFill>
                  <a:srgbClr val="A4C7C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75" b="0">
                <a:solidFill>
                  <a:srgbClr val="A4C7C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75" b="0">
                <a:solidFill>
                  <a:srgbClr val="A4C7C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75" b="0">
                <a:solidFill>
                  <a:srgbClr val="A4C7C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75" b="0">
                <a:solidFill>
                  <a:srgbClr val="A4C7C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75" b="0">
                <a:solidFill>
                  <a:srgbClr val="A4C7C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75" b="0">
                <a:solidFill>
                  <a:srgbClr val="A4C7C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75" b="0">
                <a:solidFill>
                  <a:srgbClr val="A4C7C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75" b="0">
                <a:solidFill>
                  <a:srgbClr val="A4C7C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A4C7CA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A4C7CA"/>
                </a:solidFill>
                <a:latin typeface="PingFang SC"/>
                <a:ea typeface="PingFang SC"/>
                <a:cs typeface="PingFang SC"/>
              </a:rPr>
              <a:t>实习项目最终汇报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798E19-2986-4F1E-8C7F-36631C3FE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57425"/>
            <a:ext cx="1290637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1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51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51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51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51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51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51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51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51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51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51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51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大语言模型在公募基金</a:t>
            </a:r>
          </a:p>
          <a:p xmlns:a="http://schemas.openxmlformats.org/drawingml/2006/main">
            <a:pPr algn="l">
              <a:defRPr sz="51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51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工作中的应用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782AD0-0632-4CFB-955D-E9313F652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333875"/>
            <a:ext cx="1304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75" b="0">
                <a:solidFill>
                  <a:srgbClr val="B8D3D6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775" b="0">
                <a:solidFill>
                  <a:srgbClr val="B8D3D6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775" b="0">
                <a:solidFill>
                  <a:srgbClr val="B8D3D6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775" b="0">
                <a:solidFill>
                  <a:srgbClr val="B8D3D6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775" b="0">
                <a:solidFill>
                  <a:srgbClr val="B8D3D6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775" b="0">
                <a:solidFill>
                  <a:srgbClr val="B8D3D6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775" b="0">
                <a:solidFill>
                  <a:srgbClr val="B8D3D6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775" b="0">
                <a:solidFill>
                  <a:srgbClr val="B8D3D6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775" b="0">
                <a:solidFill>
                  <a:srgbClr val="B8D3D6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775" b="0">
                <a:solidFill>
                  <a:srgbClr val="B8D3D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775" b="0">
                <a:solidFill>
                  <a:srgbClr val="B8D3D6"/>
                </a:solidFill>
                <a:latin typeface="PingFang SC"/>
                <a:ea typeface="PingFang SC"/>
                <a:cs typeface="PingFang SC"/>
              </a:defRPr>
            </a:pPr>
            <a:r>
              <a:rPr sz="2775" b="0">
                <a:solidFill>
                  <a:srgbClr val="B8D3D6"/>
                </a:solidFill>
                <a:latin typeface="PingFang SC"/>
                <a:ea typeface="PingFang SC"/>
                <a:cs typeface="PingFang SC"/>
              </a:rPr>
              <a:t>工作示例、三套部署方案与成本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23022D-14C8-47E9-838B-E5CB5ED7A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34025"/>
            <a:ext cx="1352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727D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24847D-C994-4441-88DD-EF807883B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000750"/>
            <a:ext cx="114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66C6B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75" b="1">
                <a:solidFill>
                  <a:srgbClr val="66C6B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75" b="1">
                <a:solidFill>
                  <a:srgbClr val="66C6B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75" b="1">
                <a:solidFill>
                  <a:srgbClr val="66C6B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75" b="1">
                <a:solidFill>
                  <a:srgbClr val="66C6B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75" b="1">
                <a:solidFill>
                  <a:srgbClr val="66C6B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75" b="1">
                <a:solidFill>
                  <a:srgbClr val="66C6B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75" b="1">
                <a:solidFill>
                  <a:srgbClr val="66C6B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75" b="1">
                <a:solidFill>
                  <a:srgbClr val="66C6B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75" b="1">
                <a:solidFill>
                  <a:srgbClr val="66C6B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66C6BA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66C6BA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7E0EC3-DF12-4BD4-BB3B-006EC37E2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600825"/>
            <a:ext cx="4286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9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9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9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9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9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9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9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9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9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9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9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怎样使用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55458F-D5FE-40EC-BD71-B67813F34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6000750"/>
            <a:ext cx="114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66C6B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75" b="1">
                <a:solidFill>
                  <a:srgbClr val="66C6B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75" b="1">
                <a:solidFill>
                  <a:srgbClr val="66C6B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75" b="1">
                <a:solidFill>
                  <a:srgbClr val="66C6B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75" b="1">
                <a:solidFill>
                  <a:srgbClr val="66C6B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75" b="1">
                <a:solidFill>
                  <a:srgbClr val="66C6B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75" b="1">
                <a:solidFill>
                  <a:srgbClr val="66C6B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75" b="1">
                <a:solidFill>
                  <a:srgbClr val="66C6B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75" b="1">
                <a:solidFill>
                  <a:srgbClr val="66C6B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75" b="1">
                <a:solidFill>
                  <a:srgbClr val="66C6B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66C6BA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66C6BA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C3C71A-7A05-4A7A-8EFB-CADC235B7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6600825"/>
            <a:ext cx="4286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9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9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9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9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9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9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9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9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9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9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9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怎样部署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64C295-0D54-48C3-B304-DA5EEE572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6000750"/>
            <a:ext cx="114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66C6B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75" b="1">
                <a:solidFill>
                  <a:srgbClr val="66C6B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75" b="1">
                <a:solidFill>
                  <a:srgbClr val="66C6B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75" b="1">
                <a:solidFill>
                  <a:srgbClr val="66C6B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75" b="1">
                <a:solidFill>
                  <a:srgbClr val="66C6B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75" b="1">
                <a:solidFill>
                  <a:srgbClr val="66C6B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75" b="1">
                <a:solidFill>
                  <a:srgbClr val="66C6B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75" b="1">
                <a:solidFill>
                  <a:srgbClr val="66C6B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75" b="1">
                <a:solidFill>
                  <a:srgbClr val="66C6B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75" b="1">
                <a:solidFill>
                  <a:srgbClr val="66C6B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66C6BA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66C6BA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53306F-4912-410B-B4BA-FA76FBC01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6600825"/>
            <a:ext cx="4286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9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9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9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9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9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9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9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9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9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9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9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投入与收益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AF3728-27F9-4C26-BC1E-9D4349801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7848600"/>
            <a:ext cx="762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B8D3D6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0">
                <a:solidFill>
                  <a:srgbClr val="B8D3D6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0">
                <a:solidFill>
                  <a:srgbClr val="B8D3D6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0">
                <a:solidFill>
                  <a:srgbClr val="B8D3D6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0">
                <a:solidFill>
                  <a:srgbClr val="B8D3D6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0">
                <a:solidFill>
                  <a:srgbClr val="B8D3D6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0">
                <a:solidFill>
                  <a:srgbClr val="B8D3D6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0">
                <a:solidFill>
                  <a:srgbClr val="B8D3D6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0">
                <a:solidFill>
                  <a:srgbClr val="B8D3D6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0">
                <a:solidFill>
                  <a:srgbClr val="B8D3D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B8D3D6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B8D3D6"/>
                </a:solidFill>
                <a:latin typeface="PingFang SC"/>
                <a:ea typeface="PingFang SC"/>
                <a:cs typeface="PingFang SC"/>
              </a:rPr>
              <a:t>2026年10月22日</a:t>
            </a:r>
          </a:p>
        </p:txBody>
      </p:sp>
    </p:spTree>
    <p:extLst>
      <p:ext uri="{BB962C8B-B14F-4D97-AF65-F5344CB8AC3E}">
        <p14:creationId xmlns:p14="http://schemas.microsoft.com/office/powerpoint/2010/main" val="8450840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0D8C35-7225-48B6-8107-8C789140A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39446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各岗位可以从哪些工作开始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E85E59-D57D-44F6-BC1E-A66368775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62075"/>
            <a:ext cx="1394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19451E-24F0-47B3-A2D1-D94CC937B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8134350"/>
            <a:ext cx="895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rPr>
              <a:t>2 / 32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2535E8-267A-4F4F-A3A7-2D55A9F7D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3524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6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6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6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6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6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6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6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6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6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pPr>
            <a:r>
              <a:rPr sz="2625" b="1">
                <a:solidFill>
                  <a:srgbClr val="007F7A"/>
                </a:solidFill>
                <a:latin typeface="PingFang SC"/>
                <a:ea typeface="PingFang SC"/>
                <a:cs typeface="PingFang SC"/>
              </a:rPr>
              <a:t>前台：投研与量化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52B550-D040-4504-91F7-8EC5AFC40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809750"/>
            <a:ext cx="9906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比较财报、整理公告、维护研究代码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23D8C7-1EC3-458D-8866-E082341F7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638425"/>
            <a:ext cx="9906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00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00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00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00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00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00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00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00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00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526976"/>
                </a:solidFill>
                <a:latin typeface="PingFang SC"/>
                <a:ea typeface="PingFang SC"/>
                <a:cs typeface="PingFang SC"/>
              </a:rPr>
              <a:t>交付：比较表、事件记录、代码与测试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549EE4-7F40-4429-B620-32596868F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57575"/>
            <a:ext cx="1394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32EFB1-7E26-4C0B-B1AF-4425C4CCC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86175"/>
            <a:ext cx="3524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6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6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6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6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6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6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6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6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6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pPr>
            <a:r>
              <a:rPr sz="2625" b="1">
                <a:solidFill>
                  <a:srgbClr val="007F7A"/>
                </a:solidFill>
                <a:latin typeface="PingFang SC"/>
                <a:ea typeface="PingFang SC"/>
                <a:cs typeface="PingFang SC"/>
              </a:rPr>
              <a:t>中台：风险与合规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253B40-DF37-4582-849C-8AB78679D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686175"/>
            <a:ext cx="9906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核对风险材料、查找条款、预审文案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F67839-032F-47E1-BF22-4EA28091C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514850"/>
            <a:ext cx="9906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00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00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00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00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00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00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00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00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00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526976"/>
                </a:solidFill>
                <a:latin typeface="PingFang SC"/>
                <a:ea typeface="PingFang SC"/>
                <a:cs typeface="PingFang SC"/>
              </a:rPr>
              <a:t>交付：风险字段、规则出处、待处理问题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DA8418-CBD9-4FF4-939E-A3B6CA4C5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34000"/>
            <a:ext cx="1394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AC0B0B-8358-4478-AB81-32226C0B5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62600"/>
            <a:ext cx="3524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6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6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6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6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6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6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6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6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6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pPr>
            <a:r>
              <a:rPr sz="2625" b="1">
                <a:solidFill>
                  <a:srgbClr val="007F7A"/>
                </a:solidFill>
                <a:latin typeface="PingFang SC"/>
                <a:ea typeface="PingFang SC"/>
                <a:cs typeface="PingFang SC"/>
              </a:rPr>
              <a:t>后台：运营与IT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94DE77-C538-41B4-A290-ECC2576D7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5562600"/>
            <a:ext cx="9906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整理异常、查询流程、处理工单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E5EC0B-8740-4810-87BA-D5CCE2E08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6391275"/>
            <a:ext cx="9906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00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00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00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00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00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00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00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00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00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526976"/>
                </a:solidFill>
                <a:latin typeface="PingFang SC"/>
                <a:ea typeface="PingFang SC"/>
                <a:cs typeface="PingFang SC"/>
              </a:rPr>
              <a:t>交付：异常说明、操作步骤、脚本与测试</a:t>
            </a:r>
          </a:p>
        </p:txBody>
      </p:sp>
    </p:spTree>
    <p:extLst>
      <p:ext uri="{BB962C8B-B14F-4D97-AF65-F5344CB8AC3E}">
        <p14:creationId xmlns:p14="http://schemas.microsoft.com/office/powerpoint/2010/main" val="76043648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A3C521-2C03-4274-8E75-1C8EF7015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39446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一个财报比较任务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6EEFD7-B42A-493D-B419-082C61566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62075"/>
            <a:ext cx="1394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AE4C35-8C7C-471A-9E64-8C620B98C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8134350"/>
            <a:ext cx="895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rPr>
              <a:t>3 / 32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D4501E-4471-4B70-9462-3DDC5625E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20050"/>
            <a:ext cx="1266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rPr>
              <a:t>虚构示例，来自评价包QA-01；右侧为预期产物。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A4414C-EDDE-47C8-B733-90D7F3470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85925"/>
            <a:ext cx="13906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4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4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4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4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4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4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4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4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4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比较两期收入，按可比口径计算同比，生成Excel并标出依据。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A4BBE6-EF2D-4054-ADC2-075477DD4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00350"/>
            <a:ext cx="5715000" cy="387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DD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5643A3-5889-46FB-A34F-9E0F7AF96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067050"/>
            <a:ext cx="514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A56C17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325" b="1">
                <a:solidFill>
                  <a:srgbClr val="A56C17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325" b="1">
                <a:solidFill>
                  <a:srgbClr val="A56C17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325" b="1">
                <a:solidFill>
                  <a:srgbClr val="A56C17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325" b="1">
                <a:solidFill>
                  <a:srgbClr val="A56C17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325" b="1">
                <a:solidFill>
                  <a:srgbClr val="A56C17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325" b="1">
                <a:solidFill>
                  <a:srgbClr val="A56C17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325" b="1">
                <a:solidFill>
                  <a:srgbClr val="A56C17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325" b="1">
                <a:solidFill>
                  <a:srgbClr val="A56C17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325" b="1">
                <a:solidFill>
                  <a:srgbClr val="A56C17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A56C17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A56C17"/>
                </a:solidFill>
                <a:latin typeface="PingFang SC"/>
                <a:ea typeface="PingFang SC"/>
                <a:cs typeface="PingFang SC"/>
              </a:rPr>
              <a:t>提供的材料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229F6B-AA1F-4BB7-8242-BBBB4AD10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00475"/>
            <a:ext cx="5191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2025年报：收入120百万元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029974-111F-4CEC-852E-E77408639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638675"/>
            <a:ext cx="5191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2024原披露：收入90百万元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FF3E2E-CB61-4B8F-ADB7-DB7BFCABD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476875"/>
            <a:ext cx="5191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年报附注：2024重述后为100百万元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F888C9-88F2-4312-9873-E860926EA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2800350"/>
            <a:ext cx="7191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4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4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4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4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4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4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4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4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4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007F7A"/>
                </a:solidFill>
                <a:latin typeface="PingFang SC"/>
                <a:ea typeface="PingFang SC"/>
                <a:cs typeface="PingFang SC"/>
              </a:rPr>
              <a:t>预期比较表</a:t>
            </a:r>
          </a:p>
        </p:txBody>
      </p:sp>
      <p:graphicFrame>
        <p:nvGraphicFrame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E50906-27E7-4785-917E-169BF742B571}"/>
              </a:ext>
            </a:extLst>
          </p:cNvPr>
          <p:cNvGraphicFramePr/>
          <p:nvPr/>
        </p:nvGraphicFramePr>
        <p:xfrm>
          <a:off xmlns:a="http://schemas.openxmlformats.org/drawingml/2006/main" x="7362825" y="3467100"/>
          <a:ext xmlns:a="http://schemas.openxmlformats.org/drawingml/2006/main" cx="7229475" cy="28479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62250"/>
                <a:gridCol w="2000250"/>
                <a:gridCol w="2466975"/>
              </a:tblGrid>
              <a:tr h="711994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年份／指标</a:t>
                      </a:r>
                    </a:p>
                  </a:txBody>
                  <a:tcPr marL="142875" marR="142875" marT="95250" marB="95250" anchor="ctr">
                    <a:lnL w="6668">
                      <a:solidFill>
                        <a:srgbClr val="C8D7DE"/>
                      </a:solidFill>
                      <a:prstDash val="solid"/>
                    </a:lnL>
                    <a:lnR w="6668">
                      <a:solidFill>
                        <a:srgbClr val="C8D7DE"/>
                      </a:solidFill>
                      <a:prstDash val="solid"/>
                    </a:lnR>
                    <a:lnT w="6668">
                      <a:solidFill>
                        <a:srgbClr val="C8D7DE"/>
                      </a:solidFill>
                      <a:prstDash val="solid"/>
                    </a:lnT>
                    <a:lnB w="6668">
                      <a:solidFill>
                        <a:srgbClr val="C8D7DE"/>
                      </a:solidFill>
                      <a:prstDash val="solid"/>
                    </a:lnB>
                    <a:solidFill>
                      <a:srgbClr val="1831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可比数值</a:t>
                      </a:r>
                    </a:p>
                  </a:txBody>
                  <a:tcPr marL="142875" marR="142875" marT="95250" marB="95250" anchor="ctr">
                    <a:lnR w="6668">
                      <a:solidFill>
                        <a:srgbClr val="C8D7DE"/>
                      </a:solidFill>
                      <a:prstDash val="solid"/>
                    </a:lnR>
                    <a:lnT w="6668">
                      <a:solidFill>
                        <a:srgbClr val="C8D7DE"/>
                      </a:solidFill>
                      <a:prstDash val="solid"/>
                    </a:lnT>
                    <a:lnB w="6668">
                      <a:solidFill>
                        <a:srgbClr val="C8D7DE"/>
                      </a:solidFill>
                      <a:prstDash val="solid"/>
                    </a:lnB>
                    <a:solidFill>
                      <a:srgbClr val="1831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依据</a:t>
                      </a:r>
                    </a:p>
                  </a:txBody>
                  <a:tcPr marL="142875" marR="142875" marT="95250" marB="95250" anchor="ctr">
                    <a:lnR w="6668">
                      <a:solidFill>
                        <a:srgbClr val="C8D7DE"/>
                      </a:solidFill>
                      <a:prstDash val="solid"/>
                    </a:lnR>
                    <a:lnT w="6668">
                      <a:solidFill>
                        <a:srgbClr val="C8D7DE"/>
                      </a:solidFill>
                      <a:prstDash val="solid"/>
                    </a:lnT>
                    <a:lnB w="6668">
                      <a:solidFill>
                        <a:srgbClr val="C8D7DE"/>
                      </a:solidFill>
                      <a:prstDash val="solid"/>
                    </a:lnB>
                    <a:solidFill>
                      <a:srgbClr val="18313E"/>
                    </a:solidFill>
                  </a:tcPr>
                </a:tc>
              </a:tr>
              <a:tr h="711994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831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2024收入</a:t>
                      </a:r>
                    </a:p>
                  </a:txBody>
                  <a:tcPr marL="142875" marR="142875" marT="95250" marB="95250" anchor="ctr">
                    <a:lnL w="6668">
                      <a:solidFill>
                        <a:srgbClr val="C8D7DE"/>
                      </a:solidFill>
                      <a:prstDash val="solid"/>
                    </a:lnL>
                    <a:lnR w="6668">
                      <a:solidFill>
                        <a:srgbClr val="C8D7DE"/>
                      </a:solidFill>
                      <a:prstDash val="solid"/>
                    </a:lnR>
                    <a:lnB w="6668">
                      <a:solidFill>
                        <a:srgbClr val="C8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831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100百万元</a:t>
                      </a:r>
                    </a:p>
                  </a:txBody>
                  <a:tcPr marL="142875" marR="142875" marT="95250" marB="95250" anchor="ctr">
                    <a:lnR w="6668">
                      <a:solidFill>
                        <a:srgbClr val="C8D7DE"/>
                      </a:solidFill>
                      <a:prstDash val="solid"/>
                    </a:lnR>
                    <a:lnB w="6668">
                      <a:solidFill>
                        <a:srgbClr val="C8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831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重述附注</a:t>
                      </a:r>
                    </a:p>
                  </a:txBody>
                  <a:tcPr marL="142875" marR="142875" marT="95250" marB="95250" anchor="ctr">
                    <a:lnR w="6668">
                      <a:solidFill>
                        <a:srgbClr val="C8D7DE"/>
                      </a:solidFill>
                      <a:prstDash val="solid"/>
                    </a:lnR>
                    <a:lnB w="6668">
                      <a:solidFill>
                        <a:srgbClr val="C8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1994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831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2025收入</a:t>
                      </a:r>
                    </a:p>
                  </a:txBody>
                  <a:tcPr marL="142875" marR="142875" marT="95250" marB="95250" anchor="ctr">
                    <a:lnL w="6668">
                      <a:solidFill>
                        <a:srgbClr val="C8D7DE"/>
                      </a:solidFill>
                      <a:prstDash val="solid"/>
                    </a:lnL>
                    <a:lnR w="6668">
                      <a:solidFill>
                        <a:srgbClr val="C8D7DE"/>
                      </a:solidFill>
                      <a:prstDash val="solid"/>
                    </a:lnR>
                    <a:lnB w="6668">
                      <a:solidFill>
                        <a:srgbClr val="C8D7DE"/>
                      </a:solidFill>
                      <a:prstDash val="solid"/>
                    </a:lnB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831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120百万元</a:t>
                      </a:r>
                    </a:p>
                  </a:txBody>
                  <a:tcPr marL="142875" marR="142875" marT="95250" marB="95250" anchor="ctr">
                    <a:lnR w="6668">
                      <a:solidFill>
                        <a:srgbClr val="C8D7DE"/>
                      </a:solidFill>
                      <a:prstDash val="solid"/>
                    </a:lnR>
                    <a:lnB w="6668">
                      <a:solidFill>
                        <a:srgbClr val="C8D7DE"/>
                      </a:solidFill>
                      <a:prstDash val="solid"/>
                    </a:lnB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831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2025年报</a:t>
                      </a:r>
                    </a:p>
                  </a:txBody>
                  <a:tcPr marL="142875" marR="142875" marT="95250" marB="95250" anchor="ctr">
                    <a:lnR w="6668">
                      <a:solidFill>
                        <a:srgbClr val="C8D7DE"/>
                      </a:solidFill>
                      <a:prstDash val="solid"/>
                    </a:lnR>
                    <a:lnB w="6668">
                      <a:solidFill>
                        <a:srgbClr val="C8D7DE"/>
                      </a:solidFill>
                      <a:prstDash val="solid"/>
                    </a:lnB>
                    <a:solidFill>
                      <a:srgbClr val="F1F6F7"/>
                    </a:solidFill>
                  </a:tcPr>
                </a:tc>
              </a:tr>
              <a:tr h="711994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831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同比增长</a:t>
                      </a:r>
                    </a:p>
                  </a:txBody>
                  <a:tcPr marL="142875" marR="142875" marT="95250" marB="95250" anchor="ctr">
                    <a:lnL w="6668">
                      <a:solidFill>
                        <a:srgbClr val="C8D7DE"/>
                      </a:solidFill>
                      <a:prstDash val="solid"/>
                    </a:lnL>
                    <a:lnR w="6668">
                      <a:solidFill>
                        <a:srgbClr val="C8D7DE"/>
                      </a:solidFill>
                      <a:prstDash val="solid"/>
                    </a:lnR>
                    <a:lnB w="6668">
                      <a:solidFill>
                        <a:srgbClr val="C8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831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20%</a:t>
                      </a:r>
                    </a:p>
                  </a:txBody>
                  <a:tcPr marL="142875" marR="142875" marT="95250" marB="95250" anchor="ctr">
                    <a:lnR w="6668">
                      <a:solidFill>
                        <a:srgbClr val="C8D7DE"/>
                      </a:solidFill>
                      <a:prstDash val="solid"/>
                    </a:lnR>
                    <a:lnB w="6668">
                      <a:solidFill>
                        <a:srgbClr val="C8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831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(120−100)÷100</a:t>
                      </a:r>
                    </a:p>
                  </a:txBody>
                  <a:tcPr marL="142875" marR="142875" marT="95250" marB="95250" anchor="ctr">
                    <a:lnR w="6668">
                      <a:solidFill>
                        <a:srgbClr val="C8D7DE"/>
                      </a:solidFill>
                      <a:prstDash val="solid"/>
                    </a:lnR>
                    <a:lnB w="6668">
                      <a:solidFill>
                        <a:srgbClr val="C8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65536F-EC13-4941-BBF6-7D827097D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6762750"/>
            <a:ext cx="7239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7F7A"/>
                </a:solidFill>
                <a:latin typeface="PingFang SC"/>
                <a:ea typeface="PingFang SC"/>
                <a:cs typeface="PingFang SC"/>
              </a:rPr>
              <a:t>交付文件：收入比较.xlsx、比较说明.md</a:t>
            </a:r>
          </a:p>
        </p:txBody>
      </p:sp>
    </p:spTree>
    <p:extLst>
      <p:ext uri="{BB962C8B-B14F-4D97-AF65-F5344CB8AC3E}">
        <p14:creationId xmlns:p14="http://schemas.microsoft.com/office/powerpoint/2010/main" val="175902528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B341FA-8DC9-4704-88B2-60675C47F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39446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大语言模型怎样利用我们提供的资料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1E4EF5-9907-4260-AF3A-34905CA1B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62075"/>
            <a:ext cx="1394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690BCF-E4BC-4D5A-8E39-8FD704443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8134350"/>
            <a:ext cx="895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rPr>
              <a:t>4 / 32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4FF0ED-8D09-4CDA-858F-DF7181931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43075"/>
            <a:ext cx="139446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5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5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5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5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5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5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5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5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5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2550" b="0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大语言模型（LLM）根据看到的内容生成回答或操作指令。</a:t>
            </a:r>
          </a:p>
          <a:p xmlns:a="http://schemas.openxmlformats.org/drawingml/2006/main">
            <a:pPr algn="l">
              <a:defRPr sz="25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2550" b="0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公司当前的资料，要随任务提供给它，或让它通过资料查询工具取得。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30D071-33F6-4865-A54B-045167A1D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0"/>
            <a:ext cx="428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rPr>
              <a:t>资料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F52614-E6D7-4F05-9553-632636959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52850"/>
            <a:ext cx="4286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2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2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2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2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2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2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2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2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2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2250" b="0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两期财报、重述附注和CSV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15F8A4-3A9D-4535-9E84-FDF871CDC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3238500"/>
            <a:ext cx="428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rPr>
              <a:t>要求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7CD0A6-D1E2-4EB3-9BC6-76168458F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3752850"/>
            <a:ext cx="4286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2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2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2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2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2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2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2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2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2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2250" b="0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采用可比口径，解释变化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03F9D9-B4D2-4BD9-A354-549CB22D4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238500"/>
            <a:ext cx="428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rPr>
              <a:t>交付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EA5364-FE5D-475B-A829-1F5CA3DF6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752850"/>
            <a:ext cx="4286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2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2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2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2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2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2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2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2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2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2250" b="0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Excel、算式、出处及待核对项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F5C38F-BBF0-4DDB-B8B3-557EEBAB2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19700"/>
            <a:ext cx="1394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4C1A6E-AA6C-42E3-8209-25E74D226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57850"/>
            <a:ext cx="266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A56C17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75" b="1">
                <a:solidFill>
                  <a:srgbClr val="A56C17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75" b="1">
                <a:solidFill>
                  <a:srgbClr val="A56C17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75" b="1">
                <a:solidFill>
                  <a:srgbClr val="A56C17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75" b="1">
                <a:solidFill>
                  <a:srgbClr val="A56C17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75" b="1">
                <a:solidFill>
                  <a:srgbClr val="A56C17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75" b="1">
                <a:solidFill>
                  <a:srgbClr val="A56C17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75" b="1">
                <a:solidFill>
                  <a:srgbClr val="A56C17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75" b="1">
                <a:solidFill>
                  <a:srgbClr val="A56C17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75" b="1">
                <a:solidFill>
                  <a:srgbClr val="A56C17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A56C17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A56C17"/>
                </a:solidFill>
                <a:latin typeface="PingFang SC"/>
                <a:ea typeface="PingFang SC"/>
                <a:cs typeface="PingFang SC"/>
              </a:rPr>
              <a:t>具体要求示例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9C6C78-C268-4F9A-BFEA-6223658D6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619750"/>
            <a:ext cx="110299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4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4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4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4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4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4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4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4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4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4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2475" b="0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“请按重述后的2024年收入计算同比。原披露值单独保留，缺少依据的地方列为待核对项。”</a:t>
            </a:r>
          </a:p>
        </p:txBody>
      </p:sp>
    </p:spTree>
    <p:extLst>
      <p:ext uri="{BB962C8B-B14F-4D97-AF65-F5344CB8AC3E}">
        <p14:creationId xmlns:p14="http://schemas.microsoft.com/office/powerpoint/2010/main" val="143749788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B2ACEC-00AB-42FE-A9F4-8CB554CE7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39446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模型读材料，程序算数字，人员核对结论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C094C4-AE64-4874-B22D-C50E2B3A8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62075"/>
            <a:ext cx="1394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DD34B4-09D1-414A-BBD9-3C6DBB304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8134350"/>
            <a:ext cx="895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rPr>
              <a:t>5 / 32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5B7239-39DA-4018-A4AF-DD0E8338C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20050"/>
            <a:ext cx="1266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rPr>
              <a:t>虚构财报示例；两种算法的差别来自比较基期。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951D10-D953-4F2E-AE44-A8F8F036A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400" b="1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400" b="1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400" b="1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400" b="1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400" b="1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400" b="1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400" b="1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400" b="1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400" b="1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526976"/>
                </a:solidFill>
                <a:latin typeface="PingFang SC"/>
                <a:ea typeface="PingFang SC"/>
                <a:cs typeface="PingFang SC"/>
              </a:rPr>
              <a:t>原披露口径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B24C4F-5386-4BCE-81AB-9BD3296DE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33650"/>
            <a:ext cx="666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0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0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0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0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0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0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0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0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0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0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3000" b="0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(120−90)÷90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720FA9-A019-4655-B5D7-E36213C3B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0"/>
            <a:ext cx="666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875" b="1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4875" b="1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4875" b="1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4875" b="1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4875" b="1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4875" b="1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4875" b="1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4875" b="1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4875" b="1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4875" b="1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4875" b="1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pPr>
            <a:r>
              <a:rPr sz="4875" b="1">
                <a:solidFill>
                  <a:srgbClr val="526976"/>
                </a:solidFill>
                <a:latin typeface="PingFang SC"/>
                <a:ea typeface="PingFang SC"/>
                <a:cs typeface="PingFang SC"/>
              </a:rPr>
              <a:t>33.3%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50828A-6E79-4159-B602-14E961A62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8097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4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4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4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4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4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4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4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4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4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007F7A"/>
                </a:solidFill>
                <a:latin typeface="PingFang SC"/>
                <a:ea typeface="PingFang SC"/>
                <a:cs typeface="PingFang SC"/>
              </a:rPr>
              <a:t>重述后的可比口径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7FCDF9-AB0A-4051-AB41-EEA3E0E28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533650"/>
            <a:ext cx="666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0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0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0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0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0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0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0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0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0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0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3000" b="0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(120−100)÷100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234DEA-64C9-4A09-839E-A53EB5F40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333750"/>
            <a:ext cx="666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8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48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48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48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48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48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48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48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48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48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48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pPr>
            <a:r>
              <a:rPr sz="4875" b="1">
                <a:solidFill>
                  <a:srgbClr val="007F7A"/>
                </a:solidFill>
                <a:latin typeface="PingFang SC"/>
                <a:ea typeface="PingFang SC"/>
                <a:cs typeface="PingFang SC"/>
              </a:rPr>
              <a:t>20.0%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B6D93F-40B4-474F-A3C2-0F11C793A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14850"/>
            <a:ext cx="1394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754F90-942C-47E6-98A1-D8EC8123B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91100"/>
            <a:ext cx="428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rPr>
              <a:t>模型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3DC09E-1801-4F99-A6B1-6E358F0FC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05450"/>
            <a:ext cx="42862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找到“2024年重述为100”的附注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433D7E-1C1E-48DF-94A2-6075824A5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4991100"/>
            <a:ext cx="428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rPr>
              <a:t>程序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EEE47A-4C44-4F6B-BFFD-9FFB156DD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5505450"/>
            <a:ext cx="42862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使用确认后的数值计算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AC0A04-83EE-4102-8340-EB3C62077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4991100"/>
            <a:ext cx="428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rPr>
              <a:t>人员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D544F9-0C76-4FB5-BBD4-3A618DF3A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5505450"/>
            <a:ext cx="42862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核对出处，并确认解释是否成立</a:t>
            </a:r>
          </a:p>
        </p:txBody>
      </p:sp>
    </p:spTree>
    <p:extLst>
      <p:ext uri="{BB962C8B-B14F-4D97-AF65-F5344CB8AC3E}">
        <p14:creationId xmlns:p14="http://schemas.microsoft.com/office/powerpoint/2010/main" val="169087864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4D2EF8-0645-49B0-8EAE-CA9A079DF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39446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行业中的两种实际做法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175EAC-67FA-4D4F-AE67-492E408BD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62075"/>
            <a:ext cx="1394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7F79ED-143D-438C-A528-C46D43BD1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8134350"/>
            <a:ext cx="895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rPr>
              <a:t>6 / 32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69EC02-C4AF-4238-B8C7-817683772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20050"/>
            <a:ext cx="1266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8b26b26c07864a83"/>
              </a:rPr>
              <a:t>公司公开披露的项目效果，指标口径不同。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C0F044-4C45-47B7-B88E-52527E6E1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28800"/>
            <a:ext cx="6572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6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6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6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6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6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6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6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6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6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pPr>
            <a:r>
              <a:rPr sz="2625" b="1">
                <a:solidFill>
                  <a:srgbClr val="007F7A"/>
                </a:solidFill>
                <a:latin typeface="PingFang SC"/>
                <a:ea typeface="PingFang SC"/>
                <a:cs typeface="PingFang SC"/>
              </a:rPr>
              <a:t>富国：研报材料整理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371D7A-4DE1-4498-8FA3-4363A3B4D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6572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阅读与筛选材料，形成小结和观点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CCBD8D-86F3-4327-A208-E3D17ECFA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52975"/>
            <a:ext cx="6572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52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52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52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52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52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52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52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52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52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52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52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3525" b="1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一周以上 → 3小时以内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C135C0-D7F9-468A-9792-7B77E540C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48375"/>
            <a:ext cx="6572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00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00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00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00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00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00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00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00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00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526976"/>
                </a:solidFill>
                <a:latin typeface="PingFang SC"/>
                <a:ea typeface="PingFang SC"/>
                <a:cs typeface="PingFang SC"/>
              </a:rPr>
              <a:t>相关研报工作耗时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18B3D5-179C-4614-B00A-7D7331572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828800"/>
            <a:ext cx="6572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6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6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6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6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6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6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6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6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6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pPr>
            <a:r>
              <a:rPr sz="2625" b="1">
                <a:solidFill>
                  <a:srgbClr val="007F7A"/>
                </a:solidFill>
                <a:latin typeface="PingFang SC"/>
                <a:ea typeface="PingFang SC"/>
                <a:cs typeface="PingFang SC"/>
              </a:rPr>
              <a:t>鹏华：营销文案审核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47E6B8-D5BE-4D0F-BE0E-28AD5475A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781300"/>
            <a:ext cx="6572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结合审核规则，标出疑点并提出修改意见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E800F7-4468-4478-A0AE-485AC3D09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752975"/>
            <a:ext cx="6572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55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555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555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555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555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555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555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555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555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555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555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5550" b="1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91%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60A95D-D215-4AC9-A2DE-9227C92DE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6048375"/>
            <a:ext cx="6572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00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00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00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00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00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00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00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00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00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526976"/>
                </a:solidFill>
                <a:latin typeface="PingFang SC"/>
                <a:ea typeface="PingFang SC"/>
                <a:cs typeface="PingFang SC"/>
              </a:rPr>
              <a:t>最新修改建议采纳率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E9CB0A-27EE-44E3-ADED-8793B9A71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180975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28969113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1E4CE79-D0CC-46B3-AB82-A33199990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39446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文字问答与Agent任务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F312D4-6FD7-489F-A327-215AD40A2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62075"/>
            <a:ext cx="1394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9BADC1-CD72-4A40-8D8D-F66BBF8A7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8134350"/>
            <a:ext cx="895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rPr>
              <a:t>7 / 32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BDEB9C-8683-4870-B852-843092F89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24025"/>
            <a:ext cx="13944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62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62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62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62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62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62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62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62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62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2625" b="1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“比较这两期财报，并把结果做成Excel。”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9CD198-7574-46AB-AEB4-8589E808D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52750"/>
            <a:ext cx="41148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4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4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4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4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4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4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4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4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4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4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pPr>
            <a:r>
              <a:rPr sz="2475" b="0">
                <a:solidFill>
                  <a:srgbClr val="526976"/>
                </a:solidFill>
                <a:latin typeface="PingFang SC"/>
                <a:ea typeface="PingFang SC"/>
                <a:cs typeface="PingFang SC"/>
              </a:rPr>
              <a:t>只要求文字回答</a:t>
            </a:r>
          </a:p>
          <a:p xmlns:a="http://schemas.openxmlformats.org/drawingml/2006/main">
            <a:pPr algn="l">
              <a:defRPr sz="24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pPr>
            <a:r>
              <a:rPr sz="2475" b="0">
                <a:solidFill>
                  <a:srgbClr val="526976"/>
                </a:solidFill>
                <a:latin typeface="PingFang SC"/>
                <a:ea typeface="PingFang SC"/>
                <a:cs typeface="PingFang SC"/>
              </a:rPr>
              <a:t>得到解释或一段代码</a:t>
            </a:r>
          </a:p>
          <a:p xmlns:a="http://schemas.openxmlformats.org/drawingml/2006/main">
            <a:pPr algn="l">
              <a:defRPr sz="24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pPr>
            <a:r>
              <a:rPr sz="2475" b="0">
                <a:solidFill>
                  <a:srgbClr val="526976"/>
                </a:solidFill>
                <a:latin typeface="PingFang SC"/>
                <a:ea typeface="PingFang SC"/>
                <a:cs typeface="PingFang SC"/>
              </a:rPr>
              <a:t>员工再复制内容</a:t>
            </a:r>
          </a:p>
          <a:p xmlns:a="http://schemas.openxmlformats.org/drawingml/2006/main">
            <a:pPr algn="l">
              <a:defRPr sz="24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pPr>
            <a:r>
              <a:rPr sz="2475" b="0">
                <a:solidFill>
                  <a:srgbClr val="526976"/>
                </a:solidFill>
                <a:latin typeface="PingFang SC"/>
                <a:ea typeface="PingFang SC"/>
                <a:cs typeface="PingFang SC"/>
              </a:rPr>
              <a:t>运行代码、整理文件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F0DFB7-4242-437A-A52A-81A46606C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762250"/>
            <a:ext cx="8858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6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6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6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6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6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6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6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6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6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pPr>
            <a:r>
              <a:rPr sz="2625" b="1">
                <a:solidFill>
                  <a:srgbClr val="007F7A"/>
                </a:solidFill>
                <a:latin typeface="PingFang SC"/>
                <a:ea typeface="PingFang SC"/>
                <a:cs typeface="PingFang SC"/>
              </a:rPr>
              <a:t>Agent持续执行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367F1C-92D5-4673-9C11-9CBABB87A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524250"/>
            <a:ext cx="1938338" cy="1552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E1A598-5E3E-41F4-8833-4E18EB33D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695700"/>
            <a:ext cx="619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9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9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9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9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9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9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9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9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9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07F7A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D14BD5-2058-452B-81A1-187D5FAE7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191000"/>
            <a:ext cx="1595438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读取财报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49011E-6AC7-46B5-858B-E3321E7E4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00963" y="4300538"/>
            <a:ext cx="247650" cy="1619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7F7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BBD023-E09D-4439-95C7-19185DA7A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5288" y="3524250"/>
            <a:ext cx="1938338" cy="1552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FABDC8-FD60-4077-8222-3CA99BC77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6738" y="3695700"/>
            <a:ext cx="619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9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9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9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9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9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9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9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9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9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07F7A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D3659E-EBBF-40C2-9FE1-C5E6A92F6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6738" y="4191000"/>
            <a:ext cx="1595438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选择口径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4B3D46-6BAE-4EBF-8528-38C2DB6DA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20300" y="4300538"/>
            <a:ext cx="247650" cy="1619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7F7A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A9C139-3595-4750-B4DB-288E5A7EB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524250"/>
            <a:ext cx="1938338" cy="1552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7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318D9B-251A-4135-B2F7-ABB34814F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6075" y="3695700"/>
            <a:ext cx="619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9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9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9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9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9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9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9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9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9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07F7A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F65447-65B2-4A47-B419-A4BEB144C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6075" y="4191000"/>
            <a:ext cx="1595438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调用Python</a:t>
            </a:r>
          </a:p>
          <a:p xmlns:a="http://schemas.openxmlformats.org/drawingml/2006/main">
            <a:pPr algn="l">
              <a:defRPr sz="18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执行计算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28FBD2-3274-40A1-9C2A-7A561B227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39638" y="4300538"/>
            <a:ext cx="247650" cy="1619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7F7A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4DE387-6F17-422F-B1C0-F5FC4E1BA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53963" y="3524250"/>
            <a:ext cx="1938338" cy="1552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7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76504D-8881-4AD1-88A2-2531C7AC6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25413" y="3695700"/>
            <a:ext cx="619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9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9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9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9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9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9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9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9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9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07F7A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5D1C75-411C-42C6-B4DD-71F264C6E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25413" y="4191000"/>
            <a:ext cx="1595438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核对结果</a:t>
            </a:r>
          </a:p>
          <a:p xmlns:a="http://schemas.openxmlformats.org/drawingml/2006/main">
            <a:pPr algn="l">
              <a:defRPr sz="18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保存Excel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D51148-C4D0-4552-AB65-5591E5CC6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5505450"/>
            <a:ext cx="8896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rPr>
              <a:t>Agent交付：比较表＋说明＋计算过程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F4902B-2F72-4C75-9E66-489E96DB5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394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B2AD85D-4AC0-493A-AB4F-93298872D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19900"/>
            <a:ext cx="139446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Skill用一份说明保存固定做法，例如财报比较步骤；MCP让应用以统一方式调用现有工具，例如查询公司资料。</a:t>
            </a:r>
          </a:p>
        </p:txBody>
      </p:sp>
    </p:spTree>
    <p:extLst>
      <p:ext uri="{BB962C8B-B14F-4D97-AF65-F5344CB8AC3E}">
        <p14:creationId xmlns:p14="http://schemas.microsoft.com/office/powerpoint/2010/main" val="153116669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CC0812-990E-483C-8D02-BC741152C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39446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三种使用范围，对应三套方案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D53A32-BDBC-4AA4-939F-FE2A8025E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62075"/>
            <a:ext cx="1394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A76CDE-1354-4098-8D07-C86A7C218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8134350"/>
            <a:ext cx="895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rPr>
              <a:t>8 / 32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95E49D-9625-4B26-A345-109C43559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81175"/>
            <a:ext cx="952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8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8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8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8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8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8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8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8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8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007F7A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15AEE3-A8DA-4F90-9210-350E53365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62225"/>
            <a:ext cx="42862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7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7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7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7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7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7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7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7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7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个人／小组助手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61C846-57B9-466E-AA00-A98341CF5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81400"/>
            <a:ext cx="4286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处理自己的文件与表格</a:t>
            </a:r>
          </a:p>
          <a:p xmlns:a="http://schemas.openxmlformats.org/drawingml/2006/main">
            <a:pPr algn="l">
              <a:def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编写和修改代码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1D1185-0DC9-43EF-A856-49FAFBC63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29225"/>
            <a:ext cx="4095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E07D47-A8BC-4F38-B847-7FA25BD08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53075"/>
            <a:ext cx="4286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007F7A"/>
                </a:solidFill>
                <a:latin typeface="PingFang SC"/>
                <a:ea typeface="PingFang SC"/>
                <a:cs typeface="PingFang SC"/>
              </a:rPr>
              <a:t>DGX Spark＋Qwen27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60A09C-6B0F-43BD-B6F2-A68B2E8E9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48450"/>
            <a:ext cx="4286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26976"/>
                </a:solidFill>
                <a:latin typeface="PingFang SC"/>
                <a:ea typeface="PingFang SC"/>
                <a:cs typeface="PingFang SC"/>
              </a:rPr>
              <a:t>一人优先，也可由小组共享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1B122A-D005-4ACE-9C81-0A5AE07B6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1781175"/>
            <a:ext cx="952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8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8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8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8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8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8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8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8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8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007F7A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CDA4D9-0ACB-40FF-920E-A33219E45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2562225"/>
            <a:ext cx="42862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7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7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7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7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7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7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7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7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7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公司知识库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E364E0-E787-43B7-826A-D39B6CB37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3581400"/>
            <a:ext cx="4286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查询公司文件盘（NAS）</a:t>
            </a:r>
          </a:p>
          <a:p xmlns:a="http://schemas.openxmlformats.org/drawingml/2006/main">
            <a:pPr algn="l">
              <a:def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按权限回答，并给出出处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397E9C-C668-4436-A970-F07CE8511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5229225"/>
            <a:ext cx="4095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801D82-7841-4B70-91D9-5091D8AFB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5553075"/>
            <a:ext cx="4286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007F7A"/>
                </a:solidFill>
                <a:latin typeface="PingFang SC"/>
                <a:ea typeface="PingFang SC"/>
                <a:cs typeface="PingFang SC"/>
              </a:rPr>
              <a:t>Onyx或Milvus自建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5A22FE-8BCA-4189-9D41-C621646D6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6648450"/>
            <a:ext cx="4286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26976"/>
                </a:solidFill>
                <a:latin typeface="PingFang SC"/>
                <a:ea typeface="PingFang SC"/>
                <a:cs typeface="PingFang SC"/>
              </a:rPr>
              <a:t>重点是资料解析、权限和更新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6C4AFC-05B1-477A-B2F1-F7D4298AA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1781175"/>
            <a:ext cx="952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8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8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8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8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8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8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8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8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8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007F7A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62F82A-75D5-4FE0-AA82-4ED7CB77E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562225"/>
            <a:ext cx="42862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7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7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7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7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7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7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7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7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7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公司共享Agent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002FBF-0355-46A9-8AAD-5415704A4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581400"/>
            <a:ext cx="4286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多人开展分析与计算</a:t>
            </a:r>
          </a:p>
          <a:p xmlns:a="http://schemas.openxmlformats.org/drawingml/2006/main">
            <a:pPr algn="l">
              <a:def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生成各自的工作文件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DC6A1A-72A6-48D4-BD24-DBBDAA28D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5229225"/>
            <a:ext cx="4095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BAA716-13D9-4666-9626-2ABD9217E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5553075"/>
            <a:ext cx="4286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007F7A"/>
                </a:solidFill>
                <a:latin typeface="PingFang SC"/>
                <a:ea typeface="PingFang SC"/>
                <a:cs typeface="PingFang SC"/>
              </a:rPr>
              <a:t>DeepSeek＋共享服务器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2470FB-203A-4F9E-B564-FDC986EAB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6648450"/>
            <a:ext cx="4286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26976"/>
                </a:solidFill>
                <a:latin typeface="PingFang SC"/>
                <a:ea typeface="PingFang SC"/>
                <a:cs typeface="PingFang SC"/>
              </a:rPr>
              <a:t>重点是长会话、并发和工具环境</a:t>
            </a:r>
          </a:p>
        </p:txBody>
      </p:sp>
    </p:spTree>
    <p:extLst>
      <p:ext uri="{BB962C8B-B14F-4D97-AF65-F5344CB8AC3E}">
        <p14:creationId xmlns:p14="http://schemas.microsoft.com/office/powerpoint/2010/main" val="44694018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B1EBF8-52D1-45A2-8B40-B438C51E5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39446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个人助手怎样完成一次任务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9A5D1E-E1A2-43ED-B282-3D2776561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62075"/>
            <a:ext cx="1394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98806F-7891-4101-A7BC-D28DA5988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8134350"/>
            <a:ext cx="895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rPr>
              <a:t>9 / 32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5286CA-6A2D-45C0-B3A0-317EF4607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20050"/>
            <a:ext cx="1266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rPr>
              <a:t>操作流程设计；示例文件使用虚构财报数据。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6853CE-2E71-499B-922E-D6F347A87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62125"/>
            <a:ext cx="139446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DD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ADC371-AAAA-4982-8D7F-C41A25E80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4310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A56C17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950" b="1">
                <a:solidFill>
                  <a:srgbClr val="A56C17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950" b="1">
                <a:solidFill>
                  <a:srgbClr val="A56C17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950" b="1">
                <a:solidFill>
                  <a:srgbClr val="A56C17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950" b="1">
                <a:solidFill>
                  <a:srgbClr val="A56C17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950" b="1">
                <a:solidFill>
                  <a:srgbClr val="A56C17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950" b="1">
                <a:solidFill>
                  <a:srgbClr val="A56C17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950" b="1">
                <a:solidFill>
                  <a:srgbClr val="A56C17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950" b="1">
                <a:solidFill>
                  <a:srgbClr val="A56C17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950" b="1">
                <a:solidFill>
                  <a:srgbClr val="A56C17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A56C17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A56C17"/>
                </a:solidFill>
                <a:latin typeface="PingFang SC"/>
                <a:ea typeface="PingFang SC"/>
                <a:cs typeface="PingFang SC"/>
              </a:rPr>
              <a:t>员工提出任务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615C49-A3F1-4BD9-93E6-5E22C26C8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09825"/>
            <a:ext cx="1343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读取当前目录两期财报与CSV，采用重述口径，生成收入比较表并保留计算代码。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390A57-43E5-4319-9B0E-FCE59847D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19475"/>
            <a:ext cx="428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rPr>
              <a:t>员工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E9103D-BF8C-4D39-AA04-3AEFFCF3A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33825"/>
            <a:ext cx="4286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选定目录，提出要求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21D3F7-EE18-44FD-9D26-11DD0182B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3419475"/>
            <a:ext cx="428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rPr>
              <a:t>OpenCode＋Qwen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053574-026B-4E12-AF0D-7BF1A7D70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3933825"/>
            <a:ext cx="4286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读文件、调用工具、检查结果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884B64-50E1-4757-8ED2-CF4CE1D8C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419475"/>
            <a:ext cx="428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rPr>
              <a:t>员工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C4504B-4A5B-40FF-A65E-1EBA09407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933825"/>
            <a:ext cx="4286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打开产物，核对数字与引用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99F973-5BE5-4FF4-96DE-1444F5561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05425"/>
            <a:ext cx="13944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rPr>
              <a:t>预期文件与内容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64723A-A259-4E05-8574-C7F6F4273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43600"/>
            <a:ext cx="428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收入比较.xlsx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6AEDA1-9F1F-43B9-92F1-4071B9F09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5943600"/>
            <a:ext cx="933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原值、可比值、增幅和出处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EB8563-C687-43F1-85CE-85A0484BB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428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比较说明.md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8B96DD-37E7-498E-8742-63B175618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6486525"/>
            <a:ext cx="933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变化说明与待核对事项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E208CA-A29D-4A27-826B-4BA4F949A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029450"/>
            <a:ext cx="428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计算脚本.py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CDCB6B-7211-4A87-858C-F3B60C844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7029450"/>
            <a:ext cx="933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可再次执行的计算步骤</a:t>
            </a:r>
          </a:p>
        </p:txBody>
      </p:sp>
    </p:spTree>
    <p:extLst>
      <p:ext uri="{BB962C8B-B14F-4D97-AF65-F5344CB8AC3E}">
        <p14:creationId xmlns:p14="http://schemas.microsoft.com/office/powerpoint/2010/main" val="207491697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E6C545-8178-4566-82F9-F5CF03C79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39446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一台Spark运行模型，电脑执行文件工具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557CBF-58EE-4C1D-B3B0-9A0B2FEAB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62075"/>
            <a:ext cx="1394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DFA082-4816-412B-8DAB-C150C3A5F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8134350"/>
            <a:ext cx="895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rPr>
              <a:t>10 / 32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F82152-9CB3-40AC-BC53-56D936E68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20050"/>
            <a:ext cx="1266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d21bc73d05d4474c"/>
              </a:rPr>
              <a:t>硬件预算沿用10月12日研究，含原预算准备；软件按10月20日研究。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2CACBB-670F-4F43-B194-290E20333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86000"/>
            <a:ext cx="54292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97B174-A8EA-48A4-9C48-FA89278A9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286000"/>
            <a:ext cx="54292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DD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5FAE8D-5C80-490C-9A62-3819CB08C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33650"/>
            <a:ext cx="4914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9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9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9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9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9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9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9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9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9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9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007F7A"/>
                </a:solidFill>
                <a:latin typeface="PingFang SC"/>
                <a:ea typeface="PingFang SC"/>
                <a:cs typeface="PingFang SC"/>
              </a:rPr>
              <a:t>员工电脑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5DBB86-A2F3-4F49-A448-AE122D9D8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76625"/>
            <a:ext cx="49149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5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5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5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5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5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5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5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5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5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2550" b="0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OpenCode工作入口</a:t>
            </a:r>
          </a:p>
          <a:p xmlns:a="http://schemas.openxmlformats.org/drawingml/2006/main">
            <a:pPr algn="l">
              <a:defRPr sz="25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2550" b="0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文件、Python与Excel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4C3F3A-B240-4E0F-912B-5A27D9FDE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2533650"/>
            <a:ext cx="4914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1">
                <a:solidFill>
                  <a:srgbClr val="A56C17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925" b="1">
                <a:solidFill>
                  <a:srgbClr val="A56C17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925" b="1">
                <a:solidFill>
                  <a:srgbClr val="A56C17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925" b="1">
                <a:solidFill>
                  <a:srgbClr val="A56C17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925" b="1">
                <a:solidFill>
                  <a:srgbClr val="A56C17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925" b="1">
                <a:solidFill>
                  <a:srgbClr val="A56C17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925" b="1">
                <a:solidFill>
                  <a:srgbClr val="A56C17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925" b="1">
                <a:solidFill>
                  <a:srgbClr val="A56C17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925" b="1">
                <a:solidFill>
                  <a:srgbClr val="A56C17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925" b="1">
                <a:solidFill>
                  <a:srgbClr val="A56C17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925" b="1">
                <a:solidFill>
                  <a:srgbClr val="A56C17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A56C17"/>
                </a:solidFill>
                <a:latin typeface="PingFang SC"/>
                <a:ea typeface="PingFang SC"/>
                <a:cs typeface="PingFang SC"/>
              </a:rPr>
              <a:t>DGX Spark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832463-CC0F-4D7A-910B-A71F55311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3476625"/>
            <a:ext cx="49149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5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5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5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5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5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5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5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5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5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2550" b="0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128GB内存、4TB SSD</a:t>
            </a:r>
          </a:p>
          <a:p xmlns:a="http://schemas.openxmlformats.org/drawingml/2006/main">
            <a:pPr algn="l">
              <a:defRPr sz="25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2550" b="0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Qwen3.8-27B模型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2E6B53-18C1-4522-900C-A73623907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62700" y="3381375"/>
            <a:ext cx="2466975" cy="1619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7F7A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3601AA-0854-49E8-A9AA-285011ECC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6362700" y="4286250"/>
            <a:ext cx="2466975" cy="1619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865A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35877F-120F-40FD-BDFD-8D369B60C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76550"/>
            <a:ext cx="2809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725" b="0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0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0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0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0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0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0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0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0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0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0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007F7A"/>
                </a:solidFill>
                <a:latin typeface="PingFang SC"/>
                <a:ea typeface="PingFang SC"/>
                <a:cs typeface="PingFang SC"/>
              </a:rPr>
              <a:t>指令、材料与工具结果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C53C3F-872E-4FC2-93BE-5A784C48F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67250"/>
            <a:ext cx="2809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725" b="0">
                <a:solidFill>
                  <a:srgbClr val="2865A5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0">
                <a:solidFill>
                  <a:srgbClr val="2865A5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0">
                <a:solidFill>
                  <a:srgbClr val="2865A5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0">
                <a:solidFill>
                  <a:srgbClr val="2865A5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0">
                <a:solidFill>
                  <a:srgbClr val="2865A5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0">
                <a:solidFill>
                  <a:srgbClr val="2865A5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0">
                <a:solidFill>
                  <a:srgbClr val="2865A5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0">
                <a:solidFill>
                  <a:srgbClr val="2865A5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0">
                <a:solidFill>
                  <a:srgbClr val="2865A5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0">
                <a:solidFill>
                  <a:srgbClr val="2865A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0">
                <a:solidFill>
                  <a:srgbClr val="2865A5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2865A5"/>
                </a:solidFill>
                <a:latin typeface="PingFang SC"/>
                <a:ea typeface="PingFang SC"/>
                <a:cs typeface="PingFang SC"/>
              </a:rPr>
              <a:t>答案或工具调用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1F020A-12A7-46F4-8FD3-640A1EA90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34075"/>
            <a:ext cx="13944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3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3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3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3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3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3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3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3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3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硬件约5.8–6.2万元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1C39BD-C733-4B16-A9D9-23CD0FECC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953250"/>
            <a:ext cx="13944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vLLM负责模型运行和请求调度；日常使用通过OpenCode完成。</a:t>
            </a:r>
          </a:p>
        </p:txBody>
      </p:sp>
    </p:spTree>
    <p:extLst>
      <p:ext uri="{BB962C8B-B14F-4D97-AF65-F5344CB8AC3E}">
        <p14:creationId xmlns:p14="http://schemas.microsoft.com/office/powerpoint/2010/main" val="94260702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A934381-A92D-4385-9531-85824ABAD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39446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上下文是模型本轮能看到的材料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3E6E58-91F7-4276-8D30-80999CB03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62075"/>
            <a:ext cx="1394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19C0A9-AEE6-4116-A23A-AF7D01707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8134350"/>
            <a:ext cx="895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rPr>
              <a:t>11 / 32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990AC5-C887-4914-B268-2520071A5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9775"/>
            <a:ext cx="2476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44CCEE-7D86-4BBF-8077-529095791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62200"/>
            <a:ext cx="2171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1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1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1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1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1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1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1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1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1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1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任务要求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17959B-A563-46B4-96CC-578B533D4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2343150"/>
            <a:ext cx="3429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4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4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4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4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4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4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4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4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4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4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4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007F7A"/>
                </a:solidFill>
                <a:latin typeface="PingFang SC"/>
                <a:ea typeface="PingFang SC"/>
                <a:cs typeface="PingFang SC"/>
              </a:rPr>
              <a:t>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A26BF3-5F59-41A6-87FC-A1BD0B8BA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009775"/>
            <a:ext cx="2476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75A792-4490-432A-91C8-25632F617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362200"/>
            <a:ext cx="2171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1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1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1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1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1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1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1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1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1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1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财报与附注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0DF2BC-ED31-4E9D-81A3-2F020102A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343150"/>
            <a:ext cx="3429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4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4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4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4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4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4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4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4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4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4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4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007F7A"/>
                </a:solidFill>
                <a:latin typeface="PingFang SC"/>
                <a:ea typeface="PingFang SC"/>
                <a:cs typeface="PingFang SC"/>
              </a:rPr>
              <a:t>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DFC229-8D93-42D2-8A6B-61707598E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09775"/>
            <a:ext cx="2476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771933-7F5F-4A72-BDC8-5FA96D4AC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62200"/>
            <a:ext cx="2171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1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1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1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1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1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1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1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1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1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1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此前对话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E12BC7-E467-456E-883F-BC4B069D2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343150"/>
            <a:ext cx="3429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4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4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4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4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4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4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4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4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4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4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4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007F7A"/>
                </a:solidFill>
                <a:latin typeface="PingFang SC"/>
                <a:ea typeface="PingFang SC"/>
                <a:cs typeface="PingFang SC"/>
              </a:rPr>
              <a:t>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92548D-87C6-4746-97CF-66EA30A74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009775"/>
            <a:ext cx="2476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7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16807A-7F18-414F-9F47-C575EBC71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2362200"/>
            <a:ext cx="2171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1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1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1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1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1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1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1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1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1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1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工具计算结果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DD3969-C695-431E-9971-9D5E3BF4C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2343150"/>
            <a:ext cx="3429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4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4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4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4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4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4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4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4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4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4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4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007F7A"/>
                </a:solidFill>
                <a:latin typeface="PingFang SC"/>
                <a:ea typeface="PingFang SC"/>
                <a:cs typeface="PingFang SC"/>
              </a:rPr>
              <a:t>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5B3119-4FA6-4816-ACCA-5958D4BE3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5800" y="2009775"/>
            <a:ext cx="2476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7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99B7CB-63EE-46E4-9665-49DCBF747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2362200"/>
            <a:ext cx="2171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1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1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1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1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1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1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1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1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1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1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本轮输出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29DEA2-0CBF-4EF4-BCCA-C9AF03B18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67125"/>
            <a:ext cx="139446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32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32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32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32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32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32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32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32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32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一次长任务会不断加入新内容。前面的信息被压缩或移除后，后续判断只能使用仍保留的部分。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E23561-79F2-4E4D-832F-4EDD82683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24450"/>
            <a:ext cx="4286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4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4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4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4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4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4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4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4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4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>
                <a:solidFill>
                  <a:srgbClr val="007F7A"/>
                </a:solidFill>
                <a:latin typeface="PingFang SC"/>
                <a:ea typeface="PingFang SC"/>
                <a:cs typeface="PingFang SC"/>
              </a:rPr>
              <a:t>131K／262K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FC4804-5A9F-4ECD-82AF-95F503577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10275"/>
            <a:ext cx="428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32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32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32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32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32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32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32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32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32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基础档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801B98-D3D8-4312-84AD-84A97B70C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5124450"/>
            <a:ext cx="4286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4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4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4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4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4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4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4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4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4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>
                <a:solidFill>
                  <a:srgbClr val="007F7A"/>
                </a:solidFill>
                <a:latin typeface="PingFang SC"/>
                <a:ea typeface="PingFang SC"/>
                <a:cs typeface="PingFang SC"/>
              </a:rPr>
              <a:t>512K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0E729B-0516-4462-AA44-01625B235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6010275"/>
            <a:ext cx="428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32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32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32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32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32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32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32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32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32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个人长任务重点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C6AC97-2DB1-4E30-A88E-AF3CFDC29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5124450"/>
            <a:ext cx="4286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4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4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4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4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4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4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4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4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4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>
                <a:solidFill>
                  <a:srgbClr val="007F7A"/>
                </a:solidFill>
                <a:latin typeface="PingFang SC"/>
                <a:ea typeface="PingFang SC"/>
                <a:cs typeface="PingFang SC"/>
              </a:rPr>
              <a:t>1M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5234CCB-17C6-4B8D-BAE9-6C3D84B4E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6010275"/>
            <a:ext cx="428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32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32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32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32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32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32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32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32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32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更长任务的容量目标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BB7DA77-76AB-49DD-BA62-AF0164FF7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124700"/>
            <a:ext cx="139446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26976"/>
                </a:solidFill>
                <a:latin typeface="PingFang SC"/>
                <a:ea typeface="PingFang SC"/>
                <a:cs typeface="PingFang SC"/>
              </a:rPr>
              <a:t>K约为千、M为百万；token是模型计量文字的单位。总窗口同时包含输入与输出。</a:t>
            </a:r>
          </a:p>
        </p:txBody>
      </p:sp>
    </p:spTree>
    <p:extLst>
      <p:ext uri="{BB962C8B-B14F-4D97-AF65-F5344CB8AC3E}">
        <p14:creationId xmlns:p14="http://schemas.microsoft.com/office/powerpoint/2010/main" val="139013046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F606FA-8D93-44C8-85B9-5F1966AEB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39446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Spark处理长材料要等多久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17E3DE-E6C6-4086-A840-5E7ED87FB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62075"/>
            <a:ext cx="1394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0F9B20-0A69-45EA-AD10-417EE9E83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8134350"/>
            <a:ext cx="895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rPr>
              <a:t>12 / 32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DFA1D4-C73E-427B-ADDE-6DBD817FB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20050"/>
            <a:ext cx="1266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rPr>
              <a:t>单Spark外部测试，随机token输入，未使用前缀缓存；完整配置见备查。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A2335FE2-F268-4517-AAE0-80A2365B3AD3}"/>
              </a:ext>
            </a:extLst>
          </p:cNvPr>
          <p:cNvGraphicFramePr/>
          <p:nvPr/>
        </p:nvGraphicFramePr>
        <p:xfrm>
          <a:off xmlns:a="http://schemas.openxmlformats.org/drawingml/2006/main" x="647700" y="2228850"/>
          <a:ext xmlns:a="http://schemas.openxmlformats.org/drawingml/2006/main" cx="666750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95e218a801d4211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33E1B9-2CC3-459F-8E1A-80E91F5EE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1876425"/>
            <a:ext cx="1190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650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650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650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650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650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650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650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650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650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26976"/>
                </a:solidFill>
                <a:latin typeface="PingFang SC"/>
                <a:ea typeface="PingFang SC"/>
                <a:cs typeface="PingFang SC"/>
              </a:rPr>
              <a:t>分钟</a:t>
            </a:r>
          </a:p>
        </p:txBody>
      </p:sp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D3823701-4692-4558-AF47-FFE63FA40046}"/>
              </a:ext>
            </a:extLst>
          </p:cNvPr>
          <p:cNvGraphicFramePr/>
          <p:nvPr/>
        </p:nvGraphicFramePr>
        <p:xfrm>
          <a:off xmlns:a="http://schemas.openxmlformats.org/drawingml/2006/main" x="7905750" y="2228850"/>
          <a:ext xmlns:a="http://schemas.openxmlformats.org/drawingml/2006/main" cx="666750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052cd338b2c463a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2C543D-F9E1-4A80-AF45-D66A13CD2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87375" y="1876425"/>
            <a:ext cx="1190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650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650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650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650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650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650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650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650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650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26976"/>
                </a:solidFill>
                <a:latin typeface="PingFang SC"/>
                <a:ea typeface="PingFang SC"/>
                <a:cs typeface="PingFang SC"/>
              </a:rPr>
              <a:t>token/s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76B0BA-61A2-4E12-8515-3836FABA9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943725"/>
            <a:ext cx="13944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32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32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32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32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32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32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32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32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32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生成500个token，纯输出约25–34秒。1M容量测试首次等待约80分钟（仅输出64 token）。</a:t>
            </a:r>
          </a:p>
        </p:txBody>
      </p:sp>
    </p:spTree>
    <p:extLst>
      <p:ext uri="{BB962C8B-B14F-4D97-AF65-F5344CB8AC3E}">
        <p14:creationId xmlns:p14="http://schemas.microsoft.com/office/powerpoint/2010/main" val="81504760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F05E27-2F8E-4926-B975-A75EB60C9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39446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继续同一项任务，可以复用已处理的内容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C12E1B-FFAF-4419-9803-DEAF526CF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62075"/>
            <a:ext cx="1394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56AA94-2E28-4BF7-B5B8-298231DF6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8134350"/>
            <a:ext cx="895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rPr>
              <a:t>13 / 32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1C0802-7F57-4D92-B294-378A4D595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20050"/>
            <a:ext cx="1266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8ad1ddead9214dd1"/>
              </a:rPr>
              <a:t>图中为输入处理时间估算；右侧假设旧内容的处理结果可完整复用。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7497B7-6DAA-44FB-A2E2-9F592706D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24025"/>
            <a:ext cx="139446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4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4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4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4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4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4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4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4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4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4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2475" b="0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同一份财报已经读过，本轮只追加新的工具结果。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477678-D3C3-4C45-B5A2-1677ABB75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57475"/>
            <a:ext cx="9144000" cy="1438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7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06DD40-0277-4761-A4F8-CEA3E37AA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876550"/>
            <a:ext cx="87058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2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2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2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2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2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2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2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2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2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07F7A"/>
                </a:solidFill>
                <a:latin typeface="PingFang SC"/>
                <a:ea typeface="PingFang SC"/>
                <a:cs typeface="PingFang SC"/>
              </a:rPr>
              <a:t>已处理内容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44C7E4-E7F9-4ACF-9015-9698DA8F1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438525"/>
            <a:ext cx="8705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财报、附注、先前对话与计算结果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5B4D17-4A38-4323-841A-11399381F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657475"/>
            <a:ext cx="4133850" cy="1438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DD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7B93F8-AAC3-497B-92E0-921A78D9C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7525" y="2876550"/>
            <a:ext cx="36957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A56C17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250" b="1">
                <a:solidFill>
                  <a:srgbClr val="A56C17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250" b="1">
                <a:solidFill>
                  <a:srgbClr val="A56C17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250" b="1">
                <a:solidFill>
                  <a:srgbClr val="A56C17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250" b="1">
                <a:solidFill>
                  <a:srgbClr val="A56C17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250" b="1">
                <a:solidFill>
                  <a:srgbClr val="A56C17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250" b="1">
                <a:solidFill>
                  <a:srgbClr val="A56C17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250" b="1">
                <a:solidFill>
                  <a:srgbClr val="A56C17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250" b="1">
                <a:solidFill>
                  <a:srgbClr val="A56C17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250" b="1">
                <a:solidFill>
                  <a:srgbClr val="A56C17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A56C17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A56C17"/>
                </a:solidFill>
                <a:latin typeface="PingFang SC"/>
                <a:ea typeface="PingFang SC"/>
                <a:cs typeface="PingFang SC"/>
              </a:rPr>
              <a:t>本轮新增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BEDC22-28BE-48D9-BE30-7C09EB612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7525" y="3438525"/>
            <a:ext cx="3695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一段新的工具结果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44EA38-266C-4001-B1CB-3209970EE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15525" y="3286125"/>
            <a:ext cx="419100" cy="1619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7F7A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722844-B345-41E1-BF46-E4C835EF6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19625"/>
            <a:ext cx="6572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4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4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4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4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4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4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4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4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4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pPr>
            <a:r>
              <a:rPr sz="2475" b="1">
                <a:solidFill>
                  <a:srgbClr val="007F7A"/>
                </a:solidFill>
                <a:latin typeface="PingFang SC"/>
                <a:ea typeface="PingFang SC"/>
                <a:cs typeface="PingFang SC"/>
              </a:rPr>
              <a:t>旧缓存不可用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3162AE-702E-4A09-9AA2-B95CBF189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657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重新处理接近512K输入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101D66-92E7-4979-AED9-F0A892984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86475"/>
            <a:ext cx="6572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92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92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92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92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92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92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92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92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92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92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约26分钟（估算）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9DA4A8-97FE-4D19-A552-04604408A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619625"/>
            <a:ext cx="6572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4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4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4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4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4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4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4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4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4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pPr>
            <a:r>
              <a:rPr sz="2475" b="1">
                <a:solidFill>
                  <a:srgbClr val="007F7A"/>
                </a:solidFill>
                <a:latin typeface="PingFang SC"/>
                <a:ea typeface="PingFang SC"/>
                <a:cs typeface="PingFang SC"/>
              </a:rPr>
              <a:t>旧内容可复用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74E527-6743-41AA-9937-FA5B6B59C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324475"/>
            <a:ext cx="657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只处理追加的工具结果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BC9BAF-C4DA-427C-B2BA-3362998FA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6086475"/>
            <a:ext cx="6572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92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92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92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92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92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92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92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92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92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92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新增1K约5秒；新增8K约40秒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A8838B-4BD1-49A1-86AF-59D9CBA96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305675"/>
            <a:ext cx="13944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26976"/>
                </a:solidFill>
                <a:latin typeface="PingFang SC"/>
                <a:ea typeface="PingFang SC"/>
                <a:cs typeface="PingFang SC"/>
              </a:rPr>
              <a:t>图中比较的是本轮处理输入所需的时间，之后还要生成回答。</a:t>
            </a:r>
          </a:p>
        </p:txBody>
      </p:sp>
    </p:spTree>
    <p:extLst>
      <p:ext uri="{BB962C8B-B14F-4D97-AF65-F5344CB8AC3E}">
        <p14:creationId xmlns:p14="http://schemas.microsoft.com/office/powerpoint/2010/main" val="26066633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C37248-B294-4250-86D8-7927E12E3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39446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暂停的长任务，怎样保存和继续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F4C062-0878-4B90-87FF-0331101B3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62075"/>
            <a:ext cx="1394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D6FEBA-6310-4FE4-888A-4D21BAA54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8134350"/>
            <a:ext cx="895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rPr>
              <a:t>14 / 32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F1C10C-FDDE-4037-A31E-119E30340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20050"/>
            <a:ext cx="1266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05abacaff62a43fe"/>
              </a:rPr>
              <a:t>部署设计：SSD缓存尚未在本次Spark外部测试中启用。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2F2981-F086-481E-96A1-73AB96E33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33550"/>
            <a:ext cx="139446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一名同事上午分析A公司，下午转做B公司。返回A项目时，已有内容可从缓存续接。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232D74-9BA7-49A3-BB3C-8851AEE6C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52775"/>
            <a:ext cx="4394200" cy="1838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7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6A87CA-4959-4BC9-A0CD-55F68841C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24225"/>
            <a:ext cx="619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9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9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9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9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9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9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9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9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9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07F7A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54876B-B7C2-4A59-8844-0EA0720B7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19525"/>
            <a:ext cx="40513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正在工作</a:t>
            </a:r>
          </a:p>
          <a:p xmlns:a="http://schemas.openxmlformats.org/drawingml/2006/main">
            <a:pPr algn="l">
              <a:defRPr sz="21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内存保存当前任务状态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B81F41-7507-4234-82F1-B467D39D5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08575" y="4071938"/>
            <a:ext cx="247650" cy="1619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7F7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7CDF72-B4B7-4AEA-AA25-8FEF4A79E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2900" y="3152775"/>
            <a:ext cx="4394200" cy="1838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BDA2B6-05CF-4C6B-9358-9E38658A0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4350" y="3324225"/>
            <a:ext cx="619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9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9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9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9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9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9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9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9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9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07F7A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9A2EA4-8033-491B-BD04-28C359BBE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4350" y="3819525"/>
            <a:ext cx="40513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暂时离开</a:t>
            </a:r>
          </a:p>
          <a:p xmlns:a="http://schemas.openxmlformats.org/drawingml/2006/main">
            <a:pPr algn="l">
              <a:defRPr sz="21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把已算好的中间结果存到SSD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B51E4D-310E-470E-BEF9-F291E25CF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83775" y="4071938"/>
            <a:ext cx="247650" cy="1619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7F7A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664851-4E80-4377-902B-02D9DD142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8100" y="3152775"/>
            <a:ext cx="4394200" cy="1838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4DB2CE-C4F4-41C7-A217-A92B44A29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9550" y="3324225"/>
            <a:ext cx="619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9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9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9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9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9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9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9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9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9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07F7A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EC1AEE-7C82-4271-808C-81EB97883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9550" y="3819525"/>
            <a:ext cx="40513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继续工作</a:t>
            </a:r>
          </a:p>
          <a:p xmlns:a="http://schemas.openxmlformats.org/drawingml/2006/main">
            <a:pPr algn="l">
              <a:defRPr sz="21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从SSD读回中间结果</a:t>
            </a:r>
          </a:p>
          <a:p xmlns:a="http://schemas.openxmlformats.org/drawingml/2006/main">
            <a:pPr algn="l">
              <a:defRPr sz="21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再处理新内容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5656F3-136E-4042-AB24-5285DE675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53100"/>
            <a:ext cx="657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rPr>
              <a:t>聊天记录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9A512B-8E21-4B6F-AEBF-125379A44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67450"/>
            <a:ext cx="6572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2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2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2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2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2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2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2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2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2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2250" b="0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保留问题和回答的文字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F7C56A-6D06-472D-896F-C9FF56214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753100"/>
            <a:ext cx="657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rPr>
              <a:t>模型缓存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571155-DE1C-4DCF-85B7-72D203F8C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6267450"/>
            <a:ext cx="6572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2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2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2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2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2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2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2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2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2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2250" b="0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保留模型读材料时已算好的中间结果</a:t>
            </a:r>
          </a:p>
        </p:txBody>
      </p:sp>
    </p:spTree>
    <p:extLst>
      <p:ext uri="{BB962C8B-B14F-4D97-AF65-F5344CB8AC3E}">
        <p14:creationId xmlns:p14="http://schemas.microsoft.com/office/powerpoint/2010/main" val="75391901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FD6CA7-DDFB-4603-B848-A3D2F9E4C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39446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个人独占与三人共享怎样选择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B3666A-2D60-43BA-88B1-D1CBF638A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62075"/>
            <a:ext cx="1394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E3D59B-C477-43B6-AB70-A66662740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8134350"/>
            <a:ext cx="895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rPr>
              <a:t>15 / 32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4C2A47-C3E9-4C22-BE74-5BEA7390C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20050"/>
            <a:ext cx="1266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rPr>
              <a:t>首次投入为硬件＋实施预算；速度为三路100K输入的外部实测，容量与速度分别统计。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85054A-80C5-48B9-A6A9-47DB1C030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90700"/>
            <a:ext cx="657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4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4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4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4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4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4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4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4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4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007F7A"/>
                </a:solidFill>
                <a:latin typeface="PingFang SC"/>
                <a:ea typeface="PingFang SC"/>
                <a:cs typeface="PingFang SC"/>
              </a:rPr>
              <a:t>一人使用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371C0D-3862-40B6-9E39-DA616E62B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14600"/>
            <a:ext cx="6572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9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9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9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9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9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9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9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9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9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9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3900" b="1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6.8–8.2万元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64A561-ED2D-431B-8E4F-698F947C4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14725"/>
            <a:ext cx="657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526976"/>
                </a:solidFill>
                <a:latin typeface="PingFang SC"/>
                <a:ea typeface="PingFang SC"/>
                <a:cs typeface="PingFang SC"/>
              </a:rPr>
              <a:t>硬件＋首次部署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5FCFBB-036F-4698-8D8B-D36798F7A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790700"/>
            <a:ext cx="657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4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4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4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4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4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4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4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4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4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007F7A"/>
                </a:solidFill>
                <a:latin typeface="PingFang SC"/>
                <a:ea typeface="PingFang SC"/>
                <a:cs typeface="PingFang SC"/>
              </a:rPr>
              <a:t>三人共享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7CD45C-B0AA-413F-8ABE-2CCC664AA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514600"/>
            <a:ext cx="6572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9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9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9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9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9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9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9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9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9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9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3900" b="1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7.8–9.9万元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A55074-50AE-465B-984B-2AEE4D43C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14725"/>
            <a:ext cx="657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526976"/>
                </a:solidFill>
                <a:latin typeface="PingFang SC"/>
                <a:ea typeface="PingFang SC"/>
                <a:cs typeface="PingFang SC"/>
              </a:rPr>
              <a:t>共用设备，增加多用户接入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A14EB4-7184-45E4-821E-941E184C5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24350"/>
            <a:ext cx="1394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9EB1F0-85E5-4B12-9A76-227C033BB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33925"/>
            <a:ext cx="323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007F7A"/>
                </a:solidFill>
                <a:latin typeface="PingFang SC"/>
                <a:ea typeface="PingFang SC"/>
                <a:cs typeface="PingFang SC"/>
              </a:rPr>
              <a:t>可保留多少内容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A8517D-F115-459E-972A-16C4DDFC9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733925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预留余量后约1.6M token，可容纳三份512K会话。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BEA8E2-0E19-490F-96CF-F3A8753C1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34050"/>
            <a:ext cx="323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007F7A"/>
                </a:solidFill>
                <a:latin typeface="PingFang SC"/>
                <a:ea typeface="PingFang SC"/>
                <a:cs typeface="PingFang SC"/>
              </a:rPr>
              <a:t>同时用起来多快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253EFA-D77C-43CE-9509-69EEEED48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734050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三路100K测试：共同生成时每路约17.5 token/s。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052C3A-A82D-4AC6-B08C-D7C37DD42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734175"/>
            <a:ext cx="323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007F7A"/>
                </a:solidFill>
                <a:latin typeface="PingFang SC"/>
                <a:ea typeface="PingFang SC"/>
                <a:cs typeface="PingFang SC"/>
              </a:rPr>
              <a:t>怎样安排使用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B9030F-A258-4EB1-87E1-810EF0E1B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6734175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长材料首次处理排队；单人交互优先，共享任务错峰。</a:t>
            </a:r>
          </a:p>
        </p:txBody>
      </p:sp>
    </p:spTree>
    <p:extLst>
      <p:ext uri="{BB962C8B-B14F-4D97-AF65-F5344CB8AC3E}">
        <p14:creationId xmlns:p14="http://schemas.microsoft.com/office/powerpoint/2010/main" val="28363683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F84F64E-83BF-44D5-9729-3F47EB274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39446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公司知识库：按权限找资料，再回答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983D53-58EB-4D7D-AC33-C4F9684C3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62075"/>
            <a:ext cx="1394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C8220F-8F60-45F9-B097-35E8ABFC2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8134350"/>
            <a:ext cx="895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rPr>
              <a:t>16 / 32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56A5A3-485E-4338-82C4-EA6CE3D55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20050"/>
            <a:ext cx="1266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97e59db8539f4196"/>
              </a:rPr>
              <a:t>虚构制度示例；员工权限在检索前生效，打开原文时再次校验。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40A8E8-5BF8-4CCB-BE3A-C7B428219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33550"/>
            <a:ext cx="13944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7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7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7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7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7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7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7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7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7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2775" b="1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“现行申请限额是多少？依据哪份制度？”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9FD1FF-16AE-4C5D-9648-F3F2550F2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19400"/>
            <a:ext cx="3200400" cy="1266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7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A20FEB-8606-4BAE-904D-964773DF6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90850"/>
            <a:ext cx="619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9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9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9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9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9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9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9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9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9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07F7A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ACA72D-F7A5-4C26-A6C4-8A9DF53FC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86150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识别员工身份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FEFBF5-29D1-4E2C-A44D-BF5626F42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14775" y="3452813"/>
            <a:ext cx="247650" cy="1619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7F7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0FB904-DC75-4BD8-812E-C7428411E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819400"/>
            <a:ext cx="3200400" cy="1266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91813F-D000-42BE-83FF-141EC7208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990850"/>
            <a:ext cx="619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9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9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9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9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9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9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9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9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9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07F7A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5DB052-95D8-4D38-BE3B-4E382A8CD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486150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筛选有权资料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07DFF6-0884-4328-881E-B8ED1FE5B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96175" y="3452813"/>
            <a:ext cx="247650" cy="1619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7F7A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7AA720-FC65-42D2-81E4-E18065A54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19400"/>
            <a:ext cx="3200400" cy="1266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01C023-C92F-4422-90D1-1831C29A3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990850"/>
            <a:ext cx="619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9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9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9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9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9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9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9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9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9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07F7A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B91943-400F-4A17-99D6-8BFD874CF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486150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检索现行条款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24677D-DE19-4B7B-8E2B-3A1FDB3E5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77575" y="3452813"/>
            <a:ext cx="247650" cy="1619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7F7A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5E6062-3617-447B-8835-F9DFD721D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2819400"/>
            <a:ext cx="3200400" cy="1266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7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B69625-90A9-4D63-A0D8-224847EA4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0" y="2990850"/>
            <a:ext cx="619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9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9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9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9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9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9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9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9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9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07F7A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DF9393-CC92-4B81-865D-757B5FD99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0" y="3486150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回答并给出出处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606870-C8DF-49B9-B0C3-FA7F60D99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62475"/>
            <a:ext cx="4619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007F7A"/>
                </a:solidFill>
                <a:latin typeface="PingFang SC"/>
                <a:ea typeface="PingFang SC"/>
                <a:cs typeface="PingFang SC"/>
              </a:rPr>
              <a:t>检索到的制度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A81887-07BD-4C5E-8F82-986907981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62550"/>
            <a:ext cx="461962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旧版：申请限额2万元</a:t>
            </a:r>
          </a:p>
          <a:p xmlns:a="http://schemas.openxmlformats.org/drawingml/2006/main">
            <a: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现行版：限额3万元</a:t>
            </a:r>
          </a:p>
          <a:p xmlns:a="http://schemas.openxmlformats.org/drawingml/2006/main">
            <a: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7月1日起生效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2B4E28-9743-4D98-A348-AFD3E8CDB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4562475"/>
            <a:ext cx="8753475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DD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CD3C8C-ECC3-4747-86B6-E74706736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762500"/>
            <a:ext cx="800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A56C17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1">
                <a:solidFill>
                  <a:srgbClr val="A56C17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1">
                <a:solidFill>
                  <a:srgbClr val="A56C17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1">
                <a:solidFill>
                  <a:srgbClr val="A56C17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1">
                <a:solidFill>
                  <a:srgbClr val="A56C17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1">
                <a:solidFill>
                  <a:srgbClr val="A56C17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1">
                <a:solidFill>
                  <a:srgbClr val="A56C17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1">
                <a:solidFill>
                  <a:srgbClr val="A56C17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1">
                <a:solidFill>
                  <a:srgbClr val="A56C17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1">
                <a:solidFill>
                  <a:srgbClr val="A56C17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A56C17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A56C17"/>
                </a:solidFill>
                <a:latin typeface="PingFang SC"/>
                <a:ea typeface="PingFang SC"/>
                <a:cs typeface="PingFang SC"/>
              </a:rPr>
              <a:t>预期答复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4B3D0BE-1727-4A16-A147-0C1A2AAA2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295900"/>
            <a:ext cx="82391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32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32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32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32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32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32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32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32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32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现行限额为3万元。依据《示例制度2026版》，自2026年7月1日起执行。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622B86F-B026-4A88-854E-F4221CE2E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000875"/>
            <a:ext cx="139446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受限项目文件不进入无权限员工的检索结果，也不向其显示文件名或片段。</a:t>
            </a:r>
          </a:p>
        </p:txBody>
      </p:sp>
    </p:spTree>
    <p:extLst>
      <p:ext uri="{BB962C8B-B14F-4D97-AF65-F5344CB8AC3E}">
        <p14:creationId xmlns:p14="http://schemas.microsoft.com/office/powerpoint/2010/main" val="190938246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C8681D-AF67-4D17-89D3-312E71B63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39446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知识库的两条建设路线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F9D2AE-43E1-497E-A7C8-D4FB01AA2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62075"/>
            <a:ext cx="1394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AC730B-4367-4F8A-B6CE-1C271D090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8134350"/>
            <a:ext cx="895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rPr>
              <a:t>17 / 32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DD2B5E-7137-4995-85C5-CFD95E021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20050"/>
            <a:ext cx="1266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c9f2f24e4f2e442d"/>
              </a:rPr>
              <a:t>Onyx企业授权按范围询价；具体NAS接入与权限同步属于实施交付项。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3E9E2E-2EE3-42F3-BE8D-B85C6B7C5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81175"/>
            <a:ext cx="657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8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8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8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8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8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8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8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8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8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007F7A"/>
                </a:solidFill>
                <a:latin typeface="PingFang SC"/>
                <a:ea typeface="PingFang SC"/>
                <a:cs typeface="PingFang SC"/>
              </a:rPr>
              <a:t>Onyx Enterprise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0BB60A-B2FE-4778-AB9C-F3B9E7D0F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90800"/>
            <a:ext cx="657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25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25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25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25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25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25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25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25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25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采购企业知识平台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8053F7-7CDE-49C0-BA5E-FCDECA2BB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0"/>
            <a:ext cx="657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B0A5D1-143D-4683-89A8-0414B3FAA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48075"/>
            <a:ext cx="6572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已有搜索、问答和管理功能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D54C56-9336-407F-9887-5D70D8F55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95800"/>
            <a:ext cx="657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F30B5F-CC87-42CE-A881-2FFC89159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14875"/>
            <a:ext cx="6572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对接NAS及员工身份，验收文档解析与权限同步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B9A041-92D2-4430-A9AF-9CE22B23D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62600"/>
            <a:ext cx="657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1B669D-9A12-4972-BCC0-519528AA5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81675"/>
            <a:ext cx="6572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供应商／集成商＋内部IT维护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40F388-51AD-44D6-BA12-CE6F7C27B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781175"/>
            <a:ext cx="657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8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8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8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8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8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8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8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8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8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007F7A"/>
                </a:solidFill>
                <a:latin typeface="PingFang SC"/>
                <a:ea typeface="PingFang SC"/>
                <a:cs typeface="PingFang SC"/>
              </a:rPr>
              <a:t>Milvus＋自建服务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928C9F-6B67-4B73-8B74-62B129CF9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590800"/>
            <a:ext cx="657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25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25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25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25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25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25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25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25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25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内部开发并维护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8BE8BA-68EC-4756-9267-2E342A7E2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429000"/>
            <a:ext cx="657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D60B70-2BE4-41D8-814D-BE1FB48F8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648075"/>
            <a:ext cx="6572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Open WebUI入口，Milvus检索，Qwen回答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FD85D7-C1AC-471C-814F-668F01861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495800"/>
            <a:ext cx="657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EDA5A0-A791-4CFC-B0C0-57DC4709B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714875"/>
            <a:ext cx="6572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开发文件解析、权限过滤、更新与撤权流程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B15613-BC3D-4880-BD7F-E94C36183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562600"/>
            <a:ext cx="657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07ABF7-CD96-4E9D-99DF-F9E557B2A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781675"/>
            <a:ext cx="6572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内部应用与运维团队维护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99A6BD-2B0C-4797-BBE2-4C365A871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10425"/>
            <a:ext cx="13944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检查：有权能查、无权不返回、改版后引用新版、撤权后查不到。引用能打开对应原文。</a:t>
            </a:r>
          </a:p>
        </p:txBody>
      </p:sp>
    </p:spTree>
    <p:extLst>
      <p:ext uri="{BB962C8B-B14F-4D97-AF65-F5344CB8AC3E}">
        <p14:creationId xmlns:p14="http://schemas.microsoft.com/office/powerpoint/2010/main" val="188554989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52591B-1B6D-4FDC-9171-0F245FBB6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39446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知识库需要什么设备，多久能答完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6E5B9B-7127-4291-94B7-AD7BF9EB5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62075"/>
            <a:ext cx="1394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7E8DCC-01A6-4AF2-8B47-DABF869E7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8134350"/>
            <a:ext cx="895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rPr>
              <a:t>18 / 32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DF6AFC-3EEA-44A8-A2C5-08924DDBF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20050"/>
            <a:ext cx="1266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rPr>
              <a:t>工程估算：每问8K输入、600输出；非设备实测。首次费用沿用已归档预算，平台授权另询。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18D9E3-C1A6-4E6B-A0D2-8D4F842B2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657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rPr>
              <a:t>设备组成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C8146F-BA91-44F5-A40F-88217B3AF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24100"/>
            <a:ext cx="6572250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32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32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32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32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32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32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32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32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32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4×RTX PRO 6000D 84GB</a:t>
            </a:r>
          </a:p>
          <a:p xmlns:a="http://schemas.openxmlformats.org/drawingml/2006/main">
            <a:pPr algn="l">
              <a:defRPr sz="232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3张卡运行Qwen27回答问题</a:t>
            </a:r>
          </a:p>
          <a:p xmlns:a="http://schemas.openxmlformats.org/drawingml/2006/main">
            <a:pPr algn="l">
              <a:defRPr sz="232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1张卡处理检索，另配2台CPU服务器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33F116-3E0E-4FA5-81EE-BDD59C4A3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09750"/>
            <a:ext cx="6686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rPr>
              <a:t>20人短问答的计算示例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A98673-F473-41AD-B3DD-30ADF270F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24100"/>
            <a:ext cx="6686550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32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32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32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32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32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32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32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32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32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20个短问题同时提交</a:t>
            </a:r>
          </a:p>
          <a:p xmlns:a="http://schemas.openxmlformats.org/drawingml/2006/main">
            <a:pPr algn="l">
              <a:defRPr sz="232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最后一位约37秒开始收到回答</a:t>
            </a:r>
          </a:p>
          <a:p xmlns:a="http://schemas.openxmlformats.org/drawingml/2006/main">
            <a:pPr algn="l">
              <a:defRPr sz="232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整批约65秒完成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30E5F9-F2B8-41CA-9C42-885623999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00600"/>
            <a:ext cx="1394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BBA813-3DDC-46A8-A321-A9E2CE05A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29225"/>
            <a:ext cx="323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2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2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2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2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2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2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2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2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2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07F7A"/>
                </a:solidFill>
                <a:latin typeface="PingFang SC"/>
                <a:ea typeface="PingFang SC"/>
                <a:cs typeface="PingFang SC"/>
              </a:rPr>
              <a:t>平台路线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7B89B7-BAA0-4642-9C55-27AAB9F07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22922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0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0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0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0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0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0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0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0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0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约85–158万元＋企业授权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DE7335-C6C0-4C9A-A369-8E7D514DD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57900"/>
            <a:ext cx="323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2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2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2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2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2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2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2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2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2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07F7A"/>
                </a:solidFill>
                <a:latin typeface="PingFang SC"/>
                <a:ea typeface="PingFang SC"/>
                <a:cs typeface="PingFang SC"/>
              </a:rPr>
              <a:t>自建路线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32E401-74B8-485D-BCA2-A2A7C867B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605790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0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0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0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0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0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0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0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0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0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约92–169万元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92A084-D645-418A-87F8-26EDF16C1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181850"/>
            <a:ext cx="13944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本页预算对应上述完整硬件配置。资料可先接入一个部门目录，再逐步扩展。</a:t>
            </a:r>
          </a:p>
        </p:txBody>
      </p:sp>
    </p:spTree>
    <p:extLst>
      <p:ext uri="{BB962C8B-B14F-4D97-AF65-F5344CB8AC3E}">
        <p14:creationId xmlns:p14="http://schemas.microsoft.com/office/powerpoint/2010/main" val="62299066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EED4F9-3944-4A92-B74A-B84BE9391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39446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多人共用模型，分别完成项目工作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55BFC5-A969-4256-9960-031A40833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62075"/>
            <a:ext cx="1394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B81E31-D42F-450F-B0F4-CBFB01454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8134350"/>
            <a:ext cx="895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rPr>
              <a:t>19 / 32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42B843-3108-4F73-95F1-7566B4CB2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24025"/>
            <a:ext cx="139446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4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4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4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4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4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4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4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4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4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团队任务：比较多家公司的收入变化，汇总成分析材料。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64CA75-9C81-4CFD-B600-E7BF5CBEF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38425"/>
            <a:ext cx="4286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7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7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7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7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7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7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7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7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7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pPr>
            <a:r>
              <a:rPr sz="2775" b="1">
                <a:solidFill>
                  <a:srgbClr val="007F7A"/>
                </a:solidFill>
                <a:latin typeface="PingFang SC"/>
                <a:ea typeface="PingFang SC"/>
                <a:cs typeface="PingFang SC"/>
              </a:rPr>
              <a:t>研究员提出任务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DB6F52-B5EA-461D-917F-576CD181C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14725"/>
            <a:ext cx="4286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比较多家公司的财报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194D6C-505F-4932-81EF-F5F25AE0C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62475"/>
            <a:ext cx="4286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返回各自项目的比较表与说明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DB3845-B65D-4261-B417-4265E48BB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2638425"/>
            <a:ext cx="4286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7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7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7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7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7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7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7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7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7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pPr>
            <a:r>
              <a:rPr sz="2775" b="1">
                <a:solidFill>
                  <a:srgbClr val="007F7A"/>
                </a:solidFill>
                <a:latin typeface="PingFang SC"/>
                <a:ea typeface="PingFang SC"/>
                <a:cs typeface="PingFang SC"/>
              </a:rPr>
              <a:t>量化同事运行工具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330F6C-7925-4B65-9C69-D6705DBD5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3514725"/>
            <a:ext cx="4286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读取授权数据并执行计算脚本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7DD70D-9E8D-4519-A13A-AED73F623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4562475"/>
            <a:ext cx="4286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返回计算结果、代码与测试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540202-9D81-4F48-99FC-8A5296D74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638425"/>
            <a:ext cx="4286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7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7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7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7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7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7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7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7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7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pPr>
            <a:r>
              <a:rPr sz="2775" b="1">
                <a:solidFill>
                  <a:srgbClr val="007F7A"/>
                </a:solidFill>
                <a:latin typeface="PingFang SC"/>
                <a:ea typeface="PingFang SC"/>
                <a:cs typeface="PingFang SC"/>
              </a:rPr>
              <a:t>负责人查看产物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1A6790-814D-4150-B381-AA4124C3A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514725"/>
            <a:ext cx="4286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汇总获授权的比较表与证据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0332FE-70F4-4F84-A4C3-0CB612B46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4562475"/>
            <a:ext cx="4286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形成跨公司分析材料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16F9DE-F5F0-4D5A-AD41-8DA3B8043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00725"/>
            <a:ext cx="1394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2335C9-157D-4048-BA51-C7BE97DA0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91250"/>
            <a:ext cx="139446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32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32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32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32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32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32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32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32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32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共享端暂定DeepSeek-V4.1-Flash，供多人处理多材料分析和工具任务。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F031F9-6458-4E16-B638-B47987776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305675"/>
            <a:ext cx="139446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950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950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950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950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950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950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950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950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950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526976"/>
                </a:solidFill>
                <a:latin typeface="PingFang SC"/>
                <a:ea typeface="PingFang SC"/>
                <a:cs typeface="PingFang SC"/>
              </a:rPr>
              <a:t>较大的模型集中运行，员工无需各自购置服务器；个人Qwen仍可处理日常文件任务。</a:t>
            </a:r>
          </a:p>
        </p:txBody>
      </p:sp>
    </p:spTree>
    <p:extLst>
      <p:ext uri="{BB962C8B-B14F-4D97-AF65-F5344CB8AC3E}">
        <p14:creationId xmlns:p14="http://schemas.microsoft.com/office/powerpoint/2010/main" val="21417617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AB739F-5A59-4854-B5FA-1F84E3314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39446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模型共享，文件和权限按员工分开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47ADA3-B2D2-4C2F-B342-AC2DC9B5A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62075"/>
            <a:ext cx="1394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D0744E-1CBF-404C-92B0-168D1A600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8134350"/>
            <a:ext cx="895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rPr>
              <a:t>20 / 32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A57BE9-9ED2-4AB2-AF67-4D4FE3AB9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19275"/>
            <a:ext cx="45148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028DDC-678B-49CB-8961-B92BDEEDE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114550"/>
            <a:ext cx="4114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2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2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2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2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2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2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2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2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2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2250" b="0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研究员A：财报比较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225C72-A903-40B6-88EB-B7C141CB0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24475" y="2114550"/>
            <a:ext cx="1400175" cy="1619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7F7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02564C-75EC-4352-A1E2-326859D2C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5324475" y="2562225"/>
            <a:ext cx="1400175" cy="1619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865A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CC60F3-58C6-4469-8755-3973F2910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81350"/>
            <a:ext cx="45148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C272BB-A34E-4DEF-A189-294051092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3476625"/>
            <a:ext cx="4114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2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2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2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2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2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2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2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2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2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2250" b="0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量化同事B：数据清洗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4A1826-CABB-4E4A-A877-1B573772E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24475" y="3476625"/>
            <a:ext cx="1400175" cy="1619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7F7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F1CBB6-435A-4A16-BA53-0F5975291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5324475" y="3924300"/>
            <a:ext cx="1400175" cy="1619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865A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2B106E-3699-4099-920B-0EA931B32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43425"/>
            <a:ext cx="45148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7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D86ECA-72E3-4E57-A79C-2BE8839CC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4838700"/>
            <a:ext cx="4114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2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2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2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2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2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2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2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2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2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2250" b="0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运营同事C：异常汇总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380444-B0D7-4B00-8F9F-4A048F403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24475" y="4838700"/>
            <a:ext cx="1400175" cy="1619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7F7A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F6E84B-6B1D-4247-831C-EBE4FF509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5324475" y="5286375"/>
            <a:ext cx="1400175" cy="1619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865A5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B41D0C-7335-4849-9AFE-144B79541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819275"/>
            <a:ext cx="759142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DD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AD0555-BB6F-4356-8D03-412F527D1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143125"/>
            <a:ext cx="70199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1">
                <a:solidFill>
                  <a:srgbClr val="A56C17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925" b="1">
                <a:solidFill>
                  <a:srgbClr val="A56C17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925" b="1">
                <a:solidFill>
                  <a:srgbClr val="A56C17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925" b="1">
                <a:solidFill>
                  <a:srgbClr val="A56C17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925" b="1">
                <a:solidFill>
                  <a:srgbClr val="A56C17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925" b="1">
                <a:solidFill>
                  <a:srgbClr val="A56C17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925" b="1">
                <a:solidFill>
                  <a:srgbClr val="A56C17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925" b="1">
                <a:solidFill>
                  <a:srgbClr val="A56C17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925" b="1">
                <a:solidFill>
                  <a:srgbClr val="A56C17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925" b="1">
                <a:solidFill>
                  <a:srgbClr val="A56C17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925" b="1">
                <a:solidFill>
                  <a:srgbClr val="A56C17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A56C17"/>
                </a:solidFill>
                <a:latin typeface="PingFang SC"/>
                <a:ea typeface="PingFang SC"/>
                <a:cs typeface="PingFang SC"/>
              </a:rPr>
              <a:t>共享DeepSeek模型服务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16E0CF-8EB2-4260-9DE9-106EFA9DA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267075"/>
            <a:ext cx="7019925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7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7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7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7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7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7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7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7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7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7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2700" b="0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理解当前任务内容</a:t>
            </a:r>
          </a:p>
          <a:p xmlns:a="http://schemas.openxmlformats.org/drawingml/2006/main">
            <a:pPr algn="l">
              <a:defRPr sz="27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2700" b="0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返回答案或工具调用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56CF8F-3F7B-496F-AAAA-B1983ED8F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38875"/>
            <a:ext cx="371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rPr>
              <a:t>各自的工具与产物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D48B70-29CA-4323-AE6E-78BA1DF7C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115050"/>
            <a:ext cx="990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按身份查询NAS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AE9A61-3F99-4B53-ACCA-4E4CD74DE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19875"/>
            <a:ext cx="990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独立目录运行Python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ED864A-C528-4A17-B3BF-7D76CA213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7124700"/>
            <a:ext cx="990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产物保存回各自项目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FD8ED8-94F5-453C-961F-ACD5F62E4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581900"/>
            <a:ext cx="13944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26976"/>
                </a:solidFill>
                <a:latin typeface="PingFang SC"/>
                <a:ea typeface="PingFang SC"/>
                <a:cs typeface="PingFang SC"/>
              </a:rPr>
              <a:t>Hermes负责组织任务；模型判断下一步，工具执行文件操作和计算。</a:t>
            </a:r>
          </a:p>
        </p:txBody>
      </p:sp>
    </p:spTree>
    <p:extLst>
      <p:ext uri="{BB962C8B-B14F-4D97-AF65-F5344CB8AC3E}">
        <p14:creationId xmlns:p14="http://schemas.microsoft.com/office/powerpoint/2010/main" val="8803695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3A17C63-57D6-4425-AB74-6331D98F0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39446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长任务交错运行，空闲会话怎样保存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A8D7C6-DDBB-4236-8C45-72167CBD6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62075"/>
            <a:ext cx="1394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83FC8A-5605-4735-B666-7A1C6BFFA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8134350"/>
            <a:ext cx="895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rPr>
              <a:t>21 / 32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847DE5-C39D-4882-82ED-637EFDA9A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20050"/>
            <a:ext cx="1266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d55b087ef2314035"/>
              </a:rPr>
              <a:t>部署设计；缓存读回减少旧内容重算，当前请求仍要处理新增输入并生成输出。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6055CE-6356-4E25-8C63-1F5FDA095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152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25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25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25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25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25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25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25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25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25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同事A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8034DF-A13C-4A2B-82A6-C3077360B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781175"/>
            <a:ext cx="274320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7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B564A2-C631-41E7-91F6-4DA5238F7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2009775"/>
            <a:ext cx="2457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1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1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1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1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1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1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1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1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1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1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07F7A"/>
                </a:solidFill>
                <a:latin typeface="PingFang SC"/>
                <a:ea typeface="PingFang SC"/>
                <a:cs typeface="PingFang SC"/>
              </a:rPr>
              <a:t>读取资料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9C81D3-802C-434E-8CCA-20E79270B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1781175"/>
            <a:ext cx="274320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F6A16D-F7E6-40AD-B404-7B89EC94E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009775"/>
            <a:ext cx="2457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1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1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1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1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1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1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1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1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1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1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07F7A"/>
                </a:solidFill>
                <a:latin typeface="PingFang SC"/>
                <a:ea typeface="PingFang SC"/>
                <a:cs typeface="PingFang SC"/>
              </a:rPr>
              <a:t>生成分析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CD6146-66E7-45C8-80A6-18CB2D3AE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781175"/>
            <a:ext cx="274320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DD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6BF6B9-B340-4CCF-82A5-24ECE88FC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009775"/>
            <a:ext cx="2457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100" b="1">
                <a:solidFill>
                  <a:srgbClr val="A56C17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100" b="1">
                <a:solidFill>
                  <a:srgbClr val="A56C17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100" b="1">
                <a:solidFill>
                  <a:srgbClr val="A56C17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100" b="1">
                <a:solidFill>
                  <a:srgbClr val="A56C17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100" b="1">
                <a:solidFill>
                  <a:srgbClr val="A56C17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100" b="1">
                <a:solidFill>
                  <a:srgbClr val="A56C17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100" b="1">
                <a:solidFill>
                  <a:srgbClr val="A56C17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100" b="1">
                <a:solidFill>
                  <a:srgbClr val="A56C17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100" b="1">
                <a:solidFill>
                  <a:srgbClr val="A56C17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100" b="1">
                <a:solidFill>
                  <a:srgbClr val="A56C17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A56C17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A56C17"/>
                </a:solidFill>
                <a:latin typeface="PingFang SC"/>
                <a:ea typeface="PingFang SC"/>
                <a:cs typeface="PingFang SC"/>
              </a:rPr>
              <a:t>等待计算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8EFD3E-8DD7-49C0-A3D4-21B613B1D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1781175"/>
            <a:ext cx="274320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7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BD9531-B1E3-43E0-AD13-FE05D2D1C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800" y="2009775"/>
            <a:ext cx="2457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1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1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1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1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1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1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1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1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1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1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07F7A"/>
                </a:solidFill>
                <a:latin typeface="PingFang SC"/>
                <a:ea typeface="PingFang SC"/>
                <a:cs typeface="PingFang SC"/>
              </a:rPr>
              <a:t>继续生成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C2561A-5429-4CDD-B9EB-6EBBFB877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28950"/>
            <a:ext cx="152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25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25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25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25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25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25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25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25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25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同事B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B401D4-D71C-4E9B-A1FB-5B56FD070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819400"/>
            <a:ext cx="274320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7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21C88A-0066-460D-A935-65823A0ED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3048000"/>
            <a:ext cx="2457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1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1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1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1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1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1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1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1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1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1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07F7A"/>
                </a:solidFill>
                <a:latin typeface="PingFang SC"/>
                <a:ea typeface="PingFang SC"/>
                <a:cs typeface="PingFang SC"/>
              </a:rPr>
              <a:t>生成分析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4A02A7-6723-4ABD-AC5A-5B3817A01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2819400"/>
            <a:ext cx="274320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DD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7F6D8D-CE87-4D2C-998B-F5F86D220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048000"/>
            <a:ext cx="2457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100" b="1">
                <a:solidFill>
                  <a:srgbClr val="A56C17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100" b="1">
                <a:solidFill>
                  <a:srgbClr val="A56C17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100" b="1">
                <a:solidFill>
                  <a:srgbClr val="A56C17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100" b="1">
                <a:solidFill>
                  <a:srgbClr val="A56C17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100" b="1">
                <a:solidFill>
                  <a:srgbClr val="A56C17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100" b="1">
                <a:solidFill>
                  <a:srgbClr val="A56C17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100" b="1">
                <a:solidFill>
                  <a:srgbClr val="A56C17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100" b="1">
                <a:solidFill>
                  <a:srgbClr val="A56C17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100" b="1">
                <a:solidFill>
                  <a:srgbClr val="A56C17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100" b="1">
                <a:solidFill>
                  <a:srgbClr val="A56C17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A56C17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A56C17"/>
                </a:solidFill>
                <a:latin typeface="PingFang SC"/>
                <a:ea typeface="PingFang SC"/>
                <a:cs typeface="PingFang SC"/>
              </a:rPr>
              <a:t>等待工具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A04F00-B317-4BAD-92A2-FCD86D5AC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819400"/>
            <a:ext cx="274320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7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91C5EB-A414-4CBF-BA80-9AC9F959A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3048000"/>
            <a:ext cx="2457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1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1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1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1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1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1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1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1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1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1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07F7A"/>
                </a:solidFill>
                <a:latin typeface="PingFang SC"/>
                <a:ea typeface="PingFang SC"/>
                <a:cs typeface="PingFang SC"/>
              </a:rPr>
              <a:t>继续生成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837271-E289-4D8D-9AE1-349CB8090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819400"/>
            <a:ext cx="274320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7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D5D569-6CC4-44AA-B707-FB8BE3C88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800" y="3048000"/>
            <a:ext cx="2457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1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1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1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1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1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1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1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1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1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1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07F7A"/>
                </a:solidFill>
                <a:latin typeface="PingFang SC"/>
                <a:ea typeface="PingFang SC"/>
                <a:cs typeface="PingFang SC"/>
              </a:rPr>
              <a:t>保存文件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B71529-81DE-4A21-A8E8-B7676EC81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67175"/>
            <a:ext cx="152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25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25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25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25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25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25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25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25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25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同事C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3C5DA04-3253-4D48-9C27-90021C031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857625"/>
            <a:ext cx="274320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DD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4B28CB8-0474-4359-B8F7-76641948F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086225"/>
            <a:ext cx="2457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100" b="1">
                <a:solidFill>
                  <a:srgbClr val="A56C17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100" b="1">
                <a:solidFill>
                  <a:srgbClr val="A56C17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100" b="1">
                <a:solidFill>
                  <a:srgbClr val="A56C17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100" b="1">
                <a:solidFill>
                  <a:srgbClr val="A56C17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100" b="1">
                <a:solidFill>
                  <a:srgbClr val="A56C17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100" b="1">
                <a:solidFill>
                  <a:srgbClr val="A56C17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100" b="1">
                <a:solidFill>
                  <a:srgbClr val="A56C17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100" b="1">
                <a:solidFill>
                  <a:srgbClr val="A56C17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100" b="1">
                <a:solidFill>
                  <a:srgbClr val="A56C17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100" b="1">
                <a:solidFill>
                  <a:srgbClr val="A56C17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A56C17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A56C17"/>
                </a:solidFill>
                <a:latin typeface="PingFang SC"/>
                <a:ea typeface="PingFang SC"/>
                <a:cs typeface="PingFang SC"/>
              </a:rPr>
              <a:t>等待资料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DFC2258-45E1-4E52-8A11-908076DD9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3857625"/>
            <a:ext cx="274320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7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F7AFFE8-BAF5-4A83-8FE5-04433EF88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086225"/>
            <a:ext cx="2457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1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1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1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1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1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1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1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1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1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1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07F7A"/>
                </a:solidFill>
                <a:latin typeface="PingFang SC"/>
                <a:ea typeface="PingFang SC"/>
                <a:cs typeface="PingFang SC"/>
              </a:rPr>
              <a:t>生成分析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D7D3381-6E33-4679-BA50-19E22DF39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857625"/>
            <a:ext cx="274320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7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4A9A268-B6BD-49E9-A353-D32821411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4086225"/>
            <a:ext cx="2457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1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1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1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1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1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1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1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1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1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1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07F7A"/>
                </a:solidFill>
                <a:latin typeface="PingFang SC"/>
                <a:ea typeface="PingFang SC"/>
                <a:cs typeface="PingFang SC"/>
              </a:rPr>
              <a:t>调用工具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608E63C-B2A5-4E40-A0EC-7BE34EA7B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3857625"/>
            <a:ext cx="274320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7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CE0E439-9264-462B-AF32-DB10E2DF4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800" y="4086225"/>
            <a:ext cx="2457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1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1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1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1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1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1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1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1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1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1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07F7A"/>
                </a:solidFill>
                <a:latin typeface="PingFang SC"/>
                <a:ea typeface="PingFang SC"/>
                <a:cs typeface="PingFang SC"/>
              </a:rPr>
              <a:t>继续生成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C3D0869-1F8F-4153-BB0F-658488F88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00650"/>
            <a:ext cx="139446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4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4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4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4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4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4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4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4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4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同时生成20路，与保存40份长会话，是两项不同的资源需求。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06F077A-5C43-4455-B8FE-84ABB7C9E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15075"/>
            <a:ext cx="428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rPr>
              <a:t>显卡内存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4A1E4F3-4C51-4D3A-9C35-D5BED4A66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29425"/>
            <a:ext cx="4286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正在处理的会话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2AF4FEE-4C2E-4FB3-8ED9-17A297C5D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6315075"/>
            <a:ext cx="428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rPr>
              <a:t>主机内存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20BBC0E-A29C-4F31-AE27-3CDD9673C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6829425"/>
            <a:ext cx="4286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近期继续的会话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3E646A1-C5F2-477A-945B-0E03C2C94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6315075"/>
            <a:ext cx="428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rPr>
              <a:t>SSD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47A3BC5-392E-48BE-8511-B09C95E33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6829425"/>
            <a:ext cx="4286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较久不用的会话</a:t>
            </a:r>
          </a:p>
        </p:txBody>
      </p:sp>
    </p:spTree>
    <p:extLst>
      <p:ext uri="{BB962C8B-B14F-4D97-AF65-F5344CB8AC3E}">
        <p14:creationId xmlns:p14="http://schemas.microsoft.com/office/powerpoint/2010/main" val="20621338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F57389-AA79-408F-8988-048EA8496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39446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20份长会话，对应哪些服务器选择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550271-8DE7-4E22-9F16-5873AC213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62075"/>
            <a:ext cx="1394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5C9129-E11B-4623-976E-1FD5AB126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8134350"/>
            <a:ext cx="895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rPr>
              <a:t>22 / 32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F11BD3-D225-42CE-9AC9-7D2116F29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20050"/>
            <a:ext cx="1266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rPr>
              <a:t>20份会话的缓存容量估算，已预留余量；预算沿用10月12日完整整机研究。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58CE99-AC7B-4ADA-B849-CB34C98FF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81175"/>
            <a:ext cx="4286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7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7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7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7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7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7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7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7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7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pPr>
            <a:r>
              <a:rPr sz="2775" b="1">
                <a:solidFill>
                  <a:srgbClr val="007F7A"/>
                </a:solidFill>
                <a:latin typeface="PingFang SC"/>
                <a:ea typeface="PingFang SC"/>
                <a:cs typeface="PingFang SC"/>
              </a:rPr>
              <a:t>8×H100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0B86B2-5FDA-4DC0-B1B8-FFD857056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0"/>
            <a:ext cx="428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15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15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15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15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15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15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15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15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15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每份约242K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40CBC4-7B40-45B9-9ABE-385B18ADF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05250"/>
            <a:ext cx="4286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5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5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5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5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5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5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5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5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5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2550" b="0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约285–298万元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208F12-F63E-4BE7-B7F5-5B7037D55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1781175"/>
            <a:ext cx="4286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7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7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7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7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7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7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7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7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7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pPr>
            <a:r>
              <a:rPr sz="2775" b="1">
                <a:solidFill>
                  <a:srgbClr val="007F7A"/>
                </a:solidFill>
                <a:latin typeface="PingFang SC"/>
                <a:ea typeface="PingFang SC"/>
                <a:cs typeface="PingFang SC"/>
              </a:rPr>
              <a:t>4×H200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E9363B-F306-4D69-ACAC-5F71D546F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2857500"/>
            <a:ext cx="428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15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15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15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15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15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15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15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15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15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每份约762K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580F39-BF91-427E-B6D7-5ED452656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3905250"/>
            <a:ext cx="4286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5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5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5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5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5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5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5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5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5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2550" b="0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约161–283万元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8CAAF8-9737-4312-B745-AEC7C3167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1781175"/>
            <a:ext cx="4286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7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7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7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7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7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7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7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7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7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pPr>
            <a:r>
              <a:rPr sz="2775" b="1">
                <a:solidFill>
                  <a:srgbClr val="007F7A"/>
                </a:solidFill>
                <a:latin typeface="PingFang SC"/>
                <a:ea typeface="PingFang SC"/>
                <a:cs typeface="PingFang SC"/>
              </a:rPr>
              <a:t>8×H200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34C064-1FC8-4C5E-AA3D-701A8989F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857500"/>
            <a:ext cx="428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15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15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15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15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15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15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15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15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15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每份1M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C54062-2155-4062-8E5C-BB1C77522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905250"/>
            <a:ext cx="4286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5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5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5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5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5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5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5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5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5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2550" b="0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约291–304万元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3B5682-D15A-4EE3-8B1E-377DFEDFD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62550"/>
            <a:ext cx="1394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F3E55D-1BE9-4BB9-9079-038EC340B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00700"/>
            <a:ext cx="139446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A100备选：8卡翻新整机约91–102万元。已有设备可评估复用，用适配后的vLLM运行模型。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08B314-AB92-4100-8F87-192C3ACCE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115175"/>
            <a:ext cx="13944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26976"/>
                </a:solidFill>
                <a:latin typeface="PingFang SC"/>
                <a:ea typeface="PingFang SC"/>
                <a:cs typeface="PingFang SC"/>
              </a:rPr>
              <a:t>八卡H200用于研究20份1M长会话；A100方案侧重已有设备复用与较低购置预算。</a:t>
            </a:r>
          </a:p>
        </p:txBody>
      </p:sp>
    </p:spTree>
    <p:extLst>
      <p:ext uri="{BB962C8B-B14F-4D97-AF65-F5344CB8AC3E}">
        <p14:creationId xmlns:p14="http://schemas.microsoft.com/office/powerpoint/2010/main" val="79328033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34A628-30E9-4938-A55B-F41D512D3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39446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20人共享服务的响应目标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F145C1-C243-47B6-A7E4-6091B09E7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62075"/>
            <a:ext cx="1394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C0793C-C8EA-40CE-B669-5ABBE7177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8134350"/>
            <a:ext cx="895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rPr>
              <a:t>23 / 32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5ECFBA-E84F-4C61-B1C4-B06756FF4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20050"/>
            <a:ext cx="1266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rPr>
              <a:t>目标与参照分开：公开回放约157K输入、95%前缀命中；满1M速度待在目标设备验证。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0DF474-333D-49F8-BF90-9F71428F7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38325"/>
            <a:ext cx="6381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0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0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0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0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0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0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0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0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0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007F7A"/>
                </a:solidFill>
                <a:latin typeface="PingFang SC"/>
                <a:ea typeface="PingFang SC"/>
                <a:cs typeface="PingFang SC"/>
              </a:rPr>
              <a:t>20人同时生成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69B9B4-0EC9-467B-9FCD-02AFB9AD1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05100"/>
            <a:ext cx="6381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6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6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6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6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6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6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6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6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6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目标每人20 token/s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96C3E5-0532-4FBC-A719-9349C7BB1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00475"/>
            <a:ext cx="6381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7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7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7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7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7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7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7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7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7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7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2700" b="0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500个输出token约25秒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78F014-B911-456E-8BDA-609588B46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09750"/>
            <a:ext cx="666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rPr>
              <a:t>第一段何时出现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23D85C-CCDD-4ED0-9907-AFBB08CB4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24100"/>
            <a:ext cx="666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32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32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32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32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32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32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32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32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32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新资料处理、缓存读回和排队都会形成等待。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F47110-9FE0-45B7-A5C2-3F7A87D94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143375"/>
            <a:ext cx="666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rPr>
              <a:t>为什么工具任务还要时间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FAB659-DD3A-463B-B706-6DBBE94EB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657725"/>
            <a:ext cx="666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32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32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32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32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32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32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32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32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32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文件读取、数据查询和计算也需要时间。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FDD000-3AFB-4F6B-934A-3A2D16946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762750"/>
            <a:ext cx="1394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7A046C-7AB3-4105-B948-50FCAC518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162800"/>
            <a:ext cx="139446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2865A5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250" b="1">
                <a:solidFill>
                  <a:srgbClr val="2865A5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250" b="1">
                <a:solidFill>
                  <a:srgbClr val="2865A5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250" b="1">
                <a:solidFill>
                  <a:srgbClr val="2865A5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250" b="1">
                <a:solidFill>
                  <a:srgbClr val="2865A5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250" b="1">
                <a:solidFill>
                  <a:srgbClr val="2865A5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250" b="1">
                <a:solidFill>
                  <a:srgbClr val="2865A5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250" b="1">
                <a:solidFill>
                  <a:srgbClr val="2865A5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250" b="1">
                <a:solidFill>
                  <a:srgbClr val="2865A5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250" b="1">
                <a:solidFill>
                  <a:srgbClr val="2865A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2865A5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865A5"/>
                </a:solidFill>
                <a:latin typeface="PingFang SC"/>
                <a:ea typeface="PingFang SC"/>
                <a:cs typeface="PingFang SC"/>
              </a:rPr>
              <a:t>公开H200回放：32路，约157K输入、95%前缀命中；95%的请求约2.6秒内开始输出。</a:t>
            </a:r>
          </a:p>
        </p:txBody>
      </p:sp>
    </p:spTree>
    <p:extLst>
      <p:ext uri="{BB962C8B-B14F-4D97-AF65-F5344CB8AC3E}">
        <p14:creationId xmlns:p14="http://schemas.microsoft.com/office/powerpoint/2010/main" val="151921816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E4BC57-3A6A-4E21-B114-DDDCA67A8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39446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公司共享方案的设备与维护投入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B77458-2C99-4C5B-B951-DC6B9727F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62075"/>
            <a:ext cx="1394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F4080A-B081-42FF-9CFA-327BF7D65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8134350"/>
            <a:ext cx="895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rPr>
              <a:t>24 / 32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1485AC-6E94-44C4-BBC0-8714D1A3C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20050"/>
            <a:ext cx="1266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rPr>
              <a:t>技术人工按2,500元／人日估算；设备为研究预算，采购按具体SKU、供方与准入核查。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1A93F1-95CB-4F46-98F7-FD8EA0371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62125"/>
            <a:ext cx="323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rPr>
              <a:t>模型服务器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707F0C-377D-4DD2-9283-ACA533E86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762125"/>
            <a:ext cx="4524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0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0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0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0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0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0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0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0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0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291–304万元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4A7EC3-D9FC-44D6-BF56-19A543276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762125"/>
            <a:ext cx="50863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8×H200，含主机内存与互联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6C32F4-7DD8-4D66-AE95-6A2C8F5CA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71775"/>
            <a:ext cx="1394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452913-4633-4941-B1DF-EB4ECD0FA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62275"/>
            <a:ext cx="323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rPr>
              <a:t>工具服务器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C9D85F-756A-45A3-B6AC-E91319BB9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962275"/>
            <a:ext cx="4524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0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0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0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0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0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0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0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0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0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12–26万元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706642-2379-4675-B278-B9F11C1A6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962275"/>
            <a:ext cx="50863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文件处理、Python和业务接口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27BA2B-955B-4EDD-87E8-FDA8B25EA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71925"/>
            <a:ext cx="1394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5F0F3C-4EC4-4C0C-A9A9-6FDA6AD60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62425"/>
            <a:ext cx="323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rPr>
              <a:t>首次部署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A41517-775F-4D55-98E2-78AC96A06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162425"/>
            <a:ext cx="4524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0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0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0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0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0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0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0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0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0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约11万元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4833CD-29E5-469E-A452-EB2F8DE18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162425"/>
            <a:ext cx="50863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应用接入、隔离、监控与检查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377798-F821-486F-9EF9-759806F75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72075"/>
            <a:ext cx="1394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E0A647-7A9C-427D-A4B9-C943B8D2C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62575"/>
            <a:ext cx="323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rPr>
              <a:t>持续技术维护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CD64FE-72CB-4221-89B0-305C29B75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5362575"/>
            <a:ext cx="4524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0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0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0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0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0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0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0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0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0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约15万元／年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454FB8-EC0F-4196-8E8C-F6EDE720F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362575"/>
            <a:ext cx="50863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升级、故障处理，检查原有任务是否正常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F9AFFE-1A76-451B-8CD7-197F7CC7E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038975"/>
            <a:ext cx="13944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A100使用适配后的vLLM模型服务，沿用现成的请求管理、监控与接口。</a:t>
            </a:r>
          </a:p>
        </p:txBody>
      </p:sp>
    </p:spTree>
    <p:extLst>
      <p:ext uri="{BB962C8B-B14F-4D97-AF65-F5344CB8AC3E}">
        <p14:creationId xmlns:p14="http://schemas.microsoft.com/office/powerpoint/2010/main" val="700496311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B6F271-94A5-4B40-9838-A205CFF7B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39446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本地部署与API：资料在哪里处理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FE84C3-6B4E-4CF4-8D6F-AC8CE9EA5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62075"/>
            <a:ext cx="1394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79ABBD-D090-4E8A-8E40-5239307FD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8134350"/>
            <a:ext cx="895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rPr>
              <a:t>25 / 32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A9BD69-AE86-44DB-9B43-C1F113911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20050"/>
            <a:ext cx="1266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66e81c2a6d644a43"/>
              </a:rPr>
              <a:t>API比较使用公开或符合服务条款且获准的材料；Sonnet全球价格参照置于附录。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20DD06-465F-4F96-9D5E-8C7023E0B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38325"/>
            <a:ext cx="657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0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0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0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0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0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0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0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0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0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007F7A"/>
                </a:solidFill>
                <a:latin typeface="PingFang SC"/>
                <a:ea typeface="PingFang SC"/>
                <a:cs typeface="PingFang SC"/>
              </a:rPr>
              <a:t>本地部署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86543A-9AC2-410E-A0A8-E9B7F845C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90825"/>
            <a:ext cx="6572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5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5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5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5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5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5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5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5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5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2550" b="0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资料与工具留在内部，模型运行在自有设备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2AA6E4-6A44-4245-8F28-771D9FC80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62475"/>
            <a:ext cx="6572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2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2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2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2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2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2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2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2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2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2250" b="0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投入设备、部署与持续运行资源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98FD79-4547-479B-A92F-52DD177B5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838325"/>
            <a:ext cx="657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0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0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0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0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0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0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0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0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0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007F7A"/>
                </a:solidFill>
                <a:latin typeface="PingFang SC"/>
                <a:ea typeface="PingFang SC"/>
                <a:cs typeface="PingFang SC"/>
              </a:rPr>
              <a:t>调用API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5568A0-C057-4CDC-B2C8-051FC0DD9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790825"/>
            <a:ext cx="6572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5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5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5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5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5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5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5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5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5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2550" b="0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把获准内容发给供应商模型</a:t>
            </a:r>
          </a:p>
          <a:p xmlns:a="http://schemas.openxmlformats.org/drawingml/2006/main">
            <a:pPr algn="l">
              <a:defRPr sz="25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2550" b="0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再接收结果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40362E-1B86-4495-8FB2-A001790FB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562475"/>
            <a:ext cx="6572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2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2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2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2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2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2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2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2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2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2250" b="0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支付模型调用费，继续维护本地应用与工具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D7E653-1519-4121-8512-498A28F2D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19800"/>
            <a:ext cx="1394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82FE8C-D1AC-4308-95CE-B8139E2E1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48425"/>
            <a:ext cx="13944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内部受限材料：按机构批准的数据处理方式部署。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2C1325-8810-4C6D-A5D0-21183F7B4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086600"/>
            <a:ext cx="13944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公开财报与获准资料：可以比较本地和API的完整成本。</a:t>
            </a:r>
          </a:p>
        </p:txBody>
      </p:sp>
    </p:spTree>
    <p:extLst>
      <p:ext uri="{BB962C8B-B14F-4D97-AF65-F5344CB8AC3E}">
        <p14:creationId xmlns:p14="http://schemas.microsoft.com/office/powerpoint/2010/main" val="262562041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A60CAB7-3707-47F4-967F-A91C0C2F2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39446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一次分析可能调用模型很多轮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8E8B2F-A74D-4870-80D0-AD3C5AC2D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62075"/>
            <a:ext cx="1394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10B810-661A-4AA6-BFB8-B910783B6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8134350"/>
            <a:ext cx="895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rPr>
              <a:t>26 / 32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AC7F63-8C84-49B2-9009-EC6D78F92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20050"/>
            <a:ext cx="1266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eb094d102f9e4989"/>
              </a:rPr>
              <a:t>10月20日费率；可复用前缀命中率95%，额外重跑任务按10%计；汇率7.00，另加6%API预算准备金。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A40B0A-C03E-4BA8-8B54-5961CE45A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28800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4D5219-8965-453A-B709-0B376FAF5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38350"/>
            <a:ext cx="31432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007F7A"/>
                </a:solidFill>
                <a:latin typeface="PingFang SC"/>
                <a:ea typeface="PingFang SC"/>
                <a:cs typeface="PingFang SC"/>
              </a:rPr>
              <a:t>1. 读取材料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30E0BE-BB4E-4A5E-9DEA-EEEFC7812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1828800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9CCD28-08D7-4FFE-824E-CF7173FBC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2038350"/>
            <a:ext cx="31432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007F7A"/>
                </a:solidFill>
                <a:latin typeface="PingFang SC"/>
                <a:ea typeface="PingFang SC"/>
                <a:cs typeface="PingFang SC"/>
              </a:rPr>
              <a:t>2. 核对口径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A7701C-4BA0-4333-95EB-0AAA19BCE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828800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0A9605-9685-4DD1-9BA2-6DDDBC4DA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038350"/>
            <a:ext cx="31432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007F7A"/>
                </a:solidFill>
                <a:latin typeface="PingFang SC"/>
                <a:ea typeface="PingFang SC"/>
                <a:cs typeface="PingFang SC"/>
              </a:rPr>
              <a:t>3. 调用工具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FB528F-C0CF-498E-B9AC-86EAD965A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175" y="1828800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CB2483-85F4-4A01-9825-CEC201BC4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175" y="2038350"/>
            <a:ext cx="31432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007F7A"/>
                </a:solidFill>
                <a:latin typeface="PingFang SC"/>
                <a:ea typeface="PingFang SC"/>
                <a:cs typeface="PingFang SC"/>
              </a:rPr>
              <a:t>4. 计算与检查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4656B9-65CC-4386-8FEC-14F29565B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90825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0B2C04-CB07-4A4F-B8E2-1C976654E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00375"/>
            <a:ext cx="31432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007F7A"/>
                </a:solidFill>
                <a:latin typeface="PingFang SC"/>
                <a:ea typeface="PingFang SC"/>
                <a:cs typeface="PingFang SC"/>
              </a:rPr>
              <a:t>5. 补充资料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AB67DB-A0E1-4023-87C9-475355A7A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2790825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EC566B-962A-4ABE-AC32-BCBB58BD1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3000375"/>
            <a:ext cx="31432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007F7A"/>
                </a:solidFill>
                <a:latin typeface="PingFang SC"/>
                <a:ea typeface="PingFang SC"/>
                <a:cs typeface="PingFang SC"/>
              </a:rPr>
              <a:t>6. 修订产物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C07AF8-2651-41AB-989B-07B363D90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790825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E407F9-0FFA-4B60-A7BB-CA03F57ED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000375"/>
            <a:ext cx="31432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007F7A"/>
                </a:solidFill>
                <a:latin typeface="PingFang SC"/>
                <a:ea typeface="PingFang SC"/>
                <a:cs typeface="PingFang SC"/>
              </a:rPr>
              <a:t>7. 复核引用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3D5787-72D4-4E33-AB5A-9CE1B234A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175" y="2790825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A8E512-20E0-465F-9F49-311FF5824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175" y="3000375"/>
            <a:ext cx="31432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007F7A"/>
                </a:solidFill>
                <a:latin typeface="PingFang SC"/>
                <a:ea typeface="PingFang SC"/>
                <a:cs typeface="PingFang SC"/>
              </a:rPr>
              <a:t>8. 整理输出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6E44F6-331D-4C48-B44F-793E49A31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24350"/>
            <a:ext cx="695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65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465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465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465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465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465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465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465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465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465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465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4650" b="1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约0.63元／项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A300BA-F27F-4902-B4E0-3B83CC35B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00675"/>
            <a:ext cx="6953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DeepSeek 8轮任务示例</a:t>
            </a:r>
          </a:p>
          <a:p xmlns:a="http://schemas.openxmlformats.org/drawingml/2006/main">
            <a: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输入由100K增加到170K</a:t>
            </a:r>
          </a:p>
          <a:p xmlns:a="http://schemas.openxmlformats.org/drawingml/2006/main">
            <a: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每轮输出2K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F11A69-51BD-4591-AA75-AEEFA6C62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324350"/>
            <a:ext cx="6257925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5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5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5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5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5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5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5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5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5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2550" b="0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每轮输入含已积累内容；命中缓存的重复部分按缓存费率收费。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6D7656A-C62F-4D87-81AE-B655CACAB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000875"/>
            <a:ext cx="13944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2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2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2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2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2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2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2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2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2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2250" b="0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完整成本还包括：工作入口、文件工具、部署与维护人员。</a:t>
            </a:r>
          </a:p>
        </p:txBody>
      </p:sp>
    </p:spTree>
    <p:extLst>
      <p:ext uri="{BB962C8B-B14F-4D97-AF65-F5344CB8AC3E}">
        <p14:creationId xmlns:p14="http://schemas.microsoft.com/office/powerpoint/2010/main" val="1305355990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0A79A0-A7BE-4C44-A88B-330C0F666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39446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三年完整投入：新购本地与API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6B2A8A-4195-4606-AA91-CB130679A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62075"/>
            <a:ext cx="1394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5E7A39-80AE-4495-80B7-4C7A23259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8134350"/>
            <a:ext cx="895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rPr>
              <a:t>27 / 32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941C4C-7AB8-4F62-9FD6-AA387544E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20050"/>
            <a:ext cx="1266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3ef2b825489846df"/>
              </a:rPr>
              <a:t>统一任务用量预算；含实施与维护人工，采用10月20日费率与已归档硬件预算。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E931F074-589A-4981-A41C-9126EE39213F}"/>
              </a:ext>
            </a:extLst>
          </p:cNvPr>
          <p:cNvGraphicFramePr/>
          <p:nvPr/>
        </p:nvGraphicFramePr>
        <p:xfrm>
          <a:off xmlns:a="http://schemas.openxmlformats.org/drawingml/2006/main" x="647700" y="2333625"/>
          <a:ext xmlns:a="http://schemas.openxmlformats.org/drawingml/2006/main" cx="6667500" cy="4143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fb4b55658d94058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F4C738-C13B-461B-840A-11A0197C3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1981200"/>
            <a:ext cx="1190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650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650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650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650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650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650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650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650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650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26976"/>
                </a:solidFill>
                <a:latin typeface="PingFang SC"/>
                <a:ea typeface="PingFang SC"/>
                <a:cs typeface="PingFang SC"/>
              </a:rPr>
              <a:t>万元</a:t>
            </a:r>
          </a:p>
        </p:txBody>
      </p:sp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49F80FF8-6619-4AEF-8145-C67189B0DB13}"/>
              </a:ext>
            </a:extLst>
          </p:cNvPr>
          <p:cNvGraphicFramePr/>
          <p:nvPr/>
        </p:nvGraphicFramePr>
        <p:xfrm>
          <a:off xmlns:a="http://schemas.openxmlformats.org/drawingml/2006/main" x="7886700" y="2333625"/>
          <a:ext xmlns:a="http://schemas.openxmlformats.org/drawingml/2006/main" cx="6667500" cy="4143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d71e970450b4ae7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681FA9-777A-48C5-B470-BEF30DA59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68325" y="1981200"/>
            <a:ext cx="1190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650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650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650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650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650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650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650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650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650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26976"/>
                </a:solidFill>
                <a:latin typeface="PingFang SC"/>
                <a:ea typeface="PingFang SC"/>
                <a:cs typeface="PingFang SC"/>
              </a:rPr>
              <a:t>万元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E6A75F-9991-4D92-9995-548841515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000875"/>
            <a:ext cx="139446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每年250个工作日；个人用量年增10%，公司年增25%。预算含技术实施、维护与工具费用。</a:t>
            </a:r>
          </a:p>
        </p:txBody>
      </p:sp>
    </p:spTree>
    <p:extLst>
      <p:ext uri="{BB962C8B-B14F-4D97-AF65-F5344CB8AC3E}">
        <p14:creationId xmlns:p14="http://schemas.microsoft.com/office/powerpoint/2010/main" val="1325760538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28AE63-FBC9-410E-9FA8-B15C95F0F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39446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公司本地成本主要来自硬件与维护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074F77-B47F-4D87-AEAC-FA303C863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62075"/>
            <a:ext cx="1394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2299EC-6D2B-4C5F-863A-20BAD8571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8134350"/>
            <a:ext cx="895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rPr>
              <a:t>28 / 32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90CC0F-5CD9-4BF4-9331-859F60639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20050"/>
            <a:ext cx="1266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rPr>
              <a:t>三年预算，包含模型与工具服务器、部署、技术维护和运行费用。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17923DF0-BCF2-47B6-A81E-66511520FB0C}"/>
              </a:ext>
            </a:extLst>
          </p:cNvPr>
          <p:cNvGraphicFramePr/>
          <p:nvPr/>
        </p:nvGraphicFramePr>
        <p:xfrm>
          <a:off xmlns:a="http://schemas.openxmlformats.org/drawingml/2006/main" x="647700" y="2266950"/>
          <a:ext xmlns:a="http://schemas.openxmlformats.org/drawingml/2006/main" cx="7858125" cy="45148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8a1e9e1d87241ce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73BC33-13B2-4CD6-8CB8-DDA532A9A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914525"/>
            <a:ext cx="1190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650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650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650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650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650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650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650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650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650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26976"/>
                </a:solidFill>
                <a:latin typeface="PingFang SC"/>
                <a:ea typeface="PingFang SC"/>
                <a:cs typeface="PingFang SC"/>
              </a:rPr>
              <a:t>万元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C2343B-B740-4073-BA4F-22C42F21B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038350"/>
            <a:ext cx="5295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rPr>
              <a:t>硬件与设施包括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0CBE30-32DB-4C1C-80AB-BAC2AB5E2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552700"/>
            <a:ext cx="52959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模型整机、工具服务器、首次机房接入。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2C6739-BDBC-42B0-AAC2-8715890FD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905250"/>
            <a:ext cx="5295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rPr>
              <a:t>技术维护包括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D4AA84-ECE7-4D7E-861F-AD990B7CB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4419600"/>
            <a:ext cx="52959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日常监控、故障处理、升级后检查。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2E8BEB-B7C9-4CC1-AA43-CD05A918D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5772150"/>
            <a:ext cx="5295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007F7A"/>
                </a:solidFill>
                <a:latin typeface="PingFang SC"/>
                <a:ea typeface="PingFang SC"/>
                <a:cs typeface="PingFang SC"/>
              </a:rPr>
              <a:t>运行费用包括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4C2347-2588-4CA1-9704-7E7EF72AC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6286500"/>
            <a:ext cx="52959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用电、机位和软件支持。</a:t>
            </a:r>
          </a:p>
        </p:txBody>
      </p:sp>
    </p:spTree>
    <p:extLst>
      <p:ext uri="{BB962C8B-B14F-4D97-AF65-F5344CB8AC3E}">
        <p14:creationId xmlns:p14="http://schemas.microsoft.com/office/powerpoint/2010/main" val="1999713003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BD9105-6B83-4B9F-9895-73B8C9FD3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39446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使用量增加后，也要计算扩容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1B99F5-8D57-4021-8253-2387E6AB6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62075"/>
            <a:ext cx="1394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184A78-B2A7-4C0B-A156-9B98F0930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8134350"/>
            <a:ext cx="895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rPr>
              <a:t>29 / 32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02B2C1-822F-4948-921A-A4F13843E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20050"/>
            <a:ext cx="1266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rPr>
              <a:t>每年250个工作日；中量年增25%，高量年增50%；按100K–170K多轮任务规划容量。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BF578A-BFA4-40D6-9304-898B4840B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19275"/>
            <a:ext cx="65722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9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9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9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9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9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9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9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9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9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9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007F7A"/>
                </a:solidFill>
                <a:latin typeface="PingFang SC"/>
                <a:ea typeface="PingFang SC"/>
                <a:cs typeface="PingFang SC"/>
              </a:rPr>
              <a:t>中等使用量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5841AA-3E81-4D8A-9988-AF2CFF680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95600"/>
            <a:ext cx="6572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20人，首年每人每工作日5项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C6ADEA-04C2-402A-9C46-0A71E0F63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52850"/>
            <a:ext cx="6572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三年约9.5万项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9CDB47-4792-4FA9-A1DB-4DA13AABB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10100"/>
            <a:ext cx="6572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GPU节点：1 → 1 → 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E5BEC2-8DBF-47D8-BC4D-8A3BF1CDE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67350"/>
            <a:ext cx="6572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62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62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62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62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62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62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62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62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62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2625" b="1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本地约393万；API约68万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15B04E-753B-4665-A2BA-5CD035396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819275"/>
            <a:ext cx="65722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9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9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9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9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9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9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9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9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9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9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007F7A"/>
                </a:solidFill>
                <a:latin typeface="PingFang SC"/>
                <a:ea typeface="PingFang SC"/>
                <a:cs typeface="PingFang SC"/>
              </a:rPr>
              <a:t>高使用量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EAB2AC-2762-4B8A-BC0A-AE5EECEE8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895600"/>
            <a:ext cx="6572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20人，首年每人每工作日10项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D50816-5F32-4894-8262-886400AD6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752850"/>
            <a:ext cx="6572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三年约23.8万项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701D63-3C22-4E04-8CC1-2756F91B8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610100"/>
            <a:ext cx="6572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2400" b="0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GPU节点：1 → 2 → 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636436-8390-4E96-9057-6D2EFE98E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467350"/>
            <a:ext cx="6572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62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62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62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62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62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62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62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62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62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2625" b="1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本地约713万；API约77万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743A43-DF37-44FB-AA9A-1EFD95B32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0"/>
            <a:ext cx="1394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E6B355-73ED-456F-83E8-2043677D2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058025"/>
            <a:ext cx="139446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高用量情景从第二年增加一台GPU服务器，三年本地预算升至约713万元。</a:t>
            </a:r>
          </a:p>
        </p:txBody>
      </p:sp>
    </p:spTree>
    <p:extLst>
      <p:ext uri="{BB962C8B-B14F-4D97-AF65-F5344CB8AC3E}">
        <p14:creationId xmlns:p14="http://schemas.microsoft.com/office/powerpoint/2010/main" val="450045765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7CB1E1-0BE2-417E-B16E-2F43AB006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39446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首批任务优先选择容易核对的产物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A43D9D-1F99-4477-B55C-BF4AAA78D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62075"/>
            <a:ext cx="1394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21A90C-7B98-41C3-82E8-F45F280F7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8134350"/>
            <a:ext cx="895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rPr>
              <a:t>30 / 32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3F27B7-2411-4BF6-9DE2-774F7DF54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20050"/>
            <a:ext cx="1266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rPr>
              <a:t>示例公告来自虚构评价任务NER-01；未运行模型。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29F743-0E08-4741-ACF5-CAE1CD643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52600"/>
            <a:ext cx="802005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DD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E88C07-9470-45F6-BD19-347E1C6C8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1943100"/>
            <a:ext cx="7572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A56C17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1">
                <a:solidFill>
                  <a:srgbClr val="A56C17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1">
                <a:solidFill>
                  <a:srgbClr val="A56C17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1">
                <a:solidFill>
                  <a:srgbClr val="A56C17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1">
                <a:solidFill>
                  <a:srgbClr val="A56C17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1">
                <a:solidFill>
                  <a:srgbClr val="A56C17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1">
                <a:solidFill>
                  <a:srgbClr val="A56C17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1">
                <a:solidFill>
                  <a:srgbClr val="A56C17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1">
                <a:solidFill>
                  <a:srgbClr val="A56C17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1">
                <a:solidFill>
                  <a:srgbClr val="A56C17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A56C17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A56C17"/>
                </a:solidFill>
                <a:latin typeface="PingFang SC"/>
                <a:ea typeface="PingFang SC"/>
                <a:cs typeface="PingFang SC"/>
              </a:rPr>
              <a:t>虚构公告原文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5449BF-3976-4C47-A0A9-149688707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495550"/>
            <a:ext cx="7572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32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32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32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32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32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32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32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32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32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“10月6日签署1.20亿元供货合同，</a:t>
            </a:r>
          </a:p>
          <a:p xmlns:a="http://schemas.openxmlformats.org/drawingml/2006/main">
            <a:pPr algn="l">
              <a:defRPr sz="232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10月8日公告，尚未履行完毕。”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4FAC78-E699-4B3B-8632-69E387893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86200"/>
            <a:ext cx="276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2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2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2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2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2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2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2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2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2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07F7A"/>
                </a:solidFill>
                <a:latin typeface="PingFang SC"/>
                <a:ea typeface="PingFang SC"/>
                <a:cs typeface="PingFang SC"/>
              </a:rPr>
              <a:t>事件日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383C5C-EC43-4BEA-A7B6-1EC06E2A1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886200"/>
            <a:ext cx="485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32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32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32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32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32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32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32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32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32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10月6日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37B753-D213-4C5F-B654-7D9F336A1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0"/>
            <a:ext cx="276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2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2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2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2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2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2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2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2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2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07F7A"/>
                </a:solidFill>
                <a:latin typeface="PingFang SC"/>
                <a:ea typeface="PingFang SC"/>
                <a:cs typeface="PingFang SC"/>
              </a:rPr>
              <a:t>公告日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6104B0-312E-41C6-A1F3-7C0FB32F8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572000"/>
            <a:ext cx="485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32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32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32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32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32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32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32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32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32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10月8日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BFF653-7457-49FE-886D-C61484A32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57800"/>
            <a:ext cx="276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2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2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2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2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2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2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2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2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2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07F7A"/>
                </a:solidFill>
                <a:latin typeface="PingFang SC"/>
                <a:ea typeface="PingFang SC"/>
                <a:cs typeface="PingFang SC"/>
              </a:rPr>
              <a:t>金额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4A7790-83A8-4719-8A79-B6959CFA2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5257800"/>
            <a:ext cx="485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32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32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32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32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32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32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32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32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32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120,000,000元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08AD7B-0731-42CD-B2BF-300CB6296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43600"/>
            <a:ext cx="276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2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2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2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2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2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2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2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2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2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07F7A"/>
                </a:solidFill>
                <a:latin typeface="PingFang SC"/>
                <a:ea typeface="PingFang SC"/>
                <a:cs typeface="PingFang SC"/>
              </a:rPr>
              <a:t>状态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2C1DF4-DFF6-4D6E-A9DB-1187DC803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5943600"/>
            <a:ext cx="485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32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32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32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32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32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32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32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32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32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已签署，未履行完毕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0BA1C9-E885-4F6C-A5EF-5441023AF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828800"/>
            <a:ext cx="504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62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62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62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62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62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62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62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62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62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2625" b="1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试点顺序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802AC0-026B-4274-A311-472B84200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867025"/>
            <a:ext cx="504825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2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2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2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2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2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2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2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2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2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2250" b="0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先做：公告提取、代码与测试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1983B4-AE11-4835-B771-167CB0E24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952875"/>
            <a:ext cx="504825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2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2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2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2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2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2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2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2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2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2250" b="0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随后：财报比较与摘要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BE12ED-104C-4444-8F88-9B369C4C4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5038725"/>
            <a:ext cx="504825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2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2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2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2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2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2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2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2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2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2250" b="0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再接：部门NAS授权问答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02E361-9512-4767-8223-16C990343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6124575"/>
            <a:ext cx="504825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2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2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2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2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2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2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2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2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2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2250" b="0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储备：材料预审与规则检查</a:t>
            </a:r>
          </a:p>
        </p:txBody>
      </p:sp>
    </p:spTree>
    <p:extLst>
      <p:ext uri="{BB962C8B-B14F-4D97-AF65-F5344CB8AC3E}">
        <p14:creationId xmlns:p14="http://schemas.microsoft.com/office/powerpoint/2010/main" val="1997622580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8BF6F2-2AFB-4910-B4C3-90B61C323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39446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收益记录：一个工时计算示例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6AE7B4-1099-40E8-B801-60A43AE57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62075"/>
            <a:ext cx="1394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8B4A2E-23F0-445A-BA32-07F1A9987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8134350"/>
            <a:ext cx="895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rPr>
              <a:t>31 / 32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86F65D-19A0-4427-93BA-6E625A100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20050"/>
            <a:ext cx="1266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rPr>
              <a:t>示例工作量与时间假设，非已实现收益；分析师工时价值按150元／小时。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CA6915-7EFB-4C2C-A699-BADDA1494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0225"/>
            <a:ext cx="619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475" b="1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475" b="1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475" b="1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475" b="1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475" b="1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475" b="1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475" b="1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475" b="1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475" b="1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pPr>
            <a:r>
              <a:rPr sz="2475" b="1">
                <a:solidFill>
                  <a:srgbClr val="526976"/>
                </a:solidFill>
                <a:latin typeface="PingFang SC"/>
                <a:ea typeface="PingFang SC"/>
                <a:cs typeface="PingFang SC"/>
              </a:rPr>
              <a:t>原人工流程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5929C8-FBCA-4068-B776-2BA14B4DF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43175"/>
            <a:ext cx="6191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050" b="1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4050" b="1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4050" b="1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4050" b="1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4050" b="1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4050" b="1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4050" b="1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4050" b="1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4050" b="1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4050" b="1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4050" b="1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pPr>
            <a:r>
              <a:rPr sz="4050" b="1">
                <a:solidFill>
                  <a:srgbClr val="526976"/>
                </a:solidFill>
                <a:latin typeface="PingFang SC"/>
                <a:ea typeface="PingFang SC"/>
                <a:cs typeface="PingFang SC"/>
              </a:rPr>
              <a:t>90分钟／项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0190C8-699F-4296-9BE9-540C515E9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00225"/>
            <a:ext cx="66865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4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4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4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4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4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4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4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4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4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pPr>
            <a:r>
              <a:rPr sz="2475" b="1">
                <a:solidFill>
                  <a:srgbClr val="007F7A"/>
                </a:solidFill>
                <a:latin typeface="PingFang SC"/>
                <a:ea typeface="PingFang SC"/>
                <a:cs typeface="PingFang SC"/>
              </a:rPr>
              <a:t>使用助手后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2AB52F-7C4F-4203-B50A-74A264A35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543175"/>
            <a:ext cx="66865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7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7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7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7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7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7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7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7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7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7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2775" b="0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操作编辑25分钟＋复核返工20分钟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446FFD-2386-42E9-A992-C759E32B9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71950"/>
            <a:ext cx="1394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F830F7-BCCA-4020-AD34-9094AC207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81525"/>
            <a:ext cx="139446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0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40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40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40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40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40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40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40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40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40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4050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pPr>
            <a:r>
              <a:rPr sz="4050" b="1">
                <a:solidFill>
                  <a:srgbClr val="007F7A"/>
                </a:solidFill>
                <a:latin typeface="PingFang SC"/>
                <a:ea typeface="PingFang SC"/>
                <a:cs typeface="PingFang SC"/>
              </a:rPr>
              <a:t>净节省45分钟／项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4B7E06-CAB5-43FD-96A6-1B4F712BD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67375"/>
            <a:ext cx="13944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62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62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62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62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62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62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62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62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62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62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2625" b="0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每月30项，释放约22.5小时研究时间。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07F120-2E3D-4CE3-9637-181BFC236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067550"/>
            <a:ext cx="4286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记录所有失败与返工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2BEDFC-3B34-4443-BEC6-FEE50CD1B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7067550"/>
            <a:ext cx="4286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检查关键数字和出处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B76263-9457-4F2A-824E-555D00E16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7067550"/>
            <a:ext cx="4286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同时记录等待与人员操作时间</a:t>
            </a:r>
          </a:p>
        </p:txBody>
      </p:sp>
    </p:spTree>
    <p:extLst>
      <p:ext uri="{BB962C8B-B14F-4D97-AF65-F5344CB8AC3E}">
        <p14:creationId xmlns:p14="http://schemas.microsoft.com/office/powerpoint/2010/main" val="252129733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EACFC5-77C3-4DC5-8FDA-B3AD694C8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39446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下一阶段的三个交付物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759958-A49B-480C-9A07-A9E7BA0CE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62075"/>
            <a:ext cx="1394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7ED7E2-2ACD-49EE-8B22-0E94A5D0D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8134350"/>
            <a:ext cx="895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rPr>
              <a:t>32 / 32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EC958B-A84D-4ECA-AB21-182AACFC8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9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9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9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9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9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9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9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9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9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9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007F7A"/>
                </a:solidFill>
                <a:latin typeface="PingFang SC"/>
                <a:ea typeface="PingFang SC"/>
                <a:cs typeface="PingFang SC"/>
              </a:rPr>
              <a:t>第1–2周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C13E7F-7525-46D7-ABB6-F2F9B1C92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95575"/>
            <a:ext cx="4286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7A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5B2F6A-2BCD-4BAE-9E5E-2D8FB6988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43250"/>
            <a:ext cx="42862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85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85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85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85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85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85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85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85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85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公告字段＋代码测试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EEACEB-9DE8-4BB2-8313-21B801640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00575"/>
            <a:ext cx="428625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业务：给样例、核对结果</a:t>
            </a:r>
          </a:p>
          <a:p xmlns:a="http://schemas.openxmlformats.org/drawingml/2006/main">
            <a: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技术：搭入口、工具与测试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8B7FD0-8394-492C-B7C5-EBB8FF790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18097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9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9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9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9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9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9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9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9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9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9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007F7A"/>
                </a:solidFill>
                <a:latin typeface="PingFang SC"/>
                <a:ea typeface="PingFang SC"/>
                <a:cs typeface="PingFang SC"/>
              </a:rPr>
              <a:t>第3–5周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1E9470-E118-4679-9E98-C8805ABF1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2695575"/>
            <a:ext cx="4286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7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469BAC-7F4A-4F92-AEE4-C7BD81C81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3143250"/>
            <a:ext cx="42862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85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85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85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85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85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85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85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85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85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财报比较包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56F476-8BCA-4477-B92B-1EB9B5623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4600575"/>
            <a:ext cx="428625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Excel、计算文件、说明与引用</a:t>
            </a:r>
          </a:p>
          <a:p xmlns:a="http://schemas.openxmlformats.org/drawingml/2006/main">
            <a: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记录人工操作、复核和等待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CDF7D5-C77B-4CFD-A078-2DBC2D51E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18097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9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9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9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9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9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9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9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9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9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92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007F7A"/>
                </a:solidFill>
                <a:latin typeface="PingFang SC"/>
                <a:ea typeface="PingFang SC"/>
                <a:cs typeface="PingFang SC"/>
              </a:rPr>
              <a:t>第5–8周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B240D7-FB33-4E3F-92CE-F0F03E1B8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695575"/>
            <a:ext cx="4286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7A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B860CD-A5D2-40D3-91BD-221DBE02D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143250"/>
            <a:ext cx="42862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85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85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85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85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85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85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85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85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85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部门NAS知识问答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35DE7A-EF38-41A2-8A4C-1576D4466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4600575"/>
            <a:ext cx="428625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接入选定目录与员工身份</a:t>
            </a:r>
          </a:p>
          <a:p xmlns:a="http://schemas.openxmlformats.org/drawingml/2006/main">
            <a:pPr algn="l">
              <a:def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检查有权、无权、改版和撤权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2E883B-6574-404C-9A45-05F478F06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067550"/>
            <a:ext cx="13944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2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2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2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2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2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2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2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2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2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2250" b="0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个人助手处理手边文件；知识库提供授权资料；共享助手承接多人任务。先从公告提取与代码测试开始。</a:t>
            </a:r>
          </a:p>
        </p:txBody>
      </p:sp>
    </p:spTree>
    <p:extLst>
      <p:ext uri="{BB962C8B-B14F-4D97-AF65-F5344CB8AC3E}">
        <p14:creationId xmlns:p14="http://schemas.microsoft.com/office/powerpoint/2010/main" val="455523270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88834E-D94A-4392-802A-73B493F27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39446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备查：模型与公开金融评测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F7CFF8-3729-449E-B811-3764349DC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62075"/>
            <a:ext cx="1394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D92DB2-BA36-4737-8B2F-AC262C3AF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8134350"/>
            <a:ext cx="895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rPr>
              <a:t>备查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3972A4-67AD-4808-B650-AB6265E18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20050"/>
            <a:ext cx="1266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88d81ee35f6741c7"/>
              </a:rPr>
              <a:t>作者榜单10月18日更新，10月20日归档；原版与1017版的成绩和性能分别记录。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F38E61-0781-4670-AFAA-3CCDB0C0725A}"/>
              </a:ext>
            </a:extLst>
          </p:cNvPr>
          <p:cNvGraphicFramePr/>
          <p:nvPr/>
        </p:nvGraphicFramePr>
        <p:xfrm>
          <a:off xmlns:a="http://schemas.openxmlformats.org/drawingml/2006/main" x="647700" y="1781175"/>
          <a:ext xmlns:a="http://schemas.openxmlformats.org/drawingml/2006/main" cx="13944600" cy="5429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857750"/>
                <a:gridCol w="4095750"/>
                <a:gridCol w="4991100"/>
              </a:tblGrid>
              <a:tr h="90487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模型</a:t>
                      </a:r>
                    </a:p>
                  </a:txBody>
                  <a:tcPr marL="142875" marR="142875" marT="95250" marB="95250" anchor="ctr">
                    <a:lnL w="6668">
                      <a:solidFill>
                        <a:srgbClr val="C8D7DE"/>
                      </a:solidFill>
                      <a:prstDash val="solid"/>
                    </a:lnL>
                    <a:lnR w="6668">
                      <a:solidFill>
                        <a:srgbClr val="C8D7DE"/>
                      </a:solidFill>
                      <a:prstDash val="solid"/>
                    </a:lnR>
                    <a:lnT w="6668">
                      <a:solidFill>
                        <a:srgbClr val="C8D7DE"/>
                      </a:solidFill>
                      <a:prstDash val="solid"/>
                    </a:lnT>
                    <a:lnB w="6668">
                      <a:solidFill>
                        <a:srgbClr val="C8D7DE"/>
                      </a:solidFill>
                      <a:prstDash val="solid"/>
                    </a:lnB>
                    <a:solidFill>
                      <a:srgbClr val="1831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Finance Agent v2</a:t>
                      </a:r>
                    </a:p>
                  </a:txBody>
                  <a:tcPr marL="142875" marR="142875" marT="95250" marB="95250" anchor="ctr">
                    <a:lnR w="6668">
                      <a:solidFill>
                        <a:srgbClr val="C8D7DE"/>
                      </a:solidFill>
                      <a:prstDash val="solid"/>
                    </a:lnR>
                    <a:lnT w="6668">
                      <a:solidFill>
                        <a:srgbClr val="C8D7DE"/>
                      </a:solidFill>
                      <a:prstDash val="solid"/>
                    </a:lnT>
                    <a:lnB w="6668">
                      <a:solidFill>
                        <a:srgbClr val="C8D7DE"/>
                      </a:solidFill>
                      <a:prstDash val="solid"/>
                    </a:lnB>
                    <a:solidFill>
                      <a:srgbClr val="1831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本研究用途</a:t>
                      </a:r>
                    </a:p>
                  </a:txBody>
                  <a:tcPr marL="142875" marR="142875" marT="95250" marB="95250" anchor="ctr">
                    <a:lnR w="6668">
                      <a:solidFill>
                        <a:srgbClr val="C8D7DE"/>
                      </a:solidFill>
                      <a:prstDash val="solid"/>
                    </a:lnR>
                    <a:lnT w="6668">
                      <a:solidFill>
                        <a:srgbClr val="C8D7DE"/>
                      </a:solidFill>
                      <a:prstDash val="solid"/>
                    </a:lnT>
                    <a:lnB w="6668">
                      <a:solidFill>
                        <a:srgbClr val="C8D7DE"/>
                      </a:solidFill>
                      <a:prstDash val="solid"/>
                    </a:lnB>
                    <a:solidFill>
                      <a:srgbClr val="18313E"/>
                    </a:solidFill>
                  </a:tcPr>
                </a:tc>
              </a:tr>
              <a:tr h="904875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831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Qwen3.8-27B</a:t>
                      </a:r>
                    </a:p>
                  </a:txBody>
                  <a:tcPr marL="142875" marR="142875" marT="95250" marB="95250" anchor="ctr">
                    <a:lnL w="6668">
                      <a:solidFill>
                        <a:srgbClr val="C8D7DE"/>
                      </a:solidFill>
                      <a:prstDash val="solid"/>
                    </a:lnL>
                    <a:lnR w="6668">
                      <a:solidFill>
                        <a:srgbClr val="C8D7DE"/>
                      </a:solidFill>
                      <a:prstDash val="solid"/>
                    </a:lnR>
                    <a:lnB w="6668">
                      <a:solidFill>
                        <a:srgbClr val="C8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831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48.55</a:t>
                      </a:r>
                    </a:p>
                  </a:txBody>
                  <a:tcPr marL="142875" marR="142875" marT="95250" marB="95250" anchor="ctr">
                    <a:lnR w="6668">
                      <a:solidFill>
                        <a:srgbClr val="C8D7DE"/>
                      </a:solidFill>
                      <a:prstDash val="solid"/>
                    </a:lnR>
                    <a:lnB w="6668">
                      <a:solidFill>
                        <a:srgbClr val="C8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831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个人与知识问答</a:t>
                      </a:r>
                    </a:p>
                  </a:txBody>
                  <a:tcPr marL="142875" marR="142875" marT="95250" marB="95250" anchor="ctr">
                    <a:lnR w="6668">
                      <a:solidFill>
                        <a:srgbClr val="C8D7DE"/>
                      </a:solidFill>
                      <a:prstDash val="solid"/>
                    </a:lnR>
                    <a:lnB w="6668">
                      <a:solidFill>
                        <a:srgbClr val="C8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04875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831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DeepSeek V4.1 Flash 原版</a:t>
                      </a:r>
                    </a:p>
                  </a:txBody>
                  <a:tcPr marL="142875" marR="142875" marT="95250" marB="95250" anchor="ctr">
                    <a:lnL w="6668">
                      <a:solidFill>
                        <a:srgbClr val="C8D7DE"/>
                      </a:solidFill>
                      <a:prstDash val="solid"/>
                    </a:lnL>
                    <a:lnR w="6668">
                      <a:solidFill>
                        <a:srgbClr val="C8D7DE"/>
                      </a:solidFill>
                      <a:prstDash val="solid"/>
                    </a:lnR>
                    <a:lnB w="6668">
                      <a:solidFill>
                        <a:srgbClr val="C8D7DE"/>
                      </a:solidFill>
                      <a:prstDash val="solid"/>
                    </a:lnB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831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53.48</a:t>
                      </a:r>
                    </a:p>
                  </a:txBody>
                  <a:tcPr marL="142875" marR="142875" marT="95250" marB="95250" anchor="ctr">
                    <a:lnR w="6668">
                      <a:solidFill>
                        <a:srgbClr val="C8D7DE"/>
                      </a:solidFill>
                      <a:prstDash val="solid"/>
                    </a:lnR>
                    <a:lnB w="6668">
                      <a:solidFill>
                        <a:srgbClr val="C8D7DE"/>
                      </a:solidFill>
                      <a:prstDash val="solid"/>
                    </a:lnB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831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既有共享方案及性能测试所用版本</a:t>
                      </a:r>
                    </a:p>
                  </a:txBody>
                  <a:tcPr marL="142875" marR="142875" marT="95250" marB="95250" anchor="ctr">
                    <a:lnR w="6668">
                      <a:solidFill>
                        <a:srgbClr val="C8D7DE"/>
                      </a:solidFill>
                      <a:prstDash val="solid"/>
                    </a:lnR>
                    <a:lnB w="6668">
                      <a:solidFill>
                        <a:srgbClr val="C8D7DE"/>
                      </a:solidFill>
                      <a:prstDash val="solid"/>
                    </a:lnB>
                    <a:solidFill>
                      <a:srgbClr val="F1F6F7"/>
                    </a:solidFill>
                  </a:tcPr>
                </a:tc>
              </a:tr>
              <a:tr h="904875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831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DeepSeek V4.1 Flash 1017</a:t>
                      </a:r>
                    </a:p>
                  </a:txBody>
                  <a:tcPr marL="142875" marR="142875" marT="95250" marB="95250" anchor="ctr">
                    <a:lnL w="6668">
                      <a:solidFill>
                        <a:srgbClr val="C8D7DE"/>
                      </a:solidFill>
                      <a:prstDash val="solid"/>
                    </a:lnL>
                    <a:lnR w="6668">
                      <a:solidFill>
                        <a:srgbClr val="C8D7DE"/>
                      </a:solidFill>
                      <a:prstDash val="solid"/>
                    </a:lnR>
                    <a:lnB w="6668">
                      <a:solidFill>
                        <a:srgbClr val="C8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831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56.96</a:t>
                      </a:r>
                    </a:p>
                  </a:txBody>
                  <a:tcPr marL="142875" marR="142875" marT="95250" marB="95250" anchor="ctr">
                    <a:lnR w="6668">
                      <a:solidFill>
                        <a:srgbClr val="C8D7DE"/>
                      </a:solidFill>
                      <a:prstDash val="solid"/>
                    </a:lnR>
                    <a:lnB w="6668">
                      <a:solidFill>
                        <a:srgbClr val="C8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831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开放权重升级候选</a:t>
                      </a:r>
                    </a:p>
                  </a:txBody>
                  <a:tcPr marL="142875" marR="142875" marT="95250" marB="95250" anchor="ctr">
                    <a:lnR w="6668">
                      <a:solidFill>
                        <a:srgbClr val="C8D7DE"/>
                      </a:solidFill>
                      <a:prstDash val="solid"/>
                    </a:lnR>
                    <a:lnB w="6668">
                      <a:solidFill>
                        <a:srgbClr val="C8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04875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831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GLM5.3 Flash</a:t>
                      </a:r>
                    </a:p>
                  </a:txBody>
                  <a:tcPr marL="142875" marR="142875" marT="95250" marB="95250" anchor="ctr">
                    <a:lnL w="6668">
                      <a:solidFill>
                        <a:srgbClr val="C8D7DE"/>
                      </a:solidFill>
                      <a:prstDash val="solid"/>
                    </a:lnL>
                    <a:lnR w="6668">
                      <a:solidFill>
                        <a:srgbClr val="C8D7DE"/>
                      </a:solidFill>
                      <a:prstDash val="solid"/>
                    </a:lnR>
                    <a:lnB w="6668">
                      <a:solidFill>
                        <a:srgbClr val="C8D7DE"/>
                      </a:solidFill>
                      <a:prstDash val="solid"/>
                    </a:lnB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831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57.85</a:t>
                      </a:r>
                    </a:p>
                  </a:txBody>
                  <a:tcPr marL="142875" marR="142875" marT="95250" marB="95250" anchor="ctr">
                    <a:lnR w="6668">
                      <a:solidFill>
                        <a:srgbClr val="C8D7DE"/>
                      </a:solidFill>
                      <a:prstDash val="solid"/>
                    </a:lnR>
                    <a:lnB w="6668">
                      <a:solidFill>
                        <a:srgbClr val="C8D7DE"/>
                      </a:solidFill>
                      <a:prstDash val="solid"/>
                    </a:lnB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831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金融任务能力对照</a:t>
                      </a:r>
                    </a:p>
                  </a:txBody>
                  <a:tcPr marL="142875" marR="142875" marT="95250" marB="95250" anchor="ctr">
                    <a:lnR w="6668">
                      <a:solidFill>
                        <a:srgbClr val="C8D7DE"/>
                      </a:solidFill>
                      <a:prstDash val="solid"/>
                    </a:lnR>
                    <a:lnB w="6668">
                      <a:solidFill>
                        <a:srgbClr val="C8D7DE"/>
                      </a:solidFill>
                      <a:prstDash val="solid"/>
                    </a:lnB>
                    <a:solidFill>
                      <a:srgbClr val="F1F6F7"/>
                    </a:solidFill>
                  </a:tcPr>
                </a:tc>
              </a:tr>
              <a:tr h="904875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831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MiMo V2.6 Flash</a:t>
                      </a:r>
                    </a:p>
                  </a:txBody>
                  <a:tcPr marL="142875" marR="142875" marT="95250" marB="95250" anchor="ctr">
                    <a:lnL w="6668">
                      <a:solidFill>
                        <a:srgbClr val="C8D7DE"/>
                      </a:solidFill>
                      <a:prstDash val="solid"/>
                    </a:lnL>
                    <a:lnR w="6668">
                      <a:solidFill>
                        <a:srgbClr val="C8D7DE"/>
                      </a:solidFill>
                      <a:prstDash val="solid"/>
                    </a:lnR>
                    <a:lnB w="6668">
                      <a:solidFill>
                        <a:srgbClr val="C8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831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56.28</a:t>
                      </a:r>
                    </a:p>
                  </a:txBody>
                  <a:tcPr marL="142875" marR="142875" marT="95250" marB="95250" anchor="ctr">
                    <a:lnR w="6668">
                      <a:solidFill>
                        <a:srgbClr val="C8D7DE"/>
                      </a:solidFill>
                      <a:prstDash val="solid"/>
                    </a:lnR>
                    <a:lnB w="6668">
                      <a:solidFill>
                        <a:srgbClr val="C8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831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共享能力与资源对照</a:t>
                      </a:r>
                    </a:p>
                  </a:txBody>
                  <a:tcPr marL="142875" marR="142875" marT="95250" marB="95250" anchor="ctr">
                    <a:lnR w="6668">
                      <a:solidFill>
                        <a:srgbClr val="C8D7DE"/>
                      </a:solidFill>
                      <a:prstDash val="solid"/>
                    </a:lnR>
                    <a:lnB w="6668">
                      <a:solidFill>
                        <a:srgbClr val="C8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589F81-D4DF-4E04-9CCE-31AF6400C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58075"/>
            <a:ext cx="13944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26976"/>
                </a:solidFill>
                <a:latin typeface="PingFang SC"/>
                <a:ea typeface="PingFang SC"/>
                <a:cs typeface="PingFang SC"/>
              </a:rPr>
              <a:t>Qwen：Apache 2.0；DeepSeek及GLM Flash：MIT。其他候选与完整许可条件见知识库。</a:t>
            </a:r>
          </a:p>
        </p:txBody>
      </p:sp>
    </p:spTree>
    <p:extLst>
      <p:ext uri="{BB962C8B-B14F-4D97-AF65-F5344CB8AC3E}">
        <p14:creationId xmlns:p14="http://schemas.microsoft.com/office/powerpoint/2010/main" val="624256097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C1DADF-82E6-468C-B810-31D69611A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39446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备查：Spark实测与上下文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1BCA8B-63AD-4A8E-B271-BE7435D6F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62075"/>
            <a:ext cx="1394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3A54F0-0663-45C6-B247-4CFB3D871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8134350"/>
            <a:ext cx="895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rPr>
              <a:t>备查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430260-221E-425C-89E7-F0379B395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20050"/>
            <a:ext cx="1266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56e5f2dae07149a5"/>
              </a:rPr>
              <a:t>来自用户提供的外部测试汇总；具体版本和方法保留在知识库。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42E6AB-9A7B-4A96-BE46-0D8A8E4381C5}"/>
              </a:ext>
            </a:extLst>
          </p:cNvPr>
          <p:cNvGraphicFramePr/>
          <p:nvPr/>
        </p:nvGraphicFramePr>
        <p:xfrm>
          <a:off xmlns:a="http://schemas.openxmlformats.org/drawingml/2006/main" x="647700" y="1781175"/>
          <a:ext xmlns:a="http://schemas.openxmlformats.org/drawingml/2006/main" cx="13944600" cy="5429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3476625"/>
                <a:gridCol w="2952750"/>
                <a:gridCol w="4371975"/>
              </a:tblGrid>
              <a:tr h="775607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输入token</a:t>
                      </a:r>
                    </a:p>
                  </a:txBody>
                  <a:tcPr marL="142875" marR="142875" marT="95250" marB="95250" anchor="ctr">
                    <a:lnL w="6668">
                      <a:solidFill>
                        <a:srgbClr val="C8D7DE"/>
                      </a:solidFill>
                      <a:prstDash val="solid"/>
                    </a:lnL>
                    <a:lnR w="6668">
                      <a:solidFill>
                        <a:srgbClr val="C8D7DE"/>
                      </a:solidFill>
                      <a:prstDash val="solid"/>
                    </a:lnR>
                    <a:lnT w="6668">
                      <a:solidFill>
                        <a:srgbClr val="C8D7DE"/>
                      </a:solidFill>
                      <a:prstDash val="solid"/>
                    </a:lnT>
                    <a:lnB w="6668">
                      <a:solidFill>
                        <a:srgbClr val="C8D7DE"/>
                      </a:solidFill>
                      <a:prstDash val="solid"/>
                    </a:lnB>
                    <a:solidFill>
                      <a:srgbClr val="1831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首个输出等待</a:t>
                      </a:r>
                    </a:p>
                  </a:txBody>
                  <a:tcPr marL="142875" marR="142875" marT="95250" marB="95250" anchor="ctr">
                    <a:lnR w="6668">
                      <a:solidFill>
                        <a:srgbClr val="C8D7DE"/>
                      </a:solidFill>
                      <a:prstDash val="solid"/>
                    </a:lnR>
                    <a:lnT w="6668">
                      <a:solidFill>
                        <a:srgbClr val="C8D7DE"/>
                      </a:solidFill>
                      <a:prstDash val="solid"/>
                    </a:lnT>
                    <a:lnB w="6668">
                      <a:solidFill>
                        <a:srgbClr val="C8D7DE"/>
                      </a:solidFill>
                      <a:prstDash val="solid"/>
                    </a:lnB>
                    <a:solidFill>
                      <a:srgbClr val="1831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生成token/s</a:t>
                      </a:r>
                    </a:p>
                  </a:txBody>
                  <a:tcPr marL="142875" marR="142875" marT="95250" marB="95250" anchor="ctr">
                    <a:lnR w="6668">
                      <a:solidFill>
                        <a:srgbClr val="C8D7DE"/>
                      </a:solidFill>
                      <a:prstDash val="solid"/>
                    </a:lnR>
                    <a:lnT w="6668">
                      <a:solidFill>
                        <a:srgbClr val="C8D7DE"/>
                      </a:solidFill>
                      <a:prstDash val="solid"/>
                    </a:lnT>
                    <a:lnB w="6668">
                      <a:solidFill>
                        <a:srgbClr val="C8D7DE"/>
                      </a:solidFill>
                      <a:prstDash val="solid"/>
                    </a:lnB>
                    <a:solidFill>
                      <a:srgbClr val="1831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样本说明</a:t>
                      </a:r>
                    </a:p>
                  </a:txBody>
                  <a:tcPr marL="142875" marR="142875" marT="95250" marB="95250" anchor="ctr">
                    <a:lnR w="6668">
                      <a:solidFill>
                        <a:srgbClr val="C8D7DE"/>
                      </a:solidFill>
                      <a:prstDash val="solid"/>
                    </a:lnR>
                    <a:lnT w="6668">
                      <a:solidFill>
                        <a:srgbClr val="C8D7DE"/>
                      </a:solidFill>
                      <a:prstDash val="solid"/>
                    </a:lnT>
                    <a:lnB w="6668">
                      <a:solidFill>
                        <a:srgbClr val="C8D7DE"/>
                      </a:solidFill>
                      <a:prstDash val="solid"/>
                    </a:lnB>
                    <a:solidFill>
                      <a:srgbClr val="18313E"/>
                    </a:solidFill>
                  </a:tcPr>
                </a:tc>
              </a:tr>
              <a:tr h="775607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831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1,024</a:t>
                      </a:r>
                    </a:p>
                  </a:txBody>
                  <a:tcPr marL="142875" marR="142875" marT="95250" marB="95250" anchor="ctr">
                    <a:lnL w="6668">
                      <a:solidFill>
                        <a:srgbClr val="C8D7DE"/>
                      </a:solidFill>
                      <a:prstDash val="solid"/>
                    </a:lnL>
                    <a:lnR w="6668">
                      <a:solidFill>
                        <a:srgbClr val="C8D7DE"/>
                      </a:solidFill>
                      <a:prstDash val="solid"/>
                    </a:lnR>
                    <a:lnB w="6668">
                      <a:solidFill>
                        <a:srgbClr val="C8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831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0.6秒</a:t>
                      </a:r>
                    </a:p>
                  </a:txBody>
                  <a:tcPr marL="142875" marR="142875" marT="95250" marB="95250" anchor="ctr">
                    <a:lnR w="6668">
                      <a:solidFill>
                        <a:srgbClr val="C8D7DE"/>
                      </a:solidFill>
                      <a:prstDash val="solid"/>
                    </a:lnR>
                    <a:lnB w="6668">
                      <a:solidFill>
                        <a:srgbClr val="C8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831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20.53</a:t>
                      </a:r>
                    </a:p>
                  </a:txBody>
                  <a:tcPr marL="142875" marR="142875" marT="95250" marB="95250" anchor="ctr">
                    <a:lnR w="6668">
                      <a:solidFill>
                        <a:srgbClr val="C8D7DE"/>
                      </a:solidFill>
                      <a:prstDash val="solid"/>
                    </a:lnR>
                    <a:lnB w="6668">
                      <a:solidFill>
                        <a:srgbClr val="C8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831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3次</a:t>
                      </a:r>
                    </a:p>
                  </a:txBody>
                  <a:tcPr marL="142875" marR="142875" marT="95250" marB="95250" anchor="ctr">
                    <a:lnR w="6668">
                      <a:solidFill>
                        <a:srgbClr val="C8D7DE"/>
                      </a:solidFill>
                      <a:prstDash val="solid"/>
                    </a:lnR>
                    <a:lnB w="6668">
                      <a:solidFill>
                        <a:srgbClr val="C8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75607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831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50,000</a:t>
                      </a:r>
                    </a:p>
                  </a:txBody>
                  <a:tcPr marL="142875" marR="142875" marT="95250" marB="95250" anchor="ctr">
                    <a:lnL w="6668">
                      <a:solidFill>
                        <a:srgbClr val="C8D7DE"/>
                      </a:solidFill>
                      <a:prstDash val="solid"/>
                    </a:lnL>
                    <a:lnR w="6668">
                      <a:solidFill>
                        <a:srgbClr val="C8D7DE"/>
                      </a:solidFill>
                      <a:prstDash val="solid"/>
                    </a:lnR>
                    <a:lnB w="6668">
                      <a:solidFill>
                        <a:srgbClr val="C8D7DE"/>
                      </a:solidFill>
                      <a:prstDash val="solid"/>
                    </a:lnB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831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63.1秒</a:t>
                      </a:r>
                    </a:p>
                  </a:txBody>
                  <a:tcPr marL="142875" marR="142875" marT="95250" marB="95250" anchor="ctr">
                    <a:lnR w="6668">
                      <a:solidFill>
                        <a:srgbClr val="C8D7DE"/>
                      </a:solidFill>
                      <a:prstDash val="solid"/>
                    </a:lnR>
                    <a:lnB w="6668">
                      <a:solidFill>
                        <a:srgbClr val="C8D7DE"/>
                      </a:solidFill>
                      <a:prstDash val="solid"/>
                    </a:lnB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831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21.01</a:t>
                      </a:r>
                    </a:p>
                  </a:txBody>
                  <a:tcPr marL="142875" marR="142875" marT="95250" marB="95250" anchor="ctr">
                    <a:lnR w="6668">
                      <a:solidFill>
                        <a:srgbClr val="C8D7DE"/>
                      </a:solidFill>
                      <a:prstDash val="solid"/>
                    </a:lnR>
                    <a:lnB w="6668">
                      <a:solidFill>
                        <a:srgbClr val="C8D7DE"/>
                      </a:solidFill>
                      <a:prstDash val="solid"/>
                    </a:lnB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831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2次</a:t>
                      </a:r>
                    </a:p>
                  </a:txBody>
                  <a:tcPr marL="142875" marR="142875" marT="95250" marB="95250" anchor="ctr">
                    <a:lnR w="6668">
                      <a:solidFill>
                        <a:srgbClr val="C8D7DE"/>
                      </a:solidFill>
                      <a:prstDash val="solid"/>
                    </a:lnR>
                    <a:lnB w="6668">
                      <a:solidFill>
                        <a:srgbClr val="C8D7DE"/>
                      </a:solidFill>
                      <a:prstDash val="solid"/>
                    </a:lnB>
                    <a:solidFill>
                      <a:srgbClr val="F1F6F7"/>
                    </a:solidFill>
                  </a:tcPr>
                </a:tc>
              </a:tr>
              <a:tr h="775607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831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100,000</a:t>
                      </a:r>
                    </a:p>
                  </a:txBody>
                  <a:tcPr marL="142875" marR="142875" marT="95250" marB="95250" anchor="ctr">
                    <a:lnL w="6668">
                      <a:solidFill>
                        <a:srgbClr val="C8D7DE"/>
                      </a:solidFill>
                      <a:prstDash val="solid"/>
                    </a:lnL>
                    <a:lnR w="6668">
                      <a:solidFill>
                        <a:srgbClr val="C8D7DE"/>
                      </a:solidFill>
                      <a:prstDash val="solid"/>
                    </a:lnR>
                    <a:lnB w="6668">
                      <a:solidFill>
                        <a:srgbClr val="C8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831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144.8秒</a:t>
                      </a:r>
                    </a:p>
                  </a:txBody>
                  <a:tcPr marL="142875" marR="142875" marT="95250" marB="95250" anchor="ctr">
                    <a:lnR w="6668">
                      <a:solidFill>
                        <a:srgbClr val="C8D7DE"/>
                      </a:solidFill>
                      <a:prstDash val="solid"/>
                    </a:lnR>
                    <a:lnB w="6668">
                      <a:solidFill>
                        <a:srgbClr val="C8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831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20.11</a:t>
                      </a:r>
                    </a:p>
                  </a:txBody>
                  <a:tcPr marL="142875" marR="142875" marT="95250" marB="95250" anchor="ctr">
                    <a:lnR w="6668">
                      <a:solidFill>
                        <a:srgbClr val="C8D7DE"/>
                      </a:solidFill>
                      <a:prstDash val="solid"/>
                    </a:lnR>
                    <a:lnB w="6668">
                      <a:solidFill>
                        <a:srgbClr val="C8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831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2次</a:t>
                      </a:r>
                    </a:p>
                  </a:txBody>
                  <a:tcPr marL="142875" marR="142875" marT="95250" marB="95250" anchor="ctr">
                    <a:lnR w="6668">
                      <a:solidFill>
                        <a:srgbClr val="C8D7DE"/>
                      </a:solidFill>
                      <a:prstDash val="solid"/>
                    </a:lnR>
                    <a:lnB w="6668">
                      <a:solidFill>
                        <a:srgbClr val="C8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75607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831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300,000</a:t>
                      </a:r>
                    </a:p>
                  </a:txBody>
                  <a:tcPr marL="142875" marR="142875" marT="95250" marB="95250" anchor="ctr">
                    <a:lnL w="6668">
                      <a:solidFill>
                        <a:srgbClr val="C8D7DE"/>
                      </a:solidFill>
                      <a:prstDash val="solid"/>
                    </a:lnL>
                    <a:lnR w="6668">
                      <a:solidFill>
                        <a:srgbClr val="C8D7DE"/>
                      </a:solidFill>
                      <a:prstDash val="solid"/>
                    </a:lnR>
                    <a:lnB w="6668">
                      <a:solidFill>
                        <a:srgbClr val="C8D7DE"/>
                      </a:solidFill>
                      <a:prstDash val="solid"/>
                    </a:lnB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831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658.9秒</a:t>
                      </a:r>
                    </a:p>
                  </a:txBody>
                  <a:tcPr marL="142875" marR="142875" marT="95250" marB="95250" anchor="ctr">
                    <a:lnR w="6668">
                      <a:solidFill>
                        <a:srgbClr val="C8D7DE"/>
                      </a:solidFill>
                      <a:prstDash val="solid"/>
                    </a:lnR>
                    <a:lnB w="6668">
                      <a:solidFill>
                        <a:srgbClr val="C8D7DE"/>
                      </a:solidFill>
                      <a:prstDash val="solid"/>
                    </a:lnB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831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17.23</a:t>
                      </a:r>
                    </a:p>
                  </a:txBody>
                  <a:tcPr marL="142875" marR="142875" marT="95250" marB="95250" anchor="ctr">
                    <a:lnR w="6668">
                      <a:solidFill>
                        <a:srgbClr val="C8D7DE"/>
                      </a:solidFill>
                      <a:prstDash val="solid"/>
                    </a:lnR>
                    <a:lnB w="6668">
                      <a:solidFill>
                        <a:srgbClr val="C8D7DE"/>
                      </a:solidFill>
                      <a:prstDash val="solid"/>
                    </a:lnB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831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1次</a:t>
                      </a:r>
                    </a:p>
                  </a:txBody>
                  <a:tcPr marL="142875" marR="142875" marT="95250" marB="95250" anchor="ctr">
                    <a:lnR w="6668">
                      <a:solidFill>
                        <a:srgbClr val="C8D7DE"/>
                      </a:solidFill>
                      <a:prstDash val="solid"/>
                    </a:lnR>
                    <a:lnB w="6668">
                      <a:solidFill>
                        <a:srgbClr val="C8D7DE"/>
                      </a:solidFill>
                      <a:prstDash val="solid"/>
                    </a:lnB>
                    <a:solidFill>
                      <a:srgbClr val="F1F6F7"/>
                    </a:solidFill>
                  </a:tcPr>
                </a:tc>
              </a:tr>
              <a:tr h="775607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831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500,000</a:t>
                      </a:r>
                    </a:p>
                  </a:txBody>
                  <a:tcPr marL="142875" marR="142875" marT="95250" marB="95250" anchor="ctr">
                    <a:lnL w="6668">
                      <a:solidFill>
                        <a:srgbClr val="C8D7DE"/>
                      </a:solidFill>
                      <a:prstDash val="solid"/>
                    </a:lnL>
                    <a:lnR w="6668">
                      <a:solidFill>
                        <a:srgbClr val="C8D7DE"/>
                      </a:solidFill>
                      <a:prstDash val="solid"/>
                    </a:lnR>
                    <a:lnB w="6668">
                      <a:solidFill>
                        <a:srgbClr val="C8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831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1,470.1秒</a:t>
                      </a:r>
                    </a:p>
                  </a:txBody>
                  <a:tcPr marL="142875" marR="142875" marT="95250" marB="95250" anchor="ctr">
                    <a:lnR w="6668">
                      <a:solidFill>
                        <a:srgbClr val="C8D7DE"/>
                      </a:solidFill>
                      <a:prstDash val="solid"/>
                    </a:lnR>
                    <a:lnB w="6668">
                      <a:solidFill>
                        <a:srgbClr val="C8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831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14.82</a:t>
                      </a:r>
                    </a:p>
                  </a:txBody>
                  <a:tcPr marL="142875" marR="142875" marT="95250" marB="95250" anchor="ctr">
                    <a:lnR w="6668">
                      <a:solidFill>
                        <a:srgbClr val="C8D7DE"/>
                      </a:solidFill>
                      <a:prstDash val="solid"/>
                    </a:lnR>
                    <a:lnB w="6668">
                      <a:solidFill>
                        <a:srgbClr val="C8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831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1次</a:t>
                      </a:r>
                    </a:p>
                  </a:txBody>
                  <a:tcPr marL="142875" marR="142875" marT="95250" marB="95250" anchor="ctr">
                    <a:lnR w="6668">
                      <a:solidFill>
                        <a:srgbClr val="C8D7DE"/>
                      </a:solidFill>
                      <a:prstDash val="solid"/>
                    </a:lnR>
                    <a:lnB w="6668">
                      <a:solidFill>
                        <a:srgbClr val="C8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75607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831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999,936</a:t>
                      </a:r>
                    </a:p>
                  </a:txBody>
                  <a:tcPr marL="142875" marR="142875" marT="95250" marB="95250" anchor="ctr">
                    <a:lnL w="6668">
                      <a:solidFill>
                        <a:srgbClr val="C8D7DE"/>
                      </a:solidFill>
                      <a:prstDash val="solid"/>
                    </a:lnL>
                    <a:lnR w="6668">
                      <a:solidFill>
                        <a:srgbClr val="C8D7DE"/>
                      </a:solidFill>
                      <a:prstDash val="solid"/>
                    </a:lnR>
                    <a:lnB w="6668">
                      <a:solidFill>
                        <a:srgbClr val="C8D7DE"/>
                      </a:solidFill>
                      <a:prstDash val="solid"/>
                    </a:lnB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831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4,815.8秒</a:t>
                      </a:r>
                    </a:p>
                  </a:txBody>
                  <a:tcPr marL="142875" marR="142875" marT="95250" marB="95250" anchor="ctr">
                    <a:lnR w="6668">
                      <a:solidFill>
                        <a:srgbClr val="C8D7DE"/>
                      </a:solidFill>
                      <a:prstDash val="solid"/>
                    </a:lnR>
                    <a:lnB w="6668">
                      <a:solidFill>
                        <a:srgbClr val="C8D7DE"/>
                      </a:solidFill>
                      <a:prstDash val="solid"/>
                    </a:lnB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831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9.83</a:t>
                      </a:r>
                    </a:p>
                  </a:txBody>
                  <a:tcPr marL="142875" marR="142875" marT="95250" marB="95250" anchor="ctr">
                    <a:lnR w="6668">
                      <a:solidFill>
                        <a:srgbClr val="C8D7DE"/>
                      </a:solidFill>
                      <a:prstDash val="solid"/>
                    </a:lnR>
                    <a:lnB w="6668">
                      <a:solidFill>
                        <a:srgbClr val="C8D7DE"/>
                      </a:solidFill>
                      <a:prstDash val="solid"/>
                    </a:lnB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831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仅64输出，容量样本</a:t>
                      </a:r>
                    </a:p>
                  </a:txBody>
                  <a:tcPr marL="142875" marR="142875" marT="95250" marB="95250" anchor="ctr">
                    <a:lnR w="6668">
                      <a:solidFill>
                        <a:srgbClr val="C8D7DE"/>
                      </a:solidFill>
                      <a:prstDash val="solid"/>
                    </a:lnR>
                    <a:lnB w="6668">
                      <a:solidFill>
                        <a:srgbClr val="C8D7DE"/>
                      </a:solidFill>
                      <a:prstDash val="solid"/>
                    </a:lnB>
                    <a:solidFill>
                      <a:srgbClr val="F1F6F7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059D3F-2156-425C-BC97-10DB9947E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58075"/>
            <a:ext cx="13944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26976"/>
                </a:solidFill>
                <a:latin typeface="PingFang SC"/>
                <a:ea typeface="PingFang SC"/>
                <a:cs typeface="PingFang SC"/>
              </a:rPr>
              <a:t>三路100K：共同生成窗口每路17.47 token/s；整个生成阶段平均每路12.45 token/s。</a:t>
            </a:r>
          </a:p>
        </p:txBody>
      </p:sp>
    </p:spTree>
    <p:extLst>
      <p:ext uri="{BB962C8B-B14F-4D97-AF65-F5344CB8AC3E}">
        <p14:creationId xmlns:p14="http://schemas.microsoft.com/office/powerpoint/2010/main" val="309787224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D12D1C-B8EA-48E3-96EE-E94B995A2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39446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备查：知识库的交付范围与预算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9E1FD2-FE2D-4C06-8D49-6559BC2AE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62075"/>
            <a:ext cx="1394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4653B8-F0D2-4D33-8858-47697BABA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8134350"/>
            <a:ext cx="895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rPr>
              <a:t>备查 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38A304-C310-454D-A2A3-4B046685D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20050"/>
            <a:ext cx="1266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2d8345e630ac4821"/>
              </a:rPr>
              <a:t>平台授权L待报价；全文档库规模仍需实地盘点。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127662-EBFF-49F4-BE02-CE2D62347BEE}"/>
              </a:ext>
            </a:extLst>
          </p:cNvPr>
          <p:cNvGraphicFramePr/>
          <p:nvPr/>
        </p:nvGraphicFramePr>
        <p:xfrm>
          <a:off xmlns:a="http://schemas.openxmlformats.org/drawingml/2006/main" x="647700" y="1781175"/>
          <a:ext xmlns:a="http://schemas.openxmlformats.org/drawingml/2006/main" cx="13944600" cy="5429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286250"/>
                <a:gridCol w="9658350"/>
              </a:tblGrid>
              <a:tr h="775607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项目</a:t>
                      </a:r>
                    </a:p>
                  </a:txBody>
                  <a:tcPr marL="142875" marR="142875" marT="95250" marB="95250" anchor="ctr">
                    <a:lnL w="6668">
                      <a:solidFill>
                        <a:srgbClr val="C8D7DE"/>
                      </a:solidFill>
                      <a:prstDash val="solid"/>
                    </a:lnL>
                    <a:lnR w="6668">
                      <a:solidFill>
                        <a:srgbClr val="C8D7DE"/>
                      </a:solidFill>
                      <a:prstDash val="solid"/>
                    </a:lnR>
                    <a:lnT w="6668">
                      <a:solidFill>
                        <a:srgbClr val="C8D7DE"/>
                      </a:solidFill>
                      <a:prstDash val="solid"/>
                    </a:lnT>
                    <a:lnB w="6668">
                      <a:solidFill>
                        <a:srgbClr val="C8D7DE"/>
                      </a:solidFill>
                      <a:prstDash val="solid"/>
                    </a:lnB>
                    <a:solidFill>
                      <a:srgbClr val="1831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方案输入</a:t>
                      </a:r>
                    </a:p>
                  </a:txBody>
                  <a:tcPr marL="142875" marR="142875" marT="95250" marB="95250" anchor="ctr">
                    <a:lnR w="6668">
                      <a:solidFill>
                        <a:srgbClr val="C8D7DE"/>
                      </a:solidFill>
                      <a:prstDash val="solid"/>
                    </a:lnR>
                    <a:lnT w="6668">
                      <a:solidFill>
                        <a:srgbClr val="C8D7DE"/>
                      </a:solidFill>
                      <a:prstDash val="solid"/>
                    </a:lnT>
                    <a:lnB w="6668">
                      <a:solidFill>
                        <a:srgbClr val="C8D7DE"/>
                      </a:solidFill>
                      <a:prstDash val="solid"/>
                    </a:lnB>
                    <a:solidFill>
                      <a:srgbClr val="18313E"/>
                    </a:solidFill>
                  </a:tcPr>
                </a:tc>
              </a:tr>
              <a:tr h="775607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831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GPU与CPU硬件</a:t>
                      </a:r>
                    </a:p>
                  </a:txBody>
                  <a:tcPr marL="142875" marR="142875" marT="95250" marB="95250" anchor="ctr">
                    <a:lnL w="6668">
                      <a:solidFill>
                        <a:srgbClr val="C8D7DE"/>
                      </a:solidFill>
                      <a:prstDash val="solid"/>
                    </a:lnL>
                    <a:lnR w="6668">
                      <a:solidFill>
                        <a:srgbClr val="C8D7DE"/>
                      </a:solidFill>
                      <a:prstDash val="solid"/>
                    </a:lnR>
                    <a:lnB w="6668">
                      <a:solidFill>
                        <a:srgbClr val="C8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831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合计74–141万元</a:t>
                      </a:r>
                    </a:p>
                  </a:txBody>
                  <a:tcPr marL="142875" marR="142875" marT="95250" marB="95250" anchor="ctr">
                    <a:lnR w="6668">
                      <a:solidFill>
                        <a:srgbClr val="C8D7DE"/>
                      </a:solidFill>
                      <a:prstDash val="solid"/>
                    </a:lnR>
                    <a:lnB w="6668">
                      <a:solidFill>
                        <a:srgbClr val="C8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75607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831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Onyx首次</a:t>
                      </a:r>
                    </a:p>
                  </a:txBody>
                  <a:tcPr marL="142875" marR="142875" marT="95250" marB="95250" anchor="ctr">
                    <a:lnL w="6668">
                      <a:solidFill>
                        <a:srgbClr val="C8D7DE"/>
                      </a:solidFill>
                      <a:prstDash val="solid"/>
                    </a:lnL>
                    <a:lnR w="6668">
                      <a:solidFill>
                        <a:srgbClr val="C8D7DE"/>
                      </a:solidFill>
                      <a:prstDash val="solid"/>
                    </a:lnR>
                    <a:lnB w="6668">
                      <a:solidFill>
                        <a:srgbClr val="C8D7DE"/>
                      </a:solidFill>
                      <a:prstDash val="solid"/>
                    </a:lnB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831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84.5–158万元＋企业授权L</a:t>
                      </a:r>
                    </a:p>
                  </a:txBody>
                  <a:tcPr marL="142875" marR="142875" marT="95250" marB="95250" anchor="ctr">
                    <a:lnR w="6668">
                      <a:solidFill>
                        <a:srgbClr val="C8D7DE"/>
                      </a:solidFill>
                      <a:prstDash val="solid"/>
                    </a:lnR>
                    <a:lnB w="6668">
                      <a:solidFill>
                        <a:srgbClr val="C8D7DE"/>
                      </a:solidFill>
                      <a:prstDash val="solid"/>
                    </a:lnB>
                    <a:solidFill>
                      <a:srgbClr val="F1F6F7"/>
                    </a:solidFill>
                  </a:tcPr>
                </a:tc>
              </a:tr>
              <a:tr h="775607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831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自建首次</a:t>
                      </a:r>
                    </a:p>
                  </a:txBody>
                  <a:tcPr marL="142875" marR="142875" marT="95250" marB="95250" anchor="ctr">
                    <a:lnL w="6668">
                      <a:solidFill>
                        <a:srgbClr val="C8D7DE"/>
                      </a:solidFill>
                      <a:prstDash val="solid"/>
                    </a:lnL>
                    <a:lnR w="6668">
                      <a:solidFill>
                        <a:srgbClr val="C8D7DE"/>
                      </a:solidFill>
                      <a:prstDash val="solid"/>
                    </a:lnR>
                    <a:lnB w="6668">
                      <a:solidFill>
                        <a:srgbClr val="C8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831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91.5–168.5万元</a:t>
                      </a:r>
                    </a:p>
                  </a:txBody>
                  <a:tcPr marL="142875" marR="142875" marT="95250" marB="95250" anchor="ctr">
                    <a:lnR w="6668">
                      <a:solidFill>
                        <a:srgbClr val="C8D7DE"/>
                      </a:solidFill>
                      <a:prstDash val="solid"/>
                    </a:lnR>
                    <a:lnB w="6668">
                      <a:solidFill>
                        <a:srgbClr val="C8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75607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831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短问答响应</a:t>
                      </a:r>
                    </a:p>
                  </a:txBody>
                  <a:tcPr marL="142875" marR="142875" marT="95250" marB="95250" anchor="ctr">
                    <a:lnL w="6668">
                      <a:solidFill>
                        <a:srgbClr val="C8D7DE"/>
                      </a:solidFill>
                      <a:prstDash val="solid"/>
                    </a:lnL>
                    <a:lnR w="6668">
                      <a:solidFill>
                        <a:srgbClr val="C8D7DE"/>
                      </a:solidFill>
                      <a:prstDash val="solid"/>
                    </a:lnR>
                    <a:lnB w="6668">
                      <a:solidFill>
                        <a:srgbClr val="C8D7DE"/>
                      </a:solidFill>
                      <a:prstDash val="solid"/>
                    </a:lnB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831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20路，8K输入＋600输出，整批65.3秒（估算）</a:t>
                      </a:r>
                    </a:p>
                  </a:txBody>
                  <a:tcPr marL="142875" marR="142875" marT="95250" marB="95250" anchor="ctr">
                    <a:lnR w="6668">
                      <a:solidFill>
                        <a:srgbClr val="C8D7DE"/>
                      </a:solidFill>
                      <a:prstDash val="solid"/>
                    </a:lnR>
                    <a:lnB w="6668">
                      <a:solidFill>
                        <a:srgbClr val="C8D7DE"/>
                      </a:solidFill>
                      <a:prstDash val="solid"/>
                    </a:lnB>
                    <a:solidFill>
                      <a:srgbClr val="F1F6F7"/>
                    </a:solidFill>
                  </a:tcPr>
                </a:tc>
              </a:tr>
              <a:tr h="775607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831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长会话容量</a:t>
                      </a:r>
                    </a:p>
                  </a:txBody>
                  <a:tcPr marL="142875" marR="142875" marT="95250" marB="95250" anchor="ctr">
                    <a:lnL w="6668">
                      <a:solidFill>
                        <a:srgbClr val="C8D7DE"/>
                      </a:solidFill>
                      <a:prstDash val="solid"/>
                    </a:lnL>
                    <a:lnR w="6668">
                      <a:solidFill>
                        <a:srgbClr val="C8D7DE"/>
                      </a:solidFill>
                      <a:prstDash val="solid"/>
                    </a:lnR>
                    <a:lnB w="6668">
                      <a:solidFill>
                        <a:srgbClr val="C8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831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131K合计9份；262K合计3份（估算）</a:t>
                      </a:r>
                    </a:p>
                  </a:txBody>
                  <a:tcPr marL="142875" marR="142875" marT="95250" marB="95250" anchor="ctr">
                    <a:lnR w="6668">
                      <a:solidFill>
                        <a:srgbClr val="C8D7DE"/>
                      </a:solidFill>
                      <a:prstDash val="solid"/>
                    </a:lnR>
                    <a:lnB w="6668">
                      <a:solidFill>
                        <a:srgbClr val="C8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75607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831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权限检查</a:t>
                      </a:r>
                    </a:p>
                  </a:txBody>
                  <a:tcPr marL="142875" marR="142875" marT="95250" marB="95250" anchor="ctr">
                    <a:lnL w="6668">
                      <a:solidFill>
                        <a:srgbClr val="C8D7DE"/>
                      </a:solidFill>
                      <a:prstDash val="solid"/>
                    </a:lnL>
                    <a:lnR w="6668">
                      <a:solidFill>
                        <a:srgbClr val="C8D7DE"/>
                      </a:solidFill>
                      <a:prstDash val="solid"/>
                    </a:lnR>
                    <a:lnB w="6668">
                      <a:solidFill>
                        <a:srgbClr val="C8D7DE"/>
                      </a:solidFill>
                      <a:prstDash val="solid"/>
                    </a:lnB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831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目录继承、用户组、停用、撤权、引用下载与导出</a:t>
                      </a:r>
                    </a:p>
                  </a:txBody>
                  <a:tcPr marL="142875" marR="142875" marT="95250" marB="95250" anchor="ctr">
                    <a:lnR w="6668">
                      <a:solidFill>
                        <a:srgbClr val="C8D7DE"/>
                      </a:solidFill>
                      <a:prstDash val="solid"/>
                    </a:lnR>
                    <a:lnB w="6668">
                      <a:solidFill>
                        <a:srgbClr val="C8D7DE"/>
                      </a:solidFill>
                      <a:prstDash val="solid"/>
                    </a:lnB>
                    <a:solidFill>
                      <a:srgbClr val="F1F6F7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19E671-C3CB-4406-B90E-920BE8881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58075"/>
            <a:ext cx="13944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26976"/>
                </a:solidFill>
                <a:latin typeface="PingFang SC"/>
                <a:ea typeface="PingFang SC"/>
                <a:cs typeface="PingFang SC"/>
              </a:rPr>
              <a:t>回答模型Qwen27 FP8，KV完整精度；额外NAS容量、完整高可用和持续运行单列。</a:t>
            </a:r>
          </a:p>
        </p:txBody>
      </p:sp>
    </p:spTree>
    <p:extLst>
      <p:ext uri="{BB962C8B-B14F-4D97-AF65-F5344CB8AC3E}">
        <p14:creationId xmlns:p14="http://schemas.microsoft.com/office/powerpoint/2010/main" val="1870316463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F54910-73AD-406C-BC59-055E4146D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39446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备查：公司容量与A100公开结果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D0CC3D-99D9-4799-B0DB-C157210F7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62075"/>
            <a:ext cx="1394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31AA06-BB21-456E-9304-65C9B2AF1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8134350"/>
            <a:ext cx="895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rPr>
              <a:t>备查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019DC1-5491-4549-993A-0CBF05F9E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20050"/>
            <a:ext cx="1266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aef4b22d9295461a"/>
              </a:rPr>
              <a:t>容量估算与不同硬件的公开性能分别记录；完整推导与配置见知识库。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73B014-B53E-444F-921A-0686491377E4}"/>
              </a:ext>
            </a:extLst>
          </p:cNvPr>
          <p:cNvGraphicFramePr/>
          <p:nvPr/>
        </p:nvGraphicFramePr>
        <p:xfrm>
          <a:off xmlns:a="http://schemas.openxmlformats.org/drawingml/2006/main" x="647700" y="1781175"/>
          <a:ext xmlns:a="http://schemas.openxmlformats.org/drawingml/2006/main" cx="13944600" cy="5429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857750"/>
                <a:gridCol w="4095750"/>
                <a:gridCol w="4991100"/>
              </a:tblGrid>
              <a:tr h="90487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配置／实现</a:t>
                      </a:r>
                    </a:p>
                  </a:txBody>
                  <a:tcPr marL="142875" marR="142875" marT="95250" marB="95250" anchor="ctr">
                    <a:lnL w="6668">
                      <a:solidFill>
                        <a:srgbClr val="C8D7DE"/>
                      </a:solidFill>
                      <a:prstDash val="solid"/>
                    </a:lnL>
                    <a:lnR w="6668">
                      <a:solidFill>
                        <a:srgbClr val="C8D7DE"/>
                      </a:solidFill>
                      <a:prstDash val="solid"/>
                    </a:lnR>
                    <a:lnT w="6668">
                      <a:solidFill>
                        <a:srgbClr val="C8D7DE"/>
                      </a:solidFill>
                      <a:prstDash val="solid"/>
                    </a:lnT>
                    <a:lnB w="6668">
                      <a:solidFill>
                        <a:srgbClr val="C8D7DE"/>
                      </a:solidFill>
                      <a:prstDash val="solid"/>
                    </a:lnB>
                    <a:solidFill>
                      <a:srgbClr val="1831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保留会话或速度</a:t>
                      </a:r>
                    </a:p>
                  </a:txBody>
                  <a:tcPr marL="142875" marR="142875" marT="95250" marB="95250" anchor="ctr">
                    <a:lnR w="6668">
                      <a:solidFill>
                        <a:srgbClr val="C8D7DE"/>
                      </a:solidFill>
                      <a:prstDash val="solid"/>
                    </a:lnR>
                    <a:lnT w="6668">
                      <a:solidFill>
                        <a:srgbClr val="C8D7DE"/>
                      </a:solidFill>
                      <a:prstDash val="solid"/>
                    </a:lnT>
                    <a:lnB w="6668">
                      <a:solidFill>
                        <a:srgbClr val="C8D7DE"/>
                      </a:solidFill>
                      <a:prstDash val="solid"/>
                    </a:lnB>
                    <a:solidFill>
                      <a:srgbClr val="1831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条件</a:t>
                      </a:r>
                    </a:p>
                  </a:txBody>
                  <a:tcPr marL="142875" marR="142875" marT="95250" marB="95250" anchor="ctr">
                    <a:lnR w="6668">
                      <a:solidFill>
                        <a:srgbClr val="C8D7DE"/>
                      </a:solidFill>
                      <a:prstDash val="solid"/>
                    </a:lnR>
                    <a:lnT w="6668">
                      <a:solidFill>
                        <a:srgbClr val="C8D7DE"/>
                      </a:solidFill>
                      <a:prstDash val="solid"/>
                    </a:lnT>
                    <a:lnB w="6668">
                      <a:solidFill>
                        <a:srgbClr val="C8D7DE"/>
                      </a:solidFill>
                      <a:prstDash val="solid"/>
                    </a:lnB>
                    <a:solidFill>
                      <a:srgbClr val="18313E"/>
                    </a:solidFill>
                  </a:tcPr>
                </a:tc>
              </a:tr>
              <a:tr h="904875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831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8×H200 TP8</a:t>
                      </a:r>
                    </a:p>
                  </a:txBody>
                  <a:tcPr marL="142875" marR="142875" marT="95250" marB="95250" anchor="ctr">
                    <a:lnL w="6668">
                      <a:solidFill>
                        <a:srgbClr val="C8D7DE"/>
                      </a:solidFill>
                      <a:prstDash val="solid"/>
                    </a:lnL>
                    <a:lnR w="6668">
                      <a:solidFill>
                        <a:srgbClr val="C8D7DE"/>
                      </a:solidFill>
                      <a:prstDash val="solid"/>
                    </a:lnR>
                    <a:lnB w="6668">
                      <a:solidFill>
                        <a:srgbClr val="C8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831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20份各1M；40份各约636K</a:t>
                      </a:r>
                    </a:p>
                  </a:txBody>
                  <a:tcPr marL="142875" marR="142875" marT="95250" marB="95250" anchor="ctr">
                    <a:lnR w="6668">
                      <a:solidFill>
                        <a:srgbClr val="C8D7DE"/>
                      </a:solidFill>
                      <a:prstDash val="solid"/>
                    </a:lnR>
                    <a:lnB w="6668">
                      <a:solidFill>
                        <a:srgbClr val="C8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831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缓存容量估算</a:t>
                      </a:r>
                    </a:p>
                  </a:txBody>
                  <a:tcPr marL="142875" marR="142875" marT="95250" marB="95250" anchor="ctr">
                    <a:lnR w="6668">
                      <a:solidFill>
                        <a:srgbClr val="C8D7DE"/>
                      </a:solidFill>
                      <a:prstDash val="solid"/>
                    </a:lnR>
                    <a:lnB w="6668">
                      <a:solidFill>
                        <a:srgbClr val="C8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04875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831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8×H200双TP4</a:t>
                      </a:r>
                    </a:p>
                  </a:txBody>
                  <a:tcPr marL="142875" marR="142875" marT="95250" marB="95250" anchor="ctr">
                    <a:lnL w="6668">
                      <a:solidFill>
                        <a:srgbClr val="C8D7DE"/>
                      </a:solidFill>
                      <a:prstDash val="solid"/>
                    </a:lnL>
                    <a:lnR w="6668">
                      <a:solidFill>
                        <a:srgbClr val="C8D7DE"/>
                      </a:solidFill>
                      <a:prstDash val="solid"/>
                    </a:lnR>
                    <a:lnB w="6668">
                      <a:solidFill>
                        <a:srgbClr val="C8D7DE"/>
                      </a:solidFill>
                      <a:prstDash val="solid"/>
                    </a:lnB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831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20份各1M；40份各约762K</a:t>
                      </a:r>
                    </a:p>
                  </a:txBody>
                  <a:tcPr marL="142875" marR="142875" marT="95250" marB="95250" anchor="ctr">
                    <a:lnR w="6668">
                      <a:solidFill>
                        <a:srgbClr val="C8D7DE"/>
                      </a:solidFill>
                      <a:prstDash val="solid"/>
                    </a:lnR>
                    <a:lnB w="6668">
                      <a:solidFill>
                        <a:srgbClr val="C8D7DE"/>
                      </a:solidFill>
                      <a:prstDash val="solid"/>
                    </a:lnB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831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缓存容量估算</a:t>
                      </a:r>
                    </a:p>
                  </a:txBody>
                  <a:tcPr marL="142875" marR="142875" marT="95250" marB="95250" anchor="ctr">
                    <a:lnR w="6668">
                      <a:solidFill>
                        <a:srgbClr val="C8D7DE"/>
                      </a:solidFill>
                      <a:prstDash val="solid"/>
                    </a:lnR>
                    <a:lnB w="6668">
                      <a:solidFill>
                        <a:srgbClr val="C8D7DE"/>
                      </a:solidFill>
                      <a:prstDash val="solid"/>
                    </a:lnB>
                    <a:solidFill>
                      <a:srgbClr val="F1F6F7"/>
                    </a:solidFill>
                  </a:tcPr>
                </a:tc>
              </a:tr>
              <a:tr h="904875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831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shi3z／4×A100 PCIe</a:t>
                      </a:r>
                    </a:p>
                  </a:txBody>
                  <a:tcPr marL="142875" marR="142875" marT="95250" marB="95250" anchor="ctr">
                    <a:lnL w="6668">
                      <a:solidFill>
                        <a:srgbClr val="C8D7DE"/>
                      </a:solidFill>
                      <a:prstDash val="solid"/>
                    </a:lnL>
                    <a:lnR w="6668">
                      <a:solidFill>
                        <a:srgbClr val="C8D7DE"/>
                      </a:solidFill>
                      <a:prstDash val="solid"/>
                    </a:lnR>
                    <a:lnB w="6668">
                      <a:solidFill>
                        <a:srgbClr val="C8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831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代码50–53；MTP82–93 token/s</a:t>
                      </a:r>
                    </a:p>
                  </a:txBody>
                  <a:tcPr marL="142875" marR="142875" marT="95250" marB="95250" anchor="ctr">
                    <a:lnR w="6668">
                      <a:solidFill>
                        <a:srgbClr val="C8D7DE"/>
                      </a:solidFill>
                      <a:prstDash val="solid"/>
                    </a:lnR>
                    <a:lnB w="6668">
                      <a:solidFill>
                        <a:srgbClr val="C8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831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短输入单路</a:t>
                      </a:r>
                    </a:p>
                  </a:txBody>
                  <a:tcPr marL="142875" marR="142875" marT="95250" marB="95250" anchor="ctr">
                    <a:lnR w="6668">
                      <a:solidFill>
                        <a:srgbClr val="C8D7DE"/>
                      </a:solidFill>
                      <a:prstDash val="solid"/>
                    </a:lnR>
                    <a:lnB w="6668">
                      <a:solidFill>
                        <a:srgbClr val="C8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04875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831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modified vLLM／8×A100 SXM</a:t>
                      </a:r>
                    </a:p>
                  </a:txBody>
                  <a:tcPr marL="142875" marR="142875" marT="95250" marB="95250" anchor="ctr">
                    <a:lnL w="6668">
                      <a:solidFill>
                        <a:srgbClr val="C8D7DE"/>
                      </a:solidFill>
                      <a:prstDash val="solid"/>
                    </a:lnL>
                    <a:lnR w="6668">
                      <a:solidFill>
                        <a:srgbClr val="C8D7DE"/>
                      </a:solidFill>
                      <a:prstDash val="solid"/>
                    </a:lnR>
                    <a:lnB w="6668">
                      <a:solidFill>
                        <a:srgbClr val="C8D7DE"/>
                      </a:solidFill>
                      <a:prstDash val="solid"/>
                    </a:lnB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831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单路110–140</a:t>
                      </a:r>
                    </a:p>
                    <a:p>
                      <a:r>
                        <a:rPr sz="2025">
                          <a:solidFill>
                            <a:srgbClr val="1831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32路总1,040–1,379 token/s</a:t>
                      </a:r>
                    </a:p>
                  </a:txBody>
                  <a:tcPr marL="142875" marR="142875" marT="95250" marB="95250" anchor="ctr">
                    <a:lnR w="6668">
                      <a:solidFill>
                        <a:srgbClr val="C8D7DE"/>
                      </a:solidFill>
                      <a:prstDash val="solid"/>
                    </a:lnR>
                    <a:lnB w="6668">
                      <a:solidFill>
                        <a:srgbClr val="C8D7DE"/>
                      </a:solidFill>
                      <a:prstDash val="solid"/>
                    </a:lnB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831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DSpark5公开测试记录</a:t>
                      </a:r>
                    </a:p>
                  </a:txBody>
                  <a:tcPr marL="142875" marR="142875" marT="95250" marB="95250" anchor="ctr">
                    <a:lnR w="6668">
                      <a:solidFill>
                        <a:srgbClr val="C8D7DE"/>
                      </a:solidFill>
                      <a:prstDash val="solid"/>
                    </a:lnR>
                    <a:lnB w="6668">
                      <a:solidFill>
                        <a:srgbClr val="C8D7DE"/>
                      </a:solidFill>
                      <a:prstDash val="solid"/>
                    </a:lnB>
                    <a:solidFill>
                      <a:srgbClr val="F1F6F7"/>
                    </a:solidFill>
                  </a:tcPr>
                </a:tc>
              </a:tr>
              <a:tr h="904875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831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Tokha／8×A800 SXM</a:t>
                      </a:r>
                    </a:p>
                  </a:txBody>
                  <a:tcPr marL="142875" marR="142875" marT="95250" marB="95250" anchor="ctr">
                    <a:lnL w="6668">
                      <a:solidFill>
                        <a:srgbClr val="C8D7DE"/>
                      </a:solidFill>
                      <a:prstDash val="solid"/>
                    </a:lnL>
                    <a:lnR w="6668">
                      <a:solidFill>
                        <a:srgbClr val="C8D7DE"/>
                      </a:solidFill>
                      <a:prstDash val="solid"/>
                    </a:lnR>
                    <a:lnB w="6668">
                      <a:solidFill>
                        <a:srgbClr val="C8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831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2,842→2,926→2,971 token/s</a:t>
                      </a:r>
                    </a:p>
                  </a:txBody>
                  <a:tcPr marL="142875" marR="142875" marT="95250" marB="95250" anchor="ctr">
                    <a:lnR w="6668">
                      <a:solidFill>
                        <a:srgbClr val="C8D7DE"/>
                      </a:solidFill>
                      <a:prstDash val="solid"/>
                    </a:lnR>
                    <a:lnB w="6668">
                      <a:solidFill>
                        <a:srgbClr val="C8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831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同机两项优化，合计约+4.5%</a:t>
                      </a:r>
                    </a:p>
                  </a:txBody>
                  <a:tcPr marL="142875" marR="142875" marT="95250" marB="95250" anchor="ctr">
                    <a:lnR w="6668">
                      <a:solidFill>
                        <a:srgbClr val="C8D7DE"/>
                      </a:solidFill>
                      <a:prstDash val="solid"/>
                    </a:lnR>
                    <a:lnB w="6668">
                      <a:solidFill>
                        <a:srgbClr val="C8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D56035-0797-495A-B846-587A80066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58075"/>
            <a:ext cx="13944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26976"/>
                </a:solidFill>
                <a:latin typeface="PingFang SC"/>
                <a:ea typeface="PingFang SC"/>
                <a:cs typeface="PingFang SC"/>
              </a:rPr>
              <a:t>八H200按约1.5TB主机内存规划；A100作为已有资源或低成本候选，具体能力单独核验。</a:t>
            </a:r>
          </a:p>
        </p:txBody>
      </p:sp>
    </p:spTree>
    <p:extLst>
      <p:ext uri="{BB962C8B-B14F-4D97-AF65-F5344CB8AC3E}">
        <p14:creationId xmlns:p14="http://schemas.microsoft.com/office/powerpoint/2010/main" val="972504713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102F5B-C131-4935-A0ED-6FFE39348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39446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备查：三年成本计算输入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7C09B5-F6FA-4D4E-BE38-1B9C2D737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62075"/>
            <a:ext cx="1394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279E9E-CB09-41D4-AC09-C9EC15508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8134350"/>
            <a:ext cx="895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rPr>
              <a:t>备查 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452D39-F8CA-4F96-88FF-72F20C32A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20050"/>
            <a:ext cx="1266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26976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b7aaae8959ce40f4"/>
              </a:rPr>
              <a:t>费率单位：美元／百万token。Sonnet为适用主体和地域成立时的全球价格参照。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173343-DDA6-4783-BBC7-2821B9278BA7}"/>
              </a:ext>
            </a:extLst>
          </p:cNvPr>
          <p:cNvGraphicFramePr/>
          <p:nvPr/>
        </p:nvGraphicFramePr>
        <p:xfrm>
          <a:off xmlns:a="http://schemas.openxmlformats.org/drawingml/2006/main" x="647700" y="1781175"/>
          <a:ext xmlns:a="http://schemas.openxmlformats.org/drawingml/2006/main" cx="13944600" cy="5429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286250"/>
                <a:gridCol w="9658350"/>
              </a:tblGrid>
              <a:tr h="775607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输入</a:t>
                      </a:r>
                    </a:p>
                  </a:txBody>
                  <a:tcPr marL="142875" marR="142875" marT="95250" marB="95250" anchor="ctr">
                    <a:lnL w="6668">
                      <a:solidFill>
                        <a:srgbClr val="C8D7DE"/>
                      </a:solidFill>
                      <a:prstDash val="solid"/>
                    </a:lnL>
                    <a:lnR w="6668">
                      <a:solidFill>
                        <a:srgbClr val="C8D7DE"/>
                      </a:solidFill>
                      <a:prstDash val="solid"/>
                    </a:lnR>
                    <a:lnT w="6668">
                      <a:solidFill>
                        <a:srgbClr val="C8D7DE"/>
                      </a:solidFill>
                      <a:prstDash val="solid"/>
                    </a:lnT>
                    <a:lnB w="6668">
                      <a:solidFill>
                        <a:srgbClr val="C8D7DE"/>
                      </a:solidFill>
                      <a:prstDash val="solid"/>
                    </a:lnB>
                    <a:solidFill>
                      <a:srgbClr val="1831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数值</a:t>
                      </a:r>
                    </a:p>
                  </a:txBody>
                  <a:tcPr marL="142875" marR="142875" marT="95250" marB="95250" anchor="ctr">
                    <a:lnR w="6668">
                      <a:solidFill>
                        <a:srgbClr val="C8D7DE"/>
                      </a:solidFill>
                      <a:prstDash val="solid"/>
                    </a:lnR>
                    <a:lnT w="6668">
                      <a:solidFill>
                        <a:srgbClr val="C8D7DE"/>
                      </a:solidFill>
                      <a:prstDash val="solid"/>
                    </a:lnT>
                    <a:lnB w="6668">
                      <a:solidFill>
                        <a:srgbClr val="C8D7DE"/>
                      </a:solidFill>
                      <a:prstDash val="solid"/>
                    </a:lnB>
                    <a:solidFill>
                      <a:srgbClr val="18313E"/>
                    </a:solidFill>
                  </a:tcPr>
                </a:tc>
              </a:tr>
              <a:tr h="775607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31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DeepSeek低峰</a:t>
                      </a:r>
                    </a:p>
                    <a:p>
                      <a:r>
                        <a:rPr sz="1875">
                          <a:solidFill>
                            <a:srgbClr val="1831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输入／缓存读／输出</a:t>
                      </a:r>
                    </a:p>
                  </a:txBody>
                  <a:tcPr marL="142875" marR="142875" marT="95250" marB="95250" anchor="ctr">
                    <a:lnL w="6668">
                      <a:solidFill>
                        <a:srgbClr val="C8D7DE"/>
                      </a:solidFill>
                      <a:prstDash val="solid"/>
                    </a:lnL>
                    <a:lnR w="6668">
                      <a:solidFill>
                        <a:srgbClr val="C8D7DE"/>
                      </a:solidFill>
                      <a:prstDash val="solid"/>
                    </a:lnR>
                    <a:lnB w="6668">
                      <a:solidFill>
                        <a:srgbClr val="C8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31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0.15／0.003／0.60；高峰×2，假设80%高峰</a:t>
                      </a:r>
                    </a:p>
                  </a:txBody>
                  <a:tcPr marL="142875" marR="142875" marT="95250" marB="95250" anchor="ctr">
                    <a:lnR w="6668">
                      <a:solidFill>
                        <a:srgbClr val="C8D7DE"/>
                      </a:solidFill>
                      <a:prstDash val="solid"/>
                    </a:lnR>
                    <a:lnB w="6668">
                      <a:solidFill>
                        <a:srgbClr val="C8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75607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31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Sonnet5.5：输入／1h写／读／输出</a:t>
                      </a:r>
                    </a:p>
                  </a:txBody>
                  <a:tcPr marL="142875" marR="142875" marT="95250" marB="95250" anchor="ctr">
                    <a:lnL w="6668">
                      <a:solidFill>
                        <a:srgbClr val="C8D7DE"/>
                      </a:solidFill>
                      <a:prstDash val="solid"/>
                    </a:lnL>
                    <a:lnR w="6668">
                      <a:solidFill>
                        <a:srgbClr val="C8D7DE"/>
                      </a:solidFill>
                      <a:prstDash val="solid"/>
                    </a:lnR>
                    <a:lnB w="6668">
                      <a:solidFill>
                        <a:srgbClr val="C8D7DE"/>
                      </a:solidFill>
                      <a:prstDash val="solid"/>
                    </a:lnB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31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2.00／4.00／0.10／10.00</a:t>
                      </a:r>
                    </a:p>
                  </a:txBody>
                  <a:tcPr marL="142875" marR="142875" marT="95250" marB="95250" anchor="ctr">
                    <a:lnR w="6668">
                      <a:solidFill>
                        <a:srgbClr val="C8D7DE"/>
                      </a:solidFill>
                      <a:prstDash val="solid"/>
                    </a:lnR>
                    <a:lnB w="6668">
                      <a:solidFill>
                        <a:srgbClr val="C8D7DE"/>
                      </a:solidFill>
                      <a:prstDash val="solid"/>
                    </a:lnB>
                    <a:solidFill>
                      <a:srgbClr val="F1F6F7"/>
                    </a:solidFill>
                  </a:tcPr>
                </a:tc>
              </a:tr>
              <a:tr h="775607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31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三年个人任务</a:t>
                      </a:r>
                    </a:p>
                  </a:txBody>
                  <a:tcPr marL="142875" marR="142875" marT="95250" marB="95250" anchor="ctr">
                    <a:lnL w="6668">
                      <a:solidFill>
                        <a:srgbClr val="C8D7DE"/>
                      </a:solidFill>
                      <a:prstDash val="solid"/>
                    </a:lnL>
                    <a:lnR w="6668">
                      <a:solidFill>
                        <a:srgbClr val="C8D7DE"/>
                      </a:solidFill>
                      <a:prstDash val="solid"/>
                    </a:lnR>
                    <a:lnB w="6668">
                      <a:solidFill>
                        <a:srgbClr val="C8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31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2,482.5项；本地9.05、DeepSeek1.66、Sonnet3.75万元</a:t>
                      </a:r>
                    </a:p>
                  </a:txBody>
                  <a:tcPr marL="142875" marR="142875" marT="95250" marB="95250" anchor="ctr">
                    <a:lnR w="6668">
                      <a:solidFill>
                        <a:srgbClr val="C8D7DE"/>
                      </a:solidFill>
                      <a:prstDash val="solid"/>
                    </a:lnR>
                    <a:lnB w="6668">
                      <a:solidFill>
                        <a:srgbClr val="C8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75607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31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三年公司任务</a:t>
                      </a:r>
                    </a:p>
                  </a:txBody>
                  <a:tcPr marL="142875" marR="142875" marT="95250" marB="95250" anchor="ctr">
                    <a:lnL w="6668">
                      <a:solidFill>
                        <a:srgbClr val="C8D7DE"/>
                      </a:solidFill>
                      <a:prstDash val="solid"/>
                    </a:lnL>
                    <a:lnR w="6668">
                      <a:solidFill>
                        <a:srgbClr val="C8D7DE"/>
                      </a:solidFill>
                      <a:prstDash val="solid"/>
                    </a:lnR>
                    <a:lnB w="6668">
                      <a:solidFill>
                        <a:srgbClr val="C8D7DE"/>
                      </a:solidFill>
                      <a:prstDash val="solid"/>
                    </a:lnB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31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95,312.5项；本地392.54、DeepSeek68.34、Sonnet148.61万元</a:t>
                      </a:r>
                    </a:p>
                  </a:txBody>
                  <a:tcPr marL="142875" marR="142875" marT="95250" marB="95250" anchor="ctr">
                    <a:lnR w="6668">
                      <a:solidFill>
                        <a:srgbClr val="C8D7DE"/>
                      </a:solidFill>
                      <a:prstDash val="solid"/>
                    </a:lnR>
                    <a:lnB w="6668">
                      <a:solidFill>
                        <a:srgbClr val="C8D7DE"/>
                      </a:solidFill>
                      <a:prstDash val="solid"/>
                    </a:lnB>
                    <a:solidFill>
                      <a:srgbClr val="F1F6F7"/>
                    </a:solidFill>
                  </a:tcPr>
                </a:tc>
              </a:tr>
              <a:tr h="775607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31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技术与业务人力</a:t>
                      </a:r>
                    </a:p>
                  </a:txBody>
                  <a:tcPr marL="142875" marR="142875" marT="95250" marB="95250" anchor="ctr">
                    <a:lnL w="6668">
                      <a:solidFill>
                        <a:srgbClr val="C8D7DE"/>
                      </a:solidFill>
                      <a:prstDash val="solid"/>
                    </a:lnL>
                    <a:lnR w="6668">
                      <a:solidFill>
                        <a:srgbClr val="C8D7DE"/>
                      </a:solidFill>
                      <a:prstDash val="solid"/>
                    </a:lnR>
                    <a:lnB w="6668">
                      <a:solidFill>
                        <a:srgbClr val="C8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31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2,500元／技术人日；150元／分析师小时</a:t>
                      </a:r>
                    </a:p>
                  </a:txBody>
                  <a:tcPr marL="142875" marR="142875" marT="95250" marB="95250" anchor="ctr">
                    <a:lnR w="6668">
                      <a:solidFill>
                        <a:srgbClr val="C8D7DE"/>
                      </a:solidFill>
                      <a:prstDash val="solid"/>
                    </a:lnR>
                    <a:lnB w="6668">
                      <a:solidFill>
                        <a:srgbClr val="C8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75607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31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公司容量预算</a:t>
                      </a:r>
                    </a:p>
                  </a:txBody>
                  <a:tcPr marL="142875" marR="142875" marT="95250" marB="95250" anchor="ctr">
                    <a:lnL w="6668">
                      <a:solidFill>
                        <a:srgbClr val="C8D7DE"/>
                      </a:solidFill>
                      <a:prstDash val="solid"/>
                    </a:lnL>
                    <a:lnR w="6668">
                      <a:solidFill>
                        <a:srgbClr val="C8D7DE"/>
                      </a:solidFill>
                      <a:prstDash val="solid"/>
                    </a:lnR>
                    <a:lnB w="6668">
                      <a:solidFill>
                        <a:srgbClr val="C8D7DE"/>
                      </a:solidFill>
                      <a:prstDash val="solid"/>
                    </a:lnB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31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400生成＋8,000新输入token/s；2,000h／年，留30%</a:t>
                      </a:r>
                    </a:p>
                  </a:txBody>
                  <a:tcPr marL="142875" marR="142875" marT="95250" marB="95250" anchor="ctr">
                    <a:lnR w="6668">
                      <a:solidFill>
                        <a:srgbClr val="C8D7DE"/>
                      </a:solidFill>
                      <a:prstDash val="solid"/>
                    </a:lnR>
                    <a:lnB w="6668">
                      <a:solidFill>
                        <a:srgbClr val="C8D7DE"/>
                      </a:solidFill>
                      <a:prstDash val="solid"/>
                    </a:lnB>
                    <a:solidFill>
                      <a:srgbClr val="F1F6F7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02072D-5285-4D4A-AFA6-2377DC3F9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58075"/>
            <a:ext cx="13944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26976"/>
                </a:solidFill>
                <a:latin typeface="PingFang SC"/>
                <a:ea typeface="PingFang SC"/>
                <a:cs typeface="PingFang SC"/>
              </a:rPr>
              <a:t>资料分类先决定可用路线。业务人员复核时间计入净节省，技术运维人工已计入TCO。</a:t>
            </a:r>
          </a:p>
        </p:txBody>
      </p:sp>
    </p:spTree>
    <p:extLst>
      <p:ext uri="{BB962C8B-B14F-4D97-AF65-F5344CB8AC3E}">
        <p14:creationId xmlns:p14="http://schemas.microsoft.com/office/powerpoint/2010/main" val="1299468855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8B97C3-0327-41E2-AAAB-4F0194049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39446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3675" b="1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资料与详细方案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F946C2-CA18-47B4-BF7C-DA97A1D4B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62075"/>
            <a:ext cx="1394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556D2F-C1B0-49E8-902C-C425E05DA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8134350"/>
            <a:ext cx="895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26976"/>
                </a:solidFill>
                <a:latin typeface="PingFang SC"/>
                <a:ea typeface="PingFang SC"/>
                <a:cs typeface="PingFang SC"/>
              </a:rPr>
              <a:t>备查 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62511F-692B-44DD-B97A-28E13C22A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657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4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4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4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4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4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4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4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4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4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pPr>
            <a:r>
              <a:rPr sz="2475" b="1">
                <a:solidFill>
                  <a:srgbClr val="007F7A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000e508365c14d70"/>
              </a:rPr>
              <a:t>行业案例与历史成果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5F270E-F974-4150-BE29-4A6B5C857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09825"/>
            <a:ext cx="657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526976"/>
                </a:solidFill>
                <a:latin typeface="PingFang SC"/>
                <a:ea typeface="PingFang SC"/>
                <a:cs typeface="PingFang SC"/>
              </a:rPr>
              <a:t>github.com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160F59-4D8B-4585-9DF3-EF17D8036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809750"/>
            <a:ext cx="657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4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4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4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4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4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4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4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4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4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pPr>
            <a:r>
              <a:rPr sz="2475" b="1">
                <a:solidFill>
                  <a:srgbClr val="007F7A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73e95cc053bb481a"/>
              </a:rPr>
              <a:t>模型与金融任务评测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3DA0CE-6DC4-4654-B15B-103F6CA8D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409825"/>
            <a:ext cx="657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526976"/>
                </a:solidFill>
                <a:latin typeface="PingFang SC"/>
                <a:ea typeface="PingFang SC"/>
                <a:cs typeface="PingFang SC"/>
              </a:rPr>
              <a:t>www.vals.ai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3D5058-7C9E-4DB9-8E62-D73008A46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95625"/>
            <a:ext cx="657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4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4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4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4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4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4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4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4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4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pPr>
            <a:r>
              <a:rPr sz="2475" b="1">
                <a:solidFill>
                  <a:srgbClr val="007F7A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4613c82704db4833"/>
              </a:rPr>
              <a:t>AI Infra Book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531994-D487-4A53-B2C8-F9B285C3C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95700"/>
            <a:ext cx="657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526976"/>
                </a:solidFill>
                <a:latin typeface="PingFang SC"/>
                <a:ea typeface="PingFang SC"/>
                <a:cs typeface="PingFang SC"/>
              </a:rPr>
              <a:t>github.com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6AF980-C1AE-48B8-91F3-4A50FA564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095625"/>
            <a:ext cx="657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4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4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4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4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4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4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4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4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4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pPr>
            <a:r>
              <a:rPr sz="2475" b="1">
                <a:solidFill>
                  <a:srgbClr val="007F7A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6de6ea9a939149c9"/>
              </a:rPr>
              <a:t>vLLM缓存卸载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74C6B8-3DD4-42A1-9DD3-AD3A33314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695700"/>
            <a:ext cx="657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526976"/>
                </a:solidFill>
                <a:latin typeface="PingFang SC"/>
                <a:ea typeface="PingFang SC"/>
                <a:cs typeface="PingFang SC"/>
              </a:rPr>
              <a:t>docs.vllm.ai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3EA657-A6E7-4C9F-9761-DF975DEBC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81500"/>
            <a:ext cx="657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4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4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4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4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4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4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4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4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4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pPr>
            <a:r>
              <a:rPr sz="2475" b="1">
                <a:solidFill>
                  <a:srgbClr val="007F7A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3207d85d265c4631"/>
              </a:rPr>
              <a:t>LMCache分层存储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AFC8A1-179C-4C2B-922B-1A715AF53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81575"/>
            <a:ext cx="657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526976"/>
                </a:solidFill>
                <a:latin typeface="PingFang SC"/>
                <a:ea typeface="PingFang SC"/>
                <a:cs typeface="PingFang SC"/>
              </a:rPr>
              <a:t>docs.lmcache.ai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4E156B-1FCF-47D2-8D24-CBC71B4AC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381500"/>
            <a:ext cx="657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4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4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4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4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4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4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4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4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4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pPr>
            <a:r>
              <a:rPr sz="2475" b="1">
                <a:solidFill>
                  <a:srgbClr val="007F7A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7ee39be84d744a9d"/>
              </a:rPr>
              <a:t>DeepSeek计费规则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7420BD-1A30-455A-85A5-3ECCE689D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981575"/>
            <a:ext cx="657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526976"/>
                </a:solidFill>
                <a:latin typeface="PingFang SC"/>
                <a:ea typeface="PingFang SC"/>
                <a:cs typeface="PingFang SC"/>
              </a:rPr>
              <a:t>api-docs.deepseek.com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072BB7-CEEF-41AA-87CB-E37869663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67375"/>
            <a:ext cx="657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4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4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4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4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4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4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4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4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4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pPr>
            <a:r>
              <a:rPr sz="2475" b="1">
                <a:solidFill>
                  <a:srgbClr val="007F7A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df449e40429f4a9f"/>
              </a:rPr>
              <a:t>A100适配与性能消融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E385CE-31EA-4668-A9C2-DF52D218B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67450"/>
            <a:ext cx="657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526976"/>
                </a:solidFill>
                <a:latin typeface="PingFang SC"/>
                <a:ea typeface="PingFang SC"/>
                <a:cs typeface="PingFang SC"/>
              </a:rPr>
              <a:t>github.com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E0AB3F-1270-4849-AD26-7AD634436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667375"/>
            <a:ext cx="657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4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4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4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4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4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4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4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4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4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007F7A"/>
                </a:solidFill>
                <a:latin typeface="PingFang SC"/>
                <a:ea typeface="PingFang SC"/>
                <a:cs typeface="PingFang SC"/>
              </a:defRPr>
            </a:pPr>
            <a:r>
              <a:rPr sz="2475" b="1">
                <a:solidFill>
                  <a:srgbClr val="007F7A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91b1e9bbd13d49fe"/>
              </a:rPr>
              <a:t>项目与完整研究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EC2764-DB02-4BE4-B3E6-9E2A8D70B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6267450"/>
            <a:ext cx="657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26976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526976"/>
                </a:solidFill>
                <a:latin typeface="PingFang SC"/>
                <a:ea typeface="PingFang SC"/>
                <a:cs typeface="PingFang SC"/>
              </a:rPr>
              <a:t>github.com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0F1D7B-AB35-4759-9D53-B5A41D898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00925"/>
            <a:ext cx="13944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8313E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18313E"/>
                </a:solidFill>
                <a:latin typeface="PingFang SC"/>
                <a:ea typeface="PingFang SC"/>
                <a:cs typeface="PingFang SC"/>
              </a:rPr>
              <a:t>配套讲稿提供每页解释与来源；知识库保留配置、成本、许可和公开评测的详细记录。</a:t>
            </a:r>
          </a:p>
        </p:txBody>
      </p:sp>
    </p:spTree>
    <p:extLst>
      <p:ext uri="{BB962C8B-B14F-4D97-AF65-F5344CB8AC3E}">
        <p14:creationId xmlns:p14="http://schemas.microsoft.com/office/powerpoint/2010/main" val="16588211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PingFang SC"/>
        <a:ea typeface=""/>
        <a:cs typeface=""/>
      </a:majorFont>
      <a:minorFont>
        <a:latin typeface="PingFang S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2026-10-21T23:41:15.0660000Z</dcterms:created>
  <dcterms:modified xsi:type="dcterms:W3CDTF">2026-10-21T23:41:15.0660000Z</dcterms:modified>
</coreProperties>
</file>