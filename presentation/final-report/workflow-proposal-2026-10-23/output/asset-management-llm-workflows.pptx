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86dc9f86a4df0" /><Relationship Type="http://schemas.openxmlformats.org/officeDocument/2006/relationships/extended-properties" Target="/docProps/app.xml" Id="R155a2e8f34c84238" /><Relationship Type="http://schemas.openxmlformats.org/officeDocument/2006/relationships/officeDocument" Target="/ppt/presentation.xml" Id="R7ac95cd37c0b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eeb0c0f8124a81"/>
  </p:sldMasterIdLst>
  <p:notesMasterIdLst>
    <p:notesMasterId xmlns:r="http://schemas.openxmlformats.org/officeDocument/2006/relationships" r:id="R16f297ef34124a22"/>
  </p:notesMasterIdLst>
  <p:sldIdLst>
    <p:sldId xmlns:r="http://schemas.openxmlformats.org/officeDocument/2006/relationships" id="256" r:id="Ra9c3c418cb914e27"/>
    <p:sldId xmlns:r="http://schemas.openxmlformats.org/officeDocument/2006/relationships" id="257" r:id="R2109023a76c34a25"/>
    <p:sldId xmlns:r="http://schemas.openxmlformats.org/officeDocument/2006/relationships" id="258" r:id="Rf249bdc39f464f85"/>
    <p:sldId xmlns:r="http://schemas.openxmlformats.org/officeDocument/2006/relationships" id="259" r:id="Rc0f969c6ad6b48dd"/>
    <p:sldId xmlns:r="http://schemas.openxmlformats.org/officeDocument/2006/relationships" id="260" r:id="Rbb05bc7a10854eb7"/>
    <p:sldId xmlns:r="http://schemas.openxmlformats.org/officeDocument/2006/relationships" id="261" r:id="R8f54c5b1fb884b29"/>
    <p:sldId xmlns:r="http://schemas.openxmlformats.org/officeDocument/2006/relationships" id="262" r:id="R93fd6019d62b438f"/>
    <p:sldId xmlns:r="http://schemas.openxmlformats.org/officeDocument/2006/relationships" id="263" r:id="R9b7f12abf2e34cad"/>
    <p:sldId xmlns:r="http://schemas.openxmlformats.org/officeDocument/2006/relationships" id="264" r:id="R33e445924b044be9"/>
    <p:sldId xmlns:r="http://schemas.openxmlformats.org/officeDocument/2006/relationships" id="265" r:id="R861866afba4e4f73"/>
    <p:sldId xmlns:r="http://schemas.openxmlformats.org/officeDocument/2006/relationships" id="266" r:id="Rfa8939697be54c8c"/>
    <p:sldId xmlns:r="http://schemas.openxmlformats.org/officeDocument/2006/relationships" id="267" r:id="Rc9212758983e462e"/>
    <p:sldId xmlns:r="http://schemas.openxmlformats.org/officeDocument/2006/relationships" id="268" r:id="R94a56e5f58f64768"/>
    <p:sldId xmlns:r="http://schemas.openxmlformats.org/officeDocument/2006/relationships" id="269" r:id="R628e283398744199"/>
    <p:sldId xmlns:r="http://schemas.openxmlformats.org/officeDocument/2006/relationships" id="270" r:id="Rc921ca487a104897"/>
    <p:sldId xmlns:r="http://schemas.openxmlformats.org/officeDocument/2006/relationships" id="271" r:id="R18b9e69b3dc74625"/>
    <p:sldId xmlns:r="http://schemas.openxmlformats.org/officeDocument/2006/relationships" id="272" r:id="R07232d2ba1fd49cd"/>
    <p:sldId xmlns:r="http://schemas.openxmlformats.org/officeDocument/2006/relationships" id="273" r:id="R03d30cb57c0740e7"/>
    <p:sldId xmlns:r="http://schemas.openxmlformats.org/officeDocument/2006/relationships" id="274" r:id="R61fa1f5c8f194bb7"/>
    <p:sldId xmlns:r="http://schemas.openxmlformats.org/officeDocument/2006/relationships" id="275" r:id="Rc9fda9ae5cd54969"/>
    <p:sldId xmlns:r="http://schemas.openxmlformats.org/officeDocument/2006/relationships" id="276" r:id="R17649059d9d9432f"/>
    <p:sldId xmlns:r="http://schemas.openxmlformats.org/officeDocument/2006/relationships" id="277" r:id="R5bfe1b213dd14686"/>
    <p:sldId xmlns:r="http://schemas.openxmlformats.org/officeDocument/2006/relationships" id="278" r:id="R123e4bfb85644f8d"/>
    <p:sldId xmlns:r="http://schemas.openxmlformats.org/officeDocument/2006/relationships" id="279" r:id="R56bec09d0f1c4cf6"/>
    <p:sldId xmlns:r="http://schemas.openxmlformats.org/officeDocument/2006/relationships" id="280" r:id="Rdfabccdd026641a3"/>
    <p:sldId xmlns:r="http://schemas.openxmlformats.org/officeDocument/2006/relationships" id="281" r:id="Rad422e4db1de424e"/>
    <p:sldId xmlns:r="http://schemas.openxmlformats.org/officeDocument/2006/relationships" id="282" r:id="Ra97091149561443f"/>
    <p:sldId xmlns:r="http://schemas.openxmlformats.org/officeDocument/2006/relationships" id="283" r:id="R71d4c44f9f814918"/>
    <p:sldId xmlns:r="http://schemas.openxmlformats.org/officeDocument/2006/relationships" id="284" r:id="R85bc30d880ec4e24"/>
    <p:sldId xmlns:r="http://schemas.openxmlformats.org/officeDocument/2006/relationships" id="285" r:id="R89cffcefc03345ea"/>
    <p:sldId xmlns:r="http://schemas.openxmlformats.org/officeDocument/2006/relationships" id="286" r:id="R8bdb3ad6107a4a7b"/>
    <p:sldId xmlns:r="http://schemas.openxmlformats.org/officeDocument/2006/relationships" id="287" r:id="Rd48949f1cc42427f"/>
    <p:sldId xmlns:r="http://schemas.openxmlformats.org/officeDocument/2006/relationships" id="288" r:id="R22c22a1fd2b9486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904b8be5fd49a6" /><Relationship Type="http://schemas.openxmlformats.org/officeDocument/2006/relationships/slideMaster" Target="/ppt/slideMasters/slideMaster1.xml" Id="R99eeb0c0f8124a81" /><Relationship Type="http://schemas.openxmlformats.org/officeDocument/2006/relationships/notesMaster" Target="/ppt/notesMasters/notesMaster1.xml" Id="R16f297ef34124a22" /><Relationship Type="http://schemas.openxmlformats.org/officeDocument/2006/relationships/presProps" Target="/ppt/presProps.xml" Id="R0ab60386cfd14617" /><Relationship Type="http://schemas.openxmlformats.org/officeDocument/2006/relationships/tableStyles" Target="/ppt/tableStyles.xml" Id="R7431cf8e6212442a" /><Relationship Type="http://schemas.openxmlformats.org/officeDocument/2006/relationships/slide" Target="/ppt/slides/slide1.xml" Id="Ra9c3c418cb914e27" /><Relationship Type="http://schemas.openxmlformats.org/officeDocument/2006/relationships/slide" Target="/ppt/slides/slide2.xml" Id="R2109023a76c34a25" /><Relationship Type="http://schemas.openxmlformats.org/officeDocument/2006/relationships/slide" Target="/ppt/slides/slide3.xml" Id="Rf249bdc39f464f85" /><Relationship Type="http://schemas.openxmlformats.org/officeDocument/2006/relationships/slide" Target="/ppt/slides/slide4.xml" Id="Rc0f969c6ad6b48dd" /><Relationship Type="http://schemas.openxmlformats.org/officeDocument/2006/relationships/slide" Target="/ppt/slides/slide5.xml" Id="Rbb05bc7a10854eb7" /><Relationship Type="http://schemas.openxmlformats.org/officeDocument/2006/relationships/slide" Target="/ppt/slides/slide6.xml" Id="R8f54c5b1fb884b29" /><Relationship Type="http://schemas.openxmlformats.org/officeDocument/2006/relationships/slide" Target="/ppt/slides/slide7.xml" Id="R93fd6019d62b438f" /><Relationship Type="http://schemas.openxmlformats.org/officeDocument/2006/relationships/slide" Target="/ppt/slides/slide8.xml" Id="R9b7f12abf2e34cad" /><Relationship Type="http://schemas.openxmlformats.org/officeDocument/2006/relationships/slide" Target="/ppt/slides/slide9.xml" Id="R33e445924b044be9" /><Relationship Type="http://schemas.openxmlformats.org/officeDocument/2006/relationships/slide" Target="/ppt/slides/slide10.xml" Id="R861866afba4e4f73" /><Relationship Type="http://schemas.openxmlformats.org/officeDocument/2006/relationships/slide" Target="/ppt/slides/slide11.xml" Id="Rfa8939697be54c8c" /><Relationship Type="http://schemas.openxmlformats.org/officeDocument/2006/relationships/slide" Target="/ppt/slides/slide12.xml" Id="Rc9212758983e462e" /><Relationship Type="http://schemas.openxmlformats.org/officeDocument/2006/relationships/slide" Target="/ppt/slides/slide13.xml" Id="R94a56e5f58f64768" /><Relationship Type="http://schemas.openxmlformats.org/officeDocument/2006/relationships/slide" Target="/ppt/slides/slide14.xml" Id="R628e283398744199" /><Relationship Type="http://schemas.openxmlformats.org/officeDocument/2006/relationships/slide" Target="/ppt/slides/slide15.xml" Id="Rc921ca487a104897" /><Relationship Type="http://schemas.openxmlformats.org/officeDocument/2006/relationships/slide" Target="/ppt/slides/slide16.xml" Id="R18b9e69b3dc74625" /><Relationship Type="http://schemas.openxmlformats.org/officeDocument/2006/relationships/slide" Target="/ppt/slides/slide17.xml" Id="R07232d2ba1fd49cd" /><Relationship Type="http://schemas.openxmlformats.org/officeDocument/2006/relationships/slide" Target="/ppt/slides/slide18.xml" Id="R03d30cb57c0740e7" /><Relationship Type="http://schemas.openxmlformats.org/officeDocument/2006/relationships/slide" Target="/ppt/slides/slide19.xml" Id="R61fa1f5c8f194bb7" /><Relationship Type="http://schemas.openxmlformats.org/officeDocument/2006/relationships/slide" Target="/ppt/slides/slide20.xml" Id="Rc9fda9ae5cd54969" /><Relationship Type="http://schemas.openxmlformats.org/officeDocument/2006/relationships/slide" Target="/ppt/slides/slide21.xml" Id="R17649059d9d9432f" /><Relationship Type="http://schemas.openxmlformats.org/officeDocument/2006/relationships/slide" Target="/ppt/slides/slide22.xml" Id="R5bfe1b213dd14686" /><Relationship Type="http://schemas.openxmlformats.org/officeDocument/2006/relationships/slide" Target="/ppt/slides/slide23.xml" Id="R123e4bfb85644f8d" /><Relationship Type="http://schemas.openxmlformats.org/officeDocument/2006/relationships/slide" Target="/ppt/slides/slide24.xml" Id="R56bec09d0f1c4cf6" /><Relationship Type="http://schemas.openxmlformats.org/officeDocument/2006/relationships/slide" Target="/ppt/slides/slide25.xml" Id="Rdfabccdd026641a3" /><Relationship Type="http://schemas.openxmlformats.org/officeDocument/2006/relationships/slide" Target="/ppt/slides/slide26.xml" Id="Rad422e4db1de424e" /><Relationship Type="http://schemas.openxmlformats.org/officeDocument/2006/relationships/slide" Target="/ppt/slides/slide27.xml" Id="Ra97091149561443f" /><Relationship Type="http://schemas.openxmlformats.org/officeDocument/2006/relationships/slide" Target="/ppt/slides/slide28.xml" Id="R71d4c44f9f814918" /><Relationship Type="http://schemas.openxmlformats.org/officeDocument/2006/relationships/slide" Target="/ppt/slides/slide29.xml" Id="R85bc30d880ec4e24" /><Relationship Type="http://schemas.openxmlformats.org/officeDocument/2006/relationships/slide" Target="/ppt/slides/slide30.xml" Id="R89cffcefc03345ea" /><Relationship Type="http://schemas.openxmlformats.org/officeDocument/2006/relationships/slide" Target="/ppt/slides/slide31.xml" Id="R8bdb3ad6107a4a7b" /><Relationship Type="http://schemas.openxmlformats.org/officeDocument/2006/relationships/slide" Target="/ppt/slides/slide32.xml" Id="Rd48949f1cc42427f" /><Relationship Type="http://schemas.openxmlformats.org/officeDocument/2006/relationships/slide" Target="/ppt/slides/slide33.xml" Id="R22c22a1fd2b9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440972d21d44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Blue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b0c3b65c544d1" /><Relationship Type="http://schemas.openxmlformats.org/officeDocument/2006/relationships/notesMaster" Target="/ppt/notesMasters/notesMaster1.xml" Id="R354528fb2d6a47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ebcb560c7e4a22" /><Relationship Type="http://schemas.openxmlformats.org/officeDocument/2006/relationships/notesMaster" Target="/ppt/notesMasters/notesMaster1.xml" Id="Rceffdaed1ff6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a9cd28aef748c3" /><Relationship Type="http://schemas.openxmlformats.org/officeDocument/2006/relationships/notesMaster" Target="/ppt/notesMasters/notesMaster1.xml" Id="R458e5eb3aa0e4b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01fe4ee5a44fc0" /><Relationship Type="http://schemas.openxmlformats.org/officeDocument/2006/relationships/notesMaster" Target="/ppt/notesMasters/notesMaster1.xml" Id="Rca0f7720978d43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084dd9f264a3f" /><Relationship Type="http://schemas.openxmlformats.org/officeDocument/2006/relationships/notesMaster" Target="/ppt/notesMasters/notesMaster1.xml" Id="Rd67b881d5fbd44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d2ad2373064979" /><Relationship Type="http://schemas.openxmlformats.org/officeDocument/2006/relationships/notesMaster" Target="/ppt/notesMasters/notesMaster1.xml" Id="Rb5754a75d40041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79a85aad24061" /><Relationship Type="http://schemas.openxmlformats.org/officeDocument/2006/relationships/notesMaster" Target="/ppt/notesMasters/notesMaster1.xml" Id="R4444dc0fd4eb45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c22066e0c4bdf" /><Relationship Type="http://schemas.openxmlformats.org/officeDocument/2006/relationships/notesMaster" Target="/ppt/notesMasters/notesMaster1.xml" Id="Rc0f2150bdf6342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cac9cc36e845e3" /><Relationship Type="http://schemas.openxmlformats.org/officeDocument/2006/relationships/notesMaster" Target="/ppt/notesMasters/notesMaster1.xml" Id="Rb31e0f51ad894c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5ae3eee4ba4d90" /><Relationship Type="http://schemas.openxmlformats.org/officeDocument/2006/relationships/notesMaster" Target="/ppt/notesMasters/notesMaster1.xml" Id="R221a931d93404f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0428086fcd47a2" /><Relationship Type="http://schemas.openxmlformats.org/officeDocument/2006/relationships/notesMaster" Target="/ppt/notesMasters/notesMaster1.xml" Id="R5b2a02e4b1ec44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9db16528034745" /><Relationship Type="http://schemas.openxmlformats.org/officeDocument/2006/relationships/notesMaster" Target="/ppt/notesMasters/notesMaster1.xml" Id="Rb8f186ad89414c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097062feb841eb" /><Relationship Type="http://schemas.openxmlformats.org/officeDocument/2006/relationships/notesMaster" Target="/ppt/notesMasters/notesMaster1.xml" Id="R7c495201ce5541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fdcbc1356f4647" /><Relationship Type="http://schemas.openxmlformats.org/officeDocument/2006/relationships/notesMaster" Target="/ppt/notesMasters/notesMaster1.xml" Id="Rfc90a9ccfb2348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48acf5c4354e67" /><Relationship Type="http://schemas.openxmlformats.org/officeDocument/2006/relationships/notesMaster" Target="/ppt/notesMasters/notesMaster1.xml" Id="Ra8046346109048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ab6f8023944daf" /><Relationship Type="http://schemas.openxmlformats.org/officeDocument/2006/relationships/notesMaster" Target="/ppt/notesMasters/notesMaster1.xml" Id="Rb2fb6b4887284a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327ab4583e471a" /><Relationship Type="http://schemas.openxmlformats.org/officeDocument/2006/relationships/notesMaster" Target="/ppt/notesMasters/notesMaster1.xml" Id="Rf53516456e3849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1abf145a2f4c5a" /><Relationship Type="http://schemas.openxmlformats.org/officeDocument/2006/relationships/notesMaster" Target="/ppt/notesMasters/notesMaster1.xml" Id="R164b1f2d499f4f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dddf81b4dc4ffd" /><Relationship Type="http://schemas.openxmlformats.org/officeDocument/2006/relationships/notesMaster" Target="/ppt/notesMasters/notesMaster1.xml" Id="R2dbc3f2347ab4e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53256a652d438b" /><Relationship Type="http://schemas.openxmlformats.org/officeDocument/2006/relationships/notesMaster" Target="/ppt/notesMasters/notesMaster1.xml" Id="R7d92b3f005ec41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2a1e8ed28624cd3" /><Relationship Type="http://schemas.openxmlformats.org/officeDocument/2006/relationships/notesMaster" Target="/ppt/notesMasters/notesMaster1.xml" Id="R87a49ad427f349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fb900fd2f846ff" /><Relationship Type="http://schemas.openxmlformats.org/officeDocument/2006/relationships/notesMaster" Target="/ppt/notesMasters/notesMaster1.xml" Id="Rbdca7333a9f84b5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918e0c42eaf424a" /><Relationship Type="http://schemas.openxmlformats.org/officeDocument/2006/relationships/notesMaster" Target="/ppt/notesMasters/notesMaster1.xml" Id="R79f775d5fbc742f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a04c35b4ea348df" /><Relationship Type="http://schemas.openxmlformats.org/officeDocument/2006/relationships/notesMaster" Target="/ppt/notesMasters/notesMaster1.xml" Id="Rd031936b416d4c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e7d2746cfb471b" /><Relationship Type="http://schemas.openxmlformats.org/officeDocument/2006/relationships/notesMaster" Target="/ppt/notesMasters/notesMaster1.xml" Id="Rf529419344c54a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0b425642594304" /><Relationship Type="http://schemas.openxmlformats.org/officeDocument/2006/relationships/notesMaster" Target="/ppt/notesMasters/notesMaster1.xml" Id="R5506471c42dc47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c2cb096ab87437e" /><Relationship Type="http://schemas.openxmlformats.org/officeDocument/2006/relationships/notesMaster" Target="/ppt/notesMasters/notesMaster1.xml" Id="R57562e47146f462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597f96f216e480f" /><Relationship Type="http://schemas.openxmlformats.org/officeDocument/2006/relationships/notesMaster" Target="/ppt/notesMasters/notesMaster1.xml" Id="Rb52405790cda44c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c21f40ff34a421a" /><Relationship Type="http://schemas.openxmlformats.org/officeDocument/2006/relationships/notesMaster" Target="/ppt/notesMasters/notesMaster1.xml" Id="R9b4172677c1647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f16e62f67264680" /><Relationship Type="http://schemas.openxmlformats.org/officeDocument/2006/relationships/notesMaster" Target="/ppt/notesMasters/notesMaster1.xml" Id="R51149fdeed0d42a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8209f6860542bc" /><Relationship Type="http://schemas.openxmlformats.org/officeDocument/2006/relationships/notesMaster" Target="/ppt/notesMasters/notesMaster1.xml" Id="R98689fc1dc4e4cc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98f4ce6a354af5" /><Relationship Type="http://schemas.openxmlformats.org/officeDocument/2006/relationships/notesMaster" Target="/ppt/notesMasters/notesMaster1.xml" Id="Rf8120f78c28f4ee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f8ff97840f845b3" /><Relationship Type="http://schemas.openxmlformats.org/officeDocument/2006/relationships/notesMaster" Target="/ppt/notesMasters/notesMaster1.xml" Id="R6cacfa516ecd43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本报告围绕公司同事每天完成的工作展开，先看同行怎样使用大模型，再提出适合公司启动的应用方案。正文依次讨论前台、中台和后台，最后将七项建议汇成两条跨部门流程。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左向右阅读：日常输入进入资料处理、分析解释、业务操作与协作交付，最终形成同事需要的分析、操作、材料和工具。公司当前尚未使用大模型，建议围绕具体任务设计使用入口和交付物。接下来按前中后台梳理七个工作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前台研究、交易和客户材料占三题，中台审核与风险分析占两题，后台运营文件和工具开发占两题。全文持续使用甲公司和基金季度客户沟通稿两条演示线，最后再将跨部门交接汇总。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先确定甲公司的研究问题，再从财报、研报和会议资料收集证据。流程中的检索、摘录、核对和整理占用反复操作时间。分析报告需要回答本季度发生了什么变化、经营原因是什么、各方怎样解释。下一页用天弘案例展示财务变化的逐层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净利润变化向收入、成本和费用展开，再下钻至销量、单价、原材料和渠道。模型调用数据接口与计算工具，结合宏观及行业信息整理结构化归因。天弘披露相关手工数据整理与计算由数日缩短至分钟级。驱动树用于组织下一步核对数据和继续研究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FUND-300，PDF第5–6页，财报归因与工具调用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先按投资标的相关性给PDF研报打分和筛选，再按研究员关注方向逐篇形成小结，最后汇总、调整语气并检查结果。页面的甲公司观点内容是工作演示，呈现按相同问题对照共识和差异的方法。下一页将资料整理到研究要素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FUND-007，PDF第8–9页，市场观点生成</a:t>
            </a:r>
          </a:p>
          <a:p xmlns:a="http://schemas.openxmlformats.org/drawingml/2006/main">
            <a:r>
              <a:t>https://www.amac.org.cn/xwfb/hydt/202601/P020260202337808067241.pdf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欧投研要素表助手连接内部研究系统和外部资讯，将采集、分析与汇总拆开处理，再识别要素并生成结构化填报内容。中欧披露，截至2026年5月，整体编制效率提升约50%。页面示例字段用于展示信息与来源的对应关系。下一页把资料、计算和观点比较组织为公司研究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FUND-354，应用与实现段落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FUND-356，五要素模型段落，数据截至2026年5月</a:t>
            </a:r>
          </a:p>
          <a:p xmlns:a="http://schemas.openxmlformats.org/drawingml/2006/main">
            <a:r>
              <a:t>https://mp.weixin.qq.com/s/rgMRw8HbZUhiu9PkUBM7vA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提交标的和问题后，系统连续检索材料、提取并计算变化、比较经营解释和市场观点。交付包含财务变化、经营原因、观点分歧、研究要素与出处。研究员可继续追问，再按新增资料更新。固收研究可参考兴证全球从评级报告、募集说明书提取基本面并比较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FUND-007，PDF第8–9页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FUND-354，应用与实现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FUND-011，PDF第5–7页，基本面解析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条泳道分别是投资经理、交易员和业务系统。券名、方向、价格与数量在筛选、询价和指令准备中反复使用。将这些字段连续保存，能够减少在系统间重新输入和核对。页面业务数据均为示例，实际指令由既有角色按流程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半部分为南方小喃同学：自然语言需求解析成查询和筛券条件，连接业务接口完成操作。南方对投资指令设置角色、终端和网络条件及二次确认。下半部分为兴证全球千询：汇集经理意向、匹配报价与交易对手，解析成交聊天，匹配后推送交易系统，经理在系统完成指令下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FUND-200，PDF第4–8页，任务调用与权限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FUND-011，PDF第3–6页，询价到成交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在一个任务入口中保留投资意图，依次提供候选券、报价比较与结构化交易要素。交易员核对成交内容，投资经理在既有交易系统中完成指令确认。可先从查询与准备应用开始，逐步连接已具备权限控制和确认步骤的业务接口。页面字段为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四类资料按客户问题被检索，再围绕材料用途重新组织。相同经理观点与产品资料可以形成路演、问答和机构标书。工作重点是保留来源与口径，使前台同事直接使用已经积累的研究成果。接着看天弘和工银瑞信的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按基金经理或产品名称汇总近期路演纪要、市场评论和定期报告，形成供销售使用的观点摘要。行业周度观点、早评与收评继续加工市场资料。页面原材料和客户表达为示例，用于展示同一观点如何改写为沟通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FUND-300，PDF第7–9页，经理观点、周评、早评与收评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dGPT将业务知识维护、问题识别与审核、标书生成接在一起。图中每个客户问题对应资料段落和回答章节，呈现知识如何复用于标书制作。页面问题及回答为工作示例。接下来将客户材料需求收敛为公司的应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FUND-312，PDF第7、9页，FundGPT与标书制作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事给出客户问题、产品与用途，应用检索经理观点及产品文件，再生成季度客户沟通稿和产品问答。页面展示同一份基金季度客户沟通稿的初稿，后续会继续使用其标题、资料版本和风险提示。机构标书与咨询工单可复用同一材料处理方式。材料形成后进入中台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FUND-312，PDF第7、9页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FUND-351，营销应用段落</a:t>
            </a:r>
          </a:p>
          <a:p xmlns:a="http://schemas.openxmlformats.org/drawingml/2006/main">
            <a:r>
              <a:t>https://fund.10jqka.com.cn/20251111/c672391490.shtml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上一页初稿。编写人提交材料，审核人定位到产品信息、业绩表述、风险提示和文件内容的具体位置。作者按意见修订后再提交检查，审核结论与变更记录随文件保存。下一页展示同行把这项检查接入材料流程的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按7类71项规则检查营销材料，关注风险提示、基金信息、业绩宣传和禁止性宣传，并给出修改建议。鹏华披露有效修改建议采纳率91%。盈米内容合规审查服务接收文本、PDF或Word，返回位置、原因和建议，作者修改后可再次提交。页面批注稿是同一客户材料的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FUND-308，PDF第6页，营销物料审核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盈米官方发布与客户端，官方发布及客户端处理流程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的问题是产品简称与资料版本沿用了上一期，风险提示需补齐。应用提交即检查，将意见定位到具体内容。作者修改后再次检查，并保存原稿、意见、修订稿与变更记录，审核人继续完成结论。下一题从材料检查转向风险提示的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甲公司进入持续跟踪后，托管邮件、外部事件和系统提示需要先形成结构化信息，再与持仓、产品、规则和研究资料关联。风险人员最终需要的是影响解释与跟进事项。下一页区分汇添富的邮件和条款支持、天弘的事件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汇添富在智汇平台提取托管行风控邮件，并将系统风控规则绑定法规、内控与合同原文，支持追查拦截依据。右侧天弘热门事件助手整理详情、相似历史事件、产业链关联和市场情绪，形成事件解读。两类做法可以分别连接公司邮件处理和事件跟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FUND-220，PDF第5页及第10页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FUND-300，PDF第10页，热门事件助手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影响分析由原始邮件、持仓截面、规则条款和研究资料共同支持。示例事件为甲公司公告评级观察事项，关联持仓截面与产品清单后形成具体跟进事项。风险同事可据此核对覆盖产品、查阅具体条款、分派复核及补充研究任务，并记录处理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FUND-220，PDF第5、10页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台接收传真、扫描件与电子文件后，分别完成字段识别、业务录入、版本核对和批量修订。甲公司相关交易要素从前台流入运营记录，客户材料同时进入版本维护。处理结果既包括业务记录，也包括差异与变更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华安将单据及传真内容识别到柜面业务录入，公司披露超过80%的柜面传真采用智能录入。工银瑞信支持PDF、Word与扫描件比对、差异展示、错别字识别和结果导出。右侧继续使用基金季度客户沟通稿展示版本差异，内容为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FUND-312，PDF第7页，文档比对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单据识别、版本比对与批量修订组织成共用文件处理流程。沿用基金季度客户沟通稿，把旧版本与统一修改要求交给应用，形成修订文件和变更清单，再复核保存。博时BSBox上线报道提及数千份文件集中修订任务，由智能体与员工配合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FUND-215，批量文件修订示例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的报告比对需求也可形成供同事反复使用的工具。业务同事提供真实工作样例和比较要求，开发同事整理需求、编写程序并测试。使用反馈进入下一轮修改，最终交付可运行工具与操作说明。LLM可以参与各环节的文字和程序产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易方达的一站式研发管理平台在开发与测试环节引入大模型，CIO介绍内部研发已使用AI完成部分工作。景顺长城量化团队据财联社报道使用本地模型辅助编程。页面以报告比对工具说明需求、开发、测试和交付之间的协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FUND-103，智能服务基座段落</a:t>
            </a:r>
          </a:p>
          <a:p xmlns:a="http://schemas.openxmlformats.org/drawingml/2006/main">
            <a:r>
              <a:t>https://gifts.szu.edu.cn/info/1023/1364.htm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FUND-254，量化团队辅助编程段落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围绕报告比对工具，业务提供两版报告和比较要求，开发整理成可验证的需求，再由LLM辅助编写程序、生成测试并修改。交付程序、测试样例和操作说明后，业务同事获得可追溯的差异结果，继续反馈比较规则与格式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行是招商TA/FA知识助手与平安内部事务助手，把政策、流程和运营说明转成问题指引。第二行是永赢的邮件安全应用，理解邮件上下文并调度检测工具。第三行为汇添富公开专利提出的经营分析方法，自然语言识别主体、期间与指标后，接取数和算法并生成归因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FUND-351，运营应用段落</a:t>
            </a:r>
          </a:p>
          <a:p xmlns:a="http://schemas.openxmlformats.org/drawingml/2006/main">
            <a:r>
              <a:t>https://fund.10jqka.com.cn/20251111/c672391490.shtml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FUND-160，HR小灵通及内部事务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FUND-352，PDF第1–2页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FUND-227 / CN121958380A，实施例一S1–S4及报告生成</a:t>
            </a:r>
          </a:p>
          <a:p xmlns:a="http://schemas.openxmlformats.org/drawingml/2006/main">
            <a:r>
              <a:t>https://patents.google.com/patent/CN121958380A/zh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使用者、主要产物和改善工作对照七项建议。投研分析与客户材料可先形成清晰交付物，再连接审核、风险、交易与运营。工具开发支持更多部门将重复工作沉淀为可复用程序。接下来把建议放入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FUND-300，投研与客户材料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FUND-200，交易支持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FUND-308，材料审核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FUND-220，风险支持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FUND-312，文档处理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FUND-101，开发与测试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沿甲公司展开：前台形成研究并准备交易，中台分析相关风险，后台承接交易记录和文件。第二条沿基金季度客户沟通稿展开：前台生成，中台审核修订，后台比对版本并更新材料。建议从投研分析与客户材料两条流程启动，再逐步接入更多业务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员工通过统一入口提交工作，流程调用模型服务，也调用检索、计算、业务查询与文件处理工具。文档、知识库与业务数据向不同任务提供资料。Qwen与DeepSeek作为模型服务候选，后续按任务验证与部署条件选择。资料权限、来源和变更记录随具体工作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FUND-300，PDF第5页，模型与工具层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FUND-200，PDF第4–7页，工具调用与业务接口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FUND-312，PDF第7页，FundGPT服务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由投研、销售、合规和IT共同建立研究与客户材料应用，交付任务样例、资料目录及应用初版。第二阶段由交易、运营和IT接入查询与文件流程，形成字段及接口规范。第三阶段拓展工具开发和内部服务，沉淀工具、操作说明与维护机制。每阶段根据前一阶段实际使用结果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从原工作任务开始记录，使用应用后比较任务完成时间、交付采用情况、返工次数和使用频次，再据此调整资料、交接和操作步骤。结尾建议明确：从投研分析与客户材料两条流程启动，逐步接入更多部门工作。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5f56a3f1b541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39daf4e1d4d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b8072cfa7b4b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3cd8495a749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6ff8e487c44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fcbd3f6fb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22E8D7-2C55-490A-8948-C97173562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8444F8-3BF7-4DD5-A751-99E20DE069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425D4A-19B6-46B7-8B49-9612DB8A9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130ECF-045A-40DD-88FF-3D17CAB504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98BABBE-291F-43DD-A6F3-F13971297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56670F-7676-449D-A98C-2A0FADAD5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2EABF5-832D-4502-A326-4EA516C0B8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1D4177-6B98-4C1D-920A-14F971DFCA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95D514-5AAF-4F9C-B528-1CC5B4E0A4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AF366B-790A-45E0-846E-7C5BFC232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0e8f66f2a241c4" /><Relationship Type="http://schemas.openxmlformats.org/officeDocument/2006/relationships/slideLayout" Target="/ppt/slideLayouts/slideLayout1.xml" Id="Re498e6b71afa46f9" /><Relationship Type="http://schemas.openxmlformats.org/officeDocument/2006/relationships/slideLayout" Target="/ppt/slideLayouts/slideLayout2.xml" Id="Raa1e9b08d318421c" /><Relationship Type="http://schemas.openxmlformats.org/officeDocument/2006/relationships/slideLayout" Target="/ppt/slideLayouts/slideLayout3.xml" Id="R9ec0e0c58726429b" /><Relationship Type="http://schemas.openxmlformats.org/officeDocument/2006/relationships/slideLayout" Target="/ppt/slideLayouts/slideLayout4.xml" Id="R477e6f1a60804e34" /><Relationship Type="http://schemas.openxmlformats.org/officeDocument/2006/relationships/slideLayout" Target="/ppt/slideLayouts/slideLayout5.xml" Id="R5d3e677018754b71" /><Relationship Type="http://schemas.openxmlformats.org/officeDocument/2006/relationships/slideLayout" Target="/ppt/slideLayouts/slideLayout6.xml" Id="R73dbb3ea27fd4b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8e6b71afa46f9"/>
    <p:sldLayoutId xmlns:r="http://schemas.openxmlformats.org/officeDocument/2006/relationships" id="2147483650" r:id="Raa1e9b08d318421c"/>
    <p:sldLayoutId xmlns:r="http://schemas.openxmlformats.org/officeDocument/2006/relationships" id="2147483651" r:id="R9ec0e0c58726429b"/>
    <p:sldLayoutId xmlns:r="http://schemas.openxmlformats.org/officeDocument/2006/relationships" id="2147483652" r:id="R477e6f1a60804e34"/>
    <p:sldLayoutId xmlns:r="http://schemas.openxmlformats.org/officeDocument/2006/relationships" id="2147483653" r:id="R5d3e677018754b71"/>
    <p:sldLayoutId xmlns:r="http://schemas.openxmlformats.org/officeDocument/2006/relationships" id="2147483654" r:id="R73dbb3ea27fd4b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Blue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97775c2b64fc8" /><Relationship Type="http://schemas.openxmlformats.org/officeDocument/2006/relationships/notesSlide" Target="/ppt/notesSlides/notesSlide1.xml" Id="Rae1b044a56c444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f44a0609544c9" /><Relationship Type="http://schemas.openxmlformats.org/officeDocument/2006/relationships/notesSlide" Target="/ppt/notesSlides/notesSlide2.xml" Id="R3e814a8e3056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66ecb738e47bc" /><Relationship Type="http://schemas.openxmlformats.org/officeDocument/2006/relationships/notesSlide" Target="/ppt/notesSlides/notesSlide3.xml" Id="Re76394b47f81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3b7ac4776e4eda" /><Relationship Type="http://schemas.openxmlformats.org/officeDocument/2006/relationships/notesSlide" Target="/ppt/notesSlides/notesSlide4.xml" Id="Ra79b6e07d4af43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26e7a3cc13453b" /><Relationship Type="http://schemas.openxmlformats.org/officeDocument/2006/relationships/notesSlide" Target="/ppt/notesSlides/notesSlide5.xml" Id="R3fe1e6fd8d7d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cd7d83a494990" /><Relationship Type="http://schemas.openxmlformats.org/officeDocument/2006/relationships/notesSlide" Target="/ppt/notesSlides/notesSlide6.xml" Id="Rf31a9b12aa0e4f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4befa524014d2e" /><Relationship Type="http://schemas.openxmlformats.org/officeDocument/2006/relationships/notesSlide" Target="/ppt/notesSlides/notesSlide7.xml" Id="R6b201ae4277d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cb432ea1249c9" /><Relationship Type="http://schemas.openxmlformats.org/officeDocument/2006/relationships/notesSlide" Target="/ppt/notesSlides/notesSlide8.xml" Id="R7bac09db94584a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f34087bd2474d" /><Relationship Type="http://schemas.openxmlformats.org/officeDocument/2006/relationships/notesSlide" Target="/ppt/notesSlides/notesSlide9.xml" Id="R4daa979c9c6944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a5a25aa67145f1" /><Relationship Type="http://schemas.openxmlformats.org/officeDocument/2006/relationships/notesSlide" Target="/ppt/notesSlides/notesSlide10.xml" Id="R991796d7570844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2b611742145c1" /><Relationship Type="http://schemas.openxmlformats.org/officeDocument/2006/relationships/notesSlide" Target="/ppt/notesSlides/notesSlide11.xml" Id="Re5a3946d0ba141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7f593444cc46cc" /><Relationship Type="http://schemas.openxmlformats.org/officeDocument/2006/relationships/notesSlide" Target="/ppt/notesSlides/notesSlide12.xml" Id="Ra9bd759c683f49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a58fdcf71d4c58" /><Relationship Type="http://schemas.openxmlformats.org/officeDocument/2006/relationships/notesSlide" Target="/ppt/notesSlides/notesSlide13.xml" Id="R6d22da3ef62f43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1f000fae846ca" /><Relationship Type="http://schemas.openxmlformats.org/officeDocument/2006/relationships/notesSlide" Target="/ppt/notesSlides/notesSlide14.xml" Id="R59d2530a61564c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9cdf8d0cb441b7" /><Relationship Type="http://schemas.openxmlformats.org/officeDocument/2006/relationships/notesSlide" Target="/ppt/notesSlides/notesSlide15.xml" Id="R3898efb00e674b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8a76ca0f44f11" /><Relationship Type="http://schemas.openxmlformats.org/officeDocument/2006/relationships/notesSlide" Target="/ppt/notesSlides/notesSlide16.xml" Id="R75756851419143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41793392b54e82" /><Relationship Type="http://schemas.openxmlformats.org/officeDocument/2006/relationships/notesSlide" Target="/ppt/notesSlides/notesSlide17.xml" Id="R108b3ea8406547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fbd97f9364003" /><Relationship Type="http://schemas.openxmlformats.org/officeDocument/2006/relationships/notesSlide" Target="/ppt/notesSlides/notesSlide18.xml" Id="Rb9683a7d4bc140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d086ca50a4acd" /><Relationship Type="http://schemas.openxmlformats.org/officeDocument/2006/relationships/notesSlide" Target="/ppt/notesSlides/notesSlide19.xml" Id="R0f09f29efb1f44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e8f895f224474b" /><Relationship Type="http://schemas.openxmlformats.org/officeDocument/2006/relationships/notesSlide" Target="/ppt/notesSlides/notesSlide20.xml" Id="Rbe217e1332e04c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ecf262c8c046cd" /><Relationship Type="http://schemas.openxmlformats.org/officeDocument/2006/relationships/notesSlide" Target="/ppt/notesSlides/notesSlide21.xml" Id="Re2224fa1032c4f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cfcaffd214f46" /><Relationship Type="http://schemas.openxmlformats.org/officeDocument/2006/relationships/notesSlide" Target="/ppt/notesSlides/notesSlide22.xml" Id="Rac4bea0f16e448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7c9faa21a342c9" /><Relationship Type="http://schemas.openxmlformats.org/officeDocument/2006/relationships/notesSlide" Target="/ppt/notesSlides/notesSlide23.xml" Id="R7d124d10ef5a4e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5607d3e254184" /><Relationship Type="http://schemas.openxmlformats.org/officeDocument/2006/relationships/notesSlide" Target="/ppt/notesSlides/notesSlide24.xml" Id="Rac32fee5880b49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46d3348a4427c" /><Relationship Type="http://schemas.openxmlformats.org/officeDocument/2006/relationships/notesSlide" Target="/ppt/notesSlides/notesSlide25.xml" Id="R70e21ababb194c7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60cd883f24c52" /><Relationship Type="http://schemas.openxmlformats.org/officeDocument/2006/relationships/notesSlide" Target="/ppt/notesSlides/notesSlide26.xml" Id="Ra697b9ba35f8408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c6cbbd4834b1f" /><Relationship Type="http://schemas.openxmlformats.org/officeDocument/2006/relationships/notesSlide" Target="/ppt/notesSlides/notesSlide27.xml" Id="R6682c0ee999d47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30e07ef7140df" /><Relationship Type="http://schemas.openxmlformats.org/officeDocument/2006/relationships/notesSlide" Target="/ppt/notesSlides/notesSlide28.xml" Id="Ra119964d56c64ed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872c73e744a44" /><Relationship Type="http://schemas.openxmlformats.org/officeDocument/2006/relationships/notesSlide" Target="/ppt/notesSlides/notesSlide29.xml" Id="Ra6e6ec8d8e20470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8b7f51fc446e7" /><Relationship Type="http://schemas.openxmlformats.org/officeDocument/2006/relationships/notesSlide" Target="/ppt/notesSlides/notesSlide30.xml" Id="R91e7bf9750f847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70c4b88d14de9" /><Relationship Type="http://schemas.openxmlformats.org/officeDocument/2006/relationships/notesSlide" Target="/ppt/notesSlides/notesSlide31.xml" Id="Rb37b699c8f05462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7d1b86ea74c34" /><Relationship Type="http://schemas.openxmlformats.org/officeDocument/2006/relationships/notesSlide" Target="/ppt/notesSlides/notesSlide32.xml" Id="R9c483b8e745f43f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358f264a94267" /><Relationship Type="http://schemas.openxmlformats.org/officeDocument/2006/relationships/notesSlide" Target="/ppt/notesSlides/notesSlide33.xml" Id="R674b134331144c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62CFC-9151-4D05-A637-5C34C451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75493-91D7-4745-A13A-ED6F0C2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463A5-C200-4598-84A9-4347B523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3411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同行实践与公司方案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B2BB2-397D-475B-95B2-8076D5E2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3411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资管公司工作流程中的</a:t>
            </a:r>
          </a:p>
          <a:p xmlns:a="http://schemas.openxmlformats.org/drawingml/2006/main">
            <a:pPr algn="l">
              <a:def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 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3DFF3-762E-40FD-A361-2CCA4CC4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2975" y="5400675"/>
            <a:ext cx="13335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5A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DA629-F3F0-4384-8581-E68B4A21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867400"/>
            <a:ext cx="1143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2026年10月</a:t>
            </a:r>
          </a:p>
        </p:txBody>
      </p:sp>
    </p:spTree>
    <p:extLst>
      <p:ext uri="{BB962C8B-B14F-4D97-AF65-F5344CB8AC3E}">
        <p14:creationId xmlns:p14="http://schemas.microsoft.com/office/powerpoint/2010/main" val="1231707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15533-45BE-428D-943C-51C893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BADDA-6EDB-491E-91B9-FE20229B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研究重点与应用目标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8F37B-8F46-4F7D-851D-8B865F8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2995C-6F64-4F6B-A19F-5489CA50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ABBB-71CF-41B1-9FD2-76FA7DDC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3000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A3FAE-9B73-4209-916E-5A760B0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043A9-A22F-4822-92D8-7182A443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6191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4F8D5-4164-4BA9-B392-25A2F3BE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28850"/>
            <a:ext cx="5886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同事完成工作的过程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06F5D-E72D-427B-BDA7-716823B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3000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4DF55-948D-4544-A373-F17D78C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22885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1B7BF-6411-49C5-9FE9-A1BFC00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1942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E0CA6-07DD-4077-B6DC-CAE7F295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766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0C494-38B1-421D-A595-751E7396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8242C-0C58-4AD6-9CA7-6D944BB4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FABCA-79B6-4A90-A81E-36CCD85C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619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2F8E9-E25D-4667-A8DC-DA224813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289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16FF8-4E35-4413-B165-F62023FD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81425"/>
            <a:ext cx="619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EEBAE-1E8D-42E4-8F0C-039CEAB0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052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分析解释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2E798-F99F-4B3D-942D-482636FD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57725"/>
            <a:ext cx="619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E01D9-3AB3-4068-8274-A2F8FEE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7815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业务操作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64208-8DF1-4847-87B4-E2576A94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34025"/>
            <a:ext cx="6191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6DFDC-8A10-4977-BEF4-7C552EBF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57850"/>
            <a:ext cx="565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协作交付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19F9D-4FE7-401D-BDB1-040F036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01942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BC021-7A48-4F56-B55B-EF320D64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8766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FEB85-1DB3-4933-8860-FF7C8E2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73392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材料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2F36E-31EF-4EE7-8225-58CB66C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591175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4B7B5-BEE2-42E7-967A-BBBB860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4572000"/>
            <a:ext cx="4953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B88D9-223C-4655-BC7C-979D99A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0" y="4572000"/>
            <a:ext cx="4953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5215B-F4BD-499D-B27E-1E6882D3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3422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沿业务流程建设应用，让同事在日常任务中使用 LLM</a:t>
            </a:r>
          </a:p>
        </p:txBody>
      </p:sp>
    </p:spTree>
    <p:extLst>
      <p:ext uri="{BB962C8B-B14F-4D97-AF65-F5344CB8AC3E}">
        <p14:creationId xmlns:p14="http://schemas.microsoft.com/office/powerpoint/2010/main" val="262792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573C92-D911-44E0-98E3-569AB758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5AB4B-036F-4AD5-B3E2-DFB0C67E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前台中台后台的七个工作问题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FCFA4-E8DD-452F-AEEE-1FCF67E5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939AA-50C9-4F5F-A0EF-4B082E02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2D348-835E-4B88-91DC-853276CC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4419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C0EE3-F760-49D2-A750-4892552F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411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6A8A0-0950-4CD0-9AE2-A99E235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511D1-C662-410F-9BE9-3F2C79A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3372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9A097-F37B-440B-9AE4-3559717E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5287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6DDD2-546A-4AD8-996B-30B78AA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1433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51D67-52A2-494F-A958-8DB5908C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73B1D-EF60-4A39-9727-AD1B789F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1BA7B-7C3F-4A93-8E33-468617B4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81225"/>
            <a:ext cx="4419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35DCF-2C66-486F-A33D-DAFEEC3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57425"/>
            <a:ext cx="411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4D3FE-88FB-424A-8743-DDFC1B7C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4322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D6273-5FF2-4644-92C5-767DBB90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3372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C148A-7E00-4326-B33F-BD0CDE81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5287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BA54D-BE4D-482A-84AB-7456E27D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433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492E1-46DD-4BC4-B820-F9F57926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81225"/>
            <a:ext cx="4419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0EF8C-FEA7-4758-BAF5-028757E4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257425"/>
            <a:ext cx="411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65A10-9FF0-4C9D-A318-EF2526F9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4322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49729-6D81-46CF-B60D-0458075B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3372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169CA-3597-498C-AB15-AF69751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52875"/>
            <a:ext cx="4419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BBDDE-D661-4DE8-B7A0-EF8E3984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143375"/>
            <a:ext cx="3943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8BD75-F450-4FCF-B049-E1FEDEDC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3246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E820D-48AC-4836-8DC2-8705E79C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29400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两条贯穿任务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C94BB-F9AA-4DE9-ACF8-B0AB1EA0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6858000"/>
            <a:ext cx="781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7F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5B103-9097-4108-8F8A-D4ADCC1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6294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甲公司：研究、交易、风险与运营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051EC-6C5D-4F63-B106-91163E5B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7458075"/>
            <a:ext cx="781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63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DCA75-8BD9-4B1F-9DF0-7F93910A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7219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客户沟通稿：生成、审核、版本更新</a:t>
            </a:r>
          </a:p>
        </p:txBody>
      </p:sp>
    </p:spTree>
    <p:extLst>
      <p:ext uri="{BB962C8B-B14F-4D97-AF65-F5344CB8AC3E}">
        <p14:creationId xmlns:p14="http://schemas.microsoft.com/office/powerpoint/2010/main" val="482800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9CC3DB-9923-4695-BC61-1BE7971D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E17ED-AB01-4030-A7EB-D1A8CAE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公司研究的工作过程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2A013-4829-4198-9664-8B2E6FBF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BC505-C686-4533-8CD7-0598BA8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DC0D8-D210-4C9D-871C-B30F6EF9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EAAA3-DD52-45F7-A4B5-1C8960C8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1304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甲公司本季度发生了什么变化，原因是什么，各方怎么看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584EB-A28A-4883-838E-265910F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39446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2513B-F181-4455-B7EF-B7A693CB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905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943DA-C37D-4902-829E-A5E6E229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9938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67AF-F889-4948-B539-CA6F90E1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18147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38707-A151-49AB-B976-F3630D7A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39446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7C923-F432-4B85-9A69-03DDD9F4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19050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770B1-7DA3-4EBA-B655-A69AD06E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2988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6341F-4091-4CF1-8299-FD57FBC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8864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6695C-D118-42F2-BE8A-30E8B4B6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3944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DCE8F-5ED7-4746-9FC4-F134464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45F1F-2932-4C1E-AEBA-3BF612AF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389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365EE-CC0D-41DA-8E93-4E2090C2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73533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30231-B935-4BE7-8EE5-78F6847A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45CDA-6A9D-442B-904A-2F3CB6F2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7791"/>
            <a:ext cx="1600200" cy="43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财报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40917-F9DE-49AD-8233-E3A50DC2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C4791-DD76-4B06-8FC5-50539482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77791"/>
            <a:ext cx="1600200" cy="43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券商研报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DE0AE-7267-4154-94C9-85093A41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6100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9D7A7-9B0F-47BA-907A-F77E142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7791"/>
            <a:ext cx="1600200" cy="436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会议资料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4360B-4AE2-4F5D-B948-C3918DE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7486F-ACE9-455E-B208-8D25A97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30366"/>
            <a:ext cx="1600200" cy="50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收集资料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6969C-D17B-4FBE-A073-AFE40561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720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EBCF1-BD65-4A3E-BA22-56C68161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30366"/>
            <a:ext cx="1600200" cy="50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提取数据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8AA18-8D00-47BC-8718-B68D330D63ED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800600" y="49911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D48AE-B85A-4FD4-8D0F-B875710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41A14-8208-4AB8-8C37-DC632822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0366"/>
            <a:ext cx="1600200" cy="50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计算变化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7F8D3-7399-4AC9-8062-440E3B983969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181850" y="49911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23F1A7-C8B3-4A4D-ACAC-BE4A3A0C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467F8-3865-4018-9547-00BDE98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30366"/>
            <a:ext cx="1600200" cy="50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比较观点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A84B06-D24B-43AA-95F3-07F65DDEDC33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63100" y="49911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E0A90D-E760-4546-B275-9299B9DB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572000"/>
            <a:ext cx="1943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947D54-66C0-4ADE-B894-AE01E5E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830366"/>
            <a:ext cx="1600200" cy="503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形成分析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62DD8B-1F19-414C-9A25-6F57B720E1CD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1944350" y="49911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09F963-E321-4BCB-8B45-CA9033CE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检索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7836E2-264B-49B4-9D89-30534213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54355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摘录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77C85E-0E95-4549-B19F-59D8F784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4355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核对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44FFE6-A511-4276-9BD3-0EE2FB39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4355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整理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77913F-277C-4BD9-8B22-FA65B18B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2865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FC9A6C-FA60-4220-AD9C-8B017F9F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453188"/>
            <a:ext cx="37528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变化与经营原因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9B14D0-6F46-45B0-99F6-B22EAA9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286500"/>
            <a:ext cx="542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8B764A-0680-4E71-AE61-E7A146E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453188"/>
            <a:ext cx="50863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观点比较与研究要素</a:t>
            </a:r>
          </a:p>
        </p:txBody>
      </p:sp>
    </p:spTree>
    <p:extLst>
      <p:ext uri="{BB962C8B-B14F-4D97-AF65-F5344CB8AC3E}">
        <p14:creationId xmlns:p14="http://schemas.microsoft.com/office/powerpoint/2010/main" val="137709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4F329-421F-4B91-81E2-98A6EDA6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E2F5E-3284-4B26-A81E-5B23B88D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天弘基金的财报分析流程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3ACC4-7525-4A0C-AB64-475BBE73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D576F-7F95-4A4B-8A42-3DB95648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417C-3DA9-42BB-8E83-B670355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CF1E8-F0AC-4DC3-AD90-C3FCC033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143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盈利变化按经营因素逐层展开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00C9D-E5B0-4DEE-BC60-766B4E92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38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32C04-1026-4DA2-A0AB-FC8A2E75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4578"/>
            <a:ext cx="1895475" cy="61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净利润变化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0E15B-453C-42DD-A1FE-5D038DD4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5750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40345-4EB9-4C22-BFD5-D9988C43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69431"/>
            <a:ext cx="1924050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E0F6F-44EB-4D36-9154-E60C4C35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19575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DDA06-BD84-4C8E-9DDC-16717A04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431506"/>
            <a:ext cx="1924050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5ACAE-97F0-45B5-9FE2-0762105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81650"/>
            <a:ext cx="2266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C769E-BC4E-464B-BF2D-3338E5AA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793581"/>
            <a:ext cx="1924050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费用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EC43C-A7C1-4FC6-B76B-01B6005F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57500"/>
            <a:ext cx="3190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1054F-853C-4D62-9E04-CFE275F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81338"/>
            <a:ext cx="2847975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销量、单价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CDFA8-6671-41BB-8DF4-D18BBFCF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19575"/>
            <a:ext cx="3190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3C939-9929-4593-A252-E2F2F2FA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43413"/>
            <a:ext cx="2847975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原材料、生产成本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4FA4E2-2497-4881-8058-A95B7F21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81650"/>
            <a:ext cx="3190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4AE3E-B5A1-474B-86AA-43DD74A1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05488"/>
            <a:ext cx="2847975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渠道、销售费用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00CBC-4354-48AC-A84B-32F9FDA98E5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886075" y="3248025"/>
            <a:ext cx="10477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EADE9-7CA9-49C0-9743-67E490FD275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200775" y="324802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93DC44-ECFB-4E8F-BFB3-86704057F15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86075" y="4429125"/>
            <a:ext cx="10477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DBDFB-00F2-464F-AF57-0F4C006A5DD9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200775" y="461010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190F3-F157-478B-9336-E39D7CFEF10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86075" y="4429125"/>
            <a:ext cx="1047750" cy="1543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4D782-58F0-4445-AB9D-5447826F8B0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200775" y="5972175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BF6E7-56B5-407E-9393-6AC252C8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647950"/>
            <a:ext cx="30003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C8713-4DB4-4CDA-8216-6C819432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2724150"/>
            <a:ext cx="2695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取数与计算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C25E6-80D7-482D-8713-19962DA8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3448050"/>
            <a:ext cx="26574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调用财务数据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B6F9F-223E-4C0B-8D06-14128BA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352925"/>
            <a:ext cx="26574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计算变化与贡献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0DF71-EE89-4BFC-9980-A6497A45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257800"/>
            <a:ext cx="26574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关联行业信息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830A6A-9BAD-4A63-AD16-F396B7FC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91925" y="6267450"/>
            <a:ext cx="3000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05749F-68E1-47C3-9A89-FCA37351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65436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结构化归因结果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BBF86A-3856-4CF3-AABE-0BD1F5DB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0567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研究员据此继续判断增长质量与可持续性</a:t>
            </a:r>
          </a:p>
        </p:txBody>
      </p:sp>
    </p:spTree>
    <p:extLst>
      <p:ext uri="{BB962C8B-B14F-4D97-AF65-F5344CB8AC3E}">
        <p14:creationId xmlns:p14="http://schemas.microsoft.com/office/powerpoint/2010/main" val="837630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EDB2E4-F4A7-47B6-9FBF-C21C7D3E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1C15D-123C-4B34-ACE8-7A4CFAFF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富国基金的研报观点汇总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3AA61-0865-48DB-A9ED-B7B78CA4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3487E-D464-4AF0-BB2B-9B9413C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来源：富国基金，基金业协会案例材料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809C8-3CF4-4CA9-9164-6792075A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C447-9C35-402B-8259-2AD97720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AEC1A-C116-44F0-97D8-535A228D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2986088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9FCE1-697B-4780-9F06-B63EB97D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1263"/>
            <a:ext cx="2643188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多份研报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EA9A8-DE3E-4918-8DC6-959B3AEC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2209800"/>
            <a:ext cx="2986088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69505-DB22-4E56-8B00-7CAC26A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88" y="2481263"/>
            <a:ext cx="2643188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相关性筛选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F17F5-F05B-443F-A423-F75F548B03F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33788" y="2647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CD420-2364-4322-8C83-355D490D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09800"/>
            <a:ext cx="2986088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9FD3A-473D-47B1-897B-3EEBEE15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81263"/>
            <a:ext cx="2643188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按问题形成小结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425C3-008C-4C9F-81D1-F1F238ABF85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286626" y="2647950"/>
            <a:ext cx="6667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A0B98-0A36-48B5-9BF9-C367BE93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2209800"/>
            <a:ext cx="2986088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C6D81-6131-4FF4-8F09-0FE60C49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663" y="2481263"/>
            <a:ext cx="2643188" cy="528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比较并汇总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6EE62-FF6A-4A9C-9466-36377553D08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39463" y="26479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C689A-A649-4955-9009-28DBDAFB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13944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C9E2B-4BF9-4949-BB5D-B27C08E5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363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甲公司  市场观点对照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D0DE8-422A-4ED9-BC91-31D1A8F8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486275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研报A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E9325-6E98-4804-9E22-7D6792F6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" y="5067300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3B807-EDF1-482E-BF61-CE2704E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销量增长带动收入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88798-FBC9-4CD4-89F0-1ECF0B1B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8675" y="6010275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BFF46-DB7C-4022-9ED0-CF31C66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210300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关注渠道补库持续性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8CB43-C842-4D04-9136-35009D7B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86275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研报B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F92E3-C011-463C-BDBD-650DCDA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34025" y="5067300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31E693-E9D0-4DBA-8F61-CEAE91AA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67325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价格改善支持利润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49CA4-1D94-4AF6-BF40-5DC4EAA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34025" y="6010275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9C6477-15C8-4961-B8FD-8461493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6210300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关注原材料成本变化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E88565-83DD-4BB4-AE3B-577EFFDB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86275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观点汇总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2624F-C327-4464-9E2B-C9879A69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5067300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574A3-D526-4E0A-B713-2FC6F673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267325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共识：经营表现改善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ECD3E4-53E9-4DE1-9BF3-327120CF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39375" y="6010275"/>
            <a:ext cx="4171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B0AF25-0768-4C57-8358-81C0AEEB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210300"/>
            <a:ext cx="4171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差异：增长驱动与持续性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4067D7-68F7-47E2-806F-09FAF851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2947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按同一研究问题比较观点，汇总共识与分歧</a:t>
            </a:r>
          </a:p>
        </p:txBody>
      </p:sp>
    </p:spTree>
    <p:extLst>
      <p:ext uri="{BB962C8B-B14F-4D97-AF65-F5344CB8AC3E}">
        <p14:creationId xmlns:p14="http://schemas.microsoft.com/office/powerpoint/2010/main" val="767573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7DA6A-BF25-4828-9262-314B6265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6DC8D-7E19-4B92-9DD6-B5992FF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中欧基金的研究要素整理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1DD3D-E5D5-4A2B-BBD6-85D52722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53EE3-CBF3-4478-9E1B-DC0B279D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来源：南方+，中欧基金投研助手报道；窦玉明论坛发言报道，数据截至2026年5月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3CBCE-DA80-4D83-B814-556D0AA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FC5C6-3227-4E81-BADE-BFDAFB6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ED69D-0256-492E-AEA7-6007AA0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4552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E712B-6655-4A0D-8DC1-2F980C1E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4248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资料中的信息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A601-4F61-4CCB-8647-919181A1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8496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1EAB8-7F90-474E-885A-9849013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研究要素表示例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A83C1-1586-45D9-B1C0-7201DB2C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455295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99F0B-D28A-4641-BD50-FE044AE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甲公司研究资料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F9262-4675-41F0-ADE6-D540465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" y="4010025"/>
            <a:ext cx="409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5980E-FCB6-4529-91AF-4481EFF0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F4B4C-D65B-4CA7-928E-B0E293C2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产品销售与经营指标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9557F-D860-4917-A5BB-2EEFCA0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03171-0D93-498A-AB98-BD64FF5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渠道变化与经营解释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ACA60-D7CA-491D-931D-C50BC91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B4E26-CF68-41BB-915A-06679336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05550"/>
            <a:ext cx="4019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增长判断与关注事项</a:t>
            </a:r>
          </a:p>
        </p:txBody>
      </p:sp>
      <p:graphicFrame>
        <p:nvGraphicFrame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E02B2-66FE-4E0F-BF35-58B2885FBCD7}"/>
              </a:ext>
            </a:extLst>
          </p:cNvPr>
          <p:cNvGraphicFramePr/>
          <p:nvPr/>
        </p:nvGraphicFramePr>
        <p:xfrm>
          <a:off xmlns:a="http://schemas.openxmlformats.org/drawingml/2006/main" x="6096000" y="2943225"/>
          <a:ext xmlns:a="http://schemas.openxmlformats.org/drawingml/2006/main" cx="84963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238500"/>
                <a:gridCol w="3019425"/>
              </a:tblGrid>
              <a:tr h="10072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研究要素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填报内容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资料出处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10072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经营变化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销量增长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财报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72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驱动因素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渠道补库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会议纪要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10072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关注事项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成本变动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研报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AE8A8-1857-46AC-A629-D2B269E9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4876800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AFDFA-ACA6-4F1B-8954-8FE66A2A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86625"/>
            <a:ext cx="1394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中欧披露，截至2026年5月，整体编制效率提升约50%</a:t>
            </a:r>
          </a:p>
        </p:txBody>
      </p:sp>
    </p:spTree>
    <p:extLst>
      <p:ext uri="{BB962C8B-B14F-4D97-AF65-F5344CB8AC3E}">
        <p14:creationId xmlns:p14="http://schemas.microsoft.com/office/powerpoint/2010/main" val="498296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3B0C23-208C-4982-BCD0-9A70277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0E239-8FE1-42CE-8594-CF96CA3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公司投研分析方案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FEBAC-F22C-4354-8E56-10003B32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FF533-9592-4BFC-B8C5-768A49F2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来源：天弘基金，基金业协会案例材料；富国基金，基金业协会案例材料；南方+，中欧基金投研助手报道；兴证全球基金，基金业协会案例材料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ABA1-EFE2-4561-97BA-16F0DE0D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9544B-F4C7-43E9-883A-2A61128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FBE80-811E-467E-B6FA-2121CC42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30480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2C0D8-3201-445F-AD1E-05960D89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2256"/>
            <a:ext cx="2705100" cy="8548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研究员提交</a:t>
            </a:r>
          </a:p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甲公司与研究问题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F61E1-143C-4ADA-9639-051DBE6E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857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C6FE7-996F-482F-8C18-A8526F1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8944"/>
            <a:ext cx="2514600" cy="68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D3A68-6B15-4657-AE8D-24F9415B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5292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6006F-2F9E-4DF4-BE23-00F42DC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88681"/>
            <a:ext cx="2514600" cy="61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提取与计算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6AE6E-49F3-424B-BB6E-A5617C33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6010275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455E6-A404-4836-9C45-F14F98C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346031"/>
            <a:ext cx="2514600" cy="616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比较与解释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C7F7E-FD0A-41D7-880C-E08EEF6BCF4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95700" y="31575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BB76C-A1BE-4C8D-B0DD-FE7944DF5615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81700" y="3743325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0C76B-F56D-4A74-8B4D-E3B298BB8D9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981700" y="5381625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98CD7-36DF-4D6A-B2B9-E3AFDB6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71700"/>
            <a:ext cx="56007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4C942-89E2-44C8-82B2-D3B0A768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甲公司季度分析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3D3F3-44B8-47B3-9AAA-751C0A15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28925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56838-E80E-47DB-935F-6FCF78A4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0200" y="3238500"/>
            <a:ext cx="5143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1C01BD-147B-4AA8-9947-704C7E62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8137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财务变化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BCB9B-1D86-4616-A9C7-3079B551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43325"/>
            <a:ext cx="50673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本季度变化与计算口径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F6113-FC60-46B4-9A76-5CCC4C4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5612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05B5C-460B-4272-93E2-C020D68E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18075"/>
            <a:ext cx="50673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经营因素及对应证据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DC092-D819-4BCC-8FC2-0031CC5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730875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观点与要素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18925-16EA-4CE0-BAE5-2040CB1F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092825"/>
            <a:ext cx="50673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观点分歧、研究要素与出处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90464-A00D-4455-A60B-D81F3F24E45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410450" y="4605338"/>
            <a:ext cx="1581150" cy="1919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B15F48-0348-4709-A618-8DD084C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3425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继续追问与更新资料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031F1-740C-47FF-A5AB-8FC3E3F2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71700" y="5505450"/>
            <a:ext cx="953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D5D82A-C937-48BA-84D5-03AB5A3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71700" y="6705600"/>
            <a:ext cx="1933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82D66-832A-454D-ACB2-2AE07F75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638925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D8964-FEEB-4290-B6DC-7E68BBF4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9975"/>
            <a:ext cx="1394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固收应用：评级报告、募集说明书形成基本面更新材料</a:t>
            </a:r>
          </a:p>
        </p:txBody>
      </p:sp>
    </p:spTree>
    <p:extLst>
      <p:ext uri="{BB962C8B-B14F-4D97-AF65-F5344CB8AC3E}">
        <p14:creationId xmlns:p14="http://schemas.microsoft.com/office/powerpoint/2010/main" val="1718442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DB783E-AAC7-453C-A426-3886C930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3A914-7025-4EDA-8B3A-0028E463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交易准备与指令交接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A97ED-302C-4F00-BB88-C7B0EB99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DEC3F-D7BC-41E4-8816-C3E382F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312AF-F228-4EB0-94F6-FD585AB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E900D-3E9F-464D-AA9F-C18F573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394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50828-7967-449D-9C38-8BE2B616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905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4F92B-0C0B-4766-AB42-2E3372DC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投资经理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E2BE0-E97D-451B-82A4-94053E1D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39814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C135B-5956-4664-8A3A-8EAF9EFF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394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48400-1939-487D-B72E-46426A3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905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88FE8-2103-4A55-87CC-6B9FB926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739AB-677D-4F57-BF37-259EE0CC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5626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88308-3BB7-497B-9E53-C894E580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3944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7DBEF-FBFD-4F23-98C7-5B2B71D2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905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7120B-62F5-4ED8-B68E-A7C58AE4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722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F6EB4-7A22-4615-BDF3-1FCC70A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71437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7C777-7215-4437-9FD8-EED9191B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52725"/>
            <a:ext cx="27622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84C91-93DD-4FC1-94F2-E6518366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甲公司相关债券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筛选条件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6825A-91BB-4172-9DC8-33E4EF8D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52925"/>
            <a:ext cx="2667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9C90C-E088-4993-BDA8-0566F316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9625"/>
            <a:ext cx="232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报价比较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7BB11-E4ED-4247-B72A-0936984E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352925"/>
            <a:ext cx="29432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EB5FD-8281-4D34-B9AF-3BA8C36B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619625"/>
            <a:ext cx="26003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成交要素核对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E49C7-5A28-49BD-9D77-4E44C21C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915025"/>
            <a:ext cx="30480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BC3C6-51C4-43B9-B231-8BAC017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617220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行情与持仓查询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57D02-4F67-4267-9E3E-C0E0EE8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915025"/>
            <a:ext cx="29432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B8231-6EE6-4685-AE95-F93219F3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6172200"/>
            <a:ext cx="2600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交易指令准备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52B5D-F749-4896-AE4F-C2B3CB64E234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352925" y="3638550"/>
            <a:ext cx="2209800" cy="2276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7C800-5306-4D11-B072-872DA57B9A1A}"/>
              </a:ext>
            </a:extLst>
          </p:cNvPr>
          <p:cNvCxnSpPr>
            <a:stCxn xmlns:a="http://schemas.openxmlformats.org/drawingml/2006/main" id="24" idx="0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562725" y="5219700"/>
            <a:ext cx="2276475" cy="695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C2DF8-3C61-42F1-85BB-985EEBEC072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172700" y="4786313"/>
            <a:ext cx="1209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41487-4090-4931-9A59-580470168292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12853988" y="52197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4F2D1-017F-479B-BFEE-F806121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7665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券名、方向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DBB24-5126-4A6C-8371-7737348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0005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券名、价格、数量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42E78-9335-4AC8-B043-A89C339F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7105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券名、方向、价格、数量</a:t>
            </a:r>
          </a:p>
        </p:txBody>
      </p:sp>
    </p:spTree>
    <p:extLst>
      <p:ext uri="{BB962C8B-B14F-4D97-AF65-F5344CB8AC3E}">
        <p14:creationId xmlns:p14="http://schemas.microsoft.com/office/powerpoint/2010/main" val="486458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23685A-A53D-4B2C-866F-4AD1F8C7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5958F-124E-44FF-925B-45329E34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南方与兴证全球的交易应用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2BF89-0123-40B4-A3F5-B016B1E7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9D43B-F839-40A7-B480-681E065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1414F-3C2D-49D0-96DC-50C8C2F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FB0F8-DB98-4215-AEED-FE1C3862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3944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4AA25-E9B6-464F-A663-40014D5B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363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南方基金  小喃同学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11591-B1B1-4838-B255-34DC4F3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BE022-42C2-42E3-BA61-1D13B579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自然语言请求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D66D5-536D-45E6-A2C6-5EDD1564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29622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9E92C-43CB-4583-9279-7156FB1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32861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条件解析与筛券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879D4-DB68-40E7-97EF-FEB8F1291C8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90938" y="3452813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3B13D-BB7C-41AF-AD25-AB8FA4C0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622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0C916-09EC-4BB5-8235-E0602B50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2861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行情、持仓查询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04193-43DA-4F8B-923D-A3E3C723F42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24726" y="3452813"/>
            <a:ext cx="5905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3ABA4-F283-4AD5-B215-24D8EF0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063" y="29622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8BAEF-F65E-420C-8A24-E3DBF04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513" y="32861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接入业务接口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F0047-CA80-402E-A0D9-8D574C390D6B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0958513" y="3452813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37EEE-F2CD-4C7A-8AFB-9F3B1D1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394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收益率、评级、期限等条件直接进入查询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76EA6-5DE6-4156-862F-6AE627A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139446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C7EE2-0966-43CB-93AC-F7B5C440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363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兴证全球基金  千询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F678A-916E-4199-8C91-1148BBCE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437B5-F401-4BBE-A98C-C5999DE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817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经理询价意向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DD602-5A8C-4385-8A18-27766D5C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58578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53C1B-EC42-4C57-90F9-172F8CCF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938" y="61817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报价与对手匹配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AA344-74EA-4B32-93F5-8D8D6A707AD3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690938" y="6348413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EE5C5-9B33-4703-9E66-7726ACF3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8578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7B1B6-218D-4CDA-A8C4-1C9CE020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1817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聊天转成交要素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94C85-9ACB-480D-953A-444BA113993E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324726" y="6348413"/>
            <a:ext cx="5905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0BD8E-8DA7-42BC-8683-85817A19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063" y="5857875"/>
            <a:ext cx="3043238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B5D032-5CB5-424A-AA01-C181B30F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0513" y="6181725"/>
            <a:ext cx="2700338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推送交易系统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54AB8-28DC-4733-983D-9E9E4BC55FFD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958513" y="6348413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6F3EAD-3B15-4663-B35A-64A9C372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134225"/>
            <a:ext cx="1394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经理在交易系统完成指令下达</a:t>
            </a:r>
          </a:p>
        </p:txBody>
      </p:sp>
    </p:spTree>
    <p:extLst>
      <p:ext uri="{BB962C8B-B14F-4D97-AF65-F5344CB8AC3E}">
        <p14:creationId xmlns:p14="http://schemas.microsoft.com/office/powerpoint/2010/main" val="6279861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56F44-AF0C-4119-8281-E695B5FE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2439D-FD97-4419-A6D3-DB925E0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公司交易支持方案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8FBE3-202F-44BF-A2DA-31E22970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D6C56-9B75-4F52-8E12-19D5B8BD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7DE8F-2BB3-4AE3-BC9A-69322482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0D9FD-23E8-49F4-9B83-57AFFFB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40989-F2ED-4CB9-A565-2E485B9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ABE72-2CA3-4416-B3B4-B576F6AC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4131"/>
            <a:ext cx="2419350" cy="626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同一任务入口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D5C29-A699-4908-ACA9-DA9CC02E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查询甲公司债券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比较报价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整理交易要素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FB92E-2B88-4F35-ABB6-8146C89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00393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2DE19-E38B-456C-ADBB-A6D99300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90750"/>
            <a:ext cx="9734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候选与报价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79D25-BD8C-4F7F-9A38-EFE7F18057E5}"/>
              </a:ext>
            </a:extLst>
          </p:cNvPr>
          <p:cNvGraphicFramePr/>
          <p:nvPr/>
        </p:nvGraphicFramePr>
        <p:xfrm>
          <a:off xmlns:a="http://schemas.openxmlformats.org/drawingml/2006/main" x="4552950" y="2847975"/>
          <a:ext xmlns:a="http://schemas.openxmlformats.org/drawingml/2006/main" cx="1003935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19425"/>
                <a:gridCol w="1905000"/>
                <a:gridCol w="2571750"/>
                <a:gridCol w="2543175"/>
              </a:tblGrid>
              <a:tr h="746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券名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方向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价格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甲公司债A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买入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按实时报价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按投资意图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甲公司债B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买入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按实时报价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按投资意图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977D2-0F4B-425D-89EE-E92375F4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38825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837F7-ECAC-48BA-8A6A-B6BE4C4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118622"/>
            <a:ext cx="3467100" cy="548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结构化交易要素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0CD8B-B753-4B97-ACE3-D98FE137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838825"/>
            <a:ext cx="3810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65088-F77A-4C01-AD63-F6EC46D0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18622"/>
            <a:ext cx="3467100" cy="548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已有交易系统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00296-D56E-46B9-B994-38D6EBAA119E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62950" y="6291263"/>
            <a:ext cx="2419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3F4B0-6B01-463A-8989-4F21F3A4295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409950" y="2752725"/>
            <a:ext cx="1143000" cy="3538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225D2-FFAA-4115-8D64-0E51F485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721995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券名、方向、价格、数量沿流程复用</a:t>
            </a:r>
          </a:p>
        </p:txBody>
      </p:sp>
    </p:spTree>
    <p:extLst>
      <p:ext uri="{BB962C8B-B14F-4D97-AF65-F5344CB8AC3E}">
        <p14:creationId xmlns:p14="http://schemas.microsoft.com/office/powerpoint/2010/main" val="4897150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8D1424-2A20-426D-9AE8-A3CC1CFB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4F7DF-E004-49F1-91BE-EF023BAD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客户沟通材料的准备过程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37FCC-5F7B-490F-AD81-A159A4BD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64ACF-8DE3-496F-9E8F-A373B963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DA932-80C7-419C-86BC-77ED895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695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819AE-C473-4A2B-AFAC-7C0B762F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390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BAA4E-D20E-4DE8-946E-04857B2F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9F3BF-D88A-4054-8B4B-B41D99B8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4688"/>
            <a:ext cx="33528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D46D1-C2A3-4D4E-824F-76B3E2D5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27448-3882-4823-A166-BB79797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5288"/>
            <a:ext cx="33528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DBB4A-4CAE-4FE1-93C2-F4F184D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598E5-2A98-4EE9-B715-242200B6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5888"/>
            <a:ext cx="33528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75994-CC22-48DB-A163-E6B5CC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027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D97C5-27F0-47DF-8BCF-A537CFB4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86488"/>
            <a:ext cx="3352800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739C9-2EFD-4608-8525-81748FE3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19475"/>
            <a:ext cx="3524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BFE1D-BEF4-4E24-9C01-0FD73E52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21894"/>
            <a:ext cx="3181350" cy="583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按问题检索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08426-E1C3-47E3-BB90-9A70A4C4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76875"/>
            <a:ext cx="35242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10E7F-8EB7-493A-8EA6-4A1EBFAF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79294"/>
            <a:ext cx="3181350" cy="583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按用途重新组织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20FBE-05DA-4D52-9B2B-B744EFBDD318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591425" y="438150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8DA6F-FF9F-497A-A82D-9E804F3E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6775" y="3381375"/>
            <a:ext cx="953" cy="297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C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27CF1-1560-469C-954B-7C0F966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43400" y="33813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C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D22C5-74A4-4900-9705-514E6EC0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43400" y="63531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CC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9E2945-96B6-41E3-9B50-2E88DA7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6775" y="3895725"/>
            <a:ext cx="800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0B44E0-5979-475A-BEB8-22E84767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829050"/>
            <a:ext cx="33337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A90CB7-1BB5-499A-BCD9-A151625C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3543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9CD81-875D-4A47-BFF1-B5C165F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80172"/>
            <a:ext cx="32004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路演材料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AB430-F13B-47D6-A588-51C29875647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9353550" y="3452813"/>
            <a:ext cx="1695450" cy="2505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211895-2B20-4110-99CE-66C3A35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81525"/>
            <a:ext cx="3543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90B9B-FADE-4DA6-A53E-B1BD485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813697"/>
            <a:ext cx="32004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产品问答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1A5AD-126C-4832-B466-CCF6DF547EE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9353550" y="4986338"/>
            <a:ext cx="1695450" cy="971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7D568A-8BFE-485E-8DB5-24B5539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35433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33F257-DA9B-45E8-9EFC-23E425A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47222"/>
            <a:ext cx="32004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机构标书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D96F2-D8D3-48DD-BC03-53BD8AD74B3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353550" y="5957888"/>
            <a:ext cx="16954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B5D74-4CC9-474A-96B3-BC300828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8187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一份研究与产品资料，支持多种客户沟通用途</a:t>
            </a:r>
          </a:p>
        </p:txBody>
      </p:sp>
    </p:spTree>
    <p:extLst>
      <p:ext uri="{BB962C8B-B14F-4D97-AF65-F5344CB8AC3E}">
        <p14:creationId xmlns:p14="http://schemas.microsoft.com/office/powerpoint/2010/main" val="17828791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5F4F5-B95E-4FC9-8B28-DE91253B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5F75-E2A9-4AA3-AB66-63C9A20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天弘基金的经理观点与市场材料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B080D-C847-4CF2-A4CF-30F17E8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8C3CA-F99E-4F19-8F5D-1B161CA6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349CF-F2F3-41E0-B942-9834941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773FE-8D5A-429E-8F81-F2C693AF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6ACC6-DE01-4933-AD87-BA5BBDC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171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E0007-FBF9-4BB9-8F40-06BC5F61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6272"/>
            <a:ext cx="3829050" cy="634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路演纪要、评论与定期报告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1BA2C-5C5C-452D-B157-DF3039CF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190750"/>
            <a:ext cx="4171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CFD2F-6D23-4154-82C3-72A27550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56272"/>
            <a:ext cx="3829050" cy="634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按经理或产品整理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0D5D4-BA27-48EA-B543-62A8AA8E182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19650" y="27289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E0379-C0CC-4BB3-8D5A-AC8675F6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90750"/>
            <a:ext cx="417195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68F8C-C0CA-4603-90CA-954025D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56272"/>
            <a:ext cx="3829050" cy="634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销售摘要、早评与收评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B50A9-F243-4B0B-A350-1319EBA561F8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705975" y="272891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0CFE3-9878-4800-84E0-22F3B0C6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90975"/>
            <a:ext cx="6419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AB7A0-63FF-4C3B-887C-33F73EA0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611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观点原材料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87EC6-257D-4B7F-BB9C-AB0EFD62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90975"/>
            <a:ext cx="64198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6F0C9-5C00-4143-83FF-7459590F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67175"/>
            <a:ext cx="6115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客户表达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F611C-AC9E-44F3-932D-88C8C29F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590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经理关注企业经营改善，</a:t>
            </a:r>
          </a:p>
          <a:p xmlns:a="http://schemas.openxmlformats.org/drawingml/2006/main">
            <a:pPr algn="l">
              <a:def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持续跟踪订单与成本变化。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58ED7-8899-469A-B654-2D047CB2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33950"/>
            <a:ext cx="5905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本期关注点是经营变化。</a:t>
            </a:r>
          </a:p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后续跟踪订单与成本，</a:t>
            </a:r>
          </a:p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解释观点更新的依据。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CF3A1-096E-4D14-B091-D161CAF6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5391150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96416-B697-47FE-B93A-3B01A01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24725"/>
            <a:ext cx="13944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销售按客户问题调取既有观点，再组织为可沟通的材料</a:t>
            </a:r>
          </a:p>
        </p:txBody>
      </p:sp>
    </p:spTree>
    <p:extLst>
      <p:ext uri="{BB962C8B-B14F-4D97-AF65-F5344CB8AC3E}">
        <p14:creationId xmlns:p14="http://schemas.microsoft.com/office/powerpoint/2010/main" val="4536596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FA55EF-3378-4125-89C4-EE8BFE7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271D0-3CF4-4242-8472-28F7E468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工银瑞信的机构标书助手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76B30-F57F-4EF1-A8CA-EBB191C2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FEA2F-A021-46AA-9430-126E5559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来源：工银瑞信基金，基金业协会案例材料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D977B-2F5A-4E0C-AA34-8795CEB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24CC-C485-452A-A297-EDA872B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66D4F-E2DE-436E-B69D-1B3CF97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3924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95EA2-75D1-4950-8259-F2782E7F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机构客户问题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CE9E-4DE6-4A03-A1A7-85F953C0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28850"/>
            <a:ext cx="3924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ED479-3C18-484B-B8B6-420F82F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公司知识资料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216A9-478F-4083-8377-1A8F6C46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28850"/>
            <a:ext cx="39243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64C16-B872-40D8-AD7A-3A4B7A7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050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标书章节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38D3D-5CF8-412A-A372-E62D462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2EA56-E467-4D88-9FF4-368F6B6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091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投研流程如何组织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662B8F-750B-4A9C-A602-8F0E9139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74D20-77FC-4DBB-89D4-259EE849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4091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投研流程说明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1B5F4-E6BD-41BA-8CE0-BC965257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7660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78DFB-8E79-425E-9D76-9F17CFC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4091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投研能力章节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E15F1-1C64-47CF-94C0-9ACA03173E9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72000" y="369570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B3EA4-E58E-4402-8A2F-BB885F38FA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582150" y="369570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D413F-0136-4F3E-A7C0-77CDB73A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A3175-AFA2-4894-ADA1-685D4243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2994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产品信息如何表述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6DD5F-871E-4F85-972C-85478C0E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38675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76560-0F8C-4A57-A808-11CC43E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02994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产品文件与定期报告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9F36B3-CD08-4D82-A7A0-F3F328E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38675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90B63-78F1-4DBC-ADB3-E0AF0109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902994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产品介绍章节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9AA9C-6FF2-4771-98D7-75078B4F656A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72000" y="50577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4EA5EC-B3AE-49C7-861A-41BD2BCB07EE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582150" y="505777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6EBAB3-59E9-425C-B53A-8474653D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EBED66-95AA-4BAC-8672-9181327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6506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运营如何支持服务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92D0C-07E5-4CB4-BDC1-B29A885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00075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43125-E4A6-45C0-A94E-CE962DE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26506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业务制度与操作说明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97A813-4CC7-4974-A4EF-04D9FA13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392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2606D4-8B68-4460-99A3-C82A306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265069"/>
            <a:ext cx="3581400" cy="497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运营服务章节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0BD5E0-FFF8-4C1E-8241-E93EAAC44791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572000" y="64198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4EF31B-57F7-4434-8EA6-1C5418C1C0CC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82150" y="64198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06075B-E778-45F0-8D2B-6DC97D1A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997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问题、回答与资料出处逐项对应，复用已有业务知识</a:t>
            </a:r>
          </a:p>
        </p:txBody>
      </p:sp>
    </p:spTree>
    <p:extLst>
      <p:ext uri="{BB962C8B-B14F-4D97-AF65-F5344CB8AC3E}">
        <p14:creationId xmlns:p14="http://schemas.microsoft.com/office/powerpoint/2010/main" val="20630804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625D7-3D21-436A-864E-A39461A3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F86FE-C27B-43EC-BDD3-5BC5504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公司客户材料方案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DC45D-9836-4B33-9876-690513AC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5E1CB-1C87-4AEA-8B75-1E1AAB31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来源：天弘基金，基金业协会案例材料；工银瑞信基金，基金业协会案例材料；财经网，招商基金数字金融报道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66937-6A62-4ACB-9418-EF63189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4CCED-9085-4829-A10D-882EF79F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8A443-1293-4CE6-A775-2E1BADEA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44291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C9F07-807B-411A-899A-8D54A9C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4124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材料任务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B0EB-4CE3-4C6D-9A23-B25372C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62300"/>
            <a:ext cx="400050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客户问题：本期关注什么</a:t>
            </a:r>
          </a:p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产品：产品A精选</a:t>
            </a:r>
          </a:p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用途：季度沟通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CA900-F053-4F0C-A125-5F7D595E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4429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D3DF0-898C-4D23-A6D3-97F8BB5D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7134"/>
            <a:ext cx="4086225" cy="458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340F8-24BC-4CE0-9B5D-95EC521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4429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A1601-68DB-4EF0-A30E-E481D50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75834"/>
            <a:ext cx="4086225" cy="4583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产品问答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D30BA-520E-4639-B052-5C7BA476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4276725"/>
            <a:ext cx="5048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B2142-31A1-4CE1-8179-1571D562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83629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94A03-9F9F-42C5-8A56-BA2F3218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790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3C21B-B558-41D2-A8E9-2F149A7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71775"/>
            <a:ext cx="790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初稿V1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AE511-4B75-459E-B0DB-49E541DE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57950" y="3181350"/>
            <a:ext cx="790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E9546-CC44-4E66-A217-17E04D5A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782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8150F-D517-42FF-9026-59BDA885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7829550" cy="62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F4DDC-36C5-46F5-8B7A-2572AE18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5781"/>
            <a:ext cx="782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资料版本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7E1F4-B1EC-4841-AB95-3C849E0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7731"/>
            <a:ext cx="7829550" cy="62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13F75-AF70-4329-9588-8DB1833D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67338"/>
            <a:ext cx="782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027F9-7F17-4ED1-A82D-1FE0BF84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29288"/>
            <a:ext cx="7829550" cy="62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C1C73-E8AA-4ECF-966F-6F1BD4E3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388894"/>
            <a:ext cx="782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C9617-B10A-4F0C-993B-48E40620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750844"/>
            <a:ext cx="7829550" cy="62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78BB3D-119D-4CB2-A975-89019D4B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77125"/>
            <a:ext cx="1394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机构标书与咨询工单可复用相同资料</a:t>
            </a:r>
          </a:p>
        </p:txBody>
      </p:sp>
    </p:spTree>
    <p:extLst>
      <p:ext uri="{BB962C8B-B14F-4D97-AF65-F5344CB8AC3E}">
        <p14:creationId xmlns:p14="http://schemas.microsoft.com/office/powerpoint/2010/main" val="4122390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96D2FC-D878-4BC0-A6A5-A44D976C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B6AB1-DBA2-4AA6-8E7B-29794F1D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客户材料的审核与修改过程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5FFE5-3A45-4453-9E4F-D9CF242A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20196-5A80-43C4-A760-97167267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7A002-62FE-439C-B23E-561A1FD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529C6-DAE4-4B52-B7D5-1CB938CA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394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CA560-81E1-4961-B646-CF012719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39446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FA4F3-514C-4302-BCD3-AF50DA12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19050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697FA-7A0B-4157-B9D7-8BBE207C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3313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编写人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9A8EA-B2CA-4810-A201-EF812AB6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8101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9960C-F54F-43D7-AAFE-0A18CED9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39446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59C81-7053-443F-AD66-AC0483B5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90500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8A619-151F-408D-BA0F-F14DE312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4988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2F57F-4685-49D5-A73C-FD5BCA72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7818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37B2C-6992-4DF6-A8BB-0F777BE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25717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8C7FB-6A7A-4FD5-B415-6DD5402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9975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提交初稿V1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F4B2D-5B8C-4CBC-8A4A-A568595D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95650"/>
            <a:ext cx="25717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E911D-2D14-47E3-9886-B808C48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09975"/>
            <a:ext cx="2228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按意见修改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888F0-F01F-4280-BB73-84A41C45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95650"/>
            <a:ext cx="25146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0C753-7E72-4A7D-B841-1D1181F4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609975"/>
            <a:ext cx="2171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提交修订稿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41179D-7092-4DB1-8FD5-2C3310D6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95900"/>
            <a:ext cx="3619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56241-EAD6-4844-9ABC-F684F48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613797"/>
            <a:ext cx="3276600" cy="58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定位问题与依据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B10B0-7429-4098-8A4B-940B240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295900"/>
            <a:ext cx="35814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4E749-4E76-4955-B094-8FE22520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613797"/>
            <a:ext cx="3238500" cy="58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修订后检查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D8097-AA47-472B-805C-68AAC6732AEC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143375" y="4257675"/>
            <a:ext cx="2219325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F26C9C-0C87-454B-B079-769319F19A0E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6362700" y="4257675"/>
            <a:ext cx="3200400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287615-F650-4EEF-BD0C-99B35A0E3D9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0848975" y="3776663"/>
            <a:ext cx="962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831CC-D4DD-4077-972B-FE904522080F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12534900" y="4257675"/>
            <a:ext cx="533400" cy="1038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1BF4C-C708-44F1-B8F7-0E9682D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200900"/>
            <a:ext cx="11468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检查产品信息、业绩表述、风险提示和文件内容</a:t>
            </a:r>
          </a:p>
        </p:txBody>
      </p:sp>
    </p:spTree>
    <p:extLst>
      <p:ext uri="{BB962C8B-B14F-4D97-AF65-F5344CB8AC3E}">
        <p14:creationId xmlns:p14="http://schemas.microsoft.com/office/powerpoint/2010/main" val="15255337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08E821-41A3-4846-A80E-F64A2588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8D22D-A0EF-4C18-981E-6FBEF0E1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鹏华与盈米的内容审核应用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98BF8-5CB5-4081-A94C-57E3C11C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41CDC-E99D-4ACF-AE49-0395B8C6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B5B5F-EFBD-4859-94E8-94F71D11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C9B91-8446-44DD-9292-D52BC835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BB5B6-30A5-467F-9032-CF0DB49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7239000" cy="510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F445C-6589-4343-86DF-C2F4A31B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678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A359-B91E-4FB8-AAFF-52445D0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初稿V1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8B89B-8DDF-4143-BF40-BD5FEA13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" y="3248025"/>
            <a:ext cx="6781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F6DE8-C7D4-4F12-B40C-2CD903C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62325"/>
            <a:ext cx="6858000" cy="873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16856-A063-457A-8E0D-C27D8F7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2A4C7-3627-47E6-810C-7935E1D6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67056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F8261-A8B3-4510-9D7A-4D82344E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2919"/>
            <a:ext cx="6858000" cy="873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208EE-8CBD-4E4E-A845-B43E92E9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1494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7CF2F-733A-4AB2-9637-D0F74CD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3444"/>
            <a:ext cx="67056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A63ED-4831-415F-AF40-F3BA683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2088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E923B-F74A-4369-B05D-5FC1D0E7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4038"/>
            <a:ext cx="67056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7D7A1-95AC-40A4-8C56-EFA95BF9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84106"/>
            <a:ext cx="6858000" cy="873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38C22-D816-4BB9-B342-2E53585E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12681"/>
            <a:ext cx="670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DA7A7-234F-4FEC-A1CC-82068FF5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4631"/>
            <a:ext cx="6705600" cy="540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6EA4C-E694-42A3-A858-FCA7D64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5600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4C4919-43AD-49B8-B091-09B05B5C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431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5D7D5-5759-4220-8B47-93B2A4E0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813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按本期产品文件核对正式名称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A50AC-1720-4982-95C7-2169F9B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3857625"/>
            <a:ext cx="695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A6BBF-7AF0-416C-A9CC-B6EE12BA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82025" y="2981325"/>
            <a:ext cx="953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51D3B1-3FE3-4A6A-A55C-399E1FF4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82025" y="2981325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0F62F-E3D2-41EF-9812-0D82957F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5600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BD648-7BBF-4847-A250-1CA7D81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7192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4BAFD1-FD02-4E65-85D8-4F645934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1007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将二季度资料更新为三季度V2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F9032-66A8-45AC-94B2-0B1AC0F5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4800600"/>
            <a:ext cx="695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F3BB8-8B2E-4F5F-9979-25451DB0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82025" y="4410075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CED47-85E7-4676-99F8-3F838087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82025" y="4410075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CA5589-4253-4F25-9A67-0B3DA8A9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57800"/>
            <a:ext cx="5600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E4798A-4597-4B86-B83F-B487FF5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006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6B2659-D193-4EF4-A896-2505A7F7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8388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补齐本期文件中的风险提示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3434FB-3D07-4C5E-A155-11EADEAD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6700" y="6677025"/>
            <a:ext cx="695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9D350-175B-4EC6-8028-FBB00D78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582025" y="5838825"/>
            <a:ext cx="953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8C3B30-46AD-45D7-AD73-E1C9802C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82025" y="5838825"/>
            <a:ext cx="4095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88409-774B-4673-B3A5-579EF035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3427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鹏华：7类71项规则，修改建议采纳率91%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4E8AB0-5B52-4C7D-8073-A59A147A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534275"/>
            <a:ext cx="541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盈米：初稿预审、修改、复查</a:t>
            </a:r>
          </a:p>
        </p:txBody>
      </p:sp>
    </p:spTree>
    <p:extLst>
      <p:ext uri="{BB962C8B-B14F-4D97-AF65-F5344CB8AC3E}">
        <p14:creationId xmlns:p14="http://schemas.microsoft.com/office/powerpoint/2010/main" val="17009138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3BBBA5-F4F4-49D5-9C4C-570A0CEA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7397-4F5E-4066-88CB-5EEE0CE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公司材料编写与审核协作方案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0534F-0865-4412-AB21-C361C65C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C9A06-AAFA-4BFA-87BA-8BB15197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E5A37-B5DB-4D9F-8F30-E0FEDE7B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9CA38-6FA5-42AF-AE0D-E4210F50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20BF-1AC4-4F79-8A48-AC004F16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41148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B775-B641-4A0F-8CAC-E1C0DC3E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CCA21-0D17-4313-BC7C-6464A3CE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初稿V1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234E5-1727-470B-B6C6-6DED9956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" y="3324225"/>
            <a:ext cx="3657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1CD5D-DBC5-498A-A1A9-C470EF7E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BC5AD-AB56-4AD8-AB6F-45AF85C6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11C2B-B40A-4B63-A25A-381C5D0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87C02-64AD-4575-8BFE-C31DEF16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7738D4-574F-4687-BBE0-09786328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481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9F9A5-C2D3-401D-962A-F40222E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C3FBD-8CCB-4DF8-9446-B0622857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B3178-D11A-4B7C-9FC5-64897AA8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3185B-924E-4759-B05A-BA30F0C7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81750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36E8C-D00D-45A1-BF3B-54478D6F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103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CEDF1-901A-4461-87DC-D23887FA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72275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FE03E-C30D-4E83-B7EA-18319505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57425"/>
            <a:ext cx="4114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44910D-F3A3-4495-8ACB-669B358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问题清单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D4A8F8-EBE9-4EF5-90A0-104975C1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2600" y="3171825"/>
            <a:ext cx="411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ACC1A-1D0B-4C17-B9EC-13C8701B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290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产品名称改为正式全称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57A63-507C-4846-A69F-DAA02F02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2600" y="4467225"/>
            <a:ext cx="411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959FF-DAB8-475A-9732-EC2FB6C3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244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资料更新为三季度V2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1A37A-CFAA-4987-A4DB-09C81A54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2600" y="5762625"/>
            <a:ext cx="411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52FF8-FA13-4FCC-A4C0-D7A9879C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0198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补充净值波动及本金亏损提示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132A5-BEA5-42DA-8E59-C711B86F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57425"/>
            <a:ext cx="41148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FA2BF-41BA-4FD4-94C2-2CF7195A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47925"/>
            <a:ext cx="365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27675-8D56-4DDD-9F6D-FD262B44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146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修订稿V2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991445-9987-4ACD-A816-C1A18DD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06100" y="3324225"/>
            <a:ext cx="3657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BB0C2E-CD51-47E1-9E51-FF468AAA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385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1CF87D-20E0-4588-B665-45523F7F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671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产品信息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A2CA03-0E19-492F-97FE-947DA59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829050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3B23AE-6B5A-4277-AF0C-091F725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19600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2AEBAF-8BD5-4A6F-B5D1-983738A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4481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资料版本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7F9813-BB13-4431-A624-25D5576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810125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BD5198-55EC-4871-B4EE-D215E00D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292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005912-5D38-4430-9CB7-0205055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791200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C82048-3B5F-4793-8013-8BA7792A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549C2A-18E6-4993-AC9B-27984A81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1032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2411EA-9824-4C8D-9389-3E829FCF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72275"/>
            <a:ext cx="3581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920F2B-CA9A-4F36-88EB-A19785F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3624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CC2193-0A7D-4241-BF25-35963097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4362450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50A996-FC19-4AB9-B49D-9F21DB39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48575"/>
            <a:ext cx="411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提交即检查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903DC5-4684-4696-A20E-4AD2028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648575"/>
            <a:ext cx="411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意见定位到内容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5F50D9-6AF1-4C04-BA20-63E7405A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648575"/>
            <a:ext cx="411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再次检查并保留变更</a:t>
            </a:r>
          </a:p>
        </p:txBody>
      </p:sp>
    </p:spTree>
    <p:extLst>
      <p:ext uri="{BB962C8B-B14F-4D97-AF65-F5344CB8AC3E}">
        <p14:creationId xmlns:p14="http://schemas.microsoft.com/office/powerpoint/2010/main" val="13866185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1C134E-F673-4312-942C-C8928552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60B8D-93E6-42C4-94C6-B770171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风险提示的接收与分析过程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4F494-D800-4A45-911A-7837C3A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714CF-D161-4DD6-A847-509B34D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BFD8D-C3FF-4593-B212-EE84F6AF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FCAA1-F2B9-4704-B0ED-4C93187E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981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38D6-39D0-4450-8AE2-55D107AE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8463"/>
            <a:ext cx="2638425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托管邮件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C4D5E-9E53-4658-8BDF-61EABEE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2981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73693-C0FF-4404-A69B-38B0E036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9588"/>
            <a:ext cx="2638425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事件消息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E08CC-E6BC-4B57-AAA4-19D12226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9813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E5F00-CA7C-4E6E-A922-26F9FF7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0713"/>
            <a:ext cx="2638425" cy="509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系统提示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06B19-C8DA-49FC-8DB8-42F59240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48125"/>
            <a:ext cx="3124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E2F81-B8E8-4EF7-B0AE-229C4C42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74356"/>
            <a:ext cx="2781300" cy="607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解析风险信息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8FD8D-FBF5-491C-A34F-BA870C8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33675"/>
            <a:ext cx="58102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2102B-599C-4714-B185-7EFB6F17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7044"/>
            <a:ext cx="5467350" cy="564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关联产品与持仓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58774-37EF-42B8-AC2D-2A231C2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52925"/>
            <a:ext cx="58102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A2C2D-9745-49E5-84E7-447D6964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36294"/>
            <a:ext cx="5467350" cy="564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查询规则与资料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5D7D2-447C-43E1-B485-5CF227A4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72175"/>
            <a:ext cx="58102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18FD9-98D2-4B80-95C5-E735BBF3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55544"/>
            <a:ext cx="5467350" cy="564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影响解释与跟进事项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881C1-373D-472B-9446-D5FE8916FC8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29025" y="3105150"/>
            <a:ext cx="11239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0B6DF-BA2F-4808-8B96-EB820486605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629025" y="4486275"/>
            <a:ext cx="1123950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6734F-5C0B-4B5E-BAA6-51C74DF563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629025" y="4552950"/>
            <a:ext cx="1123950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D87AE-7091-45EF-A4FB-507A74095B8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877175" y="3195638"/>
            <a:ext cx="904875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FEAF6-9E71-4731-86A0-045C0A41C81D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687175" y="36576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4D0D20-990D-4F0C-85B0-AEBEEB91CB4F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11687175" y="52768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BE772-5A98-49D1-9548-6BDC122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15200"/>
            <a:ext cx="1394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持续跟踪对象：甲公司</a:t>
            </a:r>
          </a:p>
        </p:txBody>
      </p:sp>
    </p:spTree>
    <p:extLst>
      <p:ext uri="{BB962C8B-B14F-4D97-AF65-F5344CB8AC3E}">
        <p14:creationId xmlns:p14="http://schemas.microsoft.com/office/powerpoint/2010/main" val="20413574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B0D1EE-1C0F-478B-B8D4-1E9BF068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8F7C2-D5F0-4C44-9B3B-8405601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汇添富与天弘的风险支持应用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B8CF3-7A0E-44DB-916B-71618C13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480AE-0D61-4625-8985-4CD7D276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55CAC-7158-438C-8B5F-7892E03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784A7-AC74-45C9-AC48-3F0B347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C84E6-A06C-46EF-820B-BAC60B7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汇添富基金  风控工作台与条款问答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31576-D853-4379-8AE6-8B8A408D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7C97A-8444-4D35-8AE3-96BC7A02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天弘基金  热门事件助手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7FBC7-9939-41DE-9940-A7BB5BE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696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499137-8479-45AF-A087-C9AE9B4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1838"/>
            <a:ext cx="63531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托管行邮件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8150C-E604-4B16-9610-7C08749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696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CAE21-6547-41D7-AD81-18183C29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8663"/>
            <a:ext cx="635317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风险信息提取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DE9F-9BB6-4220-BC55-21F44473D83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995738" y="37909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C9FF4-C934-41A1-960C-77106C46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CEFC5-DA4C-41FB-BA1A-24E12BC6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8634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风控结果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41104-5AE5-49CB-AA70-90D1A82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25" y="5953125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03EA7-28B0-4E7C-A5F9-CAFAB89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6218634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绑定条款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F9690-69A1-44B0-8CB4-03A078D6EB9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01925" y="63674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820EB-8C37-4BF3-B190-8AC5FCB1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9550" y="5953125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BF5AE-DCC1-4D2D-B00D-2AD37B9A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6218634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解释依据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CA6B5-B27F-4884-A815-A88B03D6EB81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22850" y="63674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EDDDD-9A27-45EC-B707-39DDDA98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86100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023AAC-6141-4795-B862-78C5A67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51609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事件详情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E93DDF-381E-4C3C-BBC8-2611B7D6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150" y="3086100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C36AF-7F1A-4B2C-9FC6-292A858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0" y="3351609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历史事件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8EC46-A0D5-4D55-BF11-705F847A76A2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950450" y="3500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3B2A6-A71A-47CE-AD7E-1BAC62C6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075" y="3086100"/>
            <a:ext cx="20542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B71B86-E98E-4CAA-AE0E-EEC8C30D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9525" y="3351609"/>
            <a:ext cx="1711325" cy="486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产业关系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32DD70-779B-45E8-A067-918B60684226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2271375" y="3500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72CB5-53B5-4726-B9D2-1A14C75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953125"/>
            <a:ext cx="6696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C57DB-6A10-4CA5-BCFC-C495A83E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6188869"/>
            <a:ext cx="6353175" cy="516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综合分析与事件解读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94877C-1071-49C4-9ECE-D8AD9B38EC82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8923338" y="3914775"/>
            <a:ext cx="2320925" cy="2038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F9BB5-8131-4EC1-88B6-84D6FF49C946}"/>
              </a:ext>
            </a:extLst>
          </p:cNvPr>
          <p:cNvCxnSpPr>
            <a:stCxn xmlns:a="http://schemas.openxmlformats.org/drawingml/2006/main" id="25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1244263" y="3914775"/>
            <a:ext cx="0" cy="2038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C803B-61AA-458B-B3D1-0D397B3516C7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11244263" y="3914775"/>
            <a:ext cx="2320925" cy="2038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29114E-A8AF-40B3-8EA6-5D0C7CAF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77100"/>
            <a:ext cx="6696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风险内容与规则原文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9C42EB-2B69-4AC0-8C74-13E84CBA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77100"/>
            <a:ext cx="6696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事件影响的共同讨论材料</a:t>
            </a:r>
          </a:p>
        </p:txBody>
      </p:sp>
    </p:spTree>
    <p:extLst>
      <p:ext uri="{BB962C8B-B14F-4D97-AF65-F5344CB8AC3E}">
        <p14:creationId xmlns:p14="http://schemas.microsoft.com/office/powerpoint/2010/main" val="12208293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80023F-9313-46A9-95B5-016A4686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AF49A-A98B-483E-AAE0-7F9A444E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公司风险分析与跟进方案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2C4D5-39FC-46B2-A82C-C575E454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A1C9D-03E0-44BD-BF41-0C6EFC06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D160E-F6D9-40AA-B1A0-93DFAA49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54524-5916-4025-A25E-DB7E006A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C5776-85C0-48CE-B11D-AC3082F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714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6858B-0446-4798-BC67-F4CFBF9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371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原始邮件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69A68-7170-48FC-A673-F0A252E3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714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8A9CA-0EE0-47D2-A19C-5E74B785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2371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4AAD2-8B4A-42CC-8016-0D068FB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27146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D0A73-3096-4F7E-A8C6-7549DEE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2371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规则条款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08001-8043-4D30-85E1-49FC32C6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24075"/>
            <a:ext cx="989647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4FC26-4717-4C61-8F4F-F8B55411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314575"/>
            <a:ext cx="9439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  影响分析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7E529-4335-4792-A8F0-6B9E7439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781300"/>
            <a:ext cx="9439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风险提示处理结果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702E1-A7F1-4686-B069-62468E42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4425" y="3190875"/>
            <a:ext cx="9439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9DF81-8036-4384-9C91-754F3527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333750"/>
            <a:ext cx="936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事件与相关持仓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708C0-63ED-4337-A76C-021F860A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695700"/>
            <a:ext cx="93630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甲公司被列入评级观察，产品A持有其相关债券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D6B74-DEBA-4744-BFE1-199D1083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600575"/>
            <a:ext cx="936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规则依据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5F14D-E81C-4799-8162-462CB892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962525"/>
            <a:ext cx="93630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信用事件跟踪要求及对应条款入口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92D0E-1491-4363-97F0-4B41050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867400"/>
            <a:ext cx="936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跟进事项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1A810-3ACC-4C86-8D92-5D6C9DF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229350"/>
            <a:ext cx="93630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更新发行人分析，汇总相关持仓，向投资经理发送事件说明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8EB61-E641-4949-B63A-5F72249B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62325" y="31337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0F1C8-9F9A-48AA-84F7-EB90A07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133725"/>
            <a:ext cx="953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36790-C5EC-443D-8C32-F0685D9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62325" y="45148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F5EDB-B42A-43AE-B837-BAAB5D22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4514850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5A51D7-44BA-45B5-ACFF-CF85CD2F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62325" y="58959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A0783-8D3B-499E-BED8-47DFB3F2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952875" y="4629150"/>
            <a:ext cx="953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E5C74-1D2D-43F0-A53B-B3B2C4A0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4629150"/>
            <a:ext cx="742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5B37C9-CE56-44CA-AB49-70025A50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1394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风险同事直接查出处、核对影响并分派任务</a:t>
            </a:r>
          </a:p>
        </p:txBody>
      </p:sp>
    </p:spTree>
    <p:extLst>
      <p:ext uri="{BB962C8B-B14F-4D97-AF65-F5344CB8AC3E}">
        <p14:creationId xmlns:p14="http://schemas.microsoft.com/office/powerpoint/2010/main" val="207533762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174E2F-29DA-419F-BD39-C6EDAC01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248CF-0F6B-40FF-A164-F5C026A0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运营单据与文件的处理过程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6F14D-0BA2-4BE3-B109-E83D68B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29ED4-9B9A-46AE-B80F-F0B7976C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82C5A-6B87-4547-BFCD-E1453F6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2191E-1CBD-4A6C-8421-FA33D884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2194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04669-0B9C-4BA6-AE6B-C1A0C203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1955F-23C8-4BF2-BA49-F6CD13D0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0275"/>
            <a:ext cx="5981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E534C-E792-48A6-8BBA-24150F8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76475"/>
            <a:ext cx="5676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文件处理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7E633-418C-4822-9D37-13D7963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200275"/>
            <a:ext cx="29527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16BA4-0EB2-46B7-A042-565423FA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76475"/>
            <a:ext cx="2647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26454-DFB5-49F1-866E-CBE6B2C1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2194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5C46E-1398-43A7-86FF-3B776BFC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传真与扫描件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4DB7B-1652-409B-8601-5B3E4BA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86275"/>
            <a:ext cx="32194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D676C-03F6-477E-B0C3-F20ED870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221E7-B2B0-43A4-BC72-6F7F2B83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32194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A8887-3891-45D9-B60C-90F02EF4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055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同类电子文件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89292-BF58-4FAD-8AF3-83249DA7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5981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C4BE0-1234-45C2-BAB0-D67E57D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37322"/>
            <a:ext cx="56388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字段识别与录入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28C65-CEC5-40D7-8A30-047C445B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3438525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4C0E5-C62B-4AD9-A55E-428CBFA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5981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8193D-3811-4985-B8BF-49AB5536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18447"/>
            <a:ext cx="56388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BB58A-8D88-4FB8-9CCA-BF403B7C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4819650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0AB3E-EBE1-4F7D-A9DF-D498424F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5981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633F2-C06F-4D29-B77F-CB3F73A8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99572"/>
            <a:ext cx="5638800" cy="501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批量修订与保存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7FD2E-CC5C-4BA5-B5AB-1A6C509D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6225" y="6200775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A1917-A095-4638-9161-BB8D18E2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051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1B6BC-D4DF-4992-B848-147F257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432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0FCFA-BCC9-47A2-8A36-A8EA155C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3438525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96C99-0498-4CB4-A557-97A06934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486275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5E1C4-1080-425A-B9BF-8C96FE7F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7244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66F7A-49B9-4FED-9ED4-5419B02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4819650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01C81A-1C28-401F-BCE7-98D2D0E4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8674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5D3EB-A512-4F18-A023-720A602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10552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修订文件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D93BC8-90C1-4EC3-999C-DCF9452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63275" y="6200775"/>
            <a:ext cx="4762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B5F685-8C98-4AAD-9F0C-D1A9D42F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86650"/>
            <a:ext cx="1394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甲公司交易要素与客户沟通稿继续进入后台处理</a:t>
            </a:r>
          </a:p>
        </p:txBody>
      </p:sp>
    </p:spTree>
    <p:extLst>
      <p:ext uri="{BB962C8B-B14F-4D97-AF65-F5344CB8AC3E}">
        <p14:creationId xmlns:p14="http://schemas.microsoft.com/office/powerpoint/2010/main" val="6314852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483B45-8B52-4BCE-B253-1692673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91809-32DB-48CD-89CB-B92F408A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华安与工银瑞信的文档处理应用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64017-1237-42FD-A8DB-918CD65A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ED0A3-9189-466B-8EEA-6FA8E6FC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480C3-85B7-4870-B82E-D745B120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04EA-1347-480A-82B9-BB54866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6CEFE-7306-423C-BFFA-13413212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83851-1C53-4525-9AED-73F4D49E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华安基金  单据智能录入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621C2-1D13-4255-BAD6-980F4BAE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71700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DBFCA-D6F0-468B-A9AC-E015CC7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47900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工银瑞信基金  文档比对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93CF2-EC1E-422A-8F9E-9CC91499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29527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E339B-DA1D-416C-985C-D40C71A4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业务单据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04D68-E968-42FD-8B66-B855BA8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6300" y="4019550"/>
            <a:ext cx="2495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DEE77-7AA2-4410-89BE-0E7A6EFB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6242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券名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22AB1-70F1-404F-8232-7C1CC43F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2419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甲公司债A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168F8-88A2-4B14-8851-597E1F4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39F73-BC3C-49A9-81B7-5575AADD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419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买入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1115B-4B21-4CF9-A549-530A91D1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业务字段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2F61C-42DE-4D17-B5A8-C9C7869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2419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价格与数量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B0735-551B-4B55-B342-E77C6D4B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638675"/>
            <a:ext cx="3810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C14852-CE99-4CA7-A4E4-08423F5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52750"/>
            <a:ext cx="28575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92829E-B48C-4891-A7B7-6B9FEC8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录入记录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52C5A-E2A7-493C-85D7-0AC3929D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4019550"/>
            <a:ext cx="2400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00267-2A41-4170-95E0-B4888739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624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证券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220328-8D35-40F4-80EB-B9A7319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24375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甲公司债A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D8925-5689-41AE-94A4-3D381FC3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8768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方向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C2094-AE20-499A-9FA3-749ABCC2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238750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买入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82C23-1B33-46B5-9A2F-11BB068C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5911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字段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A084D-EAF0-4DE7-A730-3A2BBCA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953125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结构化保存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27A30B-479E-407E-9801-99648A4B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52750"/>
            <a:ext cx="669607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E8615-7095-4B4B-91D3-73EF6091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43250"/>
            <a:ext cx="623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528ABA-5570-49C5-AD08-CA09C6C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09975"/>
            <a:ext cx="623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初稿V1与修订稿V2的差异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646D4-E191-4F85-A337-819F46D2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24825" y="4019550"/>
            <a:ext cx="6238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697D1-AC8A-427A-BCAA-E67E3BBE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133850"/>
            <a:ext cx="6315075" cy="90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88B043-21EC-46FD-9092-6DFE3BB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62425"/>
            <a:ext cx="616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739DAD-40E0-4160-AAF0-58F6DA9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24375"/>
            <a:ext cx="6162675" cy="56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 产品A精选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V2 产品A精选混合型基金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27C6D7-8ABA-4DD1-AD17-D5DAC2C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02225"/>
            <a:ext cx="6315075" cy="90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01BAA-92D7-4445-B739-64B87829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130800"/>
            <a:ext cx="616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E6E904-645B-4912-901B-B6F485E8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492750"/>
            <a:ext cx="6162675" cy="56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 2026年二季度产品资料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V2 2026年三季度产品资料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DE9EFF-A344-490E-B8C9-CCED92B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6070600"/>
            <a:ext cx="6315075" cy="90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7FD0DA-62C8-464A-B668-20F2C38B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6099175"/>
            <a:ext cx="616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212BA6-279A-4B2F-82C5-12F9152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6461125"/>
            <a:ext cx="6162675" cy="56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 投资有风险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V2 基金净值随市场波动，投资本金可能亏损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FFD849-D282-485F-8EC2-EC07FB1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91400"/>
            <a:ext cx="6696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华安披露：超80%的柜面传真采用智能录入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CD385D-9BB1-4910-A4CD-5CF8B90A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391400"/>
            <a:ext cx="6696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PDF、Word与扫描件形成可视化差异</a:t>
            </a:r>
          </a:p>
        </p:txBody>
      </p:sp>
    </p:spTree>
    <p:extLst>
      <p:ext uri="{BB962C8B-B14F-4D97-AF65-F5344CB8AC3E}">
        <p14:creationId xmlns:p14="http://schemas.microsoft.com/office/powerpoint/2010/main" val="12801682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1E1B7A-7A04-4E16-A52A-51FE6BF5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C63A1-EB2C-46B2-B24F-6455FC19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公司运营文档处理方案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A722D-AB68-4E3D-9EBB-2C1D6FD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BBEA3-C435-44D2-BB34-BE2A8C3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CCF企业数字化案例集；工银瑞信基金，基金业协会案例材料；博时基金BSBox上线报道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DFFB6-72FC-4648-9803-63C2F644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D88B2-84CD-43D3-A370-318F03D3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36D6C-1444-466E-81BF-AF2A893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2952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A3B4A-6C02-47F1-9F02-07542542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609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沟通稿V1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842D7-E65D-4E83-BCA3-62BFF85A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2952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C5446-6612-44CC-B38C-39383F43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2609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修订稿V2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1CBB4-5C9E-4591-91BD-F434D98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2952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6D48D-698B-46E9-9C39-A64CA5A1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609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统一更新要求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726C1-6AE8-479A-8603-1861D0B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39528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88B95-9A32-4AEE-951B-75294E8A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0597"/>
            <a:ext cx="3609975" cy="510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识别与字段提取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08A12-1FA7-4821-BCC9-28E6C741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629150"/>
            <a:ext cx="39528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4D953-CE38-412E-8A0A-31DF232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72050"/>
            <a:ext cx="36099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版本核对与批量修订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76F65-C5C4-4991-BB3E-CB17DA30F695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615113" y="3457575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9C638-E3F3-4893-A07B-ABC1F652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09800"/>
            <a:ext cx="46101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CC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CCCB8-C931-420F-AA21-A30DB2A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00300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文件处理交付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1D3CB-35CA-4B49-866F-9A920699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10800" y="3276600"/>
            <a:ext cx="415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4DAAF-17F6-4627-B2D9-4C20E41B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194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修订文件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AB088-A5C6-4CD0-AA64-7338B94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81425"/>
            <a:ext cx="40767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基金季度客户沟通稿V2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00893A-E973-454B-95F0-87287367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751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变更清单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20DF8B-4250-44BF-B40F-87EFAB38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37125"/>
            <a:ext cx="40767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产品名称、资料期次、风险提示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AEC187-A8B7-44DE-8D74-0F7543E1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7308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处理记录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0E393-2CF2-4AB6-9563-04C937DB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092825"/>
            <a:ext cx="4076700" cy="75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文件版本、修改位置与核对状态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A409B-256D-46A0-AC24-041F4BDF70F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8591550" y="4614863"/>
            <a:ext cx="13906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1C616-773F-4C64-9481-BA6B96B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3048000"/>
            <a:ext cx="504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0A3354-75B8-477E-81BC-8F98B25B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304800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291D1-2E40-4839-B0FC-2EF8966E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3048000"/>
            <a:ext cx="953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AB939-5498-491A-804B-54CEF2F9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4438650"/>
            <a:ext cx="504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B4309D-94AA-455E-BB4D-E42F143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5848350"/>
            <a:ext cx="504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43DDA-A7FE-46BC-8315-6A9BB33F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05275" y="5143500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C39C8D-8697-4B58-822A-DE5A659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99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博时BSBox的批量文件修订，为同类任务集中处理提供参照</a:t>
            </a:r>
          </a:p>
        </p:txBody>
      </p:sp>
    </p:spTree>
    <p:extLst>
      <p:ext uri="{BB962C8B-B14F-4D97-AF65-F5344CB8AC3E}">
        <p14:creationId xmlns:p14="http://schemas.microsoft.com/office/powerpoint/2010/main" val="20087213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7C99E0-5E0B-457B-8DC4-1B64E040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D7869-89A4-4A11-98BE-1EA8C88B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业务需求到工具交付的工作过程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7FBDA-2F14-493F-86EB-F5A98A0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7907E-A582-4BF6-AFC4-989CF536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3CBE-50F6-46F9-BECB-DFA359D3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56E9D-8DFE-471B-ACDC-1C5CC37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39446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08986-E2DA-4C72-9717-E697B74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905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74F32-391A-42AD-9AD0-BF5D5134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业务同事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C4036-6465-43AA-99FB-EE9149CA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4196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F81BC-F451-4C20-83E3-1985FBE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39446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E839A-0970-4BDB-BC35-7C49665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905000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3BEA9-4077-4BB5-949F-DDF5B5A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4488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开发同事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1F1D2-B71A-4791-A9F2-DFB658A7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67913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D98FF-76B7-4084-8C26-D0AFD91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62275"/>
            <a:ext cx="304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E45E1-3EFF-4AD1-99DD-4616741C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33725"/>
            <a:ext cx="2705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描述比对需求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提供两版报告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C0ED4-D7EF-4AB9-980A-401B1B9B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62275"/>
            <a:ext cx="3581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3DF97-FD6B-4F71-A0CC-6613610E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00413"/>
            <a:ext cx="323850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试用并反馈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222AE-FC48-4860-ADD4-00DA21AB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53025"/>
            <a:ext cx="24955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900E8-9D9F-4214-A78F-3357A1AA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463778"/>
            <a:ext cx="2152650" cy="55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F438C-8E4A-43AE-B20A-8CCED7C2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53025"/>
            <a:ext cx="24955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C6600-5F88-4068-A5DB-473C7F83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3778"/>
            <a:ext cx="2152650" cy="55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编写程序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FDB21-5F13-4FB7-8720-D5A72B9AE7F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53050" y="56245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87837-60B9-44E7-834F-F2E10882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4955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9B434-7CDF-4F00-894B-BA37F8ED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463778"/>
            <a:ext cx="2152650" cy="55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测试与修改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CD701-11AD-4C0D-8FDF-C0C2FB7FB8A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343900" y="56245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6DD85-5ADC-4989-9DBB-AC797DD5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5153025"/>
            <a:ext cx="24955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BF32B4-251B-41A6-86C0-ABCCE35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63778"/>
            <a:ext cx="2152650" cy="556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工具与说明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0F175-38E3-4DC0-ADFB-ED0346ADDCF0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334750" y="5624513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FCFED-763B-419F-8506-E9B18196A634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4105275" y="3971925"/>
            <a:ext cx="276225" cy="1181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A4DE3-DE18-45E0-A3E6-ED0C57253596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H="1" flipV="1">
            <a:off x="12534900" y="3971925"/>
            <a:ext cx="542925" cy="1181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E42E9-5746-4B17-9A7B-37E635C1A967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7096125" y="3971925"/>
            <a:ext cx="5438775" cy="1181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17F7B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B01293-3BF7-4705-906E-42402162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267575"/>
            <a:ext cx="1146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报告比对需求形成可以重复使用的工具</a:t>
            </a:r>
          </a:p>
        </p:txBody>
      </p:sp>
    </p:spTree>
    <p:extLst>
      <p:ext uri="{BB962C8B-B14F-4D97-AF65-F5344CB8AC3E}">
        <p14:creationId xmlns:p14="http://schemas.microsoft.com/office/powerpoint/2010/main" val="2486124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0D1AE6-FD25-4804-A267-6ACDDF06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2D8CB-9EEB-4321-BB0D-9F85104E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易方达与景顺长城的开发辅助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436BA-6A34-4F13-B7FC-1574BF7E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0A94B-FC17-4C33-8CD8-2ED25EFF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来源：易方达基金，基金业协会案例材料；易方达基金CIO论坛发言；财联社，景顺长城量化团队报道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5E32-EE98-444D-9486-4E296ABB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209B8-7933-4515-8BD7-0A82F9FB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16E74-33F8-4013-89DE-A78CAB42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5CF6D-CB51-433F-8356-77E195EF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易方达基金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1D9B4-7CF3-438A-BE34-A4BE17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209800"/>
            <a:ext cx="6696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99477-8E7D-4319-894A-AAB35B6D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86000"/>
            <a:ext cx="6391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景顺长城基金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13570-0F34-4889-800F-59A2D5A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6960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研发管理流程引入大模型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CB0E7-518E-4285-9C47-474B13DF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086100"/>
            <a:ext cx="66960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量化团队使用本地模型辅助编程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952D7-DF3F-49A9-A4D2-16027DD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309324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4AAC4-7C94-4C7D-B09D-CBDD3D1B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36306"/>
            <a:ext cx="2750344" cy="5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1CDF-512D-4832-8F7C-8B577C60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819" y="4438650"/>
            <a:ext cx="309324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106B8-7B12-4F39-B064-803E2B6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6269" y="4736306"/>
            <a:ext cx="2750344" cy="5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B92F9-4252-43EF-88DB-8312774DEB7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740944" y="4914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54C48-7A5D-4CF7-9A14-982FFB7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438650"/>
            <a:ext cx="309324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24179-E0AE-4F07-B6A5-2B17D88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3388" y="4736306"/>
            <a:ext cx="2750344" cy="5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17EB3-AD34-428A-8182-8595CBC21042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58063" y="49149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157BF-9596-4A02-B766-56AAA04B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056" y="4438650"/>
            <a:ext cx="309324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CF806-C0E1-442C-9DE7-8F82FABC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506" y="4736306"/>
            <a:ext cx="2750344" cy="578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5022F-B248-4DE8-A45E-730878BDCB55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975182" y="4914900"/>
            <a:ext cx="5238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A90B8-9F7F-4E22-B036-FC230E2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102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LLM辅助编写程序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B54A3-052B-4C8A-8308-6A66E6BE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810250"/>
            <a:ext cx="5686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LLM辅助生成与修订测试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8DBD0-62C0-4BC9-AF4A-25BD5314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53225"/>
            <a:ext cx="13944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7DED8-9CA3-4BE0-8070-E48BF0E0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389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报告比对工具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3E874-779D-42FB-8123-BB793FC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7038975"/>
            <a:ext cx="10410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两版文件进入处理程序，输出差异结果与操作说明</a:t>
            </a:r>
          </a:p>
        </p:txBody>
      </p:sp>
    </p:spTree>
    <p:extLst>
      <p:ext uri="{BB962C8B-B14F-4D97-AF65-F5344CB8AC3E}">
        <p14:creationId xmlns:p14="http://schemas.microsoft.com/office/powerpoint/2010/main" val="184835861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2EC82-C6B3-43C7-B4A4-143AABB6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8CEB2-8D92-4301-8EEF-A922B781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公司业务工具开发方案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F112B-70D9-46C0-94F2-44B8665A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7D3BC-85D8-4CB7-ABC9-6CDDA3DF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来源：易方达基金，基金业协会案例材料；财联社，景顺长城量化团队报道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E2CB-0255-485C-93A9-DB988F4F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CEE6F-58F1-4CEE-8330-727B59A5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C7A78-EDB3-4DFC-A2AA-6E98995B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466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413FA-0054-4686-83DD-B88028BF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57425"/>
            <a:ext cx="4362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5DB2A-B09E-49E9-97EB-88463CF5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81225"/>
            <a:ext cx="7772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3016A-64CD-4565-94AF-5874F9D8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57425"/>
            <a:ext cx="7467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A1CF3-E6F9-4BDA-A182-6B46370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E2B5C-F029-4ADD-B9FD-16CA2AFF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6384"/>
            <a:ext cx="4324350" cy="5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两版报告与比较要求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84675-69D1-4F12-9676-2C141282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33725"/>
            <a:ext cx="777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95B72-57A6-424E-823B-BA1C657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56384"/>
            <a:ext cx="7429500" cy="5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整理需求与测试样例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78DA8-DB0F-479F-978B-39B88674CECA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314950" y="3629025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E519A-7BC7-487D-8C1D-4C36499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86325"/>
            <a:ext cx="777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4F8380-08FD-4669-82FE-A247278F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208984"/>
            <a:ext cx="7429500" cy="5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LLM辅助编程、测试与修改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E8D7D-83AE-4C73-BBEF-6FE2DE4B8D8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706100" y="41243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5320E-9639-41F7-8460-A63EE98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4667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AE2D1-7D84-487F-A695-5D503B6B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85359"/>
            <a:ext cx="4324350" cy="591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差异结果与使用反馈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4B15D-CE1F-43AD-879F-02782EC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362700"/>
            <a:ext cx="7772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A85DE-8630-4AF6-A684-A35712FE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691313"/>
            <a:ext cx="7429500" cy="585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程序、测试样例、操作说明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AE934-A4D3-45B8-962C-E56C120C969B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0706100" y="587692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2E602-1862-4BD4-BB58-D722CA596EF5}"/>
              </a:ext>
            </a:extLst>
          </p:cNvPr>
          <p:cNvCxnSpPr>
            <a:stCxn xmlns:a="http://schemas.openxmlformats.org/drawingml/2006/main" id="21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5314950" y="6858000"/>
            <a:ext cx="1504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5098B-FD7F-498C-9FB3-EDD29CC0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81325" y="4572000"/>
            <a:ext cx="953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C5BD0-94A1-4343-9B4D-40202AE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81325" y="4572000"/>
            <a:ext cx="6543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5C4369-E1C8-4093-81BD-D71C73C8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525000" y="4391025"/>
            <a:ext cx="953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29FA5-B310-4ADB-BB65-6EA9243B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24325"/>
            <a:ext cx="133350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731400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46B0FD-7701-4222-B856-D6572321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其他工作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C1686-49C2-4A9D-A99F-224FCB1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后台的其他应用方向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493B4-9718-4C30-9F3D-BD35594B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D6B30-9765-43A5-9E80-452F4CB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来源：财经网，招商基金数字金融报道；中国证券报，平安基金AI青蚨报道；永赢基金，基金业协会案例材料；汇添富公开专利CN121958380A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CE7B1-D492-44AE-9950-EF50184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0E468-5754-4A41-9EAC-2799950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内部办事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2DE9E-039A-43DE-B804-297FF78E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招商、平安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039ED-DB48-404F-AC7E-F15E51BD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669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CDEB6-2C39-4BBA-965A-E1A40371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789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运营说明与内部政策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3A7BC-9CCD-4622-BE14-2E9ABDE6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7FC762-2BD3-4DB5-9DEC-B9B0510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789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按问题检索解释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D508D-7F0F-4659-BBEB-B99544CE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2266950"/>
            <a:ext cx="32861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EF107-6362-4C56-B3F2-8536DCA6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678906"/>
            <a:ext cx="294322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操作与办事指引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EC77F4-45CF-48E4-82A8-BF50252AF72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667500" y="28336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04CB1-9F96-4997-9E27-22706A935EF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0658475" y="28336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8DA73-FD30-4323-A0F4-789483CC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37052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1C17C-3968-4219-B6A2-91EE34ED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862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邮件安全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69BC3-CFDC-47D6-B2FD-CA0D1CCA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永赢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14DCC-8888-483D-AF84-7C77655A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195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A550B-23E4-45B8-A613-717FA47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315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邮件、附件与链接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C177D-D974-445C-A5E4-3C0F15CC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195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353C14-0C12-4D0D-89F3-869F3E13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15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理解意图并调度检测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5F9F1-87A8-43C8-B1C3-148B14B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4019550"/>
            <a:ext cx="32861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9AAAB-FCCE-49E9-9C1E-18B5121F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431506"/>
            <a:ext cx="294322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风险分级与处置线索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D8F7B-0706-47D2-BAAE-F400D0E1B39A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6667500" y="45862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D6621-E6A4-4CBF-9541-BC421A744E3C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0658475" y="45862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9A6D8-BAD5-4AF5-9F91-F5B2BA4C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4578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ED0D1-6E10-4381-9F1C-F01BB41E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388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经营分析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B5841-119E-4D4C-886A-39288772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汇添富</a:t>
            </a:r>
          </a:p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公开专利提出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991188-486D-4FB0-BD5F-3A3D52A2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7721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D5623-0B21-4ACA-A350-454A64DE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1841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产品、渠道与期间问题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4CB68A-AB78-4B4D-86DC-CF3C1510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72150"/>
            <a:ext cx="334327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A2DAC0-5D2B-4385-A1AD-B3FA328C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184106"/>
            <a:ext cx="300037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取数、计算与归因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86A3DD-A6E1-4E6D-9DB2-83212D0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772150"/>
            <a:ext cx="32861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070172-E852-49BB-892B-80F7166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184106"/>
            <a:ext cx="2943225" cy="645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原因与行动要点报告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85D1F7-4DD0-419E-847D-F7D33B184827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667500" y="63388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9E65AF-6442-409A-A4A9-8C2433BF073B}"/>
              </a:ext>
            </a:extLst>
          </p:cNvPr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0658475" y="6338888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181122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A1ACC-4FAF-4CA1-8907-1162FA05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4D4E6-F04F-4F58-BCE8-2FD4726D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七项公司应用建议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7FCFE-8682-4397-A37F-22E0E141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E5D9D-6C66-40FA-AE35-AA3AFDD2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来源：天弘基金，基金业协会案例材料；南方基金，基金业协会案例材料；鹏华基金，基金业协会案例材料；汇添富基金，基金业协会案例材料；工银瑞信基金，基金业协会案例材料；易方达基等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4F92A-E68C-4317-942F-B46307A5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D2AC2-7E6C-474B-92C3-A5D57620B423}"/>
              </a:ext>
            </a:extLst>
          </p:cNvPr>
          <p:cNvGraphicFramePr/>
          <p:nvPr/>
        </p:nvGraphicFramePr>
        <p:xfrm>
          <a:off xmlns:a="http://schemas.openxmlformats.org/drawingml/2006/main" x="647700" y="2143125"/>
          <a:ext xmlns:a="http://schemas.openxmlformats.org/drawingml/2006/main" cx="13944600" cy="5457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57500"/>
                <a:gridCol w="4286250"/>
                <a:gridCol w="4419600"/>
              </a:tblGrid>
              <a:tr h="68222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使用者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主要产物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改善的工作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投研分析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研究员、投资经理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公司分析与研究要素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检索、计算与观点比较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交易支持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投资经理、交易员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候选券、报价、交易要素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查询、询价与指令准备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客户材料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销售、机构业务同事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观点摘要、问答、标书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资料检索与内容组织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材料审核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编写人、审核人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问题位置、依据、修改意见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逐项检查与反复修改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风险分析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风险、投资同事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影响说明与跟进事项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邮件处理与影响分析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运营文件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运营、业务同事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业务记录、差异、修订文件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抄录、核对与批量修改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222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工具开发</a:t>
                      </a:r>
                    </a:p>
                  </a:txBody>
                  <a:tcPr marL="142875" marR="142875" marT="104775" marB="104775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业务、开发同事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程序、测试、操作说明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需求整理到工具交付</a:t>
                      </a:r>
                    </a:p>
                  </a:txBody>
                  <a:tcPr marL="142875" marR="142875" marT="104775" marB="104775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4425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6A294-E100-4341-ADAA-430039B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A0B87-909F-49B5-B621-4E2866BB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两条跨部门工作流程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D8B6-87BC-4724-8CF3-35A1084C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260BA-86D5-4292-A6F3-D33A73E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C1009-4E11-4DAC-A5DF-4EF50A9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168592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3C0B2-7AB0-4CA2-A5E4-6C9AF5C0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3944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212BF-79A0-4CC3-91A3-DCF19456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905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C6436-F31C-4A10-AA59-1F0F10B0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D19D0-50AD-4AF6-B0DA-E96952B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1529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FF30D-CF99-48A9-8A53-C0C1958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3944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8A6B5-75CE-46B3-B220-78142427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1905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F14D-E082-40D2-BA5F-523849C8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7C32C-F67D-4C52-B937-040124A4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8102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DE33D-2A43-4017-B843-619BCE2F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3944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57F98-532A-4FFC-9436-09EEF9D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905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3EEAC-3389-4646-8E33-32AB22E2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579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B0200-5F8E-4428-BE67-AEEE47A2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746760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2BB42-1B39-4D7B-975F-53415AE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716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投资研究与业务支持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B7385-E8FF-485B-9898-1C5A20A7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716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客户材料生成、审核与更新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25F87-00AC-4E76-955C-C23F8ED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5143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DDD8C-E73F-46F5-AE1A-5C65A974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甲公司研究与交易准备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46135-37AC-4F99-A70E-C491F60D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62475"/>
            <a:ext cx="5143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1795A-EAD5-4D76-A7B9-C4CA62A1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9650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甲公司影响分析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CAE3D-F452-4484-B522-79FCDD89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9825"/>
            <a:ext cx="51435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E4596-4707-4332-971F-79A354E0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77000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交易记录与运营文件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D9B78-CAB4-4420-8E08-4EF26CC8AF3A}"/>
              </a:ext>
            </a:extLst>
          </p:cNvPr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429250" y="37528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7F7B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E54CDE-54B0-4BF0-9586-AA4A3C3CB880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429250" y="54102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7F7B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8B567-52B4-42FE-85A8-1E17A482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54483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A89610-9CCC-49FD-A787-643B658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611C9-A1E8-45CD-BFB9-24DDC0E9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62475"/>
            <a:ext cx="54483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875F7-66A4-40B7-BEE1-8BFD6D9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审核、修改与复查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BCD1F-6FF0-4F83-8007-6155475C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19825"/>
            <a:ext cx="54483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7584D5-C090-467F-BE62-42F1D690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4770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版本比对与材料更新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862791-513E-4BFD-BD2F-C5321EBBC040}"/>
              </a:ext>
            </a:extLst>
          </p:cNvPr>
          <p:cNvCxnSpPr>
            <a:stCxn xmlns:a="http://schemas.openxmlformats.org/drawingml/2006/main" id="2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601450" y="37528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63A6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F6C2A-1AD6-471C-8C95-668E1D971139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1601450" y="54102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363A6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6A29EA-C062-4C7D-A65B-BBC5FE3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524750"/>
            <a:ext cx="1146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建议从投研分析与客户材料流程启动</a:t>
            </a:r>
          </a:p>
        </p:txBody>
      </p:sp>
    </p:spTree>
    <p:extLst>
      <p:ext uri="{BB962C8B-B14F-4D97-AF65-F5344CB8AC3E}">
        <p14:creationId xmlns:p14="http://schemas.microsoft.com/office/powerpoint/2010/main" val="296450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BCDC4-7858-4A6F-B138-32E4D7F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B00D1-24C0-484C-8A2F-E129B00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应用共用的资料与服务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0DA78-FD4C-487C-9E8D-FDF3F582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FB54B-0188-4018-BED5-4A061351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1295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来源：天弘基金，基金业协会案例材料；南方基金，基金业协会案例材料；工银瑞信基金，基金业协会案例材料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0772F-024A-463C-8B0B-21E87BC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F7896-235D-4B83-B702-C3ACDCBC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66925"/>
            <a:ext cx="657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D1D03-C534-4D22-9171-28317AC9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34803"/>
            <a:ext cx="6229350" cy="460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员工使用入口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8848F-D7B6-4EF5-A282-A0AE5DA1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00425"/>
            <a:ext cx="11144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1B3E9-A67D-4CDA-8B08-7B4AD0D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73078"/>
            <a:ext cx="10801350" cy="565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研究、交易、材料、审核、风险、运营与开发流程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0E25E-56A6-4216-8B84-DA0A0F0CAE8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620000" y="2771775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24CD1-8327-4033-91EC-5EDB8655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4000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F7FA2-5E55-405C-BAB5-CE1BE9B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365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模型服务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候选：Qwen、DeepSeek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DF0EA-762C-4E35-8605-F555D2E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29225"/>
            <a:ext cx="4000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659FA-604C-43F7-886A-4DC9F2AE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81650"/>
            <a:ext cx="36576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文档、知识库、业务数据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607F7-4290-40D0-92EC-697AE467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229225"/>
            <a:ext cx="40005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6DDE7-2B17-4626-869F-BE715E7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432822"/>
            <a:ext cx="3657600" cy="1091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检索、计算</a:t>
            </a:r>
          </a:p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查询、文件处理</a:t>
            </a:r>
          </a:p>
        </p:txBody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F4CF6-D97B-4D0A-BEA8-0771C9789CB0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647950" y="4314825"/>
            <a:ext cx="497205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477D5-09F7-4B15-B01C-0177C8ED38C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620000" y="431482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1A380-AFD5-47A3-B970-18ECE5F4202F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620000" y="4314825"/>
            <a:ext cx="497205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2208A8-DF3E-47F4-BFB4-913E410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15200"/>
            <a:ext cx="1394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资料权限、来源与变更记录随工作流程保留</a:t>
            </a:r>
          </a:p>
        </p:txBody>
      </p:sp>
    </p:spTree>
    <p:extLst>
      <p:ext uri="{BB962C8B-B14F-4D97-AF65-F5344CB8AC3E}">
        <p14:creationId xmlns:p14="http://schemas.microsoft.com/office/powerpoint/2010/main" val="9939693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AC920-8744-48BC-8848-7FA378A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13178-6CBF-4610-9E22-64C9D05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87E6B-C528-466A-BA29-214C3655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13AF-66F4-41E8-9DBF-4233FE37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4C3E3-B8F4-42A3-8A48-ACDAB9C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第一阶段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62437-600A-489E-B412-1CA2F926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2724150"/>
            <a:ext cx="441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5A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88E8E-44FA-4221-A8C9-423DE10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441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研究与客户材料应用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F68C8-84D6-4A45-80D1-AE2109FE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负责人角色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58F9D-96F5-4A66-816A-E91F7CE7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投研、销售、合规、IT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04A49-CA40-4861-AD9B-9DE462DE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0DC81-D660-4EB3-A97F-2F5FF834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81725"/>
            <a:ext cx="4419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任务样例、资料目录、应用初版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3C14F-A197-41BF-B78D-B16350F3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19975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形成两条工作流程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F963A-5B41-4DDE-AE96-655EFA71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第二阶段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003CD-C24B-4A2C-B4CA-39BCEE9C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10200" y="2724150"/>
            <a:ext cx="441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5A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0A4F8-CFC4-49EC-990F-205A9B2A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76575"/>
            <a:ext cx="441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交易与运营系统接入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DF5E24-AF00-4059-BF4B-33FF72A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负责人角色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F3075-490F-4164-91BD-C249DF3E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81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交易、运营、IT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465CC-B56D-4C93-BFD5-8D1392CA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435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4B581-62A9-43ED-B227-A039706C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181725"/>
            <a:ext cx="4419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查询接口、字段规范、文件流程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631E7-AB90-4324-832C-0B19917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419975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复用资料与业务工具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3B34D-DAC2-44E8-BC1A-545E0704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95500"/>
            <a:ext cx="441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第三阶段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A0988-EB99-406B-8A9F-A796C297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72700" y="2724150"/>
            <a:ext cx="4419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5A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3C4F5-2A1D-478B-87E4-6655F52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76575"/>
            <a:ext cx="4419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工具开发与内部服务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7E8CE8-2C53-4036-8307-C70F4583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43400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负责人角色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5389F-A7A9-4117-B16F-368E1B3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81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业务部门、开发、支持团队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0DDAFA-75E0-45D3-AD27-72A3F914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74357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0AA56-93FA-4283-AAA3-B7743FC6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181725"/>
            <a:ext cx="4419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工具、测试、操作说明、维护机制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7D578-1C71-4B9D-B65A-F8F63BE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7419975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扩展更多部门工作</a:t>
            </a:r>
          </a:p>
        </p:txBody>
      </p:sp>
    </p:spTree>
    <p:extLst>
      <p:ext uri="{BB962C8B-B14F-4D97-AF65-F5344CB8AC3E}">
        <p14:creationId xmlns:p14="http://schemas.microsoft.com/office/powerpoint/2010/main" val="5283835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A28EA-1898-4787-90DB-275B4255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FF8B9-2475-4B80-83AD-6DB2EB9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90575"/>
            <a:ext cx="1394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应用效果与推进重点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5389E-9682-4D81-B7A3-B5F88141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010525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B5D38-8CF3-4C7B-A194-21674DA0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8115300"/>
            <a:ext cx="619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D841E-358C-4497-BA7E-E57A6924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3007519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7ECED-CEB3-4643-89B2-DCBC976B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9616"/>
            <a:ext cx="2664619" cy="627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原工作任务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83E90-4BFC-419C-9466-3129AF9C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94" y="2305050"/>
            <a:ext cx="3007519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A006B-B133-46D4-8B42-8F1414B5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844" y="2639616"/>
            <a:ext cx="2664619" cy="627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使用应用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AF87-9B26-4E20-8230-7C2B4F8506D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55219" y="28241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E3175-5BCF-41F2-ADBD-DA8D948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2305050"/>
            <a:ext cx="3007519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2273B-020B-4680-BF62-367645F9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639616"/>
            <a:ext cx="2664619" cy="627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记录结果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661D6-52D4-4145-BC04-FC99C50F0FD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300913" y="28241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F5DE7-95AF-460C-B70E-3BFFD9A2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4781" y="2305050"/>
            <a:ext cx="3007519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AD9D6-85CC-4690-88D9-F081B6EB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231" y="2639616"/>
            <a:ext cx="2664619" cy="627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调整流程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14463-05F6-49F5-91CD-81FF813A6240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946607" y="2824163"/>
            <a:ext cx="6381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5A9C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DFE07-833E-4A37-83BF-9EBCFC81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4286250"/>
            <a:ext cx="672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C6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4EB17-E2A1-4D65-AA8A-8B2CF5F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任务完成时间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2127E-264E-4BDB-A66F-F21E0B62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14850"/>
            <a:ext cx="3876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完成同一任务的实际用时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5C972-11EE-4123-876E-1C55D4F3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0" y="4286250"/>
            <a:ext cx="672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C6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CC4D7-3755-4E78-B384-EC43791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交付采用情况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1BCBB-4350-4408-90F1-446D4FD9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14850"/>
            <a:ext cx="3876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输出直接使用与修改情况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992D4-2C4C-49A3-B84E-03A8232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553075"/>
            <a:ext cx="672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C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6E198-1F5D-406E-8C0A-0E6451B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81675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返工次数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C4417-2EA2-461F-9CA8-B5F408C6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781675"/>
            <a:ext cx="3876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提交后补充与重新处理次数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4B911-41C9-40B2-AD15-AD0B703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0" y="5553075"/>
            <a:ext cx="672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CC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315E6B-C106-447D-B531-9D9E4D3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81675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使用频次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CAB93-7544-4BE1-9684-9A4BF9C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81675"/>
            <a:ext cx="3876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同事持续使用的任务与次数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A72FA-13ED-4969-AE0F-1E8D20AB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48525"/>
            <a:ext cx="1394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从投研分析与客户材料两条流程启动，逐步接入更多部门工作</a:t>
            </a:r>
          </a:p>
        </p:txBody>
      </p:sp>
    </p:spTree>
    <p:extLst>
      <p:ext uri="{BB962C8B-B14F-4D97-AF65-F5344CB8AC3E}">
        <p14:creationId xmlns:p14="http://schemas.microsoft.com/office/powerpoint/2010/main" val="498642547"/>
      </p:ext>
    </p:extLst>
  </p:cSld>
</p:sld>
</file>

<file path=ppt/theme/theme1.xml><?xml version="1.0" encoding="utf-8"?>
<a:theme xmlns:a="http://schemas.openxmlformats.org/drawingml/2006/main" name="ChatGPT">
  <a:themeElements>
    <a:clrScheme name="Business Blue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2026-10-23T09:06:08.4260000Z</dcterms:created>
  <dcterms:modified xsi:type="dcterms:W3CDTF">2026-10-23T09:06:08.4260000Z</dcterms:modified>
</coreProperties>
</file>