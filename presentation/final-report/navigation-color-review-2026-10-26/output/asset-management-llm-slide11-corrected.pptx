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8afd2b97543f6" /><Relationship Type="http://schemas.openxmlformats.org/officeDocument/2006/relationships/extended-properties" Target="/docProps/app.xml" Id="R2e395ede1c6d47ca" /><Relationship Type="http://schemas.openxmlformats.org/officeDocument/2006/relationships/officeDocument" Target="/ppt/presentation.xml" Id="Rad4ac5224e3f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fbe9e6a84748"/>
  </p:sldMasterIdLst>
  <p:notesMasterIdLst>
    <p:notesMasterId xmlns:r="http://schemas.openxmlformats.org/officeDocument/2006/relationships" r:id="R6e122c12f9644f44"/>
  </p:notesMasterIdLst>
  <p:sldIdLst>
    <p:sldId xmlns:r="http://schemas.openxmlformats.org/officeDocument/2006/relationships" id="256" r:id="R390636d39d7347d7"/>
    <p:sldId xmlns:r="http://schemas.openxmlformats.org/officeDocument/2006/relationships" id="257" r:id="R7b57c72efeb1497a"/>
    <p:sldId xmlns:r="http://schemas.openxmlformats.org/officeDocument/2006/relationships" id="258" r:id="Rcd4319cf7eb84535"/>
    <p:sldId xmlns:r="http://schemas.openxmlformats.org/officeDocument/2006/relationships" id="259" r:id="R07d0532394894932"/>
    <p:sldId xmlns:r="http://schemas.openxmlformats.org/officeDocument/2006/relationships" id="260" r:id="R820e715e6f194792"/>
    <p:sldId xmlns:r="http://schemas.openxmlformats.org/officeDocument/2006/relationships" id="261" r:id="Rb8cd7f2ed53f4e1b"/>
    <p:sldId xmlns:r="http://schemas.openxmlformats.org/officeDocument/2006/relationships" id="262" r:id="R474c0bf37edb4cea"/>
    <p:sldId xmlns:r="http://schemas.openxmlformats.org/officeDocument/2006/relationships" id="263" r:id="Rd5b7b06329bf4113"/>
    <p:sldId xmlns:r="http://schemas.openxmlformats.org/officeDocument/2006/relationships" id="264" r:id="R30f62b1981a84933"/>
    <p:sldId xmlns:r="http://schemas.openxmlformats.org/officeDocument/2006/relationships" id="265" r:id="R4699d77233174d36"/>
    <p:sldId xmlns:r="http://schemas.openxmlformats.org/officeDocument/2006/relationships" id="266" r:id="R31df87a8ac1346d0"/>
    <p:sldId xmlns:r="http://schemas.openxmlformats.org/officeDocument/2006/relationships" id="267" r:id="R9dfc38af7c1d45b8"/>
    <p:sldId xmlns:r="http://schemas.openxmlformats.org/officeDocument/2006/relationships" id="268" r:id="R795d7ff9988647cc"/>
    <p:sldId xmlns:r="http://schemas.openxmlformats.org/officeDocument/2006/relationships" id="269" r:id="Rcd259ea95bf14c96"/>
    <p:sldId xmlns:r="http://schemas.openxmlformats.org/officeDocument/2006/relationships" id="270" r:id="R1d7e6e39ec884ede"/>
    <p:sldId xmlns:r="http://schemas.openxmlformats.org/officeDocument/2006/relationships" id="271" r:id="R34a91606121040e0"/>
    <p:sldId xmlns:r="http://schemas.openxmlformats.org/officeDocument/2006/relationships" id="272" r:id="R33be6cf8668a4f60"/>
    <p:sldId xmlns:r="http://schemas.openxmlformats.org/officeDocument/2006/relationships" id="273" r:id="R15f9f4f2e7c94f74"/>
    <p:sldId xmlns:r="http://schemas.openxmlformats.org/officeDocument/2006/relationships" id="274" r:id="Raba3dadce42b4a2a"/>
    <p:sldId xmlns:r="http://schemas.openxmlformats.org/officeDocument/2006/relationships" id="275" r:id="R1510c5db4da84232"/>
    <p:sldId xmlns:r="http://schemas.openxmlformats.org/officeDocument/2006/relationships" id="276" r:id="R62bbc882b7d744a6"/>
    <p:sldId xmlns:r="http://schemas.openxmlformats.org/officeDocument/2006/relationships" id="277" r:id="R0284ad737b7e404e"/>
    <p:sldId xmlns:r="http://schemas.openxmlformats.org/officeDocument/2006/relationships" id="278" r:id="R0fe18bf047c8408c"/>
    <p:sldId xmlns:r="http://schemas.openxmlformats.org/officeDocument/2006/relationships" id="279" r:id="R1326405c89d34aca"/>
    <p:sldId xmlns:r="http://schemas.openxmlformats.org/officeDocument/2006/relationships" id="280" r:id="R97c87c600b474f37"/>
    <p:sldId xmlns:r="http://schemas.openxmlformats.org/officeDocument/2006/relationships" id="281" r:id="R9cf89a85407a4621"/>
    <p:sldId xmlns:r="http://schemas.openxmlformats.org/officeDocument/2006/relationships" id="282" r:id="Rff138eb52d014a01"/>
    <p:sldId xmlns:r="http://schemas.openxmlformats.org/officeDocument/2006/relationships" id="283" r:id="R7449c02aed4e4d1b"/>
    <p:sldId xmlns:r="http://schemas.openxmlformats.org/officeDocument/2006/relationships" id="284" r:id="Rcd365684a5e24dc5"/>
    <p:sldId xmlns:r="http://schemas.openxmlformats.org/officeDocument/2006/relationships" id="285" r:id="R480194aec177473a"/>
    <p:sldId xmlns:r="http://schemas.openxmlformats.org/officeDocument/2006/relationships" id="286" r:id="R4bd97497d5ad4616"/>
    <p:sldId xmlns:r="http://schemas.openxmlformats.org/officeDocument/2006/relationships" id="287" r:id="R69b30f86db62496c"/>
    <p:sldId xmlns:r="http://schemas.openxmlformats.org/officeDocument/2006/relationships" id="288" r:id="R755a343b797b4b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ec88309ce4449" /><Relationship Type="http://schemas.openxmlformats.org/officeDocument/2006/relationships/slideMaster" Target="/ppt/slideMasters/slideMaster1.xml" Id="R0e15fbe9e6a84748" /><Relationship Type="http://schemas.openxmlformats.org/officeDocument/2006/relationships/notesMaster" Target="/ppt/notesMasters/notesMaster1.xml" Id="R6e122c12f9644f44" /><Relationship Type="http://schemas.openxmlformats.org/officeDocument/2006/relationships/presProps" Target="/ppt/presProps.xml" Id="R13e92d9c7e2f420e" /><Relationship Type="http://schemas.openxmlformats.org/officeDocument/2006/relationships/tableStyles" Target="/ppt/tableStyles.xml" Id="Reab0ce6b86a24159" /><Relationship Type="http://schemas.openxmlformats.org/officeDocument/2006/relationships/slide" Target="/ppt/slides/slide1.xml" Id="R390636d39d7347d7" /><Relationship Type="http://schemas.openxmlformats.org/officeDocument/2006/relationships/slide" Target="/ppt/slides/slide2.xml" Id="R7b57c72efeb1497a" /><Relationship Type="http://schemas.openxmlformats.org/officeDocument/2006/relationships/slide" Target="/ppt/slides/slide3.xml" Id="Rcd4319cf7eb84535" /><Relationship Type="http://schemas.openxmlformats.org/officeDocument/2006/relationships/slide" Target="/ppt/slides/slide4.xml" Id="R07d0532394894932" /><Relationship Type="http://schemas.openxmlformats.org/officeDocument/2006/relationships/slide" Target="/ppt/slides/slide5.xml" Id="R820e715e6f194792" /><Relationship Type="http://schemas.openxmlformats.org/officeDocument/2006/relationships/slide" Target="/ppt/slides/slide6.xml" Id="Rb8cd7f2ed53f4e1b" /><Relationship Type="http://schemas.openxmlformats.org/officeDocument/2006/relationships/slide" Target="/ppt/slides/slide7.xml" Id="R474c0bf37edb4cea" /><Relationship Type="http://schemas.openxmlformats.org/officeDocument/2006/relationships/slide" Target="/ppt/slides/slide8.xml" Id="Rd5b7b06329bf4113" /><Relationship Type="http://schemas.openxmlformats.org/officeDocument/2006/relationships/slide" Target="/ppt/slides/slide9.xml" Id="R30f62b1981a84933" /><Relationship Type="http://schemas.openxmlformats.org/officeDocument/2006/relationships/slide" Target="/ppt/slides/slide10.xml" Id="R4699d77233174d36" /><Relationship Type="http://schemas.openxmlformats.org/officeDocument/2006/relationships/slide" Target="/ppt/slides/slide11.xml" Id="R31df87a8ac1346d0" /><Relationship Type="http://schemas.openxmlformats.org/officeDocument/2006/relationships/slide" Target="/ppt/slides/slide12.xml" Id="R9dfc38af7c1d45b8" /><Relationship Type="http://schemas.openxmlformats.org/officeDocument/2006/relationships/slide" Target="/ppt/slides/slide13.xml" Id="R795d7ff9988647cc" /><Relationship Type="http://schemas.openxmlformats.org/officeDocument/2006/relationships/slide" Target="/ppt/slides/slide14.xml" Id="Rcd259ea95bf14c96" /><Relationship Type="http://schemas.openxmlformats.org/officeDocument/2006/relationships/slide" Target="/ppt/slides/slide15.xml" Id="R1d7e6e39ec884ede" /><Relationship Type="http://schemas.openxmlformats.org/officeDocument/2006/relationships/slide" Target="/ppt/slides/slide16.xml" Id="R34a91606121040e0" /><Relationship Type="http://schemas.openxmlformats.org/officeDocument/2006/relationships/slide" Target="/ppt/slides/slide17.xml" Id="R33be6cf8668a4f60" /><Relationship Type="http://schemas.openxmlformats.org/officeDocument/2006/relationships/slide" Target="/ppt/slides/slide18.xml" Id="R15f9f4f2e7c94f74" /><Relationship Type="http://schemas.openxmlformats.org/officeDocument/2006/relationships/slide" Target="/ppt/slides/slide19.xml" Id="Raba3dadce42b4a2a" /><Relationship Type="http://schemas.openxmlformats.org/officeDocument/2006/relationships/slide" Target="/ppt/slides/slide20.xml" Id="R1510c5db4da84232" /><Relationship Type="http://schemas.openxmlformats.org/officeDocument/2006/relationships/slide" Target="/ppt/slides/slide21.xml" Id="R62bbc882b7d744a6" /><Relationship Type="http://schemas.openxmlformats.org/officeDocument/2006/relationships/slide" Target="/ppt/slides/slide22.xml" Id="R0284ad737b7e404e" /><Relationship Type="http://schemas.openxmlformats.org/officeDocument/2006/relationships/slide" Target="/ppt/slides/slide23.xml" Id="R0fe18bf047c8408c" /><Relationship Type="http://schemas.openxmlformats.org/officeDocument/2006/relationships/slide" Target="/ppt/slides/slide24.xml" Id="R1326405c89d34aca" /><Relationship Type="http://schemas.openxmlformats.org/officeDocument/2006/relationships/slide" Target="/ppt/slides/slide25.xml" Id="R97c87c600b474f37" /><Relationship Type="http://schemas.openxmlformats.org/officeDocument/2006/relationships/slide" Target="/ppt/slides/slide26.xml" Id="R9cf89a85407a4621" /><Relationship Type="http://schemas.openxmlformats.org/officeDocument/2006/relationships/slide" Target="/ppt/slides/slide27.xml" Id="Rff138eb52d014a01" /><Relationship Type="http://schemas.openxmlformats.org/officeDocument/2006/relationships/slide" Target="/ppt/slides/slide28.xml" Id="R7449c02aed4e4d1b" /><Relationship Type="http://schemas.openxmlformats.org/officeDocument/2006/relationships/slide" Target="/ppt/slides/slide29.xml" Id="Rcd365684a5e24dc5" /><Relationship Type="http://schemas.openxmlformats.org/officeDocument/2006/relationships/slide" Target="/ppt/slides/slide30.xml" Id="R480194aec177473a" /><Relationship Type="http://schemas.openxmlformats.org/officeDocument/2006/relationships/slide" Target="/ppt/slides/slide31.xml" Id="R4bd97497d5ad4616" /><Relationship Type="http://schemas.openxmlformats.org/officeDocument/2006/relationships/slide" Target="/ppt/slides/slide32.xml" Id="R69b30f86db62496c" /><Relationship Type="http://schemas.openxmlformats.org/officeDocument/2006/relationships/slide" Target="/ppt/slides/slide33.xml" Id="R755a343b797b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3e75bed1b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8c43a76964bba" /><Relationship Type="http://schemas.openxmlformats.org/officeDocument/2006/relationships/notesMaster" Target="/ppt/notesMasters/notesMaster1.xml" Id="R1267af05228d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590d33bd54b6e" /><Relationship Type="http://schemas.openxmlformats.org/officeDocument/2006/relationships/notesMaster" Target="/ppt/notesMasters/notesMaster1.xml" Id="Ra8076cb93264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e4fc8b9754270" /><Relationship Type="http://schemas.openxmlformats.org/officeDocument/2006/relationships/notesMaster" Target="/ppt/notesMasters/notesMaster1.xml" Id="R8a87eaa4155a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b80231341410a" /><Relationship Type="http://schemas.openxmlformats.org/officeDocument/2006/relationships/notesMaster" Target="/ppt/notesMasters/notesMaster1.xml" Id="Rff768ed1077f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244a968c6418e" /><Relationship Type="http://schemas.openxmlformats.org/officeDocument/2006/relationships/notesMaster" Target="/ppt/notesMasters/notesMaster1.xml" Id="R34e6eb2626db47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04232609e48fa" /><Relationship Type="http://schemas.openxmlformats.org/officeDocument/2006/relationships/notesMaster" Target="/ppt/notesMasters/notesMaster1.xml" Id="R8543c600a099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d268b2eb84cae" /><Relationship Type="http://schemas.openxmlformats.org/officeDocument/2006/relationships/notesMaster" Target="/ppt/notesMasters/notesMaster1.xml" Id="R3cca0745d0af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28552aa6a44a86" /><Relationship Type="http://schemas.openxmlformats.org/officeDocument/2006/relationships/notesMaster" Target="/ppt/notesMasters/notesMaster1.xml" Id="Rd4936733361f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811690eb294ccb" /><Relationship Type="http://schemas.openxmlformats.org/officeDocument/2006/relationships/notesMaster" Target="/ppt/notesMasters/notesMaster1.xml" Id="R30bb608570ec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36d0eb8a342bd" /><Relationship Type="http://schemas.openxmlformats.org/officeDocument/2006/relationships/notesMaster" Target="/ppt/notesMasters/notesMaster1.xml" Id="R50e4b7b1591d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a762bb0d7e40c4" /><Relationship Type="http://schemas.openxmlformats.org/officeDocument/2006/relationships/notesMaster" Target="/ppt/notesMasters/notesMaster1.xml" Id="R5aaa1151ed6547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91a22259f4476" /><Relationship Type="http://schemas.openxmlformats.org/officeDocument/2006/relationships/notesMaster" Target="/ppt/notesMasters/notesMaster1.xml" Id="R4ba7ef46d4e7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c1fc75d0fb41b8" /><Relationship Type="http://schemas.openxmlformats.org/officeDocument/2006/relationships/notesMaster" Target="/ppt/notesMasters/notesMaster1.xml" Id="R8a1b86c8a08946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4b87e938224b4a" /><Relationship Type="http://schemas.openxmlformats.org/officeDocument/2006/relationships/notesMaster" Target="/ppt/notesMasters/notesMaster1.xml" Id="R7c22e128f68548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f1245d6a674ba8" /><Relationship Type="http://schemas.openxmlformats.org/officeDocument/2006/relationships/notesMaster" Target="/ppt/notesMasters/notesMaster1.xml" Id="Rbfded3aa384145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5a3f02b7684e62" /><Relationship Type="http://schemas.openxmlformats.org/officeDocument/2006/relationships/notesMaster" Target="/ppt/notesMasters/notesMaster1.xml" Id="R1b1b72ca127c4e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c59df0a159401e" /><Relationship Type="http://schemas.openxmlformats.org/officeDocument/2006/relationships/notesMaster" Target="/ppt/notesMasters/notesMaster1.xml" Id="R9bf09e1198db4b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8fa3945f294c79" /><Relationship Type="http://schemas.openxmlformats.org/officeDocument/2006/relationships/notesMaster" Target="/ppt/notesMasters/notesMaster1.xml" Id="Rc0190028b5064a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7f99c1e30f466c" /><Relationship Type="http://schemas.openxmlformats.org/officeDocument/2006/relationships/notesMaster" Target="/ppt/notesMasters/notesMaster1.xml" Id="Rb857b6ffd3644d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70ad63929c45d5" /><Relationship Type="http://schemas.openxmlformats.org/officeDocument/2006/relationships/notesMaster" Target="/ppt/notesMasters/notesMaster1.xml" Id="R51fa0d9cd7a245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542187faf845f5" /><Relationship Type="http://schemas.openxmlformats.org/officeDocument/2006/relationships/notesMaster" Target="/ppt/notesMasters/notesMaster1.xml" Id="R90174c87044946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bac1cfbaf541cd" /><Relationship Type="http://schemas.openxmlformats.org/officeDocument/2006/relationships/notesMaster" Target="/ppt/notesMasters/notesMaster1.xml" Id="Raf1a66534fc949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701a58377e4ce8" /><Relationship Type="http://schemas.openxmlformats.org/officeDocument/2006/relationships/notesMaster" Target="/ppt/notesMasters/notesMaster1.xml" Id="Rf19c1d8ccad34f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5e21a42b4c47f0" /><Relationship Type="http://schemas.openxmlformats.org/officeDocument/2006/relationships/notesMaster" Target="/ppt/notesMasters/notesMaster1.xml" Id="R11925fbe7f2a49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744cba2cdd4ab0" /><Relationship Type="http://schemas.openxmlformats.org/officeDocument/2006/relationships/notesMaster" Target="/ppt/notesMasters/notesMaster1.xml" Id="R33d2d83d2d5640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1a163df44741b8" /><Relationship Type="http://schemas.openxmlformats.org/officeDocument/2006/relationships/notesMaster" Target="/ppt/notesMasters/notesMaster1.xml" Id="R2d8522b8d7ef43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b34a60e34a4e50" /><Relationship Type="http://schemas.openxmlformats.org/officeDocument/2006/relationships/notesMaster" Target="/ppt/notesMasters/notesMaster1.xml" Id="Rd573492231c14c8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148a440a4f4964" /><Relationship Type="http://schemas.openxmlformats.org/officeDocument/2006/relationships/notesMaster" Target="/ppt/notesMasters/notesMaster1.xml" Id="R6a69c372c8c049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cbc7c5ed8a4d79" /><Relationship Type="http://schemas.openxmlformats.org/officeDocument/2006/relationships/notesMaster" Target="/ppt/notesMasters/notesMaster1.xml" Id="R59ab481a89954e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7fa5624e4c4b00" /><Relationship Type="http://schemas.openxmlformats.org/officeDocument/2006/relationships/notesMaster" Target="/ppt/notesMasters/notesMaster1.xml" Id="R5c136095bce142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27abb529f74fef" /><Relationship Type="http://schemas.openxmlformats.org/officeDocument/2006/relationships/notesMaster" Target="/ppt/notesMasters/notesMaster1.xml" Id="R9e9b2132482743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dff99aa2b4d45cc" /><Relationship Type="http://schemas.openxmlformats.org/officeDocument/2006/relationships/notesMaster" Target="/ppt/notesMasters/notesMaster1.xml" Id="Raa1fd34283c942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aafb0bd4074782" /><Relationship Type="http://schemas.openxmlformats.org/officeDocument/2006/relationships/notesMaster" Target="/ppt/notesMasters/notesMaster1.xml" Id="Red418545e974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本报告围绕公司同事每天完成的工作展开，先看同行怎样使用大模型，再提出适合公司启动的应用方案。正文依次讨论前台、中台和后台，最后将七项建议汇成两条跨部门流程。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封面图片：本报告使用内置image_gen生成的办公场景概念图。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讨论同事每天处理的文档、数据、消息和业务要求。LLM负责理解问题、阅读材料、比较和组织解释、生成文字或程序，数据查询、计算和执行操作由相应工具完成。同事核对结果并继续完成研究、交易准备、材料审核与开发工作。下面沿前台、中台和后台七项任务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总图标出七项工作，点击任务名称可以到对应部分。每个主题先介绍同事正在完成的工作和重复操作，再看同行把哪一项任务交给模型，最后展示公司可以怎样使用。甲公司的研究、询价和风险跟踪，以及同一份客户沟通稿，分别连接各部门的资料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要解释甲公司本季度收入为何增长，以及增长能否持续。先在财报找到上季与本季收入、销量，再读会议中关于渠道补库的说明，最后比较两份研报的不同判断。页面数值和材料为同一演示案例：收入单位为百万元，销量单位为万件。反复找资料、抄数据、计算、重读和整理观点，构成分析之前的准备工作。随后三页分别介绍同行怎样让LLM参与财务分析、观点比较和研究表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FinAgent让LLM把净利润变化拆成收入、成本和费用，再提出销量、单价、原材料和渠道等更具体的分析问题。LLM组织这些问题并调用数据和计算工具，工具返回财务数据及变化计算。模型再结合行业和经营资料整理解释，研究员继续判断增长质量与持续性。天弘案例披露相关手工数据整理与计算由数日缩短至分钟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FUND-300，PDF第5–6页，财报归因与工具调用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先由模型判断研报与投资标的的相关性，再按研究方向逐篇整理小结，汇总后调整语气并检查。演示材料中，研报A把销量改善与持续需求恢复联系起来，研报B把它与渠道补库联系起来并关注持续性。LLM将共同判断和不同解释放在一起，研究员据此继续查证，而不用先重读多份研报、手工摘录成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FUND-007，PDF第8–9页，市场观点生成</a:t>
            </a:r>
          </a:p>
          <a:p xmlns:a="http://schemas.openxmlformats.org/drawingml/2006/main">
            <a:r>
              <a:t>https://www.amac.org.cn/xwfb/hydt/202601/P020260202337808067241.pdf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欧助手连接内部研究系统和外部资料，把采集、分析与汇总分开处理，由模型识别资料中的研究要素并填写分析表。页面展示模型把财报与计算结果、会议解释、研报分歧放到经营变化、驱动因素和关注事项三个示例栏目，研究员核对内容和出处、补充自己的判断。这三个栏目是演示设计。公司披露截至2026年5月，整体编制效率提升约50%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FUND-354，应用与实现段落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FUND-356，五要素模型段落，数据截至2026年5月</a:t>
            </a:r>
          </a:p>
          <a:p xmlns:a="http://schemas.openxmlformats.org/drawingml/2006/main">
            <a:r>
              <a:t>https://mp.weixin.qq.com/s/rgMRw8HbZUhiu9PkUBM7vA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把天弘的财务归因、富国的研报比较和中欧的研究表整理放到同一次公司研究任务里。研究员提出收入增长原因与持续性问题，并提供财报、会议纪要和研报。演示财报的上季和本季收入分别为100、110百万元，销量分别为100、110万件。LLM确定比较收入和销量，调用计算工具计算两项变化率；工具返回均增长10%，平均单价不变。LLM再读取会议中的渠道补库解释，对照两份研报的持续性判断，形成带资料编号的公司分析。研究员核对出处，追问补库能持续多久，形成研究判断。图中财务数据和资料文字均为本报告设计的业务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FUND-007，PDF第8–9页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FUND-354，应用与实现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FUND-011，PDF第5–7页，基本面解析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演示任务是为经理准备甲公司两年内到期债券的候选、持仓与报价资料。经理先说明买入意向和查询要求；交易员在行情与持仓系统中查询候选券和已有持仓，并记录查询时间；随后向交易对手说明券名和买入意向，询问价格与可出数量，接收对手报价；最后把候选、持仓和报价整理在一起，供经理讨论后续交易安排。系统提供查询数据，交易对手提供报价。反复填写条件、切换系统和从聊天中抄录报价，是这项准备工作中可以改善的操作。下一页分别介绍南方的自然语言查询和兴证全球的成交语料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方小喃同学由LLM理解自然语言要求，解析参数并拆分任务，再调用数据库查询和业务接口，返回查询或操作结果。其能力覆盖筛券、行情查询、交易指令和消息推送，投资指令通过对应角色及用户确认完成。兴证全球千询的另一项工作是读取Qtrade成交语料，将聊天中的券名、方向、价格和数量解析成系统所需信息，与经理询价意向匹配后推送交易系统，再由经理在交易系统下达指令。两家案例分别说明语言要求怎样连接查询，以及聊天信息怎样减少重复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FUND-200，PDF第4–8页，任务调用与权限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FUND-011，PDF第3–6页，询价到成交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经理拟买入甲公司两年内到期债券、查询持仓并汇总卖方报价的要求。LLM提取主体、到期期限和所需数据，调用业务查询。系统执行查询并返回候选券、期限和已有持仓。交易员先向交易对手询价，随后提供收到的报价消息或询价沟通记录。LLM解析交易员提供的记录，提取券名、卖方净价和可出面额，再与系统返回的候选券及持仓按券名整理在一起。演示中甲公司债A剩余1.2年，持仓面额2000万元，卖方净价为每百元面值100.20元，可出面额2000万元。全部数值为演示。交易员核对记录出处、报价时间与金额，经理根据同一份资料讨论后续安排。方案参考南方自然语言查询及兴证全球交易语料解析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准备季度沟通稿时，要先弄清客户关注什么，再查经理观点、产品文件和以往材料。每次还需要核对产品及期次，并按客户问题重新组织文字。相同资料经常被用于沟通稿、问答和标书，反复查找和改写占用准备时间。后面分别介绍天弘观点整理、工银瑞信标书生成，以及公司的季度沟通稿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根据经理姓名或产品名称汇集近期路演纪要、市场评论和定期报告，由LLM整理观点摘要，供销售使用。页面用收入与成本这一段观点演示：模型找到相关内容、合并重复表述，再按客户关注问题组织成可直接阅读的摘要，销售同事继续核对和使用。天弘还利用市场资料生成行业周评、每日早评和收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FUND-300，PDF第7–9页，经理观点、周评、早评与收评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银瑞信FundGPT把业务知识维护、问题识别与审核、标书生成接在一起。演示中机构客户询问投研流程，模型从公司知识材料中找到研究员和投资经理的分工，组织成对应章节的回答，并保留来源。业务同事核对回答与原文，再补充本次客户要求。问题、原文和回答文字为本报告设计的材料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FUND-312，PDF第7、9页，FundGPT与标书制作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提交客户问题、现有经理观点和产品资料，LLM读出与本期关注问题相关的内容，组织成季度沟通稿。演示中的现有观点是收入增长来自销量提升、后续关注原材料成本，当前产品资料为二季度版本；模型据此形成V1。同事核对观点后，将同一份稿件交给审核人员。下一部分会用更完整的本期路演和三季度产品资料，继续检查稿件并更新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FUND-312，PDF第7、9页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FUND-351，营销应用段落</a:t>
            </a:r>
          </a:p>
          <a:p xmlns:a="http://schemas.openxmlformats.org/drawingml/2006/main">
            <a:r>
              <a:t>https://fund.10jqka.com.cn/20251111/c672391490.shtml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同事拿到V1后，需要把稿件中的观点与本期完整路演对照。稿件写收入增长来自销量提升，完整路演进一步解释渠道补库带动发货，持续性仍需跟踪。审核人员要判断稿件是否讲清增长原因、是否保留后续观察事项，同时核对产品名称、资料期次和风险提示。逐段找原文、比较意思并写出修改理由，是模型可以协助的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营销材料审核系统让大模型按7类71项规则定位问题并给出修改建议，覆盖风险提示、基金信息、业绩宣传和禁止性宣传。公司披露修改建议采纳率91%。盈米服务接收文本或文件，返回风险位置、原因和建议，作者修改后可以再次检查。页面用同一份客户沟通稿演示这类协作：模型对照本期资料发现名称与期次沿用旧版，读懂路演中渠道补库和持续性观察的含义，建议补充经营原因及跟踪事项，再依据产品材料补充净值波动和本金亏损的风险说明。具体批注文字为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FUND-308，PDF第6页，营销物料审核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盈米官方发布与客户端，官方发布及客户端处理流程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让作者把V1、本期产品资料和完整路演放在同一项审核任务中。文件工具匹配产品名称、期次和原文位置，LLM阅读并比较两段观点，解释缺少的经营原因与观察事项，再建议具体改写。V2增加渠道补库的解释和补库持续性跟踪，更新正式名称、资料期次及风险说明。作者确认改写，审核人查看原文、修改理由和修订稿，完成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人员收到甲公司评级观察邮件，邮件提到经营现金流承压。接下来要确认哪些产品持有甲公司债券、按哪些合同或内部要求跟踪、已有研究需要补充什么。为此需要在持仓系统查询、在多个文件找条款，并重读公司研究后整理事件说明。邮件和情节为演示，下一页看同行怎样让LLM帮助阅读邮件、解释规则和组织事件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添富智汇平台让大模型提取托管行风控邮件中的风险内容，进入风险人员工作台。系统还把风控规则绑定到法规、内控制度和合同原文，大模型根据原文回答触发规则的依据。天弘热门事件助手结合事件详情、历史类似事件、产业链关联和市场情绪，组织事件影响解读。两项应用分别改善信息读取和解释准备，投资与风险同事据此讨论和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FUND-220，PDF第5页及第10页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FUND-300，PDF第10页，热门事件助手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同事提供邮件，业务查询返回产品A持有甲公司债券、面额2000万元，相关跟踪要求写明信用事件发生后更新发行人研究。LLM识别邮件中的发行人，把事件与产品持仓对应，再结合跟踪条款和已有研究说明：经营现金流承压涉及偿债能力，需要补充现金流变化分析并更新信用判断。风险同事复核持仓和条款，研究员补充分析，投资经理讨论后续应对。事件、条款文字、产品和金额均为工作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FUND-220，PDF第5、10页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接收传真和扫描件后需要抄录字段、逐项核对；接收两版客户材料时，要逐段找修改并解释意思；收到统一修订要求时，要逐份更新同类文件。反复从文件搬运信息和阅读上下文，构成这些工作的主要重复操作。后面用华安和工银瑞信案例介绍单据识别与文档比对，再展示公司如何解释客户稿的版本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华安灵思平台识别柜面传真与单据内容，将信息用于业务录入，公司披露超过80%的柜面传真采用智能录入。工银瑞信FundGPT支持PDF、Word和扫描件的内容识别、文档比对、错别字检查与结果导出。右侧用同一份客户稿V1和V2演示文档比对：模型识别文档内容，呈现新增文字的位置，页面标出“渠道补库”和“补库持续性”。同事直接查看差异。下一页公司方案再让LLM结合上下文解释这些修改的业务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FUND-312，PDF第7页，文档比对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提交客户稿V1和V2。文件工具先对齐段落并定位文字改动，LLM读取上下文后解释业务含义：观点增加渠道补库这一经营原因，也增加补库持续性这一观察事项，因此相关材料更新时需要同时保留这两处内容。模型形成客户沟通稿变更说明，列出新增经营原因、观察事项的变化以及需要同步更新的材料。运营同事核对说明，随V2保存，再按统一要求更新其他材料。博时BSBox的批量文件修订工作可作为后续扩展的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FUND-215，批量文件修订示例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同事需要比较两版报告，要求忽略页眉日期变化、标出正文新增删除和改写。开发同事首先把这句话转成可测试的要求，然后编写文件读取、段落匹配、差异定位和结果输出程序，再处理换行、跨页和重复页眉造成的误报。开发工作会反复往返于需求、代码与运行结果，下面看LLM怎样帮助同事完成这些具体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易方达的一站式研发管理平台在开发与测试环节引入大模型，景顺长城量化团队使用本地模型辅助编程。页面以报告比对需求说明这种协作：开发同事提供样例和预期结果，LLM辅助编写处理程序、准备测试场景，开发同事实际运行并检查，再把错误信息和要求交给模型修改。这里呈现程序与测试怎样供开发人员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FUND-103，智能服务基座段落</a:t>
            </a:r>
          </a:p>
          <a:p xmlns:a="http://schemas.openxmlformats.org/drawingml/2006/main">
            <a:r>
              <a:t>https://gifts.szu.edu.cn/info/1023/1364.htm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FUND-254，量化团队辅助编程段落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需求是比较两版报告、忽略重复页眉并标出正文改写。开发同事提供文件和预期差异，LLM整理要求、编写程序和测试样例。开发同事运行程序，测试结果显示正文改写已经识别，但页眉变化被误报。开发同事说明页眉差异无需报告、正文差异必须保留，LLM据此修改页眉过滤逻辑并补充测试。开发同事检查代码、运行回归测试，再提供工具和说明。页面的测试结果是演示情节，用来说明模型如何根据具体反馈参与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商和平安将内部知识资料用于问题回答，LLM检索并解释政策、流程和操作说明。永赢使用模型理解邮件上下文与意图，并调度检测工具支持安全人员处置。汇添富公开专利提出，模型识别产品、期间和指标，系统取数并调用归因算法，模型把计算结果组织为经营分析报告。三个方向继续体现模型理解内容、工具执行计算或检测、同事使用结果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FUND-351，运营应用段落</a:t>
            </a:r>
          </a:p>
          <a:p xmlns:a="http://schemas.openxmlformats.org/drawingml/2006/main">
            <a:r>
              <a:t>https://fund.10jqka.com.cn/20251111/c672391490.shtml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FUND-160，HR小灵通及内部事务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FUND-352，PDF第1–2页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FUND-227 / CN121958380A，实施例一S1–S4及报告生成</a:t>
            </a:r>
          </a:p>
          <a:p xmlns:a="http://schemas.openxmlformats.org/drawingml/2006/main">
            <a:r>
              <a:t>https://patents.google.com/patent/CN121958380A/zh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项建议分别帮助研究员整理带出处的分析、交易员整理查询与报价、客户经理编写材料、审核同事比较原文并提出修改、风险人员组织影响说明、运营同事解释版本差异、开发同事编写和测试工具。建议先从研究与客户材料开始，让同事直接使用这些结果，再连接查询和文件流程，扩展到更多部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FUND-300，投研与客户材料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FUND-200，交易支持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FUND-308，材料审核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FUND-220，风险支持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FUND-312，文档处理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FUND-101，开发与测试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围绕甲公司复用研究资料：前台形成公司分析和询价资料，中台持续跟踪事件与相关持仓，后台维护相关文件与版本。第二条围绕同一客户沟通稿协作：前台根据已有观点组织V1，中台对照本期完整资料补充含义形成V2，后台解释版本差异并更新相关材料。这里连接的是资料使用和协作关系，各部门按自己的业务工作时间开展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事提出业务问题并提供材料，应用把任务交给模型和相应工具配合处理。LLM负责理解问题、阅读材料、比较解释、生成文字和代码；工具负责数据查询、数值计算、文件处理以及程序运行和测试。共用文档、知识库和业务数据保留权限、出处与版本。Qwen和DeepSeek可作为模型服务候选，按具体业务任务验证后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FUND-300，PDF第5页，模型与工具层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FUND-200，PDF第4–7页，工具调用与业务接口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FUND-312，PDF第7页，FundGPT服务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投研、销售、合规和IT准备真实任务样例与资料，建立研究和客户材料应用。再由交易、运营和IT接入查询与文件流程，使模型整理的信息能够继续使用。之后扩展开发辅助和内部服务，明确工具维护与资料更新职责。每个阶段依据同事使用结果推进，并保持人、模型和工具的工作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研究分析与客户材料两条流程启动，记录同一类任务使用应用前后的完成时间、结果采用情况、返工次数和持续使用频次。结合具体问题判断是资料缺失、模型解释不合适，还是查询与文件操作不顺畅，再调整相应环节。同事是否持续使用，以及结果是否减少重复准备，是后续推进的重要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ac25ae99f43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dc7a655ad4c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aa079051242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dc999c68645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aa2ea94bf4a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5d265b63148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089FD1-237E-4FFB-9EDC-E99B7E63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2F6503-E025-46AB-BFDE-DC6F30F8A8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ADE691-D2D0-4FD3-B05C-EB229AD38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4C735F-302C-4064-B236-46E3F9B75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16C8DD-22A9-489C-89E9-182048692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200D55-E0D9-47D5-97BF-798F2EA15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3AEA6-B25A-4B46-84AC-722E354ED8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4DCACC-44BB-4C20-8BB2-5D19937014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87A7E-8B85-4D8C-A05C-64DD0F6A7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2F7AB-EA61-4AF7-9DD5-24531A561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c6559d5654898" /><Relationship Type="http://schemas.openxmlformats.org/officeDocument/2006/relationships/slideLayout" Target="/ppt/slideLayouts/slideLayout1.xml" Id="R953961fca10546e6" /><Relationship Type="http://schemas.openxmlformats.org/officeDocument/2006/relationships/slideLayout" Target="/ppt/slideLayouts/slideLayout2.xml" Id="R86afab1696fe495a" /><Relationship Type="http://schemas.openxmlformats.org/officeDocument/2006/relationships/slideLayout" Target="/ppt/slideLayouts/slideLayout3.xml" Id="R07ddffa513f54013" /><Relationship Type="http://schemas.openxmlformats.org/officeDocument/2006/relationships/slideLayout" Target="/ppt/slideLayouts/slideLayout4.xml" Id="Ra2f48ef40dbf4d5d" /><Relationship Type="http://schemas.openxmlformats.org/officeDocument/2006/relationships/slideLayout" Target="/ppt/slideLayouts/slideLayout5.xml" Id="R57414f87ec0143b9" /><Relationship Type="http://schemas.openxmlformats.org/officeDocument/2006/relationships/slideLayout" Target="/ppt/slideLayouts/slideLayout6.xml" Id="Ra7ef067c64e3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961fca10546e6"/>
    <p:sldLayoutId xmlns:r="http://schemas.openxmlformats.org/officeDocument/2006/relationships" id="2147483650" r:id="R86afab1696fe495a"/>
    <p:sldLayoutId xmlns:r="http://schemas.openxmlformats.org/officeDocument/2006/relationships" id="2147483651" r:id="R07ddffa513f54013"/>
    <p:sldLayoutId xmlns:r="http://schemas.openxmlformats.org/officeDocument/2006/relationships" id="2147483652" r:id="Ra2f48ef40dbf4d5d"/>
    <p:sldLayoutId xmlns:r="http://schemas.openxmlformats.org/officeDocument/2006/relationships" id="2147483653" r:id="R57414f87ec0143b9"/>
    <p:sldLayoutId xmlns:r="http://schemas.openxmlformats.org/officeDocument/2006/relationships" id="2147483654" r:id="Ra7ef067c64e3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c1de7e97624269"/><Relationship Type="http://schemas.openxmlformats.org/officeDocument/2006/relationships/image" Target="/ppt/media/image.png" Id="R433e7dc3e29946a7"/><Relationship Type="http://schemas.openxmlformats.org/officeDocument/2006/relationships/notesSlide" Target="/ppt/notesSlides/notesSlide1.xml" Id="R9ac16d97ce854a93"/><Relationship Id="rIdNavSlid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7bd5c0f9d74658"/><Relationship Type="http://schemas.openxmlformats.org/officeDocument/2006/relationships/notesSlide" Target="/ppt/notesSlides/notesSlide2.xml" Id="Rd0077cd79ca64c3a"/><Relationship Id="rIdNavSlide3" Type="http://schemas.openxmlformats.org/officeDocument/2006/relationships/slide" Target="slide3.xml"/><Relationship Id="rIdNavSlide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ed56dda69a4f0e"/><Relationship Type="http://schemas.openxmlformats.org/officeDocument/2006/relationships/notesSlide" Target="/ppt/notesSlides/notesSlide3.xml" Id="Rcce2cef2f943400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" Type="http://schemas.openxmlformats.org/officeDocument/2006/relationships/slide" Target="slide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573b4ab1774470"/><Relationship Type="http://schemas.openxmlformats.org/officeDocument/2006/relationships/notesSlide" Target="/ppt/notesSlides/notesSlide4.xml" Id="R8ac2a7c4baef477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1253688bc548cb"/><Relationship Type="http://schemas.openxmlformats.org/officeDocument/2006/relationships/notesSlide" Target="/ppt/notesSlides/notesSlide5.xml" Id="R5dd1d781eed7404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40c3e595044d09"/><Relationship Type="http://schemas.openxmlformats.org/officeDocument/2006/relationships/notesSlide" Target="/ppt/notesSlides/notesSlide6.xml" Id="R4d39fe890d4044b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2ae45926b34951"/><Relationship Type="http://schemas.openxmlformats.org/officeDocument/2006/relationships/notesSlide" Target="/ppt/notesSlides/notesSlide7.xml" Id="Rb90c125dd68c44e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8" Type="http://schemas.openxmlformats.org/officeDocument/2006/relationships/slide" Target="slide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437773af4469d"/><Relationship Type="http://schemas.openxmlformats.org/officeDocument/2006/relationships/notesSlide" Target="/ppt/notesSlides/notesSlide8.xml" Id="R224d7db8d8824f1f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2d9ed0f1d0485f"/><Relationship Type="http://schemas.openxmlformats.org/officeDocument/2006/relationships/notesSlide" Target="/ppt/notesSlides/notesSlide9.xml" Id="Rb7ed4b85560b4dd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8" Type="http://schemas.openxmlformats.org/officeDocument/2006/relationships/slide" Target="slide8.xml"/><Relationship Id="rIdNavSlide10" Type="http://schemas.openxmlformats.org/officeDocument/2006/relationships/slide" Target="slide1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6eda7c631d4f89"/><Relationship Type="http://schemas.openxmlformats.org/officeDocument/2006/relationships/notesSlide" Target="/ppt/notesSlides/notesSlide10.xml" Id="Re70d6e70f15a4cc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9" Type="http://schemas.openxmlformats.org/officeDocument/2006/relationships/slide" Target="slide9.xml"/><Relationship Id="rIdNavSlide11" Type="http://schemas.openxmlformats.org/officeDocument/2006/relationships/slide" Target="slide11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3d2eb64faa47a2"/><Relationship Type="http://schemas.openxmlformats.org/officeDocument/2006/relationships/notesSlide" Target="/ppt/notesSlides/notesSlide11.xml" Id="R5930b64dce294e5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0" Type="http://schemas.openxmlformats.org/officeDocument/2006/relationships/slide" Target="slide10.xml"/><Relationship Id="rIdNavSlide12" Type="http://schemas.openxmlformats.org/officeDocument/2006/relationships/slide" Target="slide12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45548881724d3e"/><Relationship Type="http://schemas.openxmlformats.org/officeDocument/2006/relationships/notesSlide" Target="/ppt/notesSlides/notesSlide12.xml" Id="Raa3242d8ae77458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1" Type="http://schemas.openxmlformats.org/officeDocument/2006/relationships/slide" Target="slide11.xml"/><Relationship Id="rIdNavSlide13" Type="http://schemas.openxmlformats.org/officeDocument/2006/relationships/slide" Target="slide1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afa09e8a4947ba"/><Relationship Type="http://schemas.openxmlformats.org/officeDocument/2006/relationships/notesSlide" Target="/ppt/notesSlides/notesSlide13.xml" Id="R25f1c7c8428d4b8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2" Type="http://schemas.openxmlformats.org/officeDocument/2006/relationships/slide" Target="slide1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58b97c0247453a"/><Relationship Type="http://schemas.openxmlformats.org/officeDocument/2006/relationships/notesSlide" Target="/ppt/notesSlides/notesSlide14.xml" Id="R193f4190a03b4ea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3" Type="http://schemas.openxmlformats.org/officeDocument/2006/relationships/slide" Target="slide13.xml"/><Relationship Id="rIdNavSlide15" Type="http://schemas.openxmlformats.org/officeDocument/2006/relationships/slide" Target="slide1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f3208d926ea4706"/><Relationship Type="http://schemas.openxmlformats.org/officeDocument/2006/relationships/notesSlide" Target="/ppt/notesSlides/notesSlide15.xml" Id="R23824575497e4e5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f71cae05eb430a"/><Relationship Type="http://schemas.openxmlformats.org/officeDocument/2006/relationships/notesSlide" Target="/ppt/notesSlides/notesSlide16.xml" Id="R8ed82f0f6d0a488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5" Type="http://schemas.openxmlformats.org/officeDocument/2006/relationships/slide" Target="slide15.xml"/><Relationship Id="rIdNavSlide17" Type="http://schemas.openxmlformats.org/officeDocument/2006/relationships/slide" Target="slide1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210c0a2e1a4f81"/><Relationship Type="http://schemas.openxmlformats.org/officeDocument/2006/relationships/notesSlide" Target="/ppt/notesSlides/notesSlide17.xml" Id="Rf79f4d1cf0b340a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f1aa415e5845d9"/><Relationship Type="http://schemas.openxmlformats.org/officeDocument/2006/relationships/notesSlide" Target="/ppt/notesSlides/notesSlide18.xml" Id="R2d852cee189f48f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7" Type="http://schemas.openxmlformats.org/officeDocument/2006/relationships/slide" Target="slide17.xml"/><Relationship Id="rIdNavSlide19" Type="http://schemas.openxmlformats.org/officeDocument/2006/relationships/slide" Target="slide1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001eb2a99e043ac"/><Relationship Type="http://schemas.openxmlformats.org/officeDocument/2006/relationships/notesSlide" Target="/ppt/notesSlides/notesSlide19.xml" Id="R1e9a460c87d849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b302cf9a6740dd"/><Relationship Type="http://schemas.openxmlformats.org/officeDocument/2006/relationships/notesSlide" Target="/ppt/notesSlides/notesSlide20.xml" Id="R0d71924c1317477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9" Type="http://schemas.openxmlformats.org/officeDocument/2006/relationships/slide" Target="slide19.xml"/><Relationship Id="rIdNavSlide21" Type="http://schemas.openxmlformats.org/officeDocument/2006/relationships/slide" Target="slide2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cf227bda824230"/><Relationship Type="http://schemas.openxmlformats.org/officeDocument/2006/relationships/notesSlide" Target="/ppt/notesSlides/notesSlide21.xml" Id="R0e0878aa8ed24f8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f5ad67c65e41df"/><Relationship Type="http://schemas.openxmlformats.org/officeDocument/2006/relationships/notesSlide" Target="/ppt/notesSlides/notesSlide22.xml" Id="R1374e923b0134a8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1" Type="http://schemas.openxmlformats.org/officeDocument/2006/relationships/slide" Target="slide21.xml"/><Relationship Id="rIdNavSlide23" Type="http://schemas.openxmlformats.org/officeDocument/2006/relationships/slide" Target="slide2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7053a3a4244ae4"/><Relationship Type="http://schemas.openxmlformats.org/officeDocument/2006/relationships/notesSlide" Target="/ppt/notesSlides/notesSlide23.xml" Id="R4a511323866148b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8b0999d85f4863"/><Relationship Type="http://schemas.openxmlformats.org/officeDocument/2006/relationships/notesSlide" Target="/ppt/notesSlides/notesSlide24.xml" Id="R71173a456563404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3" Type="http://schemas.openxmlformats.org/officeDocument/2006/relationships/slide" Target="slide23.xml"/><Relationship Id="rIdNavSlide25" Type="http://schemas.openxmlformats.org/officeDocument/2006/relationships/slide" Target="slide2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e7edce701e4b1f"/><Relationship Type="http://schemas.openxmlformats.org/officeDocument/2006/relationships/notesSlide" Target="/ppt/notesSlides/notesSlide25.xml" Id="Rb35669d9efaa4f29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26" Type="http://schemas.openxmlformats.org/officeDocument/2006/relationships/slide" Target="slide2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c6aff22cd640f4"/><Relationship Type="http://schemas.openxmlformats.org/officeDocument/2006/relationships/notesSlide" Target="/ppt/notesSlides/notesSlide26.xml" Id="Rb7ee1265b5cf464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5" Type="http://schemas.openxmlformats.org/officeDocument/2006/relationships/slide" Target="slide25.xml"/><Relationship Id="rIdNavSlide27" Type="http://schemas.openxmlformats.org/officeDocument/2006/relationships/slide" Target="slide2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2816a6ad0a441e"/><Relationship Type="http://schemas.openxmlformats.org/officeDocument/2006/relationships/notesSlide" Target="/ppt/notesSlides/notesSlide27.xml" Id="R6ea6b6b85ed34a9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6" Type="http://schemas.openxmlformats.org/officeDocument/2006/relationships/slide" Target="slide26.xml"/><Relationship Id="rIdNavSlide28" Type="http://schemas.openxmlformats.org/officeDocument/2006/relationships/slide" Target="slide2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92f7d257045b7"/><Relationship Type="http://schemas.openxmlformats.org/officeDocument/2006/relationships/notesSlide" Target="/ppt/notesSlides/notesSlide28.xml" Id="R3501c9cbe3c5479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7" Type="http://schemas.openxmlformats.org/officeDocument/2006/relationships/slide" Target="slide27.xml"/><Relationship Id="rIdNavSlide29" Type="http://schemas.openxmlformats.org/officeDocument/2006/relationships/slide" Target="slide2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f53c1959db46e2"/><Relationship Type="http://schemas.openxmlformats.org/officeDocument/2006/relationships/notesSlide" Target="/ppt/notesSlides/notesSlide29.xml" Id="R888b1c60126140c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8" Type="http://schemas.openxmlformats.org/officeDocument/2006/relationships/slide" Target="slide28.xml"/><Relationship Id="rIdNavSlide30" Type="http://schemas.openxmlformats.org/officeDocument/2006/relationships/slide" Target="slide3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9df8258edd4ea0"/><Relationship Type="http://schemas.openxmlformats.org/officeDocument/2006/relationships/notesSlide" Target="/ppt/notesSlides/notesSlide30.xml" Id="R7fb49fbaa191454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9" Type="http://schemas.openxmlformats.org/officeDocument/2006/relationships/slide" Target="slide29.xml"/><Relationship Id="rIdNavSlide31" Type="http://schemas.openxmlformats.org/officeDocument/2006/relationships/slide" Target="slide3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ca87d761764146"/><Relationship Type="http://schemas.openxmlformats.org/officeDocument/2006/relationships/notesSlide" Target="/ppt/notesSlides/notesSlide31.xml" Id="Rb9ad0b5e390f41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0" Type="http://schemas.openxmlformats.org/officeDocument/2006/relationships/slide" Target="slide30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2c8c5714a14f5d"/><Relationship Type="http://schemas.openxmlformats.org/officeDocument/2006/relationships/notesSlide" Target="/ppt/notesSlides/notesSlide32.xml" Id="R71d82c28da8b4fe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1" Type="http://schemas.openxmlformats.org/officeDocument/2006/relationships/slide" Target="slide31.xml"/><Relationship Id="rIdNavSlide33" Type="http://schemas.openxmlformats.org/officeDocument/2006/relationships/slide" Target="slide3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911a07832a4a4d"/><Relationship Type="http://schemas.openxmlformats.org/officeDocument/2006/relationships/notesSlide" Target="/ppt/notesSlides/notesSlide33.xml" Id="R2415b65a7d5e495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4242C5-B680-4577-B8C2-5E088BF0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" name="!!source">
            <a:extLst xmlns:a="http://schemas.openxmlformats.org/drawingml/2006/main">
              <a:ext uri="{FF2B5EF4-FFF2-40B4-BE49-F238E27FC236}">
                <a16:creationId xmlns:a16="http://schemas.microsoft.com/office/drawing/2014/main" id="{0CBF261E-E928-4EEC-BEA6-7D8A6E4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8AB92-7B58-49B1-A775-E8357255F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7dc3e29946a7"/>
          <a:srcRect xmlns:a="http://schemas.openxmlformats.org/drawingml/2006/main" l="20726" t="0" r="20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7143750" cy="8134350"/>
          </a:xfrm>
          <a:prstGeom xmlns:a="http://schemas.openxmlformats.org/drawingml/2006/main" prst="rect">
            <a:avLst/>
          </a:prstGeom>
        </p:spPr>
      </p:pic>
      <p:sp>
        <p:nvSpPr>
          <p:cNvPr id="4" name="!!cover.white">
            <a:extLst xmlns:a="http://schemas.openxmlformats.org/drawingml/2006/main">
              <a:ext uri="{FF2B5EF4-FFF2-40B4-BE49-F238E27FC236}">
                <a16:creationId xmlns:a16="http://schemas.microsoft.com/office/drawing/2014/main" id="{F763304F-F0D5-4864-8303-96DFD0E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813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cover.kicker">
            <a:extLst xmlns:a="http://schemas.openxmlformats.org/drawingml/2006/main">
              <a:ext uri="{FF2B5EF4-FFF2-40B4-BE49-F238E27FC236}">
                <a16:creationId xmlns:a16="http://schemas.microsoft.com/office/drawing/2014/main" id="{2BC2B94C-219E-4A09-B0F0-9A2BEE1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同行实践与公司方案</a:t>
            </a:r>
          </a:p>
        </p:txBody>
      </p:sp>
      <p:sp>
        <p:nvSpPr>
          <p:cNvPr id="6" name="!!cover.title">
            <a:extLst xmlns:a="http://schemas.openxmlformats.org/drawingml/2006/main">
              <a:ext uri="{FF2B5EF4-FFF2-40B4-BE49-F238E27FC236}">
                <a16:creationId xmlns:a16="http://schemas.microsoft.com/office/drawing/2014/main" id="{86F7CC57-E0D7-409B-891E-9EFF2CC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资管公司工作流程中的</a:t>
            </a:r>
          </a:p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 应用</a:t>
            </a:r>
          </a:p>
        </p:txBody>
      </p:sp>
      <p:sp>
        <p:nvSpPr>
          <p:cNvPr id="7" name="!!cover.line">
            <a:extLst xmlns:a="http://schemas.openxmlformats.org/drawingml/2006/main">
              <a:ext uri="{FF2B5EF4-FFF2-40B4-BE49-F238E27FC236}">
                <a16:creationId xmlns:a16="http://schemas.microsoft.com/office/drawing/2014/main" id="{B40F9338-8C72-43E2-A96F-4F56AAD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000625"/>
            <a:ext cx="659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5A9C"/>
            </a:solidFill>
            <a:prstDash val="solid"/>
          </a:ln>
        </p:spPr>
      </p:sp>
      <p:sp>
        <p:nvSpPr>
          <p:cNvPr id="8" name="!!cover.date">
            <a:extLst xmlns:a="http://schemas.openxmlformats.org/drawingml/2006/main">
              <a:ext uri="{FF2B5EF4-FFF2-40B4-BE49-F238E27FC236}">
                <a16:creationId xmlns:a16="http://schemas.microsoft.com/office/drawing/2014/main" id="{14192189-94E6-45E0-87BC-94B744B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2026年10月</a:t>
            </a:r>
          </a:p>
        </p:txBody>
      </p:sp>
      <p:sp>
        <p:nvSpPr>
          <p:cNvPr id="9" name="!!nav.next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2FA5C47-7D66-4DCD-9F72-B4DB213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77025"/>
            <a:ext cx="2133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进入演示</a:t>
            </a:r>
          </a:p>
        </p:txBody>
      </p:sp>
    </p:spTree>
    <p:extLst>
      <p:ext uri="{BB962C8B-B14F-4D97-AF65-F5344CB8AC3E}">
        <p14:creationId xmlns:p14="http://schemas.microsoft.com/office/powerpoint/2010/main" val="154337530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!!heading">
            <a:extLst xmlns:a="http://schemas.openxmlformats.org/drawingml/2006/main">
              <a:ext uri="{FF2B5EF4-FFF2-40B4-BE49-F238E27FC236}">
                <a16:creationId xmlns:a16="http://schemas.microsoft.com/office/drawing/2014/main" id="{9A229355-C285-4C7D-AB63-C6E095A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研究重点与应用目标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A3FE38A-1C91-4747-8E60-E0990C7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研究范围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AE245D7-F59E-4E86-AAE8-781C2F2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24D0D68-2605-4CFF-877F-8FC23E17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5" name="!!page">
            <a:extLst xmlns:a="http://schemas.openxmlformats.org/drawingml/2006/main">
              <a:ext uri="{FF2B5EF4-FFF2-40B4-BE49-F238E27FC236}">
                <a16:creationId xmlns:a16="http://schemas.microsoft.com/office/drawing/2014/main" id="{9FC0DF8E-6FE9-417E-90EC-0D09AD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 / 33</a:t>
            </a:r>
          </a:p>
        </p:txBody>
      </p:sp>
      <p:sp>
        <p:nvSpPr>
          <p:cNvPr id="6" name="!!nav.prev">
            <ns0:hlinkClick xmlns:ns0="http://schemas.openxmlformats.org/drawingml/2006/main" xmlns:ns1="http://schemas.openxmlformats.org/officeDocument/2006/relationships" ns1:id="rIdNavSlide1" action="ppaction://hlinksldjump" tooltip="第1页  资管公司工作流程中的 LLM 应用"/>
            <a:extLst xmlns:a="http://schemas.openxmlformats.org/drawingml/2006/main">
              <a:ext uri="{FF2B5EF4-FFF2-40B4-BE49-F238E27FC236}">
                <a16:creationId xmlns:a16="http://schemas.microsoft.com/office/drawing/2014/main" id="{82A816F0-73E4-4A0B-8AAA-11F2AAA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7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831876-A649-4AA8-B5E4-E5326C3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8B88F65-146A-4617-B853-4D247A2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9" name="!!source">
            <a:extLst xmlns:a="http://schemas.openxmlformats.org/drawingml/2006/main">
              <a:ext uri="{FF2B5EF4-FFF2-40B4-BE49-F238E27FC236}">
                <a16:creationId xmlns:a16="http://schemas.microsoft.com/office/drawing/2014/main" id="{F8744BA3-4028-4BFA-8110-CB6230B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!!scope.head0">
            <a:extLst xmlns:a="http://schemas.openxmlformats.org/drawingml/2006/main">
              <a:ext uri="{FF2B5EF4-FFF2-40B4-BE49-F238E27FC236}">
                <a16:creationId xmlns:a16="http://schemas.microsoft.com/office/drawing/2014/main" id="{70425A64-FB8B-43C2-86DE-0FB260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日常输入</a:t>
            </a:r>
          </a:p>
        </p:txBody>
      </p:sp>
      <p:sp>
        <p:nvSpPr>
          <p:cNvPr id="11" name="!!scope.head1">
            <a:extLst xmlns:a="http://schemas.openxmlformats.org/drawingml/2006/main">
              <a:ext uri="{FF2B5EF4-FFF2-40B4-BE49-F238E27FC236}">
                <a16:creationId xmlns:a16="http://schemas.microsoft.com/office/drawing/2014/main" id="{BC39EBC6-B500-4857-A4A8-175A7E2C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604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LLM参与工作</a:t>
            </a:r>
          </a:p>
        </p:txBody>
      </p:sp>
      <p:sp>
        <p:nvSpPr>
          <p:cNvPr id="12" name="!!scope.head2">
            <a:extLst xmlns:a="http://schemas.openxmlformats.org/drawingml/2006/main">
              <a:ext uri="{FF2B5EF4-FFF2-40B4-BE49-F238E27FC236}">
                <a16:creationId xmlns:a16="http://schemas.microsoft.com/office/drawing/2014/main" id="{B5E95312-8F6B-49F9-93EB-E9F0647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200275"/>
            <a:ext cx="3019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3" name="!!scope.input0">
            <a:extLst xmlns:a="http://schemas.openxmlformats.org/drawingml/2006/main">
              <a:ext uri="{FF2B5EF4-FFF2-40B4-BE49-F238E27FC236}">
                <a16:creationId xmlns:a16="http://schemas.microsoft.com/office/drawing/2014/main" id="{060E7DF8-59B8-4896-9153-AEA8132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4" name="!!scope.work0">
            <a:extLst xmlns:a="http://schemas.openxmlformats.org/drawingml/2006/main">
              <a:ext uri="{FF2B5EF4-FFF2-40B4-BE49-F238E27FC236}">
                <a16:creationId xmlns:a16="http://schemas.microsoft.com/office/drawing/2014/main" id="{3C14C8CF-5632-4EF0-8326-9DE2024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检索与整理</a:t>
            </a:r>
          </a:p>
        </p:txBody>
      </p:sp>
      <p:sp>
        <p:nvSpPr>
          <p:cNvPr id="15" name="!!scope.output0">
            <a:extLst xmlns:a="http://schemas.openxmlformats.org/drawingml/2006/main">
              <a:ext uri="{FF2B5EF4-FFF2-40B4-BE49-F238E27FC236}">
                <a16:creationId xmlns:a16="http://schemas.microsoft.com/office/drawing/2014/main" id="{3ADC75D7-0DD7-44E5-860A-B93F81C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384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</p:txBody>
      </p:sp>
      <p:sp>
        <p:nvSpPr>
          <p:cNvPr id="16" name="!!scope.input1">
            <a:extLst xmlns:a="http://schemas.openxmlformats.org/drawingml/2006/main">
              <a:ext uri="{FF2B5EF4-FFF2-40B4-BE49-F238E27FC236}">
                <a16:creationId xmlns:a16="http://schemas.microsoft.com/office/drawing/2014/main" id="{5A14B8CD-32B9-46BA-9F17-157E44D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7" name="!!scope.work1">
            <a:extLst xmlns:a="http://schemas.openxmlformats.org/drawingml/2006/main">
              <a:ext uri="{FF2B5EF4-FFF2-40B4-BE49-F238E27FC236}">
                <a16:creationId xmlns:a16="http://schemas.microsoft.com/office/drawing/2014/main" id="{24F3A3C4-FE80-4A05-A8EA-81B7C95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计算与解释</a:t>
            </a:r>
          </a:p>
        </p:txBody>
      </p:sp>
      <p:sp>
        <p:nvSpPr>
          <p:cNvPr id="18" name="!!scope.output1">
            <a:extLst xmlns:a="http://schemas.openxmlformats.org/drawingml/2006/main">
              <a:ext uri="{FF2B5EF4-FFF2-40B4-BE49-F238E27FC236}">
                <a16:creationId xmlns:a16="http://schemas.microsoft.com/office/drawing/2014/main" id="{152C6EC9-15C9-4762-B4E8-E60C3FE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243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交易要素</a:t>
            </a:r>
          </a:p>
        </p:txBody>
      </p:sp>
      <p:sp>
        <p:nvSpPr>
          <p:cNvPr id="19" name="!!scope.input2">
            <a:extLst xmlns:a="http://schemas.openxmlformats.org/drawingml/2006/main">
              <a:ext uri="{FF2B5EF4-FFF2-40B4-BE49-F238E27FC236}">
                <a16:creationId xmlns:a16="http://schemas.microsoft.com/office/drawing/2014/main" id="{EF193A7A-768F-4D1E-9F89-86EEE0E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消息</a:t>
            </a:r>
          </a:p>
        </p:txBody>
      </p:sp>
      <p:sp>
        <p:nvSpPr>
          <p:cNvPr id="20" name="!!scope.work2">
            <a:extLst xmlns:a="http://schemas.openxmlformats.org/drawingml/2006/main">
              <a:ext uri="{FF2B5EF4-FFF2-40B4-BE49-F238E27FC236}">
                <a16:creationId xmlns:a16="http://schemas.microsoft.com/office/drawing/2014/main" id="{96553030-B2A3-4859-9BB1-E244D76D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查询与操作</a:t>
            </a:r>
          </a:p>
        </p:txBody>
      </p:sp>
      <p:sp>
        <p:nvSpPr>
          <p:cNvPr id="21" name="!!scope.output2">
            <a:extLst xmlns:a="http://schemas.openxmlformats.org/drawingml/2006/main">
              <a:ext uri="{FF2B5EF4-FFF2-40B4-BE49-F238E27FC236}">
                <a16:creationId xmlns:a16="http://schemas.microsoft.com/office/drawing/2014/main" id="{ADF4D961-1C1A-4ABC-A2D0-E76F467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101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22" name="!!scope.input3">
            <a:extLst xmlns:a="http://schemas.openxmlformats.org/drawingml/2006/main">
              <a:ext uri="{FF2B5EF4-FFF2-40B4-BE49-F238E27FC236}">
                <a16:creationId xmlns:a16="http://schemas.microsoft.com/office/drawing/2014/main" id="{6B2FA1DD-7D71-4CBF-94E9-B3168A8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23" name="!!scope.work3">
            <a:extLst xmlns:a="http://schemas.openxmlformats.org/drawingml/2006/main">
              <a:ext uri="{FF2B5EF4-FFF2-40B4-BE49-F238E27FC236}">
                <a16:creationId xmlns:a16="http://schemas.microsoft.com/office/drawing/2014/main" id="{B78F447F-D0C0-45D0-A91A-0B1DE88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57850"/>
            <a:ext cx="6048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编写与协作</a:t>
            </a:r>
          </a:p>
        </p:txBody>
      </p:sp>
      <p:sp>
        <p:nvSpPr>
          <p:cNvPr id="24" name="!!scope.output3">
            <a:extLst xmlns:a="http://schemas.openxmlformats.org/drawingml/2006/main">
              <a:ext uri="{FF2B5EF4-FFF2-40B4-BE49-F238E27FC236}">
                <a16:creationId xmlns:a16="http://schemas.microsoft.com/office/drawing/2014/main" id="{E1E25BAD-2596-41FB-9399-C6C1756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959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</p:txBody>
      </p:sp>
      <p:sp>
        <p:nvSpPr>
          <p:cNvPr id="25" name="!!scope.a.line">
            <a:extLst xmlns:a="http://schemas.openxmlformats.org/drawingml/2006/main">
              <a:ext uri="{FF2B5EF4-FFF2-40B4-BE49-F238E27FC236}">
                <a16:creationId xmlns:a16="http://schemas.microsoft.com/office/drawing/2014/main" id="{89E9A9A2-2D33-4523-B728-96E75CD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scope.a.tip">
            <a:extLst xmlns:a="http://schemas.openxmlformats.org/drawingml/2006/main">
              <a:ext uri="{FF2B5EF4-FFF2-40B4-BE49-F238E27FC236}">
                <a16:creationId xmlns:a16="http://schemas.microsoft.com/office/drawing/2014/main" id="{4589B401-A783-4706-9550-978CF4D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scope.b.line">
            <a:extLst xmlns:a="http://schemas.openxmlformats.org/drawingml/2006/main">
              <a:ext uri="{FF2B5EF4-FFF2-40B4-BE49-F238E27FC236}">
                <a16:creationId xmlns:a16="http://schemas.microsoft.com/office/drawing/2014/main" id="{7F738158-8617-47DF-8407-63DDF8F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scope.b.tip">
            <a:extLst xmlns:a="http://schemas.openxmlformats.org/drawingml/2006/main">
              <a:ext uri="{FF2B5EF4-FFF2-40B4-BE49-F238E27FC236}">
                <a16:creationId xmlns:a16="http://schemas.microsoft.com/office/drawing/2014/main" id="{86E3E97C-06BD-4080-80FE-88CCF44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157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scope.result">
            <a:extLst xmlns:a="http://schemas.openxmlformats.org/drawingml/2006/main">
              <a:ext uri="{FF2B5EF4-FFF2-40B4-BE49-F238E27FC236}">
                <a16:creationId xmlns:a16="http://schemas.microsoft.com/office/drawing/2014/main" id="{1BE80691-5B4C-43CE-9041-B6B7DD1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246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沿业务流程建设应用，让同事在日常任务中使用 LLM</a:t>
            </a:r>
          </a:p>
        </p:txBody>
      </p:sp>
    </p:spTree>
    <p:extLst>
      <p:ext uri="{BB962C8B-B14F-4D97-AF65-F5344CB8AC3E}">
        <p14:creationId xmlns:p14="http://schemas.microsoft.com/office/powerpoint/2010/main" val="1366164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!!heading">
            <a:extLst xmlns:a="http://schemas.openxmlformats.org/drawingml/2006/main">
              <a:ext uri="{FF2B5EF4-FFF2-40B4-BE49-F238E27FC236}">
                <a16:creationId xmlns:a16="http://schemas.microsoft.com/office/drawing/2014/main" id="{24B42DB7-9A76-49F1-B48E-D4C1547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前台中台后台的七个工作问题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17F9EFD-6C6A-4EB6-B8F6-62895847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D73FEA8-1A8C-4D7F-B133-4DF365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F46DFBD-34D2-4EB6-BC2A-0F93F84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373D196-3C24-4ACB-AB5D-B18C09B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A0755C-B728-4BAE-875D-335E47C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FD2A4339-BA40-4124-AAC9-5DBF670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资料形成分析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8E66BFF-EFF2-4197-A5C7-7447348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3E8CC15F-C737-44FC-95D1-3A1FF16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需求进入交易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3DB45C9-7BA7-4815-B750-2C67128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BA5EFEA8-9260-44A4-98B5-57B6EBA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观点形成材料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8C8B01C-B2D0-482B-A88E-265EBE1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6583E73-8E2F-4803-AFE0-9C98365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A2C285-1CFD-4A61-A95A-39CD42B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93F9D246-178C-46BC-97B9-30F6B02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意见定位原文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8017BA4-8120-4BCB-9469-C827F8E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DAC2238E-5B7F-48CE-A2DD-CDBCEE4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事件连接持仓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D98DDBBE-195F-4EDB-B1A9-E9B85A0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C310B98-5027-4FE5-ABED-B62CD5F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AAF45-BFF0-4380-BD9C-BA4B26C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AEC707B1-190A-454E-92D0-7E6E43F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文件形成记录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1F47FBC-C8A9-4751-9204-13CE643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4ABF9686-C9EA-4C99-A26B-6AB0AA6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需求形成工具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FCA85D2-4A99-4617-913B-71FF717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8F9EB5A7-3DA0-4A27-B4A2-6320A3BF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9C0FB4A-EBDB-4C45-897B-367CB7B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F7A56BC-950D-4275-96F0-4C75063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5DF5C458-3AB5-47FB-93B9-3D76B1A5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452D4C2-6A8E-4C43-A383-EADDFFB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!!map.route.title">
            <a:extLst xmlns:a="http://schemas.openxmlformats.org/drawingml/2006/main">
              <a:ext uri="{FF2B5EF4-FFF2-40B4-BE49-F238E27FC236}">
                <a16:creationId xmlns:a16="http://schemas.microsoft.com/office/drawing/2014/main" id="{8BF1369F-1498-4C70-B669-634DF5A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两条贯穿任务</a:t>
            </a:r>
          </a:p>
        </p:txBody>
      </p:sp>
      <p:sp>
        <p:nvSpPr>
          <p:cNvPr id="31" name="!!map.route1">
            <a:extLst xmlns:a="http://schemas.openxmlformats.org/drawingml/2006/main">
              <a:ext uri="{FF2B5EF4-FFF2-40B4-BE49-F238E27FC236}">
                <a16:creationId xmlns:a16="http://schemas.microsoft.com/office/drawing/2014/main" id="{2A7CF9B7-F16B-411D-B103-5208DCE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6753225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7F7B"/>
            </a:solidFill>
            <a:prstDash val="solid"/>
          </a:ln>
        </p:spPr>
      </p:sp>
      <p:sp>
        <p:nvSpPr>
          <p:cNvPr id="32" name="!!map.route1.text">
            <a:extLst xmlns:a="http://schemas.openxmlformats.org/drawingml/2006/main">
              <a:ext uri="{FF2B5EF4-FFF2-40B4-BE49-F238E27FC236}">
                <a16:creationId xmlns:a16="http://schemas.microsoft.com/office/drawing/2014/main" id="{EB44FE5A-3BA5-4FD1-B0FA-A967F9C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15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甲公司：研究、交易、风险与运营</a:t>
            </a:r>
          </a:p>
        </p:txBody>
      </p:sp>
      <p:sp>
        <p:nvSpPr>
          <p:cNvPr id="33" name="!!map.route2">
            <a:extLst xmlns:a="http://schemas.openxmlformats.org/drawingml/2006/main">
              <a:ext uri="{FF2B5EF4-FFF2-40B4-BE49-F238E27FC236}">
                <a16:creationId xmlns:a16="http://schemas.microsoft.com/office/drawing/2014/main" id="{8FF56C4F-306A-4EC1-947A-891F9C77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7239000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63A6"/>
            </a:solidFill>
            <a:prstDash val="solid"/>
          </a:ln>
        </p:spPr>
      </p:sp>
      <p:sp>
        <p:nvSpPr>
          <p:cNvPr id="34" name="!!map.route2.text">
            <a:extLst xmlns:a="http://schemas.openxmlformats.org/drawingml/2006/main">
              <a:ext uri="{FF2B5EF4-FFF2-40B4-BE49-F238E27FC236}">
                <a16:creationId xmlns:a16="http://schemas.microsoft.com/office/drawing/2014/main" id="{2234D091-5952-47A0-96C6-4CD40AD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000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客户沟通稿：生成、审核、版本更新</a:t>
            </a:r>
          </a:p>
        </p:txBody>
      </p:sp>
    </p:spTree>
    <p:extLst>
      <p:ext uri="{BB962C8B-B14F-4D97-AF65-F5344CB8AC3E}">
        <p14:creationId xmlns:p14="http://schemas.microsoft.com/office/powerpoint/2010/main" val="1693129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624BAFAE-F941-4BC7-8BD2-C528474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公司研究中的资料整理与判断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E01DF5D-18EE-4F7A-9A75-CDE45F0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5BEDB6E-74FF-4A16-8233-698B7B2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EE3FFDF-2F1F-4F77-BE6D-8C1C9A0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58D54F-75E8-4AE7-9609-CE76689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D3E1D6-93CC-42DE-BDFF-B0498D9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C7408BA-5485-4EA8-A738-4D13990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4D6F0B0-3053-430D-8AEF-66661BE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35ED94B-4995-411A-ADF5-DF828EA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4C28E5E-FC17-4DB5-8D17-BBB9E6B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8F83FDD-6FA8-4D72-8635-83FED5B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58C7964-6D18-4046-A004-82E2D8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70D246B-BDBB-45C3-904E-1D4879AC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F05F275-0B39-4C00-B777-4DA4EE4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9C3CA21-6220-42F0-955B-7188303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4FC94F2-C945-4770-9212-07AB4BD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1686BE0-CF4F-418E-B2C6-9506641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0CA1507-13D1-48CB-BF58-BE0DCA0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C0E5C3-8DFE-4661-9837-49777C9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03804BC-FB87-4C57-AB07-96BFE7B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06356ED-19BE-47E6-964E-BD26526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0E397E5A-B920-4F65-8DAF-87EBA4B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E7B1A1B-E98B-4306-8135-A830D4A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8C1BC9FF-C34E-4111-A382-B95F290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A886E7CB-17C8-4B6B-8600-F2863CC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研究员要回答：收入为何增长，增长能否持续？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506766EF-273A-4A35-9897-329EF3D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30A3C42C-26E0-4D4A-90A7-969F7C5E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D40E8EEF-2054-42DF-99A7-AFCE14F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C08E61C4-E9CF-44A6-B2A9-5EC3D3A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DF1630BD-4B3E-4CB2-881E-C95D397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65CB4191-5205-4FDF-B699-6A048FD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4180F410-88E9-410E-BC5A-0BC57D0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728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64B9B572-47A9-4960-B685-3B80C5A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38233021-5586-4C1C-89A2-28FE93F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A判断需求恢复可持续，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B关注补库持续性。</a:t>
            </a:r>
          </a:p>
        </p:txBody>
      </p:sp>
      <p:sp>
        <p:nvSpPr>
          <p:cNvPr id="35" name="!!research.manual.title">
            <a:extLst xmlns:a="http://schemas.openxmlformats.org/drawingml/2006/main">
              <a:ext uri="{FF2B5EF4-FFF2-40B4-BE49-F238E27FC236}">
                <a16:creationId xmlns:a16="http://schemas.microsoft.com/office/drawing/2014/main" id="{13A08213-9E44-4757-AA80-0DC6F58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研究员的准备工作</a:t>
            </a:r>
          </a:p>
        </p:txBody>
      </p:sp>
      <p:sp>
        <p:nvSpPr>
          <p:cNvPr id="36" name="!!research.manual.0">
            <a:extLst xmlns:a="http://schemas.openxmlformats.org/drawingml/2006/main">
              <a:ext uri="{FF2B5EF4-FFF2-40B4-BE49-F238E27FC236}">
                <a16:creationId xmlns:a16="http://schemas.microsoft.com/office/drawing/2014/main" id="{14CE31C2-332B-46F7-98A0-C37B4BA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找出相关材料</a:t>
            </a:r>
          </a:p>
        </p:txBody>
      </p:sp>
      <p:sp>
        <p:nvSpPr>
          <p:cNvPr id="37" name="!!research.manual.link0.line">
            <a:extLst xmlns:a="http://schemas.openxmlformats.org/drawingml/2006/main">
              <a:ext uri="{FF2B5EF4-FFF2-40B4-BE49-F238E27FC236}">
                <a16:creationId xmlns:a16="http://schemas.microsoft.com/office/drawing/2014/main" id="{55E12887-5B9D-455B-840C-E71E1625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research.manual.link0.tip">
            <a:extLst xmlns:a="http://schemas.openxmlformats.org/drawingml/2006/main">
              <a:ext uri="{FF2B5EF4-FFF2-40B4-BE49-F238E27FC236}">
                <a16:creationId xmlns:a16="http://schemas.microsoft.com/office/drawing/2014/main" id="{7BA85E6C-A0AD-4BAD-B447-921C299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research.manual.1">
            <a:extLst xmlns:a="http://schemas.openxmlformats.org/drawingml/2006/main">
              <a:ext uri="{FF2B5EF4-FFF2-40B4-BE49-F238E27FC236}">
                <a16:creationId xmlns:a16="http://schemas.microsoft.com/office/drawing/2014/main" id="{E1355E8F-6FBC-413A-B0E6-75E15CF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抄录并计算变化</a:t>
            </a:r>
          </a:p>
        </p:txBody>
      </p:sp>
      <p:sp>
        <p:nvSpPr>
          <p:cNvPr id="40" name="!!research.manual.link1.line">
            <a:extLst xmlns:a="http://schemas.openxmlformats.org/drawingml/2006/main">
              <a:ext uri="{FF2B5EF4-FFF2-40B4-BE49-F238E27FC236}">
                <a16:creationId xmlns:a16="http://schemas.microsoft.com/office/drawing/2014/main" id="{9D616D6A-9449-4FF0-9B14-ACCE313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research.manual.link1.tip">
            <a:extLst xmlns:a="http://schemas.openxmlformats.org/drawingml/2006/main">
              <a:ext uri="{FF2B5EF4-FFF2-40B4-BE49-F238E27FC236}">
                <a16:creationId xmlns:a16="http://schemas.microsoft.com/office/drawing/2014/main" id="{14E690A3-8D66-4D04-A505-EE7DBF0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research.manual.2">
            <a:extLst xmlns:a="http://schemas.openxmlformats.org/drawingml/2006/main">
              <a:ext uri="{FF2B5EF4-FFF2-40B4-BE49-F238E27FC236}">
                <a16:creationId xmlns:a16="http://schemas.microsoft.com/office/drawing/2014/main" id="{0B84B208-D3AC-4A75-B8E3-F4B1408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重读和比较观点</a:t>
            </a:r>
          </a:p>
        </p:txBody>
      </p:sp>
      <p:sp>
        <p:nvSpPr>
          <p:cNvPr id="43" name="!!research.manual.link2.line">
            <a:extLst xmlns:a="http://schemas.openxmlformats.org/drawingml/2006/main">
              <a:ext uri="{FF2B5EF4-FFF2-40B4-BE49-F238E27FC236}">
                <a16:creationId xmlns:a16="http://schemas.microsoft.com/office/drawing/2014/main" id="{BBA0E023-1022-4680-91A4-AF34168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research.manual.link2.tip">
            <a:extLst xmlns:a="http://schemas.openxmlformats.org/drawingml/2006/main">
              <a:ext uri="{FF2B5EF4-FFF2-40B4-BE49-F238E27FC236}">
                <a16:creationId xmlns:a16="http://schemas.microsoft.com/office/drawing/2014/main" id="{EE1720FB-1101-4C4F-81C6-2C2C25B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research.manual.3">
            <a:extLst xmlns:a="http://schemas.openxmlformats.org/drawingml/2006/main">
              <a:ext uri="{FF2B5EF4-FFF2-40B4-BE49-F238E27FC236}">
                <a16:creationId xmlns:a16="http://schemas.microsoft.com/office/drawing/2014/main" id="{5F68397E-9237-4FC8-8F81-A4D32E0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5648325"/>
            <a:ext cx="2383631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写出分析依据</a:t>
            </a:r>
          </a:p>
        </p:txBody>
      </p:sp>
      <p:sp>
        <p:nvSpPr>
          <p:cNvPr id="46" name="!!research.repetition">
            <a:extLst xmlns:a="http://schemas.openxmlformats.org/drawingml/2006/main">
              <a:ext uri="{FF2B5EF4-FFF2-40B4-BE49-F238E27FC236}">
                <a16:creationId xmlns:a16="http://schemas.microsoft.com/office/drawing/2014/main" id="{4E0A705F-0D32-4ADA-BC36-6C11C5A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99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反复检索、抄录和核对之后，才能集中判断经营变化</a:t>
            </a:r>
          </a:p>
        </p:txBody>
      </p:sp>
    </p:spTree>
    <p:extLst>
      <p:ext uri="{BB962C8B-B14F-4D97-AF65-F5344CB8AC3E}">
        <p14:creationId xmlns:p14="http://schemas.microsoft.com/office/powerpoint/2010/main" val="23680565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E264A04B-B25D-4AE8-9D82-DBD1C46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天弘基金的财报分析流程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B76A2A4-646C-4A48-BA25-7832C14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2C02013-E182-479A-B70B-A1553DD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A3F150B-BF27-424E-9317-1A070B1D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285B35-122E-4927-AD45-4894EE1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FA331CF-A63D-40E0-BA53-EF6FCB7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A76404AD-1FDF-4D5F-A70C-A2456E1E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2A50AE7A-3FB2-451B-A5C7-99C82D2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E9BE169-6D34-43E2-9926-8AA26C4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CB51847-3D90-494C-9210-CD79EA2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323761D-720E-4B7C-B072-2E39ABF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77AAAE0-6B0E-4422-860E-15A984F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58EAF98-4188-4EA5-B60F-2E70B58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A383C1E-EECB-41CA-A018-67D2A53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C63D8C3-CBC8-4296-AF03-8F5BCFB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E52252B-C8E0-4A06-88A6-3E30BE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5A4A5EB-2869-47A7-9E67-86B2DDB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4AC01F-DBD2-4C79-A1A8-B91CE6F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529FF268-670C-49C7-9945-5649CC4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5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E914A76-5BA4-4C05-AB4E-E27EF531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6B490F97-9404-4127-981C-8A83715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D7801D-BD81-4358-9810-BA53A60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2910695E-DAC8-46C0-AD3B-10F420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4" name="!!driver.llm.title">
            <a:extLst xmlns:a="http://schemas.openxmlformats.org/drawingml/2006/main">
              <a:ext uri="{FF2B5EF4-FFF2-40B4-BE49-F238E27FC236}">
                <a16:creationId xmlns:a16="http://schemas.microsoft.com/office/drawing/2014/main" id="{C4A25237-19CB-4207-B18F-5962DF65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LLM拆解研究问题，计算工具完成取数与计算</a:t>
            </a:r>
          </a:p>
        </p:txBody>
      </p:sp>
      <p:sp>
        <p:nvSpPr>
          <p:cNvPr id="25" name="!!driver.root">
            <a:extLst xmlns:a="http://schemas.openxmlformats.org/drawingml/2006/main">
              <a:ext uri="{FF2B5EF4-FFF2-40B4-BE49-F238E27FC236}">
                <a16:creationId xmlns:a16="http://schemas.microsoft.com/office/drawing/2014/main" id="{D0B5C05C-F6C6-4F39-9815-7C9414D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100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净利润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变化</a:t>
            </a:r>
          </a:p>
        </p:txBody>
      </p:sp>
      <p:sp>
        <p:nvSpPr>
          <p:cNvPr id="26" name="!!driver.revenue.node">
            <a:extLst xmlns:a="http://schemas.openxmlformats.org/drawingml/2006/main">
              <a:ext uri="{FF2B5EF4-FFF2-40B4-BE49-F238E27FC236}">
                <a16:creationId xmlns:a16="http://schemas.microsoft.com/office/drawing/2014/main" id="{5B11AE1D-51F4-4F4B-A9AD-F870804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0037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</a:t>
            </a:r>
          </a:p>
        </p:txBody>
      </p:sp>
      <p:sp>
        <p:nvSpPr>
          <p:cNvPr id="27" name="!!driver.revenue.factor">
            <a:extLst xmlns:a="http://schemas.openxmlformats.org/drawingml/2006/main">
              <a:ext uri="{FF2B5EF4-FFF2-40B4-BE49-F238E27FC236}">
                <a16:creationId xmlns:a16="http://schemas.microsoft.com/office/drawing/2014/main" id="{CD4165C2-6976-4345-8FC8-1333B113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销量、单价</a:t>
            </a:r>
          </a:p>
        </p:txBody>
      </p:sp>
      <p:sp>
        <p:nvSpPr>
          <p:cNvPr id="28" name="!!driver.revenue.branch.1">
            <a:extLst xmlns:a="http://schemas.openxmlformats.org/drawingml/2006/main">
              <a:ext uri="{FF2B5EF4-FFF2-40B4-BE49-F238E27FC236}">
                <a16:creationId xmlns:a16="http://schemas.microsoft.com/office/drawing/2014/main" id="{E780A894-71A5-41F6-83FD-C5727C9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driver.revenue.branch.2">
            <a:extLst xmlns:a="http://schemas.openxmlformats.org/drawingml/2006/main">
              <a:ext uri="{FF2B5EF4-FFF2-40B4-BE49-F238E27FC236}">
                <a16:creationId xmlns:a16="http://schemas.microsoft.com/office/drawing/2014/main" id="{34FC5EA5-67F3-48E1-9443-569A224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96025" y="3362325"/>
            <a:ext cx="953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driver.revenue.branch.3.line">
            <a:extLst xmlns:a="http://schemas.openxmlformats.org/drawingml/2006/main">
              <a:ext uri="{FF2B5EF4-FFF2-40B4-BE49-F238E27FC236}">
                <a16:creationId xmlns:a16="http://schemas.microsoft.com/office/drawing/2014/main" id="{76E010BF-EA0F-4E71-A794-31FA7AA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3623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driver.revenue.branch.3.tip">
            <a:extLst xmlns:a="http://schemas.openxmlformats.org/drawingml/2006/main">
              <a:ext uri="{FF2B5EF4-FFF2-40B4-BE49-F238E27FC236}">
                <a16:creationId xmlns:a16="http://schemas.microsoft.com/office/drawing/2014/main" id="{5B7E9D4B-2E3C-43A0-9E77-C24EEA2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driver.revenue.link.line">
            <a:extLst xmlns:a="http://schemas.openxmlformats.org/drawingml/2006/main">
              <a:ext uri="{FF2B5EF4-FFF2-40B4-BE49-F238E27FC236}">
                <a16:creationId xmlns:a16="http://schemas.microsoft.com/office/drawing/2014/main" id="{20622FF7-BFB1-437A-B968-6DC539E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336232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river.revenue.link.tip">
            <a:extLst xmlns:a="http://schemas.openxmlformats.org/drawingml/2006/main">
              <a:ext uri="{FF2B5EF4-FFF2-40B4-BE49-F238E27FC236}">
                <a16:creationId xmlns:a16="http://schemas.microsoft.com/office/drawing/2014/main" id="{CD589256-9278-4E22-977A-180CE59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river.cost.node">
            <a:extLst xmlns:a="http://schemas.openxmlformats.org/drawingml/2006/main">
              <a:ext uri="{FF2B5EF4-FFF2-40B4-BE49-F238E27FC236}">
                <a16:creationId xmlns:a16="http://schemas.microsoft.com/office/drawing/2014/main" id="{4EF3F462-5923-4C15-925B-55A1746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81500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35" name="!!driver.cost.factor">
            <a:extLst xmlns:a="http://schemas.openxmlformats.org/drawingml/2006/main">
              <a:ext uri="{FF2B5EF4-FFF2-40B4-BE49-F238E27FC236}">
                <a16:creationId xmlns:a16="http://schemas.microsoft.com/office/drawing/2014/main" id="{72AB2735-E343-464D-9F66-C5365A6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8150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原材料、生产成本</a:t>
            </a:r>
          </a:p>
        </p:txBody>
      </p:sp>
      <p:sp>
        <p:nvSpPr>
          <p:cNvPr id="36" name="!!driver.cost.branch.1">
            <a:extLst xmlns:a="http://schemas.openxmlformats.org/drawingml/2006/main">
              <a:ext uri="{FF2B5EF4-FFF2-40B4-BE49-F238E27FC236}">
                <a16:creationId xmlns:a16="http://schemas.microsoft.com/office/drawing/2014/main" id="{D0473DA2-6D76-478A-9320-69E3F51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driver.cost.branch.2">
            <a:extLst xmlns:a="http://schemas.openxmlformats.org/drawingml/2006/main">
              <a:ext uri="{FF2B5EF4-FFF2-40B4-BE49-F238E27FC236}">
                <a16:creationId xmlns:a16="http://schemas.microsoft.com/office/drawing/2014/main" id="{2FC50DAD-03B1-44CC-9991-DBBC01C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driver.cost.branch.3.line">
            <a:extLst xmlns:a="http://schemas.openxmlformats.org/drawingml/2006/main">
              <a:ext uri="{FF2B5EF4-FFF2-40B4-BE49-F238E27FC236}">
                <a16:creationId xmlns:a16="http://schemas.microsoft.com/office/drawing/2014/main" id="{B7D27C98-6536-4E34-8BB7-0306C16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7434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river.cost.branch.3.tip">
            <a:extLst xmlns:a="http://schemas.openxmlformats.org/drawingml/2006/main">
              <a:ext uri="{FF2B5EF4-FFF2-40B4-BE49-F238E27FC236}">
                <a16:creationId xmlns:a16="http://schemas.microsoft.com/office/drawing/2014/main" id="{A032B5F3-C4DA-405B-B96C-4A6C321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river.cost.link.line">
            <a:extLst xmlns:a="http://schemas.openxmlformats.org/drawingml/2006/main">
              <a:ext uri="{FF2B5EF4-FFF2-40B4-BE49-F238E27FC236}">
                <a16:creationId xmlns:a16="http://schemas.microsoft.com/office/drawing/2014/main" id="{23D8487D-2E97-47D6-9B6A-59FCBF5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743450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driver.cost.link.tip">
            <a:extLst xmlns:a="http://schemas.openxmlformats.org/drawingml/2006/main">
              <a:ext uri="{FF2B5EF4-FFF2-40B4-BE49-F238E27FC236}">
                <a16:creationId xmlns:a16="http://schemas.microsoft.com/office/drawing/2014/main" id="{E1702EDA-9D6B-40FC-B501-7D3E7826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driver.expense.node">
            <a:extLst xmlns:a="http://schemas.openxmlformats.org/drawingml/2006/main">
              <a:ext uri="{FF2B5EF4-FFF2-40B4-BE49-F238E27FC236}">
                <a16:creationId xmlns:a16="http://schemas.microsoft.com/office/drawing/2014/main" id="{D1BA067F-BFB9-4E15-BCE7-8E092FC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262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费用</a:t>
            </a:r>
          </a:p>
        </p:txBody>
      </p:sp>
      <p:sp>
        <p:nvSpPr>
          <p:cNvPr id="43" name="!!driver.expense.factor">
            <a:extLst xmlns:a="http://schemas.openxmlformats.org/drawingml/2006/main">
              <a:ext uri="{FF2B5EF4-FFF2-40B4-BE49-F238E27FC236}">
                <a16:creationId xmlns:a16="http://schemas.microsoft.com/office/drawing/2014/main" id="{90AB09E2-C623-46A6-BDA2-9C32115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7626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渠道、销售费用</a:t>
            </a:r>
          </a:p>
        </p:txBody>
      </p:sp>
      <p:sp>
        <p:nvSpPr>
          <p:cNvPr id="44" name="!!driver.expense.branch.1">
            <a:extLst xmlns:a="http://schemas.openxmlformats.org/drawingml/2006/main">
              <a:ext uri="{FF2B5EF4-FFF2-40B4-BE49-F238E27FC236}">
                <a16:creationId xmlns:a16="http://schemas.microsoft.com/office/drawing/2014/main" id="{67453791-C726-4E02-B7D4-5658F9E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driver.expense.branch.2">
            <a:extLst xmlns:a="http://schemas.openxmlformats.org/drawingml/2006/main">
              <a:ext uri="{FF2B5EF4-FFF2-40B4-BE49-F238E27FC236}">
                <a16:creationId xmlns:a16="http://schemas.microsoft.com/office/drawing/2014/main" id="{DDFA63DD-DF85-4DDE-8EBD-47A6EAFD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driver.expense.branch.3.line">
            <a:extLst xmlns:a="http://schemas.openxmlformats.org/drawingml/2006/main">
              <a:ext uri="{FF2B5EF4-FFF2-40B4-BE49-F238E27FC236}">
                <a16:creationId xmlns:a16="http://schemas.microsoft.com/office/drawing/2014/main" id="{21733C88-838B-4D15-8217-26ACEB60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61245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river.expense.branch.3.tip">
            <a:extLst xmlns:a="http://schemas.openxmlformats.org/drawingml/2006/main">
              <a:ext uri="{FF2B5EF4-FFF2-40B4-BE49-F238E27FC236}">
                <a16:creationId xmlns:a16="http://schemas.microsoft.com/office/drawing/2014/main" id="{21689157-F8B5-4FA8-90DF-6C25597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river.expense.link.line">
            <a:extLst xmlns:a="http://schemas.openxmlformats.org/drawingml/2006/main">
              <a:ext uri="{FF2B5EF4-FFF2-40B4-BE49-F238E27FC236}">
                <a16:creationId xmlns:a16="http://schemas.microsoft.com/office/drawing/2014/main" id="{4049637A-60CE-4ED9-B585-3195B66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612457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river.expense.link.tip">
            <a:extLst xmlns:a="http://schemas.openxmlformats.org/drawingml/2006/main">
              <a:ext uri="{FF2B5EF4-FFF2-40B4-BE49-F238E27FC236}">
                <a16:creationId xmlns:a16="http://schemas.microsoft.com/office/drawing/2014/main" id="{2F056FC0-15CD-4BD7-B35B-853DB26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river.tools">
            <a:extLst xmlns:a="http://schemas.openxmlformats.org/drawingml/2006/main">
              <a:ext uri="{FF2B5EF4-FFF2-40B4-BE49-F238E27FC236}">
                <a16:creationId xmlns:a16="http://schemas.microsoft.com/office/drawing/2014/main" id="{ED736021-3B32-4FDC-BC74-714D46A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00375"/>
            <a:ext cx="12382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数据接口</a:t>
            </a:r>
          </a:p>
          <a:p xmlns:a="http://schemas.openxmlformats.org/drawingml/2006/main">
            <a:pPr algn="ctr">
              <a:def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计算工具</a:t>
            </a:r>
          </a:p>
        </p:txBody>
      </p:sp>
      <p:sp>
        <p:nvSpPr>
          <p:cNvPr id="51" name="!!driver.result">
            <a:extLst xmlns:a="http://schemas.openxmlformats.org/drawingml/2006/main">
              <a:ext uri="{FF2B5EF4-FFF2-40B4-BE49-F238E27FC236}">
                <a16:creationId xmlns:a16="http://schemas.microsoft.com/office/drawing/2014/main" id="{BF6C1E56-A27E-4FC6-9A53-0B041AD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04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LLM联系经营资料解释变化，研究员据此判断增长质量</a:t>
            </a:r>
          </a:p>
        </p:txBody>
      </p:sp>
    </p:spTree>
    <p:extLst>
      <p:ext uri="{BB962C8B-B14F-4D97-AF65-F5344CB8AC3E}">
        <p14:creationId xmlns:p14="http://schemas.microsoft.com/office/powerpoint/2010/main" val="11128858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D50C1BD3-E916-4248-9FDB-454C1C6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富国基金的研报观点汇总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3A7438-3B9D-48CC-B3A7-15694A6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8E0FD3-EA2A-4923-BA94-84721CFD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726A-B7E2-420B-87F3-CC660D20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77E3B1-D7AC-43DC-9C00-2C059E9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2612A70F-0621-4384-A7EE-93CE950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599369A-F51C-438C-913F-515E191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47CB8D50-78F0-40E7-AB13-B001482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C89BCEB-0795-43E3-B1C9-AA7F7AD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0E5FD4-D16F-4E59-BC52-9891EC1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F211CE7-576C-4DAC-9F2A-06DC6DD1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84307B-B4C3-4B64-8289-C09A1E7C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45689F7-0E46-4F80-8538-9984407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597C363-2066-4D12-A47B-3610ED0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55AFE09-3E3C-4892-937B-B83A02A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86BFE185-E881-46B7-8B5B-621C521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0E965A9-381B-4921-A587-E9B6A01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A9B166A-E77C-4568-9355-CB83EC3A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6D5B1EB-896B-4C1C-8442-334BEE6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9A1F1BB-9038-4BB2-9227-BB5D5AA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8726F0D5-AEB9-465D-9117-BB875A5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1ED118C4-AF78-40C2-B3CE-67A19FA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1822354-F69F-4C18-A833-29DF145F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C88E2A30-8EF5-4570-B4FB-05E097A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来源：富国基金，基金业协会案例材料</a:t>
            </a:r>
          </a:p>
        </p:txBody>
      </p:sp>
      <p:sp>
        <p:nvSpPr>
          <p:cNvPr id="25" name="!!views.llm.title">
            <a:extLst xmlns:a="http://schemas.openxmlformats.org/drawingml/2006/main">
              <a:ext uri="{FF2B5EF4-FFF2-40B4-BE49-F238E27FC236}">
                <a16:creationId xmlns:a16="http://schemas.microsoft.com/office/drawing/2014/main" id="{086FCE89-84C6-49E8-8015-8B0E0E5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LLM按同一研究问题，逐篇阅读并对照观点</a:t>
            </a:r>
          </a:p>
        </p:txBody>
      </p:sp>
      <p:sp>
        <p:nvSpPr>
          <p:cNvPr id="26" name="!!views.reportA.rule">
            <a:extLst xmlns:a="http://schemas.openxmlformats.org/drawingml/2006/main">
              <a:ext uri="{FF2B5EF4-FFF2-40B4-BE49-F238E27FC236}">
                <a16:creationId xmlns:a16="http://schemas.microsoft.com/office/drawing/2014/main" id="{6EDC44FA-5152-4511-9606-E02D68F4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views.reportA.label">
            <a:extLst xmlns:a="http://schemas.openxmlformats.org/drawingml/2006/main">
              <a:ext uri="{FF2B5EF4-FFF2-40B4-BE49-F238E27FC236}">
                <a16:creationId xmlns:a16="http://schemas.microsoft.com/office/drawing/2014/main" id="{8D430CF5-01EC-453C-9EC7-0D53B81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A</a:t>
            </a:r>
          </a:p>
        </p:txBody>
      </p:sp>
      <p:sp>
        <p:nvSpPr>
          <p:cNvPr id="28" name="!!views.reportA.text">
            <a:extLst xmlns:a="http://schemas.openxmlformats.org/drawingml/2006/main">
              <a:ext uri="{FF2B5EF4-FFF2-40B4-BE49-F238E27FC236}">
                <a16:creationId xmlns:a16="http://schemas.microsoft.com/office/drawing/2014/main" id="{50DE9AA4-6AD1-4F27-852D-63606E6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销量增长带动收入。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需求恢复支持持续增长。</a:t>
            </a:r>
          </a:p>
        </p:txBody>
      </p:sp>
      <p:sp>
        <p:nvSpPr>
          <p:cNvPr id="29" name="!!views.reportB.rule">
            <a:extLst xmlns:a="http://schemas.openxmlformats.org/drawingml/2006/main">
              <a:ext uri="{FF2B5EF4-FFF2-40B4-BE49-F238E27FC236}">
                <a16:creationId xmlns:a16="http://schemas.microsoft.com/office/drawing/2014/main" id="{C04F48C1-8CEA-4100-8733-739F72D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views.reportB.label">
            <a:extLst xmlns:a="http://schemas.openxmlformats.org/drawingml/2006/main">
              <a:ext uri="{FF2B5EF4-FFF2-40B4-BE49-F238E27FC236}">
                <a16:creationId xmlns:a16="http://schemas.microsoft.com/office/drawing/2014/main" id="{143C4FE9-FE42-49E4-9163-84495CA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 B</a:t>
            </a:r>
          </a:p>
        </p:txBody>
      </p:sp>
      <p:sp>
        <p:nvSpPr>
          <p:cNvPr id="31" name="!!views.reportB.text">
            <a:extLst xmlns:a="http://schemas.openxmlformats.org/drawingml/2006/main">
              <a:ext uri="{FF2B5EF4-FFF2-40B4-BE49-F238E27FC236}">
                <a16:creationId xmlns:a16="http://schemas.microsoft.com/office/drawing/2014/main" id="{49C9B7D8-6442-4E00-B613-7A2DC19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补库持续性仍待观察。</a:t>
            </a:r>
          </a:p>
        </p:txBody>
      </p:sp>
      <p:sp>
        <p:nvSpPr>
          <p:cNvPr id="32" name="!!views.method">
            <a:extLst xmlns:a="http://schemas.openxmlformats.org/drawingml/2006/main">
              <a:ext uri="{FF2B5EF4-FFF2-40B4-BE49-F238E27FC236}">
                <a16:creationId xmlns:a16="http://schemas.microsoft.com/office/drawing/2014/main" id="{9C7F807F-C9D1-4FC1-8122-31129B8A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43250"/>
            <a:ext cx="321945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views.method.role">
            <a:extLst xmlns:a="http://schemas.openxmlformats.org/drawingml/2006/main">
              <a:ext uri="{FF2B5EF4-FFF2-40B4-BE49-F238E27FC236}">
                <a16:creationId xmlns:a16="http://schemas.microsoft.com/office/drawing/2014/main" id="{AFC132CE-3995-4E98-B4C7-CC4060E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86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富国的LLM处理</a:t>
            </a:r>
          </a:p>
        </p:txBody>
      </p:sp>
      <p:sp>
        <p:nvSpPr>
          <p:cNvPr id="34" name="!!views.method.body">
            <a:extLst xmlns:a="http://schemas.openxmlformats.org/drawingml/2006/main">
              <a:ext uri="{FF2B5EF4-FFF2-40B4-BE49-F238E27FC236}">
                <a16:creationId xmlns:a16="http://schemas.microsoft.com/office/drawing/2014/main" id="{06C4E6E0-4B39-49AF-9CAE-9E66E3A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24275"/>
            <a:ext cx="28384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筛选相关研报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按研究方向整理小结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汇总并检查表述</a:t>
            </a:r>
          </a:p>
        </p:txBody>
      </p:sp>
      <p:sp>
        <p:nvSpPr>
          <p:cNvPr id="35" name="!!views.result">
            <a:extLst xmlns:a="http://schemas.openxmlformats.org/drawingml/2006/main">
              <a:ext uri="{FF2B5EF4-FFF2-40B4-BE49-F238E27FC236}">
                <a16:creationId xmlns:a16="http://schemas.microsoft.com/office/drawing/2014/main" id="{7933B4AC-2851-467D-B8B8-EEFB3B5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388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6" name="!!views.consensus.title">
            <a:extLst xmlns:a="http://schemas.openxmlformats.org/drawingml/2006/main">
              <a:ext uri="{FF2B5EF4-FFF2-40B4-BE49-F238E27FC236}">
                <a16:creationId xmlns:a16="http://schemas.microsoft.com/office/drawing/2014/main" id="{3213643D-F61B-44A5-9F75-89543AF3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388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LLM汇总共识</a:t>
            </a:r>
          </a:p>
        </p:txBody>
      </p:sp>
      <p:sp>
        <p:nvSpPr>
          <p:cNvPr id="37" name="!!views.consensus.body">
            <a:extLst xmlns:a="http://schemas.openxmlformats.org/drawingml/2006/main">
              <a:ext uri="{FF2B5EF4-FFF2-40B4-BE49-F238E27FC236}">
                <a16:creationId xmlns:a16="http://schemas.microsoft.com/office/drawing/2014/main" id="{7EDEEEE9-9EE1-4C76-8483-6A82CF7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960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销量增长支持本期收入</a:t>
            </a:r>
          </a:p>
        </p:txBody>
      </p:sp>
      <p:sp>
        <p:nvSpPr>
          <p:cNvPr id="38" name="!!views.difference.title">
            <a:extLst xmlns:a="http://schemas.openxmlformats.org/drawingml/2006/main">
              <a:ext uri="{FF2B5EF4-FFF2-40B4-BE49-F238E27FC236}">
                <a16:creationId xmlns:a16="http://schemas.microsoft.com/office/drawing/2014/main" id="{DC06DEDD-6F2B-4032-9899-AD99681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38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LLM保留分歧</a:t>
            </a:r>
          </a:p>
        </p:txBody>
      </p:sp>
      <p:sp>
        <p:nvSpPr>
          <p:cNvPr id="39" name="!!views.difference.body">
            <a:extLst xmlns:a="http://schemas.openxmlformats.org/drawingml/2006/main">
              <a:ext uri="{FF2B5EF4-FFF2-40B4-BE49-F238E27FC236}">
                <a16:creationId xmlns:a16="http://schemas.microsoft.com/office/drawing/2014/main" id="{3144CBE6-0F91-490D-959A-385C16F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96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持续需求恢复，还是阶段性补库？</a:t>
            </a:r>
          </a:p>
        </p:txBody>
      </p:sp>
      <p:sp>
        <p:nvSpPr>
          <p:cNvPr id="40" name="!!views.user">
            <a:extLst xmlns:a="http://schemas.openxmlformats.org/drawingml/2006/main">
              <a:ext uri="{FF2B5EF4-FFF2-40B4-BE49-F238E27FC236}">
                <a16:creationId xmlns:a16="http://schemas.microsoft.com/office/drawing/2014/main" id="{4EE17DEC-2F63-4E79-8288-2B684A6E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研究员从分歧继续查证，分析中保留对应研报出处</a:t>
            </a:r>
          </a:p>
        </p:txBody>
      </p:sp>
    </p:spTree>
    <p:extLst>
      <p:ext uri="{BB962C8B-B14F-4D97-AF65-F5344CB8AC3E}">
        <p14:creationId xmlns:p14="http://schemas.microsoft.com/office/powerpoint/2010/main" val="70252653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!!heading">
            <a:extLst xmlns:a="http://schemas.openxmlformats.org/drawingml/2006/main">
              <a:ext uri="{FF2B5EF4-FFF2-40B4-BE49-F238E27FC236}">
                <a16:creationId xmlns:a16="http://schemas.microsoft.com/office/drawing/2014/main" id="{4695191F-5483-4C30-BD9C-7C874C6A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中欧基金的研究要素整理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2BC52B6-755D-4DB8-A764-C964233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1F7E9F4-5B65-4222-937C-ACC4027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2512F8A-9A87-44F9-AF4E-93EF983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E71219E-22C9-4748-9E7D-D8A877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F608ABC-1FB1-4235-9547-0BE25C8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7B9E76-1AFB-4ECC-945B-3F8F141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866C29C-308C-4553-B302-0A77C851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100703-A13C-42FD-84DB-746A185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13AD41-CE69-4125-9C61-4648BDC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F2397A1-AB84-4987-B1CC-BBBA189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7728BD5-1471-482A-A0C8-D8CA6DC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BABF8FC-955C-4D83-8DA7-0EB8B2D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DE6909-C45A-4C69-9189-809C979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2E0DAB-01A7-4BC6-A547-AF888DB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090BE48F-722E-483B-8366-6810F7F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54FBF2C-048B-406C-8954-3C3B277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E9DFCC0-3E5C-468F-A307-7F9B240B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EEB55B8-BD6A-4349-8A9F-3EBB15BE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D67C45B-0BB5-494D-9259-CBF20FE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1833C379-1CF8-4DDD-A6C3-BEF1677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1AF3C6BB-69EB-4F1A-A6C2-96D8E04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46E7D31-09B1-4530-A8E2-DD7BC9D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90DDBCA-B3D5-4120-8BAD-41A60B3C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来源：南方+，中欧基金投研助手报道；窦玉明论坛发言报道，数据截至2026年5月</a:t>
            </a:r>
          </a:p>
        </p:txBody>
      </p:sp>
      <p:sp>
        <p:nvSpPr>
          <p:cNvPr id="25" name="!!elements.head">
            <a:extLst xmlns:a="http://schemas.openxmlformats.org/drawingml/2006/main">
              <a:ext uri="{FF2B5EF4-FFF2-40B4-BE49-F238E27FC236}">
                <a16:creationId xmlns:a16="http://schemas.microsoft.com/office/drawing/2014/main" id="{1946B59C-A7EA-4237-BE9D-6D715D2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LLM把资料中的判断填入研究分析表</a:t>
            </a:r>
          </a:p>
        </p:txBody>
      </p:sp>
      <p:sp>
        <p:nvSpPr>
          <p:cNvPr id="26" name="!!elements.left">
            <a:extLst xmlns:a="http://schemas.openxmlformats.org/drawingml/2006/main">
              <a:ext uri="{FF2B5EF4-FFF2-40B4-BE49-F238E27FC236}">
                <a16:creationId xmlns:a16="http://schemas.microsoft.com/office/drawing/2014/main" id="{B1A9878D-272F-436D-9AC5-BFDD8A45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71775"/>
            <a:ext cx="29241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资料接口提供材料</a:t>
            </a:r>
          </a:p>
        </p:txBody>
      </p:sp>
      <p:sp>
        <p:nvSpPr>
          <p:cNvPr id="27" name="!!elements.right">
            <a:extLst xmlns:a="http://schemas.openxmlformats.org/drawingml/2006/main">
              <a:ext uri="{FF2B5EF4-FFF2-40B4-BE49-F238E27FC236}">
                <a16:creationId xmlns:a16="http://schemas.microsoft.com/office/drawing/2014/main" id="{4569CAA1-CD1D-409F-9308-88EC603E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7067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LLM填写研究要素表示例</a:t>
            </a:r>
          </a:p>
        </p:txBody>
      </p:sp>
      <p:sp>
        <p:nvSpPr>
          <p:cNvPr id="28" name="!!element.0.source">
            <a:extLst xmlns:a="http://schemas.openxmlformats.org/drawingml/2006/main">
              <a:ext uri="{FF2B5EF4-FFF2-40B4-BE49-F238E27FC236}">
                <a16:creationId xmlns:a16="http://schemas.microsoft.com/office/drawing/2014/main" id="{CA9372DA-94EB-4C40-8549-7CA0116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财报与计算结果</a:t>
            </a:r>
          </a:p>
        </p:txBody>
      </p:sp>
      <p:sp>
        <p:nvSpPr>
          <p:cNvPr id="29" name="!!element.0.arrow.line">
            <a:extLst xmlns:a="http://schemas.openxmlformats.org/drawingml/2006/main">
              <a:ext uri="{FF2B5EF4-FFF2-40B4-BE49-F238E27FC236}">
                <a16:creationId xmlns:a16="http://schemas.microsoft.com/office/drawing/2014/main" id="{FBE08CD1-391F-47B0-90CF-9D237DA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39147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lement.0.arrow.tip">
            <a:extLst xmlns:a="http://schemas.openxmlformats.org/drawingml/2006/main">
              <a:ext uri="{FF2B5EF4-FFF2-40B4-BE49-F238E27FC236}">
                <a16:creationId xmlns:a16="http://schemas.microsoft.com/office/drawing/2014/main" id="{20C5428B-5404-4F01-9EA4-AF0BE574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lement.0.label">
            <a:extLst xmlns:a="http://schemas.openxmlformats.org/drawingml/2006/main">
              <a:ext uri="{FF2B5EF4-FFF2-40B4-BE49-F238E27FC236}">
                <a16:creationId xmlns:a16="http://schemas.microsoft.com/office/drawing/2014/main" id="{0CCD1F2E-7072-4BDE-8F57-19B5727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338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经营变化</a:t>
            </a:r>
          </a:p>
        </p:txBody>
      </p:sp>
      <p:sp>
        <p:nvSpPr>
          <p:cNvPr id="32" name="!!element.0.value">
            <a:extLst xmlns:a="http://schemas.openxmlformats.org/drawingml/2006/main">
              <a:ext uri="{FF2B5EF4-FFF2-40B4-BE49-F238E27FC236}">
                <a16:creationId xmlns:a16="http://schemas.microsoft.com/office/drawing/2014/main" id="{26F55F22-4C48-4C2A-AE1E-E873B52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</p:txBody>
      </p:sp>
      <p:sp>
        <p:nvSpPr>
          <p:cNvPr id="33" name="!!element.0.rule">
            <a:extLst xmlns:a="http://schemas.openxmlformats.org/drawingml/2006/main">
              <a:ext uri="{FF2B5EF4-FFF2-40B4-BE49-F238E27FC236}">
                <a16:creationId xmlns:a16="http://schemas.microsoft.com/office/drawing/2014/main" id="{4A4AFA78-9F1F-41E1-904A-28C5281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435292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element.1.source">
            <a:extLst xmlns:a="http://schemas.openxmlformats.org/drawingml/2006/main">
              <a:ext uri="{FF2B5EF4-FFF2-40B4-BE49-F238E27FC236}">
                <a16:creationId xmlns:a16="http://schemas.microsoft.com/office/drawing/2014/main" id="{765FFAE0-901A-49FE-B242-BB92CE3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</p:txBody>
      </p:sp>
      <p:sp>
        <p:nvSpPr>
          <p:cNvPr id="35" name="!!element.1.arrow.line">
            <a:extLst xmlns:a="http://schemas.openxmlformats.org/drawingml/2006/main">
              <a:ext uri="{FF2B5EF4-FFF2-40B4-BE49-F238E27FC236}">
                <a16:creationId xmlns:a16="http://schemas.microsoft.com/office/drawing/2014/main" id="{02A0FEA8-CBFE-432C-90E6-A42E3039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4895850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element.1.arrow.tip">
            <a:extLst xmlns:a="http://schemas.openxmlformats.org/drawingml/2006/main">
              <a:ext uri="{FF2B5EF4-FFF2-40B4-BE49-F238E27FC236}">
                <a16:creationId xmlns:a16="http://schemas.microsoft.com/office/drawing/2014/main" id="{E0C2FFE7-D420-4E05-95D7-62F8090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4838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element.1.label">
            <a:extLst xmlns:a="http://schemas.openxmlformats.org/drawingml/2006/main">
              <a:ext uri="{FF2B5EF4-FFF2-40B4-BE49-F238E27FC236}">
                <a16:creationId xmlns:a16="http://schemas.microsoft.com/office/drawing/2014/main" id="{BFE637E4-8CC9-4DC2-98BD-5997348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14875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驱动因素</a:t>
            </a:r>
          </a:p>
        </p:txBody>
      </p:sp>
      <p:sp>
        <p:nvSpPr>
          <p:cNvPr id="38" name="!!element.1.value">
            <a:extLst xmlns:a="http://schemas.openxmlformats.org/drawingml/2006/main">
              <a:ext uri="{FF2B5EF4-FFF2-40B4-BE49-F238E27FC236}">
                <a16:creationId xmlns:a16="http://schemas.microsoft.com/office/drawing/2014/main" id="{C6EB2F28-E424-4F19-A55B-30EB68E9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9" name="!!element.1.rule">
            <a:extLst xmlns:a="http://schemas.openxmlformats.org/drawingml/2006/main">
              <a:ext uri="{FF2B5EF4-FFF2-40B4-BE49-F238E27FC236}">
                <a16:creationId xmlns:a16="http://schemas.microsoft.com/office/drawing/2014/main" id="{C213ED09-5ABD-410E-A925-FF19C4CC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334000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0" name="!!element.2.source">
            <a:extLst xmlns:a="http://schemas.openxmlformats.org/drawingml/2006/main">
              <a:ext uri="{FF2B5EF4-FFF2-40B4-BE49-F238E27FC236}">
                <a16:creationId xmlns:a16="http://schemas.microsoft.com/office/drawing/2014/main" id="{3F59F035-382F-4D55-AA99-C136A63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924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两份研报</a:t>
            </a:r>
          </a:p>
        </p:txBody>
      </p:sp>
      <p:sp>
        <p:nvSpPr>
          <p:cNvPr id="41" name="!!element.2.arrow.line">
            <a:extLst xmlns:a="http://schemas.openxmlformats.org/drawingml/2006/main">
              <a:ext uri="{FF2B5EF4-FFF2-40B4-BE49-F238E27FC236}">
                <a16:creationId xmlns:a16="http://schemas.microsoft.com/office/drawing/2014/main" id="{1F0DE5E5-E68A-4F8F-9D89-D62657D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587692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element.2.arrow.tip">
            <a:extLst xmlns:a="http://schemas.openxmlformats.org/drawingml/2006/main">
              <a:ext uri="{FF2B5EF4-FFF2-40B4-BE49-F238E27FC236}">
                <a16:creationId xmlns:a16="http://schemas.microsoft.com/office/drawing/2014/main" id="{287384C8-198F-4A87-860D-97CDE6E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5819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element.2.label">
            <a:extLst xmlns:a="http://schemas.openxmlformats.org/drawingml/2006/main">
              <a:ext uri="{FF2B5EF4-FFF2-40B4-BE49-F238E27FC236}">
                <a16:creationId xmlns:a16="http://schemas.microsoft.com/office/drawing/2014/main" id="{C0C73712-125E-4641-ABA0-5060C36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9595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44" name="!!element.2.value">
            <a:extLst xmlns:a="http://schemas.openxmlformats.org/drawingml/2006/main">
              <a:ext uri="{FF2B5EF4-FFF2-40B4-BE49-F238E27FC236}">
                <a16:creationId xmlns:a16="http://schemas.microsoft.com/office/drawing/2014/main" id="{A0D1DDAD-AF63-4CBB-A678-52B85B6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959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补库持续性仍有分歧</a:t>
            </a:r>
          </a:p>
        </p:txBody>
      </p:sp>
      <p:sp>
        <p:nvSpPr>
          <p:cNvPr id="45" name="!!element.2.rule">
            <a:extLst xmlns:a="http://schemas.openxmlformats.org/drawingml/2006/main">
              <a:ext uri="{FF2B5EF4-FFF2-40B4-BE49-F238E27FC236}">
                <a16:creationId xmlns:a16="http://schemas.microsoft.com/office/drawing/2014/main" id="{62989EF7-8164-479C-9F8B-45116B3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31507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6" name="!!elements.stat">
            <a:extLst xmlns:a="http://schemas.openxmlformats.org/drawingml/2006/main">
              <a:ext uri="{FF2B5EF4-FFF2-40B4-BE49-F238E27FC236}">
                <a16:creationId xmlns:a16="http://schemas.microsoft.com/office/drawing/2014/main" id="{A294837C-997C-4B86-96C9-DDA1253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734175"/>
            <a:ext cx="1053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中欧披露：整体编制效率提升约50%（截至2026年5月）</a:t>
            </a:r>
          </a:p>
        </p:txBody>
      </p:sp>
      <p:sp>
        <p:nvSpPr>
          <p:cNvPr id="47" name="!!elements.user">
            <a:extLst xmlns:a="http://schemas.openxmlformats.org/drawingml/2006/main">
              <a:ext uri="{FF2B5EF4-FFF2-40B4-BE49-F238E27FC236}">
                <a16:creationId xmlns:a16="http://schemas.microsoft.com/office/drawing/2014/main" id="{6357889D-0A83-4F06-A824-C0F5FC2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532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研究员核对填报内容与出处，补充自己的判断</a:t>
            </a:r>
          </a:p>
        </p:txBody>
      </p:sp>
    </p:spTree>
    <p:extLst>
      <p:ext uri="{BB962C8B-B14F-4D97-AF65-F5344CB8AC3E}">
        <p14:creationId xmlns:p14="http://schemas.microsoft.com/office/powerpoint/2010/main" val="58400565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!!heading">
            <a:extLst xmlns:a="http://schemas.openxmlformats.org/drawingml/2006/main">
              <a:ext uri="{FF2B5EF4-FFF2-40B4-BE49-F238E27FC236}">
                <a16:creationId xmlns:a16="http://schemas.microsoft.com/office/drawing/2014/main" id="{E059F438-C185-4716-84A3-7B27611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公司投研分析方案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5A1E63A-F872-4939-908D-49419FB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DB1FB09-6DB7-4B9E-BC80-52FD435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15E9394-8C7E-466B-A6FE-E7FD7C7B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CAEDD96-E24B-4043-81B5-B88108C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35250D5-81C6-4F82-B4DF-F4DF453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67B60BC-6126-45E3-ACBC-A2D5D228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9866CA6-FDB5-4556-B1BC-8C8581F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655F8A-3B9B-4301-BCFF-B4114C5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30C8A88-ADCE-4CA2-A11D-1E7FAC6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18DB30F-7998-4CF3-A734-CE45A62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E5C6A00-BCC7-4034-A51B-585BBF3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D00F754-E848-44A2-B0F3-3DA59CE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6C0F2F6-7328-49FB-BEE7-2FC0520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FD423BA-3834-4C0A-97D5-CEB43A5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CC421B4-63BC-4D49-9C0F-C870B9C6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FA3E4B3-2C3A-4FE2-AAC0-B2D2AEB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DB129E-9F24-4E21-8D69-F673666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706702D-D55B-4D04-93B9-84320F8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3E560CD-A9F6-4E20-A2EE-EEEF0F3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E18762E3-B466-4633-B0B1-54140495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8D902BD-7EFB-4378-BE57-80DA149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7F87DE7-94F1-46A4-AFD8-B1D0B26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B5B5EA3D-B4E8-46F9-BC8D-66E3052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来源：天弘基金，基金业协会案例材料；富国基金，基金业协会案例材料；南方+，中欧基金投研助手报道；兴证全球基金，基金业协会案例材料</a:t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0B6618EB-B285-4B12-8D04-CD6E08E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研究员：本季度收入为何增长，增长能否持续？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DDC32748-F651-4B12-A8FE-0EBE198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527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769DD3B5-6FB5-409B-B6A2-B33D70D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7C125E5B-714F-4E1A-B488-DF77D325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F29FE20A-879B-4A38-9775-5FE4719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0576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14AC076A-BDAF-434B-80B8-D3DCC3E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BEFBA42D-2ABA-405C-B966-4D38ED0C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51828037-709A-49B0-A5A6-A0BAA05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87680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F343E376-D275-44E7-A7D4-855B07C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EFA02339-5FF8-4BA8-81AC-F9CE415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14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A：需求恢复可持续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B：补库持续性待观察</a:t>
            </a:r>
          </a:p>
        </p:txBody>
      </p:sp>
      <p:sp>
        <p:nvSpPr>
          <p:cNvPr id="35" name="!!research.llm">
            <a:extLst xmlns:a="http://schemas.openxmlformats.org/drawingml/2006/main">
              <a:ext uri="{FF2B5EF4-FFF2-40B4-BE49-F238E27FC236}">
                <a16:creationId xmlns:a16="http://schemas.microsoft.com/office/drawing/2014/main" id="{CA169769-C05F-4B5E-9375-86B2F63E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322897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research.llm.role">
            <a:extLst xmlns:a="http://schemas.openxmlformats.org/drawingml/2006/main">
              <a:ext uri="{FF2B5EF4-FFF2-40B4-BE49-F238E27FC236}">
                <a16:creationId xmlns:a16="http://schemas.microsoft.com/office/drawing/2014/main" id="{CF198306-B728-4812-97B4-AB9CBAB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956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LLM读材料、组织分析</a:t>
            </a:r>
          </a:p>
        </p:txBody>
      </p:sp>
      <p:sp>
        <p:nvSpPr>
          <p:cNvPr id="37" name="!!research.llm.body">
            <a:extLst xmlns:a="http://schemas.openxmlformats.org/drawingml/2006/main">
              <a:ext uri="{FF2B5EF4-FFF2-40B4-BE49-F238E27FC236}">
                <a16:creationId xmlns:a16="http://schemas.microsoft.com/office/drawing/2014/main" id="{D3DBD03D-F5D6-4806-91BB-6574F11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33775"/>
            <a:ext cx="28479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选取收入与销量比较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联系会议中的经营解释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对照研报的不同判断</a:t>
            </a:r>
          </a:p>
        </p:txBody>
      </p:sp>
      <p:sp>
        <p:nvSpPr>
          <p:cNvPr id="38" name="!!research.tool">
            <a:extLst xmlns:a="http://schemas.openxmlformats.org/drawingml/2006/main">
              <a:ext uri="{FF2B5EF4-FFF2-40B4-BE49-F238E27FC236}">
                <a16:creationId xmlns:a16="http://schemas.microsoft.com/office/drawing/2014/main" id="{1DF0A006-1E31-4EAA-91B8-EA1A9C8A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952750"/>
            <a:ext cx="34099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research.tool.role">
            <a:extLst xmlns:a="http://schemas.openxmlformats.org/drawingml/2006/main">
              <a:ext uri="{FF2B5EF4-FFF2-40B4-BE49-F238E27FC236}">
                <a16:creationId xmlns:a16="http://schemas.microsoft.com/office/drawing/2014/main" id="{7CE7E68E-8EC1-41CE-A914-BAE62CC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95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计算工具：收入与销量增幅</a:t>
            </a:r>
          </a:p>
        </p:txBody>
      </p:sp>
      <p:sp>
        <p:nvSpPr>
          <p:cNvPr id="40" name="!!research.tool.body">
            <a:extLst xmlns:a="http://schemas.openxmlformats.org/drawingml/2006/main">
              <a:ext uri="{FF2B5EF4-FFF2-40B4-BE49-F238E27FC236}">
                <a16:creationId xmlns:a16="http://schemas.microsoft.com/office/drawing/2014/main" id="{AE11084A-CE6D-4B13-8A3A-88FC3DE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33775"/>
            <a:ext cx="3028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平均单价不变</a:t>
            </a:r>
          </a:p>
        </p:txBody>
      </p:sp>
      <p:sp>
        <p:nvSpPr>
          <p:cNvPr id="41" name="!!research.material.bus">
            <a:extLst xmlns:a="http://schemas.openxmlformats.org/drawingml/2006/main">
              <a:ext uri="{FF2B5EF4-FFF2-40B4-BE49-F238E27FC236}">
                <a16:creationId xmlns:a16="http://schemas.microsoft.com/office/drawing/2014/main" id="{8C55191B-9860-46FB-8F8C-E113385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3505200"/>
            <a:ext cx="953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esearch.material.in0">
            <a:extLst xmlns:a="http://schemas.openxmlformats.org/drawingml/2006/main">
              <a:ext uri="{FF2B5EF4-FFF2-40B4-BE49-F238E27FC236}">
                <a16:creationId xmlns:a16="http://schemas.microsoft.com/office/drawing/2014/main" id="{48A78893-0154-4BAA-821C-7EC6815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35052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esearch.material.in1">
            <a:extLst xmlns:a="http://schemas.openxmlformats.org/drawingml/2006/main">
              <a:ext uri="{FF2B5EF4-FFF2-40B4-BE49-F238E27FC236}">
                <a16:creationId xmlns:a16="http://schemas.microsoft.com/office/drawing/2014/main" id="{9D33C199-653A-4F44-AAC4-9AEBE74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43719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esearch.material.in2">
            <a:extLst xmlns:a="http://schemas.openxmlformats.org/drawingml/2006/main">
              <a:ext uri="{FF2B5EF4-FFF2-40B4-BE49-F238E27FC236}">
                <a16:creationId xmlns:a16="http://schemas.microsoft.com/office/drawing/2014/main" id="{EE61EC02-C697-4014-B996-D656DBF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53149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research.evidence.in.line">
            <a:extLst xmlns:a="http://schemas.openxmlformats.org/drawingml/2006/main">
              <a:ext uri="{FF2B5EF4-FFF2-40B4-BE49-F238E27FC236}">
                <a16:creationId xmlns:a16="http://schemas.microsoft.com/office/drawing/2014/main" id="{06FD9996-2C42-48EA-B404-4D0B1C0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4362450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research.evidence.in.tip">
            <a:extLst xmlns:a="http://schemas.openxmlformats.org/drawingml/2006/main">
              <a:ext uri="{FF2B5EF4-FFF2-40B4-BE49-F238E27FC236}">
                <a16:creationId xmlns:a16="http://schemas.microsoft.com/office/drawing/2014/main" id="{9AD7515D-B218-49C5-83FE-5790005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05675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research.call.line">
            <a:extLst xmlns:a="http://schemas.openxmlformats.org/drawingml/2006/main">
              <a:ext uri="{FF2B5EF4-FFF2-40B4-BE49-F238E27FC236}">
                <a16:creationId xmlns:a16="http://schemas.microsoft.com/office/drawing/2014/main" id="{12C409C5-04C1-421A-9B4E-6044E6A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38862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research.call.tip">
            <a:extLst xmlns:a="http://schemas.openxmlformats.org/drawingml/2006/main">
              <a:ext uri="{FF2B5EF4-FFF2-40B4-BE49-F238E27FC236}">
                <a16:creationId xmlns:a16="http://schemas.microsoft.com/office/drawing/2014/main" id="{4C8DC686-F988-43A7-B22E-E27F52A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29950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research.return.line">
            <a:extLst xmlns:a="http://schemas.openxmlformats.org/drawingml/2006/main">
              <a:ext uri="{FF2B5EF4-FFF2-40B4-BE49-F238E27FC236}">
                <a16:creationId xmlns:a16="http://schemas.microsoft.com/office/drawing/2014/main" id="{97CFAD54-2011-46C6-A6E9-FE08BD1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782300" y="511492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research.return.tip">
            <a:extLst xmlns:a="http://schemas.openxmlformats.org/drawingml/2006/main">
              <a:ext uri="{FF2B5EF4-FFF2-40B4-BE49-F238E27FC236}">
                <a16:creationId xmlns:a16="http://schemas.microsoft.com/office/drawing/2014/main" id="{9D69BC24-6E78-44E1-9F04-ECDB836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725150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research.toResult.line">
            <a:extLst xmlns:a="http://schemas.openxmlformats.org/drawingml/2006/main">
              <a:ext uri="{FF2B5EF4-FFF2-40B4-BE49-F238E27FC236}">
                <a16:creationId xmlns:a16="http://schemas.microsoft.com/office/drawing/2014/main" id="{62E6A14C-58B4-4EB3-9140-B9F6E1E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7800" y="58197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research.toResult.tip">
            <a:extLst xmlns:a="http://schemas.openxmlformats.org/drawingml/2006/main">
              <a:ext uri="{FF2B5EF4-FFF2-40B4-BE49-F238E27FC236}">
                <a16:creationId xmlns:a16="http://schemas.microsoft.com/office/drawing/2014/main" id="{FF0B373E-FDF9-48A9-9FB4-296283B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5895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research.result">
            <a:extLst xmlns:a="http://schemas.openxmlformats.org/drawingml/2006/main">
              <a:ext uri="{FF2B5EF4-FFF2-40B4-BE49-F238E27FC236}">
                <a16:creationId xmlns:a16="http://schemas.microsoft.com/office/drawing/2014/main" id="{45F451CE-2E7E-4206-8E7E-12CB1EF9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29325"/>
            <a:ext cx="10534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4" name="!!research.result.title">
            <a:extLst xmlns:a="http://schemas.openxmlformats.org/drawingml/2006/main">
              <a:ext uri="{FF2B5EF4-FFF2-40B4-BE49-F238E27FC236}">
                <a16:creationId xmlns:a16="http://schemas.microsoft.com/office/drawing/2014/main" id="{82C690E6-0CBD-40FA-A941-66ADBEB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21030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LLM形成分析</a:t>
            </a:r>
          </a:p>
        </p:txBody>
      </p:sp>
      <p:sp>
        <p:nvSpPr>
          <p:cNvPr id="55" name="!!research.result.text">
            <a:extLst xmlns:a="http://schemas.openxmlformats.org/drawingml/2006/main">
              <a:ext uri="{FF2B5EF4-FFF2-40B4-BE49-F238E27FC236}">
                <a16:creationId xmlns:a16="http://schemas.microsoft.com/office/drawing/2014/main" id="{0E243B72-9B4A-492A-A093-1D2DC1E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181725"/>
            <a:ext cx="790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收入增长来自销量提升[1]，渠道补库带动发货[2]。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研报对持续性看法不同[3]，继续跟踪需求与成本。</a:t>
            </a:r>
          </a:p>
        </p:txBody>
      </p:sp>
      <p:sp>
        <p:nvSpPr>
          <p:cNvPr id="56" name="!!research.user">
            <a:extLst xmlns:a="http://schemas.openxmlformats.org/drawingml/2006/main">
              <a:ext uri="{FF2B5EF4-FFF2-40B4-BE49-F238E27FC236}">
                <a16:creationId xmlns:a16="http://schemas.microsoft.com/office/drawing/2014/main" id="{0DDA0DF8-E86F-41EC-98F5-AFD53CC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151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研究员核对出处，追问补库持续性，形成研究判断</a:t>
            </a:r>
          </a:p>
        </p:txBody>
      </p:sp>
    </p:spTree>
    <p:extLst>
      <p:ext uri="{BB962C8B-B14F-4D97-AF65-F5344CB8AC3E}">
        <p14:creationId xmlns:p14="http://schemas.microsoft.com/office/powerpoint/2010/main" val="95179095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3" grpId="0" animBg="1"/>
      <p:bldP spid="54" grpId="0" animBg="1"/>
      <p:bldP spid="55" grpId="0" animBg="1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E28AFFCA-1990-4D86-9AE9-22D0DE3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债券询价准备的工作过程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E7DE297-CDA4-41BE-8A41-7FC0F41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F431E3B-7FCF-4A27-B707-5BCDF01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F60722D-C7A3-4B42-8340-2ABA940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49B1357-599A-4FE4-9AF4-94FB4F46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E181146-9270-4168-8067-0CD7235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D29968D-C70F-45C9-8AA0-D222648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7CBDA28-6F1F-464D-9A57-1CBC6B2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683F048-E4B7-46C2-B1AF-5501F83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878C10A-D396-41B6-A5C0-3A1F5E3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110388E-EC55-4695-80EC-23736D2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5EF0CD5-7054-4AE8-96B1-FF64E65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C9FA4D4-82BD-48B8-B95C-2EFF456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4F2ED1-DFFF-4799-8108-D9FA279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060DCC-A5F2-4DE7-B676-B53479D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C1BAAE0-9145-43E1-BE29-731CE8D2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F791F43-60E3-43F6-8AB1-11CF4A0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3660ADE-A30E-44A5-93D7-0641EC2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40731C3-7CCA-4460-A6EF-B7F6A6E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DDD6E0F-C580-4DAB-A137-622FCA7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FC017776-DAFB-42E6-8161-322C248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B9DE0953-FB68-4FC5-8068-8511CE6E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C729A8D-1A05-4F0E-A6BE-B6E5DB2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36D5E5F-809B-4F74-A62F-27258C9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trade.task">
            <a:extLst xmlns:a="http://schemas.openxmlformats.org/drawingml/2006/main">
              <a:ext uri="{FF2B5EF4-FFF2-40B4-BE49-F238E27FC236}">
                <a16:creationId xmlns:a16="http://schemas.microsoft.com/office/drawing/2014/main" id="{B9ADF215-5381-4EED-9391-057456D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任务：准备甲公司两年内到期债券的买入询价资料</a:t>
            </a:r>
          </a:p>
        </p:txBody>
      </p:sp>
      <p:sp>
        <p:nvSpPr>
          <p:cNvPr id="26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71CFDA4D-B41D-48E5-9D40-BF1B283C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intent.role">
            <a:extLst xmlns:a="http://schemas.openxmlformats.org/drawingml/2006/main">
              <a:ext uri="{FF2B5EF4-FFF2-40B4-BE49-F238E27FC236}">
                <a16:creationId xmlns:a16="http://schemas.microsoft.com/office/drawing/2014/main" id="{D58C03F2-2897-4FD3-9C00-87AE941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投资经理</a:t>
            </a:r>
          </a:p>
        </p:txBody>
      </p:sp>
      <p:sp>
        <p:nvSpPr>
          <p:cNvPr id="28" name="!!trade.intent.body">
            <a:extLst xmlns:a="http://schemas.openxmlformats.org/drawingml/2006/main">
              <a:ext uri="{FF2B5EF4-FFF2-40B4-BE49-F238E27FC236}">
                <a16:creationId xmlns:a16="http://schemas.microsoft.com/office/drawing/2014/main" id="{02F5ABCA-47CE-4196-AAC2-6F68BEE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拟买入甲公司债券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两年内到期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列出现有持仓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汇总卖方报价</a:t>
            </a:r>
          </a:p>
        </p:txBody>
      </p:sp>
      <p:sp>
        <p:nvSpPr>
          <p:cNvPr id="29" name="!!trade.query">
            <a:extLst xmlns:a="http://schemas.openxmlformats.org/drawingml/2006/main">
              <a:ext uri="{FF2B5EF4-FFF2-40B4-BE49-F238E27FC236}">
                <a16:creationId xmlns:a16="http://schemas.microsoft.com/office/drawing/2014/main" id="{480BD335-CB04-4B05-8335-89DD606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query.role">
            <a:extLst xmlns:a="http://schemas.openxmlformats.org/drawingml/2006/main">
              <a:ext uri="{FF2B5EF4-FFF2-40B4-BE49-F238E27FC236}">
                <a16:creationId xmlns:a16="http://schemas.microsoft.com/office/drawing/2014/main" id="{A7767F99-1E06-473B-A628-4444EE81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  交易员查数据</a:t>
            </a:r>
          </a:p>
        </p:txBody>
      </p:sp>
      <p:sp>
        <p:nvSpPr>
          <p:cNvPr id="31" name="!!trade.query.body">
            <a:extLst xmlns:a="http://schemas.openxmlformats.org/drawingml/2006/main">
              <a:ext uri="{FF2B5EF4-FFF2-40B4-BE49-F238E27FC236}">
                <a16:creationId xmlns:a16="http://schemas.microsoft.com/office/drawing/2014/main" id="{6A1E30D4-1628-415D-97F6-CFED288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查候选券与持仓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记录数据时间</a:t>
            </a:r>
          </a:p>
        </p:txBody>
      </p:sp>
      <p:sp>
        <p:nvSpPr>
          <p:cNvPr id="32" name="!!trade.inquire">
            <a:extLst xmlns:a="http://schemas.openxmlformats.org/drawingml/2006/main">
              <a:ext uri="{FF2B5EF4-FFF2-40B4-BE49-F238E27FC236}">
                <a16:creationId xmlns:a16="http://schemas.microsoft.com/office/drawing/2014/main" id="{7943DF55-D88D-453E-A6FB-6D1E379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inquire.role">
            <a:extLst xmlns:a="http://schemas.openxmlformats.org/drawingml/2006/main">
              <a:ext uri="{FF2B5EF4-FFF2-40B4-BE49-F238E27FC236}">
                <a16:creationId xmlns:a16="http://schemas.microsoft.com/office/drawing/2014/main" id="{109B9637-DE04-43C9-808D-E8811D0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  交易员询价</a:t>
            </a:r>
          </a:p>
        </p:txBody>
      </p:sp>
      <p:sp>
        <p:nvSpPr>
          <p:cNvPr id="34" name="!!trade.inquire.body">
            <a:extLst xmlns:a="http://schemas.openxmlformats.org/drawingml/2006/main">
              <a:ext uri="{FF2B5EF4-FFF2-40B4-BE49-F238E27FC236}">
                <a16:creationId xmlns:a16="http://schemas.microsoft.com/office/drawing/2014/main" id="{683C8C60-7DEE-446A-9752-9261341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报出候选券名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说明买入需求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询问价格与可出量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接收对手报价</a:t>
            </a:r>
          </a:p>
        </p:txBody>
      </p:sp>
      <p:sp>
        <p:nvSpPr>
          <p:cNvPr id="35" name="!!trade.compare">
            <a:extLst xmlns:a="http://schemas.openxmlformats.org/drawingml/2006/main">
              <a:ext uri="{FF2B5EF4-FFF2-40B4-BE49-F238E27FC236}">
                <a16:creationId xmlns:a16="http://schemas.microsoft.com/office/drawing/2014/main" id="{F58E86D2-5ADA-4E1B-8D56-147BEF9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ompare.role">
            <a:extLst xmlns:a="http://schemas.openxmlformats.org/drawingml/2006/main">
              <a:ext uri="{FF2B5EF4-FFF2-40B4-BE49-F238E27FC236}">
                <a16:creationId xmlns:a16="http://schemas.microsoft.com/office/drawing/2014/main" id="{51979C2A-8E78-414F-A141-7D85832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交易员汇总</a:t>
            </a:r>
          </a:p>
        </p:txBody>
      </p:sp>
      <p:sp>
        <p:nvSpPr>
          <p:cNvPr id="37" name="!!trade.compare.body">
            <a:extLst xmlns:a="http://schemas.openxmlformats.org/drawingml/2006/main">
              <a:ext uri="{FF2B5EF4-FFF2-40B4-BE49-F238E27FC236}">
                <a16:creationId xmlns:a16="http://schemas.microsoft.com/office/drawing/2014/main" id="{FF0D6D4C-D2F8-41DD-AB56-F50AC82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整理候选券与报价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供经理讨论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后续交易安排</a:t>
            </a:r>
          </a:p>
        </p:txBody>
      </p:sp>
      <p:sp>
        <p:nvSpPr>
          <p:cNvPr id="38" name="!!trade.sequence0.line">
            <a:extLst xmlns:a="http://schemas.openxmlformats.org/drawingml/2006/main">
              <a:ext uri="{FF2B5EF4-FFF2-40B4-BE49-F238E27FC236}">
                <a16:creationId xmlns:a16="http://schemas.microsoft.com/office/drawing/2014/main" id="{F531A159-71BC-4250-9C1D-EE76D14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sequence0.tip">
            <a:extLst xmlns:a="http://schemas.openxmlformats.org/drawingml/2006/main">
              <a:ext uri="{FF2B5EF4-FFF2-40B4-BE49-F238E27FC236}">
                <a16:creationId xmlns:a16="http://schemas.microsoft.com/office/drawing/2014/main" id="{7CB796BE-E83D-459D-86A2-091F3E6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sequence0.label">
            <a:extLst xmlns:a="http://schemas.openxmlformats.org/drawingml/2006/main">
              <a:ext uri="{FF2B5EF4-FFF2-40B4-BE49-F238E27FC236}">
                <a16:creationId xmlns:a16="http://schemas.microsoft.com/office/drawing/2014/main" id="{7DC974EA-D6D4-49F2-837B-D26D854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经理需求</a:t>
            </a:r>
          </a:p>
        </p:txBody>
      </p:sp>
      <p:sp>
        <p:nvSpPr>
          <p:cNvPr id="41" name="!!trade.sequence1.line">
            <a:extLst xmlns:a="http://schemas.openxmlformats.org/drawingml/2006/main">
              <a:ext uri="{FF2B5EF4-FFF2-40B4-BE49-F238E27FC236}">
                <a16:creationId xmlns:a16="http://schemas.microsoft.com/office/drawing/2014/main" id="{6F5E1F5D-B9C9-4789-9AFE-7B72E7A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trade.sequence1.tip">
            <a:extLst xmlns:a="http://schemas.openxmlformats.org/drawingml/2006/main">
              <a:ext uri="{FF2B5EF4-FFF2-40B4-BE49-F238E27FC236}">
                <a16:creationId xmlns:a16="http://schemas.microsoft.com/office/drawing/2014/main" id="{86C0DAD4-DB46-4C38-A445-5B8E68F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trade.sequence1.label">
            <a:extLst xmlns:a="http://schemas.openxmlformats.org/drawingml/2006/main">
              <a:ext uri="{FF2B5EF4-FFF2-40B4-BE49-F238E27FC236}">
                <a16:creationId xmlns:a16="http://schemas.microsoft.com/office/drawing/2014/main" id="{F8C8ADA0-3BBB-4E2E-9259-98CE38C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候选券</a:t>
            </a:r>
          </a:p>
        </p:txBody>
      </p:sp>
      <p:sp>
        <p:nvSpPr>
          <p:cNvPr id="44" name="!!trade.sequence2.line">
            <a:extLst xmlns:a="http://schemas.openxmlformats.org/drawingml/2006/main">
              <a:ext uri="{FF2B5EF4-FFF2-40B4-BE49-F238E27FC236}">
                <a16:creationId xmlns:a16="http://schemas.microsoft.com/office/drawing/2014/main" id="{2451F067-A1FD-4E92-9060-1980F7A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trade.sequence2.tip">
            <a:extLst xmlns:a="http://schemas.openxmlformats.org/drawingml/2006/main">
              <a:ext uri="{FF2B5EF4-FFF2-40B4-BE49-F238E27FC236}">
                <a16:creationId xmlns:a16="http://schemas.microsoft.com/office/drawing/2014/main" id="{92A9F678-17F4-4D55-B227-9E684715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trade.sequence2.label">
            <a:extLst xmlns:a="http://schemas.openxmlformats.org/drawingml/2006/main">
              <a:ext uri="{FF2B5EF4-FFF2-40B4-BE49-F238E27FC236}">
                <a16:creationId xmlns:a16="http://schemas.microsoft.com/office/drawing/2014/main" id="{597171DE-AE2C-4176-922E-2B8D105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报价资料</a:t>
            </a:r>
          </a:p>
        </p:txBody>
      </p:sp>
      <p:sp>
        <p:nvSpPr>
          <p:cNvPr id="47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7F0C6380-3BCF-44AA-9419-6F571A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2419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4E5F903F-C1F3-4522-A5E8-C5C9373D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行情与持仓系统</a:t>
            </a:r>
          </a:p>
        </p:txBody>
      </p:sp>
      <p:sp>
        <p:nvSpPr>
          <p:cNvPr id="49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C6407AD3-6DB6-4CF9-B077-4F375F8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返回查询数据</a:t>
            </a:r>
          </a:p>
        </p:txBody>
      </p:sp>
      <p:sp>
        <p:nvSpPr>
          <p:cNvPr id="50" name="!!trade.data.line">
            <a:extLst xmlns:a="http://schemas.openxmlformats.org/drawingml/2006/main">
              <a:ext uri="{FF2B5EF4-FFF2-40B4-BE49-F238E27FC236}">
                <a16:creationId xmlns:a16="http://schemas.microsoft.com/office/drawing/2014/main" id="{AB9CFDB5-9ECF-431E-B6D7-BB65748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724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trade.data.tip">
            <a:extLst xmlns:a="http://schemas.openxmlformats.org/drawingml/2006/main">
              <a:ext uri="{FF2B5EF4-FFF2-40B4-BE49-F238E27FC236}">
                <a16:creationId xmlns:a16="http://schemas.microsoft.com/office/drawing/2014/main" id="{A6210377-67FF-4FF9-8CBF-03CF8129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trade.data.label">
            <a:extLst xmlns:a="http://schemas.openxmlformats.org/drawingml/2006/main">
              <a:ext uri="{FF2B5EF4-FFF2-40B4-BE49-F238E27FC236}">
                <a16:creationId xmlns:a16="http://schemas.microsoft.com/office/drawing/2014/main" id="{382C0739-A0A4-4A1A-8C0F-3E3A13D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24450"/>
            <a:ext cx="121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查询结果</a:t>
            </a:r>
          </a:p>
        </p:txBody>
      </p:sp>
      <p:sp>
        <p:nvSpPr>
          <p:cNvPr id="53" name="!!trade.counterparty">
            <a:extLst xmlns:a="http://schemas.openxmlformats.org/drawingml/2006/main">
              <a:ext uri="{FF2B5EF4-FFF2-40B4-BE49-F238E27FC236}">
                <a16:creationId xmlns:a16="http://schemas.microsoft.com/office/drawing/2014/main" id="{D5DA747B-84C7-42D5-9B4C-01E383B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43550"/>
            <a:ext cx="24193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!!trade.counterparty.role">
            <a:extLst xmlns:a="http://schemas.openxmlformats.org/drawingml/2006/main">
              <a:ext uri="{FF2B5EF4-FFF2-40B4-BE49-F238E27FC236}">
                <a16:creationId xmlns:a16="http://schemas.microsoft.com/office/drawing/2014/main" id="{E9EC67D3-2530-4B36-B042-E7E86E5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交易对手</a:t>
            </a:r>
          </a:p>
        </p:txBody>
      </p:sp>
      <p:sp>
        <p:nvSpPr>
          <p:cNvPr id="55" name="!!trade.counterparty.body">
            <a:extLst xmlns:a="http://schemas.openxmlformats.org/drawingml/2006/main">
              <a:ext uri="{FF2B5EF4-FFF2-40B4-BE49-F238E27FC236}">
                <a16:creationId xmlns:a16="http://schemas.microsoft.com/office/drawing/2014/main" id="{9FFAC2EF-5922-493B-8F8F-979B114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返回债券报价</a:t>
            </a:r>
          </a:p>
        </p:txBody>
      </p:sp>
      <p:sp>
        <p:nvSpPr>
          <p:cNvPr id="56" name="!!trade.ask.line">
            <a:extLst xmlns:a="http://schemas.openxmlformats.org/drawingml/2006/main">
              <a:ext uri="{FF2B5EF4-FFF2-40B4-BE49-F238E27FC236}">
                <a16:creationId xmlns:a16="http://schemas.microsoft.com/office/drawing/2014/main" id="{8A866C40-BA14-4290-B5A5-42F4836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7" name="!!trade.ask.tip">
            <a:extLst xmlns:a="http://schemas.openxmlformats.org/drawingml/2006/main">
              <a:ext uri="{FF2B5EF4-FFF2-40B4-BE49-F238E27FC236}">
                <a16:creationId xmlns:a16="http://schemas.microsoft.com/office/drawing/2014/main" id="{EC310188-CE0B-4726-91D3-EBB2500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72675" y="5391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8" name="!!trade.quote.return.line">
            <a:extLst xmlns:a="http://schemas.openxmlformats.org/drawingml/2006/main">
              <a:ext uri="{FF2B5EF4-FFF2-40B4-BE49-F238E27FC236}">
                <a16:creationId xmlns:a16="http://schemas.microsoft.com/office/drawing/2014/main" id="{F951568A-390E-4AD6-A48D-E64DA42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6807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quote.return.tip">
            <a:extLst xmlns:a="http://schemas.openxmlformats.org/drawingml/2006/main">
              <a:ext uri="{FF2B5EF4-FFF2-40B4-BE49-F238E27FC236}">
                <a16:creationId xmlns:a16="http://schemas.microsoft.com/office/drawing/2014/main" id="{ABE43B48-E31D-4CF8-BD6A-789C9757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ask.label">
            <a:extLst xmlns:a="http://schemas.openxmlformats.org/drawingml/2006/main">
              <a:ext uri="{FF2B5EF4-FFF2-40B4-BE49-F238E27FC236}">
                <a16:creationId xmlns:a16="http://schemas.microsoft.com/office/drawing/2014/main" id="{07AD8C77-C0D4-4675-8EB6-CAB7C28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询价</a:t>
            </a:r>
          </a:p>
        </p:txBody>
      </p:sp>
      <p:sp>
        <p:nvSpPr>
          <p:cNvPr id="61" name="!!trade.quote.label">
            <a:extLst xmlns:a="http://schemas.openxmlformats.org/drawingml/2006/main">
              <a:ext uri="{FF2B5EF4-FFF2-40B4-BE49-F238E27FC236}">
                <a16:creationId xmlns:a16="http://schemas.microsoft.com/office/drawing/2014/main" id="{CEA27403-F868-4A79-A936-8245391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</a:t>
            </a:r>
          </a:p>
        </p:txBody>
      </p:sp>
      <p:sp>
        <p:nvSpPr>
          <p:cNvPr id="62" name="!!trade.repetition">
            <a:extLst xmlns:a="http://schemas.openxmlformats.org/drawingml/2006/main">
              <a:ext uri="{FF2B5EF4-FFF2-40B4-BE49-F238E27FC236}">
                <a16:creationId xmlns:a16="http://schemas.microsoft.com/office/drawing/2014/main" id="{550A6D4E-C5C4-4EB3-BF11-D3015259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866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重复操作：填查询条件、切换系统、从聊天中抄录报价</a:t>
            </a:r>
          </a:p>
        </p:txBody>
      </p:sp>
    </p:spTree>
    <p:extLst>
      <p:ext uri="{BB962C8B-B14F-4D97-AF65-F5344CB8AC3E}">
        <p14:creationId xmlns:p14="http://schemas.microsoft.com/office/powerpoint/2010/main" val="10937266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46A45EC4-C5CE-49CC-B789-BA88E03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南方与兴证全球的交易应用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EE81A05C-BA83-468C-94FB-46A7124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8CF1720-368B-45F3-BD9F-77C6519C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8D39822-D96A-4354-BB66-EF37188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D04D75B-027E-4A98-A667-0A5A34E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0C2A202-D94C-4995-9229-A7F2622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3EB470C-8619-4A28-B391-2259BA8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0D1EB8B-7145-4860-A797-5E23C1A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C6E5D30-174D-491E-B1B5-2333CBD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ACE69E7-030B-46DF-9635-4538212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3701B4-1720-400D-9AC5-2180D574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D3B38E3-C94F-464B-8F13-871BD663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C0F46E8-A5C4-4060-B6BC-301E28A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9E45445-2849-4CC2-B8FE-2681A2B0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F179062-B672-4D91-AC0D-3DCB291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8009448-F886-4C56-9A24-3E14AAD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4A2B847-E0BC-4513-B487-FF2FAC17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8907D9D-8E5F-475E-8156-9E50DEC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00D31A8-4F47-4C36-8395-23145CB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85DE0A-2DAD-44C8-9F12-85F5A06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9A9EA336-A815-44D3-B18C-4E5D361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80BE6E05-E74B-4367-9EE9-7F28120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098B6DE9-89C6-4905-B460-86E7B6D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4" name="!!trade.southern">
            <a:extLst xmlns:a="http://schemas.openxmlformats.org/drawingml/2006/main">
              <a:ext uri="{FF2B5EF4-FFF2-40B4-BE49-F238E27FC236}">
                <a16:creationId xmlns:a16="http://schemas.microsoft.com/office/drawing/2014/main" id="{A0590A35-BE6B-4ED2-831D-EA91730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南方基金  小喃同学</a:t>
            </a:r>
          </a:p>
        </p:txBody>
      </p:sp>
      <p:sp>
        <p:nvSpPr>
          <p:cNvPr id="25" name="!!trade.case1.0">
            <a:extLst xmlns:a="http://schemas.openxmlformats.org/drawingml/2006/main">
              <a:ext uri="{FF2B5EF4-FFF2-40B4-BE49-F238E27FC236}">
                <a16:creationId xmlns:a16="http://schemas.microsoft.com/office/drawing/2014/main" id="{7B1338D3-E301-44EB-804F-54AE13E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trade.case1.0.role">
            <a:extLst xmlns:a="http://schemas.openxmlformats.org/drawingml/2006/main">
              <a:ext uri="{FF2B5EF4-FFF2-40B4-BE49-F238E27FC236}">
                <a16:creationId xmlns:a16="http://schemas.microsoft.com/office/drawing/2014/main" id="{9878DD94-134A-4370-9FF9-649AA62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自然语言请求</a:t>
            </a:r>
          </a:p>
        </p:txBody>
      </p:sp>
      <p:sp>
        <p:nvSpPr>
          <p:cNvPr id="27" name="!!trade.case1.0.body">
            <a:extLst xmlns:a="http://schemas.openxmlformats.org/drawingml/2006/main">
              <a:ext uri="{FF2B5EF4-FFF2-40B4-BE49-F238E27FC236}">
                <a16:creationId xmlns:a16="http://schemas.microsoft.com/office/drawing/2014/main" id="{7FE25D35-A6F4-4308-8067-FCB6674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用户说明筛券、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查询或操作要求</a:t>
            </a:r>
          </a:p>
        </p:txBody>
      </p:sp>
      <p:sp>
        <p:nvSpPr>
          <p:cNvPr id="28" name="!!trade.case1.link0.line">
            <a:extLst xmlns:a="http://schemas.openxmlformats.org/drawingml/2006/main">
              <a:ext uri="{FF2B5EF4-FFF2-40B4-BE49-F238E27FC236}">
                <a16:creationId xmlns:a16="http://schemas.microsoft.com/office/drawing/2014/main" id="{CE8BF85F-0CDD-4580-BF28-7281217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trade.case1.link0.tip">
            <a:extLst xmlns:a="http://schemas.openxmlformats.org/drawingml/2006/main">
              <a:ext uri="{FF2B5EF4-FFF2-40B4-BE49-F238E27FC236}">
                <a16:creationId xmlns:a16="http://schemas.microsoft.com/office/drawing/2014/main" id="{D2A4C81A-D6F8-4A46-8859-A5489D8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!!trade.case1.1">
            <a:extLst xmlns:a="http://schemas.openxmlformats.org/drawingml/2006/main">
              <a:ext uri="{FF2B5EF4-FFF2-40B4-BE49-F238E27FC236}">
                <a16:creationId xmlns:a16="http://schemas.microsoft.com/office/drawing/2014/main" id="{41D71196-62F2-415D-991A-08B38F6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!!trade.case1.1.role">
            <a:extLst xmlns:a="http://schemas.openxmlformats.org/drawingml/2006/main">
              <a:ext uri="{FF2B5EF4-FFF2-40B4-BE49-F238E27FC236}">
                <a16:creationId xmlns:a16="http://schemas.microsoft.com/office/drawing/2014/main" id="{39CDBC2F-EC1D-4D2A-8B93-112BF95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LLM解析与调度</a:t>
            </a:r>
          </a:p>
        </p:txBody>
      </p:sp>
      <p:sp>
        <p:nvSpPr>
          <p:cNvPr id="32" name="!!trade.case1.1.body">
            <a:extLst xmlns:a="http://schemas.openxmlformats.org/drawingml/2006/main">
              <a:ext uri="{FF2B5EF4-FFF2-40B4-BE49-F238E27FC236}">
                <a16:creationId xmlns:a16="http://schemas.microsoft.com/office/drawing/2014/main" id="{340862F0-36B8-4A96-9283-420EF21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理解要求和参数，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调用相应工具</a:t>
            </a:r>
          </a:p>
        </p:txBody>
      </p:sp>
      <p:sp>
        <p:nvSpPr>
          <p:cNvPr id="33" name="!!trade.case1.link1.line">
            <a:extLst xmlns:a="http://schemas.openxmlformats.org/drawingml/2006/main">
              <a:ext uri="{FF2B5EF4-FFF2-40B4-BE49-F238E27FC236}">
                <a16:creationId xmlns:a16="http://schemas.microsoft.com/office/drawing/2014/main" id="{144F0BA7-535E-424F-B26A-6718C77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trade.case1.link1.tip">
            <a:extLst xmlns:a="http://schemas.openxmlformats.org/drawingml/2006/main">
              <a:ext uri="{FF2B5EF4-FFF2-40B4-BE49-F238E27FC236}">
                <a16:creationId xmlns:a16="http://schemas.microsoft.com/office/drawing/2014/main" id="{A37D8FE1-C758-44F2-A523-A5294C33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trade.case1.2">
            <a:extLst xmlns:a="http://schemas.openxmlformats.org/drawingml/2006/main">
              <a:ext uri="{FF2B5EF4-FFF2-40B4-BE49-F238E27FC236}">
                <a16:creationId xmlns:a16="http://schemas.microsoft.com/office/drawing/2014/main" id="{7D9FD424-4603-4AA8-97AF-E305C93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ase1.2.role">
            <a:extLst xmlns:a="http://schemas.openxmlformats.org/drawingml/2006/main">
              <a:ext uri="{FF2B5EF4-FFF2-40B4-BE49-F238E27FC236}">
                <a16:creationId xmlns:a16="http://schemas.microsoft.com/office/drawing/2014/main" id="{6E8EBE86-8E7D-4369-A519-2CB1C7EA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数据库与业务接口</a:t>
            </a:r>
          </a:p>
        </p:txBody>
      </p:sp>
      <p:sp>
        <p:nvSpPr>
          <p:cNvPr id="37" name="!!trade.case1.2.body">
            <a:extLst xmlns:a="http://schemas.openxmlformats.org/drawingml/2006/main">
              <a:ext uri="{FF2B5EF4-FFF2-40B4-BE49-F238E27FC236}">
                <a16:creationId xmlns:a16="http://schemas.microsoft.com/office/drawing/2014/main" id="{7E052666-27CF-4896-A2B2-63E3473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实际查询或操作，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返回处理结果</a:t>
            </a:r>
          </a:p>
        </p:txBody>
      </p:sp>
      <p:sp>
        <p:nvSpPr>
          <p:cNvPr id="38" name="!!trade.case1.link2.line">
            <a:extLst xmlns:a="http://schemas.openxmlformats.org/drawingml/2006/main">
              <a:ext uri="{FF2B5EF4-FFF2-40B4-BE49-F238E27FC236}">
                <a16:creationId xmlns:a16="http://schemas.microsoft.com/office/drawing/2014/main" id="{56EAEE9B-FA8F-445E-9E05-B6C9311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case1.link2.tip">
            <a:extLst xmlns:a="http://schemas.openxmlformats.org/drawingml/2006/main">
              <a:ext uri="{FF2B5EF4-FFF2-40B4-BE49-F238E27FC236}">
                <a16:creationId xmlns:a16="http://schemas.microsoft.com/office/drawing/2014/main" id="{CCCC0963-B5C0-4692-B12E-2F1B1C2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case1.3">
            <a:extLst xmlns:a="http://schemas.openxmlformats.org/drawingml/2006/main">
              <a:ext uri="{FF2B5EF4-FFF2-40B4-BE49-F238E27FC236}">
                <a16:creationId xmlns:a16="http://schemas.microsoft.com/office/drawing/2014/main" id="{6BA6D0AC-A8C4-43C4-AF19-7F5A282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trade.case1.3.role">
            <a:extLst xmlns:a="http://schemas.openxmlformats.org/drawingml/2006/main">
              <a:ext uri="{FF2B5EF4-FFF2-40B4-BE49-F238E27FC236}">
                <a16:creationId xmlns:a16="http://schemas.microsoft.com/office/drawing/2014/main" id="{532D23FC-15D7-4DEF-890E-F82DB9E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用户使用结果</a:t>
            </a:r>
          </a:p>
        </p:txBody>
      </p:sp>
      <p:sp>
        <p:nvSpPr>
          <p:cNvPr id="42" name="!!trade.case1.3.body">
            <a:extLst xmlns:a="http://schemas.openxmlformats.org/drawingml/2006/main">
              <a:ext uri="{FF2B5EF4-FFF2-40B4-BE49-F238E27FC236}">
                <a16:creationId xmlns:a16="http://schemas.microsoft.com/office/drawing/2014/main" id="{076F5232-9053-4DB8-83AC-88F95EF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查看候选与数据，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确认后继续操作</a:t>
            </a:r>
          </a:p>
        </p:txBody>
      </p:sp>
      <p:sp>
        <p:nvSpPr>
          <p:cNvPr id="43" name="!!trade.case1.scope">
            <a:extLst xmlns:a="http://schemas.openxmlformats.org/drawingml/2006/main">
              <a:ext uri="{FF2B5EF4-FFF2-40B4-BE49-F238E27FC236}">
                <a16:creationId xmlns:a16="http://schemas.microsoft.com/office/drawing/2014/main" id="{3249AFC2-099C-45CD-B0F4-E3EBB8C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小喃支持查询、筛券、交易指令与消息推送</a:t>
            </a:r>
          </a:p>
        </p:txBody>
      </p:sp>
      <p:sp>
        <p:nvSpPr>
          <p:cNvPr id="44" name="!!trade.xq">
            <a:extLst xmlns:a="http://schemas.openxmlformats.org/drawingml/2006/main">
              <a:ext uri="{FF2B5EF4-FFF2-40B4-BE49-F238E27FC236}">
                <a16:creationId xmlns:a16="http://schemas.microsoft.com/office/drawing/2014/main" id="{6AA1C909-D4AD-4FD0-9496-1E8CFDD5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兴证全球基金  千询的成交语料录入</a:t>
            </a:r>
          </a:p>
        </p:txBody>
      </p:sp>
      <p:sp>
        <p:nvSpPr>
          <p:cNvPr id="45" name="!!trade.case2.0">
            <a:extLst xmlns:a="http://schemas.openxmlformats.org/drawingml/2006/main">
              <a:ext uri="{FF2B5EF4-FFF2-40B4-BE49-F238E27FC236}">
                <a16:creationId xmlns:a16="http://schemas.microsoft.com/office/drawing/2014/main" id="{7D223E1F-27AD-4561-9FFE-DF8D32C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!!trade.case2.0.role">
            <a:extLst xmlns:a="http://schemas.openxmlformats.org/drawingml/2006/main">
              <a:ext uri="{FF2B5EF4-FFF2-40B4-BE49-F238E27FC236}">
                <a16:creationId xmlns:a16="http://schemas.microsoft.com/office/drawing/2014/main" id="{8B5AF340-50D3-4992-9DD3-195565B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Qtrade成交语料</a:t>
            </a:r>
          </a:p>
        </p:txBody>
      </p:sp>
      <p:sp>
        <p:nvSpPr>
          <p:cNvPr id="47" name="!!trade.case2.0.body">
            <a:extLst xmlns:a="http://schemas.openxmlformats.org/drawingml/2006/main">
              <a:ext uri="{FF2B5EF4-FFF2-40B4-BE49-F238E27FC236}">
                <a16:creationId xmlns:a16="http://schemas.microsoft.com/office/drawing/2014/main" id="{CA122461-9B85-486D-9539-E1E2C62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聊天中的券名、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方向、价格与数量</a:t>
            </a:r>
          </a:p>
        </p:txBody>
      </p:sp>
      <p:sp>
        <p:nvSpPr>
          <p:cNvPr id="48" name="!!trade.case2.link0.line">
            <a:extLst xmlns:a="http://schemas.openxmlformats.org/drawingml/2006/main">
              <a:ext uri="{FF2B5EF4-FFF2-40B4-BE49-F238E27FC236}">
                <a16:creationId xmlns:a16="http://schemas.microsoft.com/office/drawing/2014/main" id="{E575392A-EDB2-43F6-9B8D-855E6E0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trade.case2.link0.tip">
            <a:extLst xmlns:a="http://schemas.openxmlformats.org/drawingml/2006/main">
              <a:ext uri="{FF2B5EF4-FFF2-40B4-BE49-F238E27FC236}">
                <a16:creationId xmlns:a16="http://schemas.microsoft.com/office/drawing/2014/main" id="{8E5FCF6E-6BEA-4615-BB88-806E47D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trade.case2.1">
            <a:extLst xmlns:a="http://schemas.openxmlformats.org/drawingml/2006/main">
              <a:ext uri="{FF2B5EF4-FFF2-40B4-BE49-F238E27FC236}">
                <a16:creationId xmlns:a16="http://schemas.microsoft.com/office/drawing/2014/main" id="{E909B500-69AA-4767-BDC8-827BD2D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!!trade.case2.1.role">
            <a:extLst xmlns:a="http://schemas.openxmlformats.org/drawingml/2006/main">
              <a:ext uri="{FF2B5EF4-FFF2-40B4-BE49-F238E27FC236}">
                <a16:creationId xmlns:a16="http://schemas.microsoft.com/office/drawing/2014/main" id="{554D14A2-390B-4C58-B59E-A9BB10A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AI提取交易信息</a:t>
            </a:r>
          </a:p>
        </p:txBody>
      </p:sp>
      <p:sp>
        <p:nvSpPr>
          <p:cNvPr id="52" name="!!trade.case2.1.body">
            <a:extLst xmlns:a="http://schemas.openxmlformats.org/drawingml/2006/main">
              <a:ext uri="{FF2B5EF4-FFF2-40B4-BE49-F238E27FC236}">
                <a16:creationId xmlns:a16="http://schemas.microsoft.com/office/drawing/2014/main" id="{38BA6CA3-8C0B-4D57-A42F-28EABCF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把聊天内容转成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系统所需信息</a:t>
            </a:r>
          </a:p>
        </p:txBody>
      </p:sp>
      <p:sp>
        <p:nvSpPr>
          <p:cNvPr id="53" name="!!trade.case2.link1.line">
            <a:extLst xmlns:a="http://schemas.openxmlformats.org/drawingml/2006/main">
              <a:ext uri="{FF2B5EF4-FFF2-40B4-BE49-F238E27FC236}">
                <a16:creationId xmlns:a16="http://schemas.microsoft.com/office/drawing/2014/main" id="{881A86C3-B48D-498F-8CB2-A2F573E2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trade.case2.link1.tip">
            <a:extLst xmlns:a="http://schemas.openxmlformats.org/drawingml/2006/main">
              <a:ext uri="{FF2B5EF4-FFF2-40B4-BE49-F238E27FC236}">
                <a16:creationId xmlns:a16="http://schemas.microsoft.com/office/drawing/2014/main" id="{37044B27-CC2D-45F2-A33C-B2C7D8E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trade.case2.2">
            <a:extLst xmlns:a="http://schemas.openxmlformats.org/drawingml/2006/main">
              <a:ext uri="{FF2B5EF4-FFF2-40B4-BE49-F238E27FC236}">
                <a16:creationId xmlns:a16="http://schemas.microsoft.com/office/drawing/2014/main" id="{490D07AD-D02F-42ED-B5FA-CCC75FA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trade.case2.2.role">
            <a:extLst xmlns:a="http://schemas.openxmlformats.org/drawingml/2006/main">
              <a:ext uri="{FF2B5EF4-FFF2-40B4-BE49-F238E27FC236}">
                <a16:creationId xmlns:a16="http://schemas.microsoft.com/office/drawing/2014/main" id="{19A187B7-526E-4405-8D88-AC1C608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匹配询价并推送</a:t>
            </a:r>
          </a:p>
        </p:txBody>
      </p:sp>
      <p:sp>
        <p:nvSpPr>
          <p:cNvPr id="57" name="!!trade.case2.2.body">
            <a:extLst xmlns:a="http://schemas.openxmlformats.org/drawingml/2006/main">
              <a:ext uri="{FF2B5EF4-FFF2-40B4-BE49-F238E27FC236}">
                <a16:creationId xmlns:a16="http://schemas.microsoft.com/office/drawing/2014/main" id="{CEDB8BAA-569F-4CDB-AC95-A411376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匹配经理询价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推送交易系统</a:t>
            </a:r>
          </a:p>
        </p:txBody>
      </p:sp>
      <p:sp>
        <p:nvSpPr>
          <p:cNvPr id="58" name="!!trade.case2.link2.line">
            <a:extLst xmlns:a="http://schemas.openxmlformats.org/drawingml/2006/main">
              <a:ext uri="{FF2B5EF4-FFF2-40B4-BE49-F238E27FC236}">
                <a16:creationId xmlns:a16="http://schemas.microsoft.com/office/drawing/2014/main" id="{91D8F1C7-4FA6-43CB-B7AD-AEA0F91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case2.link2.tip">
            <a:extLst xmlns:a="http://schemas.openxmlformats.org/drawingml/2006/main">
              <a:ext uri="{FF2B5EF4-FFF2-40B4-BE49-F238E27FC236}">
                <a16:creationId xmlns:a16="http://schemas.microsoft.com/office/drawing/2014/main" id="{01AEE4CB-5B42-489C-A215-499DD3C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case2.3">
            <a:extLst xmlns:a="http://schemas.openxmlformats.org/drawingml/2006/main">
              <a:ext uri="{FF2B5EF4-FFF2-40B4-BE49-F238E27FC236}">
                <a16:creationId xmlns:a16="http://schemas.microsoft.com/office/drawing/2014/main" id="{28ACE0F2-FA16-45D0-ABA9-B56ECA8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76925"/>
            <a:ext cx="2419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!!trade.case2.3.role">
            <a:extLst xmlns:a="http://schemas.openxmlformats.org/drawingml/2006/main">
              <a:ext uri="{FF2B5EF4-FFF2-40B4-BE49-F238E27FC236}">
                <a16:creationId xmlns:a16="http://schemas.microsoft.com/office/drawing/2014/main" id="{E0BDEDA0-E249-44AB-B28C-75333BC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经理下达指令</a:t>
            </a:r>
          </a:p>
        </p:txBody>
      </p:sp>
      <p:sp>
        <p:nvSpPr>
          <p:cNvPr id="62" name="!!trade.case2.3.body">
            <a:extLst xmlns:a="http://schemas.openxmlformats.org/drawingml/2006/main">
              <a:ext uri="{FF2B5EF4-FFF2-40B4-BE49-F238E27FC236}">
                <a16:creationId xmlns:a16="http://schemas.microsoft.com/office/drawing/2014/main" id="{E1E13D50-1E1C-4380-88EF-F8927F4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经理在交易系统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完成指令下达</a:t>
            </a:r>
          </a:p>
        </p:txBody>
      </p:sp>
    </p:spTree>
    <p:extLst>
      <p:ext uri="{BB962C8B-B14F-4D97-AF65-F5344CB8AC3E}">
        <p14:creationId xmlns:p14="http://schemas.microsoft.com/office/powerpoint/2010/main" val="128820490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C0B44F99-5805-4063-9DDE-0351080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公司债券询价准备方案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4C1508D-498F-4294-AE5E-A5558AC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9719884-1B87-4081-9D46-4DF6902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DB8EF23-9948-4867-8D2D-C642CC4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150F140-E043-4BE7-AD54-DBEE6A4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D73C9A0-4024-4B0B-B9BD-0CF4926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33638E-A264-4D7B-A6E4-D5364C7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0D54C1E-5ED8-4F7E-8A8B-CFF8ADE4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CAF6C15-18DE-45AB-B94A-D478CB57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7262830-DF21-4381-9064-CFBBEB8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CC4A0F8-5D4A-4E5C-93B5-BFC56A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D35A7A1-F720-4EDF-A5C2-39C7356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D323B1E5-68E7-4D1B-BC3E-A8AB96E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A63172E-C100-46DC-9531-4B1F7F5D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4CFAF55-6D29-4201-B12E-5694A69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810CB37-D1C8-48CE-B6A8-99F3743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67B0F9B-8D12-4B46-8078-FE144E0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3F8AC86-A60D-4D58-9F97-DE23D15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B744FB7-9371-49E6-B76C-CD58620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E2C9ECC-9D37-440C-9412-F2FFE68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38471F59-C734-437E-A9F8-88D753B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57F122B-6B45-4C88-96F1-032F207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2C13802-9610-4AD9-8164-704723E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3101A6-6E01-4D7A-A1ED-7BD3B1D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5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1331D70B-809B-425B-B9DA-A1B5A7E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经理：拟买入甲公司两年内到期债券，查持仓并汇总卖方报价</a:t>
            </a:r>
          </a:p>
        </p:txBody>
      </p:sp>
      <p:sp>
        <p:nvSpPr>
          <p:cNvPr id="26" name="!!trade.llm.query">
            <a:extLst xmlns:a="http://schemas.openxmlformats.org/drawingml/2006/main">
              <a:ext uri="{FF2B5EF4-FFF2-40B4-BE49-F238E27FC236}">
                <a16:creationId xmlns:a16="http://schemas.microsoft.com/office/drawing/2014/main" id="{1E273D95-4954-4A1F-BDDF-53B0331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llm.query.role">
            <a:extLst xmlns:a="http://schemas.openxmlformats.org/drawingml/2006/main">
              <a:ext uri="{FF2B5EF4-FFF2-40B4-BE49-F238E27FC236}">
                <a16:creationId xmlns:a16="http://schemas.microsoft.com/office/drawing/2014/main" id="{BBBF1598-3FFA-4730-BA53-186FFD0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LLM理解查询要求</a:t>
            </a:r>
          </a:p>
        </p:txBody>
      </p:sp>
      <p:sp>
        <p:nvSpPr>
          <p:cNvPr id="28" name="!!trade.llm.query.body">
            <a:extLst xmlns:a="http://schemas.openxmlformats.org/drawingml/2006/main">
              <a:ext uri="{FF2B5EF4-FFF2-40B4-BE49-F238E27FC236}">
                <a16:creationId xmlns:a16="http://schemas.microsoft.com/office/drawing/2014/main" id="{0127E97D-EA64-4FD6-A1D9-E893114F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主体：甲公司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意向：买入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期限：两年内到期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查询：候选券与持仓</a:t>
            </a:r>
          </a:p>
        </p:txBody>
      </p:sp>
      <p:sp>
        <p:nvSpPr>
          <p:cNvPr id="29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E9A892DC-9941-494B-B873-E087724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7AFE4A8C-A457-4281-AFFD-B2775D2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业务系统执行查询</a:t>
            </a:r>
          </a:p>
        </p:txBody>
      </p:sp>
      <p:sp>
        <p:nvSpPr>
          <p:cNvPr id="31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7413CF90-E0E2-418A-8BE0-E41CF47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返回甲公司债 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期限1.2年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2" name="!!trade.llm.quote">
            <a:extLst xmlns:a="http://schemas.openxmlformats.org/drawingml/2006/main">
              <a:ext uri="{FF2B5EF4-FFF2-40B4-BE49-F238E27FC236}">
                <a16:creationId xmlns:a16="http://schemas.microsoft.com/office/drawing/2014/main" id="{8F9E7671-DD9E-467E-83B2-3D11FBA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05150"/>
            <a:ext cx="32194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llm.quote.role">
            <a:extLst xmlns:a="http://schemas.openxmlformats.org/drawingml/2006/main">
              <a:ext uri="{FF2B5EF4-FFF2-40B4-BE49-F238E27FC236}">
                <a16:creationId xmlns:a16="http://schemas.microsoft.com/office/drawing/2014/main" id="{456005C5-2E2E-4BCC-8283-E1524DB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LLM解析询价记录</a:t>
            </a:r>
          </a:p>
        </p:txBody>
      </p:sp>
      <p:sp>
        <p:nvSpPr>
          <p:cNvPr id="34" name="!!trade.llm.quote.body">
            <a:extLst xmlns:a="http://schemas.openxmlformats.org/drawingml/2006/main">
              <a:ext uri="{FF2B5EF4-FFF2-40B4-BE49-F238E27FC236}">
                <a16:creationId xmlns:a16="http://schemas.microsoft.com/office/drawing/2014/main" id="{A05365CF-EEED-4941-8024-1A5E3FC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交易员提供收到的报价：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“甲A卖方净价100.20，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面额2000万元可出”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提取券名、净价与面额</a:t>
            </a:r>
          </a:p>
        </p:txBody>
      </p:sp>
      <p:sp>
        <p:nvSpPr>
          <p:cNvPr id="35" name="!!trade.query.call.line">
            <a:extLst xmlns:a="http://schemas.openxmlformats.org/drawingml/2006/main">
              <a:ext uri="{FF2B5EF4-FFF2-40B4-BE49-F238E27FC236}">
                <a16:creationId xmlns:a16="http://schemas.microsoft.com/office/drawing/2014/main" id="{3C6978D0-5699-44F1-998D-9244C12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40100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rade.query.call.tip">
            <a:extLst xmlns:a="http://schemas.openxmlformats.org/drawingml/2006/main">
              <a:ext uri="{FF2B5EF4-FFF2-40B4-BE49-F238E27FC236}">
                <a16:creationId xmlns:a16="http://schemas.microsoft.com/office/drawing/2014/main" id="{25A6176E-6543-4784-9CA6-D03B1E5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3952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rade.quote.merge.line">
            <a:extLst xmlns:a="http://schemas.openxmlformats.org/drawingml/2006/main">
              <a:ext uri="{FF2B5EF4-FFF2-40B4-BE49-F238E27FC236}">
                <a16:creationId xmlns:a16="http://schemas.microsoft.com/office/drawing/2014/main" id="{9E6CF2EB-5C63-4A18-93B6-ECB1A28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rade.quote.merge.tip">
            <a:extLst xmlns:a="http://schemas.openxmlformats.org/drawingml/2006/main">
              <a:ext uri="{FF2B5EF4-FFF2-40B4-BE49-F238E27FC236}">
                <a16:creationId xmlns:a16="http://schemas.microsoft.com/office/drawing/2014/main" id="{6EA35065-4EAF-4B6A-A51E-0A8EBA5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rade.chat.merge.line">
            <a:extLst xmlns:a="http://schemas.openxmlformats.org/drawingml/2006/main">
              <a:ext uri="{FF2B5EF4-FFF2-40B4-BE49-F238E27FC236}">
                <a16:creationId xmlns:a16="http://schemas.microsoft.com/office/drawing/2014/main" id="{9FA049AD-0102-4448-8667-DFECC8B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trade.chat.merge.tip">
            <a:extLst xmlns:a="http://schemas.openxmlformats.org/drawingml/2006/main">
              <a:ext uri="{FF2B5EF4-FFF2-40B4-BE49-F238E27FC236}">
                <a16:creationId xmlns:a16="http://schemas.microsoft.com/office/drawing/2014/main" id="{44852D8C-C44D-4DC8-B8B1-ECBD82A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trade.result.title">
            <a:extLst xmlns:a="http://schemas.openxmlformats.org/drawingml/2006/main">
              <a:ext uri="{FF2B5EF4-FFF2-40B4-BE49-F238E27FC236}">
                <a16:creationId xmlns:a16="http://schemas.microsoft.com/office/drawing/2014/main" id="{C5A2DBC2-D9E4-46FF-9957-BABC2B7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57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LLM归并查询结果和报价</a:t>
            </a:r>
          </a:p>
        </p:txBody>
      </p:sp>
      <p:graphicFrame>
        <p:nvGraphicFrame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8D175-A76B-485C-BBD7-6E86EE98C9A0}"/>
              </a:ext>
            </a:extLst>
          </p:cNvPr>
          <p:cNvGraphicFramePr/>
          <p:nvPr/>
        </p:nvGraphicFramePr>
        <p:xfrm>
          <a:off xmlns:a="http://schemas.openxmlformats.org/drawingml/2006/main" x="4057650" y="5695950"/>
          <a:ext xmlns:a="http://schemas.openxmlformats.org/drawingml/2006/main" cx="10534650" cy="120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819400"/>
                <a:gridCol w="2571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候选券 / 到期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持仓面额（万元）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净价（元/百元面值）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可出面额（万元）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甲A / 1.2年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100.20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!!trade.user">
            <a:extLst xmlns:a="http://schemas.openxmlformats.org/drawingml/2006/main">
              <a:ext uri="{FF2B5EF4-FFF2-40B4-BE49-F238E27FC236}">
                <a16:creationId xmlns:a16="http://schemas.microsoft.com/office/drawing/2014/main" id="{6FEB1585-092A-4A90-AB10-D71C4C9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交易员核对记录出处与报价时间，经理据此讨论后续安排</a:t>
            </a:r>
          </a:p>
        </p:txBody>
      </p:sp>
    </p:spTree>
    <p:extLst>
      <p:ext uri="{BB962C8B-B14F-4D97-AF65-F5344CB8AC3E}">
        <p14:creationId xmlns:p14="http://schemas.microsoft.com/office/powerpoint/2010/main" val="35440952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A92B96A5-FFCD-43EF-B86F-5C17451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客户沟通材料的准备过程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65FD980-9DAE-4827-B7F0-9DBC3BC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A689B5D-91F1-428A-9AFC-9C77E65A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DD3A52E-3335-4B2A-92A0-AC83A7B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8B63523-E56F-43BC-B8DD-BCE61F7E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0FD1739-FE5D-4EB9-9D60-0898A80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98F86B4-E35F-464D-9690-D567FA3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CF53102-ACF7-4496-AB82-1B51611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E01A48D-A05F-48E2-8243-2343940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EA982FE-BE07-49CC-A4FC-10477C2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E74C734-7807-446F-B618-CD358E7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98A2956-EA18-4FD7-8DCD-3519944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4E7F7C34-649C-42B5-AF8C-3DCBBE7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E41308-FA03-4A70-87F5-0A132C5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E0892D8-C70C-4718-A29A-8936159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F305236-6921-421E-8607-91DF08C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80D8B8C-70B6-416A-9CE4-A78D249C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0FBCEC1-DFD3-43B0-9A17-481B00E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6307939-236B-4668-955E-754D2B2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4A856815-F4B8-44DF-96AF-D41DF16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95DE3093-958E-4B66-864A-C987DEC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80D38D-59EE-4139-B7E9-1A86C1B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7C334EF9-850A-439F-8C15-A7359FA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client.task">
            <a:extLst xmlns:a="http://schemas.openxmlformats.org/drawingml/2006/main">
              <a:ext uri="{FF2B5EF4-FFF2-40B4-BE49-F238E27FC236}">
                <a16:creationId xmlns:a16="http://schemas.microsoft.com/office/drawing/2014/main" id="{6079BF16-3200-4692-B247-2F17087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客户经理准备一份季度沟通稿</a:t>
            </a:r>
          </a:p>
        </p:txBody>
      </p:sp>
      <p:sp>
        <p:nvSpPr>
          <p:cNvPr id="25" name="!!client.question.rule">
            <a:extLst xmlns:a="http://schemas.openxmlformats.org/drawingml/2006/main">
              <a:ext uri="{FF2B5EF4-FFF2-40B4-BE49-F238E27FC236}">
                <a16:creationId xmlns:a16="http://schemas.microsoft.com/office/drawing/2014/main" id="{A1E02C7F-27C1-48D0-BADB-19BFC07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8132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client.question.label">
            <a:extLst xmlns:a="http://schemas.openxmlformats.org/drawingml/2006/main">
              <a:ext uri="{FF2B5EF4-FFF2-40B4-BE49-F238E27FC236}">
                <a16:creationId xmlns:a16="http://schemas.microsoft.com/office/drawing/2014/main" id="{762CB1C6-DE4D-42EF-A099-D8E9922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客户的问题</a:t>
            </a:r>
          </a:p>
        </p:txBody>
      </p:sp>
      <p:sp>
        <p:nvSpPr>
          <p:cNvPr id="27" name="!!client.question.text">
            <a:extLst xmlns:a="http://schemas.openxmlformats.org/drawingml/2006/main">
              <a:ext uri="{FF2B5EF4-FFF2-40B4-BE49-F238E27FC236}">
                <a16:creationId xmlns:a16="http://schemas.microsoft.com/office/drawing/2014/main" id="{BFCE5A59-C4DB-408C-86F8-C2F5FD1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19475"/>
            <a:ext cx="1053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本期公司经营发生了什么变化？</a:t>
            </a:r>
          </a:p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后续需要关注什么？</a:t>
            </a:r>
          </a:p>
        </p:txBody>
      </p:sp>
      <p:sp>
        <p:nvSpPr>
          <p:cNvPr id="28" name="!!client.material0">
            <a:extLst xmlns:a="http://schemas.openxmlformats.org/drawingml/2006/main">
              <a:ext uri="{FF2B5EF4-FFF2-40B4-BE49-F238E27FC236}">
                <a16:creationId xmlns:a16="http://schemas.microsoft.com/office/drawing/2014/main" id="{B55F81CD-D091-49C2-93D5-C1C1C65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</p:txBody>
      </p:sp>
      <p:sp>
        <p:nvSpPr>
          <p:cNvPr id="29" name="!!client.material1">
            <a:extLst xmlns:a="http://schemas.openxmlformats.org/drawingml/2006/main">
              <a:ext uri="{FF2B5EF4-FFF2-40B4-BE49-F238E27FC236}">
                <a16:creationId xmlns:a16="http://schemas.microsoft.com/office/drawing/2014/main" id="{D807157E-CE1C-49D3-9C0D-7E94791D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产品文件</a:t>
            </a:r>
          </a:p>
        </p:txBody>
      </p:sp>
      <p:sp>
        <p:nvSpPr>
          <p:cNvPr id="30" name="!!client.material2">
            <a:extLst xmlns:a="http://schemas.openxmlformats.org/drawingml/2006/main">
              <a:ext uri="{FF2B5EF4-FFF2-40B4-BE49-F238E27FC236}">
                <a16:creationId xmlns:a16="http://schemas.microsoft.com/office/drawing/2014/main" id="{837BBCF2-0513-473D-A6CF-08F53E3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14850"/>
            <a:ext cx="3219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以往沟通材料</a:t>
            </a:r>
          </a:p>
        </p:txBody>
      </p:sp>
      <p:sp>
        <p:nvSpPr>
          <p:cNvPr id="31" name="!!client.manual.title">
            <a:extLst xmlns:a="http://schemas.openxmlformats.org/drawingml/2006/main">
              <a:ext uri="{FF2B5EF4-FFF2-40B4-BE49-F238E27FC236}">
                <a16:creationId xmlns:a16="http://schemas.microsoft.com/office/drawing/2014/main" id="{A7525C19-CED0-478F-88EA-CF44279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客户经理反复完成</a:t>
            </a:r>
          </a:p>
        </p:txBody>
      </p:sp>
      <p:sp>
        <p:nvSpPr>
          <p:cNvPr id="32" name="!!client.manual.0">
            <a:extLst xmlns:a="http://schemas.openxmlformats.org/drawingml/2006/main">
              <a:ext uri="{FF2B5EF4-FFF2-40B4-BE49-F238E27FC236}">
                <a16:creationId xmlns:a16="http://schemas.microsoft.com/office/drawing/2014/main" id="{3CE7E8FA-C20A-4FC7-AE9A-38004E8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找对应观点</a:t>
            </a:r>
          </a:p>
        </p:txBody>
      </p:sp>
      <p:sp>
        <p:nvSpPr>
          <p:cNvPr id="33" name="!!client.manual.link0.line">
            <a:extLst xmlns:a="http://schemas.openxmlformats.org/drawingml/2006/main">
              <a:ext uri="{FF2B5EF4-FFF2-40B4-BE49-F238E27FC236}">
                <a16:creationId xmlns:a16="http://schemas.microsoft.com/office/drawing/2014/main" id="{E48D4229-5E1B-4D63-929C-D83341B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client.manual.link0.tip">
            <a:extLst xmlns:a="http://schemas.openxmlformats.org/drawingml/2006/main">
              <a:ext uri="{FF2B5EF4-FFF2-40B4-BE49-F238E27FC236}">
                <a16:creationId xmlns:a16="http://schemas.microsoft.com/office/drawing/2014/main" id="{0EB6492A-3793-4691-A0A8-845F258F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client.manual.1">
            <a:extLst xmlns:a="http://schemas.openxmlformats.org/drawingml/2006/main">
              <a:ext uri="{FF2B5EF4-FFF2-40B4-BE49-F238E27FC236}">
                <a16:creationId xmlns:a16="http://schemas.microsoft.com/office/drawing/2014/main" id="{40C2C68F-DBEE-4D84-854A-003BD23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核对产品与期次</a:t>
            </a:r>
          </a:p>
        </p:txBody>
      </p:sp>
      <p:sp>
        <p:nvSpPr>
          <p:cNvPr id="36" name="!!client.manual.link1.line">
            <a:extLst xmlns:a="http://schemas.openxmlformats.org/drawingml/2006/main">
              <a:ext uri="{FF2B5EF4-FFF2-40B4-BE49-F238E27FC236}">
                <a16:creationId xmlns:a16="http://schemas.microsoft.com/office/drawing/2014/main" id="{465E7B25-EA95-40DF-B633-4CA6CF7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client.manual.link1.tip">
            <a:extLst xmlns:a="http://schemas.openxmlformats.org/drawingml/2006/main">
              <a:ext uri="{FF2B5EF4-FFF2-40B4-BE49-F238E27FC236}">
                <a16:creationId xmlns:a16="http://schemas.microsoft.com/office/drawing/2014/main" id="{BC56EF15-F3D2-4ED9-A6A8-402BDAA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client.manual.2">
            <a:extLst xmlns:a="http://schemas.openxmlformats.org/drawingml/2006/main">
              <a:ext uri="{FF2B5EF4-FFF2-40B4-BE49-F238E27FC236}">
                <a16:creationId xmlns:a16="http://schemas.microsoft.com/office/drawing/2014/main" id="{ED039AE1-5BD5-4717-A954-A8ECB5A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057900"/>
            <a:ext cx="32893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按客户问题改写</a:t>
            </a:r>
          </a:p>
        </p:txBody>
      </p:sp>
      <p:sp>
        <p:nvSpPr>
          <p:cNvPr id="39" name="!!client.repetition">
            <a:extLst xmlns:a="http://schemas.openxmlformats.org/drawingml/2006/main">
              <a:ext uri="{FF2B5EF4-FFF2-40B4-BE49-F238E27FC236}">
                <a16:creationId xmlns:a16="http://schemas.microsoft.com/office/drawing/2014/main" id="{D2C87160-800E-4624-ADC4-A1D4664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同一观点在沟通稿、问答和标书中需要多次整理</a:t>
            </a:r>
          </a:p>
        </p:txBody>
      </p:sp>
    </p:spTree>
    <p:extLst>
      <p:ext uri="{BB962C8B-B14F-4D97-AF65-F5344CB8AC3E}">
        <p14:creationId xmlns:p14="http://schemas.microsoft.com/office/powerpoint/2010/main" val="134016183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!!heading">
            <a:extLst xmlns:a="http://schemas.openxmlformats.org/drawingml/2006/main">
              <a:ext uri="{FF2B5EF4-FFF2-40B4-BE49-F238E27FC236}">
                <a16:creationId xmlns:a16="http://schemas.microsoft.com/office/drawing/2014/main" id="{F37E5474-0246-45B5-B8DF-5EE3899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天弘基金的经理观点与市场材料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292D3EA-B597-43FC-9145-576F087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0979A2E-23C1-4F97-AA12-F511647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590DD6B-1EB1-45F9-B40F-42EA4C5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16E277A-D938-44D3-A86D-CFC9E7E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7ABC16-D47F-41BC-BD98-8E1B1B7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5D899F-DB9D-49BD-966A-D955FCE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8E475CA-F877-4FB8-AFD2-E107F13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6E81CA1-AEF5-4085-A902-EF4AD8C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B4586D-BFDE-4DCC-A91F-1CFB97C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C3A84B8-F4B5-4A18-A614-DC7ED6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EF9227F-4D59-43AE-9974-37A0E4B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E0B1D29-2C14-43E3-B776-FDE885C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939DEED-F036-4EC9-9175-6F3D096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FBB7BC7-9943-49D5-B0C9-A299625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07D210E-BD48-4A3D-B5F1-5096CCF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E661C25-3291-4DB0-AB4E-73E488DC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1E43C9C-8CAA-4DB3-B12A-C572A00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EC3F3AE-AAD0-4790-8E40-3A2B40D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3DBE494-9268-4774-B5E6-975794B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AC34055-F35E-44B5-A4F1-57772DB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2255AB5C-B8CC-4B15-9EE2-FE6BD75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0B14CB-A911-438F-AAA0-7A04866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EC2306CC-0AA3-403F-8F1C-7268702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5" name="!!client.views.head">
            <a:extLst xmlns:a="http://schemas.openxmlformats.org/drawingml/2006/main">
              <a:ext uri="{FF2B5EF4-FFF2-40B4-BE49-F238E27FC236}">
                <a16:creationId xmlns:a16="http://schemas.microsoft.com/office/drawing/2014/main" id="{7A359A56-723F-48BD-97B5-90652E7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天弘让LLM汇集同一经理或产品的近期观点</a:t>
            </a:r>
          </a:p>
        </p:txBody>
      </p:sp>
      <p:sp>
        <p:nvSpPr>
          <p:cNvPr id="26" name="!!client.views.source.rule">
            <a:extLst xmlns:a="http://schemas.openxmlformats.org/drawingml/2006/main">
              <a:ext uri="{FF2B5EF4-FFF2-40B4-BE49-F238E27FC236}">
                <a16:creationId xmlns:a16="http://schemas.microsoft.com/office/drawing/2014/main" id="{229E9AE7-6A33-495A-98C5-80444B9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447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client.views.source.label">
            <a:extLst xmlns:a="http://schemas.openxmlformats.org/drawingml/2006/main">
              <a:ext uri="{FF2B5EF4-FFF2-40B4-BE49-F238E27FC236}">
                <a16:creationId xmlns:a16="http://schemas.microsoft.com/office/drawing/2014/main" id="{F89B2486-54DF-4FC1-9409-8B201CC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路演纪要、评论与定期报告</a:t>
            </a:r>
          </a:p>
        </p:txBody>
      </p:sp>
      <p:sp>
        <p:nvSpPr>
          <p:cNvPr id="28" name="!!client.views.source.text">
            <a:extLst xmlns:a="http://schemas.openxmlformats.org/drawingml/2006/main">
              <a:ext uri="{FF2B5EF4-FFF2-40B4-BE49-F238E27FC236}">
                <a16:creationId xmlns:a16="http://schemas.microsoft.com/office/drawing/2014/main" id="{317276D1-17E9-479A-8015-0C36949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4476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“甲公司收入增长来自销量提升，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后续关注原材料成本。”</a:t>
            </a:r>
          </a:p>
        </p:txBody>
      </p:sp>
      <p:sp>
        <p:nvSpPr>
          <p:cNvPr id="29" name="!!client.views.llm">
            <a:extLst xmlns:a="http://schemas.openxmlformats.org/drawingml/2006/main">
              <a:ext uri="{FF2B5EF4-FFF2-40B4-BE49-F238E27FC236}">
                <a16:creationId xmlns:a16="http://schemas.microsoft.com/office/drawing/2014/main" id="{E45F2BDD-B697-471A-9490-A7889BF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52768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.views.llm.role">
            <a:extLst xmlns:a="http://schemas.openxmlformats.org/drawingml/2006/main">
              <a:ext uri="{FF2B5EF4-FFF2-40B4-BE49-F238E27FC236}">
                <a16:creationId xmlns:a16="http://schemas.microsoft.com/office/drawing/2014/main" id="{86C8D954-5532-40AF-8F13-124123EB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8612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LLM按客户问题整理</a:t>
            </a:r>
          </a:p>
        </p:txBody>
      </p:sp>
      <p:sp>
        <p:nvSpPr>
          <p:cNvPr id="31" name="!!client.views.llm.body">
            <a:extLst xmlns:a="http://schemas.openxmlformats.org/drawingml/2006/main">
              <a:ext uri="{FF2B5EF4-FFF2-40B4-BE49-F238E27FC236}">
                <a16:creationId xmlns:a16="http://schemas.microsoft.com/office/drawing/2014/main" id="{180AA305-4077-4177-A1C9-76E31E6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24275"/>
            <a:ext cx="4895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寻找相关观点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合并重复内容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写成便于沟通的解释</a:t>
            </a:r>
          </a:p>
        </p:txBody>
      </p:sp>
      <p:sp>
        <p:nvSpPr>
          <p:cNvPr id="32" name="!!client.views.input.line">
            <a:extLst xmlns:a="http://schemas.openxmlformats.org/drawingml/2006/main">
              <a:ext uri="{FF2B5EF4-FFF2-40B4-BE49-F238E27FC236}">
                <a16:creationId xmlns:a16="http://schemas.microsoft.com/office/drawing/2014/main" id="{8AD87F30-B73B-4072-A3D0-1E3A739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067175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client.views.input.tip">
            <a:extLst xmlns:a="http://schemas.openxmlformats.org/drawingml/2006/main">
              <a:ext uri="{FF2B5EF4-FFF2-40B4-BE49-F238E27FC236}">
                <a16:creationId xmlns:a16="http://schemas.microsoft.com/office/drawing/2014/main" id="{9D8640D7-DB05-4ED1-855B-128CB59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44000" y="4010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client.views.result">
            <a:extLst xmlns:a="http://schemas.openxmlformats.org/drawingml/2006/main">
              <a:ext uri="{FF2B5EF4-FFF2-40B4-BE49-F238E27FC236}">
                <a16:creationId xmlns:a16="http://schemas.microsoft.com/office/drawing/2014/main" id="{1080990D-0CFB-42DD-B6CD-83A4249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5" name="!!client.views.result.title">
            <a:extLst xmlns:a="http://schemas.openxmlformats.org/drawingml/2006/main">
              <a:ext uri="{FF2B5EF4-FFF2-40B4-BE49-F238E27FC236}">
                <a16:creationId xmlns:a16="http://schemas.microsoft.com/office/drawing/2014/main" id="{C45C2CCF-6CF4-4181-8375-8D2F92E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62625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销售可直接使用的观点摘要</a:t>
            </a:r>
          </a:p>
        </p:txBody>
      </p:sp>
      <p:sp>
        <p:nvSpPr>
          <p:cNvPr id="36" name="!!client.views.result.text">
            <a:extLst xmlns:a="http://schemas.openxmlformats.org/drawingml/2006/main">
              <a:ext uri="{FF2B5EF4-FFF2-40B4-BE49-F238E27FC236}">
                <a16:creationId xmlns:a16="http://schemas.microsoft.com/office/drawing/2014/main" id="{7B9CDE04-61B3-4DB9-B776-0A9FE33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57925"/>
            <a:ext cx="1011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本期收入改善主要来自销量提升，后续继续跟踪原材料成本。</a:t>
            </a:r>
          </a:p>
        </p:txBody>
      </p:sp>
      <p:sp>
        <p:nvSpPr>
          <p:cNvPr id="37" name="!!client.views.user">
            <a:extLst xmlns:a="http://schemas.openxmlformats.org/drawingml/2006/main">
              <a:ext uri="{FF2B5EF4-FFF2-40B4-BE49-F238E27FC236}">
                <a16:creationId xmlns:a16="http://schemas.microsoft.com/office/drawing/2014/main" id="{E5DBF677-5CA8-48F5-BAF7-A0C35C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天弘还将市场资料整理成行业周评、每日早评和收评</a:t>
            </a:r>
          </a:p>
        </p:txBody>
      </p:sp>
    </p:spTree>
    <p:extLst>
      <p:ext uri="{BB962C8B-B14F-4D97-AF65-F5344CB8AC3E}">
        <p14:creationId xmlns:p14="http://schemas.microsoft.com/office/powerpoint/2010/main" val="205893254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505C154E-B6EC-4A01-A113-FE4A98E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工银瑞信的机构标书助手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0E4DEC8-BEE2-4380-9D5F-593720E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48B7EDA-0E75-44B4-B6FA-63A79ACF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3717483-D8FE-4C1B-9AB9-2BDD7A5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C0B414B-11C8-4A58-82E3-DA0A803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B825BE-16FF-4EBF-BE34-906313B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ED2AB44-C65D-43D8-A35A-EDDBB13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6C3292E-2A2A-43DE-B5D2-C5142DB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50EF0C8-7A7F-4AC2-8BA8-C73811A7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CF1D675-AF3F-4B49-883E-830D5EB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7E247E8-C5DC-4F7B-9193-FCBC01D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4756ACD-726A-4B2F-AC7D-AB3DC2E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25E6E7C-7EF1-435F-ABE6-4565F9B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AC0B84D-0BBC-442E-8693-42DCFB5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3A004C2-EC31-4571-858A-9AA4B5C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BFBA1FF-E971-4567-83FE-D5E4574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1922D6A-3CF5-4B27-815F-6A539B6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7CF6963-6EA6-4EA9-8D93-A473DBF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0E6655-9B9A-4AD0-BC0D-E244686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48C5AD5-01C2-480B-A757-82D6553D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A3CFF4C4-ECD9-4EDC-B6F4-7AE986B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D329EAB1-68A6-4176-956F-FC76E02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7AB7C29-7FF5-4E19-A984-6CAE4FC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C24D9E5-E512-4E75-814D-840F9B53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来源：工银瑞信基金，基金业协会案例材料</a:t>
            </a:r>
          </a:p>
        </p:txBody>
      </p:sp>
      <p:sp>
        <p:nvSpPr>
          <p:cNvPr id="25" name="!!tender.question">
            <a:extLst xmlns:a="http://schemas.openxmlformats.org/drawingml/2006/main">
              <a:ext uri="{FF2B5EF4-FFF2-40B4-BE49-F238E27FC236}">
                <a16:creationId xmlns:a16="http://schemas.microsoft.com/office/drawing/2014/main" id="{26F5DE57-B786-4834-B0F0-759F69D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机构客户问：公司的投研流程怎样组织？</a:t>
            </a:r>
          </a:p>
        </p:txBody>
      </p:sp>
      <p:sp>
        <p:nvSpPr>
          <p:cNvPr id="26" name="!!tender.source.rule">
            <a:extLst xmlns:a="http://schemas.openxmlformats.org/drawingml/2006/main">
              <a:ext uri="{FF2B5EF4-FFF2-40B4-BE49-F238E27FC236}">
                <a16:creationId xmlns:a16="http://schemas.microsoft.com/office/drawing/2014/main" id="{CC8B03A3-8E1E-4773-8153-94BC0F3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2099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tender.source.label">
            <a:extLst xmlns:a="http://schemas.openxmlformats.org/drawingml/2006/main">
              <a:ext uri="{FF2B5EF4-FFF2-40B4-BE49-F238E27FC236}">
                <a16:creationId xmlns:a16="http://schemas.microsoft.com/office/drawing/2014/main" id="{D77761F5-11A9-4477-8E19-37BBB8E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公司知识资料</a:t>
            </a:r>
          </a:p>
        </p:txBody>
      </p:sp>
      <p:sp>
        <p:nvSpPr>
          <p:cNvPr id="28" name="!!tender.source.text">
            <a:extLst xmlns:a="http://schemas.openxmlformats.org/drawingml/2006/main">
              <a:ext uri="{FF2B5EF4-FFF2-40B4-BE49-F238E27FC236}">
                <a16:creationId xmlns:a16="http://schemas.microsoft.com/office/drawing/2014/main" id="{FAA2DB54-1241-48FB-A5FA-2E5D682A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48075"/>
            <a:ext cx="3219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研究流程说明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研究员形成公司分析，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</p:txBody>
      </p:sp>
      <p:sp>
        <p:nvSpPr>
          <p:cNvPr id="29" name="!!tender.llm">
            <a:extLst xmlns:a="http://schemas.openxmlformats.org/drawingml/2006/main">
              <a:ext uri="{FF2B5EF4-FFF2-40B4-BE49-F238E27FC236}">
                <a16:creationId xmlns:a16="http://schemas.microsoft.com/office/drawing/2014/main" id="{D5667B8B-9218-4CF8-A8BD-5637028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tender.llm.role">
            <a:extLst xmlns:a="http://schemas.openxmlformats.org/drawingml/2006/main">
              <a:ext uri="{FF2B5EF4-FFF2-40B4-BE49-F238E27FC236}">
                <a16:creationId xmlns:a16="http://schemas.microsoft.com/office/drawing/2014/main" id="{859D6C53-4C69-4493-BAF9-7CBB84F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LLM识别问题并组织回答</a:t>
            </a:r>
          </a:p>
        </p:txBody>
      </p:sp>
      <p:sp>
        <p:nvSpPr>
          <p:cNvPr id="31" name="!!tender.llm.body">
            <a:extLst xmlns:a="http://schemas.openxmlformats.org/drawingml/2006/main">
              <a:ext uri="{FF2B5EF4-FFF2-40B4-BE49-F238E27FC236}">
                <a16:creationId xmlns:a16="http://schemas.microsoft.com/office/drawing/2014/main" id="{87126AA1-8BFD-4302-A656-F6FAF3B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找到“投研流程”资料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提取研究与决策的分工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按标书章节写成回答</a:t>
            </a:r>
          </a:p>
        </p:txBody>
      </p:sp>
      <p:sp>
        <p:nvSpPr>
          <p:cNvPr id="32" name="!!tender.answer">
            <a:extLst xmlns:a="http://schemas.openxmlformats.org/drawingml/2006/main">
              <a:ext uri="{FF2B5EF4-FFF2-40B4-BE49-F238E27FC236}">
                <a16:creationId xmlns:a16="http://schemas.microsoft.com/office/drawing/2014/main" id="{4D34DD9A-375A-474E-BC3E-6BC2079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09925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tender.answer.role">
            <a:extLst xmlns:a="http://schemas.openxmlformats.org/drawingml/2006/main">
              <a:ext uri="{FF2B5EF4-FFF2-40B4-BE49-F238E27FC236}">
                <a16:creationId xmlns:a16="http://schemas.microsoft.com/office/drawing/2014/main" id="{8F4CD158-3EEC-44CF-AAB5-172B29C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标书中的回答</a:t>
            </a:r>
          </a:p>
        </p:txBody>
      </p:sp>
      <p:sp>
        <p:nvSpPr>
          <p:cNvPr id="34" name="!!tender.answer.body">
            <a:extLst xmlns:a="http://schemas.openxmlformats.org/drawingml/2006/main">
              <a:ext uri="{FF2B5EF4-FFF2-40B4-BE49-F238E27FC236}">
                <a16:creationId xmlns:a16="http://schemas.microsoft.com/office/drawing/2014/main" id="{047F46EE-19FA-43B4-BB09-12BD974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研究员整理公司分析，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出处：投研流程说明</a:t>
            </a:r>
          </a:p>
        </p:txBody>
      </p:sp>
      <p:sp>
        <p:nvSpPr>
          <p:cNvPr id="35" name="!!tender.input.line">
            <a:extLst xmlns:a="http://schemas.openxmlformats.org/drawingml/2006/main">
              <a:ext uri="{FF2B5EF4-FFF2-40B4-BE49-F238E27FC236}">
                <a16:creationId xmlns:a16="http://schemas.microsoft.com/office/drawing/2014/main" id="{0AB5DFE9-6807-4590-B96F-94FB30F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ender.input.tip">
            <a:extLst xmlns:a="http://schemas.openxmlformats.org/drawingml/2006/main">
              <a:ext uri="{FF2B5EF4-FFF2-40B4-BE49-F238E27FC236}">
                <a16:creationId xmlns:a16="http://schemas.microsoft.com/office/drawing/2014/main" id="{9CF3D49E-7DB8-45C4-B372-A42B0F1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ender.output.line">
            <a:extLst xmlns:a="http://schemas.openxmlformats.org/drawingml/2006/main">
              <a:ext uri="{FF2B5EF4-FFF2-40B4-BE49-F238E27FC236}">
                <a16:creationId xmlns:a16="http://schemas.microsoft.com/office/drawing/2014/main" id="{2B15A54F-B114-4736-B681-E608DF9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ender.output.tip">
            <a:extLst xmlns:a="http://schemas.openxmlformats.org/drawingml/2006/main">
              <a:ext uri="{FF2B5EF4-FFF2-40B4-BE49-F238E27FC236}">
                <a16:creationId xmlns:a16="http://schemas.microsoft.com/office/drawing/2014/main" id="{104BABA1-1529-4F59-83F7-FB5148D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ender.user">
            <a:extLst xmlns:a="http://schemas.openxmlformats.org/drawingml/2006/main">
              <a:ext uri="{FF2B5EF4-FFF2-40B4-BE49-F238E27FC236}">
                <a16:creationId xmlns:a16="http://schemas.microsoft.com/office/drawing/2014/main" id="{A6D7D761-D433-43A8-B6FE-08B4C84B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817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业务同事核对回答与资料，补充本次客户要求后使用</a:t>
            </a:r>
          </a:p>
        </p:txBody>
      </p:sp>
      <p:sp>
        <p:nvSpPr>
          <p:cNvPr id="40" name="!!tender.case">
            <a:extLst xmlns:a="http://schemas.openxmlformats.org/drawingml/2006/main">
              <a:ext uri="{FF2B5EF4-FFF2-40B4-BE49-F238E27FC236}">
                <a16:creationId xmlns:a16="http://schemas.microsoft.com/office/drawing/2014/main" id="{5BA8674F-0D51-4532-8E29-3415611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865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工银瑞信FundGPT串联知识维护、问答识别、审核与标书生成</a:t>
            </a:r>
          </a:p>
        </p:txBody>
      </p:sp>
    </p:spTree>
    <p:extLst>
      <p:ext uri="{BB962C8B-B14F-4D97-AF65-F5344CB8AC3E}">
        <p14:creationId xmlns:p14="http://schemas.microsoft.com/office/powerpoint/2010/main" val="128562686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!!heading">
            <a:extLst xmlns:a="http://schemas.openxmlformats.org/drawingml/2006/main">
              <a:ext uri="{FF2B5EF4-FFF2-40B4-BE49-F238E27FC236}">
                <a16:creationId xmlns:a16="http://schemas.microsoft.com/office/drawing/2014/main" id="{92538C93-9558-454E-BC96-EC31F74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公司客户材料方案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524E9F8-563A-4A6F-BA31-48A2D70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48D44C1-676F-4C9F-AEF2-EB9821F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2BFDBD1-7A9C-421A-BC2E-864822F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B18CE86-45EC-41C9-843E-0537371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B67F3DE-BB47-4A52-9369-D71BCDA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4E7D03A-CB0E-4940-A84E-C13C757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C758F409-1925-4C7E-9DA7-6B22774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CE899B5-68D4-43AC-9621-49F610F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A70C625-0436-4FA2-89CD-AAECC13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4BBB46A-D009-4A02-BEB4-687169A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6177313-FEF6-48E6-BE97-9D14496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8232C54-3BCE-4268-9121-7D482302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D81DC4E-8B7E-4A0E-919A-A9F2D68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F1354AC-65EB-4A04-81BB-7959A04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5ABDFB-2F5F-48DC-8C68-DDF5A2D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B9350-7A6C-4B81-88CD-3C19218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866BAA6-CB26-4FCD-B357-AE2625B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44EC84C-DD7A-45D7-B94C-A156D66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0AB0321C-1F7E-4091-AB7C-009DCEB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05461EE8-6303-45B6-B885-3E14649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A696B47-230C-4E72-8C2A-ACA4DBD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E9C6862-C67A-40EF-AA77-F17920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95CC6FE6-8D21-471F-9D04-2408F32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来源：天弘基金，基金业协会案例材料；工银瑞信基金，基金业协会案例材料；财经网，招商基金数字金融报道</a:t>
            </a:r>
          </a:p>
        </p:txBody>
      </p:sp>
      <p:sp>
        <p:nvSpPr>
          <p:cNvPr id="25" name="!!client.input.customer">
            <a:extLst xmlns:a="http://schemas.openxmlformats.org/drawingml/2006/main">
              <a:ext uri="{FF2B5EF4-FFF2-40B4-BE49-F238E27FC236}">
                <a16:creationId xmlns:a16="http://schemas.microsoft.com/office/drawing/2014/main" id="{5D6F5BB5-B26A-4BDA-85E3-1CED11D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6" name="!!client.input.manager">
            <a:extLst xmlns:a="http://schemas.openxmlformats.org/drawingml/2006/main">
              <a:ext uri="{FF2B5EF4-FFF2-40B4-BE49-F238E27FC236}">
                <a16:creationId xmlns:a16="http://schemas.microsoft.com/office/drawing/2014/main" id="{FF852C64-EB8A-41AA-8105-58D8AAB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现有观点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销量与原料成本</a:t>
            </a:r>
          </a:p>
        </p:txBody>
      </p:sp>
      <p:sp>
        <p:nvSpPr>
          <p:cNvPr id="27" name="!!client.input.product">
            <a:extLst xmlns:a="http://schemas.openxmlformats.org/drawingml/2006/main">
              <a:ext uri="{FF2B5EF4-FFF2-40B4-BE49-F238E27FC236}">
                <a16:creationId xmlns:a16="http://schemas.microsoft.com/office/drawing/2014/main" id="{1437A3B8-FD55-42A0-B40B-5E17144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现有产品资料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</a:t>
            </a:r>
          </a:p>
        </p:txBody>
      </p:sp>
      <p:sp>
        <p:nvSpPr>
          <p:cNvPr id="28" name="!!client.input.link0.1">
            <a:extLst xmlns:a="http://schemas.openxmlformats.org/drawingml/2006/main">
              <a:ext uri="{FF2B5EF4-FFF2-40B4-BE49-F238E27FC236}">
                <a16:creationId xmlns:a16="http://schemas.microsoft.com/office/drawing/2014/main" id="{BB7F7A83-F5BE-460A-95C8-153CDA0E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30517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client.input.link0.2">
            <a:extLst xmlns:a="http://schemas.openxmlformats.org/drawingml/2006/main">
              <a:ext uri="{FF2B5EF4-FFF2-40B4-BE49-F238E27FC236}">
                <a16:creationId xmlns:a16="http://schemas.microsoft.com/office/drawing/2014/main" id="{10844E80-EB53-4497-A021-A45782D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3305175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client.input.link0.3.line">
            <a:extLst xmlns:a="http://schemas.openxmlformats.org/drawingml/2006/main">
              <a:ext uri="{FF2B5EF4-FFF2-40B4-BE49-F238E27FC236}">
                <a16:creationId xmlns:a16="http://schemas.microsoft.com/office/drawing/2014/main" id="{BE3A86F8-880E-473D-A740-774E4E00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client.input.link0.3.tip">
            <a:extLst xmlns:a="http://schemas.openxmlformats.org/drawingml/2006/main">
              <a:ext uri="{FF2B5EF4-FFF2-40B4-BE49-F238E27FC236}">
                <a16:creationId xmlns:a16="http://schemas.microsoft.com/office/drawing/2014/main" id="{2805B423-8BCD-4C9B-A904-8D4D74D7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client.input.link1.1">
            <a:extLst xmlns:a="http://schemas.openxmlformats.org/drawingml/2006/main">
              <a:ext uri="{FF2B5EF4-FFF2-40B4-BE49-F238E27FC236}">
                <a16:creationId xmlns:a16="http://schemas.microsoft.com/office/drawing/2014/main" id="{B7859070-3B02-4759-A77B-FA5EFA2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838700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3" name="!!client.input.link1.2">
            <a:extLst xmlns:a="http://schemas.openxmlformats.org/drawingml/2006/main">
              <a:ext uri="{FF2B5EF4-FFF2-40B4-BE49-F238E27FC236}">
                <a16:creationId xmlns:a16="http://schemas.microsoft.com/office/drawing/2014/main" id="{159337C9-282F-4B0E-A492-44A84BC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client.input.link1.3.line">
            <a:extLst xmlns:a="http://schemas.openxmlformats.org/drawingml/2006/main">
              <a:ext uri="{FF2B5EF4-FFF2-40B4-BE49-F238E27FC236}">
                <a16:creationId xmlns:a16="http://schemas.microsoft.com/office/drawing/2014/main" id="{4184771D-9C19-4BB6-B2A6-FA6FA05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client.input.link1.3.tip">
            <a:extLst xmlns:a="http://schemas.openxmlformats.org/drawingml/2006/main">
              <a:ext uri="{FF2B5EF4-FFF2-40B4-BE49-F238E27FC236}">
                <a16:creationId xmlns:a16="http://schemas.microsoft.com/office/drawing/2014/main" id="{57838FD9-7E20-4A2A-B2F2-DBF5A2B8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client.input.link2.1">
            <a:extLst xmlns:a="http://schemas.openxmlformats.org/drawingml/2006/main">
              <a:ext uri="{FF2B5EF4-FFF2-40B4-BE49-F238E27FC236}">
                <a16:creationId xmlns:a16="http://schemas.microsoft.com/office/drawing/2014/main" id="{107FBD83-10E3-4F24-A796-0BD6B1E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637222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client.input.link2.2">
            <a:extLst xmlns:a="http://schemas.openxmlformats.org/drawingml/2006/main">
              <a:ext uri="{FF2B5EF4-FFF2-40B4-BE49-F238E27FC236}">
                <a16:creationId xmlns:a16="http://schemas.microsoft.com/office/drawing/2014/main" id="{0FB47672-3758-4BBF-A56A-B410134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38925" y="4838700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client.input.link2.3.line">
            <a:extLst xmlns:a="http://schemas.openxmlformats.org/drawingml/2006/main">
              <a:ext uri="{FF2B5EF4-FFF2-40B4-BE49-F238E27FC236}">
                <a16:creationId xmlns:a16="http://schemas.microsoft.com/office/drawing/2014/main" id="{DB712894-E398-446A-A2C4-AB93D4B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client.input.link2.3.tip">
            <a:extLst xmlns:a="http://schemas.openxmlformats.org/drawingml/2006/main">
              <a:ext uri="{FF2B5EF4-FFF2-40B4-BE49-F238E27FC236}">
                <a16:creationId xmlns:a16="http://schemas.microsoft.com/office/drawing/2014/main" id="{FA3A88FC-790E-4952-A0FF-0F62E99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client.llm">
            <a:extLst xmlns:a="http://schemas.openxmlformats.org/drawingml/2006/main">
              <a:ext uri="{FF2B5EF4-FFF2-40B4-BE49-F238E27FC236}">
                <a16:creationId xmlns:a16="http://schemas.microsoft.com/office/drawing/2014/main" id="{ACA91E8F-0ABF-4A70-AB52-6C0284E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20002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.llm.role">
            <a:extLst xmlns:a="http://schemas.openxmlformats.org/drawingml/2006/main">
              <a:ext uri="{FF2B5EF4-FFF2-40B4-BE49-F238E27FC236}">
                <a16:creationId xmlns:a16="http://schemas.microsoft.com/office/drawing/2014/main" id="{5D89F698-C45C-463F-8E7F-D9EF6AA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LLM撰写材料</a:t>
            </a:r>
          </a:p>
        </p:txBody>
      </p:sp>
      <p:sp>
        <p:nvSpPr>
          <p:cNvPr id="42" name="!!client.llm.body">
            <a:extLst xmlns:a="http://schemas.openxmlformats.org/drawingml/2006/main">
              <a:ext uri="{FF2B5EF4-FFF2-40B4-BE49-F238E27FC236}">
                <a16:creationId xmlns:a16="http://schemas.microsoft.com/office/drawing/2014/main" id="{24AE9E6A-AE02-409A-BF90-8B52164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9600"/>
            <a:ext cx="1619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提取相关观点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按季度沟通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组织文字</a:t>
            </a:r>
          </a:p>
        </p:txBody>
      </p:sp>
      <p:sp>
        <p:nvSpPr>
          <p:cNvPr id="43" name="!!client.generate.line">
            <a:extLst xmlns:a="http://schemas.openxmlformats.org/drawingml/2006/main">
              <a:ext uri="{FF2B5EF4-FFF2-40B4-BE49-F238E27FC236}">
                <a16:creationId xmlns:a16="http://schemas.microsoft.com/office/drawing/2014/main" id="{BD33AF4B-D253-4530-B460-2170CBC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4838700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client.generate.tip">
            <a:extLst xmlns:a="http://schemas.openxmlformats.org/drawingml/2006/main">
              <a:ext uri="{FF2B5EF4-FFF2-40B4-BE49-F238E27FC236}">
                <a16:creationId xmlns:a16="http://schemas.microsoft.com/office/drawing/2014/main" id="{8E633F75-66DD-4334-89C7-0985735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8AEBADF-E217-47D3-AF0D-40719CF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4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1E2185E9-5AB3-4BD7-BD38-5B6DE7D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C1131C4E-0ABF-43E1-B618-6D219AB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4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57EC741D-1E4C-467C-ABE9-228368C1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F1648BD-2BFE-4BA8-88F4-BA37CA4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1D2BE08B-E7A9-4489-B0A4-2CF3B64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5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C2692D49-4A8E-4D7D-A44B-75757F3C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5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C782B766-6860-423B-B08A-555C2A7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B7023388-DF9A-4D63-BC3F-DCFA821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5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37B7FCEF-E018-405A-82DF-B7D304C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5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CF4806FB-E7CA-4DAF-A03A-31579F4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0FCF63BB-A1F7-420D-BCEC-8C474987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5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8538DEFB-599E-44A8-A65E-B146DF2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1D1B7180-421A-46E0-A0AD-328C788F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F207918-9FA1-474E-A2A7-D30D25B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6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7F1738FC-A5C3-40C1-939C-769FF69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61" name="!!client.user">
            <a:extLst xmlns:a="http://schemas.openxmlformats.org/drawingml/2006/main">
              <a:ext uri="{FF2B5EF4-FFF2-40B4-BE49-F238E27FC236}">
                <a16:creationId xmlns:a16="http://schemas.microsoft.com/office/drawing/2014/main" id="{0B5C9FEC-FE58-4A9A-9352-7701C55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客户经理核对观点，再将同一份沟通稿提交审核</a:t>
            </a:r>
          </a:p>
        </p:txBody>
      </p:sp>
    </p:spTree>
    <p:extLst>
      <p:ext uri="{BB962C8B-B14F-4D97-AF65-F5344CB8AC3E}">
        <p14:creationId xmlns:p14="http://schemas.microsoft.com/office/powerpoint/2010/main" val="11856962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7E658B29-F205-4A06-9304-F848A3E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客户材料的审核与修改过程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CFAD4E6-ECB7-4FAB-AC84-F2CDAE8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AE11FDC-0BCF-4578-BB6A-8B290FA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FA90C64-3369-4437-9306-6F6E4F5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73152BF-916F-4642-92A8-A5BB8B8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CF1C70-96D3-45A1-9628-9ABDE273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2F6B5B95-B986-40B2-AC01-3F5B61C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F9FD4E68-CCFE-4BFA-8A5D-3F0DFF7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8ED7524-B4E6-4FF5-A9D1-453CE87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D50FC6-DC3C-4BB4-B186-EC5383A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38D31E-D7DA-4B21-A05E-D420C2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567C91A1-051D-4A90-9A8A-7CF05AD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8B2CCB9-C8BE-4C69-9E56-7ABCAB5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C6359B5-C84B-4F37-BD27-ABE7543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824BEC7-68B8-43C7-8BEB-FB28BD7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E697F42-CAB1-4785-A3EB-63230F6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F3CEB9A-D6ED-4179-8632-56D9563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BA864A-7B9A-4C01-8328-239625C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F82C12-2C40-405A-9948-77EBFD3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6666F66-7C9F-4241-95AA-56B0817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FD2129C9-DE89-4F26-AAB6-0E3EA98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B8E73685-5412-4EEF-A6DE-D857841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11572F2-CD5C-46FC-9C3D-497AC35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8574517-8CDA-4D7F-AE33-C78F03A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0DA74F6-64AD-4CA8-8E8A-BF486C9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5A8F06E9-07E4-4C5B-8A35-840C135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EE4EE992-D917-486E-BCDA-6BB8A0B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F34F4228-7FF7-45C7-8696-90BDE557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25ABD82-0AC8-4D9B-8A39-2EAD606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9A01D067-61F7-4734-A1FF-7A278B04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176354F8-4B46-42E0-8BB4-85D2FD24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75234A16-D676-4AAE-9BBB-4814AC9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F9B27FA4-3C19-4E6E-900B-38B9EC9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14397D61-D363-446C-B9A1-4131A27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A3ACC771-B0BA-437F-BA3D-E1F1827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19C42D5E-C8B8-4925-A5D2-A9E8444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AF73DA82-3876-488E-B199-A21E842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D7F28BC2-490E-4897-8BE8-C93D4920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934F90F-27A8-497D-97E6-406D166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C43992A0-3656-491C-A75E-055CE506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review.reference.rule">
            <a:extLst xmlns:a="http://schemas.openxmlformats.org/drawingml/2006/main">
              <a:ext uri="{FF2B5EF4-FFF2-40B4-BE49-F238E27FC236}">
                <a16:creationId xmlns:a16="http://schemas.microsoft.com/office/drawing/2014/main" id="{F44955C5-22EF-448E-AABC-3112280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82350" y="2752725"/>
            <a:ext cx="3409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2" name="!!review.reference.label">
            <a:extLst xmlns:a="http://schemas.openxmlformats.org/drawingml/2006/main">
              <a:ext uri="{FF2B5EF4-FFF2-40B4-BE49-F238E27FC236}">
                <a16:creationId xmlns:a16="http://schemas.microsoft.com/office/drawing/2014/main" id="{6DCAE0E2-E816-463B-A03F-A57E6B3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479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审核同事查阅的本期路演</a:t>
            </a:r>
          </a:p>
        </p:txBody>
      </p:sp>
      <p:sp>
        <p:nvSpPr>
          <p:cNvPr id="43" name="!!review.reference.text">
            <a:extLst xmlns:a="http://schemas.openxmlformats.org/drawingml/2006/main">
              <a:ext uri="{FF2B5EF4-FFF2-40B4-BE49-F238E27FC236}">
                <a16:creationId xmlns:a16="http://schemas.microsoft.com/office/drawing/2014/main" id="{CE5B2548-5913-486A-9BF1-05F923C5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90875"/>
            <a:ext cx="3409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“渠道补库带动销量，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补库持续性仍需跟踪。”</a:t>
            </a:r>
          </a:p>
        </p:txBody>
      </p:sp>
      <p:sp>
        <p:nvSpPr>
          <p:cNvPr id="44" name="!!review.questions.title">
            <a:extLst xmlns:a="http://schemas.openxmlformats.org/drawingml/2006/main">
              <a:ext uri="{FF2B5EF4-FFF2-40B4-BE49-F238E27FC236}">
                <a16:creationId xmlns:a16="http://schemas.microsoft.com/office/drawing/2014/main" id="{ED9587BF-5449-40F6-8B9C-8457673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3392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审核时需要判断</a:t>
            </a:r>
          </a:p>
        </p:txBody>
      </p:sp>
      <p:sp>
        <p:nvSpPr>
          <p:cNvPr id="45" name="!!review.questions">
            <a:extLst xmlns:a="http://schemas.openxmlformats.org/drawingml/2006/main">
              <a:ext uri="{FF2B5EF4-FFF2-40B4-BE49-F238E27FC236}">
                <a16:creationId xmlns:a16="http://schemas.microsoft.com/office/drawing/2014/main" id="{28094BD0-ED18-4893-8C9D-2F5124F3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76850"/>
            <a:ext cx="3409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稿件是否讲清增长原因？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是否保留后续观察事项？</a:t>
            </a:r>
          </a:p>
        </p:txBody>
      </p:sp>
      <p:sp>
        <p:nvSpPr>
          <p:cNvPr id="46" name="!!review.manual">
            <a:extLst xmlns:a="http://schemas.openxmlformats.org/drawingml/2006/main">
              <a:ext uri="{FF2B5EF4-FFF2-40B4-BE49-F238E27FC236}">
                <a16:creationId xmlns:a16="http://schemas.microsoft.com/office/drawing/2014/main" id="{6A1BF17F-ECC0-4762-8AF1-5CC8E53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逐段对照原文，还要核对产品名称、资料期次与风险提示</a:t>
            </a:r>
          </a:p>
        </p:txBody>
      </p:sp>
    </p:spTree>
    <p:extLst>
      <p:ext uri="{BB962C8B-B14F-4D97-AF65-F5344CB8AC3E}">
        <p14:creationId xmlns:p14="http://schemas.microsoft.com/office/powerpoint/2010/main" val="5430286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745DA633-59F8-4C06-B0DD-5EB5818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鹏华与盈米的内容审核应用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FA3EF60-52CB-4F94-8D64-C8FE57B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11377B5-39DA-4DC8-BD12-3266224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5556748-48D7-4746-A70F-B7E77CD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76E2B56-5500-42C7-A0DE-899AAED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18A9344-B040-45C4-8CDF-FB1B8B1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279469F-2BE8-45EF-B49A-2BA7C07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31C666F-590E-4C76-A5BA-79BAAC93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D846B4F-27F0-428C-889C-9426A4A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103F35C-EAF3-4520-B0E6-771F17D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46C6B6E-01B4-4392-A618-1708911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79B914C-B17D-494C-9FBE-CDB9211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8254037-5001-4340-97C6-96E96EE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43A6B5-594F-46E7-8407-DBD4D3D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D7A09F-B3D8-4104-9823-1B33DD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5E689B3-AA43-4CD5-A0E0-4093296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1CD8177B-52A5-4A71-A71F-86EF71EC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6E5478F-D620-490F-8F7F-FF8C2B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F209A2-E59C-45DE-9DB7-336AEBF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212B10-8C69-4534-82D4-3DCCAD1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F416165-0735-4F65-89E8-012F068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E1F1E5E5-40CE-4D61-BD6B-570442C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3272FDF2-64A1-4E21-B8D3-C2EC7BD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EE379F3-F070-4B9F-91D8-432BBA2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0F4248B-DE40-4C6D-BDB6-F03A4E9D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CD11514-8328-4016-9C25-13E2C10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B7D14879-D552-4CBF-985D-5FC3B023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7F94B2A-0E90-4719-95E6-A7E8690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512C7062-DDF4-435E-A3CD-F57A03D7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589C3508-9D19-4E84-97DD-2949A0B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239E749B-77B7-4C4D-AB02-04BD45FE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B1D8C527-C833-48CF-9F51-587329E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9A957EA3-3CEB-4521-97AE-8A29942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DC29D84F-CA9B-42DD-BF8C-1E3B62B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011A997-7ADC-4E48-BC84-AFB79B6C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6D899155-E1C5-4D1F-AB80-A5ACAE1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932A8166-320E-4AB8-96AD-1375848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334021BC-BE40-4D54-BFEC-7F5B668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8FB27FD-0B8D-4AE5-8AF2-F61AE6E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AE496EA0-CBF2-4D0C-B31D-9489FD6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comment.meta">
            <a:extLst xmlns:a="http://schemas.openxmlformats.org/drawingml/2006/main">
              <a:ext uri="{FF2B5EF4-FFF2-40B4-BE49-F238E27FC236}">
                <a16:creationId xmlns:a16="http://schemas.microsoft.com/office/drawing/2014/main" id="{0516F551-ABA5-49A2-A5C0-6D51ECB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71462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comment.meta.role">
            <a:extLst xmlns:a="http://schemas.openxmlformats.org/drawingml/2006/main">
              <a:ext uri="{FF2B5EF4-FFF2-40B4-BE49-F238E27FC236}">
                <a16:creationId xmlns:a16="http://schemas.microsoft.com/office/drawing/2014/main" id="{733AB508-7FDD-470A-88D1-B87EC088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575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LLM对照本期资料</a:t>
            </a:r>
          </a:p>
        </p:txBody>
      </p:sp>
      <p:sp>
        <p:nvSpPr>
          <p:cNvPr id="43" name="!!comment.meta.body">
            <a:extLst xmlns:a="http://schemas.openxmlformats.org/drawingml/2006/main">
              <a:ext uri="{FF2B5EF4-FFF2-40B4-BE49-F238E27FC236}">
                <a16:creationId xmlns:a16="http://schemas.microsoft.com/office/drawing/2014/main" id="{D460E881-54A7-4BDF-9F5A-DD9366F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956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名称与期次沿用旧版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建议按本期资料更新</a:t>
            </a:r>
          </a:p>
        </p:txBody>
      </p:sp>
      <p:sp>
        <p:nvSpPr>
          <p:cNvPr id="44" name="!!comment.meta.lead.1">
            <a:extLst xmlns:a="http://schemas.openxmlformats.org/drawingml/2006/main">
              <a:ext uri="{FF2B5EF4-FFF2-40B4-BE49-F238E27FC236}">
                <a16:creationId xmlns:a16="http://schemas.microsoft.com/office/drawing/2014/main" id="{4A726408-D6E2-4449-95E1-22A223E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400050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comment.meta.lead.2">
            <a:extLst xmlns:a="http://schemas.openxmlformats.org/drawingml/2006/main">
              <a:ext uri="{FF2B5EF4-FFF2-40B4-BE49-F238E27FC236}">
                <a16:creationId xmlns:a16="http://schemas.microsoft.com/office/drawing/2014/main" id="{90BB548C-D8A8-4D3F-9387-AC7B5075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3371850"/>
            <a:ext cx="953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comment.meta.lead.3.line">
            <a:extLst xmlns:a="http://schemas.openxmlformats.org/drawingml/2006/main">
              <a:ext uri="{FF2B5EF4-FFF2-40B4-BE49-F238E27FC236}">
                <a16:creationId xmlns:a16="http://schemas.microsoft.com/office/drawing/2014/main" id="{A9B780E2-CD14-449E-8717-08080B4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33718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comment.meta.lead.3.tip">
            <a:extLst xmlns:a="http://schemas.openxmlformats.org/drawingml/2006/main">
              <a:ext uri="{FF2B5EF4-FFF2-40B4-BE49-F238E27FC236}">
                <a16:creationId xmlns:a16="http://schemas.microsoft.com/office/drawing/2014/main" id="{D66A70C2-D835-4C40-AF8B-813606A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comment.view">
            <a:extLst xmlns:a="http://schemas.openxmlformats.org/drawingml/2006/main">
              <a:ext uri="{FF2B5EF4-FFF2-40B4-BE49-F238E27FC236}">
                <a16:creationId xmlns:a16="http://schemas.microsoft.com/office/drawing/2014/main" id="{19F841B2-ABAA-4D53-93C0-ED4C3B8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21957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!!comment.view.role">
            <a:extLst xmlns:a="http://schemas.openxmlformats.org/drawingml/2006/main">
              <a:ext uri="{FF2B5EF4-FFF2-40B4-BE49-F238E27FC236}">
                <a16:creationId xmlns:a16="http://schemas.microsoft.com/office/drawing/2014/main" id="{63204CAA-0807-4892-9F03-D92BEB9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LLM比较观点含义</a:t>
            </a:r>
          </a:p>
        </p:txBody>
      </p:sp>
      <p:sp>
        <p:nvSpPr>
          <p:cNvPr id="50" name="!!comment.view.body">
            <a:extLst xmlns:a="http://schemas.openxmlformats.org/drawingml/2006/main">
              <a:ext uri="{FF2B5EF4-FFF2-40B4-BE49-F238E27FC236}">
                <a16:creationId xmlns:a16="http://schemas.microsoft.com/office/drawing/2014/main" id="{E148B85C-5A00-40FD-A79A-A5A66A8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80060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原文：补库推动、持续性待观察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建议补充原因与观察事项</a:t>
            </a:r>
          </a:p>
        </p:txBody>
      </p:sp>
      <p:sp>
        <p:nvSpPr>
          <p:cNvPr id="51" name="!!comment.view.lead.1">
            <a:extLst xmlns:a="http://schemas.openxmlformats.org/drawingml/2006/main">
              <a:ext uri="{FF2B5EF4-FFF2-40B4-BE49-F238E27FC236}">
                <a16:creationId xmlns:a16="http://schemas.microsoft.com/office/drawing/2014/main" id="{CCD49E37-3C35-4B74-ABA7-FED93C8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535305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2" name="!!comment.view.lead.2">
            <a:extLst xmlns:a="http://schemas.openxmlformats.org/drawingml/2006/main">
              <a:ext uri="{FF2B5EF4-FFF2-40B4-BE49-F238E27FC236}">
                <a16:creationId xmlns:a16="http://schemas.microsoft.com/office/drawing/2014/main" id="{D3918FAA-B6DE-445F-8EE7-5516BEE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487680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3" name="!!comment.view.lead.3.line">
            <a:extLst xmlns:a="http://schemas.openxmlformats.org/drawingml/2006/main">
              <a:ext uri="{FF2B5EF4-FFF2-40B4-BE49-F238E27FC236}">
                <a16:creationId xmlns:a16="http://schemas.microsoft.com/office/drawing/2014/main" id="{A5C30522-FFE1-4D5C-84B7-2B62D90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487680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comment.view.lead.3.tip">
            <a:extLst xmlns:a="http://schemas.openxmlformats.org/drawingml/2006/main">
              <a:ext uri="{FF2B5EF4-FFF2-40B4-BE49-F238E27FC236}">
                <a16:creationId xmlns:a16="http://schemas.microsoft.com/office/drawing/2014/main" id="{F5C85213-2B88-4AEF-9FF3-46879C3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comment.risk">
            <a:extLst xmlns:a="http://schemas.openxmlformats.org/drawingml/2006/main">
              <a:ext uri="{FF2B5EF4-FFF2-40B4-BE49-F238E27FC236}">
                <a16:creationId xmlns:a16="http://schemas.microsoft.com/office/drawing/2014/main" id="{6F05D630-16FD-4C42-9655-CB9D13B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724525"/>
            <a:ext cx="3409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!!comment.risk.role">
            <a:extLst xmlns:a="http://schemas.openxmlformats.org/drawingml/2006/main">
              <a:ext uri="{FF2B5EF4-FFF2-40B4-BE49-F238E27FC236}">
                <a16:creationId xmlns:a16="http://schemas.microsoft.com/office/drawing/2014/main" id="{D6D017F8-6D58-4A96-9EB6-60D1ECB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867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LLM补全风险表述</a:t>
            </a:r>
          </a:p>
        </p:txBody>
      </p:sp>
      <p:sp>
        <p:nvSpPr>
          <p:cNvPr id="57" name="!!comment.risk.body">
            <a:extLst xmlns:a="http://schemas.openxmlformats.org/drawingml/2006/main">
              <a:ext uri="{FF2B5EF4-FFF2-40B4-BE49-F238E27FC236}">
                <a16:creationId xmlns:a16="http://schemas.microsoft.com/office/drawing/2014/main" id="{404AB861-D339-4660-931A-37711A6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055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资料：净值波动、本金亏损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建议写明两项风险</a:t>
            </a:r>
          </a:p>
        </p:txBody>
      </p:sp>
      <p:sp>
        <p:nvSpPr>
          <p:cNvPr id="58" name="!!comment.risk.lead.1">
            <a:extLst xmlns:a="http://schemas.openxmlformats.org/drawingml/2006/main">
              <a:ext uri="{FF2B5EF4-FFF2-40B4-BE49-F238E27FC236}">
                <a16:creationId xmlns:a16="http://schemas.microsoft.com/office/drawing/2014/main" id="{FCCFF75F-3FFE-4406-82DC-372FBED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61817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9" name="!!comment.risk.lead.2">
            <a:extLst xmlns:a="http://schemas.openxmlformats.org/drawingml/2006/main">
              <a:ext uri="{FF2B5EF4-FFF2-40B4-BE49-F238E27FC236}">
                <a16:creationId xmlns:a16="http://schemas.microsoft.com/office/drawing/2014/main" id="{85A2330F-C2F7-4A86-B36E-3F93DD6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1817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60" name="!!comment.risk.lead.3.line">
            <a:extLst xmlns:a="http://schemas.openxmlformats.org/drawingml/2006/main">
              <a:ext uri="{FF2B5EF4-FFF2-40B4-BE49-F238E27FC236}">
                <a16:creationId xmlns:a16="http://schemas.microsoft.com/office/drawing/2014/main" id="{502613B7-A952-4FF8-A55F-189C635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3817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61" name="!!comment.risk.lead.3.tip">
            <a:extLst xmlns:a="http://schemas.openxmlformats.org/drawingml/2006/main">
              <a:ext uri="{FF2B5EF4-FFF2-40B4-BE49-F238E27FC236}">
                <a16:creationId xmlns:a16="http://schemas.microsoft.com/office/drawing/2014/main" id="{24827BFB-8A2B-4F47-8CBD-C7F5901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324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2" name="!!review.case">
            <a:extLst xmlns:a="http://schemas.openxmlformats.org/drawingml/2006/main">
              <a:ext uri="{FF2B5EF4-FFF2-40B4-BE49-F238E27FC236}">
                <a16:creationId xmlns:a16="http://schemas.microsoft.com/office/drawing/2014/main" id="{646F0890-9EE9-4A19-BC7C-EA134DD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鹏华按规则给修改建议；盈米把预审、修改与复查接到写作过程</a:t>
            </a:r>
          </a:p>
        </p:txBody>
      </p:sp>
    </p:spTree>
    <p:extLst>
      <p:ext uri="{BB962C8B-B14F-4D97-AF65-F5344CB8AC3E}">
        <p14:creationId xmlns:p14="http://schemas.microsoft.com/office/powerpoint/2010/main" val="9102692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29" grpId="0" animBg="1"/>
      <p:bldP spid="3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35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38" grpId="0" animBg="1"/>
    </p:bld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E3D172EB-8A76-45B5-8B3A-CEE4174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公司材料编写与审核协作方案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80A2B50-A5CF-438A-81BB-6BAAF33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CE25929-9453-4FF3-909D-B9F93CA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D611174-0E9C-4C33-BD21-5E56020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6EF8FCB-5260-44A0-A044-2B34E02D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67966DB-18F1-46EF-9448-E0EFAFB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78C9C21-F042-406C-882D-2977A5B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33A0EB0-750A-4478-B1D8-A5F658B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5CE74F0-EA46-4F67-AF94-6D01F26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F15DB82-35E7-4930-996D-5695E0D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A375201-040A-4D97-A69F-47D7AC2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A5C035-C9A4-434B-AA94-2AE0FBF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58C387A-34B8-4581-8734-FD3F7F6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AF37300-D7B1-4043-B25B-A5C95B3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5A17230-0391-4903-B8F2-C916FA1D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B8CA77B-0738-4108-97B7-C0438EB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275494F-3E83-4248-BA25-7D1B108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5AE2F6-1004-4D1F-BB46-007F3F02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06A3432-6B72-436A-9B02-77EFCE8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64F6FB-735B-40F4-ADBE-09CA64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9F977634-5FF7-4438-87A6-3A2BC050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4395177-20D2-40BF-8713-5EA0C8C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55F645-C9B3-468C-9629-94C3F92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4A63D45D-F0FB-4608-A801-22DCAE52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review.inputs">
            <a:extLst xmlns:a="http://schemas.openxmlformats.org/drawingml/2006/main">
              <a:ext uri="{FF2B5EF4-FFF2-40B4-BE49-F238E27FC236}">
                <a16:creationId xmlns:a16="http://schemas.microsoft.com/office/drawing/2014/main" id="{6B6FBF65-7BF2-4284-8AF0-4EE8D7F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review.inputs.role">
            <a:extLst xmlns:a="http://schemas.openxmlformats.org/drawingml/2006/main">
              <a:ext uri="{FF2B5EF4-FFF2-40B4-BE49-F238E27FC236}">
                <a16:creationId xmlns:a16="http://schemas.microsoft.com/office/drawing/2014/main" id="{949CA8B3-8018-48B5-BDF1-EBA85FA3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同事提供稿件和本期资料</a:t>
            </a:r>
          </a:p>
        </p:txBody>
      </p:sp>
      <p:sp>
        <p:nvSpPr>
          <p:cNvPr id="27" name="!!review.inputs.body">
            <a:extLst xmlns:a="http://schemas.openxmlformats.org/drawingml/2006/main">
              <a:ext uri="{FF2B5EF4-FFF2-40B4-BE49-F238E27FC236}">
                <a16:creationId xmlns:a16="http://schemas.microsoft.com/office/drawing/2014/main" id="{B9984451-7FB5-4AB1-B77A-63E0F41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V1沟通稿、产品资料V2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完整路演：补库推动，持续性待观察</a:t>
            </a:r>
          </a:p>
        </p:txBody>
      </p:sp>
      <p:sp>
        <p:nvSpPr>
          <p:cNvPr id="28" name="!!review.tool">
            <a:extLst xmlns:a="http://schemas.openxmlformats.org/drawingml/2006/main">
              <a:ext uri="{FF2B5EF4-FFF2-40B4-BE49-F238E27FC236}">
                <a16:creationId xmlns:a16="http://schemas.microsoft.com/office/drawing/2014/main" id="{F013844C-4595-413B-929C-D0F1D53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49911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review.tool.role">
            <a:extLst xmlns:a="http://schemas.openxmlformats.org/drawingml/2006/main">
              <a:ext uri="{FF2B5EF4-FFF2-40B4-BE49-F238E27FC236}">
                <a16:creationId xmlns:a16="http://schemas.microsoft.com/office/drawing/2014/main" id="{7432D616-06FF-402D-8516-6F87DA4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文件工具定位差异</a:t>
            </a:r>
          </a:p>
        </p:txBody>
      </p:sp>
      <p:sp>
        <p:nvSpPr>
          <p:cNvPr id="30" name="!!review.tool.body">
            <a:extLst xmlns:a="http://schemas.openxmlformats.org/drawingml/2006/main">
              <a:ext uri="{FF2B5EF4-FFF2-40B4-BE49-F238E27FC236}">
                <a16:creationId xmlns:a16="http://schemas.microsoft.com/office/drawing/2014/main" id="{6195524E-BEFB-4F42-B94C-4A500961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33875"/>
            <a:ext cx="4610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匹配产品名称、资料期次及原文位置</a:t>
            </a:r>
          </a:p>
        </p:txBody>
      </p:sp>
      <p:sp>
        <p:nvSpPr>
          <p:cNvPr id="31" name="!!review.llm">
            <a:extLst xmlns:a="http://schemas.openxmlformats.org/drawingml/2006/main">
              <a:ext uri="{FF2B5EF4-FFF2-40B4-BE49-F238E27FC236}">
                <a16:creationId xmlns:a16="http://schemas.microsoft.com/office/drawing/2014/main" id="{0200C0B5-437F-4CFD-80E1-4383E699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4991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review.llm.role">
            <a:extLst xmlns:a="http://schemas.openxmlformats.org/drawingml/2006/main">
              <a:ext uri="{FF2B5EF4-FFF2-40B4-BE49-F238E27FC236}">
                <a16:creationId xmlns:a16="http://schemas.microsoft.com/office/drawing/2014/main" id="{42EAA367-D2F9-4D80-9F24-69A0DA6F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LLM解释并修改表述</a:t>
            </a:r>
          </a:p>
        </p:txBody>
      </p:sp>
      <p:sp>
        <p:nvSpPr>
          <p:cNvPr id="33" name="!!review.llm.body">
            <a:extLst xmlns:a="http://schemas.openxmlformats.org/drawingml/2006/main">
              <a:ext uri="{FF2B5EF4-FFF2-40B4-BE49-F238E27FC236}">
                <a16:creationId xmlns:a16="http://schemas.microsoft.com/office/drawing/2014/main" id="{4A0805C6-861C-4483-AD09-70D8056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4610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补充“渠道补库”这一经营原因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加入“补库持续性”的跟踪事项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按产品资料补充具体风险</a:t>
            </a:r>
          </a:p>
        </p:txBody>
      </p:sp>
      <p:sp>
        <p:nvSpPr>
          <p:cNvPr id="34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A553444-4C2D-4649-AD38-A93372D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5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3DE6A10-7944-4B16-A9F2-3302C35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6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656967B3-07A7-467F-9886-4BD8A96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7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01C98FF-BBFC-40FB-AECC-B2542A2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8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EB235ECF-7F75-4E81-93D3-78768C3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486D8C6D-8883-4869-8E24-6973321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0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A793B7AC-F68D-42B9-8716-200AB09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1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4AA8EA7A-453A-43AF-944D-2683421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0F7BBD74-0483-44A5-9E15-A7EE9C1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3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E04352E7-18D5-49E0-A73C-3ACCD38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4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423DB56-AA22-444E-BA03-65E31D7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BCA686C9-7C79-45B1-917B-00C3DA9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6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5DD441A2-A2FE-4F58-8737-93BF47D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甲公司销量提升与渠道补库有关，后续关注补库持续性及原材料成本</a:t>
            </a:r>
          </a:p>
        </p:txBody>
      </p:sp>
      <p:sp>
        <p:nvSpPr>
          <p:cNvPr id="47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A6A2D220-E74C-4A89-BA8B-F685EA7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F1F677E7-8D8E-403B-99AA-B20F8C5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9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8B732EC0-698C-4B93-AEFF-C66097B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50" name="!!review.toRevision.line">
            <a:extLst xmlns:a="http://schemas.openxmlformats.org/drawingml/2006/main">
              <a:ext uri="{FF2B5EF4-FFF2-40B4-BE49-F238E27FC236}">
                <a16:creationId xmlns:a16="http://schemas.microsoft.com/office/drawing/2014/main" id="{B36A578A-0706-408A-8D97-74F8320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59150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review.toRevision.tip">
            <a:extLst xmlns:a="http://schemas.openxmlformats.org/drawingml/2006/main">
              <a:ext uri="{FF2B5EF4-FFF2-40B4-BE49-F238E27FC236}">
                <a16:creationId xmlns:a16="http://schemas.microsoft.com/office/drawing/2014/main" id="{0EF93B2C-2019-46FD-A0DE-23BC3BC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5857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review.user">
            <a:extLst xmlns:a="http://schemas.openxmlformats.org/drawingml/2006/main">
              <a:ext uri="{FF2B5EF4-FFF2-40B4-BE49-F238E27FC236}">
                <a16:creationId xmlns:a16="http://schemas.microsoft.com/office/drawing/2014/main" id="{DAF1150B-B78D-4B6D-9264-BC67F40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913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作者确认改写，审核人查看原文、修改理由与修订稿</a:t>
            </a:r>
          </a:p>
        </p:txBody>
      </p:sp>
    </p:spTree>
    <p:extLst>
      <p:ext uri="{BB962C8B-B14F-4D97-AF65-F5344CB8AC3E}">
        <p14:creationId xmlns:p14="http://schemas.microsoft.com/office/powerpoint/2010/main" val="172611529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27C0E33E-6EBF-40D8-A4A2-9600F0B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风险提示的接收与分析过程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93D887C-5DA0-4214-BFC4-7B3C6C8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75169FA-27CB-470D-9718-9CF17AE0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AD4AE69-414F-43FB-9D48-BC6E25B8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5DDE96B-4B3C-4416-BCE4-475AB5E1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50F9FAB-DF90-4C57-A2C9-E3708F0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763B0D5-B088-45E6-BE6A-4A71287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8DB1936-41F6-4518-8172-D9C1E62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F43FADD-F3FA-40A2-8AF4-9699720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7EE3F83-AD94-42A8-938C-77A44C8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1502669-57CB-4F86-B5E9-3C7E868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8F6B4FE-25A5-46A9-B5A7-1B89E29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6B15E6F-C609-4383-BA78-80A3F8D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A45AC0-8E4A-45BD-A569-F6126D43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0D0F654-619F-4141-910E-0957A91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4B7AF18-CFDA-4A80-9876-5FF522E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CA246EF-7882-4169-8A0A-EA62837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8CB3D3F-3F1A-41FE-8AF2-EFAAA7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8D8308A-D4CF-49C5-BB0B-8E78BEB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A0C6835-130C-43E3-A9A5-DCADB7B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04C1A642-674F-4556-BD90-A2C19F1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719D71AB-0688-4476-BFAB-C374A4F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B4AF574-586D-4FD1-B905-16C2FA3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F716E9AD-AC69-493F-AC65-711CEDE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isk.mail.rule">
            <a:extLst xmlns:a="http://schemas.openxmlformats.org/drawingml/2006/main">
              <a:ext uri="{FF2B5EF4-FFF2-40B4-BE49-F238E27FC236}">
                <a16:creationId xmlns:a16="http://schemas.microsoft.com/office/drawing/2014/main" id="{533E6C77-3C63-470C-A001-C3AEB0E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2887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risk.mail.label">
            <a:extLst xmlns:a="http://schemas.openxmlformats.org/drawingml/2006/main">
              <a:ext uri="{FF2B5EF4-FFF2-40B4-BE49-F238E27FC236}">
                <a16:creationId xmlns:a16="http://schemas.microsoft.com/office/drawing/2014/main" id="{5B4DAD2A-8C5B-4309-8987-586966D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风险同事收到邮件</a:t>
            </a:r>
          </a:p>
        </p:txBody>
      </p:sp>
      <p:sp>
        <p:nvSpPr>
          <p:cNvPr id="27" name="!!risk.mail.text">
            <a:extLst xmlns:a="http://schemas.openxmlformats.org/drawingml/2006/main">
              <a:ext uri="{FF2B5EF4-FFF2-40B4-BE49-F238E27FC236}">
                <a16:creationId xmlns:a16="http://schemas.microsoft.com/office/drawing/2014/main" id="{07A97565-8EF5-40D5-B510-3C8FC89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7025"/>
            <a:ext cx="1053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甲公司被列入评级观察，</a:t>
            </a:r>
          </a:p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原因是经营现金流承压。</a:t>
            </a:r>
          </a:p>
        </p:txBody>
      </p:sp>
      <p:sp>
        <p:nvSpPr>
          <p:cNvPr id="28" name="!!risk.manual.title">
            <a:extLst xmlns:a="http://schemas.openxmlformats.org/drawingml/2006/main">
              <a:ext uri="{FF2B5EF4-FFF2-40B4-BE49-F238E27FC236}">
                <a16:creationId xmlns:a16="http://schemas.microsoft.com/office/drawing/2014/main" id="{4F65A6B6-AE2D-4C3E-A716-EEFA07F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14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风险同事接着查三件事</a:t>
            </a:r>
          </a:p>
        </p:txBody>
      </p:sp>
      <p:sp>
        <p:nvSpPr>
          <p:cNvPr id="29" name="!!risk.question.0">
            <a:extLst xmlns:a="http://schemas.openxmlformats.org/drawingml/2006/main">
              <a:ext uri="{FF2B5EF4-FFF2-40B4-BE49-F238E27FC236}">
                <a16:creationId xmlns:a16="http://schemas.microsoft.com/office/drawing/2014/main" id="{A1414D88-15DC-40CD-B94B-1CA23EB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question.0.role">
            <a:extLst xmlns:a="http://schemas.openxmlformats.org/drawingml/2006/main">
              <a:ext uri="{FF2B5EF4-FFF2-40B4-BE49-F238E27FC236}">
                <a16:creationId xmlns:a16="http://schemas.microsoft.com/office/drawing/2014/main" id="{AA1C929B-E372-4304-BEC1-94EF726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哪些产品相关？</a:t>
            </a:r>
          </a:p>
        </p:txBody>
      </p:sp>
      <p:sp>
        <p:nvSpPr>
          <p:cNvPr id="31" name="!!risk.question.0.body">
            <a:extLst xmlns:a="http://schemas.openxmlformats.org/drawingml/2006/main">
              <a:ext uri="{FF2B5EF4-FFF2-40B4-BE49-F238E27FC236}">
                <a16:creationId xmlns:a16="http://schemas.microsoft.com/office/drawing/2014/main" id="{72D7B9ED-FD9A-4CA8-AC71-97AD7BF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查持仓系统，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核对产品和数量</a:t>
            </a:r>
          </a:p>
        </p:txBody>
      </p:sp>
      <p:sp>
        <p:nvSpPr>
          <p:cNvPr id="32" name="!!risk.question.1">
            <a:extLst xmlns:a="http://schemas.openxmlformats.org/drawingml/2006/main">
              <a:ext uri="{FF2B5EF4-FFF2-40B4-BE49-F238E27FC236}">
                <a16:creationId xmlns:a16="http://schemas.microsoft.com/office/drawing/2014/main" id="{A5FA1DFD-DFAA-488A-9E99-213725CA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risk.question.1.role">
            <a:extLst xmlns:a="http://schemas.openxmlformats.org/drawingml/2006/main">
              <a:ext uri="{FF2B5EF4-FFF2-40B4-BE49-F238E27FC236}">
                <a16:creationId xmlns:a16="http://schemas.microsoft.com/office/drawing/2014/main" id="{D38BCA97-B0DD-417A-B38D-6188679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按什么要求跟踪？</a:t>
            </a:r>
          </a:p>
        </p:txBody>
      </p:sp>
      <p:sp>
        <p:nvSpPr>
          <p:cNvPr id="34" name="!!risk.question.1.body">
            <a:extLst xmlns:a="http://schemas.openxmlformats.org/drawingml/2006/main">
              <a:ext uri="{FF2B5EF4-FFF2-40B4-BE49-F238E27FC236}">
                <a16:creationId xmlns:a16="http://schemas.microsoft.com/office/drawing/2014/main" id="{3A146E06-9F05-4482-8E27-C78A89F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查合同、内控制度，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找对应条款</a:t>
            </a:r>
          </a:p>
        </p:txBody>
      </p:sp>
      <p:sp>
        <p:nvSpPr>
          <p:cNvPr id="35" name="!!risk.question.2">
            <a:extLst xmlns:a="http://schemas.openxmlformats.org/drawingml/2006/main">
              <a:ext uri="{FF2B5EF4-FFF2-40B4-BE49-F238E27FC236}">
                <a16:creationId xmlns:a16="http://schemas.microsoft.com/office/drawing/2014/main" id="{AF153C4D-70FF-4D86-8862-EB873F6C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905375"/>
            <a:ext cx="32194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risk.question.2.role">
            <a:extLst xmlns:a="http://schemas.openxmlformats.org/drawingml/2006/main">
              <a:ext uri="{FF2B5EF4-FFF2-40B4-BE49-F238E27FC236}">
                <a16:creationId xmlns:a16="http://schemas.microsoft.com/office/drawing/2014/main" id="{15C0AEDD-4610-4743-9637-9C804665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影响怎样解释？</a:t>
            </a:r>
          </a:p>
        </p:txBody>
      </p:sp>
      <p:sp>
        <p:nvSpPr>
          <p:cNvPr id="37" name="!!risk.question.2.body">
            <a:extLst xmlns:a="http://schemas.openxmlformats.org/drawingml/2006/main">
              <a:ext uri="{FF2B5EF4-FFF2-40B4-BE49-F238E27FC236}">
                <a16:creationId xmlns:a16="http://schemas.microsoft.com/office/drawing/2014/main" id="{C64D9E69-ACD1-478F-97B5-B82C59C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重读公司研究，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整理事件说明</a:t>
            </a:r>
          </a:p>
        </p:txBody>
      </p:sp>
      <p:sp>
        <p:nvSpPr>
          <p:cNvPr id="38" name="!!risk.repetition">
            <a:extLst xmlns:a="http://schemas.openxmlformats.org/drawingml/2006/main">
              <a:ext uri="{FF2B5EF4-FFF2-40B4-BE49-F238E27FC236}">
                <a16:creationId xmlns:a16="http://schemas.microsoft.com/office/drawing/2014/main" id="{D2574AD0-4225-45FA-8940-50C8C3B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逐封读邮件，再跨系统和文件查找同一发行人的信息</a:t>
            </a:r>
          </a:p>
        </p:txBody>
      </p:sp>
    </p:spTree>
    <p:extLst>
      <p:ext uri="{BB962C8B-B14F-4D97-AF65-F5344CB8AC3E}">
        <p14:creationId xmlns:p14="http://schemas.microsoft.com/office/powerpoint/2010/main" val="38944807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E57FC99A-F8F3-4769-9290-44ACF88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汇添富与天弘的风险支持应用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F7E4FB1-70B0-4D10-9894-262DA4D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0B8D5677-C96C-40B2-94D8-4E5A007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434F-EADE-4312-855A-B9417D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31973C1-A261-4AC1-AD4F-C4B7422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948101-8607-4E64-9931-E49AE28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149587-BBDC-4691-AC75-F7B7B7F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5233286-5E0F-4569-AF7C-BCC9783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6942148-3F28-43A7-9156-8AB9BA7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8505826-A9AF-4A56-9F36-FF806BE4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3CF0F03-AB08-47A0-AF80-682435C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A8571D-CD33-4E1C-917D-2E994B6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A99DDC4-BFAD-40E3-89B8-6FF40251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A96D1F-E828-4E87-9CB1-E8A4EA5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2BE4228-C9BB-4FC6-9766-064D0C8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AFC6DC8-5BC9-4D29-82DA-AFFEEA2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1657DA1-CA17-4BAA-8E1E-50D94B0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0FD6DE-A9EA-47F4-97F5-5A2635A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EB05B65D-FF14-4F9A-83C2-FA6BA58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8DC6A4D-81EF-4DBB-A2D1-3979FE52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A8A877E-7007-497B-A555-0748E4EF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1634F0-599C-4C28-9E63-8D56BB6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3A4F4B7A-0F79-432F-BA0D-C006E56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4" name="!!risk.htf">
            <a:extLst xmlns:a="http://schemas.openxmlformats.org/drawingml/2006/main">
              <a:ext uri="{FF2B5EF4-FFF2-40B4-BE49-F238E27FC236}">
                <a16:creationId xmlns:a16="http://schemas.microsoft.com/office/drawing/2014/main" id="{4EC5D846-1989-42C7-83AC-B2049EC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汇添富基金</a:t>
            </a:r>
          </a:p>
        </p:txBody>
      </p:sp>
      <p:sp>
        <p:nvSpPr>
          <p:cNvPr id="25" name="!!risk.th">
            <a:extLst xmlns:a="http://schemas.openxmlformats.org/drawingml/2006/main">
              <a:ext uri="{FF2B5EF4-FFF2-40B4-BE49-F238E27FC236}">
                <a16:creationId xmlns:a16="http://schemas.microsoft.com/office/drawing/2014/main" id="{DF8CE340-15DA-41C7-A380-FDDD099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天弘基金</a:t>
            </a:r>
          </a:p>
        </p:txBody>
      </p:sp>
      <p:sp>
        <p:nvSpPr>
          <p:cNvPr id="26" name="!!risk.mail.extract">
            <a:extLst xmlns:a="http://schemas.openxmlformats.org/drawingml/2006/main">
              <a:ext uri="{FF2B5EF4-FFF2-40B4-BE49-F238E27FC236}">
                <a16:creationId xmlns:a16="http://schemas.microsoft.com/office/drawing/2014/main" id="{2C96C24B-988C-4CA6-AEC4-B3904003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3847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risk.mail.extract.role">
            <a:extLst xmlns:a="http://schemas.openxmlformats.org/drawingml/2006/main">
              <a:ext uri="{FF2B5EF4-FFF2-40B4-BE49-F238E27FC236}">
                <a16:creationId xmlns:a16="http://schemas.microsoft.com/office/drawing/2014/main" id="{8704BD9F-A3C8-448D-B245-B0D80F4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LLM读托管行风控邮件</a:t>
            </a:r>
          </a:p>
        </p:txBody>
      </p:sp>
      <p:sp>
        <p:nvSpPr>
          <p:cNvPr id="28" name="!!risk.mail.extract.body">
            <a:extLst xmlns:a="http://schemas.openxmlformats.org/drawingml/2006/main">
              <a:ext uri="{FF2B5EF4-FFF2-40B4-BE49-F238E27FC236}">
                <a16:creationId xmlns:a16="http://schemas.microsoft.com/office/drawing/2014/main" id="{165C6267-A03A-4FDD-979B-B3A9A1E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提取涉及的风险内容，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送到风险人员工作台</a:t>
            </a:r>
          </a:p>
        </p:txBody>
      </p:sp>
      <p:sp>
        <p:nvSpPr>
          <p:cNvPr id="29" name="!!risk.rules.tool">
            <a:extLst xmlns:a="http://schemas.openxmlformats.org/drawingml/2006/main">
              <a:ext uri="{FF2B5EF4-FFF2-40B4-BE49-F238E27FC236}">
                <a16:creationId xmlns:a16="http://schemas.microsoft.com/office/drawing/2014/main" id="{A8C85FED-D72C-4A92-AE09-83C8B96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5772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rules.tool.role">
            <a:extLst xmlns:a="http://schemas.openxmlformats.org/drawingml/2006/main">
              <a:ext uri="{FF2B5EF4-FFF2-40B4-BE49-F238E27FC236}">
                <a16:creationId xmlns:a16="http://schemas.microsoft.com/office/drawing/2014/main" id="{26D001E4-F349-4E7F-8928-02BB449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系统保存规则与原文的对应</a:t>
            </a:r>
          </a:p>
        </p:txBody>
      </p:sp>
      <p:sp>
        <p:nvSpPr>
          <p:cNvPr id="31" name="!!risk.rules.tool.body">
            <a:extLst xmlns:a="http://schemas.openxmlformats.org/drawingml/2006/main">
              <a:ext uri="{FF2B5EF4-FFF2-40B4-BE49-F238E27FC236}">
                <a16:creationId xmlns:a16="http://schemas.microsoft.com/office/drawing/2014/main" id="{C7C432F3-9C82-4745-983A-26C46FE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风控规则关联法规、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内控制度和合同条款</a:t>
            </a:r>
          </a:p>
        </p:txBody>
      </p:sp>
      <p:sp>
        <p:nvSpPr>
          <p:cNvPr id="32" name="!!risk.rules.explain">
            <a:extLst xmlns:a="http://schemas.openxmlformats.org/drawingml/2006/main">
              <a:ext uri="{FF2B5EF4-FFF2-40B4-BE49-F238E27FC236}">
                <a16:creationId xmlns:a16="http://schemas.microsoft.com/office/drawing/2014/main" id="{55D21E29-38C9-4B35-A6CD-88BF0ED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LLM据原文解释触发规则的依据</a:t>
            </a:r>
          </a:p>
        </p:txBody>
      </p:sp>
      <p:sp>
        <p:nvSpPr>
          <p:cNvPr id="33" name="!!risk.event.input.rule">
            <a:extLst xmlns:a="http://schemas.openxmlformats.org/drawingml/2006/main">
              <a:ext uri="{FF2B5EF4-FFF2-40B4-BE49-F238E27FC236}">
                <a16:creationId xmlns:a16="http://schemas.microsoft.com/office/drawing/2014/main" id="{15EFA971-0BD2-496D-9F90-2DB319B5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9775" y="3038475"/>
            <a:ext cx="4962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risk.event.input.label">
            <a:extLst xmlns:a="http://schemas.openxmlformats.org/drawingml/2006/main">
              <a:ext uri="{FF2B5EF4-FFF2-40B4-BE49-F238E27FC236}">
                <a16:creationId xmlns:a16="http://schemas.microsoft.com/office/drawing/2014/main" id="{475F15CB-1EDA-402E-8470-ABE25C8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33725"/>
            <a:ext cx="496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事件材料</a:t>
            </a:r>
          </a:p>
        </p:txBody>
      </p:sp>
      <p:sp>
        <p:nvSpPr>
          <p:cNvPr id="35" name="!!risk.event.input.text">
            <a:extLst xmlns:a="http://schemas.openxmlformats.org/drawingml/2006/main">
              <a:ext uri="{FF2B5EF4-FFF2-40B4-BE49-F238E27FC236}">
                <a16:creationId xmlns:a16="http://schemas.microsoft.com/office/drawing/2014/main" id="{676C4CB2-8A4B-4A0B-A18B-9C7575B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4962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事件详情、历史相似事件、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产业链关联和市场情绪</a:t>
            </a:r>
          </a:p>
        </p:txBody>
      </p:sp>
      <p:sp>
        <p:nvSpPr>
          <p:cNvPr id="36" name="!!risk.event.llm">
            <a:extLst xmlns:a="http://schemas.openxmlformats.org/drawingml/2006/main">
              <a:ext uri="{FF2B5EF4-FFF2-40B4-BE49-F238E27FC236}">
                <a16:creationId xmlns:a16="http://schemas.microsoft.com/office/drawing/2014/main" id="{F278001A-1618-4002-9C73-D96BA63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657725"/>
            <a:ext cx="49625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!!risk.event.llm.role">
            <a:extLst xmlns:a="http://schemas.openxmlformats.org/drawingml/2006/main">
              <a:ext uri="{FF2B5EF4-FFF2-40B4-BE49-F238E27FC236}">
                <a16:creationId xmlns:a16="http://schemas.microsoft.com/office/drawing/2014/main" id="{6A2E1918-16B6-4F70-ACD3-688CA35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LLM组织事件解释</a:t>
            </a:r>
          </a:p>
        </p:txBody>
      </p:sp>
      <p:sp>
        <p:nvSpPr>
          <p:cNvPr id="38" name="!!risk.event.llm.body">
            <a:extLst xmlns:a="http://schemas.openxmlformats.org/drawingml/2006/main">
              <a:ext uri="{FF2B5EF4-FFF2-40B4-BE49-F238E27FC236}">
                <a16:creationId xmlns:a16="http://schemas.microsoft.com/office/drawing/2014/main" id="{7C05B855-7242-4EB3-9E63-522B36F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比较历史事件与当前情况，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梳理影响方向和相关事项</a:t>
            </a:r>
          </a:p>
        </p:txBody>
      </p:sp>
      <p:sp>
        <p:nvSpPr>
          <p:cNvPr id="39" name="!!risk.event.user">
            <a:extLst xmlns:a="http://schemas.openxmlformats.org/drawingml/2006/main">
              <a:ext uri="{FF2B5EF4-FFF2-40B4-BE49-F238E27FC236}">
                <a16:creationId xmlns:a16="http://schemas.microsoft.com/office/drawing/2014/main" id="{E5514AAB-7FC0-4AEB-B073-C0750F7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投资与风险同事据此讨论事件影响</a:t>
            </a:r>
          </a:p>
        </p:txBody>
      </p:sp>
    </p:spTree>
    <p:extLst>
      <p:ext uri="{BB962C8B-B14F-4D97-AF65-F5344CB8AC3E}">
        <p14:creationId xmlns:p14="http://schemas.microsoft.com/office/powerpoint/2010/main" val="76617004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!!heading">
            <a:extLst xmlns:a="http://schemas.openxmlformats.org/drawingml/2006/main">
              <a:ext uri="{FF2B5EF4-FFF2-40B4-BE49-F238E27FC236}">
                <a16:creationId xmlns:a16="http://schemas.microsoft.com/office/drawing/2014/main" id="{6665A797-8697-48F8-B5B1-C873183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公司风险分析与跟进方案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25CA9DC-989F-4B1B-9FF9-E79711C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101213-9505-4185-9780-E112422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65A94EE-E53B-4CA0-A398-4CA8044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7E7B94F-9B84-462A-A58A-A59E07C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B7FE2A7-53D4-4400-808C-0C7C11F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9B33CC5-0AB3-47B1-8F78-BB8E4AC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84D1A33-9912-4C14-89D8-4E4AF023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D6DC21D-20CF-4E27-9384-7B294C5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73591A2-3F46-4630-8CC0-2457C60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5453AD-5C39-4EA1-851E-4FC7B41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A4A6956-1103-4CCA-9AA5-E65E35BF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F009B0A-3AFA-4EBE-A38B-3120AAE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7820A61-9144-40AB-A567-2FD9BF64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7D16196-6A06-4EAD-BEA4-D3A76E9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A16642-4FA8-4788-ADD3-9A88F82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C166CE4-1AB9-4A90-82E7-318745C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8A7075E-654F-4903-8F3E-9D10403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D61A937-58E8-4876-BF48-01055E1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26899E3-4FE3-46CB-A029-560BD4B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4DEB5FD5-9B8F-435B-912E-B480DAF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34EEA10-7C70-4533-A6BF-F008ECB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95AA3B6-853B-4193-A806-30821F58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0147C448-9959-4CC7-A40A-6E9E49CC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5" name="!!risk.evidence.mail.rule">
            <a:extLst xmlns:a="http://schemas.openxmlformats.org/drawingml/2006/main">
              <a:ext uri="{FF2B5EF4-FFF2-40B4-BE49-F238E27FC236}">
                <a16:creationId xmlns:a16="http://schemas.microsoft.com/office/drawing/2014/main" id="{1B006AB4-516E-4383-8827-1EAFF63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0030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risk.evidence.mail.label">
            <a:extLst xmlns:a="http://schemas.openxmlformats.org/drawingml/2006/main">
              <a:ext uri="{FF2B5EF4-FFF2-40B4-BE49-F238E27FC236}">
                <a16:creationId xmlns:a16="http://schemas.microsoft.com/office/drawing/2014/main" id="{0127A93A-101C-4DD3-8B1C-A8090F7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9555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邮件原文</a:t>
            </a:r>
          </a:p>
        </p:txBody>
      </p:sp>
      <p:sp>
        <p:nvSpPr>
          <p:cNvPr id="27" name="!!risk.evidence.mail.text">
            <a:extLst xmlns:a="http://schemas.openxmlformats.org/drawingml/2006/main">
              <a:ext uri="{FF2B5EF4-FFF2-40B4-BE49-F238E27FC236}">
                <a16:creationId xmlns:a16="http://schemas.microsoft.com/office/drawing/2014/main" id="{58ACD7FE-CD92-4B47-8078-3AAF77F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321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甲公司评级观察，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经营现金流承压。</a:t>
            </a:r>
          </a:p>
        </p:txBody>
      </p:sp>
      <p:sp>
        <p:nvSpPr>
          <p:cNvPr id="28" name="!!risk.evidence.system">
            <a:extLst xmlns:a="http://schemas.openxmlformats.org/drawingml/2006/main">
              <a:ext uri="{FF2B5EF4-FFF2-40B4-BE49-F238E27FC236}">
                <a16:creationId xmlns:a16="http://schemas.microsoft.com/office/drawing/2014/main" id="{0F30088A-0318-4C51-B02D-0ECDE4C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32194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risk.evidence.system.role">
            <a:extLst xmlns:a="http://schemas.openxmlformats.org/drawingml/2006/main">
              <a:ext uri="{FF2B5EF4-FFF2-40B4-BE49-F238E27FC236}">
                <a16:creationId xmlns:a16="http://schemas.microsoft.com/office/drawing/2014/main" id="{940BD24B-5015-4285-AD2C-9AE9D044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持仓查询返回</a:t>
            </a:r>
          </a:p>
        </p:txBody>
      </p:sp>
      <p:sp>
        <p:nvSpPr>
          <p:cNvPr id="30" name="!!risk.evidence.system.body">
            <a:extLst xmlns:a="http://schemas.openxmlformats.org/drawingml/2006/main">
              <a:ext uri="{FF2B5EF4-FFF2-40B4-BE49-F238E27FC236}">
                <a16:creationId xmlns:a16="http://schemas.microsoft.com/office/drawing/2014/main" id="{8151926C-CC2A-4BAD-886B-17BD14A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6275"/>
            <a:ext cx="2838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产品A持有甲公司债券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1" name="!!risk.evidence.rule.rule">
            <a:extLst xmlns:a="http://schemas.openxmlformats.org/drawingml/2006/main">
              <a:ext uri="{FF2B5EF4-FFF2-40B4-BE49-F238E27FC236}">
                <a16:creationId xmlns:a16="http://schemas.microsoft.com/office/drawing/2014/main" id="{74F2AE03-8D1F-430A-8F72-47E4855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55721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2" name="!!risk.evidence.rule.label">
            <a:extLst xmlns:a="http://schemas.openxmlformats.org/drawingml/2006/main">
              <a:ext uri="{FF2B5EF4-FFF2-40B4-BE49-F238E27FC236}">
                <a16:creationId xmlns:a16="http://schemas.microsoft.com/office/drawing/2014/main" id="{3E3D88E2-5E5B-4701-909D-F70DD71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673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跟踪要求</a:t>
            </a:r>
          </a:p>
        </p:txBody>
      </p:sp>
      <p:sp>
        <p:nvSpPr>
          <p:cNvPr id="33" name="!!risk.evidence.rule.text">
            <a:extLst xmlns:a="http://schemas.openxmlformats.org/drawingml/2006/main">
              <a:ext uri="{FF2B5EF4-FFF2-40B4-BE49-F238E27FC236}">
                <a16:creationId xmlns:a16="http://schemas.microsoft.com/office/drawing/2014/main" id="{21D46BBB-7902-4960-BAD4-218CED5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10275"/>
            <a:ext cx="3219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信用事件发生后，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更新发行人研究。</a:t>
            </a:r>
          </a:p>
        </p:txBody>
      </p:sp>
      <p:sp>
        <p:nvSpPr>
          <p:cNvPr id="34" name="!!risk.llm">
            <a:extLst xmlns:a="http://schemas.openxmlformats.org/drawingml/2006/main">
              <a:ext uri="{FF2B5EF4-FFF2-40B4-BE49-F238E27FC236}">
                <a16:creationId xmlns:a16="http://schemas.microsoft.com/office/drawing/2014/main" id="{2F773BA0-EE77-430B-8B40-09A7F5F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47975"/>
            <a:ext cx="3219450" cy="286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risk.llm.role">
            <a:extLst xmlns:a="http://schemas.openxmlformats.org/drawingml/2006/main">
              <a:ext uri="{FF2B5EF4-FFF2-40B4-BE49-F238E27FC236}">
                <a16:creationId xmlns:a16="http://schemas.microsoft.com/office/drawing/2014/main" id="{7CA2F272-00DE-485C-89E4-727991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LLM连接事件与资料</a:t>
            </a:r>
          </a:p>
        </p:txBody>
      </p:sp>
      <p:sp>
        <p:nvSpPr>
          <p:cNvPr id="36" name="!!risk.llm.body">
            <a:extLst xmlns:a="http://schemas.openxmlformats.org/drawingml/2006/main">
              <a:ext uri="{FF2B5EF4-FFF2-40B4-BE49-F238E27FC236}">
                <a16:creationId xmlns:a16="http://schemas.microsoft.com/office/drawing/2014/main" id="{D643EA18-F113-4906-A92C-3A7D16B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28384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识别邮件中的发行人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把持仓对应到产品A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对照条款和既有研究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组织影响说明</a:t>
            </a:r>
          </a:p>
        </p:txBody>
      </p:sp>
      <p:sp>
        <p:nvSpPr>
          <p:cNvPr id="37" name="!!risk.result">
            <a:extLst xmlns:a="http://schemas.openxmlformats.org/drawingml/2006/main">
              <a:ext uri="{FF2B5EF4-FFF2-40B4-BE49-F238E27FC236}">
                <a16:creationId xmlns:a16="http://schemas.microsoft.com/office/drawing/2014/main" id="{FC436226-9644-445E-A759-19AEDB3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47975"/>
            <a:ext cx="321945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risk.result.role">
            <a:extLst xmlns:a="http://schemas.openxmlformats.org/drawingml/2006/main">
              <a:ext uri="{FF2B5EF4-FFF2-40B4-BE49-F238E27FC236}">
                <a16:creationId xmlns:a16="http://schemas.microsoft.com/office/drawing/2014/main" id="{5B977B75-0E21-449C-853F-A1F3540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影响说明与后续事项</a:t>
            </a:r>
          </a:p>
        </p:txBody>
      </p:sp>
      <p:sp>
        <p:nvSpPr>
          <p:cNvPr id="39" name="!!risk.result.body">
            <a:extLst xmlns:a="http://schemas.openxmlformats.org/drawingml/2006/main">
              <a:ext uri="{FF2B5EF4-FFF2-40B4-BE49-F238E27FC236}">
                <a16:creationId xmlns:a16="http://schemas.microsoft.com/office/drawing/2014/main" id="{349A0B56-D979-4525-9FB2-A31B8FD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29000"/>
            <a:ext cx="28384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现金流承压涉及偿债能力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需要更新信用判断。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相关产品：产品A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补充研究：现金流变化</a:t>
            </a:r>
          </a:p>
        </p:txBody>
      </p:sp>
      <p:sp>
        <p:nvSpPr>
          <p:cNvPr id="40" name="!!risk.material.bus">
            <a:extLst xmlns:a="http://schemas.openxmlformats.org/drawingml/2006/main">
              <a:ext uri="{FF2B5EF4-FFF2-40B4-BE49-F238E27FC236}">
                <a16:creationId xmlns:a16="http://schemas.microsoft.com/office/drawing/2014/main" id="{B3CB2ACB-A09B-4BEB-BDE7-DA73399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3143250"/>
            <a:ext cx="953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1" name="!!risk.material.in0">
            <a:extLst xmlns:a="http://schemas.openxmlformats.org/drawingml/2006/main">
              <a:ext uri="{FF2B5EF4-FFF2-40B4-BE49-F238E27FC236}">
                <a16:creationId xmlns:a16="http://schemas.microsoft.com/office/drawing/2014/main" id="{E025791B-4AB5-4230-8921-3B54E24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31432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isk.material.in1">
            <a:extLst xmlns:a="http://schemas.openxmlformats.org/drawingml/2006/main">
              <a:ext uri="{FF2B5EF4-FFF2-40B4-BE49-F238E27FC236}">
                <a16:creationId xmlns:a16="http://schemas.microsoft.com/office/drawing/2014/main" id="{A20C9CB4-D52F-4959-81C2-3044734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45624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isk.material.in2">
            <a:extLst xmlns:a="http://schemas.openxmlformats.org/drawingml/2006/main">
              <a:ext uri="{FF2B5EF4-FFF2-40B4-BE49-F238E27FC236}">
                <a16:creationId xmlns:a16="http://schemas.microsoft.com/office/drawing/2014/main" id="{55E3718C-D443-418B-A806-F098665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6153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isk.toLLM.line">
            <a:extLst xmlns:a="http://schemas.openxmlformats.org/drawingml/2006/main">
              <a:ext uri="{FF2B5EF4-FFF2-40B4-BE49-F238E27FC236}">
                <a16:creationId xmlns:a16="http://schemas.microsoft.com/office/drawing/2014/main" id="{B69E0E72-A92F-4076-B1B2-2DC5980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43053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risk.toLLM.tip">
            <a:extLst xmlns:a="http://schemas.openxmlformats.org/drawingml/2006/main">
              <a:ext uri="{FF2B5EF4-FFF2-40B4-BE49-F238E27FC236}">
                <a16:creationId xmlns:a16="http://schemas.microsoft.com/office/drawing/2014/main" id="{08DB6714-DDF1-48E3-B59C-F46D240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risk.toResult.line">
            <a:extLst xmlns:a="http://schemas.openxmlformats.org/drawingml/2006/main">
              <a:ext uri="{FF2B5EF4-FFF2-40B4-BE49-F238E27FC236}">
                <a16:creationId xmlns:a16="http://schemas.microsoft.com/office/drawing/2014/main" id="{6A8D3F48-CF93-45D2-8BAA-7C3A29A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053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risk.toResult.tip">
            <a:extLst xmlns:a="http://schemas.openxmlformats.org/drawingml/2006/main">
              <a:ext uri="{FF2B5EF4-FFF2-40B4-BE49-F238E27FC236}">
                <a16:creationId xmlns:a16="http://schemas.microsoft.com/office/drawing/2014/main" id="{375F9244-6C33-47D6-8914-2AC63819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risk.user">
            <a:extLst xmlns:a="http://schemas.openxmlformats.org/drawingml/2006/main">
              <a:ext uri="{FF2B5EF4-FFF2-40B4-BE49-F238E27FC236}">
                <a16:creationId xmlns:a16="http://schemas.microsoft.com/office/drawing/2014/main" id="{B077DB86-5A12-4801-B736-7C8D9C3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风险同事复核持仓与条款，研究员补充分析，投资经理讨论应对</a:t>
            </a:r>
          </a:p>
        </p:txBody>
      </p:sp>
    </p:spTree>
    <p:extLst>
      <p:ext uri="{BB962C8B-B14F-4D97-AF65-F5344CB8AC3E}">
        <p14:creationId xmlns:p14="http://schemas.microsoft.com/office/powerpoint/2010/main" val="207652083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581D4F3E-B175-4AD5-B246-B57994F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运营单据与文件的处理过程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F1D7A3-2E4E-46D9-B8E5-2C0695D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0F6E32F-8784-465F-B26A-12A4A7F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8DD125A-940F-48FA-86EA-4F2C4FBE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DB15840-6212-401E-B1A5-83416E6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889397B-6339-4D70-83AF-B5E640A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70781A8-CC81-4CD0-938E-055E779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91EE694D-C5A2-4BDC-AE66-B594A57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02E29F6-DD85-4F55-9CDB-D4EAED3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18D77E2-486C-4B46-86BA-2E4537C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6598E9C-5EED-4DCE-9159-6AC5511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1F7A428-B138-4CF8-B547-01A6A2B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A070D15-E436-4E8C-8ACE-BEEB483F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57B0712-6D99-4236-9552-B3894510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2FDD01C-407E-4BED-8FAB-0A99473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2ED54EB-B6E3-4DBB-A598-F84520E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CAA75D7-01C1-4EBA-A832-4CD1E4C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07291F4-4405-48B2-B905-E15CB39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68DB3DE-C20D-4DB5-BEE1-A1CCA8E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CB5202-CB2D-477E-BD8B-7DEDF70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22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EC30EA6-6AF3-41A0-B695-3D5C6F2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531BCD6B-3BB3-438A-946D-D5E9C54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D72AEAE-5DD9-45B3-9EC0-B1F983A7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50BBBBC-B717-435D-8A83-9C3936A1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ops.head0">
            <a:extLst xmlns:a="http://schemas.openxmlformats.org/drawingml/2006/main">
              <a:ext uri="{FF2B5EF4-FFF2-40B4-BE49-F238E27FC236}">
                <a16:creationId xmlns:a16="http://schemas.microsoft.com/office/drawing/2014/main" id="{3DF6BBD7-C7C9-43B9-B95A-25DE6BF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接收的材料</a:t>
            </a:r>
          </a:p>
        </p:txBody>
      </p:sp>
      <p:sp>
        <p:nvSpPr>
          <p:cNvPr id="26" name="!!ops.head1">
            <a:extLst xmlns:a="http://schemas.openxmlformats.org/drawingml/2006/main">
              <a:ext uri="{FF2B5EF4-FFF2-40B4-BE49-F238E27FC236}">
                <a16:creationId xmlns:a16="http://schemas.microsoft.com/office/drawing/2014/main" id="{A08C58A4-8632-480D-BA36-0C03242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运营同事完成</a:t>
            </a:r>
          </a:p>
        </p:txBody>
      </p:sp>
      <p:sp>
        <p:nvSpPr>
          <p:cNvPr id="27" name="!!ops.head2">
            <a:extLst xmlns:a="http://schemas.openxmlformats.org/drawingml/2006/main">
              <a:ext uri="{FF2B5EF4-FFF2-40B4-BE49-F238E27FC236}">
                <a16:creationId xmlns:a16="http://schemas.microsoft.com/office/drawing/2014/main" id="{A7C73694-6277-4DE8-B0B0-45B13F9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保存的结果</a:t>
            </a:r>
          </a:p>
        </p:txBody>
      </p:sp>
      <p:sp>
        <p:nvSpPr>
          <p:cNvPr id="28" name="!!ops.row0.0">
            <a:extLst xmlns:a="http://schemas.openxmlformats.org/drawingml/2006/main">
              <a:ext uri="{FF2B5EF4-FFF2-40B4-BE49-F238E27FC236}">
                <a16:creationId xmlns:a16="http://schemas.microsoft.com/office/drawing/2014/main" id="{E9D200A5-5D8C-4DDC-907E-CAE7EE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传真与扫描件</a:t>
            </a:r>
          </a:p>
        </p:txBody>
      </p:sp>
      <p:sp>
        <p:nvSpPr>
          <p:cNvPr id="29" name="!!ops.row0.1">
            <a:extLst xmlns:a="http://schemas.openxmlformats.org/drawingml/2006/main">
              <a:ext uri="{FF2B5EF4-FFF2-40B4-BE49-F238E27FC236}">
                <a16:creationId xmlns:a16="http://schemas.microsoft.com/office/drawing/2014/main" id="{D401D70E-67FD-428A-BA8A-0E2D2EA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抄录字段后逐项核对</a:t>
            </a:r>
          </a:p>
        </p:txBody>
      </p:sp>
      <p:sp>
        <p:nvSpPr>
          <p:cNvPr id="30" name="!!ops.row0.2">
            <a:extLst xmlns:a="http://schemas.openxmlformats.org/drawingml/2006/main">
              <a:ext uri="{FF2B5EF4-FFF2-40B4-BE49-F238E27FC236}">
                <a16:creationId xmlns:a16="http://schemas.microsoft.com/office/drawing/2014/main" id="{08B87D0C-09E5-47F3-B927-6294F840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8612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业务记录</a:t>
            </a:r>
          </a:p>
        </p:txBody>
      </p:sp>
      <p:sp>
        <p:nvSpPr>
          <p:cNvPr id="31" name="!!ops.a0.line">
            <a:extLst xmlns:a="http://schemas.openxmlformats.org/drawingml/2006/main">
              <a:ext uri="{FF2B5EF4-FFF2-40B4-BE49-F238E27FC236}">
                <a16:creationId xmlns:a16="http://schemas.microsoft.com/office/drawing/2014/main" id="{78CFA787-A4B9-4C14-9540-842F7EF5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ops.a0.tip">
            <a:extLst xmlns:a="http://schemas.openxmlformats.org/drawingml/2006/main">
              <a:ext uri="{FF2B5EF4-FFF2-40B4-BE49-F238E27FC236}">
                <a16:creationId xmlns:a16="http://schemas.microsoft.com/office/drawing/2014/main" id="{03287B7D-BA8C-4BEE-BD07-7B886CD7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ops.b0.line">
            <a:extLst xmlns:a="http://schemas.openxmlformats.org/drawingml/2006/main">
              <a:ext uri="{FF2B5EF4-FFF2-40B4-BE49-F238E27FC236}">
                <a16:creationId xmlns:a16="http://schemas.microsoft.com/office/drawing/2014/main" id="{2E0AE523-A8A6-48FF-A7DF-24C56F4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ops.b0.tip">
            <a:extLst xmlns:a="http://schemas.openxmlformats.org/drawingml/2006/main">
              <a:ext uri="{FF2B5EF4-FFF2-40B4-BE49-F238E27FC236}">
                <a16:creationId xmlns:a16="http://schemas.microsoft.com/office/drawing/2014/main" id="{B6901E47-BF86-4870-8285-D7509557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ops.row1.0">
            <a:extLst xmlns:a="http://schemas.openxmlformats.org/drawingml/2006/main">
              <a:ext uri="{FF2B5EF4-FFF2-40B4-BE49-F238E27FC236}">
                <a16:creationId xmlns:a16="http://schemas.microsoft.com/office/drawing/2014/main" id="{8A1775D7-BB68-48BC-B0F1-4B801AC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 V1 / V2</a:t>
            </a:r>
          </a:p>
        </p:txBody>
      </p:sp>
      <p:sp>
        <p:nvSpPr>
          <p:cNvPr id="36" name="!!ops.row1.1">
            <a:extLst xmlns:a="http://schemas.openxmlformats.org/drawingml/2006/main">
              <a:ext uri="{FF2B5EF4-FFF2-40B4-BE49-F238E27FC236}">
                <a16:creationId xmlns:a16="http://schemas.microsoft.com/office/drawing/2014/main" id="{80170571-9732-40DC-9957-200799CC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逐段找改动、解释含义</a:t>
            </a:r>
          </a:p>
        </p:txBody>
      </p:sp>
      <p:sp>
        <p:nvSpPr>
          <p:cNvPr id="37" name="!!ops.row1.2">
            <a:extLst xmlns:a="http://schemas.openxmlformats.org/drawingml/2006/main">
              <a:ext uri="{FF2B5EF4-FFF2-40B4-BE49-F238E27FC236}">
                <a16:creationId xmlns:a16="http://schemas.microsoft.com/office/drawing/2014/main" id="{D86BCAF9-7E3C-417B-B881-C1F91DA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91050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差异清单</a:t>
            </a:r>
          </a:p>
        </p:txBody>
      </p:sp>
      <p:sp>
        <p:nvSpPr>
          <p:cNvPr id="38" name="!!ops.a1.line">
            <a:extLst xmlns:a="http://schemas.openxmlformats.org/drawingml/2006/main">
              <a:ext uri="{FF2B5EF4-FFF2-40B4-BE49-F238E27FC236}">
                <a16:creationId xmlns:a16="http://schemas.microsoft.com/office/drawing/2014/main" id="{5D668E37-2D2A-4335-B396-5EB601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ops.a1.tip">
            <a:extLst xmlns:a="http://schemas.openxmlformats.org/drawingml/2006/main">
              <a:ext uri="{FF2B5EF4-FFF2-40B4-BE49-F238E27FC236}">
                <a16:creationId xmlns:a16="http://schemas.microsoft.com/office/drawing/2014/main" id="{22142BEB-2C40-4B12-B457-611199A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ops.b1.line">
            <a:extLst xmlns:a="http://schemas.openxmlformats.org/drawingml/2006/main">
              <a:ext uri="{FF2B5EF4-FFF2-40B4-BE49-F238E27FC236}">
                <a16:creationId xmlns:a16="http://schemas.microsoft.com/office/drawing/2014/main" id="{B225E541-2932-4E92-BE67-E26987D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ops.b1.tip">
            <a:extLst xmlns:a="http://schemas.openxmlformats.org/drawingml/2006/main">
              <a:ext uri="{FF2B5EF4-FFF2-40B4-BE49-F238E27FC236}">
                <a16:creationId xmlns:a16="http://schemas.microsoft.com/office/drawing/2014/main" id="{7134E3F2-6A09-4868-9B21-2F8BB1B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ops.row2.0">
            <a:extLst xmlns:a="http://schemas.openxmlformats.org/drawingml/2006/main">
              <a:ext uri="{FF2B5EF4-FFF2-40B4-BE49-F238E27FC236}">
                <a16:creationId xmlns:a16="http://schemas.microsoft.com/office/drawing/2014/main" id="{E879BCAA-792A-44E8-8C92-465B3EA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同类电子文件</a:t>
            </a:r>
          </a:p>
        </p:txBody>
      </p:sp>
      <p:sp>
        <p:nvSpPr>
          <p:cNvPr id="43" name="!!ops.row2.1">
            <a:extLst xmlns:a="http://schemas.openxmlformats.org/drawingml/2006/main">
              <a:ext uri="{FF2B5EF4-FFF2-40B4-BE49-F238E27FC236}">
                <a16:creationId xmlns:a16="http://schemas.microsoft.com/office/drawing/2014/main" id="{B3CB258D-EEE7-425F-B386-7D4A4EF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逐份修改同一内容</a:t>
            </a:r>
          </a:p>
        </p:txBody>
      </p:sp>
      <p:sp>
        <p:nvSpPr>
          <p:cNvPr id="44" name="!!ops.row2.2">
            <a:extLst xmlns:a="http://schemas.openxmlformats.org/drawingml/2006/main">
              <a:ext uri="{FF2B5EF4-FFF2-40B4-BE49-F238E27FC236}">
                <a16:creationId xmlns:a16="http://schemas.microsoft.com/office/drawing/2014/main" id="{6BB269FE-A238-4D19-B87E-3A8B648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95975"/>
            <a:ext cx="3333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5" name="!!ops.a2.line">
            <a:extLst xmlns:a="http://schemas.openxmlformats.org/drawingml/2006/main">
              <a:ext uri="{FF2B5EF4-FFF2-40B4-BE49-F238E27FC236}">
                <a16:creationId xmlns:a16="http://schemas.microsoft.com/office/drawing/2014/main" id="{910FD67C-8AAF-4D5C-AD11-EC5006A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ps.a2.tip">
            <a:extLst xmlns:a="http://schemas.openxmlformats.org/drawingml/2006/main">
              <a:ext uri="{FF2B5EF4-FFF2-40B4-BE49-F238E27FC236}">
                <a16:creationId xmlns:a16="http://schemas.microsoft.com/office/drawing/2014/main" id="{36E74081-682A-4C45-917D-9332967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ps.b2.line">
            <a:extLst xmlns:a="http://schemas.openxmlformats.org/drawingml/2006/main">
              <a:ext uri="{FF2B5EF4-FFF2-40B4-BE49-F238E27FC236}">
                <a16:creationId xmlns:a16="http://schemas.microsoft.com/office/drawing/2014/main" id="{3177CE8B-1BB2-4840-9963-868AF1D7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ops.b2.tip">
            <a:extLst xmlns:a="http://schemas.openxmlformats.org/drawingml/2006/main">
              <a:ext uri="{FF2B5EF4-FFF2-40B4-BE49-F238E27FC236}">
                <a16:creationId xmlns:a16="http://schemas.microsoft.com/office/drawing/2014/main" id="{56F1CB6D-CC4F-44FD-8C89-BCEA6F1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ops.repetition">
            <a:extLst xmlns:a="http://schemas.openxmlformats.org/drawingml/2006/main">
              <a:ext uri="{FF2B5EF4-FFF2-40B4-BE49-F238E27FC236}">
                <a16:creationId xmlns:a16="http://schemas.microsoft.com/office/drawing/2014/main" id="{3C7C8804-FFDD-4E6D-B23D-0EEABDC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费时之处：从文件搬运信息，阅读上下文解释修改含义</a:t>
            </a:r>
          </a:p>
        </p:txBody>
      </p:sp>
    </p:spTree>
    <p:extLst>
      <p:ext uri="{BB962C8B-B14F-4D97-AF65-F5344CB8AC3E}">
        <p14:creationId xmlns:p14="http://schemas.microsoft.com/office/powerpoint/2010/main" val="121410002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EF0EB7BB-EEE7-46D7-9B11-C1BBFA5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华安与工银瑞信的文档处理应用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447476D9-1BC6-4207-A5F9-2F35265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C7B4497-08B8-4D50-B6B1-93429D5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4EACF21-5C99-4C90-BED1-91017DF6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FA73B3-7751-4245-8662-00131AA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6F5EA55-5E0C-484F-94F7-BC0F7FD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5785669-3FB8-49BB-9A8D-06B7211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D54AF80F-125D-4FF1-8E7B-0C3CEA3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E232674-E0FA-44E6-9B4C-4627FEB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0E4031B-FB19-45D5-AEEF-09989AC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10CE2BF-02BD-4EE7-8826-0319193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7E70520-F157-4067-83EB-D1F378A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029B66-AD6F-4392-B1D3-88AF196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D2A17D1-0AC0-470A-9D7C-4645B377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5B11CA-A8AE-4596-8F7E-33BFEBE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DE5744-A560-472B-9D6D-26DA869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FCC8E6A-208D-4ED7-9C1A-35562B9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B5A492-FA2F-43C8-A14B-00DD031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989D0CA-87E0-4EFD-B5D1-5C72B4C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E1D2C3-8E10-4258-AD0D-F060737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7C3F5FB-ED70-44B3-AE3F-6866016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7482610-CF4C-42FB-B82C-3B2C347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8AD8EC1-1AFF-4636-8D95-DF98756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34B9DC7B-8F76-4B83-BA6A-4C8A48A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</a:t>
            </a:r>
          </a:p>
        </p:txBody>
      </p:sp>
      <p:sp>
        <p:nvSpPr>
          <p:cNvPr id="25" name="!!ops.huaan">
            <a:extLst xmlns:a="http://schemas.openxmlformats.org/drawingml/2006/main">
              <a:ext uri="{FF2B5EF4-FFF2-40B4-BE49-F238E27FC236}">
                <a16:creationId xmlns:a16="http://schemas.microsoft.com/office/drawing/2014/main" id="{3CEC38FB-38BC-4C92-9D95-90E1B6D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华安  单据智能录入</a:t>
            </a:r>
          </a:p>
        </p:txBody>
      </p:sp>
      <p:sp>
        <p:nvSpPr>
          <p:cNvPr id="26" name="!!ops.form">
            <a:extLst xmlns:a="http://schemas.openxmlformats.org/drawingml/2006/main">
              <a:ext uri="{FF2B5EF4-FFF2-40B4-BE49-F238E27FC236}">
                <a16:creationId xmlns:a16="http://schemas.microsoft.com/office/drawing/2014/main" id="{EE1502E7-C3E0-4890-AB30-7687CE2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33528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ops.form.role">
            <a:extLst xmlns:a="http://schemas.openxmlformats.org/drawingml/2006/main">
              <a:ext uri="{FF2B5EF4-FFF2-40B4-BE49-F238E27FC236}">
                <a16:creationId xmlns:a16="http://schemas.microsoft.com/office/drawing/2014/main" id="{7178A765-A7C9-4246-AAE3-EE683DC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718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识别传真与单据</a:t>
            </a:r>
          </a:p>
        </p:txBody>
      </p:sp>
      <p:sp>
        <p:nvSpPr>
          <p:cNvPr id="28" name="!!ops.form.body">
            <a:extLst xmlns:a="http://schemas.openxmlformats.org/drawingml/2006/main">
              <a:ext uri="{FF2B5EF4-FFF2-40B4-BE49-F238E27FC236}">
                <a16:creationId xmlns:a16="http://schemas.microsoft.com/office/drawing/2014/main" id="{B178384D-2C3C-4B2A-9772-5016CBD1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9975"/>
            <a:ext cx="29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读取单据内容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提取业务字段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用于柜面录入</a:t>
            </a:r>
          </a:p>
        </p:txBody>
      </p:sp>
      <p:sp>
        <p:nvSpPr>
          <p:cNvPr id="29" name="!!ops.stat">
            <a:extLst xmlns:a="http://schemas.openxmlformats.org/drawingml/2006/main">
              <a:ext uri="{FF2B5EF4-FFF2-40B4-BE49-F238E27FC236}">
                <a16:creationId xmlns:a16="http://schemas.microsoft.com/office/drawing/2014/main" id="{EFCF2066-EBAC-47A4-8273-15828CF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00725"/>
            <a:ext cx="335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华安披露：超过80%</a:t>
            </a:r>
          </a:p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柜面传真采用智能录入</a:t>
            </a:r>
          </a:p>
        </p:txBody>
      </p:sp>
      <p:sp>
        <p:nvSpPr>
          <p:cNvPr id="30" name="!!ops.icbc">
            <a:extLst xmlns:a="http://schemas.openxmlformats.org/drawingml/2006/main">
              <a:ext uri="{FF2B5EF4-FFF2-40B4-BE49-F238E27FC236}">
                <a16:creationId xmlns:a16="http://schemas.microsoft.com/office/drawing/2014/main" id="{593997A1-A01E-4378-8CC8-1F174FA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工银瑞信  多格式文档比对</a:t>
            </a:r>
          </a:p>
        </p:txBody>
      </p:sp>
      <p:sp>
        <p:nvSpPr>
          <p:cNvPr id="31" name="!!ops.formats">
            <a:extLst xmlns:a="http://schemas.openxmlformats.org/drawingml/2006/main">
              <a:ext uri="{FF2B5EF4-FFF2-40B4-BE49-F238E27FC236}">
                <a16:creationId xmlns:a16="http://schemas.microsoft.com/office/drawing/2014/main" id="{D1D30DE6-62FA-437D-A875-4380CE4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676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PDF、Word、扫描件</a:t>
            </a:r>
          </a:p>
        </p:txBody>
      </p:sp>
      <p:sp>
        <p:nvSpPr>
          <p:cNvPr id="32" name="!!ops.compare.read">
            <a:extLst xmlns:a="http://schemas.openxmlformats.org/drawingml/2006/main">
              <a:ext uri="{FF2B5EF4-FFF2-40B4-BE49-F238E27FC236}">
                <a16:creationId xmlns:a16="http://schemas.microsoft.com/office/drawing/2014/main" id="{E584B84F-467C-4BD4-B77D-13837C56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6762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模型识别文档内容，比较两个版本</a:t>
            </a:r>
          </a:p>
        </p:txBody>
      </p:sp>
      <p:sp>
        <p:nvSpPr>
          <p:cNvPr id="33" name="!!ops.compare.old.label">
            <a:extLst xmlns:a="http://schemas.openxmlformats.org/drawingml/2006/main">
              <a:ext uri="{FF2B5EF4-FFF2-40B4-BE49-F238E27FC236}">
                <a16:creationId xmlns:a16="http://schemas.microsoft.com/office/drawing/2014/main" id="{986E339A-0E4C-418C-B1AB-52FBCC92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V1观点</a:t>
            </a:r>
          </a:p>
        </p:txBody>
      </p:sp>
      <p:sp>
        <p:nvSpPr>
          <p:cNvPr id="34" name="!!ops.compare.old.text">
            <a:extLst xmlns:a="http://schemas.openxmlformats.org/drawingml/2006/main">
              <a:ext uri="{FF2B5EF4-FFF2-40B4-BE49-F238E27FC236}">
                <a16:creationId xmlns:a16="http://schemas.microsoft.com/office/drawing/2014/main" id="{676E8588-453F-4B99-9043-FF4E810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86325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</a:t>
            </a:r>
          </a:p>
        </p:txBody>
      </p:sp>
      <p:sp>
        <p:nvSpPr>
          <p:cNvPr id="35" name="!!ops.compare.new.label">
            <a:extLst xmlns:a="http://schemas.openxmlformats.org/drawingml/2006/main">
              <a:ext uri="{FF2B5EF4-FFF2-40B4-BE49-F238E27FC236}">
                <a16:creationId xmlns:a16="http://schemas.microsoft.com/office/drawing/2014/main" id="{56723667-46FF-43C1-9069-F3C2229F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054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V2观点：新增文字已标出</a:t>
            </a:r>
          </a:p>
        </p:txBody>
      </p:sp>
      <p:sp>
        <p:nvSpPr>
          <p:cNvPr id="36" name="!!ops.compare.mark.driver">
            <a:extLst xmlns:a="http://schemas.openxmlformats.org/drawingml/2006/main">
              <a:ext uri="{FF2B5EF4-FFF2-40B4-BE49-F238E27FC236}">
                <a16:creationId xmlns:a16="http://schemas.microsoft.com/office/drawing/2014/main" id="{772144E4-8AFC-43E0-883B-3C79F51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!!ops.compare.mark.watch">
            <a:extLst xmlns:a="http://schemas.openxmlformats.org/drawingml/2006/main">
              <a:ext uri="{FF2B5EF4-FFF2-40B4-BE49-F238E27FC236}">
                <a16:creationId xmlns:a16="http://schemas.microsoft.com/office/drawing/2014/main" id="{809C5E6D-5523-4586-B123-A58634A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ops.compare.new.line1">
            <a:extLst xmlns:a="http://schemas.openxmlformats.org/drawingml/2006/main">
              <a:ext uri="{FF2B5EF4-FFF2-40B4-BE49-F238E27FC236}">
                <a16:creationId xmlns:a16="http://schemas.microsoft.com/office/drawing/2014/main" id="{574290A3-38A6-4D48-829A-F08DB0B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05525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</a:t>
            </a:r>
          </a:p>
        </p:txBody>
      </p:sp>
      <p:sp>
        <p:nvSpPr>
          <p:cNvPr id="39" name="!!ops.compare.new.line2">
            <a:extLst xmlns:a="http://schemas.openxmlformats.org/drawingml/2006/main">
              <a:ext uri="{FF2B5EF4-FFF2-40B4-BE49-F238E27FC236}">
                <a16:creationId xmlns:a16="http://schemas.microsoft.com/office/drawing/2014/main" id="{BB56F424-7C24-4942-A95E-8AEE314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96050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后续关注补库持续性及原材料成本。</a:t>
            </a:r>
          </a:p>
        </p:txBody>
      </p:sp>
      <p:sp>
        <p:nvSpPr>
          <p:cNvPr id="40" name="!!ops.compare.functions">
            <a:extLst xmlns:a="http://schemas.openxmlformats.org/drawingml/2006/main">
              <a:ext uri="{FF2B5EF4-FFF2-40B4-BE49-F238E27FC236}">
                <a16:creationId xmlns:a16="http://schemas.microsoft.com/office/drawing/2014/main" id="{0BF240F5-7515-4D82-BA9F-CF5A23E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1247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差异呈现、错别字识别、结果导出</a:t>
            </a:r>
          </a:p>
        </p:txBody>
      </p:sp>
    </p:spTree>
    <p:extLst>
      <p:ext uri="{BB962C8B-B14F-4D97-AF65-F5344CB8AC3E}">
        <p14:creationId xmlns:p14="http://schemas.microsoft.com/office/powerpoint/2010/main" val="1578717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CBBD1C9C-C6D4-42B2-A4FB-88F28CBC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公司运营文档处理方案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39496C2-930C-48A9-8F13-1F7B425F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2C7181D-A441-4CD1-9DFE-87F8C5F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2805F1F-5CCA-4942-AB3C-324207A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16903C6-705F-41C6-BC8C-A86EA69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9115185-12B3-4356-B53D-47CEFD7A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3A52876-DB4E-4B66-B79B-84F1C808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6FC10A8-F05C-4937-B22C-01E84F7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A35048C-E58F-455E-8A34-5DED49F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CEC692B-CC55-4639-8F55-993E6943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7D4A25F-FC73-49FD-B0FC-AD9B8F8C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F2D58618-F917-4BDF-9532-FDF0F096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C42D647-5578-490A-B4E3-1E1A1AE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ECFE5AA-47C3-4715-9445-71F07EF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C9E7B-1727-46D0-BD5E-31704B6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7D4A4AF-40AF-4EC1-A0C3-AC3136F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F090356-1492-4BCB-8D83-0DC938B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383997ED-8E30-469C-9EA2-855BD97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0C3851-1E02-46B3-9E1C-5BCB799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D3ED5FD-71A5-44BE-BA21-EFFCAC3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03ACA6FE-6E92-469E-8FE5-4B34F63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5171D0C-0565-483B-A8A5-779042F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C0D393F-0B12-47F3-8C43-CD2C156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9B26A0F-6B9B-4A57-83DF-BEF17F2F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CCF企业数字化案例集；工银瑞信基金，基金业协会案例材料；博时基金BSBox上线报道</a:t>
            </a:r>
          </a:p>
        </p:txBody>
      </p:sp>
      <p:sp>
        <p:nvSpPr>
          <p:cNvPr id="25" name="!!ops.inputs">
            <a:extLst xmlns:a="http://schemas.openxmlformats.org/drawingml/2006/main">
              <a:ext uri="{FF2B5EF4-FFF2-40B4-BE49-F238E27FC236}">
                <a16:creationId xmlns:a16="http://schemas.microsoft.com/office/drawing/2014/main" id="{57D5B8B8-B8C2-4299-93B3-EF91598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!!ops.inputs.role">
            <a:extLst xmlns:a="http://schemas.openxmlformats.org/drawingml/2006/main">
              <a:ext uri="{FF2B5EF4-FFF2-40B4-BE49-F238E27FC236}">
                <a16:creationId xmlns:a16="http://schemas.microsoft.com/office/drawing/2014/main" id="{DC77312F-218C-4822-952B-EBF0813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运营同事提供两版客户稿</a:t>
            </a:r>
          </a:p>
        </p:txBody>
      </p:sp>
      <p:sp>
        <p:nvSpPr>
          <p:cNvPr id="27" name="!!ops.inputs.body">
            <a:extLst xmlns:a="http://schemas.openxmlformats.org/drawingml/2006/main">
              <a:ext uri="{FF2B5EF4-FFF2-40B4-BE49-F238E27FC236}">
                <a16:creationId xmlns:a16="http://schemas.microsoft.com/office/drawing/2014/main" id="{659FBC1E-0540-4E26-8942-AD81EC1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28" name="!!ops.tool">
            <a:extLst xmlns:a="http://schemas.openxmlformats.org/drawingml/2006/main">
              <a:ext uri="{FF2B5EF4-FFF2-40B4-BE49-F238E27FC236}">
                <a16:creationId xmlns:a16="http://schemas.microsoft.com/office/drawing/2014/main" id="{4295338E-07B5-48B5-9120-A8B2A5C2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29025"/>
            <a:ext cx="4991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!!ops.tool.role">
            <a:extLst xmlns:a="http://schemas.openxmlformats.org/drawingml/2006/main">
              <a:ext uri="{FF2B5EF4-FFF2-40B4-BE49-F238E27FC236}">
                <a16:creationId xmlns:a16="http://schemas.microsoft.com/office/drawing/2014/main" id="{9AF683A4-FF4D-45BB-BF35-6CF3ABCD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文件工具对齐段落</a:t>
            </a:r>
          </a:p>
        </p:txBody>
      </p:sp>
      <p:sp>
        <p:nvSpPr>
          <p:cNvPr id="30" name="!!ops.tool.body">
            <a:extLst xmlns:a="http://schemas.openxmlformats.org/drawingml/2006/main">
              <a:ext uri="{FF2B5EF4-FFF2-40B4-BE49-F238E27FC236}">
                <a16:creationId xmlns:a16="http://schemas.microsoft.com/office/drawing/2014/main" id="{E49A39EC-32BD-49D5-8A46-97F5880D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461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定位名称、期次和观点的文字改动</a:t>
            </a:r>
          </a:p>
        </p:txBody>
      </p:sp>
      <p:sp>
        <p:nvSpPr>
          <p:cNvPr id="31" name="!!ops.llm">
            <a:extLst xmlns:a="http://schemas.openxmlformats.org/drawingml/2006/main">
              <a:ext uri="{FF2B5EF4-FFF2-40B4-BE49-F238E27FC236}">
                <a16:creationId xmlns:a16="http://schemas.microsoft.com/office/drawing/2014/main" id="{6FB77086-29D8-4BD0-82DD-3AB4554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49911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!!ops.llm.role">
            <a:extLst xmlns:a="http://schemas.openxmlformats.org/drawingml/2006/main">
              <a:ext uri="{FF2B5EF4-FFF2-40B4-BE49-F238E27FC236}">
                <a16:creationId xmlns:a16="http://schemas.microsoft.com/office/drawing/2014/main" id="{334D2AB8-9E04-4CBA-ABB9-BE4741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768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LLM解释变化的业务含义</a:t>
            </a:r>
          </a:p>
        </p:txBody>
      </p:sp>
      <p:sp>
        <p:nvSpPr>
          <p:cNvPr id="33" name="!!ops.llm.body">
            <a:extLst xmlns:a="http://schemas.openxmlformats.org/drawingml/2006/main">
              <a:ext uri="{FF2B5EF4-FFF2-40B4-BE49-F238E27FC236}">
                <a16:creationId xmlns:a16="http://schemas.microsoft.com/office/drawing/2014/main" id="{74C738CD-BBCF-421A-8367-14154DC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14975"/>
            <a:ext cx="4610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对照前后文，区分新增与保留内容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说明观点怎样变化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列出需要同步修改的材料</a:t>
            </a:r>
          </a:p>
        </p:txBody>
      </p:sp>
      <p:sp>
        <p:nvSpPr>
          <p:cNvPr id="34" name="!!changeLog">
            <a:extLst xmlns:a="http://schemas.openxmlformats.org/drawingml/2006/main">
              <a:ext uri="{FF2B5EF4-FFF2-40B4-BE49-F238E27FC236}">
                <a16:creationId xmlns:a16="http://schemas.microsoft.com/office/drawing/2014/main" id="{85E3D0E6-6AE3-4A4F-B0B7-31DB871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5" name="!!changeLog.title">
            <a:extLst xmlns:a="http://schemas.openxmlformats.org/drawingml/2006/main">
              <a:ext uri="{FF2B5EF4-FFF2-40B4-BE49-F238E27FC236}">
                <a16:creationId xmlns:a16="http://schemas.microsoft.com/office/drawing/2014/main" id="{141E896C-A35D-4A7D-95CD-765A4A6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33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客户沟通稿变更说明</a:t>
            </a:r>
          </a:p>
        </p:txBody>
      </p:sp>
      <p:sp>
        <p:nvSpPr>
          <p:cNvPr id="36" name="!!changeLog.object">
            <a:extLst xmlns:a="http://schemas.openxmlformats.org/drawingml/2006/main">
              <a:ext uri="{FF2B5EF4-FFF2-40B4-BE49-F238E27FC236}">
                <a16:creationId xmlns:a16="http://schemas.microsoft.com/office/drawing/2014/main" id="{52767102-A047-4F95-86CC-0F1F9FF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00375"/>
            <a:ext cx="4514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37" name="!!changeLog.rule">
            <a:extLst xmlns:a="http://schemas.openxmlformats.org/drawingml/2006/main">
              <a:ext uri="{FF2B5EF4-FFF2-40B4-BE49-F238E27FC236}">
                <a16:creationId xmlns:a16="http://schemas.microsoft.com/office/drawing/2014/main" id="{AB36DF35-CC06-4FF4-8810-C2FF658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39325" y="3495675"/>
            <a:ext cx="4514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8" name="!!changeLog.driver.label">
            <a:extLst xmlns:a="http://schemas.openxmlformats.org/drawingml/2006/main">
              <a:ext uri="{FF2B5EF4-FFF2-40B4-BE49-F238E27FC236}">
                <a16:creationId xmlns:a16="http://schemas.microsoft.com/office/drawing/2014/main" id="{F2F6EE79-1EBB-48CB-8BC6-4FD9DBE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2427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新增经营原因</a:t>
            </a:r>
          </a:p>
        </p:txBody>
      </p:sp>
      <p:sp>
        <p:nvSpPr>
          <p:cNvPr id="39" name="!!changeLog.driver.body">
            <a:extLst xmlns:a="http://schemas.openxmlformats.org/drawingml/2006/main">
              <a:ext uri="{FF2B5EF4-FFF2-40B4-BE49-F238E27FC236}">
                <a16:creationId xmlns:a16="http://schemas.microsoft.com/office/drawing/2014/main" id="{DE5E6EA9-D7E8-4F90-8305-4EB949D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338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销量提升与渠道补库有关</a:t>
            </a:r>
          </a:p>
        </p:txBody>
      </p:sp>
      <p:sp>
        <p:nvSpPr>
          <p:cNvPr id="40" name="!!changeLog.watch.label">
            <a:extLst xmlns:a="http://schemas.openxmlformats.org/drawingml/2006/main">
              <a:ext uri="{FF2B5EF4-FFF2-40B4-BE49-F238E27FC236}">
                <a16:creationId xmlns:a16="http://schemas.microsoft.com/office/drawing/2014/main" id="{CB64F829-6AD5-4D85-A387-133338E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19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观察事项的变化</a:t>
            </a:r>
          </a:p>
        </p:txBody>
      </p:sp>
      <p:sp>
        <p:nvSpPr>
          <p:cNvPr id="41" name="!!changeLog.watch.body">
            <a:extLst xmlns:a="http://schemas.openxmlformats.org/drawingml/2006/main">
              <a:ext uri="{FF2B5EF4-FFF2-40B4-BE49-F238E27FC236}">
                <a16:creationId xmlns:a16="http://schemas.microsoft.com/office/drawing/2014/main" id="{E3F35A79-CBC4-420F-B062-D6AD535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增加补库持续性，保留原材料成本跟踪</a:t>
            </a:r>
          </a:p>
        </p:txBody>
      </p:sp>
      <p:sp>
        <p:nvSpPr>
          <p:cNvPr id="42" name="!!changeLog.sync.label">
            <a:extLst xmlns:a="http://schemas.openxmlformats.org/drawingml/2006/main">
              <a:ext uri="{FF2B5EF4-FFF2-40B4-BE49-F238E27FC236}">
                <a16:creationId xmlns:a16="http://schemas.microsoft.com/office/drawing/2014/main" id="{4151ADCD-FB89-4116-B0FF-7BE1A09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1502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需要同步更新</a:t>
            </a:r>
          </a:p>
        </p:txBody>
      </p:sp>
      <p:sp>
        <p:nvSpPr>
          <p:cNvPr id="43" name="!!changeLog.sync.body">
            <a:extLst xmlns:a="http://schemas.openxmlformats.org/drawingml/2006/main">
              <a:ext uri="{FF2B5EF4-FFF2-40B4-BE49-F238E27FC236}">
                <a16:creationId xmlns:a16="http://schemas.microsoft.com/office/drawing/2014/main" id="{72070AF6-B479-40D1-93FB-6900598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246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其他沟通稿与产品问答中的相关观点</a:t>
            </a:r>
          </a:p>
        </p:txBody>
      </p:sp>
      <p:sp>
        <p:nvSpPr>
          <p:cNvPr id="44" name="!!ops.explain.toLog.line">
            <a:extLst xmlns:a="http://schemas.openxmlformats.org/drawingml/2006/main">
              <a:ext uri="{FF2B5EF4-FFF2-40B4-BE49-F238E27FC236}">
                <a16:creationId xmlns:a16="http://schemas.microsoft.com/office/drawing/2014/main" id="{0B334D18-C02C-4F00-99BC-7A31CFA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3525" y="5800725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ops.explain.toLog.tip">
            <a:extLst xmlns:a="http://schemas.openxmlformats.org/drawingml/2006/main">
              <a:ext uri="{FF2B5EF4-FFF2-40B4-BE49-F238E27FC236}">
                <a16:creationId xmlns:a16="http://schemas.microsoft.com/office/drawing/2014/main" id="{54DB42DC-0351-4AC6-801D-AE4E515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5743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ops.user">
            <a:extLst xmlns:a="http://schemas.openxmlformats.org/drawingml/2006/main">
              <a:ext uri="{FF2B5EF4-FFF2-40B4-BE49-F238E27FC236}">
                <a16:creationId xmlns:a16="http://schemas.microsoft.com/office/drawing/2014/main" id="{AF807AF5-6724-41D8-85E7-7FA3D52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运营同事核对变更说明，随V2保存，并更新相关材料</a:t>
            </a:r>
          </a:p>
        </p:txBody>
      </p:sp>
    </p:spTree>
    <p:extLst>
      <p:ext uri="{BB962C8B-B14F-4D97-AF65-F5344CB8AC3E}">
        <p14:creationId xmlns:p14="http://schemas.microsoft.com/office/powerpoint/2010/main" val="205192571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B390D8CD-427C-40E8-BE69-86818F2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业务需求到工具交付的工作过程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6A3F23-6C00-4CA7-8AAB-B5F747C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29379C1-4D81-4B8E-B1A9-D541C64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83C7F1E-0BF6-410B-ACDD-B27A485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85DA58A-55EC-4C87-B2CB-61639DF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046413A-23EA-40CE-A208-1F82563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C0B5F6-C470-49D1-A61A-B6940D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2CB1311-AC42-4FFD-878F-F8A6D5AE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790F9BB-366E-4145-94C1-62A961C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D1BF81-741B-4E1D-8D6E-0EC1F1F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F4D349-3784-40B1-9163-A391CCA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875931A-B553-49D6-B499-FBDCD85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4AD0C39-A7E8-48DC-AF86-18C8F69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F8E323-745C-4399-B2E4-AB2CB49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7067D5C-8A02-4284-9AFD-4B35C55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49CF2F4-A368-4C61-A3C2-78AAAC8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8957B88-B641-4052-B98B-C1D9AAA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BDE6F54-6F41-4842-BA20-E3F0850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54154A-A2D3-4124-82E1-BF1BA52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2DBE0E1-7B0F-4ADB-921B-A94B9B0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69D359F-0387-4C2A-B0A0-5022AC8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E622D2B9-8665-4597-A8B3-411A82C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F3A1803-675D-4948-A21A-72B1027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77902C5-7642-47E6-AB8A-EBD111E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F9CEDBC4-5367-4518-873A-19D9B80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业务同事：两版报告改了哪里？页眉日期变化不算正文差异</a:t>
            </a:r>
          </a:p>
        </p:txBody>
      </p:sp>
      <p:sp>
        <p:nvSpPr>
          <p:cNvPr id="26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67AF0743-64EC-401A-A46E-794606A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1367B350-0846-4C87-BE4B-C471A67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开发同事整理要求</a:t>
            </a:r>
          </a:p>
        </p:txBody>
      </p:sp>
      <p:sp>
        <p:nvSpPr>
          <p:cNvPr id="28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1B803DC6-CE3B-41CC-9402-D46941C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标出新增、删除、改写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忽略重复页眉</a:t>
            </a:r>
          </a:p>
        </p:txBody>
      </p:sp>
      <p:sp>
        <p:nvSpPr>
          <p:cNvPr id="29" name="!!dev.code">
            <a:extLst xmlns:a="http://schemas.openxmlformats.org/drawingml/2006/main">
              <a:ext uri="{FF2B5EF4-FFF2-40B4-BE49-F238E27FC236}">
                <a16:creationId xmlns:a16="http://schemas.microsoft.com/office/drawing/2014/main" id="{6159B64A-D741-45C2-9B99-E2344B75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30C8E57-F93D-422B-8684-D9B1D9FF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开发同事编写程序</a:t>
            </a:r>
          </a:p>
        </p:txBody>
      </p:sp>
      <p:sp>
        <p:nvSpPr>
          <p:cNvPr id="31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B4390291-5D73-4CFF-B10F-9D4B599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读取文件，匹配正文段落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计算文字差异，输出位置</a:t>
            </a:r>
          </a:p>
        </p:txBody>
      </p:sp>
      <p:sp>
        <p:nvSpPr>
          <p:cNvPr id="32" name="!!dev.debug">
            <a:extLst xmlns:a="http://schemas.openxmlformats.org/drawingml/2006/main">
              <a:ext uri="{FF2B5EF4-FFF2-40B4-BE49-F238E27FC236}">
                <a16:creationId xmlns:a16="http://schemas.microsoft.com/office/drawing/2014/main" id="{64301815-1D07-4F8A-96BF-108E072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14700"/>
            <a:ext cx="3219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debug.role">
            <a:extLst xmlns:a="http://schemas.openxmlformats.org/drawingml/2006/main">
              <a:ext uri="{FF2B5EF4-FFF2-40B4-BE49-F238E27FC236}">
                <a16:creationId xmlns:a16="http://schemas.microsoft.com/office/drawing/2014/main" id="{9CC803F4-29CB-4455-AF6A-9E09733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开发同事反复测试</a:t>
            </a:r>
          </a:p>
        </p:txBody>
      </p:sp>
      <p:sp>
        <p:nvSpPr>
          <p:cNvPr id="34" name="!!dev.debug.body">
            <a:extLst xmlns:a="http://schemas.openxmlformats.org/drawingml/2006/main">
              <a:ext uri="{FF2B5EF4-FFF2-40B4-BE49-F238E27FC236}">
                <a16:creationId xmlns:a16="http://schemas.microsoft.com/office/drawing/2014/main" id="{72F92997-91D7-428F-B27F-AD21542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换行和跨页会打乱匹配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页眉变化可能被误报</a:t>
            </a:r>
          </a:p>
        </p:txBody>
      </p:sp>
      <p:sp>
        <p:nvSpPr>
          <p:cNvPr id="35" name="!!dev.req.code.line">
            <a:extLst xmlns:a="http://schemas.openxmlformats.org/drawingml/2006/main">
              <a:ext uri="{FF2B5EF4-FFF2-40B4-BE49-F238E27FC236}">
                <a16:creationId xmlns:a16="http://schemas.microsoft.com/office/drawing/2014/main" id="{68281476-11F6-428F-96F6-834CB951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dev.req.code.tip">
            <a:extLst xmlns:a="http://schemas.openxmlformats.org/drawingml/2006/main">
              <a:ext uri="{FF2B5EF4-FFF2-40B4-BE49-F238E27FC236}">
                <a16:creationId xmlns:a16="http://schemas.microsoft.com/office/drawing/2014/main" id="{81C7478B-498C-4EC8-A9C6-67BF7121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dev.code.debug.line">
            <a:extLst xmlns:a="http://schemas.openxmlformats.org/drawingml/2006/main">
              <a:ext uri="{FF2B5EF4-FFF2-40B4-BE49-F238E27FC236}">
                <a16:creationId xmlns:a16="http://schemas.microsoft.com/office/drawing/2014/main" id="{E467A4B1-F9AE-4C29-8FA2-D5D7B03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dev.code.debug.tip">
            <a:extLst xmlns:a="http://schemas.openxmlformats.org/drawingml/2006/main">
              <a:ext uri="{FF2B5EF4-FFF2-40B4-BE49-F238E27FC236}">
                <a16:creationId xmlns:a16="http://schemas.microsoft.com/office/drawing/2014/main" id="{437D1A0E-EC3C-43BB-A7B2-4031A1A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dev.workload">
            <a:extLst xmlns:a="http://schemas.openxmlformats.org/drawingml/2006/main">
              <a:ext uri="{FF2B5EF4-FFF2-40B4-BE49-F238E27FC236}">
                <a16:creationId xmlns:a16="http://schemas.microsoft.com/office/drawing/2014/main" id="{31CFC83A-5804-474B-8794-486579B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579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从一句业务要求到可用工具，要写程序、准备样例并反复定位问题</a:t>
            </a:r>
          </a:p>
        </p:txBody>
      </p:sp>
    </p:spTree>
    <p:extLst>
      <p:ext uri="{BB962C8B-B14F-4D97-AF65-F5344CB8AC3E}">
        <p14:creationId xmlns:p14="http://schemas.microsoft.com/office/powerpoint/2010/main" val="189089834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01A51EC1-30A0-4F20-9BC6-A3240AB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易方达与景顺长城的开发辅助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CC300C0-ADD9-4258-BD58-CBF93F28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64B45A6-CA61-406A-9C7C-E33021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8C98471-BA73-4E22-9F65-A6442C8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B1DC8CF-4EDE-4EEA-81D2-AC00A05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4540843-F9A7-4118-91FA-89A014D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4AE86CDE-9B37-4F47-8F67-6A86B10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11141A-7C40-471C-9626-D72CBFF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A92DAA5-3D02-4562-9449-52EA2FD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134A13F-B8DA-4F19-BB90-D76715D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79EDA9-59D3-464E-A52D-B160F7B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244F01-9349-40F6-AF53-4CC25D2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535FE9-B90E-4058-9877-9AC4384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99BF6D0-7BCC-4D15-A27A-B4E48D7E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1180B4B-EB7D-4405-9FC1-040C17E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F018DAF-4DBB-45AF-B9FC-126972E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1F64C82-E9F6-4BDD-B4AB-12320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4A0F679B-F73F-4F43-8EB0-4E7F147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3A29000-65BE-451D-B8B7-622D2B9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0931932-C457-4A1A-BE2D-18BA690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0AA4AE3-E96E-45F2-8061-4C34712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2A572433-D121-4174-A708-986A78E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D70167C-D09C-41C4-94A8-D85A7AE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A593D3F-30D4-46EC-B462-46FB73D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来源：易方达基金，基金业协会案例材料；易方达基金CIO论坛发言；财联社，景顺长城量化团队报道</a:t>
            </a:r>
          </a:p>
        </p:txBody>
      </p:sp>
      <p:sp>
        <p:nvSpPr>
          <p:cNvPr id="25" name="!!dev.case1">
            <a:extLst xmlns:a="http://schemas.openxmlformats.org/drawingml/2006/main">
              <a:ext uri="{FF2B5EF4-FFF2-40B4-BE49-F238E27FC236}">
                <a16:creationId xmlns:a16="http://schemas.microsoft.com/office/drawing/2014/main" id="{8A8B47A4-ED80-4D7F-94C4-3BAD772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易方达：大模型进入开发与测试环节</a:t>
            </a:r>
          </a:p>
        </p:txBody>
      </p:sp>
      <p:sp>
        <p:nvSpPr>
          <p:cNvPr id="26" name="!!dev.case2">
            <a:extLst xmlns:a="http://schemas.openxmlformats.org/drawingml/2006/main">
              <a:ext uri="{FF2B5EF4-FFF2-40B4-BE49-F238E27FC236}">
                <a16:creationId xmlns:a16="http://schemas.microsoft.com/office/drawing/2014/main" id="{CFF2FC79-D1CF-4D6A-862B-E5DB38D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景顺长城：量化团队使用本地模型辅助编程</a:t>
            </a:r>
          </a:p>
        </p:txBody>
      </p:sp>
      <p:sp>
        <p:nvSpPr>
          <p:cNvPr id="27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2D33282B-B064-4AD1-BEBC-059F59E0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86B36A56-CAF0-4EB5-ACD8-BF34DDB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开发同事提出要求</a:t>
            </a:r>
          </a:p>
        </p:txBody>
      </p:sp>
      <p:sp>
        <p:nvSpPr>
          <p:cNvPr id="29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93DE43DA-9D86-402C-BCCC-E36DE2C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给业务样例和预期结果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说明程序需要完成的动作</a:t>
            </a:r>
          </a:p>
        </p:txBody>
      </p:sp>
      <p:sp>
        <p:nvSpPr>
          <p:cNvPr id="30" name="!!dev.code">
            <a:extLst xmlns:a="http://schemas.openxmlformats.org/drawingml/2006/main">
              <a:ext uri="{FF2B5EF4-FFF2-40B4-BE49-F238E27FC236}">
                <a16:creationId xmlns:a16="http://schemas.microsoft.com/office/drawing/2014/main" id="{423F20FB-A86B-4593-AB71-1403ABD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9A54917-202F-4B5C-A971-3461F4F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LLM辅助生成代码与测试</a:t>
            </a:r>
          </a:p>
        </p:txBody>
      </p:sp>
      <p:sp>
        <p:nvSpPr>
          <p:cNvPr id="32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39A10076-D2C8-4471-88FF-787D867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编写文件处理程序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列出测试场景与预期结果</a:t>
            </a:r>
          </a:p>
        </p:txBody>
      </p:sp>
      <p:sp>
        <p:nvSpPr>
          <p:cNvPr id="33" name="!!dev.test">
            <a:extLst xmlns:a="http://schemas.openxmlformats.org/drawingml/2006/main">
              <a:ext uri="{FF2B5EF4-FFF2-40B4-BE49-F238E27FC236}">
                <a16:creationId xmlns:a16="http://schemas.microsoft.com/office/drawing/2014/main" id="{E2D5D2C6-0BB3-4221-9509-77E8608D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24250"/>
            <a:ext cx="32194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74EA6726-46B7-41A9-A3BB-5AE24C5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开发同事运行与反馈</a:t>
            </a:r>
          </a:p>
        </p:txBody>
      </p:sp>
      <p:sp>
        <p:nvSpPr>
          <p:cNvPr id="35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31C776FC-A383-490F-B90E-ABF81C74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运行程序，核对真实结果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把错误信息交给LLM修改</a:t>
            </a:r>
          </a:p>
        </p:txBody>
      </p:sp>
      <p:sp>
        <p:nvSpPr>
          <p:cNvPr id="36" name="!!dev.case.in.line">
            <a:extLst xmlns:a="http://schemas.openxmlformats.org/drawingml/2006/main">
              <a:ext uri="{FF2B5EF4-FFF2-40B4-BE49-F238E27FC236}">
                <a16:creationId xmlns:a16="http://schemas.microsoft.com/office/drawing/2014/main" id="{974652CB-8520-4445-827D-631E829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dev.case.in.tip">
            <a:extLst xmlns:a="http://schemas.openxmlformats.org/drawingml/2006/main">
              <a:ext uri="{FF2B5EF4-FFF2-40B4-BE49-F238E27FC236}">
                <a16:creationId xmlns:a16="http://schemas.microsoft.com/office/drawing/2014/main" id="{0F1424C6-99EE-40CE-A3A6-80C60DF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dev.case.out.line">
            <a:extLst xmlns:a="http://schemas.openxmlformats.org/drawingml/2006/main">
              <a:ext uri="{FF2B5EF4-FFF2-40B4-BE49-F238E27FC236}">
                <a16:creationId xmlns:a16="http://schemas.microsoft.com/office/drawing/2014/main" id="{719E8414-B2C8-4D6C-BC26-5BCC74C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ev.case.out.tip">
            <a:extLst xmlns:a="http://schemas.openxmlformats.org/drawingml/2006/main">
              <a:ext uri="{FF2B5EF4-FFF2-40B4-BE49-F238E27FC236}">
                <a16:creationId xmlns:a16="http://schemas.microsoft.com/office/drawing/2014/main" id="{D360C957-30ED-4512-A0FA-6904344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ev.case.result">
            <a:extLst xmlns:a="http://schemas.openxmlformats.org/drawingml/2006/main">
              <a:ext uri="{FF2B5EF4-FFF2-40B4-BE49-F238E27FC236}">
                <a16:creationId xmlns:a16="http://schemas.microsoft.com/office/drawing/2014/main" id="{895AA393-71A9-4E2E-AFFC-46E9EFE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381750"/>
            <a:ext cx="105346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开发同事使用模型生成的程序和测试，持续修改到可以使用</a:t>
            </a:r>
          </a:p>
        </p:txBody>
      </p:sp>
    </p:spTree>
    <p:extLst>
      <p:ext uri="{BB962C8B-B14F-4D97-AF65-F5344CB8AC3E}">
        <p14:creationId xmlns:p14="http://schemas.microsoft.com/office/powerpoint/2010/main" val="211842429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!!heading">
            <a:extLst xmlns:a="http://schemas.openxmlformats.org/drawingml/2006/main">
              <a:ext uri="{FF2B5EF4-FFF2-40B4-BE49-F238E27FC236}">
                <a16:creationId xmlns:a16="http://schemas.microsoft.com/office/drawing/2014/main" id="{1CE489C6-3FE0-418C-95E6-E1FE025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公司业务工具开发方案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7F92A19-0678-4946-BE94-41E6D54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055B01-CA1D-4186-8BBC-AACB238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CB3BDEF-EADB-4317-AD0C-840DF19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DB1086F-9A7F-4B84-A779-2156E8B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972EFE8-5C7F-4CA3-B71B-1E8FF22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5AA91E3-4258-48C1-ABA9-AD62821C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1658555-9478-4CBA-A404-6E0C798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3F1FF6B-80E2-418C-AF4F-468499A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C7722C-73DD-47A8-84D0-8FD6B76D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E919046-0578-4A12-BC15-33657D7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38489DB5-9CDB-40B1-BE3E-3E13C3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C963D2A-B4FB-4EAC-AED8-11EEEF28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5130F4F-FE84-427C-A929-DC1D915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EB80D52-AE41-4CAE-8658-5F3C8F7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73B7B17-A999-4A07-B5D7-50689A1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A6B9A94-C5B3-4C3E-82D9-73758B5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6CB5DEE-E83A-448D-8948-71183A8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56E532-3F65-41B5-ABC6-9C4A315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EFBE4467-9917-40C6-A817-4C3C7BC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F1475250-8F1F-4D8B-AF08-9F87944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9DC195F1-E3E7-4E37-8F7A-B15D9AA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1DB9395-67C5-4C1D-893C-76F41FD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566B4EE0-D49D-4217-AA3A-B30D0AD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来源：易方达基金，基金业协会案例材料；财联社，景顺长城量化团队报道</a:t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9EBEAE89-CF3C-46BB-B837-DB0FF5A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业务要求：比较两版报告，忽略重复页眉，标出正文改写</a:t>
            </a:r>
          </a:p>
        </p:txBody>
      </p:sp>
      <p:sp>
        <p:nvSpPr>
          <p:cNvPr id="26" name="!!dev.samples">
            <a:extLst xmlns:a="http://schemas.openxmlformats.org/drawingml/2006/main">
              <a:ext uri="{FF2B5EF4-FFF2-40B4-BE49-F238E27FC236}">
                <a16:creationId xmlns:a16="http://schemas.microsoft.com/office/drawing/2014/main" id="{840FF193-FB0E-491C-9A9E-C028714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samples.role">
            <a:extLst xmlns:a="http://schemas.openxmlformats.org/drawingml/2006/main">
              <a:ext uri="{FF2B5EF4-FFF2-40B4-BE49-F238E27FC236}">
                <a16:creationId xmlns:a16="http://schemas.microsoft.com/office/drawing/2014/main" id="{9AD57B1B-BA05-49FB-ADA4-93BCACA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开发同事提供样例</a:t>
            </a:r>
          </a:p>
        </p:txBody>
      </p:sp>
      <p:sp>
        <p:nvSpPr>
          <p:cNvPr id="28" name="!!dev.samples.body">
            <a:extLst xmlns:a="http://schemas.openxmlformats.org/drawingml/2006/main">
              <a:ext uri="{FF2B5EF4-FFF2-40B4-BE49-F238E27FC236}">
                <a16:creationId xmlns:a16="http://schemas.microsoft.com/office/drawing/2014/main" id="{331A9C4B-9BB1-4754-96E2-47BFFD5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两版客户沟通稿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标出预期差异位置</a:t>
            </a:r>
          </a:p>
        </p:txBody>
      </p:sp>
      <p:sp>
        <p:nvSpPr>
          <p:cNvPr id="29" name="!!dev.generate">
            <a:extLst xmlns:a="http://schemas.openxmlformats.org/drawingml/2006/main">
              <a:ext uri="{FF2B5EF4-FFF2-40B4-BE49-F238E27FC236}">
                <a16:creationId xmlns:a16="http://schemas.microsoft.com/office/drawing/2014/main" id="{5098BAA5-128C-46AA-A2A7-9D503C5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generate.role">
            <a:extLst xmlns:a="http://schemas.openxmlformats.org/drawingml/2006/main">
              <a:ext uri="{FF2B5EF4-FFF2-40B4-BE49-F238E27FC236}">
                <a16:creationId xmlns:a16="http://schemas.microsoft.com/office/drawing/2014/main" id="{5EBFA75A-F2BC-4043-BC28-9192FDC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LLM整理要求并写代码</a:t>
            </a:r>
          </a:p>
        </p:txBody>
      </p:sp>
      <p:sp>
        <p:nvSpPr>
          <p:cNvPr id="31" name="!!dev.generate.body">
            <a:extLst xmlns:a="http://schemas.openxmlformats.org/drawingml/2006/main">
              <a:ext uri="{FF2B5EF4-FFF2-40B4-BE49-F238E27FC236}">
                <a16:creationId xmlns:a16="http://schemas.microsoft.com/office/drawing/2014/main" id="{88C5BACE-BA08-4E5D-82A8-9B41DF2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按段落比较正文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生成程序和测试样例</a:t>
            </a:r>
          </a:p>
        </p:txBody>
      </p:sp>
      <p:sp>
        <p:nvSpPr>
          <p:cNvPr id="32" name="!!dev.test">
            <a:extLst xmlns:a="http://schemas.openxmlformats.org/drawingml/2006/main">
              <a:ext uri="{FF2B5EF4-FFF2-40B4-BE49-F238E27FC236}">
                <a16:creationId xmlns:a16="http://schemas.microsoft.com/office/drawing/2014/main" id="{B3BBC546-2504-4AC9-AB9D-A91FCEF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90875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16A02989-1F36-4614-AA24-6EAA712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3  测试工具执行程序</a:t>
            </a:r>
          </a:p>
        </p:txBody>
      </p:sp>
      <p:sp>
        <p:nvSpPr>
          <p:cNvPr id="34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D5C30CDF-D292-4BE8-9F9D-5652375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正文改写已识别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页眉变化被误报</a:t>
            </a:r>
          </a:p>
        </p:txBody>
      </p:sp>
      <p:sp>
        <p:nvSpPr>
          <p:cNvPr id="35" name="!!dev.deliver">
            <a:extLst xmlns:a="http://schemas.openxmlformats.org/drawingml/2006/main">
              <a:ext uri="{FF2B5EF4-FFF2-40B4-BE49-F238E27FC236}">
                <a16:creationId xmlns:a16="http://schemas.microsoft.com/office/drawing/2014/main" id="{0DD96B84-586E-43EE-A4D5-50B764B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dev.deliver.role">
            <a:extLst xmlns:a="http://schemas.openxmlformats.org/drawingml/2006/main">
              <a:ext uri="{FF2B5EF4-FFF2-40B4-BE49-F238E27FC236}">
                <a16:creationId xmlns:a16="http://schemas.microsoft.com/office/drawing/2014/main" id="{C9E7FCC8-0613-4585-B97A-D0FFCD9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6  开发同事复测并提供</a:t>
            </a:r>
          </a:p>
        </p:txBody>
      </p:sp>
      <p:sp>
        <p:nvSpPr>
          <p:cNvPr id="37" name="!!dev.deliver.body">
            <a:extLst xmlns:a="http://schemas.openxmlformats.org/drawingml/2006/main">
              <a:ext uri="{FF2B5EF4-FFF2-40B4-BE49-F238E27FC236}">
                <a16:creationId xmlns:a16="http://schemas.microsoft.com/office/drawing/2014/main" id="{39943157-ABCE-4212-A135-BF8042F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检查代码、运行测试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提供工具与操作说明</a:t>
            </a:r>
          </a:p>
        </p:txBody>
      </p:sp>
      <p:sp>
        <p:nvSpPr>
          <p:cNvPr id="38" name="!!dev.revise">
            <a:extLst xmlns:a="http://schemas.openxmlformats.org/drawingml/2006/main">
              <a:ext uri="{FF2B5EF4-FFF2-40B4-BE49-F238E27FC236}">
                <a16:creationId xmlns:a16="http://schemas.microsoft.com/office/drawing/2014/main" id="{8E3EB41B-C440-4249-9EF1-1C70A95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dev.revise.role">
            <a:extLst xmlns:a="http://schemas.openxmlformats.org/drawingml/2006/main">
              <a:ext uri="{FF2B5EF4-FFF2-40B4-BE49-F238E27FC236}">
                <a16:creationId xmlns:a16="http://schemas.microsoft.com/office/drawing/2014/main" id="{69D5CD80-95E6-4CB9-B8FF-A65A6FD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LLM按反馈修改</a:t>
            </a:r>
          </a:p>
        </p:txBody>
      </p:sp>
      <p:sp>
        <p:nvSpPr>
          <p:cNvPr id="40" name="!!dev.revise.body">
            <a:extLst xmlns:a="http://schemas.openxmlformats.org/drawingml/2006/main">
              <a:ext uri="{FF2B5EF4-FFF2-40B4-BE49-F238E27FC236}">
                <a16:creationId xmlns:a16="http://schemas.microsoft.com/office/drawing/2014/main" id="{EB63020B-87A4-47F5-872C-26E80531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修改页眉过滤代码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补充页眉变化测试</a:t>
            </a:r>
          </a:p>
        </p:txBody>
      </p:sp>
      <p:sp>
        <p:nvSpPr>
          <p:cNvPr id="41" name="!!dev.feedback">
            <a:extLst xmlns:a="http://schemas.openxmlformats.org/drawingml/2006/main">
              <a:ext uri="{FF2B5EF4-FFF2-40B4-BE49-F238E27FC236}">
                <a16:creationId xmlns:a16="http://schemas.microsoft.com/office/drawing/2014/main" id="{3392EAA0-C912-46DB-A804-0B685E5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5245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!!dev.feedback.role">
            <a:extLst xmlns:a="http://schemas.openxmlformats.org/drawingml/2006/main">
              <a:ext uri="{FF2B5EF4-FFF2-40B4-BE49-F238E27FC236}">
                <a16:creationId xmlns:a16="http://schemas.microsoft.com/office/drawing/2014/main" id="{69D2BCE8-B596-4570-9922-B1BF800C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开发同事说明问题</a:t>
            </a:r>
          </a:p>
        </p:txBody>
      </p:sp>
      <p:sp>
        <p:nvSpPr>
          <p:cNvPr id="43" name="!!dev.feedback.body">
            <a:extLst xmlns:a="http://schemas.openxmlformats.org/drawingml/2006/main">
              <a:ext uri="{FF2B5EF4-FFF2-40B4-BE49-F238E27FC236}">
                <a16:creationId xmlns:a16="http://schemas.microsoft.com/office/drawing/2014/main" id="{C96EBED9-0477-4623-9C4D-1E58FAE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页眉差异无需报告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正文差异必须保留</a:t>
            </a:r>
          </a:p>
        </p:txBody>
      </p:sp>
      <p:sp>
        <p:nvSpPr>
          <p:cNvPr id="44" name="!!dev.toLLM.line">
            <a:extLst xmlns:a="http://schemas.openxmlformats.org/drawingml/2006/main">
              <a:ext uri="{FF2B5EF4-FFF2-40B4-BE49-F238E27FC236}">
                <a16:creationId xmlns:a16="http://schemas.microsoft.com/office/drawing/2014/main" id="{3034DBE5-F88A-4E41-A648-B5AF9EA9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dev.toLLM.tip">
            <a:extLst xmlns:a="http://schemas.openxmlformats.org/drawingml/2006/main">
              <a:ext uri="{FF2B5EF4-FFF2-40B4-BE49-F238E27FC236}">
                <a16:creationId xmlns:a16="http://schemas.microsoft.com/office/drawing/2014/main" id="{C2851DC9-FBCF-440B-92F5-6B8C615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dev.toTest.line">
            <a:extLst xmlns:a="http://schemas.openxmlformats.org/drawingml/2006/main">
              <a:ext uri="{FF2B5EF4-FFF2-40B4-BE49-F238E27FC236}">
                <a16:creationId xmlns:a16="http://schemas.microsoft.com/office/drawing/2014/main" id="{7EF1C08C-9E45-44EF-A9F9-D9AF9295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ev.toTest.tip">
            <a:extLst xmlns:a="http://schemas.openxmlformats.org/drawingml/2006/main">
              <a:ext uri="{FF2B5EF4-FFF2-40B4-BE49-F238E27FC236}">
                <a16:creationId xmlns:a16="http://schemas.microsoft.com/office/drawing/2014/main" id="{468AB41A-3296-4847-A5F8-B1901C7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ev.testFeedback.line">
            <a:extLst xmlns:a="http://schemas.openxmlformats.org/drawingml/2006/main">
              <a:ext uri="{FF2B5EF4-FFF2-40B4-BE49-F238E27FC236}">
                <a16:creationId xmlns:a16="http://schemas.microsoft.com/office/drawing/2014/main" id="{C7B0FD2F-8BD0-4FA8-B048-F608836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4714875"/>
            <a:ext cx="953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ev.testFeedback.tip">
            <a:extLst xmlns:a="http://schemas.openxmlformats.org/drawingml/2006/main">
              <a:ext uri="{FF2B5EF4-FFF2-40B4-BE49-F238E27FC236}">
                <a16:creationId xmlns:a16="http://schemas.microsoft.com/office/drawing/2014/main" id="{24D3D04A-73EE-422B-9FF2-7CFE822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ev.testFeedback.label">
            <a:extLst xmlns:a="http://schemas.openxmlformats.org/drawingml/2006/main">
              <a:ext uri="{FF2B5EF4-FFF2-40B4-BE49-F238E27FC236}">
                <a16:creationId xmlns:a16="http://schemas.microsoft.com/office/drawing/2014/main" id="{FE42F45E-DB20-4844-A698-D4B16C2F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33950"/>
            <a:ext cx="144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运行结果</a:t>
            </a:r>
          </a:p>
        </p:txBody>
      </p:sp>
      <p:sp>
        <p:nvSpPr>
          <p:cNvPr id="51" name="!!dev.toRevise.line">
            <a:extLst xmlns:a="http://schemas.openxmlformats.org/drawingml/2006/main">
              <a:ext uri="{FF2B5EF4-FFF2-40B4-BE49-F238E27FC236}">
                <a16:creationId xmlns:a16="http://schemas.microsoft.com/office/drawing/2014/main" id="{08E267BD-C022-4778-891C-2BB842E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0299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dev.toRevise.tip">
            <a:extLst xmlns:a="http://schemas.openxmlformats.org/drawingml/2006/main">
              <a:ext uri="{FF2B5EF4-FFF2-40B4-BE49-F238E27FC236}">
                <a16:creationId xmlns:a16="http://schemas.microsoft.com/office/drawing/2014/main" id="{F16305E5-4B8A-4A5E-83FE-4821788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dev.toDelivery.line">
            <a:extLst xmlns:a="http://schemas.openxmlformats.org/drawingml/2006/main">
              <a:ext uri="{FF2B5EF4-FFF2-40B4-BE49-F238E27FC236}">
                <a16:creationId xmlns:a16="http://schemas.microsoft.com/office/drawing/2014/main" id="{F80C14D3-766A-4B25-864E-BCAFE0B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723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dev.toDelivery.tip">
            <a:extLst xmlns:a="http://schemas.openxmlformats.org/drawingml/2006/main">
              <a:ext uri="{FF2B5EF4-FFF2-40B4-BE49-F238E27FC236}">
                <a16:creationId xmlns:a16="http://schemas.microsoft.com/office/drawing/2014/main" id="{0D4F4966-FBA1-4CE5-BF39-43EB189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563593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84559E6B-610D-42A7-BB5E-2ED1528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后台的其他应用方向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C247141-6191-4740-B4C6-129BCE2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其他工作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A34DC66-922B-44C9-B197-8BDE0EF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979C947B-13B7-453F-A6EB-03B50EC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8BBF1C8-2D77-4BF2-8B22-6E5D9D5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609D03-8096-4C7A-94F4-C7CDD8C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C7D89BF-B6AA-4E0A-9B4C-76E6A9B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41C2B43-D6DF-4812-8BE2-882571C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F1F6591-FE45-4897-884B-164490C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A992DF-39C6-4DD4-B9F3-466DBA7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9DA17E3-E4E9-4C98-958D-3B2FEB6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418E81F5-1009-4D48-9E19-42FACBE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2582A76-BA3F-4E2C-8075-686942B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E824473-F3B8-43D2-B52A-F96917A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61E6DE6-E855-4429-BF20-678E4EE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65AFC5C-BC43-41DA-8278-59FEDD5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733D4AF-5EF3-4210-A17E-C293E60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A4DF70-5F51-4E55-8E31-9DFC5C0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C61A0F5A-22A7-4297-A697-D115705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28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3E89FC04-48EE-4E62-B038-A65006E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DB66F164-0663-458E-9DE4-1D6EB46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00C3E674-B653-44F5-8F81-9F2B5AB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A92F043-2E78-4CB1-9568-5B95155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来源：财经网，招商基金数字金融报道；中国证券报，平安基金AI青蚨报道；永赢基金，基金业协会案例材料；汇添富公开专利CN121958380A</a:t>
            </a:r>
          </a:p>
        </p:txBody>
      </p:sp>
      <p:sp>
        <p:nvSpPr>
          <p:cNvPr id="24" name="!!other.0.title">
            <a:extLst xmlns:a="http://schemas.openxmlformats.org/drawingml/2006/main">
              <a:ext uri="{FF2B5EF4-FFF2-40B4-BE49-F238E27FC236}">
                <a16:creationId xmlns:a16="http://schemas.microsoft.com/office/drawing/2014/main" id="{69B106D5-A2F9-4010-9157-7920A80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内部办事</a:t>
            </a:r>
          </a:p>
        </p:txBody>
      </p:sp>
      <p:sp>
        <p:nvSpPr>
          <p:cNvPr id="25" name="!!other.0.company">
            <a:extLst xmlns:a="http://schemas.openxmlformats.org/drawingml/2006/main">
              <a:ext uri="{FF2B5EF4-FFF2-40B4-BE49-F238E27FC236}">
                <a16:creationId xmlns:a16="http://schemas.microsoft.com/office/drawing/2014/main" id="{DDB384E0-DB46-4D1A-9191-3B9339E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招商、平安</a:t>
            </a:r>
          </a:p>
        </p:txBody>
      </p:sp>
      <p:sp>
        <p:nvSpPr>
          <p:cNvPr id="26" name="!!other.0.flow.0">
            <a:extLst xmlns:a="http://schemas.openxmlformats.org/drawingml/2006/main">
              <a:ext uri="{FF2B5EF4-FFF2-40B4-BE49-F238E27FC236}">
                <a16:creationId xmlns:a16="http://schemas.microsoft.com/office/drawing/2014/main" id="{786D9927-3E32-4520-A528-F67DDAD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政策与流程问题</a:t>
            </a:r>
          </a:p>
        </p:txBody>
      </p:sp>
      <p:sp>
        <p:nvSpPr>
          <p:cNvPr id="27" name="!!other.0.flow.link0.line">
            <a:extLst xmlns:a="http://schemas.openxmlformats.org/drawingml/2006/main">
              <a:ext uri="{FF2B5EF4-FFF2-40B4-BE49-F238E27FC236}">
                <a16:creationId xmlns:a16="http://schemas.microsoft.com/office/drawing/2014/main" id="{FD184F08-E407-42CC-8150-99B9CD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other.0.flow.link0.tip">
            <a:extLst xmlns:a="http://schemas.openxmlformats.org/drawingml/2006/main">
              <a:ext uri="{FF2B5EF4-FFF2-40B4-BE49-F238E27FC236}">
                <a16:creationId xmlns:a16="http://schemas.microsoft.com/office/drawing/2014/main" id="{3B873C44-9ECC-4D06-9F13-9605CEB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other.0.flow.1">
            <a:extLst xmlns:a="http://schemas.openxmlformats.org/drawingml/2006/main">
              <a:ext uri="{FF2B5EF4-FFF2-40B4-BE49-F238E27FC236}">
                <a16:creationId xmlns:a16="http://schemas.microsoft.com/office/drawing/2014/main" id="{2029F67E-7230-4D0A-9927-44D4D60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LLM查资料并解释</a:t>
            </a:r>
          </a:p>
        </p:txBody>
      </p:sp>
      <p:sp>
        <p:nvSpPr>
          <p:cNvPr id="30" name="!!other.0.flow.link1.line">
            <a:extLst xmlns:a="http://schemas.openxmlformats.org/drawingml/2006/main">
              <a:ext uri="{FF2B5EF4-FFF2-40B4-BE49-F238E27FC236}">
                <a16:creationId xmlns:a16="http://schemas.microsoft.com/office/drawing/2014/main" id="{1E632043-8858-4ABF-8821-25DDA79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other.0.flow.link1.tip">
            <a:extLst xmlns:a="http://schemas.openxmlformats.org/drawingml/2006/main">
              <a:ext uri="{FF2B5EF4-FFF2-40B4-BE49-F238E27FC236}">
                <a16:creationId xmlns:a16="http://schemas.microsoft.com/office/drawing/2014/main" id="{7B02BCC8-8797-4D51-96EE-0485361E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other.0.flow.2">
            <a:extLst xmlns:a="http://schemas.openxmlformats.org/drawingml/2006/main">
              <a:ext uri="{FF2B5EF4-FFF2-40B4-BE49-F238E27FC236}">
                <a16:creationId xmlns:a16="http://schemas.microsoft.com/office/drawing/2014/main" id="{6430E800-852D-4409-8413-6A3E57D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7336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办理指引</a:t>
            </a:r>
          </a:p>
        </p:txBody>
      </p:sp>
      <p:sp>
        <p:nvSpPr>
          <p:cNvPr id="33" name="!!other.1.title">
            <a:extLst xmlns:a="http://schemas.openxmlformats.org/drawingml/2006/main">
              <a:ext uri="{FF2B5EF4-FFF2-40B4-BE49-F238E27FC236}">
                <a16:creationId xmlns:a16="http://schemas.microsoft.com/office/drawing/2014/main" id="{319B6879-9BC2-4722-B522-83B86C8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邮件安全</a:t>
            </a:r>
          </a:p>
        </p:txBody>
      </p:sp>
      <p:sp>
        <p:nvSpPr>
          <p:cNvPr id="34" name="!!other.1.company">
            <a:extLst xmlns:a="http://schemas.openxmlformats.org/drawingml/2006/main">
              <a:ext uri="{FF2B5EF4-FFF2-40B4-BE49-F238E27FC236}">
                <a16:creationId xmlns:a16="http://schemas.microsoft.com/office/drawing/2014/main" id="{3E3C6490-281F-47DA-9D51-CA2A47F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永赢</a:t>
            </a:r>
          </a:p>
        </p:txBody>
      </p:sp>
      <p:sp>
        <p:nvSpPr>
          <p:cNvPr id="35" name="!!other.1.flow.0">
            <a:extLst xmlns:a="http://schemas.openxmlformats.org/drawingml/2006/main">
              <a:ext uri="{FF2B5EF4-FFF2-40B4-BE49-F238E27FC236}">
                <a16:creationId xmlns:a16="http://schemas.microsoft.com/office/drawing/2014/main" id="{B1C7976E-66F7-427C-9620-131EE4E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邮件、附件与链接</a:t>
            </a:r>
          </a:p>
        </p:txBody>
      </p:sp>
      <p:sp>
        <p:nvSpPr>
          <p:cNvPr id="36" name="!!other.1.flow.link0.line">
            <a:extLst xmlns:a="http://schemas.openxmlformats.org/drawingml/2006/main">
              <a:ext uri="{FF2B5EF4-FFF2-40B4-BE49-F238E27FC236}">
                <a16:creationId xmlns:a16="http://schemas.microsoft.com/office/drawing/2014/main" id="{6C1945BD-CDF8-49F6-8D85-82DFEF8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other.1.flow.link0.tip">
            <a:extLst xmlns:a="http://schemas.openxmlformats.org/drawingml/2006/main">
              <a:ext uri="{FF2B5EF4-FFF2-40B4-BE49-F238E27FC236}">
                <a16:creationId xmlns:a16="http://schemas.microsoft.com/office/drawing/2014/main" id="{AFCAEA4C-CA34-41DF-9EB7-EDC12F23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other.1.flow.1">
            <a:extLst xmlns:a="http://schemas.openxmlformats.org/drawingml/2006/main">
              <a:ext uri="{FF2B5EF4-FFF2-40B4-BE49-F238E27FC236}">
                <a16:creationId xmlns:a16="http://schemas.microsoft.com/office/drawing/2014/main" id="{9B13C32C-C1C7-4EA6-8ACA-8091C539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LLM判断意图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调用检测工具</a:t>
            </a:r>
          </a:p>
        </p:txBody>
      </p:sp>
      <p:sp>
        <p:nvSpPr>
          <p:cNvPr id="39" name="!!other.1.flow.link1.line">
            <a:extLst xmlns:a="http://schemas.openxmlformats.org/drawingml/2006/main">
              <a:ext uri="{FF2B5EF4-FFF2-40B4-BE49-F238E27FC236}">
                <a16:creationId xmlns:a16="http://schemas.microsoft.com/office/drawing/2014/main" id="{0645D836-2273-4F40-AA15-0A38D99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other.1.flow.link1.tip">
            <a:extLst xmlns:a="http://schemas.openxmlformats.org/drawingml/2006/main">
              <a:ext uri="{FF2B5EF4-FFF2-40B4-BE49-F238E27FC236}">
                <a16:creationId xmlns:a16="http://schemas.microsoft.com/office/drawing/2014/main" id="{B938BE59-CBCF-4380-8800-31B1BD3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other.1.flow.2">
            <a:extLst xmlns:a="http://schemas.openxmlformats.org/drawingml/2006/main">
              <a:ext uri="{FF2B5EF4-FFF2-40B4-BE49-F238E27FC236}">
                <a16:creationId xmlns:a16="http://schemas.microsoft.com/office/drawing/2014/main" id="{5510AAC7-DE90-4751-8979-262385C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442912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安全处置</a:t>
            </a:r>
          </a:p>
        </p:txBody>
      </p:sp>
      <p:sp>
        <p:nvSpPr>
          <p:cNvPr id="42" name="!!other.2.title">
            <a:extLst xmlns:a="http://schemas.openxmlformats.org/drawingml/2006/main">
              <a:ext uri="{FF2B5EF4-FFF2-40B4-BE49-F238E27FC236}">
                <a16:creationId xmlns:a16="http://schemas.microsoft.com/office/drawing/2014/main" id="{734754DB-76A1-4F37-B58C-868CDE1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经营分析</a:t>
            </a:r>
          </a:p>
        </p:txBody>
      </p:sp>
      <p:sp>
        <p:nvSpPr>
          <p:cNvPr id="43" name="!!other.2.company">
            <a:extLst xmlns:a="http://schemas.openxmlformats.org/drawingml/2006/main">
              <a:ext uri="{FF2B5EF4-FFF2-40B4-BE49-F238E27FC236}">
                <a16:creationId xmlns:a16="http://schemas.microsoft.com/office/drawing/2014/main" id="{3D685739-F636-42EC-B0B1-7F5517C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汇添富公开专利提出</a:t>
            </a:r>
          </a:p>
        </p:txBody>
      </p:sp>
      <p:sp>
        <p:nvSpPr>
          <p:cNvPr id="44" name="!!other.2.flow.0">
            <a:extLst xmlns:a="http://schemas.openxmlformats.org/drawingml/2006/main">
              <a:ext uri="{FF2B5EF4-FFF2-40B4-BE49-F238E27FC236}">
                <a16:creationId xmlns:a16="http://schemas.microsoft.com/office/drawing/2014/main" id="{5B56DEBF-58E2-4683-AC4B-A71731C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产品、期间与指标</a:t>
            </a:r>
          </a:p>
        </p:txBody>
      </p:sp>
      <p:sp>
        <p:nvSpPr>
          <p:cNvPr id="45" name="!!other.2.flow.link0.line">
            <a:extLst xmlns:a="http://schemas.openxmlformats.org/drawingml/2006/main">
              <a:ext uri="{FF2B5EF4-FFF2-40B4-BE49-F238E27FC236}">
                <a16:creationId xmlns:a16="http://schemas.microsoft.com/office/drawing/2014/main" id="{1A719EFF-E911-4AD4-9D1C-17EDD2A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ther.2.flow.link0.tip">
            <a:extLst xmlns:a="http://schemas.openxmlformats.org/drawingml/2006/main">
              <a:ext uri="{FF2B5EF4-FFF2-40B4-BE49-F238E27FC236}">
                <a16:creationId xmlns:a16="http://schemas.microsoft.com/office/drawing/2014/main" id="{6C446C12-3E18-407F-8AD2-9B66CE69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ther.2.flow.1">
            <a:extLst xmlns:a="http://schemas.openxmlformats.org/drawingml/2006/main">
              <a:ext uri="{FF2B5EF4-FFF2-40B4-BE49-F238E27FC236}">
                <a16:creationId xmlns:a16="http://schemas.microsoft.com/office/drawing/2014/main" id="{B21E885D-B85B-4468-96E5-11C50994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LLM识别问题</a:t>
            </a:r>
          </a:p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算法计算归因</a:t>
            </a:r>
          </a:p>
        </p:txBody>
      </p:sp>
      <p:sp>
        <p:nvSpPr>
          <p:cNvPr id="48" name="!!other.2.flow.link1.line">
            <a:extLst xmlns:a="http://schemas.openxmlformats.org/drawingml/2006/main">
              <a:ext uri="{FF2B5EF4-FFF2-40B4-BE49-F238E27FC236}">
                <a16:creationId xmlns:a16="http://schemas.microsoft.com/office/drawing/2014/main" id="{22B69FDD-9400-4633-8149-84DA037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other.2.flow.link1.tip">
            <a:extLst xmlns:a="http://schemas.openxmlformats.org/drawingml/2006/main">
              <a:ext uri="{FF2B5EF4-FFF2-40B4-BE49-F238E27FC236}">
                <a16:creationId xmlns:a16="http://schemas.microsoft.com/office/drawing/2014/main" id="{E3EF810B-AD27-4245-A06A-DEDBF5A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other.2.flow.2">
            <a:extLst xmlns:a="http://schemas.openxmlformats.org/drawingml/2006/main">
              <a:ext uri="{FF2B5EF4-FFF2-40B4-BE49-F238E27FC236}">
                <a16:creationId xmlns:a16="http://schemas.microsoft.com/office/drawing/2014/main" id="{D55D487A-5617-40C5-A77F-A671AB2C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124575"/>
            <a:ext cx="328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LLM整理分析报告</a:t>
            </a:r>
          </a:p>
        </p:txBody>
      </p:sp>
    </p:spTree>
    <p:extLst>
      <p:ext uri="{BB962C8B-B14F-4D97-AF65-F5344CB8AC3E}">
        <p14:creationId xmlns:p14="http://schemas.microsoft.com/office/powerpoint/2010/main" val="160839705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1215663C-E14F-4F1C-84B9-CED778E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七项公司应用建议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E583D89-2844-4882-80C6-0316511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73A44C8-896D-48C8-926A-4F4D718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FDAD361-476E-4A57-A6E2-03EE305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A1FECCD-B16D-4217-A700-922B2D90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CFEBE0-E12C-4FF1-958C-BC2792B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30D6C68F-537C-4F44-B7EB-AC72095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研究员：分析与资料出处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B61FE0E-B01B-4517-8E60-96C62C7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14C3C204-C263-4045-83A4-70B2D82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交易员：查询与报价清单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7BD74A-21B5-4A9C-A685-2679886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EBE62538-3C84-490D-A5B7-17831D3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客户经理：沟通稿与问答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4139328-1F18-4884-9086-B1B95C1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21DCF91-9077-4A19-A382-0294C3D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959D0A6-F9DF-4B63-9D32-4EA9725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65E9C240-3CE3-482D-A40C-D53B049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审核同事：修改依据与建议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1EDAB76-A207-4314-AC11-3C2D2AA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76E09871-76D3-4E87-9D4E-39B22DA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风险同事：影响说明与事项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7743D2F6-C9E5-4155-A58F-03D00EC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CC9D681-4193-4213-8B66-33D1DAE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51AB6D-0D08-4A96-8E29-D8D2520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D45D27A6-377B-4F3F-8313-074AEB3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运营同事：记录与变更说明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BAE4ADD-7CE5-47A8-88BB-50ED753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887FBDDB-0083-4104-BDED-8BB69D8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开发同事：程序与测试样例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7C31D1B-65A7-4A84-848E-9F2B82F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41F771AA-2736-4C97-AAD7-573D6C7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29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CFC57306-432C-40AA-B343-64F3692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788A442F-FE47-4F72-8CB5-742AF93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0BB7895-36E0-4CB2-AC4A-493FB83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693606A-57C5-4DD6-9A5C-D64447D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鹏华基金，基金业协会案例材料；汇添富基金，基金业协会案例材料；工银瑞信基金，基金业协会案例材料；易方达基金，基金业协会案例材料</a:t>
            </a:r>
          </a:p>
        </p:txBody>
      </p:sp>
      <p:sp>
        <p:nvSpPr>
          <p:cNvPr id="30" name="!!recommend.head">
            <a:extLst xmlns:a="http://schemas.openxmlformats.org/drawingml/2006/main">
              <a:ext uri="{FF2B5EF4-FFF2-40B4-BE49-F238E27FC236}">
                <a16:creationId xmlns:a16="http://schemas.microsoft.com/office/drawing/2014/main" id="{665C56B3-05E8-4D81-997D-5E462AE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6272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七项建议对应七类工作产物</a:t>
            </a:r>
          </a:p>
        </p:txBody>
      </p:sp>
      <p:sp>
        <p:nvSpPr>
          <p:cNvPr id="31" name="!!recommend.body">
            <a:extLst xmlns:a="http://schemas.openxmlformats.org/drawingml/2006/main">
              <a:ext uri="{FF2B5EF4-FFF2-40B4-BE49-F238E27FC236}">
                <a16:creationId xmlns:a16="http://schemas.microsoft.com/office/drawing/2014/main" id="{85205C78-55C3-49C1-9534-4FA889F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77075"/>
            <a:ext cx="1394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LLM协助阅读、比较和编写，同事核对结果并完成判断</a:t>
            </a:r>
          </a:p>
        </p:txBody>
      </p:sp>
    </p:spTree>
    <p:extLst>
      <p:ext uri="{BB962C8B-B14F-4D97-AF65-F5344CB8AC3E}">
        <p14:creationId xmlns:p14="http://schemas.microsoft.com/office/powerpoint/2010/main" val="170129515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25D116FF-3E4C-423D-8462-A8620DB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两条跨部门资料协作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800A7777-B364-4671-9291-9DFB7EC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D16EA5-AB4B-4EEF-BB5A-F2237776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7BE9C79-D4A8-4A6F-B673-8E8DBA2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2D3B727-5C78-418B-824F-9507BA8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1BD476C-B12A-49BD-9436-2ACA1B2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35D93CF-3371-4C92-9748-610664F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52DD786-90A8-4712-B90C-F38070D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98E6542-D146-41FB-BEB3-89B4396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A037E8C-D41D-43B6-A90A-3330248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B6D41D6-0DA4-4E4B-AC86-06999D7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6884079-4DD4-48D7-B76A-AD185FC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44BD18B-D05C-4771-8A63-AC57C53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C6DB495-595B-4625-99CC-236E6E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FC45B39-1811-4C98-AB39-4494A564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9F24E3-D447-49E1-8E1A-79A93F3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18EEB6E-7331-43E8-B372-90AD7D9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0D7DD9E8-23B4-42A5-AA22-7E69ABB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F824BC8-B6A9-4228-B7A0-63D7995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5458993-DDDB-4AD7-B636-637E715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30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80F45DD2-E037-4CF4-B609-B631EBB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B35C4320-BFDD-4D6A-885C-51A0FF0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A2EECFCC-0000-4BEE-80CA-5AC71349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01CAE7-7803-4FF8-8D59-C971567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ross.head0">
            <a:extLst xmlns:a="http://schemas.openxmlformats.org/drawingml/2006/main">
              <a:ext uri="{FF2B5EF4-FFF2-40B4-BE49-F238E27FC236}">
                <a16:creationId xmlns:a16="http://schemas.microsoft.com/office/drawing/2014/main" id="{92DFEEE9-BCFE-4F85-B8B3-90288BE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26" name="!!cross.head1">
            <a:extLst xmlns:a="http://schemas.openxmlformats.org/drawingml/2006/main">
              <a:ext uri="{FF2B5EF4-FFF2-40B4-BE49-F238E27FC236}">
                <a16:creationId xmlns:a16="http://schemas.microsoft.com/office/drawing/2014/main" id="{15D03B38-40C0-477A-8B21-95D63B4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27" name="!!cross.head2">
            <a:extLst xmlns:a="http://schemas.openxmlformats.org/drawingml/2006/main">
              <a:ext uri="{FF2B5EF4-FFF2-40B4-BE49-F238E27FC236}">
                <a16:creationId xmlns:a16="http://schemas.microsoft.com/office/drawing/2014/main" id="{81204416-7A8D-4D49-A72D-F956305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8" name="!!cross.issuer">
            <a:extLst xmlns:a="http://schemas.openxmlformats.org/drawingml/2006/main">
              <a:ext uri="{FF2B5EF4-FFF2-40B4-BE49-F238E27FC236}">
                <a16:creationId xmlns:a16="http://schemas.microsoft.com/office/drawing/2014/main" id="{7CEC7C56-814D-4EB3-BF5E-DD0E901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8610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29" name="!!cross.0.0">
            <a:extLst xmlns:a="http://schemas.openxmlformats.org/drawingml/2006/main">
              <a:ext uri="{FF2B5EF4-FFF2-40B4-BE49-F238E27FC236}">
                <a16:creationId xmlns:a16="http://schemas.microsoft.com/office/drawing/2014/main" id="{5C0212E0-B89D-4D97-8378-20D19F95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询价资料</a:t>
            </a:r>
          </a:p>
        </p:txBody>
      </p:sp>
      <p:sp>
        <p:nvSpPr>
          <p:cNvPr id="30" name="!!cross.0.link0.line">
            <a:extLst xmlns:a="http://schemas.openxmlformats.org/drawingml/2006/main">
              <a:ext uri="{FF2B5EF4-FFF2-40B4-BE49-F238E27FC236}">
                <a16:creationId xmlns:a16="http://schemas.microsoft.com/office/drawing/2014/main" id="{54EFB79F-B7B4-4F6E-B917-A1FC5E5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1" name="!!cross.0.link0.tip">
            <a:extLst xmlns:a="http://schemas.openxmlformats.org/drawingml/2006/main">
              <a:ext uri="{FF2B5EF4-FFF2-40B4-BE49-F238E27FC236}">
                <a16:creationId xmlns:a16="http://schemas.microsoft.com/office/drawing/2014/main" id="{2D437D63-EC55-488C-A862-AB900C9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2" name="!!cross.0.1">
            <a:extLst xmlns:a="http://schemas.openxmlformats.org/drawingml/2006/main">
              <a:ext uri="{FF2B5EF4-FFF2-40B4-BE49-F238E27FC236}">
                <a16:creationId xmlns:a16="http://schemas.microsoft.com/office/drawing/2014/main" id="{828B0E12-B62B-48FF-97CE-56BD3EF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事件解释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持仓跟踪</a:t>
            </a:r>
          </a:p>
        </p:txBody>
      </p:sp>
      <p:sp>
        <p:nvSpPr>
          <p:cNvPr id="33" name="!!cross.0.link1.line">
            <a:extLst xmlns:a="http://schemas.openxmlformats.org/drawingml/2006/main">
              <a:ext uri="{FF2B5EF4-FFF2-40B4-BE49-F238E27FC236}">
                <a16:creationId xmlns:a16="http://schemas.microsoft.com/office/drawing/2014/main" id="{F1EDA5FD-9B27-41AA-83F9-A9E0C78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4" name="!!cross.0.link1.tip">
            <a:extLst xmlns:a="http://schemas.openxmlformats.org/drawingml/2006/main">
              <a:ext uri="{FF2B5EF4-FFF2-40B4-BE49-F238E27FC236}">
                <a16:creationId xmlns:a16="http://schemas.microsoft.com/office/drawing/2014/main" id="{3F7C7787-6E18-45D5-9E0F-B6069CA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5" name="!!cross.0.2">
            <a:extLst xmlns:a="http://schemas.openxmlformats.org/drawingml/2006/main">
              <a:ext uri="{FF2B5EF4-FFF2-40B4-BE49-F238E27FC236}">
                <a16:creationId xmlns:a16="http://schemas.microsoft.com/office/drawing/2014/main" id="{3A8E1655-E9E6-477A-8AC7-A0125BC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相关文件</a:t>
            </a:r>
          </a:p>
          <a:p xmlns:a="http://schemas.openxmlformats.org/drawingml/2006/main">
            <a:pPr algn="ctr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版本维护</a:t>
            </a:r>
          </a:p>
        </p:txBody>
      </p:sp>
      <p:sp>
        <p:nvSpPr>
          <p:cNvPr id="36" name="!!cross.1.0">
            <a:extLst xmlns:a="http://schemas.openxmlformats.org/drawingml/2006/main">
              <a:ext uri="{FF2B5EF4-FFF2-40B4-BE49-F238E27FC236}">
                <a16:creationId xmlns:a16="http://schemas.microsoft.com/office/drawing/2014/main" id="{3B17314E-F141-4F6E-B44A-61BB12E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沟通稿 V1</a:t>
            </a:r>
          </a:p>
        </p:txBody>
      </p:sp>
      <p:sp>
        <p:nvSpPr>
          <p:cNvPr id="37" name="!!cross.1.link0.line">
            <a:extLst xmlns:a="http://schemas.openxmlformats.org/drawingml/2006/main">
              <a:ext uri="{FF2B5EF4-FFF2-40B4-BE49-F238E27FC236}">
                <a16:creationId xmlns:a16="http://schemas.microsoft.com/office/drawing/2014/main" id="{ED7BFE5D-7908-4154-8110-A036616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38" name="!!cross.1.link0.tip">
            <a:extLst xmlns:a="http://schemas.openxmlformats.org/drawingml/2006/main">
              <a:ext uri="{FF2B5EF4-FFF2-40B4-BE49-F238E27FC236}">
                <a16:creationId xmlns:a16="http://schemas.microsoft.com/office/drawing/2014/main" id="{04C767F8-34C0-4B66-8B82-748922A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9" name="!!cross.1.1">
            <a:extLst xmlns:a="http://schemas.openxmlformats.org/drawingml/2006/main">
              <a:ext uri="{FF2B5EF4-FFF2-40B4-BE49-F238E27FC236}">
                <a16:creationId xmlns:a16="http://schemas.microsoft.com/office/drawing/2014/main" id="{0B85B413-E4AA-4171-A198-EC2D973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审核与修订稿 V2</a:t>
            </a:r>
          </a:p>
        </p:txBody>
      </p:sp>
      <p:sp>
        <p:nvSpPr>
          <p:cNvPr id="40" name="!!cross.1.link1.line">
            <a:extLst xmlns:a="http://schemas.openxmlformats.org/drawingml/2006/main">
              <a:ext uri="{FF2B5EF4-FFF2-40B4-BE49-F238E27FC236}">
                <a16:creationId xmlns:a16="http://schemas.microsoft.com/office/drawing/2014/main" id="{4A2F9BF1-631D-4237-93C1-E7CB4B3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41" name="!!cross.1.link1.tip">
            <a:extLst xmlns:a="http://schemas.openxmlformats.org/drawingml/2006/main">
              <a:ext uri="{FF2B5EF4-FFF2-40B4-BE49-F238E27FC236}">
                <a16:creationId xmlns:a16="http://schemas.microsoft.com/office/drawing/2014/main" id="{166A0831-44E5-484E-A86F-721CDBF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cross.1.2">
            <a:extLst xmlns:a="http://schemas.openxmlformats.org/drawingml/2006/main">
              <a:ext uri="{FF2B5EF4-FFF2-40B4-BE49-F238E27FC236}">
                <a16:creationId xmlns:a16="http://schemas.microsoft.com/office/drawing/2014/main" id="{49F2E24E-B86A-4AE8-8255-680ACE6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102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  <a:p xmlns:a="http://schemas.openxmlformats.org/drawingml/2006/main">
            <a:pPr algn="ctr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3" name="!!cross.client">
            <a:extLst xmlns:a="http://schemas.openxmlformats.org/drawingml/2006/main">
              <a:ext uri="{FF2B5EF4-FFF2-40B4-BE49-F238E27FC236}">
                <a16:creationId xmlns:a16="http://schemas.microsoft.com/office/drawing/2014/main" id="{60318B3A-D9F3-4D29-ACEA-710B822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01643060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!!heading">
            <a:extLst xmlns:a="http://schemas.openxmlformats.org/drawingml/2006/main">
              <a:ext uri="{FF2B5EF4-FFF2-40B4-BE49-F238E27FC236}">
                <a16:creationId xmlns:a16="http://schemas.microsoft.com/office/drawing/2014/main" id="{88FB95F2-10BE-4E18-9795-3550748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应用共用的资料与服务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EDFD796-AE65-480B-BE0C-FB55896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352CAE1-7FE3-42E0-B464-FB044D7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0ADE4E5-17A7-4088-8A52-6AA4614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4578775-0B73-48EF-B3CE-65C92B9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881CB0E-7776-4665-BD1B-E45EBEA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D7FEE8E-8046-4B13-A5DE-9BDADE8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C28F2CF-6ABE-4EBF-A4A5-888D24F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386D801-52D0-4720-A874-A27EDDE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1B60E36-1446-4B4E-8C75-B1B6787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07DE92D-AACE-40B5-97DC-698EEB1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EB4FDB1-E34B-420B-BF90-77FCA4A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7115636-56D0-499A-9CB2-54DAC74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90B440-158B-4FC1-8287-B203870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521D28C-90F0-41F4-85B9-873AC75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2015F7F-EE56-4FD2-A652-50DDBD5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2E460-81E8-45F0-89B4-4F96806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773049B-4F7A-494C-9985-B1951D76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1A57BCB1-2594-4D2D-8F8C-E182DB5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31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B1EF24C2-29EB-4776-9865-CB0F283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129DC091-AD97-4D0B-9876-B9654C59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A2C6B5E-4AD2-4A41-958A-056EA0C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A3451162-43B3-4763-87D0-B1E547D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来源：天弘基金，基金业协会案例材料；南方基金，基金业协会案例材料；工银瑞信基金，基金业协会案例材料</a:t>
            </a:r>
          </a:p>
        </p:txBody>
      </p:sp>
      <p:sp>
        <p:nvSpPr>
          <p:cNvPr id="24" name="!!arch.entry">
            <a:extLst xmlns:a="http://schemas.openxmlformats.org/drawingml/2006/main">
              <a:ext uri="{FF2B5EF4-FFF2-40B4-BE49-F238E27FC236}">
                <a16:creationId xmlns:a16="http://schemas.microsoft.com/office/drawing/2014/main" id="{A119799D-26CE-4AEE-90AF-E9A0E378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0534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同事提出业务问题并提供材料</a:t>
            </a:r>
          </a:p>
        </p:txBody>
      </p:sp>
      <p:sp>
        <p:nvSpPr>
          <p:cNvPr id="25" name="!!arch.a.line">
            <a:extLst xmlns:a="http://schemas.openxmlformats.org/drawingml/2006/main">
              <a:ext uri="{FF2B5EF4-FFF2-40B4-BE49-F238E27FC236}">
                <a16:creationId xmlns:a16="http://schemas.microsoft.com/office/drawing/2014/main" id="{F1E6D9CC-8FD0-47E8-A3A0-CE8B7E6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28860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arch.a.tip">
            <a:extLst xmlns:a="http://schemas.openxmlformats.org/drawingml/2006/main">
              <a:ext uri="{FF2B5EF4-FFF2-40B4-BE49-F238E27FC236}">
                <a16:creationId xmlns:a16="http://schemas.microsoft.com/office/drawing/2014/main" id="{B9519E35-8658-4892-9491-A80279EB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arch.workflow">
            <a:extLst xmlns:a="http://schemas.openxmlformats.org/drawingml/2006/main">
              <a:ext uri="{FF2B5EF4-FFF2-40B4-BE49-F238E27FC236}">
                <a16:creationId xmlns:a16="http://schemas.microsoft.com/office/drawing/2014/main" id="{6C09C5B7-CC8B-435C-A4F0-690AD0E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0534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研究、询价、客户材料、审核、风险、文件处理、开发</a:t>
            </a:r>
          </a:p>
        </p:txBody>
      </p:sp>
      <p:sp>
        <p:nvSpPr>
          <p:cNvPr id="28" name="!!arch.b.stem">
            <a:extLst xmlns:a="http://schemas.openxmlformats.org/drawingml/2006/main">
              <a:ext uri="{FF2B5EF4-FFF2-40B4-BE49-F238E27FC236}">
                <a16:creationId xmlns:a16="http://schemas.microsoft.com/office/drawing/2014/main" id="{CE737B03-F92C-4AA1-81B2-EF8AECD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419100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arch.b.bus">
            <a:extLst xmlns:a="http://schemas.openxmlformats.org/drawingml/2006/main">
              <a:ext uri="{FF2B5EF4-FFF2-40B4-BE49-F238E27FC236}">
                <a16:creationId xmlns:a16="http://schemas.microsoft.com/office/drawing/2014/main" id="{AD4318DE-8C60-47FD-891A-0E15056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5724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arch.b.model.line">
            <a:extLst xmlns:a="http://schemas.openxmlformats.org/drawingml/2006/main">
              <a:ext uri="{FF2B5EF4-FFF2-40B4-BE49-F238E27FC236}">
                <a16:creationId xmlns:a16="http://schemas.microsoft.com/office/drawing/2014/main" id="{8424D01A-0989-4BE9-BA64-C4A43DD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arch.b.model.tip">
            <a:extLst xmlns:a="http://schemas.openxmlformats.org/drawingml/2006/main">
              <a:ext uri="{FF2B5EF4-FFF2-40B4-BE49-F238E27FC236}">
                <a16:creationId xmlns:a16="http://schemas.microsoft.com/office/drawing/2014/main" id="{C80298C3-2491-4D6C-80EC-F3855E5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43650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arch.b.tools.line">
            <a:extLst xmlns:a="http://schemas.openxmlformats.org/drawingml/2006/main">
              <a:ext uri="{FF2B5EF4-FFF2-40B4-BE49-F238E27FC236}">
                <a16:creationId xmlns:a16="http://schemas.microsoft.com/office/drawing/2014/main" id="{E9B9A815-E258-4CA0-AEAF-389B56F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25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arch.b.tools.tip">
            <a:extLst xmlns:a="http://schemas.openxmlformats.org/drawingml/2006/main">
              <a:ext uri="{FF2B5EF4-FFF2-40B4-BE49-F238E27FC236}">
                <a16:creationId xmlns:a16="http://schemas.microsoft.com/office/drawing/2014/main" id="{FE6B7DCB-9392-491B-9086-4477ADC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68175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arch.model">
            <a:extLst xmlns:a="http://schemas.openxmlformats.org/drawingml/2006/main">
              <a:ext uri="{FF2B5EF4-FFF2-40B4-BE49-F238E27FC236}">
                <a16:creationId xmlns:a16="http://schemas.microsoft.com/office/drawing/2014/main" id="{5A31CC02-2265-42EC-B2EA-0CA8460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46767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!!arch.model.role">
            <a:extLst xmlns:a="http://schemas.openxmlformats.org/drawingml/2006/main">
              <a:ext uri="{FF2B5EF4-FFF2-40B4-BE49-F238E27FC236}">
                <a16:creationId xmlns:a16="http://schemas.microsoft.com/office/drawing/2014/main" id="{BE9A535D-B17F-4129-B7FB-3976BDB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91075"/>
            <a:ext cx="429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LLM处理语言与内容</a:t>
            </a:r>
          </a:p>
        </p:txBody>
      </p:sp>
      <p:sp>
        <p:nvSpPr>
          <p:cNvPr id="36" name="!!arch.model.body">
            <a:extLst xmlns:a="http://schemas.openxmlformats.org/drawingml/2006/main">
              <a:ext uri="{FF2B5EF4-FFF2-40B4-BE49-F238E27FC236}">
                <a16:creationId xmlns:a16="http://schemas.microsoft.com/office/drawing/2014/main" id="{569CD593-7AE4-4DBB-8052-B010F8A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29225"/>
            <a:ext cx="4295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理解问题、阅读材料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比较解释、生成文字与代码</a:t>
            </a:r>
          </a:p>
        </p:txBody>
      </p:sp>
      <p:sp>
        <p:nvSpPr>
          <p:cNvPr id="37" name="!!arch.tools">
            <a:extLst xmlns:a="http://schemas.openxmlformats.org/drawingml/2006/main">
              <a:ext uri="{FF2B5EF4-FFF2-40B4-BE49-F238E27FC236}">
                <a16:creationId xmlns:a16="http://schemas.microsoft.com/office/drawing/2014/main" id="{D5CF5EB7-6192-438D-B870-66D1663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48200"/>
            <a:ext cx="49434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arch.tools.role">
            <a:extLst xmlns:a="http://schemas.openxmlformats.org/drawingml/2006/main">
              <a:ext uri="{FF2B5EF4-FFF2-40B4-BE49-F238E27FC236}">
                <a16:creationId xmlns:a16="http://schemas.microsoft.com/office/drawing/2014/main" id="{5893D5E4-E2E0-4FBB-B83D-1B1CAEE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456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工具执行具体操作</a:t>
            </a:r>
          </a:p>
        </p:txBody>
      </p:sp>
      <p:sp>
        <p:nvSpPr>
          <p:cNvPr id="39" name="!!arch.tools.body">
            <a:extLst xmlns:a="http://schemas.openxmlformats.org/drawingml/2006/main">
              <a:ext uri="{FF2B5EF4-FFF2-40B4-BE49-F238E27FC236}">
                <a16:creationId xmlns:a16="http://schemas.microsoft.com/office/drawing/2014/main" id="{78BD66FF-A1D9-4759-B810-E04CE7D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62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查询、计算、文件处理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程序运行与测试</a:t>
            </a:r>
          </a:p>
        </p:txBody>
      </p:sp>
      <p:sp>
        <p:nvSpPr>
          <p:cNvPr id="40" name="!!arch.data">
            <a:extLst xmlns:a="http://schemas.openxmlformats.org/drawingml/2006/main">
              <a:ext uri="{FF2B5EF4-FFF2-40B4-BE49-F238E27FC236}">
                <a16:creationId xmlns:a16="http://schemas.microsoft.com/office/drawing/2014/main" id="{17F33FBF-3C66-4CFF-BBEA-7F34C0C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77000"/>
            <a:ext cx="1053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共用资料：文档、知识库、业务数据，保留权限、出处与版本</a:t>
            </a:r>
          </a:p>
        </p:txBody>
      </p:sp>
      <p:sp>
        <p:nvSpPr>
          <p:cNvPr id="41" name="!!arch.models">
            <a:extLst xmlns:a="http://schemas.openxmlformats.org/drawingml/2006/main">
              <a:ext uri="{FF2B5EF4-FFF2-40B4-BE49-F238E27FC236}">
                <a16:creationId xmlns:a16="http://schemas.microsoft.com/office/drawing/2014/main" id="{FD7738F8-D071-4540-AE85-4259266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模型服务候选：Qwen、DeepSeek等，按具体任务验证</a:t>
            </a:r>
          </a:p>
        </p:txBody>
      </p:sp>
    </p:spTree>
    <p:extLst>
      <p:ext uri="{BB962C8B-B14F-4D97-AF65-F5344CB8AC3E}">
        <p14:creationId xmlns:p14="http://schemas.microsoft.com/office/powerpoint/2010/main" val="680530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B20C4A03-CBC1-4460-B2F1-BF5A210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033BA1-C62B-4BB3-B070-97FA564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F914AC2-485E-4B41-B521-D05CE72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1E3941E-F9E2-4755-ABC2-F648E2F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489DC3-6298-4464-8F33-71CF9FF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E59F5FF-3E63-4C1D-938A-F3B1422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B8783B8-E835-48F0-A26B-1C85A906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DCC4E64-0E4A-468E-89F5-4596167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D31AE19-4D13-4CD7-93EB-8C72BC3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F6326C3-ED2E-4FDE-A29E-B3F58AF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E3C5A44-55F5-4804-9C86-77F09CC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6321AFB-443B-4D8C-B953-4D06CF8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0535E53-173B-44E5-83F2-77F0ED8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83F1A30-0081-4909-94C3-DDB72E4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CF76D5-7F40-4AED-88A8-E84F8B6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1C2FBCB-B413-4880-BBEB-2C05DAD4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E322933-37D3-4028-81A2-81EFF70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1163460-8D10-4EC8-BAB4-4774729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D5338C6C-8AF2-408D-8C0A-15B69BA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410365E1-7F56-4AEE-A694-4F89FE4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3" action="ppaction://hlinksldjump" tooltip="第33页  应用效果与推进重点"/>
            <a:extLst xmlns:a="http://schemas.openxmlformats.org/drawingml/2006/main">
              <a:ext uri="{FF2B5EF4-FFF2-40B4-BE49-F238E27FC236}">
                <a16:creationId xmlns:a16="http://schemas.microsoft.com/office/drawing/2014/main" id="{91394B51-DC80-492D-840F-1637FA0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591A6DD-6679-4F1C-A4F8-0D7EE42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8D02071-0A34-46AD-B267-B6E53D5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phase.0.number">
            <a:extLst xmlns:a="http://schemas.openxmlformats.org/drawingml/2006/main">
              <a:ext uri="{FF2B5EF4-FFF2-40B4-BE49-F238E27FC236}">
                <a16:creationId xmlns:a16="http://schemas.microsoft.com/office/drawing/2014/main" id="{DB71FABD-1BFF-46DC-B43C-FAB7AF5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5" name="!!phase.0.title">
            <a:extLst xmlns:a="http://schemas.openxmlformats.org/drawingml/2006/main">
              <a:ext uri="{FF2B5EF4-FFF2-40B4-BE49-F238E27FC236}">
                <a16:creationId xmlns:a16="http://schemas.microsoft.com/office/drawing/2014/main" id="{CA35CDC4-30D1-4D37-B1B0-FA8F679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研究与客户材料</a:t>
            </a:r>
          </a:p>
        </p:txBody>
      </p:sp>
      <p:sp>
        <p:nvSpPr>
          <p:cNvPr id="26" name="!!phase.0.roles">
            <a:extLst xmlns:a="http://schemas.openxmlformats.org/drawingml/2006/main">
              <a:ext uri="{FF2B5EF4-FFF2-40B4-BE49-F238E27FC236}">
                <a16:creationId xmlns:a16="http://schemas.microsoft.com/office/drawing/2014/main" id="{D3229F6B-F7A9-4D89-90B6-AB4D63A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投研、销售、合规、IT</a:t>
            </a:r>
          </a:p>
        </p:txBody>
      </p:sp>
      <p:sp>
        <p:nvSpPr>
          <p:cNvPr id="27" name="!!phase.0.outputs">
            <a:extLst xmlns:a="http://schemas.openxmlformats.org/drawingml/2006/main">
              <a:ext uri="{FF2B5EF4-FFF2-40B4-BE49-F238E27FC236}">
                <a16:creationId xmlns:a16="http://schemas.microsoft.com/office/drawing/2014/main" id="{18F76B1B-A44F-44E0-8BC3-6CBE9A9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任务样例、资料目录、应用初版</a:t>
            </a:r>
          </a:p>
        </p:txBody>
      </p:sp>
      <p:sp>
        <p:nvSpPr>
          <p:cNvPr id="28" name="!!phase.0.rule">
            <a:extLst xmlns:a="http://schemas.openxmlformats.org/drawingml/2006/main">
              <a:ext uri="{FF2B5EF4-FFF2-40B4-BE49-F238E27FC236}">
                <a16:creationId xmlns:a16="http://schemas.microsoft.com/office/drawing/2014/main" id="{E7AA0C28-705F-49C8-8301-4D6797A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35718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phase.1.number">
            <a:extLst xmlns:a="http://schemas.openxmlformats.org/drawingml/2006/main">
              <a:ext uri="{FF2B5EF4-FFF2-40B4-BE49-F238E27FC236}">
                <a16:creationId xmlns:a16="http://schemas.microsoft.com/office/drawing/2014/main" id="{2B9CD7E9-9E3C-4502-B926-A0C2BF0E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0" name="!!phase.1.title">
            <a:extLst xmlns:a="http://schemas.openxmlformats.org/drawingml/2006/main">
              <a:ext uri="{FF2B5EF4-FFF2-40B4-BE49-F238E27FC236}">
                <a16:creationId xmlns:a16="http://schemas.microsoft.com/office/drawing/2014/main" id="{9498F33A-3B01-4CD3-A1ED-ED18D53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交易与运营连接</a:t>
            </a:r>
          </a:p>
        </p:txBody>
      </p:sp>
      <p:sp>
        <p:nvSpPr>
          <p:cNvPr id="31" name="!!phase.1.roles">
            <a:extLst xmlns:a="http://schemas.openxmlformats.org/drawingml/2006/main">
              <a:ext uri="{FF2B5EF4-FFF2-40B4-BE49-F238E27FC236}">
                <a16:creationId xmlns:a16="http://schemas.microsoft.com/office/drawing/2014/main" id="{2ED954D3-AA1F-4491-A2C0-E7F590BB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053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交易、运营、IT</a:t>
            </a:r>
          </a:p>
        </p:txBody>
      </p:sp>
      <p:sp>
        <p:nvSpPr>
          <p:cNvPr id="32" name="!!phase.1.outputs">
            <a:extLst xmlns:a="http://schemas.openxmlformats.org/drawingml/2006/main">
              <a:ext uri="{FF2B5EF4-FFF2-40B4-BE49-F238E27FC236}">
                <a16:creationId xmlns:a16="http://schemas.microsoft.com/office/drawing/2014/main" id="{4A919862-DB01-41C8-9BCD-DFDBCEC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字段规范、查询接口、文件流程</a:t>
            </a:r>
          </a:p>
        </p:txBody>
      </p:sp>
      <p:sp>
        <p:nvSpPr>
          <p:cNvPr id="33" name="!!phase.1.rule">
            <a:extLst xmlns:a="http://schemas.openxmlformats.org/drawingml/2006/main">
              <a:ext uri="{FF2B5EF4-FFF2-40B4-BE49-F238E27FC236}">
                <a16:creationId xmlns:a16="http://schemas.microsoft.com/office/drawing/2014/main" id="{89CD9E98-59ED-4DF3-AC09-2A67CD6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526732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phase.2.number">
            <a:extLst xmlns:a="http://schemas.openxmlformats.org/drawingml/2006/main">
              <a:ext uri="{FF2B5EF4-FFF2-40B4-BE49-F238E27FC236}">
                <a16:creationId xmlns:a16="http://schemas.microsoft.com/office/drawing/2014/main" id="{C8134763-6F28-461D-B6B5-08547A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5" name="!!phase.2.title">
            <a:extLst xmlns:a="http://schemas.openxmlformats.org/drawingml/2006/main">
              <a:ext uri="{FF2B5EF4-FFF2-40B4-BE49-F238E27FC236}">
                <a16:creationId xmlns:a16="http://schemas.microsoft.com/office/drawing/2014/main" id="{D938AE4D-1220-4561-AC90-5ACA03D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6388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工具与内部服务</a:t>
            </a:r>
          </a:p>
        </p:txBody>
      </p:sp>
      <p:sp>
        <p:nvSpPr>
          <p:cNvPr id="36" name="!!phase.2.roles">
            <a:extLst xmlns:a="http://schemas.openxmlformats.org/drawingml/2006/main">
              <a:ext uri="{FF2B5EF4-FFF2-40B4-BE49-F238E27FC236}">
                <a16:creationId xmlns:a16="http://schemas.microsoft.com/office/drawing/2014/main" id="{F02A6387-3280-4E6C-A689-81C89E2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20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业务部门、IT</a:t>
            </a:r>
          </a:p>
        </p:txBody>
      </p:sp>
      <p:sp>
        <p:nvSpPr>
          <p:cNvPr id="37" name="!!phase.2.outputs">
            <a:extLst xmlns:a="http://schemas.openxmlformats.org/drawingml/2006/main">
              <a:ext uri="{FF2B5EF4-FFF2-40B4-BE49-F238E27FC236}">
                <a16:creationId xmlns:a16="http://schemas.microsoft.com/office/drawing/2014/main" id="{BE27B3CE-3BF3-49C1-9E6C-AD57CFD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007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业务工具、操作说明、维护机制</a:t>
            </a:r>
          </a:p>
        </p:txBody>
      </p:sp>
      <p:sp>
        <p:nvSpPr>
          <p:cNvPr id="38" name="!!phase.2.rule">
            <a:extLst xmlns:a="http://schemas.openxmlformats.org/drawingml/2006/main">
              <a:ext uri="{FF2B5EF4-FFF2-40B4-BE49-F238E27FC236}">
                <a16:creationId xmlns:a16="http://schemas.microsoft.com/office/drawing/2014/main" id="{3013EAD5-9D43-45D9-B5E0-97165D0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69627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915621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!!heading">
            <a:extLst xmlns:a="http://schemas.openxmlformats.org/drawingml/2006/main">
              <a:ext uri="{FF2B5EF4-FFF2-40B4-BE49-F238E27FC236}">
                <a16:creationId xmlns:a16="http://schemas.microsoft.com/office/drawing/2014/main" id="{23DCD704-E1D5-487D-9925-506DF75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应用效果与推进重点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C2C4DC9-41E4-4EC6-9A70-AE6AB76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9221720-2744-4A58-8054-272045B1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8A6E357-B6C2-4CAF-8DBF-F58B30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B2A51A-959D-4E46-98FB-C38BCADE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6B25E9-8A72-45EB-BD52-53D27F8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A1AC754-0394-4A8D-ABF6-9090F9F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FD716F7-D802-47F4-BAC7-9906E40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5F2D37-0761-42EA-A021-662C0BC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D438967-61AF-462E-AA89-80317C5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0572919-3FF5-444A-8AED-1ABB938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F616360-5D21-44A5-8F25-5D09F70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DC53CE5-FD40-4481-8E3A-E127D670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146FB-BAB8-4410-A0C7-384114C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07258-7999-423D-A966-6A7D7AF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3507238-775C-47A3-930D-9A2366E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52F4B69-2634-4965-9DF7-6F2897F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E4AB687-039B-470F-AF92-1B0A46D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F7664845-8B41-4B20-8B97-2541F8C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33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2A34B8B9-3C45-4B40-B685-8BD6D50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82DD485-5DF8-4352-B97C-CEC3E56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回总图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5B5C89A-0EFF-41CE-B6FA-0794313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BC518237-6A0A-4C4C-86CA-645258E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evaluation.main">
            <a:extLst xmlns:a="http://schemas.openxmlformats.org/drawingml/2006/main">
              <a:ext uri="{FF2B5EF4-FFF2-40B4-BE49-F238E27FC236}">
                <a16:creationId xmlns:a16="http://schemas.microsoft.com/office/drawing/2014/main" id="{14A53AC5-37CB-43D0-919F-9E08BD81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从研究分析与客户材料两条流程启动</a:t>
            </a:r>
          </a:p>
        </p:txBody>
      </p:sp>
      <p:sp>
        <p:nvSpPr>
          <p:cNvPr id="25" name="!!evaluation.flow.0">
            <a:extLst xmlns:a="http://schemas.openxmlformats.org/drawingml/2006/main">
              <a:ext uri="{FF2B5EF4-FFF2-40B4-BE49-F238E27FC236}">
                <a16:creationId xmlns:a16="http://schemas.microsoft.com/office/drawing/2014/main" id="{39E2447B-AF31-4D46-9C5D-BB870D98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原工作任务</a:t>
            </a:r>
          </a:p>
        </p:txBody>
      </p:sp>
      <p:sp>
        <p:nvSpPr>
          <p:cNvPr id="26" name="!!evaluation.flow.link0.line">
            <a:extLst xmlns:a="http://schemas.openxmlformats.org/drawingml/2006/main">
              <a:ext uri="{FF2B5EF4-FFF2-40B4-BE49-F238E27FC236}">
                <a16:creationId xmlns:a16="http://schemas.microsoft.com/office/drawing/2014/main" id="{E922DCFA-66D9-4284-A6D0-65C8D2E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evaluation.flow.link0.tip">
            <a:extLst xmlns:a="http://schemas.openxmlformats.org/drawingml/2006/main">
              <a:ext uri="{FF2B5EF4-FFF2-40B4-BE49-F238E27FC236}">
                <a16:creationId xmlns:a16="http://schemas.microsoft.com/office/drawing/2014/main" id="{FCB11886-E159-4C6A-B3D3-6D315B9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evaluation.flow.1">
            <a:extLst xmlns:a="http://schemas.openxmlformats.org/drawingml/2006/main">
              <a:ext uri="{FF2B5EF4-FFF2-40B4-BE49-F238E27FC236}">
                <a16:creationId xmlns:a16="http://schemas.microsoft.com/office/drawing/2014/main" id="{0A4A9B83-C98D-45BB-94CB-1A476FB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使用应用</a:t>
            </a:r>
          </a:p>
        </p:txBody>
      </p:sp>
      <p:sp>
        <p:nvSpPr>
          <p:cNvPr id="29" name="!!evaluation.flow.link1.line">
            <a:extLst xmlns:a="http://schemas.openxmlformats.org/drawingml/2006/main">
              <a:ext uri="{FF2B5EF4-FFF2-40B4-BE49-F238E27FC236}">
                <a16:creationId xmlns:a16="http://schemas.microsoft.com/office/drawing/2014/main" id="{F93B01BB-2859-43E5-821E-39F17D47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valuation.flow.link1.tip">
            <a:extLst xmlns:a="http://schemas.openxmlformats.org/drawingml/2006/main">
              <a:ext uri="{FF2B5EF4-FFF2-40B4-BE49-F238E27FC236}">
                <a16:creationId xmlns:a16="http://schemas.microsoft.com/office/drawing/2014/main" id="{2010766D-B83F-469A-9045-8D099CFB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valuation.flow.2">
            <a:extLst xmlns:a="http://schemas.openxmlformats.org/drawingml/2006/main">
              <a:ext uri="{FF2B5EF4-FFF2-40B4-BE49-F238E27FC236}">
                <a16:creationId xmlns:a16="http://schemas.microsoft.com/office/drawing/2014/main" id="{CFCC68A9-1E19-4402-845A-F411459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记录结果</a:t>
            </a:r>
          </a:p>
        </p:txBody>
      </p:sp>
      <p:sp>
        <p:nvSpPr>
          <p:cNvPr id="32" name="!!evaluation.flow.link2.line">
            <a:extLst xmlns:a="http://schemas.openxmlformats.org/drawingml/2006/main">
              <a:ext uri="{FF2B5EF4-FFF2-40B4-BE49-F238E27FC236}">
                <a16:creationId xmlns:a16="http://schemas.microsoft.com/office/drawing/2014/main" id="{CE1C9824-4240-472B-9D84-7D24310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evaluation.flow.link2.tip">
            <a:extLst xmlns:a="http://schemas.openxmlformats.org/drawingml/2006/main">
              <a:ext uri="{FF2B5EF4-FFF2-40B4-BE49-F238E27FC236}">
                <a16:creationId xmlns:a16="http://schemas.microsoft.com/office/drawing/2014/main" id="{AA385DE2-1886-424D-B8C8-7F2AC92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evaluation.flow.3">
            <a:extLst xmlns:a="http://schemas.openxmlformats.org/drawingml/2006/main">
              <a:ext uri="{FF2B5EF4-FFF2-40B4-BE49-F238E27FC236}">
                <a16:creationId xmlns:a16="http://schemas.microsoft.com/office/drawing/2014/main" id="{B1C2D01E-854D-4D49-BFAD-093F574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3286125"/>
            <a:ext cx="2383631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调整流程</a:t>
            </a:r>
          </a:p>
        </p:txBody>
      </p:sp>
      <p:sp>
        <p:nvSpPr>
          <p:cNvPr id="35" name="!!evaluation.0.title">
            <a:extLst xmlns:a="http://schemas.openxmlformats.org/drawingml/2006/main">
              <a:ext uri="{FF2B5EF4-FFF2-40B4-BE49-F238E27FC236}">
                <a16:creationId xmlns:a16="http://schemas.microsoft.com/office/drawing/2014/main" id="{043CFC54-6227-4FF8-B1F3-366BEC2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任务完成时间</a:t>
            </a:r>
          </a:p>
        </p:txBody>
      </p:sp>
      <p:sp>
        <p:nvSpPr>
          <p:cNvPr id="36" name="!!evaluation.0.body">
            <a:extLst xmlns:a="http://schemas.openxmlformats.org/drawingml/2006/main">
              <a:ext uri="{FF2B5EF4-FFF2-40B4-BE49-F238E27FC236}">
                <a16:creationId xmlns:a16="http://schemas.microsoft.com/office/drawing/2014/main" id="{8F6A44EB-9549-4DB1-A687-97818BDF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准备、查找与交付用时</a:t>
            </a:r>
          </a:p>
        </p:txBody>
      </p:sp>
      <p:sp>
        <p:nvSpPr>
          <p:cNvPr id="37" name="!!evaluation.1.title">
            <a:extLst xmlns:a="http://schemas.openxmlformats.org/drawingml/2006/main">
              <a:ext uri="{FF2B5EF4-FFF2-40B4-BE49-F238E27FC236}">
                <a16:creationId xmlns:a16="http://schemas.microsoft.com/office/drawing/2014/main" id="{2E8A7213-3FCF-42D7-8BE4-F3F735C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交付采用情况</a:t>
            </a:r>
          </a:p>
        </p:txBody>
      </p:sp>
      <p:sp>
        <p:nvSpPr>
          <p:cNvPr id="38" name="!!evaluation.1.body">
            <a:extLst xmlns:a="http://schemas.openxmlformats.org/drawingml/2006/main">
              <a:ext uri="{FF2B5EF4-FFF2-40B4-BE49-F238E27FC236}">
                <a16:creationId xmlns:a16="http://schemas.microsoft.com/office/drawing/2014/main" id="{1FAFA454-7859-4ED8-9E94-73E48BB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材料与分析实际使用情况</a:t>
            </a:r>
          </a:p>
        </p:txBody>
      </p:sp>
      <p:sp>
        <p:nvSpPr>
          <p:cNvPr id="39" name="!!evaluation.2.title">
            <a:extLst xmlns:a="http://schemas.openxmlformats.org/drawingml/2006/main">
              <a:ext uri="{FF2B5EF4-FFF2-40B4-BE49-F238E27FC236}">
                <a16:creationId xmlns:a16="http://schemas.microsoft.com/office/drawing/2014/main" id="{E6A48D5D-1A45-4C50-B110-ED0F01BA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返工次数</a:t>
            </a:r>
          </a:p>
        </p:txBody>
      </p:sp>
      <p:sp>
        <p:nvSpPr>
          <p:cNvPr id="40" name="!!evaluation.2.body">
            <a:extLst xmlns:a="http://schemas.openxmlformats.org/drawingml/2006/main">
              <a:ext uri="{FF2B5EF4-FFF2-40B4-BE49-F238E27FC236}">
                <a16:creationId xmlns:a16="http://schemas.microsoft.com/office/drawing/2014/main" id="{9070DDE3-07CF-4493-8CE7-619C80D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修改轮次与重复核对</a:t>
            </a:r>
          </a:p>
        </p:txBody>
      </p:sp>
      <p:sp>
        <p:nvSpPr>
          <p:cNvPr id="41" name="!!evaluation.3.title">
            <a:extLst xmlns:a="http://schemas.openxmlformats.org/drawingml/2006/main">
              <a:ext uri="{FF2B5EF4-FFF2-40B4-BE49-F238E27FC236}">
                <a16:creationId xmlns:a16="http://schemas.microsoft.com/office/drawing/2014/main" id="{6A250790-881E-439C-8DBE-0029979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使用频次</a:t>
            </a:r>
          </a:p>
        </p:txBody>
      </p:sp>
      <p:sp>
        <p:nvSpPr>
          <p:cNvPr id="42" name="!!evaluation.3.body">
            <a:extLst xmlns:a="http://schemas.openxmlformats.org/drawingml/2006/main">
              <a:ext uri="{FF2B5EF4-FFF2-40B4-BE49-F238E27FC236}">
                <a16:creationId xmlns:a16="http://schemas.microsoft.com/office/drawing/2014/main" id="{ACDD1512-CDBE-4185-9B64-F3AA47D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同事是否持续使用</a:t>
            </a:r>
          </a:p>
        </p:txBody>
      </p:sp>
    </p:spTree>
    <p:extLst>
      <p:ext uri="{BB962C8B-B14F-4D97-AF65-F5344CB8AC3E}">
        <p14:creationId xmlns:p14="http://schemas.microsoft.com/office/powerpoint/2010/main" val="49895966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2026-10-25T18:18:02.1310000Z</dcterms:created>
  <dcterms:modified xsi:type="dcterms:W3CDTF">2026-10-25T18:18:02.1310000Z</dcterms:modified>
</coreProperties>
</file>