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b13fcc7da344d9" /><Relationship Type="http://schemas.openxmlformats.org/officeDocument/2006/relationships/extended-properties" Target="/docProps/app.xml" Id="R214c72da042d468d" /><Relationship Type="http://schemas.openxmlformats.org/officeDocument/2006/relationships/officeDocument" Target="/ppt/presentation.xml" Id="Rd947cc5019094a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edf622feb34f6c"/>
  </p:sldMasterIdLst>
  <p:notesMasterIdLst>
    <p:notesMasterId xmlns:r="http://schemas.openxmlformats.org/officeDocument/2006/relationships" r:id="Rf9786646d0d74c89"/>
  </p:notesMasterIdLst>
  <p:sldIdLst>
    <p:sldId xmlns:r="http://schemas.openxmlformats.org/officeDocument/2006/relationships" id="256" r:id="Re5fd9431d24d4af2"/>
    <p:sldId xmlns:r="http://schemas.openxmlformats.org/officeDocument/2006/relationships" id="257" r:id="R5115b65cf4c841b3"/>
    <p:sldId xmlns:r="http://schemas.openxmlformats.org/officeDocument/2006/relationships" id="258" r:id="R362c84fb63414d49"/>
    <p:sldId xmlns:r="http://schemas.openxmlformats.org/officeDocument/2006/relationships" id="259" r:id="R445d1147b4f845c8"/>
    <p:sldId xmlns:r="http://schemas.openxmlformats.org/officeDocument/2006/relationships" id="260" r:id="Rd9aeb58b26e74b1e"/>
    <p:sldId xmlns:r="http://schemas.openxmlformats.org/officeDocument/2006/relationships" id="261" r:id="R110f5da5ea944c66"/>
    <p:sldId xmlns:r="http://schemas.openxmlformats.org/officeDocument/2006/relationships" id="262" r:id="Re7d874c00f3b409a"/>
    <p:sldId xmlns:r="http://schemas.openxmlformats.org/officeDocument/2006/relationships" id="263" r:id="R82eb26406a7f4258"/>
    <p:sldId xmlns:r="http://schemas.openxmlformats.org/officeDocument/2006/relationships" id="264" r:id="R1b5d600a8742427f"/>
    <p:sldId xmlns:r="http://schemas.openxmlformats.org/officeDocument/2006/relationships" id="265" r:id="R204036c9f730493f"/>
    <p:sldId xmlns:r="http://schemas.openxmlformats.org/officeDocument/2006/relationships" id="266" r:id="R94b10685d20c4e64"/>
    <p:sldId xmlns:r="http://schemas.openxmlformats.org/officeDocument/2006/relationships" id="267" r:id="R382395a64427457a"/>
    <p:sldId xmlns:r="http://schemas.openxmlformats.org/officeDocument/2006/relationships" id="268" r:id="Rf5b3a6c0837f4fd5"/>
    <p:sldId xmlns:r="http://schemas.openxmlformats.org/officeDocument/2006/relationships" id="269" r:id="Rb3ec37e7c87e40c3"/>
    <p:sldId xmlns:r="http://schemas.openxmlformats.org/officeDocument/2006/relationships" id="270" r:id="Rb09213ca4c4d4f7c"/>
    <p:sldId xmlns:r="http://schemas.openxmlformats.org/officeDocument/2006/relationships" id="271" r:id="Rf68e93216f8c439c"/>
    <p:sldId xmlns:r="http://schemas.openxmlformats.org/officeDocument/2006/relationships" id="272" r:id="Rc14e221fb3d244dd"/>
    <p:sldId xmlns:r="http://schemas.openxmlformats.org/officeDocument/2006/relationships" id="273" r:id="Re61a094ec30544d1"/>
    <p:sldId xmlns:r="http://schemas.openxmlformats.org/officeDocument/2006/relationships" id="274" r:id="R7b3c9b18f55643e7"/>
    <p:sldId xmlns:r="http://schemas.openxmlformats.org/officeDocument/2006/relationships" id="275" r:id="R14ab955c1d0043db"/>
    <p:sldId xmlns:r="http://schemas.openxmlformats.org/officeDocument/2006/relationships" id="276" r:id="Ra67225a326b3400a"/>
    <p:sldId xmlns:r="http://schemas.openxmlformats.org/officeDocument/2006/relationships" id="277" r:id="R6f606508618e4463"/>
    <p:sldId xmlns:r="http://schemas.openxmlformats.org/officeDocument/2006/relationships" id="278" r:id="R856c6b40a63d4188"/>
    <p:sldId xmlns:r="http://schemas.openxmlformats.org/officeDocument/2006/relationships" id="279" r:id="R59d59a1bbade4167"/>
    <p:sldId xmlns:r="http://schemas.openxmlformats.org/officeDocument/2006/relationships" id="280" r:id="Rb49b19824a5c4ad3"/>
    <p:sldId xmlns:r="http://schemas.openxmlformats.org/officeDocument/2006/relationships" id="281" r:id="Refdb8f80a77f43db"/>
    <p:sldId xmlns:r="http://schemas.openxmlformats.org/officeDocument/2006/relationships" id="282" r:id="R92b42a9058fd46c1"/>
    <p:sldId xmlns:r="http://schemas.openxmlformats.org/officeDocument/2006/relationships" id="283" r:id="R680a3b88b8e1426c"/>
    <p:sldId xmlns:r="http://schemas.openxmlformats.org/officeDocument/2006/relationships" id="284" r:id="Rbe992604f77c44e9"/>
    <p:sldId xmlns:r="http://schemas.openxmlformats.org/officeDocument/2006/relationships" id="285" r:id="Rd9dcd7a2478041e1"/>
    <p:sldId xmlns:r="http://schemas.openxmlformats.org/officeDocument/2006/relationships" id="286" r:id="R099c64aea5734d6f"/>
    <p:sldId xmlns:r="http://schemas.openxmlformats.org/officeDocument/2006/relationships" id="287" r:id="Rbc6896b8bb894d5f"/>
    <p:sldId xmlns:r="http://schemas.openxmlformats.org/officeDocument/2006/relationships" id="288" r:id="R666c00ebe576408b"/>
    <p:sldId xmlns:r="http://schemas.openxmlformats.org/officeDocument/2006/relationships" id="289" r:id="Re2718c8ccb3c4698"/>
    <p:sldId xmlns:r="http://schemas.openxmlformats.org/officeDocument/2006/relationships" id="290" r:id="Rebd9dca54bc64d12"/>
    <p:sldId xmlns:r="http://schemas.openxmlformats.org/officeDocument/2006/relationships" id="291" r:id="Re032b05e5d914f87"/>
    <p:sldId xmlns:r="http://schemas.openxmlformats.org/officeDocument/2006/relationships" id="292" r:id="Rf7e5199a6dc04c33"/>
    <p:sldId xmlns:r="http://schemas.openxmlformats.org/officeDocument/2006/relationships" id="293" r:id="R5f01d58189eb427a"/>
    <p:sldId xmlns:r="http://schemas.openxmlformats.org/officeDocument/2006/relationships" id="294" r:id="R96d489fedbea4ca0"/>
    <p:sldId xmlns:r="http://schemas.openxmlformats.org/officeDocument/2006/relationships" id="295" r:id="R1f7017afcd66413f"/>
    <p:sldId xmlns:r="http://schemas.openxmlformats.org/officeDocument/2006/relationships" id="296" r:id="R66fb0866594f4dbc"/>
    <p:sldId xmlns:r="http://schemas.openxmlformats.org/officeDocument/2006/relationships" id="297" r:id="R8f9e04d3468c4b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9a71d4231747a2" /><Relationship Type="http://schemas.openxmlformats.org/officeDocument/2006/relationships/slideMaster" Target="/ppt/slideMasters/slideMaster1.xml" Id="Rd7edf622feb34f6c" /><Relationship Type="http://schemas.openxmlformats.org/officeDocument/2006/relationships/notesMaster" Target="/ppt/notesMasters/notesMaster1.xml" Id="Rf9786646d0d74c89" /><Relationship Type="http://schemas.openxmlformats.org/officeDocument/2006/relationships/presProps" Target="/ppt/presProps.xml" Id="R1b9dead7d697466d" /><Relationship Type="http://schemas.openxmlformats.org/officeDocument/2006/relationships/tableStyles" Target="/ppt/tableStyles.xml" Id="Rb18891b6a5da4739" /><Relationship Type="http://schemas.openxmlformats.org/officeDocument/2006/relationships/slide" Target="/ppt/slides/slide1.xml" Id="Re5fd9431d24d4af2" /><Relationship Type="http://schemas.openxmlformats.org/officeDocument/2006/relationships/slide" Target="/ppt/slides/slide2.xml" Id="R5115b65cf4c841b3" /><Relationship Type="http://schemas.openxmlformats.org/officeDocument/2006/relationships/slide" Target="/ppt/slides/slide3.xml" Id="R362c84fb63414d49" /><Relationship Type="http://schemas.openxmlformats.org/officeDocument/2006/relationships/slide" Target="/ppt/slides/slide4.xml" Id="R445d1147b4f845c8" /><Relationship Type="http://schemas.openxmlformats.org/officeDocument/2006/relationships/slide" Target="/ppt/slides/slide5.xml" Id="Rd9aeb58b26e74b1e" /><Relationship Type="http://schemas.openxmlformats.org/officeDocument/2006/relationships/slide" Target="/ppt/slides/slide6.xml" Id="R110f5da5ea944c66" /><Relationship Type="http://schemas.openxmlformats.org/officeDocument/2006/relationships/slide" Target="/ppt/slides/slide7.xml" Id="Re7d874c00f3b409a" /><Relationship Type="http://schemas.openxmlformats.org/officeDocument/2006/relationships/slide" Target="/ppt/slides/slide8.xml" Id="R82eb26406a7f4258" /><Relationship Type="http://schemas.openxmlformats.org/officeDocument/2006/relationships/slide" Target="/ppt/slides/slide9.xml" Id="R1b5d600a8742427f" /><Relationship Type="http://schemas.openxmlformats.org/officeDocument/2006/relationships/slide" Target="/ppt/slides/slide10.xml" Id="R204036c9f730493f" /><Relationship Type="http://schemas.openxmlformats.org/officeDocument/2006/relationships/slide" Target="/ppt/slides/slide11.xml" Id="R94b10685d20c4e64" /><Relationship Type="http://schemas.openxmlformats.org/officeDocument/2006/relationships/slide" Target="/ppt/slides/slide12.xml" Id="R382395a64427457a" /><Relationship Type="http://schemas.openxmlformats.org/officeDocument/2006/relationships/slide" Target="/ppt/slides/slide13.xml" Id="Rf5b3a6c0837f4fd5" /><Relationship Type="http://schemas.openxmlformats.org/officeDocument/2006/relationships/slide" Target="/ppt/slides/slide14.xml" Id="Rb3ec37e7c87e40c3" /><Relationship Type="http://schemas.openxmlformats.org/officeDocument/2006/relationships/slide" Target="/ppt/slides/slide15.xml" Id="Rb09213ca4c4d4f7c" /><Relationship Type="http://schemas.openxmlformats.org/officeDocument/2006/relationships/slide" Target="/ppt/slides/slide16.xml" Id="Rf68e93216f8c439c" /><Relationship Type="http://schemas.openxmlformats.org/officeDocument/2006/relationships/slide" Target="/ppt/slides/slide17.xml" Id="Rc14e221fb3d244dd" /><Relationship Type="http://schemas.openxmlformats.org/officeDocument/2006/relationships/slide" Target="/ppt/slides/slide18.xml" Id="Re61a094ec30544d1" /><Relationship Type="http://schemas.openxmlformats.org/officeDocument/2006/relationships/slide" Target="/ppt/slides/slide19.xml" Id="R7b3c9b18f55643e7" /><Relationship Type="http://schemas.openxmlformats.org/officeDocument/2006/relationships/slide" Target="/ppt/slides/slide20.xml" Id="R14ab955c1d0043db" /><Relationship Type="http://schemas.openxmlformats.org/officeDocument/2006/relationships/slide" Target="/ppt/slides/slide21.xml" Id="Ra67225a326b3400a" /><Relationship Type="http://schemas.openxmlformats.org/officeDocument/2006/relationships/slide" Target="/ppt/slides/slide22.xml" Id="R6f606508618e4463" /><Relationship Type="http://schemas.openxmlformats.org/officeDocument/2006/relationships/slide" Target="/ppt/slides/slide23.xml" Id="R856c6b40a63d4188" /><Relationship Type="http://schemas.openxmlformats.org/officeDocument/2006/relationships/slide" Target="/ppt/slides/slide24.xml" Id="R59d59a1bbade4167" /><Relationship Type="http://schemas.openxmlformats.org/officeDocument/2006/relationships/slide" Target="/ppt/slides/slide25.xml" Id="Rb49b19824a5c4ad3" /><Relationship Type="http://schemas.openxmlformats.org/officeDocument/2006/relationships/slide" Target="/ppt/slides/slide26.xml" Id="Refdb8f80a77f43db" /><Relationship Type="http://schemas.openxmlformats.org/officeDocument/2006/relationships/slide" Target="/ppt/slides/slide27.xml" Id="R92b42a9058fd46c1" /><Relationship Type="http://schemas.openxmlformats.org/officeDocument/2006/relationships/slide" Target="/ppt/slides/slide28.xml" Id="R680a3b88b8e1426c" /><Relationship Type="http://schemas.openxmlformats.org/officeDocument/2006/relationships/slide" Target="/ppt/slides/slide29.xml" Id="Rbe992604f77c44e9" /><Relationship Type="http://schemas.openxmlformats.org/officeDocument/2006/relationships/slide" Target="/ppt/slides/slide30.xml" Id="Rd9dcd7a2478041e1" /><Relationship Type="http://schemas.openxmlformats.org/officeDocument/2006/relationships/slide" Target="/ppt/slides/slide31.xml" Id="R099c64aea5734d6f" /><Relationship Type="http://schemas.openxmlformats.org/officeDocument/2006/relationships/slide" Target="/ppt/slides/slide32.xml" Id="Rbc6896b8bb894d5f" /><Relationship Type="http://schemas.openxmlformats.org/officeDocument/2006/relationships/slide" Target="/ppt/slides/slide33.xml" Id="R666c00ebe576408b" /><Relationship Type="http://schemas.openxmlformats.org/officeDocument/2006/relationships/slide" Target="/ppt/slides/slide34.xml" Id="Re2718c8ccb3c4698" /><Relationship Type="http://schemas.openxmlformats.org/officeDocument/2006/relationships/slide" Target="/ppt/slides/slide35.xml" Id="Rebd9dca54bc64d12" /><Relationship Type="http://schemas.openxmlformats.org/officeDocument/2006/relationships/slide" Target="/ppt/slides/slide36.xml" Id="Re032b05e5d914f87" /><Relationship Type="http://schemas.openxmlformats.org/officeDocument/2006/relationships/slide" Target="/ppt/slides/slide37.xml" Id="Rf7e5199a6dc04c33" /><Relationship Type="http://schemas.openxmlformats.org/officeDocument/2006/relationships/slide" Target="/ppt/slides/slide38.xml" Id="R5f01d58189eb427a" /><Relationship Type="http://schemas.openxmlformats.org/officeDocument/2006/relationships/slide" Target="/ppt/slides/slide39.xml" Id="R96d489fedbea4ca0" /><Relationship Type="http://schemas.openxmlformats.org/officeDocument/2006/relationships/slide" Target="/ppt/slides/slide40.xml" Id="R1f7017afcd66413f" /><Relationship Type="http://schemas.openxmlformats.org/officeDocument/2006/relationships/slide" Target="/ppt/slides/slide41.xml" Id="R66fb0866594f4dbc" /><Relationship Type="http://schemas.openxmlformats.org/officeDocument/2006/relationships/slide" Target="/ppt/slides/slide42.xml" Id="R8f9e04d3468c4b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51df4baea141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196dff44094deb" /><Relationship Type="http://schemas.openxmlformats.org/officeDocument/2006/relationships/notesMaster" Target="/ppt/notesMasters/notesMaster1.xml" Id="Rcf6bdd78930c4a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5324a5eb614845" /><Relationship Type="http://schemas.openxmlformats.org/officeDocument/2006/relationships/notesMaster" Target="/ppt/notesMasters/notesMaster1.xml" Id="R8be1b2bd418a44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333bc856fa4666" /><Relationship Type="http://schemas.openxmlformats.org/officeDocument/2006/relationships/notesMaster" Target="/ppt/notesMasters/notesMaster1.xml" Id="R2cfb2028844b41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2bfcbddf4c4969" /><Relationship Type="http://schemas.openxmlformats.org/officeDocument/2006/relationships/notesMaster" Target="/ppt/notesMasters/notesMaster1.xml" Id="R8febe937e2dc46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09ecb6ee7847e9" /><Relationship Type="http://schemas.openxmlformats.org/officeDocument/2006/relationships/notesMaster" Target="/ppt/notesMasters/notesMaster1.xml" Id="R569c637c7cc34f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17580bcef04815" /><Relationship Type="http://schemas.openxmlformats.org/officeDocument/2006/relationships/notesMaster" Target="/ppt/notesMasters/notesMaster1.xml" Id="Rc6f41c60e75546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8da2418573413c" /><Relationship Type="http://schemas.openxmlformats.org/officeDocument/2006/relationships/notesMaster" Target="/ppt/notesMasters/notesMaster1.xml" Id="R6cdb59a362fd47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a7e3da3484424a" /><Relationship Type="http://schemas.openxmlformats.org/officeDocument/2006/relationships/notesMaster" Target="/ppt/notesMasters/notesMaster1.xml" Id="Rd5930f2421ae4e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f9c2c51c814bba" /><Relationship Type="http://schemas.openxmlformats.org/officeDocument/2006/relationships/notesMaster" Target="/ppt/notesMasters/notesMaster1.xml" Id="R7b124740117e44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96e176003848b9" /><Relationship Type="http://schemas.openxmlformats.org/officeDocument/2006/relationships/notesMaster" Target="/ppt/notesMasters/notesMaster1.xml" Id="Re0f0ddfd6d4f48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f706d47bb845f2" /><Relationship Type="http://schemas.openxmlformats.org/officeDocument/2006/relationships/notesMaster" Target="/ppt/notesMasters/notesMaster1.xml" Id="R107b5ff17ea54f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cbdad07d3f4534" /><Relationship Type="http://schemas.openxmlformats.org/officeDocument/2006/relationships/notesMaster" Target="/ppt/notesMasters/notesMaster1.xml" Id="R478eb6b2a74041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14a32f729e4f56" /><Relationship Type="http://schemas.openxmlformats.org/officeDocument/2006/relationships/notesMaster" Target="/ppt/notesMasters/notesMaster1.xml" Id="Rea418283889849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900a38f8e14bf5" /><Relationship Type="http://schemas.openxmlformats.org/officeDocument/2006/relationships/notesMaster" Target="/ppt/notesMasters/notesMaster1.xml" Id="R7d61ecfe32be4d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c3c25f788c4603" /><Relationship Type="http://schemas.openxmlformats.org/officeDocument/2006/relationships/notesMaster" Target="/ppt/notesMasters/notesMaster1.xml" Id="R349be607b4f949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c8c692e94b4a72" /><Relationship Type="http://schemas.openxmlformats.org/officeDocument/2006/relationships/notesMaster" Target="/ppt/notesMasters/notesMaster1.xml" Id="Rdeb0fb4f7a6e43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85193cb01d461b" /><Relationship Type="http://schemas.openxmlformats.org/officeDocument/2006/relationships/notesMaster" Target="/ppt/notesMasters/notesMaster1.xml" Id="Rfaafcfc6ae984f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baa411745649c4" /><Relationship Type="http://schemas.openxmlformats.org/officeDocument/2006/relationships/notesMaster" Target="/ppt/notesMasters/notesMaster1.xml" Id="R3f1c4e78b25246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b0f1be72894218" /><Relationship Type="http://schemas.openxmlformats.org/officeDocument/2006/relationships/notesMaster" Target="/ppt/notesMasters/notesMaster1.xml" Id="Rd1086ad74ec346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e25d0bf97d4f88" /><Relationship Type="http://schemas.openxmlformats.org/officeDocument/2006/relationships/notesMaster" Target="/ppt/notesMasters/notesMaster1.xml" Id="R826aeda862a448f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915e870b01d45fc" /><Relationship Type="http://schemas.openxmlformats.org/officeDocument/2006/relationships/notesMaster" Target="/ppt/notesMasters/notesMaster1.xml" Id="Rce28d35532634f2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1c26888d98046cf" /><Relationship Type="http://schemas.openxmlformats.org/officeDocument/2006/relationships/notesMaster" Target="/ppt/notesMasters/notesMaster1.xml" Id="R6b69129c64bd406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ac6e06f641b4e05" /><Relationship Type="http://schemas.openxmlformats.org/officeDocument/2006/relationships/notesMaster" Target="/ppt/notesMasters/notesMaster1.xml" Id="R0420bbcbfc7d444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98348fd23d84c38" /><Relationship Type="http://schemas.openxmlformats.org/officeDocument/2006/relationships/notesMaster" Target="/ppt/notesMasters/notesMaster1.xml" Id="R6c7779222c81446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42f287a4432491a" /><Relationship Type="http://schemas.openxmlformats.org/officeDocument/2006/relationships/notesMaster" Target="/ppt/notesMasters/notesMaster1.xml" Id="Ra06e447794e0410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a3b12d2c1cb462d" /><Relationship Type="http://schemas.openxmlformats.org/officeDocument/2006/relationships/notesMaster" Target="/ppt/notesMasters/notesMaster1.xml" Id="Rbc898bc674784e5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c98d2cb5c844458" /><Relationship Type="http://schemas.openxmlformats.org/officeDocument/2006/relationships/notesMaster" Target="/ppt/notesMasters/notesMaster1.xml" Id="R3d9498fe75e04dd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3f351e65dc94bc0" /><Relationship Type="http://schemas.openxmlformats.org/officeDocument/2006/relationships/notesMaster" Target="/ppt/notesMasters/notesMaster1.xml" Id="Rf30da19dbd8d47e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2fc07b73dd44b4e" /><Relationship Type="http://schemas.openxmlformats.org/officeDocument/2006/relationships/notesMaster" Target="/ppt/notesMasters/notesMaster1.xml" Id="R2475ab97c6c44ca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a9a5a14814540cc" /><Relationship Type="http://schemas.openxmlformats.org/officeDocument/2006/relationships/notesMaster" Target="/ppt/notesMasters/notesMaster1.xml" Id="Rf93918af67ce466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dadc9d436314ec5" /><Relationship Type="http://schemas.openxmlformats.org/officeDocument/2006/relationships/notesMaster" Target="/ppt/notesMasters/notesMaster1.xml" Id="R0488214c72b34d7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85bdb937f77441d" /><Relationship Type="http://schemas.openxmlformats.org/officeDocument/2006/relationships/notesMaster" Target="/ppt/notesMasters/notesMaster1.xml" Id="R0d6960334ffc4b0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094593d6e5547c7" /><Relationship Type="http://schemas.openxmlformats.org/officeDocument/2006/relationships/notesMaster" Target="/ppt/notesMasters/notesMaster1.xml" Id="Rf2cb198ff3c7408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b6d308b36074972" /><Relationship Type="http://schemas.openxmlformats.org/officeDocument/2006/relationships/notesMaster" Target="/ppt/notesMasters/notesMaster1.xml" Id="R5cc24715b4534f1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4e15f23282e483c" /><Relationship Type="http://schemas.openxmlformats.org/officeDocument/2006/relationships/notesMaster" Target="/ppt/notesMasters/notesMaster1.xml" Id="R482b145420b741e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d674af0f05e45e1" /><Relationship Type="http://schemas.openxmlformats.org/officeDocument/2006/relationships/notesMaster" Target="/ppt/notesMasters/notesMaster1.xml" Id="R99c569ba6ac540f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bb55232546947fb" /><Relationship Type="http://schemas.openxmlformats.org/officeDocument/2006/relationships/notesMaster" Target="/ppt/notesMasters/notesMaster1.xml" Id="R5719ef90e6724bf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a918a7ff27b4699" /><Relationship Type="http://schemas.openxmlformats.org/officeDocument/2006/relationships/notesMaster" Target="/ppt/notesMasters/notesMaster1.xml" Id="Raa83d0a50ae44a2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c4bff6babc94c98" /><Relationship Type="http://schemas.openxmlformats.org/officeDocument/2006/relationships/notesMaster" Target="/ppt/notesMasters/notesMaster1.xml" Id="R987205e83ce640b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58559c01aa84c2d" /><Relationship Type="http://schemas.openxmlformats.org/officeDocument/2006/relationships/notesMaster" Target="/ppt/notesMasters/notesMaster1.xml" Id="Rf6adc7dbfd45457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7f2b089a5c247a4" /><Relationship Type="http://schemas.openxmlformats.org/officeDocument/2006/relationships/notesMaster" Target="/ppt/notesMasters/notesMaster1.xml" Id="R154b830068b44d2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ac2c46a6c264b90" /><Relationship Type="http://schemas.openxmlformats.org/officeDocument/2006/relationships/notesMaster" Target="/ppt/notesMasters/notesMaster1.xml" Id="R099b5aa9c5274e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本次汇报介绍一个多月的行业、模型、部署和成本研究。先说明基金公司有哪些工作可以使用LLM，再分别讲个人Agent、权限知识库和公司共享Agent，最后比较三年投入与实施顺序。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三种部署方式，服务不同的工作范围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个人方案让员工连续处理文件并调用工具。知识库让员工按权限查询NAS资料，答案附上出处。共享Agent让多人使用较大的模型，完成多轮工具任务。选择时一起考虑任务、数据位置、质量与投入，各方案内再说明具体配置和费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接续：这些方式首先要对应到基金公司的具体岗位。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研究截至2026-10-20；预算与测量保留各自日期。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从前中后台的具体工作出发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这张表按基金公司的典型职能归纳工作。研究员读取公告和财报，风控与合规人员整理条款与疑点，运营和IT人员处理异常、工单和代码。它帮助我们从岗位需要出发，确定模型参与哪一步、后续由谁处理。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接续：接着用已有公开案例说明模型实际做了什么。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https://github.com/SthMax/quant-intern/releases/tag/phase1-2026-09-11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来源：行业调研与2026年公开披露；按典型职能归纳。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公开案例展示了可复用的工作方法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富国将研报整理为小结和观点，南方把自然语言需求转为查询，鹏华让模型结合规则生成修改建议，易方达Index-Hub提供数据接口调用的公开客户端。这些项目将模型产物接入原有业务流程，供后续工作使用。 富国报告相关研报流程由一周以上缩短至3小时以内；鹏华报告989条有效修改建议、最新采纳率91%。均为公司自报的原项目整体流程／建议采纳口径。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接续：下面用一个财报比较任务，把各个环节具体展开。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https://github.com/SthMax/quant-intern/releases/tag/phase1-2026-09-11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来源：富国、南方、鹏华与易方达公开披露。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两期财报和一份CSV，形成可核对的研究产物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使用虚构的财报和CSV示例。模型识别期间、单位和合并范围，并提出核对步骤。Python完成计算和校验，文件工具生成比较表与图表。发现口径不一致时再核对原文，最终形成带引用的分析说明。公告提取也采用同样分工，将事件、状态、时间和数量写成结构化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接续：任务相同，使用人数、资料位置和会话长度会改变系统负载。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虚构财报与CSV示例，用于说明模型和程序的分工。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上下文长度与并发数共同决定资源需求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账号数表示服务覆盖范围，同时生成的请求数决定当前计算负载，保留的会话数决定缓存占用。Agent以131K和262K为基础，再比较512K和1M长任务。知识库问答每次只检索相关片段，一次请求的长度与整个NAS的文件量分别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接续：明确负载以后，再看模型、推理服务和应用各承担哪一部分。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512K＝524,288；1M＝1,000,000。二十路为公司主研究情景。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模型推理和工具执行由不同组件承担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负责理解与生成，vLLM负责装载模型、执行推理、调度请求和管理缓存。OpenCode或Hermes这类应用负责组织多轮调用，也称为harness。Skill保存业务方法，MCP提供资料和业务工具接口，脚本执行确定的计算步骤。模型提出工具调用后，应用交给工具执行，再将结果送回模型。固定重复任务也可以由流程平台触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接续：分清组件职责后，再结合任务表现和运行资源选择模型。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https://github.com/vllm-project/vllm/releases/tag/v0.32.0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来源：模型、serving和harness官方资料；详见软件备查页。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两条主路线分别服务个人与共享任务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Finance Agent v2采用统一的默认harness。主指标是加权部分得分，并设置关键条件门槛。Qwen27为48.55，DeepSeek原版为53.48，1017版为56.96，GLM Flash为57.85，MiMo Flash为56.28。这组结果帮助筛选金融任务候选。1017版权重已按MIT许可开放，配置和权重索引与原版一致，可沿用相同资源架构评估升级。已有速度结果仍对应原版权重。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接续：下面先看个人方案：这些组件怎样在员工电脑和Spark之间配合。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https://www.vals.ai/benchmarks/fabv2</a:t>
            </a:r>
          </a:p>
          <a:p xmlns:a="http://schemas.openxmlformats.org/drawingml/2006/main">
            <a:r>
              <a:t>https://api-docs.deepseek.com/news/news261017/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Finance Agent v2，作者页2026-10-18更新；指标为加权部分得分。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Spark运行模型，员工电脑执行工具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员工电脑向Spark提交指令、材料和工具结果。模型可以返回答案，也可以提出工具调用。OpenCode将调用交给电脑上的Python或文件工具执行，再把结果送回模型。每位员工保留自己的文件目录和身份，个人或小组可以共用同一台模型服务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接续：确定了运行位置，再看Spark的内存和软件怎样配置。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https://huggingface.co/Qwen/Qwen3.8-27B-FP8</a:t>
            </a:r>
          </a:p>
          <a:p xmlns:a="http://schemas.openxmlformats.org/drawingml/2006/main">
            <a:r>
              <a:t>https://docs.nvidia.com/dgx/dgx-spark-porting-guide/overview.html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性能分支为Qwen3.8-27B-FP8＋FP8 KV＋MTP3。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128GB统一内存怎样分配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朋友提供的外部测试采用TP1、FP8权重、FP8 KV、MTP3和FlashInfer。启动日志显示模型与草稿模型占28.47GiB，KV缓存池占59.73GiB，可由驻留会话共享约180.7万token。KV保存模型处理过的输入状态，供后续生成和多轮调用使用。YaRN factor4，主模型和草稿模型都显式设置1M上限。完整精度KV另作容量对照，已有FP8速度结果仍对应原测试配置。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接续：在这套配置下，先分别看输入处理的等待和开始输出后的速度。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https://huggingface.co/Qwen/Qwen3.8-27B-FP8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外部设备测试汇总；前缀缓存关闭，GPU预算0.80。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长上下文主要增加首次输入处理时间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模型先处理输入，这个阶段称为prefill；随后逐步生成输出，称为decode。四档生成速度约19.7、17.7、14.7、11.2 token/s，首次输入处理约3.1、8.6、25.8、78.9分钟。实际输入100K时约20.1、500K时约14.8 token/s，是估算依据，1M长输出为外推。长输入首先增加开始回答前的等待，也会降低后续生成速度。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接续：下一轮追加工具结果时，可以复用已经处理的前缀。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外部实测＋经验估算；1M为外推。单人交互目标20+ token/s。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前缀复用省去旧输入的重复处理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已有前缀的KV和递推状态都可复用时，新增1K工具结果的输入处理估算约5秒，新增8K约40秒。这两个请求处理完新增内容后，总输入长度相同。这里省去的是旧输入的重复prefill，生成阶段仍要访问已有上下文。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接续：复用的状态还要保存下来。任务暂停后，Spark把它们放在哪里？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https://github.com/bojieli/ai-infra-book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5秒／40秒为新增prefill估算；首token等待另含队列与第一步生成。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Spark用NVMe保存闲置会话状态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Spark的CPU与GPU共用物理内存，额外保存一份CPU缓存仍会占用同一内存。近期会话状态留在统一内存，较久不用的状态保存到NVMe，任务继续时再读回。按假设的SSD有效带宽6GB/s，读取512K FP8全注意力KV原始载荷17.18GB约需2.86秒，1M的32.77GB约需5.46秒。读回的是上轮已处理的会话状态。要让模型接着工作，还需处理递推checkpoint、格式与调度，再计算本轮新增输入。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接续：三人共用时，容量分配和同时运行速度还要分别计算。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https://docs.nvidia.com/dgx/dgx-spark-porting-guide/overview.html</a:t>
            </a:r>
          </a:p>
          <a:p xmlns:a="http://schemas.openxmlformats.org/drawingml/2006/main">
            <a:r>
              <a:t>https://docs.vllm.ai/en/stable/features/kv_offloading_usage/</a:t>
            </a:r>
          </a:p>
          <a:p xmlns:a="http://schemas.openxmlformats.org/drawingml/2006/main">
            <a:r>
              <a:t>https://docs.lmcache.ai/mp/l2_storage.html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假设SSD有效6GB/s；512K全注意力KV载荷读取约2.86秒，另计递推状态与调度。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三人共享时，缓存容量和生成速度分别计算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原始共享池约1.807M tokens。预留10%后，可分配1.626M，三人各512K合计1.573M；一人使用1M后，另外两人共626K。未扣余量时，均分约600K，一人用1M后还剩807K，因此本页统一采用留余量后的容量。速度来自三路各100K输入、各4096输出的实测：同时生成的共同窗口内，每路平均17.47；计入全段后，每路平均12.45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接续：个人方案的容量和速度已经明确，接着合并看投入与使用方式。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容量留10%余量；右侧速度为三路各100K输入、4,096输出。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个人首次投入约7万元起，按任务选择上下文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rk硬件预算为5.8至6.2万，个人硬件与首次实施合计6.8至8.2万，三人共享为7.8至9.9万。按W2中等任务量情景，个人三年含技术人工的成本为9.05万元。长材料可安排后台处理；需要持续交互的任务，则优先保留可复用前缀，并安排使用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接续：个人环境之外，员工还需要查找公司统一管理的资料。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硬件／实施为10月12日预算；三年TCO按10月20日中量情景。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员工按NAS权限查询资料，答案附原文出处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连同有效权限一起进入知识库，员工身份决定可检索的范围。系统先过滤未授权内容，再重排相关片段，交给模型组织回答，并保留原文入口。这就是检索增强生成，也称RAG。打开引用、下载原文时再次检查权限。Word、PDF、PPT、Excel按文档结构解析，保留页码、表格、单位和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接续：这套流程既可以由企业平台交付，也可以由团队自行建设。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https://milvus.io/docs/v2.6.x/filtered-search.md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RAG参考架构。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Onyx与自建方案，主要区别是交付和维护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Onyx企业平台提供私有部署、管理和企业功能，NAS适配与权限映射需要写入交付范围。自建方案以Milvus检索为核心，由应用实现身份、ACL同步、检索过滤、引用和管理，Open WebUI提供使用入口。两条路线都要落实资料接入、更新与权限维护，差别在由谁交付、由谁持续维护。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接续：确定交付分工后，再用同一套硬件比较响应与投入。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https://www.onyx.app/pricing</a:t>
            </a:r>
          </a:p>
          <a:p xmlns:a="http://schemas.openxmlformats.org/drawingml/2006/main">
            <a:r>
              <a:t>https://milvus.io/docs/v2.6.x/filtered-search.md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Onyx企业授权按实际席位与范围询价，记为L。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短问答的吞吐与长会话的容量分别核算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统一主方案为4×6000D 84GB整机和两台CPU节点，硬件预算74至141万。Qwen27采用FP8权重，KV采用完整精度。20路同时提交8K输入、600输出时，此前工程估算的每路速度约21.5至22 token/s，最后一路TTFT为37.4秒。若每份会话用满131K或262K，计入15%缓存开销后，三副本分别可容纳9份或3份。Onyx首次投入为84.5至158万加L，自建为91.5至168.5万。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接续：知识库的检索能力建好后，可以作为公司Agent的一个工具。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9月预算与条件计算，10月统一配置口径；性能数值为工程估算。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模型供多人共用，任务与工具环境各自保留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司服务以DeepSeek为共享模型，员工或项目保留各自的任务目录与凭据。知识库统一提供授权检索，工具运行在员工电脑或集中CPU服务器。模型提出工具调用，Hermes等应用将调用交给工具执行，再把结果返回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接续：模型供多人共用时，先要分清固定权重与每个会话新增的状态。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参考设计；工具执行位置与模型运行位置分别安排。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模型权重、Engram与会话KV分别计算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官方原生checkpoint总量为510.286GB，其中Engram查找表202.758GB安排在主机内存，其余307.528GB作为GPU权重分配的起点。Hopper全局KV按1827 bytes/token/rank计算，一个1M会话在每个rank上占1.827GB。这里每个rank对应参与推理的一张GPU。局部状态、草稿、工作区与图捕获占用由实际启动记录计入。1017版配置与权重索引相同，升级时仍分别记录所用权重及其测量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接续：扣除这些固定和运行占用后，再算二十份会话各有多少上下文空间。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https://huggingface.co/deepseek-ai/DeepSeek-V4.1-Flash</a:t>
            </a:r>
          </a:p>
          <a:p xmlns:a="http://schemas.openxmlformats.org/drawingml/2006/main">
            <a:r>
              <a:t>https://api-docs.deepseek.com/news/news261017/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官方原生制品；Hopper缓存按固定源码与启动池核算。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八卡H200可容纳二十份1M会话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按同一容量口径保留20份会话时，H100 TP8每份为242240，四卡H200 TP4每份为762048；八卡H200采用TP8或双TP4都能覆盖1M。若保留40份，TP8每份约636K，双TP4每份约762K。双TP4将卡分成两组，各运行一个模型副本；TP8由全部卡运行同一副本，缓存池与队列也按副本安排。同机数据并行（DP）满足共享条件时可共用Engram，两个独立模型服务则按两份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接续：等待工具的任务也要保存上下文。会话多于正在生成的请求时，就需要分层存储。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容量按图捕获后的预算等比例估算；生成速度另行核算。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GPU处理当前请求，DRAM和SSD保存会话状态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司服务器的GPU显存与主机DRAM是两块独立资源。工具执行期间，可把近期会继续使用的会话状态放入DRAM，较久不用的状态放入SSD。下一轮请求进入队列后，预先将所需状态读回GPU，再处理新增输入并继续生成。vLLM原生卸载可用于单实例路径，LMCache MP以独立缓存服务管理多级存储及兼容实例间的缓存。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接续：状态读回后还要处理新增输入，接着把这些步骤计入响应时间。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https://github.com/bojieli/ai-infra-book</a:t>
            </a:r>
          </a:p>
          <a:p xmlns:a="http://schemas.openxmlformats.org/drawingml/2006/main">
            <a:r>
              <a:t>https://docs.vllm.ai/en/stable/features/kv_offloading_usage/</a:t>
            </a:r>
          </a:p>
          <a:p xmlns:a="http://schemas.openxmlformats.org/drawingml/2006/main">
            <a:r>
              <a:t>https://docs.lmcache.ai/mp/l2_storage.html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来源：AI Infra Book 8.3／9.5与vLLM、LMCache文档。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首token等待包括状态读回、排队和新增输入处理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20路各20 token/s，对应系统400 token/s的decode目标。已有H200 TP8、32会话AgentX回放的系统总输出为1052 token/s，p95首token等待为2.63秒；输入为140至157K，前缀命中约95%，草稿接受长度预设3.51。缓存读取算例中，TP4的一份1M会话全局KV为7.308GB，按合计有效带宽24GB/s，从内存传到GPU约0.30秒；若先从SSD按6GB/s读取，再传入GPU，约1.52秒。20份从内存一起传入GPU约6.1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接续：有了容量和响应预算，再选择整机配置。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公开回放输入140K–157K、前缀命中约95%；载荷传输带宽24／6GB/s为假设。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整机预算取决于卡型、互联和交付范围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10月20日重新核验的境外挂牌价格与10月12日基线一致，人民币金额仍是含预算准备金的分析预算。八卡A100翻新整机为91至102万元，八卡H100为285至298万元，四卡H200 NVL为161至283万元，八卡H200为291至304万元。实际交付还取决于设备所在地、准确SKU、交易许可和供应商支持。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接续：A100路线还要明确采用怎样的推理引擎。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https://configurator.exxactcorp.com/configure/TS4-118380266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价格核验2026-10-20；人民币为分析预算，境外挂牌不等同境内成交。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A100方案采用modified vLLM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shi3z用33到673 token/s概括自研实现的迭代，具体经验包括A100算子适配、按NVLink卡对安排通信，以及缓存与Graph的协调。公司方案沿用vLLM的调度、分页缓存、接口和监控。Tokha在八卡A800上的同机消融显示，两项额外改动合计约4.5%，因此应关注每项补丁相对既有基线带来的增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接续：将模型、引擎、工具和维护合为一套公司配置。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https://github.com/shi3z/deepseekv4.1-A100-custom</a:t>
            </a:r>
          </a:p>
          <a:p xmlns:a="http://schemas.openxmlformats.org/drawingml/2006/main">
            <a:r>
              <a:t>https://github.com/Tokha233/deepseek-v4.1-flash-a100-turbo/blob/main/docs/concurrency-and-short-requests.zh-CN.md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数值对应各自硬件、负载与统计范围，完整记录见备查页。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模型服务器、工具环境和运维人员共同构成服务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司中等任务量的TCO采用GPU整机基准预算297.36万，另加18万工具节点、3万设施接入和45技术人日的首次实施。每年安排60技术人日运维，并计入机位、用电和软件支持。三年成本表逐项记录这些费用。首次硬件与实施投入只是其中一部分，整机已包含的CPU、RAM和保修按原预算计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接续：接下来把三套方案放到同一张业务选择表中。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中等任务量情景，技术人工2,500元／人日；完整三年比较见成本页。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三种方式可以逐步组合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个人入口可以调用本地或共享模型。NAS知识库同时服务问答与Agent，权限维护共用一套。组合预算中，已有CPU工具、NAS和模型资源各计一次。再按方案确定应用、资料和模型分别由谁维护，才能比较完整投入。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接续：方案组合确定后，接着划清哪些资料可以在本地或通过API处理。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资料范围决定本地与API可处理的任务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普通开放平台条款对商业秘密等输入输出有限制，因此本次API成本比较仅使用公开材料，或符合条款且已获准使用的材料。Sonnet全球价格用于适用主体和地域条件成立时的对照，大陆团队不能直接据此列为采购选项。内部系统则需要按资料、身份、工具隔离、输出复核和模型变更明确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接续：明确可用资料与验收要求后，先计算同一项多轮任务的API费用。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https://cdn.deepseek.com/policies/zh-CN/deepseek-open-platform-terms-of-service.html</a:t>
            </a:r>
          </a:p>
          <a:p xmlns:a="http://schemas.openxmlformats.org/drawingml/2006/main">
            <a:r>
              <a:t>https://www.anthropic.com/news/updating-restrictions-of-sales-to-unsupported-regions</a:t>
            </a:r>
          </a:p>
          <a:p xmlns:a="http://schemas.openxmlformats.org/drawingml/2006/main">
            <a:r>
              <a:t>https://www.amac.org.cn/xwfb/xhyw/202604/t20260403_27458.html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公开规则核验2026-10-20；具体采用按数据、主体和交易条件落实。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多轮任务要计算每次提交的完整输入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轮输入100K，每轮新增8K工具输入，上轮输出2K也会进入下一轮上下文。8轮累计提交1.08M输入、16K输出。外部新增的156K已经包含在累计输入中。DeepSeek缓存读取877800、未命中202200；Sonnet缓存读取864500、新写入215500。计入10%额外执行轨迹后，两者每项计划任务的token费约为0.625和9.047元。费用差别来自费率，以及各自的缓存写入和读取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接续：算清每项任务的费用后，再计入三年工作量、设备和人员投入。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https://api-docs.deepseek.com/quick_start/pricing/</a:t>
            </a:r>
          </a:p>
          <a:p xmlns:a="http://schemas.openxmlformats.org/drawingml/2006/main">
            <a:r>
              <a:t>https://platform.claude.com/docs/en/about-claude/pricing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基准假设：可复用前缀命中率95%；汇率7.00，API token费另加6%预算准备金。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中等工作量下，API预算低于新购本地设备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个人首年750项任务、每年增长10%，三年共2482.5项；公司20人首年25000项、每年增长25%，三年共95312.5项。个人本地为9.05万，DeepSeek为1.66万，Sonnet为3.75万；公司本地为392.54万，DeepSeek为68.34万，Sonnet为148.61万。公司API路线也计入相同的18万元工具节点，以及应用与运维费用。这些是相同任务需求下的预算情景，实际产物质量和复核工时将在业务验收中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接续：任务量增长能分摊固定成本，但也可能超过单机处理能力。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https://api-docs.deepseek.com/quick_start/pricing/</a:t>
            </a:r>
          </a:p>
          <a:p xmlns:a="http://schemas.openxmlformats.org/drawingml/2006/main">
            <a:r>
              <a:t>https://platform.claude.com/docs/en/about-claude/pricing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单位万元；10/20费率与工作量假设。API资料／地域条件见“数据与运行”页。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使用量超过单机容量后，新增设备计入成本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公司处理能力按系统decode 400、未缓存prefill 8000 token/s规划，每年提供2000小时服务并留30%余量，估算每节点每年约64487项计划任务。公司高使用量情景逐年为5万、7.5万、11.25万项任务，节点逐年为1、2、2台，三年成本712.78万。这组估算用于100K至170K的多轮任务，20路满1M负载另需实测。Spark相对Sonnet的条件成本交点为三年8376项任务，相对DeepSeek的交点远超单机处理能力；公司计入扩容后，在所分析用量范围内没有成本交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接续：成本以外，还要衡量每项业务实际节省了多少人工。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规划容量：400 decode＋8,000未缓存prefill token/s；2,000h／年，70%使用预算。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公告提取与代码辅助优先启动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告提取与代码辅助先开展，财报比较复用这些组件。NAS问答先完成身份与撤权流程，材料预审先积累规则和错误样例。技术实施按2500元／人日估算，分析师工时按150元／小时估值，分别对应两类人员成本。公司中等任务量下，若每项净节省15分钟，三年可节省23828小时，工时价值为357.42万元；实际现金节省取决于费用是否随之减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接续：每项试点都有明确产物，下一页说明怎样验收这些产物。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人日和时间节省均为规划输入；设备与平台统一分摊，工时价值与现金分开。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公开评测用于筛选，业务验收对应具体产物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本轮证据来自已有公开评测。Qwen27在ExtractBench短文与长文上的得分分别为94.68、38.45，指标为value F1，说明长文完整提取需要分段并检查遗漏。AA-LCR的约100K多文档问答得分为82%，它测量的能力与接近用满1M窗口的任务不同。FinanceAgent提供金融研究任务证据，BizBench则说明最终结果与执行过程需要分别检查。已准备12个虚构任务及参考答案或验收清单，供后续运行和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接续：试点及验收方法明确后，最后把它们排成连续的实施步骤。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https://github.com/run-llama/ExtractBench/blob/56b8fdd91b2cf3648caf75c717c68441ecf4d43f/leaderboard.csv</a:t>
            </a:r>
          </a:p>
          <a:p xmlns:a="http://schemas.openxmlformats.org/drawingml/2006/main">
            <a:r>
              <a:t>https://artificialanalysis.ai/methodology/intelligence-benchmarking</a:t>
            </a:r>
          </a:p>
          <a:p xmlns:a="http://schemas.openxmlformats.org/drawingml/2006/main">
            <a:r>
              <a:t>https://www.vals.ai/benchmarks/fabv2</a:t>
            </a:r>
          </a:p>
          <a:p xmlns:a="http://schemas.openxmlformats.org/drawingml/2006/main">
            <a:r>
              <a:t>https://arxiv.org/html/2610.20424v1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公开基准各有任务与执行设置，比较时保留版本和指标名称。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按业务依赖逐步扩展本地LLM应用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按业务依赖推进前三步：前两周开展公告提取与代码辅助，三至五周复用组件完成财报比较，五至八周接入一个部门的NAS授权问答。试点先使用已有且获准的模型系统，后续可以替换模型接口。共享GPU的新增采购依据资料范围、实际任务量和服务要求决定。业务与IT需要共同确认任务量、资料权限、可用设备及可接受的等待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接续：正文结束，附录用于进一步讨论配置、成本和来源。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时间为项目启动后的规划；技术资源与业务验收按各方案落实。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主模型与备选分别记录资源需求和许可条件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完整十模型候选来自原调研，并经W4核对许可。Qwen与Gemma主要比较个人任务表现，DeepSeek、GLM、MiMo与Kimi比较共享服务。1017版已开放，配置和权重索引与原版一致；质量和速度结果仍逐项注明所用权重版本。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接续：软件层的选择同样按实际工作用途区分。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https://huggingface.co/Qwen/Qwen3.8-27B-FP8</a:t>
            </a:r>
          </a:p>
          <a:p xmlns:a="http://schemas.openxmlformats.org/drawingml/2006/main">
            <a:r>
              <a:t>https://huggingface.co/deepseek-ai/DeepSeek-V4.1-Flash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许可核验2026-10-20；自定义许可按使用主体、服务方式和触发条件解释。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软件分别承担工作入口、任务组织与模型服务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员工工作台提供日常问答和文件入口，固定流程串联重复步骤，通用Agent根据目标组织多轮工具调用。本方案用OpenCode提供个人入口，由Hermes组织共享任务；知识库在Onyx平台和Milvus自建方案之间选择。vLLM承担GPU推理服务，SGLang作为对照，Apple平台与CPU/GPU混合方案则用于特定硬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接续：接下来看Spark外部测量的完整口径。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单台GB10的输入长度、首次等待与生成速度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精确输入长度按接口返回的usage字段核验。1K至500K样本每请求输出2048个token，1M容量样本仅输出64个。MTP草稿上限修正为1M后，300K样本中的草稿接受恢复正常。平均decode速度排除首token等待。MTP会合并SSE流式返回块，因此返回事件数不能直接当作生成token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接续：接着列出知识库的长会话与实施明细。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用户提供的外部测试汇总；具体模型与测试环境见知识库记录。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权限、索引和费用按同一交付范围核对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知识库方案以10万份文件为示例，每份20个片段，共200万条1024维FP32向量，原始载荷8.192GB，正文、索引和副本另计。Onyx实施为42至68人日，自建为70至110人日。上线前读取NAS有效权限及变更，并在所有入口核对员工身份，包括引用访问与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接续：公司缓存布局也需要保留计算条件。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已分配缓存池与图捕获后预算分别记录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H100 TP8已分配KV为12.36GiB，token池为6.435M，严格预算为10.34GiB；H200 TP4分别为35.16GiB、18.327M和32.49GiB；TP8分别为62.86GiB、29.498M和60.20GiB。每份会话容量按token池乘严格预算占比，再乘90%，除以保留会话数。保留40份时，TP8每份约636K，双TP4每份约762K。实际内存分配与图捕获占用按运行配置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接续：接下来列出A100公开结果，并分别标明硬件和负载条件。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性能比较保留硬件、输入与计时范围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shi3z在四卡A100 PCIe上的短输入代码测试，HTTP单路速度为50至53，开启MTP为82至93；modified vLLM在八卡A100 SXM上的既有TP8记录，单路为110至140，C32系统总输出为1040至1379；Tokha八卡A800优化后，C1约115，C128约3040。卡数、互联和负载各不相同，应分别阅读。Tokha同机基线为2842.48，dense BF16后为2926.08，custom EP8后为2970.50，两项合计约4.5%。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接续：成本附录保留实际计费与工作量条件。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https://github.com/shi3z/deepseekv4.1-A100-custom</a:t>
            </a:r>
          </a:p>
          <a:p xmlns:a="http://schemas.openxmlformats.org/drawingml/2006/main">
            <a:r>
              <a:t>https://github.com/Tokha233/deepseek-v4.1-flash-a100-turbo/blob/main/docs/concurrency-and-short-requests.zh-CN.md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来源：作者项目、keplerzip、Tokha233；数值对应各自的硬件与负载。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API费率、工作量和人工假设分别记录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低峰每百万tokens的未命中、命中和输出价格分别为0.15、0.003、0.60美元，高峰价格为两倍，基准假设80%调用在高峰。Sonnet全球对照的输入价格为2，1h缓存写入为4，读取为0.1，输出为10。技术实施按2500元／人日，分析师工时按150元／小时估值。公司8H200整机运行功率6.8kW，空闲1.5kW，PUE为1.4，电价为0.8元／kWh。服务窗口为2000h，GPU按全年通电计。工具费用按实际供应商调用另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接续：最后给出主要资料入口。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https://api-docs.deepseek.com/quick_start/pricing/</a:t>
            </a:r>
          </a:p>
          <a:p xmlns:a="http://schemas.openxmlformats.org/drawingml/2006/main">
            <a:r>
              <a:t>https://platform.claude.com/docs/en/about-claude/pricing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费率USD／百万tokens；CNY汇率7.00与6%的API预算准备金均为假设。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原始资料与可复算结果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模型、评测、框架、采购和规则资料已在四个研究包TECH089至092中归档。三年成本、配置和公开评测附有可读取的表格及复算脚本，先前Release保留历史版本。AI Infra Book重点参考8.3前缀复用、9.5多级缓存和11章资源调度。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接续：补充讨论可从配置、任务质量或成本输入展开。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研究截止2026-10-20。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93bb2e5e0f40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7249272ff41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770245c8c48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b6b47c190b43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a019dd91345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f7e649b7e4c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751A31-A5AD-45B0-8CB7-1DA3517AE6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A70566-C228-4BF7-803D-CB70AEE695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9043D1-8C43-4BA2-8CB1-358F93A0DF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23AD5-3069-4DD9-AEE0-CEA4E56BA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E5091BF-11BA-4090-B483-DBD7FCB88E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0EC74B-FAEC-490F-9A3E-92F3B5F698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90762E-3AC8-46B3-9576-62D02019B4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7D54F9-B1FD-4CFE-8BAF-20F055380E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84E370-6F70-4BE0-B289-4A0971E3D6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3ECE4B-8D01-404A-82DB-6BB5C4CD34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817c5a72364f38" /><Relationship Type="http://schemas.openxmlformats.org/officeDocument/2006/relationships/slideLayout" Target="/ppt/slideLayouts/slideLayout1.xml" Id="Rcbc494e22f6549bb" /><Relationship Type="http://schemas.openxmlformats.org/officeDocument/2006/relationships/slideLayout" Target="/ppt/slideLayouts/slideLayout2.xml" Id="Rfec58fdc66aa4687" /><Relationship Type="http://schemas.openxmlformats.org/officeDocument/2006/relationships/slideLayout" Target="/ppt/slideLayouts/slideLayout3.xml" Id="R4115ae6ae9974528" /><Relationship Type="http://schemas.openxmlformats.org/officeDocument/2006/relationships/slideLayout" Target="/ppt/slideLayouts/slideLayout4.xml" Id="R475e7883ac6b439a" /><Relationship Type="http://schemas.openxmlformats.org/officeDocument/2006/relationships/slideLayout" Target="/ppt/slideLayouts/slideLayout5.xml" Id="Re1baeb876dd54e20" /><Relationship Type="http://schemas.openxmlformats.org/officeDocument/2006/relationships/slideLayout" Target="/ppt/slideLayouts/slideLayout6.xml" Id="Re6e0bdc4193648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c494e22f6549bb"/>
    <p:sldLayoutId xmlns:r="http://schemas.openxmlformats.org/officeDocument/2006/relationships" id="2147483650" r:id="Rfec58fdc66aa4687"/>
    <p:sldLayoutId xmlns:r="http://schemas.openxmlformats.org/officeDocument/2006/relationships" id="2147483651" r:id="R4115ae6ae9974528"/>
    <p:sldLayoutId xmlns:r="http://schemas.openxmlformats.org/officeDocument/2006/relationships" id="2147483652" r:id="R475e7883ac6b439a"/>
    <p:sldLayoutId xmlns:r="http://schemas.openxmlformats.org/officeDocument/2006/relationships" id="2147483653" r:id="Re1baeb876dd54e20"/>
    <p:sldLayoutId xmlns:r="http://schemas.openxmlformats.org/officeDocument/2006/relationships" id="2147483654" r:id="Re6e0bdc4193648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f78e3d52ab4c91" /><Relationship Type="http://schemas.openxmlformats.org/officeDocument/2006/relationships/notesSlide" Target="/ppt/notesSlides/notesSlide1.xml" Id="R4780613536ee4a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a79154831741e7" /><Relationship Type="http://schemas.openxmlformats.org/officeDocument/2006/relationships/notesSlide" Target="/ppt/notesSlides/notesSlide2.xml" Id="R133c74a9e73d4d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3e8a449a0f4263" /><Relationship Type="http://schemas.openxmlformats.org/officeDocument/2006/relationships/hyperlink" Target="https://github.com/SthMax/quant-intern/releases/tag/phase1-2026-09-11" TargetMode="External" Id="Rd061a3eea87843dd" /><Relationship Type="http://schemas.openxmlformats.org/officeDocument/2006/relationships/notesSlide" Target="/ppt/notesSlides/notesSlide3.xml" Id="R3c6d6d037b7644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756e380af24712" /><Relationship Type="http://schemas.openxmlformats.org/officeDocument/2006/relationships/hyperlink" Target="https://github.com/SthMax/quant-intern/releases/tag/phase1-2026-09-11" TargetMode="External" Id="R19f60891359a49ce" /><Relationship Type="http://schemas.openxmlformats.org/officeDocument/2006/relationships/notesSlide" Target="/ppt/notesSlides/notesSlide4.xml" Id="Rbfd8099f639044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641f75af6c4b25" /><Relationship Type="http://schemas.openxmlformats.org/officeDocument/2006/relationships/notesSlide" Target="/ppt/notesSlides/notesSlide5.xml" Id="Rdd22c2414c064b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1ab18ea7d4453b" /><Relationship Type="http://schemas.openxmlformats.org/officeDocument/2006/relationships/notesSlide" Target="/ppt/notesSlides/notesSlide6.xml" Id="R8b6d749d323548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1b80372d24fed" /><Relationship Type="http://schemas.openxmlformats.org/officeDocument/2006/relationships/hyperlink" Target="https://github.com/vllm-project/vllm/releases/tag/v0.32.0" TargetMode="External" Id="R8e90e1df22fa4676" /><Relationship Type="http://schemas.openxmlformats.org/officeDocument/2006/relationships/notesSlide" Target="/ppt/notesSlides/notesSlide7.xml" Id="Ra7fdd9a4fb9649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c305d5bb7449f8" /><Relationship Type="http://schemas.openxmlformats.org/officeDocument/2006/relationships/hyperlink" Target="https://www.vals.ai/benchmarks/fabv2" TargetMode="External" Id="R545f8aba20ad4e11" /><Relationship Type="http://schemas.openxmlformats.org/officeDocument/2006/relationships/chart" Target="/ppt/slides/charts/chart1.xml" Id="R96c55b37e9b1499f" /><Relationship Type="http://schemas.openxmlformats.org/officeDocument/2006/relationships/notesSlide" Target="/ppt/notesSlides/notesSlide8.xml" Id="R166e9bcf94d64a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1628ab7d7c40a5" /><Relationship Type="http://schemas.openxmlformats.org/officeDocument/2006/relationships/hyperlink" Target="https://huggingface.co/Qwen/Qwen3.8-27B-FP8" TargetMode="External" Id="Ra7ebc4b7aa9548f4" /><Relationship Type="http://schemas.openxmlformats.org/officeDocument/2006/relationships/notesSlide" Target="/ppt/notesSlides/notesSlide9.xml" Id="R77d46e26482449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d3f6dca7e42ba" /><Relationship Type="http://schemas.openxmlformats.org/officeDocument/2006/relationships/hyperlink" Target="https://huggingface.co/Qwen/Qwen3.8-27B-FP8" TargetMode="External" Id="R8fcaf231d2674051" /><Relationship Type="http://schemas.openxmlformats.org/officeDocument/2006/relationships/notesSlide" Target="/ppt/notesSlides/notesSlide10.xml" Id="Re622fe064f2841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7954bd42224c29" /><Relationship Type="http://schemas.openxmlformats.org/officeDocument/2006/relationships/chart" Target="/ppt/slides/charts/chart2.xml" Id="Rcf2d550f83b24e24" /><Relationship Type="http://schemas.openxmlformats.org/officeDocument/2006/relationships/chart" Target="/ppt/slides/charts/chart3.xml" Id="Rcb82544534c143a4" /><Relationship Type="http://schemas.openxmlformats.org/officeDocument/2006/relationships/notesSlide" Target="/ppt/notesSlides/notesSlide11.xml" Id="R5ce9afdc0e394a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5f3bb256146a6" /><Relationship Type="http://schemas.openxmlformats.org/officeDocument/2006/relationships/hyperlink" Target="https://github.com/bojieli/ai-infra-book" TargetMode="External" Id="R0e85bb5ad54d4ca7" /><Relationship Type="http://schemas.openxmlformats.org/officeDocument/2006/relationships/notesSlide" Target="/ppt/notesSlides/notesSlide12.xml" Id="R190622e574e748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5e77de75b74a01" /><Relationship Type="http://schemas.openxmlformats.org/officeDocument/2006/relationships/hyperlink" Target="https://docs.nvidia.com/dgx/dgx-spark-porting-guide/overview.html" TargetMode="External" Id="R8e7c2782d61e40c5" /><Relationship Type="http://schemas.openxmlformats.org/officeDocument/2006/relationships/notesSlide" Target="/ppt/notesSlides/notesSlide13.xml" Id="R02c235ba3e514b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c9930e2b0c4e5b" /><Relationship Type="http://schemas.openxmlformats.org/officeDocument/2006/relationships/notesSlide" Target="/ppt/notesSlides/notesSlide14.xml" Id="Rbab67c0d10164f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01a16e70394311" /><Relationship Type="http://schemas.openxmlformats.org/officeDocument/2006/relationships/notesSlide" Target="/ppt/notesSlides/notesSlide15.xml" Id="R3d56a61ece6b49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9c668786974b0a" /><Relationship Type="http://schemas.openxmlformats.org/officeDocument/2006/relationships/hyperlink" Target="https://milvus.io/docs/v2.6.x/filtered-search.md" TargetMode="External" Id="R7b696f6c2b8d4353" /><Relationship Type="http://schemas.openxmlformats.org/officeDocument/2006/relationships/notesSlide" Target="/ppt/notesSlides/notesSlide16.xml" Id="R41970c96a0884e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32b2200aa404e" /><Relationship Type="http://schemas.openxmlformats.org/officeDocument/2006/relationships/hyperlink" Target="https://www.onyx.app/pricing" TargetMode="External" Id="Rf5072b391ac54da5" /><Relationship Type="http://schemas.openxmlformats.org/officeDocument/2006/relationships/notesSlide" Target="/ppt/notesSlides/notesSlide17.xml" Id="R387da2a75a3848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a2de0027044a6b" /><Relationship Type="http://schemas.openxmlformats.org/officeDocument/2006/relationships/notesSlide" Target="/ppt/notesSlides/notesSlide18.xml" Id="R1f115565c5e0444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52e369b994353" /><Relationship Type="http://schemas.openxmlformats.org/officeDocument/2006/relationships/notesSlide" Target="/ppt/notesSlides/notesSlide19.xml" Id="R1ecc729f38c943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6d4d4220a498e" /><Relationship Type="http://schemas.openxmlformats.org/officeDocument/2006/relationships/hyperlink" Target="https://huggingface.co/deepseek-ai/DeepSeek-V4.1-Flash" TargetMode="External" Id="Rfd50763c36284a58" /><Relationship Type="http://schemas.openxmlformats.org/officeDocument/2006/relationships/notesSlide" Target="/ppt/notesSlides/notesSlide20.xml" Id="R84f774047ce74fe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247b23dd1e4c02" /><Relationship Type="http://schemas.openxmlformats.org/officeDocument/2006/relationships/notesSlide" Target="/ppt/notesSlides/notesSlide21.xml" Id="R20b9ac8101604c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14a777cf524f94" /><Relationship Type="http://schemas.openxmlformats.org/officeDocument/2006/relationships/hyperlink" Target="https://github.com/bojieli/ai-infra-book" TargetMode="External" Id="R612ce25335074cae" /><Relationship Type="http://schemas.openxmlformats.org/officeDocument/2006/relationships/notesSlide" Target="/ppt/notesSlides/notesSlide22.xml" Id="Re5a95aac3af2427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d026e30da841e0" /><Relationship Type="http://schemas.openxmlformats.org/officeDocument/2006/relationships/notesSlide" Target="/ppt/notesSlides/notesSlide23.xml" Id="Rb6c70236fdd244f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7551e17764dc1" /><Relationship Type="http://schemas.openxmlformats.org/officeDocument/2006/relationships/hyperlink" Target="https://configurator.exxactcorp.com/configure/TS4-118380266" TargetMode="External" Id="R7ec9425f33ba43ec" /><Relationship Type="http://schemas.openxmlformats.org/officeDocument/2006/relationships/notesSlide" Target="/ppt/notesSlides/notesSlide24.xml" Id="Rfaecdee260874d4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d6648f3844363" /><Relationship Type="http://schemas.openxmlformats.org/officeDocument/2006/relationships/hyperlink" Target="https://github.com/shi3z/deepseekv4.1-A100-custom" TargetMode="External" Id="Re8dc8442f79d4982" /><Relationship Type="http://schemas.openxmlformats.org/officeDocument/2006/relationships/notesSlide" Target="/ppt/notesSlides/notesSlide25.xml" Id="Rd5a8533a6a0946d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f673a95864820" /><Relationship Type="http://schemas.openxmlformats.org/officeDocument/2006/relationships/notesSlide" Target="/ppt/notesSlides/notesSlide26.xml" Id="R84f3b9047d68482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73e21737042ef" /><Relationship Type="http://schemas.openxmlformats.org/officeDocument/2006/relationships/notesSlide" Target="/ppt/notesSlides/notesSlide27.xml" Id="R053884bbedc84ad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041355ccd4cb2" /><Relationship Type="http://schemas.openxmlformats.org/officeDocument/2006/relationships/hyperlink" Target="https://cdn.deepseek.com/policies/zh-CN/deepseek-open-platform-terms-of-service.html" TargetMode="External" Id="Rabba9edc2b0b4b3c" /><Relationship Type="http://schemas.openxmlformats.org/officeDocument/2006/relationships/notesSlide" Target="/ppt/notesSlides/notesSlide28.xml" Id="R60299fc5d84041b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ea0e7a4d24227" /><Relationship Type="http://schemas.openxmlformats.org/officeDocument/2006/relationships/hyperlink" Target="https://api-docs.deepseek.com/quick_start/pricing/" TargetMode="External" Id="R52a4080126b34977" /><Relationship Type="http://schemas.openxmlformats.org/officeDocument/2006/relationships/notesSlide" Target="/ppt/notesSlides/notesSlide29.xml" Id="R6b407a5a1a0b4ee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4b2dc98e064706" /><Relationship Type="http://schemas.openxmlformats.org/officeDocument/2006/relationships/hyperlink" Target="https://api-docs.deepseek.com/quick_start/pricing/" TargetMode="External" Id="R0a7d027d7f794482" /><Relationship Type="http://schemas.openxmlformats.org/officeDocument/2006/relationships/chart" Target="/ppt/slides/charts/chart4.xml" Id="R32da6f32a2494edf" /><Relationship Type="http://schemas.openxmlformats.org/officeDocument/2006/relationships/chart" Target="/ppt/slides/charts/chart5.xml" Id="R8bb7e91fd2494d4f" /><Relationship Type="http://schemas.openxmlformats.org/officeDocument/2006/relationships/notesSlide" Target="/ppt/notesSlides/notesSlide30.xml" Id="Rb3a2b6d6fee8425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eff7ed4e824f1b" /><Relationship Type="http://schemas.openxmlformats.org/officeDocument/2006/relationships/notesSlide" Target="/ppt/notesSlides/notesSlide31.xml" Id="R6c88fef4d5f04c9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4ab3c59a3846d1" /><Relationship Type="http://schemas.openxmlformats.org/officeDocument/2006/relationships/notesSlide" Target="/ppt/notesSlides/notesSlide32.xml" Id="R129301365aae43a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57ce932cac42fa" /><Relationship Type="http://schemas.openxmlformats.org/officeDocument/2006/relationships/hyperlink" Target="https://github.com/run-llama/ExtractBench/blob/56b8fdd91b2cf3648caf75c717c68441ecf4d43f/leaderboard.csv" TargetMode="External" Id="Rc0c8f2c475f942c4" /><Relationship Type="http://schemas.openxmlformats.org/officeDocument/2006/relationships/notesSlide" Target="/ppt/notesSlides/notesSlide33.xml" Id="Rad02d8e8f1754d6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b8d3431eb44299" /><Relationship Type="http://schemas.openxmlformats.org/officeDocument/2006/relationships/notesSlide" Target="/ppt/notesSlides/notesSlide34.xml" Id="R68a3212c148c485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ac6a87c1ee4356" /><Relationship Type="http://schemas.openxmlformats.org/officeDocument/2006/relationships/hyperlink" Target="https://huggingface.co/Qwen/Qwen3.8-27B-FP8" TargetMode="External" Id="Rbf1384fbb2ed41af" /><Relationship Type="http://schemas.openxmlformats.org/officeDocument/2006/relationships/notesSlide" Target="/ppt/notesSlides/notesSlide35.xml" Id="R22514f029ed946f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90be7806ac4009" /><Relationship Type="http://schemas.openxmlformats.org/officeDocument/2006/relationships/notesSlide" Target="/ppt/notesSlides/notesSlide36.xml" Id="R8e2150a814a049c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ab0cc0337b4526" /><Relationship Type="http://schemas.openxmlformats.org/officeDocument/2006/relationships/notesSlide" Target="/ppt/notesSlides/notesSlide37.xml" Id="Rfe19a8ca9663489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43597c52f4f54" /><Relationship Type="http://schemas.openxmlformats.org/officeDocument/2006/relationships/notesSlide" Target="/ppt/notesSlides/notesSlide38.xml" Id="R4082565ed670443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965f765a9c4c08" /><Relationship Type="http://schemas.openxmlformats.org/officeDocument/2006/relationships/notesSlide" Target="/ppt/notesSlides/notesSlide39.xml" Id="Rfca46300ec4547e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111516831549b2" /><Relationship Type="http://schemas.openxmlformats.org/officeDocument/2006/relationships/hyperlink" Target="https://github.com/shi3z/deepseekv4.1-A100-custom" TargetMode="External" Id="Rf7a20956c7c042b1" /><Relationship Type="http://schemas.openxmlformats.org/officeDocument/2006/relationships/notesSlide" Target="/ppt/notesSlides/notesSlide40.xml" Id="Ref4ffedf0c544a0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af13372ead4f45" /><Relationship Type="http://schemas.openxmlformats.org/officeDocument/2006/relationships/hyperlink" Target="https://api-docs.deepseek.com/quick_start/pricing/" TargetMode="External" Id="R4beec1a46a9a43f3" /><Relationship Type="http://schemas.openxmlformats.org/officeDocument/2006/relationships/notesSlide" Target="/ppt/notesSlides/notesSlide41.xml" Id="R2cbd4812ba3d4cb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84f00ca6d4e78" /><Relationship Type="http://schemas.openxmlformats.org/officeDocument/2006/relationships/hyperlink" Target="https://github.com/bojieli/ai-infra-book" TargetMode="External" Id="Rd130a2fca7bd4ea1" /><Relationship Type="http://schemas.openxmlformats.org/officeDocument/2006/relationships/hyperlink" Target="https://github.com/bojieli/ai-infra-book" TargetMode="External" Id="R1b1dbe147f1848ad" /><Relationship Type="http://schemas.openxmlformats.org/officeDocument/2006/relationships/hyperlink" Target="https://docs.vllm.ai/en/stable/features/kv_offloading_usage/" TargetMode="External" Id="R5fd3aad2b1f9499e" /><Relationship Type="http://schemas.openxmlformats.org/officeDocument/2006/relationships/hyperlink" Target="https://docs.vllm.ai/en/stable/features/kv_offloading_usage/" TargetMode="External" Id="R77cadf83364140d6" /><Relationship Type="http://schemas.openxmlformats.org/officeDocument/2006/relationships/hyperlink" Target="https://docs.lmcache.ai/mp/l2_storage.html" TargetMode="External" Id="R9b41e4085b404d89" /><Relationship Type="http://schemas.openxmlformats.org/officeDocument/2006/relationships/hyperlink" Target="https://docs.lmcache.ai/mp/l2_storage.html" TargetMode="External" Id="R146c4400fead47f8" /><Relationship Type="http://schemas.openxmlformats.org/officeDocument/2006/relationships/hyperlink" Target="https://www.vals.ai/benchmarks/fabv2" TargetMode="External" Id="R6a0b818899c0491d" /><Relationship Type="http://schemas.openxmlformats.org/officeDocument/2006/relationships/hyperlink" Target="https://www.vals.ai/benchmarks/fabv2" TargetMode="External" Id="Ra533234b7ad94271" /><Relationship Type="http://schemas.openxmlformats.org/officeDocument/2006/relationships/hyperlink" Target="https://github.com/run-llama/ExtractBench/blob/56b8fdd91b2cf3648caf75c717c68441ecf4d43f/leaderboard.csv" TargetMode="External" Id="R223a6a6d5e724246" /><Relationship Type="http://schemas.openxmlformats.org/officeDocument/2006/relationships/hyperlink" Target="https://github.com/run-llama/ExtractBench/blob/56b8fdd91b2cf3648caf75c717c68441ecf4d43f/leaderboard.csv" TargetMode="External" Id="R5dd96d86eb774e6d" /><Relationship Type="http://schemas.openxmlformats.org/officeDocument/2006/relationships/hyperlink" Target="https://api-docs.deepseek.com/quick_start/pricing/" TargetMode="External" Id="R087b19a69d354389" /><Relationship Type="http://schemas.openxmlformats.org/officeDocument/2006/relationships/hyperlink" Target="https://api-docs.deepseek.com/quick_start/pricing/" TargetMode="External" Id="Re5b5f74af0124755" /><Relationship Type="http://schemas.openxmlformats.org/officeDocument/2006/relationships/hyperlink" Target="https://github.com/Tokha233/deepseek-v4.1-flash-a100-turbo/blob/main/docs/concurrency-and-short-requests.zh-CN.md" TargetMode="External" Id="Re93acdb092ce4e46" /><Relationship Type="http://schemas.openxmlformats.org/officeDocument/2006/relationships/hyperlink" Target="https://github.com/Tokha233/deepseek-v4.1-flash-a100-turbo/blob/main/docs/concurrency-and-short-requests.zh-CN.md" TargetMode="External" Id="R003e086927b2431d" /><Relationship Type="http://schemas.openxmlformats.org/officeDocument/2006/relationships/hyperlink" Target="https://github.com/SthMax/quant-intern/releases" TargetMode="External" Id="Rbc91f1d471ba4737" /><Relationship Type="http://schemas.openxmlformats.org/officeDocument/2006/relationships/hyperlink" Target="https://github.com/SthMax/quant-intern/releases" TargetMode="External" Id="R2f091d45f1654235" /><Relationship Type="http://schemas.openxmlformats.org/officeDocument/2006/relationships/notesSlide" Target="/ppt/notesSlides/notesSlide42.xml" Id="Re6fedbacbd53406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Finance Agent v2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42F43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加权部分得分</c:v>
          </c:tx>
          <c:spPr>
            <a:solidFill xmlns:a="http://schemas.openxmlformats.org/drawingml/2006/main">
              <a:srgbClr val="008B83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MiMo Flash</c:v>
                </c:pt>
                <c:pt idx="1">
                  <c:v>GLM Flash</c:v>
                </c:pt>
                <c:pt idx="2">
                  <c:v>DeepSeek 1017</c:v>
                </c:pt>
                <c:pt idx="3">
                  <c:v>DeepSeek原版</c:v>
                </c:pt>
                <c:pt idx="4">
                  <c:v>Qwen27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56.28</c:v>
                </c:pt>
                <c:pt idx="1">
                  <c:v>57.85</c:v>
                </c:pt>
                <c:pt idx="2">
                  <c:v>56.96</c:v>
                </c:pt>
                <c:pt idx="3">
                  <c:v>53.48</c:v>
                </c:pt>
                <c:pt idx="4">
                  <c:v>48.55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42F43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E3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E3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4F7FA"/>
        </a:solidFill>
      </c:spPr>
    </c:plotArea>
    <c:plotVisOnly val="1"/>
  </c:chart>
  <c:spPr>
    <a:solidFill xmlns:a="http://schemas.openxmlformats.org/drawingml/2006/main">
      <a:srgbClr val="F4F7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生成速度（decode）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42F43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token/s</c:v>
          </c:tx>
          <c:spPr>
            <a:solidFill xmlns:a="http://schemas.openxmlformats.org/drawingml/2006/main">
              <a:srgbClr val="008B83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1M*</c:v>
                </c:pt>
                <c:pt idx="1">
                  <c:v>512K</c:v>
                </c:pt>
                <c:pt idx="2">
                  <c:v>262K</c:v>
                </c:pt>
                <c:pt idx="3">
                  <c:v>131K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11.2</c:v>
                </c:pt>
                <c:pt idx="1">
                  <c:v>14.7</c:v>
                </c:pt>
                <c:pt idx="2">
                  <c:v>17.7</c:v>
                </c:pt>
                <c:pt idx="3">
                  <c:v>19.7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42F43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E3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E3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4F7FA"/>
        </a:solidFill>
      </c:spPr>
    </c:plotArea>
    <c:plotVisOnly val="1"/>
  </c:chart>
  <c:spPr>
    <a:solidFill xmlns:a="http://schemas.openxmlformats.org/drawingml/2006/main">
      <a:srgbClr val="F4F7FA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首次输入处理（prefill）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42F43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分钟</c:v>
          </c:tx>
          <c:spPr>
            <a:solidFill xmlns:a="http://schemas.openxmlformats.org/drawingml/2006/main">
              <a:srgbClr val="008B83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1M*</c:v>
                </c:pt>
                <c:pt idx="1">
                  <c:v>512K</c:v>
                </c:pt>
                <c:pt idx="2">
                  <c:v>262K</c:v>
                </c:pt>
                <c:pt idx="3">
                  <c:v>131K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78.9</c:v>
                </c:pt>
                <c:pt idx="1">
                  <c:v>25.8</c:v>
                </c:pt>
                <c:pt idx="2">
                  <c:v>8.6</c:v>
                </c:pt>
                <c:pt idx="3">
                  <c:v>3.1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42F43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E3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E3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4F7FA"/>
        </a:solidFill>
      </c:spPr>
    </c:plotArea>
    <c:plotVisOnly val="1"/>
  </c:chart>
  <c:spPr>
    <a:solidFill xmlns:a="http://schemas.openxmlformats.org/drawingml/2006/main">
      <a:srgbClr val="F4F7FA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个人：三年2,482.5项任务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42F43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万元</c:v>
          </c:tx>
          <c:spPr>
            <a:solidFill xmlns:a="http://schemas.openxmlformats.org/drawingml/2006/main">
              <a:srgbClr val="008B83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Sonnet全球对照</c:v>
                </c:pt>
                <c:pt idx="1">
                  <c:v>DeepSeek API</c:v>
                </c:pt>
                <c:pt idx="2">
                  <c:v>Spark本地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3.74596</c:v>
                </c:pt>
                <c:pt idx="1">
                  <c:v>1.655237</c:v>
                </c:pt>
                <c:pt idx="2">
                  <c:v>9.046564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42F43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E3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E3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4F7FA"/>
        </a:solidFill>
      </c:spPr>
    </c:plotArea>
    <c:plotVisOnly val="1"/>
  </c:chart>
  <c:spPr>
    <a:solidFill xmlns:a="http://schemas.openxmlformats.org/drawingml/2006/main">
      <a:srgbClr val="F4F7FA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公司：三年95,312.5项任务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42F43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万元</c:v>
          </c:tx>
          <c:spPr>
            <a:solidFill xmlns:a="http://schemas.openxmlformats.org/drawingml/2006/main">
              <a:srgbClr val="008B83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Sonnet全球对照</c:v>
                </c:pt>
                <c:pt idx="1">
                  <c:v>DeepSeek API</c:v>
                </c:pt>
                <c:pt idx="2">
                  <c:v>八H200本地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148.6138</c:v>
                </c:pt>
                <c:pt idx="1">
                  <c:v>68.3431</c:v>
                </c:pt>
                <c:pt idx="2">
                  <c:v>392.541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42F43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E3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E3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45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4F7FA"/>
        </a:solidFill>
      </c:spPr>
    </c:plotArea>
    <c:plotVisOnly val="1"/>
  </c:chart>
  <c:spPr>
    <a:solidFill xmlns:a="http://schemas.openxmlformats.org/drawingml/2006/main">
      <a:srgbClr val="F4F7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F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B9249-8CE1-4977-9771-162203CF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F0824-20BB-44CD-B043-B1712AC3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762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5C0C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5C0C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A5C0CE"/>
                </a:solidFill>
                <a:latin typeface="PingFang SC"/>
                <a:ea typeface="PingFang SC"/>
                <a:cs typeface="PingFang SC"/>
              </a:rPr>
              <a:t>实习项目 · 最终研究汇报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5BF1A-00BD-4F51-9852-DF5D7DD0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0382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公募基金本地LLM</a:t>
            </a:r>
          </a:p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应用与部署研究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B8617-0C41-4574-AEAE-04F22311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A5C0C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A5C0C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5C0CE"/>
                </a:solidFill>
                <a:latin typeface="PingFang SC"/>
                <a:ea typeface="PingFang SC"/>
                <a:cs typeface="PingFang SC"/>
              </a:rPr>
              <a:t>业务任务、运行资源与三年成本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0369B-0CDD-45FF-A878-0C2473C2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86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96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DC6AC-9205-4C82-A8EB-1050A916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5B6A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5B6A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5B6A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293AF-C748-4197-A4D6-799D3E19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86425"/>
            <a:ext cx="328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个人与小组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5E783-E0BA-4832-B322-5F09B6C1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387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5B6A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5B6A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5B6A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5AEAF-7B31-412B-B1B9-AE7E9CD4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86425"/>
            <a:ext cx="328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权限知识库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B3128-6240-4FB4-86C4-84865657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387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5B6A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5B6A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5B6A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43230-0063-4DD3-BFAC-22780FE8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686425"/>
            <a:ext cx="328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公司共享Agent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1B995-B1EA-41C3-9551-928FFE1B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19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5C0C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5C0C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5C0CE"/>
                </a:solidFill>
                <a:latin typeface="PingFang SC"/>
                <a:ea typeface="PingFang SC"/>
                <a:cs typeface="PingFang SC"/>
              </a:rPr>
              <a:t>2026年10月20日</a:t>
            </a:r>
          </a:p>
        </p:txBody>
      </p:sp>
    </p:spTree>
    <p:extLst>
      <p:ext uri="{BB962C8B-B14F-4D97-AF65-F5344CB8AC3E}">
        <p14:creationId xmlns:p14="http://schemas.microsoft.com/office/powerpoint/2010/main" val="638272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78EF4-411E-4756-B1B9-44331ACC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D70EF-1B5D-4F3D-995F-81565A5B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研究结论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491CE-BE0B-46CA-9E38-4F93735A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38D36-90B6-4811-BC87-A41808C7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三种部署方式，服务不同的工作范围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EA739-154A-47B6-876B-24208610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个人入口、公司资料与共享模型可以组合使用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56182-E328-43E8-9BF1-F46137F8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7E362-5259-4145-87BF-90EAE232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研究截至2026-10-20；预算与测量保留各自日期。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BD6CA-95AE-4283-B0DA-463CEE9A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02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CF5FC-D46E-4037-BD47-C958CC7EFB77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667000"/>
                <a:gridCol w="2667000"/>
                <a:gridCol w="318135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主要工作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配置起点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建设重点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个人／小组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材料、代码、表格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Spark＋Qwen27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响应速度与多轮任务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权限知识库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授权检索、问答、引用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Onyx或Milvus自建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员工身份与资料更新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公司Agent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多人、多工具、长任务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DeepSeek＋共享GPU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上下文、并发与运行管理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8BA17-64B2-4730-9065-B05A7DC0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A9703-C888-47C0-AB01-4C1B1A6E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工作要求和数据范围决定所需资源。</a:t>
            </a:r>
          </a:p>
        </p:txBody>
      </p:sp>
    </p:spTree>
    <p:extLst>
      <p:ext uri="{BB962C8B-B14F-4D97-AF65-F5344CB8AC3E}">
        <p14:creationId xmlns:p14="http://schemas.microsoft.com/office/powerpoint/2010/main" val="1816429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2FEEF-105E-4A7B-A3AC-32D55C23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A192C-B9E8-4B14-88E4-0724A027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业务需求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E0348-72D6-4A50-9D71-BB7A9572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188DE-4138-4F42-904B-3AAB1D9F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从前中后台的具体工作出发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55E94-6B43-4A8C-BEBA-A27FC887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模型理解材料、组织步骤，工具与人员完成后续工作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661C1-543E-4D73-9E17-4AA63CA0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C29B7-3ECA-4055-B6F6-F83CB786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061a3eea87843dd"/>
              </a:rPr>
              <a:t>来源：行业调研与2026年公开披露；按典型职能归纳。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C1DB4-5425-4898-90DA-33ECF2D8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03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D2D5D-A889-4154-884E-1FA1543228CD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19500"/>
                <a:gridCol w="461010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职能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具体工作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LLM参与形成的产物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前台：投研／量化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读财报、整理公告、维护研究代码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比较表、事件记录、代码与说明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前台：交易支持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理解业务查询、选择数据接口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查询参数、受控SQL、结果解释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中台：风险／合规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整理风险邮件、条款与待审材料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风险字段、依据、待复核疑点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后台：运营／IT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文件整理、异常说明、工单与测试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结构化记录、说明、代码与测试结果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9D75F-20E7-4F12-ADDD-90AED288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C1E99-BE52-417E-970E-DA3E4867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每个用例都明确输入、模型动作、直接产物和后续处理。</a:t>
            </a:r>
          </a:p>
        </p:txBody>
      </p:sp>
    </p:spTree>
    <p:extLst>
      <p:ext uri="{BB962C8B-B14F-4D97-AF65-F5344CB8AC3E}">
        <p14:creationId xmlns:p14="http://schemas.microsoft.com/office/powerpoint/2010/main" val="1361312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962B0-8195-4B34-A229-47F6D2B1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D8223-7D76-41D5-AF4A-E8325F61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行业证据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573AA-3955-4AF0-9A35-2D3463E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BD682-980C-46DA-9DF2-8C0DAE53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公开案例展示了可复用的工作方法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D5A2B-DE0F-4D36-82B3-36CBAC02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材料归纳、业务查询、文案审核与接口调用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8137B-0262-4E3A-952A-1F3894ED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5850C-2F8D-4640-BA03-B8DADC8C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9f60891359a49ce"/>
              </a:rPr>
              <a:t>来源：富国、南方、鹏华与易方达公开披露。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F82EC-2BA7-4B86-B9F3-CCAD04D9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04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CB39C-6B79-449D-B21B-3C782A975AA4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19500"/>
                <a:gridCol w="461010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案例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模型负责什么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直接产物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富国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筛选材料、归纳内容、综合观点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知识小结与市场观点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南方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理解查询、组织参数与SQL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统计结果与业务答复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鹏华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结合审核项理解文案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风险疑点与修改建议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易方达Index-Hub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选择接口和参数，组织返回数据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带日期的数据答复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D4062-12BC-4E36-A761-A808029F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富国披露：相关研报工作从一周以上缩短至3小时以内。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B8B00-AE6D-4004-9907-54548D23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鹏华披露：营销审核修改建议的最新采纳率为91%。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7D727-74D9-40C0-9F21-51EF74D4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5D3FA-5999-42A5-A5AE-31244615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这些案例把模型产物接入了已有业务流程。</a:t>
            </a:r>
          </a:p>
        </p:txBody>
      </p:sp>
    </p:spTree>
    <p:extLst>
      <p:ext uri="{BB962C8B-B14F-4D97-AF65-F5344CB8AC3E}">
        <p14:creationId xmlns:p14="http://schemas.microsoft.com/office/powerpoint/2010/main" val="7480571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0A54FE-9E75-40F4-A58A-1D4B121B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9EF8C-A1E4-4E8B-9B87-CFC61F91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贯穿任务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C2AFD-C889-4A59-93D0-2FEFF463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AC8AA-14A9-4755-B993-C319577B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两期财报和一份CSV，形成可核对的研究产物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897B9-646F-4913-ABE7-29CA6D66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用同一个任务解释个人、知识库和共享服务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BA193-22B2-4632-A8BD-1F86CB68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CD545-3E95-4240-A032-73860544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虚构财报与CSV示例，用于说明模型和程序的分工。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DCB0E-F575-4B34-86C5-FAAAEDA0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05 / 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F4F70-5405-4C5A-B4E5-0B692AD9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500313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5C13F-669B-4E4E-9FC4-1225071B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81325"/>
            <a:ext cx="22145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F6033-6122-480B-8FE7-E4E55056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21955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两期财报</a:t>
            </a:r>
          </a:p>
          <a:p xmlns:a="http://schemas.openxmlformats.org/drawingml/2006/main">
            <a: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一份CSV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8BB8D-91FE-4CC1-A596-2EBDE0F0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9913" y="3457575"/>
            <a:ext cx="2476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FD597-FA0C-414B-AC2B-AB7F66B1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743200"/>
            <a:ext cx="2500313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05EB4-6FC6-4D17-937B-4D91E4ED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2981325"/>
            <a:ext cx="22145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26C79-A54B-4465-A260-889C3B8E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486150"/>
            <a:ext cx="21955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对齐期间与单位</a:t>
            </a:r>
          </a:p>
          <a:p xmlns:a="http://schemas.openxmlformats.org/drawingml/2006/main">
            <a: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决定核对步骤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DE678-78A3-445A-9B34-EB56ECC7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3457575"/>
            <a:ext cx="2476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5693C-14CA-4F40-83F7-93173F70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743200"/>
            <a:ext cx="2500313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3552B-3625-44A8-B619-70DB2873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81325"/>
            <a:ext cx="22145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Python／文件工具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ECA8B-454A-48AC-A1AF-DDF0045A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86150"/>
            <a:ext cx="21955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计算与校验</a:t>
            </a:r>
          </a:p>
          <a:p xmlns:a="http://schemas.openxmlformats.org/drawingml/2006/main">
            <a: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生成Excel／图表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04FB8-68E9-42B0-84CA-5229443F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4438" y="3457575"/>
            <a:ext cx="2476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66D88-7F9A-43CB-8F23-65BC9449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743200"/>
            <a:ext cx="2500313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79326-F17D-4369-BC0B-8660AFA4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981325"/>
            <a:ext cx="22145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D45EFB-7F24-4E40-9B89-7C5E524A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638" y="3486150"/>
            <a:ext cx="21955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差异说明</a:t>
            </a:r>
          </a:p>
          <a:p xmlns:a="http://schemas.openxmlformats.org/drawingml/2006/main">
            <a: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引用与可复算文件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0C2E4-06C2-4A4C-AE2E-77A2D733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1487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核对工具结果，必要时回到原文补充依据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581A88-D33E-452C-ADEE-06E4DD90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3886F0-FA90-4FF3-BF05-5ECB198F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公告提取采用同样分工：模型识别字段，程序校验，研究员接收记录。</a:t>
            </a:r>
          </a:p>
        </p:txBody>
      </p:sp>
    </p:spTree>
    <p:extLst>
      <p:ext uri="{BB962C8B-B14F-4D97-AF65-F5344CB8AC3E}">
        <p14:creationId xmlns:p14="http://schemas.microsoft.com/office/powerpoint/2010/main" val="15429233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6D3FF-B1D7-4811-8484-897B6D86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53277-B82C-44AD-8127-296ECA44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负载定义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436F3-9739-4971-A8D9-E83F1980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2CF64-E1F2-4B16-8034-338C16F0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上下文长度与并发数共同决定资源需求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BC8B4-BC4E-43D0-8EAC-D58F4F96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总上下文包含输入和输出，计划预留8,192个输出token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62B4D-FEF1-42F0-9EC1-1DFF79BD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5A936-2BF4-4826-A9E5-863B3906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512K＝524,288；1M＝1,000,000。二十路为公司主研究情景。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D092A-CD88-4A3E-809C-84D499F9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06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13F1C-8C53-40FD-92A4-9B178BC84394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19500"/>
                <a:gridCol w="461010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工作方式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上下文特点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主要资源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个人Agent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长材料、工具返回、持续追加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单人生成、会话缓存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权限问答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问题＋授权片段；可继续追问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检索、输入处理、短输出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共享Agent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多轮长任务与工具等待交错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同时生成的请求＋全部保留会话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D5ACE-C5F7-4798-AB07-82875A8E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F89A9-B3BC-40D0-B66B-4C27D074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50个账号、20路生成和40份会话缓存，分别衡量覆盖范围、计算与存储。</a:t>
            </a:r>
          </a:p>
        </p:txBody>
      </p:sp>
    </p:spTree>
    <p:extLst>
      <p:ext uri="{BB962C8B-B14F-4D97-AF65-F5344CB8AC3E}">
        <p14:creationId xmlns:p14="http://schemas.microsoft.com/office/powerpoint/2010/main" val="20532254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C5C646-5D2E-4136-8707-C1BF8596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F47FC-578D-454F-919B-AF8CD455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系统分工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A5441-A45B-43FD-AE7D-3123D871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AD484-F178-48DA-B5E2-363B96B3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模型推理和工具执行由不同组件承担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159C2-A679-4FC3-84E1-CB204003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现成应用组织多轮任务，业务方法和工具通过接口接入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88402-63A3-47A1-B2B9-3C9E89EC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B77D4-4DAA-4FE9-869D-9A7DBDF7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8e90e1df22fa4676"/>
              </a:rPr>
              <a:t>来源：模型、serving和harness官方资料；详见软件备查页。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2F77E-4265-4043-9AF7-AD943C8C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07 / 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2F58C-092E-4CEA-8BC9-76865C6A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952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5B6C6-F712-49D7-9F60-11523D23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1609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使用者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A9327-152D-46BA-A0E8-AB64720F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6097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问题与文件</a:t>
            </a:r>
          </a:p>
          <a:p xmlns:a="http://schemas.openxmlformats.org/drawingml/2006/main">
            <a:pPr algn="ctr">
              <a:defRPr sz="165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交付要求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0B533-DF42-4B7C-B75E-263399B2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28900"/>
            <a:ext cx="29527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42F43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858DB-5FBB-427D-8824-A1723ACF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9875"/>
            <a:ext cx="2609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应用／harness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5BAD8-E093-49AC-A3EA-2CC2AC0D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57550"/>
            <a:ext cx="2609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C0D5D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C0D5D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0D5DF"/>
                </a:solidFill>
                <a:latin typeface="PingFang SC"/>
                <a:ea typeface="PingFang SC"/>
                <a:cs typeface="PingFang SC"/>
              </a:rPr>
              <a:t>任务状态与Skill</a:t>
            </a:r>
          </a:p>
          <a:p xmlns:a="http://schemas.openxmlformats.org/drawingml/2006/main">
            <a:pPr algn="ctr">
              <a:defRPr sz="1650" b="0">
                <a:solidFill>
                  <a:srgbClr val="C0D5D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0D5DF"/>
                </a:solidFill>
                <a:latin typeface="PingFang SC"/>
                <a:ea typeface="PingFang SC"/>
                <a:cs typeface="PingFang SC"/>
              </a:rPr>
              <a:t>工具调用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9065F-7AE4-4F4D-A99C-F849E69D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24075"/>
            <a:ext cx="40481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4DF42-69FE-4864-BEDA-CF4F6D1A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05050"/>
            <a:ext cx="3705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推理服务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B0676-F0FB-44ED-9DCC-19F255A0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752725"/>
            <a:ext cx="3705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vLLM装载与调度</a:t>
            </a:r>
          </a:p>
          <a:p xmlns:a="http://schemas.openxmlformats.org/drawingml/2006/main">
            <a:pPr algn="ctr">
              <a:defRPr sz="165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模型推理与KV缓存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ACB227-7079-44B6-B85D-65815FE0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29075"/>
            <a:ext cx="40481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94F3E8-38A4-4989-B5C3-D95D345F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210050"/>
            <a:ext cx="3705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业务工具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37924-939C-4E19-824C-2468063F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657725"/>
            <a:ext cx="3705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NAS／检索</a:t>
            </a:r>
          </a:p>
          <a:p xmlns:a="http://schemas.openxmlformats.org/drawingml/2006/main">
            <a:pPr algn="ctr">
              <a:defRPr sz="165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Python／数据接口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17CBD-6B12-4671-B0FE-0B33A362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3276600"/>
            <a:ext cx="5619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6E1B6-8FB1-4A25-A7B9-79756B69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6975" y="2743200"/>
            <a:ext cx="12001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C796A-316F-4AD5-9A17-F780C07F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276975" y="3143250"/>
            <a:ext cx="12001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8C5A1-4F29-4341-B8BC-5104508D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623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65C6ED-BE8C-4DC8-8AA7-639EAB85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62375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AC4D79-C59F-4F84-8703-35940830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0375" y="4276725"/>
            <a:ext cx="666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5C31A6-64F3-4623-867C-8389E97D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434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EF647E-18CA-4ABE-8C18-0EABDB79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52900"/>
            <a:ext cx="190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7C4998-B609-4EB9-BF9C-8FEAF630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610100" y="4162425"/>
            <a:ext cx="2095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EE70BE-060A-46F9-AC57-239BA515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1750E4-75BF-429E-83C8-6BCE45F2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模型可以替换，业务方法、权限和计算工具继续复用。</a:t>
            </a:r>
          </a:p>
        </p:txBody>
      </p:sp>
    </p:spTree>
    <p:extLst>
      <p:ext uri="{BB962C8B-B14F-4D97-AF65-F5344CB8AC3E}">
        <p14:creationId xmlns:p14="http://schemas.microsoft.com/office/powerpoint/2010/main" val="17318529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F050A-FAE6-4FD5-9C56-CABAAEF4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E4E4D-36BC-4AE3-A698-EC57D34B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模型选择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BDEC2-36A5-41E5-8F7D-55CCF748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F1CEB-D4AC-479F-B12E-82171D7C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两条主路线分别服务个人与共享任务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05967-7428-46A4-B583-FAD81CF6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Qwen27用于个人与知识问答，DeepSeek用于共享长任务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3D406-003F-4F77-AFA8-87D2FF84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96E88-1CF3-4286-8F7B-337DFD45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545f8aba20ad4e11"/>
              </a:rPr>
              <a:t>Finance Agent v2，作者页2026-10-18更新；指标为加权部分得分。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F40BA-A5C8-41BF-9325-81F69A0B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08 / 42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38BF689B-6904-4CB8-87F7-51C137418A74}"/>
              </a:ext>
            </a:extLst>
          </p:cNvPr>
          <p:cNvGraphicFramePr/>
          <p:nvPr/>
        </p:nvGraphicFramePr>
        <p:xfrm>
          <a:off xmlns:a="http://schemas.openxmlformats.org/drawingml/2006/main" x="552450" y="2333625"/>
          <a:ext xmlns:a="http://schemas.openxmlformats.org/drawingml/2006/main" cx="700087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c55b37e9b1499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B2F0F-2C10-4BB4-BAF1-30B603C7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621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分／100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D28EC-FFF5-42C0-A320-96307662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9825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选型含义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D1235-8560-4571-9C0A-B02C958B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6705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个人：Qwen27 FP8起步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3BA92-162B-4331-A7DE-10C0D7FF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共享：DeepSeek长任务服务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7DC6F-23E1-4C01-AD7A-6F2B2516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0055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对照：GLM Flash</a:t>
            </a:r>
          </a:p>
          <a:p xmlns:a="http://schemas.openxmlformats.org/drawingml/2006/main">
            <a: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与MiMo Flash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BE178-ECAD-4E82-93D1-6106CD11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6730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Gemma与Kimi另作专项比较</a:t>
            </a:r>
          </a:p>
        </p:txBody>
      </p:sp>
    </p:spTree>
    <p:extLst>
      <p:ext uri="{BB962C8B-B14F-4D97-AF65-F5344CB8AC3E}">
        <p14:creationId xmlns:p14="http://schemas.microsoft.com/office/powerpoint/2010/main" val="4849571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D44A29-3E4D-47CE-98FD-9C6D6A77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4A181-5AC5-4F4C-8E54-B070CFCB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方案一　个人Agent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58777-BB3B-48A5-A8D9-92B2233E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5D4EA-4507-400A-96E8-BF43DDC0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Spark运行模型，员工电脑执行工具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F925F-19E4-4C15-BFFC-2F670D20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OpenCode调用电脑上的文件与工具，沿用员工身份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634A1-2705-4067-B565-9731359E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EBF68-E90C-494E-AD74-2D27A68E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a7ebc4b7aa9548f4"/>
              </a:rPr>
              <a:t>性能分支为Qwen3.8-27B-FP8＋FP8 KV＋MTP3。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9F2FA-C380-4DC2-8486-04DC960E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09 / 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F4FFC-8262-4E7D-BE32-4E8C981C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32385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4F083-9F52-4DE8-AD52-C61FE45D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419350"/>
            <a:ext cx="3286125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42F4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75173-8A42-4D3F-8AF6-B8A4319B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74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员工电脑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A0766-EC6B-4E75-A7C1-AA5F1978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2857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OpenCode／Skill</a:t>
            </a:r>
          </a:p>
          <a:p xmlns:a="http://schemas.openxmlformats.org/drawingml/2006/main">
            <a:pPr algn="l">
              <a:defRPr sz="19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文件、Python、Excel</a:t>
            </a:r>
          </a:p>
          <a:p xmlns:a="http://schemas.openxmlformats.org/drawingml/2006/main">
            <a:pPr algn="l">
              <a:defRPr sz="19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员工身份与NAS权限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F4E1B-14E5-4227-B8C2-C4D84752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5747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CCDC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CCDC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8CCDC6"/>
                </a:solidFill>
                <a:latin typeface="PingFang SC"/>
                <a:ea typeface="PingFang SC"/>
                <a:cs typeface="PingFang SC"/>
              </a:rPr>
              <a:t>DGX Spark 128GB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B4570-C676-4310-BB5F-F8DE5DC3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2905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Qwen3.8-27B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vLLM模型接口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72E80-B1D2-41AE-A5F1-0887D17D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3314700"/>
            <a:ext cx="19526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C6A7D-0ECB-4DF0-9EB2-69783E11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886200" y="3971925"/>
            <a:ext cx="19526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64BD9-E248-4DE4-9AFA-9E356419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43225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输入／工具结果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3E397-E4D6-4DE2-8FE0-BC283A00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276725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答案／工具调用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2B10D-E8FE-4461-BA01-5C59E08E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62200"/>
            <a:ext cx="9525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BE3DE-2969-48C2-AA3D-28B187E9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289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交付产物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6E027-22AA-4AF1-9DB1-9385A74C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90875"/>
            <a:ext cx="18573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比较表与图表</a:t>
            </a:r>
          </a:p>
          <a:p xmlns:a="http://schemas.openxmlformats.org/drawingml/2006/main">
            <a:pPr algn="l">
              <a:defRPr sz="172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代码与测试</a:t>
            </a:r>
          </a:p>
          <a:p xmlns:a="http://schemas.openxmlformats.org/drawingml/2006/main">
            <a:pPr algn="l">
              <a:defRPr sz="172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有出处的说明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7A9BEB-4ACC-4194-A3A8-B3CAC50B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66CFC-3C92-49AC-B9CB-4FC89083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输入与工具结果送给模型；工具调用和答案返回员工电脑。</a:t>
            </a:r>
          </a:p>
        </p:txBody>
      </p:sp>
    </p:spTree>
    <p:extLst>
      <p:ext uri="{BB962C8B-B14F-4D97-AF65-F5344CB8AC3E}">
        <p14:creationId xmlns:p14="http://schemas.microsoft.com/office/powerpoint/2010/main" val="15720855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92FF8-FD70-47DE-92E3-B8EFFB5C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4EF85-EE4E-4FB7-B476-069C60E0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方案一　运行配置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85AE6-C9DA-4020-8E09-8A56C847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1A4AD-D033-4925-9985-5F8AFD8F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128GB统一内存怎样分配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6DB92-EC75-4F3F-89AB-E51530CF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模型、草稿模型、KV缓存与系统共用物理内存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C16BC-E5E1-4093-8306-7D4F967B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0F45D-F46E-48AE-84AE-61BC6018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8fcaf231d2674051"/>
              </a:rPr>
              <a:t>外部设备测试汇总；前缀缓存关闭，GPU预算0.80。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9B12B-34E2-4823-B25A-477E7812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10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E1404-9B53-4050-8CDE-DD6D8C3B7FF5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19500"/>
                <a:gridCol w="461010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组成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测试配置／占用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配置含义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权重与草稿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28.47GiB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Qwen27 FP8＋MTP3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KV预分配池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59.73GiB／1,806,907 tokens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所有驻留会话共享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上下文设置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YaRN×4；主模型／草稿均1M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应用另预留8K输出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完整精度KV分支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同池token容量近似减半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单人512K或三人各262K容量参考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115A0-3980-4A20-B7A9-609916DE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4BC56-0F09-48BF-9E62-C08D6564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缓存块的精度和状态布局，与模型权重精度分别记录。</a:t>
            </a:r>
          </a:p>
        </p:txBody>
      </p:sp>
    </p:spTree>
    <p:extLst>
      <p:ext uri="{BB962C8B-B14F-4D97-AF65-F5344CB8AC3E}">
        <p14:creationId xmlns:p14="http://schemas.microsoft.com/office/powerpoint/2010/main" val="18535824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91DAF-198C-444B-9ACE-F7B050D3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9D61B-0B3F-42BA-B2F1-47285193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方案一　单人体验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B6C7E-9FD0-4ECA-8BAA-285D4F24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17804-1F44-4314-9AAC-ED6A9540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长上下文主要增加首次输入处理时间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30B35-1A24-4216-9C9F-24D42851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接近用满窗口，预留8K输出；四档均为经验估算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DA1C2-74E8-44D1-B594-848CA663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9BE84-DC46-4774-883F-FECCC66B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外部实测＋经验估算；1M为外推。单人交互目标20+ token/s。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E1D38-B4B9-443F-A6C7-B265538D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11 / 42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B061BFA4-1CA2-4BFD-9ED2-23D09B3EFB06}"/>
              </a:ext>
            </a:extLst>
          </p:cNvPr>
          <p:cNvGraphicFramePr/>
          <p:nvPr/>
        </p:nvGraphicFramePr>
        <p:xfrm>
          <a:off xmlns:a="http://schemas.openxmlformats.org/drawingml/2006/main" x="552450" y="2286000"/>
          <a:ext xmlns:a="http://schemas.openxmlformats.org/drawingml/2006/main" cx="528637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2d550f83b24e24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88726-7B40-4A8A-BE1D-108E2A47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1145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token/s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1910D33E-FDE3-4897-A967-CA32D94F36BC}"/>
              </a:ext>
            </a:extLst>
          </p:cNvPr>
          <p:cNvGraphicFramePr/>
          <p:nvPr/>
        </p:nvGraphicFramePr>
        <p:xfrm>
          <a:off xmlns:a="http://schemas.openxmlformats.org/drawingml/2006/main" x="6210300" y="2286000"/>
          <a:ext xmlns:a="http://schemas.openxmlformats.org/drawingml/2006/main" cx="528637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82544534c143a4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4F782-A37F-4F78-AFA7-5EC5E996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1145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E4F55-44ED-4D3B-A0DC-081D3BAB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8FB2C-2921-444F-AAFD-2D84398B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实测100K约20.1 token/s；500K约14.8 token/s。</a:t>
            </a:r>
          </a:p>
        </p:txBody>
      </p:sp>
    </p:spTree>
    <p:extLst>
      <p:ext uri="{BB962C8B-B14F-4D97-AF65-F5344CB8AC3E}">
        <p14:creationId xmlns:p14="http://schemas.microsoft.com/office/powerpoint/2010/main" val="3770919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6B59C3-1FBA-4663-A226-3B64C316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BCBB6-B868-4FFE-912F-134B4AE6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方案一　多轮续用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2F98F-C7D6-4109-9799-8AEEB9E7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2B20C-778C-4A2F-BAC9-B55C6FF1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前缀复用省去旧输入的重复处理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B8492-FB9E-48BD-ABF8-436AC7DB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两种请求的总窗口都接近512K，旧KV与递推状态已在内存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BA608-9FEB-4CAB-A6D7-A3F31A15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82BC4-CF42-44FC-90F0-92CD763F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e85bb5ad54d4ca7"/>
              </a:rPr>
              <a:t>5秒／40秒为新增prefill估算；首token等待另含队列与第一步生成。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80F5E-EC64-4CFC-AEA4-E11206CA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12 / 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B1D7B-9FB2-4DB0-9AAF-E88C0EFB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574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22ABF-C021-491F-B74C-1AFD4D3F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新增1K工具结果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94E41-D653-4BFF-B962-B460532F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约5秒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A3ADA-CDF1-429A-98B4-F3ADF8EC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已有前缀直接复用</a:t>
            </a:r>
          </a:p>
          <a:p xmlns:a="http://schemas.openxmlformats.org/drawingml/2006/main">
            <a:pPr algn="l">
              <a:def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处理本轮1K工具结果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17AE8-AFD6-4806-B0C2-1D674DA7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42F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5659D-A9F0-4E6D-882C-B326443E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9D5E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B9D5E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9D5E6"/>
                </a:solidFill>
                <a:latin typeface="PingFang SC"/>
                <a:ea typeface="PingFang SC"/>
                <a:cs typeface="PingFang SC"/>
              </a:rPr>
              <a:t>新增8K工具结果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70A0F-A0A7-44B2-92EB-554E668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约40秒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5F12E-BEB5-4C3A-8632-27AA825E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rPr>
              <a:t>已有前缀直接复用</a:t>
            </a:r>
          </a:p>
          <a:p xmlns:a="http://schemas.openxmlformats.org/drawingml/2006/main">
            <a:pPr algn="l">
              <a:def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rPr>
              <a:t>处理本轮8K工具结果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A2D92B-D7B5-4490-B4A4-2BB6322E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4AEA0-5E2C-4983-80BC-E1E2D414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系统提示和工具定义保持稳定、内容从末尾追加，更容易复用已有前缀。</a:t>
            </a:r>
          </a:p>
        </p:txBody>
      </p:sp>
    </p:spTree>
    <p:extLst>
      <p:ext uri="{BB962C8B-B14F-4D97-AF65-F5344CB8AC3E}">
        <p14:creationId xmlns:p14="http://schemas.microsoft.com/office/powerpoint/2010/main" val="10593278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A4C9F-6230-48A6-BC2C-95DE2C6A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48AB0-54E0-4966-B51F-1BC23066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方案一　闲置会话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9AB2F-C2E8-4100-8B70-4FA12DCF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1FF02-7220-4052-AE59-595647A0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Spark用NVMe保存闲置会话状态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9987B-FE13-4673-A79E-31E23C9E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CPU与GPU共用128GB，SSD提供额外的会话存储空间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C29ED-3610-44F7-9CE5-EC13B832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DDC53-006D-4B9D-A1D2-1AB09BFF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8e7c2782d61e40c5"/>
              </a:rPr>
              <a:t>假设SSD有效6GB/s；512K全注意力KV载荷读取约2.86秒，另计递推状态与调度。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CB3D7-287F-4CC5-9AA6-F4D4A889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13 / 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84534-A9E6-47B9-A554-DB3EF672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5191125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42F43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E433F-71F3-407B-B17F-F70005CA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统一内存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E281D-BEE5-47FA-BDE0-52B55FBC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33675"/>
            <a:ext cx="261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BDD1DE"/>
                </a:solidFill>
                <a:latin typeface="PingFang SC"/>
                <a:ea typeface="PingFang SC"/>
                <a:cs typeface="PingFang SC"/>
              </a:rPr>
              <a:t>当前任务与近期会话状态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86FA3-A11F-4F88-A399-34468034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838325" y="3724275"/>
            <a:ext cx="2286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EAEAE-9213-428B-B1D9-0E2BEF75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048125" y="3724275"/>
            <a:ext cx="2286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94806-5C16-42BC-842C-06CC780A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671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保存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BB80B-B9F6-45EF-85D1-BCE1587C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671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读回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0DD16-474F-4B56-8A78-4A59C711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191125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ADDA0-F93D-4805-8C0A-60D5EBF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NVMe SSD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13BD8-6B26-472A-9932-4B1AAEE5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29100"/>
            <a:ext cx="261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较久未用会话的缓存状态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83E03-D8AF-40B1-89C8-000BDC8E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717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实现方式与状态要求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29E0B-E2A1-49AD-BD40-9DF09138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384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97FE5-C9AD-4B84-8F3A-1D03F773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38475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vLLM原生KV卸载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27D7E5-5EEF-4FF2-BC34-9785EA90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95A00-2382-4BEC-8641-1C916510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62375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LMCache MP多级存储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8C0EF2-C56B-453B-9A25-F60D19C3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862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BB56CC-590B-4125-9F3D-E3A19FF1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86275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按模型布局保存完整会话状态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FEF82A-55EF-43AE-AAB7-EC5924BC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512K载荷17.18GB ÷ 6GB/s ≈ 2.86秒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BB4B62-C549-4C5D-BEEA-65B886FB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72175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813B53-2F8E-444D-87EC-D9F798FE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CPU缓存副本仍占同一128GB内存，SSD才增加物理存储空间。</a:t>
            </a:r>
          </a:p>
        </p:txBody>
      </p:sp>
    </p:spTree>
    <p:extLst>
      <p:ext uri="{BB962C8B-B14F-4D97-AF65-F5344CB8AC3E}">
        <p14:creationId xmlns:p14="http://schemas.microsoft.com/office/powerpoint/2010/main" val="21035995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64ECC-C2C1-402E-A019-6ED03CEE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AD39C-D50D-48C4-BD77-CCD85B8F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方案一　三人共享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4ED99-EC02-4A48-9405-9ACCA592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4FE5D-300D-4744-AAF6-8C07531F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三人共享时，缓存容量和生成速度分别计算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BDA8D-937A-409E-95AF-5ECCC7CC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缓存容量预留余量，速度来自三路100K输入实测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63B52-1177-42A8-9A2C-DE3289ED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FB316-8684-4E89-B355-CDA553F0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容量留10%余量；右侧速度为三路各100K输入、4,096输出。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1876D-AF82-4F8E-848F-8F97DA4A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14 / 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8B2A6-634B-4725-AD2B-DF306068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574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A4E7E-EDFD-4B47-B5EF-54783E9E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留余量后的可分配池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D72B1-3CB2-4BEF-96EF-9DDC996A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1.626M 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31C83-EDAF-4636-B409-926A97C1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三人各512K：可容纳</a:t>
            </a:r>
          </a:p>
          <a:p xmlns:a="http://schemas.openxmlformats.org/drawingml/2006/main">
            <a:pPr algn="l">
              <a:def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一人1M：其余两人共626K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A24DF-8782-4817-A012-21014EEF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42F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D7A89-DBF7-4024-9B26-C778944C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9D5E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B9D5E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9D5E6"/>
                </a:solidFill>
                <a:latin typeface="PingFang SC"/>
                <a:ea typeface="PingFang SC"/>
                <a:cs typeface="PingFang SC"/>
              </a:rPr>
              <a:t>三路100K输入实测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BAF2B-7793-4914-89D8-C0D7D113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17.5 token/s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6C51C-13A9-47A9-BAF6-A30706D5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rPr>
              <a:t>同时生成窗口内的每路均值</a:t>
            </a:r>
          </a:p>
          <a:p xmlns:a="http://schemas.openxmlformats.org/drawingml/2006/main">
            <a:pPr algn="l">
              <a:def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rPr>
              <a:t>全段平均每路约12.5 token/s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11DC7-2B92-4CBF-9253-E30F2CC3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0172C-5CDB-4E5A-8AC5-2C39B0B5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保留会话占用缓存，同时生成消耗算力，两者分别限制共享规模。</a:t>
            </a:r>
          </a:p>
        </p:txBody>
      </p:sp>
    </p:spTree>
    <p:extLst>
      <p:ext uri="{BB962C8B-B14F-4D97-AF65-F5344CB8AC3E}">
        <p14:creationId xmlns:p14="http://schemas.microsoft.com/office/powerpoint/2010/main" val="8998422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E16FE-3503-4E54-90A7-4109C28B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F96E4-D63F-426D-995E-3F0291DF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方案一　费用与使用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7E04D-F4B6-4FFB-90A8-70D3AD85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28E2C-5654-4511-AC39-8EA2C11E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个人首次投入约7万元起，按任务选择上下文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241AA-F792-4D33-AED6-3079ED3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硬件、首次实施与持续运行分别计算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83928-52E9-4951-B9F8-DC708A8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20B05-778A-4154-8E9B-929A9B94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硬件／实施为10月12日预算；三年TCO按10月20日中量情景。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EEF83-CB90-446D-AD9D-DFB46BD8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15 / 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6752A-9D63-4A4A-843A-95E3FBE6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574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4F81F-E548-47C9-BF84-FB25B1DF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个人首次投入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05891-A64A-493B-AE14-0BD922D8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6.8–8.2万元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3A8B3-969E-4129-B5C4-2349BE38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硬件5.8–6.2万</a:t>
            </a:r>
          </a:p>
          <a:p xmlns:a="http://schemas.openxmlformats.org/drawingml/2006/main">
            <a:pPr algn="l">
              <a:def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首次实施1–2万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6BB44-E0B2-477F-B9C5-3F0F58A1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42F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C260A-16AA-4235-AF87-EDC26853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9D5E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B9D5E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9D5E6"/>
                </a:solidFill>
                <a:latin typeface="PingFang SC"/>
                <a:ea typeface="PingFang SC"/>
                <a:cs typeface="PingFang SC"/>
              </a:rPr>
              <a:t>三人共享首次投入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BD0DD-F8E7-402C-8FEF-CF3DCEB6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7.8–9.9万元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8871A-8FDD-4F59-9F22-0A97FFBA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rPr>
              <a:t>共用同一台Spark</a:t>
            </a:r>
          </a:p>
          <a:p xmlns:a="http://schemas.openxmlformats.org/drawingml/2006/main">
            <a:pPr algn="l">
              <a:def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rPr>
              <a:t>增加多用户接入与检查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2796C-9566-47C1-84C7-D931887E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E8CB2-96A6-440E-98B8-52CFEB8F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个人中等任务量下，三年TCO约9.05万元；技术人工按2,500元／人日估算。</a:t>
            </a:r>
          </a:p>
        </p:txBody>
      </p:sp>
    </p:spTree>
    <p:extLst>
      <p:ext uri="{BB962C8B-B14F-4D97-AF65-F5344CB8AC3E}">
        <p14:creationId xmlns:p14="http://schemas.microsoft.com/office/powerpoint/2010/main" val="4030785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C22285-EDDC-4A9C-8986-4F0C7219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8CE97-92E9-493D-9BE4-07F2B7A7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方案二　权限知识库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386B8-4452-4BED-AB4A-13280D3D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7FA21-BB75-4094-BF27-DC110618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员工按NAS权限查询资料，答案附原文出处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4E292-048C-4381-8B9A-D50627D4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检索结果带原文位置，同一接口可供Agent调用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BF138-B10A-4DE1-B7B7-779E8C7B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121D1-48D6-4602-8FD6-7AAF0291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7b696f6c2b8d4353"/>
              </a:rPr>
              <a:t>RAG参考架构。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62106-40B2-438B-85CD-478B58D9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16 / 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61556-5F3C-4A5F-B6E8-EEE8F492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500313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8A73C-3330-4112-98F7-80F91966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81325"/>
            <a:ext cx="22145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NAS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A17CA-9B4D-4178-A804-9232B2B6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21955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文件与权限（ACL）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7000E-C8A5-4403-B844-2A306FF1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9913" y="3457575"/>
            <a:ext cx="2476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B31F8-9445-4E2E-80F2-64168A72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743200"/>
            <a:ext cx="2500313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9B178-A59C-462E-9519-562C669B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2981325"/>
            <a:ext cx="22145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解析与建索引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0A203-D9C4-413C-89D4-2350ED12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486150"/>
            <a:ext cx="21955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文档解析</a:t>
            </a:r>
          </a:p>
          <a:p xmlns:a="http://schemas.openxmlformats.org/drawingml/2006/main">
            <a: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向量与关键词索引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B795D-6E9D-4582-8E1A-DB791EC7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3457575"/>
            <a:ext cx="2476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B98A7-DB3A-4B91-9A19-EC378372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743200"/>
            <a:ext cx="2500313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345D2-850D-4124-AE2C-2BE8140E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81325"/>
            <a:ext cx="22145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按权限检索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DBED5-6929-487A-9083-4B1E6056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86150"/>
            <a:ext cx="21955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身份过滤后重排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288A2-8D5A-42CE-99DC-4513D971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4438" y="3457575"/>
            <a:ext cx="2476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192C3-806F-4033-9A4B-7FE5274E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743200"/>
            <a:ext cx="2500313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1F24EC-707C-4305-B8AE-AE225E2C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981325"/>
            <a:ext cx="22145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生成回答与引用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6B26AC-E3D2-467F-A8E0-A0BEC352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638" y="3486150"/>
            <a:ext cx="21955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Qwen27＋原文入口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703D64-7662-498A-B094-2590A195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3B5D84-32CE-4ABB-A166-7396BF77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检索、引用和导出都检查权限；撤权时同步更新索引与缓存。</a:t>
            </a:r>
          </a:p>
        </p:txBody>
      </p:sp>
    </p:spTree>
    <p:extLst>
      <p:ext uri="{BB962C8B-B14F-4D97-AF65-F5344CB8AC3E}">
        <p14:creationId xmlns:p14="http://schemas.microsoft.com/office/powerpoint/2010/main" val="17203503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0BE1C-4281-4E2D-BBE4-D2E6CAE2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930D5-4A32-4D48-A442-727DBA0E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方案二　平台选择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5A6CB-956A-45D1-A949-E96FFDF2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838F0-617C-4482-89E1-849295BC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Onyx与自建方案，主要区别是交付和维护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2D99A-C005-44EC-B17E-84323B4E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两条路线采用相同的模型资源与权限验收要求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53EB2-3DEA-44C9-82C0-052830E4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B2775-E072-4178-8FF6-6B0FCCC1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f5072b391ac54da5"/>
              </a:rPr>
              <a:t>Onyx企业授权按实际席位与范围询价，记为L。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303F8-4260-4FC2-B252-E7F1F9AF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17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7A6F6-98EA-4D16-B8C9-D04198F013B1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19500"/>
                <a:gridCol w="461010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Onyx Enterprise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Milvus＋自建RAG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入口与管理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平台搜索、问答、管理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 WebUI＋管理接口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资料与权限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连接器＋约定的NAS适配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扫描、ACL求值、身份同步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索引与检索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所选平台版本的索引与检索组件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Milvus向量＋关键词检索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模型服务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Qwen27内部端点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同一Qwen27内部端点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维护责任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平台方／集成商＋内部IT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内部应用与运维团队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76BEA-6B28-460D-9B35-C1C17F69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D9FB6-F454-457B-A699-DF178A5B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选择平台之前，先明确NAS连接、撤权同步和引用访问的交付范围。</a:t>
            </a:r>
          </a:p>
        </p:txBody>
      </p:sp>
    </p:spTree>
    <p:extLst>
      <p:ext uri="{BB962C8B-B14F-4D97-AF65-F5344CB8AC3E}">
        <p14:creationId xmlns:p14="http://schemas.microsoft.com/office/powerpoint/2010/main" val="17905535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17593-F5EB-4738-9F15-CFFAE413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2A297-923C-4425-8AF0-A639A681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方案二　资源与投入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96FEF-136C-4C8C-82CE-74BDBFBA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D67C4-D6E6-4054-A1CF-10B7CE81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短问答的吞吐与长会话的容量分别核算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0B0A0-86F0-4980-9EB3-6D5FF7B4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四张6000D中三张回答、一张辅助，两台CPU节点负责应用与检索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A1293-D690-4507-A53B-AB5F6EF3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81593-42F5-4D9A-91FB-B2671ED2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9月预算与条件计算，10月统一配置口径；性能数值为工程估算。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DF086-5F48-4288-ABC1-FD29383A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18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F12C7-95CD-45FA-8A37-4C72EA15FC91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372475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统一主方案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模型与辅助GPU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3×Qwen27回答副本＋1×embedding／reranker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应用与索引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2台CPU节点，各128GB ECC与镜像NVMe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20路短问答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8K输入＋600输出；每路约21.5–22.0 token/s（计算）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长会话缓存容量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131K：合计9份；262K：合计3份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首次投入：平台／自建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84.5–158万元＋L ／ 91.5–168.5万元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53F98-00A5-4455-8CAE-5A904E34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307D9-062D-4751-9F68-C4FF0049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NAS规模仍待盘点；首次入库、授权报价和运行费用单独预算。</a:t>
            </a:r>
          </a:p>
        </p:txBody>
      </p:sp>
    </p:spTree>
    <p:extLst>
      <p:ext uri="{BB962C8B-B14F-4D97-AF65-F5344CB8AC3E}">
        <p14:creationId xmlns:p14="http://schemas.microsoft.com/office/powerpoint/2010/main" val="3536607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7D1DDC-2F7E-426E-A345-D73D59F5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95121-67AA-4DD8-B6E9-1E5481AD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方案三　共享Agent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14616-3323-4070-ABD6-36A8A44F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C8FCD-2E00-4E7C-B3BE-2825C021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模型供多人共用，任务与工具环境各自保留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98CFC-CDCE-4F62-8527-4250F3EA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Hermes组织多轮工作，Skills保存方法，MCP连接资料和系统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A18F4-2324-45EE-AF63-7A4CE408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F47AD-30BE-4EB8-8080-14C10AAE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参考设计；工具执行位置与模型运行位置分别安排。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3BE8D-28F5-4D10-9D86-DEFEA30A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19 / 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B15D4-F4D2-43CC-8502-FD1936C7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2857500" cy="217170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4D238-FAF3-4A69-8723-1E3AA715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员工／项目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67068-8DC4-4ADA-A171-CDD7506C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476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Hermes会话</a:t>
            </a:r>
          </a:p>
          <a:p xmlns:a="http://schemas.openxmlformats.org/drawingml/2006/main">
            <a:pPr algn="l">
              <a:defRPr sz="1725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Skill与任务记录</a:t>
            </a:r>
          </a:p>
          <a:p xmlns:a="http://schemas.openxmlformats.org/drawingml/2006/main">
            <a:pPr algn="l">
              <a:defRPr sz="1725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独立目录与身份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1F1A1-1CBF-464A-B023-D2288E05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81250"/>
            <a:ext cx="3238500" cy="217170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142F43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B8633-94D8-4B33-9652-A162DCB1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908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9D5E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B9D5E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9D5E6"/>
                </a:solidFill>
                <a:latin typeface="PingFang SC"/>
                <a:ea typeface="PingFang SC"/>
                <a:cs typeface="PingFang SC"/>
              </a:rPr>
              <a:t>共享推理服务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83A6E-F0B3-47BA-941C-21703C8C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143250"/>
            <a:ext cx="2857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DeepSeek-V4.1-Flash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vLLM及所需适配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53201-68F3-441B-BE59-36E5698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495550" cy="217170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15FD9-FC47-4D89-896E-4BDE698D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908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资料与工具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CEC52-4589-46E8-91A7-33C08230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2114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NAS授权检索</a:t>
            </a:r>
          </a:p>
          <a:p xmlns:a="http://schemas.openxmlformats.org/drawingml/2006/main">
            <a:pPr algn="l">
              <a:defRPr sz="1725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Python／业务接口</a:t>
            </a:r>
          </a:p>
          <a:p xmlns:a="http://schemas.openxmlformats.org/drawingml/2006/main">
            <a:pPr algn="l">
              <a:defRPr sz="1725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CPU执行并保存产物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FD92D-C192-4CEC-8978-D357141A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5675" y="3067050"/>
            <a:ext cx="1085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A14E2-1CA9-4A17-85FE-1A37EA2B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495675" y="3790950"/>
            <a:ext cx="10858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E53FB-0F62-4274-A9E5-D184B1B6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670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请求／返回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0E97CA-55D2-4BB4-B9D2-D98C9E90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52950"/>
            <a:ext cx="19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37573F-3794-4033-93E6-A6D74DBE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552950"/>
            <a:ext cx="19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8E862-AAC7-4342-B3C6-AFBB8384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95850"/>
            <a:ext cx="8448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DE893A-A4EA-40FD-BB48-441DF202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7475" y="4829175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4EEC6-A464-4964-B1F5-F50E2A71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52950"/>
            <a:ext cx="19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40C38E-CB46-4378-9708-4C98CACF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52950"/>
            <a:ext cx="19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84690E-FBC9-4BBA-813F-95838744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38750"/>
            <a:ext cx="8448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03CC5D-DB53-4731-9F8D-4D830F70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114550" y="5172075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7B769C-F98A-4A82-ACA9-483F2AB1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767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Harness调用工具 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BF1CD1-8D39-4C75-9EE6-7F07658C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← 工具结果回到任务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D60BBC-A29C-4825-94BE-92491DC2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BDBC5C-8DC9-49EA-9779-2B8FE90D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目标规模：20路同时生成，长会话上限按1M规划。</a:t>
            </a:r>
          </a:p>
        </p:txBody>
      </p:sp>
    </p:spTree>
    <p:extLst>
      <p:ext uri="{BB962C8B-B14F-4D97-AF65-F5344CB8AC3E}">
        <p14:creationId xmlns:p14="http://schemas.microsoft.com/office/powerpoint/2010/main" val="16787466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0EF50-A637-4A56-804E-6C3EEF63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5C610-F152-40BC-97E2-618FEE3A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方案三　内存组成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55E85-8724-4080-A38C-0DF8096E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00854-8697-4E89-ACCA-EB82F278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模型权重、Engram与会话KV分别计算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27357-72AA-43A6-ABC1-08F1B829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模型固定占用与随会话增长的状态分开计算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61CF2-65F9-4422-AB5A-D1059949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B14EB-C36E-4311-977D-59B124A5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fd50763c36284a58"/>
              </a:rPr>
              <a:t>官方原生制品；Hopper缓存按固定源码与启动池核算。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0DEB1-4208-4A4A-B2FA-5AD76BBE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20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E500D-6C77-41C0-8E2D-BA00C13533E7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19500"/>
                <a:gridCol w="461010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规模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主要位置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原生checkpoint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510.29GB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模型制品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Engram查找表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202.76GB／份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主机内存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其余权重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307.53GB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GPU权重预算的起点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每个1M会话全局KV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1.827GB／TP rank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参与推理的各GPU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其他运行状态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按实际启动与图捕获预算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局部缓存、草稿、工作区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A8D5F-7FDC-4797-BDE4-B906BEEF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F6190-6963-4242-8F13-AF6F9430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Engram随模型实例安排；KV随保留会话和上下文增长。</a:t>
            </a:r>
          </a:p>
        </p:txBody>
      </p:sp>
    </p:spTree>
    <p:extLst>
      <p:ext uri="{BB962C8B-B14F-4D97-AF65-F5344CB8AC3E}">
        <p14:creationId xmlns:p14="http://schemas.microsoft.com/office/powerpoint/2010/main" val="20547031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068A9-28A2-4EA6-9BCB-D53E2CE6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5A8DB-B3C8-462D-96C0-B7DB67D8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方案三　容量与布局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C0768-B779-4590-9841-2D3C18FC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CEC2E-B73A-4B83-9D65-77920B75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八卡H200可容纳二十份1M会话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1A4AC-7AD2-43D8-A947-FB5D1B75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按图捕获后的较严格缓存预算估算，再预留10% token余量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DA4BD-1C67-417A-9699-79A9F32E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83331-72FC-4807-86BB-9F4C0DF7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容量按图捕获后的预算等比例估算；生成速度另行核算。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D3EFA-0A5B-425E-BF56-457458ED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21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97199-7EE1-404E-A723-1B796CA2C364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19500"/>
                <a:gridCol w="461010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保留20份／每份上下文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保留40份／每份上下文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8×H100，TP8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约242K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约121K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4×H200，TP4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约762K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约381K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8×H200，TP8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1M（配置上限）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约636K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8×H200，双TP4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1M（配置上限）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约762K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D7EBA-62EE-41E3-ABDC-65AC8646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4F55D-AC2F-4299-9F2C-4EEBD482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同机TP4×DP2可共享一份Engram；两个独立TP4服务按两份计。</a:t>
            </a:r>
          </a:p>
        </p:txBody>
      </p:sp>
    </p:spTree>
    <p:extLst>
      <p:ext uri="{BB962C8B-B14F-4D97-AF65-F5344CB8AC3E}">
        <p14:creationId xmlns:p14="http://schemas.microsoft.com/office/powerpoint/2010/main" val="15284903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086C36-70BE-473D-8468-17EBF5D3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BF182-E420-41EC-807D-879C15F7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方案三　会话分层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7EF30-3BA1-479B-9AD7-95E240CB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7D8DC-6F03-45DD-9423-6E9E21A7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GPU处理当前请求，DRAM和SSD保存会话状态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C7DE7-EAB5-4D70-8CBB-FA690990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20个正在生成的请求＋20个等待工具的请求，需保留40份上下文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E1169-8740-4C3D-BD96-4AA284A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C791A-747D-4671-A756-DCC4A853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612ce25335074cae"/>
              </a:rPr>
              <a:t>来源：AI Infra Book 8.3／9.5与vLLM、LMCache文档。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ED53A-44C1-4905-87D4-998501E6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22 / 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BC35F-5F07-4319-92BC-B06492EC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19112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2F43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753CC-E5DD-493B-B32C-E7EBE9A5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GPU显存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78BAA-DC63-48B9-994E-31D871AD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030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BDD1DE"/>
                </a:solidFill>
                <a:latin typeface="PingFang SC"/>
                <a:ea typeface="PingFang SC"/>
                <a:cs typeface="PingFang SC"/>
              </a:rPr>
              <a:t>正在处理请求的状态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26751-E79B-4D36-A84C-637E7AB1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838325" y="3200400"/>
            <a:ext cx="2286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9A4CB-B8B7-49D9-897F-B0FAD55A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048125" y="3200400"/>
            <a:ext cx="2286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C1B27-A0F5-4193-8696-14FF8DC8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保存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E6536-210C-4478-9E9B-98F26E1C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43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读回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7D087-4ECA-4EC0-89CE-5526ACBF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95675"/>
            <a:ext cx="519112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39763-2304-4DA3-9318-001845A7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主机DRAM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BA9C8-070A-406C-9173-88089170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052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近期会继续使用的会话状态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79C8B-BDEB-442B-9EBE-DF76838A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838325" y="4505325"/>
            <a:ext cx="2286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9EA12-E13E-4343-B0F7-93F5EC26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048125" y="4505325"/>
            <a:ext cx="2286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2A4F9-F5C9-40C7-A2ED-FACEB5F4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481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保存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EC1A43-7DEF-4035-8606-069F58D3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4481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读回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7C18CC-F6FF-4072-AEEB-1BD16C11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00600"/>
            <a:ext cx="519112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F6859-0D5E-4CED-A8F7-42F7A719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NVMe SSD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7C9A32-8155-4F55-8AD7-68B2B380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101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较久未使用的会话状态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A2A6EE-3C8F-47B0-86BB-53A9CBC5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717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运行方式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CCFE3C-6DA1-452B-B19F-2E892409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384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5C6E7C-6F69-453E-A61E-ED0B4A08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38475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本轮结束，保存可复用状态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F89580-1546-4837-B741-60BC88A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DED5FA-F42B-41F8-91E0-71DA0999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62375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工具返回，预先将所需状态读回GPU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F705FA-90FA-4846-B1F4-DDB7887F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862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D5588A-E41A-4A3C-B8E5-84B3B164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86275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处理新增输入，再继续生成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C9793-4087-4BFA-87F5-7A389E1B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72175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117D19-96B3-45B7-AA4B-BD1F3E95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保留会话数决定缓存存储量，同时生成请求数决定GPU计算负载。</a:t>
            </a:r>
          </a:p>
        </p:txBody>
      </p:sp>
    </p:spTree>
    <p:extLst>
      <p:ext uri="{BB962C8B-B14F-4D97-AF65-F5344CB8AC3E}">
        <p14:creationId xmlns:p14="http://schemas.microsoft.com/office/powerpoint/2010/main" val="13572802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C4652-7D05-41B8-A3D8-ADC30194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639B4-DC85-40C8-A5A2-9D8CBC71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方案三　响应与吞吐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774AB-D685-4818-9CFD-EA4CB078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2DF2E-CE98-4884-92C4-A1DF572F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首token等待包括状态读回、排队和新增输入处理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F09D3-57A3-4BD9-A57C-AD693773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目标吞吐、公开回放与载荷传输估算分别说明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95F1F-CD88-4851-9DD7-B62832F7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9A8BF-0D55-4B8C-8C77-B57151AD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公开回放输入140K–157K、前缀命中约95%；载荷传输带宽24／6GB/s为假设。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EA1CA-598A-4394-9D45-E9F4DBFB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23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B481E-25A3-4D6E-ABC9-B94B5E0A3D63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372475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数值与统计范围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二十路生成目标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20×20＝400 token/s系统生成目标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公开H200 TP8回放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32会话，约1,052 token/s总输出，p95 TTFT 2.63秒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1M会话：内存→GPU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TP4全局KV7.31GB；载荷传输约0.30秒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SSD经CPU传入GPU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同一载荷约1.52秒；另计新增prefill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20份会话同时读回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内存→GPU，总载荷146.16GB；约6.1秒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FDDC6-DE7A-40F3-AF89-F552D431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CDC39-24F5-4D7D-85CE-92B0060D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首token等待＝状态读回与排队＋新增输入处理＋首次生成。</a:t>
            </a:r>
          </a:p>
        </p:txBody>
      </p:sp>
    </p:spTree>
    <p:extLst>
      <p:ext uri="{BB962C8B-B14F-4D97-AF65-F5344CB8AC3E}">
        <p14:creationId xmlns:p14="http://schemas.microsoft.com/office/powerpoint/2010/main" val="7377452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D0ADE-0EB7-4930-AE4B-7FCAA9EE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E1B16-CE90-483C-8097-4C8128BC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方案三　整机预算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0C2BC-068A-442A-A0F1-95A7818E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B8AFD-A20C-45CA-B21C-B13964DE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整机预算取决于卡型、互联和交付范围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93E97-F67B-4712-9939-ED393A1F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八卡H200为主候选，A100结合已有设备评估复用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3494D-89AF-4089-AA65-3ABCBBCC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D7A1B-786D-4F48-BC73-98C8F526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7ec9425f33ba43ec"/>
              </a:rPr>
              <a:t>价格核验2026-10-20；人民币为分析预算，境外挂牌不等同境内成交。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9BD10-2457-4485-B10E-E1E93C3E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24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5D7B6-E9C2-4ED0-AEDB-957F4AFEAFD4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19500"/>
                <a:gridCol w="461010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GPU与互联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CPU／主机内存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整机预算／万元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8×A100 80GB SXM</a:t>
                      </a:r>
                    </a:p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（翻新）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双EPYC 7V12／1TB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91–102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8×H100 80GB SXM／NVSwitch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双EPYC 9454／1.5TB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285–298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4×H200 NVL 141GB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双Xeon 6710E等级／1TB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161–283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8×H200 SXM 141GB／NVSwitch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双EPYC 9454／1.5TB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291–304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A315F-6572-46B5-9152-7BC45D73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93F30-08C3-4CB1-8583-3F96F45B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工具集中执行时，另计12–26万元CPU节点；也可在已有终端执行。</a:t>
            </a:r>
          </a:p>
        </p:txBody>
      </p:sp>
    </p:spTree>
    <p:extLst>
      <p:ext uri="{BB962C8B-B14F-4D97-AF65-F5344CB8AC3E}">
        <p14:creationId xmlns:p14="http://schemas.microsoft.com/office/powerpoint/2010/main" val="99496588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BCFC9C-9D23-4182-ACF8-721FFAC9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C1645-C1C8-448F-B125-233D6FFB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方案三　A100引擎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7CD25-B0D0-48D7-A608-581B2410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4F5A6-A668-4DD6-A49B-50C4CC35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A100方案采用modified vLLM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7B482-2ADD-49E7-AACF-C51AADDA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沿用vLLM服务能力，在目标机器上取舍适配补丁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6A55F-D3CB-405B-86D1-13512B63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A3148-981B-41D0-93CA-FAD6D2BF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8dc8442f79d4982"/>
              </a:rPr>
              <a:t>数值对应各自硬件、负载与统计范围，完整记录见备查页。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4450E-CFF8-492F-BA16-C6EC8263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25 / 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3FAD7-1B65-4101-A488-03C6B049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574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81158-D1E5-4D46-8C9C-77888BC7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沿用vLLM服务能力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E5499-7AA1-4217-82DA-2F0F63AB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调度／缓存／接口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C015C-8C35-4BCE-8E09-D35E9302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请求队列、分页状态</a:t>
            </a:r>
          </a:p>
          <a:p xmlns:a="http://schemas.openxmlformats.org/drawingml/2006/main">
            <a:pPr algn="l">
              <a:def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监控、部署与版本维护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D50EF-E8BC-4F80-B6FC-D5B93554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42F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8B711-04CF-42C0-979F-92844223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9D5E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B9D5E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9D5E6"/>
                </a:solidFill>
                <a:latin typeface="PingFang SC"/>
                <a:ea typeface="PingFang SC"/>
                <a:cs typeface="PingFang SC"/>
              </a:rPr>
              <a:t>维护必要硬件适配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9355A-0374-4F79-8BF0-1D8A858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算子与通信补丁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B483C-C38B-4FE2-AAA5-48E22FDC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rPr>
              <a:t>在目标机器上比较增量收益</a:t>
            </a:r>
          </a:p>
          <a:p xmlns:a="http://schemas.openxmlformats.org/drawingml/2006/main">
            <a:pPr algn="l">
              <a:def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DD1DE"/>
                </a:solidFill>
                <a:latin typeface="PingFang SC"/>
                <a:ea typeface="PingFang SC"/>
                <a:cs typeface="PingFang SC"/>
              </a:rPr>
              <a:t>覆盖长任务与并发负载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13A03-FE8A-4D90-B38E-7C16E98A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B72F6-2B54-483C-BB56-F7289F7D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硬件适配借鉴shi3z等公开实现，服务调度、接口和维护沿用vLLM。</a:t>
            </a:r>
          </a:p>
        </p:txBody>
      </p:sp>
    </p:spTree>
    <p:extLst>
      <p:ext uri="{BB962C8B-B14F-4D97-AF65-F5344CB8AC3E}">
        <p14:creationId xmlns:p14="http://schemas.microsoft.com/office/powerpoint/2010/main" val="18995596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7772A-9284-404E-9781-036B5ECA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1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35C5D-D980-4F48-98BB-A3675F8E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E61C8"/>
                </a:solidFill>
                <a:latin typeface="PingFang SC"/>
                <a:ea typeface="PingFang SC"/>
                <a:cs typeface="PingFang SC"/>
              </a:rPr>
              <a:t>方案三　完整投入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5A248-E960-4839-925D-845953C2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F81E9-C441-415F-9AA8-5648DCC4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模型服务器、工具环境和运维人员共同构成服务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58797-7D37-42BD-8B01-59BDB9A0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硬件采购之外，实施与持续运行也是成本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13CBC-6601-448C-A811-0CD1CCAB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C1D68-1EDB-4475-B438-75094CDF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中等任务量情景，技术人工2,500元／人日；完整三年比较见成本页。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E02AB-2F3D-4E55-ABD0-0B48BC47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26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67568-AA3F-479D-9B3C-708A70A79BE5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372475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组成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配置／预算口径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模型服务器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8×H200；主机1.5TB；GPU整机291–304万元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任务执行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员工终端或集中CPU节点，新增12–26万元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应用与数据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Hermes、Skills／MCP、已有授权检索接口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首次实施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公司TCO基准45技术人日，11.25万元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持续运维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基准60技术人日／年，另计用电、机位与软件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B6BD1-4B6E-4FF6-9D7E-7E9789A4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6D2A6-B8DE-412C-BC9F-DE150FAA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主方案按20×1M规划缓存容量，服务速度仍需用实际任务核验。</a:t>
            </a:r>
          </a:p>
        </p:txBody>
      </p:sp>
    </p:spTree>
    <p:extLst>
      <p:ext uri="{BB962C8B-B14F-4D97-AF65-F5344CB8AC3E}">
        <p14:creationId xmlns:p14="http://schemas.microsoft.com/office/powerpoint/2010/main" val="7609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D61E7-87CD-44CD-A466-86EB3875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FCEF3-3FA4-4652-AA55-FC2BD860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方案汇总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1B7E8-7006-4CC6-8BE1-78C30610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1ED70-1D11-4646-94D5-FD933792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三种方式可以逐步组合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A4FC0-0209-444A-AEED-55F279E8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以工作范围和数据位置决定共享哪些资源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2BD90-691C-4529-A523-644D3FD9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72F49-7A3A-44E3-AF03-72865A43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研究资料与参数截至2026年10月20日，出处及说明见讲者备注。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1F1A1-B67A-4D02-A8CC-A9A00FFA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27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A6437-DAAD-4EF2-AF63-A3A10F75E7E9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667000"/>
                <a:gridCol w="2667000"/>
                <a:gridCol w="318135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方式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获得的能力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主要投入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适合起步的任务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个人Spark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本地文件、代码</a:t>
                      </a:r>
                    </a:p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连续会话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设备＋少量实施维护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提取、表格、脚本与测试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权限知识库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统一检索、出处</a:t>
                      </a:r>
                    </a:p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撤权同步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接入与权限</a:t>
                      </a:r>
                    </a:p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索引与平台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部门资料问答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共享DeepSeek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较大模型</a:t>
                      </a:r>
                    </a:p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多用户工具任务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GPU、任务环境与运行管理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复杂财报分析与多轮任务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8E5DD-CB3F-4E14-A81E-FF1308EE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0D5C7-4AD6-490E-A48A-FD843D4E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资料检索与工具可以复用，模型服务按质量和用量扩展。</a:t>
            </a:r>
          </a:p>
        </p:txBody>
      </p:sp>
    </p:spTree>
    <p:extLst>
      <p:ext uri="{BB962C8B-B14F-4D97-AF65-F5344CB8AC3E}">
        <p14:creationId xmlns:p14="http://schemas.microsoft.com/office/powerpoint/2010/main" val="11579531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198A2-63CB-4BFC-BE2F-3F49995D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2180F-B48C-4876-8655-523284B8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数据与运行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2A22A-8843-4C90-AC65-262A1C77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EE2DC-4BF8-45F1-AB37-9CAD712C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资料范围决定本地与API可处理的任务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F05CA-59F0-457C-B3AC-934E0F0C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权限校验、工具隔离、引用复核和版本管理贯穿工作链路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0BABD-E5A0-4B43-BB09-527BBBE9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1AEB7-101A-4CC6-BA32-26C84F7A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abba9edc2b0b4b3c"/>
              </a:rPr>
              <a:t>公开规则核验2026-10-20；具体采用按数据、主体和交易条件落实。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3A2C8-3653-4A10-98D2-F91835CF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28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7E6DA-3E17-4EF0-9A21-5C6247368728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372475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环节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实施动作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资料进入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按分类与协议确定本地／API路径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检索与引用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员工身份贯穿片段、下载、导出与撤权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模型与工具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固定版本，隔离目录、凭据和外发能力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输出交付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数字、引用、计算文件与测试结果一起复核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更新与运行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同一任务集回归，保留变更与处理记录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28D21-FD2F-4B58-A1A8-3FD5ABD6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976D9-3BDF-4740-83B3-2CA9DFC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本地运行的价值包括资料与工具控制；经济性同时比较现金与人力投入。</a:t>
            </a:r>
          </a:p>
        </p:txBody>
      </p:sp>
    </p:spTree>
    <p:extLst>
      <p:ext uri="{BB962C8B-B14F-4D97-AF65-F5344CB8AC3E}">
        <p14:creationId xmlns:p14="http://schemas.microsoft.com/office/powerpoint/2010/main" val="19384889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824BB-9BEE-49AE-8171-C41292A1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8D77B-ED1A-40FD-BF93-3DD71C9D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791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8791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791E"/>
                </a:solidFill>
                <a:latin typeface="PingFang SC"/>
                <a:ea typeface="PingFang SC"/>
                <a:cs typeface="PingFang SC"/>
              </a:rPr>
              <a:t>三年成本　计费基础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639CB-460C-4818-BB05-13DCCC50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DB260-1D4F-432E-BDC0-53DE3BA7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多轮任务要计算每次提交的完整输入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44DB3-77F9-4963-9D78-CEEA1C12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8轮任务从100K增长到170K，缓存读取继续计费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0EFF3-51B3-492E-B9DF-85BB4958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7CA30-EE5A-4F4B-BAE5-A8D1BFAE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52a4080126b34977"/>
              </a:rPr>
              <a:t>基准假设：可复用前缀命中率95%；汇率7.00，API token费另加6%预算准备金。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B4B63-1A2A-4FE9-A4D6-27036994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29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3A703-041E-4502-B0AF-232707A5124F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19500"/>
                <a:gridCol w="461010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一项8轮任务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处理方式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累计提交输入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1,080,000 tokens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分为缓存读、写或未命中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新增外部输入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156,000 tokens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已经包含在累计输入中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累计输出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16,000 tokens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含思考、工具参数与正文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DeepSeek每计划任务</a:t>
                      </a:r>
                    </a:p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token费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约0.625元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含10%额外执行轨迹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Sonnet5.5每计划任务</a:t>
                      </a:r>
                    </a:p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token费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约9.047元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全球对照，1小时缓存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B5FE8-CAA6-4076-87B6-4C92FE0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2E08F-982A-4BB1-B72D-163FE4B9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API token费之外，实施、工具、维护与审核也计入总成本。</a:t>
            </a:r>
          </a:p>
        </p:txBody>
      </p:sp>
    </p:spTree>
    <p:extLst>
      <p:ext uri="{BB962C8B-B14F-4D97-AF65-F5344CB8AC3E}">
        <p14:creationId xmlns:p14="http://schemas.microsoft.com/office/powerpoint/2010/main" val="21192636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3DA54-2DBC-4C1C-979C-54CB8BEB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67AC7-DF0C-4EBF-826C-8BD914D9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791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8791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791E"/>
                </a:solidFill>
                <a:latin typeface="PingFang SC"/>
                <a:ea typeface="PingFang SC"/>
                <a:cs typeface="PingFang SC"/>
              </a:rPr>
              <a:t>三年成本　中等使用量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18C42-314D-4133-919B-8B6215DC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B42B6-0318-4142-8AE5-5CCF3B4E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中等工作量下，API预算低于新购本地设备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4027D-F650-4A0B-A13E-78DB06E7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包含实施与持续运维人工；个人与公司分别比较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A5ABA-9EFA-4B6E-B349-3802AEB7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4909E-919B-495C-8467-B8D73EC1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a7d027d7f794482"/>
              </a:rPr>
              <a:t>单位万元；10/20费率与工作量假设。API资料／地域条件见“数据与运行”页。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3D97D-6D3E-48D8-9DD3-A2235CFC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30 / 42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1C577A55-CD64-4E0E-ADD0-2690881A6E06}"/>
              </a:ext>
            </a:extLst>
          </p:cNvPr>
          <p:cNvGraphicFramePr/>
          <p:nvPr/>
        </p:nvGraphicFramePr>
        <p:xfrm>
          <a:off xmlns:a="http://schemas.openxmlformats.org/drawingml/2006/main" x="552450" y="2286000"/>
          <a:ext xmlns:a="http://schemas.openxmlformats.org/drawingml/2006/main" cx="528637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da6f32a2494ed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7E4EE-2639-4A60-8AB5-578969EC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1145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万元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5C78DEBF-CC27-4E9D-BCDF-5C6DF4F4A1CC}"/>
              </a:ext>
            </a:extLst>
          </p:cNvPr>
          <p:cNvGraphicFramePr/>
          <p:nvPr/>
        </p:nvGraphicFramePr>
        <p:xfrm>
          <a:off xmlns:a="http://schemas.openxmlformats.org/drawingml/2006/main" x="6210300" y="2286000"/>
          <a:ext xmlns:a="http://schemas.openxmlformats.org/drawingml/2006/main" cx="528637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b7e91fd2494d4f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7589D-3FA9-4722-920F-AD0DAA71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1145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万元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1300C-1413-47F6-A71C-9B739FAE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6C2F6-49AA-426C-813F-D7A67766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公司本地GPU采购约占三年TCO的76%，实际使用量影响固定成本的分摊。</a:t>
            </a:r>
          </a:p>
        </p:txBody>
      </p:sp>
    </p:spTree>
    <p:extLst>
      <p:ext uri="{BB962C8B-B14F-4D97-AF65-F5344CB8AC3E}">
        <p14:creationId xmlns:p14="http://schemas.microsoft.com/office/powerpoint/2010/main" val="178644244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F01B2-DB02-4CF2-AD36-4ED9827E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3199A-393C-4254-88A0-F412D857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791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8791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791E"/>
                </a:solidFill>
                <a:latin typeface="PingFang SC"/>
                <a:ea typeface="PingFang SC"/>
                <a:cs typeface="PingFang SC"/>
              </a:rPr>
              <a:t>三年成本　用量与扩容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8DF3B-B03D-43E9-9E22-6A8E1C63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4BC30-752A-4E17-B71D-BED4F3F4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使用量超过单机容量后，新增设备计入成本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26788-659D-43E5-AA15-FB264731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按100K–170K多轮任务估算处理能力，比较低、中、高使用量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6A893-BE7F-4F74-8B5F-8CAA2CBE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92CD2-502D-4810-B01B-7D4CD2F3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规划容量：400 decode＋8,000未缓存prefill token/s；2,000h／年，70%使用预算。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66157-9728-4697-B61B-7148EEE3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31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D2945-22ED-4F19-9158-B624C7841366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667000"/>
                <a:gridCol w="2667000"/>
                <a:gridCol w="318135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公司使用量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三年任务数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逐年GPU节点数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本地／DeepSeek／Sonnet</a:t>
                      </a:r>
                    </a:p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（万元）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30,000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→ 1 → 1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391.70 ／ 64.26 ／ 89.52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95,312.5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→ 1 → 1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392.54 ／ 68.34 ／ 148.61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237,500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→ 2 → 2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712.78 ／ 77.23 ／ 277.25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A701D-F6EE-41B7-AA0A-5F01796B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A1E89-7B3B-46DC-A466-3035EF1B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使用量增加可以分摊固定投入；超过处理能力后，扩容费用也随之增加。</a:t>
            </a:r>
          </a:p>
        </p:txBody>
      </p:sp>
    </p:spTree>
    <p:extLst>
      <p:ext uri="{BB962C8B-B14F-4D97-AF65-F5344CB8AC3E}">
        <p14:creationId xmlns:p14="http://schemas.microsoft.com/office/powerpoint/2010/main" val="58322494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62EC6-F107-4708-B391-3E0F40DD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BA93E-5153-4FED-AD07-4A704241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791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8791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791E"/>
                </a:solidFill>
                <a:latin typeface="PingFang SC"/>
                <a:ea typeface="PingFang SC"/>
                <a:cs typeface="PingFang SC"/>
              </a:rPr>
              <a:t>试点与收益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17170-71AE-4749-B141-F0D9110A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C5CA1-67DE-44F8-AE49-85311FDD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公告提取与代码辅助优先启动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70618-E07C-428C-962A-8C6E6658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按公开任务证据、实施条件和出错后果安排试点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EDD09-D170-448A-BB26-6AEEC7A2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6AC81-92FA-4EAF-91FE-9467A670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人日和时间节省均为规划输入；设备与平台统一分摊，工时价值与现金分开。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131A7-1A3E-4230-899B-EAFE2B9D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32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3E3CA-F2B0-4464-A9BB-36D09164A8CE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667000"/>
                <a:gridCol w="2667000"/>
                <a:gridCol w="318135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顺序／任务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首期技术人日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实施估算 万元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主要交付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公告提取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8–12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2.0–3.0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字段表、证据句与错误样例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代码与测试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6–10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1.5–2.5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代码变更＋独立测试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财报比较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12–20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3.0–5.0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计算表＋摘要与引用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NAS授权问答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25–45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6.25–11.25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选定目录＋权限验收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 材料预审（储备）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15–25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3.75–6.25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规则与审核样例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FEDB2-5CD7-4A23-86CD-D6EFB5A9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C818C-CFCD-4F24-9020-77E673C4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净节省工时＝原人工时间－辅助操作、复核和返工时间。</a:t>
            </a:r>
          </a:p>
        </p:txBody>
      </p:sp>
    </p:spTree>
    <p:extLst>
      <p:ext uri="{BB962C8B-B14F-4D97-AF65-F5344CB8AC3E}">
        <p14:creationId xmlns:p14="http://schemas.microsoft.com/office/powerpoint/2010/main" val="197979762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F2B3D-19FB-4006-A00F-E1CC65AD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8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73626-FB1B-4878-B8CD-9893520B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rPr>
              <a:t>能力与验收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E89B0-9130-487C-AF9F-D6FE63A5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38939-71FB-4998-B390-E1217131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公开评测用于筛选，业务验收对应具体产物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B8951-993E-452E-BE4F-756FBA1A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公开结果在同一基准内比较，业务验收逐项检查产物与过程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6A1DF-BFDF-413D-B8D9-E5FEE703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BE917-EF2B-4AC8-B0A6-2681B25C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c0c8f2c475f942c4"/>
              </a:rPr>
              <a:t>公开基准各有任务与执行设置，比较时保留版本和指标名称。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8D87F-8935-4069-83B7-E75EDF76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33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A9D35-7AC1-4039-8667-FB8EEBDBD19C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19500"/>
                <a:gridCol w="461010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公开证据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对本项目的含义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后续业务验收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字段提取流程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短文提取适合起步，长列表易漏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关键字段、数量、单位、证据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金融研究与多文档QA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模型筛选与对照：</a:t>
                      </a:r>
                    </a:p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Qwen、DeepSeek、GLM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期间口径、事实覆盖、引用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终端与代码任务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以测试验证代码产物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既有测试、边界情况、重复运行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多步骤任务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结果与执行过程分别检查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权限、只读边界、工具记录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3292B-E607-428E-BF45-56A2369F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AEC58-BA2A-45A7-8519-AD8F87CA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已准备12个虚构初始任务；运行后将人工时间与资源消耗计入TCO。</a:t>
            </a:r>
          </a:p>
        </p:txBody>
      </p:sp>
    </p:spTree>
    <p:extLst>
      <p:ext uri="{BB962C8B-B14F-4D97-AF65-F5344CB8AC3E}">
        <p14:creationId xmlns:p14="http://schemas.microsoft.com/office/powerpoint/2010/main" val="96805653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B3D2CA-D8BD-46DD-9D4E-42EBA7EA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AA26B-9C38-4990-AE53-31C36186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最终安排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98B28-26EA-4C38-8237-72AE595F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8CA8A-654D-4561-AABC-BB23D1F6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按业务依赖逐步扩展本地LLM应用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EC0EB-4933-4083-9EAA-3D5B8C56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从个人可核对任务开始，逐步连接共享资料和模型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B7242-7ADB-4071-B4D6-A0469B3F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10312-5C2C-4608-9046-1006B7DB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时间为项目启动后的规划；技术资源与业务验收按各方案落实。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B07B3-9BD8-4528-975B-7A99C0B4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34 / 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CE889-539D-48BB-963F-919E10CF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3467100" cy="26193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4CBB7-CC75-49D5-B3F2-0EB18A4B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62250"/>
            <a:ext cx="2990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第1–2周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3DA96-82AF-455A-AEA2-954A4795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57575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公告提取＋代码辅助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3E0CC-A871-4941-AFF2-864B0E15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81500"/>
            <a:ext cx="2990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字段、测试、人工时间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CEB0A-BFCE-454D-BE1F-BD36ED33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37338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F9BBB-944F-4A26-9915-D7AF78E8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24125"/>
            <a:ext cx="3467100" cy="26193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2D6A3-76F7-46BE-80E3-9FEDA8DF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62250"/>
            <a:ext cx="2990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第3–5周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D8410-6EA0-468E-A1C2-A369EABC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57575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财报比较与摘要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FD24CA-0B7E-484A-B3D3-7C363BA4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381500"/>
            <a:ext cx="2990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计算文件、口径、引用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E4C4D5-1D9D-4183-9750-36967A49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37338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C9FFB-2978-42E2-B66F-0CD3FF6B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24125"/>
            <a:ext cx="3467100" cy="26193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F43"/>
          </a:solidFill>
          <a:ln xmlns:a="http://schemas.openxmlformats.org/drawingml/2006/main" w="9525">
            <a:solidFill>
              <a:srgbClr val="D9E3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C4DB5-DC78-4AC4-B22D-8172C979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62250"/>
            <a:ext cx="2990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92C9D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92C9D5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92C9D5"/>
                </a:solidFill>
                <a:latin typeface="PingFang SC"/>
                <a:ea typeface="PingFang SC"/>
                <a:cs typeface="PingFang SC"/>
              </a:rPr>
              <a:t>第5–8周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0C40B-ECC6-4DF8-8B5D-FB0F5AB6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457575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部门NAS授权问答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07F0D9-C0C7-4800-BDF5-5DA7A40F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381500"/>
            <a:ext cx="2990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5D7D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C5D7D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C5D7DF"/>
                </a:solidFill>
                <a:latin typeface="PingFang SC"/>
                <a:ea typeface="PingFang SC"/>
                <a:cs typeface="PingFang SC"/>
              </a:rPr>
              <a:t>身份、撤权、运维交接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FC2B3-A8CD-4842-8954-70709F26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11C64-6403-4572-8C3B-0BEC75D6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用试点质量、等待时间和三年成本，确定共享GPU的配置与规模。</a:t>
            </a:r>
          </a:p>
        </p:txBody>
      </p:sp>
    </p:spTree>
    <p:extLst>
      <p:ext uri="{BB962C8B-B14F-4D97-AF65-F5344CB8AC3E}">
        <p14:creationId xmlns:p14="http://schemas.microsoft.com/office/powerpoint/2010/main" val="43093930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F4716-9617-4458-9A27-EA8BD8D5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8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E642-CDA3-4545-B8CF-32A0E07B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rPr>
              <a:t>附录A　模型候选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5F7F0-180B-47D6-8F73-8EF5D54F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A4905-C289-4A49-9774-05CE89E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主模型与备选分别记录资源需求和许可条件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E16D1-51C5-4219-9195-FECFF588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按用途比较候选模型，具体制品以固定记录为准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CCAC0-32CD-45B1-93CE-5EB59554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1AEA3-526A-4E10-9DF4-B5C2A37D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bf1384fbb2ed41af"/>
              </a:rPr>
              <a:t>许可核验2026-10-20；自定义许可按使用主体、服务方式和触发条件解释。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672B0-17F7-4CF2-86FC-BAB51CA4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35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7B412-2118-4902-9167-0BB40D023443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19500"/>
                <a:gridCol w="4610100"/>
              </a:tblGrid>
              <a:tr h="54156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模型路线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主要用途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资源／许可要点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Qwen3.8-27B／</a:t>
                      </a:r>
                    </a:p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Qwen3.6-35B-A3B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个人与知识库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Apache 2.0；本稿主用27B FP8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Gemma 4 31B／26B-A4B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来源不同的个人备选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Apache 2.0；中文与工具任务逐项比较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DeepSeek V4.1 Flash／1017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共享长任务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MIT；原生制品约510.29GB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GLM5.3 Flash／主模型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共享金融任务对照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Flash MIT；主模型自定义条件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MiMo V2.6 Flash／Pro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共享能力与资源对照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固定制品及MIT声明、实现依赖分别记录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Kimi K3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高能力研究参照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较大权重；内部使用与对外服务条款分别核对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AA778-1AB8-4510-956F-945B909D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AC34A-3BE7-47DE-B649-017EEDFD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新增模型使用同一组任务比较，并记录制品、引擎和许可。</a:t>
            </a:r>
          </a:p>
        </p:txBody>
      </p:sp>
    </p:spTree>
    <p:extLst>
      <p:ext uri="{BB962C8B-B14F-4D97-AF65-F5344CB8AC3E}">
        <p14:creationId xmlns:p14="http://schemas.microsoft.com/office/powerpoint/2010/main" val="100416747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3FA3D-0993-4770-B4E7-79CBEBAA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8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36418-659A-46BE-A733-B18C8E8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rPr>
              <a:t>附录B　软件路线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3FAA5-B887-41DD-9C71-5922F309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6DA1A-A5FD-48C0-8DB8-91FFC97F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软件分别承担工作入口、任务组织与模型服务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A3B41-8DE1-4913-991E-362C4515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界面、工作流、Agent执行和推理服务分别比较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5164D-D705-4387-B35A-44144A4D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B79A3-80E1-43E1-8114-B5A7A0B7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研究资料与参数截至2026年10月20日，出处及说明见讲者备注。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211CB-7C99-4EB2-A3C5-FF371BA0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36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CB4CA-BEC4-458D-B8B7-C7F13922583A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19500"/>
                <a:gridCol w="4610100"/>
              </a:tblGrid>
              <a:tr h="54156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代表项目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主要作用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员工工作台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 WebUI／LobeHub</a:t>
                      </a:r>
                    </a:p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Cherry Studio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聊天、文件与模型入口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企业知识库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Onyx／RAGFlow／Milvus自建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资料、索引、权限与引用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固定流程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Dify／n8n／Flowise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串联重复步骤与业务系统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通用Agent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Hermes／OpenClaw</a:t>
                      </a:r>
                    </a:p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OpenCode／pi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多轮执行、Skill和工具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GPU服务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vLLM／SGLang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模型、调度、缓存与并行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特定硬件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MLX／llama.cpp</a:t>
                      </a:r>
                    </a:p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KTransformers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Apple或CPU/GPU混合资源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BD53B-C8C7-4B49-B595-8362D628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8B2B5-E39D-43C4-A207-78865CC8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按工作职责选择产品，许可与接口按具体版本核对。</a:t>
            </a:r>
          </a:p>
        </p:txBody>
      </p:sp>
    </p:spTree>
    <p:extLst>
      <p:ext uri="{BB962C8B-B14F-4D97-AF65-F5344CB8AC3E}">
        <p14:creationId xmlns:p14="http://schemas.microsoft.com/office/powerpoint/2010/main" val="152339608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423AB-C1A3-4B60-B295-276C64E6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8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47493-0613-4DEB-97FB-46850F53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rPr>
              <a:t>附录C　Spark测量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25DFA-5959-4473-AE81-6613C9F4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42D83-0ACD-4465-ADE4-BF210EE7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单台GB10的输入长度、首次等待与生成速度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22948-1C05-43B1-AE8F-7119035F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FP8权重＋FP8 KV，MTP3，随机token，前缀缓存关闭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5657B-40E8-4ED6-8F3F-F35082D8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95152-04C1-47DE-977E-96C2A973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用户提供的外部测试汇总；具体模型与测试环境见知识库记录。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BA6C4-572D-434F-B2FF-95E17B01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37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3988C-322A-4295-A873-5E9376178284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714500"/>
                <a:gridCol w="2095500"/>
                <a:gridCol w="2476500"/>
                <a:gridCol w="2705100"/>
              </a:tblGrid>
              <a:tr h="54156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输入token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输出token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TTFT 秒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prefill token/s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token/s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1,024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2,048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0.6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1,876.1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20.53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50,000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2,048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63.1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795.1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21.01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100,000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2,048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144.8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691.7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20.11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300,000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2,048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658.9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455.6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17.23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500,000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2,048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1,470.1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340.3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14.82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999,936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4,815.8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207.68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9.83（短段）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81CC6-2300-4D2C-9613-5CDF17E9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1E221-297B-4F4E-B1B2-323F6F53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YaRN×4；主模型与草稿上限均1M。1M样本用于容量验证。</a:t>
            </a:r>
          </a:p>
        </p:txBody>
      </p:sp>
    </p:spTree>
    <p:extLst>
      <p:ext uri="{BB962C8B-B14F-4D97-AF65-F5344CB8AC3E}">
        <p14:creationId xmlns:p14="http://schemas.microsoft.com/office/powerpoint/2010/main" val="171129985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22F1B-4C67-44C8-93AC-A024CDDC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8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70444-BC32-4F02-9339-A9BB8D55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rPr>
              <a:t>附录D　知识库细项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8E44F-7257-4014-8429-5239E018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81CE0-BDA1-4129-B72F-D36F8A17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权限、索引和费用按同一交付范围核对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7F9C7-7F09-41B8-A7EA-A462A61D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文件规模示例用于容量规划，实际NAS仍需盘点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61ABC-796A-4376-8108-7FFDFF4E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F8CB8-37B0-4180-AF0F-BB3EFE2B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研究资料与参数截至2026年10月20日，出处及说明见讲者备注。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8A028-96B4-4441-9C57-0CBE85B1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38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994D8-B62C-4964-AC9E-D564E5C35717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372475"/>
              </a:tblGrid>
              <a:tr h="54156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核对内容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身份与ACL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继承、用户组、撤权、停用、直接接口调用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文档解析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Word／PDF／PPT／Excel，保留页码、表格、单位和版本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检索与回答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相关内容召回、引用、无答案与越权场景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完整精度KV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每卡38.6GB池；131K合计9份，262K合计3份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实施人日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Onyx42–68／自建70–110；2,500元／人日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额外预算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企业授权L、NAS增容、完整HA和持续运行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CECE9-C2B9-4EE6-A3D0-4FF72F98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CE355-0FED-468C-BD73-34765EB7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试点先接一个部门的有限目录，平台交付按相同权限案例验收。</a:t>
            </a:r>
          </a:p>
        </p:txBody>
      </p:sp>
    </p:spTree>
    <p:extLst>
      <p:ext uri="{BB962C8B-B14F-4D97-AF65-F5344CB8AC3E}">
        <p14:creationId xmlns:p14="http://schemas.microsoft.com/office/powerpoint/2010/main" val="61272196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81B50-BEC9-4662-87CB-BBE2143F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8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21617-EA1B-4460-BCC0-53F80899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rPr>
              <a:t>附录E　DeepSeek容量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56A1E-E1B3-4A06-B819-088B2CA7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A655E-D520-43CE-8164-7B0FF0E0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已分配缓存池与图捕获后预算分别记录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8EBB6-FF39-451B-B70C-EBD13FBC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主稿按较严格预算等比例缩减，再留10% token空间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D8258-B77D-4D77-97C8-73BC58F9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081D6-485A-4211-A877-1C711459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研究资料与参数截至2026年10月20日，出处及说明见讲者备注。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C897D-1CD2-478D-B8A0-D7B5CB77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39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E9C04-BA5D-426B-BDB7-39A230578A4B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667000"/>
                <a:gridCol w="2667000"/>
                <a:gridCol w="318135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公开配置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已分配KV／卡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实例token池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严格预算／卡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H100 TP8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12.36GiB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6.435M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10.34GiB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H200 TP4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35.16GiB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18.327M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32.49GiB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H200 TP8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62.86GiB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29.498M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60.20GiB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911D6-DCD7-498B-BA22-D33140DB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85BCD-1365-4EFC-9817-B56F2B41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每会话容量≈实例池×严格预算／已分配预算×90%÷保留会话数。</a:t>
            </a:r>
          </a:p>
        </p:txBody>
      </p:sp>
    </p:spTree>
    <p:extLst>
      <p:ext uri="{BB962C8B-B14F-4D97-AF65-F5344CB8AC3E}">
        <p14:creationId xmlns:p14="http://schemas.microsoft.com/office/powerpoint/2010/main" val="20783192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8534E-A97C-45DF-A4AA-99F65FD2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8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84B0D-050D-4132-9498-B637885E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rPr>
              <a:t>附录F　A100公开结果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982E8-96FF-44F7-BD97-AD27ACAF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4C80C-F38A-467B-A3AF-2343BC9D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性能比较保留硬件、输入与计时范围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28D8A-74BE-466A-A870-99C27670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Tokha同机消融衡量既有vLLM适配基线之上的增量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E28A7-3733-4631-BD1A-45D299A5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A0938-D0FF-4B2A-B937-60FF8F02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f7a20956c7c042b1"/>
              </a:rPr>
              <a:t>来源：作者项目、keplerzip、Tokha233；数值对应各自的硬件与负载。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99F76-45D9-4E4F-893F-E0018285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40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D9F18-81C5-47B2-822E-10B1C91D5406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19500"/>
                <a:gridCol w="461010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实现与硬件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单路 token/s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系统总输出 token/s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shi3z／4×A100 PCIe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代码50–53；MTP 82–93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64路端到端167.5；引擎峰值475.6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modified vLLM／8×A100 SXM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110–140，DSpark5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32并发1,040–1,379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modified vLLM／8×A800 SXM</a:t>
                      </a:r>
                    </a:p>
                  </a:txBody>
                  <a:tcPr marL="114300" marR="114300" marT="85725" marB="66675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约115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128并发约3,040</a:t>
                      </a:r>
                    </a:p>
                  </a:txBody>
                  <a:tcPr marL="114300" marR="114300" marT="85725" marB="66675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ADFE4-25D1-4A51-9E9B-40161651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F64E7-92F9-44A8-AEC2-B17AFC25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八A800同机两项增量：2,842.48 → 2,926.08 → 2,970.50（约+4.5%）。</a:t>
            </a:r>
          </a:p>
        </p:txBody>
      </p:sp>
    </p:spTree>
    <p:extLst>
      <p:ext uri="{BB962C8B-B14F-4D97-AF65-F5344CB8AC3E}">
        <p14:creationId xmlns:p14="http://schemas.microsoft.com/office/powerpoint/2010/main" val="50470694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950CA-79ED-4E19-97F8-F103B141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6320C-0702-4EAD-ACB3-AA860AB6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791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8791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791E"/>
                </a:solidFill>
                <a:latin typeface="PingFang SC"/>
                <a:ea typeface="PingFang SC"/>
                <a:cs typeface="PingFang SC"/>
              </a:rPr>
              <a:t>附录G　三年成本输入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A0C7D-46F2-4044-B4F4-E3E366B2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F6AEF-3A2C-4536-B89F-F8727B19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API费率、工作量和人工假设分别记录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64625-5A48-4C52-B411-8BE5BC0C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按10月20日官方费率计算，三年同价作为基准情景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BC612-02B2-4470-85E0-3F46380C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55F49-D908-48B9-9073-72E7F481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4beec1a46a9a43f3"/>
              </a:rPr>
              <a:t>费率USD／百万tokens；CNY汇率7.00与6%的API预算准备金均为假设。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B68A9-25D4-42DD-A543-3563541C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41 / 42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9FA56-F308-480E-B598-86CDB2F951E8}"/>
              </a:ext>
            </a:extLst>
          </p:cNvPr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110871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372475"/>
              </a:tblGrid>
              <a:tr h="54156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基准值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T w="6191">
                      <a:solidFill>
                        <a:srgbClr val="D9E3EA"/>
                      </a:solidFill>
                      <a:prstDash val="solid"/>
                    </a:lnT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142F43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DeepSeek低峰</a:t>
                      </a:r>
                    </a:p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未命中／命中／输出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0.15 ／ 0.003 ／ 0.60；高峰×2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Sonnet</a:t>
                      </a:r>
                    </a:p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输入／1h写／读／输出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2.00 ／ 4.00 ／ 0.10 ／ 10.00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个人任务量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750 → 825 → 907.5项／年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公司任务量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25,000 → 31,250 → 39,062.5项／年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技术资源／</a:t>
                      </a:r>
                    </a:p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分析师工时价值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2,500元／人日；150元／小时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公司高量扩容</a:t>
                      </a:r>
                    </a:p>
                  </a:txBody>
                  <a:tcPr marL="114300" marR="114300" marT="38100" marB="38100" anchor="ctr">
                    <a:lnL w="6191">
                      <a:solidFill>
                        <a:srgbClr val="D9E3EA"/>
                      </a:solidFill>
                      <a:prstDash val="solid"/>
                    </a:lnL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F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50,000 → 75,000 → 112,500项；节点1 → 2 → 2</a:t>
                      </a:r>
                    </a:p>
                  </a:txBody>
                  <a:tcPr marL="114300" marR="114300" marT="38100" marB="38100" anchor="ctr">
                    <a:lnR w="6191">
                      <a:solidFill>
                        <a:srgbClr val="D9E3EA"/>
                      </a:solidFill>
                      <a:prstDash val="solid"/>
                    </a:lnR>
                    <a:lnB w="6191">
                      <a:solidFill>
                        <a:srgbClr val="D9E3EA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A8B37-40CA-4050-BF8F-4059C02A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355ED-2388-4158-B085-9AE5BC31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3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每轮输出从2K变为8K时，公司中量情景需扩容，三年约720.83万元。</a:t>
            </a:r>
          </a:p>
        </p:txBody>
      </p:sp>
    </p:spTree>
    <p:extLst>
      <p:ext uri="{BB962C8B-B14F-4D97-AF65-F5344CB8AC3E}">
        <p14:creationId xmlns:p14="http://schemas.microsoft.com/office/powerpoint/2010/main" val="2221024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F75206-A581-4604-9268-B2FAAE99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8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DB168-67D3-451A-AFBC-9D64E142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B58B3"/>
                </a:solidFill>
                <a:latin typeface="PingFang SC"/>
                <a:ea typeface="PingFang SC"/>
                <a:cs typeface="PingFang SC"/>
              </a:rPr>
              <a:t>附录H　来源与进一步阅读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4DECC-B45F-45A1-A1EF-B361469F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实习项目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BED74-75C6-47A1-BBAF-A16326B3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F43"/>
                </a:solidFill>
                <a:latin typeface="PingFang SC"/>
                <a:ea typeface="PingFang SC"/>
                <a:cs typeface="PingFang SC"/>
              </a:rPr>
              <a:t>原始资料与可复算结果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EB279-E017-4B37-AD24-D1D4CF03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公开版本、原始数据和测算假设随知识库保存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74D63-B8A4-42EA-996F-CD297B7A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0D311-D27D-411E-9E47-B946ED43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研究截止2026-10-20。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7F047-2748-428C-A20E-229DDDAC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889"/>
                </a:solidFill>
                <a:latin typeface="PingFang SC"/>
                <a:ea typeface="PingFang SC"/>
                <a:cs typeface="PingFang SC"/>
              </a:rPr>
              <a:t>42 / 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3BFFE-A3B7-44D8-9644-DAEFD6F2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4F015-7325-48FE-BEDE-5EF1CC53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130a2fca7bd4ea1"/>
              </a:rPr>
              <a:t>AI Infra Book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10F77-EA13-4A8D-ADF4-9FB1C9AB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622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b1dbe147f1848ad"/>
              </a:rPr>
              <a:t>github.com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D303D-2B5F-4F6B-A4C7-5FB2D1D8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1855C-58D4-4D6B-AD3C-CF76599B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2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5fd3aad2b1f9499e"/>
              </a:rPr>
              <a:t>vLLM KV卸载指南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C3EED-60CF-438F-B314-D9604395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622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77cadf83364140d6"/>
              </a:rPr>
              <a:t>docs.vllm.ai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1BBF5-30A8-452F-A3A4-A3CA538D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493F4-3FB5-4C3E-923B-FA0F8D9B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b41e4085b404d89"/>
              </a:rPr>
              <a:t>LMCache多级存储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FAF69-C30B-4A28-A661-E6C18C96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147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46c4400fead47f8"/>
              </a:rPr>
              <a:t>docs.lmcache.ai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7F8B8-9902-42C5-B76C-38F337A9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0FAF1-5715-43C0-A5FB-324643DE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6a0b818899c0491d"/>
              </a:rPr>
              <a:t>Finance Agent v2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2FEA7F-59DF-4271-B630-D53062C5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147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a533234b7ad94271"/>
              </a:rPr>
              <a:t>www.vals.ai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3E81C1-881F-49F6-ACDF-400F04FF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2223D2-8AB4-4231-9106-7681E7A7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223a6a6d5e724246"/>
              </a:rPr>
              <a:t>ExtractBench作者数据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BC088-628C-4097-9E77-543A4B66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672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5dd96d86eb774e6d"/>
              </a:rPr>
              <a:t>github.com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067CB-F40C-485A-A0D0-507D0274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7380CD-8292-4B2F-8B51-FC82178C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57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87b19a69d354389"/>
              </a:rPr>
              <a:t>DeepSeek API计费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06412D-867D-4835-A6E7-5D6D2601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672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5b5f74af0124755"/>
              </a:rPr>
              <a:t>api-docs.deepseek.com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437510-B1F5-4F63-B7B0-7293716C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C304CF-A45F-4585-87E6-F146CE66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93acdb092ce4e46"/>
              </a:rPr>
              <a:t>A800同机消融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69866A-E5F5-49EE-A20C-DA04D827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97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03e086927b2431d"/>
              </a:rPr>
              <a:t>github.com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00BBC1-34D5-4B88-9754-9310E476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101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8B8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FC0726-3ED4-4533-A788-C627B345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101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2F4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bc91f1d471ba4737"/>
              </a:rPr>
              <a:t>本项目发布资料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944727-0435-4736-9991-B9096C41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197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8B83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2f091d45f1654235"/>
              </a:rPr>
              <a:t>github.com</a:t>
            </a:r>
          </a:p>
        </p:txBody>
      </p:sp>
    </p:spTree>
    <p:extLst>
      <p:ext uri="{BB962C8B-B14F-4D97-AF65-F5344CB8AC3E}">
        <p14:creationId xmlns:p14="http://schemas.microsoft.com/office/powerpoint/2010/main" val="1359300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2026-10-19T20:25:21.9250000Z</dcterms:created>
  <dcterms:modified xsi:type="dcterms:W3CDTF">2026-10-19T20:25:21.9250000Z</dcterms:modified>
</coreProperties>
</file>