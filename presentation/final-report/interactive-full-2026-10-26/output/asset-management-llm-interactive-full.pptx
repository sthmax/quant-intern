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6a658d85064455" /><Relationship Type="http://schemas.openxmlformats.org/officeDocument/2006/relationships/extended-properties" Target="/docProps/app.xml" Id="R9863f07c04c14634" /><Relationship Type="http://schemas.openxmlformats.org/officeDocument/2006/relationships/officeDocument" Target="/ppt/presentation.xml" Id="R2f184524a87e4d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3b20191c384ee3"/>
  </p:sldMasterIdLst>
  <p:notesMasterIdLst>
    <p:notesMasterId xmlns:r="http://schemas.openxmlformats.org/officeDocument/2006/relationships" r:id="R641962991aef4a35"/>
  </p:notesMasterIdLst>
  <p:sldIdLst>
    <p:sldId xmlns:r="http://schemas.openxmlformats.org/officeDocument/2006/relationships" id="256" r:id="Rccede1516f4540fd"/>
    <p:sldId xmlns:r="http://schemas.openxmlformats.org/officeDocument/2006/relationships" id="257" r:id="R74a67db457c24d11"/>
    <p:sldId xmlns:r="http://schemas.openxmlformats.org/officeDocument/2006/relationships" id="258" r:id="Ra6d28d3dd8c04a39"/>
    <p:sldId xmlns:r="http://schemas.openxmlformats.org/officeDocument/2006/relationships" id="259" r:id="R42158374c9304cbd"/>
    <p:sldId xmlns:r="http://schemas.openxmlformats.org/officeDocument/2006/relationships" id="260" r:id="R0ef83f3c83a045fe"/>
    <p:sldId xmlns:r="http://schemas.openxmlformats.org/officeDocument/2006/relationships" id="261" r:id="R45b97dfae16d42f8"/>
    <p:sldId xmlns:r="http://schemas.openxmlformats.org/officeDocument/2006/relationships" id="262" r:id="R0f36bf9fb90d406c"/>
    <p:sldId xmlns:r="http://schemas.openxmlformats.org/officeDocument/2006/relationships" id="263" r:id="R7220d55bd5134714"/>
    <p:sldId xmlns:r="http://schemas.openxmlformats.org/officeDocument/2006/relationships" id="264" r:id="R8fd9e775d7884280"/>
    <p:sldId xmlns:r="http://schemas.openxmlformats.org/officeDocument/2006/relationships" id="265" r:id="R94aaa12d21594238"/>
    <p:sldId xmlns:r="http://schemas.openxmlformats.org/officeDocument/2006/relationships" id="266" r:id="R58c77bedb9464ad2"/>
    <p:sldId xmlns:r="http://schemas.openxmlformats.org/officeDocument/2006/relationships" id="267" r:id="Rf9aabf1e998e4cf8"/>
    <p:sldId xmlns:r="http://schemas.openxmlformats.org/officeDocument/2006/relationships" id="268" r:id="R8c68a63f93c8418f"/>
    <p:sldId xmlns:r="http://schemas.openxmlformats.org/officeDocument/2006/relationships" id="269" r:id="R821ccbe1881e4edf"/>
    <p:sldId xmlns:r="http://schemas.openxmlformats.org/officeDocument/2006/relationships" id="270" r:id="Rbb9bb74284fc4f1b"/>
    <p:sldId xmlns:r="http://schemas.openxmlformats.org/officeDocument/2006/relationships" id="271" r:id="Rd37d90cb6f984f9d"/>
    <p:sldId xmlns:r="http://schemas.openxmlformats.org/officeDocument/2006/relationships" id="272" r:id="R11eed441e9d3453c"/>
    <p:sldId xmlns:r="http://schemas.openxmlformats.org/officeDocument/2006/relationships" id="273" r:id="R5aa9030f6f804fe0"/>
    <p:sldId xmlns:r="http://schemas.openxmlformats.org/officeDocument/2006/relationships" id="274" r:id="Rfbaa16db30e040eb"/>
    <p:sldId xmlns:r="http://schemas.openxmlformats.org/officeDocument/2006/relationships" id="275" r:id="Rf543a2a0b81e4ab9"/>
    <p:sldId xmlns:r="http://schemas.openxmlformats.org/officeDocument/2006/relationships" id="276" r:id="Rd63d095244cd4012"/>
    <p:sldId xmlns:r="http://schemas.openxmlformats.org/officeDocument/2006/relationships" id="277" r:id="R8a177e97ab6148e8"/>
    <p:sldId xmlns:r="http://schemas.openxmlformats.org/officeDocument/2006/relationships" id="278" r:id="R85c8134ac2fe4318"/>
    <p:sldId xmlns:r="http://schemas.openxmlformats.org/officeDocument/2006/relationships" id="279" r:id="Rf4ff87257dcd4b27"/>
    <p:sldId xmlns:r="http://schemas.openxmlformats.org/officeDocument/2006/relationships" id="280" r:id="R07146f2b16b344ee"/>
    <p:sldId xmlns:r="http://schemas.openxmlformats.org/officeDocument/2006/relationships" id="281" r:id="R9776b82262b8470b"/>
    <p:sldId xmlns:r="http://schemas.openxmlformats.org/officeDocument/2006/relationships" id="282" r:id="R0494d3dd140e4a9e"/>
    <p:sldId xmlns:r="http://schemas.openxmlformats.org/officeDocument/2006/relationships" id="283" r:id="R1e27bf570d114915"/>
    <p:sldId xmlns:r="http://schemas.openxmlformats.org/officeDocument/2006/relationships" id="284" r:id="R0aef8575389e473d"/>
    <p:sldId xmlns:r="http://schemas.openxmlformats.org/officeDocument/2006/relationships" id="285" r:id="R86663ce1de4d490c"/>
    <p:sldId xmlns:r="http://schemas.openxmlformats.org/officeDocument/2006/relationships" id="286" r:id="Rb2f2603745cf4660"/>
    <p:sldId xmlns:r="http://schemas.openxmlformats.org/officeDocument/2006/relationships" id="287" r:id="R73e48cc44a2b4832"/>
    <p:sldId xmlns:r="http://schemas.openxmlformats.org/officeDocument/2006/relationships" id="288" r:id="R6e797590589043a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fc4b0f39ec4e3a" /><Relationship Type="http://schemas.openxmlformats.org/officeDocument/2006/relationships/slideMaster" Target="/ppt/slideMasters/slideMaster1.xml" Id="Rdc3b20191c384ee3" /><Relationship Type="http://schemas.openxmlformats.org/officeDocument/2006/relationships/notesMaster" Target="/ppt/notesMasters/notesMaster1.xml" Id="R641962991aef4a35" /><Relationship Type="http://schemas.openxmlformats.org/officeDocument/2006/relationships/presProps" Target="/ppt/presProps.xml" Id="Rec311f0e49554bd9" /><Relationship Type="http://schemas.openxmlformats.org/officeDocument/2006/relationships/tableStyles" Target="/ppt/tableStyles.xml" Id="Ra743ed99a3c4406c" /><Relationship Type="http://schemas.openxmlformats.org/officeDocument/2006/relationships/slide" Target="/ppt/slides/slide1.xml" Id="Rccede1516f4540fd" /><Relationship Type="http://schemas.openxmlformats.org/officeDocument/2006/relationships/slide" Target="/ppt/slides/slide2.xml" Id="R74a67db457c24d11" /><Relationship Type="http://schemas.openxmlformats.org/officeDocument/2006/relationships/slide" Target="/ppt/slides/slide3.xml" Id="Ra6d28d3dd8c04a39" /><Relationship Type="http://schemas.openxmlformats.org/officeDocument/2006/relationships/slide" Target="/ppt/slides/slide4.xml" Id="R42158374c9304cbd" /><Relationship Type="http://schemas.openxmlformats.org/officeDocument/2006/relationships/slide" Target="/ppt/slides/slide5.xml" Id="R0ef83f3c83a045fe" /><Relationship Type="http://schemas.openxmlformats.org/officeDocument/2006/relationships/slide" Target="/ppt/slides/slide6.xml" Id="R45b97dfae16d42f8" /><Relationship Type="http://schemas.openxmlformats.org/officeDocument/2006/relationships/slide" Target="/ppt/slides/slide7.xml" Id="R0f36bf9fb90d406c" /><Relationship Type="http://schemas.openxmlformats.org/officeDocument/2006/relationships/slide" Target="/ppt/slides/slide8.xml" Id="R7220d55bd5134714" /><Relationship Type="http://schemas.openxmlformats.org/officeDocument/2006/relationships/slide" Target="/ppt/slides/slide9.xml" Id="R8fd9e775d7884280" /><Relationship Type="http://schemas.openxmlformats.org/officeDocument/2006/relationships/slide" Target="/ppt/slides/slide10.xml" Id="R94aaa12d21594238" /><Relationship Type="http://schemas.openxmlformats.org/officeDocument/2006/relationships/slide" Target="/ppt/slides/slide11.xml" Id="R58c77bedb9464ad2" /><Relationship Type="http://schemas.openxmlformats.org/officeDocument/2006/relationships/slide" Target="/ppt/slides/slide12.xml" Id="Rf9aabf1e998e4cf8" /><Relationship Type="http://schemas.openxmlformats.org/officeDocument/2006/relationships/slide" Target="/ppt/slides/slide13.xml" Id="R8c68a63f93c8418f" /><Relationship Type="http://schemas.openxmlformats.org/officeDocument/2006/relationships/slide" Target="/ppt/slides/slide14.xml" Id="R821ccbe1881e4edf" /><Relationship Type="http://schemas.openxmlformats.org/officeDocument/2006/relationships/slide" Target="/ppt/slides/slide15.xml" Id="Rbb9bb74284fc4f1b" /><Relationship Type="http://schemas.openxmlformats.org/officeDocument/2006/relationships/slide" Target="/ppt/slides/slide16.xml" Id="Rd37d90cb6f984f9d" /><Relationship Type="http://schemas.openxmlformats.org/officeDocument/2006/relationships/slide" Target="/ppt/slides/slide17.xml" Id="R11eed441e9d3453c" /><Relationship Type="http://schemas.openxmlformats.org/officeDocument/2006/relationships/slide" Target="/ppt/slides/slide18.xml" Id="R5aa9030f6f804fe0" /><Relationship Type="http://schemas.openxmlformats.org/officeDocument/2006/relationships/slide" Target="/ppt/slides/slide19.xml" Id="Rfbaa16db30e040eb" /><Relationship Type="http://schemas.openxmlformats.org/officeDocument/2006/relationships/slide" Target="/ppt/slides/slide20.xml" Id="Rf543a2a0b81e4ab9" /><Relationship Type="http://schemas.openxmlformats.org/officeDocument/2006/relationships/slide" Target="/ppt/slides/slide21.xml" Id="Rd63d095244cd4012" /><Relationship Type="http://schemas.openxmlformats.org/officeDocument/2006/relationships/slide" Target="/ppt/slides/slide22.xml" Id="R8a177e97ab6148e8" /><Relationship Type="http://schemas.openxmlformats.org/officeDocument/2006/relationships/slide" Target="/ppt/slides/slide23.xml" Id="R85c8134ac2fe4318" /><Relationship Type="http://schemas.openxmlformats.org/officeDocument/2006/relationships/slide" Target="/ppt/slides/slide24.xml" Id="Rf4ff87257dcd4b27" /><Relationship Type="http://schemas.openxmlformats.org/officeDocument/2006/relationships/slide" Target="/ppt/slides/slide25.xml" Id="R07146f2b16b344ee" /><Relationship Type="http://schemas.openxmlformats.org/officeDocument/2006/relationships/slide" Target="/ppt/slides/slide26.xml" Id="R9776b82262b8470b" /><Relationship Type="http://schemas.openxmlformats.org/officeDocument/2006/relationships/slide" Target="/ppt/slides/slide27.xml" Id="R0494d3dd140e4a9e" /><Relationship Type="http://schemas.openxmlformats.org/officeDocument/2006/relationships/slide" Target="/ppt/slides/slide28.xml" Id="R1e27bf570d114915" /><Relationship Type="http://schemas.openxmlformats.org/officeDocument/2006/relationships/slide" Target="/ppt/slides/slide29.xml" Id="R0aef8575389e473d" /><Relationship Type="http://schemas.openxmlformats.org/officeDocument/2006/relationships/slide" Target="/ppt/slides/slide30.xml" Id="R86663ce1de4d490c" /><Relationship Type="http://schemas.openxmlformats.org/officeDocument/2006/relationships/slide" Target="/ppt/slides/slide31.xml" Id="Rb2f2603745cf4660" /><Relationship Type="http://schemas.openxmlformats.org/officeDocument/2006/relationships/slide" Target="/ppt/slides/slide32.xml" Id="R73e48cc44a2b4832" /><Relationship Type="http://schemas.openxmlformats.org/officeDocument/2006/relationships/slide" Target="/ppt/slides/slide33.xml" Id="R6e797590589043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a2454aaf6744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usiness workflow">
      <a:dk1>
        <a:srgbClr val="20262C"/>
      </a:dk1>
      <a:lt1>
        <a:srgbClr val="FFFFFF"/>
      </a:lt1>
      <a:dk2>
        <a:srgbClr val="005A9C"/>
      </a:dk2>
      <a:lt2>
        <a:srgbClr val="D9EAF7"/>
      </a:lt2>
      <a:accent1>
        <a:srgbClr val="005A9C"/>
      </a:accent1>
      <a:accent2>
        <a:srgbClr val="317F7B"/>
      </a:accent2>
      <a:accent3>
        <a:srgbClr val="7363A6"/>
      </a:accent3>
      <a:accent4>
        <a:srgbClr val="967335"/>
      </a:accent4>
      <a:accent5>
        <a:srgbClr val="AD5247"/>
      </a:accent5>
      <a:accent6>
        <a:srgbClr val="707C88"/>
      </a:accent6>
      <a:hlink>
        <a:srgbClr val="005A9C"/>
      </a:hlink>
      <a:folHlink>
        <a:srgbClr val="7363A6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Business work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0c3e0321bd4bdb" /><Relationship Type="http://schemas.openxmlformats.org/officeDocument/2006/relationships/notesMaster" Target="/ppt/notesMasters/notesMaster1.xml" Id="Reef79c010e1a49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2e2fe2a4904475" /><Relationship Type="http://schemas.openxmlformats.org/officeDocument/2006/relationships/notesMaster" Target="/ppt/notesMasters/notesMaster1.xml" Id="R4f1063c2707649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ba0a2054ac4dda" /><Relationship Type="http://schemas.openxmlformats.org/officeDocument/2006/relationships/notesMaster" Target="/ppt/notesMasters/notesMaster1.xml" Id="R648729a4125d48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404d0e33094d38" /><Relationship Type="http://schemas.openxmlformats.org/officeDocument/2006/relationships/notesMaster" Target="/ppt/notesMasters/notesMaster1.xml" Id="R5264300ff55347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e0f78e1b6f4fad" /><Relationship Type="http://schemas.openxmlformats.org/officeDocument/2006/relationships/notesMaster" Target="/ppt/notesMasters/notesMaster1.xml" Id="R67ac28ba70344b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206ed1b9d147a7" /><Relationship Type="http://schemas.openxmlformats.org/officeDocument/2006/relationships/notesMaster" Target="/ppt/notesMasters/notesMaster1.xml" Id="Rc9c53f25d0ee41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41c74f591241cc" /><Relationship Type="http://schemas.openxmlformats.org/officeDocument/2006/relationships/notesMaster" Target="/ppt/notesMasters/notesMaster1.xml" Id="R37fe94f3c84645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d3bd289a644ea9" /><Relationship Type="http://schemas.openxmlformats.org/officeDocument/2006/relationships/notesMaster" Target="/ppt/notesMasters/notesMaster1.xml" Id="R2465bbab22de4c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c1486c29c94518" /><Relationship Type="http://schemas.openxmlformats.org/officeDocument/2006/relationships/notesMaster" Target="/ppt/notesMasters/notesMaster1.xml" Id="Rc87cd89f9be148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7b83a7f8014f52" /><Relationship Type="http://schemas.openxmlformats.org/officeDocument/2006/relationships/notesMaster" Target="/ppt/notesMasters/notesMaster1.xml" Id="Recf6306416da47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bd5fa9f1d64c49" /><Relationship Type="http://schemas.openxmlformats.org/officeDocument/2006/relationships/notesMaster" Target="/ppt/notesMasters/notesMaster1.xml" Id="R1fd320064d9348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b3df5697084edf" /><Relationship Type="http://schemas.openxmlformats.org/officeDocument/2006/relationships/notesMaster" Target="/ppt/notesMasters/notesMaster1.xml" Id="R75bcd9bada9b43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101d0adfa44463" /><Relationship Type="http://schemas.openxmlformats.org/officeDocument/2006/relationships/notesMaster" Target="/ppt/notesMasters/notesMaster1.xml" Id="R20c6ee4e366a47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6294d6429f491b" /><Relationship Type="http://schemas.openxmlformats.org/officeDocument/2006/relationships/notesMaster" Target="/ppt/notesMasters/notesMaster1.xml" Id="R9df3fc2670ec46b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ec3bfc8c6345de" /><Relationship Type="http://schemas.openxmlformats.org/officeDocument/2006/relationships/notesMaster" Target="/ppt/notesMasters/notesMaster1.xml" Id="R3e505c0bc737431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6b8408d2a7431e" /><Relationship Type="http://schemas.openxmlformats.org/officeDocument/2006/relationships/notesMaster" Target="/ppt/notesMasters/notesMaster1.xml" Id="R923bf3df149d48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08f9935caa04e0f" /><Relationship Type="http://schemas.openxmlformats.org/officeDocument/2006/relationships/notesMaster" Target="/ppt/notesMasters/notesMaster1.xml" Id="Rcf58206334de4b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76c4f6d18a40af" /><Relationship Type="http://schemas.openxmlformats.org/officeDocument/2006/relationships/notesMaster" Target="/ppt/notesMasters/notesMaster1.xml" Id="R82270e25db924ee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1850d90a3ff4b77" /><Relationship Type="http://schemas.openxmlformats.org/officeDocument/2006/relationships/notesMaster" Target="/ppt/notesMasters/notesMaster1.xml" Id="R4a337400b6c2480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8b08a29a0ac43ff" /><Relationship Type="http://schemas.openxmlformats.org/officeDocument/2006/relationships/notesMaster" Target="/ppt/notesMasters/notesMaster1.xml" Id="Rc5ef4417068245f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9cb30dae3dd4027" /><Relationship Type="http://schemas.openxmlformats.org/officeDocument/2006/relationships/notesMaster" Target="/ppt/notesMasters/notesMaster1.xml" Id="R9f230f883c5b4be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4ef4b1cd1e343d8" /><Relationship Type="http://schemas.openxmlformats.org/officeDocument/2006/relationships/notesMaster" Target="/ppt/notesMasters/notesMaster1.xml" Id="R4355b4017ae04e6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2e99d78e2ae46db" /><Relationship Type="http://schemas.openxmlformats.org/officeDocument/2006/relationships/notesMaster" Target="/ppt/notesMasters/notesMaster1.xml" Id="R1eb32c78979e49f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54b0fd4e6154886" /><Relationship Type="http://schemas.openxmlformats.org/officeDocument/2006/relationships/notesMaster" Target="/ppt/notesMasters/notesMaster1.xml" Id="R8ca2f0f7aeab45c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1c3528194e74fd8" /><Relationship Type="http://schemas.openxmlformats.org/officeDocument/2006/relationships/notesMaster" Target="/ppt/notesMasters/notesMaster1.xml" Id="R9a514578e43e432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f3af9c6e30a400c" /><Relationship Type="http://schemas.openxmlformats.org/officeDocument/2006/relationships/notesMaster" Target="/ppt/notesMasters/notesMaster1.xml" Id="Ref4319ad571744f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5e22cdbe3994c12" /><Relationship Type="http://schemas.openxmlformats.org/officeDocument/2006/relationships/notesMaster" Target="/ppt/notesMasters/notesMaster1.xml" Id="Rb81ea0a585f146b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443373d82c54062" /><Relationship Type="http://schemas.openxmlformats.org/officeDocument/2006/relationships/notesMaster" Target="/ppt/notesMasters/notesMaster1.xml" Id="R84d84f9c8631444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43e0e4603cc4013" /><Relationship Type="http://schemas.openxmlformats.org/officeDocument/2006/relationships/notesMaster" Target="/ppt/notesMasters/notesMaster1.xml" Id="Rb41c6c8a0db7410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ff6101f1edb48fb" /><Relationship Type="http://schemas.openxmlformats.org/officeDocument/2006/relationships/notesMaster" Target="/ppt/notesMasters/notesMaster1.xml" Id="Ra3b680a3e2c34a6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d8b0eeaf73241aa" /><Relationship Type="http://schemas.openxmlformats.org/officeDocument/2006/relationships/notesMaster" Target="/ppt/notesMasters/notesMaster1.xml" Id="R450133a4a0e74ee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d36c6352c554f55" /><Relationship Type="http://schemas.openxmlformats.org/officeDocument/2006/relationships/notesMaster" Target="/ppt/notesMasters/notesMaster1.xml" Id="Rb3bdff921a604d7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7ebb0ba21b54fc0" /><Relationship Type="http://schemas.openxmlformats.org/officeDocument/2006/relationships/notesMaster" Target="/ppt/notesMasters/notesMaster1.xml" Id="R40802e57688f4f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本报告围绕公司同事每天完成的工作展开，先看同行怎样使用大模型，再提出适合公司启动的应用方案。正文依次讨论前台、中台和后台，最后将七项建议汇成两条跨部门流程。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封面图片：本报告使用内置image_gen生成的办公场景概念图。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左向右阅读：日常输入进入资料处理、分析解释、业务操作与协作交付，最终形成同事需要的分析、操作、材料和工具。公司当前尚未使用大模型，建议围绕具体任务设计使用入口和交付物。接下来按前中后台梳理七个工作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前台研究、交易和客户材料占三题，中台审核与风险分析占两题，后台运营文件和工具开发占两题。全文持续使用甲公司和基金季度客户沟通稿两条演示线，最后再将跨部门交接汇总。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员先确定甲公司的研究问题，再从财报、研报和会议资料收集证据。流程中的检索、摘录、核对和整理占用反复操作时间。分析报告需要回答本季度发生了什么变化、经营原因是什么、各方怎样解释。下一页用天弘案例展示财务变化的逐层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从净利润变化向收入、成本和费用展开，再下钻至销量、单价、原材料和渠道。模型调用数据接口与计算工具，结合宏观及行业信息整理结构化归因。天弘披露相关手工数据整理与计算由数日缩短至分钟级。驱动树用于组织下一步核对数据和继续研究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FUND-300，PDF第5–6页，财报归因与工具调用</a:t>
            </a:r>
          </a:p>
          <a:p xmlns:a="http://schemas.openxmlformats.org/drawingml/2006/main">
            <a:r>
              <a:t>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富国先按投资标的相关性给PDF研报打分和筛选，再按研究员关注方向逐篇形成小结，最后汇总、调整语气并检查结果。页面的甲公司观点内容是工作演示，呈现按相同问题对照共识和差异的方法。下一页将资料整理到研究要素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FUND-007，PDF第8–9页，市场观点生成</a:t>
            </a:r>
          </a:p>
          <a:p xmlns:a="http://schemas.openxmlformats.org/drawingml/2006/main">
            <a:r>
              <a:t>https://www.amac.org.cn/xwfb/hydt/202601/P020260202337808067241.pdf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欧投研要素表助手连接内部研究系统和外部资讯，将采集、分析与汇总拆开处理，再识别要素并生成结构化填报内容。中欧披露，截至2026年5月，整体编制效率提升约50%。页面示例字段用于展示信息与来源的对应关系。下一页把资料、计算和观点比较组织为公司研究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FUND-354，应用与实现段落</a:t>
            </a:r>
          </a:p>
          <a:p xmlns:a="http://schemas.openxmlformats.org/drawingml/2006/main">
            <a:r>
              <a:t>https://static.nfnews.com/content/202511/27/c11946239.html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FUND-356，五要素模型段落，数据截至2026年5月</a:t>
            </a:r>
          </a:p>
          <a:p xmlns:a="http://schemas.openxmlformats.org/drawingml/2006/main">
            <a:r>
              <a:t>https://mp.weixin.qq.com/s/rgMRw8HbZUhiu9PkUBM7vA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员提交标的和问题后，系统连续检索材料、提取并计算变化、比较经营解释和市场观点。交付包含财务变化、经营原因、观点分歧、研究要素与出处。研究员可继续追问，再按新增资料更新。固收研究可参考兴证全球从评级报告、募集说明书提取基本面并比较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FUND-300，PDF第5–6页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FUND-007，PDF第8–9页</a:t>
            </a:r>
          </a:p>
          <a:p xmlns:a="http://schemas.openxmlformats.org/drawingml/2006/main">
            <a:r>
              <a:t>https://www.amac.org.cn/xwfb/hydt/202601/P020260202337808067241.pdf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FUND-354，应用与实现</a:t>
            </a:r>
          </a:p>
          <a:p xmlns:a="http://schemas.openxmlformats.org/drawingml/2006/main">
            <a:r>
              <a:t>https://static.nfnews.com/content/202511/27/c11946239.html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FUND-011，PDF第5–7页，基本面解析</a:t>
            </a:r>
          </a:p>
          <a:p xmlns:a="http://schemas.openxmlformats.org/drawingml/2006/main">
            <a:r>
              <a:t>https://www.amac.org.cn/xwfb/hydt/202601/P020260202337841539992.pdf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条泳道分别是投资经理、交易员和业务系统。券名、方向、价格与数量在筛选、询价和指令准备中反复使用。将这些字段连续保存，能够减少在系统间重新输入和核对。页面业务数据均为示例，实际指令由既有角色按流程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半部分为南方小喃同学：自然语言需求解析成查询和筛券条件，连接业务接口完成操作。南方对投资指令设置角色、终端和网络条件及二次确认。下半部分为兴证全球千询：汇集经理意向、匹配报价与交易对手，解析成交聊天，匹配后推送交易系统，经理在系统完成指令下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FUND-200，PDF第4–8页，任务调用与权限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FUND-011，PDF第3–6页，询价到成交</a:t>
            </a:r>
          </a:p>
          <a:p xmlns:a="http://schemas.openxmlformats.org/drawingml/2006/main">
            <a:r>
              <a:t>https://www.amac.org.cn/xwfb/hydt/202601/P020260202337841539992.pdf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方案在一个任务入口中保留投资意图，依次提供候选券、报价比较与结构化交易要素。交易员核对成交内容，投资经理在既有交易系统中完成指令确认。可先从查询与准备应用开始，逐步连接已具备权限控制和确认步骤的业务接口。页面字段为示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FUND-200，PDF第4–8页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FUND-011，PDF第3–6页</a:t>
            </a:r>
          </a:p>
          <a:p xmlns:a="http://schemas.openxmlformats.org/drawingml/2006/main">
            <a:r>
              <a:t>https://www.amac.org.cn/xwfb/hydt/202601/P020260202337841539992.pdf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四类资料按客户问题被检索，再围绕材料用途重新组织。相同经理观点与产品资料可以形成路演、问答和机构标书。工作重点是保留来源与口径，使前台同事直接使用已经积累的研究成果。接着看天弘和工银瑞信的做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天弘按基金经理或产品名称汇总近期路演纪要、市场评论和定期报告，形成供销售使用的观点摘要。行业周度观点、早评与收评继续加工市场资料。页面原材料和客户表达为示例，用于展示同一观点如何改写为沟通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FUND-300，PDF第7–9页，经理观点、周评、早评与收评</a:t>
            </a:r>
          </a:p>
          <a:p xmlns:a="http://schemas.openxmlformats.org/drawingml/2006/main">
            <a:r>
              <a:t>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ndGPT将业务知识维护、问题识别与审核、标书生成接在一起。图中每个客户问题对应资料段落和回答章节，呈现知识如何复用于标书制作。页面问题及回答为工作示例。接下来将客户材料需求收敛为公司的应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FUND-312，PDF第7、9页，FundGPT与标书制作</a:t>
            </a:r>
          </a:p>
          <a:p xmlns:a="http://schemas.openxmlformats.org/drawingml/2006/main">
            <a:r>
              <a:t>https://www.amac.org.cn/xwfb/hydt/202601/P020260202337848496316.pdf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事给出客户问题、产品与用途，应用检索经理观点及产品文件，再生成季度客户沟通稿和产品问答。页面展示同一份基金季度客户沟通稿的初稿，后续会继续使用其标题、资料版本和风险提示。机构标书与咨询工单可复用同一材料处理方式。材料形成后进入中台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FUND-300，PDF第7–9页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FUND-312，PDF第7、9页</a:t>
            </a:r>
          </a:p>
          <a:p xmlns:a="http://schemas.openxmlformats.org/drawingml/2006/main">
            <a:r>
              <a:t>https://www.amac.org.cn/xwfb/hydt/202601/P020260202337848496316.pdf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FUND-351，营销应用段落</a:t>
            </a:r>
          </a:p>
          <a:p xmlns:a="http://schemas.openxmlformats.org/drawingml/2006/main">
            <a:r>
              <a:t>https://fund.10jqka.com.cn/20251111/c672391490.shtml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上一页初稿。编写人提交材料，审核人定位到产品信息、业绩表述、风险提示和文件内容的具体位置。作者按意见修订后再提交检查，审核结论与变更记录随文件保存。下一页展示同行把这项检查接入材料流程的做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鹏华按7类71项规则检查营销材料，关注风险提示、基金信息、业绩宣传和禁止性宣传，并给出修改建议。鹏华披露有效修改建议采纳率91%。盈米内容合规审查服务接收文本、PDF或Word，返回位置、原因和建议，作者修改后可再次提交。页面批注稿是同一客户材料的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FUND-308，PDF第6页，营销物料审核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盈米官方发布与客户端，官方发布及客户端处理流程</a:t>
            </a:r>
          </a:p>
          <a:p xmlns:a="http://schemas.openxmlformats.org/drawingml/2006/main">
            <a:r>
              <a:t>https://www.yingmi-inc.com/archives/799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的问题是产品简称与资料版本沿用了上一期，风险提示需补齐。应用提交即检查，将意见定位到具体内容。作者修改后再次检查，并保存原稿、意见、修订稿与变更记录，审核人继续完成结论。下一题从材料检查转向风险提示的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FUND-308，PDF第6页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盈米官方发布与客户端，官方发布及客户端流程</a:t>
            </a:r>
          </a:p>
          <a:p xmlns:a="http://schemas.openxmlformats.org/drawingml/2006/main">
            <a:r>
              <a:t>https://www.yingmi-inc.com/archives/799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甲公司进入持续跟踪后，托管邮件、外部事件和系统提示需要先形成结构化信息，再与持仓、产品、规则和研究资料关联。风险人员最终需要的是影响解释与跟进事项。下一页区分汇添富的邮件和条款支持、天弘的事件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汇添富在智汇平台提取托管行风控邮件，并将系统风控规则绑定法规、内控与合同原文，支持追查拦截依据。右侧天弘热门事件助手整理详情、相似历史事件、产业链关联和市场情绪，形成事件解读。两类做法可以分别连接公司邮件处理和事件跟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FUND-220，PDF第5页及第10页</a:t>
            </a:r>
          </a:p>
          <a:p xmlns:a="http://schemas.openxmlformats.org/drawingml/2006/main">
            <a:r>
              <a:t>https://www.amac.org.cn/xwfb/hydt/202601/P020260202337837900594.pdf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FUND-300，PDF第10页，热门事件助手</a:t>
            </a:r>
          </a:p>
          <a:p xmlns:a="http://schemas.openxmlformats.org/drawingml/2006/main">
            <a:r>
              <a:t>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影响分析由原始邮件、持仓截面、规则条款和研究资料共同支持。示例事件为甲公司公告评级观察事项，关联持仓截面与产品清单后形成具体跟进事项。风险同事可据此核对覆盖产品、查阅具体条款、分派复核及补充研究任务，并记录处理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FUND-220，PDF第5、10页</a:t>
            </a:r>
          </a:p>
          <a:p xmlns:a="http://schemas.openxmlformats.org/drawingml/2006/main">
            <a:r>
              <a:t>https://www.amac.org.cn/xwfb/hydt/202601/P020260202337837900594.pdf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FUND-300，PDF第10页</a:t>
            </a:r>
          </a:p>
          <a:p xmlns:a="http://schemas.openxmlformats.org/drawingml/2006/main">
            <a:r>
              <a:t>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台接收传真、扫描件与电子文件后，分别完成字段识别、业务录入、版本核对和批量修订。甲公司相关交易要素从前台流入运营记录，客户材料同时进入版本维护。处理结果既包括业务记录，也包括差异与变更清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华安将单据及传真内容识别到柜面业务录入，公司披露超过80%的柜面传真采用智能录入。工银瑞信支持PDF、Word与扫描件比对、差异展示、错别字识别和结果导出。右侧继续使用基金季度客户沟通稿展示版本差异，内容为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FUND-150，PDF第26–28页</a:t>
            </a:r>
          </a:p>
          <a:p xmlns:a="http://schemas.openxmlformats.org/drawingml/2006/main">
            <a:r>
              <a:t>https://edc-book.ccf.org.cn/%E3%80%8A2025CCF%E4%BC%81%E4%B8%9A%E6%95%B0%E5%AD%97%E5%8C%96%E5%8F%91%E5%B1%95%E6%8E%A8%E8%8D%90%E6%A1%88%E4%BE%8B%E9%9B%86%E3%80%8B.pdf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FUND-312，PDF第7页，文档比对</a:t>
            </a:r>
          </a:p>
          <a:p xmlns:a="http://schemas.openxmlformats.org/drawingml/2006/main">
            <a:r>
              <a:t>https://www.amac.org.cn/xwfb/hydt/202601/P020260202337848496316.pdf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单据识别、版本比对与批量修订组织成共用文件处理流程。沿用基金季度客户沟通稿，把旧版本与统一修改要求交给应用，形成修订文件和变更清单，再复核保存。博时BSBox上线报道提及数千份文件集中修订任务，由智能体与员工配合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FUND-150，PDF第26–28页</a:t>
            </a:r>
          </a:p>
          <a:p xmlns:a="http://schemas.openxmlformats.org/drawingml/2006/main">
            <a:r>
              <a:t>https://edc-book.ccf.org.cn/%E3%80%8A2025CCF%E4%BC%81%E4%B8%9A%E6%95%B0%E5%AD%97%E5%8C%96%E5%8F%91%E5%B1%95%E6%8E%A8%E8%8D%90%E6%A1%88%E4%BE%8B%E9%9B%86%E3%80%8B.pdf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FUND-312，PDF第7页</a:t>
            </a:r>
          </a:p>
          <a:p xmlns:a="http://schemas.openxmlformats.org/drawingml/2006/main">
            <a:r>
              <a:t>https://www.amac.org.cn/xwfb/hydt/202601/P020260202337848496316.pdf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FUND-215，批量文件修订示例</a:t>
            </a:r>
          </a:p>
          <a:p xmlns:a="http://schemas.openxmlformats.org/drawingml/2006/main">
            <a:r>
              <a:t>https://finance.sina.com.cn/money/fund/jjh/2026-04-30/doc-inhwfyep1330822.shtml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面的报告比对需求也可形成供同事反复使用的工具。业务同事提供真实工作样例和比较要求，开发同事整理需求、编写程序并测试。使用反馈进入下一轮修改，最终交付可运行工具与操作说明。LLM可以参与各环节的文字和程序产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易方达的一站式研发管理平台在开发与测试环节引入大模型，CIO介绍内部研发已使用AI完成部分工作。景顺长城量化团队据财联社报道使用本地模型辅助编程。页面以报告比对工具说明需求、开发、测试和交付之间的协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FUND-101，PDF第4页，开发与测试</a:t>
            </a:r>
          </a:p>
          <a:p xmlns:a="http://schemas.openxmlformats.org/drawingml/2006/main">
            <a:r>
              <a:t>https://www.amac.org.cn/xwfb/hydt/202601/P020260202337815959196.pdf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FUND-103，智能服务基座段落</a:t>
            </a:r>
          </a:p>
          <a:p xmlns:a="http://schemas.openxmlformats.org/drawingml/2006/main">
            <a:r>
              <a:t>https://gifts.szu.edu.cn/info/1023/1364.htm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FUND-254，量化团队辅助编程段落</a:t>
            </a:r>
          </a:p>
          <a:p xmlns:a="http://schemas.openxmlformats.org/drawingml/2006/main">
            <a:r>
              <a:t>https://www.cls.cn/detail/2237261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围绕报告比对工具，业务提供两版报告和比较要求，开发整理成可验证的需求，再由LLM辅助编写程序、生成测试并修改。交付程序、测试样例和操作说明后，业务同事获得可追溯的差异结果，继续反馈比较规则与格式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FUND-101，PDF第4页</a:t>
            </a:r>
          </a:p>
          <a:p xmlns:a="http://schemas.openxmlformats.org/drawingml/2006/main">
            <a:r>
              <a:t>https://www.amac.org.cn/xwfb/hydt/202601/P020260202337815959196.pdf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FUND-254，辅助编程段落</a:t>
            </a:r>
          </a:p>
          <a:p xmlns:a="http://schemas.openxmlformats.org/drawingml/2006/main">
            <a:r>
              <a:t>https://www.cls.cn/detail/2237261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行是招商TA/FA知识助手与平安内部事务助手，把政策、流程和运营说明转成问题指引。第二行是永赢的邮件安全应用，理解邮件上下文并调度检测工具。第三行为汇添富公开专利提出的经营分析方法，自然语言识别主体、期间与指标后，接取数和算法并生成归因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FUND-351，运营应用段落</a:t>
            </a:r>
          </a:p>
          <a:p xmlns:a="http://schemas.openxmlformats.org/drawingml/2006/main">
            <a:r>
              <a:t>https://fund.10jqka.com.cn/20251111/c672391490.shtml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FUND-160，HR小灵通及内部事务</a:t>
            </a:r>
          </a:p>
          <a:p xmlns:a="http://schemas.openxmlformats.org/drawingml/2006/main">
            <a:r>
              <a:t>https://www.cs.com.cn/ssgs/gsxl/202602/t20260206_6537131.html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FUND-352，PDF第1–2页</a:t>
            </a:r>
          </a:p>
          <a:p xmlns:a="http://schemas.openxmlformats.org/drawingml/2006/main">
            <a:r>
              <a:t>https://www.amac.org.cn/xwfb/hydt/202607/P020260701319545695145.pdf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FUND-227 / CN121958380A，实施例一S1–S4及报告生成</a:t>
            </a:r>
          </a:p>
          <a:p xmlns:a="http://schemas.openxmlformats.org/drawingml/2006/main">
            <a:r>
              <a:t>https://patents.google.com/patent/CN121958380A/zh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使用者、主要产物和改善工作对照七项建议。投研分析与客户材料可先形成清晰交付物，再连接审核、风险、交易与运营。工具开发支持更多部门将重复工作沉淀为可复用程序。接下来把建议放入两条跨部门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FUND-300，投研与客户材料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FUND-200，交易支持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FUND-308，材料审核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FUND-220，风险支持</a:t>
            </a:r>
          </a:p>
          <a:p xmlns:a="http://schemas.openxmlformats.org/drawingml/2006/main">
            <a:r>
              <a:t>https://www.amac.org.cn/xwfb/hydt/202601/P020260202337837900594.pdf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FUND-312，文档处理</a:t>
            </a:r>
          </a:p>
          <a:p xmlns:a="http://schemas.openxmlformats.org/drawingml/2006/main">
            <a:r>
              <a:t>https://www.amac.org.cn/xwfb/hydt/202601/P020260202337848496316.pdf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FUND-101，开发与测试</a:t>
            </a:r>
          </a:p>
          <a:p xmlns:a="http://schemas.openxmlformats.org/drawingml/2006/main">
            <a:r>
              <a:t>https://www.amac.org.cn/xwfb/hydt/202601/P020260202337815959196.pdf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条沿甲公司展开：前台形成研究并准备交易，中台分析相关风险，后台承接交易记录和文件。第二条沿基金季度客户沟通稿展开：前台生成，中台审核修订，后台比对版本并更新材料。建议从投研分析与客户材料两条流程启动，再逐步接入更多业务环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员工通过统一入口提交工作，流程调用模型服务，也调用检索、计算、业务查询与文件处理工具。文档、知识库与业务数据向不同任务提供资料。Qwen与DeepSeek作为模型服务候选，后续按任务验证与部署条件选择。资料权限、来源和变更记录随具体工作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FUND-300，PDF第5页，模型与工具层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FUND-200，PDF第4–7页，工具调用与业务接口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FUND-312，PDF第7页，FundGPT服务</a:t>
            </a:r>
          </a:p>
          <a:p xmlns:a="http://schemas.openxmlformats.org/drawingml/2006/main">
            <a:r>
              <a:t>https://www.amac.org.cn/xwfb/hydt/202601/P020260202337848496316.pdf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阶段由投研、销售、合规和IT共同建立研究与客户材料应用，交付任务样例、资料目录及应用初版。第二阶段由交易、运营和IT接入查询与文件流程，形成字段及接口规范。第三阶段拓展工具开发和内部服务，沉淀工具、操作说明与维护机制。每阶段根据前一阶段实际使用结果推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从原工作任务开始记录，使用应用后比较任务完成时间、交付采用情况、返工次数和使用频次，再据此调整资料、交接和操作步骤。结尾建议明确：从投研分析与客户材料两条流程启动，逐步接入更多部门工作。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61d0926734f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ad50e9a9ab44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efedd823d744a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797a53804145b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c5c89a9bd74a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75e4eb513448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04C55D-84ED-4351-945F-6A7981B1F6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AC6B9B5-D35B-4E70-BC35-35B48DBE96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8F8B28-3876-428C-86D5-3B8BCE9FFD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B68DAC-491C-4192-82FC-CD8213AF8E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7E907B1-5572-484E-AE62-41F4BA0020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06BAF6-52C0-4C2A-BB3C-3829965422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38F619-1C35-4455-9FBA-062FA041A9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57288C6-818C-41F2-A930-6459D09487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86FD29-6C69-40C1-BEAE-BFE7B02A42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D7402E-38F5-47C8-B800-36ED3B447B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bb2e6525ac4b93" /><Relationship Type="http://schemas.openxmlformats.org/officeDocument/2006/relationships/slideLayout" Target="/ppt/slideLayouts/slideLayout1.xml" Id="R0d0a3d5232254bd9" /><Relationship Type="http://schemas.openxmlformats.org/officeDocument/2006/relationships/slideLayout" Target="/ppt/slideLayouts/slideLayout2.xml" Id="Re42916aeb4c54d10" /><Relationship Type="http://schemas.openxmlformats.org/officeDocument/2006/relationships/slideLayout" Target="/ppt/slideLayouts/slideLayout3.xml" Id="R8cfdf4bb19a04108" /><Relationship Type="http://schemas.openxmlformats.org/officeDocument/2006/relationships/slideLayout" Target="/ppt/slideLayouts/slideLayout4.xml" Id="R4d804077aeae4066" /><Relationship Type="http://schemas.openxmlformats.org/officeDocument/2006/relationships/slideLayout" Target="/ppt/slideLayouts/slideLayout5.xml" Id="R4c098a7f6d344d3b" /><Relationship Type="http://schemas.openxmlformats.org/officeDocument/2006/relationships/slideLayout" Target="/ppt/slideLayouts/slideLayout6.xml" Id="R2beff313bf1b4d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0a3d5232254bd9"/>
    <p:sldLayoutId xmlns:r="http://schemas.openxmlformats.org/officeDocument/2006/relationships" id="2147483650" r:id="Re42916aeb4c54d10"/>
    <p:sldLayoutId xmlns:r="http://schemas.openxmlformats.org/officeDocument/2006/relationships" id="2147483651" r:id="R8cfdf4bb19a04108"/>
    <p:sldLayoutId xmlns:r="http://schemas.openxmlformats.org/officeDocument/2006/relationships" id="2147483652" r:id="R4d804077aeae4066"/>
    <p:sldLayoutId xmlns:r="http://schemas.openxmlformats.org/officeDocument/2006/relationships" id="2147483653" r:id="R4c098a7f6d344d3b"/>
    <p:sldLayoutId xmlns:r="http://schemas.openxmlformats.org/officeDocument/2006/relationships" id="2147483654" r:id="R2beff313bf1b4d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usiness workflow">
      <a:dk1>
        <a:srgbClr val="20262C"/>
      </a:dk1>
      <a:lt1>
        <a:srgbClr val="FFFFFF"/>
      </a:lt1>
      <a:dk2>
        <a:srgbClr val="005A9C"/>
      </a:dk2>
      <a:lt2>
        <a:srgbClr val="D9EAF7"/>
      </a:lt2>
      <a:accent1>
        <a:srgbClr val="005A9C"/>
      </a:accent1>
      <a:accent2>
        <a:srgbClr val="317F7B"/>
      </a:accent2>
      <a:accent3>
        <a:srgbClr val="7363A6"/>
      </a:accent3>
      <a:accent4>
        <a:srgbClr val="967335"/>
      </a:accent4>
      <a:accent5>
        <a:srgbClr val="AD5247"/>
      </a:accent5>
      <a:accent6>
        <a:srgbClr val="707C88"/>
      </a:accent6>
      <a:hlink>
        <a:srgbClr val="005A9C"/>
      </a:hlink>
      <a:folHlink>
        <a:srgbClr val="7363A6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Business work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40cd2693e284528"/><Relationship Type="http://schemas.openxmlformats.org/officeDocument/2006/relationships/image" Target="/ppt/media/image.png" Id="Rbb4a421d731d4d90"/><Relationship Type="http://schemas.openxmlformats.org/officeDocument/2006/relationships/notesSlide" Target="/ppt/notesSlides/notesSlide1.xml" Id="R83e09d0b3bbe4840"/><Relationship Id="rIdNavSlide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69b37283dd2485c"/><Relationship Type="http://schemas.openxmlformats.org/officeDocument/2006/relationships/notesSlide" Target="/ppt/notesSlides/notesSlide2.xml" Id="Re1236aa25b904a23"/><Relationship Id="rIdNavSlide3" Type="http://schemas.openxmlformats.org/officeDocument/2006/relationships/slide" Target="slide3.xml"/><Relationship Id="rIdNavSlide1" Type="http://schemas.openxmlformats.org/officeDocument/2006/relationships/slide" Target="slide1.xm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ef4281284e64165"/><Relationship Type="http://schemas.openxmlformats.org/officeDocument/2006/relationships/notesSlide" Target="/ppt/notesSlides/notesSlide3.xml" Id="Rf1fa5600a6494b7a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" Type="http://schemas.openxmlformats.org/officeDocument/2006/relationships/slide" Target="slide2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ad8482cc1e44b07"/><Relationship Type="http://schemas.openxmlformats.org/officeDocument/2006/relationships/notesSlide" Target="/ppt/notesSlides/notesSlide4.xml" Id="Re03e4897d7a54db1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5" Type="http://schemas.openxmlformats.org/officeDocument/2006/relationships/slide" Target="slide5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fc7b2bbccfe4a0e"/><Relationship Type="http://schemas.openxmlformats.org/officeDocument/2006/relationships/notesSlide" Target="/ppt/notesSlides/notesSlide5.xml" Id="R66d71606934744cf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6" Type="http://schemas.openxmlformats.org/officeDocument/2006/relationships/slide" Target="slide6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4639827bd104b09"/><Relationship Type="http://schemas.openxmlformats.org/officeDocument/2006/relationships/notesSlide" Target="/ppt/notesSlides/notesSlide6.xml" Id="R6ba79669684b4d59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5" Type="http://schemas.openxmlformats.org/officeDocument/2006/relationships/slide" Target="slide5.xml"/><Relationship Id="rIdNavSlide7" Type="http://schemas.openxmlformats.org/officeDocument/2006/relationships/slide" Target="slide7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52a8e3ac5e542a7"/><Relationship Type="http://schemas.openxmlformats.org/officeDocument/2006/relationships/notesSlide" Target="/ppt/notesSlides/notesSlide7.xml" Id="R871c19fb916d476e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6" Type="http://schemas.openxmlformats.org/officeDocument/2006/relationships/slide" Target="slide6.xml"/><Relationship Id="rIdNavSlide8" Type="http://schemas.openxmlformats.org/officeDocument/2006/relationships/slide" Target="slide8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1feb0544f2841aa"/><Relationship Type="http://schemas.openxmlformats.org/officeDocument/2006/relationships/notesSlide" Target="/ppt/notesSlides/notesSlide8.xml" Id="R724a6a5c8f4c4a7c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7" Type="http://schemas.openxmlformats.org/officeDocument/2006/relationships/slide" Target="slide7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f64d9a79ef4464a"/><Relationship Type="http://schemas.openxmlformats.org/officeDocument/2006/relationships/notesSlide" Target="/ppt/notesSlides/notesSlide9.xml" Id="Rcad52cae5f67423a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8" Type="http://schemas.openxmlformats.org/officeDocument/2006/relationships/slide" Target="slide8.xml"/><Relationship Id="rIdNavSlide10" Type="http://schemas.openxmlformats.org/officeDocument/2006/relationships/slide" Target="slide10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8e2e39b7d9649a9"/><Relationship Type="http://schemas.openxmlformats.org/officeDocument/2006/relationships/notesSlide" Target="/ppt/notesSlides/notesSlide10.xml" Id="R1fc8ee205e1842dd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9" Type="http://schemas.openxmlformats.org/officeDocument/2006/relationships/slide" Target="slide9.xml"/><Relationship Id="rIdNavSlide11" Type="http://schemas.openxmlformats.org/officeDocument/2006/relationships/slide" Target="slide11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1e0ba5c87e04eb4"/><Relationship Type="http://schemas.openxmlformats.org/officeDocument/2006/relationships/notesSlide" Target="/ppt/notesSlides/notesSlide11.xml" Id="Re836eccc451e4685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0" Type="http://schemas.openxmlformats.org/officeDocument/2006/relationships/slide" Target="slide10.xml"/><Relationship Id="rIdNavSlide12" Type="http://schemas.openxmlformats.org/officeDocument/2006/relationships/slide" Target="slide12.xml"/><Relationship Id="rIdNavSlide9" Type="http://schemas.openxmlformats.org/officeDocument/2006/relationships/slide" Target="slide9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85de5a318d449c8"/><Relationship Type="http://schemas.openxmlformats.org/officeDocument/2006/relationships/notesSlide" Target="/ppt/notesSlides/notesSlide12.xml" Id="R2b43cc2fd2d24757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1" Type="http://schemas.openxmlformats.org/officeDocument/2006/relationships/slide" Target="slide11.xml"/><Relationship Id="rIdNavSlide13" Type="http://schemas.openxmlformats.org/officeDocument/2006/relationships/slide" Target="slide13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279832b27824a2f"/><Relationship Type="http://schemas.openxmlformats.org/officeDocument/2006/relationships/notesSlide" Target="/ppt/notesSlides/notesSlide13.xml" Id="R2728ff8a3d7d4dcc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2" Type="http://schemas.openxmlformats.org/officeDocument/2006/relationships/slide" Target="slide12.xml"/><Relationship Id="rIdNavSlide14" Type="http://schemas.openxmlformats.org/officeDocument/2006/relationships/slide" Target="slide14.xml"/><Relationship Id="rIdNavSlide9" Type="http://schemas.openxmlformats.org/officeDocument/2006/relationships/slide" Target="slide9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72f67d05d924c2e"/><Relationship Type="http://schemas.openxmlformats.org/officeDocument/2006/relationships/notesSlide" Target="/ppt/notesSlides/notesSlide14.xml" Id="Re2afafdb25234622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3" Type="http://schemas.openxmlformats.org/officeDocument/2006/relationships/slide" Target="slide13.xml"/><Relationship Id="rIdNavSlide15" Type="http://schemas.openxmlformats.org/officeDocument/2006/relationships/slide" Target="slide15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4c740cc1bf14ae9"/><Relationship Type="http://schemas.openxmlformats.org/officeDocument/2006/relationships/notesSlide" Target="/ppt/notesSlides/notesSlide15.xml" Id="Rd62efe20977349c0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4" Type="http://schemas.openxmlformats.org/officeDocument/2006/relationships/slide" Target="slide14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5f1d75c1a8b4bc6"/><Relationship Type="http://schemas.openxmlformats.org/officeDocument/2006/relationships/notesSlide" Target="/ppt/notesSlides/notesSlide16.xml" Id="R5d1360953c9546b2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5" Type="http://schemas.openxmlformats.org/officeDocument/2006/relationships/slide" Target="slide15.xml"/><Relationship Id="rIdNavSlide17" Type="http://schemas.openxmlformats.org/officeDocument/2006/relationships/slide" Target="slide17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7bf86b9682540fe"/><Relationship Type="http://schemas.openxmlformats.org/officeDocument/2006/relationships/notesSlide" Target="/ppt/notesSlides/notesSlide17.xml" Id="Rb59d32915a8344a3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8" Type="http://schemas.openxmlformats.org/officeDocument/2006/relationships/slide" Target="slide18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330fd2c46b24f30"/><Relationship Type="http://schemas.openxmlformats.org/officeDocument/2006/relationships/notesSlide" Target="/ppt/notesSlides/notesSlide18.xml" Id="R35acd9ea027e41d7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7" Type="http://schemas.openxmlformats.org/officeDocument/2006/relationships/slide" Target="slide17.xml"/><Relationship Id="rIdNavSlide19" Type="http://schemas.openxmlformats.org/officeDocument/2006/relationships/slide" Target="slide19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25" Type="http://schemas.openxmlformats.org/officeDocument/2006/relationships/slide" Target="slide25.xml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d79fc20cc344acb"/><Relationship Type="http://schemas.openxmlformats.org/officeDocument/2006/relationships/notesSlide" Target="/ppt/notesSlides/notesSlide19.xml" Id="Rffb64d4364dc4a63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8" Type="http://schemas.openxmlformats.org/officeDocument/2006/relationships/slide" Target="slide18.xml"/><Relationship Id="rIdNavSlide20" Type="http://schemas.openxmlformats.org/officeDocument/2006/relationships/slide" Target="slide20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2bc71ca9271443c"/><Relationship Type="http://schemas.openxmlformats.org/officeDocument/2006/relationships/notesSlide" Target="/ppt/notesSlides/notesSlide20.xml" Id="R18cd2c057d9e4996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9" Type="http://schemas.openxmlformats.org/officeDocument/2006/relationships/slide" Target="slide19.xml"/><Relationship Id="rIdNavSlide21" Type="http://schemas.openxmlformats.org/officeDocument/2006/relationships/slide" Target="slide21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25" Type="http://schemas.openxmlformats.org/officeDocument/2006/relationships/slide" Target="slide25.xml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67dbba192de4df2"/><Relationship Type="http://schemas.openxmlformats.org/officeDocument/2006/relationships/notesSlide" Target="/ppt/notesSlides/notesSlide21.xml" Id="R93df747c5d324005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0" Type="http://schemas.openxmlformats.org/officeDocument/2006/relationships/slide" Target="slide20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c163da9ad054a7b"/><Relationship Type="http://schemas.openxmlformats.org/officeDocument/2006/relationships/notesSlide" Target="/ppt/notesSlides/notesSlide22.xml" Id="R290bad803bb94a3d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1" Type="http://schemas.openxmlformats.org/officeDocument/2006/relationships/slide" Target="slide21.xml"/><Relationship Id="rIdNavSlide23" Type="http://schemas.openxmlformats.org/officeDocument/2006/relationships/slide" Target="slide23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6ecd80b0f5f4651"/><Relationship Type="http://schemas.openxmlformats.org/officeDocument/2006/relationships/notesSlide" Target="/ppt/notesSlides/notesSlide23.xml" Id="R6ff0055dc374403d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4" Type="http://schemas.openxmlformats.org/officeDocument/2006/relationships/slide" Target="slide24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3c0a24b468a4551"/><Relationship Type="http://schemas.openxmlformats.org/officeDocument/2006/relationships/notesSlide" Target="/ppt/notesSlides/notesSlide24.xml" Id="Rff2849b869bc460a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3" Type="http://schemas.openxmlformats.org/officeDocument/2006/relationships/slide" Target="slide23.xml"/><Relationship Id="rIdNavSlide25" Type="http://schemas.openxmlformats.org/officeDocument/2006/relationships/slide" Target="slide25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eafdccb4d674f23"/><Relationship Type="http://schemas.openxmlformats.org/officeDocument/2006/relationships/notesSlide" Target="/ppt/notesSlides/notesSlide25.xml" Id="R13056dbece804772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4" Type="http://schemas.openxmlformats.org/officeDocument/2006/relationships/slide" Target="slide24.xml"/><Relationship Id="rIdNavSlide26" Type="http://schemas.openxmlformats.org/officeDocument/2006/relationships/slide" Target="slide26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1aad49855184763"/><Relationship Type="http://schemas.openxmlformats.org/officeDocument/2006/relationships/notesSlide" Target="/ppt/notesSlides/notesSlide26.xml" Id="R73ca18155df2410b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5" Type="http://schemas.openxmlformats.org/officeDocument/2006/relationships/slide" Target="slide25.xml"/><Relationship Id="rIdNavSlide27" Type="http://schemas.openxmlformats.org/officeDocument/2006/relationships/slide" Target="slide27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3a690d4538d4a29"/><Relationship Type="http://schemas.openxmlformats.org/officeDocument/2006/relationships/notesSlide" Target="/ppt/notesSlides/notesSlide27.xml" Id="R259cf5dbd8f846eb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6" Type="http://schemas.openxmlformats.org/officeDocument/2006/relationships/slide" Target="slide26.xml"/><Relationship Id="rIdNavSlide28" Type="http://schemas.openxmlformats.org/officeDocument/2006/relationships/slide" Target="slide28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14c049f42ec411f"/><Relationship Type="http://schemas.openxmlformats.org/officeDocument/2006/relationships/notesSlide" Target="/ppt/notesSlides/notesSlide28.xml" Id="Rc6180fcedb744e39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7" Type="http://schemas.openxmlformats.org/officeDocument/2006/relationships/slide" Target="slide27.xml"/><Relationship Id="rIdNavSlide29" Type="http://schemas.openxmlformats.org/officeDocument/2006/relationships/slide" Target="slide29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85b68afb07e41fd"/><Relationship Type="http://schemas.openxmlformats.org/officeDocument/2006/relationships/notesSlide" Target="/ppt/notesSlides/notesSlide29.xml" Id="Rd78eaa0452ca44c1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8" Type="http://schemas.openxmlformats.org/officeDocument/2006/relationships/slide" Target="slide28.xml"/><Relationship Id="rIdNavSlide30" Type="http://schemas.openxmlformats.org/officeDocument/2006/relationships/slide" Target="slide30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e91551664ab45a4"/><Relationship Type="http://schemas.openxmlformats.org/officeDocument/2006/relationships/notesSlide" Target="/ppt/notesSlides/notesSlide30.xml" Id="Raf2e4913e52b4d22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9" Type="http://schemas.openxmlformats.org/officeDocument/2006/relationships/slide" Target="slide29.xml"/><Relationship Id="rIdNavSlide31" Type="http://schemas.openxmlformats.org/officeDocument/2006/relationships/slide" Target="slide31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7f1141b94bf4e84"/><Relationship Type="http://schemas.openxmlformats.org/officeDocument/2006/relationships/notesSlide" Target="/ppt/notesSlides/notesSlide31.xml" Id="R1c644b39d7b5417c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30" Type="http://schemas.openxmlformats.org/officeDocument/2006/relationships/slide" Target="slide30.xml"/><Relationship Id="rIdNavSlide32" Type="http://schemas.openxmlformats.org/officeDocument/2006/relationships/slide" Target="slide32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37e3df45f77486c"/><Relationship Type="http://schemas.openxmlformats.org/officeDocument/2006/relationships/notesSlide" Target="/ppt/notesSlides/notesSlide32.xml" Id="R31ce15f779b64466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31" Type="http://schemas.openxmlformats.org/officeDocument/2006/relationships/slide" Target="slide31.xml"/><Relationship Id="rIdNavSlide33" Type="http://schemas.openxmlformats.org/officeDocument/2006/relationships/slide" Target="slide33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5fe465209c84495"/><Relationship Type="http://schemas.openxmlformats.org/officeDocument/2006/relationships/notesSlide" Target="/ppt/notesSlides/notesSlide33.xml" Id="Re3955a10be124ca4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32" Type="http://schemas.openxmlformats.org/officeDocument/2006/relationships/slide" Target="slide32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77DFEB65-3144-4DBD-B4C5-49F4B95D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" name="!!source">
            <a:extLst xmlns:a="http://schemas.openxmlformats.org/drawingml/2006/main">
              <a:ext uri="{FF2B5EF4-FFF2-40B4-BE49-F238E27FC236}">
                <a16:creationId xmlns:a16="http://schemas.microsoft.com/office/drawing/2014/main" id="{F9A803B9-20B2-4817-95FC-B13FDB27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94E76-436F-40D1-861D-65FBB5985E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a421d731d4d90"/>
          <a:srcRect xmlns:a="http://schemas.openxmlformats.org/drawingml/2006/main" l="20726" t="0" r="207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0"/>
            <a:ext cx="7143750" cy="8134350"/>
          </a:xfrm>
          <a:prstGeom xmlns:a="http://schemas.openxmlformats.org/drawingml/2006/main" prst="rect">
            <a:avLst/>
          </a:prstGeom>
        </p:spPr>
      </p:pic>
      <p:sp>
        <p:nvSpPr>
          <p:cNvPr id="4" name="!!cover.white">
            <a:extLst xmlns:a="http://schemas.openxmlformats.org/drawingml/2006/main">
              <a:ext uri="{FF2B5EF4-FFF2-40B4-BE49-F238E27FC236}">
                <a16:creationId xmlns:a16="http://schemas.microsoft.com/office/drawing/2014/main" id="{62412EEB-7821-49E2-8E7F-363EE0BC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96250" cy="813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!!cover.kicker">
            <a:extLst xmlns:a="http://schemas.openxmlformats.org/drawingml/2006/main">
              <a:ext uri="{FF2B5EF4-FFF2-40B4-BE49-F238E27FC236}">
                <a16:creationId xmlns:a16="http://schemas.microsoft.com/office/drawing/2014/main" id="{D6E8B01A-99AC-4EF2-8B52-7D4AD336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同行实践与公司方案</a:t>
            </a:r>
          </a:p>
        </p:txBody>
      </p:sp>
      <p:sp>
        <p:nvSpPr>
          <p:cNvPr id="6" name="!!cover.title">
            <a:extLst xmlns:a="http://schemas.openxmlformats.org/drawingml/2006/main">
              <a:ext uri="{FF2B5EF4-FFF2-40B4-BE49-F238E27FC236}">
                <a16:creationId xmlns:a16="http://schemas.microsoft.com/office/drawing/2014/main" id="{840DD9F1-7931-4A7D-842F-3B8FC398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资管公司工作流程中的</a:t>
            </a:r>
          </a:p>
          <a:p xmlns:a="http://schemas.openxmlformats.org/drawingml/2006/main">
            <a: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 应用</a:t>
            </a:r>
          </a:p>
        </p:txBody>
      </p:sp>
      <p:sp>
        <p:nvSpPr>
          <p:cNvPr id="7" name="!!cover.line">
            <a:extLst xmlns:a="http://schemas.openxmlformats.org/drawingml/2006/main">
              <a:ext uri="{FF2B5EF4-FFF2-40B4-BE49-F238E27FC236}">
                <a16:creationId xmlns:a16="http://schemas.microsoft.com/office/drawing/2014/main" id="{DB45D2C3-62EE-4A0D-A43D-B6098E12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5000625"/>
            <a:ext cx="6591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5A9C"/>
            </a:solidFill>
            <a:prstDash val="solid"/>
          </a:ln>
        </p:spPr>
      </p:sp>
      <p:sp>
        <p:nvSpPr>
          <p:cNvPr id="8" name="!!cover.date">
            <a:extLst xmlns:a="http://schemas.openxmlformats.org/drawingml/2006/main">
              <a:ext uri="{FF2B5EF4-FFF2-40B4-BE49-F238E27FC236}">
                <a16:creationId xmlns:a16="http://schemas.microsoft.com/office/drawing/2014/main" id="{A27C52CD-1BC1-47C6-ABB2-F9ADF369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2026年10月</a:t>
            </a:r>
          </a:p>
        </p:txBody>
      </p:sp>
      <p:sp>
        <p:nvSpPr>
          <p:cNvPr id="9" name="!!nav.next">
            <ns0:hlinkClick xmlns:ns0="http://schemas.openxmlformats.org/drawingml/2006/main" xmlns:ns1="http://schemas.openxmlformats.org/officeDocument/2006/relationships" ns1:id="rIdNavSlide2" action="ppaction://hlinksldjump" tooltip="第2页  研究重点与应用目标"/>
            <a:extLst xmlns:a="http://schemas.openxmlformats.org/drawingml/2006/main">
              <a:ext uri="{FF2B5EF4-FFF2-40B4-BE49-F238E27FC236}">
                <a16:creationId xmlns:a16="http://schemas.microsoft.com/office/drawing/2014/main" id="{444C23CF-71C6-4ADF-8F18-02D4794C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77025"/>
            <a:ext cx="2133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进入演示</a:t>
            </a:r>
          </a:p>
        </p:txBody>
      </p:sp>
    </p:spTree>
    <p:extLst>
      <p:ext uri="{BB962C8B-B14F-4D97-AF65-F5344CB8AC3E}">
        <p14:creationId xmlns:p14="http://schemas.microsoft.com/office/powerpoint/2010/main" val="2061793653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!!heading">
            <a:extLst xmlns:a="http://schemas.openxmlformats.org/drawingml/2006/main">
              <a:ext uri="{FF2B5EF4-FFF2-40B4-BE49-F238E27FC236}">
                <a16:creationId xmlns:a16="http://schemas.microsoft.com/office/drawing/2014/main" id="{505F3FDF-7BB0-45B0-82DF-8E20B566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研究重点与应用目标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79802F33-6A34-4A5E-9B8C-3481995B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研究范围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1589C0B9-52AE-4079-A002-ADCF79AC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7642F179-1E1C-4744-BED5-7203F467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5" name="!!page">
            <a:extLst xmlns:a="http://schemas.openxmlformats.org/drawingml/2006/main">
              <a:ext uri="{FF2B5EF4-FFF2-40B4-BE49-F238E27FC236}">
                <a16:creationId xmlns:a16="http://schemas.microsoft.com/office/drawing/2014/main" id="{778F6808-22DB-4783-8418-277FE609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 / 33</a:t>
            </a:r>
          </a:p>
        </p:txBody>
      </p:sp>
      <p:sp>
        <p:nvSpPr>
          <p:cNvPr id="6" name="!!nav.prev">
            <ns0:hlinkClick xmlns:ns0="http://schemas.openxmlformats.org/drawingml/2006/main" xmlns:ns1="http://schemas.openxmlformats.org/officeDocument/2006/relationships" ns1:id="rIdNavSlide1" action="ppaction://hlinksldjump" tooltip="第1页  资管公司工作流程中的 LLM 应用"/>
            <a:extLst xmlns:a="http://schemas.openxmlformats.org/drawingml/2006/main">
              <a:ext uri="{FF2B5EF4-FFF2-40B4-BE49-F238E27FC236}">
                <a16:creationId xmlns:a16="http://schemas.microsoft.com/office/drawing/2014/main" id="{3F1239B9-42A1-431D-B735-56F89B5B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7" name="!!nav.next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AE994825-D503-4FFB-940B-5FD59D3A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8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2ED98DE2-A6E8-406E-8D3A-AD5938A7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9" name="!!source">
            <a:extLst xmlns:a="http://schemas.openxmlformats.org/drawingml/2006/main">
              <a:ext uri="{FF2B5EF4-FFF2-40B4-BE49-F238E27FC236}">
                <a16:creationId xmlns:a16="http://schemas.microsoft.com/office/drawing/2014/main" id="{5A9F0289-D2F5-4783-BEE3-9B477192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!!scope.head0">
            <a:extLst xmlns:a="http://schemas.openxmlformats.org/drawingml/2006/main">
              <a:ext uri="{FF2B5EF4-FFF2-40B4-BE49-F238E27FC236}">
                <a16:creationId xmlns:a16="http://schemas.microsoft.com/office/drawing/2014/main" id="{D8D8E672-FAE4-4837-ABF9-6F71B167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0275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日常输入</a:t>
            </a:r>
          </a:p>
        </p:txBody>
      </p:sp>
      <p:sp>
        <p:nvSpPr>
          <p:cNvPr id="11" name="!!scope.head1">
            <a:extLst xmlns:a="http://schemas.openxmlformats.org/drawingml/2006/main">
              <a:ext uri="{FF2B5EF4-FFF2-40B4-BE49-F238E27FC236}">
                <a16:creationId xmlns:a16="http://schemas.microsoft.com/office/drawing/2014/main" id="{4F51E3CF-5E2D-4528-B4FC-345F906C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00275"/>
            <a:ext cx="604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LLM参与工作</a:t>
            </a:r>
          </a:p>
        </p:txBody>
      </p:sp>
      <p:sp>
        <p:nvSpPr>
          <p:cNvPr id="12" name="!!scope.head2">
            <a:extLst xmlns:a="http://schemas.openxmlformats.org/drawingml/2006/main">
              <a:ext uri="{FF2B5EF4-FFF2-40B4-BE49-F238E27FC236}">
                <a16:creationId xmlns:a16="http://schemas.microsoft.com/office/drawing/2014/main" id="{3F622B87-B137-490E-9DF3-DFBA1416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200275"/>
            <a:ext cx="3019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工作成果</a:t>
            </a:r>
          </a:p>
        </p:txBody>
      </p:sp>
      <p:sp>
        <p:nvSpPr>
          <p:cNvPr id="13" name="!!scope.input0">
            <a:extLst xmlns:a="http://schemas.openxmlformats.org/drawingml/2006/main">
              <a:ext uri="{FF2B5EF4-FFF2-40B4-BE49-F238E27FC236}">
                <a16:creationId xmlns:a16="http://schemas.microsoft.com/office/drawing/2014/main" id="{C5F19CA2-5DA1-4BF1-BF07-76CB566A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8475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文档</a:t>
            </a:r>
          </a:p>
        </p:txBody>
      </p:sp>
      <p:sp>
        <p:nvSpPr>
          <p:cNvPr id="14" name="!!scope.work0">
            <a:extLst xmlns:a="http://schemas.openxmlformats.org/drawingml/2006/main">
              <a:ext uri="{FF2B5EF4-FFF2-40B4-BE49-F238E27FC236}">
                <a16:creationId xmlns:a16="http://schemas.microsoft.com/office/drawing/2014/main" id="{4DAC380E-64A7-445F-AC5E-8F058825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00375"/>
            <a:ext cx="6048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检索与整理</a:t>
            </a:r>
          </a:p>
        </p:txBody>
      </p:sp>
      <p:sp>
        <p:nvSpPr>
          <p:cNvPr id="15" name="!!scope.output0">
            <a:extLst xmlns:a="http://schemas.openxmlformats.org/drawingml/2006/main">
              <a:ext uri="{FF2B5EF4-FFF2-40B4-BE49-F238E27FC236}">
                <a16:creationId xmlns:a16="http://schemas.microsoft.com/office/drawing/2014/main" id="{3E6188D0-E089-4AAF-A9F0-9161AB57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038475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公司分析</a:t>
            </a:r>
          </a:p>
        </p:txBody>
      </p:sp>
      <p:sp>
        <p:nvSpPr>
          <p:cNvPr id="16" name="!!scope.input1">
            <a:extLst xmlns:a="http://schemas.openxmlformats.org/drawingml/2006/main">
              <a:ext uri="{FF2B5EF4-FFF2-40B4-BE49-F238E27FC236}">
                <a16:creationId xmlns:a16="http://schemas.microsoft.com/office/drawing/2014/main" id="{28CF4236-191C-4B6B-BAA9-F76A6FD5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数据</a:t>
            </a:r>
          </a:p>
        </p:txBody>
      </p:sp>
      <p:sp>
        <p:nvSpPr>
          <p:cNvPr id="17" name="!!scope.work1">
            <a:extLst xmlns:a="http://schemas.openxmlformats.org/drawingml/2006/main">
              <a:ext uri="{FF2B5EF4-FFF2-40B4-BE49-F238E27FC236}">
                <a16:creationId xmlns:a16="http://schemas.microsoft.com/office/drawing/2014/main" id="{A3CABB67-2DF3-4B41-928D-65E4ADB4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86200"/>
            <a:ext cx="6048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计算与解释</a:t>
            </a:r>
          </a:p>
        </p:txBody>
      </p:sp>
      <p:sp>
        <p:nvSpPr>
          <p:cNvPr id="18" name="!!scope.output1">
            <a:extLst xmlns:a="http://schemas.openxmlformats.org/drawingml/2006/main">
              <a:ext uri="{FF2B5EF4-FFF2-40B4-BE49-F238E27FC236}">
                <a16:creationId xmlns:a16="http://schemas.microsoft.com/office/drawing/2014/main" id="{98F68BFB-7FD5-4E63-8BCC-3F56C88D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924300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交易要素</a:t>
            </a:r>
          </a:p>
        </p:txBody>
      </p:sp>
      <p:sp>
        <p:nvSpPr>
          <p:cNvPr id="19" name="!!scope.input2">
            <a:extLst xmlns:a="http://schemas.openxmlformats.org/drawingml/2006/main">
              <a:ext uri="{FF2B5EF4-FFF2-40B4-BE49-F238E27FC236}">
                <a16:creationId xmlns:a16="http://schemas.microsoft.com/office/drawing/2014/main" id="{A5940FAB-492E-45EB-9A77-10590105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消息</a:t>
            </a:r>
          </a:p>
        </p:txBody>
      </p:sp>
      <p:sp>
        <p:nvSpPr>
          <p:cNvPr id="20" name="!!scope.work2">
            <a:extLst xmlns:a="http://schemas.openxmlformats.org/drawingml/2006/main">
              <a:ext uri="{FF2B5EF4-FFF2-40B4-BE49-F238E27FC236}">
                <a16:creationId xmlns:a16="http://schemas.microsoft.com/office/drawing/2014/main" id="{35CCAE9B-6166-403D-95C0-BF297983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72025"/>
            <a:ext cx="6048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查询与操作</a:t>
            </a:r>
          </a:p>
        </p:txBody>
      </p:sp>
      <p:sp>
        <p:nvSpPr>
          <p:cNvPr id="21" name="!!scope.output2">
            <a:extLst xmlns:a="http://schemas.openxmlformats.org/drawingml/2006/main">
              <a:ext uri="{FF2B5EF4-FFF2-40B4-BE49-F238E27FC236}">
                <a16:creationId xmlns:a16="http://schemas.microsoft.com/office/drawing/2014/main" id="{7ED3EA3B-1C44-4B22-B6AB-66A445C6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10125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22" name="!!scope.input3">
            <a:extLst xmlns:a="http://schemas.openxmlformats.org/drawingml/2006/main">
              <a:ext uri="{FF2B5EF4-FFF2-40B4-BE49-F238E27FC236}">
                <a16:creationId xmlns:a16="http://schemas.microsoft.com/office/drawing/2014/main" id="{AEE6D6AD-15DA-46F8-B606-5A545093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业务需求</a:t>
            </a:r>
          </a:p>
        </p:txBody>
      </p:sp>
      <p:sp>
        <p:nvSpPr>
          <p:cNvPr id="23" name="!!scope.work3">
            <a:extLst xmlns:a="http://schemas.openxmlformats.org/drawingml/2006/main">
              <a:ext uri="{FF2B5EF4-FFF2-40B4-BE49-F238E27FC236}">
                <a16:creationId xmlns:a16="http://schemas.microsoft.com/office/drawing/2014/main" id="{2AA056D2-9484-40C4-9D7C-6EE26031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657850"/>
            <a:ext cx="6048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编写与协作</a:t>
            </a:r>
          </a:p>
        </p:txBody>
      </p:sp>
      <p:sp>
        <p:nvSpPr>
          <p:cNvPr id="24" name="!!scope.output3">
            <a:extLst xmlns:a="http://schemas.openxmlformats.org/drawingml/2006/main">
              <a:ext uri="{FF2B5EF4-FFF2-40B4-BE49-F238E27FC236}">
                <a16:creationId xmlns:a16="http://schemas.microsoft.com/office/drawing/2014/main" id="{FD8195AE-BDEC-4CE0-AC4C-6EF1384C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695950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业务工具</a:t>
            </a:r>
          </a:p>
        </p:txBody>
      </p:sp>
      <p:sp>
        <p:nvSpPr>
          <p:cNvPr id="25" name="!!scope.a.line">
            <a:extLst xmlns:a="http://schemas.openxmlformats.org/drawingml/2006/main">
              <a:ext uri="{FF2B5EF4-FFF2-40B4-BE49-F238E27FC236}">
                <a16:creationId xmlns:a16="http://schemas.microsoft.com/office/drawing/2014/main" id="{584A8334-3CF3-441E-8BED-E3C158C2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6200" y="4572000"/>
            <a:ext cx="514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6" name="!!scope.a.tip">
            <a:extLst xmlns:a="http://schemas.openxmlformats.org/drawingml/2006/main">
              <a:ext uri="{FF2B5EF4-FFF2-40B4-BE49-F238E27FC236}">
                <a16:creationId xmlns:a16="http://schemas.microsoft.com/office/drawing/2014/main" id="{408B3A8D-038F-4992-84D5-79E76068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43400" y="4514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7" name="!!scope.b.line">
            <a:extLst xmlns:a="http://schemas.openxmlformats.org/drawingml/2006/main">
              <a:ext uri="{FF2B5EF4-FFF2-40B4-BE49-F238E27FC236}">
                <a16:creationId xmlns:a16="http://schemas.microsoft.com/office/drawing/2014/main" id="{2DFB9D0A-15AC-46F8-A6DE-87EB0440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58500" y="4572000"/>
            <a:ext cx="514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8" name="!!scope.b.tip">
            <a:extLst xmlns:a="http://schemas.openxmlformats.org/drawingml/2006/main">
              <a:ext uri="{FF2B5EF4-FFF2-40B4-BE49-F238E27FC236}">
                <a16:creationId xmlns:a16="http://schemas.microsoft.com/office/drawing/2014/main" id="{76473975-58EE-47C6-B7C3-798415F2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315700" y="4514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9" name="!!scope.result">
            <a:extLst xmlns:a="http://schemas.openxmlformats.org/drawingml/2006/main">
              <a:ext uri="{FF2B5EF4-FFF2-40B4-BE49-F238E27FC236}">
                <a16:creationId xmlns:a16="http://schemas.microsoft.com/office/drawing/2014/main" id="{679D29D3-E52B-481C-8618-AD6524F2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24675"/>
            <a:ext cx="1394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沿业务流程建设应用，让同事在日常任务中使用 LLM</a:t>
            </a:r>
          </a:p>
        </p:txBody>
      </p:sp>
    </p:spTree>
    <p:extLst>
      <p:ext uri="{BB962C8B-B14F-4D97-AF65-F5344CB8AC3E}">
        <p14:creationId xmlns:p14="http://schemas.microsoft.com/office/powerpoint/2010/main" val="48902748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!!heading">
            <a:extLst xmlns:a="http://schemas.openxmlformats.org/drawingml/2006/main">
              <a:ext uri="{FF2B5EF4-FFF2-40B4-BE49-F238E27FC236}">
                <a16:creationId xmlns:a16="http://schemas.microsoft.com/office/drawing/2014/main" id="{7E6791CC-1B08-4DA2-B32E-F178C60A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前台中台后台的七个工作问题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2241504F-9DED-425D-BC77-6CE85937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工作地图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21F66263-01AB-46DD-926A-86C33C8C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C6D673F1-BCA1-4C40-92A9-1326B0AF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86C8C07E-E394-4597-A169-D6E4BAA2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5F9B4121-4C4C-4FD7-BD6C-52D082ED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1  研究分析</a:t>
            </a:r>
          </a:p>
        </p:txBody>
      </p:sp>
      <p:sp>
        <p:nvSpPr>
          <p:cNvPr id="7" name="!!task.research.outcome">
            <a:extLst xmlns:a="http://schemas.openxmlformats.org/drawingml/2006/main">
              <a:ext uri="{FF2B5EF4-FFF2-40B4-BE49-F238E27FC236}">
                <a16:creationId xmlns:a16="http://schemas.microsoft.com/office/drawing/2014/main" id="{FDE714B6-9F06-4BB8-8BAD-8FC672D4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资料形成分析</a:t>
            </a:r>
          </a:p>
        </p:txBody>
      </p:sp>
      <p:sp>
        <p:nvSpPr>
          <p:cNvPr id="8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077AB965-5272-40D3-96DE-66C3D90C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2  交易支持</a:t>
            </a:r>
          </a:p>
        </p:txBody>
      </p:sp>
      <p:sp>
        <p:nvSpPr>
          <p:cNvPr id="9" name="!!task.trade.outcome">
            <a:extLst xmlns:a="http://schemas.openxmlformats.org/drawingml/2006/main">
              <a:ext uri="{FF2B5EF4-FFF2-40B4-BE49-F238E27FC236}">
                <a16:creationId xmlns:a16="http://schemas.microsoft.com/office/drawing/2014/main" id="{C1C7824A-6BA4-4505-8C45-0F8D515B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需求进入交易</a:t>
            </a:r>
          </a:p>
        </p:txBody>
      </p:sp>
      <p:sp>
        <p:nvSpPr>
          <p:cNvPr id="10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5A255229-7A6D-4EC1-AEEC-D5301FA9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8632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3  客户材料</a:t>
            </a:r>
          </a:p>
        </p:txBody>
      </p:sp>
      <p:sp>
        <p:nvSpPr>
          <p:cNvPr id="11" name="!!task.client.outcome">
            <a:extLst xmlns:a="http://schemas.openxmlformats.org/drawingml/2006/main">
              <a:ext uri="{FF2B5EF4-FFF2-40B4-BE49-F238E27FC236}">
                <a16:creationId xmlns:a16="http://schemas.microsoft.com/office/drawing/2014/main" id="{712C166E-DBCC-4996-8C16-229A3622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483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观点形成材料</a:t>
            </a:r>
          </a:p>
        </p:txBody>
      </p:sp>
      <p:sp>
        <p:nvSpPr>
          <p:cNvPr id="12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5B1E080F-3FC1-43F1-A5FD-3C3A3552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3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27167BDE-E2A1-4A65-A01B-A3964C49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4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99038F58-554A-4C00-B5F4-909B2372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4  材料审核</a:t>
            </a:r>
          </a:p>
        </p:txBody>
      </p:sp>
      <p:sp>
        <p:nvSpPr>
          <p:cNvPr id="15" name="!!task.review.outcome">
            <a:extLst xmlns:a="http://schemas.openxmlformats.org/drawingml/2006/main">
              <a:ext uri="{FF2B5EF4-FFF2-40B4-BE49-F238E27FC236}">
                <a16:creationId xmlns:a16="http://schemas.microsoft.com/office/drawing/2014/main" id="{BF1B4F02-C35B-4F36-BE35-28DECDBB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意见定位原文</a:t>
            </a:r>
          </a:p>
        </p:txBody>
      </p:sp>
      <p:sp>
        <p:nvSpPr>
          <p:cNvPr id="16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83262F2E-FAA2-4480-91FD-A1B04269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5  风险分析</a:t>
            </a:r>
          </a:p>
        </p:txBody>
      </p:sp>
      <p:sp>
        <p:nvSpPr>
          <p:cNvPr id="17" name="!!task.risk.outcome">
            <a:extLst xmlns:a="http://schemas.openxmlformats.org/drawingml/2006/main">
              <a:ext uri="{FF2B5EF4-FFF2-40B4-BE49-F238E27FC236}">
                <a16:creationId xmlns:a16="http://schemas.microsoft.com/office/drawing/2014/main" id="{3BB09167-6D0A-4749-830A-CEAE91BB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事件连接持仓</a:t>
            </a:r>
          </a:p>
        </p:txBody>
      </p:sp>
      <p:sp>
        <p:nvSpPr>
          <p:cNvPr id="18" name="!!map.back">
            <a:extLst xmlns:a="http://schemas.openxmlformats.org/drawingml/2006/main">
              <a:ext uri="{FF2B5EF4-FFF2-40B4-BE49-F238E27FC236}">
                <a16:creationId xmlns:a16="http://schemas.microsoft.com/office/drawing/2014/main" id="{A73C3820-A066-4E55-90BB-C5ED50B3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9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FE900F62-5C33-42E7-B15E-9F248893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20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E0D93BF-9173-4D7A-BBC2-BE25EEC9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6  运营文件</a:t>
            </a:r>
          </a:p>
        </p:txBody>
      </p:sp>
      <p:sp>
        <p:nvSpPr>
          <p:cNvPr id="21" name="!!task.files.outcome">
            <a:extLst xmlns:a="http://schemas.openxmlformats.org/drawingml/2006/main">
              <a:ext uri="{FF2B5EF4-FFF2-40B4-BE49-F238E27FC236}">
                <a16:creationId xmlns:a16="http://schemas.microsoft.com/office/drawing/2014/main" id="{CFE9362C-36EC-442D-B54E-418F6346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文件形成记录</a:t>
            </a:r>
          </a:p>
        </p:txBody>
      </p:sp>
      <p:sp>
        <p:nvSpPr>
          <p:cNvPr id="22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564044BB-23BE-4685-AF69-C6045E8A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7  工具开发</a:t>
            </a:r>
          </a:p>
        </p:txBody>
      </p:sp>
      <p:sp>
        <p:nvSpPr>
          <p:cNvPr id="23" name="!!task.dev.outcome">
            <a:extLst xmlns:a="http://schemas.openxmlformats.org/drawingml/2006/main">
              <a:ext uri="{FF2B5EF4-FFF2-40B4-BE49-F238E27FC236}">
                <a16:creationId xmlns:a16="http://schemas.microsoft.com/office/drawing/2014/main" id="{0CBD1F1E-2802-4100-844F-7CF85EE8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需求形成工具</a:t>
            </a:r>
          </a:p>
        </p:txBody>
      </p:sp>
      <p:sp>
        <p:nvSpPr>
          <p:cNvPr id="24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EDC04957-F597-4CFF-8D97-61239811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5" name="!!page">
            <a:extLst xmlns:a="http://schemas.openxmlformats.org/drawingml/2006/main">
              <a:ext uri="{FF2B5EF4-FFF2-40B4-BE49-F238E27FC236}">
                <a16:creationId xmlns:a16="http://schemas.microsoft.com/office/drawing/2014/main" id="{8DDE205C-41F5-43C5-BB31-9BA91813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3 / 33</a:t>
            </a:r>
          </a:p>
        </p:txBody>
      </p:sp>
      <p:sp>
        <p:nvSpPr>
          <p:cNvPr id="26" name="!!nav.prev">
            <ns0:hlinkClick xmlns:ns0="http://schemas.openxmlformats.org/drawingml/2006/main" xmlns:ns1="http://schemas.openxmlformats.org/officeDocument/2006/relationships" ns1:id="rIdNavSlide2" action="ppaction://hlinksldjump" tooltip="第2页  研究重点与应用目标"/>
            <a:extLst xmlns:a="http://schemas.openxmlformats.org/drawingml/2006/main">
              <a:ext uri="{FF2B5EF4-FFF2-40B4-BE49-F238E27FC236}">
                <a16:creationId xmlns:a16="http://schemas.microsoft.com/office/drawing/2014/main" id="{DA1D4831-D203-4683-BC86-9A97A081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7" name="!!nav.nex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A12AF3D2-3D48-4421-908E-321892CC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8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469537C7-1AE9-4699-9A8E-FC9DF2BE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9" name="!!source">
            <a:extLst xmlns:a="http://schemas.openxmlformats.org/drawingml/2006/main">
              <a:ext uri="{FF2B5EF4-FFF2-40B4-BE49-F238E27FC236}">
                <a16:creationId xmlns:a16="http://schemas.microsoft.com/office/drawing/2014/main" id="{63899454-8617-464C-9D03-258ED392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" name="!!map.route.title">
            <a:extLst xmlns:a="http://schemas.openxmlformats.org/drawingml/2006/main">
              <a:ext uri="{FF2B5EF4-FFF2-40B4-BE49-F238E27FC236}">
                <a16:creationId xmlns:a16="http://schemas.microsoft.com/office/drawing/2014/main" id="{A79B3D95-F628-4914-A0B8-33CD74C4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两条贯穿任务</a:t>
            </a:r>
          </a:p>
        </p:txBody>
      </p:sp>
      <p:sp>
        <p:nvSpPr>
          <p:cNvPr id="31" name="!!map.route1">
            <a:extLst xmlns:a="http://schemas.openxmlformats.org/drawingml/2006/main">
              <a:ext uri="{FF2B5EF4-FFF2-40B4-BE49-F238E27FC236}">
                <a16:creationId xmlns:a16="http://schemas.microsoft.com/office/drawing/2014/main" id="{02B82B35-72C3-4794-9FC9-B9BCF68F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6753225"/>
            <a:ext cx="676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17F7B"/>
            </a:solidFill>
            <a:prstDash val="solid"/>
          </a:ln>
        </p:spPr>
      </p:sp>
      <p:sp>
        <p:nvSpPr>
          <p:cNvPr id="32" name="!!map.route1.text">
            <a:extLst xmlns:a="http://schemas.openxmlformats.org/drawingml/2006/main">
              <a:ext uri="{FF2B5EF4-FFF2-40B4-BE49-F238E27FC236}">
                <a16:creationId xmlns:a16="http://schemas.microsoft.com/office/drawing/2014/main" id="{CF37D652-0A83-4D19-88C6-E7076FF1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5151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甲公司：研究、交易、风险与运营</a:t>
            </a:r>
          </a:p>
        </p:txBody>
      </p:sp>
      <p:sp>
        <p:nvSpPr>
          <p:cNvPr id="33" name="!!map.route2">
            <a:extLst xmlns:a="http://schemas.openxmlformats.org/drawingml/2006/main">
              <a:ext uri="{FF2B5EF4-FFF2-40B4-BE49-F238E27FC236}">
                <a16:creationId xmlns:a16="http://schemas.microsoft.com/office/drawing/2014/main" id="{6F0633BE-CC92-4C31-8A39-B74C099B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7239000"/>
            <a:ext cx="676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363A6"/>
            </a:solidFill>
            <a:prstDash val="solid"/>
          </a:ln>
        </p:spPr>
      </p:sp>
      <p:sp>
        <p:nvSpPr>
          <p:cNvPr id="34" name="!!map.route2.text">
            <a:extLst xmlns:a="http://schemas.openxmlformats.org/drawingml/2006/main">
              <a:ext uri="{FF2B5EF4-FFF2-40B4-BE49-F238E27FC236}">
                <a16:creationId xmlns:a16="http://schemas.microsoft.com/office/drawing/2014/main" id="{BA8B17A8-E875-4D5B-A1EE-F10B8A0C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70008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客户沟通稿：生成、审核、版本更新</a:t>
            </a:r>
          </a:p>
        </p:txBody>
      </p:sp>
    </p:spTree>
    <p:extLst>
      <p:ext uri="{BB962C8B-B14F-4D97-AF65-F5344CB8AC3E}">
        <p14:creationId xmlns:p14="http://schemas.microsoft.com/office/powerpoint/2010/main" val="771800723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!!heading">
            <a:extLst xmlns:a="http://schemas.openxmlformats.org/drawingml/2006/main">
              <a:ext uri="{FF2B5EF4-FFF2-40B4-BE49-F238E27FC236}">
                <a16:creationId xmlns:a16="http://schemas.microsoft.com/office/drawing/2014/main" id="{EE8AB1D0-CF4B-4697-8887-1BD44DFD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公司研究的工作过程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E805F940-4D54-4422-AA06-DFEA32B9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63D7C7B0-2830-4DE1-9781-49334C14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B24866A2-62E5-45EB-8629-43C83A3F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7F1CACC1-350D-468C-926E-CF0173EF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E7EEBC51-08BD-4F35-BB28-536657F8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46FB5705-D43F-4244-A55B-B95712A3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FE4C9E84-A9A5-4284-A464-3C5F3502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69CC2F19-E9F1-4DEF-B195-EA798F36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4A864F5-3E7E-422C-8F5C-F9B380F1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E38B958F-5C86-4EF4-A455-829C825A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3D586021-3E26-49D6-8B03-10DDCEEA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5D3FDE7C-44CA-4BED-88B3-7F391DF3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69CCC163-62BC-4147-8D08-B0B2F13C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B84075D-3C3B-400A-9E01-39538195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2AFCB9C1-3AB7-4F6E-B0BE-E359AE9A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B493CB59-88CB-4ED8-A0BC-6878F7A8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F56F76EC-F3B9-46DB-AD65-C0FBF9C0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122D4FDA-EBE1-48CB-8C0E-6DD4B6F2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64574127-389E-4823-837D-B92E1AE5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4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45188E67-127E-4C9A-AF9B-0D17A53F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5" action="ppaction://hlinksldjump" tooltip="第5页  天弘基金的财报分析流程"/>
            <a:extLst xmlns:a="http://schemas.openxmlformats.org/drawingml/2006/main">
              <a:ext uri="{FF2B5EF4-FFF2-40B4-BE49-F238E27FC236}">
                <a16:creationId xmlns:a16="http://schemas.microsoft.com/office/drawing/2014/main" id="{0674680D-8535-46F0-9A1D-CB6004D5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C25EA9DB-8FF9-4709-BE5C-B568C893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60AC1110-CDC4-465D-A606-4CC82168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issuer.A">
            <a:extLst xmlns:a="http://schemas.openxmlformats.org/drawingml/2006/main">
              <a:ext uri="{FF2B5EF4-FFF2-40B4-BE49-F238E27FC236}">
                <a16:creationId xmlns:a16="http://schemas.microsoft.com/office/drawing/2014/main" id="{95509BAC-73F0-4B2F-B7B1-84FB216D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288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甲公司本季度发生了什么变化？</a:t>
            </a:r>
          </a:p>
        </p:txBody>
      </p:sp>
      <p:sp>
        <p:nvSpPr>
          <p:cNvPr id="26" name="!!research.question">
            <a:extLst xmlns:a="http://schemas.openxmlformats.org/drawingml/2006/main">
              <a:ext uri="{FF2B5EF4-FFF2-40B4-BE49-F238E27FC236}">
                <a16:creationId xmlns:a16="http://schemas.microsoft.com/office/drawing/2014/main" id="{11A2F468-2E56-412A-B1AF-0647A617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336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经营原因是什么，各方怎样解释</a:t>
            </a:r>
          </a:p>
        </p:txBody>
      </p:sp>
      <p:sp>
        <p:nvSpPr>
          <p:cNvPr id="27" name="!!input.financial">
            <a:extLst xmlns:a="http://schemas.openxmlformats.org/drawingml/2006/main">
              <a:ext uri="{FF2B5EF4-FFF2-40B4-BE49-F238E27FC236}">
                <a16:creationId xmlns:a16="http://schemas.microsoft.com/office/drawing/2014/main" id="{917E2F63-06F4-40D1-A00F-99B137A5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57550"/>
            <a:ext cx="3333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8" name="!!input.financial.title">
            <a:extLst xmlns:a="http://schemas.openxmlformats.org/drawingml/2006/main">
              <a:ext uri="{FF2B5EF4-FFF2-40B4-BE49-F238E27FC236}">
                <a16:creationId xmlns:a16="http://schemas.microsoft.com/office/drawing/2014/main" id="{819F9113-F469-482E-91F8-0A8AED88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4480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财报</a:t>
            </a:r>
          </a:p>
        </p:txBody>
      </p:sp>
      <p:sp>
        <p:nvSpPr>
          <p:cNvPr id="29" name="!!input.financial.rule">
            <a:extLst xmlns:a="http://schemas.openxmlformats.org/drawingml/2006/main">
              <a:ext uri="{FF2B5EF4-FFF2-40B4-BE49-F238E27FC236}">
                <a16:creationId xmlns:a16="http://schemas.microsoft.com/office/drawing/2014/main" id="{1102378E-8F20-4EFD-BE69-90B4FF20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95775" y="3981450"/>
            <a:ext cx="2857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0" name="!!input.financial.label0">
            <a:extLst xmlns:a="http://schemas.openxmlformats.org/drawingml/2006/main">
              <a:ext uri="{FF2B5EF4-FFF2-40B4-BE49-F238E27FC236}">
                <a16:creationId xmlns:a16="http://schemas.microsoft.com/office/drawing/2014/main" id="{643585AC-381C-4D1F-B5DF-450AD8F8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171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收入、成本、费用</a:t>
            </a:r>
          </a:p>
        </p:txBody>
      </p:sp>
      <p:sp>
        <p:nvSpPr>
          <p:cNvPr id="31" name="!!input.financial.value0">
            <a:extLst xmlns:a="http://schemas.openxmlformats.org/drawingml/2006/main">
              <a:ext uri="{FF2B5EF4-FFF2-40B4-BE49-F238E27FC236}">
                <a16:creationId xmlns:a16="http://schemas.microsoft.com/office/drawing/2014/main" id="{7E90FDE4-3C43-4A96-9B51-2FBE88EB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543425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!!input.reports">
            <a:extLst xmlns:a="http://schemas.openxmlformats.org/drawingml/2006/main">
              <a:ext uri="{FF2B5EF4-FFF2-40B4-BE49-F238E27FC236}">
                <a16:creationId xmlns:a16="http://schemas.microsoft.com/office/drawing/2014/main" id="{BD289933-C7B1-473B-93C1-9BAE0A57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57550"/>
            <a:ext cx="3333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33" name="!!input.reports.title">
            <a:extLst xmlns:a="http://schemas.openxmlformats.org/drawingml/2006/main">
              <a:ext uri="{FF2B5EF4-FFF2-40B4-BE49-F238E27FC236}">
                <a16:creationId xmlns:a16="http://schemas.microsoft.com/office/drawing/2014/main" id="{336EC9D7-45C4-4781-BED9-59067CDD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4480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券商研报</a:t>
            </a:r>
          </a:p>
        </p:txBody>
      </p:sp>
      <p:sp>
        <p:nvSpPr>
          <p:cNvPr id="34" name="!!input.reports.rule">
            <a:extLst xmlns:a="http://schemas.openxmlformats.org/drawingml/2006/main">
              <a:ext uri="{FF2B5EF4-FFF2-40B4-BE49-F238E27FC236}">
                <a16:creationId xmlns:a16="http://schemas.microsoft.com/office/drawing/2014/main" id="{ABA73B5E-1197-4A0A-B775-632066FB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96225" y="3981450"/>
            <a:ext cx="2857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5" name="!!input.reports.label0">
            <a:extLst xmlns:a="http://schemas.openxmlformats.org/drawingml/2006/main">
              <a:ext uri="{FF2B5EF4-FFF2-40B4-BE49-F238E27FC236}">
                <a16:creationId xmlns:a16="http://schemas.microsoft.com/office/drawing/2014/main" id="{72CE0DE5-EE99-456D-A816-AAF2087E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171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增长判断与关注点</a:t>
            </a:r>
          </a:p>
        </p:txBody>
      </p:sp>
      <p:sp>
        <p:nvSpPr>
          <p:cNvPr id="36" name="!!input.reports.value0">
            <a:extLst xmlns:a="http://schemas.openxmlformats.org/drawingml/2006/main">
              <a:ext uri="{FF2B5EF4-FFF2-40B4-BE49-F238E27FC236}">
                <a16:creationId xmlns:a16="http://schemas.microsoft.com/office/drawing/2014/main" id="{807DCB16-CB14-486F-9530-CAC5F495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43425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" name="!!input.meeting">
            <a:extLst xmlns:a="http://schemas.openxmlformats.org/drawingml/2006/main">
              <a:ext uri="{FF2B5EF4-FFF2-40B4-BE49-F238E27FC236}">
                <a16:creationId xmlns:a16="http://schemas.microsoft.com/office/drawing/2014/main" id="{4DD6BA72-DE94-4A24-831A-64A91DD2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57550"/>
            <a:ext cx="3333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38" name="!!input.meeting.title">
            <a:extLst xmlns:a="http://schemas.openxmlformats.org/drawingml/2006/main">
              <a:ext uri="{FF2B5EF4-FFF2-40B4-BE49-F238E27FC236}">
                <a16:creationId xmlns:a16="http://schemas.microsoft.com/office/drawing/2014/main" id="{800C7B3F-94B0-4ED5-9B4C-A70CF517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34480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会议资料</a:t>
            </a:r>
          </a:p>
        </p:txBody>
      </p:sp>
      <p:sp>
        <p:nvSpPr>
          <p:cNvPr id="39" name="!!input.meeting.rule">
            <a:extLst xmlns:a="http://schemas.openxmlformats.org/drawingml/2006/main">
              <a:ext uri="{FF2B5EF4-FFF2-40B4-BE49-F238E27FC236}">
                <a16:creationId xmlns:a16="http://schemas.microsoft.com/office/drawing/2014/main" id="{EDA163E7-4353-4C07-B0BE-1CBCC1C6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96675" y="3981450"/>
            <a:ext cx="2857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40" name="!!input.meeting.label0">
            <a:extLst xmlns:a="http://schemas.openxmlformats.org/drawingml/2006/main">
              <a:ext uri="{FF2B5EF4-FFF2-40B4-BE49-F238E27FC236}">
                <a16:creationId xmlns:a16="http://schemas.microsoft.com/office/drawing/2014/main" id="{4564DD04-87F8-4D05-B3D6-BA6FBCCF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4171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订单、渠道与经营解释</a:t>
            </a:r>
          </a:p>
        </p:txBody>
      </p:sp>
      <p:sp>
        <p:nvSpPr>
          <p:cNvPr id="41" name="!!input.meeting.value0">
            <a:extLst xmlns:a="http://schemas.openxmlformats.org/drawingml/2006/main">
              <a:ext uri="{FF2B5EF4-FFF2-40B4-BE49-F238E27FC236}">
                <a16:creationId xmlns:a16="http://schemas.microsoft.com/office/drawing/2014/main" id="{983B0964-81B5-4B3A-8C29-3E4E3729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4543425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2" name="!!research.workflow.0">
            <a:extLst xmlns:a="http://schemas.openxmlformats.org/drawingml/2006/main">
              <a:ext uri="{FF2B5EF4-FFF2-40B4-BE49-F238E27FC236}">
                <a16:creationId xmlns:a16="http://schemas.microsoft.com/office/drawing/2014/main" id="{3C11A5BF-1202-465E-BD1E-B5C41985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410200"/>
            <a:ext cx="2383631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检索资料</a:t>
            </a:r>
          </a:p>
        </p:txBody>
      </p:sp>
      <p:sp>
        <p:nvSpPr>
          <p:cNvPr id="43" name="!!research.workflow.link0.line">
            <a:extLst xmlns:a="http://schemas.openxmlformats.org/drawingml/2006/main">
              <a:ext uri="{FF2B5EF4-FFF2-40B4-BE49-F238E27FC236}">
                <a16:creationId xmlns:a16="http://schemas.microsoft.com/office/drawing/2014/main" id="{80138B5E-8941-4992-9B77-FB0AB82B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9381" y="58483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4" name="!!research.workflow.link0.tip">
            <a:extLst xmlns:a="http://schemas.openxmlformats.org/drawingml/2006/main">
              <a:ext uri="{FF2B5EF4-FFF2-40B4-BE49-F238E27FC236}">
                <a16:creationId xmlns:a16="http://schemas.microsoft.com/office/drawing/2014/main" id="{D881BB16-CF54-4B26-9A1D-3868F8F3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31781" y="57912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5" name="!!research.workflow.1">
            <a:extLst xmlns:a="http://schemas.openxmlformats.org/drawingml/2006/main">
              <a:ext uri="{FF2B5EF4-FFF2-40B4-BE49-F238E27FC236}">
                <a16:creationId xmlns:a16="http://schemas.microsoft.com/office/drawing/2014/main" id="{117FE32C-8F91-4808-87B5-A6DD122D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656" y="5410200"/>
            <a:ext cx="2383631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提取与计算</a:t>
            </a:r>
          </a:p>
        </p:txBody>
      </p:sp>
      <p:sp>
        <p:nvSpPr>
          <p:cNvPr id="46" name="!!research.workflow.link1.line">
            <a:extLst xmlns:a="http://schemas.openxmlformats.org/drawingml/2006/main">
              <a:ext uri="{FF2B5EF4-FFF2-40B4-BE49-F238E27FC236}">
                <a16:creationId xmlns:a16="http://schemas.microsoft.com/office/drawing/2014/main" id="{DDDD5F8F-549C-46E3-8B6F-2CB2FA5B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96388" y="58483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7" name="!!research.workflow.link1.tip">
            <a:extLst xmlns:a="http://schemas.openxmlformats.org/drawingml/2006/main">
              <a:ext uri="{FF2B5EF4-FFF2-40B4-BE49-F238E27FC236}">
                <a16:creationId xmlns:a16="http://schemas.microsoft.com/office/drawing/2014/main" id="{833FAE74-4CE7-48D0-BB78-8947174E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48788" y="57912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8" name="!!research.workflow.2">
            <a:extLst xmlns:a="http://schemas.openxmlformats.org/drawingml/2006/main">
              <a:ext uri="{FF2B5EF4-FFF2-40B4-BE49-F238E27FC236}">
                <a16:creationId xmlns:a16="http://schemas.microsoft.com/office/drawing/2014/main" id="{5E5FA1B5-668B-48BA-A65F-6A6AE203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663" y="5410200"/>
            <a:ext cx="2383631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比较观点</a:t>
            </a:r>
          </a:p>
        </p:txBody>
      </p:sp>
      <p:sp>
        <p:nvSpPr>
          <p:cNvPr id="49" name="!!research.workflow.link2.line">
            <a:extLst xmlns:a="http://schemas.openxmlformats.org/drawingml/2006/main">
              <a:ext uri="{FF2B5EF4-FFF2-40B4-BE49-F238E27FC236}">
                <a16:creationId xmlns:a16="http://schemas.microsoft.com/office/drawing/2014/main" id="{163CBA6D-FF2E-4DCD-B583-6D00CB72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13394" y="58483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0" name="!!research.workflow.link2.tip">
            <a:extLst xmlns:a="http://schemas.openxmlformats.org/drawingml/2006/main">
              <a:ext uri="{FF2B5EF4-FFF2-40B4-BE49-F238E27FC236}">
                <a16:creationId xmlns:a16="http://schemas.microsoft.com/office/drawing/2014/main" id="{7FD3ADA8-E320-44BC-8F08-B7EDBAA1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065794" y="57912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1" name="!!research.workflow.3">
            <a:extLst xmlns:a="http://schemas.openxmlformats.org/drawingml/2006/main">
              <a:ext uri="{FF2B5EF4-FFF2-40B4-BE49-F238E27FC236}">
                <a16:creationId xmlns:a16="http://schemas.microsoft.com/office/drawing/2014/main" id="{F45DB0B2-98BC-42D9-A62A-7DCAD9FD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8669" y="5410200"/>
            <a:ext cx="2383631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形成分析</a:t>
            </a:r>
          </a:p>
        </p:txBody>
      </p:sp>
      <p:sp>
        <p:nvSpPr>
          <p:cNvPr id="52" name="!!research.result">
            <a:extLst xmlns:a="http://schemas.openxmlformats.org/drawingml/2006/main">
              <a:ext uri="{FF2B5EF4-FFF2-40B4-BE49-F238E27FC236}">
                <a16:creationId xmlns:a16="http://schemas.microsoft.com/office/drawing/2014/main" id="{D22B3E63-369E-4262-A9FC-1CB77359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705600"/>
            <a:ext cx="57531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公司分析与研究要素表</a:t>
            </a:r>
          </a:p>
        </p:txBody>
      </p:sp>
    </p:spTree>
    <p:extLst>
      <p:ext uri="{BB962C8B-B14F-4D97-AF65-F5344CB8AC3E}">
        <p14:creationId xmlns:p14="http://schemas.microsoft.com/office/powerpoint/2010/main" val="424486484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!!heading">
            <a:extLst xmlns:a="http://schemas.openxmlformats.org/drawingml/2006/main">
              <a:ext uri="{FF2B5EF4-FFF2-40B4-BE49-F238E27FC236}">
                <a16:creationId xmlns:a16="http://schemas.microsoft.com/office/drawing/2014/main" id="{D6E16080-6806-4D6B-BC22-D3C9F140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天弘基金的财报分析流程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57FEF823-4DB9-4351-92C1-F551E9EC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EE31377A-BE89-40F2-97EA-03E3F4FA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A5C07270-BEC4-4D2B-922E-DBB167B5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DAB3FBF4-C845-429E-8772-CD4D0315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15A962A6-EEC1-475D-977F-08B0B2AD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3398EBE1-E45F-4033-8E8D-9588413E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161C9607-2449-467C-8F15-227FF282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CBBA028F-AB79-41DB-B480-CF6CACFC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F0B5F0E2-53D6-42DE-A6C6-3BBE8B44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779F4365-0A36-46AE-8307-327B3599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6543EF94-93DC-420A-9303-64FC1D37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2779239C-3B18-46CF-B21F-C34BE492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16AB6206-AFFC-4DF0-B7AC-30898DDE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092C4ED-F1FB-4B08-AE17-548FF049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7C0CC4F6-BF4F-44FD-9596-562E0195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332D78E3-001A-4C6B-9E67-8570751B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D301C587-A390-4DCC-A942-4D5FEDEE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E3C1CC7D-ACDF-4285-B0AC-B863A00A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5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2589EFF3-B57A-4FB4-BD5B-7EF4A797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6" action="ppaction://hlinksldjump" tooltip="第6页  富国基金的研报观点汇总"/>
            <a:extLst xmlns:a="http://schemas.openxmlformats.org/drawingml/2006/main">
              <a:ext uri="{FF2B5EF4-FFF2-40B4-BE49-F238E27FC236}">
                <a16:creationId xmlns:a16="http://schemas.microsoft.com/office/drawing/2014/main" id="{B4B645B8-B19C-40AE-A0DB-5B37D0C6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42D31B95-3691-447A-89C5-1417854C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C8360F50-FD52-4E92-B2F1-0E16233F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</a:t>
            </a:r>
          </a:p>
        </p:txBody>
      </p:sp>
      <p:sp>
        <p:nvSpPr>
          <p:cNvPr id="24" name="!!issuer.A">
            <a:extLst xmlns:a="http://schemas.openxmlformats.org/drawingml/2006/main">
              <a:ext uri="{FF2B5EF4-FFF2-40B4-BE49-F238E27FC236}">
                <a16:creationId xmlns:a16="http://schemas.microsoft.com/office/drawing/2014/main" id="{52452762-F91F-4451-B9A8-EF96DCF8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288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盈利变化按经营因素逐层展开</a:t>
            </a:r>
          </a:p>
        </p:txBody>
      </p:sp>
      <p:sp>
        <p:nvSpPr>
          <p:cNvPr id="25" name="!!driver.root">
            <a:extLst xmlns:a="http://schemas.openxmlformats.org/drawingml/2006/main">
              <a:ext uri="{FF2B5EF4-FFF2-40B4-BE49-F238E27FC236}">
                <a16:creationId xmlns:a16="http://schemas.microsoft.com/office/drawing/2014/main" id="{4601AEFC-C04D-467D-AB19-9B643273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9575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净利润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变化</a:t>
            </a:r>
          </a:p>
        </p:txBody>
      </p:sp>
      <p:sp>
        <p:nvSpPr>
          <p:cNvPr id="26" name="!!driver.revenue.node">
            <a:extLst xmlns:a="http://schemas.openxmlformats.org/drawingml/2006/main">
              <a:ext uri="{FF2B5EF4-FFF2-40B4-BE49-F238E27FC236}">
                <a16:creationId xmlns:a16="http://schemas.microsoft.com/office/drawing/2014/main" id="{7B964F0B-4270-4075-9597-22F94D4E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38475"/>
            <a:ext cx="16954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收入</a:t>
            </a:r>
          </a:p>
        </p:txBody>
      </p:sp>
      <p:sp>
        <p:nvSpPr>
          <p:cNvPr id="27" name="!!driver.revenue.factor">
            <a:extLst xmlns:a="http://schemas.openxmlformats.org/drawingml/2006/main">
              <a:ext uri="{FF2B5EF4-FFF2-40B4-BE49-F238E27FC236}">
                <a16:creationId xmlns:a16="http://schemas.microsoft.com/office/drawing/2014/main" id="{4E8635F4-FEC6-496A-B4CA-07A91DFC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38475"/>
            <a:ext cx="34194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销量、单价</a:t>
            </a:r>
          </a:p>
        </p:txBody>
      </p:sp>
      <p:sp>
        <p:nvSpPr>
          <p:cNvPr id="28" name="!!driver.revenue.branch.1">
            <a:extLst xmlns:a="http://schemas.openxmlformats.org/drawingml/2006/main">
              <a:ext uri="{FF2B5EF4-FFF2-40B4-BE49-F238E27FC236}">
                <a16:creationId xmlns:a16="http://schemas.microsoft.com/office/drawing/2014/main" id="{75485ADE-89B9-4A41-8A0B-6A393FC6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4619625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29" name="!!driver.revenue.branch.2">
            <a:extLst xmlns:a="http://schemas.openxmlformats.org/drawingml/2006/main">
              <a:ext uri="{FF2B5EF4-FFF2-40B4-BE49-F238E27FC236}">
                <a16:creationId xmlns:a16="http://schemas.microsoft.com/office/drawing/2014/main" id="{ABFFBD96-5E62-40FB-A5DC-81F5E064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96025" y="3400425"/>
            <a:ext cx="953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0" name="!!driver.revenue.branch.3.line">
            <a:extLst xmlns:a="http://schemas.openxmlformats.org/drawingml/2006/main">
              <a:ext uri="{FF2B5EF4-FFF2-40B4-BE49-F238E27FC236}">
                <a16:creationId xmlns:a16="http://schemas.microsoft.com/office/drawing/2014/main" id="{C232BE71-3A29-4088-B3E7-5167ED70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340042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1" name="!!driver.revenue.branch.3.tip">
            <a:extLst xmlns:a="http://schemas.openxmlformats.org/drawingml/2006/main">
              <a:ext uri="{FF2B5EF4-FFF2-40B4-BE49-F238E27FC236}">
                <a16:creationId xmlns:a16="http://schemas.microsoft.com/office/drawing/2014/main" id="{E0452C9C-628D-42BE-9B56-5791FE46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29425" y="33432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2" name="!!driver.revenue.link.line">
            <a:extLst xmlns:a="http://schemas.openxmlformats.org/drawingml/2006/main">
              <a:ext uri="{FF2B5EF4-FFF2-40B4-BE49-F238E27FC236}">
                <a16:creationId xmlns:a16="http://schemas.microsoft.com/office/drawing/2014/main" id="{55519907-8906-4BB0-8F69-1A3C0F80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48700" y="3400425"/>
            <a:ext cx="923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3" name="!!driver.revenue.link.tip">
            <a:extLst xmlns:a="http://schemas.openxmlformats.org/drawingml/2006/main">
              <a:ext uri="{FF2B5EF4-FFF2-40B4-BE49-F238E27FC236}">
                <a16:creationId xmlns:a16="http://schemas.microsoft.com/office/drawing/2014/main" id="{C7F51415-267F-4041-8B40-35145D81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15475" y="33432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4" name="!!driver.cost.node">
            <a:extLst xmlns:a="http://schemas.openxmlformats.org/drawingml/2006/main">
              <a:ext uri="{FF2B5EF4-FFF2-40B4-BE49-F238E27FC236}">
                <a16:creationId xmlns:a16="http://schemas.microsoft.com/office/drawing/2014/main" id="{B3A3A160-529C-4E8B-A3FB-3D53659E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419600"/>
            <a:ext cx="16954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成本</a:t>
            </a:r>
          </a:p>
        </p:txBody>
      </p:sp>
      <p:sp>
        <p:nvSpPr>
          <p:cNvPr id="35" name="!!driver.cost.factor">
            <a:extLst xmlns:a="http://schemas.openxmlformats.org/drawingml/2006/main">
              <a:ext uri="{FF2B5EF4-FFF2-40B4-BE49-F238E27FC236}">
                <a16:creationId xmlns:a16="http://schemas.microsoft.com/office/drawing/2014/main" id="{7FD33604-7FA0-4503-ADAF-01E61996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419600"/>
            <a:ext cx="34194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原材料、生产成本</a:t>
            </a:r>
          </a:p>
        </p:txBody>
      </p:sp>
      <p:sp>
        <p:nvSpPr>
          <p:cNvPr id="36" name="!!driver.cost.branch.1">
            <a:extLst xmlns:a="http://schemas.openxmlformats.org/drawingml/2006/main">
              <a:ext uri="{FF2B5EF4-FFF2-40B4-BE49-F238E27FC236}">
                <a16:creationId xmlns:a16="http://schemas.microsoft.com/office/drawing/2014/main" id="{AAC73D5F-1001-4EA3-864A-F428FB96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4619625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7" name="!!driver.cost.branch.2">
            <a:extLst xmlns:a="http://schemas.openxmlformats.org/drawingml/2006/main">
              <a:ext uri="{FF2B5EF4-FFF2-40B4-BE49-F238E27FC236}">
                <a16:creationId xmlns:a16="http://schemas.microsoft.com/office/drawing/2014/main" id="{FDE1084D-5122-4AFD-9235-4EFD10D5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4619625"/>
            <a:ext cx="953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8" name="!!driver.cost.branch.3.line">
            <a:extLst xmlns:a="http://schemas.openxmlformats.org/drawingml/2006/main">
              <a:ext uri="{FF2B5EF4-FFF2-40B4-BE49-F238E27FC236}">
                <a16:creationId xmlns:a16="http://schemas.microsoft.com/office/drawing/2014/main" id="{C6C79E2B-5C09-499A-814A-C737DB4B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4781550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driver.cost.branch.3.tip">
            <a:extLst xmlns:a="http://schemas.openxmlformats.org/drawingml/2006/main">
              <a:ext uri="{FF2B5EF4-FFF2-40B4-BE49-F238E27FC236}">
                <a16:creationId xmlns:a16="http://schemas.microsoft.com/office/drawing/2014/main" id="{3BAB625D-41CF-4BAF-B578-3CA50D0B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29425" y="4724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driver.cost.link.line">
            <a:extLst xmlns:a="http://schemas.openxmlformats.org/drawingml/2006/main">
              <a:ext uri="{FF2B5EF4-FFF2-40B4-BE49-F238E27FC236}">
                <a16:creationId xmlns:a16="http://schemas.microsoft.com/office/drawing/2014/main" id="{2A23DA75-CE0E-4744-B7FF-36C6593E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48700" y="4781550"/>
            <a:ext cx="923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1" name="!!driver.cost.link.tip">
            <a:extLst xmlns:a="http://schemas.openxmlformats.org/drawingml/2006/main">
              <a:ext uri="{FF2B5EF4-FFF2-40B4-BE49-F238E27FC236}">
                <a16:creationId xmlns:a16="http://schemas.microsoft.com/office/drawing/2014/main" id="{551047BE-B7DB-4708-9C1E-389E146B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15475" y="4724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2" name="!!driver.expense.node">
            <a:extLst xmlns:a="http://schemas.openxmlformats.org/drawingml/2006/main">
              <a:ext uri="{FF2B5EF4-FFF2-40B4-BE49-F238E27FC236}">
                <a16:creationId xmlns:a16="http://schemas.microsoft.com/office/drawing/2014/main" id="{39689607-6612-41A6-B947-93BCBF90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800725"/>
            <a:ext cx="16954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费用</a:t>
            </a:r>
          </a:p>
        </p:txBody>
      </p:sp>
      <p:sp>
        <p:nvSpPr>
          <p:cNvPr id="43" name="!!driver.expense.factor">
            <a:extLst xmlns:a="http://schemas.openxmlformats.org/drawingml/2006/main">
              <a:ext uri="{FF2B5EF4-FFF2-40B4-BE49-F238E27FC236}">
                <a16:creationId xmlns:a16="http://schemas.microsoft.com/office/drawing/2014/main" id="{53E4FE05-E8EF-4154-BD2B-C4B3B163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800725"/>
            <a:ext cx="34194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渠道、销售费用</a:t>
            </a:r>
          </a:p>
        </p:txBody>
      </p:sp>
      <p:sp>
        <p:nvSpPr>
          <p:cNvPr id="44" name="!!driver.expense.branch.1">
            <a:extLst xmlns:a="http://schemas.openxmlformats.org/drawingml/2006/main">
              <a:ext uri="{FF2B5EF4-FFF2-40B4-BE49-F238E27FC236}">
                <a16:creationId xmlns:a16="http://schemas.microsoft.com/office/drawing/2014/main" id="{1E9194A8-CB32-4BEC-9F6D-DFCD8282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4619625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5" name="!!driver.expense.branch.2">
            <a:extLst xmlns:a="http://schemas.openxmlformats.org/drawingml/2006/main">
              <a:ext uri="{FF2B5EF4-FFF2-40B4-BE49-F238E27FC236}">
                <a16:creationId xmlns:a16="http://schemas.microsoft.com/office/drawing/2014/main" id="{8195A3F5-C924-4F5B-97BE-A75032CE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4619625"/>
            <a:ext cx="953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6" name="!!driver.expense.branch.3.line">
            <a:extLst xmlns:a="http://schemas.openxmlformats.org/drawingml/2006/main">
              <a:ext uri="{FF2B5EF4-FFF2-40B4-BE49-F238E27FC236}">
                <a16:creationId xmlns:a16="http://schemas.microsoft.com/office/drawing/2014/main" id="{08AB52B7-4DC4-4E61-AF5A-0CA1CFBD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616267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7" name="!!driver.expense.branch.3.tip">
            <a:extLst xmlns:a="http://schemas.openxmlformats.org/drawingml/2006/main">
              <a:ext uri="{FF2B5EF4-FFF2-40B4-BE49-F238E27FC236}">
                <a16:creationId xmlns:a16="http://schemas.microsoft.com/office/drawing/2014/main" id="{92B6D528-EB77-42EB-876B-B19FFE2D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29425" y="6105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8" name="!!driver.expense.link.line">
            <a:extLst xmlns:a="http://schemas.openxmlformats.org/drawingml/2006/main">
              <a:ext uri="{FF2B5EF4-FFF2-40B4-BE49-F238E27FC236}">
                <a16:creationId xmlns:a16="http://schemas.microsoft.com/office/drawing/2014/main" id="{21BDAE8E-09FF-4312-B51F-FB7C62C0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48700" y="6162675"/>
            <a:ext cx="923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9" name="!!driver.expense.link.tip">
            <a:extLst xmlns:a="http://schemas.openxmlformats.org/drawingml/2006/main">
              <a:ext uri="{FF2B5EF4-FFF2-40B4-BE49-F238E27FC236}">
                <a16:creationId xmlns:a16="http://schemas.microsoft.com/office/drawing/2014/main" id="{FD5C01B3-CBF9-4179-B9BA-19C92FC5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15475" y="6105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0" name="!!driver.tools">
            <a:extLst xmlns:a="http://schemas.openxmlformats.org/drawingml/2006/main">
              <a:ext uri="{FF2B5EF4-FFF2-40B4-BE49-F238E27FC236}">
                <a16:creationId xmlns:a16="http://schemas.microsoft.com/office/drawing/2014/main" id="{7232E5D5-3F83-44F4-9A21-BED1255D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3038475"/>
            <a:ext cx="123825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数据接口</a:t>
            </a:r>
          </a:p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计算工具</a:t>
            </a:r>
          </a:p>
        </p:txBody>
      </p:sp>
      <p:sp>
        <p:nvSpPr>
          <p:cNvPr id="51" name="!!driver.result">
            <a:extLst xmlns:a="http://schemas.openxmlformats.org/drawingml/2006/main">
              <a:ext uri="{FF2B5EF4-FFF2-40B4-BE49-F238E27FC236}">
                <a16:creationId xmlns:a16="http://schemas.microsoft.com/office/drawing/2014/main" id="{C759C301-1A7E-44A2-9CEF-A094DB9A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877050"/>
            <a:ext cx="1053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结构化归因结果支持研究员继续判断增长质量</a:t>
            </a:r>
          </a:p>
        </p:txBody>
      </p:sp>
    </p:spTree>
    <p:extLst>
      <p:ext uri="{BB962C8B-B14F-4D97-AF65-F5344CB8AC3E}">
        <p14:creationId xmlns:p14="http://schemas.microsoft.com/office/powerpoint/2010/main" val="936274688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!!heading">
            <a:extLst xmlns:a="http://schemas.openxmlformats.org/drawingml/2006/main">
              <a:ext uri="{FF2B5EF4-FFF2-40B4-BE49-F238E27FC236}">
                <a16:creationId xmlns:a16="http://schemas.microsoft.com/office/drawing/2014/main" id="{ADF598C7-B55D-41EE-9F6F-8E9F2908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富国基金的研报观点汇总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38EA8DFB-420B-4270-A04F-B40A8A61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3AC44164-A626-4560-B8C3-DC00F55D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C011114E-9261-4840-9960-00FBD89F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186E04D1-65CD-456A-854F-5043AF19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4B227D87-ACDD-4AD5-8E83-535B8444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7A3C8075-157D-4615-8EF7-3E4FD457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766E3200-42BE-46B0-9D9E-2117FC1A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B2F9F72B-DB1C-4697-BB99-7C918611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6BB473DE-57D6-4046-B483-8823B470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0B8AA97-594D-46D6-ACCD-C1CB2A0E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BA238068-09F1-48DF-A97D-0C9CB341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540930FF-7F60-4E0A-B24E-ADD63B9A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0213049E-4DF2-4D7B-A585-ED8B0C68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FEB2A908-DA25-40CE-86A1-FF3F6E7E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EFDBA706-4F7A-4CAA-B597-4E806E3D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A5FCA139-88F7-4850-9910-786CC506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CC66A38C-2898-4FE6-8A31-0C395B6C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5210D70A-E35A-43BC-AD67-DAF3302C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63000B5B-2001-4D02-9B4C-E96B0EFD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6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5" action="ppaction://hlinksldjump" tooltip="第5页  天弘基金的财报分析流程"/>
            <a:extLst xmlns:a="http://schemas.openxmlformats.org/drawingml/2006/main">
              <a:ext uri="{FF2B5EF4-FFF2-40B4-BE49-F238E27FC236}">
                <a16:creationId xmlns:a16="http://schemas.microsoft.com/office/drawing/2014/main" id="{45C2FE69-971C-44DC-9FEE-E79F3C2A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7" action="ppaction://hlinksldjump" tooltip="第7页  中欧基金的研究要素整理"/>
            <a:extLst xmlns:a="http://schemas.openxmlformats.org/drawingml/2006/main">
              <a:ext uri="{FF2B5EF4-FFF2-40B4-BE49-F238E27FC236}">
                <a16:creationId xmlns:a16="http://schemas.microsoft.com/office/drawing/2014/main" id="{EF582DDE-E6ED-41F6-82BA-5D017625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374CDD7B-E3F2-4C61-8871-3E184B53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45D9414F-343C-41DC-B77F-B360BF8E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来源：富国基金，基金业协会案例材料</a:t>
            </a:r>
          </a:p>
        </p:txBody>
      </p:sp>
      <p:sp>
        <p:nvSpPr>
          <p:cNvPr id="25" name="!!views.pipeline.0">
            <a:extLst xmlns:a="http://schemas.openxmlformats.org/drawingml/2006/main">
              <a:ext uri="{FF2B5EF4-FFF2-40B4-BE49-F238E27FC236}">
                <a16:creationId xmlns:a16="http://schemas.microsoft.com/office/drawing/2014/main" id="{2FAECEEB-B5FB-47B4-AA3C-5A7DF5CF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09800"/>
            <a:ext cx="328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研报筛选</a:t>
            </a:r>
          </a:p>
        </p:txBody>
      </p:sp>
      <p:sp>
        <p:nvSpPr>
          <p:cNvPr id="26" name="!!views.pipeline.link0.line">
            <a:extLst xmlns:a="http://schemas.openxmlformats.org/drawingml/2006/main">
              <a:ext uri="{FF2B5EF4-FFF2-40B4-BE49-F238E27FC236}">
                <a16:creationId xmlns:a16="http://schemas.microsoft.com/office/drawing/2014/main" id="{01E6A878-1AE0-4849-9876-0FD01A0C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5050" y="259080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7" name="!!views.pipeline.link0.tip">
            <a:extLst xmlns:a="http://schemas.openxmlformats.org/drawingml/2006/main">
              <a:ext uri="{FF2B5EF4-FFF2-40B4-BE49-F238E27FC236}">
                <a16:creationId xmlns:a16="http://schemas.microsoft.com/office/drawing/2014/main" id="{EC0AA83A-A400-4461-91E6-06CE03E5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37450" y="25336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8" name="!!views.pipeline.1">
            <a:extLst xmlns:a="http://schemas.openxmlformats.org/drawingml/2006/main">
              <a:ext uri="{FF2B5EF4-FFF2-40B4-BE49-F238E27FC236}">
                <a16:creationId xmlns:a16="http://schemas.microsoft.com/office/drawing/2014/main" id="{51620CE8-F2EB-467B-BC82-FFB3B803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325" y="2209800"/>
            <a:ext cx="328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按问题形成小结</a:t>
            </a:r>
          </a:p>
        </p:txBody>
      </p:sp>
      <p:sp>
        <p:nvSpPr>
          <p:cNvPr id="29" name="!!views.pipeline.link1.line">
            <a:extLst xmlns:a="http://schemas.openxmlformats.org/drawingml/2006/main">
              <a:ext uri="{FF2B5EF4-FFF2-40B4-BE49-F238E27FC236}">
                <a16:creationId xmlns:a16="http://schemas.microsoft.com/office/drawing/2014/main" id="{6DE8DF81-A961-4BBD-B0ED-CBABC8EC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07725" y="259080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0" name="!!views.pipeline.link1.tip">
            <a:extLst xmlns:a="http://schemas.openxmlformats.org/drawingml/2006/main">
              <a:ext uri="{FF2B5EF4-FFF2-40B4-BE49-F238E27FC236}">
                <a16:creationId xmlns:a16="http://schemas.microsoft.com/office/drawing/2014/main" id="{DD665311-AD65-4CFF-9DD5-D44E3A28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60125" y="25336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1" name="!!views.pipeline.2">
            <a:extLst xmlns:a="http://schemas.openxmlformats.org/drawingml/2006/main">
              <a:ext uri="{FF2B5EF4-FFF2-40B4-BE49-F238E27FC236}">
                <a16:creationId xmlns:a16="http://schemas.microsoft.com/office/drawing/2014/main" id="{958AC579-118A-401A-AA0E-BF1A62DC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2209800"/>
            <a:ext cx="328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比较并汇总</a:t>
            </a:r>
          </a:p>
        </p:txBody>
      </p:sp>
      <p:sp>
        <p:nvSpPr>
          <p:cNvPr id="32" name="!!views.reportA">
            <a:extLst xmlns:a="http://schemas.openxmlformats.org/drawingml/2006/main">
              <a:ext uri="{FF2B5EF4-FFF2-40B4-BE49-F238E27FC236}">
                <a16:creationId xmlns:a16="http://schemas.microsoft.com/office/drawing/2014/main" id="{5599A00E-9E3C-465F-9ADF-153B1A31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24250"/>
            <a:ext cx="32575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33" name="!!views.reportA.title">
            <a:extLst xmlns:a="http://schemas.openxmlformats.org/drawingml/2006/main">
              <a:ext uri="{FF2B5EF4-FFF2-40B4-BE49-F238E27FC236}">
                <a16:creationId xmlns:a16="http://schemas.microsoft.com/office/drawing/2014/main" id="{6F3A116A-E856-4E17-B6D5-7DA0CE1A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7147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研报 A</a:t>
            </a:r>
          </a:p>
        </p:txBody>
      </p:sp>
      <p:sp>
        <p:nvSpPr>
          <p:cNvPr id="34" name="!!views.reportA.rule">
            <a:extLst xmlns:a="http://schemas.openxmlformats.org/drawingml/2006/main">
              <a:ext uri="{FF2B5EF4-FFF2-40B4-BE49-F238E27FC236}">
                <a16:creationId xmlns:a16="http://schemas.microsoft.com/office/drawing/2014/main" id="{9C08E472-E29F-4323-8CEB-6A554310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95775" y="4248150"/>
            <a:ext cx="2781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5" name="!!views.reportA.label0">
            <a:extLst xmlns:a="http://schemas.openxmlformats.org/drawingml/2006/main">
              <a:ext uri="{FF2B5EF4-FFF2-40B4-BE49-F238E27FC236}">
                <a16:creationId xmlns:a16="http://schemas.microsoft.com/office/drawing/2014/main" id="{0D75C48A-E14D-44CA-BCE3-9E314906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4386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经营判断</a:t>
            </a:r>
          </a:p>
        </p:txBody>
      </p:sp>
      <p:sp>
        <p:nvSpPr>
          <p:cNvPr id="36" name="!!views.reportA.value0">
            <a:extLst xmlns:a="http://schemas.openxmlformats.org/drawingml/2006/main">
              <a:ext uri="{FF2B5EF4-FFF2-40B4-BE49-F238E27FC236}">
                <a16:creationId xmlns:a16="http://schemas.microsoft.com/office/drawing/2014/main" id="{38DDE8BF-264C-4866-B1A8-90E829F9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810125"/>
            <a:ext cx="2781300" cy="62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销量提升带动收入</a:t>
            </a:r>
          </a:p>
        </p:txBody>
      </p:sp>
      <p:sp>
        <p:nvSpPr>
          <p:cNvPr id="37" name="!!views.reportA.label1">
            <a:extLst xmlns:a="http://schemas.openxmlformats.org/drawingml/2006/main">
              <a:ext uri="{FF2B5EF4-FFF2-40B4-BE49-F238E27FC236}">
                <a16:creationId xmlns:a16="http://schemas.microsoft.com/office/drawing/2014/main" id="{04AD4B20-FE5F-48BB-B9DC-7CF9F452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472113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关注事项</a:t>
            </a:r>
          </a:p>
        </p:txBody>
      </p:sp>
      <p:sp>
        <p:nvSpPr>
          <p:cNvPr id="38" name="!!views.reportA.value1">
            <a:extLst xmlns:a="http://schemas.openxmlformats.org/drawingml/2006/main">
              <a:ext uri="{FF2B5EF4-FFF2-40B4-BE49-F238E27FC236}">
                <a16:creationId xmlns:a16="http://schemas.microsoft.com/office/drawing/2014/main" id="{2B4CDDA6-2DDF-4CE6-B982-62CF0CA8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843588"/>
            <a:ext cx="2781300" cy="62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渠道补库能否持续</a:t>
            </a:r>
          </a:p>
        </p:txBody>
      </p:sp>
      <p:sp>
        <p:nvSpPr>
          <p:cNvPr id="39" name="!!views.reportB">
            <a:extLst xmlns:a="http://schemas.openxmlformats.org/drawingml/2006/main">
              <a:ext uri="{FF2B5EF4-FFF2-40B4-BE49-F238E27FC236}">
                <a16:creationId xmlns:a16="http://schemas.microsoft.com/office/drawing/2014/main" id="{E27155F8-14C2-445B-8471-03B6DB44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24250"/>
            <a:ext cx="32575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40" name="!!views.reportB.title">
            <a:extLst xmlns:a="http://schemas.openxmlformats.org/drawingml/2006/main">
              <a:ext uri="{FF2B5EF4-FFF2-40B4-BE49-F238E27FC236}">
                <a16:creationId xmlns:a16="http://schemas.microsoft.com/office/drawing/2014/main" id="{BE639197-B2BE-4864-AA23-33C759A4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研报 B</a:t>
            </a:r>
          </a:p>
        </p:txBody>
      </p:sp>
      <p:sp>
        <p:nvSpPr>
          <p:cNvPr id="41" name="!!views.reportB.rule">
            <a:extLst xmlns:a="http://schemas.openxmlformats.org/drawingml/2006/main">
              <a:ext uri="{FF2B5EF4-FFF2-40B4-BE49-F238E27FC236}">
                <a16:creationId xmlns:a16="http://schemas.microsoft.com/office/drawing/2014/main" id="{79F62AA5-268C-4B22-8D52-BF513A9E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05750" y="4248150"/>
            <a:ext cx="2781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42" name="!!views.reportB.label0">
            <a:extLst xmlns:a="http://schemas.openxmlformats.org/drawingml/2006/main">
              <a:ext uri="{FF2B5EF4-FFF2-40B4-BE49-F238E27FC236}">
                <a16:creationId xmlns:a16="http://schemas.microsoft.com/office/drawing/2014/main" id="{C93EE49C-907F-4602-8C2E-9F510DC5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386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经营判断</a:t>
            </a:r>
          </a:p>
        </p:txBody>
      </p:sp>
      <p:sp>
        <p:nvSpPr>
          <p:cNvPr id="43" name="!!views.reportB.value0">
            <a:extLst xmlns:a="http://schemas.openxmlformats.org/drawingml/2006/main">
              <a:ext uri="{FF2B5EF4-FFF2-40B4-BE49-F238E27FC236}">
                <a16:creationId xmlns:a16="http://schemas.microsoft.com/office/drawing/2014/main" id="{9ED026A9-EE40-4309-91FE-3CF8424E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10125"/>
            <a:ext cx="2781300" cy="62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销量增长，价格平稳</a:t>
            </a:r>
          </a:p>
        </p:txBody>
      </p:sp>
      <p:sp>
        <p:nvSpPr>
          <p:cNvPr id="44" name="!!views.reportB.label1">
            <a:extLst xmlns:a="http://schemas.openxmlformats.org/drawingml/2006/main">
              <a:ext uri="{FF2B5EF4-FFF2-40B4-BE49-F238E27FC236}">
                <a16:creationId xmlns:a16="http://schemas.microsoft.com/office/drawing/2014/main" id="{93F3AEBF-BC7F-472B-8191-FE1E1794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72113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关注事项</a:t>
            </a:r>
          </a:p>
        </p:txBody>
      </p:sp>
      <p:sp>
        <p:nvSpPr>
          <p:cNvPr id="45" name="!!views.reportB.value1">
            <a:extLst xmlns:a="http://schemas.openxmlformats.org/drawingml/2006/main">
              <a:ext uri="{FF2B5EF4-FFF2-40B4-BE49-F238E27FC236}">
                <a16:creationId xmlns:a16="http://schemas.microsoft.com/office/drawing/2014/main" id="{B797EFB3-3582-43F9-8614-83DD329E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43588"/>
            <a:ext cx="2781300" cy="62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原材料成本变化</a:t>
            </a:r>
          </a:p>
        </p:txBody>
      </p:sp>
      <p:sp>
        <p:nvSpPr>
          <p:cNvPr id="46" name="!!views.consensus.title">
            <a:extLst xmlns:a="http://schemas.openxmlformats.org/drawingml/2006/main">
              <a:ext uri="{FF2B5EF4-FFF2-40B4-BE49-F238E27FC236}">
                <a16:creationId xmlns:a16="http://schemas.microsoft.com/office/drawing/2014/main" id="{2F44507C-839C-4327-A324-0969AA26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676650"/>
            <a:ext cx="3248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共识</a:t>
            </a:r>
          </a:p>
        </p:txBody>
      </p:sp>
      <p:sp>
        <p:nvSpPr>
          <p:cNvPr id="47" name="!!views.consensus.body">
            <a:extLst xmlns:a="http://schemas.openxmlformats.org/drawingml/2006/main">
              <a:ext uri="{FF2B5EF4-FFF2-40B4-BE49-F238E27FC236}">
                <a16:creationId xmlns:a16="http://schemas.microsoft.com/office/drawing/2014/main" id="{88303758-BD3D-405C-8C6F-80D10779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4171950"/>
            <a:ext cx="32480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收入增长主要</a:t>
            </a:r>
          </a:p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来自销量提升</a:t>
            </a:r>
          </a:p>
        </p:txBody>
      </p:sp>
      <p:sp>
        <p:nvSpPr>
          <p:cNvPr id="48" name="!!views.difference.rule">
            <a:extLst xmlns:a="http://schemas.openxmlformats.org/drawingml/2006/main">
              <a:ext uri="{FF2B5EF4-FFF2-40B4-BE49-F238E27FC236}">
                <a16:creationId xmlns:a16="http://schemas.microsoft.com/office/drawing/2014/main" id="{50ECFE98-B6BC-4ED6-9552-8D376EED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44275" y="5267325"/>
            <a:ext cx="32480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49" name="!!views.difference.title">
            <a:extLst xmlns:a="http://schemas.openxmlformats.org/drawingml/2006/main">
              <a:ext uri="{FF2B5EF4-FFF2-40B4-BE49-F238E27FC236}">
                <a16:creationId xmlns:a16="http://schemas.microsoft.com/office/drawing/2014/main" id="{AA562EF7-39C9-43DA-94D5-29694C9D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5476875"/>
            <a:ext cx="3248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分歧</a:t>
            </a:r>
          </a:p>
        </p:txBody>
      </p:sp>
      <p:sp>
        <p:nvSpPr>
          <p:cNvPr id="50" name="!!views.difference.body">
            <a:extLst xmlns:a="http://schemas.openxmlformats.org/drawingml/2006/main">
              <a:ext uri="{FF2B5EF4-FFF2-40B4-BE49-F238E27FC236}">
                <a16:creationId xmlns:a16="http://schemas.microsoft.com/office/drawing/2014/main" id="{C47B234C-FD56-431D-8A29-FE7EC200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5962650"/>
            <a:ext cx="32480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增长持续性与</a:t>
            </a:r>
          </a:p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成本变化的判断</a:t>
            </a:r>
          </a:p>
        </p:txBody>
      </p:sp>
      <p:sp>
        <p:nvSpPr>
          <p:cNvPr id="51" name="!!views.result">
            <a:extLst xmlns:a="http://schemas.openxmlformats.org/drawingml/2006/main">
              <a:ext uri="{FF2B5EF4-FFF2-40B4-BE49-F238E27FC236}">
                <a16:creationId xmlns:a16="http://schemas.microsoft.com/office/drawing/2014/main" id="{62E46C0B-63D2-4949-9969-07AC4BDA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981825"/>
            <a:ext cx="1053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围绕同一问题保留共识、分歧和资料出处</a:t>
            </a:r>
          </a:p>
        </p:txBody>
      </p:sp>
    </p:spTree>
    <p:extLst>
      <p:ext uri="{BB962C8B-B14F-4D97-AF65-F5344CB8AC3E}">
        <p14:creationId xmlns:p14="http://schemas.microsoft.com/office/powerpoint/2010/main" val="1892863931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!!heading">
            <a:extLst xmlns:a="http://schemas.openxmlformats.org/drawingml/2006/main">
              <a:ext uri="{FF2B5EF4-FFF2-40B4-BE49-F238E27FC236}">
                <a16:creationId xmlns:a16="http://schemas.microsoft.com/office/drawing/2014/main" id="{C887A104-6212-4D29-84F7-733B0786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中欧基金的研究要素整理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CE173CDA-35EE-4C93-99AA-4821216D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70186AAA-FB52-40EF-B81C-79312F31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B548DE9E-8140-4249-8E39-39C4EE64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37002AD2-C4B0-4B03-9C4B-BD9077A3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6ABB6CF2-CB79-4F8D-B58F-6D39A0AA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1321432B-8873-4AC8-8701-20319E5F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BD32F065-EDFE-4EED-A79C-339E9CA8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49D21EC3-F6BC-4D5B-8B2A-C7987175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DCD87205-3AB3-45BD-A8A0-EC3D28F0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810BFBCA-3CC8-4E2F-B5EE-F499975A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E210A3F5-01EF-44A3-9159-72E7504F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23024BB2-6FB5-441A-8FBC-0B6F2892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C8EF0D59-5E1E-4075-B454-156B680B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C128041C-3E89-4E23-AC9C-3873147F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9F35675C-3B6B-4999-8756-3AFC3EA8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C59F188B-062E-4AE1-A9F7-952F02EE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21943356-3C1C-434F-98F2-85DE6823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A004A428-7C96-4559-BCF2-A0F6E08A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29A9EA77-B8AA-4F14-A5EE-17124E88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7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6" action="ppaction://hlinksldjump" tooltip="第6页  富国基金的研报观点汇总"/>
            <a:extLst xmlns:a="http://schemas.openxmlformats.org/drawingml/2006/main">
              <a:ext uri="{FF2B5EF4-FFF2-40B4-BE49-F238E27FC236}">
                <a16:creationId xmlns:a16="http://schemas.microsoft.com/office/drawing/2014/main" id="{C2167DC9-3ADC-4C41-9F1A-287A892D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8" action="ppaction://hlinksldjump" tooltip="第8页  公司投研分析方案"/>
            <a:extLst xmlns:a="http://schemas.openxmlformats.org/drawingml/2006/main">
              <a:ext uri="{FF2B5EF4-FFF2-40B4-BE49-F238E27FC236}">
                <a16:creationId xmlns:a16="http://schemas.microsoft.com/office/drawing/2014/main" id="{880C6B8E-FA22-484A-8799-EEBFB026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B3E4DB16-39C1-4DFF-995D-672610E9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93F83448-D09A-4A2D-A8C8-653F36CB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来源：南方+，中欧基金投研助手报道；窦玉明论坛发言报道，数据截至2026年5月</a:t>
            </a:r>
          </a:p>
        </p:txBody>
      </p:sp>
      <p:sp>
        <p:nvSpPr>
          <p:cNvPr id="25" name="!!elements.head">
            <a:extLst xmlns:a="http://schemas.openxmlformats.org/drawingml/2006/main">
              <a:ext uri="{FF2B5EF4-FFF2-40B4-BE49-F238E27FC236}">
                <a16:creationId xmlns:a16="http://schemas.microsoft.com/office/drawing/2014/main" id="{98CED3EF-406F-4A66-8DEE-03CB6E69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2882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研究资料进入结构化分析</a:t>
            </a:r>
          </a:p>
        </p:txBody>
      </p:sp>
      <p:sp>
        <p:nvSpPr>
          <p:cNvPr id="26" name="!!elements.left">
            <a:extLst xmlns:a="http://schemas.openxmlformats.org/drawingml/2006/main">
              <a:ext uri="{FF2B5EF4-FFF2-40B4-BE49-F238E27FC236}">
                <a16:creationId xmlns:a16="http://schemas.microsoft.com/office/drawing/2014/main" id="{BEC35F41-1EDA-4D6C-AA03-AFE9EB23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71775"/>
            <a:ext cx="29241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资料中的信息</a:t>
            </a:r>
          </a:p>
        </p:txBody>
      </p:sp>
      <p:sp>
        <p:nvSpPr>
          <p:cNvPr id="27" name="!!elements.right">
            <a:extLst xmlns:a="http://schemas.openxmlformats.org/drawingml/2006/main">
              <a:ext uri="{FF2B5EF4-FFF2-40B4-BE49-F238E27FC236}">
                <a16:creationId xmlns:a16="http://schemas.microsoft.com/office/drawing/2014/main" id="{69303136-F526-403E-B4E6-0484F0C9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71775"/>
            <a:ext cx="7067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研究要素表示例</a:t>
            </a:r>
          </a:p>
        </p:txBody>
      </p:sp>
      <p:sp>
        <p:nvSpPr>
          <p:cNvPr id="28" name="!!element.0.source">
            <a:extLst xmlns:a="http://schemas.openxmlformats.org/drawingml/2006/main">
              <a:ext uri="{FF2B5EF4-FFF2-40B4-BE49-F238E27FC236}">
                <a16:creationId xmlns:a16="http://schemas.microsoft.com/office/drawing/2014/main" id="{57E8D50C-681D-4F17-A90D-6B234ED9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71875"/>
            <a:ext cx="29241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财报</a:t>
            </a:r>
          </a:p>
        </p:txBody>
      </p:sp>
      <p:sp>
        <p:nvSpPr>
          <p:cNvPr id="29" name="!!element.0.arrow.line">
            <a:extLst xmlns:a="http://schemas.openxmlformats.org/drawingml/2006/main">
              <a:ext uri="{FF2B5EF4-FFF2-40B4-BE49-F238E27FC236}">
                <a16:creationId xmlns:a16="http://schemas.microsoft.com/office/drawing/2014/main" id="{6B0F1DE1-5527-4E24-8863-335ABC99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77075" y="3914775"/>
            <a:ext cx="323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0" name="!!element.0.arrow.tip">
            <a:extLst xmlns:a="http://schemas.openxmlformats.org/drawingml/2006/main">
              <a:ext uri="{FF2B5EF4-FFF2-40B4-BE49-F238E27FC236}">
                <a16:creationId xmlns:a16="http://schemas.microsoft.com/office/drawing/2014/main" id="{A9E7D77A-183B-4B04-A226-1CF9E159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43775" y="3857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1" name="!!element.0.label">
            <a:extLst xmlns:a="http://schemas.openxmlformats.org/drawingml/2006/main">
              <a:ext uri="{FF2B5EF4-FFF2-40B4-BE49-F238E27FC236}">
                <a16:creationId xmlns:a16="http://schemas.microsoft.com/office/drawing/2014/main" id="{7A3DCEA4-F9B7-4E3B-9B2A-F74F443C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733800"/>
            <a:ext cx="1866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经营变化</a:t>
            </a:r>
          </a:p>
        </p:txBody>
      </p:sp>
      <p:sp>
        <p:nvSpPr>
          <p:cNvPr id="32" name="!!element.0.value">
            <a:extLst xmlns:a="http://schemas.openxmlformats.org/drawingml/2006/main">
              <a:ext uri="{FF2B5EF4-FFF2-40B4-BE49-F238E27FC236}">
                <a16:creationId xmlns:a16="http://schemas.microsoft.com/office/drawing/2014/main" id="{386519D5-D48A-4576-92F8-3B640A73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33800"/>
            <a:ext cx="449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销量增长</a:t>
            </a:r>
          </a:p>
        </p:txBody>
      </p:sp>
      <p:sp>
        <p:nvSpPr>
          <p:cNvPr id="33" name="!!element.0.rule">
            <a:extLst xmlns:a="http://schemas.openxmlformats.org/drawingml/2006/main">
              <a:ext uri="{FF2B5EF4-FFF2-40B4-BE49-F238E27FC236}">
                <a16:creationId xmlns:a16="http://schemas.microsoft.com/office/drawing/2014/main" id="{BC10921C-C7AA-4879-9788-F20F98FE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4352925"/>
            <a:ext cx="7067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4" name="!!element.1.source">
            <a:extLst xmlns:a="http://schemas.openxmlformats.org/drawingml/2006/main">
              <a:ext uri="{FF2B5EF4-FFF2-40B4-BE49-F238E27FC236}">
                <a16:creationId xmlns:a16="http://schemas.microsoft.com/office/drawing/2014/main" id="{D1DE7A4B-59B6-46C8-9261-9AA8640F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52950"/>
            <a:ext cx="29241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会议纪要</a:t>
            </a:r>
          </a:p>
        </p:txBody>
      </p:sp>
      <p:sp>
        <p:nvSpPr>
          <p:cNvPr id="35" name="!!element.1.arrow.line">
            <a:extLst xmlns:a="http://schemas.openxmlformats.org/drawingml/2006/main">
              <a:ext uri="{FF2B5EF4-FFF2-40B4-BE49-F238E27FC236}">
                <a16:creationId xmlns:a16="http://schemas.microsoft.com/office/drawing/2014/main" id="{49C68D8C-30A2-4508-9AA9-A4EFCFE7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77075" y="4895850"/>
            <a:ext cx="323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6" name="!!element.1.arrow.tip">
            <a:extLst xmlns:a="http://schemas.openxmlformats.org/drawingml/2006/main">
              <a:ext uri="{FF2B5EF4-FFF2-40B4-BE49-F238E27FC236}">
                <a16:creationId xmlns:a16="http://schemas.microsoft.com/office/drawing/2014/main" id="{1E09D2B1-406C-48F2-8DAB-F5614EEE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43775" y="4838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7" name="!!element.1.label">
            <a:extLst xmlns:a="http://schemas.openxmlformats.org/drawingml/2006/main">
              <a:ext uri="{FF2B5EF4-FFF2-40B4-BE49-F238E27FC236}">
                <a16:creationId xmlns:a16="http://schemas.microsoft.com/office/drawing/2014/main" id="{3D266E1A-4EE6-432B-A6DE-30F5636F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14875"/>
            <a:ext cx="1866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驱动因素</a:t>
            </a:r>
          </a:p>
        </p:txBody>
      </p:sp>
      <p:sp>
        <p:nvSpPr>
          <p:cNvPr id="38" name="!!element.1.value">
            <a:extLst xmlns:a="http://schemas.openxmlformats.org/drawingml/2006/main">
              <a:ext uri="{FF2B5EF4-FFF2-40B4-BE49-F238E27FC236}">
                <a16:creationId xmlns:a16="http://schemas.microsoft.com/office/drawing/2014/main" id="{B8A6B7C7-7733-4C1D-B95F-CF92A959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714875"/>
            <a:ext cx="449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渠道补库</a:t>
            </a:r>
          </a:p>
        </p:txBody>
      </p:sp>
      <p:sp>
        <p:nvSpPr>
          <p:cNvPr id="39" name="!!element.1.rule">
            <a:extLst xmlns:a="http://schemas.openxmlformats.org/drawingml/2006/main">
              <a:ext uri="{FF2B5EF4-FFF2-40B4-BE49-F238E27FC236}">
                <a16:creationId xmlns:a16="http://schemas.microsoft.com/office/drawing/2014/main" id="{75E46EAC-0469-4109-B0EC-668C035D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5334000"/>
            <a:ext cx="7067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40" name="!!element.2.source">
            <a:extLst xmlns:a="http://schemas.openxmlformats.org/drawingml/2006/main">
              <a:ext uri="{FF2B5EF4-FFF2-40B4-BE49-F238E27FC236}">
                <a16:creationId xmlns:a16="http://schemas.microsoft.com/office/drawing/2014/main" id="{FC781C65-DF0C-4F65-A28B-EC212648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34025"/>
            <a:ext cx="29241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研报</a:t>
            </a:r>
          </a:p>
        </p:txBody>
      </p:sp>
      <p:sp>
        <p:nvSpPr>
          <p:cNvPr id="41" name="!!element.2.arrow.line">
            <a:extLst xmlns:a="http://schemas.openxmlformats.org/drawingml/2006/main">
              <a:ext uri="{FF2B5EF4-FFF2-40B4-BE49-F238E27FC236}">
                <a16:creationId xmlns:a16="http://schemas.microsoft.com/office/drawing/2014/main" id="{0CC55A69-A91F-41FD-B96E-94DB9872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77075" y="5876925"/>
            <a:ext cx="323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2" name="!!element.2.arrow.tip">
            <a:extLst xmlns:a="http://schemas.openxmlformats.org/drawingml/2006/main">
              <a:ext uri="{FF2B5EF4-FFF2-40B4-BE49-F238E27FC236}">
                <a16:creationId xmlns:a16="http://schemas.microsoft.com/office/drawing/2014/main" id="{6CDC3A56-9629-404C-ADFA-DEE1744D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43775" y="5819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3" name="!!element.2.label">
            <a:extLst xmlns:a="http://schemas.openxmlformats.org/drawingml/2006/main">
              <a:ext uri="{FF2B5EF4-FFF2-40B4-BE49-F238E27FC236}">
                <a16:creationId xmlns:a16="http://schemas.microsoft.com/office/drawing/2014/main" id="{2B5F7AEF-FB7B-4786-A0E1-8285C7D1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695950"/>
            <a:ext cx="1866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关注事项</a:t>
            </a:r>
          </a:p>
        </p:txBody>
      </p:sp>
      <p:sp>
        <p:nvSpPr>
          <p:cNvPr id="44" name="!!element.2.value">
            <a:extLst xmlns:a="http://schemas.openxmlformats.org/drawingml/2006/main">
              <a:ext uri="{FF2B5EF4-FFF2-40B4-BE49-F238E27FC236}">
                <a16:creationId xmlns:a16="http://schemas.microsoft.com/office/drawing/2014/main" id="{22D61A1D-1B39-490F-9D1D-9F0B3CA3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695950"/>
            <a:ext cx="449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原材料成本</a:t>
            </a:r>
          </a:p>
        </p:txBody>
      </p:sp>
      <p:sp>
        <p:nvSpPr>
          <p:cNvPr id="45" name="!!element.2.rule">
            <a:extLst xmlns:a="http://schemas.openxmlformats.org/drawingml/2006/main">
              <a:ext uri="{FF2B5EF4-FFF2-40B4-BE49-F238E27FC236}">
                <a16:creationId xmlns:a16="http://schemas.microsoft.com/office/drawing/2014/main" id="{AEFA8E08-FDA7-4B4E-BBA3-E30092A2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6315075"/>
            <a:ext cx="7067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46" name="!!elements.stat">
            <a:extLst xmlns:a="http://schemas.openxmlformats.org/drawingml/2006/main">
              <a:ext uri="{FF2B5EF4-FFF2-40B4-BE49-F238E27FC236}">
                <a16:creationId xmlns:a16="http://schemas.microsoft.com/office/drawing/2014/main" id="{E1FD385A-1D72-4877-9B47-DD352A3A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772275"/>
            <a:ext cx="1053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中欧披露：整体编制效率提升约50%</a:t>
            </a:r>
          </a:p>
        </p:txBody>
      </p:sp>
      <p:sp>
        <p:nvSpPr>
          <p:cNvPr id="47" name="!!elements.date">
            <a:extLst xmlns:a="http://schemas.openxmlformats.org/drawingml/2006/main">
              <a:ext uri="{FF2B5EF4-FFF2-40B4-BE49-F238E27FC236}">
                <a16:creationId xmlns:a16="http://schemas.microsoft.com/office/drawing/2014/main" id="{96E96768-EDEF-4215-B252-00EBF2C5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81850"/>
            <a:ext cx="10534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数据截至2026年5月</a:t>
            </a:r>
          </a:p>
        </p:txBody>
      </p:sp>
    </p:spTree>
    <p:extLst>
      <p:ext uri="{BB962C8B-B14F-4D97-AF65-F5344CB8AC3E}">
        <p14:creationId xmlns:p14="http://schemas.microsoft.com/office/powerpoint/2010/main" val="816974062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!!heading">
            <a:extLst xmlns:a="http://schemas.openxmlformats.org/drawingml/2006/main">
              <a:ext uri="{FF2B5EF4-FFF2-40B4-BE49-F238E27FC236}">
                <a16:creationId xmlns:a16="http://schemas.microsoft.com/office/drawing/2014/main" id="{8383BBED-2502-42A1-97AD-21917F7C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公司投研分析方案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7A40F941-4826-4377-934E-34A3F9D0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E2AAB48A-B26C-40D2-A437-550EEAC6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DE370D42-A313-4D43-AB47-68E7038A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CFD3677F-BE9E-4B4C-9AE2-414E9D8E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9C193F24-C73E-45AD-AEC8-B3B55CED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1E917A2F-755C-4298-93BB-520F738D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16BB6C01-3E35-43AC-A000-C039640F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1BE5709E-8E8D-4B55-B7F8-9BDB0C0F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9FE02F43-1382-43B4-9C9A-A05B9A95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A3C1803-35BB-4E92-B3BD-E6E81D49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6410E045-BA14-4C93-B171-1BC1989E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C8D3E6B7-25F8-461C-8EF5-7C9D3DF3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C24F2C6C-9A1B-4D75-9593-17249123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EFBC58B1-31D1-464B-8A7A-E769C2DB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E7ED093F-B623-4AF6-9F19-4B8DA68D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C10A4D97-6B8D-4687-BC70-D4BCA2C4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82468EB3-6166-4292-ACEE-17E9D499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57E6FCC1-BB2B-437E-B029-A75870A8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5E0BCBFF-9BEF-4700-A934-AC8C4265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8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7" action="ppaction://hlinksldjump" tooltip="第7页  中欧基金的研究要素整理"/>
            <a:extLst xmlns:a="http://schemas.openxmlformats.org/drawingml/2006/main">
              <a:ext uri="{FF2B5EF4-FFF2-40B4-BE49-F238E27FC236}">
                <a16:creationId xmlns:a16="http://schemas.microsoft.com/office/drawing/2014/main" id="{E25077DF-C9B3-4923-A43B-1A68465A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B3DF9F55-1062-41CB-A541-C4187F7C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C30031EA-1610-4C24-93E3-8B12B488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CC7D00D4-CEB5-48C9-86DE-7194921B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来源：天弘基金，基金业协会案例材料；富国基金，基金业协会案例材料；南方+，中欧基金投研助手报道；兴证全球基金，基金业协会案例材料</a:t>
            </a:r>
          </a:p>
        </p:txBody>
      </p:sp>
      <p:sp>
        <p:nvSpPr>
          <p:cNvPr id="25" name="!!research.question">
            <a:extLst xmlns:a="http://schemas.openxmlformats.org/drawingml/2006/main">
              <a:ext uri="{FF2B5EF4-FFF2-40B4-BE49-F238E27FC236}">
                <a16:creationId xmlns:a16="http://schemas.microsoft.com/office/drawing/2014/main" id="{F38E7B84-AFD4-4970-87CF-DB3395E3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62175"/>
            <a:ext cx="105346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甲公司本季度的变化与原因</a:t>
            </a:r>
          </a:p>
        </p:txBody>
      </p:sp>
      <p:sp>
        <p:nvSpPr>
          <p:cNvPr id="26" name="!!research.pipeline.0">
            <a:extLst xmlns:a="http://schemas.openxmlformats.org/drawingml/2006/main">
              <a:ext uri="{FF2B5EF4-FFF2-40B4-BE49-F238E27FC236}">
                <a16:creationId xmlns:a16="http://schemas.microsoft.com/office/drawing/2014/main" id="{DDC00D0C-7393-480B-B51E-E747B74E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67075"/>
            <a:ext cx="32893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检索资料</a:t>
            </a:r>
          </a:p>
        </p:txBody>
      </p:sp>
      <p:sp>
        <p:nvSpPr>
          <p:cNvPr id="27" name="!!research.pipeline.link0.line">
            <a:extLst xmlns:a="http://schemas.openxmlformats.org/drawingml/2006/main">
              <a:ext uri="{FF2B5EF4-FFF2-40B4-BE49-F238E27FC236}">
                <a16:creationId xmlns:a16="http://schemas.microsoft.com/office/drawing/2014/main" id="{36BA496B-6707-4E44-93E0-936EC4E7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5050" y="362426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8" name="!!research.pipeline.link0.tip">
            <a:extLst xmlns:a="http://schemas.openxmlformats.org/drawingml/2006/main">
              <a:ext uri="{FF2B5EF4-FFF2-40B4-BE49-F238E27FC236}">
                <a16:creationId xmlns:a16="http://schemas.microsoft.com/office/drawing/2014/main" id="{B84F7182-515D-4353-AD98-C747096C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37450" y="356711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9" name="!!research.pipeline.1">
            <a:extLst xmlns:a="http://schemas.openxmlformats.org/drawingml/2006/main">
              <a:ext uri="{FF2B5EF4-FFF2-40B4-BE49-F238E27FC236}">
                <a16:creationId xmlns:a16="http://schemas.microsoft.com/office/drawing/2014/main" id="{836ED860-F70B-4596-9F36-EDAE2AF4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325" y="3267075"/>
            <a:ext cx="32893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提取与计算</a:t>
            </a:r>
          </a:p>
        </p:txBody>
      </p:sp>
      <p:sp>
        <p:nvSpPr>
          <p:cNvPr id="30" name="!!research.pipeline.link1.line">
            <a:extLst xmlns:a="http://schemas.openxmlformats.org/drawingml/2006/main">
              <a:ext uri="{FF2B5EF4-FFF2-40B4-BE49-F238E27FC236}">
                <a16:creationId xmlns:a16="http://schemas.microsoft.com/office/drawing/2014/main" id="{7374EE01-05D5-4D0D-83BC-5629EDA0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07725" y="362426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1" name="!!research.pipeline.link1.tip">
            <a:extLst xmlns:a="http://schemas.openxmlformats.org/drawingml/2006/main">
              <a:ext uri="{FF2B5EF4-FFF2-40B4-BE49-F238E27FC236}">
                <a16:creationId xmlns:a16="http://schemas.microsoft.com/office/drawing/2014/main" id="{24E90577-564C-422D-9915-C1F2E7F2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60125" y="356711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2" name="!!research.pipeline.2">
            <a:extLst xmlns:a="http://schemas.openxmlformats.org/drawingml/2006/main">
              <a:ext uri="{FF2B5EF4-FFF2-40B4-BE49-F238E27FC236}">
                <a16:creationId xmlns:a16="http://schemas.microsoft.com/office/drawing/2014/main" id="{EB4E06BF-CEE7-45CC-BB28-B501C546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3267075"/>
            <a:ext cx="32893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比较与解释</a:t>
            </a:r>
          </a:p>
        </p:txBody>
      </p:sp>
      <p:sp>
        <p:nvSpPr>
          <p:cNvPr id="33" name="!!research.result">
            <a:extLst xmlns:a="http://schemas.openxmlformats.org/drawingml/2006/main">
              <a:ext uri="{FF2B5EF4-FFF2-40B4-BE49-F238E27FC236}">
                <a16:creationId xmlns:a16="http://schemas.microsoft.com/office/drawing/2014/main" id="{5E1E8B56-08AD-4D5E-9F2B-83DEBD9C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29125"/>
            <a:ext cx="105346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34" name="!!research.result.title">
            <a:extLst xmlns:a="http://schemas.openxmlformats.org/drawingml/2006/main">
              <a:ext uri="{FF2B5EF4-FFF2-40B4-BE49-F238E27FC236}">
                <a16:creationId xmlns:a16="http://schemas.microsoft.com/office/drawing/2014/main" id="{D1D193B0-BFCD-45EE-8C60-24CE917E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638675"/>
            <a:ext cx="1005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甲公司季度分析</a:t>
            </a:r>
          </a:p>
        </p:txBody>
      </p:sp>
      <p:sp>
        <p:nvSpPr>
          <p:cNvPr id="35" name="!!research.result.rule">
            <a:extLst xmlns:a="http://schemas.openxmlformats.org/drawingml/2006/main">
              <a:ext uri="{FF2B5EF4-FFF2-40B4-BE49-F238E27FC236}">
                <a16:creationId xmlns:a16="http://schemas.microsoft.com/office/drawing/2014/main" id="{E87B00D5-F5CE-42B5-84E0-97708B29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95775" y="5153025"/>
            <a:ext cx="10058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6" name="!!research.result.label0">
            <a:extLst xmlns:a="http://schemas.openxmlformats.org/drawingml/2006/main">
              <a:ext uri="{FF2B5EF4-FFF2-40B4-BE49-F238E27FC236}">
                <a16:creationId xmlns:a16="http://schemas.microsoft.com/office/drawing/2014/main" id="{0A5F0E8E-0B16-4E09-8FDB-CC202C20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财务变化</a:t>
            </a:r>
          </a:p>
        </p:txBody>
      </p:sp>
      <p:sp>
        <p:nvSpPr>
          <p:cNvPr id="37" name="!!research.result.value0">
            <a:extLst xmlns:a="http://schemas.openxmlformats.org/drawingml/2006/main">
              <a:ext uri="{FF2B5EF4-FFF2-40B4-BE49-F238E27FC236}">
                <a16:creationId xmlns:a16="http://schemas.microsoft.com/office/drawing/2014/main" id="{6EE417C9-ED74-441B-BA8C-DF4FB68A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905500"/>
            <a:ext cx="314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销量提升带动收入，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渠道补库形成支持。</a:t>
            </a:r>
          </a:p>
        </p:txBody>
      </p:sp>
      <p:sp>
        <p:nvSpPr>
          <p:cNvPr id="38" name="!!research.result.label1">
            <a:extLst xmlns:a="http://schemas.openxmlformats.org/drawingml/2006/main">
              <a:ext uri="{FF2B5EF4-FFF2-40B4-BE49-F238E27FC236}">
                <a16:creationId xmlns:a16="http://schemas.microsoft.com/office/drawing/2014/main" id="{7B899513-162D-4B77-837F-1ED0D900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观点比较</a:t>
            </a:r>
          </a:p>
        </p:txBody>
      </p:sp>
      <p:sp>
        <p:nvSpPr>
          <p:cNvPr id="39" name="!!research.result.value1">
            <a:extLst xmlns:a="http://schemas.openxmlformats.org/drawingml/2006/main">
              <a:ext uri="{FF2B5EF4-FFF2-40B4-BE49-F238E27FC236}">
                <a16:creationId xmlns:a16="http://schemas.microsoft.com/office/drawing/2014/main" id="{C2E54A30-5D68-4756-BB44-5393B1CF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905500"/>
            <a:ext cx="314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共识：销量增长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分歧：持续性与成本变化</a:t>
            </a:r>
          </a:p>
        </p:txBody>
      </p:sp>
      <p:sp>
        <p:nvSpPr>
          <p:cNvPr id="40" name="!!research.result.label2">
            <a:extLst xmlns:a="http://schemas.openxmlformats.org/drawingml/2006/main">
              <a:ext uri="{FF2B5EF4-FFF2-40B4-BE49-F238E27FC236}">
                <a16:creationId xmlns:a16="http://schemas.microsoft.com/office/drawing/2014/main" id="{44AABE1E-7A3D-4E24-9667-5606DABB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研究要素</a:t>
            </a:r>
          </a:p>
        </p:txBody>
      </p:sp>
      <p:sp>
        <p:nvSpPr>
          <p:cNvPr id="41" name="!!research.result.value2">
            <a:extLst xmlns:a="http://schemas.openxmlformats.org/drawingml/2006/main">
              <a:ext uri="{FF2B5EF4-FFF2-40B4-BE49-F238E27FC236}">
                <a16:creationId xmlns:a16="http://schemas.microsoft.com/office/drawing/2014/main" id="{14779A03-73A8-4481-AC05-7D8FE324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5905500"/>
            <a:ext cx="314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经营变化、驱动因素、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关注事项链接各项资料</a:t>
            </a:r>
          </a:p>
        </p:txBody>
      </p:sp>
    </p:spTree>
    <p:extLst>
      <p:ext uri="{BB962C8B-B14F-4D97-AF65-F5344CB8AC3E}">
        <p14:creationId xmlns:p14="http://schemas.microsoft.com/office/powerpoint/2010/main" val="1069000703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!!heading">
            <a:extLst xmlns:a="http://schemas.openxmlformats.org/drawingml/2006/main">
              <a:ext uri="{FF2B5EF4-FFF2-40B4-BE49-F238E27FC236}">
                <a16:creationId xmlns:a16="http://schemas.microsoft.com/office/drawing/2014/main" id="{4CCEA185-76B6-4A96-82F8-49AB56DC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交易准备与指令交接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C73234EE-2C88-4FF3-82B0-EA5892A5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交易支持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7B022392-2018-40BB-B8BE-5EE62C0B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D3FF94E4-997E-4857-9F17-A6CD1A60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729E5610-6033-40B1-84FA-CC3F05E1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EAECE58A-51BF-40B1-9140-07156A8A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57654B28-5C37-4462-AA67-84891005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76D79084-6AF5-48C3-A8B5-29C2D88D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7DD86619-3312-4AE7-A0C7-4BDA13CF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5E235A7-1CF6-4DF5-9ECF-BF374A53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78CA3AD5-52DC-4C3E-8CE4-8A519559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918B2B07-D062-496A-8A64-922D898E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9BA58D59-D9F1-4D84-BF42-7C95F2AF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AFCEAE03-078C-46E5-9DB1-90FCFC85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2517FBA4-4F49-4583-8A97-AC671C8C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28018272-992F-4BF2-A003-30B71B58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991766F5-41CE-4358-87C8-CF4DBD2B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E439F3E1-0F7F-4B25-A8F5-50648559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E40B398E-BC9B-4B28-B131-C225305B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823D77A7-7787-44E6-8F60-B2A6D541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9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8" action="ppaction://hlinksldjump" tooltip="第8页  公司投研分析方案"/>
            <a:extLst xmlns:a="http://schemas.openxmlformats.org/drawingml/2006/main">
              <a:ext uri="{FF2B5EF4-FFF2-40B4-BE49-F238E27FC236}">
                <a16:creationId xmlns:a16="http://schemas.microsoft.com/office/drawing/2014/main" id="{5707BA08-074C-429C-BC38-B1639AD7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0" action="ppaction://hlinksldjump" tooltip="第10页  南方与兴证全球的交易应用"/>
            <a:extLst xmlns:a="http://schemas.openxmlformats.org/drawingml/2006/main">
              <a:ext uri="{FF2B5EF4-FFF2-40B4-BE49-F238E27FC236}">
                <a16:creationId xmlns:a16="http://schemas.microsoft.com/office/drawing/2014/main" id="{C696DC2E-804A-44A5-BB0A-3AABBF73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ED47A45D-3D22-4A6D-BDDA-AFCFE1B2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1E17C2E1-EF64-435D-9925-B743B0F1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issuer.A">
            <a:extLst xmlns:a="http://schemas.openxmlformats.org/drawingml/2006/main">
              <a:ext uri="{FF2B5EF4-FFF2-40B4-BE49-F238E27FC236}">
                <a16:creationId xmlns:a16="http://schemas.microsoft.com/office/drawing/2014/main" id="{5B65AF38-33B8-48E7-A703-8E8BA9DD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288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甲公司债券的交易准备</a:t>
            </a:r>
          </a:p>
        </p:txBody>
      </p:sp>
      <p:sp>
        <p:nvSpPr>
          <p:cNvPr id="26" name="!!trade.lane0">
            <a:extLst xmlns:a="http://schemas.openxmlformats.org/drawingml/2006/main">
              <a:ext uri="{FF2B5EF4-FFF2-40B4-BE49-F238E27FC236}">
                <a16:creationId xmlns:a16="http://schemas.microsoft.com/office/drawing/2014/main" id="{1744B84B-0D25-4DBB-ADA6-69049E16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86075"/>
            <a:ext cx="105346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!!trade.role0">
            <a:extLst xmlns:a="http://schemas.openxmlformats.org/drawingml/2006/main">
              <a:ext uri="{FF2B5EF4-FFF2-40B4-BE49-F238E27FC236}">
                <a16:creationId xmlns:a16="http://schemas.microsoft.com/office/drawing/2014/main" id="{D621D39B-058B-4F0C-8501-50EC39B4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86075"/>
            <a:ext cx="17335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投资经理</a:t>
            </a:r>
          </a:p>
        </p:txBody>
      </p:sp>
      <p:sp>
        <p:nvSpPr>
          <p:cNvPr id="28" name="!!trade.rule0">
            <a:extLst xmlns:a="http://schemas.openxmlformats.org/drawingml/2006/main">
              <a:ext uri="{FF2B5EF4-FFF2-40B4-BE49-F238E27FC236}">
                <a16:creationId xmlns:a16="http://schemas.microsoft.com/office/drawing/2014/main" id="{864E7D82-792C-4125-B1A9-403B9D67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4171950"/>
            <a:ext cx="10534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9" name="!!trade.lane1">
            <a:extLst xmlns:a="http://schemas.openxmlformats.org/drawingml/2006/main">
              <a:ext uri="{FF2B5EF4-FFF2-40B4-BE49-F238E27FC236}">
                <a16:creationId xmlns:a16="http://schemas.microsoft.com/office/drawing/2014/main" id="{D91A1D7C-BFCA-445D-9833-4AA6412B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43400"/>
            <a:ext cx="105346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!!trade.role1">
            <a:extLst xmlns:a="http://schemas.openxmlformats.org/drawingml/2006/main">
              <a:ext uri="{FF2B5EF4-FFF2-40B4-BE49-F238E27FC236}">
                <a16:creationId xmlns:a16="http://schemas.microsoft.com/office/drawing/2014/main" id="{19123234-BBFD-438E-B5E7-44407866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43400"/>
            <a:ext cx="17335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交易员</a:t>
            </a:r>
          </a:p>
        </p:txBody>
      </p:sp>
      <p:sp>
        <p:nvSpPr>
          <p:cNvPr id="31" name="!!trade.rule1">
            <a:extLst xmlns:a="http://schemas.openxmlformats.org/drawingml/2006/main">
              <a:ext uri="{FF2B5EF4-FFF2-40B4-BE49-F238E27FC236}">
                <a16:creationId xmlns:a16="http://schemas.microsoft.com/office/drawing/2014/main" id="{8B986E3E-DF3B-4BED-97A0-E9E2F681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5629275"/>
            <a:ext cx="10534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2" name="!!trade.lane2">
            <a:extLst xmlns:a="http://schemas.openxmlformats.org/drawingml/2006/main">
              <a:ext uri="{FF2B5EF4-FFF2-40B4-BE49-F238E27FC236}">
                <a16:creationId xmlns:a16="http://schemas.microsoft.com/office/drawing/2014/main" id="{4FBAF224-63D3-4416-BD38-3CD83AF3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00725"/>
            <a:ext cx="105346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!!trade.role2">
            <a:extLst xmlns:a="http://schemas.openxmlformats.org/drawingml/2006/main">
              <a:ext uri="{FF2B5EF4-FFF2-40B4-BE49-F238E27FC236}">
                <a16:creationId xmlns:a16="http://schemas.microsoft.com/office/drawing/2014/main" id="{2DCEAECB-D224-4746-816E-7A8B776D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00725"/>
            <a:ext cx="17335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业务系统</a:t>
            </a:r>
          </a:p>
        </p:txBody>
      </p:sp>
      <p:sp>
        <p:nvSpPr>
          <p:cNvPr id="34" name="!!trade.rule2">
            <a:extLst xmlns:a="http://schemas.openxmlformats.org/drawingml/2006/main">
              <a:ext uri="{FF2B5EF4-FFF2-40B4-BE49-F238E27FC236}">
                <a16:creationId xmlns:a16="http://schemas.microsoft.com/office/drawing/2014/main" id="{07E7E04E-4671-41AC-B98A-04A7E41D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7086600"/>
            <a:ext cx="10534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5" name="!!trade.intent">
            <a:extLst xmlns:a="http://schemas.openxmlformats.org/drawingml/2006/main">
              <a:ext uri="{FF2B5EF4-FFF2-40B4-BE49-F238E27FC236}">
                <a16:creationId xmlns:a16="http://schemas.microsoft.com/office/drawing/2014/main" id="{B3C913FE-941F-4A12-89C4-CB7CD994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143250"/>
            <a:ext cx="3448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券名、方向与条件</a:t>
            </a:r>
          </a:p>
        </p:txBody>
      </p:sp>
      <p:sp>
        <p:nvSpPr>
          <p:cNvPr id="36" name="!!trade.quote">
            <a:extLst xmlns:a="http://schemas.openxmlformats.org/drawingml/2006/main">
              <a:ext uri="{FF2B5EF4-FFF2-40B4-BE49-F238E27FC236}">
                <a16:creationId xmlns:a16="http://schemas.microsoft.com/office/drawing/2014/main" id="{471FA74C-CDBD-4552-B6BD-A9BD130E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00575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询价与报价比较</a:t>
            </a:r>
          </a:p>
        </p:txBody>
      </p:sp>
      <p:sp>
        <p:nvSpPr>
          <p:cNvPr id="37" name="!!trade.confirm">
            <a:extLst xmlns:a="http://schemas.openxmlformats.org/drawingml/2006/main">
              <a:ext uri="{FF2B5EF4-FFF2-40B4-BE49-F238E27FC236}">
                <a16:creationId xmlns:a16="http://schemas.microsoft.com/office/drawing/2014/main" id="{A26AC9E1-0198-4FFE-984C-C53FD736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4600575"/>
            <a:ext cx="2619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成交要素核对</a:t>
            </a:r>
          </a:p>
        </p:txBody>
      </p:sp>
      <p:sp>
        <p:nvSpPr>
          <p:cNvPr id="38" name="!!trade.query">
            <a:extLst xmlns:a="http://schemas.openxmlformats.org/drawingml/2006/main">
              <a:ext uri="{FF2B5EF4-FFF2-40B4-BE49-F238E27FC236}">
                <a16:creationId xmlns:a16="http://schemas.microsoft.com/office/drawing/2014/main" id="{E33F6500-A7AA-4E28-B9A9-6D043BE5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6057900"/>
            <a:ext cx="3448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行情与持仓查询</a:t>
            </a:r>
          </a:p>
        </p:txBody>
      </p:sp>
      <p:sp>
        <p:nvSpPr>
          <p:cNvPr id="39" name="!!trade.order">
            <a:extLst xmlns:a="http://schemas.openxmlformats.org/drawingml/2006/main">
              <a:ext uri="{FF2B5EF4-FFF2-40B4-BE49-F238E27FC236}">
                <a16:creationId xmlns:a16="http://schemas.microsoft.com/office/drawing/2014/main" id="{520AEE6D-1476-4AFB-B703-438A6DC8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6057900"/>
            <a:ext cx="2619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指令准备</a:t>
            </a:r>
          </a:p>
        </p:txBody>
      </p:sp>
      <p:sp>
        <p:nvSpPr>
          <p:cNvPr id="40" name="!!trade.l1.1">
            <a:extLst xmlns:a="http://schemas.openxmlformats.org/drawingml/2006/main">
              <a:ext uri="{FF2B5EF4-FFF2-40B4-BE49-F238E27FC236}">
                <a16:creationId xmlns:a16="http://schemas.microsoft.com/office/drawing/2014/main" id="{EF571ADD-CEB0-4C2E-9264-63B2426A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981700" y="3867150"/>
            <a:ext cx="2038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1" name="!!trade.l1.2">
            <a:extLst xmlns:a="http://schemas.openxmlformats.org/drawingml/2006/main">
              <a:ext uri="{FF2B5EF4-FFF2-40B4-BE49-F238E27FC236}">
                <a16:creationId xmlns:a16="http://schemas.microsoft.com/office/drawing/2014/main" id="{9BB0D053-0FCF-4C53-A9CC-915E1FCD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81700" y="3867150"/>
            <a:ext cx="953" cy="2552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2" name="!!trade.l1.3.line">
            <a:extLst xmlns:a="http://schemas.openxmlformats.org/drawingml/2006/main">
              <a:ext uri="{FF2B5EF4-FFF2-40B4-BE49-F238E27FC236}">
                <a16:creationId xmlns:a16="http://schemas.microsoft.com/office/drawing/2014/main" id="{C20BC005-CF64-44F4-80B0-61B359BA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81700" y="6419850"/>
            <a:ext cx="3143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3" name="!!trade.l1.3.tip">
            <a:extLst xmlns:a="http://schemas.openxmlformats.org/drawingml/2006/main">
              <a:ext uri="{FF2B5EF4-FFF2-40B4-BE49-F238E27FC236}">
                <a16:creationId xmlns:a16="http://schemas.microsoft.com/office/drawing/2014/main" id="{C05C253E-8150-462D-ADF4-B60B824E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38875" y="6362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4" name="!!trade.l2.line">
            <a:extLst xmlns:a="http://schemas.openxmlformats.org/drawingml/2006/main">
              <a:ext uri="{FF2B5EF4-FFF2-40B4-BE49-F238E27FC236}">
                <a16:creationId xmlns:a16="http://schemas.microsoft.com/office/drawing/2014/main" id="{135E1730-C537-4E12-97B7-BF72BD12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572625" y="5429250"/>
            <a:ext cx="953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5" name="!!trade.l2.tip">
            <a:extLst xmlns:a="http://schemas.openxmlformats.org/drawingml/2006/main">
              <a:ext uri="{FF2B5EF4-FFF2-40B4-BE49-F238E27FC236}">
                <a16:creationId xmlns:a16="http://schemas.microsoft.com/office/drawing/2014/main" id="{C1C92989-06D6-45B8-8BB5-FD5198E1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53721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6" name="!!trade.l3.line">
            <a:extLst xmlns:a="http://schemas.openxmlformats.org/drawingml/2006/main">
              <a:ext uri="{FF2B5EF4-FFF2-40B4-BE49-F238E27FC236}">
                <a16:creationId xmlns:a16="http://schemas.microsoft.com/office/drawing/2014/main" id="{6E3613F4-053A-404B-A24D-421CA1BC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68050" y="4962525"/>
            <a:ext cx="552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7" name="!!trade.l3.tip">
            <a:extLst xmlns:a="http://schemas.openxmlformats.org/drawingml/2006/main">
              <a:ext uri="{FF2B5EF4-FFF2-40B4-BE49-F238E27FC236}">
                <a16:creationId xmlns:a16="http://schemas.microsoft.com/office/drawing/2014/main" id="{F79056C4-2BE2-475E-9E2A-49960B6D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563350" y="49053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8" name="!!trade.l4.line">
            <a:extLst xmlns:a="http://schemas.openxmlformats.org/drawingml/2006/main">
              <a:ext uri="{FF2B5EF4-FFF2-40B4-BE49-F238E27FC236}">
                <a16:creationId xmlns:a16="http://schemas.microsoft.com/office/drawing/2014/main" id="{6DF44201-3FE4-4B91-B145-B02FDA07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030200" y="5381625"/>
            <a:ext cx="953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9" name="!!trade.l4.tip">
            <a:extLst xmlns:a="http://schemas.openxmlformats.org/drawingml/2006/main">
              <a:ext uri="{FF2B5EF4-FFF2-40B4-BE49-F238E27FC236}">
                <a16:creationId xmlns:a16="http://schemas.microsoft.com/office/drawing/2014/main" id="{4F88EAE0-F62D-4F17-AE9F-CD7F7758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973050" y="5895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90484031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!!heading">
            <a:extLst xmlns:a="http://schemas.openxmlformats.org/drawingml/2006/main">
              <a:ext uri="{FF2B5EF4-FFF2-40B4-BE49-F238E27FC236}">
                <a16:creationId xmlns:a16="http://schemas.microsoft.com/office/drawing/2014/main" id="{6CEF3EC8-3EFF-40E6-AFC9-5E6F704A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南方与兴证全球的交易应用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16FE576E-292B-4CF3-B061-9B7446AF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交易支持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88776B16-E328-4384-A738-71B4226B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5843C6CC-C491-4723-9C52-0A3233DA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804D9241-FF4A-417A-BF4D-618D892E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282FD873-0597-46A9-B652-1A20DDA2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B137CC89-616A-46A2-89BD-A65A87B0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78FAC027-7895-4293-9EBD-B44CDB98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694B5874-94F2-4F3D-A660-25E0A7C9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4D7EFA01-7BC7-4DD7-9B4E-950A6147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2FCC9BD-A61D-4FB9-B11F-88633CFE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BD4370C3-1AFB-4D0C-8E5A-E9976FAD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252749DF-5722-4458-A8DB-27913B8A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B12BF59-F0BA-4879-AF19-E47B0B14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DD205D7-1A3E-4529-B774-EA801B1E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EF84AF78-2B9C-46EA-B64A-4678E029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0DB7B6DD-CAD9-4E03-A963-3FDE72A6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777CC650-60F1-4A62-B275-E7D9667A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D381D9E7-F338-4819-886D-27C7D21F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10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7141B8BD-3B22-46DF-A819-39D487D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11" action="ppaction://hlinksldjump" tooltip="第11页  公司交易支持方案"/>
            <a:extLst xmlns:a="http://schemas.openxmlformats.org/drawingml/2006/main">
              <a:ext uri="{FF2B5EF4-FFF2-40B4-BE49-F238E27FC236}">
                <a16:creationId xmlns:a16="http://schemas.microsoft.com/office/drawing/2014/main" id="{761AD384-B479-4873-9EB2-66B5CA00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248BB34E-3E74-410D-8BB7-1B8F7047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0A8A364F-5BDC-4E97-9FB7-8E69FF14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来源：南方基金，基金业协会案例材料；兴证全球基金，基金业协会案例材料</a:t>
            </a:r>
          </a:p>
        </p:txBody>
      </p:sp>
      <p:sp>
        <p:nvSpPr>
          <p:cNvPr id="24" name="!!trade.southern">
            <a:extLst xmlns:a="http://schemas.openxmlformats.org/drawingml/2006/main">
              <a:ext uri="{FF2B5EF4-FFF2-40B4-BE49-F238E27FC236}">
                <a16:creationId xmlns:a16="http://schemas.microsoft.com/office/drawing/2014/main" id="{9BD11306-7071-41DB-BE31-7E3B31E4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81225"/>
            <a:ext cx="1053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南方基金  小喃同学</a:t>
            </a:r>
          </a:p>
        </p:txBody>
      </p:sp>
      <p:sp>
        <p:nvSpPr>
          <p:cNvPr id="25" name="!!trade.case1.0">
            <a:extLst xmlns:a="http://schemas.openxmlformats.org/drawingml/2006/main">
              <a:ext uri="{FF2B5EF4-FFF2-40B4-BE49-F238E27FC236}">
                <a16:creationId xmlns:a16="http://schemas.microsoft.com/office/drawing/2014/main" id="{5075E710-7AFD-4474-AFA2-920F8B0B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19425"/>
            <a:ext cx="32893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自然语言请求</a:t>
            </a:r>
          </a:p>
        </p:txBody>
      </p:sp>
      <p:sp>
        <p:nvSpPr>
          <p:cNvPr id="26" name="!!trade.case1.link0.line">
            <a:extLst xmlns:a="http://schemas.openxmlformats.org/drawingml/2006/main">
              <a:ext uri="{FF2B5EF4-FFF2-40B4-BE49-F238E27FC236}">
                <a16:creationId xmlns:a16="http://schemas.microsoft.com/office/drawing/2014/main" id="{2EDD62D1-0A0F-40DE-ADC2-0E17773B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5050" y="34528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7" name="!!trade.case1.link0.tip">
            <a:extLst xmlns:a="http://schemas.openxmlformats.org/drawingml/2006/main">
              <a:ext uri="{FF2B5EF4-FFF2-40B4-BE49-F238E27FC236}">
                <a16:creationId xmlns:a16="http://schemas.microsoft.com/office/drawing/2014/main" id="{ABD8E609-0D02-41C6-967E-8BFE937D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37450" y="33956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8" name="!!trade.case1.1">
            <a:extLst xmlns:a="http://schemas.openxmlformats.org/drawingml/2006/main">
              <a:ext uri="{FF2B5EF4-FFF2-40B4-BE49-F238E27FC236}">
                <a16:creationId xmlns:a16="http://schemas.microsoft.com/office/drawing/2014/main" id="{BD8CF948-5531-4AA1-B091-AFA2A09F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325" y="3019425"/>
            <a:ext cx="32893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查询与筛券</a:t>
            </a:r>
          </a:p>
        </p:txBody>
      </p:sp>
      <p:sp>
        <p:nvSpPr>
          <p:cNvPr id="29" name="!!trade.case1.link1.line">
            <a:extLst xmlns:a="http://schemas.openxmlformats.org/drawingml/2006/main">
              <a:ext uri="{FF2B5EF4-FFF2-40B4-BE49-F238E27FC236}">
                <a16:creationId xmlns:a16="http://schemas.microsoft.com/office/drawing/2014/main" id="{29C44DB5-A383-48EE-A049-57905908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07725" y="34528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0" name="!!trade.case1.link1.tip">
            <a:extLst xmlns:a="http://schemas.openxmlformats.org/drawingml/2006/main">
              <a:ext uri="{FF2B5EF4-FFF2-40B4-BE49-F238E27FC236}">
                <a16:creationId xmlns:a16="http://schemas.microsoft.com/office/drawing/2014/main" id="{C77019A3-69BB-4086-8147-FB987FC1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60125" y="33956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1" name="!!trade.case1.2">
            <a:extLst xmlns:a="http://schemas.openxmlformats.org/drawingml/2006/main">
              <a:ext uri="{FF2B5EF4-FFF2-40B4-BE49-F238E27FC236}">
                <a16:creationId xmlns:a16="http://schemas.microsoft.com/office/drawing/2014/main" id="{97327A4D-5CC9-494B-B3E5-CD65586A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3019425"/>
            <a:ext cx="32893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接入业务接口</a:t>
            </a:r>
          </a:p>
        </p:txBody>
      </p:sp>
      <p:sp>
        <p:nvSpPr>
          <p:cNvPr id="32" name="!!trade.case1.note">
            <a:extLst xmlns:a="http://schemas.openxmlformats.org/drawingml/2006/main">
              <a:ext uri="{FF2B5EF4-FFF2-40B4-BE49-F238E27FC236}">
                <a16:creationId xmlns:a16="http://schemas.microsoft.com/office/drawing/2014/main" id="{410EE4B7-B02C-45F8-99F9-45D3813A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62425"/>
            <a:ext cx="1053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收益率、评级、期限进入查询，指令衔接角色权限与确认</a:t>
            </a:r>
          </a:p>
        </p:txBody>
      </p:sp>
      <p:sp>
        <p:nvSpPr>
          <p:cNvPr id="33" name="!!trade.xq">
            <a:extLst xmlns:a="http://schemas.openxmlformats.org/drawingml/2006/main">
              <a:ext uri="{FF2B5EF4-FFF2-40B4-BE49-F238E27FC236}">
                <a16:creationId xmlns:a16="http://schemas.microsoft.com/office/drawing/2014/main" id="{F22CD7A0-1256-4065-B03D-D2D7732C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76825"/>
            <a:ext cx="1053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兴证全球基金  千询</a:t>
            </a:r>
          </a:p>
        </p:txBody>
      </p:sp>
      <p:sp>
        <p:nvSpPr>
          <p:cNvPr id="34" name="!!trade.case2.0">
            <a:extLst xmlns:a="http://schemas.openxmlformats.org/drawingml/2006/main">
              <a:ext uri="{FF2B5EF4-FFF2-40B4-BE49-F238E27FC236}">
                <a16:creationId xmlns:a16="http://schemas.microsoft.com/office/drawing/2014/main" id="{6C672E37-6666-4AF2-86E6-7BA87F35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915025"/>
            <a:ext cx="32893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经理询价意向</a:t>
            </a:r>
          </a:p>
        </p:txBody>
      </p:sp>
      <p:sp>
        <p:nvSpPr>
          <p:cNvPr id="35" name="!!trade.case2.link0.line">
            <a:extLst xmlns:a="http://schemas.openxmlformats.org/drawingml/2006/main">
              <a:ext uri="{FF2B5EF4-FFF2-40B4-BE49-F238E27FC236}">
                <a16:creationId xmlns:a16="http://schemas.microsoft.com/office/drawing/2014/main" id="{30C3BDF5-8236-4AC3-BA75-D8B92256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5050" y="63484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6" name="!!trade.case2.link0.tip">
            <a:extLst xmlns:a="http://schemas.openxmlformats.org/drawingml/2006/main">
              <a:ext uri="{FF2B5EF4-FFF2-40B4-BE49-F238E27FC236}">
                <a16:creationId xmlns:a16="http://schemas.microsoft.com/office/drawing/2014/main" id="{CBC9DD09-DAD9-4EA1-BAFC-8E79D5A3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37450" y="62912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7" name="!!trade.case2.1">
            <a:extLst xmlns:a="http://schemas.openxmlformats.org/drawingml/2006/main">
              <a:ext uri="{FF2B5EF4-FFF2-40B4-BE49-F238E27FC236}">
                <a16:creationId xmlns:a16="http://schemas.microsoft.com/office/drawing/2014/main" id="{D196B8D8-5D88-4EE2-A376-8122F473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325" y="5915025"/>
            <a:ext cx="32893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报价与对手匹配</a:t>
            </a:r>
          </a:p>
        </p:txBody>
      </p:sp>
      <p:sp>
        <p:nvSpPr>
          <p:cNvPr id="38" name="!!trade.case2.link1.line">
            <a:extLst xmlns:a="http://schemas.openxmlformats.org/drawingml/2006/main">
              <a:ext uri="{FF2B5EF4-FFF2-40B4-BE49-F238E27FC236}">
                <a16:creationId xmlns:a16="http://schemas.microsoft.com/office/drawing/2014/main" id="{A7E39A49-6F59-46B7-95A5-B59F3E78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07725" y="63484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trade.case2.link1.tip">
            <a:extLst xmlns:a="http://schemas.openxmlformats.org/drawingml/2006/main">
              <a:ext uri="{FF2B5EF4-FFF2-40B4-BE49-F238E27FC236}">
                <a16:creationId xmlns:a16="http://schemas.microsoft.com/office/drawing/2014/main" id="{486C0872-CFB0-45A1-B245-CF713684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60125" y="62912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trade.case2.2">
            <a:extLst xmlns:a="http://schemas.openxmlformats.org/drawingml/2006/main">
              <a:ext uri="{FF2B5EF4-FFF2-40B4-BE49-F238E27FC236}">
                <a16:creationId xmlns:a16="http://schemas.microsoft.com/office/drawing/2014/main" id="{56F7497E-B14B-45C6-A129-A4FC0762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5915025"/>
            <a:ext cx="32893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成交要素交接</a:t>
            </a:r>
          </a:p>
        </p:txBody>
      </p:sp>
      <p:sp>
        <p:nvSpPr>
          <p:cNvPr id="41" name="!!trade.case2.note">
            <a:extLst xmlns:a="http://schemas.openxmlformats.org/drawingml/2006/main">
              <a:ext uri="{FF2B5EF4-FFF2-40B4-BE49-F238E27FC236}">
                <a16:creationId xmlns:a16="http://schemas.microsoft.com/office/drawing/2014/main" id="{8AA50F7B-232F-47C8-B8F6-3BF57E85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058025"/>
            <a:ext cx="1053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解析聊天中的成交内容，推送交易系统供经理下达指令</a:t>
            </a:r>
          </a:p>
        </p:txBody>
      </p:sp>
    </p:spTree>
    <p:extLst>
      <p:ext uri="{BB962C8B-B14F-4D97-AF65-F5344CB8AC3E}">
        <p14:creationId xmlns:p14="http://schemas.microsoft.com/office/powerpoint/2010/main" val="78001087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!!heading">
            <a:extLst xmlns:a="http://schemas.openxmlformats.org/drawingml/2006/main">
              <a:ext uri="{FF2B5EF4-FFF2-40B4-BE49-F238E27FC236}">
                <a16:creationId xmlns:a16="http://schemas.microsoft.com/office/drawing/2014/main" id="{54EAC392-E134-4532-9422-BE3B3975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公司交易支持方案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66EA05FF-2BCD-441B-9393-71FB02E5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交易支持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8EFE3E40-FB5A-4F0B-B4A2-1556E46C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85745B24-0FFA-4ADD-9D2E-F1DD86DE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D823DB11-59C0-486A-BCFE-A7D99D98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A207C350-3278-447B-AC95-CECAA70B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41A7AD6C-478C-4633-8A63-AA47D50B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984320B9-0CCB-4CA1-852A-9CA40486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C166819D-F475-4450-8530-415202A2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8D9EA4FB-BA38-49EE-B0E5-86E2FAAE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41C01BEB-D2E8-4AC1-AEA3-7E2073BD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94587D07-1025-48AB-AE4C-9B6E4623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3D7F27E5-4523-4966-9BC8-59E9C82D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0BB9EE77-1923-4746-8B02-6893FB25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44211B44-8E5C-4AEA-A1A6-5009FBD8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B886E504-BC86-4A2B-A0CE-A6FF157C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6F5DA483-D51F-44E5-A22F-820F4F43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772B6013-A805-490F-A4C6-4A90B95B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CF7E5426-5810-450E-9349-3F627540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2B37CF14-31ED-4A7C-A9C1-52CBA46D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11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0" action="ppaction://hlinksldjump" tooltip="第10页  南方与兴证全球的交易应用"/>
            <a:extLst xmlns:a="http://schemas.openxmlformats.org/drawingml/2006/main">
              <a:ext uri="{FF2B5EF4-FFF2-40B4-BE49-F238E27FC236}">
                <a16:creationId xmlns:a16="http://schemas.microsoft.com/office/drawing/2014/main" id="{C7C6F974-5DEE-422A-BE9F-011B3D98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714AE244-2487-4758-B717-035C2C1B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17F3871E-E23A-41B7-989E-F8700F7B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13935C4E-07E1-4D9D-B82E-E2574648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来源：南方基金，基金业协会案例材料；兴证全球基金，基金业协会案例材料</a:t>
            </a:r>
          </a:p>
        </p:txBody>
      </p:sp>
      <p:sp>
        <p:nvSpPr>
          <p:cNvPr id="25" name="!!trade.intent">
            <a:extLst xmlns:a="http://schemas.openxmlformats.org/drawingml/2006/main">
              <a:ext uri="{FF2B5EF4-FFF2-40B4-BE49-F238E27FC236}">
                <a16:creationId xmlns:a16="http://schemas.microsoft.com/office/drawing/2014/main" id="{95F60132-1561-4A8D-8993-609109C8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52650"/>
            <a:ext cx="105346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买入甲公司债券，比较候选与报价</a:t>
            </a:r>
          </a:p>
        </p:txBody>
      </p:sp>
      <p:graphicFrame>
        <p:nvGraphicFrame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CCF24C-9D75-4FC4-A7A1-4A9467393D58}"/>
              </a:ext>
            </a:extLst>
          </p:cNvPr>
          <p:cNvGraphicFramePr/>
          <p:nvPr/>
        </p:nvGraphicFramePr>
        <p:xfrm>
          <a:off xmlns:a="http://schemas.openxmlformats.org/drawingml/2006/main" x="4057650" y="3305175"/>
          <a:ext xmlns:a="http://schemas.openxmlformats.org/drawingml/2006/main" cx="10534650" cy="2114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1809750"/>
                <a:gridCol w="2857500"/>
                <a:gridCol w="3105150"/>
              </a:tblGrid>
              <a:tr h="7048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候选券</a:t>
                      </a:r>
                    </a:p>
                  </a:txBody>
                  <a:tcPr marL="142875" marR="142875" marT="114300" marB="114300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方向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价格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数量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甲公司债 A</a:t>
                      </a:r>
                    </a:p>
                  </a:txBody>
                  <a:tcPr marL="142875" marR="142875" marT="114300" marB="114300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买入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实时报价 A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投资意图数量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甲公司债 B</a:t>
                      </a:r>
                    </a:p>
                  </a:txBody>
                  <a:tcPr marL="142875" marR="142875" marT="114300" marB="114300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买入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实时报价 B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投资意图数量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27" name="!!trade.fields">
            <a:extLst xmlns:a="http://schemas.openxmlformats.org/drawingml/2006/main">
              <a:ext uri="{FF2B5EF4-FFF2-40B4-BE49-F238E27FC236}">
                <a16:creationId xmlns:a16="http://schemas.microsoft.com/office/drawing/2014/main" id="{7BD0B894-FFEC-473C-8687-A9EB3D64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29325"/>
            <a:ext cx="60769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券名、方向、价格、数量</a:t>
            </a:r>
          </a:p>
        </p:txBody>
      </p:sp>
      <p:sp>
        <p:nvSpPr>
          <p:cNvPr id="28" name="!!trade.fields.link.line">
            <a:extLst xmlns:a="http://schemas.openxmlformats.org/drawingml/2006/main">
              <a:ext uri="{FF2B5EF4-FFF2-40B4-BE49-F238E27FC236}">
                <a16:creationId xmlns:a16="http://schemas.microsoft.com/office/drawing/2014/main" id="{488C5C0F-DC0C-409D-AE5B-9656F294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39375" y="6419850"/>
            <a:ext cx="552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9" name="!!trade.fields.link.tip">
            <a:extLst xmlns:a="http://schemas.openxmlformats.org/drawingml/2006/main">
              <a:ext uri="{FF2B5EF4-FFF2-40B4-BE49-F238E27FC236}">
                <a16:creationId xmlns:a16="http://schemas.microsoft.com/office/drawing/2014/main" id="{96E3FC60-6A17-44D8-AAE8-E4762145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734675" y="6362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0" name="!!trade.system">
            <a:extLst xmlns:a="http://schemas.openxmlformats.org/drawingml/2006/main">
              <a:ext uri="{FF2B5EF4-FFF2-40B4-BE49-F238E27FC236}">
                <a16:creationId xmlns:a16="http://schemas.microsoft.com/office/drawing/2014/main" id="{10D3ED74-599F-418F-B70D-636DE268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029325"/>
            <a:ext cx="36671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已有交易系统</a:t>
            </a:r>
          </a:p>
        </p:txBody>
      </p:sp>
      <p:sp>
        <p:nvSpPr>
          <p:cNvPr id="31" name="!!trade.owner">
            <a:extLst xmlns:a="http://schemas.openxmlformats.org/drawingml/2006/main">
              <a:ext uri="{FF2B5EF4-FFF2-40B4-BE49-F238E27FC236}">
                <a16:creationId xmlns:a16="http://schemas.microsoft.com/office/drawing/2014/main" id="{C85D5682-8201-4F9E-945E-CB060896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43750"/>
            <a:ext cx="1053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交易员核对成交内容，投资经理按原流程确认指令</a:t>
            </a:r>
          </a:p>
        </p:txBody>
      </p:sp>
    </p:spTree>
    <p:extLst>
      <p:ext uri="{BB962C8B-B14F-4D97-AF65-F5344CB8AC3E}">
        <p14:creationId xmlns:p14="http://schemas.microsoft.com/office/powerpoint/2010/main" val="1211978386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!!heading">
            <a:extLst xmlns:a="http://schemas.openxmlformats.org/drawingml/2006/main">
              <a:ext uri="{FF2B5EF4-FFF2-40B4-BE49-F238E27FC236}">
                <a16:creationId xmlns:a16="http://schemas.microsoft.com/office/drawing/2014/main" id="{D41D066B-84B5-4028-8595-E6DF9562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客户沟通材料的准备过程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4383D212-5427-4C6B-8557-699AAEC5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客户材料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725DF56A-D877-4CD3-8FDD-E22F9954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43C40F98-5504-470C-A95E-A18F33D8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FE1D5C6D-D6BA-4738-B63D-F42D1F38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F14BD8A3-B1B6-4640-8FE3-EFFBD94B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26D2B3BE-3549-4334-BE62-B4931F8A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1F4DD88B-724B-4BF6-AF59-30B4D793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CAF869D9-8605-4C0C-A7D8-BCD18420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78AB3FCB-C274-4B01-9851-5B29C654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E45111D8-1AF4-4FB5-A55D-BEAF3809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372A482E-2648-4179-A85A-A4A8FB4A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1A4E2772-E222-47CE-AA7D-B1BE223D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6A097F50-533E-4183-82C1-2CF09557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10330650-6ABB-4631-AA2F-8D180C3E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6599DF81-BAC6-4724-91C6-BDC0E91E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770A5785-8023-4C17-B6B1-5818DA8B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875F4CDC-B0F7-4255-BE14-1DF250FF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4C6242A0-D769-4893-B8A1-D8D5EC04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12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11" action="ppaction://hlinksldjump" tooltip="第11页  公司交易支持方案"/>
            <a:extLst xmlns:a="http://schemas.openxmlformats.org/drawingml/2006/main">
              <a:ext uri="{FF2B5EF4-FFF2-40B4-BE49-F238E27FC236}">
                <a16:creationId xmlns:a16="http://schemas.microsoft.com/office/drawing/2014/main" id="{5399333E-BBB3-4514-AD6D-D9A2DCDA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13" action="ppaction://hlinksldjump" tooltip="第13页  天弘基金的经理观点与市场材料"/>
            <a:extLst xmlns:a="http://schemas.openxmlformats.org/drawingml/2006/main">
              <a:ext uri="{FF2B5EF4-FFF2-40B4-BE49-F238E27FC236}">
                <a16:creationId xmlns:a16="http://schemas.microsoft.com/office/drawing/2014/main" id="{2BD95E3A-2713-497E-9E37-306E50C3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954524B2-D449-40FD-885C-7274835F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B9762970-8637-407B-BE1E-BD4BCA41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!!client.question">
            <a:extLst xmlns:a="http://schemas.openxmlformats.org/drawingml/2006/main">
              <a:ext uri="{FF2B5EF4-FFF2-40B4-BE49-F238E27FC236}">
                <a16:creationId xmlns:a16="http://schemas.microsoft.com/office/drawing/2014/main" id="{CA9CFD05-81A1-4655-BE02-1B3CCD08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2882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客户关注什么，本次材料用于什么场景？</a:t>
            </a:r>
          </a:p>
        </p:txBody>
      </p:sp>
      <p:sp>
        <p:nvSpPr>
          <p:cNvPr id="25" name="!!client.input.观点">
            <a:extLst xmlns:a="http://schemas.openxmlformats.org/drawingml/2006/main">
              <a:ext uri="{FF2B5EF4-FFF2-40B4-BE49-F238E27FC236}">
                <a16:creationId xmlns:a16="http://schemas.microsoft.com/office/drawing/2014/main" id="{0B416C28-853A-4778-B02E-AC412054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52775"/>
            <a:ext cx="2705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经理观点</a:t>
            </a:r>
          </a:p>
        </p:txBody>
      </p:sp>
      <p:sp>
        <p:nvSpPr>
          <p:cNvPr id="26" name="!!client.input.product">
            <a:extLst xmlns:a="http://schemas.openxmlformats.org/drawingml/2006/main">
              <a:ext uri="{FF2B5EF4-FFF2-40B4-BE49-F238E27FC236}">
                <a16:creationId xmlns:a16="http://schemas.microsoft.com/office/drawing/2014/main" id="{5B8FDA69-CB46-4890-9A89-1BFAC710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91025"/>
            <a:ext cx="2705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产品资料</a:t>
            </a:r>
          </a:p>
        </p:txBody>
      </p:sp>
      <p:sp>
        <p:nvSpPr>
          <p:cNvPr id="27" name="!!client.input.research">
            <a:extLst xmlns:a="http://schemas.openxmlformats.org/drawingml/2006/main">
              <a:ext uri="{FF2B5EF4-FFF2-40B4-BE49-F238E27FC236}">
                <a16:creationId xmlns:a16="http://schemas.microsoft.com/office/drawing/2014/main" id="{45CA5375-F693-4CEC-901F-097779E0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29275"/>
            <a:ext cx="2705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研究报告</a:t>
            </a:r>
          </a:p>
        </p:txBody>
      </p:sp>
      <p:sp>
        <p:nvSpPr>
          <p:cNvPr id="28" name="!!client.retrieve">
            <a:extLst xmlns:a="http://schemas.openxmlformats.org/drawingml/2006/main">
              <a:ext uri="{FF2B5EF4-FFF2-40B4-BE49-F238E27FC236}">
                <a16:creationId xmlns:a16="http://schemas.microsoft.com/office/drawing/2014/main" id="{17B6C26B-0BB7-47FE-B314-D8F50432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162425"/>
            <a:ext cx="24765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按问题检索</a:t>
            </a:r>
          </a:p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按用途组织</a:t>
            </a:r>
          </a:p>
        </p:txBody>
      </p:sp>
      <p:sp>
        <p:nvSpPr>
          <p:cNvPr id="29" name="!!client.in0.1">
            <a:extLst xmlns:a="http://schemas.openxmlformats.org/drawingml/2006/main">
              <a:ext uri="{FF2B5EF4-FFF2-40B4-BE49-F238E27FC236}">
                <a16:creationId xmlns:a16="http://schemas.microsoft.com/office/drawing/2014/main" id="{D775DE63-84F3-45CB-AEFA-7662C4F3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62750" y="3524250"/>
            <a:ext cx="6191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0" name="!!client.in0.2">
            <a:extLst xmlns:a="http://schemas.openxmlformats.org/drawingml/2006/main">
              <a:ext uri="{FF2B5EF4-FFF2-40B4-BE49-F238E27FC236}">
                <a16:creationId xmlns:a16="http://schemas.microsoft.com/office/drawing/2014/main" id="{2701661A-2F84-4490-A251-7C07F765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1875" y="3524250"/>
            <a:ext cx="953" cy="1304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1" name="!!client.in0.3.line">
            <a:extLst xmlns:a="http://schemas.openxmlformats.org/drawingml/2006/main">
              <a:ext uri="{FF2B5EF4-FFF2-40B4-BE49-F238E27FC236}">
                <a16:creationId xmlns:a16="http://schemas.microsoft.com/office/drawing/2014/main" id="{8FA4C134-5986-409D-9656-1217E24A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1875" y="482917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2" name="!!client.in0.3.tip">
            <a:extLst xmlns:a="http://schemas.openxmlformats.org/drawingml/2006/main">
              <a:ext uri="{FF2B5EF4-FFF2-40B4-BE49-F238E27FC236}">
                <a16:creationId xmlns:a16="http://schemas.microsoft.com/office/drawing/2014/main" id="{0F607F36-3A78-436F-B5B1-758A4FC2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15275" y="47720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3" name="!!client.in1.1">
            <a:extLst xmlns:a="http://schemas.openxmlformats.org/drawingml/2006/main">
              <a:ext uri="{FF2B5EF4-FFF2-40B4-BE49-F238E27FC236}">
                <a16:creationId xmlns:a16="http://schemas.microsoft.com/office/drawing/2014/main" id="{1AC77328-CE42-478B-9E95-DDAB5261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62750" y="4762500"/>
            <a:ext cx="6191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4" name="!!client.in1.2">
            <a:extLst xmlns:a="http://schemas.openxmlformats.org/drawingml/2006/main">
              <a:ext uri="{FF2B5EF4-FFF2-40B4-BE49-F238E27FC236}">
                <a16:creationId xmlns:a16="http://schemas.microsoft.com/office/drawing/2014/main" id="{18761194-41FC-405B-A4F0-1C710E4B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1875" y="4762500"/>
            <a:ext cx="953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5" name="!!client.in1.3.line">
            <a:extLst xmlns:a="http://schemas.openxmlformats.org/drawingml/2006/main">
              <a:ext uri="{FF2B5EF4-FFF2-40B4-BE49-F238E27FC236}">
                <a16:creationId xmlns:a16="http://schemas.microsoft.com/office/drawing/2014/main" id="{DC7A3E1E-1CD2-45E3-9821-7DFCEC3A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1875" y="482917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6" name="!!client.in1.3.tip">
            <a:extLst xmlns:a="http://schemas.openxmlformats.org/drawingml/2006/main">
              <a:ext uri="{FF2B5EF4-FFF2-40B4-BE49-F238E27FC236}">
                <a16:creationId xmlns:a16="http://schemas.microsoft.com/office/drawing/2014/main" id="{780C9AF8-4AD4-400B-91CE-5DB95A66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15275" y="47720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7" name="!!client.in2.1">
            <a:extLst xmlns:a="http://schemas.openxmlformats.org/drawingml/2006/main">
              <a:ext uri="{FF2B5EF4-FFF2-40B4-BE49-F238E27FC236}">
                <a16:creationId xmlns:a16="http://schemas.microsoft.com/office/drawing/2014/main" id="{582B9056-FD50-443F-985E-A8D63E46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62750" y="6000750"/>
            <a:ext cx="6191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8" name="!!client.in2.2">
            <a:extLst xmlns:a="http://schemas.openxmlformats.org/drawingml/2006/main">
              <a:ext uri="{FF2B5EF4-FFF2-40B4-BE49-F238E27FC236}">
                <a16:creationId xmlns:a16="http://schemas.microsoft.com/office/drawing/2014/main" id="{9CE163D7-4D21-484C-AC21-D66C4E0B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381875" y="4829175"/>
            <a:ext cx="953" cy="1171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9" name="!!client.in2.3.line">
            <a:extLst xmlns:a="http://schemas.openxmlformats.org/drawingml/2006/main">
              <a:ext uri="{FF2B5EF4-FFF2-40B4-BE49-F238E27FC236}">
                <a16:creationId xmlns:a16="http://schemas.microsoft.com/office/drawing/2014/main" id="{B033F0EF-21A7-46AE-8C46-1B85FCE0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1875" y="482917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0" name="!!client.in2.3.tip">
            <a:extLst xmlns:a="http://schemas.openxmlformats.org/drawingml/2006/main">
              <a:ext uri="{FF2B5EF4-FFF2-40B4-BE49-F238E27FC236}">
                <a16:creationId xmlns:a16="http://schemas.microsoft.com/office/drawing/2014/main" id="{96BD4883-7C1B-4DFC-B2BB-0E355D89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15275" y="47720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1" name="!!client.output0">
            <a:extLst xmlns:a="http://schemas.openxmlformats.org/drawingml/2006/main">
              <a:ext uri="{FF2B5EF4-FFF2-40B4-BE49-F238E27FC236}">
                <a16:creationId xmlns:a16="http://schemas.microsoft.com/office/drawing/2014/main" id="{9150038C-FFB2-4312-99EF-B22B913C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152775"/>
            <a:ext cx="29241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季度沟通稿</a:t>
            </a:r>
          </a:p>
        </p:txBody>
      </p:sp>
      <p:sp>
        <p:nvSpPr>
          <p:cNvPr id="42" name="!!client.out0.1">
            <a:extLst xmlns:a="http://schemas.openxmlformats.org/drawingml/2006/main">
              <a:ext uri="{FF2B5EF4-FFF2-40B4-BE49-F238E27FC236}">
                <a16:creationId xmlns:a16="http://schemas.microsoft.com/office/drawing/2014/main" id="{B391EA71-595E-46C8-A357-3A53E825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48925" y="4829175"/>
            <a:ext cx="609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3" name="!!client.out0.2">
            <a:extLst xmlns:a="http://schemas.openxmlformats.org/drawingml/2006/main">
              <a:ext uri="{FF2B5EF4-FFF2-40B4-BE49-F238E27FC236}">
                <a16:creationId xmlns:a16="http://schemas.microsoft.com/office/drawing/2014/main" id="{A25FF259-C56A-46AF-AF7C-4923D026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058525" y="3524250"/>
            <a:ext cx="953" cy="1304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4" name="!!client.out0.3.line">
            <a:extLst xmlns:a="http://schemas.openxmlformats.org/drawingml/2006/main">
              <a:ext uri="{FF2B5EF4-FFF2-40B4-BE49-F238E27FC236}">
                <a16:creationId xmlns:a16="http://schemas.microsoft.com/office/drawing/2014/main" id="{50C12E09-99E8-4809-9364-994F2DD2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58525" y="3524250"/>
            <a:ext cx="609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5" name="!!client.out0.3.tip">
            <a:extLst xmlns:a="http://schemas.openxmlformats.org/drawingml/2006/main">
              <a:ext uri="{FF2B5EF4-FFF2-40B4-BE49-F238E27FC236}">
                <a16:creationId xmlns:a16="http://schemas.microsoft.com/office/drawing/2014/main" id="{B2DDF97F-AFBA-4E5A-809E-F7E7858B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610975" y="34671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6" name="!!client.output1">
            <a:extLst xmlns:a="http://schemas.openxmlformats.org/drawingml/2006/main">
              <a:ext uri="{FF2B5EF4-FFF2-40B4-BE49-F238E27FC236}">
                <a16:creationId xmlns:a16="http://schemas.microsoft.com/office/drawing/2014/main" id="{41E2451B-A6E8-4A32-A5CA-9E7FA4B5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4391025"/>
            <a:ext cx="29241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产品问答</a:t>
            </a:r>
          </a:p>
        </p:txBody>
      </p:sp>
      <p:sp>
        <p:nvSpPr>
          <p:cNvPr id="47" name="!!client.out1.1">
            <a:extLst xmlns:a="http://schemas.openxmlformats.org/drawingml/2006/main">
              <a:ext uri="{FF2B5EF4-FFF2-40B4-BE49-F238E27FC236}">
                <a16:creationId xmlns:a16="http://schemas.microsoft.com/office/drawing/2014/main" id="{729751D2-9C31-4A48-98F0-78AF45B9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48925" y="4829175"/>
            <a:ext cx="609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8" name="!!client.out1.2">
            <a:extLst xmlns:a="http://schemas.openxmlformats.org/drawingml/2006/main">
              <a:ext uri="{FF2B5EF4-FFF2-40B4-BE49-F238E27FC236}">
                <a16:creationId xmlns:a16="http://schemas.microsoft.com/office/drawing/2014/main" id="{A49EC55A-3750-4350-A841-CBA1CC95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058525" y="4762500"/>
            <a:ext cx="953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9" name="!!client.out1.3.line">
            <a:extLst xmlns:a="http://schemas.openxmlformats.org/drawingml/2006/main">
              <a:ext uri="{FF2B5EF4-FFF2-40B4-BE49-F238E27FC236}">
                <a16:creationId xmlns:a16="http://schemas.microsoft.com/office/drawing/2014/main" id="{0FA6D77B-F466-4DDA-8300-3C92ED1E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58525" y="4762500"/>
            <a:ext cx="609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0" name="!!client.out1.3.tip">
            <a:extLst xmlns:a="http://schemas.openxmlformats.org/drawingml/2006/main">
              <a:ext uri="{FF2B5EF4-FFF2-40B4-BE49-F238E27FC236}">
                <a16:creationId xmlns:a16="http://schemas.microsoft.com/office/drawing/2014/main" id="{5F5F15EA-4EAF-4EE2-AA46-AC6A63E2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610975" y="47053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1" name="!!client.output2">
            <a:extLst xmlns:a="http://schemas.openxmlformats.org/drawingml/2006/main">
              <a:ext uri="{FF2B5EF4-FFF2-40B4-BE49-F238E27FC236}">
                <a16:creationId xmlns:a16="http://schemas.microsoft.com/office/drawing/2014/main" id="{610A4ABC-5A25-4DA5-BC6C-29A7BEC0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5629275"/>
            <a:ext cx="29241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机构标书</a:t>
            </a:r>
          </a:p>
        </p:txBody>
      </p:sp>
      <p:sp>
        <p:nvSpPr>
          <p:cNvPr id="52" name="!!client.out2.1">
            <a:extLst xmlns:a="http://schemas.openxmlformats.org/drawingml/2006/main">
              <a:ext uri="{FF2B5EF4-FFF2-40B4-BE49-F238E27FC236}">
                <a16:creationId xmlns:a16="http://schemas.microsoft.com/office/drawing/2014/main" id="{6304787A-E3F9-4205-8648-DE3AB70A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48925" y="4829175"/>
            <a:ext cx="609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53" name="!!client.out2.2">
            <a:extLst xmlns:a="http://schemas.openxmlformats.org/drawingml/2006/main">
              <a:ext uri="{FF2B5EF4-FFF2-40B4-BE49-F238E27FC236}">
                <a16:creationId xmlns:a16="http://schemas.microsoft.com/office/drawing/2014/main" id="{BAE1E8E3-A40A-4B4F-A7B5-448917CF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58525" y="4829175"/>
            <a:ext cx="953" cy="1171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54" name="!!client.out2.3.line">
            <a:extLst xmlns:a="http://schemas.openxmlformats.org/drawingml/2006/main">
              <a:ext uri="{FF2B5EF4-FFF2-40B4-BE49-F238E27FC236}">
                <a16:creationId xmlns:a16="http://schemas.microsoft.com/office/drawing/2014/main" id="{F026ED5D-651C-4AA6-A083-479D231E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58525" y="6000750"/>
            <a:ext cx="609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5" name="!!client.out2.3.tip">
            <a:extLst xmlns:a="http://schemas.openxmlformats.org/drawingml/2006/main">
              <a:ext uri="{FF2B5EF4-FFF2-40B4-BE49-F238E27FC236}">
                <a16:creationId xmlns:a16="http://schemas.microsoft.com/office/drawing/2014/main" id="{50791A88-61FF-47A6-9547-7C66B4F9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610975" y="5943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94499372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!!heading">
            <a:extLst xmlns:a="http://schemas.openxmlformats.org/drawingml/2006/main">
              <a:ext uri="{FF2B5EF4-FFF2-40B4-BE49-F238E27FC236}">
                <a16:creationId xmlns:a16="http://schemas.microsoft.com/office/drawing/2014/main" id="{E225C1E8-690A-4B9C-841F-4232706E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天弘基金的经理观点与市场材料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22091621-6C7C-4658-97BA-3D5F1BD7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客户材料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E98FB3DF-FE0D-49CF-AB39-766BBA43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A7443F90-1B88-4139-9150-26245DD0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046BB7A9-1069-48FF-B48A-1A3B3615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1D394C7F-23E8-4434-B8C7-303A74B5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CD2AA888-332B-456F-85D4-9A9251BF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1225693A-A423-4945-A1B7-7B256349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E0BA5F57-61A1-40C2-9576-DA5BEEE2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832CEFB-96E0-4B52-9E65-226F10D8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ECE46E16-B4BB-4C9C-B8C6-1F1D9DF5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228498E7-DF13-4EDE-A80B-486A7902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EC092AB4-7127-4F91-BC23-7A4C3E56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F2E5F070-6040-4377-8A79-B3EC7277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89725342-5DF3-4958-B47B-CF3C2DA5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68F9FF5B-3EF8-4E48-BE32-CDE47577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DDD64077-46D1-41C4-80D7-FE690C48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8718218B-95BA-47C0-8A72-B78D46B5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8299319A-488D-4937-816D-0A25442C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9CA8D3EE-81A4-4733-9DA4-7768DB2E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13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E2E76F8C-E40A-434B-B56C-CC9AFA4C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4" action="ppaction://hlinksldjump" tooltip="第14页  工银瑞信的机构标书助手"/>
            <a:extLst xmlns:a="http://schemas.openxmlformats.org/drawingml/2006/main">
              <a:ext uri="{FF2B5EF4-FFF2-40B4-BE49-F238E27FC236}">
                <a16:creationId xmlns:a16="http://schemas.microsoft.com/office/drawing/2014/main" id="{61E6DBE1-33B1-42D9-A37C-DA786910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4708E801-20D7-4E94-8E26-772073C6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B12C429D-BAAF-4E7F-A09A-110B0419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</a:t>
            </a:r>
          </a:p>
        </p:txBody>
      </p:sp>
      <p:sp>
        <p:nvSpPr>
          <p:cNvPr id="25" name="!!client.views.0">
            <a:extLst xmlns:a="http://schemas.openxmlformats.org/drawingml/2006/main">
              <a:ext uri="{FF2B5EF4-FFF2-40B4-BE49-F238E27FC236}">
                <a16:creationId xmlns:a16="http://schemas.microsoft.com/office/drawing/2014/main" id="{BE6B34C5-5E5A-4223-9641-D46C200C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90750"/>
            <a:ext cx="32893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路演纪要与定期报告</a:t>
            </a:r>
          </a:p>
        </p:txBody>
      </p:sp>
      <p:sp>
        <p:nvSpPr>
          <p:cNvPr id="26" name="!!client.views.link0.line">
            <a:extLst xmlns:a="http://schemas.openxmlformats.org/drawingml/2006/main">
              <a:ext uri="{FF2B5EF4-FFF2-40B4-BE49-F238E27FC236}">
                <a16:creationId xmlns:a16="http://schemas.microsoft.com/office/drawing/2014/main" id="{B0C1010F-B68E-4CD4-891D-BC628D52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5050" y="259556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7" name="!!client.views.link0.tip">
            <a:extLst xmlns:a="http://schemas.openxmlformats.org/drawingml/2006/main">
              <a:ext uri="{FF2B5EF4-FFF2-40B4-BE49-F238E27FC236}">
                <a16:creationId xmlns:a16="http://schemas.microsoft.com/office/drawing/2014/main" id="{360002AC-9467-4D62-828C-99666527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37450" y="253841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8" name="!!client.views.1">
            <a:extLst xmlns:a="http://schemas.openxmlformats.org/drawingml/2006/main">
              <a:ext uri="{FF2B5EF4-FFF2-40B4-BE49-F238E27FC236}">
                <a16:creationId xmlns:a16="http://schemas.microsoft.com/office/drawing/2014/main" id="{0F1D3C15-EC09-4CF4-B210-965AEEEF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325" y="2190750"/>
            <a:ext cx="32893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按经理或产品汇总</a:t>
            </a:r>
          </a:p>
        </p:txBody>
      </p:sp>
      <p:sp>
        <p:nvSpPr>
          <p:cNvPr id="29" name="!!client.views.link1.line">
            <a:extLst xmlns:a="http://schemas.openxmlformats.org/drawingml/2006/main">
              <a:ext uri="{FF2B5EF4-FFF2-40B4-BE49-F238E27FC236}">
                <a16:creationId xmlns:a16="http://schemas.microsoft.com/office/drawing/2014/main" id="{753B5F24-A732-4E4E-8A70-338E8C63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07725" y="259556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0" name="!!client.views.link1.tip">
            <a:extLst xmlns:a="http://schemas.openxmlformats.org/drawingml/2006/main">
              <a:ext uri="{FF2B5EF4-FFF2-40B4-BE49-F238E27FC236}">
                <a16:creationId xmlns:a16="http://schemas.microsoft.com/office/drawing/2014/main" id="{F7861DCA-74D6-43D1-8364-02223B64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60125" y="253841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1" name="!!client.views.2">
            <a:extLst xmlns:a="http://schemas.openxmlformats.org/drawingml/2006/main">
              <a:ext uri="{FF2B5EF4-FFF2-40B4-BE49-F238E27FC236}">
                <a16:creationId xmlns:a16="http://schemas.microsoft.com/office/drawing/2014/main" id="{94F1959E-94D6-4827-BA26-868AD374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2190750"/>
            <a:ext cx="32893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客户表达</a:t>
            </a:r>
          </a:p>
        </p:txBody>
      </p:sp>
      <p:sp>
        <p:nvSpPr>
          <p:cNvPr id="32" name="!!client.original.head">
            <a:extLst xmlns:a="http://schemas.openxmlformats.org/drawingml/2006/main">
              <a:ext uri="{FF2B5EF4-FFF2-40B4-BE49-F238E27FC236}">
                <a16:creationId xmlns:a16="http://schemas.microsoft.com/office/drawing/2014/main" id="{BF704574-F3B3-4AB1-91E5-5E929A24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19500"/>
            <a:ext cx="483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经理观点原材料</a:t>
            </a:r>
          </a:p>
        </p:txBody>
      </p:sp>
      <p:sp>
        <p:nvSpPr>
          <p:cNvPr id="33" name="!!client.original">
            <a:extLst xmlns:a="http://schemas.openxmlformats.org/drawingml/2006/main">
              <a:ext uri="{FF2B5EF4-FFF2-40B4-BE49-F238E27FC236}">
                <a16:creationId xmlns:a16="http://schemas.microsoft.com/office/drawing/2014/main" id="{D7A8FB4B-B9A8-45CA-B5CD-67FDD410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05300"/>
            <a:ext cx="48387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</a:t>
            </a:r>
          </a:p>
          <a:p xmlns:a="http://schemas.openxmlformats.org/drawingml/2006/main">
            <a:pPr algn="l">
              <a:defRPr sz="24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持续跟踪原材料成本。</a:t>
            </a:r>
          </a:p>
        </p:txBody>
      </p:sp>
      <p:sp>
        <p:nvSpPr>
          <p:cNvPr id="34" name="!!client.rewrite.line">
            <a:extLst xmlns:a="http://schemas.openxmlformats.org/drawingml/2006/main">
              <a:ext uri="{FF2B5EF4-FFF2-40B4-BE49-F238E27FC236}">
                <a16:creationId xmlns:a16="http://schemas.microsoft.com/office/drawing/2014/main" id="{6C99F453-06F2-4C08-BA83-7DA132CF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10675" y="4867275"/>
            <a:ext cx="514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5" name="!!client.rewrite.tip">
            <a:extLst xmlns:a="http://schemas.openxmlformats.org/drawingml/2006/main">
              <a:ext uri="{FF2B5EF4-FFF2-40B4-BE49-F238E27FC236}">
                <a16:creationId xmlns:a16="http://schemas.microsoft.com/office/drawing/2014/main" id="{64B52E3A-CA71-417F-B837-139EE41C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67875" y="48101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6" name="!!client.express.head">
            <a:extLst xmlns:a="http://schemas.openxmlformats.org/drawingml/2006/main">
              <a:ext uri="{FF2B5EF4-FFF2-40B4-BE49-F238E27FC236}">
                <a16:creationId xmlns:a16="http://schemas.microsoft.com/office/drawing/2014/main" id="{409BD397-59B6-4476-81D2-58F1F4DF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1950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季度沟通与产品问答</a:t>
            </a:r>
          </a:p>
        </p:txBody>
      </p:sp>
      <p:sp>
        <p:nvSpPr>
          <p:cNvPr id="37" name="!!client.express">
            <a:extLst xmlns:a="http://schemas.openxmlformats.org/drawingml/2006/main">
              <a:ext uri="{FF2B5EF4-FFF2-40B4-BE49-F238E27FC236}">
                <a16:creationId xmlns:a16="http://schemas.microsoft.com/office/drawing/2014/main" id="{EFC3EF8C-128B-4E5F-B19E-C18F072E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05300"/>
            <a:ext cx="44958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本期经营改善来自销量增长。</a:t>
            </a:r>
          </a:p>
          <a:p xmlns:a="http://schemas.openxmlformats.org/drawingml/2006/main">
            <a: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后续关注原材料成本，</a:t>
            </a:r>
          </a:p>
          <a:p xmlns:a="http://schemas.openxmlformats.org/drawingml/2006/main">
            <a: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据此跟踪观点变化。</a:t>
            </a:r>
          </a:p>
        </p:txBody>
      </p:sp>
      <p:sp>
        <p:nvSpPr>
          <p:cNvPr id="38" name="!!client.market.line">
            <a:extLst xmlns:a="http://schemas.openxmlformats.org/drawingml/2006/main">
              <a:ext uri="{FF2B5EF4-FFF2-40B4-BE49-F238E27FC236}">
                <a16:creationId xmlns:a16="http://schemas.microsoft.com/office/drawing/2014/main" id="{E6F5F20A-35C0-4958-9E79-6C3881DA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6477000"/>
            <a:ext cx="10534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9" name="!!client.market">
            <a:extLst xmlns:a="http://schemas.openxmlformats.org/drawingml/2006/main">
              <a:ext uri="{FF2B5EF4-FFF2-40B4-BE49-F238E27FC236}">
                <a16:creationId xmlns:a16="http://schemas.microsoft.com/office/drawing/2014/main" id="{3B73E542-02F8-43C7-B9F7-0B10607B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819900"/>
            <a:ext cx="1053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天弘还将市场资料整理为行业周评、每日早评和收评</a:t>
            </a:r>
          </a:p>
        </p:txBody>
      </p:sp>
    </p:spTree>
    <p:extLst>
      <p:ext uri="{BB962C8B-B14F-4D97-AF65-F5344CB8AC3E}">
        <p14:creationId xmlns:p14="http://schemas.microsoft.com/office/powerpoint/2010/main" val="2120598412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!!heading">
            <a:extLst xmlns:a="http://schemas.openxmlformats.org/drawingml/2006/main">
              <a:ext uri="{FF2B5EF4-FFF2-40B4-BE49-F238E27FC236}">
                <a16:creationId xmlns:a16="http://schemas.microsoft.com/office/drawing/2014/main" id="{4936348F-46A8-4D6F-B2FB-1E110996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工银瑞信的机构标书助手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F3303A2A-EDF9-4DF4-A920-ADFBD446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客户材料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EB33C861-6D9D-4ECB-AA29-9D40DF7C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29128957-56B5-4E4D-B00B-C0384E39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758D509F-94FE-4106-9B5F-37560FEF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1D010CC1-CD71-4511-A7B4-9B8814D4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84CFCEE3-72F7-447E-9231-F1302EE4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58E54B3D-B095-46D2-A9FB-E687A1FC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B30C9917-7F4F-40F6-8D0F-E121710A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535513F9-DFE9-4450-B117-A5BB1863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2FF77FDE-6A2F-4514-9C25-11C3B232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AA793A67-C2B2-4AB1-B580-4BA00629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963CA36E-3392-4C33-B044-A68D77D6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8218263E-8B4F-4014-8458-62391FAE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99060957-031C-4197-89B5-AEBBD2B8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3B409B3C-6BCA-4CE0-B2FA-668D49A7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6A46E2CF-086D-4B1D-B520-6D1BA347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93B4760E-A366-4FB0-ABF8-272938C2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9D8BC1E0-56EB-45F4-9318-150040B9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94A16A4C-2488-4533-88F0-9E6F4AA8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14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3" action="ppaction://hlinksldjump" tooltip="第13页  天弘基金的经理观点与市场材料"/>
            <a:extLst xmlns:a="http://schemas.openxmlformats.org/drawingml/2006/main">
              <a:ext uri="{FF2B5EF4-FFF2-40B4-BE49-F238E27FC236}">
                <a16:creationId xmlns:a16="http://schemas.microsoft.com/office/drawing/2014/main" id="{49B10B62-FE30-4108-8DE5-1097B938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5" action="ppaction://hlinksldjump" tooltip="第15页  公司客户材料方案"/>
            <a:extLst xmlns:a="http://schemas.openxmlformats.org/drawingml/2006/main">
              <a:ext uri="{FF2B5EF4-FFF2-40B4-BE49-F238E27FC236}">
                <a16:creationId xmlns:a16="http://schemas.microsoft.com/office/drawing/2014/main" id="{C6327F62-5C07-4ED1-BFF1-C4C7F4D1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8F8F09E5-CF38-46FE-B610-9EB726D9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1EC3AE2E-45BE-46A3-8409-1AA3A9E0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来源：工银瑞信基金，基金业协会案例材料</a:t>
            </a:r>
          </a:p>
        </p:txBody>
      </p:sp>
      <p:sp>
        <p:nvSpPr>
          <p:cNvPr id="25" name="!!tender.head0">
            <a:extLst xmlns:a="http://schemas.openxmlformats.org/drawingml/2006/main">
              <a:ext uri="{FF2B5EF4-FFF2-40B4-BE49-F238E27FC236}">
                <a16:creationId xmlns:a16="http://schemas.microsoft.com/office/drawing/2014/main" id="{29E67180-C9CF-42A5-906B-02B8B17B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1932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客户问题</a:t>
            </a:r>
          </a:p>
        </p:txBody>
      </p:sp>
      <p:sp>
        <p:nvSpPr>
          <p:cNvPr id="26" name="!!tender.head1">
            <a:extLst xmlns:a="http://schemas.openxmlformats.org/drawingml/2006/main">
              <a:ext uri="{FF2B5EF4-FFF2-40B4-BE49-F238E27FC236}">
                <a16:creationId xmlns:a16="http://schemas.microsoft.com/office/drawing/2014/main" id="{4DFBA64E-2D2D-4705-90D4-3CBFA6F0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1932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公司知识资料</a:t>
            </a:r>
          </a:p>
        </p:txBody>
      </p:sp>
      <p:sp>
        <p:nvSpPr>
          <p:cNvPr id="27" name="!!tender.head2">
            <a:extLst xmlns:a="http://schemas.openxmlformats.org/drawingml/2006/main">
              <a:ext uri="{FF2B5EF4-FFF2-40B4-BE49-F238E27FC236}">
                <a16:creationId xmlns:a16="http://schemas.microsoft.com/office/drawing/2014/main" id="{F33F40E8-D1FA-436B-B778-90CE1885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21932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标书章节</a:t>
            </a:r>
          </a:p>
        </p:txBody>
      </p:sp>
      <p:sp>
        <p:nvSpPr>
          <p:cNvPr id="28" name="!!tender.0.0">
            <a:extLst xmlns:a="http://schemas.openxmlformats.org/drawingml/2006/main">
              <a:ext uri="{FF2B5EF4-FFF2-40B4-BE49-F238E27FC236}">
                <a16:creationId xmlns:a16="http://schemas.microsoft.com/office/drawing/2014/main" id="{1F3F3FC0-C1F1-4B9B-B954-314CA706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52800"/>
            <a:ext cx="3333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投研流程如何组织</a:t>
            </a:r>
          </a:p>
        </p:txBody>
      </p:sp>
      <p:sp>
        <p:nvSpPr>
          <p:cNvPr id="29" name="!!tender.0.1">
            <a:extLst xmlns:a="http://schemas.openxmlformats.org/drawingml/2006/main">
              <a:ext uri="{FF2B5EF4-FFF2-40B4-BE49-F238E27FC236}">
                <a16:creationId xmlns:a16="http://schemas.microsoft.com/office/drawing/2014/main" id="{15A450B2-6547-484E-B005-138B1B7F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52800"/>
            <a:ext cx="3333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投研流程说明</a:t>
            </a:r>
          </a:p>
        </p:txBody>
      </p:sp>
      <p:sp>
        <p:nvSpPr>
          <p:cNvPr id="30" name="!!tender.0.2">
            <a:extLst xmlns:a="http://schemas.openxmlformats.org/drawingml/2006/main">
              <a:ext uri="{FF2B5EF4-FFF2-40B4-BE49-F238E27FC236}">
                <a16:creationId xmlns:a16="http://schemas.microsoft.com/office/drawing/2014/main" id="{0A9CDBC7-A68D-47B1-AB19-7C09B8F3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52800"/>
            <a:ext cx="3333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投研能力</a:t>
            </a:r>
          </a:p>
        </p:txBody>
      </p:sp>
      <p:sp>
        <p:nvSpPr>
          <p:cNvPr id="31" name="!!tender.a0.line">
            <a:extLst xmlns:a="http://schemas.openxmlformats.org/drawingml/2006/main">
              <a:ext uri="{FF2B5EF4-FFF2-40B4-BE49-F238E27FC236}">
                <a16:creationId xmlns:a16="http://schemas.microsoft.com/office/drawing/2014/main" id="{71F95306-8045-4D31-A7A0-CFC5215D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374332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2" name="!!tender.a0.tip">
            <a:extLst xmlns:a="http://schemas.openxmlformats.org/drawingml/2006/main">
              <a:ext uri="{FF2B5EF4-FFF2-40B4-BE49-F238E27FC236}">
                <a16:creationId xmlns:a16="http://schemas.microsoft.com/office/drawing/2014/main" id="{82D7FD88-073D-4B2F-8666-FDC1A55F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36861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3" name="!!tender.b0.line">
            <a:extLst xmlns:a="http://schemas.openxmlformats.org/drawingml/2006/main">
              <a:ext uri="{FF2B5EF4-FFF2-40B4-BE49-F238E27FC236}">
                <a16:creationId xmlns:a16="http://schemas.microsoft.com/office/drawing/2014/main" id="{C19DD97A-6ACE-48F4-ABFC-E4920BF2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374332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4" name="!!tender.b0.tip">
            <a:extLst xmlns:a="http://schemas.openxmlformats.org/drawingml/2006/main">
              <a:ext uri="{FF2B5EF4-FFF2-40B4-BE49-F238E27FC236}">
                <a16:creationId xmlns:a16="http://schemas.microsoft.com/office/drawing/2014/main" id="{709104B7-5827-44FD-9FA2-34DE0DC8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36861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5" name="!!tender.1.0">
            <a:extLst xmlns:a="http://schemas.openxmlformats.org/drawingml/2006/main">
              <a:ext uri="{FF2B5EF4-FFF2-40B4-BE49-F238E27FC236}">
                <a16:creationId xmlns:a16="http://schemas.microsoft.com/office/drawing/2014/main" id="{82AB2688-E596-4B86-8CA7-90B2337F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19625"/>
            <a:ext cx="3333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产品信息如何表述</a:t>
            </a:r>
          </a:p>
        </p:txBody>
      </p:sp>
      <p:sp>
        <p:nvSpPr>
          <p:cNvPr id="36" name="!!tender.1.1">
            <a:extLst xmlns:a="http://schemas.openxmlformats.org/drawingml/2006/main">
              <a:ext uri="{FF2B5EF4-FFF2-40B4-BE49-F238E27FC236}">
                <a16:creationId xmlns:a16="http://schemas.microsoft.com/office/drawing/2014/main" id="{4CB7DDE7-382D-42D7-9BC2-4B701411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19625"/>
            <a:ext cx="3333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产品文件与定期报告</a:t>
            </a:r>
          </a:p>
        </p:txBody>
      </p:sp>
      <p:sp>
        <p:nvSpPr>
          <p:cNvPr id="37" name="!!tender.1.2">
            <a:extLst xmlns:a="http://schemas.openxmlformats.org/drawingml/2006/main">
              <a:ext uri="{FF2B5EF4-FFF2-40B4-BE49-F238E27FC236}">
                <a16:creationId xmlns:a16="http://schemas.microsoft.com/office/drawing/2014/main" id="{DB08A935-56C3-4765-8C3C-0D9C41D9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619625"/>
            <a:ext cx="3333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产品介绍</a:t>
            </a:r>
          </a:p>
        </p:txBody>
      </p:sp>
      <p:sp>
        <p:nvSpPr>
          <p:cNvPr id="38" name="!!tender.a1.line">
            <a:extLst xmlns:a="http://schemas.openxmlformats.org/drawingml/2006/main">
              <a:ext uri="{FF2B5EF4-FFF2-40B4-BE49-F238E27FC236}">
                <a16:creationId xmlns:a16="http://schemas.microsoft.com/office/drawing/2014/main" id="{52CD20E0-B35C-45CD-827F-F2A47663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501015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tender.a1.tip">
            <a:extLst xmlns:a="http://schemas.openxmlformats.org/drawingml/2006/main">
              <a:ext uri="{FF2B5EF4-FFF2-40B4-BE49-F238E27FC236}">
                <a16:creationId xmlns:a16="http://schemas.microsoft.com/office/drawing/2014/main" id="{B1A9D6F2-9ABA-487E-9B36-E69FC2A7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4953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tender.b1.line">
            <a:extLst xmlns:a="http://schemas.openxmlformats.org/drawingml/2006/main">
              <a:ext uri="{FF2B5EF4-FFF2-40B4-BE49-F238E27FC236}">
                <a16:creationId xmlns:a16="http://schemas.microsoft.com/office/drawing/2014/main" id="{CDDAE1CD-3DF7-4E50-9E47-ADBB05B9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501015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1" name="!!tender.b1.tip">
            <a:extLst xmlns:a="http://schemas.openxmlformats.org/drawingml/2006/main">
              <a:ext uri="{FF2B5EF4-FFF2-40B4-BE49-F238E27FC236}">
                <a16:creationId xmlns:a16="http://schemas.microsoft.com/office/drawing/2014/main" id="{8919D131-999E-428B-BFFE-88C4D160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4953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2" name="!!tender.2.0">
            <a:extLst xmlns:a="http://schemas.openxmlformats.org/drawingml/2006/main">
              <a:ext uri="{FF2B5EF4-FFF2-40B4-BE49-F238E27FC236}">
                <a16:creationId xmlns:a16="http://schemas.microsoft.com/office/drawing/2014/main" id="{438E859D-014B-4143-8D90-BAC46075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86450"/>
            <a:ext cx="3333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运营如何支持服务</a:t>
            </a:r>
          </a:p>
        </p:txBody>
      </p:sp>
      <p:sp>
        <p:nvSpPr>
          <p:cNvPr id="43" name="!!tender.2.1">
            <a:extLst xmlns:a="http://schemas.openxmlformats.org/drawingml/2006/main">
              <a:ext uri="{FF2B5EF4-FFF2-40B4-BE49-F238E27FC236}">
                <a16:creationId xmlns:a16="http://schemas.microsoft.com/office/drawing/2014/main" id="{E4217D9C-D2E1-4FC3-9744-21FC645D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886450"/>
            <a:ext cx="3333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制度与操作说明</a:t>
            </a:r>
          </a:p>
        </p:txBody>
      </p:sp>
      <p:sp>
        <p:nvSpPr>
          <p:cNvPr id="44" name="!!tender.2.2">
            <a:extLst xmlns:a="http://schemas.openxmlformats.org/drawingml/2006/main">
              <a:ext uri="{FF2B5EF4-FFF2-40B4-BE49-F238E27FC236}">
                <a16:creationId xmlns:a16="http://schemas.microsoft.com/office/drawing/2014/main" id="{8281EB5A-C70E-40E8-B395-327E5CE0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886450"/>
            <a:ext cx="3333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运营服务</a:t>
            </a:r>
          </a:p>
        </p:txBody>
      </p:sp>
      <p:sp>
        <p:nvSpPr>
          <p:cNvPr id="45" name="!!tender.a2.line">
            <a:extLst xmlns:a="http://schemas.openxmlformats.org/drawingml/2006/main">
              <a:ext uri="{FF2B5EF4-FFF2-40B4-BE49-F238E27FC236}">
                <a16:creationId xmlns:a16="http://schemas.microsoft.com/office/drawing/2014/main" id="{9B9652AB-E2C6-4750-B326-CA597B30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627697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6" name="!!tender.a2.tip">
            <a:extLst xmlns:a="http://schemas.openxmlformats.org/drawingml/2006/main">
              <a:ext uri="{FF2B5EF4-FFF2-40B4-BE49-F238E27FC236}">
                <a16:creationId xmlns:a16="http://schemas.microsoft.com/office/drawing/2014/main" id="{5A13B505-099A-4EE7-9E0E-129943DB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6219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7" name="!!tender.b2.line">
            <a:extLst xmlns:a="http://schemas.openxmlformats.org/drawingml/2006/main">
              <a:ext uri="{FF2B5EF4-FFF2-40B4-BE49-F238E27FC236}">
                <a16:creationId xmlns:a16="http://schemas.microsoft.com/office/drawing/2014/main" id="{E5930888-51F6-47D8-AF7B-A658029B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627697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8" name="!!tender.b2.tip">
            <a:extLst xmlns:a="http://schemas.openxmlformats.org/drawingml/2006/main">
              <a:ext uri="{FF2B5EF4-FFF2-40B4-BE49-F238E27FC236}">
                <a16:creationId xmlns:a16="http://schemas.microsoft.com/office/drawing/2014/main" id="{3C1D3C13-C02D-49BD-9400-3FFF7E59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6219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9" name="!!tender.result">
            <a:extLst xmlns:a="http://schemas.openxmlformats.org/drawingml/2006/main">
              <a:ext uri="{FF2B5EF4-FFF2-40B4-BE49-F238E27FC236}">
                <a16:creationId xmlns:a16="http://schemas.microsoft.com/office/drawing/2014/main" id="{64FE8CD0-C69F-43A3-8998-B724E0A2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72325"/>
            <a:ext cx="1053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问题、回答和资料出处逐项对应</a:t>
            </a:r>
          </a:p>
        </p:txBody>
      </p:sp>
    </p:spTree>
    <p:extLst>
      <p:ext uri="{BB962C8B-B14F-4D97-AF65-F5344CB8AC3E}">
        <p14:creationId xmlns:p14="http://schemas.microsoft.com/office/powerpoint/2010/main" val="97685270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!!heading">
            <a:extLst xmlns:a="http://schemas.openxmlformats.org/drawingml/2006/main">
              <a:ext uri="{FF2B5EF4-FFF2-40B4-BE49-F238E27FC236}">
                <a16:creationId xmlns:a16="http://schemas.microsoft.com/office/drawing/2014/main" id="{129982AC-FC16-4C79-B42D-964C3977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公司客户材料方案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671C0F28-D438-4235-A946-25E2F981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客户材料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BB5E413B-9EF5-44A7-AD07-E7677981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982A8F38-5300-4000-A493-A0196397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95CEEA8D-3018-41F7-B1E3-CAB9D806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B2772436-1D02-4888-A6CA-EDD1C326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5216B505-89FF-4610-8724-8DAC74C9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D0324CFA-5625-4707-92AA-C279081A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0A3834E8-168A-4D6A-8F01-23268917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465E2358-E981-4635-B54A-91D4656C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7E812F42-C1DC-4769-879D-A5ACDC14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A2D03F9A-B9B5-4A7C-AB40-36149CDA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887DBA44-E4A9-4D98-A2D8-E04218D6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5600705D-BE80-4094-90D0-C1BD3752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35C62FAA-1A38-447E-9A4B-0B5A2DC1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D4B5AC47-E0ED-4B49-B5F5-FF19A9E7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BE462CE8-C8B1-4D8F-BF48-33F328DF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B042D564-A6A7-4243-9AE1-0CA3202E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C7979DA1-DE63-4154-B10A-551FA2D8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A813C4AF-4C6A-4ABB-AFA6-BFB0BC01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15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4" action="ppaction://hlinksldjump" tooltip="第14页  工银瑞信的机构标书助手"/>
            <a:extLst xmlns:a="http://schemas.openxmlformats.org/drawingml/2006/main">
              <a:ext uri="{FF2B5EF4-FFF2-40B4-BE49-F238E27FC236}">
                <a16:creationId xmlns:a16="http://schemas.microsoft.com/office/drawing/2014/main" id="{382A644B-D7C0-418B-9CFE-28C88889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6E0661CD-8EBE-40DD-B3F7-8B133F97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B51CB323-2B80-406D-A403-0AA71BC2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5CD43E59-F4C9-40B6-906A-267DC634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来源：天弘基金，基金业协会案例材料；工银瑞信基金，基金业协会案例材料；财经网，招商基金数字金融报道</a:t>
            </a:r>
          </a:p>
        </p:txBody>
      </p:sp>
      <p:sp>
        <p:nvSpPr>
          <p:cNvPr id="25" name="!!client.input.customer">
            <a:extLst xmlns:a="http://schemas.openxmlformats.org/drawingml/2006/main">
              <a:ext uri="{FF2B5EF4-FFF2-40B4-BE49-F238E27FC236}">
                <a16:creationId xmlns:a16="http://schemas.microsoft.com/office/drawing/2014/main" id="{8E5FF936-BA34-459E-8ABF-9366FAB9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28925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客户问题</a:t>
            </a:r>
          </a:p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本期关注什么？</a:t>
            </a:r>
          </a:p>
        </p:txBody>
      </p:sp>
      <p:sp>
        <p:nvSpPr>
          <p:cNvPr id="26" name="!!client.input.manager">
            <a:extLst xmlns:a="http://schemas.openxmlformats.org/drawingml/2006/main">
              <a:ext uri="{FF2B5EF4-FFF2-40B4-BE49-F238E27FC236}">
                <a16:creationId xmlns:a16="http://schemas.microsoft.com/office/drawing/2014/main" id="{D7B733E0-C620-498C-B120-E008F2AE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6245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经理观点</a:t>
            </a:r>
          </a:p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收入与成本</a:t>
            </a:r>
          </a:p>
        </p:txBody>
      </p:sp>
      <p:sp>
        <p:nvSpPr>
          <p:cNvPr id="27" name="!!client.input.product">
            <a:extLst xmlns:a="http://schemas.openxmlformats.org/drawingml/2006/main">
              <a:ext uri="{FF2B5EF4-FFF2-40B4-BE49-F238E27FC236}">
                <a16:creationId xmlns:a16="http://schemas.microsoft.com/office/drawing/2014/main" id="{E55EC3D6-6923-4F71-AC81-7F108C30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95975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产品资料</a:t>
            </a:r>
          </a:p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二季度 V1</a:t>
            </a:r>
          </a:p>
        </p:txBody>
      </p:sp>
      <p:sp>
        <p:nvSpPr>
          <p:cNvPr id="28" name="!!client.input.link0.1">
            <a:extLst xmlns:a="http://schemas.openxmlformats.org/drawingml/2006/main">
              <a:ext uri="{FF2B5EF4-FFF2-40B4-BE49-F238E27FC236}">
                <a16:creationId xmlns:a16="http://schemas.microsoft.com/office/drawing/2014/main" id="{F2E4E7A7-214F-4C28-9682-314EE8F2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3305175"/>
            <a:ext cx="3905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29" name="!!client.input.link0.2">
            <a:extLst xmlns:a="http://schemas.openxmlformats.org/drawingml/2006/main">
              <a:ext uri="{FF2B5EF4-FFF2-40B4-BE49-F238E27FC236}">
                <a16:creationId xmlns:a16="http://schemas.microsoft.com/office/drawing/2014/main" id="{46473ABC-FC16-441A-954A-F6B600FB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38925" y="3305175"/>
            <a:ext cx="953" cy="1533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0" name="!!client.input.link0.3.line">
            <a:extLst xmlns:a="http://schemas.openxmlformats.org/drawingml/2006/main">
              <a:ext uri="{FF2B5EF4-FFF2-40B4-BE49-F238E27FC236}">
                <a16:creationId xmlns:a16="http://schemas.microsoft.com/office/drawing/2014/main" id="{26AD6954-33C1-401F-9B2D-52D0A48E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38925" y="4838700"/>
            <a:ext cx="457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1" name="!!client.input.link0.3.tip">
            <a:extLst xmlns:a="http://schemas.openxmlformats.org/drawingml/2006/main">
              <a:ext uri="{FF2B5EF4-FFF2-40B4-BE49-F238E27FC236}">
                <a16:creationId xmlns:a16="http://schemas.microsoft.com/office/drawing/2014/main" id="{AE0F3438-A14D-4F2F-A321-8F0CA5BB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38975" y="4781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2" name="!!client.input.link1.1">
            <a:extLst xmlns:a="http://schemas.openxmlformats.org/drawingml/2006/main">
              <a:ext uri="{FF2B5EF4-FFF2-40B4-BE49-F238E27FC236}">
                <a16:creationId xmlns:a16="http://schemas.microsoft.com/office/drawing/2014/main" id="{1684C61F-04DB-4022-9EF4-1EC95BC6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4838700"/>
            <a:ext cx="3905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3" name="!!client.input.link1.2">
            <a:extLst xmlns:a="http://schemas.openxmlformats.org/drawingml/2006/main">
              <a:ext uri="{FF2B5EF4-FFF2-40B4-BE49-F238E27FC236}">
                <a16:creationId xmlns:a16="http://schemas.microsoft.com/office/drawing/2014/main" id="{A17CE3B6-1BEF-4F58-9A62-67E532FE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38925" y="4838700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4" name="!!client.input.link1.3.line">
            <a:extLst xmlns:a="http://schemas.openxmlformats.org/drawingml/2006/main">
              <a:ext uri="{FF2B5EF4-FFF2-40B4-BE49-F238E27FC236}">
                <a16:creationId xmlns:a16="http://schemas.microsoft.com/office/drawing/2014/main" id="{E2650BEA-28D5-459F-8588-176D762F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38925" y="4838700"/>
            <a:ext cx="457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5" name="!!client.input.link1.3.tip">
            <a:extLst xmlns:a="http://schemas.openxmlformats.org/drawingml/2006/main">
              <a:ext uri="{FF2B5EF4-FFF2-40B4-BE49-F238E27FC236}">
                <a16:creationId xmlns:a16="http://schemas.microsoft.com/office/drawing/2014/main" id="{DD0B5EE4-EB2E-40CE-B9C0-037D9416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38975" y="4781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6" name="!!client.input.link2.1">
            <a:extLst xmlns:a="http://schemas.openxmlformats.org/drawingml/2006/main">
              <a:ext uri="{FF2B5EF4-FFF2-40B4-BE49-F238E27FC236}">
                <a16:creationId xmlns:a16="http://schemas.microsoft.com/office/drawing/2014/main" id="{41D657DF-F825-487C-8AAB-72F7FEA8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6372225"/>
            <a:ext cx="3905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7" name="!!client.input.link2.2">
            <a:extLst xmlns:a="http://schemas.openxmlformats.org/drawingml/2006/main">
              <a:ext uri="{FF2B5EF4-FFF2-40B4-BE49-F238E27FC236}">
                <a16:creationId xmlns:a16="http://schemas.microsoft.com/office/drawing/2014/main" id="{AA7D1703-DE6A-47CC-BB87-2511ED37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38925" y="4838700"/>
            <a:ext cx="953" cy="1533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8" name="!!client.input.link2.3.line">
            <a:extLst xmlns:a="http://schemas.openxmlformats.org/drawingml/2006/main">
              <a:ext uri="{FF2B5EF4-FFF2-40B4-BE49-F238E27FC236}">
                <a16:creationId xmlns:a16="http://schemas.microsoft.com/office/drawing/2014/main" id="{16335DB4-1A24-48F3-9093-00FE9950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38925" y="4838700"/>
            <a:ext cx="457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client.input.link2.3.tip">
            <a:extLst xmlns:a="http://schemas.openxmlformats.org/drawingml/2006/main">
              <a:ext uri="{FF2B5EF4-FFF2-40B4-BE49-F238E27FC236}">
                <a16:creationId xmlns:a16="http://schemas.microsoft.com/office/drawing/2014/main" id="{DCFDFA04-FD48-4909-991E-7CC685E4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38975" y="4781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client.llm">
            <a:extLst xmlns:a="http://schemas.openxmlformats.org/drawingml/2006/main">
              <a:ext uri="{FF2B5EF4-FFF2-40B4-BE49-F238E27FC236}">
                <a16:creationId xmlns:a16="http://schemas.microsoft.com/office/drawing/2014/main" id="{1DB57B0C-93E5-4F36-B72B-CC5E1B71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33850"/>
            <a:ext cx="2000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</a:t>
            </a:r>
          </a:p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整理与撰写</a:t>
            </a:r>
          </a:p>
        </p:txBody>
      </p:sp>
      <p:sp>
        <p:nvSpPr>
          <p:cNvPr id="41" name="!!client.generate.line">
            <a:extLst xmlns:a="http://schemas.openxmlformats.org/drawingml/2006/main">
              <a:ext uri="{FF2B5EF4-FFF2-40B4-BE49-F238E27FC236}">
                <a16:creationId xmlns:a16="http://schemas.microsoft.com/office/drawing/2014/main" id="{DA5C1E63-8E83-4075-A3A9-4F95D98F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63050" y="4838700"/>
            <a:ext cx="342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2" name="!!client.generate.tip">
            <a:extLst xmlns:a="http://schemas.openxmlformats.org/drawingml/2006/main">
              <a:ext uri="{FF2B5EF4-FFF2-40B4-BE49-F238E27FC236}">
                <a16:creationId xmlns:a16="http://schemas.microsoft.com/office/drawing/2014/main" id="{67423AD8-B065-4482-845B-B91A63BA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48800" y="4781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3" name="!!clientDoc">
            <a:extLst xmlns:a="http://schemas.openxmlformats.org/drawingml/2006/main">
              <a:ext uri="{FF2B5EF4-FFF2-40B4-BE49-F238E27FC236}">
                <a16:creationId xmlns:a16="http://schemas.microsoft.com/office/drawing/2014/main" id="{C8D557FB-791E-45B3-A3F2-CDC1BD99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33625"/>
            <a:ext cx="49911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44" name="!!clientDoc.title">
            <a:extLst xmlns:a="http://schemas.openxmlformats.org/drawingml/2006/main">
              <a:ext uri="{FF2B5EF4-FFF2-40B4-BE49-F238E27FC236}">
                <a16:creationId xmlns:a16="http://schemas.microsoft.com/office/drawing/2014/main" id="{29C009F6-0A1B-4B8B-8C0C-40EC030B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14600"/>
            <a:ext cx="39909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45" name="!!clientDoc.version">
            <a:extLst xmlns:a="http://schemas.openxmlformats.org/drawingml/2006/main">
              <a:ext uri="{FF2B5EF4-FFF2-40B4-BE49-F238E27FC236}">
                <a16:creationId xmlns:a16="http://schemas.microsoft.com/office/drawing/2014/main" id="{846286B4-CE5E-4417-8BD4-FE0FE8D4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25336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V1</a:t>
            </a:r>
          </a:p>
        </p:txBody>
      </p:sp>
      <p:sp>
        <p:nvSpPr>
          <p:cNvPr id="46" name="!!clientDoc.rule">
            <a:extLst xmlns:a="http://schemas.openxmlformats.org/drawingml/2006/main">
              <a:ext uri="{FF2B5EF4-FFF2-40B4-BE49-F238E27FC236}">
                <a16:creationId xmlns:a16="http://schemas.microsoft.com/office/drawing/2014/main" id="{F24E7D24-3F0A-41EE-8212-1981E966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29800" y="3057525"/>
            <a:ext cx="4533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47" name="!!clientDoc.highlight.product">
            <a:extLst xmlns:a="http://schemas.openxmlformats.org/drawingml/2006/main">
              <a:ext uri="{FF2B5EF4-FFF2-40B4-BE49-F238E27FC236}">
                <a16:creationId xmlns:a16="http://schemas.microsoft.com/office/drawing/2014/main" id="{DAF41BD0-C2A5-4184-94CE-813CF510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2289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!!clientDoc.label.product">
            <a:extLst xmlns:a="http://schemas.openxmlformats.org/drawingml/2006/main">
              <a:ext uri="{FF2B5EF4-FFF2-40B4-BE49-F238E27FC236}">
                <a16:creationId xmlns:a16="http://schemas.microsoft.com/office/drawing/2014/main" id="{92418D97-6639-4295-8B12-AC64DE9C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28612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49" name="!!clientDoc.value.product">
            <a:extLst xmlns:a="http://schemas.openxmlformats.org/drawingml/2006/main">
              <a:ext uri="{FF2B5EF4-FFF2-40B4-BE49-F238E27FC236}">
                <a16:creationId xmlns:a16="http://schemas.microsoft.com/office/drawing/2014/main" id="{268A8463-329B-4B9D-B8C2-9EF622F7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60045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</a:t>
            </a:r>
          </a:p>
        </p:txBody>
      </p:sp>
      <p:sp>
        <p:nvSpPr>
          <p:cNvPr id="50" name="!!clientDoc.highlight.period">
            <a:extLst xmlns:a="http://schemas.openxmlformats.org/drawingml/2006/main">
              <a:ext uri="{FF2B5EF4-FFF2-40B4-BE49-F238E27FC236}">
                <a16:creationId xmlns:a16="http://schemas.microsoft.com/office/drawing/2014/main" id="{2839DEAF-A603-488E-BBFF-C0307AB3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990975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!!clientDoc.label.period">
            <a:extLst xmlns:a="http://schemas.openxmlformats.org/drawingml/2006/main">
              <a:ext uri="{FF2B5EF4-FFF2-40B4-BE49-F238E27FC236}">
                <a16:creationId xmlns:a16="http://schemas.microsoft.com/office/drawing/2014/main" id="{94DEFA9D-8C2F-4ABE-94AE-F5599B9B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04812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52" name="!!clientDoc.value.period">
            <a:extLst xmlns:a="http://schemas.openxmlformats.org/drawingml/2006/main">
              <a:ext uri="{FF2B5EF4-FFF2-40B4-BE49-F238E27FC236}">
                <a16:creationId xmlns:a16="http://schemas.microsoft.com/office/drawing/2014/main" id="{B1FC6944-5538-4BED-90D1-89C040FF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6245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2026年二季度产品资料V1</a:t>
            </a:r>
          </a:p>
        </p:txBody>
      </p:sp>
      <p:sp>
        <p:nvSpPr>
          <p:cNvPr id="53" name="!!clientDoc.highlight.view">
            <a:extLst xmlns:a="http://schemas.openxmlformats.org/drawingml/2006/main">
              <a:ext uri="{FF2B5EF4-FFF2-40B4-BE49-F238E27FC236}">
                <a16:creationId xmlns:a16="http://schemas.microsoft.com/office/drawing/2014/main" id="{38ABC495-34F8-4D5C-802D-9D903769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4667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4" name="!!clientDoc.label.view">
            <a:extLst xmlns:a="http://schemas.openxmlformats.org/drawingml/2006/main">
              <a:ext uri="{FF2B5EF4-FFF2-40B4-BE49-F238E27FC236}">
                <a16:creationId xmlns:a16="http://schemas.microsoft.com/office/drawing/2014/main" id="{236957C7-2B31-4410-9ED4-DF9776DA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6727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55" name="!!clientDoc.value.view">
            <a:extLst xmlns:a="http://schemas.openxmlformats.org/drawingml/2006/main">
              <a:ext uri="{FF2B5EF4-FFF2-40B4-BE49-F238E27FC236}">
                <a16:creationId xmlns:a16="http://schemas.microsoft.com/office/drawing/2014/main" id="{9C0680AE-679B-4932-9881-E87E8EF0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181600"/>
            <a:ext cx="45148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56" name="!!clientDoc.highlight.risk">
            <a:extLst xmlns:a="http://schemas.openxmlformats.org/drawingml/2006/main">
              <a:ext uri="{FF2B5EF4-FFF2-40B4-BE49-F238E27FC236}">
                <a16:creationId xmlns:a16="http://schemas.microsoft.com/office/drawing/2014/main" id="{949F2BCA-C2F5-47B1-92DB-6077EDF1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8483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7" name="!!clientDoc.label.risk">
            <a:extLst xmlns:a="http://schemas.openxmlformats.org/drawingml/2006/main">
              <a:ext uri="{FF2B5EF4-FFF2-40B4-BE49-F238E27FC236}">
                <a16:creationId xmlns:a16="http://schemas.microsoft.com/office/drawing/2014/main" id="{9DC88521-022F-46B0-BAB4-EF0A2FBE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905500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58" name="!!clientDoc.value.risk">
            <a:extLst xmlns:a="http://schemas.openxmlformats.org/drawingml/2006/main">
              <a:ext uri="{FF2B5EF4-FFF2-40B4-BE49-F238E27FC236}">
                <a16:creationId xmlns:a16="http://schemas.microsoft.com/office/drawing/2014/main" id="{571CA303-1FE3-4EED-A628-72A6DFA9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219825"/>
            <a:ext cx="4514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投资有风险</a:t>
            </a:r>
          </a:p>
        </p:txBody>
      </p:sp>
    </p:spTree>
    <p:extLst>
      <p:ext uri="{BB962C8B-B14F-4D97-AF65-F5344CB8AC3E}">
        <p14:creationId xmlns:p14="http://schemas.microsoft.com/office/powerpoint/2010/main" val="1574286924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!!heading">
            <a:extLst xmlns:a="http://schemas.openxmlformats.org/drawingml/2006/main">
              <a:ext uri="{FF2B5EF4-FFF2-40B4-BE49-F238E27FC236}">
                <a16:creationId xmlns:a16="http://schemas.microsoft.com/office/drawing/2014/main" id="{25E36FC8-8F74-4DDC-BF50-CAC52B3C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客户材料的审核与修改过程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087D028E-ABDC-4EEF-99B7-CF7705A3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材料审核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C2C68165-A7E7-4226-A264-9641862C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19D21DA3-9614-480E-BF7E-7C5D6D17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8092AF1E-CBD3-453C-BBC1-4345FBA3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410F055E-DE1B-46BB-898B-ABCE0570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BCF033B4-2289-46C7-9723-0F571C48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47C629FF-D25E-4049-BAD7-D854405F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AD8EF6E5-2484-48E5-8F25-F3E370C5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609F998E-40B7-4B42-ADB2-7A348BA8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A423322D-508C-4587-B309-52C851E1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CE54CA86-0D9A-4823-BC8E-667E1BBF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149DCABA-15F3-46A6-BECD-078C1B42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7C54A5C-5CE2-461B-8338-82302122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AD1736EB-6669-49BE-BA89-10370083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53F41AE7-5F7F-4BA3-AB0D-637DA067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A129BA6F-D0DA-41B8-9FA6-6140FAA1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95957C19-C0AA-4A56-8A42-A5D1FAC5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2913E49E-9161-42A4-8AB8-D7BA4C70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E5F5E72E-0CED-41F2-BFA8-2BABA5F4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16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5" action="ppaction://hlinksldjump" tooltip="第15页  公司客户材料方案"/>
            <a:extLst xmlns:a="http://schemas.openxmlformats.org/drawingml/2006/main">
              <a:ext uri="{FF2B5EF4-FFF2-40B4-BE49-F238E27FC236}">
                <a16:creationId xmlns:a16="http://schemas.microsoft.com/office/drawing/2014/main" id="{6D096C7E-E96B-45C0-83B0-98C21A9F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7" action="ppaction://hlinksldjump" tooltip="第17页  鹏华与盈米的内容审核应用"/>
            <a:extLst xmlns:a="http://schemas.openxmlformats.org/drawingml/2006/main">
              <a:ext uri="{FF2B5EF4-FFF2-40B4-BE49-F238E27FC236}">
                <a16:creationId xmlns:a16="http://schemas.microsoft.com/office/drawing/2014/main" id="{78C2AF7E-E583-4BA8-9D2D-20BE5A30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987D87C0-0F10-43A4-9C61-7B9F03A7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02A7ED7D-47A9-4E7A-8BE8-49FC39E9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clientDoc">
            <a:extLst xmlns:a="http://schemas.openxmlformats.org/drawingml/2006/main">
              <a:ext uri="{FF2B5EF4-FFF2-40B4-BE49-F238E27FC236}">
                <a16:creationId xmlns:a16="http://schemas.microsoft.com/office/drawing/2014/main" id="{C94D5118-4A65-47BB-A8D3-F998B980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52725"/>
            <a:ext cx="685800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26" name="!!clientDoc.title">
            <a:extLst xmlns:a="http://schemas.openxmlformats.org/drawingml/2006/main">
              <a:ext uri="{FF2B5EF4-FFF2-40B4-BE49-F238E27FC236}">
                <a16:creationId xmlns:a16="http://schemas.microsoft.com/office/drawing/2014/main" id="{4D2F2D00-FEC4-4AC0-8054-218D5A15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33700"/>
            <a:ext cx="585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27" name="!!clientDoc.version">
            <a:extLst xmlns:a="http://schemas.openxmlformats.org/drawingml/2006/main">
              <a:ext uri="{FF2B5EF4-FFF2-40B4-BE49-F238E27FC236}">
                <a16:creationId xmlns:a16="http://schemas.microsoft.com/office/drawing/2014/main" id="{F99D1792-294B-4D1F-AE56-BF8281FD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9527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V1</a:t>
            </a:r>
          </a:p>
        </p:txBody>
      </p:sp>
      <p:sp>
        <p:nvSpPr>
          <p:cNvPr id="28" name="!!clientDoc.rule">
            <a:extLst xmlns:a="http://schemas.openxmlformats.org/drawingml/2006/main">
              <a:ext uri="{FF2B5EF4-FFF2-40B4-BE49-F238E27FC236}">
                <a16:creationId xmlns:a16="http://schemas.microsoft.com/office/drawing/2014/main" id="{8A98F908-5447-4DD7-A1FA-35DA4619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86250" y="3476625"/>
            <a:ext cx="6400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9" name="!!clientDoc.highlight.product">
            <a:extLst xmlns:a="http://schemas.openxmlformats.org/drawingml/2006/main">
              <a:ext uri="{FF2B5EF4-FFF2-40B4-BE49-F238E27FC236}">
                <a16:creationId xmlns:a16="http://schemas.microsoft.com/office/drawing/2014/main" id="{304F2824-94FE-4FE2-9913-D966978D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76650"/>
            <a:ext cx="50768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!!clientDoc.label.product">
            <a:extLst xmlns:a="http://schemas.openxmlformats.org/drawingml/2006/main">
              <a:ext uri="{FF2B5EF4-FFF2-40B4-BE49-F238E27FC236}">
                <a16:creationId xmlns:a16="http://schemas.microsoft.com/office/drawing/2014/main" id="{08266CDA-229C-45C8-9F20-6CBF0E8C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242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31" name="!!clientDoc.value.product">
            <a:extLst xmlns:a="http://schemas.openxmlformats.org/drawingml/2006/main">
              <a:ext uri="{FF2B5EF4-FFF2-40B4-BE49-F238E27FC236}">
                <a16:creationId xmlns:a16="http://schemas.microsoft.com/office/drawing/2014/main" id="{D6DED876-665D-411B-AAD7-D41A27FF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24275"/>
            <a:ext cx="4991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</a:t>
            </a:r>
          </a:p>
        </p:txBody>
      </p:sp>
      <p:sp>
        <p:nvSpPr>
          <p:cNvPr id="32" name="!!clientDoc.highlight.period">
            <a:extLst xmlns:a="http://schemas.openxmlformats.org/drawingml/2006/main">
              <a:ext uri="{FF2B5EF4-FFF2-40B4-BE49-F238E27FC236}">
                <a16:creationId xmlns:a16="http://schemas.microsoft.com/office/drawing/2014/main" id="{C3944F85-B94D-4EF9-8F40-58E7EF75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67200"/>
            <a:ext cx="50768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!!clientDoc.label.period">
            <a:extLst xmlns:a="http://schemas.openxmlformats.org/drawingml/2006/main">
              <a:ext uri="{FF2B5EF4-FFF2-40B4-BE49-F238E27FC236}">
                <a16:creationId xmlns:a16="http://schemas.microsoft.com/office/drawing/2014/main" id="{C39A9F73-24CB-45A7-8D1A-690A386D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1482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34" name="!!clientDoc.value.period">
            <a:extLst xmlns:a="http://schemas.openxmlformats.org/drawingml/2006/main">
              <a:ext uri="{FF2B5EF4-FFF2-40B4-BE49-F238E27FC236}">
                <a16:creationId xmlns:a16="http://schemas.microsoft.com/office/drawing/2014/main" id="{44D228CF-3DBB-46D8-9C9E-79205E72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14825"/>
            <a:ext cx="4991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2026年二季度产品资料V1</a:t>
            </a:r>
          </a:p>
        </p:txBody>
      </p:sp>
      <p:sp>
        <p:nvSpPr>
          <p:cNvPr id="35" name="!!clientDoc.highlight.view">
            <a:extLst xmlns:a="http://schemas.openxmlformats.org/drawingml/2006/main">
              <a:ext uri="{FF2B5EF4-FFF2-40B4-BE49-F238E27FC236}">
                <a16:creationId xmlns:a16="http://schemas.microsoft.com/office/drawing/2014/main" id="{DDC482EA-B367-4BC5-A9EA-4AF7BE66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857750"/>
            <a:ext cx="50768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!!clientDoc.label.view">
            <a:extLst xmlns:a="http://schemas.openxmlformats.org/drawingml/2006/main">
              <a:ext uri="{FF2B5EF4-FFF2-40B4-BE49-F238E27FC236}">
                <a16:creationId xmlns:a16="http://schemas.microsoft.com/office/drawing/2014/main" id="{A6D35284-0959-4D25-84E1-1BC039EB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053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37" name="!!clientDoc.value.view">
            <a:extLst xmlns:a="http://schemas.openxmlformats.org/drawingml/2006/main">
              <a:ext uri="{FF2B5EF4-FFF2-40B4-BE49-F238E27FC236}">
                <a16:creationId xmlns:a16="http://schemas.microsoft.com/office/drawing/2014/main" id="{01ACD86A-55D1-404A-A5BE-D9863265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05375"/>
            <a:ext cx="4991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38" name="!!clientDoc.highlight.risk">
            <a:extLst xmlns:a="http://schemas.openxmlformats.org/drawingml/2006/main">
              <a:ext uri="{FF2B5EF4-FFF2-40B4-BE49-F238E27FC236}">
                <a16:creationId xmlns:a16="http://schemas.microsoft.com/office/drawing/2014/main" id="{71AEE203-8061-496B-9580-EE3FC882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886450"/>
            <a:ext cx="50768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!!clientDoc.label.risk">
            <a:extLst xmlns:a="http://schemas.openxmlformats.org/drawingml/2006/main">
              <a:ext uri="{FF2B5EF4-FFF2-40B4-BE49-F238E27FC236}">
                <a16:creationId xmlns:a16="http://schemas.microsoft.com/office/drawing/2014/main" id="{88CD4BC1-C34D-4E0A-BC8A-EB650D78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340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40" name="!!clientDoc.value.risk">
            <a:extLst xmlns:a="http://schemas.openxmlformats.org/drawingml/2006/main">
              <a:ext uri="{FF2B5EF4-FFF2-40B4-BE49-F238E27FC236}">
                <a16:creationId xmlns:a16="http://schemas.microsoft.com/office/drawing/2014/main" id="{1B111E78-2265-4621-B4A0-9889C4FC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934075"/>
            <a:ext cx="4991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投资有风险</a:t>
            </a:r>
          </a:p>
        </p:txBody>
      </p:sp>
      <p:sp>
        <p:nvSpPr>
          <p:cNvPr id="41" name="!!review.head">
            <a:extLst xmlns:a="http://schemas.openxmlformats.org/drawingml/2006/main">
              <a:ext uri="{FF2B5EF4-FFF2-40B4-BE49-F238E27FC236}">
                <a16:creationId xmlns:a16="http://schemas.microsoft.com/office/drawing/2014/main" id="{F2738B3F-3D47-49EC-88EF-07231F1E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009900"/>
            <a:ext cx="312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逐项检查</a:t>
            </a:r>
          </a:p>
        </p:txBody>
      </p:sp>
      <p:sp>
        <p:nvSpPr>
          <p:cNvPr id="42" name="!!review.checkline0">
            <a:extLst xmlns:a="http://schemas.openxmlformats.org/drawingml/2006/main">
              <a:ext uri="{FF2B5EF4-FFF2-40B4-BE49-F238E27FC236}">
                <a16:creationId xmlns:a16="http://schemas.microsoft.com/office/drawing/2014/main" id="{095B0061-7FF8-4CBB-978B-54FB067F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68100" y="3676650"/>
            <a:ext cx="3124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43" name="!!review.check0">
            <a:extLst xmlns:a="http://schemas.openxmlformats.org/drawingml/2006/main">
              <a:ext uri="{FF2B5EF4-FFF2-40B4-BE49-F238E27FC236}">
                <a16:creationId xmlns:a16="http://schemas.microsoft.com/office/drawing/2014/main" id="{2E98C947-F83B-4606-ADA9-15E28649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905250"/>
            <a:ext cx="312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44" name="!!review.checkline1">
            <a:extLst xmlns:a="http://schemas.openxmlformats.org/drawingml/2006/main">
              <a:ext uri="{FF2B5EF4-FFF2-40B4-BE49-F238E27FC236}">
                <a16:creationId xmlns:a16="http://schemas.microsoft.com/office/drawing/2014/main" id="{B8E0E9A5-5752-45D9-8155-362869FE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68100" y="4676775"/>
            <a:ext cx="3124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45" name="!!review.check1">
            <a:extLst xmlns:a="http://schemas.openxmlformats.org/drawingml/2006/main">
              <a:ext uri="{FF2B5EF4-FFF2-40B4-BE49-F238E27FC236}">
                <a16:creationId xmlns:a16="http://schemas.microsoft.com/office/drawing/2014/main" id="{AE138DB5-F269-471F-83BF-D64A0939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905375"/>
            <a:ext cx="312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46" name="!!review.checkline2">
            <a:extLst xmlns:a="http://schemas.openxmlformats.org/drawingml/2006/main">
              <a:ext uri="{FF2B5EF4-FFF2-40B4-BE49-F238E27FC236}">
                <a16:creationId xmlns:a16="http://schemas.microsoft.com/office/drawing/2014/main" id="{65DCC77E-E0A3-46EE-A57D-7F6F8440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68100" y="5676900"/>
            <a:ext cx="3124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47" name="!!review.check2">
            <a:extLst xmlns:a="http://schemas.openxmlformats.org/drawingml/2006/main">
              <a:ext uri="{FF2B5EF4-FFF2-40B4-BE49-F238E27FC236}">
                <a16:creationId xmlns:a16="http://schemas.microsoft.com/office/drawing/2014/main" id="{28F29F99-D09B-4A57-8883-5BB3036B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905500"/>
            <a:ext cx="312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48" name="!!review.receive.line">
            <a:extLst xmlns:a="http://schemas.openxmlformats.org/drawingml/2006/main">
              <a:ext uri="{FF2B5EF4-FFF2-40B4-BE49-F238E27FC236}">
                <a16:creationId xmlns:a16="http://schemas.microsoft.com/office/drawing/2014/main" id="{9C744C7D-0D02-40E4-B825-822610D2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91850" y="4829175"/>
            <a:ext cx="342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9" name="!!review.receive.tip">
            <a:extLst xmlns:a="http://schemas.openxmlformats.org/drawingml/2006/main">
              <a:ext uri="{FF2B5EF4-FFF2-40B4-BE49-F238E27FC236}">
                <a16:creationId xmlns:a16="http://schemas.microsoft.com/office/drawing/2014/main" id="{F4342145-03BC-418D-9B6F-3EF0E752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77600" y="47720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0" name="!!review.flow">
            <a:extLst xmlns:a="http://schemas.openxmlformats.org/drawingml/2006/main">
              <a:ext uri="{FF2B5EF4-FFF2-40B4-BE49-F238E27FC236}">
                <a16:creationId xmlns:a16="http://schemas.microsoft.com/office/drawing/2014/main" id="{2F84F2A9-6A12-4BCD-9B28-1003F681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43750"/>
            <a:ext cx="1053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作者提交材料，审核意见随同一份文件返回</a:t>
            </a:r>
          </a:p>
        </p:txBody>
      </p:sp>
    </p:spTree>
    <p:extLst>
      <p:ext uri="{BB962C8B-B14F-4D97-AF65-F5344CB8AC3E}">
        <p14:creationId xmlns:p14="http://schemas.microsoft.com/office/powerpoint/2010/main" val="1812660248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!!heading">
            <a:extLst xmlns:a="http://schemas.openxmlformats.org/drawingml/2006/main">
              <a:ext uri="{FF2B5EF4-FFF2-40B4-BE49-F238E27FC236}">
                <a16:creationId xmlns:a16="http://schemas.microsoft.com/office/drawing/2014/main" id="{42E63F96-1263-4E06-A021-B4A51ECE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鹏华与盈米的内容审核应用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19C6618F-7E75-4227-91D0-21341F0F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材料审核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777AAC2B-FDE9-477E-A3CC-49F6CEC7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A03C2479-113F-48AE-95AD-A1E16604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21FAFB2F-3A92-47E7-8CB3-572BA4E7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B6A2B4C0-B0E0-4409-8D7C-048503FD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82C7E4BE-CA74-4BC8-B5FD-182CD6E2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A9217AF7-5193-4E36-A48B-93DF033A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11C7FC62-E332-4AE4-9E8D-3A3B3EAF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C26FD2B7-4820-4300-9726-560DBE1C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1B0E8798-DE27-4638-A11C-048136EF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BB470989-4127-4AA9-A3D8-65476464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C9E82B87-2B3A-41BD-B562-3CF13CEF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E17EDF4F-9632-4EA4-9044-EBA0BC86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C5A0BCDB-0588-4605-BE62-FEF6524C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2EAC2364-A372-4508-AFB9-BCE1C04F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3C4A952A-CD6D-4FA6-AE7E-EB6849F7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CCD66392-E0DC-430A-A962-34F93CB6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62655A06-660C-435E-BB6C-DC8FE0A7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83C35637-8E44-4DA8-B3D1-7C1989D9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17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F6819C6F-1A34-4803-BB7D-F34765FC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8" action="ppaction://hlinksldjump" tooltip="第18页  公司材料编写与审核协作方案"/>
            <a:extLst xmlns:a="http://schemas.openxmlformats.org/drawingml/2006/main">
              <a:ext uri="{FF2B5EF4-FFF2-40B4-BE49-F238E27FC236}">
                <a16:creationId xmlns:a16="http://schemas.microsoft.com/office/drawing/2014/main" id="{CAEB9EC1-19F8-45D3-9B1A-82FF1F7A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68200A6A-3A99-44C4-8D02-CEE617F6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FA4E0989-1C30-465A-B803-72527509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来源：鹏华基金，基金业协会案例材料；盈米基金销售，内容合规审查发布</a:t>
            </a:r>
          </a:p>
        </p:txBody>
      </p:sp>
      <p:sp>
        <p:nvSpPr>
          <p:cNvPr id="25" name="!!clientDoc">
            <a:extLst xmlns:a="http://schemas.openxmlformats.org/drawingml/2006/main">
              <a:ext uri="{FF2B5EF4-FFF2-40B4-BE49-F238E27FC236}">
                <a16:creationId xmlns:a16="http://schemas.microsoft.com/office/drawing/2014/main" id="{547B4607-F9DC-4DDF-8461-24BD2E5A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52725"/>
            <a:ext cx="685800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26" name="!!clientDoc.title">
            <a:extLst xmlns:a="http://schemas.openxmlformats.org/drawingml/2006/main">
              <a:ext uri="{FF2B5EF4-FFF2-40B4-BE49-F238E27FC236}">
                <a16:creationId xmlns:a16="http://schemas.microsoft.com/office/drawing/2014/main" id="{38E82F4E-354D-4F69-854D-FB821C4F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33700"/>
            <a:ext cx="585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27" name="!!clientDoc.version">
            <a:extLst xmlns:a="http://schemas.openxmlformats.org/drawingml/2006/main">
              <a:ext uri="{FF2B5EF4-FFF2-40B4-BE49-F238E27FC236}">
                <a16:creationId xmlns:a16="http://schemas.microsoft.com/office/drawing/2014/main" id="{3B2D077E-DD60-4FEB-9F1A-D54595B0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9527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V1</a:t>
            </a:r>
          </a:p>
        </p:txBody>
      </p:sp>
      <p:sp>
        <p:nvSpPr>
          <p:cNvPr id="28" name="!!clientDoc.rule">
            <a:extLst xmlns:a="http://schemas.openxmlformats.org/drawingml/2006/main">
              <a:ext uri="{FF2B5EF4-FFF2-40B4-BE49-F238E27FC236}">
                <a16:creationId xmlns:a16="http://schemas.microsoft.com/office/drawing/2014/main" id="{D7339EEE-2129-4A9D-A156-79C8CC2D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86250" y="3476625"/>
            <a:ext cx="6400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9" name="!!clientDoc.highlight.product">
            <a:extLst xmlns:a="http://schemas.openxmlformats.org/drawingml/2006/main">
              <a:ext uri="{FF2B5EF4-FFF2-40B4-BE49-F238E27FC236}">
                <a16:creationId xmlns:a16="http://schemas.microsoft.com/office/drawing/2014/main" id="{F833BF0B-024A-4A4F-A71B-2D6BC8C5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76650"/>
            <a:ext cx="50768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!!clientDoc.label.product">
            <a:extLst xmlns:a="http://schemas.openxmlformats.org/drawingml/2006/main">
              <a:ext uri="{FF2B5EF4-FFF2-40B4-BE49-F238E27FC236}">
                <a16:creationId xmlns:a16="http://schemas.microsoft.com/office/drawing/2014/main" id="{F4EFDDF9-A327-4008-AF23-7892577A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242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31" name="!!clientDoc.value.product">
            <a:extLst xmlns:a="http://schemas.openxmlformats.org/drawingml/2006/main">
              <a:ext uri="{FF2B5EF4-FFF2-40B4-BE49-F238E27FC236}">
                <a16:creationId xmlns:a16="http://schemas.microsoft.com/office/drawing/2014/main" id="{92EAC69E-7AF1-4CF9-BB49-7A5654AB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24275"/>
            <a:ext cx="4991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</a:t>
            </a:r>
          </a:p>
        </p:txBody>
      </p:sp>
      <p:sp>
        <p:nvSpPr>
          <p:cNvPr id="32" name="!!clientDoc.highlight.period">
            <a:extLst xmlns:a="http://schemas.openxmlformats.org/drawingml/2006/main">
              <a:ext uri="{FF2B5EF4-FFF2-40B4-BE49-F238E27FC236}">
                <a16:creationId xmlns:a16="http://schemas.microsoft.com/office/drawing/2014/main" id="{7E2B4EBD-634F-4587-8348-FB0F54D4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67200"/>
            <a:ext cx="50768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!!clientDoc.label.period">
            <a:extLst xmlns:a="http://schemas.openxmlformats.org/drawingml/2006/main">
              <a:ext uri="{FF2B5EF4-FFF2-40B4-BE49-F238E27FC236}">
                <a16:creationId xmlns:a16="http://schemas.microsoft.com/office/drawing/2014/main" id="{8C5FD3E5-D0BB-4CD8-B7F5-49A6431F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1482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34" name="!!clientDoc.value.period">
            <a:extLst xmlns:a="http://schemas.openxmlformats.org/drawingml/2006/main">
              <a:ext uri="{FF2B5EF4-FFF2-40B4-BE49-F238E27FC236}">
                <a16:creationId xmlns:a16="http://schemas.microsoft.com/office/drawing/2014/main" id="{2F1CBA9E-5619-485A-A884-C9AAF7B4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14825"/>
            <a:ext cx="4991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2026年二季度产品资料V1</a:t>
            </a:r>
          </a:p>
        </p:txBody>
      </p:sp>
      <p:sp>
        <p:nvSpPr>
          <p:cNvPr id="35" name="!!clientDoc.highlight.view">
            <a:extLst xmlns:a="http://schemas.openxmlformats.org/drawingml/2006/main">
              <a:ext uri="{FF2B5EF4-FFF2-40B4-BE49-F238E27FC236}">
                <a16:creationId xmlns:a16="http://schemas.microsoft.com/office/drawing/2014/main" id="{4D2F0ABA-487A-4107-8D41-C5D8A17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857750"/>
            <a:ext cx="50768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!!clientDoc.label.view">
            <a:extLst xmlns:a="http://schemas.openxmlformats.org/drawingml/2006/main">
              <a:ext uri="{FF2B5EF4-FFF2-40B4-BE49-F238E27FC236}">
                <a16:creationId xmlns:a16="http://schemas.microsoft.com/office/drawing/2014/main" id="{B7F81B43-08BE-4FC8-AE20-0EE95C9C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053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37" name="!!clientDoc.value.view">
            <a:extLst xmlns:a="http://schemas.openxmlformats.org/drawingml/2006/main">
              <a:ext uri="{FF2B5EF4-FFF2-40B4-BE49-F238E27FC236}">
                <a16:creationId xmlns:a16="http://schemas.microsoft.com/office/drawing/2014/main" id="{EFFF1AF2-9AAE-41D5-969D-E52BC281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05375"/>
            <a:ext cx="4991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38" name="!!clientDoc.highlight.risk">
            <a:extLst xmlns:a="http://schemas.openxmlformats.org/drawingml/2006/main">
              <a:ext uri="{FF2B5EF4-FFF2-40B4-BE49-F238E27FC236}">
                <a16:creationId xmlns:a16="http://schemas.microsoft.com/office/drawing/2014/main" id="{B8A1F440-6017-4B57-B4BD-5E511AB2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886450"/>
            <a:ext cx="5076825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!!clientDoc.label.risk">
            <a:extLst xmlns:a="http://schemas.openxmlformats.org/drawingml/2006/main">
              <a:ext uri="{FF2B5EF4-FFF2-40B4-BE49-F238E27FC236}">
                <a16:creationId xmlns:a16="http://schemas.microsoft.com/office/drawing/2014/main" id="{85201D65-3327-42E5-83CF-576E721D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340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40" name="!!clientDoc.value.risk">
            <a:extLst xmlns:a="http://schemas.openxmlformats.org/drawingml/2006/main">
              <a:ext uri="{FF2B5EF4-FFF2-40B4-BE49-F238E27FC236}">
                <a16:creationId xmlns:a16="http://schemas.microsoft.com/office/drawing/2014/main" id="{2C7C9F96-84AC-48A5-9ED4-EB56D3D2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934075"/>
            <a:ext cx="4991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投资有风险</a:t>
            </a:r>
          </a:p>
        </p:txBody>
      </p:sp>
      <p:sp>
        <p:nvSpPr>
          <p:cNvPr id="41" name="!!comment.product">
            <a:extLst xmlns:a="http://schemas.openxmlformats.org/drawingml/2006/main">
              <a:ext uri="{FF2B5EF4-FFF2-40B4-BE49-F238E27FC236}">
                <a16:creationId xmlns:a16="http://schemas.microsoft.com/office/drawing/2014/main" id="{719B75F0-5005-4A27-A97E-DFD2523F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2914650"/>
            <a:ext cx="31242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!!comment.product.title">
            <a:extLst xmlns:a="http://schemas.openxmlformats.org/drawingml/2006/main">
              <a:ext uri="{FF2B5EF4-FFF2-40B4-BE49-F238E27FC236}">
                <a16:creationId xmlns:a16="http://schemas.microsoft.com/office/drawing/2014/main" id="{CCEE3DAE-B9DB-4084-969A-5EC50D9E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0289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正式产品名称</a:t>
            </a:r>
          </a:p>
        </p:txBody>
      </p:sp>
      <p:sp>
        <p:nvSpPr>
          <p:cNvPr id="43" name="!!comment.product.body">
            <a:extLst xmlns:a="http://schemas.openxmlformats.org/drawingml/2006/main">
              <a:ext uri="{FF2B5EF4-FFF2-40B4-BE49-F238E27FC236}">
                <a16:creationId xmlns:a16="http://schemas.microsoft.com/office/drawing/2014/main" id="{9046180B-2BA0-4C14-BB33-ABA61549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4099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补充“混合型基金”</a:t>
            </a:r>
          </a:p>
        </p:txBody>
      </p:sp>
      <p:sp>
        <p:nvSpPr>
          <p:cNvPr id="44" name="!!comment.product.leader.1">
            <a:extLst xmlns:a="http://schemas.openxmlformats.org/drawingml/2006/main">
              <a:ext uri="{FF2B5EF4-FFF2-40B4-BE49-F238E27FC236}">
                <a16:creationId xmlns:a16="http://schemas.microsoft.com/office/drawing/2014/main" id="{0B9BCC94-9CC9-439F-B77E-F0F76646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15650" y="3724275"/>
            <a:ext cx="276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5" name="!!comment.product.leader.2">
            <a:extLst xmlns:a="http://schemas.openxmlformats.org/drawingml/2006/main">
              <a:ext uri="{FF2B5EF4-FFF2-40B4-BE49-F238E27FC236}">
                <a16:creationId xmlns:a16="http://schemas.microsoft.com/office/drawing/2014/main" id="{62C115F1-11FC-468B-B254-D9BB2EA1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191875" y="3476625"/>
            <a:ext cx="953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6" name="!!comment.product.leader.3.line">
            <a:extLst xmlns:a="http://schemas.openxmlformats.org/drawingml/2006/main">
              <a:ext uri="{FF2B5EF4-FFF2-40B4-BE49-F238E27FC236}">
                <a16:creationId xmlns:a16="http://schemas.microsoft.com/office/drawing/2014/main" id="{F7833BCC-6FF2-4A31-A7A4-FEE7025B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91875" y="3476625"/>
            <a:ext cx="276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7" name="!!comment.product.leader.3.tip">
            <a:extLst xmlns:a="http://schemas.openxmlformats.org/drawingml/2006/main">
              <a:ext uri="{FF2B5EF4-FFF2-40B4-BE49-F238E27FC236}">
                <a16:creationId xmlns:a16="http://schemas.microsoft.com/office/drawing/2014/main" id="{06D04363-C2D2-4AC3-AE28-357DE0BF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410950" y="3419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8" name="!!comment.period">
            <a:extLst xmlns:a="http://schemas.openxmlformats.org/drawingml/2006/main">
              <a:ext uri="{FF2B5EF4-FFF2-40B4-BE49-F238E27FC236}">
                <a16:creationId xmlns:a16="http://schemas.microsoft.com/office/drawing/2014/main" id="{8171A8A9-05D1-4183-8B28-BE63259D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362450"/>
            <a:ext cx="31242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!!comment.period.title">
            <a:extLst xmlns:a="http://schemas.openxmlformats.org/drawingml/2006/main">
              <a:ext uri="{FF2B5EF4-FFF2-40B4-BE49-F238E27FC236}">
                <a16:creationId xmlns:a16="http://schemas.microsoft.com/office/drawing/2014/main" id="{0BCAA736-F4E8-4231-AEEE-5313A785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4767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本期资料</a:t>
            </a:r>
          </a:p>
        </p:txBody>
      </p:sp>
      <p:sp>
        <p:nvSpPr>
          <p:cNvPr id="50" name="!!comment.period.body">
            <a:extLst xmlns:a="http://schemas.openxmlformats.org/drawingml/2006/main">
              <a:ext uri="{FF2B5EF4-FFF2-40B4-BE49-F238E27FC236}">
                <a16:creationId xmlns:a16="http://schemas.microsoft.com/office/drawing/2014/main" id="{C7EE1183-39BC-4F9C-9914-53ED951C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8577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改用三季度产品资料 V2</a:t>
            </a:r>
          </a:p>
        </p:txBody>
      </p:sp>
      <p:sp>
        <p:nvSpPr>
          <p:cNvPr id="51" name="!!comment.period.leader.1">
            <a:extLst xmlns:a="http://schemas.openxmlformats.org/drawingml/2006/main">
              <a:ext uri="{FF2B5EF4-FFF2-40B4-BE49-F238E27FC236}">
                <a16:creationId xmlns:a16="http://schemas.microsoft.com/office/drawing/2014/main" id="{1AC2C240-A446-4AC7-B6C9-075F3A75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15650" y="4314825"/>
            <a:ext cx="276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52" name="!!comment.period.leader.2">
            <a:extLst xmlns:a="http://schemas.openxmlformats.org/drawingml/2006/main">
              <a:ext uri="{FF2B5EF4-FFF2-40B4-BE49-F238E27FC236}">
                <a16:creationId xmlns:a16="http://schemas.microsoft.com/office/drawing/2014/main" id="{5688E3BF-C00B-470A-B171-7FD8E45C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91875" y="4314825"/>
            <a:ext cx="953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53" name="!!comment.period.leader.3.line">
            <a:extLst xmlns:a="http://schemas.openxmlformats.org/drawingml/2006/main">
              <a:ext uri="{FF2B5EF4-FFF2-40B4-BE49-F238E27FC236}">
                <a16:creationId xmlns:a16="http://schemas.microsoft.com/office/drawing/2014/main" id="{2546E95B-7E25-4E0E-9C8E-175660C6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91875" y="4924425"/>
            <a:ext cx="276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4" name="!!comment.period.leader.3.tip">
            <a:extLst xmlns:a="http://schemas.openxmlformats.org/drawingml/2006/main">
              <a:ext uri="{FF2B5EF4-FFF2-40B4-BE49-F238E27FC236}">
                <a16:creationId xmlns:a16="http://schemas.microsoft.com/office/drawing/2014/main" id="{C5356616-ACAE-4085-BDBB-3B953E86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410950" y="48672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5" name="!!comment.risk">
            <a:extLst xmlns:a="http://schemas.openxmlformats.org/drawingml/2006/main">
              <a:ext uri="{FF2B5EF4-FFF2-40B4-BE49-F238E27FC236}">
                <a16:creationId xmlns:a16="http://schemas.microsoft.com/office/drawing/2014/main" id="{D3DF1F80-0244-49F2-A096-7479BF73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810250"/>
            <a:ext cx="31242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!!comment.risk.title">
            <a:extLst xmlns:a="http://schemas.openxmlformats.org/drawingml/2006/main">
              <a:ext uri="{FF2B5EF4-FFF2-40B4-BE49-F238E27FC236}">
                <a16:creationId xmlns:a16="http://schemas.microsoft.com/office/drawing/2014/main" id="{723D749A-CC1D-4A12-92B7-35269841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9245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产品风险说明</a:t>
            </a:r>
          </a:p>
        </p:txBody>
      </p:sp>
      <p:sp>
        <p:nvSpPr>
          <p:cNvPr id="57" name="!!comment.risk.body">
            <a:extLst xmlns:a="http://schemas.openxmlformats.org/drawingml/2006/main">
              <a:ext uri="{FF2B5EF4-FFF2-40B4-BE49-F238E27FC236}">
                <a16:creationId xmlns:a16="http://schemas.microsoft.com/office/drawing/2014/main" id="{A1F96AC6-185F-482C-B99A-F8515118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3055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补充净值波动与本金亏损</a:t>
            </a:r>
          </a:p>
        </p:txBody>
      </p:sp>
      <p:sp>
        <p:nvSpPr>
          <p:cNvPr id="58" name="!!comment.risk.leader.1">
            <a:extLst xmlns:a="http://schemas.openxmlformats.org/drawingml/2006/main">
              <a:ext uri="{FF2B5EF4-FFF2-40B4-BE49-F238E27FC236}">
                <a16:creationId xmlns:a16="http://schemas.microsoft.com/office/drawing/2014/main" id="{A566F43B-9602-40AE-9595-1A9A42EE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15650" y="6181725"/>
            <a:ext cx="276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59" name="!!comment.risk.leader.2">
            <a:extLst xmlns:a="http://schemas.openxmlformats.org/drawingml/2006/main">
              <a:ext uri="{FF2B5EF4-FFF2-40B4-BE49-F238E27FC236}">
                <a16:creationId xmlns:a16="http://schemas.microsoft.com/office/drawing/2014/main" id="{5DE3EE51-DD92-44AD-9BD4-DE8D961A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91875" y="6181725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60" name="!!comment.risk.leader.3.line">
            <a:extLst xmlns:a="http://schemas.openxmlformats.org/drawingml/2006/main">
              <a:ext uri="{FF2B5EF4-FFF2-40B4-BE49-F238E27FC236}">
                <a16:creationId xmlns:a16="http://schemas.microsoft.com/office/drawing/2014/main" id="{499FD122-538B-4ABC-BAAD-CEE9F4DB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91875" y="6372225"/>
            <a:ext cx="276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61" name="!!comment.risk.leader.3.tip">
            <a:extLst xmlns:a="http://schemas.openxmlformats.org/drawingml/2006/main">
              <a:ext uri="{FF2B5EF4-FFF2-40B4-BE49-F238E27FC236}">
                <a16:creationId xmlns:a16="http://schemas.microsoft.com/office/drawing/2014/main" id="{EE05BB53-9B9B-4FE4-8063-0A0F2C1C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410950" y="6315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62" name="!!review.stat">
            <a:extLst xmlns:a="http://schemas.openxmlformats.org/drawingml/2006/main">
              <a:ext uri="{FF2B5EF4-FFF2-40B4-BE49-F238E27FC236}">
                <a16:creationId xmlns:a16="http://schemas.microsoft.com/office/drawing/2014/main" id="{708DDEC1-2E60-4436-9660-F7610613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62800"/>
            <a:ext cx="10534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鹏华：7类71项规则，建议采纳率91%   盈米：预审、修改、复查</a:t>
            </a:r>
          </a:p>
        </p:txBody>
      </p:sp>
    </p:spTree>
    <p:extLst>
      <p:ext uri="{BB962C8B-B14F-4D97-AF65-F5344CB8AC3E}">
        <p14:creationId xmlns:p14="http://schemas.microsoft.com/office/powerpoint/2010/main" val="521344800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29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32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38" grpId="0" animBg="1"/>
    </p:bldLst>
  </p:timing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!!heading">
            <a:extLst xmlns:a="http://schemas.openxmlformats.org/drawingml/2006/main">
              <a:ext uri="{FF2B5EF4-FFF2-40B4-BE49-F238E27FC236}">
                <a16:creationId xmlns:a16="http://schemas.microsoft.com/office/drawing/2014/main" id="{3494D861-6E70-4BD9-BAE1-8D870F3C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公司材料编写与审核协作方案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7E4AF34F-9A51-4E7D-A268-0B5E1189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材料审核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E5A6EA4C-D253-4494-A7B9-F1C4D289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2FB3D6B4-3F1E-4083-8C60-FC337A11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5D7754E3-8878-4DFA-8353-77310661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A2CA9A0C-4BD0-4749-9D7E-36962621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860CBE6C-185A-4442-BDAC-774D3845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F5E0953A-8FC6-408F-A9D2-B8FF000C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05EFF349-5534-4C6A-9A9E-A446F734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92C3F968-480F-4885-BEB4-003A7A78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889A454C-897D-4818-9117-887B09D1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29821916-FA32-4F2E-B518-89440118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6F957407-8C18-4CEE-8BCD-7A9597E1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BDDF245-2C9D-452D-A7BB-26135208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20134DDA-8793-4647-A459-A58BD43D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3F9E0628-4ED8-4239-AF1B-023E13F0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7CCE2D86-DC56-40EB-8083-D2D63859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C6660E74-3B80-4E19-9ADC-31B0269C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72A21080-9896-4637-B8D7-F0D4CC8E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787036AC-D233-4E46-B5DF-14FA2224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18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7" action="ppaction://hlinksldjump" tooltip="第17页  鹏华与盈米的内容审核应用"/>
            <a:extLst xmlns:a="http://schemas.openxmlformats.org/drawingml/2006/main">
              <a:ext uri="{FF2B5EF4-FFF2-40B4-BE49-F238E27FC236}">
                <a16:creationId xmlns:a16="http://schemas.microsoft.com/office/drawing/2014/main" id="{F47DDE04-4DA3-4F8C-81B8-C464E46B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F80DE519-64DC-460D-BBE1-E25DCF65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B7F67FDB-34BE-448D-91C4-EA30C57D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DAB04FD2-B65B-4C79-A0A2-0D400E26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来源：鹏华基金，基金业协会案例材料；盈米基金销售，内容合规审查发布</a:t>
            </a:r>
          </a:p>
        </p:txBody>
      </p:sp>
      <p:sp>
        <p:nvSpPr>
          <p:cNvPr id="25" name="!!clientDoc">
            <a:extLst xmlns:a="http://schemas.openxmlformats.org/drawingml/2006/main">
              <a:ext uri="{FF2B5EF4-FFF2-40B4-BE49-F238E27FC236}">
                <a16:creationId xmlns:a16="http://schemas.microsoft.com/office/drawing/2014/main" id="{6F9F3479-0B4D-4DC1-8833-47DCC7E0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52725"/>
            <a:ext cx="685800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26" name="!!clientDoc.title">
            <a:extLst xmlns:a="http://schemas.openxmlformats.org/drawingml/2006/main">
              <a:ext uri="{FF2B5EF4-FFF2-40B4-BE49-F238E27FC236}">
                <a16:creationId xmlns:a16="http://schemas.microsoft.com/office/drawing/2014/main" id="{A5EB23B4-D95E-41C1-9BFD-1123BD4C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33700"/>
            <a:ext cx="585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27" name="!!clientDoc.version">
            <a:extLst xmlns:a="http://schemas.openxmlformats.org/drawingml/2006/main">
              <a:ext uri="{FF2B5EF4-FFF2-40B4-BE49-F238E27FC236}">
                <a16:creationId xmlns:a16="http://schemas.microsoft.com/office/drawing/2014/main" id="{153E3F03-41BC-4190-92AD-A3138D0B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9527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V2</a:t>
            </a:r>
          </a:p>
        </p:txBody>
      </p:sp>
      <p:sp>
        <p:nvSpPr>
          <p:cNvPr id="28" name="!!clientDoc.rule">
            <a:extLst xmlns:a="http://schemas.openxmlformats.org/drawingml/2006/main">
              <a:ext uri="{FF2B5EF4-FFF2-40B4-BE49-F238E27FC236}">
                <a16:creationId xmlns:a16="http://schemas.microsoft.com/office/drawing/2014/main" id="{8F14A27E-620C-435F-949C-45B2ED14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86250" y="3476625"/>
            <a:ext cx="6400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9" name="!!clientDoc.highlight.product">
            <a:extLst xmlns:a="http://schemas.openxmlformats.org/drawingml/2006/main">
              <a:ext uri="{FF2B5EF4-FFF2-40B4-BE49-F238E27FC236}">
                <a16:creationId xmlns:a16="http://schemas.microsoft.com/office/drawing/2014/main" id="{A83EAEC9-8F86-41D4-9350-145E02EB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76650"/>
            <a:ext cx="50768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!!clientDoc.label.product">
            <a:extLst xmlns:a="http://schemas.openxmlformats.org/drawingml/2006/main">
              <a:ext uri="{FF2B5EF4-FFF2-40B4-BE49-F238E27FC236}">
                <a16:creationId xmlns:a16="http://schemas.microsoft.com/office/drawing/2014/main" id="{2F4C7BCD-6B98-471D-ACC9-7B935512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242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31" name="!!clientDoc.value.product">
            <a:extLst xmlns:a="http://schemas.openxmlformats.org/drawingml/2006/main">
              <a:ext uri="{FF2B5EF4-FFF2-40B4-BE49-F238E27FC236}">
                <a16:creationId xmlns:a16="http://schemas.microsoft.com/office/drawing/2014/main" id="{E125F846-E048-4973-997A-B1B4C5A1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24275"/>
            <a:ext cx="4991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产品A精选混合型基金</a:t>
            </a:r>
          </a:p>
        </p:txBody>
      </p:sp>
      <p:sp>
        <p:nvSpPr>
          <p:cNvPr id="32" name="!!clientDoc.highlight.period">
            <a:extLst xmlns:a="http://schemas.openxmlformats.org/drawingml/2006/main">
              <a:ext uri="{FF2B5EF4-FFF2-40B4-BE49-F238E27FC236}">
                <a16:creationId xmlns:a16="http://schemas.microsoft.com/office/drawing/2014/main" id="{63589CFA-1349-49F1-B769-0A13EE5B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67200"/>
            <a:ext cx="50768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!!clientDoc.label.period">
            <a:extLst xmlns:a="http://schemas.openxmlformats.org/drawingml/2006/main">
              <a:ext uri="{FF2B5EF4-FFF2-40B4-BE49-F238E27FC236}">
                <a16:creationId xmlns:a16="http://schemas.microsoft.com/office/drawing/2014/main" id="{03070C91-B3D6-4322-8121-664FB719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1482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34" name="!!clientDoc.value.period">
            <a:extLst xmlns:a="http://schemas.openxmlformats.org/drawingml/2006/main">
              <a:ext uri="{FF2B5EF4-FFF2-40B4-BE49-F238E27FC236}">
                <a16:creationId xmlns:a16="http://schemas.microsoft.com/office/drawing/2014/main" id="{1DF88A06-7E42-4111-9606-2D52BE15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14825"/>
            <a:ext cx="4991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2026年三季度产品资料V2</a:t>
            </a:r>
          </a:p>
        </p:txBody>
      </p:sp>
      <p:sp>
        <p:nvSpPr>
          <p:cNvPr id="35" name="!!clientDoc.highlight.view">
            <a:extLst xmlns:a="http://schemas.openxmlformats.org/drawingml/2006/main">
              <a:ext uri="{FF2B5EF4-FFF2-40B4-BE49-F238E27FC236}">
                <a16:creationId xmlns:a16="http://schemas.microsoft.com/office/drawing/2014/main" id="{BCD7CC1E-011B-437D-9E44-696979B4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857750"/>
            <a:ext cx="50768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!!clientDoc.label.view">
            <a:extLst xmlns:a="http://schemas.openxmlformats.org/drawingml/2006/main">
              <a:ext uri="{FF2B5EF4-FFF2-40B4-BE49-F238E27FC236}">
                <a16:creationId xmlns:a16="http://schemas.microsoft.com/office/drawing/2014/main" id="{FF6120AE-0B87-48C0-A55B-EA42C8E9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053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37" name="!!clientDoc.value.view">
            <a:extLst xmlns:a="http://schemas.openxmlformats.org/drawingml/2006/main">
              <a:ext uri="{FF2B5EF4-FFF2-40B4-BE49-F238E27FC236}">
                <a16:creationId xmlns:a16="http://schemas.microsoft.com/office/drawing/2014/main" id="{CFE4A693-38C3-4B9D-8865-D6D72F27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05375"/>
            <a:ext cx="4991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38" name="!!clientDoc.highlight.risk">
            <a:extLst xmlns:a="http://schemas.openxmlformats.org/drawingml/2006/main">
              <a:ext uri="{FF2B5EF4-FFF2-40B4-BE49-F238E27FC236}">
                <a16:creationId xmlns:a16="http://schemas.microsoft.com/office/drawing/2014/main" id="{1AC0F3E2-A9CE-4E95-96E4-2FA48092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886450"/>
            <a:ext cx="5076825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!!clientDoc.label.risk">
            <a:extLst xmlns:a="http://schemas.openxmlformats.org/drawingml/2006/main">
              <a:ext uri="{FF2B5EF4-FFF2-40B4-BE49-F238E27FC236}">
                <a16:creationId xmlns:a16="http://schemas.microsoft.com/office/drawing/2014/main" id="{BEF4DA94-9020-4B66-A220-FD3CD630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340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40" name="!!clientDoc.value.risk">
            <a:extLst xmlns:a="http://schemas.openxmlformats.org/drawingml/2006/main">
              <a:ext uri="{FF2B5EF4-FFF2-40B4-BE49-F238E27FC236}">
                <a16:creationId xmlns:a16="http://schemas.microsoft.com/office/drawing/2014/main" id="{61E5A327-C23E-4B56-8733-F064EFE1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934075"/>
            <a:ext cx="4991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基金净值随市场波动，投资本金可能亏损</a:t>
            </a:r>
          </a:p>
        </p:txBody>
      </p:sp>
      <p:sp>
        <p:nvSpPr>
          <p:cNvPr id="41" name="!!review.result">
            <a:extLst xmlns:a="http://schemas.openxmlformats.org/drawingml/2006/main">
              <a:ext uri="{FF2B5EF4-FFF2-40B4-BE49-F238E27FC236}">
                <a16:creationId xmlns:a16="http://schemas.microsoft.com/office/drawing/2014/main" id="{82C7EF06-3A09-489D-80AC-43F8C565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009900"/>
            <a:ext cx="312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修订后检查</a:t>
            </a:r>
          </a:p>
        </p:txBody>
      </p:sp>
      <p:sp>
        <p:nvSpPr>
          <p:cNvPr id="42" name="!!review.result.0">
            <a:extLst xmlns:a="http://schemas.openxmlformats.org/drawingml/2006/main">
              <a:ext uri="{FF2B5EF4-FFF2-40B4-BE49-F238E27FC236}">
                <a16:creationId xmlns:a16="http://schemas.microsoft.com/office/drawing/2014/main" id="{ABF93812-5BBA-4767-B336-F3E847FC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086225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名称与资料对应</a:t>
            </a:r>
          </a:p>
        </p:txBody>
      </p:sp>
      <p:sp>
        <p:nvSpPr>
          <p:cNvPr id="43" name="!!review.result.1">
            <a:extLst xmlns:a="http://schemas.openxmlformats.org/drawingml/2006/main">
              <a:ext uri="{FF2B5EF4-FFF2-40B4-BE49-F238E27FC236}">
                <a16:creationId xmlns:a16="http://schemas.microsoft.com/office/drawing/2014/main" id="{8381B282-1304-401C-ACEF-5347B9D5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933950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使用三季度资料</a:t>
            </a:r>
          </a:p>
        </p:txBody>
      </p:sp>
      <p:sp>
        <p:nvSpPr>
          <p:cNvPr id="44" name="!!review.result.2">
            <a:extLst xmlns:a="http://schemas.openxmlformats.org/drawingml/2006/main">
              <a:ext uri="{FF2B5EF4-FFF2-40B4-BE49-F238E27FC236}">
                <a16:creationId xmlns:a16="http://schemas.microsoft.com/office/drawing/2014/main" id="{C5FD249D-9549-4A28-8BB4-08988F19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781675"/>
            <a:ext cx="312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风险提示已更新</a:t>
            </a:r>
          </a:p>
        </p:txBody>
      </p:sp>
      <p:sp>
        <p:nvSpPr>
          <p:cNvPr id="45" name="!!review.result.version">
            <a:extLst xmlns:a="http://schemas.openxmlformats.org/drawingml/2006/main">
              <a:ext uri="{FF2B5EF4-FFF2-40B4-BE49-F238E27FC236}">
                <a16:creationId xmlns:a16="http://schemas.microsoft.com/office/drawing/2014/main" id="{7727B3B3-CC4A-4FE7-A581-AACE1202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705600"/>
            <a:ext cx="312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客户沟通稿 V2</a:t>
            </a:r>
          </a:p>
        </p:txBody>
      </p:sp>
      <p:sp>
        <p:nvSpPr>
          <p:cNvPr id="46" name="!!review.flow">
            <a:extLst xmlns:a="http://schemas.openxmlformats.org/drawingml/2006/main">
              <a:ext uri="{FF2B5EF4-FFF2-40B4-BE49-F238E27FC236}">
                <a16:creationId xmlns:a16="http://schemas.microsoft.com/office/drawing/2014/main" id="{E9685891-C32A-4CCB-94B7-C8BCA25D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62800"/>
            <a:ext cx="10534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原稿、审核意见、修订稿与变更记录一同保存</a:t>
            </a:r>
          </a:p>
        </p:txBody>
      </p:sp>
    </p:spTree>
    <p:extLst>
      <p:ext uri="{BB962C8B-B14F-4D97-AF65-F5344CB8AC3E}">
        <p14:creationId xmlns:p14="http://schemas.microsoft.com/office/powerpoint/2010/main" val="88056812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!!heading">
            <a:extLst xmlns:a="http://schemas.openxmlformats.org/drawingml/2006/main">
              <a:ext uri="{FF2B5EF4-FFF2-40B4-BE49-F238E27FC236}">
                <a16:creationId xmlns:a16="http://schemas.microsoft.com/office/drawing/2014/main" id="{9C47A649-9FCD-4B18-BFC8-EE0F38E9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风险提示的接收与分析过程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24C2BA3A-3450-401D-A5BC-911B5579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风险分析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E78AD0AE-7A2A-4821-AEF2-991073DD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1D601825-A6D6-4815-A056-FB102C98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51BE1E3C-BF83-4A22-B190-95AA94CD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DDC3E345-8FC8-4C2E-B39A-7EE6C44F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A9022483-C8F3-4D78-81BC-6AC3E852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1DBA065B-EE50-4A62-AC4C-3890F118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FB5FA5CB-3976-4D12-AE2C-60E95C17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FF6B9C85-35B4-4CC8-85A5-9C1505E3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130D9E75-AF07-49CE-B5D2-442517DB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95DA7CEB-C83F-4D54-9E09-10DA492E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137C8704-8942-4AC5-927A-251702A5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2D191FB2-225E-4299-BAA3-6181BDD3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EB5A0C04-3F10-41A5-A5C9-5E9671CA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A0CA9584-3664-474A-9B6B-4B176D71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7CD8E433-B363-422B-8DB3-543F1C9C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6D9B9051-B8FF-442F-A786-82A08A6F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65DE6771-9835-44C5-97E2-8F04E99B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A1750667-FC33-4883-B696-F7E8B4CC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19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8" action="ppaction://hlinksldjump" tooltip="第18页  公司材料编写与审核协作方案"/>
            <a:extLst xmlns:a="http://schemas.openxmlformats.org/drawingml/2006/main">
              <a:ext uri="{FF2B5EF4-FFF2-40B4-BE49-F238E27FC236}">
                <a16:creationId xmlns:a16="http://schemas.microsoft.com/office/drawing/2014/main" id="{4C6FD1E2-5D1E-4791-AA20-7142A7B6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0" action="ppaction://hlinksldjump" tooltip="第20页  汇添富与天弘的风险支持应用"/>
            <a:extLst xmlns:a="http://schemas.openxmlformats.org/drawingml/2006/main">
              <a:ext uri="{FF2B5EF4-FFF2-40B4-BE49-F238E27FC236}">
                <a16:creationId xmlns:a16="http://schemas.microsoft.com/office/drawing/2014/main" id="{087A658D-0E3F-4842-98E0-48495ED7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6F264FE8-4002-4400-BBF8-5F3EE92B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7D55A4E1-90FE-4537-9A76-7B3B8A46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issuer.A">
            <a:extLst xmlns:a="http://schemas.openxmlformats.org/drawingml/2006/main">
              <a:ext uri="{FF2B5EF4-FFF2-40B4-BE49-F238E27FC236}">
                <a16:creationId xmlns:a16="http://schemas.microsoft.com/office/drawing/2014/main" id="{48699413-7FF7-4C9B-B90C-A2D5FFB8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2882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甲公司进入持续跟踪</a:t>
            </a:r>
          </a:p>
        </p:txBody>
      </p:sp>
      <p:sp>
        <p:nvSpPr>
          <p:cNvPr id="26" name="!!risk.input0">
            <a:extLst xmlns:a="http://schemas.openxmlformats.org/drawingml/2006/main">
              <a:ext uri="{FF2B5EF4-FFF2-40B4-BE49-F238E27FC236}">
                <a16:creationId xmlns:a16="http://schemas.microsoft.com/office/drawing/2014/main" id="{66838468-09AB-46FF-821C-517B4E88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24200"/>
            <a:ext cx="25241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托管邮件</a:t>
            </a:r>
          </a:p>
        </p:txBody>
      </p:sp>
      <p:sp>
        <p:nvSpPr>
          <p:cNvPr id="27" name="!!risk.input1">
            <a:extLst xmlns:a="http://schemas.openxmlformats.org/drawingml/2006/main">
              <a:ext uri="{FF2B5EF4-FFF2-40B4-BE49-F238E27FC236}">
                <a16:creationId xmlns:a16="http://schemas.microsoft.com/office/drawing/2014/main" id="{A377F8D4-F1C3-4B49-992B-8682B9A4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71975"/>
            <a:ext cx="25241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事件消息</a:t>
            </a:r>
          </a:p>
        </p:txBody>
      </p:sp>
      <p:sp>
        <p:nvSpPr>
          <p:cNvPr id="28" name="!!risk.input2">
            <a:extLst xmlns:a="http://schemas.openxmlformats.org/drawingml/2006/main">
              <a:ext uri="{FF2B5EF4-FFF2-40B4-BE49-F238E27FC236}">
                <a16:creationId xmlns:a16="http://schemas.microsoft.com/office/drawing/2014/main" id="{8B4261F2-E348-4020-9C8F-58719851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19750"/>
            <a:ext cx="25241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系统提示</a:t>
            </a:r>
          </a:p>
        </p:txBody>
      </p:sp>
      <p:sp>
        <p:nvSpPr>
          <p:cNvPr id="29" name="!!risk.extract">
            <a:extLst xmlns:a="http://schemas.openxmlformats.org/drawingml/2006/main">
              <a:ext uri="{FF2B5EF4-FFF2-40B4-BE49-F238E27FC236}">
                <a16:creationId xmlns:a16="http://schemas.microsoft.com/office/drawing/2014/main" id="{10133830-92FF-410E-A64E-C0B9036C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24815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解析风险信息</a:t>
            </a:r>
          </a:p>
        </p:txBody>
      </p:sp>
      <p:sp>
        <p:nvSpPr>
          <p:cNvPr id="30" name="!!risk.link0.1">
            <a:extLst xmlns:a="http://schemas.openxmlformats.org/drawingml/2006/main">
              <a:ext uri="{FF2B5EF4-FFF2-40B4-BE49-F238E27FC236}">
                <a16:creationId xmlns:a16="http://schemas.microsoft.com/office/drawing/2014/main" id="{8226240B-E51E-46A4-A62A-229027CA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81775" y="3495675"/>
            <a:ext cx="514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1" name="!!risk.link0.2">
            <a:extLst xmlns:a="http://schemas.openxmlformats.org/drawingml/2006/main">
              <a:ext uri="{FF2B5EF4-FFF2-40B4-BE49-F238E27FC236}">
                <a16:creationId xmlns:a16="http://schemas.microsoft.com/office/drawing/2014/main" id="{ABD9F5BC-64F2-4E29-8913-F88012F0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96125" y="3495675"/>
            <a:ext cx="953" cy="1209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2" name="!!risk.link0.3.line">
            <a:extLst xmlns:a="http://schemas.openxmlformats.org/drawingml/2006/main">
              <a:ext uri="{FF2B5EF4-FFF2-40B4-BE49-F238E27FC236}">
                <a16:creationId xmlns:a16="http://schemas.microsoft.com/office/drawing/2014/main" id="{DF9BDB47-CB8B-4BB6-96E1-081D4120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96125" y="4705350"/>
            <a:ext cx="533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3" name="!!risk.link0.3.tip">
            <a:extLst xmlns:a="http://schemas.openxmlformats.org/drawingml/2006/main">
              <a:ext uri="{FF2B5EF4-FFF2-40B4-BE49-F238E27FC236}">
                <a16:creationId xmlns:a16="http://schemas.microsoft.com/office/drawing/2014/main" id="{ACE71251-7451-4A53-A319-FEBE12BB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72375" y="46482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4" name="!!risk.link1.1">
            <a:extLst xmlns:a="http://schemas.openxmlformats.org/drawingml/2006/main">
              <a:ext uri="{FF2B5EF4-FFF2-40B4-BE49-F238E27FC236}">
                <a16:creationId xmlns:a16="http://schemas.microsoft.com/office/drawing/2014/main" id="{D650BA7B-75D5-4707-B0EB-197A6E7B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81775" y="4743450"/>
            <a:ext cx="514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5" name="!!risk.link1.2">
            <a:extLst xmlns:a="http://schemas.openxmlformats.org/drawingml/2006/main">
              <a:ext uri="{FF2B5EF4-FFF2-40B4-BE49-F238E27FC236}">
                <a16:creationId xmlns:a16="http://schemas.microsoft.com/office/drawing/2014/main" id="{3FFC23F9-9413-4D45-8D52-FCF5E5BD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96125" y="4705350"/>
            <a:ext cx="953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6" name="!!risk.link1.3.line">
            <a:extLst xmlns:a="http://schemas.openxmlformats.org/drawingml/2006/main">
              <a:ext uri="{FF2B5EF4-FFF2-40B4-BE49-F238E27FC236}">
                <a16:creationId xmlns:a16="http://schemas.microsoft.com/office/drawing/2014/main" id="{38863F31-DBC1-47A3-BAA5-BF26ED87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96125" y="4705350"/>
            <a:ext cx="533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7" name="!!risk.link1.3.tip">
            <a:extLst xmlns:a="http://schemas.openxmlformats.org/drawingml/2006/main">
              <a:ext uri="{FF2B5EF4-FFF2-40B4-BE49-F238E27FC236}">
                <a16:creationId xmlns:a16="http://schemas.microsoft.com/office/drawing/2014/main" id="{4AE6BF2E-D4BC-4E7B-9875-290E427A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72375" y="46482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8" name="!!risk.link2.1">
            <a:extLst xmlns:a="http://schemas.openxmlformats.org/drawingml/2006/main">
              <a:ext uri="{FF2B5EF4-FFF2-40B4-BE49-F238E27FC236}">
                <a16:creationId xmlns:a16="http://schemas.microsoft.com/office/drawing/2014/main" id="{7731FF91-2366-4A69-A8BC-512411B5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81775" y="5991225"/>
            <a:ext cx="514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9" name="!!risk.link2.2">
            <a:extLst xmlns:a="http://schemas.openxmlformats.org/drawingml/2006/main">
              <a:ext uri="{FF2B5EF4-FFF2-40B4-BE49-F238E27FC236}">
                <a16:creationId xmlns:a16="http://schemas.microsoft.com/office/drawing/2014/main" id="{1E7B60D0-2244-45B6-8EB1-677F267A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96125" y="4705350"/>
            <a:ext cx="953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0" name="!!risk.link2.3.line">
            <a:extLst xmlns:a="http://schemas.openxmlformats.org/drawingml/2006/main">
              <a:ext uri="{FF2B5EF4-FFF2-40B4-BE49-F238E27FC236}">
                <a16:creationId xmlns:a16="http://schemas.microsoft.com/office/drawing/2014/main" id="{2B6D6DE9-0766-4D8A-B942-5B315998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96125" y="4705350"/>
            <a:ext cx="533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1" name="!!risk.link2.3.tip">
            <a:extLst xmlns:a="http://schemas.openxmlformats.org/drawingml/2006/main">
              <a:ext uri="{FF2B5EF4-FFF2-40B4-BE49-F238E27FC236}">
                <a16:creationId xmlns:a16="http://schemas.microsoft.com/office/drawing/2014/main" id="{D07B31F9-16E2-4FB0-8127-183FDFA6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72375" y="46482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2" name="!!risk.output0">
            <a:extLst xmlns:a="http://schemas.openxmlformats.org/drawingml/2006/main">
              <a:ext uri="{FF2B5EF4-FFF2-40B4-BE49-F238E27FC236}">
                <a16:creationId xmlns:a16="http://schemas.microsoft.com/office/drawing/2014/main" id="{DFE18B86-EC50-4384-A3B0-06F40C8E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3124200"/>
            <a:ext cx="29622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产品与持仓</a:t>
            </a:r>
          </a:p>
        </p:txBody>
      </p:sp>
      <p:sp>
        <p:nvSpPr>
          <p:cNvPr id="43" name="!!risk.output1">
            <a:extLst xmlns:a="http://schemas.openxmlformats.org/drawingml/2006/main">
              <a:ext uri="{FF2B5EF4-FFF2-40B4-BE49-F238E27FC236}">
                <a16:creationId xmlns:a16="http://schemas.microsoft.com/office/drawing/2014/main" id="{9672B314-03D4-4162-A2A1-DE4B1552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4371975"/>
            <a:ext cx="29622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规则与研究资料</a:t>
            </a:r>
          </a:p>
        </p:txBody>
      </p:sp>
      <p:sp>
        <p:nvSpPr>
          <p:cNvPr id="44" name="!!risk.output2">
            <a:extLst xmlns:a="http://schemas.openxmlformats.org/drawingml/2006/main">
              <a:ext uri="{FF2B5EF4-FFF2-40B4-BE49-F238E27FC236}">
                <a16:creationId xmlns:a16="http://schemas.microsoft.com/office/drawing/2014/main" id="{A798DF1B-1EC8-41ED-AA91-69E6BBEB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5619750"/>
            <a:ext cx="29622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影响说明与事项</a:t>
            </a:r>
          </a:p>
        </p:txBody>
      </p:sp>
      <p:sp>
        <p:nvSpPr>
          <p:cNvPr id="45" name="!!risk.toOutputs.1">
            <a:extLst xmlns:a="http://schemas.openxmlformats.org/drawingml/2006/main">
              <a:ext uri="{FF2B5EF4-FFF2-40B4-BE49-F238E27FC236}">
                <a16:creationId xmlns:a16="http://schemas.microsoft.com/office/drawing/2014/main" id="{EA725959-A658-4175-B278-FA4D0ADB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82275" y="4705350"/>
            <a:ext cx="5048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6" name="!!risk.toOutputs.2">
            <a:extLst xmlns:a="http://schemas.openxmlformats.org/drawingml/2006/main">
              <a:ext uri="{FF2B5EF4-FFF2-40B4-BE49-F238E27FC236}">
                <a16:creationId xmlns:a16="http://schemas.microsoft.com/office/drawing/2014/main" id="{7B9A37E1-1705-4F9D-8D5E-2398E2DD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087100" y="3495675"/>
            <a:ext cx="953" cy="1209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7" name="!!risk.toOutputs.3.line">
            <a:extLst xmlns:a="http://schemas.openxmlformats.org/drawingml/2006/main">
              <a:ext uri="{FF2B5EF4-FFF2-40B4-BE49-F238E27FC236}">
                <a16:creationId xmlns:a16="http://schemas.microsoft.com/office/drawing/2014/main" id="{033B1582-B8AC-4D37-A8D0-F4557625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87100" y="3495675"/>
            <a:ext cx="542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8" name="!!risk.toOutputs.3.tip">
            <a:extLst xmlns:a="http://schemas.openxmlformats.org/drawingml/2006/main">
              <a:ext uri="{FF2B5EF4-FFF2-40B4-BE49-F238E27FC236}">
                <a16:creationId xmlns:a16="http://schemas.microsoft.com/office/drawing/2014/main" id="{9BC9F9AB-E64D-4A37-B08E-7F98F36E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572875" y="3438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9" name="!!risk.down1.line">
            <a:extLst xmlns:a="http://schemas.openxmlformats.org/drawingml/2006/main">
              <a:ext uri="{FF2B5EF4-FFF2-40B4-BE49-F238E27FC236}">
                <a16:creationId xmlns:a16="http://schemas.microsoft.com/office/drawing/2014/main" id="{860FDDEF-B783-4D5C-90A5-2374ED50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15925" y="3933825"/>
            <a:ext cx="953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0" name="!!risk.down1.tip">
            <a:extLst xmlns:a="http://schemas.openxmlformats.org/drawingml/2006/main">
              <a:ext uri="{FF2B5EF4-FFF2-40B4-BE49-F238E27FC236}">
                <a16:creationId xmlns:a16="http://schemas.microsoft.com/office/drawing/2014/main" id="{DCF58934-4E18-43C2-8C77-C3BDF074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3058775" y="4219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1" name="!!risk.down2.line">
            <a:extLst xmlns:a="http://schemas.openxmlformats.org/drawingml/2006/main">
              <a:ext uri="{FF2B5EF4-FFF2-40B4-BE49-F238E27FC236}">
                <a16:creationId xmlns:a16="http://schemas.microsoft.com/office/drawing/2014/main" id="{E716E34A-EECB-43EF-A379-D8320097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15925" y="5181600"/>
            <a:ext cx="953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2" name="!!risk.down2.tip">
            <a:extLst xmlns:a="http://schemas.openxmlformats.org/drawingml/2006/main">
              <a:ext uri="{FF2B5EF4-FFF2-40B4-BE49-F238E27FC236}">
                <a16:creationId xmlns:a16="http://schemas.microsoft.com/office/drawing/2014/main" id="{8EC9C551-8F27-4EA4-8A66-9F36E067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3058775" y="54673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27005853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!!heading">
            <a:extLst xmlns:a="http://schemas.openxmlformats.org/drawingml/2006/main">
              <a:ext uri="{FF2B5EF4-FFF2-40B4-BE49-F238E27FC236}">
                <a16:creationId xmlns:a16="http://schemas.microsoft.com/office/drawing/2014/main" id="{95C327B0-DD41-4488-832E-8BFC9DDD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汇添富与天弘的风险支持应用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E7DCCE75-A99B-4652-B7A6-080476A6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风险分析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35AE1E64-CABD-43BC-9A78-71A517A5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ABD14F6C-668E-4558-9792-0A14B450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B67EC705-7DB9-4835-B9B7-90C66402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FA2F0C54-BBE8-4425-BCFB-EBCEBEE6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DAF4EEDE-7C61-4310-A9D4-E801A315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14842E8D-D5C8-47E2-9E1A-2E00DB2B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0D7179D6-1DAE-4241-8B2A-D4FDCA13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9DE5A6ED-CF10-44B7-845C-779DF740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129501E-71D3-4734-93BA-D1AE7A8C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8CF72E45-46F6-426A-8E1A-A6EAF51A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E88DAFFB-9BF4-4911-840E-869B86B4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84C5CA6B-DECC-4862-ABD6-1E7BE71A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EEBCED43-239A-4C5D-9753-DC03A35D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3EDA498B-C500-4311-8F2E-BE723104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12C7DEB3-3521-4F44-B850-C64E217F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8913FCF9-85E9-4ADC-946F-499D13DF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0B25C323-460B-4A88-AFBE-42F0DC4E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20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851D91B3-C800-42B7-9B05-7F8D211F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21" action="ppaction://hlinksldjump" tooltip="第21页  公司风险分析与跟进方案"/>
            <a:extLst xmlns:a="http://schemas.openxmlformats.org/drawingml/2006/main">
              <a:ext uri="{FF2B5EF4-FFF2-40B4-BE49-F238E27FC236}">
                <a16:creationId xmlns:a16="http://schemas.microsoft.com/office/drawing/2014/main" id="{48CFF1CF-591D-430F-9314-D2CA5DC2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51FDAE89-B444-4E41-898C-6CE378D1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82E371C7-C8E0-4FD8-8981-49814F2E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来源：汇添富基金，基金业协会案例材料；天弘基金，基金业协会案例材料</a:t>
            </a:r>
          </a:p>
        </p:txBody>
      </p:sp>
      <p:sp>
        <p:nvSpPr>
          <p:cNvPr id="24" name="!!risk.htf">
            <a:extLst xmlns:a="http://schemas.openxmlformats.org/drawingml/2006/main">
              <a:ext uri="{FF2B5EF4-FFF2-40B4-BE49-F238E27FC236}">
                <a16:creationId xmlns:a16="http://schemas.microsoft.com/office/drawing/2014/main" id="{C3F56ADD-F414-4FDF-9B1B-81B28083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90750"/>
            <a:ext cx="4962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汇添富基金</a:t>
            </a:r>
          </a:p>
        </p:txBody>
      </p:sp>
      <p:sp>
        <p:nvSpPr>
          <p:cNvPr id="25" name="!!risk.th">
            <a:extLst xmlns:a="http://schemas.openxmlformats.org/drawingml/2006/main">
              <a:ext uri="{FF2B5EF4-FFF2-40B4-BE49-F238E27FC236}">
                <a16:creationId xmlns:a16="http://schemas.microsoft.com/office/drawing/2014/main" id="{F7E3D8BD-E4DF-44F5-A8B4-6E8D8DF3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190750"/>
            <a:ext cx="4962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天弘基金</a:t>
            </a:r>
          </a:p>
        </p:txBody>
      </p:sp>
      <p:sp>
        <p:nvSpPr>
          <p:cNvPr id="26" name="!!risk.mail">
            <a:extLst xmlns:a="http://schemas.openxmlformats.org/drawingml/2006/main">
              <a:ext uri="{FF2B5EF4-FFF2-40B4-BE49-F238E27FC236}">
                <a16:creationId xmlns:a16="http://schemas.microsoft.com/office/drawing/2014/main" id="{F99FE985-7C9F-4828-A2A6-EEDDED9E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86100"/>
            <a:ext cx="49625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托管行风控邮件</a:t>
            </a:r>
          </a:p>
        </p:txBody>
      </p:sp>
      <p:sp>
        <p:nvSpPr>
          <p:cNvPr id="27" name="!!risk.mail.extract.line">
            <a:extLst xmlns:a="http://schemas.openxmlformats.org/drawingml/2006/main">
              <a:ext uri="{FF2B5EF4-FFF2-40B4-BE49-F238E27FC236}">
                <a16:creationId xmlns:a16="http://schemas.microsoft.com/office/drawing/2014/main" id="{D803AA34-FEAA-4B76-AF39-0B62F403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34150" y="3886200"/>
            <a:ext cx="953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8" name="!!risk.mail.extract.tip">
            <a:extLst xmlns:a="http://schemas.openxmlformats.org/drawingml/2006/main">
              <a:ext uri="{FF2B5EF4-FFF2-40B4-BE49-F238E27FC236}">
                <a16:creationId xmlns:a16="http://schemas.microsoft.com/office/drawing/2014/main" id="{EDB1AF73-51A5-4519-8F30-35F27728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477000" y="4200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9" name="!!risk.extract">
            <a:extLst xmlns:a="http://schemas.openxmlformats.org/drawingml/2006/main">
              <a:ext uri="{FF2B5EF4-FFF2-40B4-BE49-F238E27FC236}">
                <a16:creationId xmlns:a16="http://schemas.microsoft.com/office/drawing/2014/main" id="{303A1238-3DE4-4C5D-9A39-7D0C0032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71975"/>
            <a:ext cx="49625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风险内容提取</a:t>
            </a:r>
          </a:p>
        </p:txBody>
      </p:sp>
      <p:sp>
        <p:nvSpPr>
          <p:cNvPr id="30" name="!!risk.rules.0">
            <a:extLst xmlns:a="http://schemas.openxmlformats.org/drawingml/2006/main">
              <a:ext uri="{FF2B5EF4-FFF2-40B4-BE49-F238E27FC236}">
                <a16:creationId xmlns:a16="http://schemas.microsoft.com/office/drawing/2014/main" id="{77697E3C-0B57-455C-A86F-4204761E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57875"/>
            <a:ext cx="14319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风控结果</a:t>
            </a:r>
          </a:p>
        </p:txBody>
      </p:sp>
      <p:sp>
        <p:nvSpPr>
          <p:cNvPr id="31" name="!!risk.rules.link0.line">
            <a:extLst xmlns:a="http://schemas.openxmlformats.org/drawingml/2006/main">
              <a:ext uri="{FF2B5EF4-FFF2-40B4-BE49-F238E27FC236}">
                <a16:creationId xmlns:a16="http://schemas.microsoft.com/office/drawing/2014/main" id="{DA31A5BF-F6F3-4D65-AE01-0AEFE438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27675" y="62341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2" name="!!risk.rules.link0.tip">
            <a:extLst xmlns:a="http://schemas.openxmlformats.org/drawingml/2006/main">
              <a:ext uri="{FF2B5EF4-FFF2-40B4-BE49-F238E27FC236}">
                <a16:creationId xmlns:a16="http://schemas.microsoft.com/office/drawing/2014/main" id="{15A7224B-B60F-43CA-84FF-CF1CAE83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80075" y="61769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3" name="!!risk.rules.1">
            <a:extLst xmlns:a="http://schemas.openxmlformats.org/drawingml/2006/main">
              <a:ext uri="{FF2B5EF4-FFF2-40B4-BE49-F238E27FC236}">
                <a16:creationId xmlns:a16="http://schemas.microsoft.com/office/drawing/2014/main" id="{2679744D-7ABA-433C-ABBE-ADEA1062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950" y="5857875"/>
            <a:ext cx="14319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绑定条款</a:t>
            </a:r>
          </a:p>
        </p:txBody>
      </p:sp>
      <p:sp>
        <p:nvSpPr>
          <p:cNvPr id="34" name="!!risk.rules.link1.line">
            <a:extLst xmlns:a="http://schemas.openxmlformats.org/drawingml/2006/main">
              <a:ext uri="{FF2B5EF4-FFF2-40B4-BE49-F238E27FC236}">
                <a16:creationId xmlns:a16="http://schemas.microsoft.com/office/drawing/2014/main" id="{C77034B1-F7F3-402E-895C-20AC2926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92975" y="62341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5" name="!!risk.rules.link1.tip">
            <a:extLst xmlns:a="http://schemas.openxmlformats.org/drawingml/2006/main">
              <a:ext uri="{FF2B5EF4-FFF2-40B4-BE49-F238E27FC236}">
                <a16:creationId xmlns:a16="http://schemas.microsoft.com/office/drawing/2014/main" id="{45F9EA36-F9B3-488F-A3F1-EB875101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445375" y="61769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6" name="!!risk.rules.2">
            <a:extLst xmlns:a="http://schemas.openxmlformats.org/drawingml/2006/main">
              <a:ext uri="{FF2B5EF4-FFF2-40B4-BE49-F238E27FC236}">
                <a16:creationId xmlns:a16="http://schemas.microsoft.com/office/drawing/2014/main" id="{C08EC7C1-1815-413F-99C3-AF8EB10B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250" y="5857875"/>
            <a:ext cx="14319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解释依据</a:t>
            </a:r>
          </a:p>
        </p:txBody>
      </p:sp>
      <p:sp>
        <p:nvSpPr>
          <p:cNvPr id="37" name="!!risk.event">
            <a:extLst xmlns:a="http://schemas.openxmlformats.org/drawingml/2006/main">
              <a:ext uri="{FF2B5EF4-FFF2-40B4-BE49-F238E27FC236}">
                <a16:creationId xmlns:a16="http://schemas.microsoft.com/office/drawing/2014/main" id="{0460B7DA-2D14-474F-98D7-05A540F4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086100"/>
            <a:ext cx="49625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突发事件</a:t>
            </a:r>
          </a:p>
        </p:txBody>
      </p:sp>
      <p:sp>
        <p:nvSpPr>
          <p:cNvPr id="38" name="!!risk.details">
            <a:extLst xmlns:a="http://schemas.openxmlformats.org/drawingml/2006/main">
              <a:ext uri="{FF2B5EF4-FFF2-40B4-BE49-F238E27FC236}">
                <a16:creationId xmlns:a16="http://schemas.microsoft.com/office/drawing/2014/main" id="{DD4C54C0-AD02-4474-A83E-CD35255E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19575"/>
            <a:ext cx="4219575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事件详情</a:t>
            </a:r>
          </a:p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相似历史事件</a:t>
            </a:r>
          </a:p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产业链关联与市场情绪</a:t>
            </a:r>
          </a:p>
        </p:txBody>
      </p:sp>
      <p:sp>
        <p:nvSpPr>
          <p:cNvPr id="39" name="!!risk.analysis">
            <a:extLst xmlns:a="http://schemas.openxmlformats.org/drawingml/2006/main">
              <a:ext uri="{FF2B5EF4-FFF2-40B4-BE49-F238E27FC236}">
                <a16:creationId xmlns:a16="http://schemas.microsoft.com/office/drawing/2014/main" id="{6F6DF245-12BB-4083-9FF2-83086A0A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038850"/>
            <a:ext cx="49625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事件影响解读</a:t>
            </a:r>
          </a:p>
        </p:txBody>
      </p:sp>
      <p:sp>
        <p:nvSpPr>
          <p:cNvPr id="40" name="!!risk.bridge">
            <a:extLst xmlns:a="http://schemas.openxmlformats.org/drawingml/2006/main">
              <a:ext uri="{FF2B5EF4-FFF2-40B4-BE49-F238E27FC236}">
                <a16:creationId xmlns:a16="http://schemas.microsoft.com/office/drawing/2014/main" id="{DAE61432-550A-4ACD-A046-5B76CA88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53275"/>
            <a:ext cx="1053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邮件、规则和事件分析共同支持风险工作</a:t>
            </a:r>
          </a:p>
        </p:txBody>
      </p:sp>
    </p:spTree>
    <p:extLst>
      <p:ext uri="{BB962C8B-B14F-4D97-AF65-F5344CB8AC3E}">
        <p14:creationId xmlns:p14="http://schemas.microsoft.com/office/powerpoint/2010/main" val="206687416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!!heading">
            <a:extLst xmlns:a="http://schemas.openxmlformats.org/drawingml/2006/main">
              <a:ext uri="{FF2B5EF4-FFF2-40B4-BE49-F238E27FC236}">
                <a16:creationId xmlns:a16="http://schemas.microsoft.com/office/drawing/2014/main" id="{9352D850-F337-4F1C-AA52-8608BD68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公司风险分析与跟进方案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034C77DE-EDB8-4E89-AE90-4F164683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风险分析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00B4930E-8F13-4EB4-B6ED-84CDFF52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1ECEA8E8-0B4A-4529-B7DA-DF3B4B0E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2B489245-07E4-4E8E-8E01-D4EB26D0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183B09F4-F89F-483B-A63A-644AB70F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B39629FD-DF97-45F0-B534-F6DDFF95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6E1E2FC0-59DA-44AA-BA2F-7BA5C2B3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35F5DEF9-F3B1-4427-853D-0441AB39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F1FD6573-BAA7-4F1F-ACE7-4AFDB145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C2A9B69D-7FC4-4EBC-AE3E-D9C55886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5128616A-22EF-4D6B-AF87-6C3E41D3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6988652B-9161-4678-8E6C-3E1FCB22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8F6EEEBF-15D0-4DC0-9B40-0CA8350E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1387CB1-BCA3-41C3-BC0C-62B1AB07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6915DEBC-7A73-4965-95FE-BC92350D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FFF4BDF7-A98F-409A-9E2D-1CD2873B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F2F52EE8-C8AB-4AF0-815E-ADB9E295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148EC8AF-F88D-4774-97BF-07D449B2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6751906A-068B-48F3-9DA3-E57A1FB2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21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0" action="ppaction://hlinksldjump" tooltip="第20页  汇添富与天弘的风险支持应用"/>
            <a:extLst xmlns:a="http://schemas.openxmlformats.org/drawingml/2006/main">
              <a:ext uri="{FF2B5EF4-FFF2-40B4-BE49-F238E27FC236}">
                <a16:creationId xmlns:a16="http://schemas.microsoft.com/office/drawing/2014/main" id="{5AE9DC79-17A8-4D65-B9BF-415D359E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7918E55A-1102-48C5-B415-B54E6E25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E6B7EB39-0130-42EC-BE7C-1839B1C4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8EED69D9-C334-465A-952F-9D347FFB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来源：汇添富基金，基金业协会案例材料；天弘基金，基金业协会案例材料</a:t>
            </a:r>
          </a:p>
        </p:txBody>
      </p:sp>
      <p:sp>
        <p:nvSpPr>
          <p:cNvPr id="25" name="!!risk.report">
            <a:extLst xmlns:a="http://schemas.openxmlformats.org/drawingml/2006/main">
              <a:ext uri="{FF2B5EF4-FFF2-40B4-BE49-F238E27FC236}">
                <a16:creationId xmlns:a16="http://schemas.microsoft.com/office/drawing/2014/main" id="{895662AC-A9AE-4198-9DA8-D36F2578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33625"/>
            <a:ext cx="105346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6" name="!!risk.report.title">
            <a:extLst xmlns:a="http://schemas.openxmlformats.org/drawingml/2006/main">
              <a:ext uri="{FF2B5EF4-FFF2-40B4-BE49-F238E27FC236}">
                <a16:creationId xmlns:a16="http://schemas.microsoft.com/office/drawing/2014/main" id="{957C3B3D-FAAF-4CCE-8C9D-95237225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524125"/>
            <a:ext cx="1005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甲公司  影响说明</a:t>
            </a:r>
          </a:p>
        </p:txBody>
      </p:sp>
      <p:sp>
        <p:nvSpPr>
          <p:cNvPr id="27" name="!!risk.report.rule">
            <a:extLst xmlns:a="http://schemas.openxmlformats.org/drawingml/2006/main">
              <a:ext uri="{FF2B5EF4-FFF2-40B4-BE49-F238E27FC236}">
                <a16:creationId xmlns:a16="http://schemas.microsoft.com/office/drawing/2014/main" id="{3AE496D8-9A75-4297-874D-93A84122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95775" y="3057525"/>
            <a:ext cx="10058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8" name="!!risk.report.label0">
            <a:extLst xmlns:a="http://schemas.openxmlformats.org/drawingml/2006/main">
              <a:ext uri="{FF2B5EF4-FFF2-40B4-BE49-F238E27FC236}">
                <a16:creationId xmlns:a16="http://schemas.microsoft.com/office/drawing/2014/main" id="{EE99F4F7-82C9-436D-9B57-6E512ED5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248025"/>
            <a:ext cx="1005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事件与相关持仓</a:t>
            </a:r>
          </a:p>
        </p:txBody>
      </p:sp>
      <p:sp>
        <p:nvSpPr>
          <p:cNvPr id="29" name="!!risk.report.value0">
            <a:extLst xmlns:a="http://schemas.openxmlformats.org/drawingml/2006/main">
              <a:ext uri="{FF2B5EF4-FFF2-40B4-BE49-F238E27FC236}">
                <a16:creationId xmlns:a16="http://schemas.microsoft.com/office/drawing/2014/main" id="{575A84E7-0172-4239-9DAD-3862B645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19500"/>
            <a:ext cx="10058400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甲公司被列入评级观察。产品A持有其相关债券。</a:t>
            </a:r>
          </a:p>
        </p:txBody>
      </p:sp>
      <p:sp>
        <p:nvSpPr>
          <p:cNvPr id="30" name="!!risk.report.label1">
            <a:extLst xmlns:a="http://schemas.openxmlformats.org/drawingml/2006/main">
              <a:ext uri="{FF2B5EF4-FFF2-40B4-BE49-F238E27FC236}">
                <a16:creationId xmlns:a16="http://schemas.microsoft.com/office/drawing/2014/main" id="{E7339E23-9490-47B9-99C2-AFE8D6C1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214813"/>
            <a:ext cx="1005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分析依据</a:t>
            </a:r>
          </a:p>
        </p:txBody>
      </p:sp>
      <p:sp>
        <p:nvSpPr>
          <p:cNvPr id="31" name="!!risk.report.value1">
            <a:extLst xmlns:a="http://schemas.openxmlformats.org/drawingml/2006/main">
              <a:ext uri="{FF2B5EF4-FFF2-40B4-BE49-F238E27FC236}">
                <a16:creationId xmlns:a16="http://schemas.microsoft.com/office/drawing/2014/main" id="{513FBC36-C9CF-4AFF-829A-40DDBF10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586288"/>
            <a:ext cx="10058400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原始事件、持仓截面、信用事件跟踪条款与既有研究。</a:t>
            </a:r>
          </a:p>
        </p:txBody>
      </p:sp>
      <p:sp>
        <p:nvSpPr>
          <p:cNvPr id="32" name="!!follow.0.title">
            <a:extLst xmlns:a="http://schemas.openxmlformats.org/drawingml/2006/main">
              <a:ext uri="{FF2B5EF4-FFF2-40B4-BE49-F238E27FC236}">
                <a16:creationId xmlns:a16="http://schemas.microsoft.com/office/drawing/2014/main" id="{C4F1E301-D2E9-4AC6-A3BC-76FBB359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483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复核持仓</a:t>
            </a:r>
          </a:p>
        </p:txBody>
      </p:sp>
      <p:sp>
        <p:nvSpPr>
          <p:cNvPr id="33" name="!!follow.0.body">
            <a:extLst xmlns:a="http://schemas.openxmlformats.org/drawingml/2006/main">
              <a:ext uri="{FF2B5EF4-FFF2-40B4-BE49-F238E27FC236}">
                <a16:creationId xmlns:a16="http://schemas.microsoft.com/office/drawing/2014/main" id="{76B3FCED-7396-4873-9367-A9B09540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18172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风险同事核对覆盖产品</a:t>
            </a:r>
          </a:p>
        </p:txBody>
      </p:sp>
      <p:sp>
        <p:nvSpPr>
          <p:cNvPr id="34" name="!!follow.1.title">
            <a:extLst xmlns:a="http://schemas.openxmlformats.org/drawingml/2006/main">
              <a:ext uri="{FF2B5EF4-FFF2-40B4-BE49-F238E27FC236}">
                <a16:creationId xmlns:a16="http://schemas.microsoft.com/office/drawing/2014/main" id="{AF37575F-3078-49E6-9B77-8FFEE052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6483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补充研究</a:t>
            </a:r>
          </a:p>
        </p:txBody>
      </p:sp>
      <p:sp>
        <p:nvSpPr>
          <p:cNvPr id="35" name="!!follow.1.body">
            <a:extLst xmlns:a="http://schemas.openxmlformats.org/drawingml/2006/main">
              <a:ext uri="{FF2B5EF4-FFF2-40B4-BE49-F238E27FC236}">
                <a16:creationId xmlns:a16="http://schemas.microsoft.com/office/drawing/2014/main" id="{FA73C416-6C02-4344-948E-A1F499EA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18172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研究员更新发行人分析</a:t>
            </a:r>
          </a:p>
        </p:txBody>
      </p:sp>
      <p:sp>
        <p:nvSpPr>
          <p:cNvPr id="36" name="!!follow.2.title">
            <a:extLst xmlns:a="http://schemas.openxmlformats.org/drawingml/2006/main">
              <a:ext uri="{FF2B5EF4-FFF2-40B4-BE49-F238E27FC236}">
                <a16:creationId xmlns:a16="http://schemas.microsoft.com/office/drawing/2014/main" id="{F09B8775-4F5D-48EE-9D8B-DDE887AD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6483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业务跟进</a:t>
            </a:r>
          </a:p>
        </p:txBody>
      </p:sp>
      <p:sp>
        <p:nvSpPr>
          <p:cNvPr id="37" name="!!follow.2.body">
            <a:extLst xmlns:a="http://schemas.openxmlformats.org/drawingml/2006/main">
              <a:ext uri="{FF2B5EF4-FFF2-40B4-BE49-F238E27FC236}">
                <a16:creationId xmlns:a16="http://schemas.microsoft.com/office/drawing/2014/main" id="{03008BF7-1BD4-4225-987B-38745CC0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8172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向投资经理发送事件说明</a:t>
            </a:r>
          </a:p>
        </p:txBody>
      </p:sp>
    </p:spTree>
    <p:extLst>
      <p:ext uri="{BB962C8B-B14F-4D97-AF65-F5344CB8AC3E}">
        <p14:creationId xmlns:p14="http://schemas.microsoft.com/office/powerpoint/2010/main" val="1553515530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!!heading">
            <a:extLst xmlns:a="http://schemas.openxmlformats.org/drawingml/2006/main">
              <a:ext uri="{FF2B5EF4-FFF2-40B4-BE49-F238E27FC236}">
                <a16:creationId xmlns:a16="http://schemas.microsoft.com/office/drawing/2014/main" id="{E6783C04-7BEC-4A61-A0E1-13B4D2EE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运营单据与文件的处理过程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27A4C5B8-3DB1-4951-9197-80481847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运营文件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4A3F9D17-698D-46DC-910C-0AB8D9E3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011AF10A-2CFF-4ECF-8CFC-9528D095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46FBFE78-3704-4238-BADD-5DF503A7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57C7BEB9-4F90-450D-B1BB-CA3888C5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E9AEA07B-5A77-4A0A-816B-B58B5EC8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514619C5-11B8-4A1C-B249-5968C8A7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03FF0CAC-6C63-4194-96A6-B796C031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18DECFF0-DC1F-453D-AE63-173CAC8C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7A7C7B8A-6740-4461-A4FC-0A9E674A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90B22B03-287D-48BA-8D1B-ECA333FC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6FDB94A2-1EBD-4A40-B633-099437B9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4AD6E43-DDEA-4CFD-919A-BFC9AF39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39FABCFA-01B3-4A97-BD3A-9A000944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BF4B731A-1DC1-47E0-85FC-99B3246C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29EB396C-F9CF-4349-8424-DB0FA0CF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B94C221E-A9A7-4E69-B2FC-C11E05A3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C681FF70-0B3C-4216-AB0B-1FE8A284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F58FCA6B-896A-4D79-A462-FF87813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22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1" action="ppaction://hlinksldjump" tooltip="第21页  公司风险分析与跟进方案"/>
            <a:extLst xmlns:a="http://schemas.openxmlformats.org/drawingml/2006/main">
              <a:ext uri="{FF2B5EF4-FFF2-40B4-BE49-F238E27FC236}">
                <a16:creationId xmlns:a16="http://schemas.microsoft.com/office/drawing/2014/main" id="{96DACCF2-462E-429B-A496-0ACE034F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3" action="ppaction://hlinksldjump" tooltip="第23页  华安与工银瑞信的文档处理应用"/>
            <a:extLst xmlns:a="http://schemas.openxmlformats.org/drawingml/2006/main">
              <a:ext uri="{FF2B5EF4-FFF2-40B4-BE49-F238E27FC236}">
                <a16:creationId xmlns:a16="http://schemas.microsoft.com/office/drawing/2014/main" id="{160C24D9-38A7-41D8-9221-2CDD4D20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51A3CBA3-30B5-40E2-9D6F-3CA97E0D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9CD7621C-C418-4D98-BB3D-564180D9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ops.head0">
            <a:extLst xmlns:a="http://schemas.openxmlformats.org/drawingml/2006/main">
              <a:ext uri="{FF2B5EF4-FFF2-40B4-BE49-F238E27FC236}">
                <a16:creationId xmlns:a16="http://schemas.microsoft.com/office/drawing/2014/main" id="{23FFC3C0-4F0F-4A97-A7C2-A3A1E836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0027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输入材料</a:t>
            </a:r>
          </a:p>
        </p:txBody>
      </p:sp>
      <p:sp>
        <p:nvSpPr>
          <p:cNvPr id="26" name="!!ops.head1">
            <a:extLst xmlns:a="http://schemas.openxmlformats.org/drawingml/2006/main">
              <a:ext uri="{FF2B5EF4-FFF2-40B4-BE49-F238E27FC236}">
                <a16:creationId xmlns:a16="http://schemas.microsoft.com/office/drawing/2014/main" id="{C9719154-4265-4790-8D8C-4980E83B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0027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处理动作</a:t>
            </a:r>
          </a:p>
        </p:txBody>
      </p:sp>
      <p:sp>
        <p:nvSpPr>
          <p:cNvPr id="27" name="!!ops.head2">
            <a:extLst xmlns:a="http://schemas.openxmlformats.org/drawingml/2006/main">
              <a:ext uri="{FF2B5EF4-FFF2-40B4-BE49-F238E27FC236}">
                <a16:creationId xmlns:a16="http://schemas.microsoft.com/office/drawing/2014/main" id="{C98D99B0-FDF2-4ABF-A713-A4672A49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20027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交付结果</a:t>
            </a:r>
          </a:p>
        </p:txBody>
      </p:sp>
      <p:sp>
        <p:nvSpPr>
          <p:cNvPr id="28" name="!!ops.row0.0">
            <a:extLst xmlns:a="http://schemas.openxmlformats.org/drawingml/2006/main">
              <a:ext uri="{FF2B5EF4-FFF2-40B4-BE49-F238E27FC236}">
                <a16:creationId xmlns:a16="http://schemas.microsoft.com/office/drawing/2014/main" id="{76014D42-FCB3-4A5D-87B4-4F09A45D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86125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传真与扫描件</a:t>
            </a:r>
          </a:p>
        </p:txBody>
      </p:sp>
      <p:sp>
        <p:nvSpPr>
          <p:cNvPr id="29" name="!!ops.row0.1">
            <a:extLst xmlns:a="http://schemas.openxmlformats.org/drawingml/2006/main">
              <a:ext uri="{FF2B5EF4-FFF2-40B4-BE49-F238E27FC236}">
                <a16:creationId xmlns:a16="http://schemas.microsoft.com/office/drawing/2014/main" id="{277D8A73-B102-4560-BE2F-5C7A2551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86125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识别字段与录入</a:t>
            </a:r>
          </a:p>
        </p:txBody>
      </p:sp>
      <p:sp>
        <p:nvSpPr>
          <p:cNvPr id="30" name="!!ops.row0.2">
            <a:extLst xmlns:a="http://schemas.openxmlformats.org/drawingml/2006/main">
              <a:ext uri="{FF2B5EF4-FFF2-40B4-BE49-F238E27FC236}">
                <a16:creationId xmlns:a16="http://schemas.microsoft.com/office/drawing/2014/main" id="{32F7C0A5-CE7F-4B15-99EB-0993F8ED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86125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业务记录</a:t>
            </a:r>
          </a:p>
        </p:txBody>
      </p:sp>
      <p:sp>
        <p:nvSpPr>
          <p:cNvPr id="31" name="!!ops.a0.line">
            <a:extLst xmlns:a="http://schemas.openxmlformats.org/drawingml/2006/main">
              <a:ext uri="{FF2B5EF4-FFF2-40B4-BE49-F238E27FC236}">
                <a16:creationId xmlns:a16="http://schemas.microsoft.com/office/drawing/2014/main" id="{08CF2D30-E7F4-4D2E-90D2-74141D9D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369570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2" name="!!ops.a0.tip">
            <a:extLst xmlns:a="http://schemas.openxmlformats.org/drawingml/2006/main">
              <a:ext uri="{FF2B5EF4-FFF2-40B4-BE49-F238E27FC236}">
                <a16:creationId xmlns:a16="http://schemas.microsoft.com/office/drawing/2014/main" id="{99BF433F-1331-401D-9B1E-75D531DA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3638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3" name="!!ops.b0.line">
            <a:extLst xmlns:a="http://schemas.openxmlformats.org/drawingml/2006/main">
              <a:ext uri="{FF2B5EF4-FFF2-40B4-BE49-F238E27FC236}">
                <a16:creationId xmlns:a16="http://schemas.microsoft.com/office/drawing/2014/main" id="{3141D6A2-B00B-4F3A-B68B-E5A279DA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369570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4" name="!!ops.b0.tip">
            <a:extLst xmlns:a="http://schemas.openxmlformats.org/drawingml/2006/main">
              <a:ext uri="{FF2B5EF4-FFF2-40B4-BE49-F238E27FC236}">
                <a16:creationId xmlns:a16="http://schemas.microsoft.com/office/drawing/2014/main" id="{ABEE9E19-D3EE-4D02-B396-362A4FE8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3638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5" name="!!ops.row1.0">
            <a:extLst xmlns:a="http://schemas.openxmlformats.org/drawingml/2006/main">
              <a:ext uri="{FF2B5EF4-FFF2-40B4-BE49-F238E27FC236}">
                <a16:creationId xmlns:a16="http://schemas.microsoft.com/office/drawing/2014/main" id="{1EA5CCFF-D010-4594-B3FE-6F9B8823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91050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客户材料 V1 / V2</a:t>
            </a:r>
          </a:p>
        </p:txBody>
      </p:sp>
      <p:sp>
        <p:nvSpPr>
          <p:cNvPr id="36" name="!!ops.row1.1">
            <a:extLst xmlns:a="http://schemas.openxmlformats.org/drawingml/2006/main">
              <a:ext uri="{FF2B5EF4-FFF2-40B4-BE49-F238E27FC236}">
                <a16:creationId xmlns:a16="http://schemas.microsoft.com/office/drawing/2014/main" id="{1DC72EEB-8898-4032-8CFB-778E2645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版本比对</a:t>
            </a:r>
          </a:p>
        </p:txBody>
      </p:sp>
      <p:sp>
        <p:nvSpPr>
          <p:cNvPr id="37" name="!!ops.row1.2">
            <a:extLst xmlns:a="http://schemas.openxmlformats.org/drawingml/2006/main">
              <a:ext uri="{FF2B5EF4-FFF2-40B4-BE49-F238E27FC236}">
                <a16:creationId xmlns:a16="http://schemas.microsoft.com/office/drawing/2014/main" id="{8A56F9C5-90C7-4437-B373-AE5BC8D0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591050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差异清单</a:t>
            </a:r>
          </a:p>
        </p:txBody>
      </p:sp>
      <p:sp>
        <p:nvSpPr>
          <p:cNvPr id="38" name="!!ops.a1.line">
            <a:extLst xmlns:a="http://schemas.openxmlformats.org/drawingml/2006/main">
              <a:ext uri="{FF2B5EF4-FFF2-40B4-BE49-F238E27FC236}">
                <a16:creationId xmlns:a16="http://schemas.microsoft.com/office/drawing/2014/main" id="{31B0364B-03FD-41AC-8241-A59E22D8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500062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ops.a1.tip">
            <a:extLst xmlns:a="http://schemas.openxmlformats.org/drawingml/2006/main">
              <a:ext uri="{FF2B5EF4-FFF2-40B4-BE49-F238E27FC236}">
                <a16:creationId xmlns:a16="http://schemas.microsoft.com/office/drawing/2014/main" id="{DD080CF5-2BCA-4E31-85C4-5A5DC925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4943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ops.b1.line">
            <a:extLst xmlns:a="http://schemas.openxmlformats.org/drawingml/2006/main">
              <a:ext uri="{FF2B5EF4-FFF2-40B4-BE49-F238E27FC236}">
                <a16:creationId xmlns:a16="http://schemas.microsoft.com/office/drawing/2014/main" id="{67BFE38D-5ADC-47D3-9B15-6B0213BE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500062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1" name="!!ops.b1.tip">
            <a:extLst xmlns:a="http://schemas.openxmlformats.org/drawingml/2006/main">
              <a:ext uri="{FF2B5EF4-FFF2-40B4-BE49-F238E27FC236}">
                <a16:creationId xmlns:a16="http://schemas.microsoft.com/office/drawing/2014/main" id="{89C909F3-45C2-4DC9-B243-DF559D7C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4943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2" name="!!ops.row2.0">
            <a:extLst xmlns:a="http://schemas.openxmlformats.org/drawingml/2006/main">
              <a:ext uri="{FF2B5EF4-FFF2-40B4-BE49-F238E27FC236}">
                <a16:creationId xmlns:a16="http://schemas.microsoft.com/office/drawing/2014/main" id="{DC3CA600-5625-4465-B0F6-D3E21DC0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95975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同类电子文件</a:t>
            </a:r>
          </a:p>
        </p:txBody>
      </p:sp>
      <p:sp>
        <p:nvSpPr>
          <p:cNvPr id="43" name="!!ops.row2.1">
            <a:extLst xmlns:a="http://schemas.openxmlformats.org/drawingml/2006/main">
              <a:ext uri="{FF2B5EF4-FFF2-40B4-BE49-F238E27FC236}">
                <a16:creationId xmlns:a16="http://schemas.microsoft.com/office/drawing/2014/main" id="{6421C5F2-AB15-4929-BCB2-5B6AE1F2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895975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批量修订与保存</a:t>
            </a:r>
          </a:p>
        </p:txBody>
      </p:sp>
      <p:sp>
        <p:nvSpPr>
          <p:cNvPr id="44" name="!!ops.row2.2">
            <a:extLst xmlns:a="http://schemas.openxmlformats.org/drawingml/2006/main">
              <a:ext uri="{FF2B5EF4-FFF2-40B4-BE49-F238E27FC236}">
                <a16:creationId xmlns:a16="http://schemas.microsoft.com/office/drawing/2014/main" id="{DB1883FE-0006-456D-98D6-67739C27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895975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更新文件</a:t>
            </a:r>
          </a:p>
        </p:txBody>
      </p:sp>
      <p:sp>
        <p:nvSpPr>
          <p:cNvPr id="45" name="!!ops.a2.line">
            <a:extLst xmlns:a="http://schemas.openxmlformats.org/drawingml/2006/main">
              <a:ext uri="{FF2B5EF4-FFF2-40B4-BE49-F238E27FC236}">
                <a16:creationId xmlns:a16="http://schemas.microsoft.com/office/drawing/2014/main" id="{54CECF46-0292-4242-9EC1-D48D3BE9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630555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6" name="!!ops.a2.tip">
            <a:extLst xmlns:a="http://schemas.openxmlformats.org/drawingml/2006/main">
              <a:ext uri="{FF2B5EF4-FFF2-40B4-BE49-F238E27FC236}">
                <a16:creationId xmlns:a16="http://schemas.microsoft.com/office/drawing/2014/main" id="{F0E7014B-72F1-4104-933E-B28178EF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6248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7" name="!!ops.b2.line">
            <a:extLst xmlns:a="http://schemas.openxmlformats.org/drawingml/2006/main">
              <a:ext uri="{FF2B5EF4-FFF2-40B4-BE49-F238E27FC236}">
                <a16:creationId xmlns:a16="http://schemas.microsoft.com/office/drawing/2014/main" id="{13F52FC5-1567-4B76-AAEF-5CE8BE38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630555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8" name="!!ops.b2.tip">
            <a:extLst xmlns:a="http://schemas.openxmlformats.org/drawingml/2006/main">
              <a:ext uri="{FF2B5EF4-FFF2-40B4-BE49-F238E27FC236}">
                <a16:creationId xmlns:a16="http://schemas.microsoft.com/office/drawing/2014/main" id="{E3EBE65A-576F-42F6-BD13-34845EDB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6248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9" name="!!ops.object">
            <a:extLst xmlns:a="http://schemas.openxmlformats.org/drawingml/2006/main">
              <a:ext uri="{FF2B5EF4-FFF2-40B4-BE49-F238E27FC236}">
                <a16:creationId xmlns:a16="http://schemas.microsoft.com/office/drawing/2014/main" id="{A2D947E3-869F-469F-B7AC-0FCABF1F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81850"/>
            <a:ext cx="10534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甲公司的交易要素与客户沟通稿在后台继续复用</a:t>
            </a:r>
          </a:p>
        </p:txBody>
      </p:sp>
    </p:spTree>
    <p:extLst>
      <p:ext uri="{BB962C8B-B14F-4D97-AF65-F5344CB8AC3E}">
        <p14:creationId xmlns:p14="http://schemas.microsoft.com/office/powerpoint/2010/main" val="1280224056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!!heading">
            <a:extLst xmlns:a="http://schemas.openxmlformats.org/drawingml/2006/main">
              <a:ext uri="{FF2B5EF4-FFF2-40B4-BE49-F238E27FC236}">
                <a16:creationId xmlns:a16="http://schemas.microsoft.com/office/drawing/2014/main" id="{4D0402A0-7200-4844-97CF-94280468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华安与工银瑞信的文档处理应用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0B3DC2B0-E10E-48DD-AD60-4E92E64E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运营文件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81A99B35-7E67-4B8A-BAD7-40643C5F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7ACD379F-36D1-418E-BFE1-C08866F6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F64ADCF4-AE70-48DE-95E2-A13E20F3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62CACC98-7602-4C6F-B415-A99DD760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3C770A88-4DE8-44B0-A2BC-577862EE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C302F003-FE04-4711-A49D-5A533823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5CBBA70D-ECE5-468A-B154-86296074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6BA37764-81C5-40C6-A199-C5688CCB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871C504C-F693-49D7-A440-003A1004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FD264429-20D8-4D59-8A41-1D0A703B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231E9D20-9F51-4970-9039-270B0AEE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FC1E1060-F519-4042-9BC7-10FB432C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5388EF6D-89F4-4D7F-9C70-4C7259B1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7F158AFA-372C-42EB-8459-A92FAFE2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6D924C25-6BC7-4569-9D3C-89F2C009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5904DBF0-619A-4CA5-BBAC-0970289D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6BAD57AD-186C-4A68-8A6B-7F34735B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4C261264-2708-4E2D-918E-E7646EF0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23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613FDE80-A171-44A9-8EDF-EA31EA58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4" action="ppaction://hlinksldjump" tooltip="第24页  公司运营文档处理方案"/>
            <a:extLst xmlns:a="http://schemas.openxmlformats.org/drawingml/2006/main">
              <a:ext uri="{FF2B5EF4-FFF2-40B4-BE49-F238E27FC236}">
                <a16:creationId xmlns:a16="http://schemas.microsoft.com/office/drawing/2014/main" id="{5458C0EC-3D44-46E2-9028-32F57EB1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7ADC01A6-BA02-4C21-A09E-D44D0D5B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2F779D6A-10C4-4947-A80A-B97BDA94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来源：华安基金，2025 CCF企业数字化案例集；工银瑞信基金，基金业协会案例材料</a:t>
            </a:r>
          </a:p>
        </p:txBody>
      </p:sp>
      <p:sp>
        <p:nvSpPr>
          <p:cNvPr id="25" name="!!ops.huaan">
            <a:extLst xmlns:a="http://schemas.openxmlformats.org/drawingml/2006/main">
              <a:ext uri="{FF2B5EF4-FFF2-40B4-BE49-F238E27FC236}">
                <a16:creationId xmlns:a16="http://schemas.microsoft.com/office/drawing/2014/main" id="{B160E737-BBD3-4C75-BB17-1922B9C5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71700"/>
            <a:ext cx="335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华安  单据智能录入</a:t>
            </a:r>
          </a:p>
        </p:txBody>
      </p:sp>
      <p:sp>
        <p:nvSpPr>
          <p:cNvPr id="26" name="!!ops.form">
            <a:extLst xmlns:a="http://schemas.openxmlformats.org/drawingml/2006/main">
              <a:ext uri="{FF2B5EF4-FFF2-40B4-BE49-F238E27FC236}">
                <a16:creationId xmlns:a16="http://schemas.microsoft.com/office/drawing/2014/main" id="{1A9693DC-55D6-4983-8885-5D5732EF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86075"/>
            <a:ext cx="3352800" cy="315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7" name="!!ops.form.title">
            <a:extLst xmlns:a="http://schemas.openxmlformats.org/drawingml/2006/main">
              <a:ext uri="{FF2B5EF4-FFF2-40B4-BE49-F238E27FC236}">
                <a16:creationId xmlns:a16="http://schemas.microsoft.com/office/drawing/2014/main" id="{5BB7131D-4B51-4183-92C1-78A4135D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076575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业务单据</a:t>
            </a:r>
          </a:p>
        </p:txBody>
      </p:sp>
      <p:sp>
        <p:nvSpPr>
          <p:cNvPr id="28" name="!!ops.form.rule">
            <a:extLst xmlns:a="http://schemas.openxmlformats.org/drawingml/2006/main">
              <a:ext uri="{FF2B5EF4-FFF2-40B4-BE49-F238E27FC236}">
                <a16:creationId xmlns:a16="http://schemas.microsoft.com/office/drawing/2014/main" id="{92AC63BC-3C23-48B1-99A2-10AC25E4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95775" y="3609975"/>
            <a:ext cx="2876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9" name="!!ops.form.label0">
            <a:extLst xmlns:a="http://schemas.openxmlformats.org/drawingml/2006/main">
              <a:ext uri="{FF2B5EF4-FFF2-40B4-BE49-F238E27FC236}">
                <a16:creationId xmlns:a16="http://schemas.microsoft.com/office/drawing/2014/main" id="{F8D40D5B-5E4E-44A3-8B31-C7EACB60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0047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交易对象</a:t>
            </a:r>
          </a:p>
        </p:txBody>
      </p:sp>
      <p:sp>
        <p:nvSpPr>
          <p:cNvPr id="30" name="!!ops.form.value0">
            <a:extLst xmlns:a="http://schemas.openxmlformats.org/drawingml/2006/main">
              <a:ext uri="{FF2B5EF4-FFF2-40B4-BE49-F238E27FC236}">
                <a16:creationId xmlns:a16="http://schemas.microsoft.com/office/drawing/2014/main" id="{EAD3C792-28BD-4977-AE99-1F94BF46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171950"/>
            <a:ext cx="2876550" cy="33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甲公司债 A</a:t>
            </a:r>
          </a:p>
        </p:txBody>
      </p:sp>
      <p:sp>
        <p:nvSpPr>
          <p:cNvPr id="31" name="!!ops.form.label1">
            <a:extLst xmlns:a="http://schemas.openxmlformats.org/drawingml/2006/main">
              <a:ext uri="{FF2B5EF4-FFF2-40B4-BE49-F238E27FC236}">
                <a16:creationId xmlns:a16="http://schemas.microsoft.com/office/drawing/2014/main" id="{861A4E5C-F456-43C4-A0D0-0D185260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54977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业务字段</a:t>
            </a:r>
          </a:p>
        </p:txBody>
      </p:sp>
      <p:sp>
        <p:nvSpPr>
          <p:cNvPr id="32" name="!!ops.form.value1">
            <a:extLst xmlns:a="http://schemas.openxmlformats.org/drawingml/2006/main">
              <a:ext uri="{FF2B5EF4-FFF2-40B4-BE49-F238E27FC236}">
                <a16:creationId xmlns:a16="http://schemas.microsoft.com/office/drawing/2014/main" id="{CBBA0DBA-B94F-4404-AE34-933DA056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921250"/>
            <a:ext cx="2876550" cy="33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券名、方向、数量</a:t>
            </a:r>
          </a:p>
        </p:txBody>
      </p:sp>
      <p:sp>
        <p:nvSpPr>
          <p:cNvPr id="33" name="!!ops.form.label2">
            <a:extLst xmlns:a="http://schemas.openxmlformats.org/drawingml/2006/main">
              <a:ext uri="{FF2B5EF4-FFF2-40B4-BE49-F238E27FC236}">
                <a16:creationId xmlns:a16="http://schemas.microsoft.com/office/drawing/2014/main" id="{2D9B78A4-5553-44CB-BF99-C0B3B127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29907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处理结果</a:t>
            </a:r>
          </a:p>
        </p:txBody>
      </p:sp>
      <p:sp>
        <p:nvSpPr>
          <p:cNvPr id="34" name="!!ops.form.value2">
            <a:extLst xmlns:a="http://schemas.openxmlformats.org/drawingml/2006/main">
              <a:ext uri="{FF2B5EF4-FFF2-40B4-BE49-F238E27FC236}">
                <a16:creationId xmlns:a16="http://schemas.microsoft.com/office/drawing/2014/main" id="{80E3CD88-1EC8-4C16-9AD4-991A7731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670550"/>
            <a:ext cx="2876550" cy="33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识别字段进入业务记录</a:t>
            </a:r>
          </a:p>
        </p:txBody>
      </p:sp>
      <p:sp>
        <p:nvSpPr>
          <p:cNvPr id="35" name="!!ops.stat">
            <a:extLst xmlns:a="http://schemas.openxmlformats.org/drawingml/2006/main">
              <a:ext uri="{FF2B5EF4-FFF2-40B4-BE49-F238E27FC236}">
                <a16:creationId xmlns:a16="http://schemas.microsoft.com/office/drawing/2014/main" id="{12355C74-006F-4B5B-875C-9C8FF363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438900"/>
            <a:ext cx="3352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超过80%</a:t>
            </a:r>
          </a:p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柜面传真采用智能录入</a:t>
            </a:r>
          </a:p>
        </p:txBody>
      </p:sp>
      <p:sp>
        <p:nvSpPr>
          <p:cNvPr id="36" name="!!ops.icbc">
            <a:extLst xmlns:a="http://schemas.openxmlformats.org/drawingml/2006/main">
              <a:ext uri="{FF2B5EF4-FFF2-40B4-BE49-F238E27FC236}">
                <a16:creationId xmlns:a16="http://schemas.microsoft.com/office/drawing/2014/main" id="{2FD5B152-9DD4-48AA-BF10-3F837160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71700"/>
            <a:ext cx="676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工银瑞信  文档比对</a:t>
            </a:r>
          </a:p>
        </p:txBody>
      </p:sp>
      <p:sp>
        <p:nvSpPr>
          <p:cNvPr id="37" name="!!ops.diff0.label">
            <a:extLst xmlns:a="http://schemas.openxmlformats.org/drawingml/2006/main">
              <a:ext uri="{FF2B5EF4-FFF2-40B4-BE49-F238E27FC236}">
                <a16:creationId xmlns:a16="http://schemas.microsoft.com/office/drawing/2014/main" id="{28CBBE2B-7A48-4687-B94B-A89E5379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28950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38" name="!!ops.diff0.old">
            <a:extLst xmlns:a="http://schemas.openxmlformats.org/drawingml/2006/main">
              <a:ext uri="{FF2B5EF4-FFF2-40B4-BE49-F238E27FC236}">
                <a16:creationId xmlns:a16="http://schemas.microsoft.com/office/drawing/2014/main" id="{5D99C379-2AE1-4738-81ED-16834084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29000"/>
            <a:ext cx="3114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</a:t>
            </a:r>
          </a:p>
        </p:txBody>
      </p:sp>
      <p:sp>
        <p:nvSpPr>
          <p:cNvPr id="39" name="!!ops.diff0.new">
            <a:extLst xmlns:a="http://schemas.openxmlformats.org/drawingml/2006/main">
              <a:ext uri="{FF2B5EF4-FFF2-40B4-BE49-F238E27FC236}">
                <a16:creationId xmlns:a16="http://schemas.microsoft.com/office/drawing/2014/main" id="{39C4C5C3-51F9-44EE-95E4-4E158F92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429000"/>
            <a:ext cx="3114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产品A精选混合型基金</a:t>
            </a:r>
          </a:p>
        </p:txBody>
      </p:sp>
      <p:sp>
        <p:nvSpPr>
          <p:cNvPr id="40" name="!!ops.diff0.arrow.line">
            <a:extLst xmlns:a="http://schemas.openxmlformats.org/drawingml/2006/main">
              <a:ext uri="{FF2B5EF4-FFF2-40B4-BE49-F238E27FC236}">
                <a16:creationId xmlns:a16="http://schemas.microsoft.com/office/drawing/2014/main" id="{6130F345-8695-410A-8315-1A01DE08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3771900"/>
            <a:ext cx="3143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1" name="!!ops.diff0.arrow.tip">
            <a:extLst xmlns:a="http://schemas.openxmlformats.org/drawingml/2006/main">
              <a:ext uri="{FF2B5EF4-FFF2-40B4-BE49-F238E27FC236}">
                <a16:creationId xmlns:a16="http://schemas.microsoft.com/office/drawing/2014/main" id="{61683150-EB18-4AD9-856D-9838F2D7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306175" y="3714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2" name="!!ops.diff1.label">
            <a:extLst xmlns:a="http://schemas.openxmlformats.org/drawingml/2006/main">
              <a:ext uri="{FF2B5EF4-FFF2-40B4-BE49-F238E27FC236}">
                <a16:creationId xmlns:a16="http://schemas.microsoft.com/office/drawing/2014/main" id="{FE424617-916E-414F-85FE-F88AF0E6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19600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43" name="!!ops.diff1.old">
            <a:extLst xmlns:a="http://schemas.openxmlformats.org/drawingml/2006/main">
              <a:ext uri="{FF2B5EF4-FFF2-40B4-BE49-F238E27FC236}">
                <a16:creationId xmlns:a16="http://schemas.microsoft.com/office/drawing/2014/main" id="{B1237871-E3F6-42A6-8912-E452AA14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19650"/>
            <a:ext cx="3114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二季度产品资料 V1</a:t>
            </a:r>
          </a:p>
        </p:txBody>
      </p:sp>
      <p:sp>
        <p:nvSpPr>
          <p:cNvPr id="44" name="!!ops.diff1.new">
            <a:extLst xmlns:a="http://schemas.openxmlformats.org/drawingml/2006/main">
              <a:ext uri="{FF2B5EF4-FFF2-40B4-BE49-F238E27FC236}">
                <a16:creationId xmlns:a16="http://schemas.microsoft.com/office/drawing/2014/main" id="{49A10FFA-137D-4873-821C-E91300F9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819650"/>
            <a:ext cx="3114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三季度产品资料 V2</a:t>
            </a:r>
          </a:p>
        </p:txBody>
      </p:sp>
      <p:sp>
        <p:nvSpPr>
          <p:cNvPr id="45" name="!!ops.diff1.arrow.line">
            <a:extLst xmlns:a="http://schemas.openxmlformats.org/drawingml/2006/main">
              <a:ext uri="{FF2B5EF4-FFF2-40B4-BE49-F238E27FC236}">
                <a16:creationId xmlns:a16="http://schemas.microsoft.com/office/drawing/2014/main" id="{DBE02CE9-04AD-4F2E-8616-F45F8B0F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5162550"/>
            <a:ext cx="3143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6" name="!!ops.diff1.arrow.tip">
            <a:extLst xmlns:a="http://schemas.openxmlformats.org/drawingml/2006/main">
              <a:ext uri="{FF2B5EF4-FFF2-40B4-BE49-F238E27FC236}">
                <a16:creationId xmlns:a16="http://schemas.microsoft.com/office/drawing/2014/main" id="{86D31B23-FEA2-4A00-AA3A-86A2C386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306175" y="5105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7" name="!!ops.diff2.label">
            <a:extLst xmlns:a="http://schemas.openxmlformats.org/drawingml/2006/main">
              <a:ext uri="{FF2B5EF4-FFF2-40B4-BE49-F238E27FC236}">
                <a16:creationId xmlns:a16="http://schemas.microsoft.com/office/drawing/2014/main" id="{1FE67735-7A23-4054-9EDB-A1B9F369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810250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48" name="!!ops.diff2.old">
            <a:extLst xmlns:a="http://schemas.openxmlformats.org/drawingml/2006/main">
              <a:ext uri="{FF2B5EF4-FFF2-40B4-BE49-F238E27FC236}">
                <a16:creationId xmlns:a16="http://schemas.microsoft.com/office/drawing/2014/main" id="{33379E2B-1FCD-4913-8EBB-86FA3832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210300"/>
            <a:ext cx="3114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投资有风险</a:t>
            </a:r>
          </a:p>
        </p:txBody>
      </p:sp>
      <p:sp>
        <p:nvSpPr>
          <p:cNvPr id="49" name="!!ops.diff2.new">
            <a:extLst xmlns:a="http://schemas.openxmlformats.org/drawingml/2006/main">
              <a:ext uri="{FF2B5EF4-FFF2-40B4-BE49-F238E27FC236}">
                <a16:creationId xmlns:a16="http://schemas.microsoft.com/office/drawing/2014/main" id="{1C607DE3-2E8F-49D6-B596-31CAF444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210300"/>
            <a:ext cx="3114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净值波动与本金亏损</a:t>
            </a:r>
          </a:p>
        </p:txBody>
      </p:sp>
      <p:sp>
        <p:nvSpPr>
          <p:cNvPr id="50" name="!!ops.diff2.arrow.line">
            <a:extLst xmlns:a="http://schemas.openxmlformats.org/drawingml/2006/main">
              <a:ext uri="{FF2B5EF4-FFF2-40B4-BE49-F238E27FC236}">
                <a16:creationId xmlns:a16="http://schemas.microsoft.com/office/drawing/2014/main" id="{8EF6302B-A36B-4A34-A979-F341CB75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6553200"/>
            <a:ext cx="3143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1" name="!!ops.diff2.arrow.tip">
            <a:extLst xmlns:a="http://schemas.openxmlformats.org/drawingml/2006/main">
              <a:ext uri="{FF2B5EF4-FFF2-40B4-BE49-F238E27FC236}">
                <a16:creationId xmlns:a16="http://schemas.microsoft.com/office/drawing/2014/main" id="{06D241FD-497C-42CB-8D5D-F65F07E1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306175" y="6496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48643324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!!heading">
            <a:extLst xmlns:a="http://schemas.openxmlformats.org/drawingml/2006/main">
              <a:ext uri="{FF2B5EF4-FFF2-40B4-BE49-F238E27FC236}">
                <a16:creationId xmlns:a16="http://schemas.microsoft.com/office/drawing/2014/main" id="{B7B6DFEE-8796-4E2E-A7A9-DC428D81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公司运营文档处理方案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20897EAE-EB9E-41D8-87B7-B619E08D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运营文件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0A7E8A1C-8C02-495A-A45B-89081E4D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BEAB950F-A3EA-44BA-A7CD-1552E306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6AA8B52A-8493-4E12-B9F3-AFD7AF71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D6BED8DB-DEF9-4BAC-909D-49FC1AB9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277B5601-180B-43CC-99A9-294C4000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322EA699-7084-4B73-85FE-11033420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0BAFBC21-5FFF-47BD-B1B5-B6C04B98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115F6604-1DE1-4206-84B3-6FA63830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75CFC145-36DE-411B-95E6-30080E74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78287712-F61A-4CF5-B944-CEF4489A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B1854B45-578D-44AD-B32D-A298CBA1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8ECF83A9-E5DF-4AED-8126-B9B4B2A8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E2F4EB36-E122-44E9-A572-D7A01BEE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05BB7EE9-F7C7-4DDE-BD9A-18A9AD46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F71FB40F-0106-45EE-A2B0-E39B68EE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4C099993-F1BB-43B9-B76B-E56EF48D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1969FECB-5B05-405A-89FA-C20E8AB0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E246CBF1-8667-41A2-95B5-A9B5435D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24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3" action="ppaction://hlinksldjump" tooltip="第23页  华安与工银瑞信的文档处理应用"/>
            <a:extLst xmlns:a="http://schemas.openxmlformats.org/drawingml/2006/main">
              <a:ext uri="{FF2B5EF4-FFF2-40B4-BE49-F238E27FC236}">
                <a16:creationId xmlns:a16="http://schemas.microsoft.com/office/drawing/2014/main" id="{003037C4-5280-4386-B000-3F1663F8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0750EB3B-42EC-4EC7-BDBB-0A588DE9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747EDCC5-77D6-4CBF-AD57-FAA9F855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C24289DC-BF31-4FDF-9C90-16F7BB75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来源：华安基金，2025 CCF企业数字化案例集；工银瑞信基金，基金业协会案例材料；博时基金BSBox上线报道</a:t>
            </a:r>
          </a:p>
        </p:txBody>
      </p:sp>
      <p:sp>
        <p:nvSpPr>
          <p:cNvPr id="25" name="!!changeLog">
            <a:extLst xmlns:a="http://schemas.openxmlformats.org/drawingml/2006/main">
              <a:ext uri="{FF2B5EF4-FFF2-40B4-BE49-F238E27FC236}">
                <a16:creationId xmlns:a16="http://schemas.microsoft.com/office/drawing/2014/main" id="{8BD6B107-81AC-4C14-AFAE-300B3C39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33625"/>
            <a:ext cx="49911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6" name="!!changeLog.title">
            <a:extLst xmlns:a="http://schemas.openxmlformats.org/drawingml/2006/main">
              <a:ext uri="{FF2B5EF4-FFF2-40B4-BE49-F238E27FC236}">
                <a16:creationId xmlns:a16="http://schemas.microsoft.com/office/drawing/2014/main" id="{87C657C8-861F-4403-A444-4C2C2CA9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524125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变更清单</a:t>
            </a:r>
          </a:p>
        </p:txBody>
      </p:sp>
      <p:sp>
        <p:nvSpPr>
          <p:cNvPr id="27" name="!!changeLog.rule">
            <a:extLst xmlns:a="http://schemas.openxmlformats.org/drawingml/2006/main">
              <a:ext uri="{FF2B5EF4-FFF2-40B4-BE49-F238E27FC236}">
                <a16:creationId xmlns:a16="http://schemas.microsoft.com/office/drawing/2014/main" id="{2303A5F6-1F28-4ADB-B613-515C418B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95775" y="3057525"/>
            <a:ext cx="4514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8" name="!!changeLog.product.label">
            <a:extLst xmlns:a="http://schemas.openxmlformats.org/drawingml/2006/main">
              <a:ext uri="{FF2B5EF4-FFF2-40B4-BE49-F238E27FC236}">
                <a16:creationId xmlns:a16="http://schemas.microsoft.com/office/drawing/2014/main" id="{423FCF6C-0CCB-4321-865A-EC92A8A5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29" name="!!changeLog.product.body">
            <a:extLst xmlns:a="http://schemas.openxmlformats.org/drawingml/2006/main">
              <a:ext uri="{FF2B5EF4-FFF2-40B4-BE49-F238E27FC236}">
                <a16:creationId xmlns:a16="http://schemas.microsoft.com/office/drawing/2014/main" id="{C21E7159-FBB7-4C44-8F17-CE771C00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4495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补充正式产品全称</a:t>
            </a:r>
          </a:p>
        </p:txBody>
      </p:sp>
      <p:sp>
        <p:nvSpPr>
          <p:cNvPr id="30" name="!!changeLog.period.label">
            <a:extLst xmlns:a="http://schemas.openxmlformats.org/drawingml/2006/main">
              <a:ext uri="{FF2B5EF4-FFF2-40B4-BE49-F238E27FC236}">
                <a16:creationId xmlns:a16="http://schemas.microsoft.com/office/drawing/2014/main" id="{F185F2C8-AC2B-457C-89A4-2F2911E5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5295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31" name="!!changeLog.period.body">
            <a:extLst xmlns:a="http://schemas.openxmlformats.org/drawingml/2006/main">
              <a:ext uri="{FF2B5EF4-FFF2-40B4-BE49-F238E27FC236}">
                <a16:creationId xmlns:a16="http://schemas.microsoft.com/office/drawing/2014/main" id="{14512C36-F4C5-44A6-8C96-5B9ACE24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62525"/>
            <a:ext cx="4495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二季度 V1 更新为三季度 V2</a:t>
            </a:r>
          </a:p>
        </p:txBody>
      </p:sp>
      <p:sp>
        <p:nvSpPr>
          <p:cNvPr id="32" name="!!changeLog.risk.label">
            <a:extLst xmlns:a="http://schemas.openxmlformats.org/drawingml/2006/main">
              <a:ext uri="{FF2B5EF4-FFF2-40B4-BE49-F238E27FC236}">
                <a16:creationId xmlns:a16="http://schemas.microsoft.com/office/drawing/2014/main" id="{7B9B382F-B804-4DFE-ADF0-28EA86EE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724525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33" name="!!changeLog.risk.body">
            <a:extLst xmlns:a="http://schemas.openxmlformats.org/drawingml/2006/main">
              <a:ext uri="{FF2B5EF4-FFF2-40B4-BE49-F238E27FC236}">
                <a16:creationId xmlns:a16="http://schemas.microsoft.com/office/drawing/2014/main" id="{83D54C42-8088-4BBD-843E-97C47F3A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134100"/>
            <a:ext cx="4495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补充净值波动与本金亏损</a:t>
            </a:r>
          </a:p>
        </p:txBody>
      </p:sp>
      <p:sp>
        <p:nvSpPr>
          <p:cNvPr id="34" name="!!clientDoc">
            <a:extLst xmlns:a="http://schemas.openxmlformats.org/drawingml/2006/main">
              <a:ext uri="{FF2B5EF4-FFF2-40B4-BE49-F238E27FC236}">
                <a16:creationId xmlns:a16="http://schemas.microsoft.com/office/drawing/2014/main" id="{14AE3199-97CD-426E-866C-2DF465E9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33625"/>
            <a:ext cx="49911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35" name="!!clientDoc.title">
            <a:extLst xmlns:a="http://schemas.openxmlformats.org/drawingml/2006/main">
              <a:ext uri="{FF2B5EF4-FFF2-40B4-BE49-F238E27FC236}">
                <a16:creationId xmlns:a16="http://schemas.microsoft.com/office/drawing/2014/main" id="{69608AB8-EF03-435E-A68A-259CC97A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14600"/>
            <a:ext cx="39909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36" name="!!clientDoc.version">
            <a:extLst xmlns:a="http://schemas.openxmlformats.org/drawingml/2006/main">
              <a:ext uri="{FF2B5EF4-FFF2-40B4-BE49-F238E27FC236}">
                <a16:creationId xmlns:a16="http://schemas.microsoft.com/office/drawing/2014/main" id="{73B006F9-9B93-4E0C-8BBC-94FEF1FE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25336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V2</a:t>
            </a:r>
          </a:p>
        </p:txBody>
      </p:sp>
      <p:sp>
        <p:nvSpPr>
          <p:cNvPr id="37" name="!!clientDoc.rule">
            <a:extLst xmlns:a="http://schemas.openxmlformats.org/drawingml/2006/main">
              <a:ext uri="{FF2B5EF4-FFF2-40B4-BE49-F238E27FC236}">
                <a16:creationId xmlns:a16="http://schemas.microsoft.com/office/drawing/2014/main" id="{0C3130EF-DF71-4CB5-BE5D-25A56436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29800" y="3057525"/>
            <a:ext cx="4533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8" name="!!clientDoc.highlight.product">
            <a:extLst xmlns:a="http://schemas.openxmlformats.org/drawingml/2006/main">
              <a:ext uri="{FF2B5EF4-FFF2-40B4-BE49-F238E27FC236}">
                <a16:creationId xmlns:a16="http://schemas.microsoft.com/office/drawing/2014/main" id="{21A8E65C-3C27-41BE-BF6B-2E104EAA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2289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!!clientDoc.label.product">
            <a:extLst xmlns:a="http://schemas.openxmlformats.org/drawingml/2006/main">
              <a:ext uri="{FF2B5EF4-FFF2-40B4-BE49-F238E27FC236}">
                <a16:creationId xmlns:a16="http://schemas.microsoft.com/office/drawing/2014/main" id="{315BA9B8-6684-40FA-AB84-BF3FEF0B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28612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40" name="!!clientDoc.value.product">
            <a:extLst xmlns:a="http://schemas.openxmlformats.org/drawingml/2006/main">
              <a:ext uri="{FF2B5EF4-FFF2-40B4-BE49-F238E27FC236}">
                <a16:creationId xmlns:a16="http://schemas.microsoft.com/office/drawing/2014/main" id="{01CC1306-29EC-4734-90CB-F5AF74B2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60045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产品A精选混合型基金</a:t>
            </a:r>
          </a:p>
        </p:txBody>
      </p:sp>
      <p:sp>
        <p:nvSpPr>
          <p:cNvPr id="41" name="!!clientDoc.highlight.period">
            <a:extLst xmlns:a="http://schemas.openxmlformats.org/drawingml/2006/main">
              <a:ext uri="{FF2B5EF4-FFF2-40B4-BE49-F238E27FC236}">
                <a16:creationId xmlns:a16="http://schemas.microsoft.com/office/drawing/2014/main" id="{90BA8B25-BCB5-4229-86AE-0100F5E2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990975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!!clientDoc.label.period">
            <a:extLst xmlns:a="http://schemas.openxmlformats.org/drawingml/2006/main">
              <a:ext uri="{FF2B5EF4-FFF2-40B4-BE49-F238E27FC236}">
                <a16:creationId xmlns:a16="http://schemas.microsoft.com/office/drawing/2014/main" id="{CA94C3C4-5245-40CD-8BF9-87A7FA56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04812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43" name="!!clientDoc.value.period">
            <a:extLst xmlns:a="http://schemas.openxmlformats.org/drawingml/2006/main">
              <a:ext uri="{FF2B5EF4-FFF2-40B4-BE49-F238E27FC236}">
                <a16:creationId xmlns:a16="http://schemas.microsoft.com/office/drawing/2014/main" id="{2E585F9B-317A-460A-A69B-C72AA32C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6245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2026年三季度产品资料V2</a:t>
            </a:r>
          </a:p>
        </p:txBody>
      </p:sp>
      <p:sp>
        <p:nvSpPr>
          <p:cNvPr id="44" name="!!clientDoc.highlight.view">
            <a:extLst xmlns:a="http://schemas.openxmlformats.org/drawingml/2006/main">
              <a:ext uri="{FF2B5EF4-FFF2-40B4-BE49-F238E27FC236}">
                <a16:creationId xmlns:a16="http://schemas.microsoft.com/office/drawing/2014/main" id="{3A7D7CF1-5A22-4817-BEA3-7C89E2CC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4667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!!clientDoc.label.view">
            <a:extLst xmlns:a="http://schemas.openxmlformats.org/drawingml/2006/main">
              <a:ext uri="{FF2B5EF4-FFF2-40B4-BE49-F238E27FC236}">
                <a16:creationId xmlns:a16="http://schemas.microsoft.com/office/drawing/2014/main" id="{042EDC5C-8701-468D-9DE6-ACDE7EE1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6727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46" name="!!clientDoc.value.view">
            <a:extLst xmlns:a="http://schemas.openxmlformats.org/drawingml/2006/main">
              <a:ext uri="{FF2B5EF4-FFF2-40B4-BE49-F238E27FC236}">
                <a16:creationId xmlns:a16="http://schemas.microsoft.com/office/drawing/2014/main" id="{5DD94C3A-A6BF-4DA5-86D1-C3A5F402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181600"/>
            <a:ext cx="45148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47" name="!!clientDoc.highlight.risk">
            <a:extLst xmlns:a="http://schemas.openxmlformats.org/drawingml/2006/main">
              <a:ext uri="{FF2B5EF4-FFF2-40B4-BE49-F238E27FC236}">
                <a16:creationId xmlns:a16="http://schemas.microsoft.com/office/drawing/2014/main" id="{3A8BF809-005F-4551-AD56-5EB8EA3F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8483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!!clientDoc.label.risk">
            <a:extLst xmlns:a="http://schemas.openxmlformats.org/drawingml/2006/main">
              <a:ext uri="{FF2B5EF4-FFF2-40B4-BE49-F238E27FC236}">
                <a16:creationId xmlns:a16="http://schemas.microsoft.com/office/drawing/2014/main" id="{E73DE5DF-948F-4812-9F13-37D133F7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905500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49" name="!!clientDoc.value.risk">
            <a:extLst xmlns:a="http://schemas.openxmlformats.org/drawingml/2006/main">
              <a:ext uri="{FF2B5EF4-FFF2-40B4-BE49-F238E27FC236}">
                <a16:creationId xmlns:a16="http://schemas.microsoft.com/office/drawing/2014/main" id="{DE031087-20E3-4DD2-9481-22561661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219825"/>
            <a:ext cx="4514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基金净值随市场波动，投资本金可能亏损</a:t>
            </a:r>
          </a:p>
        </p:txBody>
      </p:sp>
    </p:spTree>
    <p:extLst>
      <p:ext uri="{BB962C8B-B14F-4D97-AF65-F5344CB8AC3E}">
        <p14:creationId xmlns:p14="http://schemas.microsoft.com/office/powerpoint/2010/main" val="408104820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!!heading">
            <a:extLst xmlns:a="http://schemas.openxmlformats.org/drawingml/2006/main">
              <a:ext uri="{FF2B5EF4-FFF2-40B4-BE49-F238E27FC236}">
                <a16:creationId xmlns:a16="http://schemas.microsoft.com/office/drawing/2014/main" id="{1EC27937-4530-442B-ABA1-AEA36A1D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业务需求到工具交付的工作过程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3C0FD03F-24C1-4D3E-81DB-77A4D9C6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工具开发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A3E48AF3-E615-442E-BF2D-4814F487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A30D7E82-8914-4CEA-9B10-42DD85E9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20D99981-5BF2-40C1-8D8D-7143A83E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5881503B-6F16-4CDA-8695-8078659A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8346ED97-0F14-45C1-8D86-A8B8506E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523F6786-B61C-4FE3-BFDA-86E735C2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12FFAAB4-9C8B-47CA-B7DA-88022089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AE6AB6B8-D2EC-4E23-80A3-DF041302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27D273E-CF11-446F-B511-A70AC8A9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E33728DC-FFBC-4BC6-BE8A-3A39C56B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92133BF9-17C5-4F6A-BAF8-56C5DDD4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1721FE65-735C-4AB4-80C7-5F8D8A28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98E46425-8020-4356-9C9A-FA81F2CB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63B5AD97-D821-422A-B988-9F8EB5A9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C7E6E550-B595-4B40-BF4E-5097E4D1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5AE483C0-34D8-4A36-A6D6-23E2FA78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DF7C4577-1E35-4A58-93D9-456BBDE4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0CC406A7-C29F-42B1-B630-78CA1F23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25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4" action="ppaction://hlinksldjump" tooltip="第24页  公司运营文档处理方案"/>
            <a:extLst xmlns:a="http://schemas.openxmlformats.org/drawingml/2006/main">
              <a:ext uri="{FF2B5EF4-FFF2-40B4-BE49-F238E27FC236}">
                <a16:creationId xmlns:a16="http://schemas.microsoft.com/office/drawing/2014/main" id="{E104B1CC-0480-4261-A35A-BA339C23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6" action="ppaction://hlinksldjump" tooltip="第26页  易方达与景顺长城的开发辅助"/>
            <a:extLst xmlns:a="http://schemas.openxmlformats.org/drawingml/2006/main">
              <a:ext uri="{FF2B5EF4-FFF2-40B4-BE49-F238E27FC236}">
                <a16:creationId xmlns:a16="http://schemas.microsoft.com/office/drawing/2014/main" id="{939B68B6-E0B1-40E8-9662-31D2A8B7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E1DCC5C4-7A7E-438E-95EA-E8087E13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29C07F76-FFBB-4795-8CB3-E21D24AD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dev.request">
            <a:extLst xmlns:a="http://schemas.openxmlformats.org/drawingml/2006/main">
              <a:ext uri="{FF2B5EF4-FFF2-40B4-BE49-F238E27FC236}">
                <a16:creationId xmlns:a16="http://schemas.microsoft.com/office/drawing/2014/main" id="{205A220C-E341-4501-9458-7AA080D2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2882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业务需求：比较两版报告，直接查看修改位置</a:t>
            </a:r>
          </a:p>
        </p:txBody>
      </p:sp>
      <p:sp>
        <p:nvSpPr>
          <p:cNvPr id="26" name="!!dev.samples">
            <a:extLst xmlns:a="http://schemas.openxmlformats.org/drawingml/2006/main">
              <a:ext uri="{FF2B5EF4-FFF2-40B4-BE49-F238E27FC236}">
                <a16:creationId xmlns:a16="http://schemas.microsoft.com/office/drawing/2014/main" id="{461C8470-6568-4E3C-96C3-4D1A02EE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238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业务同事</a:t>
            </a:r>
          </a:p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两版报告与比较要求</a:t>
            </a:r>
          </a:p>
        </p:txBody>
      </p:sp>
      <p:sp>
        <p:nvSpPr>
          <p:cNvPr id="27" name="!!dev.work">
            <a:extLst xmlns:a="http://schemas.openxmlformats.org/drawingml/2006/main">
              <a:ext uri="{FF2B5EF4-FFF2-40B4-BE49-F238E27FC236}">
                <a16:creationId xmlns:a16="http://schemas.microsoft.com/office/drawing/2014/main" id="{26F1E01A-5C38-4A82-8690-C2743DC8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3238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开发同事</a:t>
            </a:r>
          </a:p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需求、程序、测试</a:t>
            </a:r>
          </a:p>
        </p:txBody>
      </p:sp>
      <p:sp>
        <p:nvSpPr>
          <p:cNvPr id="28" name="!!dev.request.link.line">
            <a:extLst xmlns:a="http://schemas.openxmlformats.org/drawingml/2006/main">
              <a:ext uri="{FF2B5EF4-FFF2-40B4-BE49-F238E27FC236}">
                <a16:creationId xmlns:a16="http://schemas.microsoft.com/office/drawing/2014/main" id="{8386E4D4-D909-43C6-B390-3FE88030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0450" y="3790950"/>
            <a:ext cx="704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9" name="!!dev.request.link.tip">
            <a:extLst xmlns:a="http://schemas.openxmlformats.org/drawingml/2006/main">
              <a:ext uri="{FF2B5EF4-FFF2-40B4-BE49-F238E27FC236}">
                <a16:creationId xmlns:a16="http://schemas.microsoft.com/office/drawing/2014/main" id="{BCD3E68C-7963-4B55-ACC3-CEAF1855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58150" y="3733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0" name="!!dev.delivery">
            <a:extLst xmlns:a="http://schemas.openxmlformats.org/drawingml/2006/main">
              <a:ext uri="{FF2B5EF4-FFF2-40B4-BE49-F238E27FC236}">
                <a16:creationId xmlns:a16="http://schemas.microsoft.com/office/drawing/2014/main" id="{939C2987-F495-4562-91B3-7B1A4EAB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667375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报告比对工具</a:t>
            </a:r>
          </a:p>
          <a:p xmlns:a="http://schemas.openxmlformats.org/drawingml/2006/main">
            <a:pPr algn="ctr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使用说明</a:t>
            </a:r>
          </a:p>
        </p:txBody>
      </p:sp>
      <p:sp>
        <p:nvSpPr>
          <p:cNvPr id="31" name="!!dev.feedback">
            <a:extLst xmlns:a="http://schemas.openxmlformats.org/drawingml/2006/main">
              <a:ext uri="{FF2B5EF4-FFF2-40B4-BE49-F238E27FC236}">
                <a16:creationId xmlns:a16="http://schemas.microsoft.com/office/drawing/2014/main" id="{ABC01D47-B94B-4E1A-979B-2E0DA796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67375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使用与反馈</a:t>
            </a:r>
          </a:p>
          <a:p xmlns:a="http://schemas.openxmlformats.org/drawingml/2006/main">
            <a: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比较规则、格式问题</a:t>
            </a:r>
          </a:p>
        </p:txBody>
      </p:sp>
      <p:sp>
        <p:nvSpPr>
          <p:cNvPr id="32" name="!!dev.build.line">
            <a:extLst xmlns:a="http://schemas.openxmlformats.org/drawingml/2006/main">
              <a:ext uri="{FF2B5EF4-FFF2-40B4-BE49-F238E27FC236}">
                <a16:creationId xmlns:a16="http://schemas.microsoft.com/office/drawing/2014/main" id="{036DED10-2228-4A92-B384-E87229CB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67900" y="4562475"/>
            <a:ext cx="953" cy="971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3" name="!!dev.build.tip">
            <a:extLst xmlns:a="http://schemas.openxmlformats.org/drawingml/2006/main">
              <a:ext uri="{FF2B5EF4-FFF2-40B4-BE49-F238E27FC236}">
                <a16:creationId xmlns:a16="http://schemas.microsoft.com/office/drawing/2014/main" id="{36F84964-EEA4-4A16-B892-7F7C94F6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810750" y="5476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4" name="!!dev.use.line">
            <a:extLst xmlns:a="http://schemas.openxmlformats.org/drawingml/2006/main">
              <a:ext uri="{FF2B5EF4-FFF2-40B4-BE49-F238E27FC236}">
                <a16:creationId xmlns:a16="http://schemas.microsoft.com/office/drawing/2014/main" id="{670B2322-114B-4210-8C56-363839BF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419975" y="6286500"/>
            <a:ext cx="714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5" name="!!dev.use.tip">
            <a:extLst xmlns:a="http://schemas.openxmlformats.org/drawingml/2006/main">
              <a:ext uri="{FF2B5EF4-FFF2-40B4-BE49-F238E27FC236}">
                <a16:creationId xmlns:a16="http://schemas.microsoft.com/office/drawing/2014/main" id="{F7ABE62E-68C0-4C4E-8DC9-1CE5849F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362825" y="62293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6" name="!!dev.loop1">
            <a:extLst xmlns:a="http://schemas.openxmlformats.org/drawingml/2006/main">
              <a:ext uri="{FF2B5EF4-FFF2-40B4-BE49-F238E27FC236}">
                <a16:creationId xmlns:a16="http://schemas.microsoft.com/office/drawing/2014/main" id="{EFAE66E2-6A06-4C85-BA77-202CDCFB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829050" y="6286500"/>
            <a:ext cx="228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7" name="!!dev.loop2">
            <a:extLst xmlns:a="http://schemas.openxmlformats.org/drawingml/2006/main">
              <a:ext uri="{FF2B5EF4-FFF2-40B4-BE49-F238E27FC236}">
                <a16:creationId xmlns:a16="http://schemas.microsoft.com/office/drawing/2014/main" id="{FE807727-E2F9-4060-A7CD-D221F759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829050" y="3790950"/>
            <a:ext cx="953" cy="2495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8" name="!!dev.loop3.line">
            <a:extLst xmlns:a="http://schemas.openxmlformats.org/drawingml/2006/main">
              <a:ext uri="{FF2B5EF4-FFF2-40B4-BE49-F238E27FC236}">
                <a16:creationId xmlns:a16="http://schemas.microsoft.com/office/drawing/2014/main" id="{127BEF9F-ED96-4CA6-96AF-8248CAC7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29050" y="3790950"/>
            <a:ext cx="1238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dev.loop3.tip">
            <a:extLst xmlns:a="http://schemas.openxmlformats.org/drawingml/2006/main">
              <a:ext uri="{FF2B5EF4-FFF2-40B4-BE49-F238E27FC236}">
                <a16:creationId xmlns:a16="http://schemas.microsoft.com/office/drawing/2014/main" id="{A1BCC5A5-10E2-4254-B42C-5AA86559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895725" y="3733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dev.artifacts">
            <a:extLst xmlns:a="http://schemas.openxmlformats.org/drawingml/2006/main">
              <a:ext uri="{FF2B5EF4-FFF2-40B4-BE49-F238E27FC236}">
                <a16:creationId xmlns:a16="http://schemas.microsoft.com/office/drawing/2014/main" id="{FB81F895-EB4C-4C43-BB48-9265EBB8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4029075"/>
            <a:ext cx="2333625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可运行工具</a:t>
            </a:r>
          </a:p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测试样例</a:t>
            </a:r>
          </a:p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操作说明</a:t>
            </a:r>
          </a:p>
        </p:txBody>
      </p:sp>
    </p:spTree>
    <p:extLst>
      <p:ext uri="{BB962C8B-B14F-4D97-AF65-F5344CB8AC3E}">
        <p14:creationId xmlns:p14="http://schemas.microsoft.com/office/powerpoint/2010/main" val="243163888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!!heading">
            <a:extLst xmlns:a="http://schemas.openxmlformats.org/drawingml/2006/main">
              <a:ext uri="{FF2B5EF4-FFF2-40B4-BE49-F238E27FC236}">
                <a16:creationId xmlns:a16="http://schemas.microsoft.com/office/drawing/2014/main" id="{FBA32767-B80C-4E62-AB2E-59B59EC7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易方达与景顺长城的开发辅助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D9F731F9-0C2D-41FF-8025-A1C4AF1A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工具开发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C747FFD3-AA67-41FC-80CC-6A643766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FA52AD4D-377E-4848-A601-25C8A069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1BB0447B-5896-46EF-A14C-B9B48323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E64C650D-538E-4E81-8B69-48E2D55D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7F02EDE0-3764-472D-A89A-F149E13E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B56FFE1C-DC8C-4733-9F7D-575DA686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218976C4-B711-407D-94D6-44987B89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EADF99DC-4932-4EF3-9A4C-F9CF592C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7D6EB6F-5132-48E7-AD8A-C7A329F2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C51B0FA1-6494-4890-9A1E-8E15D6F7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C291CA05-18D3-4B68-8056-22BCDCA1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B11AD35-7EE5-4E9A-8FA5-81B3C03E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15C6C228-A63C-4B83-A9A6-9CBD2B02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4863DCE5-290E-48C8-839D-130B9EAD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975425DF-260B-4444-9C1F-DF20DABA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BB92BD51-E469-40F6-A858-86F2110A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5F99C16C-55C6-4D5E-A9EE-E7302360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9631DE9F-F8FF-4F3F-B22B-FB8FA4A6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26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AF7EFE09-EDE4-4D1C-B494-BFA4FF77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7" action="ppaction://hlinksldjump" tooltip="第27页  公司业务工具开发方案"/>
            <a:extLst xmlns:a="http://schemas.openxmlformats.org/drawingml/2006/main">
              <a:ext uri="{FF2B5EF4-FFF2-40B4-BE49-F238E27FC236}">
                <a16:creationId xmlns:a16="http://schemas.microsoft.com/office/drawing/2014/main" id="{4BFA88E3-0005-4625-940B-F557CEC0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9AFA2ADE-8D1F-4D1C-81D8-BC2C804C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4533EC93-5025-49B0-AE94-5BB329B9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来源：易方达基金，基金业协会案例材料；易方达基金CIO论坛发言；财联社，景顺长城量化团队报道</a:t>
            </a:r>
          </a:p>
        </p:txBody>
      </p:sp>
      <p:sp>
        <p:nvSpPr>
          <p:cNvPr id="25" name="!!dev.case1">
            <a:extLst xmlns:a="http://schemas.openxmlformats.org/drawingml/2006/main">
              <a:ext uri="{FF2B5EF4-FFF2-40B4-BE49-F238E27FC236}">
                <a16:creationId xmlns:a16="http://schemas.microsoft.com/office/drawing/2014/main" id="{3465215F-8654-4DB4-B19C-5C90BCB7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2882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易方达：大模型进入研发与测试</a:t>
            </a:r>
          </a:p>
        </p:txBody>
      </p:sp>
      <p:sp>
        <p:nvSpPr>
          <p:cNvPr id="26" name="!!dev.case2">
            <a:extLst xmlns:a="http://schemas.openxmlformats.org/drawingml/2006/main">
              <a:ext uri="{FF2B5EF4-FFF2-40B4-BE49-F238E27FC236}">
                <a16:creationId xmlns:a16="http://schemas.microsoft.com/office/drawing/2014/main" id="{659F1EEA-FDBF-4562-8D2F-95011ACC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43175"/>
            <a:ext cx="1053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景顺长城：量化团队使用本地模型辅助编程</a:t>
            </a:r>
          </a:p>
        </p:txBody>
      </p:sp>
      <p:sp>
        <p:nvSpPr>
          <p:cNvPr id="27" name="!!dev.requirements">
            <a:extLst xmlns:a="http://schemas.openxmlformats.org/drawingml/2006/main">
              <a:ext uri="{FF2B5EF4-FFF2-40B4-BE49-F238E27FC236}">
                <a16:creationId xmlns:a16="http://schemas.microsoft.com/office/drawing/2014/main" id="{CE7E73E8-A161-46CD-8BA6-9DBB9F48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19500"/>
            <a:ext cx="3333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8" name="!!dev.requirements.title">
            <a:extLst xmlns:a="http://schemas.openxmlformats.org/drawingml/2006/main">
              <a:ext uri="{FF2B5EF4-FFF2-40B4-BE49-F238E27FC236}">
                <a16:creationId xmlns:a16="http://schemas.microsoft.com/office/drawing/2014/main" id="{81EA88A2-EDDC-4AA6-A1CA-DDB7B450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0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需求整理</a:t>
            </a:r>
          </a:p>
        </p:txBody>
      </p:sp>
      <p:sp>
        <p:nvSpPr>
          <p:cNvPr id="29" name="!!dev.requirements.rule">
            <a:extLst xmlns:a="http://schemas.openxmlformats.org/drawingml/2006/main">
              <a:ext uri="{FF2B5EF4-FFF2-40B4-BE49-F238E27FC236}">
                <a16:creationId xmlns:a16="http://schemas.microsoft.com/office/drawing/2014/main" id="{66F35571-13A0-4CA5-89B2-677346E8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95775" y="4343400"/>
            <a:ext cx="2857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0" name="!!dev.requirements.label0">
            <a:extLst xmlns:a="http://schemas.openxmlformats.org/drawingml/2006/main">
              <a:ext uri="{FF2B5EF4-FFF2-40B4-BE49-F238E27FC236}">
                <a16:creationId xmlns:a16="http://schemas.microsoft.com/office/drawing/2014/main" id="{6649DFEE-D21D-4498-B7A5-05520761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5339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比较哪些内容</a:t>
            </a:r>
          </a:p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差异怎样显示</a:t>
            </a:r>
          </a:p>
        </p:txBody>
      </p:sp>
      <p:sp>
        <p:nvSpPr>
          <p:cNvPr id="31" name="!!dev.requirements.value0">
            <a:extLst xmlns:a="http://schemas.openxmlformats.org/drawingml/2006/main">
              <a:ext uri="{FF2B5EF4-FFF2-40B4-BE49-F238E27FC236}">
                <a16:creationId xmlns:a16="http://schemas.microsoft.com/office/drawing/2014/main" id="{5F7811D0-B754-4F34-99A3-B3C4739E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905375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!!dev.process0.line">
            <a:extLst xmlns:a="http://schemas.openxmlformats.org/drawingml/2006/main">
              <a:ext uri="{FF2B5EF4-FFF2-40B4-BE49-F238E27FC236}">
                <a16:creationId xmlns:a16="http://schemas.microsoft.com/office/drawing/2014/main" id="{3CE4B280-3805-4615-895F-D32B51CC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58075" y="4724400"/>
            <a:ext cx="114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3" name="!!dev.process0.tip">
            <a:extLst xmlns:a="http://schemas.openxmlformats.org/drawingml/2006/main">
              <a:ext uri="{FF2B5EF4-FFF2-40B4-BE49-F238E27FC236}">
                <a16:creationId xmlns:a16="http://schemas.microsoft.com/office/drawing/2014/main" id="{3431756E-F6CB-4BDD-B6F2-0C76D1E2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15225" y="4667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4" name="!!dev.code">
            <a:extLst xmlns:a="http://schemas.openxmlformats.org/drawingml/2006/main">
              <a:ext uri="{FF2B5EF4-FFF2-40B4-BE49-F238E27FC236}">
                <a16:creationId xmlns:a16="http://schemas.microsoft.com/office/drawing/2014/main" id="{C793C04F-E387-410B-8067-EF6DD933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19500"/>
            <a:ext cx="3333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35" name="!!dev.code.title">
            <a:extLst xmlns:a="http://schemas.openxmlformats.org/drawingml/2006/main">
              <a:ext uri="{FF2B5EF4-FFF2-40B4-BE49-F238E27FC236}">
                <a16:creationId xmlns:a16="http://schemas.microsoft.com/office/drawing/2014/main" id="{4D794ECE-732E-4E9B-8985-DE97674C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810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程序编写</a:t>
            </a:r>
          </a:p>
        </p:txBody>
      </p:sp>
      <p:sp>
        <p:nvSpPr>
          <p:cNvPr id="36" name="!!dev.code.rule">
            <a:extLst xmlns:a="http://schemas.openxmlformats.org/drawingml/2006/main">
              <a:ext uri="{FF2B5EF4-FFF2-40B4-BE49-F238E27FC236}">
                <a16:creationId xmlns:a16="http://schemas.microsoft.com/office/drawing/2014/main" id="{81911CA2-FD6D-45A8-9667-19D43E95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96225" y="4343400"/>
            <a:ext cx="2857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7" name="!!dev.code.label0">
            <a:extLst xmlns:a="http://schemas.openxmlformats.org/drawingml/2006/main">
              <a:ext uri="{FF2B5EF4-FFF2-40B4-BE49-F238E27FC236}">
                <a16:creationId xmlns:a16="http://schemas.microsoft.com/office/drawing/2014/main" id="{A20151CA-2852-4039-AD77-D3CD847E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339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读取文件</a:t>
            </a:r>
          </a:p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匹配段落与字段</a:t>
            </a:r>
          </a:p>
        </p:txBody>
      </p:sp>
      <p:sp>
        <p:nvSpPr>
          <p:cNvPr id="38" name="!!dev.code.value0">
            <a:extLst xmlns:a="http://schemas.openxmlformats.org/drawingml/2006/main">
              <a:ext uri="{FF2B5EF4-FFF2-40B4-BE49-F238E27FC236}">
                <a16:creationId xmlns:a16="http://schemas.microsoft.com/office/drawing/2014/main" id="{97527796-2D95-4CDB-8D14-079DAA94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905375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9" name="!!dev.process1.line">
            <a:extLst xmlns:a="http://schemas.openxmlformats.org/drawingml/2006/main">
              <a:ext uri="{FF2B5EF4-FFF2-40B4-BE49-F238E27FC236}">
                <a16:creationId xmlns:a16="http://schemas.microsoft.com/office/drawing/2014/main" id="{642989EF-B4FE-4867-A210-8645F06A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58525" y="4724400"/>
            <a:ext cx="114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0" name="!!dev.process1.tip">
            <a:extLst xmlns:a="http://schemas.openxmlformats.org/drawingml/2006/main">
              <a:ext uri="{FF2B5EF4-FFF2-40B4-BE49-F238E27FC236}">
                <a16:creationId xmlns:a16="http://schemas.microsoft.com/office/drawing/2014/main" id="{43FAC054-57CF-461C-A7F7-E72CDC21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15675" y="4667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1" name="!!dev.test">
            <a:extLst xmlns:a="http://schemas.openxmlformats.org/drawingml/2006/main">
              <a:ext uri="{FF2B5EF4-FFF2-40B4-BE49-F238E27FC236}">
                <a16:creationId xmlns:a16="http://schemas.microsoft.com/office/drawing/2014/main" id="{06B5A1B8-BB5B-4582-BBE1-67120D0C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619500"/>
            <a:ext cx="3333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42" name="!!dev.test.title">
            <a:extLst xmlns:a="http://schemas.openxmlformats.org/drawingml/2006/main">
              <a:ext uri="{FF2B5EF4-FFF2-40B4-BE49-F238E27FC236}">
                <a16:creationId xmlns:a16="http://schemas.microsoft.com/office/drawing/2014/main" id="{66603F30-95D8-49DE-9F69-46E1453D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3810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测试与修订</a:t>
            </a:r>
          </a:p>
        </p:txBody>
      </p:sp>
      <p:sp>
        <p:nvSpPr>
          <p:cNvPr id="43" name="!!dev.test.rule">
            <a:extLst xmlns:a="http://schemas.openxmlformats.org/drawingml/2006/main">
              <a:ext uri="{FF2B5EF4-FFF2-40B4-BE49-F238E27FC236}">
                <a16:creationId xmlns:a16="http://schemas.microsoft.com/office/drawing/2014/main" id="{1C93D51E-CE49-422E-A5DF-4B42092A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96675" y="4343400"/>
            <a:ext cx="2857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44" name="!!dev.test.label0">
            <a:extLst xmlns:a="http://schemas.openxmlformats.org/drawingml/2006/main">
              <a:ext uri="{FF2B5EF4-FFF2-40B4-BE49-F238E27FC236}">
                <a16:creationId xmlns:a16="http://schemas.microsoft.com/office/drawing/2014/main" id="{F14EE330-FA48-4E44-8242-B3A91447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45339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核对差异位置</a:t>
            </a:r>
          </a:p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修复格式问题</a:t>
            </a:r>
          </a:p>
        </p:txBody>
      </p:sp>
      <p:sp>
        <p:nvSpPr>
          <p:cNvPr id="45" name="!!dev.test.value0">
            <a:extLst xmlns:a="http://schemas.openxmlformats.org/drawingml/2006/main">
              <a:ext uri="{FF2B5EF4-FFF2-40B4-BE49-F238E27FC236}">
                <a16:creationId xmlns:a16="http://schemas.microsoft.com/office/drawing/2014/main" id="{49E1069B-1D94-4408-B6C4-A63AEF7C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4905375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6" name="!!dev.result">
            <a:extLst xmlns:a="http://schemas.openxmlformats.org/drawingml/2006/main">
              <a:ext uri="{FF2B5EF4-FFF2-40B4-BE49-F238E27FC236}">
                <a16:creationId xmlns:a16="http://schemas.microsoft.com/office/drawing/2014/main" id="{9F810AAD-C3F8-424F-B47F-AAC85186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562725"/>
            <a:ext cx="10534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报告比对程序、测试样例与操作说明</a:t>
            </a:r>
          </a:p>
        </p:txBody>
      </p:sp>
    </p:spTree>
    <p:extLst>
      <p:ext uri="{BB962C8B-B14F-4D97-AF65-F5344CB8AC3E}">
        <p14:creationId xmlns:p14="http://schemas.microsoft.com/office/powerpoint/2010/main" val="92481465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!!heading">
            <a:extLst xmlns:a="http://schemas.openxmlformats.org/drawingml/2006/main">
              <a:ext uri="{FF2B5EF4-FFF2-40B4-BE49-F238E27FC236}">
                <a16:creationId xmlns:a16="http://schemas.microsoft.com/office/drawing/2014/main" id="{B71FF509-5FC7-4026-9158-34AEE00B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公司业务工具开发方案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8ADE6EAA-C314-4764-81CC-27912CC1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工具开发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8F4DF020-6364-4DA6-93BA-890147BD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46C68B70-C78E-4DA5-9744-D27D7FF5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DD5B42B1-D4FA-4E26-A999-DA4F7BFD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4B3DF49C-9C01-43CC-8506-FE65B8E7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C9296131-B810-41C1-8F85-32189976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CD331CE0-CC75-4D8C-916C-681C46BA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13BF4603-1F0B-44CF-9963-7651688A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53B905DA-24EC-4E45-A5A3-1B8EAF5E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7F8B36F4-BEF0-4292-B310-2956A47F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896E9FDE-93EC-4543-9692-93030FB4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09E0183D-0769-4AAA-AB5F-FC5EA8DF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7EDBCDD1-E6CB-42C6-9FE2-B0484F75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4CFA533B-476D-4B42-AF22-115E8507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D170E67D-81A2-4F99-BCBD-BBF11254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6C7E2F4B-EACA-483B-9E1F-BCD5312B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DF0BF67F-CEBE-43E4-99F1-D364129A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033B3565-FB1F-4FFC-B972-4B01A9CC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0A41E40A-442D-4878-89F3-1A71E76E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27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6" action="ppaction://hlinksldjump" tooltip="第26页  易方达与景顺长城的开发辅助"/>
            <a:extLst xmlns:a="http://schemas.openxmlformats.org/drawingml/2006/main">
              <a:ext uri="{FF2B5EF4-FFF2-40B4-BE49-F238E27FC236}">
                <a16:creationId xmlns:a16="http://schemas.microsoft.com/office/drawing/2014/main" id="{E2DF4223-CDF8-4ADD-820A-C4324BF8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8" action="ppaction://hlinksldjump" tooltip="第28页  后台的其他应用方向"/>
            <a:extLst xmlns:a="http://schemas.openxmlformats.org/drawingml/2006/main">
              <a:ext uri="{FF2B5EF4-FFF2-40B4-BE49-F238E27FC236}">
                <a16:creationId xmlns:a16="http://schemas.microsoft.com/office/drawing/2014/main" id="{B2F40806-B67C-45C3-AC07-688E979E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D4D4BB4F-AFD9-4A47-B4FD-BA980C08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DC60458F-6027-4E8F-B883-DEDDC3A8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来源：易方达基金，基金业协会案例材料；财联社，景顺长城量化团队报道</a:t>
            </a:r>
          </a:p>
        </p:txBody>
      </p:sp>
      <p:sp>
        <p:nvSpPr>
          <p:cNvPr id="25" name="!!dev.tool.head">
            <a:extLst xmlns:a="http://schemas.openxmlformats.org/drawingml/2006/main">
              <a:ext uri="{FF2B5EF4-FFF2-40B4-BE49-F238E27FC236}">
                <a16:creationId xmlns:a16="http://schemas.microsoft.com/office/drawing/2014/main" id="{49086139-8FC1-4F8B-A723-DB31D9E7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90750"/>
            <a:ext cx="1053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报告比对工具</a:t>
            </a:r>
          </a:p>
        </p:txBody>
      </p:sp>
      <p:sp>
        <p:nvSpPr>
          <p:cNvPr id="26" name="!!dev.tool.v1">
            <a:extLst xmlns:a="http://schemas.openxmlformats.org/drawingml/2006/main">
              <a:ext uri="{FF2B5EF4-FFF2-40B4-BE49-F238E27FC236}">
                <a16:creationId xmlns:a16="http://schemas.microsoft.com/office/drawing/2014/main" id="{9E675FD1-D5AC-4067-B809-D5D5E0B2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26098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旧版报告</a:t>
            </a:r>
          </a:p>
        </p:txBody>
      </p:sp>
      <p:sp>
        <p:nvSpPr>
          <p:cNvPr id="27" name="!!dev.tool.v2">
            <a:extLst xmlns:a="http://schemas.openxmlformats.org/drawingml/2006/main">
              <a:ext uri="{FF2B5EF4-FFF2-40B4-BE49-F238E27FC236}">
                <a16:creationId xmlns:a16="http://schemas.microsoft.com/office/drawing/2014/main" id="{D6A1F3E0-D932-4843-BCCF-6DDED157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48175"/>
            <a:ext cx="26098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新版报告</a:t>
            </a:r>
          </a:p>
        </p:txBody>
      </p:sp>
      <p:sp>
        <p:nvSpPr>
          <p:cNvPr id="28" name="!!dev.tool.rules">
            <a:extLst xmlns:a="http://schemas.openxmlformats.org/drawingml/2006/main">
              <a:ext uri="{FF2B5EF4-FFF2-40B4-BE49-F238E27FC236}">
                <a16:creationId xmlns:a16="http://schemas.microsoft.com/office/drawing/2014/main" id="{7E926065-FD26-40A3-92B2-E51BD511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753100"/>
            <a:ext cx="26098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比较要求</a:t>
            </a:r>
          </a:p>
        </p:txBody>
      </p:sp>
      <p:sp>
        <p:nvSpPr>
          <p:cNvPr id="29" name="!!dev.tool.in0.1">
            <a:extLst xmlns:a="http://schemas.openxmlformats.org/drawingml/2006/main">
              <a:ext uri="{FF2B5EF4-FFF2-40B4-BE49-F238E27FC236}">
                <a16:creationId xmlns:a16="http://schemas.microsoft.com/office/drawing/2014/main" id="{005A256D-20AB-466A-B668-48A11862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0" y="3495675"/>
            <a:ext cx="514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0" name="!!dev.tool.in0.2">
            <a:extLst xmlns:a="http://schemas.openxmlformats.org/drawingml/2006/main">
              <a:ext uri="{FF2B5EF4-FFF2-40B4-BE49-F238E27FC236}">
                <a16:creationId xmlns:a16="http://schemas.microsoft.com/office/drawing/2014/main" id="{44101DFF-E478-4E88-8E41-9006C368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81850" y="3495675"/>
            <a:ext cx="953" cy="1304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1" name="!!dev.tool.in0.3.line">
            <a:extLst xmlns:a="http://schemas.openxmlformats.org/drawingml/2006/main">
              <a:ext uri="{FF2B5EF4-FFF2-40B4-BE49-F238E27FC236}">
                <a16:creationId xmlns:a16="http://schemas.microsoft.com/office/drawing/2014/main" id="{8BA953AD-13DD-4CC0-848B-1AD963CA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81850" y="4800600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2" name="!!dev.tool.in0.3.tip">
            <a:extLst xmlns:a="http://schemas.openxmlformats.org/drawingml/2006/main">
              <a:ext uri="{FF2B5EF4-FFF2-40B4-BE49-F238E27FC236}">
                <a16:creationId xmlns:a16="http://schemas.microsoft.com/office/drawing/2014/main" id="{5A88DAC5-BDFA-47DA-B2B0-F695B478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648575" y="4743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3" name="!!dev.tool.in1.1">
            <a:extLst xmlns:a="http://schemas.openxmlformats.org/drawingml/2006/main">
              <a:ext uri="{FF2B5EF4-FFF2-40B4-BE49-F238E27FC236}">
                <a16:creationId xmlns:a16="http://schemas.microsoft.com/office/drawing/2014/main" id="{C88ADE16-9EC8-4AAC-83DA-E5622163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0" y="4800600"/>
            <a:ext cx="514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4" name="!!dev.tool.in1.2">
            <a:extLst xmlns:a="http://schemas.openxmlformats.org/drawingml/2006/main">
              <a:ext uri="{FF2B5EF4-FFF2-40B4-BE49-F238E27FC236}">
                <a16:creationId xmlns:a16="http://schemas.microsoft.com/office/drawing/2014/main" id="{FA33742B-2E89-4999-849A-DE3FD4F8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81850" y="4800600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5" name="!!dev.tool.in1.3.line">
            <a:extLst xmlns:a="http://schemas.openxmlformats.org/drawingml/2006/main">
              <a:ext uri="{FF2B5EF4-FFF2-40B4-BE49-F238E27FC236}">
                <a16:creationId xmlns:a16="http://schemas.microsoft.com/office/drawing/2014/main" id="{F6680799-D0E6-4CC5-8FEC-F5C6CA0F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81850" y="4800600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6" name="!!dev.tool.in1.3.tip">
            <a:extLst xmlns:a="http://schemas.openxmlformats.org/drawingml/2006/main">
              <a:ext uri="{FF2B5EF4-FFF2-40B4-BE49-F238E27FC236}">
                <a16:creationId xmlns:a16="http://schemas.microsoft.com/office/drawing/2014/main" id="{2A6A59E6-03D1-4689-BCB3-4CCD0306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648575" y="4743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7" name="!!dev.tool.in2.1">
            <a:extLst xmlns:a="http://schemas.openxmlformats.org/drawingml/2006/main">
              <a:ext uri="{FF2B5EF4-FFF2-40B4-BE49-F238E27FC236}">
                <a16:creationId xmlns:a16="http://schemas.microsoft.com/office/drawing/2014/main" id="{17BE1786-E531-42FC-9827-E19F1C9B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0" y="6105525"/>
            <a:ext cx="514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8" name="!!dev.tool.in2.2">
            <a:extLst xmlns:a="http://schemas.openxmlformats.org/drawingml/2006/main">
              <a:ext uri="{FF2B5EF4-FFF2-40B4-BE49-F238E27FC236}">
                <a16:creationId xmlns:a16="http://schemas.microsoft.com/office/drawing/2014/main" id="{4B277758-7571-49BE-AE26-4CCF8897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181850" y="4800600"/>
            <a:ext cx="953" cy="1304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9" name="!!dev.tool.in2.3.line">
            <a:extLst xmlns:a="http://schemas.openxmlformats.org/drawingml/2006/main">
              <a:ext uri="{FF2B5EF4-FFF2-40B4-BE49-F238E27FC236}">
                <a16:creationId xmlns:a16="http://schemas.microsoft.com/office/drawing/2014/main" id="{7BCE108D-4E26-4983-AC42-34CB39F1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81850" y="4800600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0" name="!!dev.tool.in2.3.tip">
            <a:extLst xmlns:a="http://schemas.openxmlformats.org/drawingml/2006/main">
              <a:ext uri="{FF2B5EF4-FFF2-40B4-BE49-F238E27FC236}">
                <a16:creationId xmlns:a16="http://schemas.microsoft.com/office/drawing/2014/main" id="{9AB70946-1833-43BB-956F-9AE70D0C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648575" y="4743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1" name="!!dev.tool.program">
            <a:extLst xmlns:a="http://schemas.openxmlformats.org/drawingml/2006/main">
              <a:ext uri="{FF2B5EF4-FFF2-40B4-BE49-F238E27FC236}">
                <a16:creationId xmlns:a16="http://schemas.microsoft.com/office/drawing/2014/main" id="{4DA34E50-BA3B-46BC-BF21-0C5FD070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076700"/>
            <a:ext cx="2667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读取与匹配</a:t>
            </a:r>
          </a:p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定位修改</a:t>
            </a:r>
          </a:p>
        </p:txBody>
      </p:sp>
      <p:sp>
        <p:nvSpPr>
          <p:cNvPr id="42" name="!!dev.tool.output.line">
            <a:extLst xmlns:a="http://schemas.openxmlformats.org/drawingml/2006/main">
              <a:ext uri="{FF2B5EF4-FFF2-40B4-BE49-F238E27FC236}">
                <a16:creationId xmlns:a16="http://schemas.microsoft.com/office/drawing/2014/main" id="{7D2C5C36-8425-4D8C-9B2D-E15289D5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48925" y="4800600"/>
            <a:ext cx="485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3" name="!!dev.tool.output.tip">
            <a:extLst xmlns:a="http://schemas.openxmlformats.org/drawingml/2006/main">
              <a:ext uri="{FF2B5EF4-FFF2-40B4-BE49-F238E27FC236}">
                <a16:creationId xmlns:a16="http://schemas.microsoft.com/office/drawing/2014/main" id="{F5358F99-4DCD-44B0-99A2-E3ADC693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877550" y="4743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4" name="!!dev.tool.result">
            <a:extLst xmlns:a="http://schemas.openxmlformats.org/drawingml/2006/main">
              <a:ext uri="{FF2B5EF4-FFF2-40B4-BE49-F238E27FC236}">
                <a16:creationId xmlns:a16="http://schemas.microsoft.com/office/drawing/2014/main" id="{41DE0433-DFD1-4708-AA9C-3A35D3AC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3028950"/>
            <a:ext cx="35337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45" name="!!dev.tool.result.title">
            <a:extLst xmlns:a="http://schemas.openxmlformats.org/drawingml/2006/main">
              <a:ext uri="{FF2B5EF4-FFF2-40B4-BE49-F238E27FC236}">
                <a16:creationId xmlns:a16="http://schemas.microsoft.com/office/drawing/2014/main" id="{A1C6395F-4788-468C-9864-F99A488B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19450"/>
            <a:ext cx="3057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差异结果</a:t>
            </a:r>
          </a:p>
        </p:txBody>
      </p:sp>
      <p:sp>
        <p:nvSpPr>
          <p:cNvPr id="46" name="!!dev.tool.result.rule">
            <a:extLst xmlns:a="http://schemas.openxmlformats.org/drawingml/2006/main">
              <a:ext uri="{FF2B5EF4-FFF2-40B4-BE49-F238E27FC236}">
                <a16:creationId xmlns:a16="http://schemas.microsoft.com/office/drawing/2014/main" id="{F9047797-7E60-40E4-985E-54D38FF2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96650" y="3752850"/>
            <a:ext cx="30575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47" name="!!dev.tool.result.label0">
            <a:extLst xmlns:a="http://schemas.openxmlformats.org/drawingml/2006/main">
              <a:ext uri="{FF2B5EF4-FFF2-40B4-BE49-F238E27FC236}">
                <a16:creationId xmlns:a16="http://schemas.microsoft.com/office/drawing/2014/main" id="{8EC6AC6B-282F-495C-AB26-5097D98B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943350"/>
            <a:ext cx="3057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定位</a:t>
            </a:r>
          </a:p>
        </p:txBody>
      </p:sp>
      <p:sp>
        <p:nvSpPr>
          <p:cNvPr id="48" name="!!dev.tool.result.value0">
            <a:extLst xmlns:a="http://schemas.openxmlformats.org/drawingml/2006/main">
              <a:ext uri="{FF2B5EF4-FFF2-40B4-BE49-F238E27FC236}">
                <a16:creationId xmlns:a16="http://schemas.microsoft.com/office/drawing/2014/main" id="{C9318E97-7565-48DF-B8F5-71325282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314825"/>
            <a:ext cx="3057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章节、段落与字段</a:t>
            </a:r>
          </a:p>
        </p:txBody>
      </p:sp>
      <p:sp>
        <p:nvSpPr>
          <p:cNvPr id="49" name="!!dev.tool.result.label1">
            <a:extLst xmlns:a="http://schemas.openxmlformats.org/drawingml/2006/main">
              <a:ext uri="{FF2B5EF4-FFF2-40B4-BE49-F238E27FC236}">
                <a16:creationId xmlns:a16="http://schemas.microsoft.com/office/drawing/2014/main" id="{A1008AC0-C832-419E-B6D9-FAE0495F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848225"/>
            <a:ext cx="3057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内容</a:t>
            </a:r>
          </a:p>
        </p:txBody>
      </p:sp>
      <p:sp>
        <p:nvSpPr>
          <p:cNvPr id="50" name="!!dev.tool.result.value1">
            <a:extLst xmlns:a="http://schemas.openxmlformats.org/drawingml/2006/main">
              <a:ext uri="{FF2B5EF4-FFF2-40B4-BE49-F238E27FC236}">
                <a16:creationId xmlns:a16="http://schemas.microsoft.com/office/drawing/2014/main" id="{AB7017B1-6501-44F1-815A-AA5DBD86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219700"/>
            <a:ext cx="3057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新增、删除与改写</a:t>
            </a:r>
          </a:p>
        </p:txBody>
      </p:sp>
      <p:sp>
        <p:nvSpPr>
          <p:cNvPr id="51" name="!!dev.tool.result.label2">
            <a:extLst xmlns:a="http://schemas.openxmlformats.org/drawingml/2006/main">
              <a:ext uri="{FF2B5EF4-FFF2-40B4-BE49-F238E27FC236}">
                <a16:creationId xmlns:a16="http://schemas.microsoft.com/office/drawing/2014/main" id="{4D4AD3F7-D3CB-472F-9934-9EEC8DB7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753100"/>
            <a:ext cx="3057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52" name="!!dev.tool.result.value2">
            <a:extLst xmlns:a="http://schemas.openxmlformats.org/drawingml/2006/main">
              <a:ext uri="{FF2B5EF4-FFF2-40B4-BE49-F238E27FC236}">
                <a16:creationId xmlns:a16="http://schemas.microsoft.com/office/drawing/2014/main" id="{0161B06A-E76A-41C2-97B8-E38AF1AF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124575"/>
            <a:ext cx="3057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差异报告与变更清单</a:t>
            </a:r>
          </a:p>
        </p:txBody>
      </p:sp>
      <p:sp>
        <p:nvSpPr>
          <p:cNvPr id="53" name="!!dev.tool.loop">
            <a:extLst xmlns:a="http://schemas.openxmlformats.org/drawingml/2006/main">
              <a:ext uri="{FF2B5EF4-FFF2-40B4-BE49-F238E27FC236}">
                <a16:creationId xmlns:a16="http://schemas.microsoft.com/office/drawing/2014/main" id="{DAD90114-22F5-483B-8F4E-3060E736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24700"/>
            <a:ext cx="1053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业务提供样例和反馈，开发维护程序、测试与操作说明</a:t>
            </a:r>
          </a:p>
        </p:txBody>
      </p:sp>
    </p:spTree>
    <p:extLst>
      <p:ext uri="{BB962C8B-B14F-4D97-AF65-F5344CB8AC3E}">
        <p14:creationId xmlns:p14="http://schemas.microsoft.com/office/powerpoint/2010/main" val="1213289185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!!heading">
            <a:extLst xmlns:a="http://schemas.openxmlformats.org/drawingml/2006/main">
              <a:ext uri="{FF2B5EF4-FFF2-40B4-BE49-F238E27FC236}">
                <a16:creationId xmlns:a16="http://schemas.microsoft.com/office/drawing/2014/main" id="{275DB895-1387-48FA-9C51-4A24528C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后台的其他应用方向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818EBA1B-6F11-40BB-945B-222D6392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其他工作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3AE6FE1D-6459-43FE-B1EC-6FE4FE2D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01FF1580-99B5-4429-B5BC-15803F25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601CC1EA-8307-4AC9-9D69-D1A465A8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4A03719A-BD13-4999-AFDB-03962C57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6073BE74-B985-488B-B2B2-82A18D8E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7CB0C7A1-64B0-4B29-8257-2AE2279F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E08E026E-B1A4-401F-94AE-50C4A1C3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5D49C826-EF7A-40B0-91C0-ACC8E41B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F6786A46-6307-4F06-BC03-C78BEB07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EE16CB26-F1C6-4942-84B1-9959A785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CBDD0FAC-B327-4CAD-9214-C9CB566F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E3E2FD50-91A5-4F86-9901-0AAE29BA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AD139670-98A8-41CA-BB92-2A64FF8C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7DCB1A63-E8EE-474D-9C68-42CB748A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BF9B2F0D-ECC2-4E7B-B72A-1B73AF23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208BE3DE-3862-47BC-A1DF-7E98F097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0337F4CC-6373-46ED-B04A-CC18972C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28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27" action="ppaction://hlinksldjump" tooltip="第27页  公司业务工具开发方案"/>
            <a:extLst xmlns:a="http://schemas.openxmlformats.org/drawingml/2006/main">
              <a:ext uri="{FF2B5EF4-FFF2-40B4-BE49-F238E27FC236}">
                <a16:creationId xmlns:a16="http://schemas.microsoft.com/office/drawing/2014/main" id="{371D6DB2-3660-4DED-A4CE-7E72B25D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29" action="ppaction://hlinksldjump" tooltip="第29页  七项公司应用建议"/>
            <a:extLst xmlns:a="http://schemas.openxmlformats.org/drawingml/2006/main">
              <a:ext uri="{FF2B5EF4-FFF2-40B4-BE49-F238E27FC236}">
                <a16:creationId xmlns:a16="http://schemas.microsoft.com/office/drawing/2014/main" id="{C991D799-ABEF-4954-93D1-61347367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99F8E039-0E6B-4DAB-B48C-04E648F6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81763E14-871C-428B-B414-C2DC2FE8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来源：财经网，招商基金数字金融报道；中国证券报，平安基金AI青蚨报道；永赢基金，基金业协会案例材料；汇添富公开专利CN121958380A</a:t>
            </a:r>
          </a:p>
        </p:txBody>
      </p:sp>
      <p:sp>
        <p:nvSpPr>
          <p:cNvPr id="24" name="!!other.0.title">
            <a:extLst xmlns:a="http://schemas.openxmlformats.org/drawingml/2006/main">
              <a:ext uri="{FF2B5EF4-FFF2-40B4-BE49-F238E27FC236}">
                <a16:creationId xmlns:a16="http://schemas.microsoft.com/office/drawing/2014/main" id="{BE490266-E8BB-423A-A53C-C9F19321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4312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内部办事</a:t>
            </a:r>
          </a:p>
        </p:txBody>
      </p:sp>
      <p:sp>
        <p:nvSpPr>
          <p:cNvPr id="25" name="!!other.0.company">
            <a:extLst xmlns:a="http://schemas.openxmlformats.org/drawingml/2006/main">
              <a:ext uri="{FF2B5EF4-FFF2-40B4-BE49-F238E27FC236}">
                <a16:creationId xmlns:a16="http://schemas.microsoft.com/office/drawing/2014/main" id="{20DDEFF4-EB91-42F1-ACCE-7C139EC8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717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招商、平安</a:t>
            </a:r>
          </a:p>
        </p:txBody>
      </p:sp>
      <p:sp>
        <p:nvSpPr>
          <p:cNvPr id="26" name="!!other.0.flow.0">
            <a:extLst xmlns:a="http://schemas.openxmlformats.org/drawingml/2006/main">
              <a:ext uri="{FF2B5EF4-FFF2-40B4-BE49-F238E27FC236}">
                <a16:creationId xmlns:a16="http://schemas.microsoft.com/office/drawing/2014/main" id="{4C0B395B-C0B5-4707-9113-4E4C551B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3367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政策与流程问题</a:t>
            </a:r>
          </a:p>
        </p:txBody>
      </p:sp>
      <p:sp>
        <p:nvSpPr>
          <p:cNvPr id="27" name="!!other.0.flow.link0.line">
            <a:extLst xmlns:a="http://schemas.openxmlformats.org/drawingml/2006/main">
              <a:ext uri="{FF2B5EF4-FFF2-40B4-BE49-F238E27FC236}">
                <a16:creationId xmlns:a16="http://schemas.microsoft.com/office/drawing/2014/main" id="{470D7B1C-8CB8-4282-9993-CD553F72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5050" y="31051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8" name="!!other.0.flow.link0.tip">
            <a:extLst xmlns:a="http://schemas.openxmlformats.org/drawingml/2006/main">
              <a:ext uri="{FF2B5EF4-FFF2-40B4-BE49-F238E27FC236}">
                <a16:creationId xmlns:a16="http://schemas.microsoft.com/office/drawing/2014/main" id="{FBE0CF71-2BB1-4D5B-B7B8-7D2BD7FE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37450" y="3048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9" name="!!other.0.flow.1">
            <a:extLst xmlns:a="http://schemas.openxmlformats.org/drawingml/2006/main">
              <a:ext uri="{FF2B5EF4-FFF2-40B4-BE49-F238E27FC236}">
                <a16:creationId xmlns:a16="http://schemas.microsoft.com/office/drawing/2014/main" id="{3426C613-07FE-427B-A75D-6D3DC5FC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325" y="273367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检索知识资料</a:t>
            </a:r>
          </a:p>
        </p:txBody>
      </p:sp>
      <p:sp>
        <p:nvSpPr>
          <p:cNvPr id="30" name="!!other.0.flow.link1.line">
            <a:extLst xmlns:a="http://schemas.openxmlformats.org/drawingml/2006/main">
              <a:ext uri="{FF2B5EF4-FFF2-40B4-BE49-F238E27FC236}">
                <a16:creationId xmlns:a16="http://schemas.microsoft.com/office/drawing/2014/main" id="{CD0EF107-218B-4E93-904F-E32ACC52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07725" y="31051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1" name="!!other.0.flow.link1.tip">
            <a:extLst xmlns:a="http://schemas.openxmlformats.org/drawingml/2006/main">
              <a:ext uri="{FF2B5EF4-FFF2-40B4-BE49-F238E27FC236}">
                <a16:creationId xmlns:a16="http://schemas.microsoft.com/office/drawing/2014/main" id="{2997CE30-0D75-4E25-A89B-2D8DA94D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60125" y="3048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2" name="!!other.0.flow.2">
            <a:extLst xmlns:a="http://schemas.openxmlformats.org/drawingml/2006/main">
              <a:ext uri="{FF2B5EF4-FFF2-40B4-BE49-F238E27FC236}">
                <a16:creationId xmlns:a16="http://schemas.microsoft.com/office/drawing/2014/main" id="{A907776C-5729-4C57-BF29-AE0C80EB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273367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办理指引</a:t>
            </a:r>
          </a:p>
        </p:txBody>
      </p:sp>
      <p:sp>
        <p:nvSpPr>
          <p:cNvPr id="33" name="!!other.1.title">
            <a:extLst xmlns:a="http://schemas.openxmlformats.org/drawingml/2006/main">
              <a:ext uri="{FF2B5EF4-FFF2-40B4-BE49-F238E27FC236}">
                <a16:creationId xmlns:a16="http://schemas.microsoft.com/office/drawing/2014/main" id="{F3F2655D-2797-40F1-9829-A264D99F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3857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邮件安全</a:t>
            </a:r>
          </a:p>
        </p:txBody>
      </p:sp>
      <p:sp>
        <p:nvSpPr>
          <p:cNvPr id="34" name="!!other.1.company">
            <a:extLst xmlns:a="http://schemas.openxmlformats.org/drawingml/2006/main">
              <a:ext uri="{FF2B5EF4-FFF2-40B4-BE49-F238E27FC236}">
                <a16:creationId xmlns:a16="http://schemas.microsoft.com/office/drawing/2014/main" id="{007A588A-C707-4789-A428-9A1D19DE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7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永赢</a:t>
            </a:r>
          </a:p>
        </p:txBody>
      </p:sp>
      <p:sp>
        <p:nvSpPr>
          <p:cNvPr id="35" name="!!other.1.flow.0">
            <a:extLst xmlns:a="http://schemas.openxmlformats.org/drawingml/2006/main">
              <a:ext uri="{FF2B5EF4-FFF2-40B4-BE49-F238E27FC236}">
                <a16:creationId xmlns:a16="http://schemas.microsoft.com/office/drawing/2014/main" id="{178FA783-DDAA-480B-A68C-F92035B0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2912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邮件、附件与链接</a:t>
            </a:r>
          </a:p>
        </p:txBody>
      </p:sp>
      <p:sp>
        <p:nvSpPr>
          <p:cNvPr id="36" name="!!other.1.flow.link0.line">
            <a:extLst xmlns:a="http://schemas.openxmlformats.org/drawingml/2006/main">
              <a:ext uri="{FF2B5EF4-FFF2-40B4-BE49-F238E27FC236}">
                <a16:creationId xmlns:a16="http://schemas.microsoft.com/office/drawing/2014/main" id="{EE0A6D3A-50B7-4A89-B7F4-CC95C196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5050" y="480060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7" name="!!other.1.flow.link0.tip">
            <a:extLst xmlns:a="http://schemas.openxmlformats.org/drawingml/2006/main">
              <a:ext uri="{FF2B5EF4-FFF2-40B4-BE49-F238E27FC236}">
                <a16:creationId xmlns:a16="http://schemas.microsoft.com/office/drawing/2014/main" id="{3609CF3B-872A-4BC5-B3FB-39EB57D7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37450" y="4743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8" name="!!other.1.flow.1">
            <a:extLst xmlns:a="http://schemas.openxmlformats.org/drawingml/2006/main">
              <a:ext uri="{FF2B5EF4-FFF2-40B4-BE49-F238E27FC236}">
                <a16:creationId xmlns:a16="http://schemas.microsoft.com/office/drawing/2014/main" id="{199D7E4F-0B79-42D2-B3C2-C10D3822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325" y="442912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理解意图并调度检测</a:t>
            </a:r>
          </a:p>
        </p:txBody>
      </p:sp>
      <p:sp>
        <p:nvSpPr>
          <p:cNvPr id="39" name="!!other.1.flow.link1.line">
            <a:extLst xmlns:a="http://schemas.openxmlformats.org/drawingml/2006/main">
              <a:ext uri="{FF2B5EF4-FFF2-40B4-BE49-F238E27FC236}">
                <a16:creationId xmlns:a16="http://schemas.microsoft.com/office/drawing/2014/main" id="{0AC701AC-393F-49E8-A412-75E66BAC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07725" y="480060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0" name="!!other.1.flow.link1.tip">
            <a:extLst xmlns:a="http://schemas.openxmlformats.org/drawingml/2006/main">
              <a:ext uri="{FF2B5EF4-FFF2-40B4-BE49-F238E27FC236}">
                <a16:creationId xmlns:a16="http://schemas.microsoft.com/office/drawing/2014/main" id="{D68893E1-F6CB-4391-957A-CF658F1E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60125" y="4743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1" name="!!other.1.flow.2">
            <a:extLst xmlns:a="http://schemas.openxmlformats.org/drawingml/2006/main">
              <a:ext uri="{FF2B5EF4-FFF2-40B4-BE49-F238E27FC236}">
                <a16:creationId xmlns:a16="http://schemas.microsoft.com/office/drawing/2014/main" id="{58502E6F-AE6A-4B8C-9E8C-568B52A8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442912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安全处置</a:t>
            </a:r>
          </a:p>
        </p:txBody>
      </p:sp>
      <p:sp>
        <p:nvSpPr>
          <p:cNvPr id="42" name="!!other.2.title">
            <a:extLst xmlns:a="http://schemas.openxmlformats.org/drawingml/2006/main">
              <a:ext uri="{FF2B5EF4-FFF2-40B4-BE49-F238E27FC236}">
                <a16:creationId xmlns:a16="http://schemas.microsoft.com/office/drawing/2014/main" id="{054B1229-DDD3-4859-B2E5-C66F9E20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3402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经营分析</a:t>
            </a:r>
          </a:p>
        </p:txBody>
      </p:sp>
      <p:sp>
        <p:nvSpPr>
          <p:cNvPr id="43" name="!!other.2.company">
            <a:extLst xmlns:a="http://schemas.openxmlformats.org/drawingml/2006/main">
              <a:ext uri="{FF2B5EF4-FFF2-40B4-BE49-F238E27FC236}">
                <a16:creationId xmlns:a16="http://schemas.microsoft.com/office/drawing/2014/main" id="{27E1616E-C473-47E1-BC6C-8320E258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626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汇添富公开专利提出</a:t>
            </a:r>
          </a:p>
        </p:txBody>
      </p:sp>
      <p:sp>
        <p:nvSpPr>
          <p:cNvPr id="44" name="!!other.2.flow.0">
            <a:extLst xmlns:a="http://schemas.openxmlformats.org/drawingml/2006/main">
              <a:ext uri="{FF2B5EF4-FFF2-40B4-BE49-F238E27FC236}">
                <a16:creationId xmlns:a16="http://schemas.microsoft.com/office/drawing/2014/main" id="{DEBE8D81-62E5-431C-86B6-DFA7E60A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12457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产品、期间与指标</a:t>
            </a:r>
          </a:p>
        </p:txBody>
      </p:sp>
      <p:sp>
        <p:nvSpPr>
          <p:cNvPr id="45" name="!!other.2.flow.link0.line">
            <a:extLst xmlns:a="http://schemas.openxmlformats.org/drawingml/2006/main">
              <a:ext uri="{FF2B5EF4-FFF2-40B4-BE49-F238E27FC236}">
                <a16:creationId xmlns:a16="http://schemas.microsoft.com/office/drawing/2014/main" id="{2600899A-1A2E-4051-A1D8-A1849A41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5050" y="64960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6" name="!!other.2.flow.link0.tip">
            <a:extLst xmlns:a="http://schemas.openxmlformats.org/drawingml/2006/main">
              <a:ext uri="{FF2B5EF4-FFF2-40B4-BE49-F238E27FC236}">
                <a16:creationId xmlns:a16="http://schemas.microsoft.com/office/drawing/2014/main" id="{1FCAB710-A791-442D-B96E-955125F0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37450" y="6438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7" name="!!other.2.flow.1">
            <a:extLst xmlns:a="http://schemas.openxmlformats.org/drawingml/2006/main">
              <a:ext uri="{FF2B5EF4-FFF2-40B4-BE49-F238E27FC236}">
                <a16:creationId xmlns:a16="http://schemas.microsoft.com/office/drawing/2014/main" id="{F5C78FEE-9373-460B-B73C-50E9B467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325" y="612457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取数、计算与归因</a:t>
            </a:r>
          </a:p>
        </p:txBody>
      </p:sp>
      <p:sp>
        <p:nvSpPr>
          <p:cNvPr id="48" name="!!other.2.flow.link1.line">
            <a:extLst xmlns:a="http://schemas.openxmlformats.org/drawingml/2006/main">
              <a:ext uri="{FF2B5EF4-FFF2-40B4-BE49-F238E27FC236}">
                <a16:creationId xmlns:a16="http://schemas.microsoft.com/office/drawing/2014/main" id="{4B6B44F6-5F6A-475A-B437-FC25B289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07725" y="64960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9" name="!!other.2.flow.link1.tip">
            <a:extLst xmlns:a="http://schemas.openxmlformats.org/drawingml/2006/main">
              <a:ext uri="{FF2B5EF4-FFF2-40B4-BE49-F238E27FC236}">
                <a16:creationId xmlns:a16="http://schemas.microsoft.com/office/drawing/2014/main" id="{C0AF9B44-E262-4E6E-8980-46814CCF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60125" y="6438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0" name="!!other.2.flow.2">
            <a:extLst xmlns:a="http://schemas.openxmlformats.org/drawingml/2006/main">
              <a:ext uri="{FF2B5EF4-FFF2-40B4-BE49-F238E27FC236}">
                <a16:creationId xmlns:a16="http://schemas.microsoft.com/office/drawing/2014/main" id="{ADB9581C-23F8-4531-A273-BEB11AE4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612457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分析报告</a:t>
            </a:r>
          </a:p>
        </p:txBody>
      </p:sp>
    </p:spTree>
    <p:extLst>
      <p:ext uri="{BB962C8B-B14F-4D97-AF65-F5344CB8AC3E}">
        <p14:creationId xmlns:p14="http://schemas.microsoft.com/office/powerpoint/2010/main" val="1758823726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!!heading">
            <a:extLst xmlns:a="http://schemas.openxmlformats.org/drawingml/2006/main">
              <a:ext uri="{FF2B5EF4-FFF2-40B4-BE49-F238E27FC236}">
                <a16:creationId xmlns:a16="http://schemas.microsoft.com/office/drawing/2014/main" id="{D9A378C2-8E7B-4445-9208-3C00999E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七项公司应用建议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400239A6-D086-4FF6-B43A-075AE0F2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ACD91816-EAEC-432E-9C1A-B1341384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D93F872B-8CEB-437B-99D3-455A114E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427CF8CE-0E31-4096-AB9E-E91ACC4A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B62862BE-EF21-4BBB-9355-A759755B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1  研究分析</a:t>
            </a:r>
          </a:p>
        </p:txBody>
      </p:sp>
      <p:sp>
        <p:nvSpPr>
          <p:cNvPr id="7" name="!!task.research.outcome">
            <a:extLst xmlns:a="http://schemas.openxmlformats.org/drawingml/2006/main">
              <a:ext uri="{FF2B5EF4-FFF2-40B4-BE49-F238E27FC236}">
                <a16:creationId xmlns:a16="http://schemas.microsoft.com/office/drawing/2014/main" id="{73AFB39E-E60C-47ED-B2CF-A21975E5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公司分析与研究要素</a:t>
            </a:r>
          </a:p>
        </p:txBody>
      </p:sp>
      <p:sp>
        <p:nvSpPr>
          <p:cNvPr id="8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20687640-9112-445A-B4CD-E1319F72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2  交易支持</a:t>
            </a:r>
          </a:p>
        </p:txBody>
      </p:sp>
      <p:sp>
        <p:nvSpPr>
          <p:cNvPr id="9" name="!!task.trade.outcome">
            <a:extLst xmlns:a="http://schemas.openxmlformats.org/drawingml/2006/main">
              <a:ext uri="{FF2B5EF4-FFF2-40B4-BE49-F238E27FC236}">
                <a16:creationId xmlns:a16="http://schemas.microsoft.com/office/drawing/2014/main" id="{8BEBCECE-2D2D-42BF-8401-006D08B1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报价与交易要素</a:t>
            </a:r>
          </a:p>
        </p:txBody>
      </p:sp>
      <p:sp>
        <p:nvSpPr>
          <p:cNvPr id="10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BA0F7945-484B-4A45-A2D3-DDA91186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8632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3  客户材料</a:t>
            </a:r>
          </a:p>
        </p:txBody>
      </p:sp>
      <p:sp>
        <p:nvSpPr>
          <p:cNvPr id="11" name="!!task.client.outcome">
            <a:extLst xmlns:a="http://schemas.openxmlformats.org/drawingml/2006/main">
              <a:ext uri="{FF2B5EF4-FFF2-40B4-BE49-F238E27FC236}">
                <a16:creationId xmlns:a16="http://schemas.microsoft.com/office/drawing/2014/main" id="{F5D37CFB-E1CB-42F1-8164-45C74F6A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483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沟通稿与产品问答</a:t>
            </a:r>
          </a:p>
        </p:txBody>
      </p:sp>
      <p:sp>
        <p:nvSpPr>
          <p:cNvPr id="12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3DCEE8B4-EAAD-4315-8EAB-442BA4B7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3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BAB82495-A37D-44CD-B312-92EE1A93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4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E705ED79-9686-4596-A843-BA7D17CC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4  材料审核</a:t>
            </a:r>
          </a:p>
        </p:txBody>
      </p:sp>
      <p:sp>
        <p:nvSpPr>
          <p:cNvPr id="15" name="!!task.review.outcome">
            <a:extLst xmlns:a="http://schemas.openxmlformats.org/drawingml/2006/main">
              <a:ext uri="{FF2B5EF4-FFF2-40B4-BE49-F238E27FC236}">
                <a16:creationId xmlns:a16="http://schemas.microsoft.com/office/drawing/2014/main" id="{D2FCD965-0CBF-4EFA-9270-41F4AE6F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修改意见与修订稿</a:t>
            </a:r>
          </a:p>
        </p:txBody>
      </p:sp>
      <p:sp>
        <p:nvSpPr>
          <p:cNvPr id="16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BA662503-DCBF-4932-BC4F-5C3CB207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5  风险分析</a:t>
            </a:r>
          </a:p>
        </p:txBody>
      </p:sp>
      <p:sp>
        <p:nvSpPr>
          <p:cNvPr id="17" name="!!task.risk.outcome">
            <a:extLst xmlns:a="http://schemas.openxmlformats.org/drawingml/2006/main">
              <a:ext uri="{FF2B5EF4-FFF2-40B4-BE49-F238E27FC236}">
                <a16:creationId xmlns:a16="http://schemas.microsoft.com/office/drawing/2014/main" id="{2EA40793-B03C-487A-9342-AA5146D1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影响说明与跟进事项</a:t>
            </a:r>
          </a:p>
        </p:txBody>
      </p:sp>
      <p:sp>
        <p:nvSpPr>
          <p:cNvPr id="18" name="!!map.back">
            <a:extLst xmlns:a="http://schemas.openxmlformats.org/drawingml/2006/main">
              <a:ext uri="{FF2B5EF4-FFF2-40B4-BE49-F238E27FC236}">
                <a16:creationId xmlns:a16="http://schemas.microsoft.com/office/drawing/2014/main" id="{C0E4D35E-1F26-44F5-92A5-C82A7C2A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9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CA3BDF16-74C9-4241-B196-59AE5774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20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8B150EA1-BB19-43C5-A332-1BD4D5E8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6  运营文件</a:t>
            </a:r>
          </a:p>
        </p:txBody>
      </p:sp>
      <p:sp>
        <p:nvSpPr>
          <p:cNvPr id="21" name="!!task.files.outcome">
            <a:extLst xmlns:a="http://schemas.openxmlformats.org/drawingml/2006/main">
              <a:ext uri="{FF2B5EF4-FFF2-40B4-BE49-F238E27FC236}">
                <a16:creationId xmlns:a16="http://schemas.microsoft.com/office/drawing/2014/main" id="{9529D9A1-7F36-40D3-8BE5-800D01A6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业务记录与变更清单</a:t>
            </a:r>
          </a:p>
        </p:txBody>
      </p:sp>
      <p:sp>
        <p:nvSpPr>
          <p:cNvPr id="22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B15B07FD-48B0-47FF-8807-CB127C61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7  工具开发</a:t>
            </a:r>
          </a:p>
        </p:txBody>
      </p:sp>
      <p:sp>
        <p:nvSpPr>
          <p:cNvPr id="23" name="!!task.dev.outcome">
            <a:extLst xmlns:a="http://schemas.openxmlformats.org/drawingml/2006/main">
              <a:ext uri="{FF2B5EF4-FFF2-40B4-BE49-F238E27FC236}">
                <a16:creationId xmlns:a16="http://schemas.microsoft.com/office/drawing/2014/main" id="{FC709AC0-4FD5-4C0B-A491-F0FACEA5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工具、测试与操作说明</a:t>
            </a:r>
          </a:p>
        </p:txBody>
      </p:sp>
      <p:sp>
        <p:nvSpPr>
          <p:cNvPr id="24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9F58BF7E-EC20-4940-B7EB-81CB9470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5" name="!!page">
            <a:extLst xmlns:a="http://schemas.openxmlformats.org/drawingml/2006/main">
              <a:ext uri="{FF2B5EF4-FFF2-40B4-BE49-F238E27FC236}">
                <a16:creationId xmlns:a16="http://schemas.microsoft.com/office/drawing/2014/main" id="{AE128D78-6097-461A-BDE7-AC29535B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29 / 33</a:t>
            </a:r>
          </a:p>
        </p:txBody>
      </p:sp>
      <p:sp>
        <p:nvSpPr>
          <p:cNvPr id="26" name="!!nav.prev">
            <ns0:hlinkClick xmlns:ns0="http://schemas.openxmlformats.org/drawingml/2006/main" xmlns:ns1="http://schemas.openxmlformats.org/officeDocument/2006/relationships" ns1:id="rIdNavSlide28" action="ppaction://hlinksldjump" tooltip="第28页  后台的其他应用方向"/>
            <a:extLst xmlns:a="http://schemas.openxmlformats.org/drawingml/2006/main">
              <a:ext uri="{FF2B5EF4-FFF2-40B4-BE49-F238E27FC236}">
                <a16:creationId xmlns:a16="http://schemas.microsoft.com/office/drawing/2014/main" id="{075248B2-A62E-41B9-955B-52CB16A4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7" name="!!nav.next">
            <ns0:hlinkClick xmlns:ns0="http://schemas.openxmlformats.org/drawingml/2006/main" xmlns:ns1="http://schemas.openxmlformats.org/officeDocument/2006/relationships" ns1:id="rIdNavSlide30" action="ppaction://hlinksldjump" tooltip="第30页  两条跨部门工作流程"/>
            <a:extLst xmlns:a="http://schemas.openxmlformats.org/drawingml/2006/main">
              <a:ext uri="{FF2B5EF4-FFF2-40B4-BE49-F238E27FC236}">
                <a16:creationId xmlns:a16="http://schemas.microsoft.com/office/drawing/2014/main" id="{00732E90-5CD9-4E74-98DD-666DC6AB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8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D3776E4D-433F-4E6A-9DC4-CB7D2F32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9" name="!!source">
            <a:extLst xmlns:a="http://schemas.openxmlformats.org/drawingml/2006/main">
              <a:ext uri="{FF2B5EF4-FFF2-40B4-BE49-F238E27FC236}">
                <a16:creationId xmlns:a16="http://schemas.microsoft.com/office/drawing/2014/main" id="{1D198C19-C873-4A04-BC5A-B2F27597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；南方基金，基金业协会案例材料；鹏华基金，基金业协会案例材料；汇添富基金，基金业协会案例材料；工银瑞信基金，基金业协会案例材料；易方达基金，基金业协会案例材料</a:t>
            </a:r>
          </a:p>
        </p:txBody>
      </p:sp>
      <p:sp>
        <p:nvSpPr>
          <p:cNvPr id="30" name="!!recommend.head">
            <a:extLst xmlns:a="http://schemas.openxmlformats.org/drawingml/2006/main">
              <a:ext uri="{FF2B5EF4-FFF2-40B4-BE49-F238E27FC236}">
                <a16:creationId xmlns:a16="http://schemas.microsoft.com/office/drawing/2014/main" id="{B947A034-7913-4FC1-80FC-BB933FA1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62725"/>
            <a:ext cx="1394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七项建议对应七类工作产物</a:t>
            </a:r>
          </a:p>
        </p:txBody>
      </p:sp>
      <p:sp>
        <p:nvSpPr>
          <p:cNvPr id="31" name="!!recommend.body">
            <a:extLst xmlns:a="http://schemas.openxmlformats.org/drawingml/2006/main">
              <a:ext uri="{FF2B5EF4-FFF2-40B4-BE49-F238E27FC236}">
                <a16:creationId xmlns:a16="http://schemas.microsoft.com/office/drawing/2014/main" id="{BB9EBAD6-9B43-494B-B33D-AADBBF55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77075"/>
            <a:ext cx="13944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研究与客户材料先形成应用，再连接交易、风险、运营与工具开发</a:t>
            </a:r>
          </a:p>
        </p:txBody>
      </p:sp>
    </p:spTree>
    <p:extLst>
      <p:ext uri="{BB962C8B-B14F-4D97-AF65-F5344CB8AC3E}">
        <p14:creationId xmlns:p14="http://schemas.microsoft.com/office/powerpoint/2010/main" val="1937274535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!!heading">
            <a:extLst xmlns:a="http://schemas.openxmlformats.org/drawingml/2006/main">
              <a:ext uri="{FF2B5EF4-FFF2-40B4-BE49-F238E27FC236}">
                <a16:creationId xmlns:a16="http://schemas.microsoft.com/office/drawing/2014/main" id="{BE0DE04D-1094-4295-A02F-7AAF3CAE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两条跨部门工作流程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D2E6C972-3E07-47B7-AE35-87484559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9F5E0AC0-0BE3-4000-8173-3F3ABD86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AAAF5B31-E9F5-4DA1-8E96-FA9319AE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58EA55FE-6907-467E-B0B9-738A6F6A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7454A007-2E93-4E78-94B5-7DB95C52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F27B81E8-8C7F-47BF-BF51-B23B77AA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9D46CF4F-4042-4243-A4BE-9B51825B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DF500C2D-4AE4-4457-A485-E1A6735D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E31D6CFA-5D38-4ADB-97BD-4995F563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D9FC15DC-9E9E-4400-BE2F-511A2845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AB463300-1CA3-4C13-B264-33BEC2CB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E9A3ACCE-230D-4817-9966-C7006AE7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348781A7-B8AB-4DE7-9A86-F20293D9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75134E10-F13B-43E3-A055-71658EC3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5C063A8D-371E-4E2D-8904-FA01B1AE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DB5E8A63-B309-427F-B1F8-D4D4DE89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234329A4-4C96-40AD-B985-3C801B20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9FB1C54E-E4B1-4235-9647-C8A56AB8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9D29FBEB-CC3A-4FB4-AF27-00A25A0C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30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9" action="ppaction://hlinksldjump" tooltip="第29页  七项公司应用建议"/>
            <a:extLst xmlns:a="http://schemas.openxmlformats.org/drawingml/2006/main">
              <a:ext uri="{FF2B5EF4-FFF2-40B4-BE49-F238E27FC236}">
                <a16:creationId xmlns:a16="http://schemas.microsoft.com/office/drawing/2014/main" id="{04E0988A-71B2-4D33-B082-BB122BC4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31" action="ppaction://hlinksldjump" tooltip="第31页  应用共用的资料与服务"/>
            <a:extLst xmlns:a="http://schemas.openxmlformats.org/drawingml/2006/main">
              <a:ext uri="{FF2B5EF4-FFF2-40B4-BE49-F238E27FC236}">
                <a16:creationId xmlns:a16="http://schemas.microsoft.com/office/drawing/2014/main" id="{02289C87-DF27-41D3-BA48-2EAD6A3F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F0D9168F-4EC8-438B-ABA0-0F7AA9DA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0935F0D4-DEE3-420C-97F6-C6457A1E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cross.head0">
            <a:extLst xmlns:a="http://schemas.openxmlformats.org/drawingml/2006/main">
              <a:ext uri="{FF2B5EF4-FFF2-40B4-BE49-F238E27FC236}">
                <a16:creationId xmlns:a16="http://schemas.microsoft.com/office/drawing/2014/main" id="{7041DDBE-6AEC-4D8E-BEA4-E6863546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1932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26" name="!!cross.head1">
            <a:extLst xmlns:a="http://schemas.openxmlformats.org/drawingml/2006/main">
              <a:ext uri="{FF2B5EF4-FFF2-40B4-BE49-F238E27FC236}">
                <a16:creationId xmlns:a16="http://schemas.microsoft.com/office/drawing/2014/main" id="{296AA602-4EC0-4896-B6EC-A9DC58F6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1932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27" name="!!cross.head2">
            <a:extLst xmlns:a="http://schemas.openxmlformats.org/drawingml/2006/main">
              <a:ext uri="{FF2B5EF4-FFF2-40B4-BE49-F238E27FC236}">
                <a16:creationId xmlns:a16="http://schemas.microsoft.com/office/drawing/2014/main" id="{47F76697-9F30-4D9C-A641-DFAB4FB7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21932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28" name="!!cross.issuer">
            <a:extLst xmlns:a="http://schemas.openxmlformats.org/drawingml/2006/main">
              <a:ext uri="{FF2B5EF4-FFF2-40B4-BE49-F238E27FC236}">
                <a16:creationId xmlns:a16="http://schemas.microsoft.com/office/drawing/2014/main" id="{2367CA38-835F-499D-BFA7-4D015D97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86100"/>
            <a:ext cx="1053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甲公司</a:t>
            </a:r>
          </a:p>
        </p:txBody>
      </p:sp>
      <p:sp>
        <p:nvSpPr>
          <p:cNvPr id="29" name="!!cross.0.0">
            <a:extLst xmlns:a="http://schemas.openxmlformats.org/drawingml/2006/main">
              <a:ext uri="{FF2B5EF4-FFF2-40B4-BE49-F238E27FC236}">
                <a16:creationId xmlns:a16="http://schemas.microsoft.com/office/drawing/2014/main" id="{E7DC8F2C-C01F-49FA-AD06-FFA2D6F4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3855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公司研究</a:t>
            </a:r>
          </a:p>
          <a:p xmlns:a="http://schemas.openxmlformats.org/drawingml/2006/main">
            <a: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交易准备</a:t>
            </a:r>
          </a:p>
        </p:txBody>
      </p:sp>
      <p:sp>
        <p:nvSpPr>
          <p:cNvPr id="30" name="!!cross.0.link0.line">
            <a:extLst xmlns:a="http://schemas.openxmlformats.org/drawingml/2006/main">
              <a:ext uri="{FF2B5EF4-FFF2-40B4-BE49-F238E27FC236}">
                <a16:creationId xmlns:a16="http://schemas.microsoft.com/office/drawing/2014/main" id="{1EAF83E4-C42C-4EB9-B809-23AFD0F4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417195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7F7B"/>
            </a:solidFill>
            <a:prstDash val="solid"/>
          </a:ln>
        </p:spPr>
      </p:sp>
      <p:sp>
        <p:nvSpPr>
          <p:cNvPr id="31" name="!!cross.0.link0.tip">
            <a:extLst xmlns:a="http://schemas.openxmlformats.org/drawingml/2006/main">
              <a:ext uri="{FF2B5EF4-FFF2-40B4-BE49-F238E27FC236}">
                <a16:creationId xmlns:a16="http://schemas.microsoft.com/office/drawing/2014/main" id="{79FE959A-D7EF-40DE-AACB-BB1090B0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4114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32" name="!!cross.0.1">
            <a:extLst xmlns:a="http://schemas.openxmlformats.org/drawingml/2006/main">
              <a:ext uri="{FF2B5EF4-FFF2-40B4-BE49-F238E27FC236}">
                <a16:creationId xmlns:a16="http://schemas.microsoft.com/office/drawing/2014/main" id="{7369A562-8248-45E0-9CF1-26A29885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风险影响说明</a:t>
            </a:r>
          </a:p>
          <a:p xmlns:a="http://schemas.openxmlformats.org/drawingml/2006/main">
            <a: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跟进事项</a:t>
            </a:r>
          </a:p>
        </p:txBody>
      </p:sp>
      <p:sp>
        <p:nvSpPr>
          <p:cNvPr id="33" name="!!cross.0.link1.line">
            <a:extLst xmlns:a="http://schemas.openxmlformats.org/drawingml/2006/main">
              <a:ext uri="{FF2B5EF4-FFF2-40B4-BE49-F238E27FC236}">
                <a16:creationId xmlns:a16="http://schemas.microsoft.com/office/drawing/2014/main" id="{23B7DCBA-C2A7-4C8E-BCEA-8F2C1DEA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417195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7F7B"/>
            </a:solidFill>
            <a:prstDash val="solid"/>
          </a:ln>
        </p:spPr>
      </p:sp>
      <p:sp>
        <p:nvSpPr>
          <p:cNvPr id="34" name="!!cross.0.link1.tip">
            <a:extLst xmlns:a="http://schemas.openxmlformats.org/drawingml/2006/main">
              <a:ext uri="{FF2B5EF4-FFF2-40B4-BE49-F238E27FC236}">
                <a16:creationId xmlns:a16="http://schemas.microsoft.com/office/drawing/2014/main" id="{EDEE4822-03AB-4EDE-876D-62019D88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4114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35" name="!!cross.0.2">
            <a:extLst xmlns:a="http://schemas.openxmlformats.org/drawingml/2006/main">
              <a:ext uri="{FF2B5EF4-FFF2-40B4-BE49-F238E27FC236}">
                <a16:creationId xmlns:a16="http://schemas.microsoft.com/office/drawing/2014/main" id="{3333CA77-6C1A-4946-9F2E-ABC2267D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63855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交易记录</a:t>
            </a:r>
          </a:p>
          <a:p xmlns:a="http://schemas.openxmlformats.org/drawingml/2006/main">
            <a: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36" name="!!cross.1.0">
            <a:extLst xmlns:a="http://schemas.openxmlformats.org/drawingml/2006/main">
              <a:ext uri="{FF2B5EF4-FFF2-40B4-BE49-F238E27FC236}">
                <a16:creationId xmlns:a16="http://schemas.microsoft.com/office/drawing/2014/main" id="{F6C288BA-964D-4470-88BC-8FA0E5D5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10225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沟通稿 V1</a:t>
            </a:r>
          </a:p>
        </p:txBody>
      </p:sp>
      <p:sp>
        <p:nvSpPr>
          <p:cNvPr id="37" name="!!cross.1.link0.line">
            <a:extLst xmlns:a="http://schemas.openxmlformats.org/drawingml/2006/main">
              <a:ext uri="{FF2B5EF4-FFF2-40B4-BE49-F238E27FC236}">
                <a16:creationId xmlns:a16="http://schemas.microsoft.com/office/drawing/2014/main" id="{0B02490F-13E7-4A46-9B8B-82713C9E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614362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63A6"/>
            </a:solidFill>
            <a:prstDash val="solid"/>
          </a:ln>
        </p:spPr>
      </p:sp>
      <p:sp>
        <p:nvSpPr>
          <p:cNvPr id="38" name="!!cross.1.link0.tip">
            <a:extLst xmlns:a="http://schemas.openxmlformats.org/drawingml/2006/main">
              <a:ext uri="{FF2B5EF4-FFF2-40B4-BE49-F238E27FC236}">
                <a16:creationId xmlns:a16="http://schemas.microsoft.com/office/drawing/2014/main" id="{BFD1DA45-D869-4D79-902C-EF71B779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6086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39" name="!!cross.1.1">
            <a:extLst xmlns:a="http://schemas.openxmlformats.org/drawingml/2006/main">
              <a:ext uri="{FF2B5EF4-FFF2-40B4-BE49-F238E27FC236}">
                <a16:creationId xmlns:a16="http://schemas.microsoft.com/office/drawing/2014/main" id="{62D92625-1594-47C0-9E40-6A820263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610225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审核与修订稿 V2</a:t>
            </a:r>
          </a:p>
        </p:txBody>
      </p:sp>
      <p:sp>
        <p:nvSpPr>
          <p:cNvPr id="40" name="!!cross.1.link1.line">
            <a:extLst xmlns:a="http://schemas.openxmlformats.org/drawingml/2006/main">
              <a:ext uri="{FF2B5EF4-FFF2-40B4-BE49-F238E27FC236}">
                <a16:creationId xmlns:a16="http://schemas.microsoft.com/office/drawing/2014/main" id="{2297C3F1-CD32-471B-AE62-6CBA6DCF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614362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63A6"/>
            </a:solidFill>
            <a:prstDash val="solid"/>
          </a:ln>
        </p:spPr>
      </p:sp>
      <p:sp>
        <p:nvSpPr>
          <p:cNvPr id="41" name="!!cross.1.link1.tip">
            <a:extLst xmlns:a="http://schemas.openxmlformats.org/drawingml/2006/main">
              <a:ext uri="{FF2B5EF4-FFF2-40B4-BE49-F238E27FC236}">
                <a16:creationId xmlns:a16="http://schemas.microsoft.com/office/drawing/2014/main" id="{B74F000C-BF2E-4DE3-A8F1-317B303C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6086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42" name="!!cross.1.2">
            <a:extLst xmlns:a="http://schemas.openxmlformats.org/drawingml/2006/main">
              <a:ext uri="{FF2B5EF4-FFF2-40B4-BE49-F238E27FC236}">
                <a16:creationId xmlns:a16="http://schemas.microsoft.com/office/drawing/2014/main" id="{1F153C90-E9B8-4DAA-9734-437E6469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610225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版本比对</a:t>
            </a:r>
          </a:p>
          <a:p xmlns:a="http://schemas.openxmlformats.org/drawingml/2006/main">
            <a: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更新文件</a:t>
            </a:r>
          </a:p>
        </p:txBody>
      </p:sp>
      <p:sp>
        <p:nvSpPr>
          <p:cNvPr id="43" name="!!cross.client">
            <a:extLst xmlns:a="http://schemas.openxmlformats.org/drawingml/2006/main">
              <a:ext uri="{FF2B5EF4-FFF2-40B4-BE49-F238E27FC236}">
                <a16:creationId xmlns:a16="http://schemas.microsoft.com/office/drawing/2014/main" id="{621B0CFE-A213-47B3-8EBF-E0B51E16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57775"/>
            <a:ext cx="1053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</p:spTree>
    <p:extLst>
      <p:ext uri="{BB962C8B-B14F-4D97-AF65-F5344CB8AC3E}">
        <p14:creationId xmlns:p14="http://schemas.microsoft.com/office/powerpoint/2010/main" val="153138213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!!heading">
            <a:extLst xmlns:a="http://schemas.openxmlformats.org/drawingml/2006/main">
              <a:ext uri="{FF2B5EF4-FFF2-40B4-BE49-F238E27FC236}">
                <a16:creationId xmlns:a16="http://schemas.microsoft.com/office/drawing/2014/main" id="{76E7DDB1-2578-4B7E-AAC5-FD54D666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应用共用的资料与服务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BFB2A0C3-7F42-4A9E-A771-62E979E9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9CB90A16-E942-4B75-88E3-6C8FBAE5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A556ECC1-E4D4-4E80-A6D7-D7ADB0B8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8FD0A618-0AF0-46D6-90E8-E62F2A62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AFB9A817-568A-4E6F-9C32-80A398A1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D3128765-9512-4535-9B27-9EE25D4D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04CC9738-19B8-42FC-B3C3-D2B09A43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E4D58766-BBE8-494A-B5A6-42DE67E2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8DA340A0-C52D-4AF3-8A7A-6DA5241E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2C6D8527-3DBE-4D28-8B9A-FC224F0D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EA1D5364-A1AA-4A2F-9B98-ED15E84F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E9524DD9-4A47-4B70-AEC1-41186E8D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8225B18C-CC3D-4448-B228-9D80D950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C491E167-6221-45A3-8C79-B5493C0E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4AFF6E48-424A-4B88-B537-F1EFF972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4D5913AE-071B-4926-AA4B-CF82E8B3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ECC89FA4-8377-41FA-8CAB-794FB262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ADE1E731-556D-4E58-9C05-F592CBFF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31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30" action="ppaction://hlinksldjump" tooltip="第30页  两条跨部门工作流程"/>
            <a:extLst xmlns:a="http://schemas.openxmlformats.org/drawingml/2006/main">
              <a:ext uri="{FF2B5EF4-FFF2-40B4-BE49-F238E27FC236}">
                <a16:creationId xmlns:a16="http://schemas.microsoft.com/office/drawing/2014/main" id="{02F87BF4-7781-4855-8F3F-2EEA0434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32" action="ppaction://hlinksldjump" tooltip="第32页  建议实施顺序"/>
            <a:extLst xmlns:a="http://schemas.openxmlformats.org/drawingml/2006/main">
              <a:ext uri="{FF2B5EF4-FFF2-40B4-BE49-F238E27FC236}">
                <a16:creationId xmlns:a16="http://schemas.microsoft.com/office/drawing/2014/main" id="{B37FF951-A177-4E52-90FB-922AB85F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97273EC5-83D1-4939-84E9-2B30BDE1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9AB48F93-B3C1-4760-957A-7DD89C34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来源：天弘基金，基金业协会案例材料；南方基金，基金业协会案例材料；工银瑞信基金，基金业协会案例材料</a:t>
            </a:r>
          </a:p>
        </p:txBody>
      </p:sp>
      <p:sp>
        <p:nvSpPr>
          <p:cNvPr id="24" name="!!arch.entry">
            <a:extLst xmlns:a="http://schemas.openxmlformats.org/drawingml/2006/main">
              <a:ext uri="{FF2B5EF4-FFF2-40B4-BE49-F238E27FC236}">
                <a16:creationId xmlns:a16="http://schemas.microsoft.com/office/drawing/2014/main" id="{3C0B639E-FF47-429B-B15A-65CE20E1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81225"/>
            <a:ext cx="105346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员工任务入口</a:t>
            </a:r>
          </a:p>
        </p:txBody>
      </p:sp>
      <p:sp>
        <p:nvSpPr>
          <p:cNvPr id="25" name="!!arch.a.line">
            <a:extLst xmlns:a="http://schemas.openxmlformats.org/drawingml/2006/main">
              <a:ext uri="{FF2B5EF4-FFF2-40B4-BE49-F238E27FC236}">
                <a16:creationId xmlns:a16="http://schemas.microsoft.com/office/drawing/2014/main" id="{0FA0F597-71DF-4ABD-816E-8294A996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24975" y="2886075"/>
            <a:ext cx="953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6" name="!!arch.a.tip">
            <a:extLst xmlns:a="http://schemas.openxmlformats.org/drawingml/2006/main">
              <a:ext uri="{FF2B5EF4-FFF2-40B4-BE49-F238E27FC236}">
                <a16:creationId xmlns:a16="http://schemas.microsoft.com/office/drawing/2014/main" id="{EA4A5042-FB34-4AD7-8222-43440D38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267825" y="31813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7" name="!!arch.workflow">
            <a:extLst xmlns:a="http://schemas.openxmlformats.org/drawingml/2006/main">
              <a:ext uri="{FF2B5EF4-FFF2-40B4-BE49-F238E27FC236}">
                <a16:creationId xmlns:a16="http://schemas.microsoft.com/office/drawing/2014/main" id="{351C03EC-39F1-4848-8B92-CA68508C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52800"/>
            <a:ext cx="10534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研究、交易、材料、审核、风险、运营、开发</a:t>
            </a:r>
          </a:p>
        </p:txBody>
      </p:sp>
      <p:sp>
        <p:nvSpPr>
          <p:cNvPr id="28" name="!!arch.b.stem">
            <a:extLst xmlns:a="http://schemas.openxmlformats.org/drawingml/2006/main">
              <a:ext uri="{FF2B5EF4-FFF2-40B4-BE49-F238E27FC236}">
                <a16:creationId xmlns:a16="http://schemas.microsoft.com/office/drawing/2014/main" id="{797A4492-40FF-47D7-8D7E-752DA2D3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24975" y="4191000"/>
            <a:ext cx="953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9" name="!!arch.b.bus">
            <a:extLst xmlns:a="http://schemas.openxmlformats.org/drawingml/2006/main">
              <a:ext uri="{FF2B5EF4-FFF2-40B4-BE49-F238E27FC236}">
                <a16:creationId xmlns:a16="http://schemas.microsoft.com/office/drawing/2014/main" id="{A8D6AB46-E90F-439C-80CA-43A5DEB9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00800" y="4362450"/>
            <a:ext cx="57245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0" name="!!arch.b.model.line">
            <a:extLst xmlns:a="http://schemas.openxmlformats.org/drawingml/2006/main">
              <a:ext uri="{FF2B5EF4-FFF2-40B4-BE49-F238E27FC236}">
                <a16:creationId xmlns:a16="http://schemas.microsoft.com/office/drawing/2014/main" id="{23161443-CF2D-4FB9-A0A6-8B49CD56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00800" y="4362450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1" name="!!arch.b.model.tip">
            <a:extLst xmlns:a="http://schemas.openxmlformats.org/drawingml/2006/main">
              <a:ext uri="{FF2B5EF4-FFF2-40B4-BE49-F238E27FC236}">
                <a16:creationId xmlns:a16="http://schemas.microsoft.com/office/drawing/2014/main" id="{F249E347-8F60-4B3C-A073-DB4B0FAB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343650" y="4495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2" name="!!arch.b.tools.line">
            <a:extLst xmlns:a="http://schemas.openxmlformats.org/drawingml/2006/main">
              <a:ext uri="{FF2B5EF4-FFF2-40B4-BE49-F238E27FC236}">
                <a16:creationId xmlns:a16="http://schemas.microsoft.com/office/drawing/2014/main" id="{C4164E6C-E1AF-4773-9F70-71913B35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25325" y="4362450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3" name="!!arch.b.tools.tip">
            <a:extLst xmlns:a="http://schemas.openxmlformats.org/drawingml/2006/main">
              <a:ext uri="{FF2B5EF4-FFF2-40B4-BE49-F238E27FC236}">
                <a16:creationId xmlns:a16="http://schemas.microsoft.com/office/drawing/2014/main" id="{7EB3BCF0-C3C6-4ECA-A0D3-1E6272EB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068175" y="4495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4" name="!!arch.model">
            <a:extLst xmlns:a="http://schemas.openxmlformats.org/drawingml/2006/main">
              <a:ext uri="{FF2B5EF4-FFF2-40B4-BE49-F238E27FC236}">
                <a16:creationId xmlns:a16="http://schemas.microsoft.com/office/drawing/2014/main" id="{DCB91E49-9BB8-4121-BB10-56FD9EA4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48200"/>
            <a:ext cx="46767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模型服务</a:t>
            </a:r>
          </a:p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Qwen、DeepSeek 等候选</a:t>
            </a:r>
          </a:p>
        </p:txBody>
      </p:sp>
      <p:sp>
        <p:nvSpPr>
          <p:cNvPr id="35" name="!!arch.tools">
            <a:extLst xmlns:a="http://schemas.openxmlformats.org/drawingml/2006/main">
              <a:ext uri="{FF2B5EF4-FFF2-40B4-BE49-F238E27FC236}">
                <a16:creationId xmlns:a16="http://schemas.microsoft.com/office/drawing/2014/main" id="{4A89E096-77E8-41F6-A66B-23F57AD4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648200"/>
            <a:ext cx="49434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工作工具</a:t>
            </a:r>
          </a:p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检索、计算、查询、文件处理</a:t>
            </a:r>
          </a:p>
        </p:txBody>
      </p:sp>
      <p:sp>
        <p:nvSpPr>
          <p:cNvPr id="36" name="!!arch.data.line">
            <a:extLst xmlns:a="http://schemas.openxmlformats.org/drawingml/2006/main">
              <a:ext uri="{FF2B5EF4-FFF2-40B4-BE49-F238E27FC236}">
                <a16:creationId xmlns:a16="http://schemas.microsoft.com/office/drawing/2014/main" id="{32AC010D-08FB-4EBD-8D39-EFE4963F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6191250"/>
            <a:ext cx="10534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7" name="!!arch.data.head">
            <a:extLst xmlns:a="http://schemas.openxmlformats.org/drawingml/2006/main">
              <a:ext uri="{FF2B5EF4-FFF2-40B4-BE49-F238E27FC236}">
                <a16:creationId xmlns:a16="http://schemas.microsoft.com/office/drawing/2014/main" id="{0747C619-C299-4781-AB28-5C4C5C9D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4770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共用资料</a:t>
            </a:r>
          </a:p>
        </p:txBody>
      </p:sp>
      <p:sp>
        <p:nvSpPr>
          <p:cNvPr id="38" name="!!arch.data">
            <a:extLst xmlns:a="http://schemas.openxmlformats.org/drawingml/2006/main">
              <a:ext uri="{FF2B5EF4-FFF2-40B4-BE49-F238E27FC236}">
                <a16:creationId xmlns:a16="http://schemas.microsoft.com/office/drawing/2014/main" id="{0610DB97-E1F0-4B10-83F3-1468D0BF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48425"/>
            <a:ext cx="80200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文档、知识库与业务数据</a:t>
            </a:r>
          </a:p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资料权限、来源与变更记录随任务保留</a:t>
            </a:r>
          </a:p>
        </p:txBody>
      </p:sp>
    </p:spTree>
    <p:extLst>
      <p:ext uri="{BB962C8B-B14F-4D97-AF65-F5344CB8AC3E}">
        <p14:creationId xmlns:p14="http://schemas.microsoft.com/office/powerpoint/2010/main" val="158366752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!!heading">
            <a:extLst xmlns:a="http://schemas.openxmlformats.org/drawingml/2006/main">
              <a:ext uri="{FF2B5EF4-FFF2-40B4-BE49-F238E27FC236}">
                <a16:creationId xmlns:a16="http://schemas.microsoft.com/office/drawing/2014/main" id="{254B770E-D904-4713-A6B1-E42D19F0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建议实施顺序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212C56A2-EF20-49D0-B2E6-3253896F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7EE389FA-DF4B-48A4-9A4C-3FF5A10A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E7F1E04F-3402-4C5B-8BEF-50E9958B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F884F198-9410-4C65-A755-38457907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8956F339-EBFF-47B6-A4B3-26A0C7EF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40A67377-291D-4F40-AEBD-58CF3D9F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55BD6B8F-54DC-43B2-96BA-2D190A5E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FC0416B8-123D-45D6-B6A8-2ADCDEEB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A1653E7C-6ABA-487A-B02C-F89FEBE3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B213E023-5E98-4211-9F98-B08CED2F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2ADA4FCC-4FF4-4613-9EB4-9119E55E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66CE6F4B-9371-45D5-8E44-F093210F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22767A3B-DA53-4205-B3F6-88A2DC5B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C7B788C-3709-4E2D-9FD2-16B64382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FC1DBF22-E53D-462A-AD08-79915A96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77FD9175-DE9D-4C7C-A17F-3C331F82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2DDED108-182A-48E3-A739-160038D4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BB63C44A-8F32-4EB1-A16D-4F22C4A6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32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31" action="ppaction://hlinksldjump" tooltip="第31页  应用共用的资料与服务"/>
            <a:extLst xmlns:a="http://schemas.openxmlformats.org/drawingml/2006/main">
              <a:ext uri="{FF2B5EF4-FFF2-40B4-BE49-F238E27FC236}">
                <a16:creationId xmlns:a16="http://schemas.microsoft.com/office/drawing/2014/main" id="{8CFCDF2D-9A6C-45F3-B4DA-45C35A3D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33" action="ppaction://hlinksldjump" tooltip="第33页  应用效果与推进重点"/>
            <a:extLst xmlns:a="http://schemas.openxmlformats.org/drawingml/2006/main">
              <a:ext uri="{FF2B5EF4-FFF2-40B4-BE49-F238E27FC236}">
                <a16:creationId xmlns:a16="http://schemas.microsoft.com/office/drawing/2014/main" id="{9BA55425-9C67-4C0B-82FD-F16DB8FC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DC421205-5693-49EB-9851-3A0B660C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BC862329-9759-42CA-B8D1-16BDD803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!!phase.0.number">
            <a:extLst xmlns:a="http://schemas.openxmlformats.org/drawingml/2006/main">
              <a:ext uri="{FF2B5EF4-FFF2-40B4-BE49-F238E27FC236}">
                <a16:creationId xmlns:a16="http://schemas.microsoft.com/office/drawing/2014/main" id="{CE5C41B5-E7E1-4E03-AB76-1E95EDB3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90750"/>
            <a:ext cx="6000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5" name="!!phase.0.title">
            <a:extLst xmlns:a="http://schemas.openxmlformats.org/drawingml/2006/main">
              <a:ext uri="{FF2B5EF4-FFF2-40B4-BE49-F238E27FC236}">
                <a16:creationId xmlns:a16="http://schemas.microsoft.com/office/drawing/2014/main" id="{D3F57657-22C9-4EF8-8C03-8F303F03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247900"/>
            <a:ext cx="9629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研究与客户材料</a:t>
            </a:r>
          </a:p>
        </p:txBody>
      </p:sp>
      <p:sp>
        <p:nvSpPr>
          <p:cNvPr id="26" name="!!phase.0.roles">
            <a:extLst xmlns:a="http://schemas.openxmlformats.org/drawingml/2006/main">
              <a:ext uri="{FF2B5EF4-FFF2-40B4-BE49-F238E27FC236}">
                <a16:creationId xmlns:a16="http://schemas.microsoft.com/office/drawing/2014/main" id="{DBC6D72A-5A0C-4D68-9862-FB65DD52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8098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投研、销售、合规、IT</a:t>
            </a:r>
          </a:p>
        </p:txBody>
      </p:sp>
      <p:sp>
        <p:nvSpPr>
          <p:cNvPr id="27" name="!!phase.0.outputs">
            <a:extLst xmlns:a="http://schemas.openxmlformats.org/drawingml/2006/main">
              <a:ext uri="{FF2B5EF4-FFF2-40B4-BE49-F238E27FC236}">
                <a16:creationId xmlns:a16="http://schemas.microsoft.com/office/drawing/2014/main" id="{29D45384-449C-479C-91EB-A062126E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9875"/>
            <a:ext cx="6019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任务样例、资料目录、应用初版</a:t>
            </a:r>
          </a:p>
        </p:txBody>
      </p:sp>
      <p:sp>
        <p:nvSpPr>
          <p:cNvPr id="28" name="!!phase.0.rule">
            <a:extLst xmlns:a="http://schemas.openxmlformats.org/drawingml/2006/main">
              <a:ext uri="{FF2B5EF4-FFF2-40B4-BE49-F238E27FC236}">
                <a16:creationId xmlns:a16="http://schemas.microsoft.com/office/drawing/2014/main" id="{E4B44E69-BCD5-4A16-BC01-CD996C32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62525" y="3571875"/>
            <a:ext cx="9629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9" name="!!phase.1.number">
            <a:extLst xmlns:a="http://schemas.openxmlformats.org/drawingml/2006/main">
              <a:ext uri="{FF2B5EF4-FFF2-40B4-BE49-F238E27FC236}">
                <a16:creationId xmlns:a16="http://schemas.microsoft.com/office/drawing/2014/main" id="{42DC6C14-E163-44B2-97D0-960A920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86200"/>
            <a:ext cx="6000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30" name="!!phase.1.title">
            <a:extLst xmlns:a="http://schemas.openxmlformats.org/drawingml/2006/main">
              <a:ext uri="{FF2B5EF4-FFF2-40B4-BE49-F238E27FC236}">
                <a16:creationId xmlns:a16="http://schemas.microsoft.com/office/drawing/2014/main" id="{60CB6C29-B395-455F-8DC2-78071598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943350"/>
            <a:ext cx="9629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交易与运营连接</a:t>
            </a:r>
          </a:p>
        </p:txBody>
      </p:sp>
      <p:sp>
        <p:nvSpPr>
          <p:cNvPr id="31" name="!!phase.1.roles">
            <a:extLst xmlns:a="http://schemas.openxmlformats.org/drawingml/2006/main">
              <a:ext uri="{FF2B5EF4-FFF2-40B4-BE49-F238E27FC236}">
                <a16:creationId xmlns:a16="http://schemas.microsoft.com/office/drawing/2014/main" id="{0072A1DD-A75B-48F8-A8C3-21210C12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5053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交易、运营、IT</a:t>
            </a:r>
          </a:p>
        </p:txBody>
      </p:sp>
      <p:sp>
        <p:nvSpPr>
          <p:cNvPr id="32" name="!!phase.1.outputs">
            <a:extLst xmlns:a="http://schemas.openxmlformats.org/drawingml/2006/main">
              <a:ext uri="{FF2B5EF4-FFF2-40B4-BE49-F238E27FC236}">
                <a16:creationId xmlns:a16="http://schemas.microsoft.com/office/drawing/2014/main" id="{3F88698A-248C-4B59-BC4D-10A42ACE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05325"/>
            <a:ext cx="6019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字段规范、查询接口、文件流程</a:t>
            </a:r>
          </a:p>
        </p:txBody>
      </p:sp>
      <p:sp>
        <p:nvSpPr>
          <p:cNvPr id="33" name="!!phase.1.rule">
            <a:extLst xmlns:a="http://schemas.openxmlformats.org/drawingml/2006/main">
              <a:ext uri="{FF2B5EF4-FFF2-40B4-BE49-F238E27FC236}">
                <a16:creationId xmlns:a16="http://schemas.microsoft.com/office/drawing/2014/main" id="{016031FC-B4DF-470B-A1D0-B33873E2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62525" y="5267325"/>
            <a:ext cx="9629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4" name="!!phase.2.number">
            <a:extLst xmlns:a="http://schemas.openxmlformats.org/drawingml/2006/main">
              <a:ext uri="{FF2B5EF4-FFF2-40B4-BE49-F238E27FC236}">
                <a16:creationId xmlns:a16="http://schemas.microsoft.com/office/drawing/2014/main" id="{DEF9A2CE-01A0-401E-A5D4-3073844E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81650"/>
            <a:ext cx="6000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35" name="!!phase.2.title">
            <a:extLst xmlns:a="http://schemas.openxmlformats.org/drawingml/2006/main">
              <a:ext uri="{FF2B5EF4-FFF2-40B4-BE49-F238E27FC236}">
                <a16:creationId xmlns:a16="http://schemas.microsoft.com/office/drawing/2014/main" id="{D51AB827-62AC-41F9-9199-BAC5156C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638800"/>
            <a:ext cx="9629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工具与内部服务</a:t>
            </a:r>
          </a:p>
        </p:txBody>
      </p:sp>
      <p:sp>
        <p:nvSpPr>
          <p:cNvPr id="36" name="!!phase.2.roles">
            <a:extLst xmlns:a="http://schemas.openxmlformats.org/drawingml/2006/main">
              <a:ext uri="{FF2B5EF4-FFF2-40B4-BE49-F238E27FC236}">
                <a16:creationId xmlns:a16="http://schemas.microsoft.com/office/drawing/2014/main" id="{D9A7F2E2-21DD-4BB1-9D97-F9D7A5DE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62007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业务部门、IT</a:t>
            </a:r>
          </a:p>
        </p:txBody>
      </p:sp>
      <p:sp>
        <p:nvSpPr>
          <p:cNvPr id="37" name="!!phase.2.outputs">
            <a:extLst xmlns:a="http://schemas.openxmlformats.org/drawingml/2006/main">
              <a:ext uri="{FF2B5EF4-FFF2-40B4-BE49-F238E27FC236}">
                <a16:creationId xmlns:a16="http://schemas.microsoft.com/office/drawing/2014/main" id="{403572F8-449F-4AB4-A872-D170EB49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00775"/>
            <a:ext cx="6019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业务工具、操作说明、维护机制</a:t>
            </a:r>
          </a:p>
        </p:txBody>
      </p:sp>
      <p:sp>
        <p:nvSpPr>
          <p:cNvPr id="38" name="!!phase.2.rule">
            <a:extLst xmlns:a="http://schemas.openxmlformats.org/drawingml/2006/main">
              <a:ext uri="{FF2B5EF4-FFF2-40B4-BE49-F238E27FC236}">
                <a16:creationId xmlns:a16="http://schemas.microsoft.com/office/drawing/2014/main" id="{7C5C6533-0DE2-48E7-B6F6-E2570A83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62525" y="6962775"/>
            <a:ext cx="9629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6423046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!!heading">
            <a:extLst xmlns:a="http://schemas.openxmlformats.org/drawingml/2006/main">
              <a:ext uri="{FF2B5EF4-FFF2-40B4-BE49-F238E27FC236}">
                <a16:creationId xmlns:a16="http://schemas.microsoft.com/office/drawing/2014/main" id="{29DA34D9-0F49-48C8-B9EF-349EB93A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应用效果与推进重点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0A2F8AA3-E8B0-4B2A-AA66-BC7C536E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51DE473C-F3D0-43B6-9EC6-14BDED9C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1E6E1CC8-EED6-49FE-B990-CDC146B5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C3BD05AB-FEC0-4CCD-A847-EC25A14D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的工作过程"/>
            <a:extLst xmlns:a="http://schemas.openxmlformats.org/drawingml/2006/main">
              <a:ext uri="{FF2B5EF4-FFF2-40B4-BE49-F238E27FC236}">
                <a16:creationId xmlns:a16="http://schemas.microsoft.com/office/drawing/2014/main" id="{28912095-7958-42D4-9AFF-F56E2B21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交易准备与指令交接"/>
            <a:extLst xmlns:a="http://schemas.openxmlformats.org/drawingml/2006/main">
              <a:ext uri="{FF2B5EF4-FFF2-40B4-BE49-F238E27FC236}">
                <a16:creationId xmlns:a16="http://schemas.microsoft.com/office/drawing/2014/main" id="{835A8171-EA2E-4AA6-BAB5-9453757E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A2F5E5C0-ECF0-4ABE-8322-6A763EE7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52736DDA-8070-4983-9AD8-31D1D253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8ACB64D8-9490-4DC1-ACF3-A7EC7E2F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CED58B1B-6C7F-4225-AA55-BD63B7AD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5DDC9A3F-4A57-49AE-8914-1CDD881D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BF8E0DAA-F40B-4080-85F5-CFD461F2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D2B5EBD-79AE-4151-93C5-30193FF8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27169FD8-56BD-4FE4-BBAA-4A4D3D2F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7CD23259-B767-4E90-80D0-F7D55399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9F3F1F65-3F98-4A87-ABD8-F83F902A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882008A5-2650-4A85-A97E-D6BCF0BE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5878475F-1F79-4670-93C9-33B43179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33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32" action="ppaction://hlinksldjump" tooltip="第32页  建议实施顺序"/>
            <a:extLst xmlns:a="http://schemas.openxmlformats.org/drawingml/2006/main">
              <a:ext uri="{FF2B5EF4-FFF2-40B4-BE49-F238E27FC236}">
                <a16:creationId xmlns:a16="http://schemas.microsoft.com/office/drawing/2014/main" id="{F820774C-88B9-4EFF-8B8F-C4A8E36B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CBBF89C5-6F86-4C91-A75E-86A2A877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回总图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7A1A3438-C03D-46B0-9E5D-C3DC1B27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C9C8F711-837F-4D2F-BD33-61A2FAAA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!!evaluation.main">
            <a:extLst xmlns:a="http://schemas.openxmlformats.org/drawingml/2006/main">
              <a:ext uri="{FF2B5EF4-FFF2-40B4-BE49-F238E27FC236}">
                <a16:creationId xmlns:a16="http://schemas.microsoft.com/office/drawing/2014/main" id="{BA2230F3-2024-4065-A9B7-C16C8299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33600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从研究分析与客户材料两条流程启动</a:t>
            </a:r>
          </a:p>
        </p:txBody>
      </p:sp>
      <p:sp>
        <p:nvSpPr>
          <p:cNvPr id="25" name="!!evaluation.flow.0">
            <a:extLst xmlns:a="http://schemas.openxmlformats.org/drawingml/2006/main">
              <a:ext uri="{FF2B5EF4-FFF2-40B4-BE49-F238E27FC236}">
                <a16:creationId xmlns:a16="http://schemas.microsoft.com/office/drawing/2014/main" id="{332E8E68-9830-432B-8A96-0286499B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86125"/>
            <a:ext cx="2383631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原工作任务</a:t>
            </a:r>
          </a:p>
        </p:txBody>
      </p:sp>
      <p:sp>
        <p:nvSpPr>
          <p:cNvPr id="26" name="!!evaluation.flow.link0.line">
            <a:extLst xmlns:a="http://schemas.openxmlformats.org/drawingml/2006/main">
              <a:ext uri="{FF2B5EF4-FFF2-40B4-BE49-F238E27FC236}">
                <a16:creationId xmlns:a16="http://schemas.microsoft.com/office/drawing/2014/main" id="{DABB06A5-7E06-40D0-A62D-98CBA2F6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9381" y="37195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7" name="!!evaluation.flow.link0.tip">
            <a:extLst xmlns:a="http://schemas.openxmlformats.org/drawingml/2006/main">
              <a:ext uri="{FF2B5EF4-FFF2-40B4-BE49-F238E27FC236}">
                <a16:creationId xmlns:a16="http://schemas.microsoft.com/office/drawing/2014/main" id="{F009DF8C-52AF-4A70-AC2B-204EAE3B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31781" y="36623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8" name="!!evaluation.flow.1">
            <a:extLst xmlns:a="http://schemas.openxmlformats.org/drawingml/2006/main">
              <a:ext uri="{FF2B5EF4-FFF2-40B4-BE49-F238E27FC236}">
                <a16:creationId xmlns:a16="http://schemas.microsoft.com/office/drawing/2014/main" id="{D2166AED-2C66-4AD2-9D93-3B5AEDEA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656" y="3286125"/>
            <a:ext cx="2383631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使用应用</a:t>
            </a:r>
          </a:p>
        </p:txBody>
      </p:sp>
      <p:sp>
        <p:nvSpPr>
          <p:cNvPr id="29" name="!!evaluation.flow.link1.line">
            <a:extLst xmlns:a="http://schemas.openxmlformats.org/drawingml/2006/main">
              <a:ext uri="{FF2B5EF4-FFF2-40B4-BE49-F238E27FC236}">
                <a16:creationId xmlns:a16="http://schemas.microsoft.com/office/drawing/2014/main" id="{28D6C69A-1A6A-4A68-A7D2-5EFA95C5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96388" y="37195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0" name="!!evaluation.flow.link1.tip">
            <a:extLst xmlns:a="http://schemas.openxmlformats.org/drawingml/2006/main">
              <a:ext uri="{FF2B5EF4-FFF2-40B4-BE49-F238E27FC236}">
                <a16:creationId xmlns:a16="http://schemas.microsoft.com/office/drawing/2014/main" id="{BAFD0E94-895D-4065-9044-B8B80A97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48788" y="36623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1" name="!!evaluation.flow.2">
            <a:extLst xmlns:a="http://schemas.openxmlformats.org/drawingml/2006/main">
              <a:ext uri="{FF2B5EF4-FFF2-40B4-BE49-F238E27FC236}">
                <a16:creationId xmlns:a16="http://schemas.microsoft.com/office/drawing/2014/main" id="{D63C94E9-4DD6-46C2-BE57-24452A17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663" y="3286125"/>
            <a:ext cx="2383631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记录结果</a:t>
            </a:r>
          </a:p>
        </p:txBody>
      </p:sp>
      <p:sp>
        <p:nvSpPr>
          <p:cNvPr id="32" name="!!evaluation.flow.link2.line">
            <a:extLst xmlns:a="http://schemas.openxmlformats.org/drawingml/2006/main">
              <a:ext uri="{FF2B5EF4-FFF2-40B4-BE49-F238E27FC236}">
                <a16:creationId xmlns:a16="http://schemas.microsoft.com/office/drawing/2014/main" id="{855D558D-CFF3-41C5-B262-849BB6A7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13394" y="37195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3" name="!!evaluation.flow.link2.tip">
            <a:extLst xmlns:a="http://schemas.openxmlformats.org/drawingml/2006/main">
              <a:ext uri="{FF2B5EF4-FFF2-40B4-BE49-F238E27FC236}">
                <a16:creationId xmlns:a16="http://schemas.microsoft.com/office/drawing/2014/main" id="{0888B421-2696-4423-857A-300599B1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065794" y="36623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4" name="!!evaluation.flow.3">
            <a:extLst xmlns:a="http://schemas.openxmlformats.org/drawingml/2006/main">
              <a:ext uri="{FF2B5EF4-FFF2-40B4-BE49-F238E27FC236}">
                <a16:creationId xmlns:a16="http://schemas.microsoft.com/office/drawing/2014/main" id="{2C17786F-8298-4C7D-B669-734444D4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8669" y="3286125"/>
            <a:ext cx="2383631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调整流程</a:t>
            </a:r>
          </a:p>
        </p:txBody>
      </p:sp>
      <p:sp>
        <p:nvSpPr>
          <p:cNvPr id="35" name="!!evaluation.0.title">
            <a:extLst xmlns:a="http://schemas.openxmlformats.org/drawingml/2006/main">
              <a:ext uri="{FF2B5EF4-FFF2-40B4-BE49-F238E27FC236}">
                <a16:creationId xmlns:a16="http://schemas.microsoft.com/office/drawing/2014/main" id="{BCAE430A-43AB-4AF9-97D5-EC93C25C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任务完成时间</a:t>
            </a:r>
          </a:p>
        </p:txBody>
      </p:sp>
      <p:sp>
        <p:nvSpPr>
          <p:cNvPr id="36" name="!!evaluation.0.body">
            <a:extLst xmlns:a="http://schemas.openxmlformats.org/drawingml/2006/main">
              <a:ext uri="{FF2B5EF4-FFF2-40B4-BE49-F238E27FC236}">
                <a16:creationId xmlns:a16="http://schemas.microsoft.com/office/drawing/2014/main" id="{087D4FE2-2796-4D80-A2BA-89875975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38750"/>
            <a:ext cx="509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准备、查找与交付用时</a:t>
            </a:r>
          </a:p>
        </p:txBody>
      </p:sp>
      <p:sp>
        <p:nvSpPr>
          <p:cNvPr id="37" name="!!evaluation.1.title">
            <a:extLst xmlns:a="http://schemas.openxmlformats.org/drawingml/2006/main">
              <a:ext uri="{FF2B5EF4-FFF2-40B4-BE49-F238E27FC236}">
                <a16:creationId xmlns:a16="http://schemas.microsoft.com/office/drawing/2014/main" id="{B63A1C11-87D8-488A-AA72-7EFAFC3A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78155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交付采用情况</a:t>
            </a:r>
          </a:p>
        </p:txBody>
      </p:sp>
      <p:sp>
        <p:nvSpPr>
          <p:cNvPr id="38" name="!!evaluation.1.body">
            <a:extLst xmlns:a="http://schemas.openxmlformats.org/drawingml/2006/main">
              <a:ext uri="{FF2B5EF4-FFF2-40B4-BE49-F238E27FC236}">
                <a16:creationId xmlns:a16="http://schemas.microsoft.com/office/drawing/2014/main" id="{C1D9F49E-5CA4-47D3-A6B6-8000DA48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238750"/>
            <a:ext cx="509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材料与分析实际使用情况</a:t>
            </a:r>
          </a:p>
        </p:txBody>
      </p:sp>
      <p:sp>
        <p:nvSpPr>
          <p:cNvPr id="39" name="!!evaluation.2.title">
            <a:extLst xmlns:a="http://schemas.openxmlformats.org/drawingml/2006/main">
              <a:ext uri="{FF2B5EF4-FFF2-40B4-BE49-F238E27FC236}">
                <a16:creationId xmlns:a16="http://schemas.microsoft.com/office/drawing/2014/main" id="{ED60A4C1-6D62-427E-9FED-8E16CDEB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3885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返工次数</a:t>
            </a:r>
          </a:p>
        </p:txBody>
      </p:sp>
      <p:sp>
        <p:nvSpPr>
          <p:cNvPr id="40" name="!!evaluation.2.body">
            <a:extLst xmlns:a="http://schemas.openxmlformats.org/drawingml/2006/main">
              <a:ext uri="{FF2B5EF4-FFF2-40B4-BE49-F238E27FC236}">
                <a16:creationId xmlns:a16="http://schemas.microsoft.com/office/drawing/2014/main" id="{7B7545F6-5239-40B9-8FE1-D97D18E3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496050"/>
            <a:ext cx="509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修改轮次与重复核对</a:t>
            </a:r>
          </a:p>
        </p:txBody>
      </p:sp>
      <p:sp>
        <p:nvSpPr>
          <p:cNvPr id="41" name="!!evaluation.3.title">
            <a:extLst xmlns:a="http://schemas.openxmlformats.org/drawingml/2006/main">
              <a:ext uri="{FF2B5EF4-FFF2-40B4-BE49-F238E27FC236}">
                <a16:creationId xmlns:a16="http://schemas.microsoft.com/office/drawing/2014/main" id="{36372945-269E-468D-807B-982301B1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603885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使用频次</a:t>
            </a:r>
          </a:p>
        </p:txBody>
      </p:sp>
      <p:sp>
        <p:nvSpPr>
          <p:cNvPr id="42" name="!!evaluation.3.body">
            <a:extLst xmlns:a="http://schemas.openxmlformats.org/drawingml/2006/main">
              <a:ext uri="{FF2B5EF4-FFF2-40B4-BE49-F238E27FC236}">
                <a16:creationId xmlns:a16="http://schemas.microsoft.com/office/drawing/2014/main" id="{DE43B359-0BF2-4414-9B81-75728E0A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6496050"/>
            <a:ext cx="509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同事是否持续使用</a:t>
            </a:r>
          </a:p>
        </p:txBody>
      </p:sp>
    </p:spTree>
    <p:extLst>
      <p:ext uri="{BB962C8B-B14F-4D97-AF65-F5344CB8AC3E}">
        <p14:creationId xmlns:p14="http://schemas.microsoft.com/office/powerpoint/2010/main" val="1956019902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Business workflow">
      <a:dk1>
        <a:srgbClr val="20262C"/>
      </a:dk1>
      <a:lt1>
        <a:srgbClr val="FFFFFF"/>
      </a:lt1>
      <a:dk2>
        <a:srgbClr val="005A9C"/>
      </a:dk2>
      <a:lt2>
        <a:srgbClr val="D9EAF7"/>
      </a:lt2>
      <a:accent1>
        <a:srgbClr val="005A9C"/>
      </a:accent1>
      <a:accent2>
        <a:srgbClr val="317F7B"/>
      </a:accent2>
      <a:accent3>
        <a:srgbClr val="7363A6"/>
      </a:accent3>
      <a:accent4>
        <a:srgbClr val="967335"/>
      </a:accent4>
      <a:accent5>
        <a:srgbClr val="AD5247"/>
      </a:accent5>
      <a:accent6>
        <a:srgbClr val="707C88"/>
      </a:accent6>
      <a:hlink>
        <a:srgbClr val="005A9C"/>
      </a:hlink>
      <a:folHlink>
        <a:srgbClr val="7363A6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Business work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2026-10-25T17:12:53.0930000Z</dcterms:created>
  <dcterms:modified xsi:type="dcterms:W3CDTF">2026-10-25T17:12:53.0930000Z</dcterms:modified>
</coreProperties>
</file>