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a9d6c0bbb543db" /><Relationship Type="http://schemas.openxmlformats.org/officeDocument/2006/relationships/extended-properties" Target="/docProps/app.xml" Id="Re10484d1587a4c24" /><Relationship Type="http://schemas.openxmlformats.org/officeDocument/2006/relationships/officeDocument" Target="/ppt/presentation.xml" Id="Rba64616b0b4b4a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dc930788b64b17"/>
    <p:sldMasterId xmlns:r="http://schemas.openxmlformats.org/officeDocument/2006/relationships" id="2147483655" r:id="Rb31285ccea404b45"/>
  </p:sldMasterIdLst>
  <p:notesMasterIdLst>
    <p:notesMasterId xmlns:r="http://schemas.openxmlformats.org/officeDocument/2006/relationships" r:id="R80a40def6d164109"/>
  </p:notesMasterIdLst>
  <p:sldIdLst>
    <p:sldId xmlns:r="http://schemas.openxmlformats.org/officeDocument/2006/relationships" id="256" r:id="Refe9c3fef04f41f4"/>
    <p:sldId xmlns:r="http://schemas.openxmlformats.org/officeDocument/2006/relationships" id="257" r:id="R477edf8da5a54c96"/>
    <p:sldId xmlns:r="http://schemas.openxmlformats.org/officeDocument/2006/relationships" id="258" r:id="R2e5bf62e61cd4cef"/>
    <p:sldId xmlns:r="http://schemas.openxmlformats.org/officeDocument/2006/relationships" id="259" r:id="R0e170896199f484c"/>
    <p:sldId xmlns:r="http://schemas.openxmlformats.org/officeDocument/2006/relationships" id="260" r:id="R995b386e146544ae"/>
    <p:sldId xmlns:r="http://schemas.openxmlformats.org/officeDocument/2006/relationships" id="261" r:id="Rd5bbfde7649148fb"/>
    <p:sldId xmlns:r="http://schemas.openxmlformats.org/officeDocument/2006/relationships" id="262" r:id="R5fa1ab406e114d5a"/>
    <p:sldId xmlns:r="http://schemas.openxmlformats.org/officeDocument/2006/relationships" id="263" r:id="Rb5c8a47660e74870"/>
    <p:sldId xmlns:r="http://schemas.openxmlformats.org/officeDocument/2006/relationships" id="264" r:id="R8adead9f66fc4519"/>
    <p:sldId xmlns:r="http://schemas.openxmlformats.org/officeDocument/2006/relationships" id="265" r:id="R40f35c036f3d4101"/>
    <p:sldId xmlns:r="http://schemas.openxmlformats.org/officeDocument/2006/relationships" id="266" r:id="Rb13f13efd54b4e9a"/>
    <p:sldId xmlns:r="http://schemas.openxmlformats.org/officeDocument/2006/relationships" id="267" r:id="R1d3ff0d8d9084d32"/>
    <p:sldId xmlns:r="http://schemas.openxmlformats.org/officeDocument/2006/relationships" id="268" r:id="R0082a48e5a71450e"/>
    <p:sldId xmlns:r="http://schemas.openxmlformats.org/officeDocument/2006/relationships" id="269" r:id="R9e1df49a446d4611"/>
    <p:sldId xmlns:r="http://schemas.openxmlformats.org/officeDocument/2006/relationships" id="270" r:id="R558328fdca13457e"/>
    <p:sldId xmlns:r="http://schemas.openxmlformats.org/officeDocument/2006/relationships" id="271" r:id="Rbb771070fb864359"/>
    <p:sldId xmlns:r="http://schemas.openxmlformats.org/officeDocument/2006/relationships" id="272" r:id="R07bbf61ba6954e8d"/>
    <p:sldId xmlns:r="http://schemas.openxmlformats.org/officeDocument/2006/relationships" id="273" r:id="Rc4561a4030e64b11"/>
    <p:sldId xmlns:r="http://schemas.openxmlformats.org/officeDocument/2006/relationships" id="274" r:id="R964866812b4c424b"/>
    <p:sldId xmlns:r="http://schemas.openxmlformats.org/officeDocument/2006/relationships" id="275" r:id="R98844ba417004ac9"/>
    <p:sldId xmlns:r="http://schemas.openxmlformats.org/officeDocument/2006/relationships" id="276" r:id="R382f0ac7fb62463e"/>
    <p:sldId xmlns:r="http://schemas.openxmlformats.org/officeDocument/2006/relationships" id="277" r:id="R734cd8b6df234066"/>
    <p:sldId xmlns:r="http://schemas.openxmlformats.org/officeDocument/2006/relationships" id="278" r:id="R6fb6eb34c5e3414d"/>
    <p:sldId xmlns:r="http://schemas.openxmlformats.org/officeDocument/2006/relationships" id="279" r:id="Rac189954856d4f76"/>
    <p:sldId xmlns:r="http://schemas.openxmlformats.org/officeDocument/2006/relationships" id="280" r:id="Re64684f011374998"/>
    <p:sldId xmlns:r="http://schemas.openxmlformats.org/officeDocument/2006/relationships" id="281" r:id="R2f84611c5f8f4c8c"/>
    <p:sldId xmlns:r="http://schemas.openxmlformats.org/officeDocument/2006/relationships" id="282" r:id="R18da69edefcd4f9c"/>
    <p:sldId xmlns:r="http://schemas.openxmlformats.org/officeDocument/2006/relationships" id="283" r:id="Rfd8bbd6064f34137"/>
    <p:sldId xmlns:r="http://schemas.openxmlformats.org/officeDocument/2006/relationships" id="284" r:id="R62272167a4ee4606"/>
    <p:sldId xmlns:r="http://schemas.openxmlformats.org/officeDocument/2006/relationships" id="285" r:id="R3255c12171a3471e"/>
    <p:sldId xmlns:r="http://schemas.openxmlformats.org/officeDocument/2006/relationships" id="286" r:id="Re068e85fd2bf4b0b"/>
    <p:sldId xmlns:r="http://schemas.openxmlformats.org/officeDocument/2006/relationships" id="287" r:id="R0e6a255107314e3f"/>
    <p:sldId xmlns:r="http://schemas.openxmlformats.org/officeDocument/2006/relationships" id="288" r:id="Rf74407961d6f46d8"/>
    <p:sldId xmlns:r="http://schemas.openxmlformats.org/officeDocument/2006/relationships" id="289" r:id="R3338c8466e8c4817"/>
    <p:sldId xmlns:r="http://schemas.openxmlformats.org/officeDocument/2006/relationships" id="290" r:id="Ra79d514cba804283"/>
    <p:sldId xmlns:r="http://schemas.openxmlformats.org/officeDocument/2006/relationships" id="291" r:id="R9f14e9dc19744085"/>
    <p:sldId xmlns:r="http://schemas.openxmlformats.org/officeDocument/2006/relationships" id="292" r:id="Rd4620dcc86204828"/>
    <p:sldId xmlns:r="http://schemas.openxmlformats.org/officeDocument/2006/relationships" id="293" r:id="Rb18637d01fb74da7"/>
    <p:sldId xmlns:r="http://schemas.openxmlformats.org/officeDocument/2006/relationships" id="294" r:id="R5c266d0d7ec04d74"/>
    <p:sldId xmlns:r="http://schemas.openxmlformats.org/officeDocument/2006/relationships" id="295" r:id="R8e7ea34d6dff40a0"/>
    <p:sldId xmlns:r="http://schemas.openxmlformats.org/officeDocument/2006/relationships" id="296" r:id="R9d03fd4b0a9647b4"/>
    <p:sldId xmlns:r="http://schemas.openxmlformats.org/officeDocument/2006/relationships" id="297" r:id="R6d7f496fcb48436a"/>
    <p:sldId xmlns:r="http://schemas.openxmlformats.org/officeDocument/2006/relationships" id="298" r:id="R05cafb25153849be"/>
    <p:sldId xmlns:r="http://schemas.openxmlformats.org/officeDocument/2006/relationships" id="299" r:id="R5ec57c7e6add4dd4"/>
    <p:sldId xmlns:r="http://schemas.openxmlformats.org/officeDocument/2006/relationships" id="300" r:id="Rb94d2029ecd148da"/>
    <p:sldId xmlns:r="http://schemas.openxmlformats.org/officeDocument/2006/relationships" id="301" r:id="R578622ba1fa244ad"/>
    <p:sldId xmlns:r="http://schemas.openxmlformats.org/officeDocument/2006/relationships" id="302" r:id="Rb144a412076f4793"/>
    <p:sldId xmlns:r="http://schemas.openxmlformats.org/officeDocument/2006/relationships" id="303" r:id="Rc918e7f848ee4346"/>
    <p:sldId xmlns:r="http://schemas.openxmlformats.org/officeDocument/2006/relationships" id="304" r:id="R131f5f1cebec41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afa593aefa41f4" /><Relationship Type="http://schemas.openxmlformats.org/officeDocument/2006/relationships/slideMaster" Target="/ppt/slideMasters/slideMaster1.xml" Id="R17dc930788b64b17" /><Relationship Type="http://schemas.openxmlformats.org/officeDocument/2006/relationships/slideMaster" Target="/ppt/slideMasters/slideMaster2.xml" Id="Rb31285ccea404b45" /><Relationship Type="http://schemas.openxmlformats.org/officeDocument/2006/relationships/notesMaster" Target="/ppt/notesMasters/notesMaster1.xml" Id="R80a40def6d164109" /><Relationship Type="http://schemas.openxmlformats.org/officeDocument/2006/relationships/presProps" Target="/ppt/presProps.xml" Id="R6f3f6f738f51413b" /><Relationship Type="http://schemas.openxmlformats.org/officeDocument/2006/relationships/tableStyles" Target="/ppt/tableStyles.xml" Id="Rae53c986f195412c" /><Relationship Type="http://schemas.openxmlformats.org/officeDocument/2006/relationships/slide" Target="/ppt/slides/slide1.xml" Id="Refe9c3fef04f41f4" /><Relationship Type="http://schemas.openxmlformats.org/officeDocument/2006/relationships/slide" Target="/ppt/slides/slide2.xml" Id="R477edf8da5a54c96" /><Relationship Type="http://schemas.openxmlformats.org/officeDocument/2006/relationships/slide" Target="/ppt/slides/slide3.xml" Id="R2e5bf62e61cd4cef" /><Relationship Type="http://schemas.openxmlformats.org/officeDocument/2006/relationships/slide" Target="/ppt/slides/slide4.xml" Id="R0e170896199f484c" /><Relationship Type="http://schemas.openxmlformats.org/officeDocument/2006/relationships/slide" Target="/ppt/slides/slide5.xml" Id="R995b386e146544ae" /><Relationship Type="http://schemas.openxmlformats.org/officeDocument/2006/relationships/slide" Target="/ppt/slides/slide6.xml" Id="Rd5bbfde7649148fb" /><Relationship Type="http://schemas.openxmlformats.org/officeDocument/2006/relationships/slide" Target="/ppt/slides/slide7.xml" Id="R5fa1ab406e114d5a" /><Relationship Type="http://schemas.openxmlformats.org/officeDocument/2006/relationships/slide" Target="/ppt/slides/slide8.xml" Id="Rb5c8a47660e74870" /><Relationship Type="http://schemas.openxmlformats.org/officeDocument/2006/relationships/slide" Target="/ppt/slides/slide9.xml" Id="R8adead9f66fc4519" /><Relationship Type="http://schemas.openxmlformats.org/officeDocument/2006/relationships/slide" Target="/ppt/slides/slide10.xml" Id="R40f35c036f3d4101" /><Relationship Type="http://schemas.openxmlformats.org/officeDocument/2006/relationships/slide" Target="/ppt/slides/slide11.xml" Id="Rb13f13efd54b4e9a" /><Relationship Type="http://schemas.openxmlformats.org/officeDocument/2006/relationships/slide" Target="/ppt/slides/slide12.xml" Id="R1d3ff0d8d9084d32" /><Relationship Type="http://schemas.openxmlformats.org/officeDocument/2006/relationships/slide" Target="/ppt/slides/slide13.xml" Id="R0082a48e5a71450e" /><Relationship Type="http://schemas.openxmlformats.org/officeDocument/2006/relationships/slide" Target="/ppt/slides/slide14.xml" Id="R9e1df49a446d4611" /><Relationship Type="http://schemas.openxmlformats.org/officeDocument/2006/relationships/slide" Target="/ppt/slides/slide15.xml" Id="R558328fdca13457e" /><Relationship Type="http://schemas.openxmlformats.org/officeDocument/2006/relationships/slide" Target="/ppt/slides/slide16.xml" Id="Rbb771070fb864359" /><Relationship Type="http://schemas.openxmlformats.org/officeDocument/2006/relationships/slide" Target="/ppt/slides/slide17.xml" Id="R07bbf61ba6954e8d" /><Relationship Type="http://schemas.openxmlformats.org/officeDocument/2006/relationships/slide" Target="/ppt/slides/slide18.xml" Id="Rc4561a4030e64b11" /><Relationship Type="http://schemas.openxmlformats.org/officeDocument/2006/relationships/slide" Target="/ppt/slides/slide19.xml" Id="R964866812b4c424b" /><Relationship Type="http://schemas.openxmlformats.org/officeDocument/2006/relationships/slide" Target="/ppt/slides/slide20.xml" Id="R98844ba417004ac9" /><Relationship Type="http://schemas.openxmlformats.org/officeDocument/2006/relationships/slide" Target="/ppt/slides/slide21.xml" Id="R382f0ac7fb62463e" /><Relationship Type="http://schemas.openxmlformats.org/officeDocument/2006/relationships/slide" Target="/ppt/slides/slide22.xml" Id="R734cd8b6df234066" /><Relationship Type="http://schemas.openxmlformats.org/officeDocument/2006/relationships/slide" Target="/ppt/slides/slide23.xml" Id="R6fb6eb34c5e3414d" /><Relationship Type="http://schemas.openxmlformats.org/officeDocument/2006/relationships/slide" Target="/ppt/slides/slide24.xml" Id="Rac189954856d4f76" /><Relationship Type="http://schemas.openxmlformats.org/officeDocument/2006/relationships/slide" Target="/ppt/slides/slide25.xml" Id="Re64684f011374998" /><Relationship Type="http://schemas.openxmlformats.org/officeDocument/2006/relationships/slide" Target="/ppt/slides/slide26.xml" Id="R2f84611c5f8f4c8c" /><Relationship Type="http://schemas.openxmlformats.org/officeDocument/2006/relationships/slide" Target="/ppt/slides/slide27.xml" Id="R18da69edefcd4f9c" /><Relationship Type="http://schemas.openxmlformats.org/officeDocument/2006/relationships/slide" Target="/ppt/slides/slide28.xml" Id="Rfd8bbd6064f34137" /><Relationship Type="http://schemas.openxmlformats.org/officeDocument/2006/relationships/slide" Target="/ppt/slides/slide29.xml" Id="R62272167a4ee4606" /><Relationship Type="http://schemas.openxmlformats.org/officeDocument/2006/relationships/slide" Target="/ppt/slides/slide30.xml" Id="R3255c12171a3471e" /><Relationship Type="http://schemas.openxmlformats.org/officeDocument/2006/relationships/slide" Target="/ppt/slides/slide31.xml" Id="Re068e85fd2bf4b0b" /><Relationship Type="http://schemas.openxmlformats.org/officeDocument/2006/relationships/slide" Target="/ppt/slides/slide32.xml" Id="R0e6a255107314e3f" /><Relationship Type="http://schemas.openxmlformats.org/officeDocument/2006/relationships/slide" Target="/ppt/slides/slide33.xml" Id="Rf74407961d6f46d8" /><Relationship Type="http://schemas.openxmlformats.org/officeDocument/2006/relationships/slide" Target="/ppt/slides/slide34.xml" Id="R3338c8466e8c4817" /><Relationship Type="http://schemas.openxmlformats.org/officeDocument/2006/relationships/slide" Target="/ppt/slides/slide35.xml" Id="Ra79d514cba804283" /><Relationship Type="http://schemas.openxmlformats.org/officeDocument/2006/relationships/slide" Target="/ppt/slides/slide36.xml" Id="R9f14e9dc19744085" /><Relationship Type="http://schemas.openxmlformats.org/officeDocument/2006/relationships/slide" Target="/ppt/slides/slide37.xml" Id="Rd4620dcc86204828" /><Relationship Type="http://schemas.openxmlformats.org/officeDocument/2006/relationships/slide" Target="/ppt/slides/slide38.xml" Id="Rb18637d01fb74da7" /><Relationship Type="http://schemas.openxmlformats.org/officeDocument/2006/relationships/slide" Target="/ppt/slides/slide39.xml" Id="R5c266d0d7ec04d74" /><Relationship Type="http://schemas.openxmlformats.org/officeDocument/2006/relationships/slide" Target="/ppt/slides/slide40.xml" Id="R8e7ea34d6dff40a0" /><Relationship Type="http://schemas.openxmlformats.org/officeDocument/2006/relationships/slide" Target="/ppt/slides/slide41.xml" Id="R9d03fd4b0a9647b4" /><Relationship Type="http://schemas.openxmlformats.org/officeDocument/2006/relationships/slide" Target="/ppt/slides/slide42.xml" Id="R6d7f496fcb48436a" /><Relationship Type="http://schemas.openxmlformats.org/officeDocument/2006/relationships/slide" Target="/ppt/slides/slide43.xml" Id="R05cafb25153849be" /><Relationship Type="http://schemas.openxmlformats.org/officeDocument/2006/relationships/slide" Target="/ppt/slides/slide44.xml" Id="R5ec57c7e6add4dd4" /><Relationship Type="http://schemas.openxmlformats.org/officeDocument/2006/relationships/slide" Target="/ppt/slides/slide45.xml" Id="Rb94d2029ecd148da" /><Relationship Type="http://schemas.openxmlformats.org/officeDocument/2006/relationships/slide" Target="/ppt/slides/slide46.xml" Id="R578622ba1fa244ad" /><Relationship Type="http://schemas.openxmlformats.org/officeDocument/2006/relationships/slide" Target="/ppt/slides/slide47.xml" Id="Rb144a412076f4793" /><Relationship Type="http://schemas.openxmlformats.org/officeDocument/2006/relationships/slide" Target="/ppt/slides/slide48.xml" Id="Rc918e7f848ee4346" /><Relationship Type="http://schemas.openxmlformats.org/officeDocument/2006/relationships/slide" Target="/ppt/slides/slide49.xml" Id="R131f5f1cebec41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e12e76d134ff4d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Standard">
  <a:themeElements>
    <a:clrScheme name="Office Standard Blue">
      <a:dk1>
        <a:srgbClr val="202020"/>
      </a:dk1>
      <a:lt1>
        <a:srgbClr val="FFFFFF"/>
      </a:lt1>
      <a:dk2>
        <a:srgbClr val="595959"/>
      </a:dk2>
      <a:lt2>
        <a:srgbClr val="F2F2F2"/>
      </a:lt2>
      <a:accent1>
        <a:srgbClr val="2F5597"/>
      </a:accent1>
      <a:accent2>
        <a:srgbClr val="7F7F7F"/>
      </a:accent2>
      <a:accent3>
        <a:srgbClr val="A5A5A5"/>
      </a:accent3>
      <a:accent4>
        <a:srgbClr val="4472C4"/>
      </a:accent4>
      <a:accent5>
        <a:srgbClr val="B4C6E7"/>
      </a:accent5>
      <a:accent6>
        <a:srgbClr val="D9E2F3"/>
      </a:accent6>
      <a:hlink>
        <a:srgbClr val="2F5597"/>
      </a:hlink>
      <a:folHlink>
        <a:srgbClr val="7F7F7F"/>
      </a:folHlink>
    </a:clrScheme>
    <a:fontScheme name="Office Standard Chinese">
      <a:majorFont>
        <a:latin typeface="Arial Unicode MS"/>
        <a:ea typeface="Arial Unicode MS"/>
        <a:cs typeface=""/>
        <a:font script="Hans" typeface="Arial Unicode MS"/>
        <a:font script="Hant" typeface="Arial Unicode MS"/>
        <a:font script="Jpan" typeface="Arial Unicode MS"/>
        <a:font script="Hang" typeface="Arial Unicode MS"/>
      </a:majorFont>
      <a:minorFont>
        <a:latin typeface="Arial Unicode MS"/>
        <a:ea typeface="Arial Unicode MS"/>
        <a:cs typeface=""/>
        <a:font script="Hans" typeface="Arial Unicode MS"/>
        <a:font script="Hant" typeface="Arial Unicode MS"/>
        <a:font script="Jpan" typeface="Arial Unicode MS"/>
        <a:font script="Hang" typeface="Arial Unicode MS"/>
      </a:minorFont>
    </a:fontScheme>
    <a:fmtScheme name="Office Standard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531b623ca14def" /><Relationship Type="http://schemas.openxmlformats.org/officeDocument/2006/relationships/notesMaster" Target="/ppt/notesMasters/notesMaster1.xml" Id="Rb84b68c7fbd040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531637cd58480a" /><Relationship Type="http://schemas.openxmlformats.org/officeDocument/2006/relationships/notesMaster" Target="/ppt/notesMasters/notesMaster1.xml" Id="R982b45723a9749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73f774c6eb45e8" /><Relationship Type="http://schemas.openxmlformats.org/officeDocument/2006/relationships/notesMaster" Target="/ppt/notesMasters/notesMaster1.xml" Id="Ra6016782caf24f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0cda23702c4930" /><Relationship Type="http://schemas.openxmlformats.org/officeDocument/2006/relationships/notesMaster" Target="/ppt/notesMasters/notesMaster1.xml" Id="Red30736aecf949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0509d3612a413e" /><Relationship Type="http://schemas.openxmlformats.org/officeDocument/2006/relationships/notesMaster" Target="/ppt/notesMasters/notesMaster1.xml" Id="R99b8750312f74d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a49a2a7c2c466b" /><Relationship Type="http://schemas.openxmlformats.org/officeDocument/2006/relationships/notesMaster" Target="/ppt/notesMasters/notesMaster1.xml" Id="Rb88b96c3ea434d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2971f4266d43fb" /><Relationship Type="http://schemas.openxmlformats.org/officeDocument/2006/relationships/notesMaster" Target="/ppt/notesMasters/notesMaster1.xml" Id="R31628c8e5f3b4b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a9234995d74862" /><Relationship Type="http://schemas.openxmlformats.org/officeDocument/2006/relationships/notesMaster" Target="/ppt/notesMasters/notesMaster1.xml" Id="R463885d1f5154f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c203c5b4c34556" /><Relationship Type="http://schemas.openxmlformats.org/officeDocument/2006/relationships/notesMaster" Target="/ppt/notesMasters/notesMaster1.xml" Id="Re48c6401661c48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223c9072224f33" /><Relationship Type="http://schemas.openxmlformats.org/officeDocument/2006/relationships/notesMaster" Target="/ppt/notesMasters/notesMaster1.xml" Id="Rf7f750087b4a45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0eabc811b84983" /><Relationship Type="http://schemas.openxmlformats.org/officeDocument/2006/relationships/notesMaster" Target="/ppt/notesMasters/notesMaster1.xml" Id="R96c662c619a742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9eaac015ea4cb5" /><Relationship Type="http://schemas.openxmlformats.org/officeDocument/2006/relationships/notesMaster" Target="/ppt/notesMasters/notesMaster1.xml" Id="Rfb65040080584de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9f5f28ba644f64" /><Relationship Type="http://schemas.openxmlformats.org/officeDocument/2006/relationships/notesMaster" Target="/ppt/notesMasters/notesMaster1.xml" Id="R38477bec7c4a40a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51067b95eee4898" /><Relationship Type="http://schemas.openxmlformats.org/officeDocument/2006/relationships/notesMaster" Target="/ppt/notesMasters/notesMaster1.xml" Id="R332d0e345f7f4ab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784a9557df4439e" /><Relationship Type="http://schemas.openxmlformats.org/officeDocument/2006/relationships/notesMaster" Target="/ppt/notesMasters/notesMaster1.xml" Id="R1bab507e08704cf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3ebc095876d4335" /><Relationship Type="http://schemas.openxmlformats.org/officeDocument/2006/relationships/notesMaster" Target="/ppt/notesMasters/notesMaster1.xml" Id="R5260425142194ca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04b0895be3a4d79" /><Relationship Type="http://schemas.openxmlformats.org/officeDocument/2006/relationships/notesMaster" Target="/ppt/notesMasters/notesMaster1.xml" Id="R9e1b4add4e48486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a9b7ae1ecbb4a3e" /><Relationship Type="http://schemas.openxmlformats.org/officeDocument/2006/relationships/notesMaster" Target="/ppt/notesMasters/notesMaster1.xml" Id="Rc62ae84d3da643d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9df13292aa24bed" /><Relationship Type="http://schemas.openxmlformats.org/officeDocument/2006/relationships/notesMaster" Target="/ppt/notesMasters/notesMaster1.xml" Id="Re210c30ef3d0407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0f8d5650b9b4640" /><Relationship Type="http://schemas.openxmlformats.org/officeDocument/2006/relationships/notesMaster" Target="/ppt/notesMasters/notesMaster1.xml" Id="R03441ad0d20740a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f222a69e8e64fd7" /><Relationship Type="http://schemas.openxmlformats.org/officeDocument/2006/relationships/notesMaster" Target="/ppt/notesMasters/notesMaster1.xml" Id="R2b5a509aa123467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5544e3f46104a74" /><Relationship Type="http://schemas.openxmlformats.org/officeDocument/2006/relationships/notesMaster" Target="/ppt/notesMasters/notesMaster1.xml" Id="R756d55970cf4434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e70eaf846b946e1" /><Relationship Type="http://schemas.openxmlformats.org/officeDocument/2006/relationships/notesMaster" Target="/ppt/notesMasters/notesMaster1.xml" Id="R82d129b05b5f40e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74e0a1a126441ea" /><Relationship Type="http://schemas.openxmlformats.org/officeDocument/2006/relationships/notesMaster" Target="/ppt/notesMasters/notesMaster1.xml" Id="Rc9249ded3512484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d1f1753b2e8403d" /><Relationship Type="http://schemas.openxmlformats.org/officeDocument/2006/relationships/notesMaster" Target="/ppt/notesMasters/notesMaster1.xml" Id="R1da95e03b4c241e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afe1d86d9804680" /><Relationship Type="http://schemas.openxmlformats.org/officeDocument/2006/relationships/notesMaster" Target="/ppt/notesMasters/notesMaster1.xml" Id="R39c26ff6ddf84a9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9ee8078193b4998" /><Relationship Type="http://schemas.openxmlformats.org/officeDocument/2006/relationships/notesMaster" Target="/ppt/notesMasters/notesMaster1.xml" Id="R7a093a4239d5460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de0bc3a8ed94693" /><Relationship Type="http://schemas.openxmlformats.org/officeDocument/2006/relationships/notesMaster" Target="/ppt/notesMasters/notesMaster1.xml" Id="R696dd36fc2054e6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6b12d5988444447" /><Relationship Type="http://schemas.openxmlformats.org/officeDocument/2006/relationships/notesMaster" Target="/ppt/notesMasters/notesMaster1.xml" Id="Rb2ec6838e2ca4c8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a60662064b9431b" /><Relationship Type="http://schemas.openxmlformats.org/officeDocument/2006/relationships/notesMaster" Target="/ppt/notesMasters/notesMaster1.xml" Id="R20b72dc8c89c445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8782504c38b44f3" /><Relationship Type="http://schemas.openxmlformats.org/officeDocument/2006/relationships/notesMaster" Target="/ppt/notesMasters/notesMaster1.xml" Id="R636e652edf58495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c4479b1b5a84f3d" /><Relationship Type="http://schemas.openxmlformats.org/officeDocument/2006/relationships/notesMaster" Target="/ppt/notesMasters/notesMaster1.xml" Id="R79268178c5c6465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9e09bf535e54c87" /><Relationship Type="http://schemas.openxmlformats.org/officeDocument/2006/relationships/notesMaster" Target="/ppt/notesMasters/notesMaster1.xml" Id="R46e54ffec0c5460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9e571e7421b4d72" /><Relationship Type="http://schemas.openxmlformats.org/officeDocument/2006/relationships/notesMaster" Target="/ppt/notesMasters/notesMaster1.xml" Id="R9e9290c12fe74f5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c46726516da4c5a" /><Relationship Type="http://schemas.openxmlformats.org/officeDocument/2006/relationships/notesMaster" Target="/ppt/notesMasters/notesMaster1.xml" Id="Rebd2c78a0ea6489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d6d3477a9b44b9f" /><Relationship Type="http://schemas.openxmlformats.org/officeDocument/2006/relationships/notesMaster" Target="/ppt/notesMasters/notesMaster1.xml" Id="Rec58378d6dd245d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05503f50def426c" /><Relationship Type="http://schemas.openxmlformats.org/officeDocument/2006/relationships/notesMaster" Target="/ppt/notesMasters/notesMaster1.xml" Id="R43e3c39836264c0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7587cbc13a64071" /><Relationship Type="http://schemas.openxmlformats.org/officeDocument/2006/relationships/notesMaster" Target="/ppt/notesMasters/notesMaster1.xml" Id="R2cc0cb4c705a4a4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a9a0cda3b194853" /><Relationship Type="http://schemas.openxmlformats.org/officeDocument/2006/relationships/notesMaster" Target="/ppt/notesMasters/notesMaster1.xml" Id="Rb6d56ae686704c5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bb5db7736644499" /><Relationship Type="http://schemas.openxmlformats.org/officeDocument/2006/relationships/notesMaster" Target="/ppt/notesMasters/notesMaster1.xml" Id="R8c9d9e1ff2e748a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cbc5f16ea5b4e7a" /><Relationship Type="http://schemas.openxmlformats.org/officeDocument/2006/relationships/notesMaster" Target="/ppt/notesMasters/notesMaster1.xml" Id="Rceb0aa45d7274d7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697c87d68874c8e" /><Relationship Type="http://schemas.openxmlformats.org/officeDocument/2006/relationships/notesMaster" Target="/ppt/notesMasters/notesMaster1.xml" Id="Raa7d387c5db4463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c8fffa771e3c48e6" /><Relationship Type="http://schemas.openxmlformats.org/officeDocument/2006/relationships/notesMaster" Target="/ppt/notesMasters/notesMaster1.xml" Id="R66eb455411ca46f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48e60aefe4a84ba1" /><Relationship Type="http://schemas.openxmlformats.org/officeDocument/2006/relationships/notesMaster" Target="/ppt/notesMasters/notesMaster1.xml" Id="Rd99b07d93b274af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e048f308a484255" /><Relationship Type="http://schemas.openxmlformats.org/officeDocument/2006/relationships/notesMaster" Target="/ppt/notesMasters/notesMaster1.xml" Id="Rf1d75a33f3b4494a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7c377b3c11b45d5" /><Relationship Type="http://schemas.openxmlformats.org/officeDocument/2006/relationships/notesMaster" Target="/ppt/notesMasters/notesMaster1.xml" Id="R8655f3592f0f43cf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51da7a9ffcd4ad2" /><Relationship Type="http://schemas.openxmlformats.org/officeDocument/2006/relationships/notesMaster" Target="/ppt/notesMasters/notesMaster1.xml" Id="Rb1c48b5f80414cb5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309f16d9a284e2c" /><Relationship Type="http://schemas.openxmlformats.org/officeDocument/2006/relationships/notesMaster" Target="/ppt/notesMasters/notesMaster1.xml" Id="Rf0dbb1cec7a04cd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1a4782c0c86948d2" /><Relationship Type="http://schemas.openxmlformats.org/officeDocument/2006/relationships/notesMaster" Target="/ppt/notesMasters/notesMaster1.xml" Id="R2245d8de2aa845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  <a:p xmlns:a="http://schemas.openxmlformats.org/drawingml/2006/main">
            <a:r>
              <a:t>/Users/sthmax/dev/git/ms-intern/knowledge-base/sources/FUND-113/original.md</a:t>
            </a:r>
          </a:p>
          <a:p xmlns:a="http://schemas.openxmlformats.org/drawingml/2006/main">
            <a:r>
              <a:t>https://github.com/yingmi-dev/content-compliance-skill/blob/040df66202f6075cdeadb450e502c7a19c83dabf/README.md</a:t>
            </a:r>
          </a:p>
          <a:p xmlns:a="http://schemas.openxmlformats.org/drawingml/2006/main">
            <a:r>
              <a:t>/Users/sthmax/dev/git/ms-intern/knowledge-base/sources/FUND-101/original.md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  <a:p xmlns:a="http://schemas.openxmlformats.org/drawingml/2006/main">
            <a:r>
              <a:t>https://artificialanalysis.ai/evaluations/gdpval-aa</a:t>
            </a:r>
          </a:p>
          <a:p xmlns:a="http://schemas.openxmlformats.org/drawingml/2006/main">
            <a:r>
              <a:t>https://artificialanalysis.ai/models/comparisons/deepseek-v4-1-flash-1017-vs-deepseek-v4-1-flash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  <a:p xmlns:a="http://schemas.openxmlformats.org/drawingml/2006/main">
            <a:r>
              <a:t>/Users/sthmax/dev/git/ms-intern/knowledge-base/sources/TECH-076/original.md</a:t>
            </a:r>
          </a:p>
          <a:p xmlns:a="http://schemas.openxmlformats.org/drawingml/2006/main">
            <a:r>
              <a:t>外部随机token测试，FP8权重、FP8缓存、MTP3，关闭前缀缓存。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  <a:p xmlns:a="http://schemas.openxmlformats.org/drawingml/2006/main">
            <a:r>
              <a:t>https://artificialanalysis.ai/evaluations/gdpval-aa</a:t>
            </a:r>
          </a:p>
          <a:p xmlns:a="http://schemas.openxmlformats.org/drawingml/2006/main">
            <a:r>
              <a:t>https://artificialanalysis.ai/models/comparisons/deepseek-v4-1-flash-1017-vs-deepseek-v4-1-flash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  <a:p xmlns:a="http://schemas.openxmlformats.org/drawingml/2006/main">
            <a:r>
              <a:t>AI Infra固定修订3bdcb4fcab73010eeaccf31cc10a8242a895d82e</a:t>
            </a:r>
          </a:p>
          <a:p xmlns:a="http://schemas.openxmlformats.org/drawingml/2006/main">
            <a:r>
              <a:t>/Users/sthmax/dev/git/ms-intern/knowledge-base/sources/TECH-078/upstream/manuscripts/03-推理与训练负载.md</a:t>
            </a:r>
          </a:p>
          <a:p xmlns:a="http://schemas.openxmlformats.org/drawingml/2006/main">
            <a:r>
              <a:t>/Users/sthmax/dev/git/ms-intern/knowledge-base/sources/TECH-078/upstream/manuscripts/08-推理优化.md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  <a:p xmlns:a="http://schemas.openxmlformats.org/drawingml/2006/main">
            <a:r>
              <a:t>AI Infra固定修订3bdcb4fcab73010eeaccf31cc10a8242a895d82e</a:t>
            </a:r>
          </a:p>
          <a:p xmlns:a="http://schemas.openxmlformats.org/drawingml/2006/main">
            <a:r>
              <a:t>/Users/sthmax/dev/git/ms-intern/knowledge-base/sources/TECH-078/upstream/manuscripts/03-推理与训练负载.md</a:t>
            </a:r>
          </a:p>
          <a:p xmlns:a="http://schemas.openxmlformats.org/drawingml/2006/main">
            <a:r>
              <a:t>/Users/sthmax/dev/git/ms-intern/knowledge-base/sources/TECH-078/upstream/manuscripts/08-推理优化.md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  <a:p xmlns:a="http://schemas.openxmlformats.org/drawingml/2006/main">
            <a:r>
              <a:t>AI Infra固定修订3bdcb4fcab73010eeaccf31cc10a8242a895d82e</a:t>
            </a:r>
          </a:p>
          <a:p xmlns:a="http://schemas.openxmlformats.org/drawingml/2006/main">
            <a:r>
              <a:t>/Users/sthmax/dev/git/ms-intern/knowledge-base/sources/TECH-078/upstream/manuscripts/03-推理与训练负载.md</a:t>
            </a:r>
          </a:p>
          <a:p xmlns:a="http://schemas.openxmlformats.org/drawingml/2006/main">
            <a:r>
              <a:t>/Users/sthmax/dev/git/ms-intern/knowledge-base/sources/TECH-078/upstream/manuscripts/08-推理优化.md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  <a:p xmlns:a="http://schemas.openxmlformats.org/drawingml/2006/main">
            <a:r>
              <a:t>AI Infra固定修订3bdcb4fcab73010eeaccf31cc10a8242a895d82e</a:t>
            </a:r>
          </a:p>
          <a:p xmlns:a="http://schemas.openxmlformats.org/drawingml/2006/main">
            <a:r>
              <a:t>/Users/sthmax/dev/git/ms-intern/knowledge-base/sources/TECH-078/upstream/manuscripts/03-推理与训练负载.md</a:t>
            </a:r>
          </a:p>
          <a:p xmlns:a="http://schemas.openxmlformats.org/drawingml/2006/main">
            <a:r>
              <a:t>/Users/sthmax/dev/git/ms-intern/knowledge-base/sources/TECH-078/upstream/manuscripts/08-推理优化.md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  <a:p xmlns:a="http://schemas.openxmlformats.org/drawingml/2006/main">
            <a:r>
              <a:t>AI Infra固定修订3bdcb4fcab73010eeaccf31cc10a8242a895d82e</a:t>
            </a:r>
          </a:p>
          <a:p xmlns:a="http://schemas.openxmlformats.org/drawingml/2006/main">
            <a:r>
              <a:t>/Users/sthmax/dev/git/ms-intern/knowledge-base/sources/TECH-078/upstream/manuscripts/03-推理与训练负载.md</a:t>
            </a:r>
          </a:p>
          <a:p xmlns:a="http://schemas.openxmlformats.org/drawingml/2006/main">
            <a:r>
              <a:t>/Users/sthmax/dev/git/ms-intern/knowledge-base/sources/TECH-078/upstream/manuscripts/08-推理优化.md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  <a:p xmlns:a="http://schemas.openxmlformats.org/drawingml/2006/main">
            <a:r>
              <a:t>AI Infra固定修订3bdcb4fcab73010eeaccf31cc10a8242a895d82e</a:t>
            </a:r>
          </a:p>
          <a:p xmlns:a="http://schemas.openxmlformats.org/drawingml/2006/main">
            <a:r>
              <a:t>/Users/sthmax/dev/git/ms-intern/knowledge-base/sources/TECH-078/upstream/manuscripts/03-推理与训练负载.md</a:t>
            </a:r>
          </a:p>
          <a:p xmlns:a="http://schemas.openxmlformats.org/drawingml/2006/main">
            <a:r>
              <a:t>/Users/sthmax/dev/git/ms-intern/knowledge-base/sources/TECH-078/upstream/manuscripts/08-推理优化.md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  <a:p xmlns:a="http://schemas.openxmlformats.org/drawingml/2006/main">
            <a:r>
              <a:t>AI Infra固定修订3bdcb4fcab73010eeaccf31cc10a8242a895d82e</a:t>
            </a:r>
          </a:p>
          <a:p xmlns:a="http://schemas.openxmlformats.org/drawingml/2006/main">
            <a:r>
              <a:t>/Users/sthmax/dev/git/ms-intern/knowledge-base/sources/TECH-078/upstream/manuscripts/03-推理与训练负载.md</a:t>
            </a:r>
          </a:p>
          <a:p xmlns:a="http://schemas.openxmlformats.org/drawingml/2006/main">
            <a:r>
              <a:t>/Users/sthmax/dev/git/ms-intern/knowledge-base/sources/TECH-078/upstream/manuscripts/08-推理优化.md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  <a:p xmlns:a="http://schemas.openxmlformats.org/drawingml/2006/main">
            <a:r>
              <a:t>/Users/sthmax/dev/git/ms-intern/knowledge-base/sources/TECH-076/original.md</a:t>
            </a:r>
          </a:p>
          <a:p xmlns:a="http://schemas.openxmlformats.org/drawingml/2006/main">
            <a:r>
              <a:t>外部随机token测试，FP8权重、FP8缓存、MTP3，关闭前缀缓存。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  <a:p xmlns:a="http://schemas.openxmlformats.org/drawingml/2006/main">
            <a:r>
              <a:t>/Users/sthmax/dev/git/ms-intern/knowledge-base/sources/TECH-076/original.md</a:t>
            </a:r>
          </a:p>
          <a:p xmlns:a="http://schemas.openxmlformats.org/drawingml/2006/main">
            <a:r>
              <a:t>外部随机token测试，FP8权重、FP8缓存、MTP3，关闭前缀缓存。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  <a:p xmlns:a="http://schemas.openxmlformats.org/drawingml/2006/main">
            <a:r>
              <a:t>https://huggingface.co/deepseek-ai/DeepSeek-V4.1-Flash-1017/blob/1bae0e1088993b9b82de08f59de5be5a34e42170/README.md</a:t>
            </a:r>
          </a:p>
          <a:p xmlns:a="http://schemas.openxmlformats.org/drawingml/2006/main">
            <a:r>
              <a:t>/Users/sthmax/dev/git/ms-intern/knowledge-base/sources/TECH-020/original.md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  <a:p xmlns:a="http://schemas.openxmlformats.org/drawingml/2006/main">
            <a:r>
              <a:t>https://huggingface.co/deepseek-ai/DeepSeek-V4.1-Flash-1017/blob/1bae0e1088993b9b82de08f59de5be5a34e42170/README.md</a:t>
            </a:r>
          </a:p>
          <a:p xmlns:a="http://schemas.openxmlformats.org/drawingml/2006/main">
            <a:r>
              <a:t>/Users/sthmax/dev/git/ms-intern/knowledge-base/sources/TECH-020/original.md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  <a:p xmlns:a="http://schemas.openxmlformats.org/drawingml/2006/main">
            <a:r>
              <a:t>https://huggingface.co/deepseek-ai/DeepSeek-V4.1-Flash-1017/blob/1bae0e1088993b9b82de08f59de5be5a34e42170/README.md</a:t>
            </a:r>
          </a:p>
          <a:p xmlns:a="http://schemas.openxmlformats.org/drawingml/2006/main">
            <a:r>
              <a:t>/Users/sthmax/dev/git/ms-intern/knowledge-base/sources/TECH-020/original.md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  <a:p xmlns:a="http://schemas.openxmlformats.org/drawingml/2006/main">
            <a:r>
              <a:t>/Users/sthmax/dev/git/ms-intern/presentation/final-report/narrative-drafts-2026-10-22/d-revised-4-data.json</a:t>
            </a:r>
          </a:p>
          <a:p xmlns:a="http://schemas.openxmlformats.org/drawingml/2006/main">
            <a:r>
              <a:t>预算口径：业务任务为完整工作，每项计划8轮模型调用，另加10%完整轨迹用于修改与重试。三年固定人数，每人每天5项，每年250个工作日。</a:t>
            </a:r>
          </a:p>
          <a:p xmlns:a="http://schemas.openxmlformats.org/drawingml/2006/main">
            <a:r>
              <a:t>DeepSeek本轮复核：https://api-docs.deepseek.com/quick_start/pricing/</a:t>
            </a:r>
          </a:p>
          <a:p xmlns:a="http://schemas.openxmlformats.org/drawingml/2006/main">
            <a:r>
              <a:t>https://api-docs.deepseek.com/guides/kv_cache/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  <a:p xmlns:a="http://schemas.openxmlformats.org/drawingml/2006/main">
            <a:r>
              <a:t>/Users/sthmax/dev/git/ms-intern/presentation/final-report/narrative-drafts-2026-10-22/d-revised-4-data.json</a:t>
            </a:r>
          </a:p>
          <a:p xmlns:a="http://schemas.openxmlformats.org/drawingml/2006/main">
            <a:r>
              <a:t>预算口径：业务任务为完整工作，每项计划8轮模型调用，另加10%完整轨迹用于修改与重试。三年固定人数，每人每天5项，每年250个工作日。</a:t>
            </a:r>
          </a:p>
          <a:p xmlns:a="http://schemas.openxmlformats.org/drawingml/2006/main">
            <a:r>
              <a:t>DeepSeek本轮复核：https://api-docs.deepseek.com/quick_start/pricing/</a:t>
            </a:r>
          </a:p>
          <a:p xmlns:a="http://schemas.openxmlformats.org/drawingml/2006/main">
            <a:r>
              <a:t>https://api-docs.deepseek.com/guides/kv_cache/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  <a:p xmlns:a="http://schemas.openxmlformats.org/drawingml/2006/main">
            <a:r>
              <a:t>/Users/sthmax/dev/git/ms-intern/presentation/final-report/narrative-drafts-2026-10-22/d-revised-4-data.json</a:t>
            </a:r>
          </a:p>
          <a:p xmlns:a="http://schemas.openxmlformats.org/drawingml/2006/main">
            <a:r>
              <a:t>预算口径：业务任务为完整工作，每项计划8轮模型调用，另加10%完整轨迹用于修改与重试。三年固定人数，每人每天5项，每年250个工作日。</a:t>
            </a:r>
          </a:p>
          <a:p xmlns:a="http://schemas.openxmlformats.org/drawingml/2006/main">
            <a:r>
              <a:t>DeepSeek本轮复核：https://api-docs.deepseek.com/quick_start/pricing/</a:t>
            </a:r>
          </a:p>
          <a:p xmlns:a="http://schemas.openxmlformats.org/drawingml/2006/main">
            <a:r>
              <a:t>https://api-docs.deepseek.com/guides/kv_cache/</a:t>
            </a:r>
          </a:p>
          <a:p xmlns:a="http://schemas.openxmlformats.org/drawingml/2006/main">
            <a:r>
              <a:t>https://news.smm.cn/news/104118405</a:t>
            </a:r>
          </a:p>
          <a:p xmlns:a="http://schemas.openxmlformats.org/drawingml/2006/main">
            <a:r>
              <a:t>https://configurator.exxactcorp.com/configure/TS4-118380266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  <a:p xmlns:a="http://schemas.openxmlformats.org/drawingml/2006/main">
            <a:r>
              <a:t>/Users/sthmax/dev/git/ms-intern/presentation/final-report/narrative-drafts-2026-10-22/d-revised-4-data.json</a:t>
            </a:r>
          </a:p>
          <a:p xmlns:a="http://schemas.openxmlformats.org/drawingml/2006/main">
            <a:r>
              <a:t>预算口径：业务任务为完整工作，每项计划8轮模型调用，另加10%完整轨迹用于修改与重试。三年固定人数，每人每天5项，每年250个工作日。</a:t>
            </a:r>
          </a:p>
          <a:p xmlns:a="http://schemas.openxmlformats.org/drawingml/2006/main">
            <a:r>
              <a:t>DeepSeek本轮复核：https://api-docs.deepseek.com/quick_start/pricing/</a:t>
            </a:r>
          </a:p>
          <a:p xmlns:a="http://schemas.openxmlformats.org/drawingml/2006/main">
            <a:r>
              <a:t>https://api-docs.deepseek.com/guides/kv_cache/</a:t>
            </a:r>
          </a:p>
          <a:p xmlns:a="http://schemas.openxmlformats.org/drawingml/2006/main">
            <a:r>
              <a:t>https://news.smm.cn/news/104118405</a:t>
            </a:r>
          </a:p>
          <a:p xmlns:a="http://schemas.openxmlformats.org/drawingml/2006/main">
            <a:r>
              <a:t>https://configurator.exxactcorp.com/configure/TS4-118380266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  <a:p xmlns:a="http://schemas.openxmlformats.org/drawingml/2006/main">
            <a:r>
              <a:t>/Users/sthmax/dev/git/ms-intern/presentation/final-report/narrative-drafts-2026-10-22/d-revised-4-data.json</a:t>
            </a:r>
          </a:p>
          <a:p xmlns:a="http://schemas.openxmlformats.org/drawingml/2006/main">
            <a:r>
              <a:t>预算口径：业务任务为完整工作，每项计划8轮模型调用，另加10%完整轨迹用于修改与重试。三年固定人数，每人每天5项，每年250个工作日。</a:t>
            </a:r>
          </a:p>
          <a:p xmlns:a="http://schemas.openxmlformats.org/drawingml/2006/main">
            <a:r>
              <a:t>DeepSeek本轮复核：https://api-docs.deepseek.com/quick_start/pricing/</a:t>
            </a:r>
          </a:p>
          <a:p xmlns:a="http://schemas.openxmlformats.org/drawingml/2006/main">
            <a:r>
              <a:t>https://api-docs.deepseek.com/guides/kv_cache/</a:t>
            </a:r>
          </a:p>
          <a:p xmlns:a="http://schemas.openxmlformats.org/drawingml/2006/main">
            <a:r>
              <a:t>https://docs.bigmodel.cn/cn/guide/start/pricing</a:t>
            </a:r>
          </a:p>
          <a:p xmlns:a="http://schemas.openxmlformats.org/drawingml/2006/main">
            <a:r>
              <a:t>https://platform.kimi.com/docs/pricing/chat</a:t>
            </a:r>
          </a:p>
          <a:p xmlns:a="http://schemas.openxmlformats.org/drawingml/2006/main">
            <a:r>
              <a:t>API输入累计80%缓存读取为预算假设，按usage更新。DeepSeek按80%高峰、20%低峰、USD/CNY=7.00计价。普通输入、缓存读取与输出分别计费。供应商联网工具费用按实际使用另计。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  <a:p xmlns:a="http://schemas.openxmlformats.org/drawingml/2006/main">
            <a:r>
              <a:t>/Users/sthmax/dev/git/ms-intern/presentation/final-report/narrative-drafts-2026-10-22/d-revised-4-data.json</a:t>
            </a:r>
          </a:p>
          <a:p xmlns:a="http://schemas.openxmlformats.org/drawingml/2006/main">
            <a:r>
              <a:t>预算口径：业务任务为完整工作，每项计划8轮模型调用，另加10%完整轨迹用于修改与重试。三年固定人数，每人每天5项，每年250个工作日。</a:t>
            </a:r>
          </a:p>
          <a:p xmlns:a="http://schemas.openxmlformats.org/drawingml/2006/main">
            <a:r>
              <a:t>DeepSeek本轮复核：https://api-docs.deepseek.com/quick_start/pricing/</a:t>
            </a:r>
          </a:p>
          <a:p xmlns:a="http://schemas.openxmlformats.org/drawingml/2006/main">
            <a:r>
              <a:t>https://api-docs.deepseek.com/guides/kv_cache/</a:t>
            </a:r>
          </a:p>
          <a:p xmlns:a="http://schemas.openxmlformats.org/drawingml/2006/main">
            <a:r>
              <a:t>https://docs.bigmodel.cn/cn/guide/start/pricing</a:t>
            </a:r>
          </a:p>
          <a:p xmlns:a="http://schemas.openxmlformats.org/drawingml/2006/main">
            <a:r>
              <a:t>https://platform.kimi.com/docs/pricing/chat</a:t>
            </a:r>
          </a:p>
          <a:p xmlns:a="http://schemas.openxmlformats.org/drawingml/2006/main">
            <a:r>
              <a:t>API输入累计80%缓存读取为预算假设，按usage更新。DeepSeek按80%高峰、20%低峰、USD/CNY=7.00计价。普通输入、缓存读取与输出分别计费。供应商联网工具费用按实际使用另计。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  <a:p xmlns:a="http://schemas.openxmlformats.org/drawingml/2006/main">
            <a:r>
              <a:t>/Users/sthmax/dev/git/ms-intern/knowledge-base/sources/TECH-072/open-webui.md</a:t>
            </a:r>
          </a:p>
          <a:p xmlns:a="http://schemas.openxmlformats.org/drawingml/2006/main">
            <a:r>
              <a:t>/Users/sthmax/dev/git/ms-intern/knowledge-base/sources/TECH-068/onyx-permissions.md</a:t>
            </a:r>
          </a:p>
          <a:p xmlns:a="http://schemas.openxmlformats.org/drawingml/2006/main">
            <a:r>
              <a:t>/Users/sthmax/dev/git/ms-intern/knowledge-base/infrastructure/scenario-2-enterprise-rag-2026-09-23.md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  <a:p xmlns:a="http://schemas.openxmlformats.org/drawingml/2006/main">
            <a:r>
              <a:t>/Users/sthmax/dev/git/ms-intern/knowledge-base/sources/TECH-072/open-webui.md</a:t>
            </a:r>
          </a:p>
          <a:p xmlns:a="http://schemas.openxmlformats.org/drawingml/2006/main">
            <a:r>
              <a:t>/Users/sthmax/dev/git/ms-intern/knowledge-base/sources/TECH-068/onyx-permissions.md</a:t>
            </a:r>
          </a:p>
          <a:p xmlns:a="http://schemas.openxmlformats.org/drawingml/2006/main">
            <a:r>
              <a:t>/Users/sthmax/dev/git/ms-intern/knowledge-base/infrastructure/scenario-2-enterprise-rag-2026-09-23.md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/Users/sthmax/dev/git/ms-intern/presentation/final-report/narrative-drafts-2026-10-22/d-revised-4-evidence.md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c65d4765eb4f8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49c7365e91487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295e367eee45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23f8536195408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ed5307a73445c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97737a57234ac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090a3b10b6240c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8e36f637b0446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83c60eba4c744b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dabd6d829c143d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0b593129e6c4c9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D23705-4560-4FFD-A36A-ADA80E587E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6BE98FA-B22F-418A-986B-D3ABF3C7EE3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titleOnly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0A311EA-56A6-4CA9-B91E-7C7CB556AA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EFA947-0DA0-4085-B8AC-396D7DA85E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66E4795-4EF6-42D1-8760-4BB86F6F45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9E23BA8-7E10-49A9-84EE-A088567600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A187A6-301C-401D-B48E-97BD0BB742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E86464F-D9D8-4DF4-BBB0-3862E5DAC6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secHead" preserve="1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1035B4-0FA5-42AE-9D95-ED2D785DA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27F7B9-D8CE-447B-B73E-8B67E6CB34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3CE304E-93F8-4D54-A313-8E65D95DC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752600"/>
            <a:ext cx="105156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buNone/>
              <a:defRPr sz="4200" b="1">
                <a:solidFill>
                  <a:schemeClr val="tx1"/>
                </a:solidFill>
              </a:defRPr>
            </a:defPPr>
            <a:lvl1pPr>
              <a:buNone/>
              <a:defRPr sz="4200" b="1">
                <a:solidFill>
                  <a:schemeClr val="tx1"/>
                </a:solidFill>
              </a:defRPr>
            </a:lvl1pPr>
            <a:lvl2pPr>
              <a:buNone/>
              <a:defRPr sz="4200" b="1">
                <a:solidFill>
                  <a:schemeClr val="tx1"/>
                </a:solidFill>
              </a:defRPr>
            </a:lvl2pPr>
            <a:lvl3pPr>
              <a:buNone/>
              <a:defRPr sz="4200" b="1">
                <a:solidFill>
                  <a:schemeClr val="tx1"/>
                </a:solidFill>
              </a:defRPr>
            </a:lvl3pPr>
            <a:lvl4pPr>
              <a:buNone/>
              <a:defRPr sz="4200" b="1">
                <a:solidFill>
                  <a:schemeClr val="tx1"/>
                </a:solidFill>
              </a:defRPr>
            </a:lvl4pPr>
            <a:lvl5pPr>
              <a:buNone/>
              <a:defRPr sz="4200" b="1">
                <a:solidFill>
                  <a:schemeClr val="tx1"/>
                </a:solidFill>
              </a:defRPr>
            </a:lvl5pPr>
            <a:lvl6pPr>
              <a:buNone/>
              <a:defRPr sz="4200" b="1">
                <a:solidFill>
                  <a:schemeClr val="tx1"/>
                </a:solidFill>
              </a:defRPr>
            </a:lvl6pPr>
            <a:lvl7pPr>
              <a:buNone/>
              <a:defRPr sz="4200" b="1">
                <a:solidFill>
                  <a:schemeClr val="tx1"/>
                </a:solidFill>
              </a:defRPr>
            </a:lvl7pPr>
            <a:lvl8pPr>
              <a:buNone/>
              <a:defRPr sz="4200" b="1">
                <a:solidFill>
                  <a:schemeClr val="tx1"/>
                </a:solidFill>
              </a:defRPr>
            </a:lvl8pPr>
            <a:lvl9pPr>
              <a:buNone/>
              <a:defRPr sz="4200" b="1">
                <a:solidFill>
                  <a:schemeClr val="tx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2C99B8B4-A6F4-4A1A-A40E-7804767708A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38200" y="3733800"/>
            <a:ext cx="105156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buNone/>
              <a:defRPr sz="2100" b="0">
                <a:solidFill>
                  <a:schemeClr val="tx1"/>
                </a:solidFill>
              </a:defRPr>
            </a:defPPr>
            <a:lvl1pPr>
              <a:buNone/>
              <a:defRPr sz="2100" b="0">
                <a:solidFill>
                  <a:schemeClr val="tx1"/>
                </a:solidFill>
              </a:defRPr>
            </a:lvl1pPr>
            <a:lvl2pPr>
              <a:buNone/>
              <a:defRPr sz="2100" b="0">
                <a:solidFill>
                  <a:schemeClr val="tx1"/>
                </a:solidFill>
              </a:defRPr>
            </a:lvl2pPr>
            <a:lvl3pPr>
              <a:buNone/>
              <a:defRPr sz="2100" b="0">
                <a:solidFill>
                  <a:schemeClr val="tx1"/>
                </a:solidFill>
              </a:defRPr>
            </a:lvl3pPr>
            <a:lvl4pPr>
              <a:buNone/>
              <a:defRPr sz="2100" b="0">
                <a:solidFill>
                  <a:schemeClr val="tx1"/>
                </a:solidFill>
              </a:defRPr>
            </a:lvl4pPr>
            <a:lvl5pPr>
              <a:buNone/>
              <a:defRPr sz="2100" b="0">
                <a:solidFill>
                  <a:schemeClr val="tx1"/>
                </a:solidFill>
              </a:defRPr>
            </a:lvl5pPr>
            <a:lvl6pPr>
              <a:buNone/>
              <a:defRPr sz="2100" b="0">
                <a:solidFill>
                  <a:schemeClr val="tx1"/>
                </a:solidFill>
              </a:defRPr>
            </a:lvl6pPr>
            <a:lvl7pPr>
              <a:buNone/>
              <a:defRPr sz="2100" b="0">
                <a:solidFill>
                  <a:schemeClr val="tx1"/>
                </a:solidFill>
              </a:defRPr>
            </a:lvl7pPr>
            <a:lvl8pPr>
              <a:buNone/>
              <a:defRPr sz="2100" b="0">
                <a:solidFill>
                  <a:schemeClr val="tx1"/>
                </a:solidFill>
              </a:defRPr>
            </a:lvl8pPr>
            <a:lvl9pPr>
              <a:buNone/>
              <a:defRPr sz="2100" b="0">
                <a:solidFill>
                  <a:schemeClr val="tx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19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buNone/>
              <a:defRPr sz="3150" b="1">
                <a:solidFill>
                  <a:schemeClr val="tx1"/>
                </a:solidFill>
              </a:defRPr>
            </a:defPPr>
            <a:lvl1pPr>
              <a:buNone/>
              <a:defRPr sz="3150" b="1">
                <a:solidFill>
                  <a:schemeClr val="tx1"/>
                </a:solidFill>
              </a:defRPr>
            </a:lvl1pPr>
            <a:lvl2pPr>
              <a:buNone/>
              <a:defRPr sz="3150" b="1">
                <a:solidFill>
                  <a:schemeClr val="tx1"/>
                </a:solidFill>
              </a:defRPr>
            </a:lvl2pPr>
            <a:lvl3pPr>
              <a:buNone/>
              <a:defRPr sz="3150" b="1">
                <a:solidFill>
                  <a:schemeClr val="tx1"/>
                </a:solidFill>
              </a:defRPr>
            </a:lvl3pPr>
            <a:lvl4pPr>
              <a:buNone/>
              <a:defRPr sz="3150" b="1">
                <a:solidFill>
                  <a:schemeClr val="tx1"/>
                </a:solidFill>
              </a:defRPr>
            </a:lvl4pPr>
            <a:lvl5pPr>
              <a:buNone/>
              <a:defRPr sz="3150" b="1">
                <a:solidFill>
                  <a:schemeClr val="tx1"/>
                </a:solidFill>
              </a:defRPr>
            </a:lvl5pPr>
            <a:lvl6pPr>
              <a:buNone/>
              <a:defRPr sz="3150" b="1">
                <a:solidFill>
                  <a:schemeClr val="tx1"/>
                </a:solidFill>
              </a:defRPr>
            </a:lvl6pPr>
            <a:lvl7pPr>
              <a:buNone/>
              <a:defRPr sz="3150" b="1">
                <a:solidFill>
                  <a:schemeClr val="tx1"/>
                </a:solidFill>
              </a:defRPr>
            </a:lvl7pPr>
            <a:lvl8pPr>
              <a:buNone/>
              <a:defRPr sz="3150" b="1">
                <a:solidFill>
                  <a:schemeClr val="tx1"/>
                </a:solidFill>
              </a:defRPr>
            </a:lvl8pPr>
            <a:lvl9pPr>
              <a:buNone/>
              <a:defRPr sz="3150" b="1">
                <a:solidFill>
                  <a:schemeClr val="tx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257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buNone/>
              <a:defRPr sz="1950" b="0">
                <a:solidFill>
                  <a:schemeClr val="tx1"/>
                </a:solidFill>
              </a:defRPr>
            </a:defPPr>
            <a:lvl1pPr>
              <a:buNone/>
              <a:defRPr sz="1950" b="0">
                <a:solidFill>
                  <a:schemeClr val="tx1"/>
                </a:solidFill>
              </a:defRPr>
            </a:lvl1pPr>
            <a:lvl2pPr>
              <a:buNone/>
              <a:defRPr sz="1950" b="0">
                <a:solidFill>
                  <a:schemeClr val="tx1"/>
                </a:solidFill>
              </a:defRPr>
            </a:lvl2pPr>
            <a:lvl3pPr>
              <a:buNone/>
              <a:defRPr sz="1950" b="0">
                <a:solidFill>
                  <a:schemeClr val="tx1"/>
                </a:solidFill>
              </a:defRPr>
            </a:lvl3pPr>
            <a:lvl4pPr>
              <a:buNone/>
              <a:defRPr sz="1950" b="0">
                <a:solidFill>
                  <a:schemeClr val="tx1"/>
                </a:solidFill>
              </a:defRPr>
            </a:lvl4pPr>
            <a:lvl5pPr>
              <a:buNone/>
              <a:defRPr sz="1950" b="0">
                <a:solidFill>
                  <a:schemeClr val="tx1"/>
                </a:solidFill>
              </a:defRPr>
            </a:lvl5pPr>
            <a:lvl6pPr>
              <a:buNone/>
              <a:defRPr sz="1950" b="0">
                <a:solidFill>
                  <a:schemeClr val="tx1"/>
                </a:solidFill>
              </a:defRPr>
            </a:lvl6pPr>
            <a:lvl7pPr>
              <a:buNone/>
              <a:defRPr sz="1950" b="0">
                <a:solidFill>
                  <a:schemeClr val="tx1"/>
                </a:solidFill>
              </a:defRPr>
            </a:lvl7pPr>
            <a:lvl8pPr>
              <a:buNone/>
              <a:defRPr sz="1950" b="0">
                <a:solidFill>
                  <a:schemeClr val="tx1"/>
                </a:solidFill>
              </a:defRPr>
            </a:lvl8pPr>
            <a:lvl9pPr>
              <a:buNone/>
              <a:defRPr sz="1950" b="0">
                <a:solidFill>
                  <a:schemeClr val="tx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2" name="Content 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obj" idx="2"/>
          </p:nvPr>
        </p:nvSpPr>
        <p:spPr>
          <a:xfrm xmlns:a="http://schemas.openxmlformats.org/drawingml/2006/main">
            <a:off x="609600" y="1952625"/>
            <a:ext cx="109728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buNone/>
              <a:defRPr sz="1950" b="0">
                <a:solidFill>
                  <a:schemeClr val="tx1"/>
                </a:solidFill>
              </a:defRPr>
            </a:defPPr>
            <a:lvl1pPr>
              <a:buNone/>
              <a:defRPr sz="1950" b="0">
                <a:solidFill>
                  <a:schemeClr val="tx1"/>
                </a:solidFill>
              </a:defRPr>
            </a:lvl1pPr>
            <a:lvl2pPr>
              <a:buNone/>
              <a:defRPr sz="1950" b="0">
                <a:solidFill>
                  <a:schemeClr val="tx1"/>
                </a:solidFill>
              </a:defRPr>
            </a:lvl2pPr>
            <a:lvl3pPr>
              <a:buNone/>
              <a:defRPr sz="1950" b="0">
                <a:solidFill>
                  <a:schemeClr val="tx1"/>
                </a:solidFill>
              </a:defRPr>
            </a:lvl3pPr>
            <a:lvl4pPr>
              <a:buNone/>
              <a:defRPr sz="1950" b="0">
                <a:solidFill>
                  <a:schemeClr val="tx1"/>
                </a:solidFill>
              </a:defRPr>
            </a:lvl4pPr>
            <a:lvl5pPr>
              <a:buNone/>
              <a:defRPr sz="1950" b="0">
                <a:solidFill>
                  <a:schemeClr val="tx1"/>
                </a:solidFill>
              </a:defRPr>
            </a:lvl5pPr>
            <a:lvl6pPr>
              <a:buNone/>
              <a:defRPr sz="1950" b="0">
                <a:solidFill>
                  <a:schemeClr val="tx1"/>
                </a:solidFill>
              </a:defRPr>
            </a:lvl6pPr>
            <a:lvl7pPr>
              <a:buNone/>
              <a:defRPr sz="1950" b="0">
                <a:solidFill>
                  <a:schemeClr val="tx1"/>
                </a:solidFill>
              </a:defRPr>
            </a:lvl7pPr>
            <a:lvl8pPr>
              <a:buNone/>
              <a:defRPr sz="1950" b="0">
                <a:solidFill>
                  <a:schemeClr val="tx1"/>
                </a:solidFill>
              </a:defRPr>
            </a:lvl8pPr>
            <a:lvl9pPr>
              <a:buNone/>
              <a:defRPr sz="1950" b="0">
                <a:solidFill>
                  <a:schemeClr val="tx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0EB7629E-A543-4DEC-B3D0-8289EFAB9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247900"/>
            <a:ext cx="10515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buNone/>
              <a:defRPr sz="3600" b="1">
                <a:solidFill>
                  <a:schemeClr val="tx1"/>
                </a:solidFill>
              </a:defRPr>
            </a:defPPr>
            <a:lvl1pPr>
              <a:buNone/>
              <a:defRPr sz="3600" b="1">
                <a:solidFill>
                  <a:schemeClr val="tx1"/>
                </a:solidFill>
              </a:defRPr>
            </a:lvl1pPr>
            <a:lvl2pPr>
              <a:buNone/>
              <a:defRPr sz="3600" b="1">
                <a:solidFill>
                  <a:schemeClr val="tx1"/>
                </a:solidFill>
              </a:defRPr>
            </a:lvl2pPr>
            <a:lvl3pPr>
              <a:buNone/>
              <a:defRPr sz="3600" b="1">
                <a:solidFill>
                  <a:schemeClr val="tx1"/>
                </a:solidFill>
              </a:defRPr>
            </a:lvl3pPr>
            <a:lvl4pPr>
              <a:buNone/>
              <a:defRPr sz="3600" b="1">
                <a:solidFill>
                  <a:schemeClr val="tx1"/>
                </a:solidFill>
              </a:defRPr>
            </a:lvl4pPr>
            <a:lvl5pPr>
              <a:buNone/>
              <a:defRPr sz="3600" b="1">
                <a:solidFill>
                  <a:schemeClr val="tx1"/>
                </a:solidFill>
              </a:defRPr>
            </a:lvl5pPr>
            <a:lvl6pPr>
              <a:buNone/>
              <a:defRPr sz="3600" b="1">
                <a:solidFill>
                  <a:schemeClr val="tx1"/>
                </a:solidFill>
              </a:defRPr>
            </a:lvl6pPr>
            <a:lvl7pPr>
              <a:buNone/>
              <a:defRPr sz="3600" b="1">
                <a:solidFill>
                  <a:schemeClr val="tx1"/>
                </a:solidFill>
              </a:defRPr>
            </a:lvl7pPr>
            <a:lvl8pPr>
              <a:buNone/>
              <a:defRPr sz="3600" b="1">
                <a:solidFill>
                  <a:schemeClr val="tx1"/>
                </a:solidFill>
              </a:defRPr>
            </a:lvl8pPr>
            <a:lvl9pPr>
              <a:buNone/>
              <a:defRPr sz="3600" b="1">
                <a:solidFill>
                  <a:schemeClr val="tx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3FD7D765-A9B6-4A5F-B8DE-310B96E2D1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857625"/>
            <a:ext cx="10001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buNone/>
              <a:defRPr sz="2100" b="0">
                <a:solidFill>
                  <a:schemeClr val="tx1"/>
                </a:solidFill>
              </a:defRPr>
            </a:defPPr>
            <a:lvl1pPr>
              <a:buNone/>
              <a:defRPr sz="2100" b="0">
                <a:solidFill>
                  <a:schemeClr val="tx1"/>
                </a:solidFill>
              </a:defRPr>
            </a:lvl1pPr>
            <a:lvl2pPr>
              <a:buNone/>
              <a:defRPr sz="2100" b="0">
                <a:solidFill>
                  <a:schemeClr val="tx1"/>
                </a:solidFill>
              </a:defRPr>
            </a:lvl2pPr>
            <a:lvl3pPr>
              <a:buNone/>
              <a:defRPr sz="2100" b="0">
                <a:solidFill>
                  <a:schemeClr val="tx1"/>
                </a:solidFill>
              </a:defRPr>
            </a:lvl3pPr>
            <a:lvl4pPr>
              <a:buNone/>
              <a:defRPr sz="2100" b="0">
                <a:solidFill>
                  <a:schemeClr val="tx1"/>
                </a:solidFill>
              </a:defRPr>
            </a:lvl4pPr>
            <a:lvl5pPr>
              <a:buNone/>
              <a:defRPr sz="2100" b="0">
                <a:solidFill>
                  <a:schemeClr val="tx1"/>
                </a:solidFill>
              </a:defRPr>
            </a:lvl5pPr>
            <a:lvl6pPr>
              <a:buNone/>
              <a:defRPr sz="2100" b="0">
                <a:solidFill>
                  <a:schemeClr val="tx1"/>
                </a:solidFill>
              </a:defRPr>
            </a:lvl6pPr>
            <a:lvl7pPr>
              <a:buNone/>
              <a:defRPr sz="2100" b="0">
                <a:solidFill>
                  <a:schemeClr val="tx1"/>
                </a:solidFill>
              </a:defRPr>
            </a:lvl7pPr>
            <a:lvl8pPr>
              <a:buNone/>
              <a:defRPr sz="2100" b="0">
                <a:solidFill>
                  <a:schemeClr val="tx1"/>
                </a:solidFill>
              </a:defRPr>
            </a:lvl8pPr>
            <a:lvl9pPr>
              <a:buNone/>
              <a:defRPr sz="2100" b="0">
                <a:solidFill>
                  <a:schemeClr val="tx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593DE556-A484-4CD2-9CF7-0B9A12CB88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19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buNone/>
              <a:defRPr sz="3150" b="1">
                <a:solidFill>
                  <a:schemeClr val="tx1"/>
                </a:solidFill>
              </a:defRPr>
            </a:defPPr>
            <a:lvl1pPr>
              <a:buNone/>
              <a:defRPr sz="3150" b="1">
                <a:solidFill>
                  <a:schemeClr val="tx1"/>
                </a:solidFill>
              </a:defRPr>
            </a:lvl1pPr>
            <a:lvl2pPr>
              <a:buNone/>
              <a:defRPr sz="3150" b="1">
                <a:solidFill>
                  <a:schemeClr val="tx1"/>
                </a:solidFill>
              </a:defRPr>
            </a:lvl2pPr>
            <a:lvl3pPr>
              <a:buNone/>
              <a:defRPr sz="3150" b="1">
                <a:solidFill>
                  <a:schemeClr val="tx1"/>
                </a:solidFill>
              </a:defRPr>
            </a:lvl3pPr>
            <a:lvl4pPr>
              <a:buNone/>
              <a:defRPr sz="3150" b="1">
                <a:solidFill>
                  <a:schemeClr val="tx1"/>
                </a:solidFill>
              </a:defRPr>
            </a:lvl4pPr>
            <a:lvl5pPr>
              <a:buNone/>
              <a:defRPr sz="3150" b="1">
                <a:solidFill>
                  <a:schemeClr val="tx1"/>
                </a:solidFill>
              </a:defRPr>
            </a:lvl5pPr>
            <a:lvl6pPr>
              <a:buNone/>
              <a:defRPr sz="3150" b="1">
                <a:solidFill>
                  <a:schemeClr val="tx1"/>
                </a:solidFill>
              </a:defRPr>
            </a:lvl6pPr>
            <a:lvl7pPr>
              <a:buNone/>
              <a:defRPr sz="3150" b="1">
                <a:solidFill>
                  <a:schemeClr val="tx1"/>
                </a:solidFill>
              </a:defRPr>
            </a:lvl7pPr>
            <a:lvl8pPr>
              <a:buNone/>
              <a:defRPr sz="3150" b="1">
                <a:solidFill>
                  <a:schemeClr val="tx1"/>
                </a:solidFill>
              </a:defRPr>
            </a:lvl8pPr>
            <a:lvl9pPr>
              <a:buNone/>
              <a:defRPr sz="3150" b="1">
                <a:solidFill>
                  <a:schemeClr val="tx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4052185-6181-49E1-A66B-818F4A7442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257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buNone/>
              <a:defRPr sz="1950" b="0">
                <a:solidFill>
                  <a:schemeClr val="tx1"/>
                </a:solidFill>
              </a:defRPr>
            </a:defPPr>
            <a:lvl1pPr>
              <a:buNone/>
              <a:defRPr sz="1950" b="0">
                <a:solidFill>
                  <a:schemeClr val="tx1"/>
                </a:solidFill>
              </a:defRPr>
            </a:lvl1pPr>
            <a:lvl2pPr>
              <a:buNone/>
              <a:defRPr sz="1950" b="0">
                <a:solidFill>
                  <a:schemeClr val="tx1"/>
                </a:solidFill>
              </a:defRPr>
            </a:lvl2pPr>
            <a:lvl3pPr>
              <a:buNone/>
              <a:defRPr sz="1950" b="0">
                <a:solidFill>
                  <a:schemeClr val="tx1"/>
                </a:solidFill>
              </a:defRPr>
            </a:lvl3pPr>
            <a:lvl4pPr>
              <a:buNone/>
              <a:defRPr sz="1950" b="0">
                <a:solidFill>
                  <a:schemeClr val="tx1"/>
                </a:solidFill>
              </a:defRPr>
            </a:lvl4pPr>
            <a:lvl5pPr>
              <a:buNone/>
              <a:defRPr sz="1950" b="0">
                <a:solidFill>
                  <a:schemeClr val="tx1"/>
                </a:solidFill>
              </a:defRPr>
            </a:lvl5pPr>
            <a:lvl6pPr>
              <a:buNone/>
              <a:defRPr sz="1950" b="0">
                <a:solidFill>
                  <a:schemeClr val="tx1"/>
                </a:solidFill>
              </a:defRPr>
            </a:lvl6pPr>
            <a:lvl7pPr>
              <a:buNone/>
              <a:defRPr sz="1950" b="0">
                <a:solidFill>
                  <a:schemeClr val="tx1"/>
                </a:solidFill>
              </a:defRPr>
            </a:lvl7pPr>
            <a:lvl8pPr>
              <a:buNone/>
              <a:defRPr sz="1950" b="0">
                <a:solidFill>
                  <a:schemeClr val="tx1"/>
                </a:solidFill>
              </a:defRPr>
            </a:lvl8pPr>
            <a:lvl9pPr>
              <a:buNone/>
              <a:defRPr sz="1950" b="0">
                <a:solidFill>
                  <a:schemeClr val="tx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2" name="Content 2">
            <a:extLst xmlns:a="http://schemas.openxmlformats.org/drawingml/2006/main">
              <a:ext uri="{FF2B5EF4-FFF2-40B4-BE49-F238E27FC236}">
                <a16:creationId xmlns:a16="http://schemas.microsoft.com/office/drawing/2014/main" id="{D4052185-6181-49E1-A66B-818F4A744271}"/>
              </a:ext>
            </a:extLst>
          </p:cNvPr>
          <p:cNvSpPr>
            <a:spLocks xmlns:a="http://schemas.openxmlformats.org/drawingml/2006/main" noGrp="1"/>
          </p:cNvSpPr>
          <p:nvPr>
            <p:ph type="obj" idx="2"/>
          </p:nvPr>
        </p:nvSpPr>
        <p:spPr>
          <a:xfrm xmlns:a="http://schemas.openxmlformats.org/drawingml/2006/main">
            <a:off x="609600" y="2238375"/>
            <a:ext cx="5257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buNone/>
              <a:defRPr sz="1950" b="0">
                <a:solidFill>
                  <a:schemeClr val="tx1"/>
                </a:solidFill>
              </a:defRPr>
            </a:defPPr>
            <a:lvl1pPr>
              <a:buNone/>
              <a:defRPr sz="1950" b="0">
                <a:solidFill>
                  <a:schemeClr val="tx1"/>
                </a:solidFill>
              </a:defRPr>
            </a:lvl1pPr>
            <a:lvl2pPr>
              <a:buNone/>
              <a:defRPr sz="1950" b="0">
                <a:solidFill>
                  <a:schemeClr val="tx1"/>
                </a:solidFill>
              </a:defRPr>
            </a:lvl2pPr>
            <a:lvl3pPr>
              <a:buNone/>
              <a:defRPr sz="1950" b="0">
                <a:solidFill>
                  <a:schemeClr val="tx1"/>
                </a:solidFill>
              </a:defRPr>
            </a:lvl3pPr>
            <a:lvl4pPr>
              <a:buNone/>
              <a:defRPr sz="1950" b="0">
                <a:solidFill>
                  <a:schemeClr val="tx1"/>
                </a:solidFill>
              </a:defRPr>
            </a:lvl4pPr>
            <a:lvl5pPr>
              <a:buNone/>
              <a:defRPr sz="1950" b="0">
                <a:solidFill>
                  <a:schemeClr val="tx1"/>
                </a:solidFill>
              </a:defRPr>
            </a:lvl5pPr>
            <a:lvl6pPr>
              <a:buNone/>
              <a:defRPr sz="1950" b="0">
                <a:solidFill>
                  <a:schemeClr val="tx1"/>
                </a:solidFill>
              </a:defRPr>
            </a:lvl6pPr>
            <a:lvl7pPr>
              <a:buNone/>
              <a:defRPr sz="1950" b="0">
                <a:solidFill>
                  <a:schemeClr val="tx1"/>
                </a:solidFill>
              </a:defRPr>
            </a:lvl7pPr>
            <a:lvl8pPr>
              <a:buNone/>
              <a:defRPr sz="1950" b="0">
                <a:solidFill>
                  <a:schemeClr val="tx1"/>
                </a:solidFill>
              </a:defRPr>
            </a:lvl8pPr>
            <a:lvl9pPr>
              <a:buNone/>
              <a:defRPr sz="1950" b="0">
                <a:solidFill>
                  <a:schemeClr val="tx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3" name="Content 3">
            <a:extLst xmlns:a="http://schemas.openxmlformats.org/drawingml/2006/main">
              <a:ext uri="{FF2B5EF4-FFF2-40B4-BE49-F238E27FC236}">
                <a16:creationId xmlns:a16="http://schemas.microsoft.com/office/drawing/2014/main" id="{D4052185-6181-49E1-A66B-818F4A744271}"/>
              </a:ext>
            </a:extLst>
          </p:cNvPr>
          <p:cNvSpPr>
            <a:spLocks xmlns:a="http://schemas.openxmlformats.org/drawingml/2006/main" noGrp="1"/>
          </p:cNvSpPr>
          <p:nvPr>
            <p:ph type="obj" idx="3"/>
          </p:nvPr>
        </p:nvSpPr>
        <p:spPr>
          <a:xfrm xmlns:a="http://schemas.openxmlformats.org/drawingml/2006/main">
            <a:off x="6324600" y="2238375"/>
            <a:ext cx="5257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buNone/>
              <a:defRPr sz="1950" b="0">
                <a:solidFill>
                  <a:schemeClr val="tx1"/>
                </a:solidFill>
              </a:defRPr>
            </a:defPPr>
            <a:lvl1pPr>
              <a:buNone/>
              <a:defRPr sz="1950" b="0">
                <a:solidFill>
                  <a:schemeClr val="tx1"/>
                </a:solidFill>
              </a:defRPr>
            </a:lvl1pPr>
            <a:lvl2pPr>
              <a:buNone/>
              <a:defRPr sz="1950" b="0">
                <a:solidFill>
                  <a:schemeClr val="tx1"/>
                </a:solidFill>
              </a:defRPr>
            </a:lvl2pPr>
            <a:lvl3pPr>
              <a:buNone/>
              <a:defRPr sz="1950" b="0">
                <a:solidFill>
                  <a:schemeClr val="tx1"/>
                </a:solidFill>
              </a:defRPr>
            </a:lvl3pPr>
            <a:lvl4pPr>
              <a:buNone/>
              <a:defRPr sz="1950" b="0">
                <a:solidFill>
                  <a:schemeClr val="tx1"/>
                </a:solidFill>
              </a:defRPr>
            </a:lvl4pPr>
            <a:lvl5pPr>
              <a:buNone/>
              <a:defRPr sz="1950" b="0">
                <a:solidFill>
                  <a:schemeClr val="tx1"/>
                </a:solidFill>
              </a:defRPr>
            </a:lvl5pPr>
            <a:lvl6pPr>
              <a:buNone/>
              <a:defRPr sz="1950" b="0">
                <a:solidFill>
                  <a:schemeClr val="tx1"/>
                </a:solidFill>
              </a:defRPr>
            </a:lvl6pPr>
            <a:lvl7pPr>
              <a:buNone/>
              <a:defRPr sz="1950" b="0">
                <a:solidFill>
                  <a:schemeClr val="tx1"/>
                </a:solidFill>
              </a:defRPr>
            </a:lvl7pPr>
            <a:lvl8pPr>
              <a:buNone/>
              <a:defRPr sz="1950" b="0">
                <a:solidFill>
                  <a:schemeClr val="tx1"/>
                </a:solidFill>
              </a:defRPr>
            </a:lvl8pPr>
            <a:lvl9pPr>
              <a:buNone/>
              <a:defRPr sz="1950" b="0">
                <a:solidFill>
                  <a:schemeClr val="tx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obj" preserve="1">
  <p:cSld name="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75DFDFE9-2817-4866-BD00-459D92A802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19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buNone/>
              <a:defRPr sz="3150" b="1">
                <a:solidFill>
                  <a:schemeClr val="tx1"/>
                </a:solidFill>
              </a:defRPr>
            </a:defPPr>
            <a:lvl1pPr>
              <a:buNone/>
              <a:defRPr sz="3150" b="1">
                <a:solidFill>
                  <a:schemeClr val="tx1"/>
                </a:solidFill>
              </a:defRPr>
            </a:lvl1pPr>
            <a:lvl2pPr>
              <a:buNone/>
              <a:defRPr sz="3150" b="1">
                <a:solidFill>
                  <a:schemeClr val="tx1"/>
                </a:solidFill>
              </a:defRPr>
            </a:lvl2pPr>
            <a:lvl3pPr>
              <a:buNone/>
              <a:defRPr sz="3150" b="1">
                <a:solidFill>
                  <a:schemeClr val="tx1"/>
                </a:solidFill>
              </a:defRPr>
            </a:lvl3pPr>
            <a:lvl4pPr>
              <a:buNone/>
              <a:defRPr sz="3150" b="1">
                <a:solidFill>
                  <a:schemeClr val="tx1"/>
                </a:solidFill>
              </a:defRPr>
            </a:lvl4pPr>
            <a:lvl5pPr>
              <a:buNone/>
              <a:defRPr sz="3150" b="1">
                <a:solidFill>
                  <a:schemeClr val="tx1"/>
                </a:solidFill>
              </a:defRPr>
            </a:lvl5pPr>
            <a:lvl6pPr>
              <a:buNone/>
              <a:defRPr sz="3150" b="1">
                <a:solidFill>
                  <a:schemeClr val="tx1"/>
                </a:solidFill>
              </a:defRPr>
            </a:lvl6pPr>
            <a:lvl7pPr>
              <a:buNone/>
              <a:defRPr sz="3150" b="1">
                <a:solidFill>
                  <a:schemeClr val="tx1"/>
                </a:solidFill>
              </a:defRPr>
            </a:lvl7pPr>
            <a:lvl8pPr>
              <a:buNone/>
              <a:defRPr sz="3150" b="1">
                <a:solidFill>
                  <a:schemeClr val="tx1"/>
                </a:solidFill>
              </a:defRPr>
            </a:lvl8pPr>
            <a:lvl9pPr>
              <a:buNone/>
              <a:defRPr sz="3150" b="1">
                <a:solidFill>
                  <a:schemeClr val="tx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71893EEC-4DA7-4EE4-A919-A855CF6C5C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19250"/>
            <a:ext cx="109728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buNone/>
              <a:defRPr sz="2250" b="0">
                <a:solidFill>
                  <a:schemeClr val="tx1"/>
                </a:solidFill>
              </a:defRPr>
            </a:defPPr>
            <a:lvl1pPr>
              <a:buNone/>
              <a:defRPr sz="2250" b="0">
                <a:solidFill>
                  <a:schemeClr val="tx1"/>
                </a:solidFill>
              </a:defRPr>
            </a:lvl1pPr>
            <a:lvl2pPr>
              <a:buNone/>
              <a:defRPr sz="2250" b="0">
                <a:solidFill>
                  <a:schemeClr val="tx1"/>
                </a:solidFill>
              </a:defRPr>
            </a:lvl2pPr>
            <a:lvl3pPr>
              <a:buNone/>
              <a:defRPr sz="2250" b="0">
                <a:solidFill>
                  <a:schemeClr val="tx1"/>
                </a:solidFill>
              </a:defRPr>
            </a:lvl3pPr>
            <a:lvl4pPr>
              <a:buNone/>
              <a:defRPr sz="2250" b="0">
                <a:solidFill>
                  <a:schemeClr val="tx1"/>
                </a:solidFill>
              </a:defRPr>
            </a:lvl4pPr>
            <a:lvl5pPr>
              <a:buNone/>
              <a:defRPr sz="2250" b="0">
                <a:solidFill>
                  <a:schemeClr val="tx1"/>
                </a:solidFill>
              </a:defRPr>
            </a:lvl5pPr>
            <a:lvl6pPr>
              <a:buNone/>
              <a:defRPr sz="2250" b="0">
                <a:solidFill>
                  <a:schemeClr val="tx1"/>
                </a:solidFill>
              </a:defRPr>
            </a:lvl6pPr>
            <a:lvl7pPr>
              <a:buNone/>
              <a:defRPr sz="2250" b="0">
                <a:solidFill>
                  <a:schemeClr val="tx1"/>
                </a:solidFill>
              </a:defRPr>
            </a:lvl7pPr>
            <a:lvl8pPr>
              <a:buNone/>
              <a:defRPr sz="2250" b="0">
                <a:solidFill>
                  <a:schemeClr val="tx1"/>
                </a:solidFill>
              </a:defRPr>
            </a:lvl8pPr>
            <a:lvl9pPr>
              <a:buNone/>
              <a:defRPr sz="2250" b="0">
                <a:solidFill>
                  <a:schemeClr val="tx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9e87d65a01410e" /><Relationship Type="http://schemas.openxmlformats.org/officeDocument/2006/relationships/slideLayout" Target="/ppt/slideLayouts/slideLayout1.xml" Id="R3968e04c96404af8" /><Relationship Type="http://schemas.openxmlformats.org/officeDocument/2006/relationships/slideLayout" Target="/ppt/slideLayouts/slideLayout2.xml" Id="R9ce561cace734443" /><Relationship Type="http://schemas.openxmlformats.org/officeDocument/2006/relationships/slideLayout" Target="/ppt/slideLayouts/slideLayout3.xml" Id="Re31550ac65d44963" /><Relationship Type="http://schemas.openxmlformats.org/officeDocument/2006/relationships/slideLayout" Target="/ppt/slideLayouts/slideLayout4.xml" Id="R28e250a4e5f74de3" /><Relationship Type="http://schemas.openxmlformats.org/officeDocument/2006/relationships/slideLayout" Target="/ppt/slideLayouts/slideLayout5.xml" Id="Rfec7810c17b3432d" /><Relationship Type="http://schemas.openxmlformats.org/officeDocument/2006/relationships/slideLayout" Target="/ppt/slideLayouts/slideLayout6.xml" Id="Rc40c819e985849e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0b16b2df2ce443c" /><Relationship Type="http://schemas.openxmlformats.org/officeDocument/2006/relationships/slideLayout" Target="/ppt/slideLayouts/slideLayout7.xml" Id="R3f27864d56894c02" /><Relationship Type="http://schemas.openxmlformats.org/officeDocument/2006/relationships/slideLayout" Target="/ppt/slideLayouts/slideLayout8.xml" Id="Rcf911a1171a74fab" /><Relationship Type="http://schemas.openxmlformats.org/officeDocument/2006/relationships/slideLayout" Target="/ppt/slideLayouts/slideLayout9.xml" Id="Rf1fa1f36b3674d87" /><Relationship Type="http://schemas.openxmlformats.org/officeDocument/2006/relationships/slideLayout" Target="/ppt/slideLayouts/slideLayout10.xml" Id="R892d90c7409f4e99" /><Relationship Type="http://schemas.openxmlformats.org/officeDocument/2006/relationships/slideLayout" Target="/ppt/slideLayouts/slideLayout11.xml" Id="R355e5d41f82347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68e04c96404af8"/>
    <p:sldLayoutId xmlns:r="http://schemas.openxmlformats.org/officeDocument/2006/relationships" id="2147483650" r:id="R9ce561cace734443"/>
    <p:sldLayoutId xmlns:r="http://schemas.openxmlformats.org/officeDocument/2006/relationships" id="2147483651" r:id="Re31550ac65d44963"/>
    <p:sldLayoutId xmlns:r="http://schemas.openxmlformats.org/officeDocument/2006/relationships" id="2147483652" r:id="R28e250a4e5f74de3"/>
    <p:sldLayoutId xmlns:r="http://schemas.openxmlformats.org/officeDocument/2006/relationships" id="2147483653" r:id="Rfec7810c17b3432d"/>
    <p:sldLayoutId xmlns:r="http://schemas.openxmlformats.org/officeDocument/2006/relationships" id="2147483654" r:id="Rc40c819e985849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Office Standard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51942837-849E-4807-BF3B-8FBFB1BB2C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19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chemeClr val="tx1"/>
                </a:solidFill>
              </a:defRPr>
            </a:defPPr>
            <a:lvl1pPr>
              <a:defRPr sz="3150" b="1">
                <a:solidFill>
                  <a:schemeClr val="tx1"/>
                </a:solidFill>
              </a:defRPr>
            </a:lvl1pPr>
            <a:lvl2pPr>
              <a:defRPr sz="3150" b="1">
                <a:solidFill>
                  <a:schemeClr val="tx1"/>
                </a:solidFill>
              </a:defRPr>
            </a:lvl2pPr>
            <a:lvl3pPr>
              <a:defRPr sz="3150" b="1">
                <a:solidFill>
                  <a:schemeClr val="tx1"/>
                </a:solidFill>
              </a:defRPr>
            </a:lvl3pPr>
            <a:lvl4pPr>
              <a:defRPr sz="3150" b="1">
                <a:solidFill>
                  <a:schemeClr val="tx1"/>
                </a:solidFill>
              </a:defRPr>
            </a:lvl4pPr>
            <a:lvl5pPr>
              <a:defRPr sz="3150" b="1">
                <a:solidFill>
                  <a:schemeClr val="tx1"/>
                </a:solidFill>
              </a:defRPr>
            </a:lvl5pPr>
            <a:lvl6pPr>
              <a:defRPr sz="3150" b="1">
                <a:solidFill>
                  <a:schemeClr val="tx1"/>
                </a:solidFill>
              </a:defRPr>
            </a:lvl6pPr>
            <a:lvl7pPr>
              <a:defRPr sz="3150" b="1">
                <a:solidFill>
                  <a:schemeClr val="tx1"/>
                </a:solidFill>
              </a:defRPr>
            </a:lvl7pPr>
            <a:lvl8pPr>
              <a:defRPr sz="3150" b="1">
                <a:solidFill>
                  <a:schemeClr val="tx1"/>
                </a:solidFill>
              </a:defRPr>
            </a:lvl8pPr>
            <a:lvl9pPr>
              <a:defRPr sz="3150" b="1">
                <a:solidFill>
                  <a:schemeClr val="tx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23C2C700-9EC5-41D9-9ABF-FEA6351862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428750"/>
            <a:ext cx="109728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chemeClr val="tx1"/>
                </a:solidFill>
              </a:defRPr>
            </a:defPPr>
            <a:lvl1pPr>
              <a:defRPr sz="2100" b="0">
                <a:solidFill>
                  <a:schemeClr val="tx1"/>
                </a:solidFill>
              </a:defRPr>
            </a:lvl1pPr>
            <a:lvl2pPr>
              <a:defRPr sz="2100" b="0">
                <a:solidFill>
                  <a:schemeClr val="tx1"/>
                </a:solidFill>
              </a:defRPr>
            </a:lvl2pPr>
            <a:lvl3pPr>
              <a:defRPr sz="2100" b="0">
                <a:solidFill>
                  <a:schemeClr val="tx1"/>
                </a:solidFill>
              </a:defRPr>
            </a:lvl3pPr>
            <a:lvl4pPr>
              <a:defRPr sz="2100" b="0">
                <a:solidFill>
                  <a:schemeClr val="tx1"/>
                </a:solidFill>
              </a:defRPr>
            </a:lvl4pPr>
            <a:lvl5pPr>
              <a:defRPr sz="2100" b="0">
                <a:solidFill>
                  <a:schemeClr val="tx1"/>
                </a:solidFill>
              </a:defRPr>
            </a:lvl5pPr>
            <a:lvl6pPr>
              <a:defRPr sz="2100" b="0">
                <a:solidFill>
                  <a:schemeClr val="tx1"/>
                </a:solidFill>
              </a:defRPr>
            </a:lvl6pPr>
            <a:lvl7pPr>
              <a:defRPr sz="2100" b="0">
                <a:solidFill>
                  <a:schemeClr val="tx1"/>
                </a:solidFill>
              </a:defRPr>
            </a:lvl7pPr>
            <a:lvl8pPr>
              <a:defRPr sz="2100" b="0">
                <a:solidFill>
                  <a:schemeClr val="tx1"/>
                </a:solidFill>
              </a:defRPr>
            </a:lvl8pPr>
            <a:lvl9pPr>
              <a:defRPr sz="2100" b="0">
                <a:solidFill>
                  <a:schemeClr val="tx1"/>
                </a:solidFill>
              </a:defRPr>
            </a:lvl9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3f27864d56894c02"/>
    <p:sldLayoutId xmlns:r="http://schemas.openxmlformats.org/officeDocument/2006/relationships" id="2147483657" r:id="Rcf911a1171a74fab"/>
    <p:sldLayoutId xmlns:r="http://schemas.openxmlformats.org/officeDocument/2006/relationships" id="2147483658" r:id="Rf1fa1f36b3674d87"/>
    <p:sldLayoutId xmlns:r="http://schemas.openxmlformats.org/officeDocument/2006/relationships" id="2147483659" r:id="R892d90c7409f4e99"/>
    <p:sldLayoutId xmlns:r="http://schemas.openxmlformats.org/officeDocument/2006/relationships" id="2147483660" r:id="R355e5d41f8234708"/>
  </p:sldLayoutIdLst>
  <p:txStyles>
    <p:titleStyle>
      <ns0:lvl1pPr xmlns:ns0="http://schemas.openxmlformats.org/drawingml/2006/main" marL="0" indent="0">
        <ns0:buNone/>
        <ns0:defRPr sz="3150" b="1" lang="zh-CN">
          <ns0:latin typeface="+mj-lt"/>
          <ns0:ea typeface="+mj-ea"/>
        </ns0:defRPr>
      </ns0:lvl1pPr>
      <ns1:lvl2pPr xmlns:ns1="http://schemas.openxmlformats.org/drawingml/2006/main" marL="0" indent="0">
        <ns1:buNone/>
        <ns1:defRPr sz="3150" b="1" lang="zh-CN">
          <ns1:latin typeface="+mj-lt"/>
          <ns1:ea typeface="+mj-ea"/>
        </ns1:defRPr>
      </ns1:lvl2pPr>
      <ns2:lvl3pPr xmlns:ns2="http://schemas.openxmlformats.org/drawingml/2006/main" marL="0" indent="0">
        <ns2:buNone/>
        <ns2:defRPr sz="3150" b="1" lang="zh-CN">
          <ns2:latin typeface="+mj-lt"/>
          <ns2:ea typeface="+mj-ea"/>
        </ns2:defRPr>
      </ns2:lvl3pPr>
      <ns3:lvl4pPr xmlns:ns3="http://schemas.openxmlformats.org/drawingml/2006/main" marL="0" indent="0">
        <ns3:buNone/>
        <ns3:defRPr sz="3150" b="1" lang="zh-CN">
          <ns3:latin typeface="+mj-lt"/>
          <ns3:ea typeface="+mj-ea"/>
        </ns3:defRPr>
      </ns3:lvl4pPr>
      <ns4:lvl5pPr xmlns:ns4="http://schemas.openxmlformats.org/drawingml/2006/main" marL="0" indent="0">
        <ns4:buNone/>
        <ns4:defRPr sz="3150" b="1" lang="zh-CN">
          <ns4:latin typeface="+mj-lt"/>
          <ns4:ea typeface="+mj-ea"/>
        </ns4:defRPr>
      </ns4:lvl5pPr>
      <ns5:lvl6pPr xmlns:ns5="http://schemas.openxmlformats.org/drawingml/2006/main" marL="0" indent="0">
        <ns5:buNone/>
        <ns5:defRPr sz="3150" b="1" lang="zh-CN">
          <ns5:latin typeface="+mj-lt"/>
          <ns5:ea typeface="+mj-ea"/>
        </ns5:defRPr>
      </ns5:lvl6pPr>
      <ns6:lvl7pPr xmlns:ns6="http://schemas.openxmlformats.org/drawingml/2006/main" marL="0" indent="0">
        <ns6:buNone/>
        <ns6:defRPr sz="3150" b="1" lang="zh-CN">
          <ns6:latin typeface="+mj-lt"/>
          <ns6:ea typeface="+mj-ea"/>
        </ns6:defRPr>
      </ns6:lvl7pPr>
      <ns7:lvl8pPr xmlns:ns7="http://schemas.openxmlformats.org/drawingml/2006/main" marL="0" indent="0">
        <ns7:buNone/>
        <ns7:defRPr sz="3150" b="1" lang="zh-CN">
          <ns7:latin typeface="+mj-lt"/>
          <ns7:ea typeface="+mj-ea"/>
        </ns7:defRPr>
      </ns7:lvl8pPr>
      <ns8:lvl9pPr xmlns:ns8="http://schemas.openxmlformats.org/drawingml/2006/main" marL="0" indent="0">
        <ns8:buNone/>
        <ns8:defRPr sz="3150" b="1" lang="zh-CN">
          <ns8:latin typeface="+mj-lt"/>
          <ns8:ea typeface="+mj-ea"/>
        </ns8:defRPr>
      </ns8:lvl9pPr>
    </p:titleStyle>
    <p:bodyStyle>
      <ns9:lvl1pPr xmlns:ns9="http://schemas.openxmlformats.org/drawingml/2006/main" marL="0" indent="0">
        <ns9:buNone/>
        <ns9:defRPr sz="2100" b="0" lang="zh-CN">
          <ns9:latin typeface="+mn-lt"/>
          <ns9:ea typeface="+mn-ea"/>
        </ns9:defRPr>
      </ns9:lvl1pPr>
      <ns10:lvl2pPr xmlns:ns10="http://schemas.openxmlformats.org/drawingml/2006/main" marL="0" indent="0">
        <ns10:buNone/>
        <ns10:defRPr sz="2100" b="0" lang="zh-CN">
          <ns10:latin typeface="+mn-lt"/>
          <ns10:ea typeface="+mn-ea"/>
        </ns10:defRPr>
      </ns10:lvl2pPr>
      <ns11:lvl3pPr xmlns:ns11="http://schemas.openxmlformats.org/drawingml/2006/main" marL="0" indent="0">
        <ns11:buNone/>
        <ns11:defRPr sz="2100" b="0" lang="zh-CN">
          <ns11:latin typeface="+mn-lt"/>
          <ns11:ea typeface="+mn-ea"/>
        </ns11:defRPr>
      </ns11:lvl3pPr>
      <ns12:lvl4pPr xmlns:ns12="http://schemas.openxmlformats.org/drawingml/2006/main" marL="0" indent="0">
        <ns12:buNone/>
        <ns12:defRPr sz="2100" b="0" lang="zh-CN">
          <ns12:latin typeface="+mn-lt"/>
          <ns12:ea typeface="+mn-ea"/>
        </ns12:defRPr>
      </ns12:lvl4pPr>
      <ns13:lvl5pPr xmlns:ns13="http://schemas.openxmlformats.org/drawingml/2006/main" marL="0" indent="0">
        <ns13:buNone/>
        <ns13:defRPr sz="2100" b="0" lang="zh-CN">
          <ns13:latin typeface="+mn-lt"/>
          <ns13:ea typeface="+mn-ea"/>
        </ns13:defRPr>
      </ns13:lvl5pPr>
      <ns14:lvl6pPr xmlns:ns14="http://schemas.openxmlformats.org/drawingml/2006/main" marL="0" indent="0">
        <ns14:buNone/>
        <ns14:defRPr sz="2100" b="0" lang="zh-CN">
          <ns14:latin typeface="+mn-lt"/>
          <ns14:ea typeface="+mn-ea"/>
        </ns14:defRPr>
      </ns14:lvl6pPr>
      <ns15:lvl7pPr xmlns:ns15="http://schemas.openxmlformats.org/drawingml/2006/main" marL="0" indent="0">
        <ns15:buNone/>
        <ns15:defRPr sz="2100" b="0" lang="zh-CN">
          <ns15:latin typeface="+mn-lt"/>
          <ns15:ea typeface="+mn-ea"/>
        </ns15:defRPr>
      </ns15:lvl7pPr>
      <ns16:lvl8pPr xmlns:ns16="http://schemas.openxmlformats.org/drawingml/2006/main" marL="0" indent="0">
        <ns16:buNone/>
        <ns16:defRPr sz="2100" b="0" lang="zh-CN">
          <ns16:latin typeface="+mn-lt"/>
          <ns16:ea typeface="+mn-ea"/>
        </ns16:defRPr>
      </ns16:lvl8pPr>
      <ns17:lvl9pPr xmlns:ns17="http://schemas.openxmlformats.org/drawingml/2006/main" marL="0" indent="0">
        <ns17:buNone/>
        <ns17:defRPr sz="2100" b="0" lang="zh-CN">
          <ns17:latin typeface="+mn-lt"/>
          <ns17:ea typeface="+mn-ea"/>
        </ns17:defRPr>
      </ns17:lvl9pPr>
    </p:bodyStyle>
    <p:otherStyle>
      <ns18:lvl1pPr xmlns:ns18="http://schemas.openxmlformats.org/drawingml/2006/main" marL="0" indent="0">
        <ns18:buNone/>
        <ns18:defRPr sz="1800" b="0" lang="zh-CN">
          <ns18:latin typeface="+mn-lt"/>
          <ns18:ea typeface="+mn-ea"/>
        </ns18:defRPr>
      </ns18:lvl1pPr>
      <ns19:lvl2pPr xmlns:ns19="http://schemas.openxmlformats.org/drawingml/2006/main" marL="0" indent="0">
        <ns19:buNone/>
        <ns19:defRPr sz="1800" b="0" lang="zh-CN">
          <ns19:latin typeface="+mn-lt"/>
          <ns19:ea typeface="+mn-ea"/>
        </ns19:defRPr>
      </ns19:lvl2pPr>
      <ns20:lvl3pPr xmlns:ns20="http://schemas.openxmlformats.org/drawingml/2006/main" marL="0" indent="0">
        <ns20:buNone/>
        <ns20:defRPr sz="1800" b="0" lang="zh-CN">
          <ns20:latin typeface="+mn-lt"/>
          <ns20:ea typeface="+mn-ea"/>
        </ns20:defRPr>
      </ns20:lvl3pPr>
      <ns21:lvl4pPr xmlns:ns21="http://schemas.openxmlformats.org/drawingml/2006/main" marL="0" indent="0">
        <ns21:buNone/>
        <ns21:defRPr sz="1800" b="0" lang="zh-CN">
          <ns21:latin typeface="+mn-lt"/>
          <ns21:ea typeface="+mn-ea"/>
        </ns21:defRPr>
      </ns21:lvl4pPr>
      <ns22:lvl5pPr xmlns:ns22="http://schemas.openxmlformats.org/drawingml/2006/main" marL="0" indent="0">
        <ns22:buNone/>
        <ns22:defRPr sz="1800" b="0" lang="zh-CN">
          <ns22:latin typeface="+mn-lt"/>
          <ns22:ea typeface="+mn-ea"/>
        </ns22:defRPr>
      </ns22:lvl5pPr>
      <ns23:lvl6pPr xmlns:ns23="http://schemas.openxmlformats.org/drawingml/2006/main" marL="0" indent="0">
        <ns23:buNone/>
        <ns23:defRPr sz="1800" b="0" lang="zh-CN">
          <ns23:latin typeface="+mn-lt"/>
          <ns23:ea typeface="+mn-ea"/>
        </ns23:defRPr>
      </ns23:lvl6pPr>
      <ns24:lvl7pPr xmlns:ns24="http://schemas.openxmlformats.org/drawingml/2006/main" marL="0" indent="0">
        <ns24:buNone/>
        <ns24:defRPr sz="1800" b="0" lang="zh-CN">
          <ns24:latin typeface="+mn-lt"/>
          <ns24:ea typeface="+mn-ea"/>
        </ns24:defRPr>
      </ns24:lvl7pPr>
      <ns25:lvl8pPr xmlns:ns25="http://schemas.openxmlformats.org/drawingml/2006/main" marL="0" indent="0">
        <ns25:buNone/>
        <ns25:defRPr sz="1800" b="0" lang="zh-CN">
          <ns25:latin typeface="+mn-lt"/>
          <ns25:ea typeface="+mn-ea"/>
        </ns25:defRPr>
      </ns25:lvl8pPr>
      <ns26:lvl9pPr xmlns:ns26="http://schemas.openxmlformats.org/drawingml/2006/main" marL="0" indent="0">
        <ns26:buNone/>
        <ns26:defRPr sz="1800" b="0" lang="zh-CN">
          <ns26:latin typeface="+mn-lt"/>
          <ns26:ea typeface="+mn-ea"/>
        </ns26:defRPr>
      </ns26:lvl9pPr>
    </p:otherStyle>
  </p:txStyles>
</p:sldMaster>
</file>

<file path=ppt/slideMasters/theme/theme2.xml><?xml version="1.0" encoding="utf-8"?>
<a:theme xmlns:a="http://schemas.openxmlformats.org/drawingml/2006/main" name="Office Standard">
  <a:themeElements>
    <a:clrScheme name="Office Standard Blue">
      <a:dk1>
        <a:srgbClr val="202020"/>
      </a:dk1>
      <a:lt1>
        <a:srgbClr val="FFFFFF"/>
      </a:lt1>
      <a:dk2>
        <a:srgbClr val="595959"/>
      </a:dk2>
      <a:lt2>
        <a:srgbClr val="F2F2F2"/>
      </a:lt2>
      <a:accent1>
        <a:srgbClr val="2F5597"/>
      </a:accent1>
      <a:accent2>
        <a:srgbClr val="7F7F7F"/>
      </a:accent2>
      <a:accent3>
        <a:srgbClr val="A5A5A5"/>
      </a:accent3>
      <a:accent4>
        <a:srgbClr val="4472C4"/>
      </a:accent4>
      <a:accent5>
        <a:srgbClr val="B4C6E7"/>
      </a:accent5>
      <a:accent6>
        <a:srgbClr val="D9E2F3"/>
      </a:accent6>
      <a:hlink>
        <a:srgbClr val="2F5597"/>
      </a:hlink>
      <a:folHlink>
        <a:srgbClr val="7F7F7F"/>
      </a:folHlink>
    </a:clrScheme>
    <a:fontScheme name="Office Standard Chinese">
      <a:majorFont>
        <a:latin typeface="Arial Unicode MS"/>
        <a:ea typeface="Arial Unicode MS"/>
        <a:cs typeface=""/>
        <a:font script="Hans" typeface="Arial Unicode MS"/>
        <a:font script="Hant" typeface="Arial Unicode MS"/>
        <a:font script="Jpan" typeface="Arial Unicode MS"/>
        <a:font script="Hang" typeface="Arial Unicode MS"/>
      </a:majorFont>
      <a:minorFont>
        <a:latin typeface="Arial Unicode MS"/>
        <a:ea typeface="Arial Unicode MS"/>
        <a:cs typeface=""/>
        <a:font script="Hans" typeface="Arial Unicode MS"/>
        <a:font script="Hant" typeface="Arial Unicode MS"/>
        <a:font script="Jpan" typeface="Arial Unicode MS"/>
        <a:font script="Hang" typeface="Arial Unicode MS"/>
      </a:minorFont>
    </a:fontScheme>
    <a:fmtScheme name="Office Standard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Standard">
  <a:themeElements>
    <a:clrScheme name="Office Standard Blue">
      <a:dk1>
        <a:srgbClr val="202020"/>
      </a:dk1>
      <a:lt1>
        <a:srgbClr val="FFFFFF"/>
      </a:lt1>
      <a:dk2>
        <a:srgbClr val="595959"/>
      </a:dk2>
      <a:lt2>
        <a:srgbClr val="F2F2F2"/>
      </a:lt2>
      <a:accent1>
        <a:srgbClr val="2F5597"/>
      </a:accent1>
      <a:accent2>
        <a:srgbClr val="7F7F7F"/>
      </a:accent2>
      <a:accent3>
        <a:srgbClr val="A5A5A5"/>
      </a:accent3>
      <a:accent4>
        <a:srgbClr val="4472C4"/>
      </a:accent4>
      <a:accent5>
        <a:srgbClr val="B4C6E7"/>
      </a:accent5>
      <a:accent6>
        <a:srgbClr val="D9E2F3"/>
      </a:accent6>
      <a:hlink>
        <a:srgbClr val="2F5597"/>
      </a:hlink>
      <a:folHlink>
        <a:srgbClr val="7F7F7F"/>
      </a:folHlink>
    </a:clrScheme>
    <a:fontScheme name="Office Standard Chinese">
      <a:majorFont>
        <a:latin typeface="Arial Unicode MS"/>
        <a:ea typeface="Arial Unicode MS"/>
        <a:cs typeface=""/>
        <a:font script="Hans" typeface="Arial Unicode MS"/>
        <a:font script="Hant" typeface="Arial Unicode MS"/>
        <a:font script="Jpan" typeface="Arial Unicode MS"/>
        <a:font script="Hang" typeface="Arial Unicode MS"/>
      </a:majorFont>
      <a:minorFont>
        <a:latin typeface="Arial Unicode MS"/>
        <a:ea typeface="Arial Unicode MS"/>
        <a:cs typeface=""/>
        <a:font script="Hans" typeface="Arial Unicode MS"/>
        <a:font script="Hant" typeface="Arial Unicode MS"/>
        <a:font script="Jpan" typeface="Arial Unicode MS"/>
        <a:font script="Hang" typeface="Arial Unicode MS"/>
      </a:minorFont>
    </a:fontScheme>
    <a:fmtScheme name="Office Standard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bccb1c11fbb460c" /><Relationship Type="http://schemas.openxmlformats.org/officeDocument/2006/relationships/notesSlide" Target="/ppt/notesSlides/notesSlide1.xml" Id="R7256c731b11d48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63213ae5bfa48a8" /><Relationship Type="http://schemas.openxmlformats.org/officeDocument/2006/relationships/notesSlide" Target="/ppt/notesSlides/notesSlide2.xml" Id="R830c6287df524a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9be89519b3354691" /><Relationship Type="http://schemas.openxmlformats.org/officeDocument/2006/relationships/notesSlide" Target="/ppt/notesSlides/notesSlide3.xml" Id="Rbe1cf0c1c6a949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eac0ede7e844309" /><Relationship Type="http://schemas.openxmlformats.org/officeDocument/2006/relationships/notesSlide" Target="/ppt/notesSlides/notesSlide4.xml" Id="R5848d117df7547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00c2c6ee13b4658" /><Relationship Type="http://schemas.openxmlformats.org/officeDocument/2006/relationships/notesSlide" Target="/ppt/notesSlides/notesSlide5.xml" Id="R986c704e8dc942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fd429cc35e74e63" /><Relationship Type="http://schemas.openxmlformats.org/officeDocument/2006/relationships/notesSlide" Target="/ppt/notesSlides/notesSlide6.xml" Id="Re808426588314e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3b236bc14124fa4" /><Relationship Type="http://schemas.openxmlformats.org/officeDocument/2006/relationships/notesSlide" Target="/ppt/notesSlides/notesSlide7.xml" Id="R80e7ab0e05c747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876dc618f457415e" /><Relationship Type="http://schemas.openxmlformats.org/officeDocument/2006/relationships/notesSlide" Target="/ppt/notesSlides/notesSlide8.xml" Id="R2860e37f1d4146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43e286196a34e5c" /><Relationship Type="http://schemas.openxmlformats.org/officeDocument/2006/relationships/notesSlide" Target="/ppt/notesSlides/notesSlide9.xml" Id="R9bd779773db947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ebdbb03ad4d4d33" /><Relationship Type="http://schemas.openxmlformats.org/officeDocument/2006/relationships/notesSlide" Target="/ppt/notesSlides/notesSlide10.xml" Id="Re0c6b0ec0ac343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3b1a69adbb140e3" /><Relationship Type="http://schemas.openxmlformats.org/officeDocument/2006/relationships/notesSlide" Target="/ppt/notesSlides/notesSlide11.xml" Id="Rd7a31e9ff3b749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d1417d8f7934c26" /><Relationship Type="http://schemas.openxmlformats.org/officeDocument/2006/relationships/notesSlide" Target="/ppt/notesSlides/notesSlide12.xml" Id="Rd5c9ce8cfa0040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987ae21e0e54096" /><Relationship Type="http://schemas.openxmlformats.org/officeDocument/2006/relationships/notesSlide" Target="/ppt/notesSlides/notesSlide13.xml" Id="R92874b11355d462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01af2fa38b74ea5" /><Relationship Type="http://schemas.openxmlformats.org/officeDocument/2006/relationships/notesSlide" Target="/ppt/notesSlides/notesSlide14.xml" Id="Rd6df8de6986a4b2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5008978eb7e42a6" /><Relationship Type="http://schemas.openxmlformats.org/officeDocument/2006/relationships/notesSlide" Target="/ppt/notesSlides/notesSlide15.xml" Id="R989bd5fc5826437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9a82cadc2e6c4901" /><Relationship Type="http://schemas.openxmlformats.org/officeDocument/2006/relationships/notesSlide" Target="/ppt/notesSlides/notesSlide16.xml" Id="Rc0d0c142a92a4c5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39053c273324d8c" /><Relationship Type="http://schemas.openxmlformats.org/officeDocument/2006/relationships/notesSlide" Target="/ppt/notesSlides/notesSlide17.xml" Id="Rb896b5bf78224bc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a3c6837a3e3453b" /><Relationship Type="http://schemas.openxmlformats.org/officeDocument/2006/relationships/notesSlide" Target="/ppt/notesSlides/notesSlide18.xml" Id="R379ee48ce2d245c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247fcb6ddb84807" /><Relationship Type="http://schemas.openxmlformats.org/officeDocument/2006/relationships/notesSlide" Target="/ppt/notesSlides/notesSlide19.xml" Id="R3ff34a03f1c04ed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6c0637ed6f541e8" /><Relationship Type="http://schemas.openxmlformats.org/officeDocument/2006/relationships/notesSlide" Target="/ppt/notesSlides/notesSlide20.xml" Id="Rf101457a0250468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821b8bdf89942b5" /><Relationship Type="http://schemas.openxmlformats.org/officeDocument/2006/relationships/notesSlide" Target="/ppt/notesSlides/notesSlide21.xml" Id="Rc610ed2c8d664c7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387329a7eae462e" /><Relationship Type="http://schemas.openxmlformats.org/officeDocument/2006/relationships/notesSlide" Target="/ppt/notesSlides/notesSlide22.xml" Id="R5f0ff15bfdc147d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8085e5503d54e6e" /><Relationship Type="http://schemas.openxmlformats.org/officeDocument/2006/relationships/notesSlide" Target="/ppt/notesSlides/notesSlide23.xml" Id="R9c48e342df50425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e2a85023582428a" /><Relationship Type="http://schemas.openxmlformats.org/officeDocument/2006/relationships/notesSlide" Target="/ppt/notesSlides/notesSlide24.xml" Id="R76298f38c466433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491bca26d1b94ff9" /><Relationship Type="http://schemas.openxmlformats.org/officeDocument/2006/relationships/notesSlide" Target="/ppt/notesSlides/notesSlide25.xml" Id="Rf4d331dd0a494c0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9a66d4180a74bb4" /><Relationship Type="http://schemas.openxmlformats.org/officeDocument/2006/relationships/notesSlide" Target="/ppt/notesSlides/notesSlide26.xml" Id="R032aab6ee2f946a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9419bdd49034a75" /><Relationship Type="http://schemas.openxmlformats.org/officeDocument/2006/relationships/notesSlide" Target="/ppt/notesSlides/notesSlide27.xml" Id="Rdfdca52a5d8440b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e268e38eef04581" /><Relationship Type="http://schemas.openxmlformats.org/officeDocument/2006/relationships/notesSlide" Target="/ppt/notesSlides/notesSlide28.xml" Id="Rae69cc07780345e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1167202b8494b58" /><Relationship Type="http://schemas.openxmlformats.org/officeDocument/2006/relationships/notesSlide" Target="/ppt/notesSlides/notesSlide29.xml" Id="Rc81172219a9341a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bce5bfef1f04747" /><Relationship Type="http://schemas.openxmlformats.org/officeDocument/2006/relationships/notesSlide" Target="/ppt/notesSlides/notesSlide30.xml" Id="R700917c2a14b4ea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4d704ebe9ff47dd" /><Relationship Type="http://schemas.openxmlformats.org/officeDocument/2006/relationships/notesSlide" Target="/ppt/notesSlides/notesSlide31.xml" Id="R77dc94398db14fd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8a874b375934b99" /><Relationship Type="http://schemas.openxmlformats.org/officeDocument/2006/relationships/notesSlide" Target="/ppt/notesSlides/notesSlide32.xml" Id="R85d8d0a1e473485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f4a479660be94fd3" /><Relationship Type="http://schemas.openxmlformats.org/officeDocument/2006/relationships/chart" Target="/ppt/slides/charts/chart1.xml" Id="R2d20dd72388c48c3" /><Relationship Type="http://schemas.openxmlformats.org/officeDocument/2006/relationships/chart" Target="/ppt/slides/charts/chart2.xml" Id="Rfde96429740743b4" /><Relationship Type="http://schemas.openxmlformats.org/officeDocument/2006/relationships/notesSlide" Target="/ppt/notesSlides/notesSlide33.xml" Id="R4d6988018ebe4c7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665dd77055f4d0f" /><Relationship Type="http://schemas.openxmlformats.org/officeDocument/2006/relationships/notesSlide" Target="/ppt/notesSlides/notesSlide34.xml" Id="R3b865e52a5a7494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d25d22888314b70" /><Relationship Type="http://schemas.openxmlformats.org/officeDocument/2006/relationships/notesSlide" Target="/ppt/notesSlides/notesSlide35.xml" Id="Rde750a658bda4a4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73f81001c434838" /><Relationship Type="http://schemas.openxmlformats.org/officeDocument/2006/relationships/notesSlide" Target="/ppt/notesSlides/notesSlide36.xml" Id="Rf2de6e18734049b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85baf1aeb874c6e" /><Relationship Type="http://schemas.openxmlformats.org/officeDocument/2006/relationships/notesSlide" Target="/ppt/notesSlides/notesSlide37.xml" Id="R26c3bcceac7a42d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a18c176370f04207" /><Relationship Type="http://schemas.openxmlformats.org/officeDocument/2006/relationships/notesSlide" Target="/ppt/notesSlides/notesSlide38.xml" Id="R6af0d46317c6469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7f9872cb6f74d58" /><Relationship Type="http://schemas.openxmlformats.org/officeDocument/2006/relationships/notesSlide" Target="/ppt/notesSlides/notesSlide39.xml" Id="R07c93a0268004fc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5a25658c655442a" /><Relationship Type="http://schemas.openxmlformats.org/officeDocument/2006/relationships/notesSlide" Target="/ppt/notesSlides/notesSlide40.xml" Id="Rd5052786a7cd47f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832b49d031843f3" /><Relationship Type="http://schemas.openxmlformats.org/officeDocument/2006/relationships/notesSlide" Target="/ppt/notesSlides/notesSlide41.xml" Id="Ra7104bb270bf4b1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55c13ec59464e4b" /><Relationship Type="http://schemas.openxmlformats.org/officeDocument/2006/relationships/notesSlide" Target="/ppt/notesSlides/notesSlide42.xml" Id="Rfefa8c7d43e1410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b91269352fd4dab" /><Relationship Type="http://schemas.openxmlformats.org/officeDocument/2006/relationships/notesSlide" Target="/ppt/notesSlides/notesSlide43.xml" Id="R0a000185f0a4411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a63c648223544e7" /><Relationship Type="http://schemas.openxmlformats.org/officeDocument/2006/relationships/notesSlide" Target="/ppt/notesSlides/notesSlide44.xml" Id="R2da9cbac1b334aaa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3aa357da93d34053" /><Relationship Type="http://schemas.openxmlformats.org/officeDocument/2006/relationships/notesSlide" Target="/ppt/notesSlides/notesSlide45.xml" Id="Rd498e65816404d2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e31577439ec4472" /><Relationship Type="http://schemas.openxmlformats.org/officeDocument/2006/relationships/notesSlide" Target="/ppt/notesSlides/notesSlide46.xml" Id="Rc997bb71941244d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c8c7a112ff246af" /><Relationship Type="http://schemas.openxmlformats.org/officeDocument/2006/relationships/notesSlide" Target="/ppt/notesSlides/notesSlide47.xml" Id="R44a7ff3e1f4f41a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a117b1ed70446dc" /><Relationship Type="http://schemas.openxmlformats.org/officeDocument/2006/relationships/notesSlide" Target="/ppt/notesSlides/notesSlide48.xml" Id="Raaab0693b03c4bbd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15836e7639e43af" /><Relationship Type="http://schemas.openxmlformats.org/officeDocument/2006/relationships/notesSlide" Target="/ppt/notesSlides/notesSlide49.xml" Id="R689206ac634c445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50" b="0">
                <a:solidFill>
                  <a:schemeClr val="tx1"/>
                </a:solidFill>
                <a:latin typeface="+mn-lt"/>
                <a:ea typeface="+mn-ea"/>
                <a:cs typeface="Arial Unicode MS"/>
              </a:rPr>
              <a:t>首次输出等待（分钟）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50" b="0">
              <a:solidFill>
                <a:schemeClr val="tx1"/>
              </a:solidFill>
              <a:latin typeface="+mn-lt"/>
              <a:ea typeface="+mn-ea"/>
              <a:cs typeface="Arial Unicode M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首次输出等待（分钟）</c:v>
          </c:tx>
          <c:spPr>
            <a:solidFill xmlns:a="http://schemas.openxmlformats.org/drawingml/2006/main">
              <a:schemeClr val="accent1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50K</c:v>
                </c:pt>
                <c:pt idx="1">
                  <c:v>100K</c:v>
                </c:pt>
                <c:pt idx="2">
                  <c:v>300K</c:v>
                </c:pt>
                <c:pt idx="3">
                  <c:v>500K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1.1</c:v>
                </c:pt>
                <c:pt idx="1">
                  <c:v>2.4</c:v>
                </c:pt>
                <c:pt idx="2">
                  <c:v>11</c:v>
                </c:pt>
                <c:pt idx="3">
                  <c:v>24.5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chemeClr val="tx1"/>
                  </a:solidFill>
                  <a:latin typeface="+mn-lt"/>
                  <a:ea typeface="+mn-ea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chemeClr val="tx2"/>
                    </a:solidFill>
                    <a:latin typeface="+mn-lt"/>
                    <a:ea typeface="+mn-ea"/>
                    <a:cs typeface="Arial Unicode MS"/>
                  </a:rPr>
                  <a:t>实际输入 tokens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chemeClr val="tx2"/>
                  </a:solidFill>
                  <a:latin typeface="+mn-lt"/>
                  <a:ea typeface="+mn-ea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tx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chemeClr val="tx2"/>
                </a:solidFill>
                <a:latin typeface="+mn-lt"/>
                <a:ea typeface="+mn-ea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bg2"/>
              </a:solidFill>
            </a:ln>
          </c:spPr>
        </c:majorGridlines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chemeClr val="tx2"/>
                </a:solidFill>
                <a:latin typeface="+mn-lt"/>
                <a:ea typeface="+mn-ea"/>
                <a:cs typeface="Arial Unicode MS"/>
              </a:defRPr>
            </a:pPr>
          </a:p>
        </c:txPr>
        <c:crossAx val="48650112"/>
        <c:crossBetween val="between"/>
        <c:majorUnit val="5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50" b="0">
                <a:solidFill>
                  <a:schemeClr val="tx1"/>
                </a:solidFill>
                <a:latin typeface="+mn-lt"/>
                <a:ea typeface="+mn-ea"/>
                <a:cs typeface="Arial Unicode MS"/>
              </a:rPr>
              <a:t>后续生成速度（token/s）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50" b="0">
              <a:solidFill>
                <a:schemeClr val="tx1"/>
              </a:solidFill>
              <a:latin typeface="+mn-lt"/>
              <a:ea typeface="+mn-ea"/>
              <a:cs typeface="Arial Unicode M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后续生成速度（token/s）</c:v>
          </c:tx>
          <c:spPr>
            <a:solidFill xmlns:a="http://schemas.openxmlformats.org/drawingml/2006/main">
              <a:schemeClr val="accent1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50K</c:v>
                </c:pt>
                <c:pt idx="1">
                  <c:v>100K</c:v>
                </c:pt>
                <c:pt idx="2">
                  <c:v>300K</c:v>
                </c:pt>
                <c:pt idx="3">
                  <c:v>500K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21.01</c:v>
                </c:pt>
                <c:pt idx="1">
                  <c:v>20.11</c:v>
                </c:pt>
                <c:pt idx="2">
                  <c:v>17.23</c:v>
                </c:pt>
                <c:pt idx="3">
                  <c:v>14.82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chemeClr val="tx1"/>
                  </a:solidFill>
                  <a:latin typeface="+mn-lt"/>
                  <a:ea typeface="+mn-ea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chemeClr val="tx2"/>
                    </a:solidFill>
                    <a:latin typeface="+mn-lt"/>
                    <a:ea typeface="+mn-ea"/>
                    <a:cs typeface="Arial Unicode MS"/>
                  </a:rPr>
                  <a:t>实际输入 tokens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chemeClr val="tx2"/>
                  </a:solidFill>
                  <a:latin typeface="+mn-lt"/>
                  <a:ea typeface="+mn-ea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tx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chemeClr val="tx2"/>
                </a:solidFill>
                <a:latin typeface="+mn-lt"/>
                <a:ea typeface="+mn-ea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bg2"/>
              </a:solidFill>
            </a:ln>
          </c:spPr>
        </c:majorGridlines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chemeClr val="tx2"/>
                </a:solidFill>
                <a:latin typeface="+mn-lt"/>
                <a:ea typeface="+mn-ea"/>
                <a:cs typeface="Arial Unicode MS"/>
              </a:defRPr>
            </a:pPr>
          </a:p>
        </c:txPr>
        <c:crossAx val="48650112"/>
        <c:crossBetween val="between"/>
        <c:majorUnit val="5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3CE304E-93F8-4D54-A313-8E65D95DC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公司本地部署 LLM</a:t>
            </a:r>
          </a:p>
          <a:p xmlns:a="http://schemas.openxmlformats.org/drawingml/2006/main">
            <a:pPr>
              <a:buNone/>
            </a:pPr>
            <a:r>
              <a:t>模型、运行环境与成本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2C99B8B4-A6F4-4A1A-A40E-7804767708A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实习研究汇报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金融工作需求与部署选择依据</a:t>
            </a:r>
          </a:p>
          <a:p xmlns:a="http://schemas.openxmlformats.org/drawingml/2006/main">
            <a:pPr>
              <a:buNone/>
            </a:pPr>
            <a:r>
              <a:t>2026 年 10 月 23 日</a:t>
            </a:r>
          </a:p>
        </p:txBody>
      </p:sp>
    </p:spTree>
    <p:extLst>
      <p:ext uri="{BB962C8B-B14F-4D97-AF65-F5344CB8AC3E}">
        <p14:creationId xmlns:p14="http://schemas.microsoft.com/office/powerpoint/2010/main" val="10992324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汇报内容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围绕金融工作需求，说明模型选型、运行安排与投入预算。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1455B-76DC-4C44-9D45-26947A607A67}"/>
              </a:ext>
            </a:extLst>
          </p:cNvPr>
          <p:cNvGraphicFramePr/>
          <p:nvPr>
            <p:ph type="obj" idx="2"/>
          </p:nvPr>
        </p:nvGraphicFramePr>
        <p:xfrm>
          <a:off xmlns:a="http://schemas.openxmlformats.org/drawingml/2006/main" x="609600" y="213360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334000"/>
                <a:gridCol w="5638800"/>
              </a:tblGrid>
              <a:tr h="557893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1" lang="zh-CN">
                          <a:solidFill>
                            <a:schemeClr val="bg1"/>
                          </a:solidFill>
                        </a:rPr>
                        <a:t>章节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1" lang="zh-CN">
                          <a:solidFill>
                            <a:schemeClr val="bg1"/>
                          </a:solidFill>
                        </a:rPr>
                        <a:t>主要内容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57893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一、金融工作与本地部署需求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应用场景与使用环境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57893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二、分析任务对模型的要求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上下文、模型能力与速度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557893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三、模型选型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个人设备与公司服务器的选择依据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57893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四、运行环境与使用体验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请求处理、多轮任务与共享使用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557893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五、资源需求与成本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单台设备与 API 的三年投入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57893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六、日常应用与验证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使用入口、资料接入与验证工作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15138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0EB7629E-A543-4DEC-B3D0-8289EFAB9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第一章</a:t>
            </a:r>
          </a:p>
          <a:p xmlns:a="http://schemas.openxmlformats.org/drawingml/2006/main">
            <a:pPr>
              <a:buNone/>
            </a:pPr>
            <a:r>
              <a:t>金融工作与本地部署需求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3FD7D765-A9B6-4A5F-B8DE-310B96E2D1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金融工作的应用场景</a:t>
            </a:r>
          </a:p>
          <a:p xmlns:a="http://schemas.openxmlformats.org/drawingml/2006/main">
            <a:pPr>
              <a:buNone/>
            </a:pPr>
            <a:r>
              <a:t>本地服务的使用环境</a:t>
            </a:r>
          </a:p>
        </p:txBody>
      </p:sp>
    </p:spTree>
    <p:extLst>
      <p:ext uri="{BB962C8B-B14F-4D97-AF65-F5344CB8AC3E}">
        <p14:creationId xmlns:p14="http://schemas.microsoft.com/office/powerpoint/2010/main" val="19333006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B71066-BC39-4839-86A8-B2173017DC9A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8477250" y="3857625"/>
            <a:ext cx="1390650" cy="952500"/>
          </a:xfrm>
          <a:prstGeom xmlns:a="http://schemas.openxmlformats.org/drawingml/2006/main" prst="bentConnector5">
            <a:avLst>
              <a:gd name="adj1" fmla="val 0"/>
              <a:gd name="adj2" fmla="val 24000"/>
              <a:gd name="adj3" fmla="val 83562"/>
            </a:avLst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5BE59-D7C9-41F4-895B-DD7ABC63616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810500" y="3405188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34709-DE91-4F9C-9C68-5DFE445CF46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038600" y="3405188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sp>
        <p:nvSpPr>
          <p:cNvPr id="1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LLM 在资料处理中的作用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大语言模型依据问题和资料，参与阅读、归纳、分析与文字形成。</a:t>
            </a:r>
          </a:p>
        </p:txBody>
      </p:sp>
      <p:sp>
        <p:nvSpPr>
          <p:cNvPr id="3" name="资料与任务要求">
            <a:extLst xmlns:a="http://schemas.openxmlformats.org/drawingml/2006/main">
              <a:ext uri="{FF2B5EF4-FFF2-40B4-BE49-F238E27FC236}">
                <a16:creationId xmlns:a16="http://schemas.microsoft.com/office/drawing/2014/main" id="{F92CCCCE-C39F-41B8-B760-F88706B3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chemeClr val="tx1"/>
                </a:solidFill>
              </a:defRPr>
            </a:defPPr>
            <a:lvl1pPr algn="l">
              <a:defRPr sz="2250" b="1">
                <a:solidFill>
                  <a:schemeClr val="tx1"/>
                </a:solidFill>
              </a:defRPr>
            </a:lvl1pPr>
            <a:lvl2pPr algn="l">
              <a:defRPr sz="2250" b="1">
                <a:solidFill>
                  <a:schemeClr val="tx1"/>
                </a:solidFill>
              </a:defRPr>
            </a:lvl2pPr>
            <a:lvl3pPr algn="l">
              <a:defRPr sz="2250" b="1">
                <a:solidFill>
                  <a:schemeClr val="tx1"/>
                </a:solidFill>
              </a:defRPr>
            </a:lvl3pPr>
            <a:lvl4pPr algn="l">
              <a:defRPr sz="2250" b="1">
                <a:solidFill>
                  <a:schemeClr val="tx1"/>
                </a:solidFill>
              </a:defRPr>
            </a:lvl4pPr>
            <a:lvl5pPr algn="l">
              <a:defRPr sz="2250" b="1">
                <a:solidFill>
                  <a:schemeClr val="tx1"/>
                </a:solidFill>
              </a:defRPr>
            </a:lvl5pPr>
            <a:lvl6pPr algn="l">
              <a:defRPr sz="2250" b="1">
                <a:solidFill>
                  <a:schemeClr val="tx1"/>
                </a:solidFill>
              </a:defRPr>
            </a:lvl6pPr>
            <a:lvl7pPr algn="l">
              <a:defRPr sz="2250" b="1">
                <a:solidFill>
                  <a:schemeClr val="tx1"/>
                </a:solidFill>
              </a:defRPr>
            </a:lvl7pPr>
            <a:lvl8pPr algn="l">
              <a:defRPr sz="2250" b="1">
                <a:solidFill>
                  <a:schemeClr val="tx1"/>
                </a:solidFill>
              </a:defRPr>
            </a:lvl8pPr>
            <a:lvl9pPr algn="l">
              <a:defRPr sz="2250" b="1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chemeClr val="tx1"/>
                </a:solidFill>
              </a:defRPr>
            </a:pPr>
            <a:r>
              <a:rPr sz="2250" b="1" lang="zh-CN">
                <a:solidFill>
                  <a:schemeClr val="tx1"/>
                </a:solidFill>
              </a:rPr>
              <a:t>资料与任务要求</a:t>
            </a:r>
          </a:p>
        </p:txBody>
      </p:sp>
      <p:sp>
        <p:nvSpPr>
          <p:cNvPr id="4" name="寻找相关信息">
            <a:extLst xmlns:a="http://schemas.openxmlformats.org/drawingml/2006/main">
              <a:ext uri="{FF2B5EF4-FFF2-40B4-BE49-F238E27FC236}">
                <a16:creationId xmlns:a16="http://schemas.microsoft.com/office/drawing/2014/main" id="{7DCBE1BB-1A7E-4838-8797-8D8F5A5C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429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寻找相关信息</a:t>
            </a:r>
          </a:p>
        </p:txBody>
      </p:sp>
      <p:sp>
        <p:nvSpPr>
          <p:cNvPr id="5" name="组织关系与解释">
            <a:extLst xmlns:a="http://schemas.openxmlformats.org/drawingml/2006/main">
              <a:ext uri="{FF2B5EF4-FFF2-40B4-BE49-F238E27FC236}">
                <a16:creationId xmlns:a16="http://schemas.microsoft.com/office/drawing/2014/main" id="{D21CC354-3898-426A-88F2-A120F6D3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52750"/>
            <a:ext cx="3429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组织关系与解释</a:t>
            </a:r>
          </a:p>
        </p:txBody>
      </p:sp>
      <p:sp>
        <p:nvSpPr>
          <p:cNvPr id="6" name="形成文字或">
            <a:extLst xmlns:a="http://schemas.openxmlformats.org/drawingml/2006/main">
              <a:ext uri="{FF2B5EF4-FFF2-40B4-BE49-F238E27FC236}">
                <a16:creationId xmlns:a16="http://schemas.microsoft.com/office/drawing/2014/main" id="{FD6E73B3-27B4-4F09-A26A-E11C8B83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52750"/>
            <a:ext cx="3429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形成文字或</a:t>
            </a:r>
          </a:p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结构化结果</a:t>
            </a:r>
          </a:p>
        </p:txBody>
      </p:sp>
      <p:sp>
        <p:nvSpPr>
          <p:cNvPr id="9" name="同事核对依据，决定如何使用">
            <a:extLst xmlns:a="http://schemas.openxmlformats.org/drawingml/2006/main">
              <a:ext uri="{FF2B5EF4-FFF2-40B4-BE49-F238E27FC236}">
                <a16:creationId xmlns:a16="http://schemas.microsoft.com/office/drawing/2014/main" id="{CA80A5C6-8F1D-450A-9C16-A4689967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同事核对依据，决定如何使用</a:t>
            </a:r>
          </a:p>
        </p:txBody>
      </p:sp>
      <p:sp>
        <p:nvSpPr>
          <p:cNvPr id="11" name="例如，从公告整理日期、主体与金额，或比较多份">
            <a:extLst xmlns:a="http://schemas.openxmlformats.org/drawingml/2006/main">
              <a:ext uri="{FF2B5EF4-FFF2-40B4-BE49-F238E27FC236}">
                <a16:creationId xmlns:a16="http://schemas.microsoft.com/office/drawing/2014/main" id="{C6F058B8-7B63-43E9-B0F6-358997C9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</a:defRPr>
            </a:defPPr>
            <a:lvl1pPr algn="l">
              <a:defRPr sz="2100" b="0">
                <a:solidFill>
                  <a:schemeClr val="tx1"/>
                </a:solidFill>
              </a:defRPr>
            </a:lvl1pPr>
            <a:lvl2pPr algn="l">
              <a:defRPr sz="2100" b="0">
                <a:solidFill>
                  <a:schemeClr val="tx1"/>
                </a:solidFill>
              </a:defRPr>
            </a:lvl2pPr>
            <a:lvl3pPr algn="l">
              <a:defRPr sz="2100" b="0">
                <a:solidFill>
                  <a:schemeClr val="tx1"/>
                </a:solidFill>
              </a:defRPr>
            </a:lvl3pPr>
            <a:lvl4pPr algn="l">
              <a:defRPr sz="2100" b="0">
                <a:solidFill>
                  <a:schemeClr val="tx1"/>
                </a:solidFill>
              </a:defRPr>
            </a:lvl4pPr>
            <a:lvl5pPr algn="l">
              <a:defRPr sz="2100" b="0">
                <a:solidFill>
                  <a:schemeClr val="tx1"/>
                </a:solidFill>
              </a:defRPr>
            </a:lvl5pPr>
            <a:lvl6pPr algn="l">
              <a:defRPr sz="2100" b="0">
                <a:solidFill>
                  <a:schemeClr val="tx1"/>
                </a:solidFill>
              </a:defRPr>
            </a:lvl6pPr>
            <a:lvl7pPr algn="l">
              <a:defRPr sz="2100" b="0">
                <a:solidFill>
                  <a:schemeClr val="tx1"/>
                </a:solidFill>
              </a:defRPr>
            </a:lvl7pPr>
            <a:lvl8pPr algn="l">
              <a:defRPr sz="2100" b="0">
                <a:solidFill>
                  <a:schemeClr val="tx1"/>
                </a:solidFill>
              </a:defRPr>
            </a:lvl8pPr>
            <a:lvl9pPr algn="l">
              <a:defRPr sz="210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chemeClr val="tx1"/>
                </a:solidFill>
              </a:defRPr>
            </a:pPr>
            <a:r>
              <a:rPr sz="2100" b="0" lang="zh-CN">
                <a:solidFill>
                  <a:schemeClr val="tx1"/>
                </a:solidFill>
              </a:rPr>
              <a:t>例如，从公告整理日期、主体与金额，或比较多份材料中的不同表述。</a:t>
            </a:r>
          </a:p>
          <a:p xmlns:a="http://schemas.openxmlformats.org/drawingml/2006/main">
            <a:pPr algn="l">
              <a:defRPr sz="2100" b="0">
                <a:solidFill>
                  <a:schemeClr val="tx1"/>
                </a:solidFill>
              </a:defRPr>
            </a:pPr>
            <a:r>
              <a:rPr sz="2100" b="0" lang="zh-CN">
                <a:solidFill>
                  <a:schemeClr val="tx1"/>
                </a:solidFill>
              </a:rPr>
              <a:t>明确任务范围和交付要求，便于检查结果。</a:t>
            </a:r>
          </a:p>
        </p:txBody>
      </p:sp>
    </p:spTree>
    <p:extLst>
      <p:ext uri="{BB962C8B-B14F-4D97-AF65-F5344CB8AC3E}">
        <p14:creationId xmlns:p14="http://schemas.microsoft.com/office/powerpoint/2010/main" val="9661640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75DFDFE9-2817-4866-BD00-459D92A802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金融工作的公开应用案例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71893EEC-4DA7-4EE4-A919-A855CF6C5C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spcAft>
                <a:spcPts val="2000"/>
              </a:spcAft>
            </a:pPr>
            <a:r>
              <a:t>投研：易方达参与的 MENTOR 研究使用中文文章和英文财经新闻，依次识别热点</a:t>
            </a:r>
            <a:br/>
            <a:r>
              <a:t>事件、推演后续事件并形成行业排序。该公开研究原型展示了文本信息进入投研分</a:t>
            </a:r>
            <a:br/>
            <a:r>
              <a:t>析的路径。</a:t>
            </a:r>
          </a:p>
          <a:p xmlns:a="http://schemas.openxmlformats.org/drawingml/2006/main">
            <a:pPr>
              <a:buNone/>
              <a:spcAft>
                <a:spcPts val="2000"/>
              </a:spcAft>
            </a:pPr>
            <a:r>
              <a:t>合规：盈米的内容合规审查 Skill 接收文本或文档，提供风险位置、理由和修改建议。</a:t>
            </a:r>
            <a:br/>
            <a:r>
              <a:t>内容作者据此修改，再由合规人员终审。</a:t>
            </a:r>
          </a:p>
          <a:p xmlns:a="http://schemas.openxmlformats.org/drawingml/2006/main">
            <a:pPr>
              <a:buNone/>
              <a:spcAft>
                <a:spcPts val="2000"/>
              </a:spcAft>
            </a:pPr>
            <a:r>
              <a:t>技术支持：易方达在协会发布的云平台案例中披露，将大模型接入开发与测试环节。</a:t>
            </a:r>
            <a:br/>
            <a:r>
              <a:t>研发人员获得代码和测试辅助，产物继续进入既有交付流程。</a:t>
            </a:r>
          </a:p>
        </p:txBody>
      </p:sp>
    </p:spTree>
    <p:extLst>
      <p:ext uri="{BB962C8B-B14F-4D97-AF65-F5344CB8AC3E}">
        <p14:creationId xmlns:p14="http://schemas.microsoft.com/office/powerpoint/2010/main" val="4482167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公司应用的使用条件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公开新闻、财报与内部研究文件，对资料范围和使用环境提出不同要求。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05FA2-F744-4BCA-8B98-E60D49C4B2B3}"/>
              </a:ext>
            </a:extLst>
          </p:cNvPr>
          <p:cNvGraphicFramePr/>
          <p:nvPr>
            <p:ph type="obj" idx="2"/>
          </p:nvPr>
        </p:nvGraphicFramePr>
        <p:xfrm>
          <a:off xmlns:a="http://schemas.openxmlformats.org/drawingml/2006/main" x="609600" y="21717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524250"/>
                <a:gridCol w="744855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1" lang="zh-CN">
                          <a:solidFill>
                            <a:schemeClr val="bg1"/>
                          </a:solidFill>
                        </a:rPr>
                        <a:t>使用问题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1" lang="zh-CN">
                          <a:solidFill>
                            <a:schemeClr val="bg1"/>
                          </a:solidFill>
                        </a:rPr>
                        <a:t>需要明确的安排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使用人员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身份、用户范围与使用入口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可读取的资料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文件权限、资料来源与可访问范围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后续工作衔接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引用、复核和交付流程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模型运行位置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运行位置、服务连接与维护责任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安全与合规要求落实在身份、资料权限和工作流程">
            <a:extLst xmlns:a="http://schemas.openxmlformats.org/drawingml/2006/main">
              <a:ext uri="{FF2B5EF4-FFF2-40B4-BE49-F238E27FC236}">
                <a16:creationId xmlns:a16="http://schemas.microsoft.com/office/drawing/2014/main" id="{0CF7DE0D-6705-4FAF-80A0-654F67CD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chemeClr val="tx1"/>
                </a:solidFill>
              </a:defRPr>
            </a:defPPr>
            <a:lvl1pPr algn="l">
              <a:defRPr sz="2025" b="0">
                <a:solidFill>
                  <a:schemeClr val="tx1"/>
                </a:solidFill>
              </a:defRPr>
            </a:lvl1pPr>
            <a:lvl2pPr algn="l">
              <a:defRPr sz="2025" b="0">
                <a:solidFill>
                  <a:schemeClr val="tx1"/>
                </a:solidFill>
              </a:defRPr>
            </a:lvl2pPr>
            <a:lvl3pPr algn="l">
              <a:defRPr sz="2025" b="0">
                <a:solidFill>
                  <a:schemeClr val="tx1"/>
                </a:solidFill>
              </a:defRPr>
            </a:lvl3pPr>
            <a:lvl4pPr algn="l">
              <a:defRPr sz="2025" b="0">
                <a:solidFill>
                  <a:schemeClr val="tx1"/>
                </a:solidFill>
              </a:defRPr>
            </a:lvl4pPr>
            <a:lvl5pPr algn="l">
              <a:defRPr sz="2025" b="0">
                <a:solidFill>
                  <a:schemeClr val="tx1"/>
                </a:solidFill>
              </a:defRPr>
            </a:lvl5pPr>
            <a:lvl6pPr algn="l">
              <a:defRPr sz="2025" b="0">
                <a:solidFill>
                  <a:schemeClr val="tx1"/>
                </a:solidFill>
              </a:defRPr>
            </a:lvl6pPr>
            <a:lvl7pPr algn="l">
              <a:defRPr sz="2025" b="0">
                <a:solidFill>
                  <a:schemeClr val="tx1"/>
                </a:solidFill>
              </a:defRPr>
            </a:lvl7pPr>
            <a:lvl8pPr algn="l">
              <a:defRPr sz="2025" b="0">
                <a:solidFill>
                  <a:schemeClr val="tx1"/>
                </a:solidFill>
              </a:defRPr>
            </a:lvl8pPr>
            <a:lvl9pPr algn="l">
              <a:defRPr sz="2025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安全与合规要求落实在身份、资料权限和工作流程等具体条件中。</a:t>
            </a:r>
          </a:p>
        </p:txBody>
      </p:sp>
    </p:spTree>
    <p:extLst>
      <p:ext uri="{BB962C8B-B14F-4D97-AF65-F5344CB8AC3E}">
        <p14:creationId xmlns:p14="http://schemas.microsoft.com/office/powerpoint/2010/main" val="156584550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75DFDFE9-2817-4866-BD00-459D92A802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本地部署的运行环境控制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71893EEC-4DA7-4EE4-A919-A855CF6C5C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spcAft>
                <a:spcPts val="2000"/>
              </a:spcAft>
            </a:pPr>
            <a:r>
              <a:t>公司的需求是在自身管理的环境中使用 LLM。模型部署在公司设备上，便于统一安</a:t>
            </a:r>
            <a:br/>
            <a:r>
              <a:t>排运行位置、服务连接和资源使用。</a:t>
            </a:r>
          </a:p>
          <a:p xmlns:a="http://schemas.openxmlformats.org/drawingml/2006/main">
            <a:pPr>
              <a:buNone/>
              <a:spcAft>
                <a:spcPts val="2000"/>
              </a:spcAft>
            </a:pPr>
            <a:r>
              <a:t>身份与权限系统限定资料访问范围，应用流程组织结果复核与交付，使本地能力能</a:t>
            </a:r>
            <a:br/>
            <a:r>
              <a:t>够进入日常工作。</a:t>
            </a:r>
          </a:p>
          <a:p xmlns:a="http://schemas.openxmlformats.org/drawingml/2006/main">
            <a:pPr>
              <a:buNone/>
              <a:spcAft>
                <a:spcPts val="2000"/>
              </a:spcAft>
            </a:pPr>
            <a:r>
              <a:t>本次研究聚焦相互关联的部署选择：模型选型、运行环境及资源投入。分析从一项</a:t>
            </a:r>
            <a:br/>
            <a:r>
              <a:t>财报任务展开。</a:t>
            </a:r>
          </a:p>
        </p:txBody>
      </p:sp>
    </p:spTree>
    <p:extLst>
      <p:ext uri="{BB962C8B-B14F-4D97-AF65-F5344CB8AC3E}">
        <p14:creationId xmlns:p14="http://schemas.microsoft.com/office/powerpoint/2010/main" val="18471834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0EB7629E-A543-4DEC-B3D0-8289EFAB9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第二章</a:t>
            </a:r>
          </a:p>
          <a:p xmlns:a="http://schemas.openxmlformats.org/drawingml/2006/main">
            <a:pPr>
              <a:buNone/>
            </a:pPr>
            <a:r>
              <a:t>分析任务对模型的要求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3FD7D765-A9B6-4A5F-B8DE-310B96E2D1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以财报分析为例</a:t>
            </a:r>
          </a:p>
          <a:p xmlns:a="http://schemas.openxmlformats.org/drawingml/2006/main">
            <a:pPr>
              <a:buNone/>
            </a:pPr>
            <a:r>
              <a:t>说明材料、模型能力与等待时间的关系</a:t>
            </a:r>
          </a:p>
        </p:txBody>
      </p:sp>
    </p:spTree>
    <p:extLst>
      <p:ext uri="{BB962C8B-B14F-4D97-AF65-F5344CB8AC3E}">
        <p14:creationId xmlns:p14="http://schemas.microsoft.com/office/powerpoint/2010/main" val="12483256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财报分析的任务与交付要求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任务：解释本期收入和利润变化的主要原因，并指出各项判断的依据。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9C4B8-0083-4AED-BDA1-2C2C1ADE9D23}"/>
              </a:ext>
            </a:extLst>
          </p:cNvPr>
          <p:cNvGraphicFramePr/>
          <p:nvPr>
            <p:ph type="obj" idx="2"/>
          </p:nvPr>
        </p:nvGraphicFramePr>
        <p:xfrm>
          <a:off xmlns:a="http://schemas.openxmlformats.org/drawingml/2006/main" x="609600" y="2171700"/>
          <a:ext xmlns:a="http://schemas.openxmlformats.org/drawingml/2006/main" cx="10972800" cy="2819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14750"/>
                <a:gridCol w="7258050"/>
              </a:tblGrid>
              <a:tr h="7048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1" lang="zh-CN">
                          <a:solidFill>
                            <a:schemeClr val="bg1"/>
                          </a:solidFill>
                        </a:rPr>
                        <a:t>交付内容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1" lang="zh-CN">
                          <a:solidFill>
                            <a:schemeClr val="bg1"/>
                          </a:solidFill>
                        </a:rPr>
                        <a:t>核对方式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7048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收入、利润及变化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回到对应报表，检查数字、期间和单位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7048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变化原因及相关业务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核对管理层解释、分部信息和必要附注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7048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判断依据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打开引用位置，检查解释与原文的关系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分析需要读准数字与单位，区分本期、上期和可比">
            <a:extLst xmlns:a="http://schemas.openxmlformats.org/drawingml/2006/main">
              <a:ext uri="{FF2B5EF4-FFF2-40B4-BE49-F238E27FC236}">
                <a16:creationId xmlns:a16="http://schemas.microsoft.com/office/drawing/2014/main" id="{60515B90-EF8C-4C74-AF52-009A4262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</a:defRPr>
            </a:defPPr>
            <a:lvl1pPr algn="l">
              <a:defRPr sz="2100" b="0">
                <a:solidFill>
                  <a:schemeClr val="tx1"/>
                </a:solidFill>
              </a:defRPr>
            </a:lvl1pPr>
            <a:lvl2pPr algn="l">
              <a:defRPr sz="2100" b="0">
                <a:solidFill>
                  <a:schemeClr val="tx1"/>
                </a:solidFill>
              </a:defRPr>
            </a:lvl2pPr>
            <a:lvl3pPr algn="l">
              <a:defRPr sz="2100" b="0">
                <a:solidFill>
                  <a:schemeClr val="tx1"/>
                </a:solidFill>
              </a:defRPr>
            </a:lvl3pPr>
            <a:lvl4pPr algn="l">
              <a:defRPr sz="2100" b="0">
                <a:solidFill>
                  <a:schemeClr val="tx1"/>
                </a:solidFill>
              </a:defRPr>
            </a:lvl4pPr>
            <a:lvl5pPr algn="l">
              <a:defRPr sz="2100" b="0">
                <a:solidFill>
                  <a:schemeClr val="tx1"/>
                </a:solidFill>
              </a:defRPr>
            </a:lvl5pPr>
            <a:lvl6pPr algn="l">
              <a:defRPr sz="2100" b="0">
                <a:solidFill>
                  <a:schemeClr val="tx1"/>
                </a:solidFill>
              </a:defRPr>
            </a:lvl6pPr>
            <a:lvl7pPr algn="l">
              <a:defRPr sz="2100" b="0">
                <a:solidFill>
                  <a:schemeClr val="tx1"/>
                </a:solidFill>
              </a:defRPr>
            </a:lvl7pPr>
            <a:lvl8pPr algn="l">
              <a:defRPr sz="2100" b="0">
                <a:solidFill>
                  <a:schemeClr val="tx1"/>
                </a:solidFill>
              </a:defRPr>
            </a:lvl8pPr>
            <a:lvl9pPr algn="l">
              <a:defRPr sz="210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chemeClr val="tx1"/>
                </a:solidFill>
              </a:defRPr>
            </a:pPr>
            <a:r>
              <a:rPr sz="2100" b="0" lang="zh-CN">
                <a:solidFill>
                  <a:schemeClr val="tx1"/>
                </a:solidFill>
              </a:rPr>
              <a:t>分析需要读准数字与单位，区分本期、上期和可比口径，再以正文与附注支撑原因解释。</a:t>
            </a:r>
          </a:p>
        </p:txBody>
      </p:sp>
    </p:spTree>
    <p:extLst>
      <p:ext uri="{BB962C8B-B14F-4D97-AF65-F5344CB8AC3E}">
        <p14:creationId xmlns:p14="http://schemas.microsoft.com/office/powerpoint/2010/main" val="50315275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739C6-3956-43C5-B87C-4359D1446FA7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6096000" y="4200525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FFDEF-EE28-4579-9130-22F3D3C17ACB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6096000" y="3057525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sp>
        <p:nvSpPr>
          <p:cNvPr id="9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上下文与推理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上下文包括本次材料、问题以及需要保留的对话历史。模型据此生成回答的运行过程称为推理。</a:t>
            </a:r>
          </a:p>
        </p:txBody>
      </p:sp>
      <p:sp>
        <p:nvSpPr>
          <p:cNvPr id="3" name="系统要求、财报内容、用户问题、已有对话">
            <a:extLst xmlns:a="http://schemas.openxmlformats.org/drawingml/2006/main">
              <a:ext uri="{FF2B5EF4-FFF2-40B4-BE49-F238E27FC236}">
                <a16:creationId xmlns:a16="http://schemas.microsoft.com/office/drawing/2014/main" id="{BC3C444E-6A8C-45E3-9F82-C8798D6A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90775"/>
            <a:ext cx="762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系统要求、财报内容、用户问题、已有对话</a:t>
            </a:r>
          </a:p>
        </p:txBody>
      </p:sp>
      <p:sp>
        <p:nvSpPr>
          <p:cNvPr id="4" name="已训练好的模型">
            <a:extLst xmlns:a="http://schemas.openxmlformats.org/drawingml/2006/main">
              <a:ext uri="{FF2B5EF4-FFF2-40B4-BE49-F238E27FC236}">
                <a16:creationId xmlns:a16="http://schemas.microsoft.com/office/drawing/2014/main" id="{ABD92B2C-2C9B-444C-81B0-F25DB235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33775"/>
            <a:ext cx="4191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已训练好的模型</a:t>
            </a:r>
          </a:p>
        </p:txBody>
      </p:sp>
      <p:sp>
        <p:nvSpPr>
          <p:cNvPr id="5" name="收入与利润变化、原因解释、原文依据">
            <a:extLst xmlns:a="http://schemas.openxmlformats.org/drawingml/2006/main">
              <a:ext uri="{FF2B5EF4-FFF2-40B4-BE49-F238E27FC236}">
                <a16:creationId xmlns:a16="http://schemas.microsoft.com/office/drawing/2014/main" id="{6E95EBEE-35A8-44DD-AD58-B2694B52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76775"/>
            <a:ext cx="762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收入与利润变化、原因解释、原文依据</a:t>
            </a:r>
          </a:p>
        </p:txBody>
      </p:sp>
      <p:sp>
        <p:nvSpPr>
          <p:cNvPr id="8" name="财报与附注的容量、分析完成程度和结果等待时间">
            <a:extLst xmlns:a="http://schemas.openxmlformats.org/drawingml/2006/main">
              <a:ext uri="{FF2B5EF4-FFF2-40B4-BE49-F238E27FC236}">
                <a16:creationId xmlns:a16="http://schemas.microsoft.com/office/drawing/2014/main" id="{9FB544ED-4DF8-4F0C-B081-B174231E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</a:defRPr>
            </a:defPPr>
            <a:lvl1pPr algn="l">
              <a:defRPr sz="2100" b="0">
                <a:solidFill>
                  <a:schemeClr val="tx1"/>
                </a:solidFill>
              </a:defRPr>
            </a:lvl1pPr>
            <a:lvl2pPr algn="l">
              <a:defRPr sz="2100" b="0">
                <a:solidFill>
                  <a:schemeClr val="tx1"/>
                </a:solidFill>
              </a:defRPr>
            </a:lvl2pPr>
            <a:lvl3pPr algn="l">
              <a:defRPr sz="2100" b="0">
                <a:solidFill>
                  <a:schemeClr val="tx1"/>
                </a:solidFill>
              </a:defRPr>
            </a:lvl3pPr>
            <a:lvl4pPr algn="l">
              <a:defRPr sz="2100" b="0">
                <a:solidFill>
                  <a:schemeClr val="tx1"/>
                </a:solidFill>
              </a:defRPr>
            </a:lvl4pPr>
            <a:lvl5pPr algn="l">
              <a:defRPr sz="2100" b="0">
                <a:solidFill>
                  <a:schemeClr val="tx1"/>
                </a:solidFill>
              </a:defRPr>
            </a:lvl5pPr>
            <a:lvl6pPr algn="l">
              <a:defRPr sz="2100" b="0">
                <a:solidFill>
                  <a:schemeClr val="tx1"/>
                </a:solidFill>
              </a:defRPr>
            </a:lvl6pPr>
            <a:lvl7pPr algn="l">
              <a:defRPr sz="2100" b="0">
                <a:solidFill>
                  <a:schemeClr val="tx1"/>
                </a:solidFill>
              </a:defRPr>
            </a:lvl7pPr>
            <a:lvl8pPr algn="l">
              <a:defRPr sz="2100" b="0">
                <a:solidFill>
                  <a:schemeClr val="tx1"/>
                </a:solidFill>
              </a:defRPr>
            </a:lvl8pPr>
            <a:lvl9pPr algn="l">
              <a:defRPr sz="210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chemeClr val="tx1"/>
                </a:solidFill>
              </a:defRPr>
            </a:pPr>
            <a:r>
              <a:rPr sz="2100" b="0" lang="zh-CN">
                <a:solidFill>
                  <a:schemeClr val="tx1"/>
                </a:solidFill>
              </a:rPr>
              <a:t>财报与附注的容量、分析完成程度和结果等待时间，分别对应上下文、模型能力与速度。</a:t>
            </a:r>
          </a:p>
        </p:txBody>
      </p:sp>
    </p:spTree>
    <p:extLst>
      <p:ext uri="{BB962C8B-B14F-4D97-AF65-F5344CB8AC3E}">
        <p14:creationId xmlns:p14="http://schemas.microsoft.com/office/powerpoint/2010/main" val="45976232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04DDE-2AF9-44B2-B7E3-8073B06BEAB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238500" y="5086350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5EA36-1440-40A9-A620-7135D4D4A21E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5191125" y="2533650"/>
            <a:ext cx="714375" cy="2133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10DA3-96CE-42F5-8B53-966F2EC448FE}"/>
              </a:ext>
            </a:extLst>
          </p:cNvPr>
          <p:cNvCxnSpPr>
            <a:stCxn xmlns:a="http://schemas.openxmlformats.org/drawingml/2006/main" id="3" idx="1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1952625" y="2533650"/>
            <a:ext cx="666750" cy="2133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</a:ln>
        </p:spPr>
      </p:cxnSp>
      <p:sp>
        <p:nvSpPr>
          <p:cNvPr id="1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固定资源下的上下文、模型能力与速度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给定硬件、并发规模和运行方式，三项要求共享内存与计算预算。</a:t>
            </a:r>
          </a:p>
        </p:txBody>
      </p:sp>
      <p:sp>
        <p:nvSpPr>
          <p:cNvPr id="3" name="模型能力">
            <a:extLst xmlns:a="http://schemas.openxmlformats.org/drawingml/2006/main">
              <a:ext uri="{FF2B5EF4-FFF2-40B4-BE49-F238E27FC236}">
                <a16:creationId xmlns:a16="http://schemas.microsoft.com/office/drawing/2014/main" id="{283C30C7-33F1-4FDF-A9B8-5602DF05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14550"/>
            <a:ext cx="257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模型能力</a:t>
            </a:r>
          </a:p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理解材料、完成分析</a:t>
            </a:r>
          </a:p>
        </p:txBody>
      </p:sp>
      <p:sp>
        <p:nvSpPr>
          <p:cNvPr id="4" name="上下文">
            <a:extLst xmlns:a="http://schemas.openxmlformats.org/drawingml/2006/main">
              <a:ext uri="{FF2B5EF4-FFF2-40B4-BE49-F238E27FC236}">
                <a16:creationId xmlns:a16="http://schemas.microsoft.com/office/drawing/2014/main" id="{7807A8E1-F629-4E56-A9FC-0191536E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257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上下文</a:t>
            </a:r>
          </a:p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带入材料与历史</a:t>
            </a:r>
          </a:p>
        </p:txBody>
      </p:sp>
      <p:sp>
        <p:nvSpPr>
          <p:cNvPr id="5" name="速度">
            <a:extLst xmlns:a="http://schemas.openxmlformats.org/drawingml/2006/main">
              <a:ext uri="{FF2B5EF4-FFF2-40B4-BE49-F238E27FC236}">
                <a16:creationId xmlns:a16="http://schemas.microsoft.com/office/drawing/2014/main" id="{DD7C8F52-7176-48DF-91E0-0E3BA777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67250"/>
            <a:ext cx="257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速度</a:t>
            </a:r>
          </a:p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缩短等待、持续生成</a:t>
            </a:r>
          </a:p>
        </p:txBody>
      </p:sp>
      <p:sp>
        <p:nvSpPr>
          <p:cNvPr id="9" name="更多信息需要&#10;更多分析">
            <a:extLst xmlns:a="http://schemas.openxmlformats.org/drawingml/2006/main">
              <a:ext uri="{FF2B5EF4-FFF2-40B4-BE49-F238E27FC236}">
                <a16:creationId xmlns:a16="http://schemas.microsoft.com/office/drawing/2014/main" id="{9E049A90-CB26-412D-948E-B6D264E5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86125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chemeClr val="tx1"/>
                </a:solidFill>
              </a:defRPr>
            </a:defPPr>
            <a:lvl1pPr algn="ctr">
              <a:defRPr sz="1800" b="0">
                <a:solidFill>
                  <a:schemeClr val="tx1"/>
                </a:solidFill>
              </a:defRPr>
            </a:lvl1pPr>
            <a:lvl2pPr algn="ctr">
              <a:defRPr sz="1800" b="0">
                <a:solidFill>
                  <a:schemeClr val="tx1"/>
                </a:solidFill>
              </a:defRPr>
            </a:lvl2pPr>
            <a:lvl3pPr algn="ctr">
              <a:defRPr sz="1800" b="0">
                <a:solidFill>
                  <a:schemeClr val="tx1"/>
                </a:solidFill>
              </a:defRPr>
            </a:lvl3pPr>
            <a:lvl4pPr algn="ctr">
              <a:defRPr sz="1800" b="0">
                <a:solidFill>
                  <a:schemeClr val="tx1"/>
                </a:solidFill>
              </a:defRPr>
            </a:lvl4pPr>
            <a:lvl5pPr algn="ctr">
              <a:defRPr sz="1800" b="0">
                <a:solidFill>
                  <a:schemeClr val="tx1"/>
                </a:solidFill>
              </a:defRPr>
            </a:lvl5pPr>
            <a:lvl6pPr algn="ctr">
              <a:defRPr sz="1800" b="0">
                <a:solidFill>
                  <a:schemeClr val="tx1"/>
                </a:solidFill>
              </a:defRPr>
            </a:lvl6pPr>
            <a:lvl7pPr algn="ctr">
              <a:defRPr sz="1800" b="0">
                <a:solidFill>
                  <a:schemeClr val="tx1"/>
                </a:solidFill>
              </a:defRPr>
            </a:lvl7pPr>
            <a:lvl8pPr algn="ctr">
              <a:defRPr sz="1800" b="0">
                <a:solidFill>
                  <a:schemeClr val="tx1"/>
                </a:solidFill>
              </a:defRPr>
            </a:lvl8pPr>
            <a:lvl9pPr algn="ctr">
              <a:defRPr sz="180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chemeClr val="tx1"/>
                </a:solidFill>
              </a:defRPr>
            </a:pPr>
            <a:r>
              <a:rPr sz="1800" b="0" lang="zh-CN">
                <a:solidFill>
                  <a:schemeClr val="tx1"/>
                </a:solidFill>
              </a:rPr>
              <a:t>更多信息需要</a:t>
            </a:r>
          </a:p>
          <a:p xmlns:a="http://schemas.openxmlformats.org/drawingml/2006/main">
            <a:pPr algn="ctr">
              <a:defRPr sz="1800" b="0">
                <a:solidFill>
                  <a:schemeClr val="tx1"/>
                </a:solidFill>
              </a:defRPr>
            </a:pPr>
            <a:r>
              <a:rPr sz="1800" b="0" lang="zh-CN">
                <a:solidFill>
                  <a:schemeClr val="tx1"/>
                </a:solidFill>
              </a:rPr>
              <a:t>更多分析</a:t>
            </a:r>
          </a:p>
        </p:txBody>
      </p:sp>
      <p:sp>
        <p:nvSpPr>
          <p:cNvPr id="10" name="更充分的推理&#10;需要计算时间">
            <a:extLst xmlns:a="http://schemas.openxmlformats.org/drawingml/2006/main">
              <a:ext uri="{FF2B5EF4-FFF2-40B4-BE49-F238E27FC236}">
                <a16:creationId xmlns:a16="http://schemas.microsoft.com/office/drawing/2014/main" id="{59079A19-E51B-4538-8AB2-D32E5713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86125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chemeClr val="tx1"/>
                </a:solidFill>
              </a:defRPr>
            </a:defPPr>
            <a:lvl1pPr algn="ctr">
              <a:defRPr sz="1800" b="0">
                <a:solidFill>
                  <a:schemeClr val="tx1"/>
                </a:solidFill>
              </a:defRPr>
            </a:lvl1pPr>
            <a:lvl2pPr algn="ctr">
              <a:defRPr sz="1800" b="0">
                <a:solidFill>
                  <a:schemeClr val="tx1"/>
                </a:solidFill>
              </a:defRPr>
            </a:lvl2pPr>
            <a:lvl3pPr algn="ctr">
              <a:defRPr sz="1800" b="0">
                <a:solidFill>
                  <a:schemeClr val="tx1"/>
                </a:solidFill>
              </a:defRPr>
            </a:lvl3pPr>
            <a:lvl4pPr algn="ctr">
              <a:defRPr sz="1800" b="0">
                <a:solidFill>
                  <a:schemeClr val="tx1"/>
                </a:solidFill>
              </a:defRPr>
            </a:lvl4pPr>
            <a:lvl5pPr algn="ctr">
              <a:defRPr sz="1800" b="0">
                <a:solidFill>
                  <a:schemeClr val="tx1"/>
                </a:solidFill>
              </a:defRPr>
            </a:lvl5pPr>
            <a:lvl6pPr algn="ctr">
              <a:defRPr sz="1800" b="0">
                <a:solidFill>
                  <a:schemeClr val="tx1"/>
                </a:solidFill>
              </a:defRPr>
            </a:lvl6pPr>
            <a:lvl7pPr algn="ctr">
              <a:defRPr sz="1800" b="0">
                <a:solidFill>
                  <a:schemeClr val="tx1"/>
                </a:solidFill>
              </a:defRPr>
            </a:lvl7pPr>
            <a:lvl8pPr algn="ctr">
              <a:defRPr sz="1800" b="0">
                <a:solidFill>
                  <a:schemeClr val="tx1"/>
                </a:solidFill>
              </a:defRPr>
            </a:lvl8pPr>
            <a:lvl9pPr algn="ctr">
              <a:defRPr sz="180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chemeClr val="tx1"/>
                </a:solidFill>
              </a:defRPr>
            </a:pPr>
            <a:r>
              <a:rPr sz="1800" b="0" lang="zh-CN">
                <a:solidFill>
                  <a:schemeClr val="tx1"/>
                </a:solidFill>
              </a:rPr>
              <a:t>更充分的推理</a:t>
            </a:r>
          </a:p>
          <a:p xmlns:a="http://schemas.openxmlformats.org/drawingml/2006/main">
            <a:pPr algn="ctr">
              <a:defRPr sz="1800" b="0">
                <a:solidFill>
                  <a:schemeClr val="tx1"/>
                </a:solidFill>
              </a:defRPr>
            </a:pPr>
            <a:r>
              <a:rPr sz="1800" b="0" lang="zh-CN">
                <a:solidFill>
                  <a:schemeClr val="tx1"/>
                </a:solidFill>
              </a:rPr>
              <a:t>需要计算时间</a:t>
            </a:r>
          </a:p>
        </p:txBody>
      </p:sp>
      <p:sp>
        <p:nvSpPr>
          <p:cNvPr id="11" name="更长输入增加&#10;处理与状态负担">
            <a:extLst xmlns:a="http://schemas.openxmlformats.org/drawingml/2006/main">
              <a:ext uri="{FF2B5EF4-FFF2-40B4-BE49-F238E27FC236}">
                <a16:creationId xmlns:a16="http://schemas.microsoft.com/office/drawing/2014/main" id="{09B299D2-3079-473E-A7DA-B17F1A82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638800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chemeClr val="tx1"/>
                </a:solidFill>
              </a:defRPr>
            </a:defPPr>
            <a:lvl1pPr algn="ctr">
              <a:defRPr sz="1800" b="0">
                <a:solidFill>
                  <a:schemeClr val="tx1"/>
                </a:solidFill>
              </a:defRPr>
            </a:lvl1pPr>
            <a:lvl2pPr algn="ctr">
              <a:defRPr sz="1800" b="0">
                <a:solidFill>
                  <a:schemeClr val="tx1"/>
                </a:solidFill>
              </a:defRPr>
            </a:lvl2pPr>
            <a:lvl3pPr algn="ctr">
              <a:defRPr sz="1800" b="0">
                <a:solidFill>
                  <a:schemeClr val="tx1"/>
                </a:solidFill>
              </a:defRPr>
            </a:lvl3pPr>
            <a:lvl4pPr algn="ctr">
              <a:defRPr sz="1800" b="0">
                <a:solidFill>
                  <a:schemeClr val="tx1"/>
                </a:solidFill>
              </a:defRPr>
            </a:lvl4pPr>
            <a:lvl5pPr algn="ctr">
              <a:defRPr sz="1800" b="0">
                <a:solidFill>
                  <a:schemeClr val="tx1"/>
                </a:solidFill>
              </a:defRPr>
            </a:lvl5pPr>
            <a:lvl6pPr algn="ctr">
              <a:defRPr sz="1800" b="0">
                <a:solidFill>
                  <a:schemeClr val="tx1"/>
                </a:solidFill>
              </a:defRPr>
            </a:lvl6pPr>
            <a:lvl7pPr algn="ctr">
              <a:defRPr sz="1800" b="0">
                <a:solidFill>
                  <a:schemeClr val="tx1"/>
                </a:solidFill>
              </a:defRPr>
            </a:lvl7pPr>
            <a:lvl8pPr algn="ctr">
              <a:defRPr sz="1800" b="0">
                <a:solidFill>
                  <a:schemeClr val="tx1"/>
                </a:solidFill>
              </a:defRPr>
            </a:lvl8pPr>
            <a:lvl9pPr algn="ctr">
              <a:defRPr sz="180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chemeClr val="tx1"/>
                </a:solidFill>
              </a:defRPr>
            </a:pPr>
            <a:r>
              <a:rPr sz="1800" b="0" lang="zh-CN">
                <a:solidFill>
                  <a:schemeClr val="tx1"/>
                </a:solidFill>
              </a:rPr>
              <a:t>更长输入增加</a:t>
            </a:r>
          </a:p>
          <a:p xmlns:a="http://schemas.openxmlformats.org/drawingml/2006/main">
            <a:pPr algn="ctr">
              <a:defRPr sz="1800" b="0">
                <a:solidFill>
                  <a:schemeClr val="tx1"/>
                </a:solidFill>
              </a:defRPr>
            </a:pPr>
            <a:r>
              <a:rPr sz="1800" b="0" lang="zh-CN">
                <a:solidFill>
                  <a:schemeClr val="tx1"/>
                </a:solidFill>
              </a:rPr>
              <a:t>处理与状态负担</a:t>
            </a:r>
          </a:p>
        </p:txBody>
      </p:sp>
      <p:sp>
        <p:nvSpPr>
          <p:cNvPr id="12" name="材料增加，设备需要处理并保留更多信息。">
            <a:extLst xmlns:a="http://schemas.openxmlformats.org/drawingml/2006/main">
              <a:ext uri="{FF2B5EF4-FFF2-40B4-BE49-F238E27FC236}">
                <a16:creationId xmlns:a16="http://schemas.microsoft.com/office/drawing/2014/main" id="{D44C689D-FD08-4396-BF66-8B8B2A77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050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</a:defRPr>
            </a:defPPr>
            <a:lvl1pPr algn="l">
              <a:defRPr sz="2100" b="0">
                <a:solidFill>
                  <a:schemeClr val="tx1"/>
                </a:solidFill>
              </a:defRPr>
            </a:lvl1pPr>
            <a:lvl2pPr algn="l">
              <a:defRPr sz="2100" b="0">
                <a:solidFill>
                  <a:schemeClr val="tx1"/>
                </a:solidFill>
              </a:defRPr>
            </a:lvl2pPr>
            <a:lvl3pPr algn="l">
              <a:defRPr sz="2100" b="0">
                <a:solidFill>
                  <a:schemeClr val="tx1"/>
                </a:solidFill>
              </a:defRPr>
            </a:lvl3pPr>
            <a:lvl4pPr algn="l">
              <a:defRPr sz="2100" b="0">
                <a:solidFill>
                  <a:schemeClr val="tx1"/>
                </a:solidFill>
              </a:defRPr>
            </a:lvl4pPr>
            <a:lvl5pPr algn="l">
              <a:defRPr sz="2100" b="0">
                <a:solidFill>
                  <a:schemeClr val="tx1"/>
                </a:solidFill>
              </a:defRPr>
            </a:lvl5pPr>
            <a:lvl6pPr algn="l">
              <a:defRPr sz="2100" b="0">
                <a:solidFill>
                  <a:schemeClr val="tx1"/>
                </a:solidFill>
              </a:defRPr>
            </a:lvl6pPr>
            <a:lvl7pPr algn="l">
              <a:defRPr sz="2100" b="0">
                <a:solidFill>
                  <a:schemeClr val="tx1"/>
                </a:solidFill>
              </a:defRPr>
            </a:lvl7pPr>
            <a:lvl8pPr algn="l">
              <a:defRPr sz="2100" b="0">
                <a:solidFill>
                  <a:schemeClr val="tx1"/>
                </a:solidFill>
              </a:defRPr>
            </a:lvl8pPr>
            <a:lvl9pPr algn="l">
              <a:defRPr sz="210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chemeClr val="tx1"/>
                </a:solidFill>
              </a:defRPr>
            </a:pPr>
            <a:r>
              <a:rPr sz="2100" b="0" lang="zh-CN">
                <a:solidFill>
                  <a:schemeClr val="tx1"/>
                </a:solidFill>
              </a:rPr>
              <a:t>材料增加，设备需要处理并</a:t>
            </a:r>
          </a:p>
          <a:p xmlns:a="http://schemas.openxmlformats.org/drawingml/2006/main">
            <a:pPr algn="l">
              <a:defRPr sz="2100" b="0">
                <a:solidFill>
                  <a:schemeClr val="tx1"/>
                </a:solidFill>
              </a:defRPr>
            </a:pPr>
            <a:r>
              <a:rPr sz="2100" b="0" lang="zh-CN">
                <a:solidFill>
                  <a:schemeClr val="tx1"/>
                </a:solidFill>
              </a:rPr>
              <a:t>保留更多信息。</a:t>
            </a:r>
          </a:p>
        </p:txBody>
      </p:sp>
      <p:sp>
        <p:nvSpPr>
          <p:cNvPr id="13" name="更多思考步骤或计算量更大的模型，会提高单项任">
            <a:extLst xmlns:a="http://schemas.openxmlformats.org/drawingml/2006/main">
              <a:ext uri="{FF2B5EF4-FFF2-40B4-BE49-F238E27FC236}">
                <a16:creationId xmlns:a16="http://schemas.microsoft.com/office/drawing/2014/main" id="{15224E0D-CB55-489A-93DC-49C0605E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76625"/>
            <a:ext cx="34290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</a:defRPr>
            </a:defPPr>
            <a:lvl1pPr algn="l">
              <a:defRPr sz="2100" b="0">
                <a:solidFill>
                  <a:schemeClr val="tx1"/>
                </a:solidFill>
              </a:defRPr>
            </a:lvl1pPr>
            <a:lvl2pPr algn="l">
              <a:defRPr sz="2100" b="0">
                <a:solidFill>
                  <a:schemeClr val="tx1"/>
                </a:solidFill>
              </a:defRPr>
            </a:lvl2pPr>
            <a:lvl3pPr algn="l">
              <a:defRPr sz="2100" b="0">
                <a:solidFill>
                  <a:schemeClr val="tx1"/>
                </a:solidFill>
              </a:defRPr>
            </a:lvl3pPr>
            <a:lvl4pPr algn="l">
              <a:defRPr sz="2100" b="0">
                <a:solidFill>
                  <a:schemeClr val="tx1"/>
                </a:solidFill>
              </a:defRPr>
            </a:lvl4pPr>
            <a:lvl5pPr algn="l">
              <a:defRPr sz="2100" b="0">
                <a:solidFill>
                  <a:schemeClr val="tx1"/>
                </a:solidFill>
              </a:defRPr>
            </a:lvl5pPr>
            <a:lvl6pPr algn="l">
              <a:defRPr sz="2100" b="0">
                <a:solidFill>
                  <a:schemeClr val="tx1"/>
                </a:solidFill>
              </a:defRPr>
            </a:lvl6pPr>
            <a:lvl7pPr algn="l">
              <a:defRPr sz="2100" b="0">
                <a:solidFill>
                  <a:schemeClr val="tx1"/>
                </a:solidFill>
              </a:defRPr>
            </a:lvl7pPr>
            <a:lvl8pPr algn="l">
              <a:defRPr sz="2100" b="0">
                <a:solidFill>
                  <a:schemeClr val="tx1"/>
                </a:solidFill>
              </a:defRPr>
            </a:lvl8pPr>
            <a:lvl9pPr algn="l">
              <a:defRPr sz="210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chemeClr val="tx1"/>
                </a:solidFill>
              </a:defRPr>
            </a:pPr>
            <a:r>
              <a:rPr sz="2100" b="0" lang="zh-CN">
                <a:solidFill>
                  <a:schemeClr val="tx1"/>
                </a:solidFill>
              </a:rPr>
              <a:t>更多思考步骤或计算量更大</a:t>
            </a:r>
          </a:p>
          <a:p xmlns:a="http://schemas.openxmlformats.org/drawingml/2006/main">
            <a:pPr algn="l">
              <a:defRPr sz="2100" b="0">
                <a:solidFill>
                  <a:schemeClr val="tx1"/>
                </a:solidFill>
              </a:defRPr>
            </a:pPr>
            <a:r>
              <a:rPr sz="2100" b="0" lang="zh-CN">
                <a:solidFill>
                  <a:schemeClr val="tx1"/>
                </a:solidFill>
              </a:rPr>
              <a:t>的模型，会提高单项任务的</a:t>
            </a:r>
          </a:p>
          <a:p xmlns:a="http://schemas.openxmlformats.org/drawingml/2006/main">
            <a:pPr algn="l">
              <a:defRPr sz="2100" b="0">
                <a:solidFill>
                  <a:schemeClr val="tx1"/>
                </a:solidFill>
              </a:defRPr>
            </a:pPr>
            <a:r>
              <a:rPr sz="2100" b="0" lang="zh-CN">
                <a:solidFill>
                  <a:schemeClr val="tx1"/>
                </a:solidFill>
              </a:rPr>
              <a:t>资源占用。</a:t>
            </a:r>
          </a:p>
        </p:txBody>
      </p:sp>
      <p:sp>
        <p:nvSpPr>
          <p:cNvPr id="14" name="选型需明确材料规模、分析要求与可接受的等待时">
            <a:extLst xmlns:a="http://schemas.openxmlformats.org/drawingml/2006/main">
              <a:ext uri="{FF2B5EF4-FFF2-40B4-BE49-F238E27FC236}">
                <a16:creationId xmlns:a16="http://schemas.microsoft.com/office/drawing/2014/main" id="{36123BA6-4D79-4869-B6CB-D9AC5AD8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00625"/>
            <a:ext cx="342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</a:defRPr>
            </a:defPPr>
            <a:lvl1pPr algn="l">
              <a:defRPr sz="2100" b="0">
                <a:solidFill>
                  <a:schemeClr val="tx1"/>
                </a:solidFill>
              </a:defRPr>
            </a:lvl1pPr>
            <a:lvl2pPr algn="l">
              <a:defRPr sz="2100" b="0">
                <a:solidFill>
                  <a:schemeClr val="tx1"/>
                </a:solidFill>
              </a:defRPr>
            </a:lvl2pPr>
            <a:lvl3pPr algn="l">
              <a:defRPr sz="2100" b="0">
                <a:solidFill>
                  <a:schemeClr val="tx1"/>
                </a:solidFill>
              </a:defRPr>
            </a:lvl3pPr>
            <a:lvl4pPr algn="l">
              <a:defRPr sz="2100" b="0">
                <a:solidFill>
                  <a:schemeClr val="tx1"/>
                </a:solidFill>
              </a:defRPr>
            </a:lvl4pPr>
            <a:lvl5pPr algn="l">
              <a:defRPr sz="2100" b="0">
                <a:solidFill>
                  <a:schemeClr val="tx1"/>
                </a:solidFill>
              </a:defRPr>
            </a:lvl5pPr>
            <a:lvl6pPr algn="l">
              <a:defRPr sz="2100" b="0">
                <a:solidFill>
                  <a:schemeClr val="tx1"/>
                </a:solidFill>
              </a:defRPr>
            </a:lvl6pPr>
            <a:lvl7pPr algn="l">
              <a:defRPr sz="2100" b="0">
                <a:solidFill>
                  <a:schemeClr val="tx1"/>
                </a:solidFill>
              </a:defRPr>
            </a:lvl7pPr>
            <a:lvl8pPr algn="l">
              <a:defRPr sz="2100" b="0">
                <a:solidFill>
                  <a:schemeClr val="tx1"/>
                </a:solidFill>
              </a:defRPr>
            </a:lvl8pPr>
            <a:lvl9pPr algn="l">
              <a:defRPr sz="210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chemeClr val="tx1"/>
                </a:solidFill>
              </a:defRPr>
            </a:pPr>
            <a:r>
              <a:rPr sz="2100" b="0" lang="zh-CN">
                <a:solidFill>
                  <a:schemeClr val="tx1"/>
                </a:solidFill>
              </a:rPr>
              <a:t>选型需明确材料规模、分析</a:t>
            </a:r>
          </a:p>
          <a:p xmlns:a="http://schemas.openxmlformats.org/drawingml/2006/main">
            <a:pPr algn="l">
              <a:defRPr sz="2100" b="0">
                <a:solidFill>
                  <a:schemeClr val="tx1"/>
                </a:solidFill>
              </a:defRPr>
            </a:pPr>
            <a:r>
              <a:rPr sz="2100" b="0" lang="zh-CN">
                <a:solidFill>
                  <a:schemeClr val="tx1"/>
                </a:solidFill>
              </a:rPr>
              <a:t>要求与可接受的等待时间。</a:t>
            </a:r>
          </a:p>
        </p:txBody>
      </p:sp>
    </p:spTree>
    <p:extLst>
      <p:ext uri="{BB962C8B-B14F-4D97-AF65-F5344CB8AC3E}">
        <p14:creationId xmlns:p14="http://schemas.microsoft.com/office/powerpoint/2010/main" val="112846221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上下文窗口与任务信息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上下文窗口容纳材料和工作过程，包括问题、报表、附注，以及后续资料和讨论。</a:t>
            </a:r>
          </a:p>
        </p:txBody>
      </p:sp>
      <p:sp>
        <p:nvSpPr>
          <p:cNvPr id="3" name="上下文窗口">
            <a:extLst xmlns:a="http://schemas.openxmlformats.org/drawingml/2006/main">
              <a:ext uri="{FF2B5EF4-FFF2-40B4-BE49-F238E27FC236}">
                <a16:creationId xmlns:a16="http://schemas.microsoft.com/office/drawing/2014/main" id="{58206747-BED1-4732-9E08-A79BB507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chemeClr val="tx1"/>
                </a:solidFill>
              </a:defRPr>
            </a:defPPr>
            <a:lvl1pPr algn="l">
              <a:defRPr sz="2250" b="1">
                <a:solidFill>
                  <a:schemeClr val="tx1"/>
                </a:solidFill>
              </a:defRPr>
            </a:lvl1pPr>
            <a:lvl2pPr algn="l">
              <a:defRPr sz="2250" b="1">
                <a:solidFill>
                  <a:schemeClr val="tx1"/>
                </a:solidFill>
              </a:defRPr>
            </a:lvl2pPr>
            <a:lvl3pPr algn="l">
              <a:defRPr sz="2250" b="1">
                <a:solidFill>
                  <a:schemeClr val="tx1"/>
                </a:solidFill>
              </a:defRPr>
            </a:lvl3pPr>
            <a:lvl4pPr algn="l">
              <a:defRPr sz="2250" b="1">
                <a:solidFill>
                  <a:schemeClr val="tx1"/>
                </a:solidFill>
              </a:defRPr>
            </a:lvl4pPr>
            <a:lvl5pPr algn="l">
              <a:defRPr sz="2250" b="1">
                <a:solidFill>
                  <a:schemeClr val="tx1"/>
                </a:solidFill>
              </a:defRPr>
            </a:lvl5pPr>
            <a:lvl6pPr algn="l">
              <a:defRPr sz="2250" b="1">
                <a:solidFill>
                  <a:schemeClr val="tx1"/>
                </a:solidFill>
              </a:defRPr>
            </a:lvl6pPr>
            <a:lvl7pPr algn="l">
              <a:defRPr sz="2250" b="1">
                <a:solidFill>
                  <a:schemeClr val="tx1"/>
                </a:solidFill>
              </a:defRPr>
            </a:lvl7pPr>
            <a:lvl8pPr algn="l">
              <a:defRPr sz="2250" b="1">
                <a:solidFill>
                  <a:schemeClr val="tx1"/>
                </a:solidFill>
              </a:defRPr>
            </a:lvl8pPr>
            <a:lvl9pPr algn="l">
              <a:defRPr sz="2250" b="1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chemeClr val="tx1"/>
                </a:solidFill>
              </a:defRPr>
            </a:pPr>
            <a:r>
              <a:rPr sz="2250" b="1" lang="zh-CN">
                <a:solidFill>
                  <a:schemeClr val="tx1"/>
                </a:solidFill>
              </a:rPr>
              <a:t>上下文窗口</a:t>
            </a:r>
          </a:p>
        </p:txBody>
      </p:sp>
      <p:sp>
        <p:nvSpPr>
          <p:cNvPr id="4" name="系统要求">
            <a:extLst xmlns:a="http://schemas.openxmlformats.org/drawingml/2006/main">
              <a:ext uri="{FF2B5EF4-FFF2-40B4-BE49-F238E27FC236}">
                <a16:creationId xmlns:a16="http://schemas.microsoft.com/office/drawing/2014/main" id="{21B14E9D-60D1-4B7E-BEE6-938FAA2B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743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系统要求</a:t>
            </a:r>
          </a:p>
        </p:txBody>
      </p:sp>
      <p:sp>
        <p:nvSpPr>
          <p:cNvPr id="5" name="材料与附注">
            <a:extLst xmlns:a="http://schemas.openxmlformats.org/drawingml/2006/main">
              <a:ext uri="{FF2B5EF4-FFF2-40B4-BE49-F238E27FC236}">
                <a16:creationId xmlns:a16="http://schemas.microsoft.com/office/drawing/2014/main" id="{E91401AE-31B7-4609-99B3-759E251D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14650"/>
            <a:ext cx="2743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材料与附注</a:t>
            </a:r>
          </a:p>
        </p:txBody>
      </p:sp>
      <p:sp>
        <p:nvSpPr>
          <p:cNvPr id="6" name="历史与工具结果">
            <a:extLst xmlns:a="http://schemas.openxmlformats.org/drawingml/2006/main">
              <a:ext uri="{FF2B5EF4-FFF2-40B4-BE49-F238E27FC236}">
                <a16:creationId xmlns:a16="http://schemas.microsoft.com/office/drawing/2014/main" id="{E33A3061-4EB2-4427-A290-175123D4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14650"/>
            <a:ext cx="2743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历史与工具结果</a:t>
            </a:r>
          </a:p>
        </p:txBody>
      </p:sp>
      <p:sp>
        <p:nvSpPr>
          <p:cNvPr id="7" name="本轮生成">
            <a:extLst xmlns:a="http://schemas.openxmlformats.org/drawingml/2006/main">
              <a:ext uri="{FF2B5EF4-FFF2-40B4-BE49-F238E27FC236}">
                <a16:creationId xmlns:a16="http://schemas.microsoft.com/office/drawing/2014/main" id="{C948B1DE-6F97-4A59-ABF1-65323E6A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14650"/>
            <a:ext cx="2743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本轮生成</a:t>
            </a:r>
          </a:p>
        </p:txBody>
      </p:sp>
      <p:sp>
        <p:nvSpPr>
          <p:cNvPr id="8" name="输入与输出通常按 token 计量。Toke">
            <a:extLst xmlns:a="http://schemas.openxmlformats.org/drawingml/2006/main">
              <a:ext uri="{FF2B5EF4-FFF2-40B4-BE49-F238E27FC236}">
                <a16:creationId xmlns:a16="http://schemas.microsoft.com/office/drawing/2014/main" id="{54EBC17A-123F-4D49-B3C9-240F7F23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</a:defRPr>
            </a:defPPr>
            <a:lvl1pPr algn="l">
              <a:defRPr sz="2250" b="0">
                <a:solidFill>
                  <a:schemeClr val="tx1"/>
                </a:solidFill>
              </a:defRPr>
            </a:lvl1pPr>
            <a:lvl2pPr algn="l">
              <a:defRPr sz="2250" b="0">
                <a:solidFill>
                  <a:schemeClr val="tx1"/>
                </a:solidFill>
              </a:defRPr>
            </a:lvl2pPr>
            <a:lvl3pPr algn="l">
              <a:defRPr sz="2250" b="0">
                <a:solidFill>
                  <a:schemeClr val="tx1"/>
                </a:solidFill>
              </a:defRPr>
            </a:lvl3pPr>
            <a:lvl4pPr algn="l">
              <a:defRPr sz="2250" b="0">
                <a:solidFill>
                  <a:schemeClr val="tx1"/>
                </a:solidFill>
              </a:defRPr>
            </a:lvl4pPr>
            <a:lvl5pPr algn="l">
              <a:defRPr sz="2250" b="0">
                <a:solidFill>
                  <a:schemeClr val="tx1"/>
                </a:solidFill>
              </a:defRPr>
            </a:lvl5pPr>
            <a:lvl6pPr algn="l">
              <a:defRPr sz="2250" b="0">
                <a:solidFill>
                  <a:schemeClr val="tx1"/>
                </a:solidFill>
              </a:defRPr>
            </a:lvl6pPr>
            <a:lvl7pPr algn="l">
              <a:defRPr sz="2250" b="0">
                <a:solidFill>
                  <a:schemeClr val="tx1"/>
                </a:solidFill>
              </a:defRPr>
            </a:lvl7pPr>
            <a:lvl8pPr algn="l">
              <a:defRPr sz="2250" b="0">
                <a:solidFill>
                  <a:schemeClr val="tx1"/>
                </a:solidFill>
              </a:defRPr>
            </a:lvl8pPr>
            <a:lvl9pPr algn="l">
              <a:defRPr sz="225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250" b="0">
                <a:solidFill>
                  <a:schemeClr val="tx1"/>
                </a:solidFill>
              </a:defRPr>
            </a:pPr>
            <a:r>
              <a:rPr sz="2250" b="0" lang="zh-CN">
                <a:solidFill>
                  <a:schemeClr val="tx1"/>
                </a:solidFill>
              </a:rPr>
              <a:t>输入与输出通常按 token 计量。Token 是模型处理文本的片段，可以对应字、词或</a:t>
            </a:r>
          </a:p>
          <a:p xmlns:a="http://schemas.openxmlformats.org/drawingml/2006/main">
            <a:pPr algn="l">
              <a:defRPr sz="2250" b="0">
                <a:solidFill>
                  <a:schemeClr val="tx1"/>
                </a:solidFill>
              </a:defRPr>
            </a:pPr>
            <a:r>
              <a:rPr sz="2250" b="0" lang="zh-CN">
                <a:solidFill>
                  <a:schemeClr val="tx1"/>
                </a:solidFill>
              </a:rPr>
              <a:t>部分字符。</a:t>
            </a:r>
          </a:p>
        </p:txBody>
      </p:sp>
      <p:sp>
        <p:nvSpPr>
          <p:cNvPr id="9" name="较长窗口有助于保留相关材料与工作过程。使用时">
            <a:extLst xmlns:a="http://schemas.openxmlformats.org/drawingml/2006/main">
              <a:ext uri="{FF2B5EF4-FFF2-40B4-BE49-F238E27FC236}">
                <a16:creationId xmlns:a16="http://schemas.microsoft.com/office/drawing/2014/main" id="{AFF2E0B4-9F46-4058-ACFF-C74315C0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</a:defRPr>
            </a:defPPr>
            <a:lvl1pPr algn="l">
              <a:defRPr sz="2250" b="0">
                <a:solidFill>
                  <a:schemeClr val="tx1"/>
                </a:solidFill>
              </a:defRPr>
            </a:lvl1pPr>
            <a:lvl2pPr algn="l">
              <a:defRPr sz="2250" b="0">
                <a:solidFill>
                  <a:schemeClr val="tx1"/>
                </a:solidFill>
              </a:defRPr>
            </a:lvl2pPr>
            <a:lvl3pPr algn="l">
              <a:defRPr sz="2250" b="0">
                <a:solidFill>
                  <a:schemeClr val="tx1"/>
                </a:solidFill>
              </a:defRPr>
            </a:lvl3pPr>
            <a:lvl4pPr algn="l">
              <a:defRPr sz="2250" b="0">
                <a:solidFill>
                  <a:schemeClr val="tx1"/>
                </a:solidFill>
              </a:defRPr>
            </a:lvl4pPr>
            <a:lvl5pPr algn="l">
              <a:defRPr sz="2250" b="0">
                <a:solidFill>
                  <a:schemeClr val="tx1"/>
                </a:solidFill>
              </a:defRPr>
            </a:lvl5pPr>
            <a:lvl6pPr algn="l">
              <a:defRPr sz="2250" b="0">
                <a:solidFill>
                  <a:schemeClr val="tx1"/>
                </a:solidFill>
              </a:defRPr>
            </a:lvl6pPr>
            <a:lvl7pPr algn="l">
              <a:defRPr sz="2250" b="0">
                <a:solidFill>
                  <a:schemeClr val="tx1"/>
                </a:solidFill>
              </a:defRPr>
            </a:lvl7pPr>
            <a:lvl8pPr algn="l">
              <a:defRPr sz="2250" b="0">
                <a:solidFill>
                  <a:schemeClr val="tx1"/>
                </a:solidFill>
              </a:defRPr>
            </a:lvl8pPr>
            <a:lvl9pPr algn="l">
              <a:defRPr sz="225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250" b="0">
                <a:solidFill>
                  <a:schemeClr val="tx1"/>
                </a:solidFill>
              </a:defRPr>
            </a:pPr>
            <a:r>
              <a:rPr sz="2250" b="0" lang="zh-CN">
                <a:solidFill>
                  <a:schemeClr val="tx1"/>
                </a:solidFill>
              </a:rPr>
              <a:t>较长窗口有助于保留相关材料与工作过程。使用时还需为后续生成预留空间。</a:t>
            </a:r>
          </a:p>
        </p:txBody>
      </p:sp>
    </p:spTree>
    <p:extLst>
      <p:ext uri="{BB962C8B-B14F-4D97-AF65-F5344CB8AC3E}">
        <p14:creationId xmlns:p14="http://schemas.microsoft.com/office/powerpoint/2010/main" val="156027981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模型能力与分析任务的深度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同一份财报可以对应不同程度的工作要求。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9B54E-6E3C-444D-B251-EC317FE3A741}"/>
              </a:ext>
            </a:extLst>
          </p:cNvPr>
          <p:cNvGraphicFramePr/>
          <p:nvPr>
            <p:ph type="obj" idx="2"/>
          </p:nvPr>
        </p:nvGraphicFramePr>
        <p:xfrm>
          <a:off xmlns:a="http://schemas.openxmlformats.org/drawingml/2006/main" x="609600" y="21717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14750"/>
                <a:gridCol w="725805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1" lang="zh-CN">
                          <a:solidFill>
                            <a:schemeClr val="bg1"/>
                          </a:solidFill>
                        </a:rPr>
                        <a:t>工作要求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1" lang="zh-CN">
                          <a:solidFill>
                            <a:schemeClr val="bg1"/>
                          </a:solidFill>
                        </a:rPr>
                        <a:t>模型需要完成的处理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整理收入与利润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定位表格，识别数字、单位与期间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解释本期变化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联系业务、费用和附注，组织有依据的原因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比较不同公司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对齐口径，识别差异并说明其意义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形成可交付分析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组织比较表、计算结果、文字与引用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任务越深入，越需要衔接多个步骤。模型评价应关">
            <a:extLst xmlns:a="http://schemas.openxmlformats.org/drawingml/2006/main">
              <a:ext uri="{FF2B5EF4-FFF2-40B4-BE49-F238E27FC236}">
                <a16:creationId xmlns:a16="http://schemas.microsoft.com/office/drawing/2014/main" id="{0498E92B-0871-4564-8E7D-3B028BFB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chemeClr val="tx1"/>
                </a:solidFill>
              </a:defRPr>
            </a:defPPr>
            <a:lvl1pPr algn="l">
              <a:defRPr sz="2025" b="0">
                <a:solidFill>
                  <a:schemeClr val="tx1"/>
                </a:solidFill>
              </a:defRPr>
            </a:lvl1pPr>
            <a:lvl2pPr algn="l">
              <a:defRPr sz="2025" b="0">
                <a:solidFill>
                  <a:schemeClr val="tx1"/>
                </a:solidFill>
              </a:defRPr>
            </a:lvl2pPr>
            <a:lvl3pPr algn="l">
              <a:defRPr sz="2025" b="0">
                <a:solidFill>
                  <a:schemeClr val="tx1"/>
                </a:solidFill>
              </a:defRPr>
            </a:lvl3pPr>
            <a:lvl4pPr algn="l">
              <a:defRPr sz="2025" b="0">
                <a:solidFill>
                  <a:schemeClr val="tx1"/>
                </a:solidFill>
              </a:defRPr>
            </a:lvl4pPr>
            <a:lvl5pPr algn="l">
              <a:defRPr sz="2025" b="0">
                <a:solidFill>
                  <a:schemeClr val="tx1"/>
                </a:solidFill>
              </a:defRPr>
            </a:lvl5pPr>
            <a:lvl6pPr algn="l">
              <a:defRPr sz="2025" b="0">
                <a:solidFill>
                  <a:schemeClr val="tx1"/>
                </a:solidFill>
              </a:defRPr>
            </a:lvl6pPr>
            <a:lvl7pPr algn="l">
              <a:defRPr sz="2025" b="0">
                <a:solidFill>
                  <a:schemeClr val="tx1"/>
                </a:solidFill>
              </a:defRPr>
            </a:lvl7pPr>
            <a:lvl8pPr algn="l">
              <a:defRPr sz="2025" b="0">
                <a:solidFill>
                  <a:schemeClr val="tx1"/>
                </a:solidFill>
              </a:defRPr>
            </a:lvl8pPr>
            <a:lvl9pPr algn="l">
              <a:defRPr sz="2025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任务越深入，越需要衔接多个步骤。模型评价应关注最终交付物的完成程度。</a:t>
            </a:r>
          </a:p>
        </p:txBody>
      </p:sp>
    </p:spTree>
    <p:extLst>
      <p:ext uri="{BB962C8B-B14F-4D97-AF65-F5344CB8AC3E}">
        <p14:creationId xmlns:p14="http://schemas.microsoft.com/office/powerpoint/2010/main" val="168075135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89CDA-7DEC-4F81-A378-CA8747946F3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753475" y="29527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5C1F0-58C2-42A1-8DA0-83B49440ABE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924550" y="29527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3FE69-956B-47A0-979F-39880107E079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095625" y="29527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sp>
        <p:nvSpPr>
          <p:cNvPr id="1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首次输出、生成速度与完整任务时间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首次输出时间影响提交材料后的等待，生成速度影响内容出现的速度。</a:t>
            </a:r>
          </a:p>
        </p:txBody>
      </p:sp>
      <p:sp>
        <p:nvSpPr>
          <p:cNvPr id="3" name="提交材料">
            <a:extLst xmlns:a="http://schemas.openxmlformats.org/drawingml/2006/main">
              <a:ext uri="{FF2B5EF4-FFF2-40B4-BE49-F238E27FC236}">
                <a16:creationId xmlns:a16="http://schemas.microsoft.com/office/drawing/2014/main" id="{49406A35-DB94-47DF-B864-3CDA34E1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4860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提交材料</a:t>
            </a:r>
          </a:p>
        </p:txBody>
      </p:sp>
      <p:sp>
        <p:nvSpPr>
          <p:cNvPr id="4" name="等待首次输出">
            <a:extLst xmlns:a="http://schemas.openxmlformats.org/drawingml/2006/main">
              <a:ext uri="{FF2B5EF4-FFF2-40B4-BE49-F238E27FC236}">
                <a16:creationId xmlns:a16="http://schemas.microsoft.com/office/drawing/2014/main" id="{FFB82D29-C182-40C1-B168-0B394DB1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71750"/>
            <a:ext cx="24860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等待首次输出</a:t>
            </a:r>
          </a:p>
        </p:txBody>
      </p:sp>
      <p:sp>
        <p:nvSpPr>
          <p:cNvPr id="5" name="持续生成">
            <a:extLst xmlns:a="http://schemas.openxmlformats.org/drawingml/2006/main">
              <a:ext uri="{FF2B5EF4-FFF2-40B4-BE49-F238E27FC236}">
                <a16:creationId xmlns:a16="http://schemas.microsoft.com/office/drawing/2014/main" id="{D10BEA83-6D21-494B-80B1-04708E18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24860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持续生成</a:t>
            </a:r>
          </a:p>
        </p:txBody>
      </p:sp>
      <p:sp>
        <p:nvSpPr>
          <p:cNvPr id="6" name="本轮完成">
            <a:extLst xmlns:a="http://schemas.openxmlformats.org/drawingml/2006/main">
              <a:ext uri="{FF2B5EF4-FFF2-40B4-BE49-F238E27FC236}">
                <a16:creationId xmlns:a16="http://schemas.microsoft.com/office/drawing/2014/main" id="{EADBFB1F-E3AB-48BB-A79B-44A3CBEE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71750"/>
            <a:ext cx="24860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本轮完成</a:t>
            </a:r>
          </a:p>
        </p:txBody>
      </p:sp>
      <p:sp>
        <p:nvSpPr>
          <p:cNvPr id="10" name="生成速度通常以 token/s 表示。输出长">
            <a:extLst xmlns:a="http://schemas.openxmlformats.org/drawingml/2006/main">
              <a:ext uri="{FF2B5EF4-FFF2-40B4-BE49-F238E27FC236}">
                <a16:creationId xmlns:a16="http://schemas.microsoft.com/office/drawing/2014/main" id="{59D8058A-9520-46E8-9C6B-40D07052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</a:defRPr>
            </a:defPPr>
            <a:lvl1pPr algn="l">
              <a:defRPr sz="2250" b="0">
                <a:solidFill>
                  <a:schemeClr val="tx1"/>
                </a:solidFill>
              </a:defRPr>
            </a:lvl1pPr>
            <a:lvl2pPr algn="l">
              <a:defRPr sz="2250" b="0">
                <a:solidFill>
                  <a:schemeClr val="tx1"/>
                </a:solidFill>
              </a:defRPr>
            </a:lvl2pPr>
            <a:lvl3pPr algn="l">
              <a:defRPr sz="2250" b="0">
                <a:solidFill>
                  <a:schemeClr val="tx1"/>
                </a:solidFill>
              </a:defRPr>
            </a:lvl3pPr>
            <a:lvl4pPr algn="l">
              <a:defRPr sz="2250" b="0">
                <a:solidFill>
                  <a:schemeClr val="tx1"/>
                </a:solidFill>
              </a:defRPr>
            </a:lvl4pPr>
            <a:lvl5pPr algn="l">
              <a:defRPr sz="2250" b="0">
                <a:solidFill>
                  <a:schemeClr val="tx1"/>
                </a:solidFill>
              </a:defRPr>
            </a:lvl5pPr>
            <a:lvl6pPr algn="l">
              <a:defRPr sz="2250" b="0">
                <a:solidFill>
                  <a:schemeClr val="tx1"/>
                </a:solidFill>
              </a:defRPr>
            </a:lvl6pPr>
            <a:lvl7pPr algn="l">
              <a:defRPr sz="2250" b="0">
                <a:solidFill>
                  <a:schemeClr val="tx1"/>
                </a:solidFill>
              </a:defRPr>
            </a:lvl7pPr>
            <a:lvl8pPr algn="l">
              <a:defRPr sz="2250" b="0">
                <a:solidFill>
                  <a:schemeClr val="tx1"/>
                </a:solidFill>
              </a:defRPr>
            </a:lvl8pPr>
            <a:lvl9pPr algn="l">
              <a:defRPr sz="225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250" b="0">
                <a:solidFill>
                  <a:schemeClr val="tx1"/>
                </a:solidFill>
              </a:defRPr>
            </a:pPr>
            <a:r>
              <a:rPr sz="2250" b="0" lang="zh-CN">
                <a:solidFill>
                  <a:schemeClr val="tx1"/>
                </a:solidFill>
              </a:rPr>
              <a:t>生成速度通常以 token/s 表示。输出长度与生成速度共同决定生成阶段的持续时间。</a:t>
            </a:r>
          </a:p>
        </p:txBody>
      </p:sp>
      <p:sp>
        <p:nvSpPr>
          <p:cNvPr id="11" name="完整任务还包括工具计算、补充资料和多轮修改。">
            <a:extLst xmlns:a="http://schemas.openxmlformats.org/drawingml/2006/main">
              <a:ext uri="{FF2B5EF4-FFF2-40B4-BE49-F238E27FC236}">
                <a16:creationId xmlns:a16="http://schemas.microsoft.com/office/drawing/2014/main" id="{6A8E569D-BDE9-483D-80E7-04C40ECA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</a:defRPr>
            </a:defPPr>
            <a:lvl1pPr algn="l">
              <a:defRPr sz="2250" b="0">
                <a:solidFill>
                  <a:schemeClr val="tx1"/>
                </a:solidFill>
              </a:defRPr>
            </a:lvl1pPr>
            <a:lvl2pPr algn="l">
              <a:defRPr sz="2250" b="0">
                <a:solidFill>
                  <a:schemeClr val="tx1"/>
                </a:solidFill>
              </a:defRPr>
            </a:lvl2pPr>
            <a:lvl3pPr algn="l">
              <a:defRPr sz="2250" b="0">
                <a:solidFill>
                  <a:schemeClr val="tx1"/>
                </a:solidFill>
              </a:defRPr>
            </a:lvl3pPr>
            <a:lvl4pPr algn="l">
              <a:defRPr sz="2250" b="0">
                <a:solidFill>
                  <a:schemeClr val="tx1"/>
                </a:solidFill>
              </a:defRPr>
            </a:lvl4pPr>
            <a:lvl5pPr algn="l">
              <a:defRPr sz="2250" b="0">
                <a:solidFill>
                  <a:schemeClr val="tx1"/>
                </a:solidFill>
              </a:defRPr>
            </a:lvl5pPr>
            <a:lvl6pPr algn="l">
              <a:defRPr sz="2250" b="0">
                <a:solidFill>
                  <a:schemeClr val="tx1"/>
                </a:solidFill>
              </a:defRPr>
            </a:lvl6pPr>
            <a:lvl7pPr algn="l">
              <a:defRPr sz="2250" b="0">
                <a:solidFill>
                  <a:schemeClr val="tx1"/>
                </a:solidFill>
              </a:defRPr>
            </a:lvl7pPr>
            <a:lvl8pPr algn="l">
              <a:defRPr sz="2250" b="0">
                <a:solidFill>
                  <a:schemeClr val="tx1"/>
                </a:solidFill>
              </a:defRPr>
            </a:lvl8pPr>
            <a:lvl9pPr algn="l">
              <a:defRPr sz="225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250" b="0">
                <a:solidFill>
                  <a:schemeClr val="tx1"/>
                </a:solidFill>
              </a:defRPr>
            </a:pPr>
            <a:r>
              <a:rPr sz="2250" b="0" lang="zh-CN">
                <a:solidFill>
                  <a:schemeClr val="tx1"/>
                </a:solidFill>
              </a:rPr>
              <a:t>完整任务还包括工具计算、补充资料和多轮修改。短问答适合即时跟进，较长分析</a:t>
            </a:r>
          </a:p>
          <a:p xmlns:a="http://schemas.openxmlformats.org/drawingml/2006/main">
            <a:pPr algn="l">
              <a:defRPr sz="2250" b="0">
                <a:solidFill>
                  <a:schemeClr val="tx1"/>
                </a:solidFill>
              </a:defRPr>
            </a:pPr>
            <a:r>
              <a:rPr sz="2250" b="0" lang="zh-CN">
                <a:solidFill>
                  <a:schemeClr val="tx1"/>
                </a:solidFill>
              </a:rPr>
              <a:t>可以提前提交，再在其他工作间隙查看结果。</a:t>
            </a:r>
          </a:p>
        </p:txBody>
      </p:sp>
    </p:spTree>
    <p:extLst>
      <p:ext uri="{BB962C8B-B14F-4D97-AF65-F5344CB8AC3E}">
        <p14:creationId xmlns:p14="http://schemas.microsoft.com/office/powerpoint/2010/main" val="181774199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使用场景与选型顺序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上下文、模型能力与速度，需要结合使用方式和设备条件判断。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AEB8E-574A-4D04-A2A7-CD21685CCD1D}"/>
              </a:ext>
            </a:extLst>
          </p:cNvPr>
          <p:cNvGraphicFramePr/>
          <p:nvPr>
            <p:ph type="obj" idx="2"/>
          </p:nvPr>
        </p:nvGraphicFramePr>
        <p:xfrm>
          <a:off xmlns:a="http://schemas.openxmlformats.org/drawingml/2006/main" x="609600" y="2171700"/>
          <a:ext xmlns:a="http://schemas.openxmlformats.org/drawingml/2006/main" cx="10972800" cy="2762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3714750"/>
                <a:gridCol w="4591050"/>
              </a:tblGrid>
              <a:tr h="920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100" b="1" lang="zh-CN">
                          <a:solidFill>
                            <a:schemeClr val="bg1"/>
                          </a:solidFill>
                        </a:rPr>
                        <a:t>使用场景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100" b="1" lang="zh-CN">
                          <a:solidFill>
                            <a:schemeClr val="bg1"/>
                          </a:solidFill>
                        </a:rPr>
                        <a:t>选择起点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100" b="1" lang="zh-CN">
                          <a:solidFill>
                            <a:schemeClr val="bg1"/>
                          </a:solidFill>
                        </a:rPr>
                        <a:t>后续判断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920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100" b="0" lang="zh-CN">
                          <a:solidFill>
                            <a:schemeClr val="tx1"/>
                          </a:solidFill>
                        </a:rPr>
                        <a:t>个人日常工作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100" b="0" lang="zh-CN">
                          <a:solidFill>
                            <a:schemeClr val="tx1"/>
                          </a:solidFill>
                        </a:rPr>
                        <a:t>容易部署和维护的整机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100" b="0" lang="zh-CN">
                          <a:solidFill>
                            <a:schemeClr val="tx1"/>
                          </a:solidFill>
                        </a:rPr>
                        <a:t>硬件确定后优先模型能力，再判断速度是否可接受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920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100" b="0" lang="zh-CN">
                          <a:solidFill>
                            <a:schemeClr val="tx1"/>
                          </a:solidFill>
                        </a:rPr>
                        <a:t>公司共享服务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100" b="0" lang="zh-CN">
                          <a:solidFill>
                            <a:schemeClr val="tx1"/>
                          </a:solidFill>
                        </a:rPr>
                        <a:t>单台八卡服务器的部署条件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100" b="0" lang="zh-CN">
                          <a:solidFill>
                            <a:schemeClr val="tx1"/>
                          </a:solidFill>
                        </a:rPr>
                        <a:t>综合能力、速度与框架支持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以下分别说明个人设备和公司服务器的选择过程。">
            <a:extLst xmlns:a="http://schemas.openxmlformats.org/drawingml/2006/main">
              <a:ext uri="{FF2B5EF4-FFF2-40B4-BE49-F238E27FC236}">
                <a16:creationId xmlns:a16="http://schemas.microsoft.com/office/drawing/2014/main" id="{4DF2EDCD-8384-4F98-9069-D0FF16ED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chemeClr val="tx1"/>
                </a:solidFill>
              </a:defRPr>
            </a:defPPr>
            <a:lvl1pPr algn="l">
              <a:defRPr sz="2025" b="0">
                <a:solidFill>
                  <a:schemeClr val="tx1"/>
                </a:solidFill>
              </a:defRPr>
            </a:lvl1pPr>
            <a:lvl2pPr algn="l">
              <a:defRPr sz="2025" b="0">
                <a:solidFill>
                  <a:schemeClr val="tx1"/>
                </a:solidFill>
              </a:defRPr>
            </a:lvl2pPr>
            <a:lvl3pPr algn="l">
              <a:defRPr sz="2025" b="0">
                <a:solidFill>
                  <a:schemeClr val="tx1"/>
                </a:solidFill>
              </a:defRPr>
            </a:lvl3pPr>
            <a:lvl4pPr algn="l">
              <a:defRPr sz="2025" b="0">
                <a:solidFill>
                  <a:schemeClr val="tx1"/>
                </a:solidFill>
              </a:defRPr>
            </a:lvl4pPr>
            <a:lvl5pPr algn="l">
              <a:defRPr sz="2025" b="0">
                <a:solidFill>
                  <a:schemeClr val="tx1"/>
                </a:solidFill>
              </a:defRPr>
            </a:lvl5pPr>
            <a:lvl6pPr algn="l">
              <a:defRPr sz="2025" b="0">
                <a:solidFill>
                  <a:schemeClr val="tx1"/>
                </a:solidFill>
              </a:defRPr>
            </a:lvl6pPr>
            <a:lvl7pPr algn="l">
              <a:defRPr sz="2025" b="0">
                <a:solidFill>
                  <a:schemeClr val="tx1"/>
                </a:solidFill>
              </a:defRPr>
            </a:lvl7pPr>
            <a:lvl8pPr algn="l">
              <a:defRPr sz="2025" b="0">
                <a:solidFill>
                  <a:schemeClr val="tx1"/>
                </a:solidFill>
              </a:defRPr>
            </a:lvl8pPr>
            <a:lvl9pPr algn="l">
              <a:defRPr sz="2025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以下分别说明个人设备和公司服务器的选择过程。</a:t>
            </a:r>
          </a:p>
        </p:txBody>
      </p:sp>
    </p:spTree>
    <p:extLst>
      <p:ext uri="{BB962C8B-B14F-4D97-AF65-F5344CB8AC3E}">
        <p14:creationId xmlns:p14="http://schemas.microsoft.com/office/powerpoint/2010/main" val="53262443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0EB7629E-A543-4DEC-B3D0-8289EFAB9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第三章</a:t>
            </a:r>
          </a:p>
          <a:p xmlns:a="http://schemas.openxmlformats.org/drawingml/2006/main">
            <a:pPr>
              <a:buNone/>
            </a:pPr>
            <a:r>
              <a:t>模型选型与部署条件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3FD7D765-A9B6-4A5F-B8DE-310B96E2D1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结合设备使用方式、任务能力与运行体验</a:t>
            </a:r>
          </a:p>
          <a:p xmlns:a="http://schemas.openxmlformats.org/drawingml/2006/main">
            <a:pPr>
              <a:buNone/>
            </a:pPr>
            <a:r>
              <a:t>说明个人端和服务器端的选择依据</a:t>
            </a:r>
          </a:p>
        </p:txBody>
      </p:sp>
    </p:spTree>
    <p:extLst>
      <p:ext uri="{BB962C8B-B14F-4D97-AF65-F5344CB8AC3E}">
        <p14:creationId xmlns:p14="http://schemas.microsoft.com/office/powerpoint/2010/main" val="90261643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个人设备的整机方案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个人工具需要方便部署，并能在日常使用中持续维护。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7C840-1380-45FD-8A1C-21B93991CC2D}"/>
              </a:ext>
            </a:extLst>
          </p:cNvPr>
          <p:cNvGraphicFramePr/>
          <p:nvPr>
            <p:ph type="obj" idx="2"/>
          </p:nvPr>
        </p:nvGraphicFramePr>
        <p:xfrm>
          <a:off xmlns:a="http://schemas.openxmlformats.org/drawingml/2006/main" x="609600" y="217170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905250"/>
                <a:gridCol w="3143250"/>
                <a:gridCol w="3924300"/>
              </a:tblGrid>
              <a:tr h="984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1" lang="zh-CN">
                          <a:solidFill>
                            <a:schemeClr val="bg1"/>
                          </a:solidFill>
                        </a:rPr>
                        <a:t>整机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1" lang="zh-CN">
                          <a:solidFill>
                            <a:schemeClr val="bg1"/>
                          </a:solidFill>
                        </a:rPr>
                        <a:t>比较配置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1" lang="zh-CN">
                          <a:solidFill>
                            <a:schemeClr val="bg1"/>
                          </a:solidFill>
                        </a:rPr>
                        <a:t>使用路径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984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NVIDIA DGX Spark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128GB 统一内存</a:t>
                      </a:r>
                    </a:p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4TB SSD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NVIDIA 软件栈</a:t>
                      </a:r>
                    </a:p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连接员工电脑使用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984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Mac Studio，M5 Ultra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256GB 统一内存</a:t>
                      </a:r>
                    </a:p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2TB SSD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macOS</a:t>
                      </a:r>
                    </a:p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MLX 或 Metal 本地推理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成熟整机集成计算、内存、散热和系统，安装、升">
            <a:extLst xmlns:a="http://schemas.openxmlformats.org/drawingml/2006/main">
              <a:ext uri="{FF2B5EF4-FFF2-40B4-BE49-F238E27FC236}">
                <a16:creationId xmlns:a16="http://schemas.microsoft.com/office/drawing/2014/main" id="{0247EDEC-5A98-4629-91D4-296B766F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chemeClr val="tx1"/>
                </a:solidFill>
              </a:defRPr>
            </a:defPPr>
            <a:lvl1pPr algn="l">
              <a:defRPr sz="2025" b="0">
                <a:solidFill>
                  <a:schemeClr val="tx1"/>
                </a:solidFill>
              </a:defRPr>
            </a:lvl1pPr>
            <a:lvl2pPr algn="l">
              <a:defRPr sz="2025" b="0">
                <a:solidFill>
                  <a:schemeClr val="tx1"/>
                </a:solidFill>
              </a:defRPr>
            </a:lvl2pPr>
            <a:lvl3pPr algn="l">
              <a:defRPr sz="2025" b="0">
                <a:solidFill>
                  <a:schemeClr val="tx1"/>
                </a:solidFill>
              </a:defRPr>
            </a:lvl3pPr>
            <a:lvl4pPr algn="l">
              <a:defRPr sz="2025" b="0">
                <a:solidFill>
                  <a:schemeClr val="tx1"/>
                </a:solidFill>
              </a:defRPr>
            </a:lvl4pPr>
            <a:lvl5pPr algn="l">
              <a:defRPr sz="2025" b="0">
                <a:solidFill>
                  <a:schemeClr val="tx1"/>
                </a:solidFill>
              </a:defRPr>
            </a:lvl5pPr>
            <a:lvl6pPr algn="l">
              <a:defRPr sz="2025" b="0">
                <a:solidFill>
                  <a:schemeClr val="tx1"/>
                </a:solidFill>
              </a:defRPr>
            </a:lvl6pPr>
            <a:lvl7pPr algn="l">
              <a:defRPr sz="2025" b="0">
                <a:solidFill>
                  <a:schemeClr val="tx1"/>
                </a:solidFill>
              </a:defRPr>
            </a:lvl7pPr>
            <a:lvl8pPr algn="l">
              <a:defRPr sz="2025" b="0">
                <a:solidFill>
                  <a:schemeClr val="tx1"/>
                </a:solidFill>
              </a:defRPr>
            </a:lvl8pPr>
            <a:lvl9pPr algn="l">
              <a:defRPr sz="2025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成熟整机集成计算、内存、散热和系统，安装、升级与维护可沿厂商提供的路径进行。</a:t>
            </a:r>
          </a:p>
        </p:txBody>
      </p:sp>
    </p:spTree>
    <p:extLst>
      <p:ext uri="{BB962C8B-B14F-4D97-AF65-F5344CB8AC3E}">
        <p14:creationId xmlns:p14="http://schemas.microsoft.com/office/powerpoint/2010/main" val="184858087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75DFDFE9-2817-4866-BD00-459D92A802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DGX Spark 的选择依据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71893EEC-4DA7-4EE4-A919-A855CF6C5C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spcAft>
                <a:spcPts val="2000"/>
              </a:spcAft>
            </a:pPr>
            <a:r>
              <a:t>框架适配：Spark 支持 NVIDIA 软件与容器环境，厂商提供 vLLM、SGLang 等部署</a:t>
            </a:r>
            <a:br/>
            <a:r>
              <a:t>指南，具备本次研究所需的推理框架运行路径。</a:t>
            </a:r>
          </a:p>
          <a:p xmlns:a="http://schemas.openxmlformats.org/drawingml/2006/main">
            <a:pPr>
              <a:buNone/>
              <a:spcAft>
                <a:spcPts val="2000"/>
              </a:spcAft>
            </a:pPr>
            <a:r>
              <a:t>维护衔接：个人设备与公司服务器采用 NVIDIA 路线，模型服务接口、框架配置、</a:t>
            </a:r>
            <a:br/>
            <a:r>
              <a:t>监控和维护经验可以延续。</a:t>
            </a:r>
          </a:p>
          <a:p xmlns:a="http://schemas.openxmlformats.org/drawingml/2006/main">
            <a:pPr>
              <a:buNone/>
              <a:spcAft>
                <a:spcPts val="2000"/>
              </a:spcAft>
            </a:pPr>
            <a:r>
              <a:t>投入匹配：Spark 研究预算约 5.8–6.2 万元，M5 Ultra 256GB／2TB 配置的调研价</a:t>
            </a:r>
            <a:br/>
            <a:r>
              <a:t>格约 9.05 万元。综合购机、框架适配与维护，选择 Spark，并在 128GB 统一内存</a:t>
            </a:r>
            <a:br/>
            <a:r>
              <a:t>范围内确定模型。</a:t>
            </a:r>
          </a:p>
        </p:txBody>
      </p:sp>
    </p:spTree>
    <p:extLst>
      <p:ext uri="{BB962C8B-B14F-4D97-AF65-F5344CB8AC3E}">
        <p14:creationId xmlns:p14="http://schemas.microsoft.com/office/powerpoint/2010/main" val="163531941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个人模型优先满足任务能力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GDPval-AA v2.1 比较模型使用文件、代码和网页工具完成专业工作后的交付物。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85176-C3B8-4E3F-A130-5A14A1EFF1F4}"/>
              </a:ext>
            </a:extLst>
          </p:cNvPr>
          <p:cNvGraphicFramePr/>
          <p:nvPr>
            <p:ph type="obj" idx="2"/>
          </p:nvPr>
        </p:nvGraphicFramePr>
        <p:xfrm>
          <a:off xmlns:a="http://schemas.openxmlformats.org/drawingml/2006/main" x="609600" y="217170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8096250"/>
                <a:gridCol w="287655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1" lang="zh-CN">
                          <a:solidFill>
                            <a:schemeClr val="bg1"/>
                          </a:solidFill>
                        </a:rPr>
                        <a:t>个人候选模型／AA 推理标签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1" lang="zh-CN">
                          <a:solidFill>
                            <a:schemeClr val="bg1"/>
                          </a:solidFill>
                        </a:rPr>
                        <a:t>Elo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Qwen3.8-27B／Xhigh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1,417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Qwen3.6-35B-A3B／Reasoning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889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Gemma 4 31B／Reasoning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620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2026 年 10 月 23 日读取，Elo">
            <a:extLst xmlns:a="http://schemas.openxmlformats.org/drawingml/2006/main">
              <a:ext uri="{FF2B5EF4-FFF2-40B4-BE49-F238E27FC236}">
                <a16:creationId xmlns:a16="http://schemas.microsoft.com/office/drawing/2014/main" id="{BBFBC5ED-DB3A-4972-842E-C2EBEF36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chemeClr val="tx1"/>
                </a:solidFill>
              </a:defRPr>
            </a:defPPr>
            <a:lvl1pPr algn="l">
              <a:defRPr sz="2025" b="0">
                <a:solidFill>
                  <a:schemeClr val="tx1"/>
                </a:solidFill>
              </a:defRPr>
            </a:lvl1pPr>
            <a:lvl2pPr algn="l">
              <a:defRPr sz="2025" b="0">
                <a:solidFill>
                  <a:schemeClr val="tx1"/>
                </a:solidFill>
              </a:defRPr>
            </a:lvl2pPr>
            <a:lvl3pPr algn="l">
              <a:defRPr sz="2025" b="0">
                <a:solidFill>
                  <a:schemeClr val="tx1"/>
                </a:solidFill>
              </a:defRPr>
            </a:lvl3pPr>
            <a:lvl4pPr algn="l">
              <a:defRPr sz="2025" b="0">
                <a:solidFill>
                  <a:schemeClr val="tx1"/>
                </a:solidFill>
              </a:defRPr>
            </a:lvl4pPr>
            <a:lvl5pPr algn="l">
              <a:defRPr sz="2025" b="0">
                <a:solidFill>
                  <a:schemeClr val="tx1"/>
                </a:solidFill>
              </a:defRPr>
            </a:lvl5pPr>
            <a:lvl6pPr algn="l">
              <a:defRPr sz="2025" b="0">
                <a:solidFill>
                  <a:schemeClr val="tx1"/>
                </a:solidFill>
              </a:defRPr>
            </a:lvl6pPr>
            <a:lvl7pPr algn="l">
              <a:defRPr sz="2025" b="0">
                <a:solidFill>
                  <a:schemeClr val="tx1"/>
                </a:solidFill>
              </a:defRPr>
            </a:lvl7pPr>
            <a:lvl8pPr algn="l">
              <a:defRPr sz="2025" b="0">
                <a:solidFill>
                  <a:schemeClr val="tx1"/>
                </a:solidFill>
              </a:defRPr>
            </a:lvl8pPr>
            <a:lvl9pPr algn="l">
              <a:defRPr sz="2025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2026 年 10 月 23 日读取，Elo 越高，工作交付表现越强。</a:t>
            </a:r>
          </a:p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Qwen3.8-27B 在本组候选中表现最强。结合稳定使用表现的调研判断，选择其作为个人主力，</a:t>
            </a:r>
          </a:p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随后评估生成速度。</a:t>
            </a:r>
          </a:p>
        </p:txBody>
      </p:sp>
    </p:spTree>
    <p:extLst>
      <p:ext uri="{BB962C8B-B14F-4D97-AF65-F5344CB8AC3E}">
        <p14:creationId xmlns:p14="http://schemas.microsoft.com/office/powerpoint/2010/main" val="28209542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Qwen3.8-27B 的生成速度取舍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257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模型参数是训练形成并保存的数值。Qwen27 采用稠密架构，每步使用主体参数。</a:t>
            </a:r>
          </a:p>
          <a:p xmlns:a="http://schemas.openxmlformats.org/drawingml/2006/main">
            <a:pPr>
              <a:buNone/>
            </a:pPr>
            <a:r>
              <a:t>Qwen3.6-35B-A3B 从总计35B中每步约激活3B，计算负担不同。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CBB73-6AA4-4788-B96B-5239D186DCF1}"/>
              </a:ext>
            </a:extLst>
          </p:cNvPr>
          <p:cNvGraphicFramePr/>
          <p:nvPr>
            <p:ph type="obj" idx="2"/>
          </p:nvPr>
        </p:nvGraphicFramePr>
        <p:xfrm>
          <a:off xmlns:a="http://schemas.openxmlformats.org/drawingml/2006/main" x="609600" y="2476500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14625"/>
                <a:gridCol w="2381250"/>
                <a:gridCol w="2857500"/>
                <a:gridCol w="3019425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1" lang="zh-CN">
                          <a:solidFill>
                            <a:schemeClr val="bg1"/>
                          </a:solidFill>
                        </a:rPr>
                        <a:t>输入 tokens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1" lang="zh-CN">
                          <a:solidFill>
                            <a:schemeClr val="bg1"/>
                          </a:solidFill>
                        </a:rPr>
                        <a:t>输出 tokens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1" lang="zh-CN">
                          <a:solidFill>
                            <a:schemeClr val="bg1"/>
                          </a:solidFill>
                        </a:rPr>
                        <a:t>首次输出等待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1" lang="zh-CN">
                          <a:solidFill>
                            <a:schemeClr val="bg1"/>
                          </a:solidFill>
                        </a:rPr>
                        <a:t>后续生成速度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 lang="zh-CN">
                          <a:solidFill>
                            <a:schemeClr val="tx1"/>
                          </a:solidFill>
                        </a:rPr>
                        <a:t>50,000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 lang="zh-CN">
                          <a:solidFill>
                            <a:schemeClr val="tx1"/>
                          </a:solidFill>
                        </a:rPr>
                        <a:t>2,048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 lang="zh-CN">
                          <a:solidFill>
                            <a:schemeClr val="tx1"/>
                          </a:solidFill>
                        </a:rPr>
                        <a:t>63.1 秒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 lang="zh-CN">
                          <a:solidFill>
                            <a:schemeClr val="tx1"/>
                          </a:solidFill>
                        </a:rPr>
                        <a:t>21.01 token/s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 lang="zh-CN">
                          <a:solidFill>
                            <a:schemeClr val="tx1"/>
                          </a:solidFill>
                        </a:rPr>
                        <a:t>100,000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 lang="zh-CN">
                          <a:solidFill>
                            <a:schemeClr val="tx1"/>
                          </a:solidFill>
                        </a:rPr>
                        <a:t>2,048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 lang="zh-CN">
                          <a:solidFill>
                            <a:schemeClr val="tx1"/>
                          </a:solidFill>
                        </a:rPr>
                        <a:t>144.8 秒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 lang="zh-CN">
                          <a:solidFill>
                            <a:schemeClr val="tx1"/>
                          </a:solidFill>
                        </a:rPr>
                        <a:t>20.11 token/s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 lang="zh-CN">
                          <a:solidFill>
                            <a:schemeClr val="tx1"/>
                          </a:solidFill>
                        </a:rPr>
                        <a:t>500,000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 lang="zh-CN">
                          <a:solidFill>
                            <a:schemeClr val="tx1"/>
                          </a:solidFill>
                        </a:rPr>
                        <a:t>2,048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 lang="zh-CN">
                          <a:solidFill>
                            <a:schemeClr val="tx1"/>
                          </a:solidFill>
                        </a:rPr>
                        <a:t>1,470.1 秒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 lang="zh-CN">
                          <a:solidFill>
                            <a:schemeClr val="tx1"/>
                          </a:solidFill>
                        </a:rPr>
                        <a:t>14.82 token/s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外部测试采用 FP8 权重与缓存、MTP3、">
            <a:extLst xmlns:a="http://schemas.openxmlformats.org/drawingml/2006/main">
              <a:ext uri="{FF2B5EF4-FFF2-40B4-BE49-F238E27FC236}">
                <a16:creationId xmlns:a16="http://schemas.microsoft.com/office/drawing/2014/main" id="{76FCC0D9-1956-434D-BA0B-18D3DCB8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chemeClr val="tx1"/>
                </a:solidFill>
              </a:defRPr>
            </a:defPPr>
            <a:lvl1pPr algn="l">
              <a:defRPr sz="1875" b="0">
                <a:solidFill>
                  <a:schemeClr val="tx1"/>
                </a:solidFill>
              </a:defRPr>
            </a:lvl1pPr>
            <a:lvl2pPr algn="l">
              <a:defRPr sz="1875" b="0">
                <a:solidFill>
                  <a:schemeClr val="tx1"/>
                </a:solidFill>
              </a:defRPr>
            </a:lvl2pPr>
            <a:lvl3pPr algn="l">
              <a:defRPr sz="1875" b="0">
                <a:solidFill>
                  <a:schemeClr val="tx1"/>
                </a:solidFill>
              </a:defRPr>
            </a:lvl3pPr>
            <a:lvl4pPr algn="l">
              <a:defRPr sz="1875" b="0">
                <a:solidFill>
                  <a:schemeClr val="tx1"/>
                </a:solidFill>
              </a:defRPr>
            </a:lvl4pPr>
            <a:lvl5pPr algn="l">
              <a:defRPr sz="1875" b="0">
                <a:solidFill>
                  <a:schemeClr val="tx1"/>
                </a:solidFill>
              </a:defRPr>
            </a:lvl5pPr>
            <a:lvl6pPr algn="l">
              <a:defRPr sz="1875" b="0">
                <a:solidFill>
                  <a:schemeClr val="tx1"/>
                </a:solidFill>
              </a:defRPr>
            </a:lvl6pPr>
            <a:lvl7pPr algn="l">
              <a:defRPr sz="1875" b="0">
                <a:solidFill>
                  <a:schemeClr val="tx1"/>
                </a:solidFill>
              </a:defRPr>
            </a:lvl7pPr>
            <a:lvl8pPr algn="l">
              <a:defRPr sz="1875" b="0">
                <a:solidFill>
                  <a:schemeClr val="tx1"/>
                </a:solidFill>
              </a:defRPr>
            </a:lvl8pPr>
            <a:lvl9pPr algn="l">
              <a:defRPr sz="1875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chemeClr val="tx1"/>
                </a:solidFill>
              </a:defRPr>
            </a:pPr>
            <a:r>
              <a:rPr sz="1875" b="0" lang="zh-CN">
                <a:solidFill>
                  <a:schemeClr val="tx1"/>
                </a:solidFill>
              </a:rPr>
              <a:t>外部测试采用 FP8 权重与缓存、MTP3、随机输入，关闭前缀缓存。前两档各两次，500K 一次。</a:t>
            </a:r>
          </a:p>
          <a:p xmlns:a="http://schemas.openxmlformats.org/drawingml/2006/main">
            <a:pPr algn="l">
              <a:defRPr sz="1875" b="0">
                <a:solidFill>
                  <a:schemeClr val="tx1"/>
                </a:solidFill>
              </a:defRPr>
            </a:pPr>
            <a:r>
              <a:rPr sz="1875" b="0" lang="zh-CN">
                <a:solidFill>
                  <a:schemeClr val="tx1"/>
                </a:solidFill>
              </a:rPr>
              <a:t>接受 50K–100K 输入下约 20 token/s 的体验，保留 Qwen27 的任务能力。长材料可提前提交。</a:t>
            </a:r>
          </a:p>
        </p:txBody>
      </p:sp>
    </p:spTree>
    <p:extLst>
      <p:ext uri="{BB962C8B-B14F-4D97-AF65-F5344CB8AC3E}">
        <p14:creationId xmlns:p14="http://schemas.microsoft.com/office/powerpoint/2010/main" val="18702002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服务器模型与单机八卡条件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共享服务需综合考虑模型能力、推理速度、框架支持，以及模型与会话的资源占用。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89234-0E8C-4917-8224-03869C944F30}"/>
              </a:ext>
            </a:extLst>
          </p:cNvPr>
          <p:cNvGraphicFramePr/>
          <p:nvPr>
            <p:ph type="obj" idx="2"/>
          </p:nvPr>
        </p:nvGraphicFramePr>
        <p:xfrm>
          <a:off xmlns:a="http://schemas.openxmlformats.org/drawingml/2006/main" x="609600" y="2171700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905500"/>
                <a:gridCol w="5067300"/>
              </a:tblGrid>
              <a:tr h="5429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1" lang="zh-CN">
                          <a:solidFill>
                            <a:schemeClr val="bg1"/>
                          </a:solidFill>
                        </a:rPr>
                        <a:t>调研候选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1" lang="zh-CN">
                          <a:solidFill>
                            <a:schemeClr val="bg1"/>
                          </a:solidFill>
                        </a:rPr>
                        <a:t>当时采用的官方权重制品体量，约 GB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 lang="zh-CN">
                          <a:solidFill>
                            <a:schemeClr val="tx1"/>
                          </a:solidFill>
                        </a:rPr>
                        <a:t>DeepSeek-V4.1-Flash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 lang="zh-CN">
                          <a:solidFill>
                            <a:schemeClr val="tx1"/>
                          </a:solidFill>
                        </a:rPr>
                        <a:t>510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 lang="zh-CN">
                          <a:solidFill>
                            <a:schemeClr val="tx1"/>
                          </a:solidFill>
                        </a:rPr>
                        <a:t>MiMo-V2.6-Pro-RL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 lang="zh-CN">
                          <a:solidFill>
                            <a:schemeClr val="tx1"/>
                          </a:solidFill>
                        </a:rPr>
                        <a:t>566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 lang="zh-CN">
                          <a:solidFill>
                            <a:schemeClr val="tx1"/>
                          </a:solidFill>
                        </a:rPr>
                        <a:t>GLM-5.3-Flash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 lang="zh-CN">
                          <a:solidFill>
                            <a:schemeClr val="tx1"/>
                          </a:solidFill>
                        </a:rPr>
                        <a:t>328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 lang="zh-CN">
                          <a:solidFill>
                            <a:schemeClr val="tx1"/>
                          </a:solidFill>
                        </a:rPr>
                        <a:t>GLM-5.3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 lang="zh-CN">
                          <a:solidFill>
                            <a:schemeClr val="tx1"/>
                          </a:solidFill>
                        </a:rPr>
                        <a:t>756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 lang="zh-CN">
                          <a:solidFill>
                            <a:schemeClr val="tx1"/>
                          </a:solidFill>
                        </a:rPr>
                        <a:t>Kimi K3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 lang="zh-CN">
                          <a:solidFill>
                            <a:schemeClr val="tx1"/>
                          </a:solidFill>
                        </a:rPr>
                        <a:t>1,561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权重文件体量用于判断部署容量。服务器还需为会">
            <a:extLst xmlns:a="http://schemas.openxmlformats.org/drawingml/2006/main">
              <a:ext uri="{FF2B5EF4-FFF2-40B4-BE49-F238E27FC236}">
                <a16:creationId xmlns:a16="http://schemas.microsoft.com/office/drawing/2014/main" id="{84730CDE-C99F-4DA3-9EAC-3EC30A81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chemeClr val="tx1"/>
                </a:solidFill>
              </a:defRPr>
            </a:defPPr>
            <a:lvl1pPr algn="l">
              <a:defRPr sz="2025" b="0">
                <a:solidFill>
                  <a:schemeClr val="tx1"/>
                </a:solidFill>
              </a:defRPr>
            </a:lvl1pPr>
            <a:lvl2pPr algn="l">
              <a:defRPr sz="2025" b="0">
                <a:solidFill>
                  <a:schemeClr val="tx1"/>
                </a:solidFill>
              </a:defRPr>
            </a:lvl2pPr>
            <a:lvl3pPr algn="l">
              <a:defRPr sz="2025" b="0">
                <a:solidFill>
                  <a:schemeClr val="tx1"/>
                </a:solidFill>
              </a:defRPr>
            </a:lvl3pPr>
            <a:lvl4pPr algn="l">
              <a:defRPr sz="2025" b="0">
                <a:solidFill>
                  <a:schemeClr val="tx1"/>
                </a:solidFill>
              </a:defRPr>
            </a:lvl4pPr>
            <a:lvl5pPr algn="l">
              <a:defRPr sz="2025" b="0">
                <a:solidFill>
                  <a:schemeClr val="tx1"/>
                </a:solidFill>
              </a:defRPr>
            </a:lvl5pPr>
            <a:lvl6pPr algn="l">
              <a:defRPr sz="2025" b="0">
                <a:solidFill>
                  <a:schemeClr val="tx1"/>
                </a:solidFill>
              </a:defRPr>
            </a:lvl6pPr>
            <a:lvl7pPr algn="l">
              <a:defRPr sz="2025" b="0">
                <a:solidFill>
                  <a:schemeClr val="tx1"/>
                </a:solidFill>
              </a:defRPr>
            </a:lvl7pPr>
            <a:lvl8pPr algn="l">
              <a:defRPr sz="2025" b="0">
                <a:solidFill>
                  <a:schemeClr val="tx1"/>
                </a:solidFill>
              </a:defRPr>
            </a:lvl8pPr>
            <a:lvl9pPr algn="l">
              <a:defRPr sz="2025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权重文件体量用于判断部署容量。服务器还需为会话历史和持续计算保留资源。</a:t>
            </a:r>
          </a:p>
        </p:txBody>
      </p:sp>
    </p:spTree>
    <p:extLst>
      <p:ext uri="{BB962C8B-B14F-4D97-AF65-F5344CB8AC3E}">
        <p14:creationId xmlns:p14="http://schemas.microsoft.com/office/powerpoint/2010/main" val="65999576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75DFDFE9-2817-4866-BD00-459D92A802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初始服务器主力选择 DeepSeek-V4.1-Flash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71893EEC-4DA7-4EE4-A919-A855CF6C5C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spcAft>
                <a:spcPts val="2000"/>
              </a:spcAft>
            </a:pPr>
            <a:r>
              <a:t>模型规模与运行结构适合单机八卡。相较更大的候选，Flash 的模型体量更便于安</a:t>
            </a:r>
            <a:br/>
            <a:r>
              <a:t>排。大型 Engram 参数表可置于主机内存，压缩与共享历史的设计有利于长任务。</a:t>
            </a:r>
          </a:p>
          <a:p xmlns:a="http://schemas.openxmlformats.org/drawingml/2006/main">
            <a:pPr>
              <a:buNone/>
              <a:spcAft>
                <a:spcPts val="2000"/>
              </a:spcAft>
            </a:pPr>
            <a:r>
              <a:t>vLLM、SGLang 提供部署路径，公开多卡运行记录提供速度参照。调研同时考虑较</a:t>
            </a:r>
            <a:br/>
            <a:r>
              <a:t>快推理、主流框架支持与后续维护。</a:t>
            </a:r>
          </a:p>
          <a:p xmlns:a="http://schemas.openxmlformats.org/drawingml/2006/main">
            <a:pPr>
              <a:buNone/>
              <a:spcAft>
                <a:spcPts val="2000"/>
              </a:spcAft>
            </a:pPr>
            <a:r>
              <a:t>在能够承担目标工作的基础上，Flash 的模型能力、速度和部署条件形成适合当前</a:t>
            </a:r>
            <a:br/>
            <a:r>
              <a:t>服务器的组合。调研期间的新版本随后沿此路线更新。</a:t>
            </a:r>
          </a:p>
        </p:txBody>
      </p:sp>
    </p:spTree>
    <p:extLst>
      <p:ext uri="{BB962C8B-B14F-4D97-AF65-F5344CB8AC3E}">
        <p14:creationId xmlns:p14="http://schemas.microsoft.com/office/powerpoint/2010/main" val="66051867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主力模型更新为 DeepSeek-V4.1-Flash-1017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1017 版本于 10 月 17 日发布，沿用既定架构与部署路线，并提升专业工作表现。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B0738-FE1A-41BA-85D9-4A36309B257E}"/>
              </a:ext>
            </a:extLst>
          </p:cNvPr>
          <p:cNvGraphicFramePr/>
          <p:nvPr>
            <p:ph type="obj" idx="2"/>
          </p:nvPr>
        </p:nvGraphicFramePr>
        <p:xfrm>
          <a:off xmlns:a="http://schemas.openxmlformats.org/drawingml/2006/main" x="609600" y="2171700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810500"/>
                <a:gridCol w="3162300"/>
              </a:tblGrid>
              <a:tr h="793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1" lang="zh-CN">
                          <a:solidFill>
                            <a:schemeClr val="bg1"/>
                          </a:solidFill>
                        </a:rPr>
                        <a:t>版本／AA 推理标签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1" lang="zh-CN">
                          <a:solidFill>
                            <a:schemeClr val="bg1"/>
                          </a:solidFill>
                        </a:rPr>
                        <a:t>GDPval-AA v2.1 Elo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793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DeepSeek-V4.1-Flash／Max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1,600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793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DeepSeek-V4.1-Flash-1017／Max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1,746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2026 年 10 月 23 日核对。101">
            <a:extLst xmlns:a="http://schemas.openxmlformats.org/drawingml/2006/main">
              <a:ext uri="{FF2B5EF4-FFF2-40B4-BE49-F238E27FC236}">
                <a16:creationId xmlns:a16="http://schemas.microsoft.com/office/drawing/2014/main" id="{7649941F-118C-4B31-8CBB-E7609C61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</a:defRPr>
            </a:defPPr>
            <a:lvl1pPr algn="l">
              <a:defRPr sz="2100" b="0">
                <a:solidFill>
                  <a:schemeClr val="tx1"/>
                </a:solidFill>
              </a:defRPr>
            </a:lvl1pPr>
            <a:lvl2pPr algn="l">
              <a:defRPr sz="2100" b="0">
                <a:solidFill>
                  <a:schemeClr val="tx1"/>
                </a:solidFill>
              </a:defRPr>
            </a:lvl2pPr>
            <a:lvl3pPr algn="l">
              <a:defRPr sz="2100" b="0">
                <a:solidFill>
                  <a:schemeClr val="tx1"/>
                </a:solidFill>
              </a:defRPr>
            </a:lvl3pPr>
            <a:lvl4pPr algn="l">
              <a:defRPr sz="2100" b="0">
                <a:solidFill>
                  <a:schemeClr val="tx1"/>
                </a:solidFill>
              </a:defRPr>
            </a:lvl4pPr>
            <a:lvl5pPr algn="l">
              <a:defRPr sz="2100" b="0">
                <a:solidFill>
                  <a:schemeClr val="tx1"/>
                </a:solidFill>
              </a:defRPr>
            </a:lvl5pPr>
            <a:lvl6pPr algn="l">
              <a:defRPr sz="2100" b="0">
                <a:solidFill>
                  <a:schemeClr val="tx1"/>
                </a:solidFill>
              </a:defRPr>
            </a:lvl6pPr>
            <a:lvl7pPr algn="l">
              <a:defRPr sz="2100" b="0">
                <a:solidFill>
                  <a:schemeClr val="tx1"/>
                </a:solidFill>
              </a:defRPr>
            </a:lvl7pPr>
            <a:lvl8pPr algn="l">
              <a:defRPr sz="2100" b="0">
                <a:solidFill>
                  <a:schemeClr val="tx1"/>
                </a:solidFill>
              </a:defRPr>
            </a:lvl8pPr>
            <a:lvl9pPr algn="l">
              <a:defRPr sz="210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chemeClr val="tx1"/>
                </a:solidFill>
              </a:defRPr>
            </a:pPr>
            <a:r>
              <a:rPr sz="2100" b="0" lang="zh-CN">
                <a:solidFill>
                  <a:schemeClr val="tx1"/>
                </a:solidFill>
              </a:rPr>
              <a:t>2026 年 10 月 23 日核对。1017 在本轮考察的开放模型中领先。</a:t>
            </a:r>
          </a:p>
          <a:p xmlns:a="http://schemas.openxmlformats.org/drawingml/2006/main">
            <a:pPr algn="l">
              <a:defRPr sz="2100" b="0">
                <a:solidFill>
                  <a:schemeClr val="tx1"/>
                </a:solidFill>
              </a:defRPr>
            </a:pPr>
            <a:r>
              <a:rPr sz="2100" b="0" lang="zh-CN">
                <a:solidFill>
                  <a:schemeClr val="tx1"/>
                </a:solidFill>
              </a:rPr>
              <a:t>服务器保留单机八卡部署方向，采用 DeepSeek-V4.1-Flash-1017 作为最终主力。</a:t>
            </a:r>
          </a:p>
        </p:txBody>
      </p:sp>
    </p:spTree>
    <p:extLst>
      <p:ext uri="{BB962C8B-B14F-4D97-AF65-F5344CB8AC3E}">
        <p14:creationId xmlns:p14="http://schemas.microsoft.com/office/powerpoint/2010/main" val="176890849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215EF-0BEC-4DD2-9CE2-945A5C334544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8801100" y="38290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E3682-A52A-4A74-95D0-C372F60D14DF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086100" y="38290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sp>
        <p:nvSpPr>
          <p:cNvPr id="1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个人端与服务器端的最终选择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两条路径分别对应个人使用与公司共享服务的条件。</a:t>
            </a:r>
          </a:p>
        </p:txBody>
      </p:sp>
      <p:sp>
        <p:nvSpPr>
          <p:cNvPr id="3" name="个人端">
            <a:extLst xmlns:a="http://schemas.openxmlformats.org/drawingml/2006/main">
              <a:ext uri="{FF2B5EF4-FFF2-40B4-BE49-F238E27FC236}">
                <a16:creationId xmlns:a16="http://schemas.microsoft.com/office/drawing/2014/main" id="{F5A0561D-5689-4491-A006-E6CFC577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chemeClr val="tx1"/>
                </a:solidFill>
              </a:defRPr>
            </a:defPPr>
            <a:lvl1pPr algn="l">
              <a:defRPr sz="2400" b="1">
                <a:solidFill>
                  <a:schemeClr val="tx1"/>
                </a:solidFill>
              </a:defRPr>
            </a:lvl1pPr>
            <a:lvl2pPr algn="l">
              <a:defRPr sz="2400" b="1">
                <a:solidFill>
                  <a:schemeClr val="tx1"/>
                </a:solidFill>
              </a:defRPr>
            </a:lvl2pPr>
            <a:lvl3pPr algn="l">
              <a:defRPr sz="2400" b="1">
                <a:solidFill>
                  <a:schemeClr val="tx1"/>
                </a:solidFill>
              </a:defRPr>
            </a:lvl3pPr>
            <a:lvl4pPr algn="l">
              <a:defRPr sz="2400" b="1">
                <a:solidFill>
                  <a:schemeClr val="tx1"/>
                </a:solidFill>
              </a:defRPr>
            </a:lvl4pPr>
            <a:lvl5pPr algn="l">
              <a:defRPr sz="2400" b="1">
                <a:solidFill>
                  <a:schemeClr val="tx1"/>
                </a:solidFill>
              </a:defRPr>
            </a:lvl5pPr>
            <a:lvl6pPr algn="l">
              <a:defRPr sz="2400" b="1">
                <a:solidFill>
                  <a:schemeClr val="tx1"/>
                </a:solidFill>
              </a:defRPr>
            </a:lvl6pPr>
            <a:lvl7pPr algn="l">
              <a:defRPr sz="2400" b="1">
                <a:solidFill>
                  <a:schemeClr val="tx1"/>
                </a:solidFill>
              </a:defRPr>
            </a:lvl7pPr>
            <a:lvl8pPr algn="l">
              <a:defRPr sz="2400" b="1">
                <a:solidFill>
                  <a:schemeClr val="tx1"/>
                </a:solidFill>
              </a:defRPr>
            </a:lvl8pPr>
            <a:lvl9pPr algn="l">
              <a:defRPr sz="2400" b="1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chemeClr val="tx1"/>
                </a:solidFill>
              </a:defRPr>
            </a:pPr>
            <a:r>
              <a:rPr sz="2400" b="1" lang="zh-CN">
                <a:solidFill>
                  <a:schemeClr val="tx1"/>
                </a:solidFill>
              </a:rPr>
              <a:t>个人端</a:t>
            </a:r>
          </a:p>
        </p:txBody>
      </p:sp>
      <p:sp>
        <p:nvSpPr>
          <p:cNvPr id="4" name="服务器端">
            <a:extLst xmlns:a="http://schemas.openxmlformats.org/drawingml/2006/main">
              <a:ext uri="{FF2B5EF4-FFF2-40B4-BE49-F238E27FC236}">
                <a16:creationId xmlns:a16="http://schemas.microsoft.com/office/drawing/2014/main" id="{5A3B27E0-DC57-462B-A468-F226DD03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chemeClr val="tx1"/>
                </a:solidFill>
              </a:defRPr>
            </a:defPPr>
            <a:lvl1pPr algn="l">
              <a:defRPr sz="2400" b="1">
                <a:solidFill>
                  <a:schemeClr val="tx1"/>
                </a:solidFill>
              </a:defRPr>
            </a:lvl1pPr>
            <a:lvl2pPr algn="l">
              <a:defRPr sz="2400" b="1">
                <a:solidFill>
                  <a:schemeClr val="tx1"/>
                </a:solidFill>
              </a:defRPr>
            </a:lvl2pPr>
            <a:lvl3pPr algn="l">
              <a:defRPr sz="2400" b="1">
                <a:solidFill>
                  <a:schemeClr val="tx1"/>
                </a:solidFill>
              </a:defRPr>
            </a:lvl3pPr>
            <a:lvl4pPr algn="l">
              <a:defRPr sz="2400" b="1">
                <a:solidFill>
                  <a:schemeClr val="tx1"/>
                </a:solidFill>
              </a:defRPr>
            </a:lvl4pPr>
            <a:lvl5pPr algn="l">
              <a:defRPr sz="2400" b="1">
                <a:solidFill>
                  <a:schemeClr val="tx1"/>
                </a:solidFill>
              </a:defRPr>
            </a:lvl5pPr>
            <a:lvl6pPr algn="l">
              <a:defRPr sz="2400" b="1">
                <a:solidFill>
                  <a:schemeClr val="tx1"/>
                </a:solidFill>
              </a:defRPr>
            </a:lvl6pPr>
            <a:lvl7pPr algn="l">
              <a:defRPr sz="2400" b="1">
                <a:solidFill>
                  <a:schemeClr val="tx1"/>
                </a:solidFill>
              </a:defRPr>
            </a:lvl7pPr>
            <a:lvl8pPr algn="l">
              <a:defRPr sz="2400" b="1">
                <a:solidFill>
                  <a:schemeClr val="tx1"/>
                </a:solidFill>
              </a:defRPr>
            </a:lvl8pPr>
            <a:lvl9pPr algn="l">
              <a:defRPr sz="2400" b="1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chemeClr val="tx1"/>
                </a:solidFill>
              </a:defRPr>
            </a:pPr>
            <a:r>
              <a:rPr sz="2400" b="1" lang="zh-CN">
                <a:solidFill>
                  <a:schemeClr val="tx1"/>
                </a:solidFill>
              </a:rPr>
              <a:t>服务器端</a:t>
            </a:r>
          </a:p>
        </p:txBody>
      </p:sp>
      <p:sp>
        <p:nvSpPr>
          <p:cNvPr id="5" name="成熟整机：DGX Spark">
            <a:extLst xmlns:a="http://schemas.openxmlformats.org/drawingml/2006/main">
              <a:ext uri="{FF2B5EF4-FFF2-40B4-BE49-F238E27FC236}">
                <a16:creationId xmlns:a16="http://schemas.microsoft.com/office/drawing/2014/main" id="{DE6D3D8C-474C-4BF2-8E0A-02D84126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495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成熟整机：DGX Spark</a:t>
            </a:r>
          </a:p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衔接 NVIDIA 技术栈</a:t>
            </a:r>
          </a:p>
        </p:txBody>
      </p:sp>
      <p:sp>
        <p:nvSpPr>
          <p:cNvPr id="6" name="128GB 统一内存内优先模型能力">
            <a:extLst xmlns:a="http://schemas.openxmlformats.org/drawingml/2006/main">
              <a:ext uri="{FF2B5EF4-FFF2-40B4-BE49-F238E27FC236}">
                <a16:creationId xmlns:a16="http://schemas.microsoft.com/office/drawing/2014/main" id="{C3AD89AC-09B7-43C5-AC3D-AE800FF7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495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128GB 统一内存内优先模型能力</a:t>
            </a:r>
          </a:p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Qwen3.8-27B</a:t>
            </a:r>
          </a:p>
        </p:txBody>
      </p:sp>
      <p:sp>
        <p:nvSpPr>
          <p:cNvPr id="7" name="单台八卡部署条件">
            <a:extLst xmlns:a="http://schemas.openxmlformats.org/drawingml/2006/main">
              <a:ext uri="{FF2B5EF4-FFF2-40B4-BE49-F238E27FC236}">
                <a16:creationId xmlns:a16="http://schemas.microsoft.com/office/drawing/2014/main" id="{56D83684-7712-493A-8184-820351D2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495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单台八卡部署条件</a:t>
            </a:r>
          </a:p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原 Flash 兼顾能力、速度与框架</a:t>
            </a:r>
          </a:p>
        </p:txBody>
      </p:sp>
      <p:sp>
        <p:nvSpPr>
          <p:cNvPr id="8" name="1017 发布后沿既定路线更新">
            <a:extLst xmlns:a="http://schemas.openxmlformats.org/drawingml/2006/main">
              <a:ext uri="{FF2B5EF4-FFF2-40B4-BE49-F238E27FC236}">
                <a16:creationId xmlns:a16="http://schemas.microsoft.com/office/drawing/2014/main" id="{F8EDEE0F-31BC-47A5-AF89-BDE9E511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05300"/>
            <a:ext cx="495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1017 发布后沿既定路线更新</a:t>
            </a:r>
          </a:p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DeepSeek-V4.1-Flash-1017</a:t>
            </a:r>
          </a:p>
        </p:txBody>
      </p:sp>
      <p:sp>
        <p:nvSpPr>
          <p:cNvPr id="11" name="个人端接受常用输入下约 20 token/s">
            <a:extLst xmlns:a="http://schemas.openxmlformats.org/drawingml/2006/main">
              <a:ext uri="{FF2B5EF4-FFF2-40B4-BE49-F238E27FC236}">
                <a16:creationId xmlns:a16="http://schemas.microsoft.com/office/drawing/2014/main" id="{A4D6B474-50E8-4854-BDB1-EE6ED0B4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</a:defRPr>
            </a:defPPr>
            <a:lvl1pPr algn="l">
              <a:defRPr sz="2100" b="0">
                <a:solidFill>
                  <a:schemeClr val="tx1"/>
                </a:solidFill>
              </a:defRPr>
            </a:lvl1pPr>
            <a:lvl2pPr algn="l">
              <a:defRPr sz="2100" b="0">
                <a:solidFill>
                  <a:schemeClr val="tx1"/>
                </a:solidFill>
              </a:defRPr>
            </a:lvl2pPr>
            <a:lvl3pPr algn="l">
              <a:defRPr sz="2100" b="0">
                <a:solidFill>
                  <a:schemeClr val="tx1"/>
                </a:solidFill>
              </a:defRPr>
            </a:lvl3pPr>
            <a:lvl4pPr algn="l">
              <a:defRPr sz="2100" b="0">
                <a:solidFill>
                  <a:schemeClr val="tx1"/>
                </a:solidFill>
              </a:defRPr>
            </a:lvl4pPr>
            <a:lvl5pPr algn="l">
              <a:defRPr sz="2100" b="0">
                <a:solidFill>
                  <a:schemeClr val="tx1"/>
                </a:solidFill>
              </a:defRPr>
            </a:lvl5pPr>
            <a:lvl6pPr algn="l">
              <a:defRPr sz="2100" b="0">
                <a:solidFill>
                  <a:schemeClr val="tx1"/>
                </a:solidFill>
              </a:defRPr>
            </a:lvl6pPr>
            <a:lvl7pPr algn="l">
              <a:defRPr sz="2100" b="0">
                <a:solidFill>
                  <a:schemeClr val="tx1"/>
                </a:solidFill>
              </a:defRPr>
            </a:lvl7pPr>
            <a:lvl8pPr algn="l">
              <a:defRPr sz="2100" b="0">
                <a:solidFill>
                  <a:schemeClr val="tx1"/>
                </a:solidFill>
              </a:defRPr>
            </a:lvl8pPr>
            <a:lvl9pPr algn="l">
              <a:defRPr sz="210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chemeClr val="tx1"/>
                </a:solidFill>
              </a:defRPr>
            </a:pPr>
            <a:r>
              <a:rPr sz="2100" b="0" lang="zh-CN">
                <a:solidFill>
                  <a:schemeClr val="tx1"/>
                </a:solidFill>
              </a:rPr>
              <a:t>个人端接受常用输入下约 20 token/s 的生成体验。运行环境进一步将两套配置组织为持</a:t>
            </a:r>
          </a:p>
          <a:p xmlns:a="http://schemas.openxmlformats.org/drawingml/2006/main">
            <a:pPr algn="l">
              <a:defRPr sz="2100" b="0">
                <a:solidFill>
                  <a:schemeClr val="tx1"/>
                </a:solidFill>
              </a:defRPr>
            </a:pPr>
            <a:r>
              <a:rPr sz="2100" b="0" lang="zh-CN">
                <a:solidFill>
                  <a:schemeClr val="tx1"/>
                </a:solidFill>
              </a:rPr>
              <a:t>续可用的服务。</a:t>
            </a:r>
          </a:p>
        </p:txBody>
      </p:sp>
    </p:spTree>
    <p:extLst>
      <p:ext uri="{BB962C8B-B14F-4D97-AF65-F5344CB8AC3E}">
        <p14:creationId xmlns:p14="http://schemas.microsoft.com/office/powerpoint/2010/main" val="19397261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0EB7629E-A543-4DEC-B3D0-8289EFAB9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第四章</a:t>
            </a:r>
          </a:p>
          <a:p xmlns:a="http://schemas.openxmlformats.org/drawingml/2006/main">
            <a:pPr>
              <a:buNone/>
            </a:pPr>
            <a:r>
              <a:t>运行环境与使用体验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3FD7D765-A9B6-4A5F-B8DE-310B96E2D1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共同运行过程</a:t>
            </a:r>
          </a:p>
          <a:p xmlns:a="http://schemas.openxmlformats.org/drawingml/2006/main">
            <a:pPr>
              <a:buNone/>
            </a:pPr>
            <a:r>
              <a:t>个人设备实测与公司服务器安排</a:t>
            </a:r>
          </a:p>
        </p:txBody>
      </p:sp>
    </p:spTree>
    <p:extLst>
      <p:ext uri="{BB962C8B-B14F-4D97-AF65-F5344CB8AC3E}">
        <p14:creationId xmlns:p14="http://schemas.microsoft.com/office/powerpoint/2010/main" val="1924415263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2FC1DC-4CFF-4F26-B787-22026D44E73C}"/>
              </a:ext>
            </a:extLst>
          </p:cNvPr>
          <p:cNvCxnSpPr>
            <a:stCxn xmlns:a="http://schemas.openxmlformats.org/drawingml/2006/main" id="12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4505325" y="5448300"/>
            <a:ext cx="1819275" cy="74295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D4D27-D04B-45BD-AD18-1A7AA52B7C38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8991600" y="5448300"/>
            <a:ext cx="1228725" cy="742950"/>
          </a:xfrm>
          <a:prstGeom xmlns:a="http://schemas.openxmlformats.org/drawingml/2006/main" prst="bentConnector5">
            <a:avLst>
              <a:gd name="adj1" fmla="val 0"/>
              <a:gd name="adj2" fmla="val 30769"/>
              <a:gd name="adj3" fmla="val 81395"/>
            </a:avLst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2C548-448E-4575-8D4E-F302561EB8C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401050" y="515302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8D0CD-4464-4578-A573-A11101D7B84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543550" y="515302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788ED-6EFE-426E-8CBA-1DC27D41877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686050" y="515302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sp>
        <p:nvSpPr>
          <p:cNvPr id="1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模型、推理框架与设备的分工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推理框架将模型计算、缓存和调度组织为持续运行的服务。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8602C-FEDD-4655-A5E9-8FE4BD55CA3B}"/>
              </a:ext>
            </a:extLst>
          </p:cNvPr>
          <p:cNvGraphicFramePr/>
          <p:nvPr>
            <p:ph type="obj" idx="2"/>
          </p:nvPr>
        </p:nvGraphicFramePr>
        <p:xfrm>
          <a:off xmlns:a="http://schemas.openxmlformats.org/drawingml/2006/main" x="609600" y="1962150"/>
          <a:ext xmlns:a="http://schemas.openxmlformats.org/drawingml/2006/main" cx="10972800" cy="1981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859155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1" lang="zh-CN">
                          <a:solidFill>
                            <a:schemeClr val="bg1"/>
                          </a:solidFill>
                        </a:rPr>
                        <a:t>层次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1" lang="zh-CN">
                          <a:solidFill>
                            <a:schemeClr val="bg1"/>
                          </a:solidFill>
                        </a:rPr>
                        <a:t>主要职责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模型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理解输入，生成回答或工具请求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推理框架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加载模型，组织计算、缓存与请求调度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硬件设备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提供计算、内存、存储与连接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服务启动：框架加载模型，准备工作空间">
            <a:extLst xmlns:a="http://schemas.openxmlformats.org/drawingml/2006/main">
              <a:ext uri="{FF2B5EF4-FFF2-40B4-BE49-F238E27FC236}">
                <a16:creationId xmlns:a16="http://schemas.microsoft.com/office/drawing/2014/main" id="{570B5705-337A-476D-B41D-3620E386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chemeClr val="tx1"/>
                </a:solidFill>
              </a:defRPr>
            </a:defPPr>
            <a:lvl1pPr algn="l">
              <a:defRPr sz="1950" b="0">
                <a:solidFill>
                  <a:schemeClr val="tx1"/>
                </a:solidFill>
              </a:defRPr>
            </a:lvl1pPr>
            <a:lvl2pPr algn="l">
              <a:defRPr sz="1950" b="0">
                <a:solidFill>
                  <a:schemeClr val="tx1"/>
                </a:solidFill>
              </a:defRPr>
            </a:lvl2pPr>
            <a:lvl3pPr algn="l">
              <a:defRPr sz="1950" b="0">
                <a:solidFill>
                  <a:schemeClr val="tx1"/>
                </a:solidFill>
              </a:defRPr>
            </a:lvl3pPr>
            <a:lvl4pPr algn="l">
              <a:defRPr sz="1950" b="0">
                <a:solidFill>
                  <a:schemeClr val="tx1"/>
                </a:solidFill>
              </a:defRPr>
            </a:lvl4pPr>
            <a:lvl5pPr algn="l">
              <a:defRPr sz="1950" b="0">
                <a:solidFill>
                  <a:schemeClr val="tx1"/>
                </a:solidFill>
              </a:defRPr>
            </a:lvl5pPr>
            <a:lvl6pPr algn="l">
              <a:defRPr sz="1950" b="0">
                <a:solidFill>
                  <a:schemeClr val="tx1"/>
                </a:solidFill>
              </a:defRPr>
            </a:lvl6pPr>
            <a:lvl7pPr algn="l">
              <a:defRPr sz="1950" b="0">
                <a:solidFill>
                  <a:schemeClr val="tx1"/>
                </a:solidFill>
              </a:defRPr>
            </a:lvl7pPr>
            <a:lvl8pPr algn="l">
              <a:defRPr sz="1950" b="0">
                <a:solidFill>
                  <a:schemeClr val="tx1"/>
                </a:solidFill>
              </a:defRPr>
            </a:lvl8pPr>
            <a:lvl9pPr algn="l">
              <a:defRPr sz="195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chemeClr val="tx1"/>
                </a:solidFill>
              </a:defRPr>
            </a:pPr>
            <a:r>
              <a:rPr sz="1950" b="0" lang="zh-CN">
                <a:solidFill>
                  <a:schemeClr val="tx1"/>
                </a:solidFill>
              </a:rPr>
              <a:t>服务启动：框架加载模型，准备工作空间</a:t>
            </a:r>
          </a:p>
        </p:txBody>
      </p:sp>
      <p:sp>
        <p:nvSpPr>
          <p:cNvPr id="5" name="提交材料">
            <a:extLst xmlns:a="http://schemas.openxmlformats.org/drawingml/2006/main">
              <a:ext uri="{FF2B5EF4-FFF2-40B4-BE49-F238E27FC236}">
                <a16:creationId xmlns:a16="http://schemas.microsoft.com/office/drawing/2014/main" id="{6C827E3A-32DB-4A39-BB12-5CD1A7B8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076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提交材料</a:t>
            </a:r>
          </a:p>
        </p:txBody>
      </p:sp>
      <p:sp>
        <p:nvSpPr>
          <p:cNvPr id="6" name="处理输入">
            <a:extLst xmlns:a="http://schemas.openxmlformats.org/drawingml/2006/main">
              <a:ext uri="{FF2B5EF4-FFF2-40B4-BE49-F238E27FC236}">
                <a16:creationId xmlns:a16="http://schemas.microsoft.com/office/drawing/2014/main" id="{1DCCC391-D99A-47E2-9235-6A198AFB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857750"/>
            <a:ext cx="2076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处理输入</a:t>
            </a:r>
          </a:p>
        </p:txBody>
      </p:sp>
      <p:sp>
        <p:nvSpPr>
          <p:cNvPr id="7" name="持续生成">
            <a:extLst xmlns:a="http://schemas.openxmlformats.org/drawingml/2006/main">
              <a:ext uri="{FF2B5EF4-FFF2-40B4-BE49-F238E27FC236}">
                <a16:creationId xmlns:a16="http://schemas.microsoft.com/office/drawing/2014/main" id="{8C56A6B5-B413-400E-AB9A-350E2E41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57750"/>
            <a:ext cx="2076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持续生成</a:t>
            </a:r>
          </a:p>
        </p:txBody>
      </p:sp>
      <p:sp>
        <p:nvSpPr>
          <p:cNvPr id="8" name="本轮结果">
            <a:extLst xmlns:a="http://schemas.openxmlformats.org/drawingml/2006/main">
              <a:ext uri="{FF2B5EF4-FFF2-40B4-BE49-F238E27FC236}">
                <a16:creationId xmlns:a16="http://schemas.microsoft.com/office/drawing/2014/main" id="{307C06B8-3891-421C-B306-AC130F11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857750"/>
            <a:ext cx="2076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本轮结果</a:t>
            </a:r>
          </a:p>
        </p:txBody>
      </p:sp>
      <p:sp>
        <p:nvSpPr>
          <p:cNvPr id="12" name="新问题／工具结果">
            <a:extLst xmlns:a="http://schemas.openxmlformats.org/drawingml/2006/main">
              <a:ext uri="{FF2B5EF4-FFF2-40B4-BE49-F238E27FC236}">
                <a16:creationId xmlns:a16="http://schemas.microsoft.com/office/drawing/2014/main" id="{608B00EF-817E-4531-BD6E-C0FFE9D6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943600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新问题／工具结果</a:t>
            </a:r>
          </a:p>
        </p:txBody>
      </p:sp>
    </p:spTree>
    <p:extLst>
      <p:ext uri="{BB962C8B-B14F-4D97-AF65-F5344CB8AC3E}">
        <p14:creationId xmlns:p14="http://schemas.microsoft.com/office/powerpoint/2010/main" val="185625630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服务启动时的模型与工作空间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模型加载后，设备还需保存任务状态，并为实际计算保留空间。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E53D0-E965-4433-9DAF-1601A857DF67}"/>
              </a:ext>
            </a:extLst>
          </p:cNvPr>
          <p:cNvGraphicFramePr/>
          <p:nvPr>
            <p:ph type="obj" idx="2"/>
          </p:nvPr>
        </p:nvGraphicFramePr>
        <p:xfrm>
          <a:off xmlns:a="http://schemas.openxmlformats.org/drawingml/2006/main" x="609600" y="217170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43250"/>
                <a:gridCol w="7829550"/>
              </a:tblGrid>
              <a:tr h="6858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1" lang="zh-CN">
                          <a:solidFill>
                            <a:schemeClr val="bg1"/>
                          </a:solidFill>
                        </a:rPr>
                        <a:t>保留内容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1" lang="zh-CN">
                          <a:solidFill>
                            <a:schemeClr val="bg1"/>
                          </a:solidFill>
                        </a:rPr>
                        <a:t>请求过程中的用途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模型参数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供输入处理与生成使用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会话状态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保存已处理历史，支持生成与下一轮继续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执行空间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容纳临时计算、运行图和推测生成的草稿网络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KV 缓存保存注意力计算中可重复使用的历史表">
            <a:extLst xmlns:a="http://schemas.openxmlformats.org/drawingml/2006/main">
              <a:ext uri="{FF2B5EF4-FFF2-40B4-BE49-F238E27FC236}">
                <a16:creationId xmlns:a16="http://schemas.microsoft.com/office/drawing/2014/main" id="{0F59FE8C-F058-4444-ADB6-AE38E2AF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</a:defRPr>
            </a:defPPr>
            <a:lvl1pPr algn="l">
              <a:defRPr sz="2100" b="0">
                <a:solidFill>
                  <a:schemeClr val="tx1"/>
                </a:solidFill>
              </a:defRPr>
            </a:lvl1pPr>
            <a:lvl2pPr algn="l">
              <a:defRPr sz="2100" b="0">
                <a:solidFill>
                  <a:schemeClr val="tx1"/>
                </a:solidFill>
              </a:defRPr>
            </a:lvl2pPr>
            <a:lvl3pPr algn="l">
              <a:defRPr sz="2100" b="0">
                <a:solidFill>
                  <a:schemeClr val="tx1"/>
                </a:solidFill>
              </a:defRPr>
            </a:lvl3pPr>
            <a:lvl4pPr algn="l">
              <a:defRPr sz="2100" b="0">
                <a:solidFill>
                  <a:schemeClr val="tx1"/>
                </a:solidFill>
              </a:defRPr>
            </a:lvl4pPr>
            <a:lvl5pPr algn="l">
              <a:defRPr sz="2100" b="0">
                <a:solidFill>
                  <a:schemeClr val="tx1"/>
                </a:solidFill>
              </a:defRPr>
            </a:lvl5pPr>
            <a:lvl6pPr algn="l">
              <a:defRPr sz="2100" b="0">
                <a:solidFill>
                  <a:schemeClr val="tx1"/>
                </a:solidFill>
              </a:defRPr>
            </a:lvl6pPr>
            <a:lvl7pPr algn="l">
              <a:defRPr sz="2100" b="0">
                <a:solidFill>
                  <a:schemeClr val="tx1"/>
                </a:solidFill>
              </a:defRPr>
            </a:lvl7pPr>
            <a:lvl8pPr algn="l">
              <a:defRPr sz="2100" b="0">
                <a:solidFill>
                  <a:schemeClr val="tx1"/>
                </a:solidFill>
              </a:defRPr>
            </a:lvl8pPr>
            <a:lvl9pPr algn="l">
              <a:defRPr sz="210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chemeClr val="tx1"/>
                </a:solidFill>
              </a:defRPr>
            </a:pPr>
            <a:r>
              <a:rPr sz="2100" b="0" lang="zh-CN">
                <a:solidFill>
                  <a:schemeClr val="tx1"/>
                </a:solidFill>
              </a:rPr>
              <a:t>KV 缓存保存注意力计算中可重复使用的历史表示。部分模型还需保存其他状态，共同构</a:t>
            </a:r>
          </a:p>
          <a:p xmlns:a="http://schemas.openxmlformats.org/drawingml/2006/main">
            <a:pPr algn="l">
              <a:defRPr sz="2100" b="0">
                <a:solidFill>
                  <a:schemeClr val="tx1"/>
                </a:solidFill>
              </a:defRPr>
            </a:pPr>
            <a:r>
              <a:rPr sz="2100" b="0" lang="zh-CN">
                <a:solidFill>
                  <a:schemeClr val="tx1"/>
                </a:solidFill>
              </a:rPr>
              <a:t>成任务继续运行所需的计算状态。</a:t>
            </a:r>
          </a:p>
        </p:txBody>
      </p:sp>
    </p:spTree>
    <p:extLst>
      <p:ext uri="{BB962C8B-B14F-4D97-AF65-F5344CB8AC3E}">
        <p14:creationId xmlns:p14="http://schemas.microsoft.com/office/powerpoint/2010/main" val="8411705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004B2A-A2BC-40C0-B4B2-15ED8FBBA64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753475" y="31051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EA5BB3-523A-46F9-8968-80E5AF08824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924550" y="31051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C5F5C-87B9-4D48-9154-FFB0A90D23EB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095625" y="31051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sp>
        <p:nvSpPr>
          <p:cNvPr id="1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输入处理与首次输出等待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输入处理称为 prefill。模型将材料转换为后续生成可用的表示，框架同时建立会话状态。</a:t>
            </a:r>
          </a:p>
        </p:txBody>
      </p:sp>
      <p:sp>
        <p:nvSpPr>
          <p:cNvPr id="3" name="提交材料">
            <a:extLst xmlns:a="http://schemas.openxmlformats.org/drawingml/2006/main">
              <a:ext uri="{FF2B5EF4-FFF2-40B4-BE49-F238E27FC236}">
                <a16:creationId xmlns:a16="http://schemas.microsoft.com/office/drawing/2014/main" id="{C17A5164-355C-4C57-8698-28B4126E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24860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提交材料</a:t>
            </a:r>
          </a:p>
        </p:txBody>
      </p:sp>
      <p:sp>
        <p:nvSpPr>
          <p:cNvPr id="4" name="排队与状态准备">
            <a:extLst xmlns:a="http://schemas.openxmlformats.org/drawingml/2006/main">
              <a:ext uri="{FF2B5EF4-FFF2-40B4-BE49-F238E27FC236}">
                <a16:creationId xmlns:a16="http://schemas.microsoft.com/office/drawing/2014/main" id="{29F47EA1-1379-48A2-8B59-F4EE703C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676525"/>
            <a:ext cx="24860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排队与状态准备</a:t>
            </a:r>
          </a:p>
        </p:txBody>
      </p:sp>
      <p:sp>
        <p:nvSpPr>
          <p:cNvPr id="5" name="处理输入">
            <a:extLst xmlns:a="http://schemas.openxmlformats.org/drawingml/2006/main">
              <a:ext uri="{FF2B5EF4-FFF2-40B4-BE49-F238E27FC236}">
                <a16:creationId xmlns:a16="http://schemas.microsoft.com/office/drawing/2014/main" id="{41219176-61DE-464B-AE41-1C0F37E8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76525"/>
            <a:ext cx="24860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处理输入</a:t>
            </a:r>
          </a:p>
        </p:txBody>
      </p:sp>
      <p:sp>
        <p:nvSpPr>
          <p:cNvPr id="6" name="首个输出">
            <a:extLst xmlns:a="http://schemas.openxmlformats.org/drawingml/2006/main">
              <a:ext uri="{FF2B5EF4-FFF2-40B4-BE49-F238E27FC236}">
                <a16:creationId xmlns:a16="http://schemas.microsoft.com/office/drawing/2014/main" id="{32E854C8-4666-4076-9882-B58D2E7A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76525"/>
            <a:ext cx="24860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首个输出</a:t>
            </a:r>
          </a:p>
        </p:txBody>
      </p:sp>
      <p:sp>
        <p:nvSpPr>
          <p:cNvPr id="10" name="首次输出等待">
            <a:extLst xmlns:a="http://schemas.openxmlformats.org/drawingml/2006/main">
              <a:ext uri="{FF2B5EF4-FFF2-40B4-BE49-F238E27FC236}">
                <a16:creationId xmlns:a16="http://schemas.microsoft.com/office/drawing/2014/main" id="{E6A6FDFA-8AD8-4715-AD49-60BFE402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chemeClr val="tx1"/>
                </a:solidFill>
              </a:defRPr>
            </a:defPPr>
            <a:lvl1pPr algn="l">
              <a:defRPr sz="2250" b="1">
                <a:solidFill>
                  <a:schemeClr val="tx1"/>
                </a:solidFill>
              </a:defRPr>
            </a:lvl1pPr>
            <a:lvl2pPr algn="l">
              <a:defRPr sz="2250" b="1">
                <a:solidFill>
                  <a:schemeClr val="tx1"/>
                </a:solidFill>
              </a:defRPr>
            </a:lvl2pPr>
            <a:lvl3pPr algn="l">
              <a:defRPr sz="2250" b="1">
                <a:solidFill>
                  <a:schemeClr val="tx1"/>
                </a:solidFill>
              </a:defRPr>
            </a:lvl3pPr>
            <a:lvl4pPr algn="l">
              <a:defRPr sz="2250" b="1">
                <a:solidFill>
                  <a:schemeClr val="tx1"/>
                </a:solidFill>
              </a:defRPr>
            </a:lvl4pPr>
            <a:lvl5pPr algn="l">
              <a:defRPr sz="2250" b="1">
                <a:solidFill>
                  <a:schemeClr val="tx1"/>
                </a:solidFill>
              </a:defRPr>
            </a:lvl5pPr>
            <a:lvl6pPr algn="l">
              <a:defRPr sz="2250" b="1">
                <a:solidFill>
                  <a:schemeClr val="tx1"/>
                </a:solidFill>
              </a:defRPr>
            </a:lvl6pPr>
            <a:lvl7pPr algn="l">
              <a:defRPr sz="2250" b="1">
                <a:solidFill>
                  <a:schemeClr val="tx1"/>
                </a:solidFill>
              </a:defRPr>
            </a:lvl7pPr>
            <a:lvl8pPr algn="l">
              <a:defRPr sz="2250" b="1">
                <a:solidFill>
                  <a:schemeClr val="tx1"/>
                </a:solidFill>
              </a:defRPr>
            </a:lvl8pPr>
            <a:lvl9pPr algn="l">
              <a:defRPr sz="2250" b="1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chemeClr val="tx1"/>
                </a:solidFill>
              </a:defRPr>
            </a:pPr>
            <a:r>
              <a:rPr sz="2250" b="1" lang="zh-CN">
                <a:solidFill>
                  <a:schemeClr val="tx1"/>
                </a:solidFill>
              </a:rPr>
              <a:t>首次输出等待</a:t>
            </a:r>
          </a:p>
        </p:txBody>
      </p:sp>
      <p:sp>
        <p:nvSpPr>
          <p:cNvPr id="11" name="等待包括排队、状态准备与输入处理，由本轮输入">
            <a:extLst xmlns:a="http://schemas.openxmlformats.org/drawingml/2006/main">
              <a:ext uri="{FF2B5EF4-FFF2-40B4-BE49-F238E27FC236}">
                <a16:creationId xmlns:a16="http://schemas.microsoft.com/office/drawing/2014/main" id="{CA5AF991-41DD-47DC-965C-C058B162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</a:defRPr>
            </a:defPPr>
            <a:lvl1pPr algn="l">
              <a:defRPr sz="2250" b="0">
                <a:solidFill>
                  <a:schemeClr val="tx1"/>
                </a:solidFill>
              </a:defRPr>
            </a:lvl1pPr>
            <a:lvl2pPr algn="l">
              <a:defRPr sz="2250" b="0">
                <a:solidFill>
                  <a:schemeClr val="tx1"/>
                </a:solidFill>
              </a:defRPr>
            </a:lvl2pPr>
            <a:lvl3pPr algn="l">
              <a:defRPr sz="2250" b="0">
                <a:solidFill>
                  <a:schemeClr val="tx1"/>
                </a:solidFill>
              </a:defRPr>
            </a:lvl3pPr>
            <a:lvl4pPr algn="l">
              <a:defRPr sz="2250" b="0">
                <a:solidFill>
                  <a:schemeClr val="tx1"/>
                </a:solidFill>
              </a:defRPr>
            </a:lvl4pPr>
            <a:lvl5pPr algn="l">
              <a:defRPr sz="2250" b="0">
                <a:solidFill>
                  <a:schemeClr val="tx1"/>
                </a:solidFill>
              </a:defRPr>
            </a:lvl5pPr>
            <a:lvl6pPr algn="l">
              <a:defRPr sz="2250" b="0">
                <a:solidFill>
                  <a:schemeClr val="tx1"/>
                </a:solidFill>
              </a:defRPr>
            </a:lvl6pPr>
            <a:lvl7pPr algn="l">
              <a:defRPr sz="2250" b="0">
                <a:solidFill>
                  <a:schemeClr val="tx1"/>
                </a:solidFill>
              </a:defRPr>
            </a:lvl7pPr>
            <a:lvl8pPr algn="l">
              <a:defRPr sz="2250" b="0">
                <a:solidFill>
                  <a:schemeClr val="tx1"/>
                </a:solidFill>
              </a:defRPr>
            </a:lvl8pPr>
            <a:lvl9pPr algn="l">
              <a:defRPr sz="225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250" b="0">
                <a:solidFill>
                  <a:schemeClr val="tx1"/>
                </a:solidFill>
              </a:defRPr>
            </a:pPr>
            <a:r>
              <a:rPr sz="2250" b="0" lang="zh-CN">
                <a:solidFill>
                  <a:schemeClr val="tx1"/>
                </a:solidFill>
              </a:rPr>
              <a:t>等待包括排队、状态准备与输入处理，由本轮输入、已有状态及请求队列共同决定。</a:t>
            </a:r>
          </a:p>
        </p:txBody>
      </p:sp>
      <p:sp>
        <p:nvSpPr>
          <p:cNvPr id="12" name="材料增加，会提高信息处理量及关系计算量。首个">
            <a:extLst xmlns:a="http://schemas.openxmlformats.org/drawingml/2006/main">
              <a:ext uri="{FF2B5EF4-FFF2-40B4-BE49-F238E27FC236}">
                <a16:creationId xmlns:a16="http://schemas.microsoft.com/office/drawing/2014/main" id="{8B602C93-90F6-4604-B45E-43FC811E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</a:defRPr>
            </a:defPPr>
            <a:lvl1pPr algn="l">
              <a:defRPr sz="2250" b="0">
                <a:solidFill>
                  <a:schemeClr val="tx1"/>
                </a:solidFill>
              </a:defRPr>
            </a:lvl1pPr>
            <a:lvl2pPr algn="l">
              <a:defRPr sz="2250" b="0">
                <a:solidFill>
                  <a:schemeClr val="tx1"/>
                </a:solidFill>
              </a:defRPr>
            </a:lvl2pPr>
            <a:lvl3pPr algn="l">
              <a:defRPr sz="2250" b="0">
                <a:solidFill>
                  <a:schemeClr val="tx1"/>
                </a:solidFill>
              </a:defRPr>
            </a:lvl3pPr>
            <a:lvl4pPr algn="l">
              <a:defRPr sz="2250" b="0">
                <a:solidFill>
                  <a:schemeClr val="tx1"/>
                </a:solidFill>
              </a:defRPr>
            </a:lvl4pPr>
            <a:lvl5pPr algn="l">
              <a:defRPr sz="2250" b="0">
                <a:solidFill>
                  <a:schemeClr val="tx1"/>
                </a:solidFill>
              </a:defRPr>
            </a:lvl5pPr>
            <a:lvl6pPr algn="l">
              <a:defRPr sz="2250" b="0">
                <a:solidFill>
                  <a:schemeClr val="tx1"/>
                </a:solidFill>
              </a:defRPr>
            </a:lvl6pPr>
            <a:lvl7pPr algn="l">
              <a:defRPr sz="2250" b="0">
                <a:solidFill>
                  <a:schemeClr val="tx1"/>
                </a:solidFill>
              </a:defRPr>
            </a:lvl7pPr>
            <a:lvl8pPr algn="l">
              <a:defRPr sz="2250" b="0">
                <a:solidFill>
                  <a:schemeClr val="tx1"/>
                </a:solidFill>
              </a:defRPr>
            </a:lvl8pPr>
            <a:lvl9pPr algn="l">
              <a:defRPr sz="225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250" b="0">
                <a:solidFill>
                  <a:schemeClr val="tx1"/>
                </a:solidFill>
              </a:defRPr>
            </a:pPr>
            <a:r>
              <a:rPr sz="2250" b="0" lang="zh-CN">
                <a:solidFill>
                  <a:schemeClr val="tx1"/>
                </a:solidFill>
              </a:rPr>
              <a:t>材料增加，会提高信息处理量及关系计算量。首个输出出现后，任务进入持续生成。</a:t>
            </a:r>
          </a:p>
        </p:txBody>
      </p:sp>
    </p:spTree>
    <p:extLst>
      <p:ext uri="{BB962C8B-B14F-4D97-AF65-F5344CB8AC3E}">
        <p14:creationId xmlns:p14="http://schemas.microsoft.com/office/powerpoint/2010/main" val="1565187942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持续生成与输出时间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后续生成称为 decode。每一步新内容成为下一步条件，模型持续生成直至本轮结束。</a:t>
            </a:r>
          </a:p>
        </p:txBody>
      </p:sp>
      <p:sp>
        <p:nvSpPr>
          <p:cNvPr id="3" name="设备反复读取模型参数和历史状态。低并发时，内">
            <a:extLst xmlns:a="http://schemas.openxmlformats.org/drawingml/2006/main">
              <a:ext uri="{FF2B5EF4-FFF2-40B4-BE49-F238E27FC236}">
                <a16:creationId xmlns:a16="http://schemas.microsoft.com/office/drawing/2014/main" id="{5B7A3216-40C3-43B4-8E87-B686CD55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</a:defRPr>
            </a:defPPr>
            <a:lvl1pPr algn="l">
              <a:defRPr sz="2250" b="0">
                <a:solidFill>
                  <a:schemeClr val="tx1"/>
                </a:solidFill>
              </a:defRPr>
            </a:lvl1pPr>
            <a:lvl2pPr algn="l">
              <a:defRPr sz="2250" b="0">
                <a:solidFill>
                  <a:schemeClr val="tx1"/>
                </a:solidFill>
              </a:defRPr>
            </a:lvl2pPr>
            <a:lvl3pPr algn="l">
              <a:defRPr sz="2250" b="0">
                <a:solidFill>
                  <a:schemeClr val="tx1"/>
                </a:solidFill>
              </a:defRPr>
            </a:lvl3pPr>
            <a:lvl4pPr algn="l">
              <a:defRPr sz="2250" b="0">
                <a:solidFill>
                  <a:schemeClr val="tx1"/>
                </a:solidFill>
              </a:defRPr>
            </a:lvl4pPr>
            <a:lvl5pPr algn="l">
              <a:defRPr sz="2250" b="0">
                <a:solidFill>
                  <a:schemeClr val="tx1"/>
                </a:solidFill>
              </a:defRPr>
            </a:lvl5pPr>
            <a:lvl6pPr algn="l">
              <a:defRPr sz="2250" b="0">
                <a:solidFill>
                  <a:schemeClr val="tx1"/>
                </a:solidFill>
              </a:defRPr>
            </a:lvl6pPr>
            <a:lvl7pPr algn="l">
              <a:defRPr sz="2250" b="0">
                <a:solidFill>
                  <a:schemeClr val="tx1"/>
                </a:solidFill>
              </a:defRPr>
            </a:lvl7pPr>
            <a:lvl8pPr algn="l">
              <a:defRPr sz="2250" b="0">
                <a:solidFill>
                  <a:schemeClr val="tx1"/>
                </a:solidFill>
              </a:defRPr>
            </a:lvl8pPr>
            <a:lvl9pPr algn="l">
              <a:defRPr sz="225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250" b="0">
                <a:solidFill>
                  <a:schemeClr val="tx1"/>
                </a:solidFill>
              </a:defRPr>
            </a:pPr>
            <a:r>
              <a:rPr sz="2250" b="0" lang="zh-CN">
                <a:solidFill>
                  <a:schemeClr val="tx1"/>
                </a:solidFill>
              </a:rPr>
              <a:t>设备反复读取模型参数和历史状态。低并发时，内存带宽经常影响这一阶段的速度。</a:t>
            </a:r>
          </a:p>
        </p:txBody>
      </p:sp>
      <p:sp>
        <p:nvSpPr>
          <p:cNvPr id="4" name="推测生成先提出多个后续 token，再由目标">
            <a:extLst xmlns:a="http://schemas.openxmlformats.org/drawingml/2006/main">
              <a:ext uri="{FF2B5EF4-FFF2-40B4-BE49-F238E27FC236}">
                <a16:creationId xmlns:a16="http://schemas.microsoft.com/office/drawing/2014/main" id="{5BDE956B-EFF0-4548-BA57-EDA49F1B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</a:defRPr>
            </a:defPPr>
            <a:lvl1pPr algn="l">
              <a:defRPr sz="2250" b="0">
                <a:solidFill>
                  <a:schemeClr val="tx1"/>
                </a:solidFill>
              </a:defRPr>
            </a:lvl1pPr>
            <a:lvl2pPr algn="l">
              <a:defRPr sz="2250" b="0">
                <a:solidFill>
                  <a:schemeClr val="tx1"/>
                </a:solidFill>
              </a:defRPr>
            </a:lvl2pPr>
            <a:lvl3pPr algn="l">
              <a:defRPr sz="2250" b="0">
                <a:solidFill>
                  <a:schemeClr val="tx1"/>
                </a:solidFill>
              </a:defRPr>
            </a:lvl3pPr>
            <a:lvl4pPr algn="l">
              <a:defRPr sz="2250" b="0">
                <a:solidFill>
                  <a:schemeClr val="tx1"/>
                </a:solidFill>
              </a:defRPr>
            </a:lvl4pPr>
            <a:lvl5pPr algn="l">
              <a:defRPr sz="2250" b="0">
                <a:solidFill>
                  <a:schemeClr val="tx1"/>
                </a:solidFill>
              </a:defRPr>
            </a:lvl5pPr>
            <a:lvl6pPr algn="l">
              <a:defRPr sz="2250" b="0">
                <a:solidFill>
                  <a:schemeClr val="tx1"/>
                </a:solidFill>
              </a:defRPr>
            </a:lvl6pPr>
            <a:lvl7pPr algn="l">
              <a:defRPr sz="2250" b="0">
                <a:solidFill>
                  <a:schemeClr val="tx1"/>
                </a:solidFill>
              </a:defRPr>
            </a:lvl7pPr>
            <a:lvl8pPr algn="l">
              <a:defRPr sz="2250" b="0">
                <a:solidFill>
                  <a:schemeClr val="tx1"/>
                </a:solidFill>
              </a:defRPr>
            </a:lvl8pPr>
            <a:lvl9pPr algn="l">
              <a:defRPr sz="225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250" b="0">
                <a:solidFill>
                  <a:schemeClr val="tx1"/>
                </a:solidFill>
              </a:defRPr>
            </a:pPr>
            <a:r>
              <a:rPr sz="2250" b="0" lang="zh-CN">
                <a:solidFill>
                  <a:schemeClr val="tx1"/>
                </a:solidFill>
              </a:rPr>
              <a:t>推测生成先提出多个后续 token，再由目标模型一起验证，使一次计算推进更多内</a:t>
            </a:r>
          </a:p>
          <a:p xmlns:a="http://schemas.openxmlformats.org/drawingml/2006/main">
            <a:pPr algn="l">
              <a:defRPr sz="2250" b="0">
                <a:solidFill>
                  <a:schemeClr val="tx1"/>
                </a:solidFill>
              </a:defRPr>
            </a:pPr>
            <a:r>
              <a:rPr sz="2250" b="0" lang="zh-CN">
                <a:solidFill>
                  <a:schemeClr val="tx1"/>
                </a:solidFill>
              </a:rPr>
              <a:t>容。</a:t>
            </a:r>
          </a:p>
        </p:txBody>
      </p:sp>
      <p:sp>
        <p:nvSpPr>
          <p:cNvPr id="5" name="8,192 tokens ÷ 20 toke">
            <a:extLst xmlns:a="http://schemas.openxmlformats.org/drawingml/2006/main">
              <a:ext uri="{FF2B5EF4-FFF2-40B4-BE49-F238E27FC236}">
                <a16:creationId xmlns:a16="http://schemas.microsoft.com/office/drawing/2014/main" id="{9D0CF9FF-6A4F-4ED3-AC1E-2015BD1C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chemeClr val="accent1"/>
                </a:solidFill>
              </a:defRPr>
            </a:defPPr>
            <a:lvl1pPr algn="l">
              <a:defRPr sz="2550" b="1">
                <a:solidFill>
                  <a:schemeClr val="accent1"/>
                </a:solidFill>
              </a:defRPr>
            </a:lvl1pPr>
            <a:lvl2pPr algn="l">
              <a:defRPr sz="2550" b="1">
                <a:solidFill>
                  <a:schemeClr val="accent1"/>
                </a:solidFill>
              </a:defRPr>
            </a:lvl2pPr>
            <a:lvl3pPr algn="l">
              <a:defRPr sz="2550" b="1">
                <a:solidFill>
                  <a:schemeClr val="accent1"/>
                </a:solidFill>
              </a:defRPr>
            </a:lvl3pPr>
            <a:lvl4pPr algn="l">
              <a:defRPr sz="2550" b="1">
                <a:solidFill>
                  <a:schemeClr val="accent1"/>
                </a:solidFill>
              </a:defRPr>
            </a:lvl4pPr>
            <a:lvl5pPr algn="l">
              <a:defRPr sz="2550" b="1">
                <a:solidFill>
                  <a:schemeClr val="accent1"/>
                </a:solidFill>
              </a:defRPr>
            </a:lvl5pPr>
            <a:lvl6pPr algn="l">
              <a:defRPr sz="2550" b="1">
                <a:solidFill>
                  <a:schemeClr val="accent1"/>
                </a:solidFill>
              </a:defRPr>
            </a:lvl6pPr>
            <a:lvl7pPr algn="l">
              <a:defRPr sz="2550" b="1">
                <a:solidFill>
                  <a:schemeClr val="accent1"/>
                </a:solidFill>
              </a:defRPr>
            </a:lvl7pPr>
            <a:lvl8pPr algn="l">
              <a:defRPr sz="2550" b="1">
                <a:solidFill>
                  <a:schemeClr val="accent1"/>
                </a:solidFill>
              </a:defRPr>
            </a:lvl8pPr>
            <a:lvl9pPr algn="l">
              <a:defRPr sz="2550" b="1">
                <a:solidFill>
                  <a:schemeClr val="accent1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chemeClr val="accent1"/>
                </a:solidFill>
              </a:defRPr>
            </a:pPr>
            <a:r>
              <a:rPr sz="2550" b="1" lang="zh-CN">
                <a:solidFill>
                  <a:schemeClr val="accent1"/>
                </a:solidFill>
              </a:rPr>
              <a:t>8,192 tokens ÷ 20 token/s ≈ 410 秒 ≈ 6.8 分钟</a:t>
            </a:r>
          </a:p>
        </p:txBody>
      </p:sp>
      <p:sp>
        <p:nvSpPr>
          <p:cNvPr id="6" name="该示例只计算持续生成时间。输入处理时间也需计">
            <a:extLst xmlns:a="http://schemas.openxmlformats.org/drawingml/2006/main">
              <a:ext uri="{FF2B5EF4-FFF2-40B4-BE49-F238E27FC236}">
                <a16:creationId xmlns:a16="http://schemas.microsoft.com/office/drawing/2014/main" id="{7378DB1B-1F1C-4110-9BC9-52474D65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</a:defRPr>
            </a:defPPr>
            <a:lvl1pPr algn="l">
              <a:defRPr sz="2100" b="0">
                <a:solidFill>
                  <a:schemeClr val="tx1"/>
                </a:solidFill>
              </a:defRPr>
            </a:lvl1pPr>
            <a:lvl2pPr algn="l">
              <a:defRPr sz="2100" b="0">
                <a:solidFill>
                  <a:schemeClr val="tx1"/>
                </a:solidFill>
              </a:defRPr>
            </a:lvl2pPr>
            <a:lvl3pPr algn="l">
              <a:defRPr sz="2100" b="0">
                <a:solidFill>
                  <a:schemeClr val="tx1"/>
                </a:solidFill>
              </a:defRPr>
            </a:lvl3pPr>
            <a:lvl4pPr algn="l">
              <a:defRPr sz="2100" b="0">
                <a:solidFill>
                  <a:schemeClr val="tx1"/>
                </a:solidFill>
              </a:defRPr>
            </a:lvl4pPr>
            <a:lvl5pPr algn="l">
              <a:defRPr sz="2100" b="0">
                <a:solidFill>
                  <a:schemeClr val="tx1"/>
                </a:solidFill>
              </a:defRPr>
            </a:lvl5pPr>
            <a:lvl6pPr algn="l">
              <a:defRPr sz="2100" b="0">
                <a:solidFill>
                  <a:schemeClr val="tx1"/>
                </a:solidFill>
              </a:defRPr>
            </a:lvl6pPr>
            <a:lvl7pPr algn="l">
              <a:defRPr sz="2100" b="0">
                <a:solidFill>
                  <a:schemeClr val="tx1"/>
                </a:solidFill>
              </a:defRPr>
            </a:lvl7pPr>
            <a:lvl8pPr algn="l">
              <a:defRPr sz="2100" b="0">
                <a:solidFill>
                  <a:schemeClr val="tx1"/>
                </a:solidFill>
              </a:defRPr>
            </a:lvl8pPr>
            <a:lvl9pPr algn="l">
              <a:defRPr sz="210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chemeClr val="tx1"/>
                </a:solidFill>
              </a:defRPr>
            </a:pPr>
            <a:r>
              <a:rPr sz="2100" b="0" lang="zh-CN">
                <a:solidFill>
                  <a:schemeClr val="tx1"/>
                </a:solidFill>
              </a:rPr>
              <a:t>该示例只计算持续生成时间。输入处理时间也需计入本轮主要等待。</a:t>
            </a:r>
          </a:p>
        </p:txBody>
      </p:sp>
    </p:spTree>
    <p:extLst>
      <p:ext uri="{BB962C8B-B14F-4D97-AF65-F5344CB8AC3E}">
        <p14:creationId xmlns:p14="http://schemas.microsoft.com/office/powerpoint/2010/main" val="1642709623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850AA-CFD3-4694-A984-A60A90A30816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3"/>
          </p:cNvCxnSpPr>
          <p:nvPr/>
        </p:nvCxnSpPr>
        <p:spPr>
          <a:xfrm xmlns:a="http://schemas.openxmlformats.org/drawingml/2006/main">
            <a:off x="8477250" y="4438650"/>
            <a:ext cx="609600" cy="8667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710B3-2DC1-4B1F-B4C3-481EBC20D9BC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H="1">
            <a:off x="3486150" y="4438650"/>
            <a:ext cx="419100" cy="8667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18307-1F7A-4DCB-89DC-1A69A2C8F422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3905250" y="2857500"/>
            <a:ext cx="4000500" cy="628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3352C-0863-4C0E-AB50-9AC0C9E0C5E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476750" y="25050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sp>
        <p:nvSpPr>
          <p:cNvPr id="1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多轮任务中的历史复用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后续轮次会继续补充资料、调用工具和修改结果，输入中包含大量已经处理的历史。</a:t>
            </a:r>
          </a:p>
        </p:txBody>
      </p:sp>
      <p:sp>
        <p:nvSpPr>
          <p:cNvPr id="3" name="第一轮">
            <a:extLst xmlns:a="http://schemas.openxmlformats.org/drawingml/2006/main">
              <a:ext uri="{FF2B5EF4-FFF2-40B4-BE49-F238E27FC236}">
                <a16:creationId xmlns:a16="http://schemas.microsoft.com/office/drawing/2014/main" id="{6E061013-830C-460E-977C-28235665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chemeClr val="tx1"/>
                </a:solidFill>
              </a:defRPr>
            </a:defPPr>
            <a:lvl1pPr algn="l">
              <a:defRPr sz="2100" b="1">
                <a:solidFill>
                  <a:schemeClr val="tx1"/>
                </a:solidFill>
              </a:defRPr>
            </a:lvl1pPr>
            <a:lvl2pPr algn="l">
              <a:defRPr sz="2100" b="1">
                <a:solidFill>
                  <a:schemeClr val="tx1"/>
                </a:solidFill>
              </a:defRPr>
            </a:lvl2pPr>
            <a:lvl3pPr algn="l">
              <a:defRPr sz="2100" b="1">
                <a:solidFill>
                  <a:schemeClr val="tx1"/>
                </a:solidFill>
              </a:defRPr>
            </a:lvl3pPr>
            <a:lvl4pPr algn="l">
              <a:defRPr sz="2100" b="1">
                <a:solidFill>
                  <a:schemeClr val="tx1"/>
                </a:solidFill>
              </a:defRPr>
            </a:lvl4pPr>
            <a:lvl5pPr algn="l">
              <a:defRPr sz="2100" b="1">
                <a:solidFill>
                  <a:schemeClr val="tx1"/>
                </a:solidFill>
              </a:defRPr>
            </a:lvl5pPr>
            <a:lvl6pPr algn="l">
              <a:defRPr sz="2100" b="1">
                <a:solidFill>
                  <a:schemeClr val="tx1"/>
                </a:solidFill>
              </a:defRPr>
            </a:lvl6pPr>
            <a:lvl7pPr algn="l">
              <a:defRPr sz="2100" b="1">
                <a:solidFill>
                  <a:schemeClr val="tx1"/>
                </a:solidFill>
              </a:defRPr>
            </a:lvl7pPr>
            <a:lvl8pPr algn="l">
              <a:defRPr sz="2100" b="1">
                <a:solidFill>
                  <a:schemeClr val="tx1"/>
                </a:solidFill>
              </a:defRPr>
            </a:lvl8pPr>
            <a:lvl9pPr algn="l">
              <a:defRPr sz="2100" b="1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chemeClr val="tx1"/>
                </a:solidFill>
              </a:defRPr>
            </a:pPr>
            <a:r>
              <a:rPr sz="2100" b="1" lang="zh-CN">
                <a:solidFill>
                  <a:schemeClr val="tx1"/>
                </a:solidFill>
              </a:rPr>
              <a:t>第一轮</a:t>
            </a:r>
          </a:p>
        </p:txBody>
      </p:sp>
      <p:sp>
        <p:nvSpPr>
          <p:cNvPr id="4" name="材料">
            <a:extLst xmlns:a="http://schemas.openxmlformats.org/drawingml/2006/main">
              <a:ext uri="{FF2B5EF4-FFF2-40B4-BE49-F238E27FC236}">
                <a16:creationId xmlns:a16="http://schemas.microsoft.com/office/drawing/2014/main" id="{43D32CAB-BEB7-4529-9CD0-BE0111DA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52650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材料</a:t>
            </a:r>
          </a:p>
        </p:txBody>
      </p:sp>
      <p:sp>
        <p:nvSpPr>
          <p:cNvPr id="5" name="处理并保存历史状态">
            <a:extLst xmlns:a="http://schemas.openxmlformats.org/drawingml/2006/main">
              <a:ext uri="{FF2B5EF4-FFF2-40B4-BE49-F238E27FC236}">
                <a16:creationId xmlns:a16="http://schemas.microsoft.com/office/drawing/2014/main" id="{A11BDE1D-A662-481B-B5CE-05A6B8D3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52650"/>
            <a:ext cx="495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处理并保存历史状态</a:t>
            </a:r>
          </a:p>
        </p:txBody>
      </p:sp>
      <p:sp>
        <p:nvSpPr>
          <p:cNvPr id="7" name="下一轮">
            <a:extLst xmlns:a="http://schemas.openxmlformats.org/drawingml/2006/main">
              <a:ext uri="{FF2B5EF4-FFF2-40B4-BE49-F238E27FC236}">
                <a16:creationId xmlns:a16="http://schemas.microsoft.com/office/drawing/2014/main" id="{DD06FE7F-D72D-4494-B056-AF37C103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chemeClr val="tx1"/>
                </a:solidFill>
              </a:defRPr>
            </a:defPPr>
            <a:lvl1pPr algn="l">
              <a:defRPr sz="2100" b="1">
                <a:solidFill>
                  <a:schemeClr val="tx1"/>
                </a:solidFill>
              </a:defRPr>
            </a:lvl1pPr>
            <a:lvl2pPr algn="l">
              <a:defRPr sz="2100" b="1">
                <a:solidFill>
                  <a:schemeClr val="tx1"/>
                </a:solidFill>
              </a:defRPr>
            </a:lvl2pPr>
            <a:lvl3pPr algn="l">
              <a:defRPr sz="2100" b="1">
                <a:solidFill>
                  <a:schemeClr val="tx1"/>
                </a:solidFill>
              </a:defRPr>
            </a:lvl3pPr>
            <a:lvl4pPr algn="l">
              <a:defRPr sz="2100" b="1">
                <a:solidFill>
                  <a:schemeClr val="tx1"/>
                </a:solidFill>
              </a:defRPr>
            </a:lvl4pPr>
            <a:lvl5pPr algn="l">
              <a:defRPr sz="2100" b="1">
                <a:solidFill>
                  <a:schemeClr val="tx1"/>
                </a:solidFill>
              </a:defRPr>
            </a:lvl5pPr>
            <a:lvl6pPr algn="l">
              <a:defRPr sz="2100" b="1">
                <a:solidFill>
                  <a:schemeClr val="tx1"/>
                </a:solidFill>
              </a:defRPr>
            </a:lvl6pPr>
            <a:lvl7pPr algn="l">
              <a:defRPr sz="2100" b="1">
                <a:solidFill>
                  <a:schemeClr val="tx1"/>
                </a:solidFill>
              </a:defRPr>
            </a:lvl7pPr>
            <a:lvl8pPr algn="l">
              <a:defRPr sz="2100" b="1">
                <a:solidFill>
                  <a:schemeClr val="tx1"/>
                </a:solidFill>
              </a:defRPr>
            </a:lvl8pPr>
            <a:lvl9pPr algn="l">
              <a:defRPr sz="2100" b="1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chemeClr val="tx1"/>
                </a:solidFill>
              </a:defRPr>
            </a:pPr>
            <a:r>
              <a:rPr sz="2100" b="1" lang="zh-CN">
                <a:solidFill>
                  <a:schemeClr val="tx1"/>
                </a:solidFill>
              </a:rPr>
              <a:t>下一轮</a:t>
            </a:r>
          </a:p>
        </p:txBody>
      </p:sp>
      <p:sp>
        <p:nvSpPr>
          <p:cNvPr id="8" name="匹配的旧前缀">
            <a:extLst xmlns:a="http://schemas.openxmlformats.org/drawingml/2006/main">
              <a:ext uri="{FF2B5EF4-FFF2-40B4-BE49-F238E27FC236}">
                <a16:creationId xmlns:a16="http://schemas.microsoft.com/office/drawing/2014/main" id="{CF4AB7E0-24C3-4187-8B87-487FDFF7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86150"/>
            <a:ext cx="342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匹配的旧前缀</a:t>
            </a:r>
          </a:p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复用已有计算</a:t>
            </a:r>
          </a:p>
        </p:txBody>
      </p:sp>
      <p:sp>
        <p:nvSpPr>
          <p:cNvPr id="9" name="新问题／工具结果">
            <a:extLst xmlns:a="http://schemas.openxmlformats.org/drawingml/2006/main">
              <a:ext uri="{FF2B5EF4-FFF2-40B4-BE49-F238E27FC236}">
                <a16:creationId xmlns:a16="http://schemas.microsoft.com/office/drawing/2014/main" id="{EE7DB313-CD8D-486E-B3DD-F9974DE7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86150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新问题／工具结果</a:t>
            </a:r>
          </a:p>
        </p:txBody>
      </p:sp>
      <p:sp>
        <p:nvSpPr>
          <p:cNvPr id="10" name="处理新增部分，继续生成">
            <a:extLst xmlns:a="http://schemas.openxmlformats.org/drawingml/2006/main">
              <a:ext uri="{FF2B5EF4-FFF2-40B4-BE49-F238E27FC236}">
                <a16:creationId xmlns:a16="http://schemas.microsoft.com/office/drawing/2014/main" id="{5C614A94-C045-4481-8DA5-E25F0301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53000"/>
            <a:ext cx="514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处理新增部分，继续生成</a:t>
            </a:r>
          </a:p>
        </p:txBody>
      </p:sp>
      <p:sp>
        <p:nvSpPr>
          <p:cNvPr id="14" name="前缀缓存查找可复用部分。系统要求和工具定义保">
            <a:extLst xmlns:a="http://schemas.openxmlformats.org/drawingml/2006/main">
              <a:ext uri="{FF2B5EF4-FFF2-40B4-BE49-F238E27FC236}">
                <a16:creationId xmlns:a16="http://schemas.microsoft.com/office/drawing/2014/main" id="{DE677DE0-E555-432D-99A9-D6D8DA68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chemeClr val="tx1"/>
                </a:solidFill>
              </a:defRPr>
            </a:defPPr>
            <a:lvl1pPr algn="l">
              <a:defRPr sz="2025" b="0">
                <a:solidFill>
                  <a:schemeClr val="tx1"/>
                </a:solidFill>
              </a:defRPr>
            </a:lvl1pPr>
            <a:lvl2pPr algn="l">
              <a:defRPr sz="2025" b="0">
                <a:solidFill>
                  <a:schemeClr val="tx1"/>
                </a:solidFill>
              </a:defRPr>
            </a:lvl2pPr>
            <a:lvl3pPr algn="l">
              <a:defRPr sz="2025" b="0">
                <a:solidFill>
                  <a:schemeClr val="tx1"/>
                </a:solidFill>
              </a:defRPr>
            </a:lvl3pPr>
            <a:lvl4pPr algn="l">
              <a:defRPr sz="2025" b="0">
                <a:solidFill>
                  <a:schemeClr val="tx1"/>
                </a:solidFill>
              </a:defRPr>
            </a:lvl4pPr>
            <a:lvl5pPr algn="l">
              <a:defRPr sz="2025" b="0">
                <a:solidFill>
                  <a:schemeClr val="tx1"/>
                </a:solidFill>
              </a:defRPr>
            </a:lvl5pPr>
            <a:lvl6pPr algn="l">
              <a:defRPr sz="2025" b="0">
                <a:solidFill>
                  <a:schemeClr val="tx1"/>
                </a:solidFill>
              </a:defRPr>
            </a:lvl6pPr>
            <a:lvl7pPr algn="l">
              <a:defRPr sz="2025" b="0">
                <a:solidFill>
                  <a:schemeClr val="tx1"/>
                </a:solidFill>
              </a:defRPr>
            </a:lvl7pPr>
            <a:lvl8pPr algn="l">
              <a:defRPr sz="2025" b="0">
                <a:solidFill>
                  <a:schemeClr val="tx1"/>
                </a:solidFill>
              </a:defRPr>
            </a:lvl8pPr>
            <a:lvl9pPr algn="l">
              <a:defRPr sz="2025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前缀缓存查找可复用部分。系统要求和工具定义保持稳定、新内容追加在末尾，有利于延续</a:t>
            </a:r>
          </a:p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已有状态。</a:t>
            </a:r>
          </a:p>
        </p:txBody>
      </p:sp>
    </p:spTree>
    <p:extLst>
      <p:ext uri="{BB962C8B-B14F-4D97-AF65-F5344CB8AC3E}">
        <p14:creationId xmlns:p14="http://schemas.microsoft.com/office/powerpoint/2010/main" val="120491127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工具等待期间的状态保存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模型生成代码后由工具执行，结果返回后再继续。等待期间仍需保留会话状态。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088EE-E94E-4FC5-A92A-80452C171780}"/>
              </a:ext>
            </a:extLst>
          </p:cNvPr>
          <p:cNvGraphicFramePr/>
          <p:nvPr>
            <p:ph type="obj" idx="2"/>
          </p:nvPr>
        </p:nvGraphicFramePr>
        <p:xfrm>
          <a:off xmlns:a="http://schemas.openxmlformats.org/drawingml/2006/main" x="609600" y="217170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14750"/>
                <a:gridCol w="7258050"/>
              </a:tblGrid>
              <a:tr h="714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1" lang="zh-CN">
                          <a:solidFill>
                            <a:schemeClr val="bg1"/>
                          </a:solidFill>
                        </a:rPr>
                        <a:t>任务状态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1" lang="zh-CN">
                          <a:solidFill>
                            <a:schemeClr val="bg1"/>
                          </a:solidFill>
                        </a:rPr>
                        <a:t>资源安排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正在生成或即将继续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保留在快速工作内存中，直接接续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等待工具返回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按等待时间和资源情况安排缓存，恢复后继续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较长时间闲置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保存至下一层存储，为其他任务释放工作空间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恢复时需取回与模型、历史前缀和运行格式相匹配">
            <a:extLst xmlns:a="http://schemas.openxmlformats.org/drawingml/2006/main">
              <a:ext uri="{FF2B5EF4-FFF2-40B4-BE49-F238E27FC236}">
                <a16:creationId xmlns:a16="http://schemas.microsoft.com/office/drawing/2014/main" id="{DE2F2E61-CC63-417F-86D6-24D14059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</a:defRPr>
            </a:defPPr>
            <a:lvl1pPr algn="l">
              <a:defRPr sz="2100" b="0">
                <a:solidFill>
                  <a:schemeClr val="tx1"/>
                </a:solidFill>
              </a:defRPr>
            </a:lvl1pPr>
            <a:lvl2pPr algn="l">
              <a:defRPr sz="2100" b="0">
                <a:solidFill>
                  <a:schemeClr val="tx1"/>
                </a:solidFill>
              </a:defRPr>
            </a:lvl2pPr>
            <a:lvl3pPr algn="l">
              <a:defRPr sz="2100" b="0">
                <a:solidFill>
                  <a:schemeClr val="tx1"/>
                </a:solidFill>
              </a:defRPr>
            </a:lvl3pPr>
            <a:lvl4pPr algn="l">
              <a:defRPr sz="2100" b="0">
                <a:solidFill>
                  <a:schemeClr val="tx1"/>
                </a:solidFill>
              </a:defRPr>
            </a:lvl4pPr>
            <a:lvl5pPr algn="l">
              <a:defRPr sz="2100" b="0">
                <a:solidFill>
                  <a:schemeClr val="tx1"/>
                </a:solidFill>
              </a:defRPr>
            </a:lvl5pPr>
            <a:lvl6pPr algn="l">
              <a:defRPr sz="2100" b="0">
                <a:solidFill>
                  <a:schemeClr val="tx1"/>
                </a:solidFill>
              </a:defRPr>
            </a:lvl6pPr>
            <a:lvl7pPr algn="l">
              <a:defRPr sz="2100" b="0">
                <a:solidFill>
                  <a:schemeClr val="tx1"/>
                </a:solidFill>
              </a:defRPr>
            </a:lvl7pPr>
            <a:lvl8pPr algn="l">
              <a:defRPr sz="2100" b="0">
                <a:solidFill>
                  <a:schemeClr val="tx1"/>
                </a:solidFill>
              </a:defRPr>
            </a:lvl8pPr>
            <a:lvl9pPr algn="l">
              <a:defRPr sz="210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chemeClr val="tx1"/>
                </a:solidFill>
              </a:defRPr>
            </a:pPr>
            <a:r>
              <a:rPr sz="2100" b="0" lang="zh-CN">
                <a:solidFill>
                  <a:schemeClr val="tx1"/>
                </a:solidFill>
              </a:rPr>
              <a:t>恢复时需取回与模型、历史前缀和运行格式相匹配的状态。框架将保存与恢复纳入任务生</a:t>
            </a:r>
          </a:p>
          <a:p xmlns:a="http://schemas.openxmlformats.org/drawingml/2006/main">
            <a:pPr algn="l">
              <a:defRPr sz="2100" b="0">
                <a:solidFill>
                  <a:schemeClr val="tx1"/>
                </a:solidFill>
              </a:defRPr>
            </a:pPr>
            <a:r>
              <a:rPr sz="2100" b="0" lang="zh-CN">
                <a:solidFill>
                  <a:schemeClr val="tx1"/>
                </a:solidFill>
              </a:rPr>
              <a:t>命周期。</a:t>
            </a:r>
          </a:p>
        </p:txBody>
      </p:sp>
    </p:spTree>
    <p:extLst>
      <p:ext uri="{BB962C8B-B14F-4D97-AF65-F5344CB8AC3E}">
        <p14:creationId xmlns:p14="http://schemas.microsoft.com/office/powerpoint/2010/main" val="1222259035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609F3-13D0-484E-833D-E1C29B3875D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905625" y="3800475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43C14-8C89-4AA5-94A9-1D40B6E70C9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3276600" y="4114800"/>
            <a:ext cx="2438400" cy="790575"/>
          </a:xfrm>
          <a:prstGeom xmlns:a="http://schemas.openxmlformats.org/drawingml/2006/main" prst="bentConnector4">
            <a:avLst>
              <a:gd name="adj1" fmla="val 9375"/>
              <a:gd name="adj2" fmla="val 71084"/>
            </a:avLst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8E080E-6EBC-420A-97AB-35565789FD4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76600" y="3800475"/>
            <a:ext cx="1247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EEF645-034F-44D4-AD1F-3FFA9224BAE1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276600" y="2695575"/>
            <a:ext cx="2438400" cy="79057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sp>
        <p:nvSpPr>
          <p:cNvPr id="14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共享服务中的请求调度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同一时刻可能同时存在新材料、持续生成和工具等待等不同状态的请求。</a:t>
            </a:r>
          </a:p>
        </p:txBody>
      </p:sp>
      <p:sp>
        <p:nvSpPr>
          <p:cNvPr id="3" name="新材料">
            <a:extLst xmlns:a="http://schemas.openxmlformats.org/drawingml/2006/main">
              <a:ext uri="{FF2B5EF4-FFF2-40B4-BE49-F238E27FC236}">
                <a16:creationId xmlns:a16="http://schemas.microsoft.com/office/drawing/2014/main" id="{D36A046F-DBB6-444E-A1F5-CBCEDBF4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新材料</a:t>
            </a:r>
          </a:p>
        </p:txBody>
      </p:sp>
      <p:sp>
        <p:nvSpPr>
          <p:cNvPr id="4" name="正在生成">
            <a:extLst xmlns:a="http://schemas.openxmlformats.org/drawingml/2006/main">
              <a:ext uri="{FF2B5EF4-FFF2-40B4-BE49-F238E27FC236}">
                <a16:creationId xmlns:a16="http://schemas.microsoft.com/office/drawing/2014/main" id="{4B27BB43-9F3E-41FA-81A3-C355E466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正在生成</a:t>
            </a:r>
          </a:p>
        </p:txBody>
      </p:sp>
      <p:sp>
        <p:nvSpPr>
          <p:cNvPr id="5" name="工具结果返回">
            <a:extLst xmlns:a="http://schemas.openxmlformats.org/drawingml/2006/main">
              <a:ext uri="{FF2B5EF4-FFF2-40B4-BE49-F238E27FC236}">
                <a16:creationId xmlns:a16="http://schemas.microsoft.com/office/drawing/2014/main" id="{A5612944-79EC-4682-9538-56A24A16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工具结果返回</a:t>
            </a:r>
          </a:p>
        </p:txBody>
      </p:sp>
      <p:sp>
        <p:nvSpPr>
          <p:cNvPr id="6" name="框架调度">
            <a:extLst xmlns:a="http://schemas.openxmlformats.org/drawingml/2006/main">
              <a:ext uri="{FF2B5EF4-FFF2-40B4-BE49-F238E27FC236}">
                <a16:creationId xmlns:a16="http://schemas.microsoft.com/office/drawing/2014/main" id="{0B417872-52AD-446B-8F66-6AFFD6B4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8615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框架调度</a:t>
            </a:r>
          </a:p>
        </p:txBody>
      </p:sp>
      <p:sp>
        <p:nvSpPr>
          <p:cNvPr id="7" name="一批计算">
            <a:extLst xmlns:a="http://schemas.openxmlformats.org/drawingml/2006/main">
              <a:ext uri="{FF2B5EF4-FFF2-40B4-BE49-F238E27FC236}">
                <a16:creationId xmlns:a16="http://schemas.microsoft.com/office/drawing/2014/main" id="{A06ED224-6844-47AC-B8F9-72C77ADF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86150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一批计算</a:t>
            </a:r>
          </a:p>
        </p:txBody>
      </p:sp>
      <p:sp>
        <p:nvSpPr>
          <p:cNvPr id="12" name="返回各请求进展，继续安排下一批计算">
            <a:extLst xmlns:a="http://schemas.openxmlformats.org/drawingml/2006/main">
              <a:ext uri="{FF2B5EF4-FFF2-40B4-BE49-F238E27FC236}">
                <a16:creationId xmlns:a16="http://schemas.microsoft.com/office/drawing/2014/main" id="{88EAE1A9-1FBF-44B0-A972-5047663D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57725"/>
            <a:ext cx="623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chemeClr val="tx1"/>
                </a:solidFill>
              </a:defRPr>
            </a:defPPr>
            <a:lvl1pPr algn="l">
              <a:defRPr sz="2025" b="0">
                <a:solidFill>
                  <a:schemeClr val="tx1"/>
                </a:solidFill>
              </a:defRPr>
            </a:lvl1pPr>
            <a:lvl2pPr algn="l">
              <a:defRPr sz="2025" b="0">
                <a:solidFill>
                  <a:schemeClr val="tx1"/>
                </a:solidFill>
              </a:defRPr>
            </a:lvl2pPr>
            <a:lvl3pPr algn="l">
              <a:defRPr sz="2025" b="0">
                <a:solidFill>
                  <a:schemeClr val="tx1"/>
                </a:solidFill>
              </a:defRPr>
            </a:lvl3pPr>
            <a:lvl4pPr algn="l">
              <a:defRPr sz="2025" b="0">
                <a:solidFill>
                  <a:schemeClr val="tx1"/>
                </a:solidFill>
              </a:defRPr>
            </a:lvl4pPr>
            <a:lvl5pPr algn="l">
              <a:defRPr sz="2025" b="0">
                <a:solidFill>
                  <a:schemeClr val="tx1"/>
                </a:solidFill>
              </a:defRPr>
            </a:lvl5pPr>
            <a:lvl6pPr algn="l">
              <a:defRPr sz="2025" b="0">
                <a:solidFill>
                  <a:schemeClr val="tx1"/>
                </a:solidFill>
              </a:defRPr>
            </a:lvl6pPr>
            <a:lvl7pPr algn="l">
              <a:defRPr sz="2025" b="0">
                <a:solidFill>
                  <a:schemeClr val="tx1"/>
                </a:solidFill>
              </a:defRPr>
            </a:lvl7pPr>
            <a:lvl8pPr algn="l">
              <a:defRPr sz="2025" b="0">
                <a:solidFill>
                  <a:schemeClr val="tx1"/>
                </a:solidFill>
              </a:defRPr>
            </a:lvl8pPr>
            <a:lvl9pPr algn="l">
              <a:defRPr sz="2025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返回各请求进展，继续安排下一批计算</a:t>
            </a:r>
          </a:p>
        </p:txBody>
      </p:sp>
      <p:sp>
        <p:nvSpPr>
          <p:cNvPr id="13" name="合批使多个请求共享计算机会。长输入分块处理，">
            <a:extLst xmlns:a="http://schemas.openxmlformats.org/drawingml/2006/main">
              <a:ext uri="{FF2B5EF4-FFF2-40B4-BE49-F238E27FC236}">
                <a16:creationId xmlns:a16="http://schemas.microsoft.com/office/drawing/2014/main" id="{B45992D8-20F9-45B8-ADF3-1C895CA9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</a:defRPr>
            </a:defPPr>
            <a:lvl1pPr algn="l">
              <a:defRPr sz="2100" b="0">
                <a:solidFill>
                  <a:schemeClr val="tx1"/>
                </a:solidFill>
              </a:defRPr>
            </a:lvl1pPr>
            <a:lvl2pPr algn="l">
              <a:defRPr sz="2100" b="0">
                <a:solidFill>
                  <a:schemeClr val="tx1"/>
                </a:solidFill>
              </a:defRPr>
            </a:lvl2pPr>
            <a:lvl3pPr algn="l">
              <a:defRPr sz="2100" b="0">
                <a:solidFill>
                  <a:schemeClr val="tx1"/>
                </a:solidFill>
              </a:defRPr>
            </a:lvl3pPr>
            <a:lvl4pPr algn="l">
              <a:defRPr sz="2100" b="0">
                <a:solidFill>
                  <a:schemeClr val="tx1"/>
                </a:solidFill>
              </a:defRPr>
            </a:lvl4pPr>
            <a:lvl5pPr algn="l">
              <a:defRPr sz="2100" b="0">
                <a:solidFill>
                  <a:schemeClr val="tx1"/>
                </a:solidFill>
              </a:defRPr>
            </a:lvl5pPr>
            <a:lvl6pPr algn="l">
              <a:defRPr sz="2100" b="0">
                <a:solidFill>
                  <a:schemeClr val="tx1"/>
                </a:solidFill>
              </a:defRPr>
            </a:lvl6pPr>
            <a:lvl7pPr algn="l">
              <a:defRPr sz="2100" b="0">
                <a:solidFill>
                  <a:schemeClr val="tx1"/>
                </a:solidFill>
              </a:defRPr>
            </a:lvl7pPr>
            <a:lvl8pPr algn="l">
              <a:defRPr sz="2100" b="0">
                <a:solidFill>
                  <a:schemeClr val="tx1"/>
                </a:solidFill>
              </a:defRPr>
            </a:lvl8pPr>
            <a:lvl9pPr algn="l">
              <a:defRPr sz="210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chemeClr val="tx1"/>
                </a:solidFill>
              </a:defRPr>
            </a:pPr>
            <a:r>
              <a:rPr sz="2100" b="0" lang="zh-CN">
                <a:solidFill>
                  <a:schemeClr val="tx1"/>
                </a:solidFill>
              </a:rPr>
              <a:t>合批使多个请求共享计算机会。长输入分块处理，让框架在块之间继续推进已有请求的生</a:t>
            </a:r>
          </a:p>
          <a:p xmlns:a="http://schemas.openxmlformats.org/drawingml/2006/main">
            <a:pPr algn="l">
              <a:defRPr sz="2100" b="0">
                <a:solidFill>
                  <a:schemeClr val="tx1"/>
                </a:solidFill>
              </a:defRPr>
            </a:pPr>
            <a:r>
              <a:rPr sz="2100" b="0" lang="zh-CN">
                <a:solidFill>
                  <a:schemeClr val="tx1"/>
                </a:solidFill>
              </a:rPr>
              <a:t>成。</a:t>
            </a:r>
          </a:p>
        </p:txBody>
      </p:sp>
    </p:spTree>
    <p:extLst>
      <p:ext uri="{BB962C8B-B14F-4D97-AF65-F5344CB8AC3E}">
        <p14:creationId xmlns:p14="http://schemas.microsoft.com/office/powerpoint/2010/main" val="148293611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593DE556-A484-4CD2-9CF7-0B9A12CB88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DGX Spark 上 Qwen3.8-27B 的长输入表现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4052185-6181-49E1-A66B-818F4A7442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单台 DGX Spark GB10，128GB 统一内存</a:t>
            </a:r>
          </a:p>
          <a:p xmlns:a="http://schemas.openxmlformats.org/drawingml/2006/main">
            <a:pPr>
              <a:buNone/>
            </a:pPr>
            <a:r>
              <a:t>Qwen3.8-27B-FP8，vLLM 服务路径，FP8 缓存，MTP3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4257BB11-9FC1-439D-B99A-2982CD774BDF}"/>
              </a:ext>
            </a:extLst>
          </p:cNvPr>
          <p:cNvGraphicFramePr/>
          <p:nvPr>
            <p:ph type="obj" idx="2"/>
          </p:nvPr>
        </p:nvGraphicFramePr>
        <p:xfrm>
          <a:off xmlns:a="http://schemas.openxmlformats.org/drawingml/2006/main" x="609600" y="2238375"/>
          <a:ext xmlns:a="http://schemas.openxmlformats.org/drawingml/2006/main" cx="52578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20dd72388c48c3"/>
          </a:graphicData>
        </a:graphic>
      </p:graphicFrame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7775F40-FD24-4953-93C0-FCF02D10ED9A}"/>
              </a:ext>
            </a:extLst>
          </p:cNvPr>
          <p:cNvGraphicFramePr/>
          <p:nvPr>
            <p:ph type="obj" idx="3"/>
          </p:nvPr>
        </p:nvGraphicFramePr>
        <p:xfrm>
          <a:off xmlns:a="http://schemas.openxmlformats.org/drawingml/2006/main" x="6324600" y="2238375"/>
          <a:ext xmlns:a="http://schemas.openxmlformats.org/drawingml/2006/main" cx="52578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e96429740743b4"/>
          </a:graphicData>
        </a:graphic>
      </p:graphicFrame>
      <p:sp>
        <p:nvSpPr>
          <p:cNvPr id="5" name="外部随机 token 测试，每次输出 2,0">
            <a:extLst xmlns:a="http://schemas.openxmlformats.org/drawingml/2006/main">
              <a:ext uri="{FF2B5EF4-FFF2-40B4-BE49-F238E27FC236}">
                <a16:creationId xmlns:a16="http://schemas.microsoft.com/office/drawing/2014/main" id="{ED1A7855-ECCA-43F5-ACDD-E25AF4FD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chemeClr val="tx2"/>
                </a:solidFill>
              </a:defRPr>
            </a:defPPr>
            <a:lvl1pPr algn="l">
              <a:defRPr sz="1725" b="0">
                <a:solidFill>
                  <a:schemeClr val="tx2"/>
                </a:solidFill>
              </a:defRPr>
            </a:lvl1pPr>
            <a:lvl2pPr algn="l">
              <a:defRPr sz="1725" b="0">
                <a:solidFill>
                  <a:schemeClr val="tx2"/>
                </a:solidFill>
              </a:defRPr>
            </a:lvl2pPr>
            <a:lvl3pPr algn="l">
              <a:defRPr sz="1725" b="0">
                <a:solidFill>
                  <a:schemeClr val="tx2"/>
                </a:solidFill>
              </a:defRPr>
            </a:lvl3pPr>
            <a:lvl4pPr algn="l">
              <a:defRPr sz="1725" b="0">
                <a:solidFill>
                  <a:schemeClr val="tx2"/>
                </a:solidFill>
              </a:defRPr>
            </a:lvl4pPr>
            <a:lvl5pPr algn="l">
              <a:defRPr sz="1725" b="0">
                <a:solidFill>
                  <a:schemeClr val="tx2"/>
                </a:solidFill>
              </a:defRPr>
            </a:lvl5pPr>
            <a:lvl6pPr algn="l">
              <a:defRPr sz="1725" b="0">
                <a:solidFill>
                  <a:schemeClr val="tx2"/>
                </a:solidFill>
              </a:defRPr>
            </a:lvl6pPr>
            <a:lvl7pPr algn="l">
              <a:defRPr sz="1725" b="0">
                <a:solidFill>
                  <a:schemeClr val="tx2"/>
                </a:solidFill>
              </a:defRPr>
            </a:lvl7pPr>
            <a:lvl8pPr algn="l">
              <a:defRPr sz="1725" b="0">
                <a:solidFill>
                  <a:schemeClr val="tx2"/>
                </a:solidFill>
              </a:defRPr>
            </a:lvl8pPr>
            <a:lvl9pPr algn="l">
              <a:defRPr sz="1725" b="0">
                <a:solidFill>
                  <a:schemeClr val="tx2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chemeClr val="tx2"/>
                </a:solidFill>
              </a:defRPr>
            </a:pPr>
            <a:r>
              <a:rPr sz="1725" b="0" lang="zh-CN">
                <a:solidFill>
                  <a:schemeClr val="tx2"/>
                </a:solidFill>
              </a:rPr>
              <a:t>外部随机 token 测试，每次输出 2,048 tokens，关闭前缀缓存。</a:t>
            </a:r>
          </a:p>
          <a:p xmlns:a="http://schemas.openxmlformats.org/drawingml/2006/main">
            <a:pPr algn="l">
              <a:defRPr sz="1725" b="0">
                <a:solidFill>
                  <a:schemeClr val="tx2"/>
                </a:solidFill>
              </a:defRPr>
            </a:pPr>
            <a:r>
              <a:rPr sz="1725" b="0" lang="zh-CN">
                <a:solidFill>
                  <a:schemeClr val="tx2"/>
                </a:solidFill>
              </a:rPr>
              <a:t>50K、100K 各测试两次，300K、500K 各测试一次。</a:t>
            </a:r>
          </a:p>
        </p:txBody>
      </p:sp>
      <p:sp>
        <p:nvSpPr>
          <p:cNvPr id="6" name="输入增长会延长首次处理时间，并降低后续生成速">
            <a:extLst xmlns:a="http://schemas.openxmlformats.org/drawingml/2006/main">
              <a:ext uri="{FF2B5EF4-FFF2-40B4-BE49-F238E27FC236}">
                <a16:creationId xmlns:a16="http://schemas.microsoft.com/office/drawing/2014/main" id="{50F6B477-FE51-413D-B81B-755C187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chemeClr val="tx1"/>
                </a:solidFill>
              </a:defRPr>
            </a:defPPr>
            <a:lvl1pPr algn="l">
              <a:defRPr sz="1875" b="0">
                <a:solidFill>
                  <a:schemeClr val="tx1"/>
                </a:solidFill>
              </a:defRPr>
            </a:lvl1pPr>
            <a:lvl2pPr algn="l">
              <a:defRPr sz="1875" b="0">
                <a:solidFill>
                  <a:schemeClr val="tx1"/>
                </a:solidFill>
              </a:defRPr>
            </a:lvl2pPr>
            <a:lvl3pPr algn="l">
              <a:defRPr sz="1875" b="0">
                <a:solidFill>
                  <a:schemeClr val="tx1"/>
                </a:solidFill>
              </a:defRPr>
            </a:lvl3pPr>
            <a:lvl4pPr algn="l">
              <a:defRPr sz="1875" b="0">
                <a:solidFill>
                  <a:schemeClr val="tx1"/>
                </a:solidFill>
              </a:defRPr>
            </a:lvl4pPr>
            <a:lvl5pPr algn="l">
              <a:defRPr sz="1875" b="0">
                <a:solidFill>
                  <a:schemeClr val="tx1"/>
                </a:solidFill>
              </a:defRPr>
            </a:lvl5pPr>
            <a:lvl6pPr algn="l">
              <a:defRPr sz="1875" b="0">
                <a:solidFill>
                  <a:schemeClr val="tx1"/>
                </a:solidFill>
              </a:defRPr>
            </a:lvl6pPr>
            <a:lvl7pPr algn="l">
              <a:defRPr sz="1875" b="0">
                <a:solidFill>
                  <a:schemeClr val="tx1"/>
                </a:solidFill>
              </a:defRPr>
            </a:lvl7pPr>
            <a:lvl8pPr algn="l">
              <a:defRPr sz="1875" b="0">
                <a:solidFill>
                  <a:schemeClr val="tx1"/>
                </a:solidFill>
              </a:defRPr>
            </a:lvl8pPr>
            <a:lvl9pPr algn="l">
              <a:defRPr sz="1875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chemeClr val="tx1"/>
                </a:solidFill>
              </a:defRPr>
            </a:pPr>
            <a:r>
              <a:rPr sz="1875" b="0" lang="zh-CN">
                <a:solidFill>
                  <a:schemeClr val="tx1"/>
                </a:solidFill>
              </a:rPr>
              <a:t>输入增长会延长首次处理时间，并降低后续生成速度。较长材料可提前提交，追问沿已有历史继续。</a:t>
            </a:r>
          </a:p>
        </p:txBody>
      </p:sp>
    </p:spTree>
    <p:extLst>
      <p:ext uri="{BB962C8B-B14F-4D97-AF65-F5344CB8AC3E}">
        <p14:creationId xmlns:p14="http://schemas.microsoft.com/office/powerpoint/2010/main" val="788019324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DGX Spark 的三路并发实例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沿用同一组 DGX Spark 与 Qwen3.8-27B-FP8 测试配置，三路请求同时提交，各生成 4,096</a:t>
            </a:r>
          </a:p>
          <a:p xmlns:a="http://schemas.openxmlformats.org/drawingml/2006/main">
            <a:pPr>
              <a:buNone/>
            </a:pPr>
            <a:r>
              <a:t>tokens。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02AEC-CF4C-47B6-AAEF-6A855EC6A0DC}"/>
              </a:ext>
            </a:extLst>
          </p:cNvPr>
          <p:cNvGraphicFramePr/>
          <p:nvPr>
            <p:ph type="obj" idx="2"/>
          </p:nvPr>
        </p:nvGraphicFramePr>
        <p:xfrm>
          <a:off xmlns:a="http://schemas.openxmlformats.org/drawingml/2006/main" x="609600" y="2171700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71750"/>
                <a:gridCol w="2800350"/>
                <a:gridCol w="2800350"/>
                <a:gridCol w="2800350"/>
              </a:tblGrid>
              <a:tr h="793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1" lang="zh-CN">
                          <a:solidFill>
                            <a:schemeClr val="bg1"/>
                          </a:solidFill>
                        </a:rPr>
                        <a:t>每路输入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zh-CN">
                          <a:solidFill>
                            <a:schemeClr val="bg1"/>
                          </a:solidFill>
                        </a:rPr>
                        <a:t>共同生成总速度</a:t>
                      </a:r>
                    </a:p>
                    <a:p>
                      <a:pPr algn="ctr"/>
                      <a:r>
                        <a:rPr sz="1800" b="1" lang="zh-CN">
                          <a:solidFill>
                            <a:schemeClr val="bg1"/>
                          </a:solidFill>
                        </a:rPr>
                        <a:t>（token/s）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zh-CN">
                          <a:solidFill>
                            <a:schemeClr val="bg1"/>
                          </a:solidFill>
                        </a:rPr>
                        <a:t>共同窗口每路平均</a:t>
                      </a:r>
                    </a:p>
                    <a:p>
                      <a:pPr algn="ctr"/>
                      <a:r>
                        <a:rPr sz="1800" b="1" lang="zh-CN">
                          <a:solidFill>
                            <a:schemeClr val="bg1"/>
                          </a:solidFill>
                        </a:rPr>
                        <a:t>（token/s）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zh-CN">
                          <a:solidFill>
                            <a:schemeClr val="bg1"/>
                          </a:solidFill>
                        </a:rPr>
                        <a:t>各请求完整阶段平均</a:t>
                      </a:r>
                    </a:p>
                    <a:p>
                      <a:pPr algn="ctr"/>
                      <a:r>
                        <a:rPr sz="1800" b="1" lang="zh-CN">
                          <a:solidFill>
                            <a:schemeClr val="bg1"/>
                          </a:solidFill>
                        </a:rPr>
                        <a:t>（token/s）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793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 lang="zh-CN">
                          <a:solidFill>
                            <a:schemeClr val="tx1"/>
                          </a:solidFill>
                        </a:rPr>
                        <a:t>50,000 tokens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zh-CN">
                          <a:solidFill>
                            <a:schemeClr val="tx1"/>
                          </a:solidFill>
                        </a:rPr>
                        <a:t>59.08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zh-CN">
                          <a:solidFill>
                            <a:schemeClr val="tx1"/>
                          </a:solidFill>
                        </a:rPr>
                        <a:t>19.69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zh-CN">
                          <a:solidFill>
                            <a:schemeClr val="tx1"/>
                          </a:solidFill>
                        </a:rPr>
                        <a:t>16.85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793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 lang="zh-CN">
                          <a:solidFill>
                            <a:schemeClr val="tx1"/>
                          </a:solidFill>
                        </a:rPr>
                        <a:t>100,000 tokens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zh-CN">
                          <a:solidFill>
                            <a:schemeClr val="tx1"/>
                          </a:solidFill>
                        </a:rPr>
                        <a:t>52.41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zh-CN">
                          <a:solidFill>
                            <a:schemeClr val="tx1"/>
                          </a:solidFill>
                        </a:rPr>
                        <a:t>17.47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zh-CN">
                          <a:solidFill>
                            <a:schemeClr val="tx1"/>
                          </a:solidFill>
                        </a:rPr>
                        <a:t>12.45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共同窗口指三路均在输出的时段。完整阶段还包含">
            <a:extLst xmlns:a="http://schemas.openxmlformats.org/drawingml/2006/main">
              <a:ext uri="{FF2B5EF4-FFF2-40B4-BE49-F238E27FC236}">
                <a16:creationId xmlns:a16="http://schemas.microsoft.com/office/drawing/2014/main" id="{8824E858-D8CF-45BA-A55C-A9B4726E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chemeClr val="tx1"/>
                </a:solidFill>
              </a:defRPr>
            </a:defPPr>
            <a:lvl1pPr algn="l">
              <a:defRPr sz="2025" b="0">
                <a:solidFill>
                  <a:schemeClr val="tx1"/>
                </a:solidFill>
              </a:defRPr>
            </a:lvl1pPr>
            <a:lvl2pPr algn="l">
              <a:defRPr sz="2025" b="0">
                <a:solidFill>
                  <a:schemeClr val="tx1"/>
                </a:solidFill>
              </a:defRPr>
            </a:lvl2pPr>
            <a:lvl3pPr algn="l">
              <a:defRPr sz="2025" b="0">
                <a:solidFill>
                  <a:schemeClr val="tx1"/>
                </a:solidFill>
              </a:defRPr>
            </a:lvl3pPr>
            <a:lvl4pPr algn="l">
              <a:defRPr sz="2025" b="0">
                <a:solidFill>
                  <a:schemeClr val="tx1"/>
                </a:solidFill>
              </a:defRPr>
            </a:lvl4pPr>
            <a:lvl5pPr algn="l">
              <a:defRPr sz="2025" b="0">
                <a:solidFill>
                  <a:schemeClr val="tx1"/>
                </a:solidFill>
              </a:defRPr>
            </a:lvl5pPr>
            <a:lvl6pPr algn="l">
              <a:defRPr sz="2025" b="0">
                <a:solidFill>
                  <a:schemeClr val="tx1"/>
                </a:solidFill>
              </a:defRPr>
            </a:lvl6pPr>
            <a:lvl7pPr algn="l">
              <a:defRPr sz="2025" b="0">
                <a:solidFill>
                  <a:schemeClr val="tx1"/>
                </a:solidFill>
              </a:defRPr>
            </a:lvl7pPr>
            <a:lvl8pPr algn="l">
              <a:defRPr sz="2025" b="0">
                <a:solidFill>
                  <a:schemeClr val="tx1"/>
                </a:solidFill>
              </a:defRPr>
            </a:lvl8pPr>
            <a:lvl9pPr algn="l">
              <a:defRPr sz="2025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共同窗口指三路均在输出的时段。完整阶段还包含其他请求处理输入造成的等待，调度会影</a:t>
            </a:r>
          </a:p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响每路体验。</a:t>
            </a:r>
          </a:p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CPU 与 GPU 共用 128GB 统一内存，闲置会话可进一步考虑 SSD 保存与恢复。</a:t>
            </a:r>
          </a:p>
        </p:txBody>
      </p:sp>
    </p:spTree>
    <p:extLst>
      <p:ext uri="{BB962C8B-B14F-4D97-AF65-F5344CB8AC3E}">
        <p14:creationId xmlns:p14="http://schemas.microsoft.com/office/powerpoint/2010/main" val="294606286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950E9-5018-40E2-8136-EB5724B7B5D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48350" y="57435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headEnd type="triangle" w="sm" len="sm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8BD49-7024-4BF7-870C-24DEFD0B5E7C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3228975" y="4724400"/>
            <a:ext cx="2867025" cy="600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chemeClr val="accent1"/>
            </a:solidFill>
            <a:headEnd type="triangle" w="sm" len="sm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5527C-61A3-4C90-8124-1C44DE649019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6096000" y="369570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8E4EE-09F7-475C-A6EE-E2FBB96C5E99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6096000" y="26479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sp>
        <p:nvSpPr>
          <p:cNvPr id="1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单台八 H200 服务器的运行配置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DeepSeek-V4.1-Flash-1017 与 vLLM，采用单机共享服务。</a:t>
            </a:r>
          </a:p>
        </p:txBody>
      </p:sp>
      <p:sp>
        <p:nvSpPr>
          <p:cNvPr id="3" name="同事的任务入口">
            <a:extLst xmlns:a="http://schemas.openxmlformats.org/drawingml/2006/main">
              <a:ext uri="{FF2B5EF4-FFF2-40B4-BE49-F238E27FC236}">
                <a16:creationId xmlns:a16="http://schemas.microsoft.com/office/drawing/2014/main" id="{DD91E24B-425C-4EB8-80EB-D2CE3C12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同事的任务入口</a:t>
            </a:r>
          </a:p>
        </p:txBody>
      </p:sp>
      <p:sp>
        <p:nvSpPr>
          <p:cNvPr id="4" name="vLLM：请求、计算、缓存与调度">
            <a:extLst xmlns:a="http://schemas.openxmlformats.org/drawingml/2006/main">
              <a:ext uri="{FF2B5EF4-FFF2-40B4-BE49-F238E27FC236}">
                <a16:creationId xmlns:a16="http://schemas.microsoft.com/office/drawing/2014/main" id="{52F8B25E-7189-4B02-BAD5-A1A98139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86100"/>
            <a:ext cx="704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vLLM：请求、计算、缓存与调度</a:t>
            </a:r>
          </a:p>
        </p:txBody>
      </p:sp>
      <p:sp>
        <p:nvSpPr>
          <p:cNvPr id="5" name="8 张 H200：共同运行 DeepSeek-V4.1-Flash-1017">
            <a:extLst xmlns:a="http://schemas.openxmlformats.org/drawingml/2006/main">
              <a:ext uri="{FF2B5EF4-FFF2-40B4-BE49-F238E27FC236}">
                <a16:creationId xmlns:a16="http://schemas.microsoft.com/office/drawing/2014/main" id="{4261E6AC-D6F6-4200-BD84-6537E105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1480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8 张 H200：共同运行 DeepSeek-V4.1-Flash-1017</a:t>
            </a:r>
          </a:p>
        </p:txBody>
      </p:sp>
      <p:sp>
        <p:nvSpPr>
          <p:cNvPr id="6" name="CPU、主存与 SSD">
            <a:extLst xmlns:a="http://schemas.openxmlformats.org/drawingml/2006/main">
              <a:ext uri="{FF2B5EF4-FFF2-40B4-BE49-F238E27FC236}">
                <a16:creationId xmlns:a16="http://schemas.microsoft.com/office/drawing/2014/main" id="{BDF99F9B-AD35-4CBC-9AC0-304ABA97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523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CPU、主存与 SSD</a:t>
            </a:r>
          </a:p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参数表、会话状态与任务文件</a:t>
            </a:r>
          </a:p>
        </p:txBody>
      </p:sp>
      <p:sp>
        <p:nvSpPr>
          <p:cNvPr id="7" name="同机隔离工具环境">
            <a:extLst xmlns:a="http://schemas.openxmlformats.org/drawingml/2006/main">
              <a:ext uri="{FF2B5EF4-FFF2-40B4-BE49-F238E27FC236}">
                <a16:creationId xmlns:a16="http://schemas.microsoft.com/office/drawing/2014/main" id="{5E2691DA-4752-4847-9D95-23079049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24475"/>
            <a:ext cx="523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同机隔离工具环境</a:t>
            </a:r>
          </a:p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计算与文件处理</a:t>
            </a:r>
          </a:p>
        </p:txBody>
      </p:sp>
    </p:spTree>
    <p:extLst>
      <p:ext uri="{BB962C8B-B14F-4D97-AF65-F5344CB8AC3E}">
        <p14:creationId xmlns:p14="http://schemas.microsoft.com/office/powerpoint/2010/main" val="74869877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1D6873-AAE7-4951-B2E6-F559DBA4B6C9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810500" y="45815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493FF0-8870-4B4E-8415-F4A91533D9A2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038600" y="45815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32221-0344-4E81-83EE-A53460B2D15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753475" y="28479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AC1BD-D098-4B7B-A151-1CEF9195197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924550" y="28479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18874-EC11-4460-BD76-670D46228FF7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095625" y="28479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sp>
        <p:nvSpPr>
          <p:cNvPr id="1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1017 的模型与历史状态安排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发布制品约 510GB，其中 Engram 参数表及尺度约 203GB。</a:t>
            </a:r>
          </a:p>
        </p:txBody>
      </p:sp>
      <p:sp>
        <p:nvSpPr>
          <p:cNvPr id="3" name="长输入">
            <a:extLst xmlns:a="http://schemas.openxmlformats.org/drawingml/2006/main">
              <a:ext uri="{FF2B5EF4-FFF2-40B4-BE49-F238E27FC236}">
                <a16:creationId xmlns:a16="http://schemas.microsoft.com/office/drawing/2014/main" id="{AEF99D04-6519-4ACD-A673-6EA296D0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4860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长输入</a:t>
            </a:r>
          </a:p>
        </p:txBody>
      </p:sp>
      <p:sp>
        <p:nvSpPr>
          <p:cNvPr id="4" name="编码器处理">
            <a:extLst xmlns:a="http://schemas.openxmlformats.org/drawingml/2006/main">
              <a:ext uri="{FF2B5EF4-FFF2-40B4-BE49-F238E27FC236}">
                <a16:creationId xmlns:a16="http://schemas.microsoft.com/office/drawing/2014/main" id="{F23041CC-B7A5-46E9-9D24-07BA1638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19350"/>
            <a:ext cx="24860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编码器处理</a:t>
            </a:r>
          </a:p>
        </p:txBody>
      </p:sp>
      <p:sp>
        <p:nvSpPr>
          <p:cNvPr id="5" name="压缩、共享">
            <a:extLst xmlns:a="http://schemas.openxmlformats.org/drawingml/2006/main">
              <a:ext uri="{FF2B5EF4-FFF2-40B4-BE49-F238E27FC236}">
                <a16:creationId xmlns:a16="http://schemas.microsoft.com/office/drawing/2014/main" id="{3D8EEC02-80F5-41CC-B7D3-B61DD0DB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19350"/>
            <a:ext cx="24860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压缩、共享</a:t>
            </a:r>
          </a:p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历史表示</a:t>
            </a:r>
          </a:p>
        </p:txBody>
      </p:sp>
      <p:sp>
        <p:nvSpPr>
          <p:cNvPr id="6" name="解码器生成">
            <a:extLst xmlns:a="http://schemas.openxmlformats.org/drawingml/2006/main">
              <a:ext uri="{FF2B5EF4-FFF2-40B4-BE49-F238E27FC236}">
                <a16:creationId xmlns:a16="http://schemas.microsoft.com/office/drawing/2014/main" id="{698C66A7-BAC5-4E38-843F-12EEDDBC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19350"/>
            <a:ext cx="24860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解码器生成</a:t>
            </a:r>
          </a:p>
        </p:txBody>
      </p:sp>
      <p:sp>
        <p:nvSpPr>
          <p:cNvPr id="10" name="主机内存中的">
            <a:extLst xmlns:a="http://schemas.openxmlformats.org/drawingml/2006/main">
              <a:ext uri="{FF2B5EF4-FFF2-40B4-BE49-F238E27FC236}">
                <a16:creationId xmlns:a16="http://schemas.microsoft.com/office/drawing/2014/main" id="{1F3B1802-0E8E-4D98-8868-0F888B00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342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主机内存中的</a:t>
            </a:r>
          </a:p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Engram 参数表</a:t>
            </a:r>
          </a:p>
        </p:txBody>
      </p:sp>
      <p:sp>
        <p:nvSpPr>
          <p:cNvPr id="11" name="按需查找">
            <a:extLst xmlns:a="http://schemas.openxmlformats.org/drawingml/2006/main">
              <a:ext uri="{FF2B5EF4-FFF2-40B4-BE49-F238E27FC236}">
                <a16:creationId xmlns:a16="http://schemas.microsoft.com/office/drawing/2014/main" id="{E5F9642B-CE2D-495B-AA94-DBA5C5F9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52900"/>
            <a:ext cx="342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按需查找</a:t>
            </a:r>
          </a:p>
        </p:txBody>
      </p:sp>
      <p:sp>
        <p:nvSpPr>
          <p:cNvPr id="12" name="GPU 模型计算">
            <a:extLst xmlns:a="http://schemas.openxmlformats.org/drawingml/2006/main">
              <a:ext uri="{FF2B5EF4-FFF2-40B4-BE49-F238E27FC236}">
                <a16:creationId xmlns:a16="http://schemas.microsoft.com/office/drawing/2014/main" id="{6A03C197-3000-4039-B96B-8092A85B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52900"/>
            <a:ext cx="342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GPU 模型计算</a:t>
            </a:r>
          </a:p>
        </p:txBody>
      </p:sp>
      <p:sp>
        <p:nvSpPr>
          <p:cNvPr id="15" name="输入处理与生成采用不同计算路径。历史表示经过">
            <a:extLst xmlns:a="http://schemas.openxmlformats.org/drawingml/2006/main">
              <a:ext uri="{FF2B5EF4-FFF2-40B4-BE49-F238E27FC236}">
                <a16:creationId xmlns:a16="http://schemas.microsoft.com/office/drawing/2014/main" id="{FB1F0D5C-8A89-430C-91B6-B7F88F4C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chemeClr val="tx1"/>
                </a:solidFill>
              </a:defRPr>
            </a:defPPr>
            <a:lvl1pPr algn="l">
              <a:defRPr sz="2025" b="0">
                <a:solidFill>
                  <a:schemeClr val="tx1"/>
                </a:solidFill>
              </a:defRPr>
            </a:lvl1pPr>
            <a:lvl2pPr algn="l">
              <a:defRPr sz="2025" b="0">
                <a:solidFill>
                  <a:schemeClr val="tx1"/>
                </a:solidFill>
              </a:defRPr>
            </a:lvl2pPr>
            <a:lvl3pPr algn="l">
              <a:defRPr sz="2025" b="0">
                <a:solidFill>
                  <a:schemeClr val="tx1"/>
                </a:solidFill>
              </a:defRPr>
            </a:lvl3pPr>
            <a:lvl4pPr algn="l">
              <a:defRPr sz="2025" b="0">
                <a:solidFill>
                  <a:schemeClr val="tx1"/>
                </a:solidFill>
              </a:defRPr>
            </a:lvl4pPr>
            <a:lvl5pPr algn="l">
              <a:defRPr sz="2025" b="0">
                <a:solidFill>
                  <a:schemeClr val="tx1"/>
                </a:solidFill>
              </a:defRPr>
            </a:lvl5pPr>
            <a:lvl6pPr algn="l">
              <a:defRPr sz="2025" b="0">
                <a:solidFill>
                  <a:schemeClr val="tx1"/>
                </a:solidFill>
              </a:defRPr>
            </a:lvl6pPr>
            <a:lvl7pPr algn="l">
              <a:defRPr sz="2025" b="0">
                <a:solidFill>
                  <a:schemeClr val="tx1"/>
                </a:solidFill>
              </a:defRPr>
            </a:lvl7pPr>
            <a:lvl8pPr algn="l">
              <a:defRPr sz="2025" b="0">
                <a:solidFill>
                  <a:schemeClr val="tx1"/>
                </a:solidFill>
              </a:defRPr>
            </a:lvl8pPr>
            <a:lvl9pPr algn="l">
              <a:defRPr sz="2025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输入处理与生成采用不同计算路径。历史表示经过压缩、跨层共享，并由稀疏索引组织读取。</a:t>
            </a:r>
          </a:p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Engram 大型查找表可置于主机内存，GPU、主存与 SSD 据此为模型、会话和工具分配空</a:t>
            </a:r>
          </a:p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间。</a:t>
            </a:r>
          </a:p>
        </p:txBody>
      </p:sp>
    </p:spTree>
    <p:extLst>
      <p:ext uri="{BB962C8B-B14F-4D97-AF65-F5344CB8AC3E}">
        <p14:creationId xmlns:p14="http://schemas.microsoft.com/office/powerpoint/2010/main" val="369059839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vLLM 对共享请求的组织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单台八 H200 服务器运行 DeepSeek-V4.1-Flash-1017。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8575C-188E-4DFD-A480-A93E0788C3B9}"/>
              </a:ext>
            </a:extLst>
          </p:cNvPr>
          <p:cNvGraphicFramePr/>
          <p:nvPr>
            <p:ph type="obj" idx="2"/>
          </p:nvPr>
        </p:nvGraphicFramePr>
        <p:xfrm>
          <a:off xmlns:a="http://schemas.openxmlformats.org/drawingml/2006/main" x="609600" y="2171700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8115300"/>
              </a:tblGrid>
              <a:tr h="5429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1" lang="zh-CN">
                          <a:solidFill>
                            <a:schemeClr val="bg1"/>
                          </a:solidFill>
                        </a:rPr>
                        <a:t>请求过程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1" lang="zh-CN">
                          <a:solidFill>
                            <a:schemeClr val="bg1"/>
                          </a:solidFill>
                        </a:rPr>
                        <a:t>运行安排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启动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加载 1017，安排参数表与计算空间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长材料进入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分块处理输入，与已有生成交错调度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持续生成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合批推进活动请求，检查推测生成的实际收益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下一轮继续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复用匹配前缀，恢复所需会话状态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工具等待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同机工具处理任务，模型服务接续其他请求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规划目标为 20 路活动请求、每路约 20 ">
            <a:extLst xmlns:a="http://schemas.openxmlformats.org/drawingml/2006/main">
              <a:ext uri="{FF2B5EF4-FFF2-40B4-BE49-F238E27FC236}">
                <a16:creationId xmlns:a16="http://schemas.microsoft.com/office/drawing/2014/main" id="{C70A1F2F-B44B-4E07-B6E5-29F62BE8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chemeClr val="tx1"/>
                </a:solidFill>
              </a:defRPr>
            </a:defPPr>
            <a:lvl1pPr algn="l">
              <a:defRPr sz="2025" b="0">
                <a:solidFill>
                  <a:schemeClr val="tx1"/>
                </a:solidFill>
              </a:defRPr>
            </a:lvl1pPr>
            <a:lvl2pPr algn="l">
              <a:defRPr sz="2025" b="0">
                <a:solidFill>
                  <a:schemeClr val="tx1"/>
                </a:solidFill>
              </a:defRPr>
            </a:lvl2pPr>
            <a:lvl3pPr algn="l">
              <a:defRPr sz="2025" b="0">
                <a:solidFill>
                  <a:schemeClr val="tx1"/>
                </a:solidFill>
              </a:defRPr>
            </a:lvl3pPr>
            <a:lvl4pPr algn="l">
              <a:defRPr sz="2025" b="0">
                <a:solidFill>
                  <a:schemeClr val="tx1"/>
                </a:solidFill>
              </a:defRPr>
            </a:lvl4pPr>
            <a:lvl5pPr algn="l">
              <a:defRPr sz="2025" b="0">
                <a:solidFill>
                  <a:schemeClr val="tx1"/>
                </a:solidFill>
              </a:defRPr>
            </a:lvl5pPr>
            <a:lvl6pPr algn="l">
              <a:defRPr sz="2025" b="0">
                <a:solidFill>
                  <a:schemeClr val="tx1"/>
                </a:solidFill>
              </a:defRPr>
            </a:lvl6pPr>
            <a:lvl7pPr algn="l">
              <a:defRPr sz="2025" b="0">
                <a:solidFill>
                  <a:schemeClr val="tx1"/>
                </a:solidFill>
              </a:defRPr>
            </a:lvl7pPr>
            <a:lvl8pPr algn="l">
              <a:defRPr sz="2025" b="0">
                <a:solidFill>
                  <a:schemeClr val="tx1"/>
                </a:solidFill>
              </a:defRPr>
            </a:lvl8pPr>
            <a:lvl9pPr algn="l">
              <a:defRPr sz="2025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规划目标为 20 路活动请求、每路约 20 token/s，对应系统总输出 400 token/s。实际承载能</a:t>
            </a:r>
          </a:p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力需结合每日工作量与到达分布验证。</a:t>
            </a:r>
          </a:p>
        </p:txBody>
      </p:sp>
    </p:spTree>
    <p:extLst>
      <p:ext uri="{BB962C8B-B14F-4D97-AF65-F5344CB8AC3E}">
        <p14:creationId xmlns:p14="http://schemas.microsoft.com/office/powerpoint/2010/main" val="737921396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0EB7629E-A543-4DEC-B3D0-8289EFAB9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第五章</a:t>
            </a:r>
          </a:p>
          <a:p xmlns:a="http://schemas.openxmlformats.org/drawingml/2006/main">
            <a:pPr>
              <a:buNone/>
            </a:pPr>
            <a:r>
              <a:t>资源需求与成本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3FD7D765-A9B6-4A5F-B8DE-310B96E2D1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固定每日业务任务量</a:t>
            </a:r>
          </a:p>
          <a:p xmlns:a="http://schemas.openxmlformats.org/drawingml/2006/main">
            <a:pPr>
              <a:buNone/>
            </a:pPr>
            <a:r>
              <a:t>比较单台设备与 API 服务的三年投入</a:t>
            </a:r>
          </a:p>
        </p:txBody>
      </p:sp>
    </p:spTree>
    <p:extLst>
      <p:ext uri="{BB962C8B-B14F-4D97-AF65-F5344CB8AC3E}">
        <p14:creationId xmlns:p14="http://schemas.microsoft.com/office/powerpoint/2010/main" val="1562912453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20 人与 50 人情景的业务任务量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每人每天 5 项业务任务，每年 250 个工作日，三年保持相同规模。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86EF5-2DF8-46EB-92E5-C30B6348F376}"/>
              </a:ext>
            </a:extLst>
          </p:cNvPr>
          <p:cNvGraphicFramePr/>
          <p:nvPr>
            <p:ph type="obj" idx="2"/>
          </p:nvPr>
        </p:nvGraphicFramePr>
        <p:xfrm>
          <a:off xmlns:a="http://schemas.openxmlformats.org/drawingml/2006/main" x="609600" y="2171700"/>
          <a:ext xmlns:a="http://schemas.openxmlformats.org/drawingml/2006/main" cx="10972800" cy="2428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71750"/>
                <a:gridCol w="2476500"/>
                <a:gridCol w="2952750"/>
                <a:gridCol w="2971800"/>
              </a:tblGrid>
              <a:tr h="809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1" lang="zh-CN">
                          <a:solidFill>
                            <a:schemeClr val="bg1"/>
                          </a:solidFill>
                        </a:rPr>
                        <a:t>使用规模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1" lang="zh-CN">
                          <a:solidFill>
                            <a:schemeClr val="bg1"/>
                          </a:solidFill>
                        </a:rPr>
                        <a:t>每日任务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1" lang="zh-CN">
                          <a:solidFill>
                            <a:schemeClr val="bg1"/>
                          </a:solidFill>
                        </a:rPr>
                        <a:t>每年任务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1" lang="zh-CN">
                          <a:solidFill>
                            <a:schemeClr val="bg1"/>
                          </a:solidFill>
                        </a:rPr>
                        <a:t>三年任务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809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20 人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100 项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25,000 项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75,000 项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809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50 人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250 项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62,500 项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187,500 项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一项业务任务涵盖读取材料、计算、补充、修改与">
            <a:extLst xmlns:a="http://schemas.openxmlformats.org/drawingml/2006/main">
              <a:ext uri="{FF2B5EF4-FFF2-40B4-BE49-F238E27FC236}">
                <a16:creationId xmlns:a16="http://schemas.microsoft.com/office/drawing/2014/main" id="{94D49B14-71CB-4BC2-AA81-4ECED920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chemeClr val="tx1"/>
                </a:solidFill>
              </a:defRPr>
            </a:defPPr>
            <a:lvl1pPr algn="l">
              <a:defRPr sz="2025" b="0">
                <a:solidFill>
                  <a:schemeClr val="tx1"/>
                </a:solidFill>
              </a:defRPr>
            </a:lvl1pPr>
            <a:lvl2pPr algn="l">
              <a:defRPr sz="2025" b="0">
                <a:solidFill>
                  <a:schemeClr val="tx1"/>
                </a:solidFill>
              </a:defRPr>
            </a:lvl2pPr>
            <a:lvl3pPr algn="l">
              <a:defRPr sz="2025" b="0">
                <a:solidFill>
                  <a:schemeClr val="tx1"/>
                </a:solidFill>
              </a:defRPr>
            </a:lvl3pPr>
            <a:lvl4pPr algn="l">
              <a:defRPr sz="2025" b="0">
                <a:solidFill>
                  <a:schemeClr val="tx1"/>
                </a:solidFill>
              </a:defRPr>
            </a:lvl4pPr>
            <a:lvl5pPr algn="l">
              <a:defRPr sz="2025" b="0">
                <a:solidFill>
                  <a:schemeClr val="tx1"/>
                </a:solidFill>
              </a:defRPr>
            </a:lvl5pPr>
            <a:lvl6pPr algn="l">
              <a:defRPr sz="2025" b="0">
                <a:solidFill>
                  <a:schemeClr val="tx1"/>
                </a:solidFill>
              </a:defRPr>
            </a:lvl6pPr>
            <a:lvl7pPr algn="l">
              <a:defRPr sz="2025" b="0">
                <a:solidFill>
                  <a:schemeClr val="tx1"/>
                </a:solidFill>
              </a:defRPr>
            </a:lvl7pPr>
            <a:lvl8pPr algn="l">
              <a:defRPr sz="2025" b="0">
                <a:solidFill>
                  <a:schemeClr val="tx1"/>
                </a:solidFill>
              </a:defRPr>
            </a:lvl8pPr>
            <a:lvl9pPr algn="l">
              <a:defRPr sz="2025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一项业务任务涵盖读取材料、计算、补充、修改与交付，预算安排 8 轮模型调用，并增加 10</a:t>
            </a:r>
          </a:p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% 完整轨迹用于修改与重试。</a:t>
            </a:r>
          </a:p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50 人情景每天基础调用 2,000 次，含额外轨迹的预算约为 2,200 次。</a:t>
            </a:r>
          </a:p>
        </p:txBody>
      </p:sp>
    </p:spTree>
    <p:extLst>
      <p:ext uri="{BB962C8B-B14F-4D97-AF65-F5344CB8AC3E}">
        <p14:creationId xmlns:p14="http://schemas.microsoft.com/office/powerpoint/2010/main" val="1134771818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每日 250 项任务的单机安排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相同工作量在不同时段到达，会形成不同的排队和等待。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94E73-FE7F-4D6B-ADD0-EDCE08600C88}"/>
              </a:ext>
            </a:extLst>
          </p:cNvPr>
          <p:cNvGraphicFramePr/>
          <p:nvPr>
            <p:ph type="obj" idx="2"/>
          </p:nvPr>
        </p:nvGraphicFramePr>
        <p:xfrm>
          <a:off xmlns:a="http://schemas.openxmlformats.org/drawingml/2006/main" x="609600" y="217170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429000"/>
                <a:gridCol w="754380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1" lang="zh-CN">
                          <a:solidFill>
                            <a:schemeClr val="bg1"/>
                          </a:solidFill>
                        </a:rPr>
                        <a:t>到达方式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1" lang="zh-CN">
                          <a:solidFill>
                            <a:schemeClr val="bg1"/>
                          </a:solidFill>
                        </a:rPr>
                        <a:t>运行安排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 lang="zh-CN">
                          <a:solidFill>
                            <a:schemeClr val="tx1"/>
                          </a:solidFill>
                        </a:rPr>
                        <a:t>较均匀提交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 lang="zh-CN">
                          <a:solidFill>
                            <a:schemeClr val="tx1"/>
                          </a:solidFill>
                        </a:rPr>
                        <a:t>持续处理输入与生成，保持队列平稳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 lang="zh-CN">
                          <a:solidFill>
                            <a:schemeClr val="tx1"/>
                          </a:solidFill>
                        </a:rPr>
                        <a:t>集中提交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 lang="zh-CN">
                          <a:solidFill>
                            <a:schemeClr val="tx1"/>
                          </a:solidFill>
                        </a:rPr>
                        <a:t>交互任务优先，长输入分块，检查排队与完成时间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 lang="zh-CN">
                          <a:solidFill>
                            <a:schemeClr val="tx1"/>
                          </a:solidFill>
                        </a:rPr>
                        <a:t>可稍后完成的长任务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 lang="zh-CN">
                          <a:solidFill>
                            <a:schemeClr val="tx1"/>
                          </a:solidFill>
                        </a:rPr>
                        <a:t>提前提交，安排在较空闲时段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规划速度为 8,000 未缓存输入 toke">
            <a:extLst xmlns:a="http://schemas.openxmlformats.org/drawingml/2006/main">
              <a:ext uri="{FF2B5EF4-FFF2-40B4-BE49-F238E27FC236}">
                <a16:creationId xmlns:a16="http://schemas.microsoft.com/office/drawing/2014/main" id="{1424F942-4DB9-49E4-8018-91D7E904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chemeClr val="tx1"/>
                </a:solidFill>
              </a:defRPr>
            </a:defPPr>
            <a:lvl1pPr algn="l">
              <a:defRPr sz="2025" b="0">
                <a:solidFill>
                  <a:schemeClr val="tx1"/>
                </a:solidFill>
              </a:defRPr>
            </a:lvl1pPr>
            <a:lvl2pPr algn="l">
              <a:defRPr sz="2025" b="0">
                <a:solidFill>
                  <a:schemeClr val="tx1"/>
                </a:solidFill>
              </a:defRPr>
            </a:lvl2pPr>
            <a:lvl3pPr algn="l">
              <a:defRPr sz="2025" b="0">
                <a:solidFill>
                  <a:schemeClr val="tx1"/>
                </a:solidFill>
              </a:defRPr>
            </a:lvl3pPr>
            <a:lvl4pPr algn="l">
              <a:defRPr sz="2025" b="0">
                <a:solidFill>
                  <a:schemeClr val="tx1"/>
                </a:solidFill>
              </a:defRPr>
            </a:lvl4pPr>
            <a:lvl5pPr algn="l">
              <a:defRPr sz="2025" b="0">
                <a:solidFill>
                  <a:schemeClr val="tx1"/>
                </a:solidFill>
              </a:defRPr>
            </a:lvl5pPr>
            <a:lvl6pPr algn="l">
              <a:defRPr sz="2025" b="0">
                <a:solidFill>
                  <a:schemeClr val="tx1"/>
                </a:solidFill>
              </a:defRPr>
            </a:lvl6pPr>
            <a:lvl7pPr algn="l">
              <a:defRPr sz="2025" b="0">
                <a:solidFill>
                  <a:schemeClr val="tx1"/>
                </a:solidFill>
              </a:defRPr>
            </a:lvl7pPr>
            <a:lvl8pPr algn="l">
              <a:defRPr sz="2025" b="0">
                <a:solidFill>
                  <a:schemeClr val="tx1"/>
                </a:solidFill>
              </a:defRPr>
            </a:lvl8pPr>
            <a:lvl9pPr algn="l">
              <a:defRPr sz="2025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规划速度为 8,000 未缓存输入 tokens/s、400 输出 tokens/s，每日 250 项约需 5.43 小时整</a:t>
            </a:r>
          </a:p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机计算。</a:t>
            </a:r>
          </a:p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8 小时工作窗口按 70% 安排模型工作，提供 5.6 小时。50 人情景需重点验证高峰到达和工</a:t>
            </a:r>
          </a:p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具等待。</a:t>
            </a:r>
          </a:p>
        </p:txBody>
      </p:sp>
    </p:spTree>
    <p:extLst>
      <p:ext uri="{BB962C8B-B14F-4D97-AF65-F5344CB8AC3E}">
        <p14:creationId xmlns:p14="http://schemas.microsoft.com/office/powerpoint/2010/main" val="834960478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八卡 H200 的国内采购预算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目标配置：8×H200 SXM/HGX，机内 NVSwitch 互联，主存与 SSD 支持参数表、缓存和工具工</a:t>
            </a:r>
          </a:p>
          <a:p xmlns:a="http://schemas.openxmlformats.org/drawingml/2006/main">
            <a:pPr>
              <a:buNone/>
            </a:pPr>
            <a:r>
              <a:t>作。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1407E-8254-4E73-9DB8-BBCCCA18DFE1}"/>
              </a:ext>
            </a:extLst>
          </p:cNvPr>
          <p:cNvGraphicFramePr/>
          <p:nvPr>
            <p:ph type="obj" idx="2"/>
          </p:nvPr>
        </p:nvGraphicFramePr>
        <p:xfrm>
          <a:off xmlns:a="http://schemas.openxmlformats.org/drawingml/2006/main" x="609600" y="2171700"/>
          <a:ext xmlns:a="http://schemas.openxmlformats.org/drawingml/2006/main" cx="10972800" cy="2428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143750"/>
                <a:gridCol w="3829050"/>
              </a:tblGrid>
              <a:tr h="607219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1" lang="zh-CN">
                          <a:solidFill>
                            <a:schemeClr val="bg1"/>
                          </a:solidFill>
                        </a:rPr>
                        <a:t>单台整机采购情景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1" lang="zh-CN">
                          <a:solidFill>
                            <a:schemeClr val="bg1"/>
                          </a:solidFill>
                        </a:rPr>
                        <a:t>预算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07219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较低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500 万元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07219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中间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550 万元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607219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较高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600 万元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9 月 16 日国内公开采价：H200 HG">
            <a:extLst xmlns:a="http://schemas.openxmlformats.org/drawingml/2006/main">
              <a:ext uri="{FF2B5EF4-FFF2-40B4-BE49-F238E27FC236}">
                <a16:creationId xmlns:a16="http://schemas.microsoft.com/office/drawing/2014/main" id="{37358DB1-2B68-45D2-96E3-DC39ACE5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chemeClr val="tx1"/>
                </a:solidFill>
              </a:defRPr>
            </a:defPPr>
            <a:lvl1pPr algn="l">
              <a:defRPr sz="1950" b="0">
                <a:solidFill>
                  <a:schemeClr val="tx1"/>
                </a:solidFill>
              </a:defRPr>
            </a:lvl1pPr>
            <a:lvl2pPr algn="l">
              <a:defRPr sz="1950" b="0">
                <a:solidFill>
                  <a:schemeClr val="tx1"/>
                </a:solidFill>
              </a:defRPr>
            </a:lvl2pPr>
            <a:lvl3pPr algn="l">
              <a:defRPr sz="1950" b="0">
                <a:solidFill>
                  <a:schemeClr val="tx1"/>
                </a:solidFill>
              </a:defRPr>
            </a:lvl3pPr>
            <a:lvl4pPr algn="l">
              <a:defRPr sz="1950" b="0">
                <a:solidFill>
                  <a:schemeClr val="tx1"/>
                </a:solidFill>
              </a:defRPr>
            </a:lvl4pPr>
            <a:lvl5pPr algn="l">
              <a:defRPr sz="1950" b="0">
                <a:solidFill>
                  <a:schemeClr val="tx1"/>
                </a:solidFill>
              </a:defRPr>
            </a:lvl5pPr>
            <a:lvl6pPr algn="l">
              <a:defRPr sz="1950" b="0">
                <a:solidFill>
                  <a:schemeClr val="tx1"/>
                </a:solidFill>
              </a:defRPr>
            </a:lvl6pPr>
            <a:lvl7pPr algn="l">
              <a:defRPr sz="1950" b="0">
                <a:solidFill>
                  <a:schemeClr val="tx1"/>
                </a:solidFill>
              </a:defRPr>
            </a:lvl7pPr>
            <a:lvl8pPr algn="l">
              <a:defRPr sz="1950" b="0">
                <a:solidFill>
                  <a:schemeClr val="tx1"/>
                </a:solidFill>
              </a:defRPr>
            </a:lvl8pPr>
            <a:lvl9pPr algn="l">
              <a:defRPr sz="195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chemeClr val="tx1"/>
                </a:solidFill>
              </a:defRPr>
            </a:pPr>
            <a:r>
              <a:rPr sz="1950" b="0" lang="zh-CN">
                <a:solidFill>
                  <a:schemeClr val="tx1"/>
                </a:solidFill>
              </a:rPr>
              <a:t>9 月 16 日国内公开采价：H200 HGX 整机 566 万元，超微 H200 现货 575 万元含税。预算采用</a:t>
            </a:r>
          </a:p>
          <a:p xmlns:a="http://schemas.openxmlformats.org/drawingml/2006/main">
            <a:pPr algn="l">
              <a:defRPr sz="1950" b="0">
                <a:solidFill>
                  <a:schemeClr val="tx1"/>
                </a:solidFill>
              </a:defRPr>
            </a:pPr>
            <a:r>
              <a:rPr sz="1950" b="0" lang="zh-CN">
                <a:solidFill>
                  <a:schemeClr val="tx1"/>
                </a:solidFill>
              </a:rPr>
              <a:t>550 万元，并观察上下 50 万元变化。</a:t>
            </a:r>
          </a:p>
          <a:p xmlns:a="http://schemas.openxmlformats.org/drawingml/2006/main">
            <a:pPr algn="l">
              <a:defRPr sz="1950" b="0">
                <a:solidFill>
                  <a:schemeClr val="tx1"/>
                </a:solidFill>
              </a:defRPr>
            </a:pPr>
            <a:r>
              <a:rPr sz="1950" b="0" lang="zh-CN">
                <a:solidFill>
                  <a:schemeClr val="tx1"/>
                </a:solidFill>
              </a:rPr>
              <a:t>实际采购按完整配置、交付与保修询价。个人 Spark（128GB／4TB）的研究预算约 5.8–6.2 万</a:t>
            </a:r>
          </a:p>
          <a:p xmlns:a="http://schemas.openxmlformats.org/drawingml/2006/main">
            <a:pPr algn="l">
              <a:defRPr sz="1950" b="0">
                <a:solidFill>
                  <a:schemeClr val="tx1"/>
                </a:solidFill>
              </a:defRPr>
            </a:pPr>
            <a:r>
              <a:rPr sz="1950" b="0" lang="zh-CN">
                <a:solidFill>
                  <a:schemeClr val="tx1"/>
                </a:solidFill>
              </a:rPr>
              <a:t>元。</a:t>
            </a:r>
          </a:p>
        </p:txBody>
      </p:sp>
    </p:spTree>
    <p:extLst>
      <p:ext uri="{BB962C8B-B14F-4D97-AF65-F5344CB8AC3E}">
        <p14:creationId xmlns:p14="http://schemas.microsoft.com/office/powerpoint/2010/main" val="1157125996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本地部署的三年投入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50 人使用、单台八 H200，整机采购按 550 万元测算。单位：万元。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E1D30-3B38-4C61-A5B3-5932FBF50129}"/>
              </a:ext>
            </a:extLst>
          </p:cNvPr>
          <p:cNvGraphicFramePr/>
          <p:nvPr>
            <p:ph type="obj" idx="2"/>
          </p:nvPr>
        </p:nvGraphicFramePr>
        <p:xfrm>
          <a:off xmlns:a="http://schemas.openxmlformats.org/drawingml/2006/main" x="609600" y="21717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810500"/>
                <a:gridCol w="3162300"/>
              </a:tblGrid>
              <a:tr h="5238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1" lang="zh-CN">
                          <a:solidFill>
                            <a:schemeClr val="bg1"/>
                          </a:solidFill>
                        </a:rPr>
                        <a:t>费用组成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1" lang="zh-CN">
                          <a:solidFill>
                            <a:schemeClr val="bg1"/>
                          </a:solidFill>
                        </a:rPr>
                        <a:t>三年预算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整机与机房初次接入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553.00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初次实施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11.25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持续技术运维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45.00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电力、机位与软件支持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18.23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合计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627.48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实施 45 人天、年运维 60 人天，技术人">
            <a:extLst xmlns:a="http://schemas.openxmlformats.org/drawingml/2006/main">
              <a:ext uri="{FF2B5EF4-FFF2-40B4-BE49-F238E27FC236}">
                <a16:creationId xmlns:a16="http://schemas.microsoft.com/office/drawing/2014/main" id="{C7AEAFA5-C466-402C-AE13-D3522371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chemeClr val="tx1"/>
                </a:solidFill>
              </a:defRPr>
            </a:defPPr>
            <a:lvl1pPr algn="l">
              <a:defRPr sz="1875" b="0">
                <a:solidFill>
                  <a:schemeClr val="tx1"/>
                </a:solidFill>
              </a:defRPr>
            </a:lvl1pPr>
            <a:lvl2pPr algn="l">
              <a:defRPr sz="1875" b="0">
                <a:solidFill>
                  <a:schemeClr val="tx1"/>
                </a:solidFill>
              </a:defRPr>
            </a:lvl2pPr>
            <a:lvl3pPr algn="l">
              <a:defRPr sz="1875" b="0">
                <a:solidFill>
                  <a:schemeClr val="tx1"/>
                </a:solidFill>
              </a:defRPr>
            </a:lvl3pPr>
            <a:lvl4pPr algn="l">
              <a:defRPr sz="1875" b="0">
                <a:solidFill>
                  <a:schemeClr val="tx1"/>
                </a:solidFill>
              </a:defRPr>
            </a:lvl4pPr>
            <a:lvl5pPr algn="l">
              <a:defRPr sz="1875" b="0">
                <a:solidFill>
                  <a:schemeClr val="tx1"/>
                </a:solidFill>
              </a:defRPr>
            </a:lvl5pPr>
            <a:lvl6pPr algn="l">
              <a:defRPr sz="1875" b="0">
                <a:solidFill>
                  <a:schemeClr val="tx1"/>
                </a:solidFill>
              </a:defRPr>
            </a:lvl6pPr>
            <a:lvl7pPr algn="l">
              <a:defRPr sz="1875" b="0">
                <a:solidFill>
                  <a:schemeClr val="tx1"/>
                </a:solidFill>
              </a:defRPr>
            </a:lvl7pPr>
            <a:lvl8pPr algn="l">
              <a:defRPr sz="1875" b="0">
                <a:solidFill>
                  <a:schemeClr val="tx1"/>
                </a:solidFill>
              </a:defRPr>
            </a:lvl8pPr>
            <a:lvl9pPr algn="l">
              <a:defRPr sz="1875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chemeClr val="tx1"/>
                </a:solidFill>
              </a:defRPr>
            </a:pPr>
            <a:r>
              <a:rPr sz="1875" b="0" lang="zh-CN">
                <a:solidFill>
                  <a:schemeClr val="tx1"/>
                </a:solidFill>
              </a:rPr>
              <a:t>实施 45 人天、年运维 60 人天，技术人力 2,500 元／人天。采购价 500–600 万元时，三年投入约</a:t>
            </a:r>
          </a:p>
          <a:p xmlns:a="http://schemas.openxmlformats.org/drawingml/2006/main">
            <a:pPr algn="l">
              <a:defRPr sz="1875" b="0">
                <a:solidFill>
                  <a:schemeClr val="tx1"/>
                </a:solidFill>
              </a:defRPr>
            </a:pPr>
            <a:r>
              <a:rPr sz="1875" b="0" lang="zh-CN">
                <a:solidFill>
                  <a:schemeClr val="tx1"/>
                </a:solidFill>
              </a:rPr>
              <a:t>577.48–677.48 万元。</a:t>
            </a:r>
          </a:p>
          <a:p xmlns:a="http://schemas.openxmlformats.org/drawingml/2006/main">
            <a:pPr algn="l">
              <a:defRPr sz="1875" b="0">
                <a:solidFill>
                  <a:schemeClr val="tx1"/>
                </a:solidFill>
              </a:defRPr>
            </a:pPr>
            <a:r>
              <a:rPr sz="1875" b="0" lang="zh-CN">
                <a:solidFill>
                  <a:schemeClr val="tx1"/>
                </a:solidFill>
              </a:rPr>
              <a:t>个人 Spark 按每天 3 项、三年固定使用，总投入约 9.05 万元。</a:t>
            </a:r>
          </a:p>
        </p:txBody>
      </p:sp>
    </p:spTree>
    <p:extLst>
      <p:ext uri="{BB962C8B-B14F-4D97-AF65-F5344CB8AC3E}">
        <p14:creationId xmlns:p14="http://schemas.microsoft.com/office/powerpoint/2010/main" val="797455285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API 的任务负载与计费口径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每项 8 轮：首轮输入 100K，后续每轮新增 8K 资料，并带入前轮 2K 输出。累计输入 1.08M、</a:t>
            </a:r>
          </a:p>
          <a:p xmlns:a="http://schemas.openxmlformats.org/drawingml/2006/main">
            <a:pPr>
              <a:buNone/>
            </a:pPr>
            <a:r>
              <a:t>输出 16K。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8284D-AF47-448C-BD4E-C565F98786C9}"/>
              </a:ext>
            </a:extLst>
          </p:cNvPr>
          <p:cNvGraphicFramePr/>
          <p:nvPr>
            <p:ph type="obj" idx="2"/>
          </p:nvPr>
        </p:nvGraphicFramePr>
        <p:xfrm>
          <a:off xmlns:a="http://schemas.openxmlformats.org/drawingml/2006/main" x="609600" y="217170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143500"/>
                <a:gridCol w="1943100"/>
                <a:gridCol w="1943100"/>
                <a:gridCol w="194310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1" lang="zh-CN">
                          <a:solidFill>
                            <a:schemeClr val="bg1"/>
                          </a:solidFill>
                        </a:rPr>
                        <a:t>API／计价币种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1" lang="zh-CN">
                          <a:solidFill>
                            <a:schemeClr val="bg1"/>
                          </a:solidFill>
                        </a:rPr>
                        <a:t>普通输入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1" lang="zh-CN">
                          <a:solidFill>
                            <a:schemeClr val="bg1"/>
                          </a:solidFill>
                        </a:rPr>
                        <a:t>缓存读取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1" lang="zh-CN">
                          <a:solidFill>
                            <a:schemeClr val="bg1"/>
                          </a:solidFill>
                        </a:rPr>
                        <a:t>输出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DeepSeek-V4.1-Flash-1017</a:t>
                      </a:r>
                    </a:p>
                    <a:p>
                      <a:pPr algn="l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高峰美元价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$0.30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$0.006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$1.20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GLM-5.3／境内人民币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¥8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¥2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¥28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Kimi K3／境内人民币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¥20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¥2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¥100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2026 年 10 月 23 日官方费率，单">
            <a:extLst xmlns:a="http://schemas.openxmlformats.org/drawingml/2006/main">
              <a:ext uri="{FF2B5EF4-FFF2-40B4-BE49-F238E27FC236}">
                <a16:creationId xmlns:a16="http://schemas.microsoft.com/office/drawing/2014/main" id="{60E2FA1C-625A-4A70-BB35-0C69EEF0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chemeClr val="tx1"/>
                </a:solidFill>
              </a:defRPr>
            </a:defPPr>
            <a:lvl1pPr algn="l">
              <a:defRPr sz="1800" b="0">
                <a:solidFill>
                  <a:schemeClr val="tx1"/>
                </a:solidFill>
              </a:defRPr>
            </a:lvl1pPr>
            <a:lvl2pPr algn="l">
              <a:defRPr sz="1800" b="0">
                <a:solidFill>
                  <a:schemeClr val="tx1"/>
                </a:solidFill>
              </a:defRPr>
            </a:lvl2pPr>
            <a:lvl3pPr algn="l">
              <a:defRPr sz="1800" b="0">
                <a:solidFill>
                  <a:schemeClr val="tx1"/>
                </a:solidFill>
              </a:defRPr>
            </a:lvl3pPr>
            <a:lvl4pPr algn="l">
              <a:defRPr sz="1800" b="0">
                <a:solidFill>
                  <a:schemeClr val="tx1"/>
                </a:solidFill>
              </a:defRPr>
            </a:lvl4pPr>
            <a:lvl5pPr algn="l">
              <a:defRPr sz="1800" b="0">
                <a:solidFill>
                  <a:schemeClr val="tx1"/>
                </a:solidFill>
              </a:defRPr>
            </a:lvl5pPr>
            <a:lvl6pPr algn="l">
              <a:defRPr sz="1800" b="0">
                <a:solidFill>
                  <a:schemeClr val="tx1"/>
                </a:solidFill>
              </a:defRPr>
            </a:lvl6pPr>
            <a:lvl7pPr algn="l">
              <a:defRPr sz="1800" b="0">
                <a:solidFill>
                  <a:schemeClr val="tx1"/>
                </a:solidFill>
              </a:defRPr>
            </a:lvl7pPr>
            <a:lvl8pPr algn="l">
              <a:defRPr sz="1800" b="0">
                <a:solidFill>
                  <a:schemeClr val="tx1"/>
                </a:solidFill>
              </a:defRPr>
            </a:lvl8pPr>
            <a:lvl9pPr algn="l">
              <a:defRPr sz="180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chemeClr val="tx1"/>
                </a:solidFill>
              </a:defRPr>
            </a:pPr>
            <a:r>
              <a:rPr sz="1800" b="0" lang="zh-CN">
                <a:solidFill>
                  <a:schemeClr val="tx1"/>
                </a:solidFill>
              </a:rPr>
              <a:t>2026 年 10 月 23 日官方费率，单位为每百万 tokens。输出含思考、工具参数与正文。</a:t>
            </a:r>
          </a:p>
          <a:p xmlns:a="http://schemas.openxmlformats.org/drawingml/2006/main">
            <a:pPr algn="l">
              <a:defRPr sz="1800" b="0">
                <a:solidFill>
                  <a:schemeClr val="tx1"/>
                </a:solidFill>
              </a:defRPr>
            </a:pPr>
            <a:r>
              <a:rPr sz="1800" b="0" lang="zh-CN">
                <a:solidFill>
                  <a:schemeClr val="tx1"/>
                </a:solidFill>
              </a:rPr>
              <a:t>DeepSeek 低峰减半，按 80% 高峰和 USD/CNY＝7.00 测算。Kimi 写入价为 5 分钟 ¥20、1 小时 ¥40，</a:t>
            </a:r>
          </a:p>
          <a:p xmlns:a="http://schemas.openxmlformats.org/drawingml/2006/main">
            <a:pPr algn="l">
              <a:defRPr sz="1800" b="0">
                <a:solidFill>
                  <a:schemeClr val="tx1"/>
                </a:solidFill>
              </a:defRPr>
            </a:pPr>
            <a:r>
              <a:rPr sz="1800" b="0" lang="zh-CN">
                <a:solidFill>
                  <a:schemeClr val="tx1"/>
                </a:solidFill>
              </a:rPr>
              <a:t>基准取 1 小时。</a:t>
            </a:r>
          </a:p>
          <a:p xmlns:a="http://schemas.openxmlformats.org/drawingml/2006/main">
            <a:pPr algn="l">
              <a:defRPr sz="1800" b="0">
                <a:solidFill>
                  <a:schemeClr val="tx1"/>
                </a:solidFill>
              </a:defRPr>
            </a:pPr>
            <a:r>
              <a:rPr sz="1800" b="0" lang="zh-CN">
                <a:solidFill>
                  <a:schemeClr val="tx1"/>
                </a:solidFill>
              </a:rPr>
              <a:t>API 统一假设累计输入 80% 命中缓存，另增 10% 轨迹。输入按互斥类别计费，输出另计。</a:t>
            </a:r>
          </a:p>
        </p:txBody>
      </p:sp>
    </p:spTree>
    <p:extLst>
      <p:ext uri="{BB962C8B-B14F-4D97-AF65-F5344CB8AC3E}">
        <p14:creationId xmlns:p14="http://schemas.microsoft.com/office/powerpoint/2010/main" val="566608789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固定使用规模下的本地与 API 三年预算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单位：万元。本地按 550 万元购机，API 按 2026 年 10 月 23 日公开费率。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A200A-B91A-47CF-BE21-BED9A98DDFE1}"/>
              </a:ext>
            </a:extLst>
          </p:cNvPr>
          <p:cNvGraphicFramePr/>
          <p:nvPr>
            <p:ph type="obj" idx="2"/>
          </p:nvPr>
        </p:nvGraphicFramePr>
        <p:xfrm>
          <a:off xmlns:a="http://schemas.openxmlformats.org/drawingml/2006/main" x="609600" y="1952625"/>
          <a:ext xmlns:a="http://schemas.openxmlformats.org/drawingml/2006/main" cx="10972800" cy="3000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38750"/>
                <a:gridCol w="2867025"/>
                <a:gridCol w="2867025"/>
              </a:tblGrid>
              <a:tr h="6000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1" lang="zh-CN">
                          <a:solidFill>
                            <a:schemeClr val="bg1"/>
                          </a:solidFill>
                        </a:rPr>
                        <a:t>方案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1" lang="zh-CN">
                          <a:solidFill>
                            <a:schemeClr val="bg1"/>
                          </a:solidFill>
                        </a:rPr>
                        <a:t>20 人</a:t>
                      </a:r>
                    </a:p>
                    <a:p>
                      <a:pPr algn="ctr"/>
                      <a:r>
                        <a:rPr sz="1875" b="1" lang="zh-CN">
                          <a:solidFill>
                            <a:schemeClr val="bg1"/>
                          </a:solidFill>
                        </a:rPr>
                        <a:t>75,000 项业务任务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1" lang="zh-CN">
                          <a:solidFill>
                            <a:schemeClr val="bg1"/>
                          </a:solidFill>
                        </a:rPr>
                        <a:t>50 人</a:t>
                      </a:r>
                    </a:p>
                    <a:p>
                      <a:pPr algn="ctr"/>
                      <a:r>
                        <a:rPr sz="1875" b="1" lang="zh-CN">
                          <a:solidFill>
                            <a:schemeClr val="bg1"/>
                          </a:solidFill>
                        </a:rPr>
                        <a:t>187,500 项业务任务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000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单台八 H200，本地 1017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626.03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627.48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000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DeepSeek-V4.1-Flash-1017 API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48.14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55.09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6000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GLM-5.3 API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75.71＋缓存存储费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124.02＋缓存存储费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000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Kimi K3 API，1 小时缓存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142.24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290.34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API 总额均含 43.5 万元接入、技术运">
            <a:extLst xmlns:a="http://schemas.openxmlformats.org/drawingml/2006/main">
              <a:ext uri="{FF2B5EF4-FFF2-40B4-BE49-F238E27FC236}">
                <a16:creationId xmlns:a16="http://schemas.microsoft.com/office/drawing/2014/main" id="{CE8BA706-917C-4775-8D84-0E203D86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chemeClr val="tx1"/>
                </a:solidFill>
              </a:defRPr>
            </a:defPPr>
            <a:lvl1pPr algn="l">
              <a:defRPr sz="1875" b="0">
                <a:solidFill>
                  <a:schemeClr val="tx1"/>
                </a:solidFill>
              </a:defRPr>
            </a:lvl1pPr>
            <a:lvl2pPr algn="l">
              <a:defRPr sz="1875" b="0">
                <a:solidFill>
                  <a:schemeClr val="tx1"/>
                </a:solidFill>
              </a:defRPr>
            </a:lvl2pPr>
            <a:lvl3pPr algn="l">
              <a:defRPr sz="1875" b="0">
                <a:solidFill>
                  <a:schemeClr val="tx1"/>
                </a:solidFill>
              </a:defRPr>
            </a:lvl3pPr>
            <a:lvl4pPr algn="l">
              <a:defRPr sz="1875" b="0">
                <a:solidFill>
                  <a:schemeClr val="tx1"/>
                </a:solidFill>
              </a:defRPr>
            </a:lvl4pPr>
            <a:lvl5pPr algn="l">
              <a:defRPr sz="1875" b="0">
                <a:solidFill>
                  <a:schemeClr val="tx1"/>
                </a:solidFill>
              </a:defRPr>
            </a:lvl5pPr>
            <a:lvl6pPr algn="l">
              <a:defRPr sz="1875" b="0">
                <a:solidFill>
                  <a:schemeClr val="tx1"/>
                </a:solidFill>
              </a:defRPr>
            </a:lvl6pPr>
            <a:lvl7pPr algn="l">
              <a:defRPr sz="1875" b="0">
                <a:solidFill>
                  <a:schemeClr val="tx1"/>
                </a:solidFill>
              </a:defRPr>
            </a:lvl7pPr>
            <a:lvl8pPr algn="l">
              <a:defRPr sz="1875" b="0">
                <a:solidFill>
                  <a:schemeClr val="tx1"/>
                </a:solidFill>
              </a:defRPr>
            </a:lvl8pPr>
            <a:lvl9pPr algn="l">
              <a:defRPr sz="1875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chemeClr val="tx1"/>
                </a:solidFill>
              </a:defRPr>
            </a:pPr>
            <a:r>
              <a:rPr sz="1875" b="0" lang="zh-CN">
                <a:solidFill>
                  <a:schemeClr val="tx1"/>
                </a:solidFill>
              </a:rPr>
              <a:t>API 总额均含 43.5 万元接入、技术运维与平台支持。GLM 缓存存储目前限时免费，后续按公布标</a:t>
            </a:r>
          </a:p>
          <a:p xmlns:a="http://schemas.openxmlformats.org/drawingml/2006/main">
            <a:pPr algn="l">
              <a:defRPr sz="1875" b="0">
                <a:solidFill>
                  <a:schemeClr val="tx1"/>
                </a:solidFill>
              </a:defRPr>
            </a:pPr>
            <a:r>
              <a:rPr sz="1875" b="0" lang="zh-CN">
                <a:solidFill>
                  <a:schemeClr val="tx1"/>
                </a:solidFill>
              </a:rPr>
              <a:t>准计入。</a:t>
            </a:r>
          </a:p>
          <a:p xmlns:a="http://schemas.openxmlformats.org/drawingml/2006/main">
            <a:pPr algn="l">
              <a:defRPr sz="1875" b="0">
                <a:solidFill>
                  <a:schemeClr val="tx1"/>
                </a:solidFill>
              </a:defRPr>
            </a:pPr>
            <a:r>
              <a:rPr sz="1875" b="0" lang="zh-CN">
                <a:solidFill>
                  <a:schemeClr val="tx1"/>
                </a:solidFill>
              </a:rPr>
              <a:t>两种规模下，API 支出均较低。本地投入同时获得模型与资料处理环境的控制权，应对应持续发生</a:t>
            </a:r>
          </a:p>
          <a:p xmlns:a="http://schemas.openxmlformats.org/drawingml/2006/main">
            <a:pPr algn="l">
              <a:defRPr sz="1875" b="0">
                <a:solidFill>
                  <a:schemeClr val="tx1"/>
                </a:solidFill>
              </a:defRPr>
            </a:pPr>
            <a:r>
              <a:rPr sz="1875" b="0" lang="zh-CN">
                <a:solidFill>
                  <a:schemeClr val="tx1"/>
                </a:solidFill>
              </a:rPr>
              <a:t>且具有本地使用价值的工作。</a:t>
            </a:r>
          </a:p>
        </p:txBody>
      </p:sp>
    </p:spTree>
    <p:extLst>
      <p:ext uri="{BB962C8B-B14F-4D97-AF65-F5344CB8AC3E}">
        <p14:creationId xmlns:p14="http://schemas.microsoft.com/office/powerpoint/2010/main" val="451517481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0EB7629E-A543-4DEC-B3D0-8289EFAB9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第六章</a:t>
            </a:r>
          </a:p>
          <a:p xmlns:a="http://schemas.openxmlformats.org/drawingml/2006/main">
            <a:pPr>
              <a:buNone/>
            </a:pPr>
            <a:r>
              <a:t>日常应用与验证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3FD7D765-A9B6-4A5F-B8DE-310B96E2D1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使用入口与资料接入</a:t>
            </a:r>
          </a:p>
          <a:p xmlns:a="http://schemas.openxmlformats.org/drawingml/2006/main">
            <a:pPr>
              <a:buNone/>
            </a:pPr>
            <a:r>
              <a:t>通过实际任务检验部署选择</a:t>
            </a:r>
          </a:p>
        </p:txBody>
      </p:sp>
    </p:spTree>
    <p:extLst>
      <p:ext uri="{BB962C8B-B14F-4D97-AF65-F5344CB8AC3E}">
        <p14:creationId xmlns:p14="http://schemas.microsoft.com/office/powerpoint/2010/main" val="342860638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28FF7-6C72-4CEC-AA39-17DEC09E7643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810500" y="49339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5E82E-65B3-4838-A958-E245EBA64A1C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038600" y="49339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3D342-67DD-4E00-8AFE-29505C44EF5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810500" y="31527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B1B9F-604A-4AA7-BB34-4A3EC4777BB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038600" y="31527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sp>
        <p:nvSpPr>
          <p:cNvPr id="17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本地服务的使用路径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使用入口与任务执行位置，按个人工作和公司共享任务分别安排。</a:t>
            </a:r>
          </a:p>
        </p:txBody>
      </p:sp>
      <p:sp>
        <p:nvSpPr>
          <p:cNvPr id="3" name="个人文件与代码工作">
            <a:extLst xmlns:a="http://schemas.openxmlformats.org/drawingml/2006/main">
              <a:ext uri="{FF2B5EF4-FFF2-40B4-BE49-F238E27FC236}">
                <a16:creationId xmlns:a16="http://schemas.microsoft.com/office/drawing/2014/main" id="{CB37B69F-1AD8-4F25-9ACE-DF567FFB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chemeClr val="tx1"/>
                </a:solidFill>
              </a:defRPr>
            </a:defPPr>
            <a:lvl1pPr algn="l">
              <a:defRPr sz="2250" b="1">
                <a:solidFill>
                  <a:schemeClr val="tx1"/>
                </a:solidFill>
              </a:defRPr>
            </a:lvl1pPr>
            <a:lvl2pPr algn="l">
              <a:defRPr sz="2250" b="1">
                <a:solidFill>
                  <a:schemeClr val="tx1"/>
                </a:solidFill>
              </a:defRPr>
            </a:lvl2pPr>
            <a:lvl3pPr algn="l">
              <a:defRPr sz="2250" b="1">
                <a:solidFill>
                  <a:schemeClr val="tx1"/>
                </a:solidFill>
              </a:defRPr>
            </a:lvl3pPr>
            <a:lvl4pPr algn="l">
              <a:defRPr sz="2250" b="1">
                <a:solidFill>
                  <a:schemeClr val="tx1"/>
                </a:solidFill>
              </a:defRPr>
            </a:lvl4pPr>
            <a:lvl5pPr algn="l">
              <a:defRPr sz="2250" b="1">
                <a:solidFill>
                  <a:schemeClr val="tx1"/>
                </a:solidFill>
              </a:defRPr>
            </a:lvl5pPr>
            <a:lvl6pPr algn="l">
              <a:defRPr sz="2250" b="1">
                <a:solidFill>
                  <a:schemeClr val="tx1"/>
                </a:solidFill>
              </a:defRPr>
            </a:lvl6pPr>
            <a:lvl7pPr algn="l">
              <a:defRPr sz="2250" b="1">
                <a:solidFill>
                  <a:schemeClr val="tx1"/>
                </a:solidFill>
              </a:defRPr>
            </a:lvl7pPr>
            <a:lvl8pPr algn="l">
              <a:defRPr sz="2250" b="1">
                <a:solidFill>
                  <a:schemeClr val="tx1"/>
                </a:solidFill>
              </a:defRPr>
            </a:lvl8pPr>
            <a:lvl9pPr algn="l">
              <a:defRPr sz="2250" b="1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chemeClr val="tx1"/>
                </a:solidFill>
              </a:defRPr>
            </a:pPr>
            <a:r>
              <a:rPr sz="2250" b="1" lang="zh-CN">
                <a:solidFill>
                  <a:schemeClr val="tx1"/>
                </a:solidFill>
              </a:rPr>
              <a:t>个人文件与代码工作</a:t>
            </a:r>
          </a:p>
        </p:txBody>
      </p:sp>
      <p:sp>
        <p:nvSpPr>
          <p:cNvPr id="4" name="员工电脑上的">
            <a:extLst xmlns:a="http://schemas.openxmlformats.org/drawingml/2006/main">
              <a:ext uri="{FF2B5EF4-FFF2-40B4-BE49-F238E27FC236}">
                <a16:creationId xmlns:a16="http://schemas.microsoft.com/office/drawing/2014/main" id="{3B09A553-44B5-44C0-8FF9-CC2F6766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342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员工电脑上的</a:t>
            </a:r>
          </a:p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OpenCode／文件工具</a:t>
            </a:r>
          </a:p>
        </p:txBody>
      </p:sp>
      <p:sp>
        <p:nvSpPr>
          <p:cNvPr id="5" name="Spark 模型服务">
            <a:extLst xmlns:a="http://schemas.openxmlformats.org/drawingml/2006/main">
              <a:ext uri="{FF2B5EF4-FFF2-40B4-BE49-F238E27FC236}">
                <a16:creationId xmlns:a16="http://schemas.microsoft.com/office/drawing/2014/main" id="{F4F88638-E935-4D93-B7A8-50EFC92E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52725"/>
            <a:ext cx="342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Spark 模型服务</a:t>
            </a:r>
          </a:p>
        </p:txBody>
      </p:sp>
      <p:sp>
        <p:nvSpPr>
          <p:cNvPr id="6" name="结果回到工作目录">
            <a:extLst xmlns:a="http://schemas.openxmlformats.org/drawingml/2006/main">
              <a:ext uri="{FF2B5EF4-FFF2-40B4-BE49-F238E27FC236}">
                <a16:creationId xmlns:a16="http://schemas.microsoft.com/office/drawing/2014/main" id="{EFCADAD1-BB9E-4DCD-B7B4-2374ED9B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52725"/>
            <a:ext cx="342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结果回到工作目录</a:t>
            </a:r>
          </a:p>
        </p:txBody>
      </p:sp>
      <p:sp>
        <p:nvSpPr>
          <p:cNvPr id="9" name="公司共享任务">
            <a:extLst xmlns:a="http://schemas.openxmlformats.org/drawingml/2006/main">
              <a:ext uri="{FF2B5EF4-FFF2-40B4-BE49-F238E27FC236}">
                <a16:creationId xmlns:a16="http://schemas.microsoft.com/office/drawing/2014/main" id="{63BE7AB7-EBEA-4E1C-B0B3-E27D21CE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chemeClr val="tx1"/>
                </a:solidFill>
              </a:defRPr>
            </a:defPPr>
            <a:lvl1pPr algn="l">
              <a:defRPr sz="2250" b="1">
                <a:solidFill>
                  <a:schemeClr val="tx1"/>
                </a:solidFill>
              </a:defRPr>
            </a:lvl1pPr>
            <a:lvl2pPr algn="l">
              <a:defRPr sz="2250" b="1">
                <a:solidFill>
                  <a:schemeClr val="tx1"/>
                </a:solidFill>
              </a:defRPr>
            </a:lvl2pPr>
            <a:lvl3pPr algn="l">
              <a:defRPr sz="2250" b="1">
                <a:solidFill>
                  <a:schemeClr val="tx1"/>
                </a:solidFill>
              </a:defRPr>
            </a:lvl3pPr>
            <a:lvl4pPr algn="l">
              <a:defRPr sz="2250" b="1">
                <a:solidFill>
                  <a:schemeClr val="tx1"/>
                </a:solidFill>
              </a:defRPr>
            </a:lvl4pPr>
            <a:lvl5pPr algn="l">
              <a:defRPr sz="2250" b="1">
                <a:solidFill>
                  <a:schemeClr val="tx1"/>
                </a:solidFill>
              </a:defRPr>
            </a:lvl5pPr>
            <a:lvl6pPr algn="l">
              <a:defRPr sz="2250" b="1">
                <a:solidFill>
                  <a:schemeClr val="tx1"/>
                </a:solidFill>
              </a:defRPr>
            </a:lvl6pPr>
            <a:lvl7pPr algn="l">
              <a:defRPr sz="2250" b="1">
                <a:solidFill>
                  <a:schemeClr val="tx1"/>
                </a:solidFill>
              </a:defRPr>
            </a:lvl7pPr>
            <a:lvl8pPr algn="l">
              <a:defRPr sz="2250" b="1">
                <a:solidFill>
                  <a:schemeClr val="tx1"/>
                </a:solidFill>
              </a:defRPr>
            </a:lvl8pPr>
            <a:lvl9pPr algn="l">
              <a:defRPr sz="2250" b="1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chemeClr val="tx1"/>
                </a:solidFill>
              </a:defRPr>
            </a:pPr>
            <a:r>
              <a:rPr sz="2250" b="1" lang="zh-CN">
                <a:solidFill>
                  <a:schemeClr val="tx1"/>
                </a:solidFill>
              </a:rPr>
              <a:t>公司共享任务</a:t>
            </a:r>
          </a:p>
        </p:txBody>
      </p:sp>
      <p:sp>
        <p:nvSpPr>
          <p:cNvPr id="10" name="浏览器入口">
            <a:extLst xmlns:a="http://schemas.openxmlformats.org/drawingml/2006/main">
              <a:ext uri="{FF2B5EF4-FFF2-40B4-BE49-F238E27FC236}">
                <a16:creationId xmlns:a16="http://schemas.microsoft.com/office/drawing/2014/main" id="{E1B6B292-B6C0-4352-AE9B-88F0A534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342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浏览器入口</a:t>
            </a:r>
          </a:p>
        </p:txBody>
      </p:sp>
      <p:sp>
        <p:nvSpPr>
          <p:cNvPr id="11" name="身份与任务管理">
            <a:extLst xmlns:a="http://schemas.openxmlformats.org/drawingml/2006/main">
              <a:ext uri="{FF2B5EF4-FFF2-40B4-BE49-F238E27FC236}">
                <a16:creationId xmlns:a16="http://schemas.microsoft.com/office/drawing/2014/main" id="{5A456C3F-F3D0-4051-9156-642E52B4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91050"/>
            <a:ext cx="342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身份与任务管理</a:t>
            </a:r>
          </a:p>
        </p:txBody>
      </p:sp>
      <p:sp>
        <p:nvSpPr>
          <p:cNvPr id="12" name="服务器任务执行层">
            <a:extLst xmlns:a="http://schemas.openxmlformats.org/drawingml/2006/main">
              <a:ext uri="{FF2B5EF4-FFF2-40B4-BE49-F238E27FC236}">
                <a16:creationId xmlns:a16="http://schemas.microsoft.com/office/drawing/2014/main" id="{A1896E16-4335-4C5F-956E-2DD5E98C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91050"/>
            <a:ext cx="342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服务器任务执行层</a:t>
            </a:r>
          </a:p>
        </p:txBody>
      </p:sp>
      <p:sp>
        <p:nvSpPr>
          <p:cNvPr id="15" name="任务执行层衔接主力模型与同机隔离工具环境。模">
            <a:extLst xmlns:a="http://schemas.openxmlformats.org/drawingml/2006/main">
              <a:ext uri="{FF2B5EF4-FFF2-40B4-BE49-F238E27FC236}">
                <a16:creationId xmlns:a16="http://schemas.microsoft.com/office/drawing/2014/main" id="{C52862F5-CC06-461F-89C5-290CD2E8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chemeClr val="tx1"/>
                </a:solidFill>
              </a:defRPr>
            </a:defPPr>
            <a:lvl1pPr algn="l">
              <a:defRPr sz="2025" b="0">
                <a:solidFill>
                  <a:schemeClr val="tx1"/>
                </a:solidFill>
              </a:defRPr>
            </a:lvl1pPr>
            <a:lvl2pPr algn="l">
              <a:defRPr sz="2025" b="0">
                <a:solidFill>
                  <a:schemeClr val="tx1"/>
                </a:solidFill>
              </a:defRPr>
            </a:lvl2pPr>
            <a:lvl3pPr algn="l">
              <a:defRPr sz="2025" b="0">
                <a:solidFill>
                  <a:schemeClr val="tx1"/>
                </a:solidFill>
              </a:defRPr>
            </a:lvl3pPr>
            <a:lvl4pPr algn="l">
              <a:defRPr sz="2025" b="0">
                <a:solidFill>
                  <a:schemeClr val="tx1"/>
                </a:solidFill>
              </a:defRPr>
            </a:lvl4pPr>
            <a:lvl5pPr algn="l">
              <a:defRPr sz="2025" b="0">
                <a:solidFill>
                  <a:schemeClr val="tx1"/>
                </a:solidFill>
              </a:defRPr>
            </a:lvl5pPr>
            <a:lvl6pPr algn="l">
              <a:defRPr sz="2025" b="0">
                <a:solidFill>
                  <a:schemeClr val="tx1"/>
                </a:solidFill>
              </a:defRPr>
            </a:lvl6pPr>
            <a:lvl7pPr algn="l">
              <a:defRPr sz="2025" b="0">
                <a:solidFill>
                  <a:schemeClr val="tx1"/>
                </a:solidFill>
              </a:defRPr>
            </a:lvl7pPr>
            <a:lvl8pPr algn="l">
              <a:defRPr sz="2025" b="0">
                <a:solidFill>
                  <a:schemeClr val="tx1"/>
                </a:solidFill>
              </a:defRPr>
            </a:lvl8pPr>
            <a:lvl9pPr algn="l">
              <a:defRPr sz="2025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任务执行层衔接主力模型与同机隔离工具环境。模型提出操作，工具返回结果后，模型继续</a:t>
            </a:r>
          </a:p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处理。</a:t>
            </a:r>
          </a:p>
        </p:txBody>
      </p:sp>
      <p:sp>
        <p:nvSpPr>
          <p:cNvPr id="16" name="个人工具使用员工电脑上的文件，共享任务在服务">
            <a:extLst xmlns:a="http://schemas.openxmlformats.org/drawingml/2006/main">
              <a:ext uri="{FF2B5EF4-FFF2-40B4-BE49-F238E27FC236}">
                <a16:creationId xmlns:a16="http://schemas.microsoft.com/office/drawing/2014/main" id="{086EAAAF-DACE-4154-89B9-3B0F5163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chemeClr val="tx1"/>
                </a:solidFill>
              </a:defRPr>
            </a:defPPr>
            <a:lvl1pPr algn="l">
              <a:defRPr sz="2025" b="0">
                <a:solidFill>
                  <a:schemeClr val="tx1"/>
                </a:solidFill>
              </a:defRPr>
            </a:lvl1pPr>
            <a:lvl2pPr algn="l">
              <a:defRPr sz="2025" b="0">
                <a:solidFill>
                  <a:schemeClr val="tx1"/>
                </a:solidFill>
              </a:defRPr>
            </a:lvl2pPr>
            <a:lvl3pPr algn="l">
              <a:defRPr sz="2025" b="0">
                <a:solidFill>
                  <a:schemeClr val="tx1"/>
                </a:solidFill>
              </a:defRPr>
            </a:lvl3pPr>
            <a:lvl4pPr algn="l">
              <a:defRPr sz="2025" b="0">
                <a:solidFill>
                  <a:schemeClr val="tx1"/>
                </a:solidFill>
              </a:defRPr>
            </a:lvl4pPr>
            <a:lvl5pPr algn="l">
              <a:defRPr sz="2025" b="0">
                <a:solidFill>
                  <a:schemeClr val="tx1"/>
                </a:solidFill>
              </a:defRPr>
            </a:lvl5pPr>
            <a:lvl6pPr algn="l">
              <a:defRPr sz="2025" b="0">
                <a:solidFill>
                  <a:schemeClr val="tx1"/>
                </a:solidFill>
              </a:defRPr>
            </a:lvl6pPr>
            <a:lvl7pPr algn="l">
              <a:defRPr sz="2025" b="0">
                <a:solidFill>
                  <a:schemeClr val="tx1"/>
                </a:solidFill>
              </a:defRPr>
            </a:lvl7pPr>
            <a:lvl8pPr algn="l">
              <a:defRPr sz="2025" b="0">
                <a:solidFill>
                  <a:schemeClr val="tx1"/>
                </a:solidFill>
              </a:defRPr>
            </a:lvl8pPr>
            <a:lvl9pPr algn="l">
              <a:defRPr sz="2025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个人工具使用员工电脑上的文件，共享任务在服务器授权目录中执行。</a:t>
            </a:r>
          </a:p>
        </p:txBody>
      </p:sp>
    </p:spTree>
    <p:extLst>
      <p:ext uri="{BB962C8B-B14F-4D97-AF65-F5344CB8AC3E}">
        <p14:creationId xmlns:p14="http://schemas.microsoft.com/office/powerpoint/2010/main" val="812231293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05056-9321-4622-A136-3A10D9EA878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753475" y="28098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07B08-13CA-437B-BB86-5F7BBCE715F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924550" y="28098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CD8CC-1E4D-46C0-AEDC-EC8CB91FB1BC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095625" y="28098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sp>
        <p:nvSpPr>
          <p:cNvPr id="1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公司资料与工具的接入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检索增强生成（RAG）先检索用户获准读取的相关资料，再交给模型回答并提供引用。</a:t>
            </a:r>
          </a:p>
        </p:txBody>
      </p:sp>
      <p:sp>
        <p:nvSpPr>
          <p:cNvPr id="3" name="身份与问题">
            <a:extLst xmlns:a="http://schemas.openxmlformats.org/drawingml/2006/main">
              <a:ext uri="{FF2B5EF4-FFF2-40B4-BE49-F238E27FC236}">
                <a16:creationId xmlns:a16="http://schemas.microsoft.com/office/drawing/2014/main" id="{0A06EBE4-2C21-48F4-93F3-D462C802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4860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身份与问题</a:t>
            </a:r>
          </a:p>
        </p:txBody>
      </p:sp>
      <p:sp>
        <p:nvSpPr>
          <p:cNvPr id="4" name="获准范围内检索">
            <a:extLst xmlns:a="http://schemas.openxmlformats.org/drawingml/2006/main">
              <a:ext uri="{FF2B5EF4-FFF2-40B4-BE49-F238E27FC236}">
                <a16:creationId xmlns:a16="http://schemas.microsoft.com/office/drawing/2014/main" id="{B0905B86-9502-4D37-AA60-5224D887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381250"/>
            <a:ext cx="24860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获准范围内检索</a:t>
            </a:r>
          </a:p>
        </p:txBody>
      </p:sp>
      <p:sp>
        <p:nvSpPr>
          <p:cNvPr id="5" name="授权过滤与重排">
            <a:extLst xmlns:a="http://schemas.openxmlformats.org/drawingml/2006/main">
              <a:ext uri="{FF2B5EF4-FFF2-40B4-BE49-F238E27FC236}">
                <a16:creationId xmlns:a16="http://schemas.microsoft.com/office/drawing/2014/main" id="{108B2DE3-E90D-4106-AEFF-522C5238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24860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授权过滤与重排</a:t>
            </a:r>
          </a:p>
        </p:txBody>
      </p:sp>
      <p:sp>
        <p:nvSpPr>
          <p:cNvPr id="6" name="依据片段回答">
            <a:extLst xmlns:a="http://schemas.openxmlformats.org/drawingml/2006/main">
              <a:ext uri="{FF2B5EF4-FFF2-40B4-BE49-F238E27FC236}">
                <a16:creationId xmlns:a16="http://schemas.microsoft.com/office/drawing/2014/main" id="{E4307368-0250-4802-8B6F-30C8AB01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81250"/>
            <a:ext cx="24860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依据片段回答</a:t>
            </a:r>
          </a:p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核验引用</a:t>
            </a:r>
          </a:p>
        </p:txBody>
      </p:sp>
      <p:sp>
        <p:nvSpPr>
          <p:cNvPr id="10" name="平台可比较 Onyx Enterprise ">
            <a:extLst xmlns:a="http://schemas.openxmlformats.org/drawingml/2006/main">
              <a:ext uri="{FF2B5EF4-FFF2-40B4-BE49-F238E27FC236}">
                <a16:creationId xmlns:a16="http://schemas.microsoft.com/office/drawing/2014/main" id="{1474CC9E-BA47-4883-9872-154B47C2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</a:defRPr>
            </a:defPPr>
            <a:lvl1pPr algn="l">
              <a:defRPr sz="2100" b="0">
                <a:solidFill>
                  <a:schemeClr val="tx1"/>
                </a:solidFill>
              </a:defRPr>
            </a:lvl1pPr>
            <a:lvl2pPr algn="l">
              <a:defRPr sz="2100" b="0">
                <a:solidFill>
                  <a:schemeClr val="tx1"/>
                </a:solidFill>
              </a:defRPr>
            </a:lvl2pPr>
            <a:lvl3pPr algn="l">
              <a:defRPr sz="2100" b="0">
                <a:solidFill>
                  <a:schemeClr val="tx1"/>
                </a:solidFill>
              </a:defRPr>
            </a:lvl3pPr>
            <a:lvl4pPr algn="l">
              <a:defRPr sz="2100" b="0">
                <a:solidFill>
                  <a:schemeClr val="tx1"/>
                </a:solidFill>
              </a:defRPr>
            </a:lvl4pPr>
            <a:lvl5pPr algn="l">
              <a:defRPr sz="2100" b="0">
                <a:solidFill>
                  <a:schemeClr val="tx1"/>
                </a:solidFill>
              </a:defRPr>
            </a:lvl5pPr>
            <a:lvl6pPr algn="l">
              <a:defRPr sz="2100" b="0">
                <a:solidFill>
                  <a:schemeClr val="tx1"/>
                </a:solidFill>
              </a:defRPr>
            </a:lvl6pPr>
            <a:lvl7pPr algn="l">
              <a:defRPr sz="2100" b="0">
                <a:solidFill>
                  <a:schemeClr val="tx1"/>
                </a:solidFill>
              </a:defRPr>
            </a:lvl7pPr>
            <a:lvl8pPr algn="l">
              <a:defRPr sz="2100" b="0">
                <a:solidFill>
                  <a:schemeClr val="tx1"/>
                </a:solidFill>
              </a:defRPr>
            </a:lvl8pPr>
            <a:lvl9pPr algn="l">
              <a:defRPr sz="210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chemeClr val="tx1"/>
                </a:solidFill>
              </a:defRPr>
            </a:pPr>
            <a:r>
              <a:rPr sz="2100" b="0" lang="zh-CN">
                <a:solidFill>
                  <a:schemeClr val="tx1"/>
                </a:solidFill>
              </a:rPr>
              <a:t>平台可比较 Onyx Enterprise 与 Milvus＋自建 RAG 服务＋Open WebUI。前者集中提供</a:t>
            </a:r>
          </a:p>
          <a:p xmlns:a="http://schemas.openxmlformats.org/drawingml/2006/main">
            <a:pPr algn="l">
              <a:defRPr sz="2100" b="0">
                <a:solidFill>
                  <a:schemeClr val="tx1"/>
                </a:solidFill>
              </a:defRPr>
            </a:pPr>
            <a:r>
              <a:rPr sz="2100" b="0" lang="zh-CN">
                <a:solidFill>
                  <a:schemeClr val="tx1"/>
                </a:solidFill>
              </a:rPr>
              <a:t>企业知识平台能力，后者由团队组合并维护检索、权限与应用。两条路线均需衔接 NAS</a:t>
            </a:r>
          </a:p>
          <a:p xmlns:a="http://schemas.openxmlformats.org/drawingml/2006/main">
            <a:pPr algn="l">
              <a:defRPr sz="2100" b="0">
                <a:solidFill>
                  <a:schemeClr val="tx1"/>
                </a:solidFill>
              </a:defRPr>
            </a:pPr>
            <a:r>
              <a:rPr sz="2100" b="0" lang="zh-CN">
                <a:solidFill>
                  <a:schemeClr val="tx1"/>
                </a:solidFill>
              </a:rPr>
              <a:t>身份、访问范围和撤权更新。</a:t>
            </a:r>
          </a:p>
        </p:txBody>
      </p:sp>
      <p:sp>
        <p:nvSpPr>
          <p:cNvPr id="11" name="文件读取、计算和代码执行可通过工具提供。Sk">
            <a:extLst xmlns:a="http://schemas.openxmlformats.org/drawingml/2006/main">
              <a:ext uri="{FF2B5EF4-FFF2-40B4-BE49-F238E27FC236}">
                <a16:creationId xmlns:a16="http://schemas.microsoft.com/office/drawing/2014/main" id="{8F682FEB-A722-4047-86D1-0D2C3909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</a:defRPr>
            </a:defPPr>
            <a:lvl1pPr algn="l">
              <a:defRPr sz="2100" b="0">
                <a:solidFill>
                  <a:schemeClr val="tx1"/>
                </a:solidFill>
              </a:defRPr>
            </a:lvl1pPr>
            <a:lvl2pPr algn="l">
              <a:defRPr sz="2100" b="0">
                <a:solidFill>
                  <a:schemeClr val="tx1"/>
                </a:solidFill>
              </a:defRPr>
            </a:lvl2pPr>
            <a:lvl3pPr algn="l">
              <a:defRPr sz="2100" b="0">
                <a:solidFill>
                  <a:schemeClr val="tx1"/>
                </a:solidFill>
              </a:defRPr>
            </a:lvl3pPr>
            <a:lvl4pPr algn="l">
              <a:defRPr sz="2100" b="0">
                <a:solidFill>
                  <a:schemeClr val="tx1"/>
                </a:solidFill>
              </a:defRPr>
            </a:lvl4pPr>
            <a:lvl5pPr algn="l">
              <a:defRPr sz="2100" b="0">
                <a:solidFill>
                  <a:schemeClr val="tx1"/>
                </a:solidFill>
              </a:defRPr>
            </a:lvl5pPr>
            <a:lvl6pPr algn="l">
              <a:defRPr sz="2100" b="0">
                <a:solidFill>
                  <a:schemeClr val="tx1"/>
                </a:solidFill>
              </a:defRPr>
            </a:lvl6pPr>
            <a:lvl7pPr algn="l">
              <a:defRPr sz="2100" b="0">
                <a:solidFill>
                  <a:schemeClr val="tx1"/>
                </a:solidFill>
              </a:defRPr>
            </a:lvl7pPr>
            <a:lvl8pPr algn="l">
              <a:defRPr sz="2100" b="0">
                <a:solidFill>
                  <a:schemeClr val="tx1"/>
                </a:solidFill>
              </a:defRPr>
            </a:lvl8pPr>
            <a:lvl9pPr algn="l">
              <a:defRPr sz="210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chemeClr val="tx1"/>
                </a:solidFill>
              </a:defRPr>
            </a:pPr>
            <a:r>
              <a:rPr sz="2100" b="0" lang="zh-CN">
                <a:solidFill>
                  <a:schemeClr val="tx1"/>
                </a:solidFill>
              </a:rPr>
              <a:t>文件读取、计算和代码执行可通过工具提供。Skills 保存可复用的操作说明，MCP 等接</a:t>
            </a:r>
          </a:p>
          <a:p xmlns:a="http://schemas.openxmlformats.org/drawingml/2006/main">
            <a:pPr algn="l">
              <a:defRPr sz="2100" b="0">
                <a:solidFill>
                  <a:schemeClr val="tx1"/>
                </a:solidFill>
              </a:defRPr>
            </a:pPr>
            <a:r>
              <a:rPr sz="2100" b="0" lang="zh-CN">
                <a:solidFill>
                  <a:schemeClr val="tx1"/>
                </a:solidFill>
              </a:rPr>
              <a:t>口连接外部工具，由同一任务入口组织使用。</a:t>
            </a:r>
          </a:p>
        </p:txBody>
      </p:sp>
    </p:spTree>
    <p:extLst>
      <p:ext uri="{BB962C8B-B14F-4D97-AF65-F5344CB8AC3E}">
        <p14:creationId xmlns:p14="http://schemas.microsoft.com/office/powerpoint/2010/main" val="51082830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261AE30-16D5-49A7-A7AA-061752983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部署方案的任务验证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4B4878C-2966-4ADE-8373-140F68244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从具有明确交付物的工作开始，积累公司自身的使用依据。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0C73F-2175-4685-B1FD-28A5BD164A0A}"/>
              </a:ext>
            </a:extLst>
          </p:cNvPr>
          <p:cNvGraphicFramePr/>
          <p:nvPr>
            <p:ph type="obj" idx="2"/>
          </p:nvPr>
        </p:nvGraphicFramePr>
        <p:xfrm>
          <a:off xmlns:a="http://schemas.openxmlformats.org/drawingml/2006/main" x="609600" y="21717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5334000"/>
                <a:gridCol w="3162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1" lang="zh-CN">
                          <a:solidFill>
                            <a:schemeClr val="bg1"/>
                          </a:solidFill>
                        </a:rPr>
                        <a:t>验证工作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zh-CN">
                          <a:solidFill>
                            <a:schemeClr val="bg1"/>
                          </a:solidFill>
                        </a:rPr>
                        <a:t>交付与检查方式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zh-CN">
                          <a:solidFill>
                            <a:schemeClr val="bg1"/>
                          </a:solidFill>
                        </a:rPr>
                        <a:t>支持的决策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 lang="zh-CN">
                          <a:solidFill>
                            <a:schemeClr val="tx1"/>
                          </a:solidFill>
                        </a:rPr>
                        <a:t>公告字段整理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zh-CN">
                          <a:solidFill>
                            <a:schemeClr val="tx1"/>
                          </a:solidFill>
                        </a:rPr>
                        <a:t>字段表与出处，检查主体、日期、金额和覆盖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zh-CN">
                          <a:solidFill>
                            <a:schemeClr val="tx1"/>
                          </a:solidFill>
                        </a:rPr>
                        <a:t>首批文档工作的范围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 lang="zh-CN">
                          <a:solidFill>
                            <a:schemeClr val="tx1"/>
                          </a:solidFill>
                        </a:rPr>
                        <a:t>研究代码辅助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zh-CN">
                          <a:solidFill>
                            <a:schemeClr val="tx1"/>
                          </a:solidFill>
                        </a:rPr>
                        <a:t>可复跑的修改、测试与结果文件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zh-CN">
                          <a:solidFill>
                            <a:schemeClr val="tx1"/>
                          </a:solidFill>
                        </a:rPr>
                        <a:t>模型与工具的配合方式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 lang="zh-CN">
                          <a:solidFill>
                            <a:schemeClr val="tx1"/>
                          </a:solidFill>
                        </a:rPr>
                        <a:t>财报比较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zh-CN">
                          <a:solidFill>
                            <a:schemeClr val="tx1"/>
                          </a:solidFill>
                        </a:rPr>
                        <a:t>数字、期间、口径、计算文件与引用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zh-CN">
                          <a:solidFill>
                            <a:schemeClr val="tx1"/>
                          </a:solidFill>
                        </a:rPr>
                        <a:t>共享模型的质量收益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 lang="zh-CN">
                          <a:solidFill>
                            <a:schemeClr val="tx1"/>
                          </a:solidFill>
                        </a:rPr>
                        <a:t>权限知识问答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zh-CN">
                          <a:solidFill>
                            <a:schemeClr val="tx1"/>
                          </a:solidFill>
                        </a:rPr>
                        <a:t>按身份检查检索和引用，测试撤权更新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zh-CN">
                          <a:solidFill>
                            <a:schemeClr val="tx1"/>
                          </a:solidFill>
                        </a:rPr>
                        <a:t>公司资料接入范围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记录首次等待、生成停顿、完整任务时间、重试与">
            <a:extLst xmlns:a="http://schemas.openxmlformats.org/drawingml/2006/main">
              <a:ext uri="{FF2B5EF4-FFF2-40B4-BE49-F238E27FC236}">
                <a16:creationId xmlns:a16="http://schemas.microsoft.com/office/drawing/2014/main" id="{8F198AE7-F7FB-4A80-9BED-62376159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chemeClr val="tx1"/>
                </a:solidFill>
              </a:defRPr>
            </a:defPPr>
            <a:lvl1pPr algn="l">
              <a:defRPr sz="2025" b="0">
                <a:solidFill>
                  <a:schemeClr val="tx1"/>
                </a:solidFill>
              </a:defRPr>
            </a:lvl1pPr>
            <a:lvl2pPr algn="l">
              <a:defRPr sz="2025" b="0">
                <a:solidFill>
                  <a:schemeClr val="tx1"/>
                </a:solidFill>
              </a:defRPr>
            </a:lvl2pPr>
            <a:lvl3pPr algn="l">
              <a:defRPr sz="2025" b="0">
                <a:solidFill>
                  <a:schemeClr val="tx1"/>
                </a:solidFill>
              </a:defRPr>
            </a:lvl3pPr>
            <a:lvl4pPr algn="l">
              <a:defRPr sz="2025" b="0">
                <a:solidFill>
                  <a:schemeClr val="tx1"/>
                </a:solidFill>
              </a:defRPr>
            </a:lvl4pPr>
            <a:lvl5pPr algn="l">
              <a:defRPr sz="2025" b="0">
                <a:solidFill>
                  <a:schemeClr val="tx1"/>
                </a:solidFill>
              </a:defRPr>
            </a:lvl5pPr>
            <a:lvl6pPr algn="l">
              <a:defRPr sz="2025" b="0">
                <a:solidFill>
                  <a:schemeClr val="tx1"/>
                </a:solidFill>
              </a:defRPr>
            </a:lvl6pPr>
            <a:lvl7pPr algn="l">
              <a:defRPr sz="2025" b="0">
                <a:solidFill>
                  <a:schemeClr val="tx1"/>
                </a:solidFill>
              </a:defRPr>
            </a:lvl7pPr>
            <a:lvl8pPr algn="l">
              <a:defRPr sz="2025" b="0">
                <a:solidFill>
                  <a:schemeClr val="tx1"/>
                </a:solidFill>
              </a:defRPr>
            </a:lvl8pPr>
            <a:lvl9pPr algn="l">
              <a:defRPr sz="2025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记录首次等待、生成停顿、完整任务时间、重试与人工复核。观察材料增长、工具返回及多</a:t>
            </a:r>
          </a:p>
          <a:p xmlns:a="http://schemas.openxmlformats.org/drawingml/2006/main">
            <a:pPr algn="l">
              <a:defRPr sz="2025" b="0">
                <a:solidFill>
                  <a:schemeClr val="tx1"/>
                </a:solidFill>
              </a:defRPr>
            </a:pPr>
            <a:r>
              <a:rPr sz="2025" b="0" lang="zh-CN">
                <a:solidFill>
                  <a:schemeClr val="tx1"/>
                </a:solidFill>
              </a:rPr>
              <a:t>人使用对体验的影响，为后续配置提供依据。</a:t>
            </a:r>
          </a:p>
        </p:txBody>
      </p:sp>
    </p:spTree>
    <p:extLst>
      <p:ext uri="{BB962C8B-B14F-4D97-AF65-F5344CB8AC3E}">
        <p14:creationId xmlns:p14="http://schemas.microsoft.com/office/powerpoint/2010/main" val="1294783740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75DFDFE9-2817-4866-BD00-459D92A802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公司本地部署的选择与后续验证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71893EEC-4DA7-4EE4-A919-A855CF6C5C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spcAft>
                <a:spcPts val="2000"/>
              </a:spcAft>
            </a:pPr>
            <a:r>
              <a:t>选型：个人端选择 DGX Spark，并在 128GB 统一内存范围内优先模型能力，采用</a:t>
            </a:r>
            <a:br/>
            <a:r>
              <a:t>Qwen3.8-27B。服务器从单机八卡条件选出 Flash，随后更新为</a:t>
            </a:r>
            <a:br/>
            <a:r>
              <a:t>DeepSeek-V4.1-Flash-1017。</a:t>
            </a:r>
          </a:p>
          <a:p xmlns:a="http://schemas.openxmlformats.org/drawingml/2006/main">
            <a:pPr>
              <a:buNone/>
              <a:spcAft>
                <a:spcPts val="2000"/>
              </a:spcAft>
            </a:pPr>
            <a:r>
              <a:t>运行：沿共同的请求过程安排模型、缓存与调度，结合 Spark 实例和八 H200 服务</a:t>
            </a:r>
            <a:br/>
            <a:r>
              <a:t>器配置，形成各自的运行路径。</a:t>
            </a:r>
          </a:p>
          <a:p xmlns:a="http://schemas.openxmlformats.org/drawingml/2006/main">
            <a:pPr>
              <a:buNone/>
              <a:spcAft>
                <a:spcPts val="2000"/>
              </a:spcAft>
            </a:pPr>
            <a:r>
              <a:t>投入与验证：按 20 人、50 人的固定业务任务量比较本地与 API 的完整三年预算。</a:t>
            </a:r>
            <a:br/>
            <a:r>
              <a:t>下一步以任务产物检查能力与体验，记录等待、复核和净节省时间，为本地服务建</a:t>
            </a:r>
            <a:br/>
            <a:r>
              <a:t>立实际依据。</a:t>
            </a:r>
          </a:p>
        </p:txBody>
      </p:sp>
    </p:spTree>
    <p:extLst>
      <p:ext uri="{BB962C8B-B14F-4D97-AF65-F5344CB8AC3E}">
        <p14:creationId xmlns:p14="http://schemas.microsoft.com/office/powerpoint/2010/main" val="391991218"/>
      </p:ext>
    </p:extLst>
  </p:cSld>
</p:sld>
</file>

<file path=ppt/theme/theme1.xml><?xml version="1.0" encoding="utf-8"?>
<a:theme xmlns:a="http://schemas.openxmlformats.org/drawingml/2006/main" name="Office Standard">
  <a:themeElements>
    <a:clrScheme name="Office Standard Blue">
      <a:dk1>
        <a:srgbClr val="202020"/>
      </a:dk1>
      <a:lt1>
        <a:srgbClr val="FFFFFF"/>
      </a:lt1>
      <a:dk2>
        <a:srgbClr val="595959"/>
      </a:dk2>
      <a:lt2>
        <a:srgbClr val="F2F2F2"/>
      </a:lt2>
      <a:accent1>
        <a:srgbClr val="2F5597"/>
      </a:accent1>
      <a:accent2>
        <a:srgbClr val="7F7F7F"/>
      </a:accent2>
      <a:accent3>
        <a:srgbClr val="A5A5A5"/>
      </a:accent3>
      <a:accent4>
        <a:srgbClr val="4472C4"/>
      </a:accent4>
      <a:accent5>
        <a:srgbClr val="B4C6E7"/>
      </a:accent5>
      <a:accent6>
        <a:srgbClr val="D9E2F3"/>
      </a:accent6>
      <a:hlink>
        <a:srgbClr val="2F5597"/>
      </a:hlink>
      <a:folHlink>
        <a:srgbClr val="7F7F7F"/>
      </a:folHlink>
    </a:clrScheme>
    <a:fontScheme name="Office Standard Chinese">
      <a:majorFont>
        <a:latin typeface="Arial Unicode MS"/>
        <a:ea typeface="Arial Unicode MS"/>
        <a:cs typeface=""/>
        <a:font script="Hans" typeface="Arial Unicode MS"/>
        <a:font script="Hant" typeface="Arial Unicode MS"/>
        <a:font script="Jpan" typeface="Arial Unicode MS"/>
        <a:font script="Hang" typeface="Arial Unicode MS"/>
      </a:majorFont>
      <a:minorFont>
        <a:latin typeface="Arial Unicode MS"/>
        <a:ea typeface="Arial Unicode MS"/>
        <a:cs typeface=""/>
        <a:font script="Hans" typeface="Arial Unicode MS"/>
        <a:font script="Hant" typeface="Arial Unicode MS"/>
        <a:font script="Jpan" typeface="Arial Unicode MS"/>
        <a:font script="Hang" typeface="Arial Unicode MS"/>
      </a:minorFont>
    </a:fontScheme>
    <a:fmtScheme name="Office Standard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2026-10-22T19:01:00.0840000Z</dcterms:created>
  <dcterms:modified xsi:type="dcterms:W3CDTF">2026-10-22T19:01:00.0840000Z</dcterms:modified>
</coreProperties>
</file>