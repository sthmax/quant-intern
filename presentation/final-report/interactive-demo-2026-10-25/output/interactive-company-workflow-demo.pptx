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f7a4e9a0744f8b" /><Relationship Type="http://schemas.openxmlformats.org/officeDocument/2006/relationships/extended-properties" Target="/docProps/app.xml" Id="Rcc7dacf107d04ebd" /><Relationship Type="http://schemas.openxmlformats.org/officeDocument/2006/relationships/officeDocument" Target="/ppt/presentation.xml" Id="Rdc922bdd60df4d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860d143a4f4aee"/>
  </p:sldMasterIdLst>
  <p:notesMasterIdLst>
    <p:notesMasterId xmlns:r="http://schemas.openxmlformats.org/officeDocument/2006/relationships" r:id="R0e24c41cf02a4c23"/>
  </p:notesMasterIdLst>
  <p:sldIdLst>
    <p:sldId xmlns:r="http://schemas.openxmlformats.org/officeDocument/2006/relationships" id="256" r:id="Rbfcaf436152340bc"/>
    <p:sldId xmlns:r="http://schemas.openxmlformats.org/officeDocument/2006/relationships" id="257" r:id="R09398200e9f44b85"/>
    <p:sldId xmlns:r="http://schemas.openxmlformats.org/officeDocument/2006/relationships" id="258" r:id="R55621d082659479b"/>
    <p:sldId xmlns:r="http://schemas.openxmlformats.org/officeDocument/2006/relationships" id="259" r:id="Re98fb97bb1e24eab"/>
    <p:sldId xmlns:r="http://schemas.openxmlformats.org/officeDocument/2006/relationships" id="260" r:id="R01140e0b944d40af"/>
    <p:sldId xmlns:r="http://schemas.openxmlformats.org/officeDocument/2006/relationships" id="261" r:id="R912cc0f0629040b1"/>
    <p:sldId xmlns:r="http://schemas.openxmlformats.org/officeDocument/2006/relationships" id="262" r:id="R493d0ce4fa6c4883"/>
    <p:sldId xmlns:r="http://schemas.openxmlformats.org/officeDocument/2006/relationships" id="263" r:id="R4408673797ee4a77"/>
    <p:sldId xmlns:r="http://schemas.openxmlformats.org/officeDocument/2006/relationships" id="264" r:id="Rec868bd80c33432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e6f61087c4976" /><Relationship Type="http://schemas.openxmlformats.org/officeDocument/2006/relationships/slideMaster" Target="/ppt/slideMasters/slideMaster1.xml" Id="Rd5860d143a4f4aee" /><Relationship Type="http://schemas.openxmlformats.org/officeDocument/2006/relationships/notesMaster" Target="/ppt/notesMasters/notesMaster1.xml" Id="R0e24c41cf02a4c23" /><Relationship Type="http://schemas.openxmlformats.org/officeDocument/2006/relationships/presProps" Target="/ppt/presProps.xml" Id="R8f54103445e049da" /><Relationship Type="http://schemas.openxmlformats.org/officeDocument/2006/relationships/tableStyles" Target="/ppt/tableStyles.xml" Id="R166858244f274038" /><Relationship Type="http://schemas.openxmlformats.org/officeDocument/2006/relationships/slide" Target="/ppt/slides/slide1.xml" Id="Rbfcaf436152340bc" /><Relationship Type="http://schemas.openxmlformats.org/officeDocument/2006/relationships/slide" Target="/ppt/slides/slide2.xml" Id="R09398200e9f44b85" /><Relationship Type="http://schemas.openxmlformats.org/officeDocument/2006/relationships/slide" Target="/ppt/slides/slide3.xml" Id="R55621d082659479b" /><Relationship Type="http://schemas.openxmlformats.org/officeDocument/2006/relationships/slide" Target="/ppt/slides/slide4.xml" Id="Re98fb97bb1e24eab" /><Relationship Type="http://schemas.openxmlformats.org/officeDocument/2006/relationships/slide" Target="/ppt/slides/slide5.xml" Id="R01140e0b944d40af" /><Relationship Type="http://schemas.openxmlformats.org/officeDocument/2006/relationships/slide" Target="/ppt/slides/slide6.xml" Id="R912cc0f0629040b1" /><Relationship Type="http://schemas.openxmlformats.org/officeDocument/2006/relationships/slide" Target="/ppt/slides/slide7.xml" Id="R493d0ce4fa6c4883" /><Relationship Type="http://schemas.openxmlformats.org/officeDocument/2006/relationships/slide" Target="/ppt/slides/slide8.xml" Id="R4408673797ee4a77" /><Relationship Type="http://schemas.openxmlformats.org/officeDocument/2006/relationships/slide" Target="/ppt/slides/slide9.xml" Id="Rec868bd80c3343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c30454582446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b444209064e00" /><Relationship Type="http://schemas.openxmlformats.org/officeDocument/2006/relationships/notesMaster" Target="/ppt/notesMasters/notesMaster1.xml" Id="R8f1f3d01bd78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e31325fc9b4d2c" /><Relationship Type="http://schemas.openxmlformats.org/officeDocument/2006/relationships/notesMaster" Target="/ppt/notesMasters/notesMaster1.xml" Id="R5b8be28eeb4640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1094d46394785" /><Relationship Type="http://schemas.openxmlformats.org/officeDocument/2006/relationships/notesMaster" Target="/ppt/notesMasters/notesMaster1.xml" Id="R5d1e8e85c0c847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1116fa4a904bfc" /><Relationship Type="http://schemas.openxmlformats.org/officeDocument/2006/relationships/notesMaster" Target="/ppt/notesMasters/notesMaster1.xml" Id="R477058bc19834c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4fb3dd73549a5" /><Relationship Type="http://schemas.openxmlformats.org/officeDocument/2006/relationships/notesMaster" Target="/ppt/notesMasters/notesMaster1.xml" Id="R587359afdf9545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10fd36c4b6478c" /><Relationship Type="http://schemas.openxmlformats.org/officeDocument/2006/relationships/notesMaster" Target="/ppt/notesMasters/notesMaster1.xml" Id="R0c065721623042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2070de2e31453b" /><Relationship Type="http://schemas.openxmlformats.org/officeDocument/2006/relationships/notesMaster" Target="/ppt/notesMasters/notesMaster1.xml" Id="R0e01de3780664e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bafa6bb6594591" /><Relationship Type="http://schemas.openxmlformats.org/officeDocument/2006/relationships/notesMaster" Target="/ppt/notesMasters/notesMaster1.xml" Id="Rf2da0ea5ee814b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898532c9e54733" /><Relationship Type="http://schemas.openxmlformats.org/officeDocument/2006/relationships/notesMaster" Target="/ppt/notesMasters/notesMaster1.xml" Id="Rbbbc0d4c864e41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公司前台形成研究和客户材料，中台完成审核与风险分析，后台承接运营文件和工具支持。下面沿着一份季度客户沟通稿，连续展示资料进入、内容形成、审核修改和版本更新。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天弘基金FinAgent案例，FUND-300，PDF第7–9页。https://www.amac.org.cn/xwfb/hydt/202601/P020260202337562370809.pdf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鹏华基金营销材料审核案例，FUND-308，PDF第6页。https://www.amac.org.cn/xwfb/hydt/202601/P020260202337850951100.pdf</a:t>
            </a:r>
          </a:p>
          <a:p xmlns:a="http://schemas.openxmlformats.org/drawingml/2006/main">
            <a:r>
              <a:t>盈米基金销售内容合规审查发布与客户端流程。https://www.yingmi-inc.com/archives/799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工银瑞信基金FundGPT文档比对案例，FUND-312，PDF第7页。https://www.amac.org.cn/xwfb/hydt/202601/P020260202337848496316.pdf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前台同事先明确客户问题与沟通用途，再调取经理观点和产品资料。资料在同一项任务中汇合，减少逐份查找和复制。此处围绕产品A精选，准备一份季度客户沟通稿。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天弘基金FinAgent案例，FUND-300，PDF第7–9页。https://www.amac.org.cn/xwfb/hydt/202601/P020260202337562370809.pdf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LLM围绕本期关注问题整理资料，提取观点并组织成客户表达。右侧形成沟通稿V1，包含产品名称、资料期次、本期观点与风险提示。前台同事据此补充内容，再将同一份材料送入审核。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天弘基金FinAgent案例，FUND-300，PDF第7–9页。https://www.amac.org.cn/xwfb/hydt/202601/P020260202337562370809.pdf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这份沟通稿进入中台后，审核围绕材料内容逐项开展。产品名称需要对应正式文件，引用资料需要使用本期期次，风险提示需要覆盖产品风险。审核意见会直接连接到原文位置。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鹏华基金营销材料审核案例，FUND-308，PDF第6页。https://www.amac.org.cn/xwfb/hydt/202601/P020260202337850951100.pdf</a:t>
            </a:r>
          </a:p>
          <a:p xmlns:a="http://schemas.openxmlformats.org/drawingml/2006/main">
            <a:r>
              <a:t>盈米基金销售内容合规审查发布与客户端流程。https://www.yingmi-inc.com/archives/799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产品名称，按本期文件补充正式全称。再看资料期次，将二季度资料更新为三季度V2。最后看风险提示，将简短提示补充为净值波动和本金亏损的说明。模型把问题位置与修改动作交给作者，审核人继续确认依据和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鹏华基金营销材料审核案例，FUND-308，PDF第6页。https://www.amac.org.cn/xwfb/hydt/202601/P020260202337850951100.pdf</a:t>
            </a:r>
          </a:p>
          <a:p xmlns:a="http://schemas.openxmlformats.org/drawingml/2006/main">
            <a:r>
              <a:t>盈米基金销售内容合规审查发布与客户端流程。https://www.yingmi-inc.com/archives/799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修订稿保留原来的研究观点，更新产品正式名称、资料期次和风险提示。再次检查后，材料与修改记录一起进入后续文件维护，前台和中台继续使用同一个版本。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鹏华基金营销材料审核案例，FUND-308，PDF第6页。https://www.amac.org.cn/xwfb/hydt/202601/P020260202337850951100.pdf</a:t>
            </a:r>
          </a:p>
          <a:p xmlns:a="http://schemas.openxmlformats.org/drawingml/2006/main">
            <a:r>
              <a:t>盈米基金销售内容合规审查发布与客户端流程。https://www.yingmi-inc.com/archives/799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后台同时接收原稿与修订稿，按相同字段对照内容。名称、资料期次和风险提示发生变化，本期观点保持一致。版本比对把逐段寻找差异的工作转为可以直接查看的修改结果。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工银瑞信基金FundGPT文档比对案例，FUND-312，PDF第7页。https://www.amac.org.cn/xwfb/hydt/202601/P020260202337848496316.pdf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比对结果整理为变更清单，并与更新后的客户沟通稿V2一起保存。清单记录修改位置与内容，便于同事复核以及更新相关材料。相同产品的其他沟通文件可以复用本次更新要求。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工银瑞信基金FundGPT文档比对案例，FUND-312，PDF第7页。https://www.amac.org.cn/xwfb/hydt/202601/P020260202337848496316.pdf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回到公司总图，这份材料依次完成前台生成、中台审核和后台更新。LLM在资料整理、问题定位和文件处理环节参与工作，交付物沿流程连续复用。公司可从客户材料这条流程启动应用，再连接其他日常工作。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天弘基金FinAgent案例，FUND-300，PDF第7–9页。https://www.amac.org.cn/xwfb/hydt/202601/P020260202337562370809.pdf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鹏华基金营销材料审核案例，FUND-308，PDF第6页。https://www.amac.org.cn/xwfb/hydt/202601/P020260202337850951100.pdf</a:t>
            </a:r>
          </a:p>
          <a:p xmlns:a="http://schemas.openxmlformats.org/drawingml/2006/main">
            <a:r>
              <a:t>盈米基金销售内容合规审查发布与客户端流程。https://www.yingmi-inc.com/archives/799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工银瑞信基金FundGPT文档比对案例，FUND-312，PDF第7页。https://www.amac.org.cn/xwfb/hydt/202601/P020260202337848496316.pdf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f710d049a48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3974c68ae44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28f2f63d84f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6744ffa1348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426e262cd4b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575b1ae9847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7E702C-1543-40E8-B4F0-4E294F0D10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775F55-BF00-481D-B576-4126553681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B9A5FE-5724-4647-B31E-DF1E0B1CD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4F4F5-4635-44EA-A035-65A4BAA8E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BC115F-33EE-447B-85DF-2FD78E05D9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E529DB-E3EB-4202-8ADA-99D4A71271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D0AF0B-9706-4CB6-862B-5E87B5785A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9B8537-69FE-4C31-BC61-AD2ED16BD7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2D08D2-557A-40F6-B3C6-F2796B7AD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220EFE-D95E-4680-8BE2-23B6E6B9B9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d2d21db7b0429e" /><Relationship Type="http://schemas.openxmlformats.org/officeDocument/2006/relationships/slideLayout" Target="/ppt/slideLayouts/slideLayout1.xml" Id="Ra042d2ec06194edc" /><Relationship Type="http://schemas.openxmlformats.org/officeDocument/2006/relationships/slideLayout" Target="/ppt/slideLayouts/slideLayout2.xml" Id="Rdf17dd96bd3546b9" /><Relationship Type="http://schemas.openxmlformats.org/officeDocument/2006/relationships/slideLayout" Target="/ppt/slideLayouts/slideLayout3.xml" Id="Rca2a6a3a07ce4f44" /><Relationship Type="http://schemas.openxmlformats.org/officeDocument/2006/relationships/slideLayout" Target="/ppt/slideLayouts/slideLayout4.xml" Id="R67161c1b11aa4091" /><Relationship Type="http://schemas.openxmlformats.org/officeDocument/2006/relationships/slideLayout" Target="/ppt/slideLayouts/slideLayout5.xml" Id="R3a2ce3978b0f4d10" /><Relationship Type="http://schemas.openxmlformats.org/officeDocument/2006/relationships/slideLayout" Target="/ppt/slideLayouts/slideLayout6.xml" Id="Re57e2a1722974b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42d2ec06194edc"/>
    <p:sldLayoutId xmlns:r="http://schemas.openxmlformats.org/officeDocument/2006/relationships" id="2147483650" r:id="Rdf17dd96bd3546b9"/>
    <p:sldLayoutId xmlns:r="http://schemas.openxmlformats.org/officeDocument/2006/relationships" id="2147483651" r:id="Rca2a6a3a07ce4f44"/>
    <p:sldLayoutId xmlns:r="http://schemas.openxmlformats.org/officeDocument/2006/relationships" id="2147483652" r:id="R67161c1b11aa4091"/>
    <p:sldLayoutId xmlns:r="http://schemas.openxmlformats.org/officeDocument/2006/relationships" id="2147483653" r:id="R3a2ce3978b0f4d10"/>
    <p:sldLayoutId xmlns:r="http://schemas.openxmlformats.org/officeDocument/2006/relationships" id="2147483654" r:id="Re57e2a1722974b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4e089d68ad14119"/><Relationship Type="http://schemas.openxmlformats.org/officeDocument/2006/relationships/notesSlide" Target="/ppt/notesSlides/notesSlide1.xml" Id="R1fb0f285008341f7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5d8d5cd81934eb7"/><Relationship Type="http://schemas.openxmlformats.org/officeDocument/2006/relationships/notesSlide" Target="/ppt/notesSlides/notesSlide2.xml" Id="R46b093b3e8a74982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Relationship Id="rIdNavSlide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cf6db32fc045d4"/><Relationship Type="http://schemas.openxmlformats.org/officeDocument/2006/relationships/notesSlide" Target="/ppt/notesSlides/notesSlide3.xml" Id="Rd0f2bc66029e4bd6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8b345f3e764ac5"/><Relationship Type="http://schemas.openxmlformats.org/officeDocument/2006/relationships/notesSlide" Target="/ppt/notesSlides/notesSlide4.xml" Id="Rc563fdac752f4efd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Relationship Id="rIdNavSlide3" Type="http://schemas.openxmlformats.org/officeDocument/2006/relationships/slide" Target="slide3.xml"/><Relationship Id="rIdNavSlide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bc99b0c41a04d08"/><Relationship Type="http://schemas.openxmlformats.org/officeDocument/2006/relationships/notesSlide" Target="/ppt/notesSlides/notesSlide5.xml" Id="R1595949c4a84433f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Relationship Id="rIdNavSlide6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613358b12494acc"/><Relationship Type="http://schemas.openxmlformats.org/officeDocument/2006/relationships/notesSlide" Target="/ppt/notesSlides/notesSlide6.xml" Id="R282ef58446b34e46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Relationship Id="rIdNavSlide5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2b9845c06134e80"/><Relationship Type="http://schemas.openxmlformats.org/officeDocument/2006/relationships/notesSlide" Target="/ppt/notesSlides/notesSlide7.xml" Id="R4e0f5a5cddaa4830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Relationship Id="rIdNavSlide6" Type="http://schemas.openxmlformats.org/officeDocument/2006/relationships/slide" Target="slide6.xml"/><Relationship Id="rIdNavSlide8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c7ad826a93645ac"/><Relationship Type="http://schemas.openxmlformats.org/officeDocument/2006/relationships/notesSlide" Target="/ppt/notesSlides/notesSlide8.xml" Id="Re780f58756c24874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Relationship Id="rIdNavSlide9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1bc4b1550e44165"/><Relationship Type="http://schemas.openxmlformats.org/officeDocument/2006/relationships/notesSlide" Target="/ppt/notesSlides/notesSlide9.xml" Id="R9c86edfa95dc4d33"/><Relationship Id="rIdNavSlide2" Type="http://schemas.openxmlformats.org/officeDocument/2006/relationships/slide" Target="slide2.xml"/><Relationship Id="rIdNavSlide4" Type="http://schemas.openxmlformats.org/officeDocument/2006/relationships/slide" Target="slide4.xml"/><Relationship Id="rIdNavSlide7" Type="http://schemas.openxmlformats.org/officeDocument/2006/relationships/slide" Target="slide7.xml"/><Relationship Id="rIdNavSlide1" Type="http://schemas.openxmlformats.org/officeDocument/2006/relationships/slide" Target="slide1.xml"/><Relationship Id="rIdNavSlide8" Type="http://schemas.openxmlformats.org/officeDocument/2006/relationships/slide" Target="slide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!!heading">
            <a:extLst xmlns:a="http://schemas.openxmlformats.org/drawingml/2006/main">
              <a:ext uri="{FF2B5EF4-FFF2-40B4-BE49-F238E27FC236}">
                <a16:creationId xmlns:a16="http://schemas.microsoft.com/office/drawing/2014/main" id="{029C35F0-A68D-494F-8A82-5FDDCE9C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D42ACC28-0142-4BFA-9685-F9716F06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6E08C166-D03C-4561-AA6B-BB999ADB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68F26962-7D65-4D16-B291-9C3C1C92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419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C043318F-3813-4DC7-8AD2-5627202F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A2851BA5-3322-42D0-A846-7C4B8F8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A98F1246-0D24-4149-A699-AAA901CA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.highlight">
            <a:extLst xmlns:a="http://schemas.openxmlformats.org/drawingml/2006/main">
              <a:ext uri="{FF2B5EF4-FFF2-40B4-BE49-F238E27FC236}">
                <a16:creationId xmlns:a16="http://schemas.microsoft.com/office/drawing/2014/main" id="{C762B09B-EDEB-48E6-B777-738D8BFA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038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1B3F09AD-0D1D-4138-8CEF-59E79EE2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10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0825BB9-3AFA-496A-B76F-7E10959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4419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1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CA04B50C-4075-4DFD-BBFC-A73BDC6A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2" name="!!task.review.highlight">
            <a:extLst xmlns:a="http://schemas.openxmlformats.org/drawingml/2006/main">
              <a:ext uri="{FF2B5EF4-FFF2-40B4-BE49-F238E27FC236}">
                <a16:creationId xmlns:a16="http://schemas.microsoft.com/office/drawing/2014/main" id="{B4879054-9E42-473A-86BA-141FBE7C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43250"/>
            <a:ext cx="4038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57241876-B6D6-4EBC-BBA5-7EB9D27E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4802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4" name="!!task.risk">
            <a:extLst xmlns:a="http://schemas.openxmlformats.org/drawingml/2006/main">
              <a:ext uri="{FF2B5EF4-FFF2-40B4-BE49-F238E27FC236}">
                <a16:creationId xmlns:a16="http://schemas.microsoft.com/office/drawing/2014/main" id="{CD3DBC38-5D47-46EE-AF17-A635D36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5" name="!!map.back">
            <a:extLst xmlns:a="http://schemas.openxmlformats.org/drawingml/2006/main">
              <a:ext uri="{FF2B5EF4-FFF2-40B4-BE49-F238E27FC236}">
                <a16:creationId xmlns:a16="http://schemas.microsoft.com/office/drawing/2014/main" id="{FC78F390-DD67-4678-8676-7F16B001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66950"/>
            <a:ext cx="4419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6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90318E5D-59A8-4693-9912-886C5EAE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669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7" name="!!task.files.highlight">
            <a:extLst xmlns:a="http://schemas.openxmlformats.org/drawingml/2006/main">
              <a:ext uri="{FF2B5EF4-FFF2-40B4-BE49-F238E27FC236}">
                <a16:creationId xmlns:a16="http://schemas.microsoft.com/office/drawing/2014/main" id="{0D718723-A690-4B91-B28C-54FDEE7F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43250"/>
            <a:ext cx="4038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D299DDBA-0F54-42FA-9FBD-4426547A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4802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9" name="!!task.dev">
            <a:extLst xmlns:a="http://schemas.openxmlformats.org/drawingml/2006/main">
              <a:ext uri="{FF2B5EF4-FFF2-40B4-BE49-F238E27FC236}">
                <a16:creationId xmlns:a16="http://schemas.microsoft.com/office/drawing/2014/main" id="{B7ECA5FC-5115-42DC-8C01-6D4138CE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14800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cxnSp>
        <p:nvCxnSpPr>
          <p:cNvPr id="20" name="!!route.front-middle">
            <a:extLst xmlns:a="http://schemas.openxmlformats.org/drawingml/2006/main">
              <a:ext uri="{FF2B5EF4-FFF2-40B4-BE49-F238E27FC236}">
                <a16:creationId xmlns:a16="http://schemas.microsoft.com/office/drawing/2014/main" id="{CB0691F6-DC15-492D-A567-960FBBC87367}"/>
              </a:ext>
            </a:extLst>
          </p:cNvPr>
          <p:cNvCxnSpPr/>
          <p:nvPr/>
        </p:nvCxnSpPr>
        <p:spPr>
          <a:xfrm xmlns:a="http://schemas.openxmlformats.org/drawingml/2006/main">
            <a:off x="5067300" y="4476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6CF"/>
            </a:solidFill>
            <a:prstDash val="solid"/>
            <a:tailEnd type="triangle" w="sm" len="sm"/>
          </a:ln>
        </p:spPr>
      </p:cxnSp>
      <p:cxnSp>
        <p:nvCxnSpPr>
          <p:cNvPr id="21" name="!!route.middle-back">
            <a:extLst xmlns:a="http://schemas.openxmlformats.org/drawingml/2006/main">
              <a:ext uri="{FF2B5EF4-FFF2-40B4-BE49-F238E27FC236}">
                <a16:creationId xmlns:a16="http://schemas.microsoft.com/office/drawing/2014/main" id="{3AAFF089-62DE-4B49-B3E0-814F4AEAD29A}"/>
              </a:ext>
            </a:extLst>
          </p:cNvPr>
          <p:cNvCxnSpPr/>
          <p:nvPr/>
        </p:nvCxnSpPr>
        <p:spPr>
          <a:xfrm xmlns:a="http://schemas.openxmlformats.org/drawingml/2006/main">
            <a:off x="9829800" y="4476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6CF"/>
            </a:solidFill>
            <a:prstDash val="solid"/>
            <a:tailEnd type="triangle" w="sm" len="sm"/>
          </a:ln>
        </p:spPr>
      </p:cxnSp>
      <p:sp>
        <p:nvSpPr>
          <p:cNvPr id="22" name="!!map.route.caption">
            <a:extLst xmlns:a="http://schemas.openxmlformats.org/drawingml/2006/main">
              <a:ext uri="{FF2B5EF4-FFF2-40B4-BE49-F238E27FC236}">
                <a16:creationId xmlns:a16="http://schemas.microsoft.com/office/drawing/2014/main" id="{833C40E9-8472-4ABE-815B-D517336E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0"/>
            <a:ext cx="1394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本次演示：客户材料生成、审核与更新</a:t>
            </a:r>
          </a:p>
        </p:txBody>
      </p:sp>
      <p:sp>
        <p:nvSpPr>
          <p:cNvPr id="23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3FBE6E8E-8700-4DD1-B912-4FF614E6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4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61C2CC10-CE1D-4EE7-891A-C39E207C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 / 9</a:t>
            </a:r>
          </a:p>
        </p:txBody>
      </p:sp>
      <p:sp>
        <p:nvSpPr>
          <p:cNvPr id="25" name="!!nav.prev">
            <ns0:hlinkClick xmlns:ns0="http://schemas.openxmlformats.org/drawingml/2006/main" xmlns:ns1="http://schemas.openxmlformats.org/officeDocument/2006/relationships" ns1:id="rIdNavSlide1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3D96200B-8123-41C4-9E07-A0F0A31B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6" name="!!nav.next">
            <ns0:hlinkClick xmlns:ns0="http://schemas.openxmlformats.org/drawingml/2006/main" xmlns:ns1="http://schemas.openxmlformats.org/officeDocument/2006/relationships" ns1:id="rIdNavSlide2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F56D6F3E-CEA6-408F-B941-9D8B86FE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7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0C929023-AE27-4071-8FEB-B1CD897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8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F685D5C1-61F3-4748-9398-2B1E6E6A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方案参考：天弘基金；鹏华基金、盈米基金销售；工银瑞信基金</a:t>
            </a:r>
          </a:p>
        </p:txBody>
      </p:sp>
    </p:spTree>
    <p:extLst>
      <p:ext uri="{BB962C8B-B14F-4D97-AF65-F5344CB8AC3E}">
        <p14:creationId xmlns:p14="http://schemas.microsoft.com/office/powerpoint/2010/main" val="83259796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!!heading">
            <a:extLst xmlns:a="http://schemas.openxmlformats.org/drawingml/2006/main">
              <a:ext uri="{FF2B5EF4-FFF2-40B4-BE49-F238E27FC236}">
                <a16:creationId xmlns:a16="http://schemas.microsoft.com/office/drawing/2014/main" id="{C4ABCB4C-B54B-4DE6-97E2-E5543343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53C578A-CE96-498F-9C73-5F4E78A2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7B60D9B-9562-4FA3-84AB-F706322F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F3DA303-B5EB-4A92-836E-E5F351E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F2FE61F4-47FE-40FC-80C6-02B8BE12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AF6146D0-3AF4-4098-B7B6-90FF843E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9685F640-6198-4BD2-B8EA-4C7D4502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.highlight">
            <a:extLst xmlns:a="http://schemas.openxmlformats.org/drawingml/2006/main">
              <a:ext uri="{FF2B5EF4-FFF2-40B4-BE49-F238E27FC236}">
                <a16:creationId xmlns:a16="http://schemas.microsoft.com/office/drawing/2014/main" id="{7837F0CF-3EB3-4700-BE50-80E5CA99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9F191559-DE69-49A9-A9D8-5290CAD9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10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5DDD545-B5A5-41D1-9F52-CE62174F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1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DBE38EF0-6CC1-48D0-B4B0-E3274A47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2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4EE4D32D-D62A-499D-A3DE-0F1F22AC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386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3" name="!!task.risk">
            <a:extLst xmlns:a="http://schemas.openxmlformats.org/drawingml/2006/main">
              <a:ext uri="{FF2B5EF4-FFF2-40B4-BE49-F238E27FC236}">
                <a16:creationId xmlns:a16="http://schemas.microsoft.com/office/drawing/2014/main" id="{28D86B6B-FAA9-42E1-BE76-90B0F1C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43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4" name="!!map.back">
            <a:extLst xmlns:a="http://schemas.openxmlformats.org/drawingml/2006/main">
              <a:ext uri="{FF2B5EF4-FFF2-40B4-BE49-F238E27FC236}">
                <a16:creationId xmlns:a16="http://schemas.microsoft.com/office/drawing/2014/main" id="{2DBD2CE9-69C9-4079-9087-3BB79B91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5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55A23E8F-556E-4615-BCFE-89422AA5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6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DCC20ACE-2618-4109-BFEB-79EDBE17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864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7" name="!!task.dev">
            <a:extLst xmlns:a="http://schemas.openxmlformats.org/drawingml/2006/main">
              <a:ext uri="{FF2B5EF4-FFF2-40B4-BE49-F238E27FC236}">
                <a16:creationId xmlns:a16="http://schemas.microsoft.com/office/drawing/2014/main" id="{ADB2E2F1-097A-4F39-834D-24396902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91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8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CDB2BB2D-FDBA-463B-817C-C2885D29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2057400"/>
            <a:ext cx="953" cy="500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focus">
            <a:extLst xmlns:a="http://schemas.openxmlformats.org/drawingml/2006/main">
              <a:ext uri="{FF2B5EF4-FFF2-40B4-BE49-F238E27FC236}">
                <a16:creationId xmlns:a16="http://schemas.microsoft.com/office/drawing/2014/main" id="{523AC245-9CB0-44CB-8F93-9602FC6C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988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前台：准备客户沟通资料</a:t>
            </a:r>
          </a:p>
        </p:txBody>
      </p:sp>
      <p:sp>
        <p:nvSpPr>
          <p:cNvPr id="20" name="!!example">
            <a:extLst xmlns:a="http://schemas.openxmlformats.org/drawingml/2006/main">
              <a:ext uri="{FF2B5EF4-FFF2-40B4-BE49-F238E27FC236}">
                <a16:creationId xmlns:a16="http://schemas.microsoft.com/office/drawing/2014/main" id="{361BAA74-73DA-4751-B062-EB65B1BD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076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21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99A70EA4-6751-4FBD-A724-C9DFBF83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2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C1A2F807-2F1F-44D0-96B6-8D1DDC6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 / 9</a:t>
            </a:r>
          </a:p>
        </p:txBody>
      </p:sp>
      <p:sp>
        <p:nvSpPr>
          <p:cNvPr id="23" name="!!nav.prev">
            <ns0:hlinkClick xmlns:ns0="http://schemas.openxmlformats.org/drawingml/2006/main" xmlns:ns1="http://schemas.openxmlformats.org/officeDocument/2006/relationships" ns1:id="rIdNavSlide1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5F217700-0D6D-4ED8-9A27-D45CA40D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4" name="!!nav.next">
            <ns0:hlinkClick xmlns:ns0="http://schemas.openxmlformats.org/drawingml/2006/main" xmlns:ns1="http://schemas.openxmlformats.org/officeDocument/2006/relationships" ns1:id="rIdNavSlide3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2733F7E7-C705-4F87-BD2A-B1C4BA64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5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F777B88-86B6-4726-8E65-E0CCC87D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5C781F53-515D-40D5-BF55-7916176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方案参考：天弘基金</a:t>
            </a:r>
          </a:p>
        </p:txBody>
      </p:sp>
      <p:sp>
        <p:nvSpPr>
          <p:cNvPr id="27" name="!!input.customer">
            <a:extLst xmlns:a="http://schemas.openxmlformats.org/drawingml/2006/main">
              <a:ext uri="{FF2B5EF4-FFF2-40B4-BE49-F238E27FC236}">
                <a16:creationId xmlns:a16="http://schemas.microsoft.com/office/drawing/2014/main" id="{08657E8D-7E2C-401E-AFB7-F841F3D5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24175"/>
            <a:ext cx="4591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本期关注什么？</a:t>
            </a:r>
          </a:p>
        </p:txBody>
      </p:sp>
      <p:sp>
        <p:nvSpPr>
          <p:cNvPr id="28" name="!!input.manager">
            <a:extLst xmlns:a="http://schemas.openxmlformats.org/drawingml/2006/main">
              <a:ext uri="{FF2B5EF4-FFF2-40B4-BE49-F238E27FC236}">
                <a16:creationId xmlns:a16="http://schemas.microsoft.com/office/drawing/2014/main" id="{87A509D0-9C20-4108-90BC-1B5C1742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67200"/>
            <a:ext cx="4591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经理观点</a:t>
            </a:r>
          </a:p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甲公司收入与成本变化</a:t>
            </a:r>
          </a:p>
        </p:txBody>
      </p:sp>
      <p:sp>
        <p:nvSpPr>
          <p:cNvPr id="29" name="!!input.product">
            <a:extLst xmlns:a="http://schemas.openxmlformats.org/drawingml/2006/main">
              <a:ext uri="{FF2B5EF4-FFF2-40B4-BE49-F238E27FC236}">
                <a16:creationId xmlns:a16="http://schemas.microsoft.com/office/drawing/2014/main" id="{4692F90E-08F1-4D40-BC5D-45F8BF9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10225"/>
            <a:ext cx="4591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产品资料</a:t>
            </a:r>
          </a:p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产品A精选、二季度 V1</a:t>
            </a:r>
          </a:p>
        </p:txBody>
      </p:sp>
      <p:sp>
        <p:nvSpPr>
          <p:cNvPr id="30" name="!!input.join1">
            <a:extLst xmlns:a="http://schemas.openxmlformats.org/drawingml/2006/main">
              <a:ext uri="{FF2B5EF4-FFF2-40B4-BE49-F238E27FC236}">
                <a16:creationId xmlns:a16="http://schemas.microsoft.com/office/drawing/2014/main" id="{FEBC129A-94AC-480D-8773-66E80C4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24900" y="3429000"/>
            <a:ext cx="495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input.join2">
            <a:extLst xmlns:a="http://schemas.openxmlformats.org/drawingml/2006/main">
              <a:ext uri="{FF2B5EF4-FFF2-40B4-BE49-F238E27FC236}">
                <a16:creationId xmlns:a16="http://schemas.microsoft.com/office/drawing/2014/main" id="{8B364F6D-DAF6-49E4-B11F-B6C22965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24900" y="4772025"/>
            <a:ext cx="495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input.join3">
            <a:extLst xmlns:a="http://schemas.openxmlformats.org/drawingml/2006/main">
              <a:ext uri="{FF2B5EF4-FFF2-40B4-BE49-F238E27FC236}">
                <a16:creationId xmlns:a16="http://schemas.microsoft.com/office/drawing/2014/main" id="{B86E8C72-72B8-41D2-9D3A-7EE8B2D2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24900" y="6115050"/>
            <a:ext cx="495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input.bus">
            <a:extLst xmlns:a="http://schemas.openxmlformats.org/drawingml/2006/main">
              <a:ext uri="{FF2B5EF4-FFF2-40B4-BE49-F238E27FC236}">
                <a16:creationId xmlns:a16="http://schemas.microsoft.com/office/drawing/2014/main" id="{48672934-4F47-4E80-840F-121C2C75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0200" y="3429000"/>
            <a:ext cx="953" cy="268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cxnSp>
        <p:nvCxnSpPr>
          <p:cNvPr id="34" name="!!input.toTask">
            <a:extLst xmlns:a="http://schemas.openxmlformats.org/drawingml/2006/main">
              <a:ext uri="{FF2B5EF4-FFF2-40B4-BE49-F238E27FC236}">
                <a16:creationId xmlns:a16="http://schemas.microsoft.com/office/drawing/2014/main" id="{4667A5E5-A953-4DD3-898C-F2A4FCD2EB5A}"/>
              </a:ext>
            </a:extLst>
          </p:cNvPr>
          <p:cNvCxnSpPr/>
          <p:nvPr/>
        </p:nvCxnSpPr>
        <p:spPr>
          <a:xfrm xmlns:a="http://schemas.openxmlformats.org/drawingml/2006/main">
            <a:off x="9220200" y="47720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5" name="!!task.brief">
            <a:extLst xmlns:a="http://schemas.openxmlformats.org/drawingml/2006/main">
              <a:ext uri="{FF2B5EF4-FFF2-40B4-BE49-F238E27FC236}">
                <a16:creationId xmlns:a16="http://schemas.microsoft.com/office/drawing/2014/main" id="{C3FFE4E9-87D4-4251-AFF4-608AD53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05250"/>
            <a:ext cx="4648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季度客户沟通稿</a:t>
            </a:r>
          </a:p>
          <a:p xmlns:a="http://schemas.openxmlformats.org/drawingml/2006/main">
            <a:pPr algn="ctr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6" name="!!task.use">
            <a:extLst xmlns:a="http://schemas.openxmlformats.org/drawingml/2006/main">
              <a:ext uri="{FF2B5EF4-FFF2-40B4-BE49-F238E27FC236}">
                <a16:creationId xmlns:a16="http://schemas.microsoft.com/office/drawing/2014/main" id="{4474142A-7DD4-4A4D-ACF2-9F2A196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01980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用途：季度客户沟通</a:t>
            </a:r>
          </a:p>
        </p:txBody>
      </p:sp>
    </p:spTree>
    <p:extLst>
      <p:ext uri="{BB962C8B-B14F-4D97-AF65-F5344CB8AC3E}">
        <p14:creationId xmlns:p14="http://schemas.microsoft.com/office/powerpoint/2010/main" val="103857608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!!heading">
            <a:extLst xmlns:a="http://schemas.openxmlformats.org/drawingml/2006/main">
              <a:ext uri="{FF2B5EF4-FFF2-40B4-BE49-F238E27FC236}">
                <a16:creationId xmlns:a16="http://schemas.microsoft.com/office/drawing/2014/main" id="{7A34F1DD-29F3-4216-ABE4-47DD8D42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DF1D7A9-8E9B-4168-BEE5-CCD4C6A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406E0B1-4108-4A16-8311-82FDDA9D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19AE5A50-196B-4E97-BE97-58FDFA81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B721267E-D125-4CD0-8B01-1C41EA34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54D85D4E-1C79-4F75-A3AE-769A4A78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CE743739-29C9-4EA8-A850-0337A825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.highlight">
            <a:extLst xmlns:a="http://schemas.openxmlformats.org/drawingml/2006/main">
              <a:ext uri="{FF2B5EF4-FFF2-40B4-BE49-F238E27FC236}">
                <a16:creationId xmlns:a16="http://schemas.microsoft.com/office/drawing/2014/main" id="{95707228-FB05-4C70-ACE8-B8CFCF80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70284B3A-C826-449C-8BBF-9C9B61F4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10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FFA80BF2-4929-4DA5-BAEC-AFEBC1F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1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E8A92E6A-057B-454A-A2FF-1DC6EC31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2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20B262F2-2067-4019-9DC7-83CFA76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386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3" name="!!task.risk">
            <a:extLst xmlns:a="http://schemas.openxmlformats.org/drawingml/2006/main">
              <a:ext uri="{FF2B5EF4-FFF2-40B4-BE49-F238E27FC236}">
                <a16:creationId xmlns:a16="http://schemas.microsoft.com/office/drawing/2014/main" id="{F1CC596E-7892-4DA4-8EE3-713E732D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43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4" name="!!map.back">
            <a:extLst xmlns:a="http://schemas.openxmlformats.org/drawingml/2006/main">
              <a:ext uri="{FF2B5EF4-FFF2-40B4-BE49-F238E27FC236}">
                <a16:creationId xmlns:a16="http://schemas.microsoft.com/office/drawing/2014/main" id="{7B6A16A6-542B-4D73-BF8A-4B614129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5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B97FED70-602E-4593-B0E5-E6264596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6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C86EB32C-AED5-4F0E-A7E8-4E00BFD1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864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7" name="!!task.dev">
            <a:extLst xmlns:a="http://schemas.openxmlformats.org/drawingml/2006/main">
              <a:ext uri="{FF2B5EF4-FFF2-40B4-BE49-F238E27FC236}">
                <a16:creationId xmlns:a16="http://schemas.microsoft.com/office/drawing/2014/main" id="{6B4DFC62-BA39-4341-8666-5CA51F6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91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8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4C10B34F-482B-4995-B468-754444DC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2057400"/>
            <a:ext cx="953" cy="500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focus">
            <a:extLst xmlns:a="http://schemas.openxmlformats.org/drawingml/2006/main">
              <a:ext uri="{FF2B5EF4-FFF2-40B4-BE49-F238E27FC236}">
                <a16:creationId xmlns:a16="http://schemas.microsoft.com/office/drawing/2014/main" id="{C0CC56E5-4B6F-4441-A7C2-4ADCF805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988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 整理资料并撰写</a:t>
            </a:r>
          </a:p>
        </p:txBody>
      </p:sp>
      <p:sp>
        <p:nvSpPr>
          <p:cNvPr id="20" name="!!example">
            <a:extLst xmlns:a="http://schemas.openxmlformats.org/drawingml/2006/main">
              <a:ext uri="{FF2B5EF4-FFF2-40B4-BE49-F238E27FC236}">
                <a16:creationId xmlns:a16="http://schemas.microsoft.com/office/drawing/2014/main" id="{48371A88-52F5-4669-AF18-57FCE4FA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076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21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1A520097-6524-4A48-AAFB-A0CC2564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2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ED9C6380-6368-4A70-B150-F0F55545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 / 9</a:t>
            </a:r>
          </a:p>
        </p:txBody>
      </p:sp>
      <p:sp>
        <p:nvSpPr>
          <p:cNvPr id="23" name="!!nav.prev">
            <ns0:hlinkClick xmlns:ns0="http://schemas.openxmlformats.org/drawingml/2006/main" xmlns:ns1="http://schemas.openxmlformats.org/officeDocument/2006/relationships" ns1:id="rIdNavSlide2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38B1C76A-A92D-4A22-B47C-0CECC05D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4" name="!!nav.next">
            <ns0:hlinkClick xmlns:ns0="http://schemas.openxmlformats.org/drawingml/2006/main" xmlns:ns1="http://schemas.openxmlformats.org/officeDocument/2006/relationships" ns1:id="rIdNavSlide4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BFA2E3A1-A35E-4C20-9C83-71F5D9B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5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E10BB6DD-D7CF-4154-87FD-875DB00D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97CDED94-F789-4233-B50C-860C9135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方案参考：天弘基金</a:t>
            </a:r>
          </a:p>
        </p:txBody>
      </p:sp>
      <p:sp>
        <p:nvSpPr>
          <p:cNvPr id="27" name="!!input.customer">
            <a:extLst xmlns:a="http://schemas.openxmlformats.org/drawingml/2006/main">
              <a:ext uri="{FF2B5EF4-FFF2-40B4-BE49-F238E27FC236}">
                <a16:creationId xmlns:a16="http://schemas.microsoft.com/office/drawing/2014/main" id="{E83AFCA0-3BB1-49B4-BBD7-C8E1D14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  <a:p xmlns:a="http://schemas.openxmlformats.org/drawingml/2006/main">
            <a: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本期关注什么？</a:t>
            </a:r>
          </a:p>
        </p:txBody>
      </p:sp>
      <p:sp>
        <p:nvSpPr>
          <p:cNvPr id="28" name="!!input.manager">
            <a:extLst xmlns:a="http://schemas.openxmlformats.org/drawingml/2006/main">
              <a:ext uri="{FF2B5EF4-FFF2-40B4-BE49-F238E27FC236}">
                <a16:creationId xmlns:a16="http://schemas.microsoft.com/office/drawing/2014/main" id="{F1450766-9E74-484D-86C5-294AA2F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2912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经理观点</a:t>
            </a:r>
          </a:p>
          <a:p xmlns:a="http://schemas.openxmlformats.org/drawingml/2006/main">
            <a: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收入与成本</a:t>
            </a:r>
          </a:p>
        </p:txBody>
      </p:sp>
      <p:sp>
        <p:nvSpPr>
          <p:cNvPr id="29" name="!!input.product">
            <a:extLst xmlns:a="http://schemas.openxmlformats.org/drawingml/2006/main">
              <a:ext uri="{FF2B5EF4-FFF2-40B4-BE49-F238E27FC236}">
                <a16:creationId xmlns:a16="http://schemas.microsoft.com/office/drawing/2014/main" id="{E0367802-104A-4980-BA85-9C188E70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9436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产品资料</a:t>
            </a:r>
          </a:p>
          <a:p xmlns:a="http://schemas.openxmlformats.org/drawingml/2006/main">
            <a: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  <a:p xmlns:a="http://schemas.openxmlformats.org/drawingml/2006/main">
            <a:pPr algn="ctr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二季度 V1</a:t>
            </a:r>
          </a:p>
        </p:txBody>
      </p:sp>
      <p:sp>
        <p:nvSpPr>
          <p:cNvPr id="30" name="!!input.join1">
            <a:extLst xmlns:a="http://schemas.openxmlformats.org/drawingml/2006/main">
              <a:ext uri="{FF2B5EF4-FFF2-40B4-BE49-F238E27FC236}">
                <a16:creationId xmlns:a16="http://schemas.microsoft.com/office/drawing/2014/main" id="{CB53B384-BF56-4C92-8FC1-D9E8B528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24600" y="3390900"/>
            <a:ext cx="34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input.join2">
            <a:extLst xmlns:a="http://schemas.openxmlformats.org/drawingml/2006/main">
              <a:ext uri="{FF2B5EF4-FFF2-40B4-BE49-F238E27FC236}">
                <a16:creationId xmlns:a16="http://schemas.microsoft.com/office/drawing/2014/main" id="{38D646E1-55A3-42FA-840D-5A110A97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24600" y="4905375"/>
            <a:ext cx="34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input.join3">
            <a:extLst xmlns:a="http://schemas.openxmlformats.org/drawingml/2006/main">
              <a:ext uri="{FF2B5EF4-FFF2-40B4-BE49-F238E27FC236}">
                <a16:creationId xmlns:a16="http://schemas.microsoft.com/office/drawing/2014/main" id="{B4D10B9D-C4A6-4554-B739-0218E2F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24600" y="6467475"/>
            <a:ext cx="34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input.bus">
            <a:extLst xmlns:a="http://schemas.openxmlformats.org/drawingml/2006/main">
              <a:ext uri="{FF2B5EF4-FFF2-40B4-BE49-F238E27FC236}">
                <a16:creationId xmlns:a16="http://schemas.microsoft.com/office/drawing/2014/main" id="{1BA91DD6-3F11-409F-852D-F20EC087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3390900"/>
            <a:ext cx="953" cy="3076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cxnSp>
        <p:nvCxnSpPr>
          <p:cNvPr id="34" name="!!input.toLLM">
            <a:extLst xmlns:a="http://schemas.openxmlformats.org/drawingml/2006/main">
              <a:ext uri="{FF2B5EF4-FFF2-40B4-BE49-F238E27FC236}">
                <a16:creationId xmlns:a16="http://schemas.microsoft.com/office/drawing/2014/main" id="{6F9FD50E-2B70-41F7-A0D0-FB4B01210BE9}"/>
              </a:ext>
            </a:extLst>
          </p:cNvPr>
          <p:cNvCxnSpPr/>
          <p:nvPr/>
        </p:nvCxnSpPr>
        <p:spPr>
          <a:xfrm xmlns:a="http://schemas.openxmlformats.org/drawingml/2006/main">
            <a:off x="6667500" y="4905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5" name="!!llm">
            <a:extLst xmlns:a="http://schemas.openxmlformats.org/drawingml/2006/main">
              <a:ext uri="{FF2B5EF4-FFF2-40B4-BE49-F238E27FC236}">
                <a16:creationId xmlns:a16="http://schemas.microsoft.com/office/drawing/2014/main" id="{A3E0C864-12BD-454F-97AF-32DC1E4B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00525"/>
            <a:ext cx="1924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</a:t>
            </a:r>
          </a:p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整理与撰写</a:t>
            </a:r>
          </a:p>
        </p:txBody>
      </p:sp>
      <p:cxnSp>
        <p:nvCxnSpPr>
          <p:cNvPr id="36" name="!!llm.toDoc">
            <a:extLst xmlns:a="http://schemas.openxmlformats.org/drawingml/2006/main">
              <a:ext uri="{FF2B5EF4-FFF2-40B4-BE49-F238E27FC236}">
                <a16:creationId xmlns:a16="http://schemas.microsoft.com/office/drawing/2014/main" id="{F7EA5D6E-4E07-4C3E-84C3-CA8CC35D0F80}"/>
              </a:ext>
            </a:extLst>
          </p:cNvPr>
          <p:cNvCxnSpPr/>
          <p:nvPr/>
        </p:nvCxnSpPr>
        <p:spPr>
          <a:xfrm xmlns:a="http://schemas.openxmlformats.org/drawingml/2006/main">
            <a:off x="9067800" y="4905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7" name="!!clientDoc">
            <a:extLst xmlns:a="http://schemas.openxmlformats.org/drawingml/2006/main">
              <a:ext uri="{FF2B5EF4-FFF2-40B4-BE49-F238E27FC236}">
                <a16:creationId xmlns:a16="http://schemas.microsoft.com/office/drawing/2014/main" id="{81684A73-E47D-46C4-8B08-A26B3678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57475"/>
            <a:ext cx="4991100" cy="467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38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532AFFCD-1012-41E7-940D-27AD14E7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479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9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9570520B-8060-4C2C-922A-EC8D31CE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2876550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40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F954D52B-A9E3-489D-A7C3-0F83F90A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4004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1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BBCB9BD9-186D-4629-A652-744FB73B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623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01C181B9-A10B-40D3-A61E-E0D35E5C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3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07D05F60-14C8-4539-BB1A-F9B51FD2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338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44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016FB304-A752-479A-A5E4-48441986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243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4E0C7416-8E50-4A21-8FE8-A2E5968B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815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6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164ADAEF-3152-4130-83CC-E365264A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958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47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C8B606E8-C5F7-4E78-BF5F-EBCBA5DC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530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0B89E205-2E57-4DF9-9539-7CA28E92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1017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49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6C761E5E-095C-4F67-8030-650351BF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24500"/>
            <a:ext cx="4495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50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AFB242D9-0443-4C81-861B-6BAD7DB3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00775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8B87C84C-CA95-4FFF-B1F2-EE1F7BC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25792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52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29A8210D-BFA9-4264-A5AE-2CCFD7DE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</p:spTree>
    <p:extLst>
      <p:ext uri="{BB962C8B-B14F-4D97-AF65-F5344CB8AC3E}">
        <p14:creationId xmlns:p14="http://schemas.microsoft.com/office/powerpoint/2010/main" val="142890129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!!heading">
            <a:extLst xmlns:a="http://schemas.openxmlformats.org/drawingml/2006/main">
              <a:ext uri="{FF2B5EF4-FFF2-40B4-BE49-F238E27FC236}">
                <a16:creationId xmlns:a16="http://schemas.microsoft.com/office/drawing/2014/main" id="{6EDD54AB-AA3A-448D-8281-F062A7F7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4BE069F-7825-48D5-9D6A-B95E88E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7EFF09DB-9552-4166-9A5A-E4DBF4CA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D8BF9F63-8217-474E-8D95-34B6276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1B37FAB9-DF6F-44D6-BE32-E173076C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84CD46FE-B5E3-43E3-8EA8-5BDC486E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7B72D7A8-3FE6-421E-AAC1-572A4725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1F43177E-045E-47DA-A6F6-4E5DA18D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CF3C8BF-9B17-4754-86CE-4548A309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AFB86EE1-3148-481F-8F98-7F7A5011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.highlight">
            <a:extLst xmlns:a="http://schemas.openxmlformats.org/drawingml/2006/main">
              <a:ext uri="{FF2B5EF4-FFF2-40B4-BE49-F238E27FC236}">
                <a16:creationId xmlns:a16="http://schemas.microsoft.com/office/drawing/2014/main" id="{E974B05D-6390-4666-8813-5515547B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B6D86567-37AC-4720-8D98-BBDB9212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386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3" name="!!task.risk">
            <a:extLst xmlns:a="http://schemas.openxmlformats.org/drawingml/2006/main">
              <a:ext uri="{FF2B5EF4-FFF2-40B4-BE49-F238E27FC236}">
                <a16:creationId xmlns:a16="http://schemas.microsoft.com/office/drawing/2014/main" id="{DB3A4BB4-7D32-4E17-85FE-7BC0F78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43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4" name="!!map.back">
            <a:extLst xmlns:a="http://schemas.openxmlformats.org/drawingml/2006/main">
              <a:ext uri="{FF2B5EF4-FFF2-40B4-BE49-F238E27FC236}">
                <a16:creationId xmlns:a16="http://schemas.microsoft.com/office/drawing/2014/main" id="{6539151E-5819-4BB4-AA23-D10E9BC0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5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AB9778B8-A2A5-4C16-9FA1-7BA8C7A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6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23B9B44A-F2E1-440A-BDCF-6D1402A7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864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7" name="!!task.dev">
            <a:extLst xmlns:a="http://schemas.openxmlformats.org/drawingml/2006/main">
              <a:ext uri="{FF2B5EF4-FFF2-40B4-BE49-F238E27FC236}">
                <a16:creationId xmlns:a16="http://schemas.microsoft.com/office/drawing/2014/main" id="{94A4AC92-3B74-4507-A116-8DDA9F81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91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8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55EFC04-7807-470F-81E9-1371C990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2057400"/>
            <a:ext cx="953" cy="500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focus">
            <a:extLst xmlns:a="http://schemas.openxmlformats.org/drawingml/2006/main">
              <a:ext uri="{FF2B5EF4-FFF2-40B4-BE49-F238E27FC236}">
                <a16:creationId xmlns:a16="http://schemas.microsoft.com/office/drawing/2014/main" id="{31E0B259-F5F7-43BA-B4EE-DC601FDA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988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中台：审核同一份沟通稿</a:t>
            </a:r>
          </a:p>
        </p:txBody>
      </p:sp>
      <p:sp>
        <p:nvSpPr>
          <p:cNvPr id="20" name="!!example">
            <a:extLst xmlns:a="http://schemas.openxmlformats.org/drawingml/2006/main">
              <a:ext uri="{FF2B5EF4-FFF2-40B4-BE49-F238E27FC236}">
                <a16:creationId xmlns:a16="http://schemas.microsoft.com/office/drawing/2014/main" id="{15AC91C0-53FE-4D30-832E-9B6FDEB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076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21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A6C5591A-889F-4BC3-B287-51570B54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2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F3894832-3EEA-4464-871E-31075C8A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4 / 9</a:t>
            </a:r>
          </a:p>
        </p:txBody>
      </p:sp>
      <p:sp>
        <p:nvSpPr>
          <p:cNvPr id="23" name="!!nav.prev">
            <ns0:hlinkClick xmlns:ns0="http://schemas.openxmlformats.org/drawingml/2006/main" xmlns:ns1="http://schemas.openxmlformats.org/officeDocument/2006/relationships" ns1:id="rIdNavSlide3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3446FC4C-63D6-431E-BE8C-3E05BD6E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4" name="!!nav.next">
            <ns0:hlinkClick xmlns:ns0="http://schemas.openxmlformats.org/drawingml/2006/main" xmlns:ns1="http://schemas.openxmlformats.org/officeDocument/2006/relationships" ns1:id="rIdNavSlide5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4EBC712A-64E5-4330-8A2B-17FA3DFA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5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C8E5A617-BC58-496F-8B9C-AEDBA010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B0ED5D39-D25E-4812-8E73-1D207A3B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方案参考：鹏华基金、盈米基金销售</a:t>
            </a:r>
          </a:p>
        </p:txBody>
      </p:sp>
      <p:sp>
        <p:nvSpPr>
          <p:cNvPr id="27" name="!!clientDoc">
            <a:extLst xmlns:a="http://schemas.openxmlformats.org/drawingml/2006/main">
              <a:ext uri="{FF2B5EF4-FFF2-40B4-BE49-F238E27FC236}">
                <a16:creationId xmlns:a16="http://schemas.microsoft.com/office/drawing/2014/main" id="{4A5ACA08-4CA1-43A7-A59F-0BF5360E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8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83E5098B-AFFE-46BB-9226-A218BF1F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586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9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D45184D0-8D61-4DAC-9891-82244E18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00037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30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0AB32312-DF23-474B-B2A9-1F6B5B8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3524250"/>
            <a:ext cx="6400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1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C262BEF0-4E7F-4E92-A2A3-13CF80F7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5019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0D57F490-7E32-4F2B-A288-5F0F774A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3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F6AD888F-8A07-4A33-B684-D5D2EFB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62375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4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06400CB5-6B66-4D9B-9DF1-54DF829F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305300"/>
            <a:ext cx="5019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DD506EB8-EFA6-4192-A3CF-3D6EFDD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6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24CECB3D-D35D-4A29-8EFC-4EF78C74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52925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7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0F45153C-7571-4E9D-A6FA-9463B0D5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95850"/>
            <a:ext cx="5019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3A1B17F0-F8E3-4FFD-A4C2-70A6873B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434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9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5382F0CC-6B97-4C9D-8F00-6AEF2DB4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43475"/>
            <a:ext cx="4933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40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0BE01DF0-B44A-4B15-8883-9D3E785F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915025"/>
            <a:ext cx="50196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08F86AB8-53BE-4272-9905-808EC2A5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626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2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DDC1CC9F-0EAD-4E5D-9F10-3E88FC8A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62650"/>
            <a:ext cx="4933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3" name="!!review.heading">
            <a:extLst xmlns:a="http://schemas.openxmlformats.org/drawingml/2006/main">
              <a:ext uri="{FF2B5EF4-FFF2-40B4-BE49-F238E27FC236}">
                <a16:creationId xmlns:a16="http://schemas.microsoft.com/office/drawing/2014/main" id="{D9281934-6459-4AC2-BDE9-424F3D7C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086100"/>
            <a:ext cx="304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逐项检查</a:t>
            </a:r>
          </a:p>
        </p:txBody>
      </p:sp>
      <p:sp>
        <p:nvSpPr>
          <p:cNvPr id="44" name="!!review.check.rule.0">
            <a:extLst xmlns:a="http://schemas.openxmlformats.org/drawingml/2006/main">
              <a:ext uri="{FF2B5EF4-FFF2-40B4-BE49-F238E27FC236}">
                <a16:creationId xmlns:a16="http://schemas.microsoft.com/office/drawing/2014/main" id="{CE974519-AB4F-432E-82CC-E3923CE7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3762375"/>
            <a:ext cx="304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5" name="!!review.check.0">
            <a:extLst xmlns:a="http://schemas.openxmlformats.org/drawingml/2006/main">
              <a:ext uri="{FF2B5EF4-FFF2-40B4-BE49-F238E27FC236}">
                <a16:creationId xmlns:a16="http://schemas.microsoft.com/office/drawing/2014/main" id="{FB70BCD5-FB0F-49C9-83C9-F3B0B00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1002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6" name="!!review.check.rule.1">
            <a:extLst xmlns:a="http://schemas.openxmlformats.org/drawingml/2006/main">
              <a:ext uri="{FF2B5EF4-FFF2-40B4-BE49-F238E27FC236}">
                <a16:creationId xmlns:a16="http://schemas.microsoft.com/office/drawing/2014/main" id="{7FE83987-37BD-466F-BDDA-109E6CA5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4762500"/>
            <a:ext cx="304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7" name="!!review.check.1">
            <a:extLst xmlns:a="http://schemas.openxmlformats.org/drawingml/2006/main">
              <a:ext uri="{FF2B5EF4-FFF2-40B4-BE49-F238E27FC236}">
                <a16:creationId xmlns:a16="http://schemas.microsoft.com/office/drawing/2014/main" id="{17D5807D-57C7-4876-9C69-A20838F4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0101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8" name="!!review.check.rule.2">
            <a:extLst xmlns:a="http://schemas.openxmlformats.org/drawingml/2006/main">
              <a:ext uri="{FF2B5EF4-FFF2-40B4-BE49-F238E27FC236}">
                <a16:creationId xmlns:a16="http://schemas.microsoft.com/office/drawing/2014/main" id="{DB8D06A4-4CEC-4809-B7EE-E6055A00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5762625"/>
            <a:ext cx="304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9" name="!!review.check.2">
            <a:extLst xmlns:a="http://schemas.openxmlformats.org/drawingml/2006/main">
              <a:ext uri="{FF2B5EF4-FFF2-40B4-BE49-F238E27FC236}">
                <a16:creationId xmlns:a16="http://schemas.microsoft.com/office/drawing/2014/main" id="{08C7945B-8C3E-4502-9BF4-A113BDB1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0102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cxnSp>
        <p:nvCxnSpPr>
          <p:cNvPr id="50" name="!!doc.toReview">
            <a:extLst xmlns:a="http://schemas.openxmlformats.org/drawingml/2006/main">
              <a:ext uri="{FF2B5EF4-FFF2-40B4-BE49-F238E27FC236}">
                <a16:creationId xmlns:a16="http://schemas.microsoft.com/office/drawing/2014/main" id="{ED4A7168-0D08-4DDF-B573-4A044DFFC667}"/>
              </a:ext>
            </a:extLst>
          </p:cNvPr>
          <p:cNvCxnSpPr/>
          <p:nvPr/>
        </p:nvCxnSpPr>
        <p:spPr>
          <a:xfrm xmlns:a="http://schemas.openxmlformats.org/drawingml/2006/main">
            <a:off x="10991850" y="48196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1675488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!!heading">
            <a:extLst xmlns:a="http://schemas.openxmlformats.org/drawingml/2006/main">
              <a:ext uri="{FF2B5EF4-FFF2-40B4-BE49-F238E27FC236}">
                <a16:creationId xmlns:a16="http://schemas.microsoft.com/office/drawing/2014/main" id="{59980641-5C0A-4167-9AD2-91B89E9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3338C414-5616-4430-BAA2-5ADABCA0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448376A9-A5F5-4082-8BB6-0211DFF8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2E76D3A-8DF6-4F94-8196-FB5CE62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ECF52977-74F1-4225-869F-F3173080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908C9BB0-8417-4E6F-8716-A0D66A15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9D31F4AE-4D93-4B75-B524-0065938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8C5CC5EA-1304-4E9E-9B18-8AF5B9EA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4D106EB-2C34-434C-BA66-D1DBAE12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69925C95-D709-4BF3-B129-237773E8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.highlight">
            <a:extLst xmlns:a="http://schemas.openxmlformats.org/drawingml/2006/main">
              <a:ext uri="{FF2B5EF4-FFF2-40B4-BE49-F238E27FC236}">
                <a16:creationId xmlns:a16="http://schemas.microsoft.com/office/drawing/2014/main" id="{AF92AF81-C61B-4D13-8E30-5626C8E3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E75FFB5A-3251-4BDC-B9DF-2A6DCA91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386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3" name="!!task.risk">
            <a:extLst xmlns:a="http://schemas.openxmlformats.org/drawingml/2006/main">
              <a:ext uri="{FF2B5EF4-FFF2-40B4-BE49-F238E27FC236}">
                <a16:creationId xmlns:a16="http://schemas.microsoft.com/office/drawing/2014/main" id="{AE32B890-F405-48B2-8CAC-6E2EC761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43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4" name="!!map.back">
            <a:extLst xmlns:a="http://schemas.openxmlformats.org/drawingml/2006/main">
              <a:ext uri="{FF2B5EF4-FFF2-40B4-BE49-F238E27FC236}">
                <a16:creationId xmlns:a16="http://schemas.microsoft.com/office/drawing/2014/main" id="{664280D8-5499-4D4B-BE79-699C26E4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5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9631261E-0D4C-4EBA-BFF9-C397E8B5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6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63D66477-0880-494B-A1C6-50FAF9FF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864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7" name="!!task.dev">
            <a:extLst xmlns:a="http://schemas.openxmlformats.org/drawingml/2006/main">
              <a:ext uri="{FF2B5EF4-FFF2-40B4-BE49-F238E27FC236}">
                <a16:creationId xmlns:a16="http://schemas.microsoft.com/office/drawing/2014/main" id="{9EB65F36-4025-44B4-BD70-FE25ECAA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91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8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1AF7D37F-5BB6-4264-AA78-2E7F4521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2057400"/>
            <a:ext cx="953" cy="500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focus">
            <a:extLst xmlns:a="http://schemas.openxmlformats.org/drawingml/2006/main">
              <a:ext uri="{FF2B5EF4-FFF2-40B4-BE49-F238E27FC236}">
                <a16:creationId xmlns:a16="http://schemas.microsoft.com/office/drawing/2014/main" id="{E06F5543-918D-4F94-888E-69D730A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988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问题定位与修改动作</a:t>
            </a:r>
          </a:p>
        </p:txBody>
      </p:sp>
      <p:sp>
        <p:nvSpPr>
          <p:cNvPr id="20" name="!!example">
            <a:extLst xmlns:a="http://schemas.openxmlformats.org/drawingml/2006/main">
              <a:ext uri="{FF2B5EF4-FFF2-40B4-BE49-F238E27FC236}">
                <a16:creationId xmlns:a16="http://schemas.microsoft.com/office/drawing/2014/main" id="{1733EE4A-F0C0-403D-A226-6655129C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076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21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DF1BF750-43AB-4986-B1A5-BE7F78B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2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FD245679-AC51-45B9-94B0-22B8773F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5 / 9</a:t>
            </a:r>
          </a:p>
        </p:txBody>
      </p:sp>
      <p:sp>
        <p:nvSpPr>
          <p:cNvPr id="23" name="!!nav.prev">
            <ns0:hlinkClick xmlns:ns0="http://schemas.openxmlformats.org/drawingml/2006/main" xmlns:ns1="http://schemas.openxmlformats.org/officeDocument/2006/relationships" ns1:id="rIdNavSlide4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7C90154E-DCC0-4865-B5B1-3539987F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4" name="!!nav.next">
            <ns0:hlinkClick xmlns:ns0="http://schemas.openxmlformats.org/drawingml/2006/main" xmlns:ns1="http://schemas.openxmlformats.org/officeDocument/2006/relationships" ns1:id="rIdNavSlide6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0782CD46-FE34-4F8E-97B9-DC815120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5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04016544-CF9A-4101-BD9F-C10A8BC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24A17E9F-E293-4492-96F0-8F88463B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方案参考：鹏华基金、盈米基金销售</a:t>
            </a:r>
          </a:p>
        </p:txBody>
      </p:sp>
      <p:sp>
        <p:nvSpPr>
          <p:cNvPr id="27" name="!!clientDoc">
            <a:extLst xmlns:a="http://schemas.openxmlformats.org/drawingml/2006/main">
              <a:ext uri="{FF2B5EF4-FFF2-40B4-BE49-F238E27FC236}">
                <a16:creationId xmlns:a16="http://schemas.microsoft.com/office/drawing/2014/main" id="{0A704DB1-AD69-41A5-843D-0563231A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8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E00D2E92-6B0F-4DA3-8487-4067DAA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586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9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1131CBD1-3D04-48E7-8E42-C6C4AAC0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00037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30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E1BCBEBA-6212-492C-AC98-9B622863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3524250"/>
            <a:ext cx="6400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1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349E2B35-B30F-499C-8E7B-9A82045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5019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4B396B44-0683-4152-9230-0EF5CA2D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3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8E369992-394F-424F-B7F3-D11D80F1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62375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4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AF22FF58-323C-4DFC-A5E5-DB1996C5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305300"/>
            <a:ext cx="5019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52AB2843-1E60-4207-8E4F-D172766F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6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CE1B8660-4725-49DF-AA2A-5AF68F9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52925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7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A76F4492-8444-4254-88B4-1E31176E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95850"/>
            <a:ext cx="5019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74275081-E7B8-4A04-8C01-4E6E5B7D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434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9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9A268983-89C1-4693-89D9-24741394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43475"/>
            <a:ext cx="4933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40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DE10A5E6-724A-428A-B0DD-229E5C6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915025"/>
            <a:ext cx="50196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3E50857D-BDF3-461A-BA7F-5B681255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626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2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9D2459DA-9D64-4810-BD47-9926743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62650"/>
            <a:ext cx="4933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3" name="!!comment.product">
            <a:extLst xmlns:a="http://schemas.openxmlformats.org/drawingml/2006/main">
              <a:ext uri="{FF2B5EF4-FFF2-40B4-BE49-F238E27FC236}">
                <a16:creationId xmlns:a16="http://schemas.microsoft.com/office/drawing/2014/main" id="{35FE5525-444B-49BF-BDAD-D1B4545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1051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!!comment.product.title">
            <a:extLst xmlns:a="http://schemas.openxmlformats.org/drawingml/2006/main">
              <a:ext uri="{FF2B5EF4-FFF2-40B4-BE49-F238E27FC236}">
                <a16:creationId xmlns:a16="http://schemas.microsoft.com/office/drawing/2014/main" id="{276FA87B-8668-4F47-8D80-2C79AE0E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28975"/>
            <a:ext cx="2705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正式产品名称</a:t>
            </a:r>
          </a:p>
        </p:txBody>
      </p:sp>
      <p:sp>
        <p:nvSpPr>
          <p:cNvPr id="45" name="!!comment.product.body">
            <a:extLst xmlns:a="http://schemas.openxmlformats.org/drawingml/2006/main">
              <a:ext uri="{FF2B5EF4-FFF2-40B4-BE49-F238E27FC236}">
                <a16:creationId xmlns:a16="http://schemas.microsoft.com/office/drawing/2014/main" id="{ED1C5CE6-04AF-4894-8BD6-9908ACAB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609975"/>
            <a:ext cx="2705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补充“混合型基金”</a:t>
            </a:r>
          </a:p>
        </p:txBody>
      </p:sp>
      <p:sp>
        <p:nvSpPr>
          <p:cNvPr id="46" name="!!comment.product.lead1">
            <a:extLst xmlns:a="http://schemas.openxmlformats.org/drawingml/2006/main">
              <a:ext uri="{FF2B5EF4-FFF2-40B4-BE49-F238E27FC236}">
                <a16:creationId xmlns:a16="http://schemas.microsoft.com/office/drawing/2014/main" id="{16ACE0A5-3672-4A4C-9672-E464520E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91850" y="376237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  <p:sp>
        <p:nvSpPr>
          <p:cNvPr id="47" name="!!comment.product.lead2">
            <a:extLst xmlns:a="http://schemas.openxmlformats.org/drawingml/2006/main">
              <a:ext uri="{FF2B5EF4-FFF2-40B4-BE49-F238E27FC236}">
                <a16:creationId xmlns:a16="http://schemas.microsoft.com/office/drawing/2014/main" id="{447D402A-13C6-47BF-96B3-D61119E2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39500" y="3638550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  <p:sp>
        <p:nvSpPr>
          <p:cNvPr id="48" name="!!comment.product.lead3">
            <a:extLst xmlns:a="http://schemas.openxmlformats.org/drawingml/2006/main">
              <a:ext uri="{FF2B5EF4-FFF2-40B4-BE49-F238E27FC236}">
                <a16:creationId xmlns:a16="http://schemas.microsoft.com/office/drawing/2014/main" id="{7102CA02-CE1F-4E0A-BE44-61A5A739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363855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  <p:sp>
        <p:nvSpPr>
          <p:cNvPr id="49" name="!!comment.period">
            <a:extLst xmlns:a="http://schemas.openxmlformats.org/drawingml/2006/main">
              <a:ext uri="{FF2B5EF4-FFF2-40B4-BE49-F238E27FC236}">
                <a16:creationId xmlns:a16="http://schemas.microsoft.com/office/drawing/2014/main" id="{48FD9277-808C-472E-BF1A-2E21D4F1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52437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!!comment.period.title">
            <a:extLst xmlns:a="http://schemas.openxmlformats.org/drawingml/2006/main">
              <a:ext uri="{FF2B5EF4-FFF2-40B4-BE49-F238E27FC236}">
                <a16:creationId xmlns:a16="http://schemas.microsoft.com/office/drawing/2014/main" id="{5C447BE5-19CE-4DED-B455-AA454F11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648200"/>
            <a:ext cx="2705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本期资料</a:t>
            </a:r>
          </a:p>
        </p:txBody>
      </p:sp>
      <p:sp>
        <p:nvSpPr>
          <p:cNvPr id="51" name="!!comment.period.body">
            <a:extLst xmlns:a="http://schemas.openxmlformats.org/drawingml/2006/main">
              <a:ext uri="{FF2B5EF4-FFF2-40B4-BE49-F238E27FC236}">
                <a16:creationId xmlns:a16="http://schemas.microsoft.com/office/drawing/2014/main" id="{0346B365-C11A-4E53-9ECC-B66B878A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029200"/>
            <a:ext cx="2705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改用三季度产品资料 V2</a:t>
            </a:r>
          </a:p>
        </p:txBody>
      </p:sp>
      <p:sp>
        <p:nvSpPr>
          <p:cNvPr id="52" name="!!comment.period.lead1">
            <a:extLst xmlns:a="http://schemas.openxmlformats.org/drawingml/2006/main">
              <a:ext uri="{FF2B5EF4-FFF2-40B4-BE49-F238E27FC236}">
                <a16:creationId xmlns:a16="http://schemas.microsoft.com/office/drawing/2014/main" id="{6D4C3D37-E2E6-4DF4-BB72-0961A706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91850" y="435292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  <p:sp>
        <p:nvSpPr>
          <p:cNvPr id="53" name="!!comment.period.lead2">
            <a:extLst xmlns:a="http://schemas.openxmlformats.org/drawingml/2006/main">
              <a:ext uri="{FF2B5EF4-FFF2-40B4-BE49-F238E27FC236}">
                <a16:creationId xmlns:a16="http://schemas.microsoft.com/office/drawing/2014/main" id="{4465D388-46CC-4825-A13A-32FA26E4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4352925"/>
            <a:ext cx="953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  <p:sp>
        <p:nvSpPr>
          <p:cNvPr id="54" name="!!comment.period.lead3">
            <a:extLst xmlns:a="http://schemas.openxmlformats.org/drawingml/2006/main">
              <a:ext uri="{FF2B5EF4-FFF2-40B4-BE49-F238E27FC236}">
                <a16:creationId xmlns:a16="http://schemas.microsoft.com/office/drawing/2014/main" id="{045724B0-CE80-4E4F-8563-5BE3D49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505777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  <p:sp>
        <p:nvSpPr>
          <p:cNvPr id="55" name="!!comment.risk">
            <a:extLst xmlns:a="http://schemas.openxmlformats.org/drawingml/2006/main">
              <a:ext uri="{FF2B5EF4-FFF2-40B4-BE49-F238E27FC236}">
                <a16:creationId xmlns:a16="http://schemas.microsoft.com/office/drawing/2014/main" id="{1B2299C9-A6E9-4B89-B585-49772F1D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436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!!comment.risk.title">
            <a:extLst xmlns:a="http://schemas.openxmlformats.org/drawingml/2006/main">
              <a:ext uri="{FF2B5EF4-FFF2-40B4-BE49-F238E27FC236}">
                <a16:creationId xmlns:a16="http://schemas.microsoft.com/office/drawing/2014/main" id="{C497F890-019A-4D21-A7C7-6C6B363E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067425"/>
            <a:ext cx="2705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产品风险说明</a:t>
            </a:r>
          </a:p>
        </p:txBody>
      </p:sp>
      <p:sp>
        <p:nvSpPr>
          <p:cNvPr id="57" name="!!comment.risk.body">
            <a:extLst xmlns:a="http://schemas.openxmlformats.org/drawingml/2006/main">
              <a:ext uri="{FF2B5EF4-FFF2-40B4-BE49-F238E27FC236}">
                <a16:creationId xmlns:a16="http://schemas.microsoft.com/office/drawing/2014/main" id="{65036DA5-48FF-4498-AB07-289D5F7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448425"/>
            <a:ext cx="2705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补充净值波动与本金亏损</a:t>
            </a:r>
          </a:p>
        </p:txBody>
      </p:sp>
      <p:sp>
        <p:nvSpPr>
          <p:cNvPr id="58" name="!!comment.risk.lead1">
            <a:extLst xmlns:a="http://schemas.openxmlformats.org/drawingml/2006/main">
              <a:ext uri="{FF2B5EF4-FFF2-40B4-BE49-F238E27FC236}">
                <a16:creationId xmlns:a16="http://schemas.microsoft.com/office/drawing/2014/main" id="{06E8CF63-B9AD-464E-AB9F-6D4C7108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91850" y="62293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  <p:sp>
        <p:nvSpPr>
          <p:cNvPr id="59" name="!!comment.risk.lead2">
            <a:extLst xmlns:a="http://schemas.openxmlformats.org/drawingml/2006/main">
              <a:ext uri="{FF2B5EF4-FFF2-40B4-BE49-F238E27FC236}">
                <a16:creationId xmlns:a16="http://schemas.microsoft.com/office/drawing/2014/main" id="{BDC4FE9D-BD20-45B9-95F3-DE23C343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6229350"/>
            <a:ext cx="953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  <p:sp>
        <p:nvSpPr>
          <p:cNvPr id="60" name="!!comment.risk.lead3">
            <a:extLst xmlns:a="http://schemas.openxmlformats.org/drawingml/2006/main">
              <a:ext uri="{FF2B5EF4-FFF2-40B4-BE49-F238E27FC236}">
                <a16:creationId xmlns:a16="http://schemas.microsoft.com/office/drawing/2014/main" id="{CA8639B4-A31B-4689-948F-C79CF53F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64770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5A9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100401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34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40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!!heading">
            <a:extLst xmlns:a="http://schemas.openxmlformats.org/drawingml/2006/main">
              <a:ext uri="{FF2B5EF4-FFF2-40B4-BE49-F238E27FC236}">
                <a16:creationId xmlns:a16="http://schemas.microsoft.com/office/drawing/2014/main" id="{5F0D4F0A-25CB-48A5-83FC-8973D526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D351A403-B468-4217-877F-09932C66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F71766C7-A974-4CB3-B278-F8CE5FF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198FE6CE-FC14-4FBC-BB12-0D1AF00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0740E61C-7CB8-482C-8AF6-1F2C01F1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DE397441-3714-4B6E-B09E-9B870D63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F3A09AD3-2130-479C-AB7C-D13BB2E0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B53F2211-DFA9-4178-B416-42AD2530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5A8C91F-C60C-460F-A9B2-9275ACE6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1F79012A-4A31-4F67-97AB-408BDCDB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.highlight">
            <a:extLst xmlns:a="http://schemas.openxmlformats.org/drawingml/2006/main">
              <a:ext uri="{FF2B5EF4-FFF2-40B4-BE49-F238E27FC236}">
                <a16:creationId xmlns:a16="http://schemas.microsoft.com/office/drawing/2014/main" id="{25A0A4BC-A88A-4577-8624-12F3D2FF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6FC4CDD6-DE53-442E-ACE3-1E2A2107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386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3" name="!!task.risk">
            <a:extLst xmlns:a="http://schemas.openxmlformats.org/drawingml/2006/main">
              <a:ext uri="{FF2B5EF4-FFF2-40B4-BE49-F238E27FC236}">
                <a16:creationId xmlns:a16="http://schemas.microsoft.com/office/drawing/2014/main" id="{E8046051-BEA9-47B0-BAFD-326EAAE0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43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4" name="!!map.back">
            <a:extLst xmlns:a="http://schemas.openxmlformats.org/drawingml/2006/main">
              <a:ext uri="{FF2B5EF4-FFF2-40B4-BE49-F238E27FC236}">
                <a16:creationId xmlns:a16="http://schemas.microsoft.com/office/drawing/2014/main" id="{C1BF69DE-BDCC-4A93-82F5-A80795B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5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E297AA06-E903-4FD5-BCE3-B3CAB747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6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096EF4BA-B76E-4228-8192-CE8DDE9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864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7" name="!!task.dev">
            <a:extLst xmlns:a="http://schemas.openxmlformats.org/drawingml/2006/main">
              <a:ext uri="{FF2B5EF4-FFF2-40B4-BE49-F238E27FC236}">
                <a16:creationId xmlns:a16="http://schemas.microsoft.com/office/drawing/2014/main" id="{362874C8-84F3-44D8-9154-9334E6CE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91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8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B313A942-E913-4D78-BE24-7A3B1B2B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2057400"/>
            <a:ext cx="953" cy="500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focus">
            <a:extLst xmlns:a="http://schemas.openxmlformats.org/drawingml/2006/main">
              <a:ext uri="{FF2B5EF4-FFF2-40B4-BE49-F238E27FC236}">
                <a16:creationId xmlns:a16="http://schemas.microsoft.com/office/drawing/2014/main" id="{87CD2CB3-C9B0-45BB-A8EC-9DFE426E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988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修订稿 V2 与变更内容</a:t>
            </a:r>
          </a:p>
        </p:txBody>
      </p:sp>
      <p:sp>
        <p:nvSpPr>
          <p:cNvPr id="20" name="!!example">
            <a:extLst xmlns:a="http://schemas.openxmlformats.org/drawingml/2006/main">
              <a:ext uri="{FF2B5EF4-FFF2-40B4-BE49-F238E27FC236}">
                <a16:creationId xmlns:a16="http://schemas.microsoft.com/office/drawing/2014/main" id="{06A411E6-9A83-4DEA-925C-F6DA1F3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076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21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F94172A4-7982-467A-99C4-F9C2AEB4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2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930A312D-796B-4218-A411-5D5BC05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6 / 9</a:t>
            </a:r>
          </a:p>
        </p:txBody>
      </p:sp>
      <p:sp>
        <p:nvSpPr>
          <p:cNvPr id="23" name="!!nav.prev">
            <ns0:hlinkClick xmlns:ns0="http://schemas.openxmlformats.org/drawingml/2006/main" xmlns:ns1="http://schemas.openxmlformats.org/officeDocument/2006/relationships" ns1:id="rIdNavSlide5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A45C43CA-664E-4437-B3A6-6E6A7F7E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4" name="!!nav.next">
            <ns0:hlinkClick xmlns:ns0="http://schemas.openxmlformats.org/drawingml/2006/main" xmlns:ns1="http://schemas.openxmlformats.org/officeDocument/2006/relationships" ns1:id="rIdNavSlide7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26AD1CF8-57C1-45A5-B3C6-46B17CAC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5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7596791-1175-4AA4-87BC-EDE3E165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4F53546D-DAAE-4ABA-B7F9-32C9FEFE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方案参考：鹏华基金、盈米基金销售</a:t>
            </a:r>
          </a:p>
        </p:txBody>
      </p:sp>
      <p:sp>
        <p:nvSpPr>
          <p:cNvPr id="27" name="!!clientDoc">
            <a:extLst xmlns:a="http://schemas.openxmlformats.org/drawingml/2006/main">
              <a:ext uri="{FF2B5EF4-FFF2-40B4-BE49-F238E27FC236}">
                <a16:creationId xmlns:a16="http://schemas.microsoft.com/office/drawing/2014/main" id="{5303373B-14B6-4157-AC93-1080AC5C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8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5675B5FD-2799-4691-A3F9-4A72E32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586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9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7066FDB1-A3CE-49FB-97E6-2CAD0D8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00037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</a:t>
            </a:r>
          </a:p>
        </p:txBody>
      </p:sp>
      <p:sp>
        <p:nvSpPr>
          <p:cNvPr id="30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B1D68678-35AA-471F-B862-8695DC36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3524250"/>
            <a:ext cx="6400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1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614E3BD1-761C-4007-8EC0-9BABB771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5019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D1EAB638-3D83-4665-826A-F573648D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3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7DDB9470-0DA1-4B7C-9566-4004E1B5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62375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34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E2B98F21-D37B-43C0-85E8-52886F44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305300"/>
            <a:ext cx="5019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F363DCDD-DE31-47D0-AD85-6682F7A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6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A1A5E062-F88E-47E9-BB97-8C68513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52925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37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3D8F052A-3CD1-4FBB-BAB0-6296F13E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95850"/>
            <a:ext cx="5019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2DB633C1-DEE7-4200-AEC0-40222B31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434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9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1D529424-9763-4436-A604-8970B28D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43475"/>
            <a:ext cx="4933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40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08B8D8C2-996D-4D68-AF51-A24D0DD7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915025"/>
            <a:ext cx="50196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164BF70C-837B-49AA-9F2E-7FCB0C13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626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2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1F4568BB-652B-4D8B-A8D2-8662A2DA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62650"/>
            <a:ext cx="4933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  <p:sp>
        <p:nvSpPr>
          <p:cNvPr id="43" name="!!review.result">
            <a:extLst xmlns:a="http://schemas.openxmlformats.org/drawingml/2006/main">
              <a:ext uri="{FF2B5EF4-FFF2-40B4-BE49-F238E27FC236}">
                <a16:creationId xmlns:a16="http://schemas.microsoft.com/office/drawing/2014/main" id="{05F9BDD3-C7A6-4EDC-A713-284C98C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105150"/>
            <a:ext cx="3048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修订后检查</a:t>
            </a:r>
          </a:p>
        </p:txBody>
      </p:sp>
      <p:sp>
        <p:nvSpPr>
          <p:cNvPr id="44" name="!!review.result.0">
            <a:extLst xmlns:a="http://schemas.openxmlformats.org/drawingml/2006/main">
              <a:ext uri="{FF2B5EF4-FFF2-40B4-BE49-F238E27FC236}">
                <a16:creationId xmlns:a16="http://schemas.microsoft.com/office/drawing/2014/main" id="{AE2A2B28-BB6E-4099-8B8E-3EC8A99D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219575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名称与资料对应</a:t>
            </a:r>
          </a:p>
        </p:txBody>
      </p:sp>
      <p:sp>
        <p:nvSpPr>
          <p:cNvPr id="45" name="!!review.result.1">
            <a:extLst xmlns:a="http://schemas.openxmlformats.org/drawingml/2006/main">
              <a:ext uri="{FF2B5EF4-FFF2-40B4-BE49-F238E27FC236}">
                <a16:creationId xmlns:a16="http://schemas.microsoft.com/office/drawing/2014/main" id="{986A2F52-51F7-4178-824B-E1AE7E60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0863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使用三季度资料</a:t>
            </a:r>
          </a:p>
        </p:txBody>
      </p:sp>
      <p:sp>
        <p:nvSpPr>
          <p:cNvPr id="46" name="!!review.result.2">
            <a:extLst xmlns:a="http://schemas.openxmlformats.org/drawingml/2006/main">
              <a:ext uri="{FF2B5EF4-FFF2-40B4-BE49-F238E27FC236}">
                <a16:creationId xmlns:a16="http://schemas.microsoft.com/office/drawing/2014/main" id="{855281CB-AF8D-4B90-BCEB-4ED729C8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953125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风险提示已更新</a:t>
            </a:r>
          </a:p>
        </p:txBody>
      </p:sp>
      <p:sp>
        <p:nvSpPr>
          <p:cNvPr id="47" name="!!review.version">
            <a:extLst xmlns:a="http://schemas.openxmlformats.org/drawingml/2006/main">
              <a:ext uri="{FF2B5EF4-FFF2-40B4-BE49-F238E27FC236}">
                <a16:creationId xmlns:a16="http://schemas.microsoft.com/office/drawing/2014/main" id="{AAADC818-E5C5-4C84-8309-BB9739BC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7246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客户沟通稿 V2</a:t>
            </a:r>
          </a:p>
        </p:txBody>
      </p:sp>
    </p:spTree>
    <p:extLst>
      <p:ext uri="{BB962C8B-B14F-4D97-AF65-F5344CB8AC3E}">
        <p14:creationId xmlns:p14="http://schemas.microsoft.com/office/powerpoint/2010/main" val="134985036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!!heading">
            <a:extLst xmlns:a="http://schemas.openxmlformats.org/drawingml/2006/main">
              <a:ext uri="{FF2B5EF4-FFF2-40B4-BE49-F238E27FC236}">
                <a16:creationId xmlns:a16="http://schemas.microsoft.com/office/drawing/2014/main" id="{6C86458C-DD21-4166-9AE8-3367DB7C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E2A2F21-A1CB-457E-AF5D-C151C0AA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D0ACE9EB-77F3-43B6-8930-EAE49F0D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FEF38DB4-967E-4C91-B5CE-BB88A9F0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336884B7-72A2-4E26-A0E6-02657A6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C88ECEDC-E2F3-4028-907D-4919E950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54489F0F-D4E7-48FE-AEF9-22641A9C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64BFC299-3FED-4EF0-88A7-4A73E93F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5F25462-57B7-4D73-9316-3173537C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740C81A9-6AF5-4C77-9172-97F54CE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4F11B348-DD86-4DFC-BE53-7F044403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386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a:extLst xmlns:a="http://schemas.openxmlformats.org/drawingml/2006/main">
              <a:ext uri="{FF2B5EF4-FFF2-40B4-BE49-F238E27FC236}">
                <a16:creationId xmlns:a16="http://schemas.microsoft.com/office/drawing/2014/main" id="{DF898FE9-F563-4857-8B98-2B812D3F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43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1CD6FF4-2F2A-4A06-8E9C-3DD377B8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6AC9BCF0-6B3F-4968-8B53-6A12F9C7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.highlight">
            <a:extLst xmlns:a="http://schemas.openxmlformats.org/drawingml/2006/main">
              <a:ext uri="{FF2B5EF4-FFF2-40B4-BE49-F238E27FC236}">
                <a16:creationId xmlns:a16="http://schemas.microsoft.com/office/drawing/2014/main" id="{E79858C0-995B-4D3F-9663-954C5CAD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D7D1017D-99B4-4A02-9425-A2090C8B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864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7" name="!!task.dev">
            <a:extLst xmlns:a="http://schemas.openxmlformats.org/drawingml/2006/main">
              <a:ext uri="{FF2B5EF4-FFF2-40B4-BE49-F238E27FC236}">
                <a16:creationId xmlns:a16="http://schemas.microsoft.com/office/drawing/2014/main" id="{8A10747D-D04F-4925-9654-6FA5B1D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91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8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6AB7669C-3696-4B1A-9EBA-B6DAE6E3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2057400"/>
            <a:ext cx="953" cy="500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focus">
            <a:extLst xmlns:a="http://schemas.openxmlformats.org/drawingml/2006/main">
              <a:ext uri="{FF2B5EF4-FFF2-40B4-BE49-F238E27FC236}">
                <a16:creationId xmlns:a16="http://schemas.microsoft.com/office/drawing/2014/main" id="{C068A331-03E2-4537-8DAE-797ABA95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988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后台：比对 V1 与 V2</a:t>
            </a:r>
          </a:p>
        </p:txBody>
      </p:sp>
      <p:sp>
        <p:nvSpPr>
          <p:cNvPr id="20" name="!!example">
            <a:extLst xmlns:a="http://schemas.openxmlformats.org/drawingml/2006/main">
              <a:ext uri="{FF2B5EF4-FFF2-40B4-BE49-F238E27FC236}">
                <a16:creationId xmlns:a16="http://schemas.microsoft.com/office/drawing/2014/main" id="{B1B5F61E-9758-450F-AB80-6DBF01EC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076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21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4738FB3A-063F-41F6-A065-954D172B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2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B114BFBB-A1CE-4DFA-8F93-7891849D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7 / 9</a:t>
            </a:r>
          </a:p>
        </p:txBody>
      </p:sp>
      <p:sp>
        <p:nvSpPr>
          <p:cNvPr id="23" name="!!nav.prev">
            <ns0:hlinkClick xmlns:ns0="http://schemas.openxmlformats.org/drawingml/2006/main" xmlns:ns1="http://schemas.openxmlformats.org/officeDocument/2006/relationships" ns1:id="rIdNavSlide6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D0864062-D3E2-487C-AB1D-29C93D37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4" name="!!nav.next">
            <ns0:hlinkClick xmlns:ns0="http://schemas.openxmlformats.org/drawingml/2006/main" xmlns:ns1="http://schemas.openxmlformats.org/officeDocument/2006/relationships" ns1:id="rIdNavSlide8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D4C56977-1BEE-4930-A77C-B07AFE5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5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3104A961-76C6-4C4D-8A77-3DAEE1BC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9B428FF6-485B-4678-B7EB-4394EE2C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方案参考：工银瑞信基金</a:t>
            </a:r>
          </a:p>
        </p:txBody>
      </p:sp>
      <p:sp>
        <p:nvSpPr>
          <p:cNvPr id="27" name="!!clientDoc.v1">
            <a:extLst xmlns:a="http://schemas.openxmlformats.org/drawingml/2006/main">
              <a:ext uri="{FF2B5EF4-FFF2-40B4-BE49-F238E27FC236}">
                <a16:creationId xmlns:a16="http://schemas.microsoft.com/office/drawing/2014/main" id="{CA25FC9A-0428-48E4-A196-B59B08A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57475"/>
            <a:ext cx="4991100" cy="467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8" name="!!clientDoc.v1.title">
            <a:extLst xmlns:a="http://schemas.openxmlformats.org/drawingml/2006/main">
              <a:ext uri="{FF2B5EF4-FFF2-40B4-BE49-F238E27FC236}">
                <a16:creationId xmlns:a16="http://schemas.microsoft.com/office/drawing/2014/main" id="{9007B0D5-265E-4F0E-886C-DDF1D0A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479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9" name="!!clientDoc.v1.version">
            <a:extLst xmlns:a="http://schemas.openxmlformats.org/drawingml/2006/main">
              <a:ext uri="{FF2B5EF4-FFF2-40B4-BE49-F238E27FC236}">
                <a16:creationId xmlns:a16="http://schemas.microsoft.com/office/drawing/2014/main" id="{E55D106F-5247-45D8-8D27-39323F9B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76550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30" name="!!clientDoc.v1.rule">
            <a:extLst xmlns:a="http://schemas.openxmlformats.org/drawingml/2006/main">
              <a:ext uri="{FF2B5EF4-FFF2-40B4-BE49-F238E27FC236}">
                <a16:creationId xmlns:a16="http://schemas.microsoft.com/office/drawing/2014/main" id="{2D044D26-AC65-4B45-A608-03236CA3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34004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1" name="!!clientDoc.v1.highlight.product">
            <a:extLst xmlns:a="http://schemas.openxmlformats.org/drawingml/2006/main">
              <a:ext uri="{FF2B5EF4-FFF2-40B4-BE49-F238E27FC236}">
                <a16:creationId xmlns:a16="http://schemas.microsoft.com/office/drawing/2014/main" id="{1EA97431-2BA0-4826-BF7F-4A89A2B3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56235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!!clientDoc.v1.label.product">
            <a:extLst xmlns:a="http://schemas.openxmlformats.org/drawingml/2006/main">
              <a:ext uri="{FF2B5EF4-FFF2-40B4-BE49-F238E27FC236}">
                <a16:creationId xmlns:a16="http://schemas.microsoft.com/office/drawing/2014/main" id="{25C3C37F-E79F-49C1-8132-967D5217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3" name="!!clientDoc.v1.value.product">
            <a:extLst xmlns:a="http://schemas.openxmlformats.org/drawingml/2006/main">
              <a:ext uri="{FF2B5EF4-FFF2-40B4-BE49-F238E27FC236}">
                <a16:creationId xmlns:a16="http://schemas.microsoft.com/office/drawing/2014/main" id="{608F4AE4-4DB4-4AAE-A1BB-0B493BCD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338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4" name="!!clientDoc.v1.highlight.period">
            <a:extLst xmlns:a="http://schemas.openxmlformats.org/drawingml/2006/main">
              <a:ext uri="{FF2B5EF4-FFF2-40B4-BE49-F238E27FC236}">
                <a16:creationId xmlns:a16="http://schemas.microsoft.com/office/drawing/2014/main" id="{A4B1B29C-D672-4815-8E3F-8C52255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2435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!!clientDoc.v1.label.period">
            <a:extLst xmlns:a="http://schemas.openxmlformats.org/drawingml/2006/main">
              <a:ext uri="{FF2B5EF4-FFF2-40B4-BE49-F238E27FC236}">
                <a16:creationId xmlns:a16="http://schemas.microsoft.com/office/drawing/2014/main" id="{94FC74FF-A47D-43EF-B293-20D7A1FC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815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6" name="!!clientDoc.v1.value.period">
            <a:extLst xmlns:a="http://schemas.openxmlformats.org/drawingml/2006/main">
              <a:ext uri="{FF2B5EF4-FFF2-40B4-BE49-F238E27FC236}">
                <a16:creationId xmlns:a16="http://schemas.microsoft.com/office/drawing/2014/main" id="{736BA726-EB60-4F54-8DE7-FB7624D2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958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7" name="!!clientDoc.v1.highlight.view">
            <a:extLst xmlns:a="http://schemas.openxmlformats.org/drawingml/2006/main">
              <a:ext uri="{FF2B5EF4-FFF2-40B4-BE49-F238E27FC236}">
                <a16:creationId xmlns:a16="http://schemas.microsoft.com/office/drawing/2014/main" id="{F06452FB-CD33-4C9C-9FC8-84ED577C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530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!!clientDoc.v1.label.view">
            <a:extLst xmlns:a="http://schemas.openxmlformats.org/drawingml/2006/main">
              <a:ext uri="{FF2B5EF4-FFF2-40B4-BE49-F238E27FC236}">
                <a16:creationId xmlns:a16="http://schemas.microsoft.com/office/drawing/2014/main" id="{4E6F4F67-91A6-4D6B-9F59-9CC4A48D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017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9" name="!!clientDoc.v1.value.view">
            <a:extLst xmlns:a="http://schemas.openxmlformats.org/drawingml/2006/main">
              <a:ext uri="{FF2B5EF4-FFF2-40B4-BE49-F238E27FC236}">
                <a16:creationId xmlns:a16="http://schemas.microsoft.com/office/drawing/2014/main" id="{DB9E7C41-DB0F-4B8F-B06A-1E30C142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24500"/>
            <a:ext cx="4495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40" name="!!clientDoc.v1.highlight.risk">
            <a:extLst xmlns:a="http://schemas.openxmlformats.org/drawingml/2006/main">
              <a:ext uri="{FF2B5EF4-FFF2-40B4-BE49-F238E27FC236}">
                <a16:creationId xmlns:a16="http://schemas.microsoft.com/office/drawing/2014/main" id="{0B180C7A-8AFE-40C5-9A1D-AFFE07C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200775"/>
            <a:ext cx="466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!!clientDoc.v1.label.risk">
            <a:extLst xmlns:a="http://schemas.openxmlformats.org/drawingml/2006/main">
              <a:ext uri="{FF2B5EF4-FFF2-40B4-BE49-F238E27FC236}">
                <a16:creationId xmlns:a16="http://schemas.microsoft.com/office/drawing/2014/main" id="{D998B16F-E30F-477E-A310-C42FAFF1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5792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2" name="!!clientDoc.v1.value.risk">
            <a:extLst xmlns:a="http://schemas.openxmlformats.org/drawingml/2006/main">
              <a:ext uri="{FF2B5EF4-FFF2-40B4-BE49-F238E27FC236}">
                <a16:creationId xmlns:a16="http://schemas.microsoft.com/office/drawing/2014/main" id="{8883B44A-C212-4447-900B-22C23CA7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722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3" name="!!clientDoc">
            <a:extLst xmlns:a="http://schemas.openxmlformats.org/drawingml/2006/main">
              <a:ext uri="{FF2B5EF4-FFF2-40B4-BE49-F238E27FC236}">
                <a16:creationId xmlns:a16="http://schemas.microsoft.com/office/drawing/2014/main" id="{B4C4274B-171C-4E97-B156-E752E82F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57475"/>
            <a:ext cx="4991100" cy="467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44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CF081361-1A3F-4923-8E2F-3F4BECA3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479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45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92E2AF76-F445-4EEB-BAE7-1F063F3A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2876550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</a:t>
            </a:r>
          </a:p>
        </p:txBody>
      </p:sp>
      <p:sp>
        <p:nvSpPr>
          <p:cNvPr id="46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3BE095C9-A8B0-4377-A588-C7CB6CA4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4004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7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CA9DB237-2354-4747-A07C-12FFDB0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62350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0A0AD911-2CD7-48F1-A403-F8DD0F0B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9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43A17FD1-677C-4874-896C-BE06DB89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338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50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214E4F6E-F94B-4A6C-AF59-C77917DE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2435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849D16A9-4368-4336-BF84-4EB394B8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815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52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6961CC64-AB57-453C-A849-7134D78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958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53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29674D38-1300-4A24-A28C-F312C9F8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530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59CD990F-CD49-4176-AF98-3A9240E6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1017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55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AD5B6E2D-B5FF-4E13-963D-6624C090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24500"/>
            <a:ext cx="4495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56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5E7A1B9A-B79A-4D40-9F34-2F98D1FD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00775"/>
            <a:ext cx="466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A3D41E8E-D8EE-404C-9ECF-6E4D670F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25792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58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31EDED10-E8EB-41E7-A43E-0D265B7D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  <p:cxnSp>
        <p:nvCxnSpPr>
          <p:cNvPr id="59" name="!!compare">
            <a:extLst xmlns:a="http://schemas.openxmlformats.org/drawingml/2006/main">
              <a:ext uri="{FF2B5EF4-FFF2-40B4-BE49-F238E27FC236}">
                <a16:creationId xmlns:a16="http://schemas.microsoft.com/office/drawing/2014/main" id="{0840E21C-BBE2-405C-A9C0-6DEEEAA51223}"/>
              </a:ext>
            </a:extLst>
          </p:cNvPr>
          <p:cNvCxnSpPr/>
          <p:nvPr/>
        </p:nvCxnSpPr>
        <p:spPr>
          <a:xfrm xmlns:a="http://schemas.openxmlformats.org/drawingml/2006/main">
            <a:off x="9172575" y="48958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5868549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!!heading">
            <a:extLst xmlns:a="http://schemas.openxmlformats.org/drawingml/2006/main">
              <a:ext uri="{FF2B5EF4-FFF2-40B4-BE49-F238E27FC236}">
                <a16:creationId xmlns:a16="http://schemas.microsoft.com/office/drawing/2014/main" id="{21503FF1-A45B-40A9-9FE2-9B905504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486DEEB-06D4-43CA-8C82-7BF73AB1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A2EB6E60-CEBF-4FBC-816B-2B2E7FDA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CD93053-7AB9-4BC3-A905-347272AB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BD9E889A-72AB-4913-AB74-016C40E1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2B6C8DE7-3095-49BE-9F63-9D687EB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5404CC4A-B803-4A1E-9736-E8887C0F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6AE6E70A-0C48-4A7C-89B7-424E4348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F504509-CA64-4720-90BE-527A068A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C0D09134-5EBA-417C-950C-C306372A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E9A37BFE-A4C0-4F56-BE35-991AA096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386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a:extLst xmlns:a="http://schemas.openxmlformats.org/drawingml/2006/main">
              <a:ext uri="{FF2B5EF4-FFF2-40B4-BE49-F238E27FC236}">
                <a16:creationId xmlns:a16="http://schemas.microsoft.com/office/drawing/2014/main" id="{3AB9FCF1-A998-4510-9C9E-62893B84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43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21A0101-1ADB-4FDC-B204-2DB4D45F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8BEBD4FE-F199-4FB0-8541-77A372B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.highlight">
            <a:extLst xmlns:a="http://schemas.openxmlformats.org/drawingml/2006/main">
              <a:ext uri="{FF2B5EF4-FFF2-40B4-BE49-F238E27FC236}">
                <a16:creationId xmlns:a16="http://schemas.microsoft.com/office/drawing/2014/main" id="{EFA9B285-1CD4-40D6-A723-FC7DD6D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A87CDFAE-864B-44E4-B550-C3D2E024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864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7" name="!!task.dev">
            <a:extLst xmlns:a="http://schemas.openxmlformats.org/drawingml/2006/main">
              <a:ext uri="{FF2B5EF4-FFF2-40B4-BE49-F238E27FC236}">
                <a16:creationId xmlns:a16="http://schemas.microsoft.com/office/drawing/2014/main" id="{400EFF9C-E4D3-47F8-ADEF-AC7C8373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91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8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81FDAF1-6F99-45AB-A96B-6A9391E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2057400"/>
            <a:ext cx="953" cy="500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focus">
            <a:extLst xmlns:a="http://schemas.openxmlformats.org/drawingml/2006/main">
              <a:ext uri="{FF2B5EF4-FFF2-40B4-BE49-F238E27FC236}">
                <a16:creationId xmlns:a16="http://schemas.microsoft.com/office/drawing/2014/main" id="{38545532-BCB2-444A-9024-B325685C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988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变更清单与更新文件</a:t>
            </a:r>
          </a:p>
        </p:txBody>
      </p:sp>
      <p:sp>
        <p:nvSpPr>
          <p:cNvPr id="20" name="!!example">
            <a:extLst xmlns:a="http://schemas.openxmlformats.org/drawingml/2006/main">
              <a:ext uri="{FF2B5EF4-FFF2-40B4-BE49-F238E27FC236}">
                <a16:creationId xmlns:a16="http://schemas.microsoft.com/office/drawing/2014/main" id="{10F27667-46EC-4010-BC40-2436C379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076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21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F9FBD4E4-DA34-4A57-976F-258EA6D1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2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E8E21D4A-1CAE-4DEE-AECB-ABA85ED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8 / 9</a:t>
            </a:r>
          </a:p>
        </p:txBody>
      </p:sp>
      <p:sp>
        <p:nvSpPr>
          <p:cNvPr id="23" name="!!nav.prev">
            <ns0:hlinkClick xmlns:ns0="http://schemas.openxmlformats.org/drawingml/2006/main" xmlns:ns1="http://schemas.openxmlformats.org/officeDocument/2006/relationships" ns1:id="rIdNavSlide7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B3153F0B-65DA-4D2E-8B69-C5DCDE43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4" name="!!nav.next">
            <ns0:hlinkClick xmlns:ns0="http://schemas.openxmlformats.org/drawingml/2006/main" xmlns:ns1="http://schemas.openxmlformats.org/officeDocument/2006/relationships" ns1:id="rIdNavSlide9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2F4AB02C-BB6F-45B0-8213-19D1EB82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5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8D822FF-5C2C-4748-A6F9-CCCFE4B7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D44B45FC-CA91-4413-980E-6D5BFD65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方案参考：工银瑞信基金</a:t>
            </a:r>
          </a:p>
        </p:txBody>
      </p:sp>
      <p:sp>
        <p:nvSpPr>
          <p:cNvPr id="27" name="!!changeLog">
            <a:extLst xmlns:a="http://schemas.openxmlformats.org/drawingml/2006/main">
              <a:ext uri="{FF2B5EF4-FFF2-40B4-BE49-F238E27FC236}">
                <a16:creationId xmlns:a16="http://schemas.microsoft.com/office/drawing/2014/main" id="{1E2A0404-0FFF-4488-8609-512BE17D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57475"/>
            <a:ext cx="4991100" cy="467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8" name="!!changeLog.title">
            <a:extLst xmlns:a="http://schemas.openxmlformats.org/drawingml/2006/main">
              <a:ext uri="{FF2B5EF4-FFF2-40B4-BE49-F238E27FC236}">
                <a16:creationId xmlns:a16="http://schemas.microsoft.com/office/drawing/2014/main" id="{CF1742D9-12AB-411D-A1BA-6800EAC3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47975"/>
            <a:ext cx="453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变更清单</a:t>
            </a:r>
          </a:p>
        </p:txBody>
      </p:sp>
      <p:sp>
        <p:nvSpPr>
          <p:cNvPr id="29" name="!!changeLog.rule">
            <a:extLst xmlns:a="http://schemas.openxmlformats.org/drawingml/2006/main">
              <a:ext uri="{FF2B5EF4-FFF2-40B4-BE49-F238E27FC236}">
                <a16:creationId xmlns:a16="http://schemas.microsoft.com/office/drawing/2014/main" id="{91862A49-C0DD-4228-9E17-7158503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34004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0" name="!!changeLog.product.label">
            <a:extLst xmlns:a="http://schemas.openxmlformats.org/drawingml/2006/main">
              <a:ext uri="{FF2B5EF4-FFF2-40B4-BE49-F238E27FC236}">
                <a16:creationId xmlns:a16="http://schemas.microsoft.com/office/drawing/2014/main" id="{54B6E895-C786-48F4-BB26-BD0CDD24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0522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hangeLog.product.body">
            <a:extLst xmlns:a="http://schemas.openxmlformats.org/drawingml/2006/main">
              <a:ext uri="{FF2B5EF4-FFF2-40B4-BE49-F238E27FC236}">
                <a16:creationId xmlns:a16="http://schemas.microsoft.com/office/drawing/2014/main" id="{121AA557-4E10-4773-90EF-AE76AC4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补充正式产品全称</a:t>
            </a:r>
          </a:p>
        </p:txBody>
      </p:sp>
      <p:sp>
        <p:nvSpPr>
          <p:cNvPr id="32" name="!!changeLog.period.label">
            <a:extLst xmlns:a="http://schemas.openxmlformats.org/drawingml/2006/main">
              <a:ext uri="{FF2B5EF4-FFF2-40B4-BE49-F238E27FC236}">
                <a16:creationId xmlns:a16="http://schemas.microsoft.com/office/drawing/2014/main" id="{85CA885B-8C6D-4D86-A34A-223A9F85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43450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3" name="!!changeLog.period.body">
            <a:extLst xmlns:a="http://schemas.openxmlformats.org/drawingml/2006/main">
              <a:ext uri="{FF2B5EF4-FFF2-40B4-BE49-F238E27FC236}">
                <a16:creationId xmlns:a16="http://schemas.microsoft.com/office/drawing/2014/main" id="{4DC9094F-FD0F-4F73-B81C-529943DD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244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二季度 V1 更新为三季度 V2</a:t>
            </a:r>
          </a:p>
        </p:txBody>
      </p:sp>
      <p:sp>
        <p:nvSpPr>
          <p:cNvPr id="34" name="!!changeLog.risk.label">
            <a:extLst xmlns:a="http://schemas.openxmlformats.org/drawingml/2006/main">
              <a:ext uri="{FF2B5EF4-FFF2-40B4-BE49-F238E27FC236}">
                <a16:creationId xmlns:a16="http://schemas.microsoft.com/office/drawing/2014/main" id="{F5FF60FD-2904-4317-8BAD-A0033FF5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8167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35" name="!!changeLog.risk.body">
            <a:extLst xmlns:a="http://schemas.openxmlformats.org/drawingml/2006/main">
              <a:ext uri="{FF2B5EF4-FFF2-40B4-BE49-F238E27FC236}">
                <a16:creationId xmlns:a16="http://schemas.microsoft.com/office/drawing/2014/main" id="{67AEAA15-7D96-462A-A05B-7D7925F3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62675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补充净值波动与本金亏损</a:t>
            </a:r>
          </a:p>
        </p:txBody>
      </p:sp>
      <p:sp>
        <p:nvSpPr>
          <p:cNvPr id="36" name="!!clientDoc">
            <a:extLst xmlns:a="http://schemas.openxmlformats.org/drawingml/2006/main">
              <a:ext uri="{FF2B5EF4-FFF2-40B4-BE49-F238E27FC236}">
                <a16:creationId xmlns:a16="http://schemas.microsoft.com/office/drawing/2014/main" id="{18FFFFF0-F29C-407B-8B44-C8A20ADA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57475"/>
            <a:ext cx="4991100" cy="467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37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7598B4AD-7E4F-407E-954C-33D2B9B7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479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8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340E8658-A3A4-4B73-AA6D-E1176BA3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2876550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</a:t>
            </a:r>
          </a:p>
        </p:txBody>
      </p:sp>
      <p:sp>
        <p:nvSpPr>
          <p:cNvPr id="39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8253DA64-0DE8-4D89-ADDA-DD916893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4004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0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5BCA5DCF-6462-442B-8081-43986F6B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623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15CAD5C2-8616-4958-9B8E-8783E448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2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673E0431-B912-4D14-B46B-00A38AE2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338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43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2E07581D-473C-4AFB-AB52-652C9AF2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243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36583D74-9FBC-4253-801B-EE33F8B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815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5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894F25DB-214F-42E3-9A28-28A3EBBF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958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46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5FC8E872-2E1B-407C-8634-60C6B046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530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E8F9C26A-900D-48C5-9F3E-DD05784D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1017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48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80B7DA67-EDE8-438B-818C-5E80623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24500"/>
            <a:ext cx="4495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49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6120E0D6-AEE5-4BBC-9CF8-B371611F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00775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B3A61658-D86C-43AB-9D54-9EEA4B8D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25792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51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93E974D6-862B-4724-BBD8-9CDC6274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</p:spTree>
    <p:extLst>
      <p:ext uri="{BB962C8B-B14F-4D97-AF65-F5344CB8AC3E}">
        <p14:creationId xmlns:p14="http://schemas.microsoft.com/office/powerpoint/2010/main" val="32359253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heading">
            <a:extLst xmlns:a="http://schemas.openxmlformats.org/drawingml/2006/main">
              <a:ext uri="{FF2B5EF4-FFF2-40B4-BE49-F238E27FC236}">
                <a16:creationId xmlns:a16="http://schemas.microsoft.com/office/drawing/2014/main" id="{0B13950B-0D54-417A-AA42-3F0E06BC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公司工作地图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570D7D72-A126-4797-A53D-E07A3C96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一份客户材料的工作过程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B2B7F9E9-72C3-4451-B074-209BCEE4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716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24810DE7-C2AC-4847-AC3D-7AEADB14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419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2" action="ppaction://hlinksldjump" tooltip="前台 客户材料"/>
            <a:extLst xmlns:a="http://schemas.openxmlformats.org/drawingml/2006/main">
              <a:ext uri="{FF2B5EF4-FFF2-40B4-BE49-F238E27FC236}">
                <a16:creationId xmlns:a16="http://schemas.microsoft.com/office/drawing/2014/main" id="{C2BD9AA4-BAC0-4586-8181-A316869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a:extLst xmlns:a="http://schemas.openxmlformats.org/drawingml/2006/main">
              <a:ext uri="{FF2B5EF4-FFF2-40B4-BE49-F238E27FC236}">
                <a16:creationId xmlns:a16="http://schemas.microsoft.com/office/drawing/2014/main" id="{EED9CFD3-4BDD-4DCE-8926-7D14DA82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a:extLst xmlns:a="http://schemas.openxmlformats.org/drawingml/2006/main">
              <a:ext uri="{FF2B5EF4-FFF2-40B4-BE49-F238E27FC236}">
                <a16:creationId xmlns:a16="http://schemas.microsoft.com/office/drawing/2014/main" id="{6330E287-4018-44C2-95CB-C953E05C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.highlight">
            <a:extLst xmlns:a="http://schemas.openxmlformats.org/drawingml/2006/main">
              <a:ext uri="{FF2B5EF4-FFF2-40B4-BE49-F238E27FC236}">
                <a16:creationId xmlns:a16="http://schemas.microsoft.com/office/drawing/2014/main" id="{271FAAB7-CD5C-4E7C-8CEA-D63ABE12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038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!!task.client">
            <a:extLst xmlns:a="http://schemas.openxmlformats.org/drawingml/2006/main">
              <a:ext uri="{FF2B5EF4-FFF2-40B4-BE49-F238E27FC236}">
                <a16:creationId xmlns:a16="http://schemas.microsoft.com/office/drawing/2014/main" id="{EB8DA8B4-8AFB-4EDD-833F-DB44AE5B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10" name="!!map.front.outcome">
            <a:extLst xmlns:a="http://schemas.openxmlformats.org/drawingml/2006/main">
              <a:ext uri="{FF2B5EF4-FFF2-40B4-BE49-F238E27FC236}">
                <a16:creationId xmlns:a16="http://schemas.microsoft.com/office/drawing/2014/main" id="{63478790-1496-4D5C-A334-67A473F8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沟通稿 V1</a:t>
            </a:r>
          </a:p>
        </p:txBody>
      </p:sp>
      <p:sp>
        <p:nvSpPr>
          <p:cNvPr id="11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997D5105-80F9-4615-A831-2064E8AA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4419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2" name="!!nav.middle">
            <ns0:hlinkClick xmlns:ns0="http://schemas.openxmlformats.org/drawingml/2006/main" xmlns:ns1="http://schemas.openxmlformats.org/officeDocument/2006/relationships" ns1:id="rIdNavSlide4" action="ppaction://hlinksldjump" tooltip="中台 材料审核"/>
            <a:extLst xmlns:a="http://schemas.openxmlformats.org/drawingml/2006/main">
              <a:ext uri="{FF2B5EF4-FFF2-40B4-BE49-F238E27FC236}">
                <a16:creationId xmlns:a16="http://schemas.microsoft.com/office/drawing/2014/main" id="{9EE2428E-3912-4678-A9C0-420B34C1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3" name="!!task.review.highlight">
            <a:extLst xmlns:a="http://schemas.openxmlformats.org/drawingml/2006/main">
              <a:ext uri="{FF2B5EF4-FFF2-40B4-BE49-F238E27FC236}">
                <a16:creationId xmlns:a16="http://schemas.microsoft.com/office/drawing/2014/main" id="{599A0E5E-E847-4CA5-A4D7-58917E47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43250"/>
            <a:ext cx="4038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!!task.review">
            <a:extLst xmlns:a="http://schemas.openxmlformats.org/drawingml/2006/main">
              <a:ext uri="{FF2B5EF4-FFF2-40B4-BE49-F238E27FC236}">
                <a16:creationId xmlns:a16="http://schemas.microsoft.com/office/drawing/2014/main" id="{BD553ED2-5B87-46C6-B6BF-6504DF69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4802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5" name="!!task.risk">
            <a:extLst xmlns:a="http://schemas.openxmlformats.org/drawingml/2006/main">
              <a:ext uri="{FF2B5EF4-FFF2-40B4-BE49-F238E27FC236}">
                <a16:creationId xmlns:a16="http://schemas.microsoft.com/office/drawing/2014/main" id="{A869428E-D30D-423B-A17F-89DF0973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6" name="!!map.middle.outcome">
            <a:extLst xmlns:a="http://schemas.openxmlformats.org/drawingml/2006/main">
              <a:ext uri="{FF2B5EF4-FFF2-40B4-BE49-F238E27FC236}">
                <a16:creationId xmlns:a16="http://schemas.microsoft.com/office/drawing/2014/main" id="{C8E05B03-841B-4FF4-9DFE-F71E31B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4483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修订稿 V2</a:t>
            </a:r>
          </a:p>
        </p:txBody>
      </p:sp>
      <p:sp>
        <p:nvSpPr>
          <p:cNvPr id="17" name="!!map.back">
            <a:extLst xmlns:a="http://schemas.openxmlformats.org/drawingml/2006/main">
              <a:ext uri="{FF2B5EF4-FFF2-40B4-BE49-F238E27FC236}">
                <a16:creationId xmlns:a16="http://schemas.microsoft.com/office/drawing/2014/main" id="{DCC3B679-0F47-4E99-8D7D-33190C83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66950"/>
            <a:ext cx="4419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back">
            <ns0:hlinkClick xmlns:ns0="http://schemas.openxmlformats.org/drawingml/2006/main" xmlns:ns1="http://schemas.openxmlformats.org/officeDocument/2006/relationships" ns1:id="rIdNavSlide7" action="ppaction://hlinksldjump" tooltip="后台 版本更新"/>
            <a:extLst xmlns:a="http://schemas.openxmlformats.org/drawingml/2006/main">
              <a:ext uri="{FF2B5EF4-FFF2-40B4-BE49-F238E27FC236}">
                <a16:creationId xmlns:a16="http://schemas.microsoft.com/office/drawing/2014/main" id="{7C756F74-3DFD-4407-89D1-66BD16DE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669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9" name="!!task.files.highlight">
            <a:extLst xmlns:a="http://schemas.openxmlformats.org/drawingml/2006/main">
              <a:ext uri="{FF2B5EF4-FFF2-40B4-BE49-F238E27FC236}">
                <a16:creationId xmlns:a16="http://schemas.microsoft.com/office/drawing/2014/main" id="{3FBA5E17-4D77-4C53-A486-0A2AA449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43250"/>
            <a:ext cx="4038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!!task.files">
            <a:extLst xmlns:a="http://schemas.openxmlformats.org/drawingml/2006/main">
              <a:ext uri="{FF2B5EF4-FFF2-40B4-BE49-F238E27FC236}">
                <a16:creationId xmlns:a16="http://schemas.microsoft.com/office/drawing/2014/main" id="{4204514E-2708-4145-ADAB-7DC0A34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4802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21" name="!!task.dev">
            <a:extLst xmlns:a="http://schemas.openxmlformats.org/drawingml/2006/main">
              <a:ext uri="{FF2B5EF4-FFF2-40B4-BE49-F238E27FC236}">
                <a16:creationId xmlns:a16="http://schemas.microsoft.com/office/drawing/2014/main" id="{3CA9814F-81C7-4F25-B5B5-230D7E60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14800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22" name="!!map.back.outcome">
            <a:extLst xmlns:a="http://schemas.openxmlformats.org/drawingml/2006/main">
              <a:ext uri="{FF2B5EF4-FFF2-40B4-BE49-F238E27FC236}">
                <a16:creationId xmlns:a16="http://schemas.microsoft.com/office/drawing/2014/main" id="{228F48DA-9E7D-4807-A4D8-A0EF980B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483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更新稿与变更清单</a:t>
            </a:r>
          </a:p>
        </p:txBody>
      </p:sp>
      <p:cxnSp>
        <p:nvCxnSpPr>
          <p:cNvPr id="23" name="!!route.front-middle">
            <a:extLst xmlns:a="http://schemas.openxmlformats.org/drawingml/2006/main">
              <a:ext uri="{FF2B5EF4-FFF2-40B4-BE49-F238E27FC236}">
                <a16:creationId xmlns:a16="http://schemas.microsoft.com/office/drawing/2014/main" id="{4D258171-DE1A-46FC-8B32-061EC68A378A}"/>
              </a:ext>
            </a:extLst>
          </p:cNvPr>
          <p:cNvCxnSpPr/>
          <p:nvPr/>
        </p:nvCxnSpPr>
        <p:spPr>
          <a:xfrm xmlns:a="http://schemas.openxmlformats.org/drawingml/2006/main">
            <a:off x="5067300" y="4476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7F7B"/>
            </a:solidFill>
            <a:prstDash val="solid"/>
            <a:tailEnd type="triangle" w="sm" len="sm"/>
          </a:ln>
        </p:spPr>
      </p:cxnSp>
      <p:cxnSp>
        <p:nvCxnSpPr>
          <p:cNvPr id="24" name="!!route.middle-back">
            <a:extLst xmlns:a="http://schemas.openxmlformats.org/drawingml/2006/main">
              <a:ext uri="{FF2B5EF4-FFF2-40B4-BE49-F238E27FC236}">
                <a16:creationId xmlns:a16="http://schemas.microsoft.com/office/drawing/2014/main" id="{F4984A19-C792-4328-9762-D30ABEB420EB}"/>
              </a:ext>
            </a:extLst>
          </p:cNvPr>
          <p:cNvCxnSpPr/>
          <p:nvPr/>
        </p:nvCxnSpPr>
        <p:spPr>
          <a:xfrm xmlns:a="http://schemas.openxmlformats.org/drawingml/2006/main">
            <a:off x="9829800" y="4476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7F7B"/>
            </a:solidFill>
            <a:prstDash val="solid"/>
            <a:tailEnd type="triangle" w="sm" len="sm"/>
          </a:ln>
        </p:spPr>
      </p:cxnSp>
      <p:sp>
        <p:nvSpPr>
          <p:cNvPr id="25" name="!!map.route.caption">
            <a:extLst xmlns:a="http://schemas.openxmlformats.org/drawingml/2006/main">
              <a:ext uri="{FF2B5EF4-FFF2-40B4-BE49-F238E27FC236}">
                <a16:creationId xmlns:a16="http://schemas.microsoft.com/office/drawing/2014/main" id="{40FE07AC-6DA3-44B9-920D-253DBD8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0"/>
            <a:ext cx="1394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生成材料、审核修改、比对更新，交付物沿流程复用</a:t>
            </a:r>
          </a:p>
        </p:txBody>
      </p:sp>
      <p:sp>
        <p:nvSpPr>
          <p:cNvPr id="26" name="!!nav.home">
            <ns0:hlinkClick xmlns:ns0="http://schemas.openxmlformats.org/drawingml/2006/main" xmlns:ns1="http://schemas.openxmlformats.org/officeDocument/2006/relationships" ns1:id="rIdNavSlide1" action="ppaction://hlinksldjump" tooltip="公司全景"/>
            <a:extLst xmlns:a="http://schemas.openxmlformats.org/drawingml/2006/main">
              <a:ext uri="{FF2B5EF4-FFF2-40B4-BE49-F238E27FC236}">
                <a16:creationId xmlns:a16="http://schemas.microsoft.com/office/drawing/2014/main" id="{D38CC7E1-C2EB-409C-AA6C-332521D0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2667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7" name="!!state.number">
            <a:extLst xmlns:a="http://schemas.openxmlformats.org/drawingml/2006/main">
              <a:ext uri="{FF2B5EF4-FFF2-40B4-BE49-F238E27FC236}">
                <a16:creationId xmlns:a16="http://schemas.microsoft.com/office/drawing/2014/main" id="{406140A0-0076-45F6-BCB9-54653740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57237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9 / 9</a:t>
            </a:r>
          </a:p>
        </p:txBody>
      </p:sp>
      <p:sp>
        <p:nvSpPr>
          <p:cNvPr id="28" name="!!nav.prev">
            <ns0:hlinkClick xmlns:ns0="http://schemas.openxmlformats.org/drawingml/2006/main" xmlns:ns1="http://schemas.openxmlformats.org/officeDocument/2006/relationships" ns1:id="rIdNavSlide8" action="ppaction://hlinksldjump" tooltip="上一步"/>
            <a:extLst xmlns:a="http://schemas.openxmlformats.org/drawingml/2006/main">
              <a:ext uri="{FF2B5EF4-FFF2-40B4-BE49-F238E27FC236}">
                <a16:creationId xmlns:a16="http://schemas.microsoft.com/office/drawing/2014/main" id="{B78D7DC5-323C-4818-98B9-D0E15EA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1047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9" name="!!nav.next">
            <ns0:hlinkClick xmlns:ns0="http://schemas.openxmlformats.org/drawingml/2006/main" xmlns:ns1="http://schemas.openxmlformats.org/officeDocument/2006/relationships" ns1:id="rIdNavSlide1" action="ppaction://hlinksldjump" tooltip="下一步"/>
            <a:extLst xmlns:a="http://schemas.openxmlformats.org/drawingml/2006/main">
              <a:ext uri="{FF2B5EF4-FFF2-40B4-BE49-F238E27FC236}">
                <a16:creationId xmlns:a16="http://schemas.microsoft.com/office/drawing/2014/main" id="{7497721A-4079-42ED-953F-8B83E963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67600"/>
            <a:ext cx="1085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重新演示</a:t>
            </a:r>
          </a:p>
        </p:txBody>
      </p:sp>
      <p:sp>
        <p:nvSpPr>
          <p:cNvPr id="30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74EDB25-37B1-4F8C-8FAD-BB1428D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24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1" name="!!footer.source">
            <a:extLst xmlns:a="http://schemas.openxmlformats.org/drawingml/2006/main">
              <a:ext uri="{FF2B5EF4-FFF2-40B4-BE49-F238E27FC236}">
                <a16:creationId xmlns:a16="http://schemas.microsoft.com/office/drawing/2014/main" id="{08773031-80CF-4798-910D-9164FBBC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48650"/>
            <a:ext cx="1285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方案参考：天弘基金；鹏华基金、盈米基金销售；工银瑞信基金</a:t>
            </a:r>
          </a:p>
        </p:txBody>
      </p:sp>
    </p:spTree>
    <p:extLst>
      <p:ext uri="{BB962C8B-B14F-4D97-AF65-F5344CB8AC3E}">
        <p14:creationId xmlns:p14="http://schemas.microsoft.com/office/powerpoint/2010/main" val="107192948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2026-10-25T15:42:33.6450000Z</dcterms:created>
  <dcterms:modified xsi:type="dcterms:W3CDTF">2026-10-25T15:42:33.6450000Z</dcterms:modified>
</coreProperties>
</file>