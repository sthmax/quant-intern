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8" r:id="rId39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9" r:id="rId40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当前第1页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本次为 2026-10-15 修订稿。保留四部分结构；在公司方案加入分层会话缓存，在 AI Infra Book 部分加入缓存取回算例。使用匿名“实习项目”署名。正文共27页，附录7页。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开场先承接上周的个人 Agent、公司知识库和公司通用 Agent 三种方案。本次把选型进一步落到硬件、上下文、并发速度和成本。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上次我们介绍了个人Agent、公司知识库和公司通用Agent三种方案。这次重点回答四个问题：选定模型后需要什么硬件，每位用户能用多大的上下文，多人同时使用时有多快，以及整套方案需要多少钱。</a:t>
            </a:r>
          </a:p>
          <a:p/>
          <a:p>
            <a:r>
              <a:t>上下文是模型一次请求中处理的全部token，包括系统指令、资料、对话、代码、工具返回结果，以及本次生成的内容。Agent任务越长，累积的内容越多。本次比较131K、262K、512K和1M四档，前两档作为基础要求。512K指524,288个token，1M指1,000,000个token；每档都从总容量中预留8,192个token用于输出，其余用于输入。</a:t>
            </a:r>
          </a:p>
          <a:p/>
          <a:p>
            <a:r>
              <a:t>今天主要讲四部分：Spark个人方案、DeepSeek公司方案、A100定制推理项目，以及AI Infra Book提供的分析方法。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当前第2页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不要把开场讲成目录朗读。把问题说清楚：能加载模型只是第一步，还需要分别算容量、速度、共享时的资源以及成本。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上次我们介绍了个人Agent、公司知识库和公司通用Agent三种方案。这次重点回答四个问题：选定模型后需要什么硬件，每位用户能用多大的上下文，多人同时使用时有多快，以及整套方案需要多少钱。</a:t>
            </a:r>
          </a:p>
          <a:p/>
          <a:p>
            <a:r>
              <a:t>上下文是模型一次请求中处理的全部token，包括系统指令、资料、对话、代码、工具返回结果，以及本次生成的内容。Agent任务越长，累积的内容越多。本次比较131K、262K、512K和1M四档，前两档作为基础要求。512K指524,288个token，1M指1,000,000个token；每档都从总容量中预留8,192个token用于输出，其余用于输入。</a:t>
            </a:r>
          </a:p>
          <a:p/>
          <a:p>
            <a:r>
              <a:t>今天主要讲四部分：Spark个人方案、DeepSeek公司方案、A100定制推理项目，以及AI Infra Book提供的分析方法。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当前第3页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强调总上下文含输出。后续四档速度表，是先从总量里扣掉 8,192 个输出 token，再估算其余输入的首次 prefill。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上次我们介绍了个人Agent、公司知识库和公司通用Agent三种方案。这次重点回答四个问题：选定模型后需要什么硬件，每位用户能用多大的上下文，多人同时使用时有多快，以及整套方案需要多少钱。</a:t>
            </a:r>
          </a:p>
          <a:p/>
          <a:p>
            <a:r>
              <a:t>上下文是模型一次请求中处理的全部token，包括系统指令、资料、对话、代码、工具返回结果，以及本次生成的内容。Agent任务越长，累积的内容越多。本次比较131K、262K、512K和1M四档，前两档作为基础要求。512K指524,288个token，1M指1,000,000个token；每档都从总容量中预留8,192个token用于输出，其余用于输入。</a:t>
            </a:r>
          </a:p>
          <a:p/>
          <a:p>
            <a:r>
              <a:t>今天主要讲四部分：Spark个人方案、DeepSeek公司方案、A100定制推理项目，以及AI Infra Book提供的分析方法。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当前第4页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用比较两期财报的例子解释：模型负责判断和工具调用，计算和文件读写留在员工电脑，不需要把所有执行环境搬到 Spark。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1. 模型放在Spark 工具留在员工电脑</a:t>
            </a:r>
          </a:p>
          <a:p/>
          <a:p>
            <a:r>
              <a:t>个人方案暂定Qwen3.8-27B，模型运行在一台DGX Spark上。员工在自己的电脑上运行OpenCode，由它读写文件、运行Python、处理Excel和调用公司工具。OpenCode把指令和所需资料发送给Spark，模型返回答案或工具调用；需要执行工具时，由OpenCode在员工电脑上完成。</a:t>
            </a:r>
          </a:p>
          <a:p/>
          <a:p>
            <a:r>
              <a:t>以比较两期财报为例：Agent先读取报告和表格，统一财务科目与单位，再运行脚本计算差异、回到原文核对，最后输出Excel、图表和说明。Spark负责模型推理，员工电脑负责文件处理和脚本计算。这种分工沿用员工现有的工作目录和NAS访问权限，并将Spark的内存主要用于模型权重和KV Cache。</a:t>
            </a:r>
          </a:p>
          <a:p/>
          <a:p>
            <a:r>
              <a:t>三个人共用一台Spark时，各自保留独立的文件、身份和会话，共享模型服务。生成速度主要看同时运行的请求数；上下文容量则看所有会话合计占用了多少KV Cache。</a:t>
            </a:r>
          </a:p>
          <a:p/>
          <a:p>
            <a:r>
              <a:t>【公开来源入口】</a:t>
            </a:r>
          </a:p>
          <a:p>
            <a:r>
              <a:t>qwen: https://huggingface.co/Qwen/Qwen3.8-27B-FP8/blob/main/README.md</a:t>
            </a:r>
          </a:p>
          <a:p>
            <a:r>
              <a:t>bench: https://docs.vllm.ai/en/latest/cli/bench/serve/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当前第5页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左侧看开始生成后的速度，右侧看首次处理整份输入的等待。两者不要混为一谈。512K 已经不是“几秒钟读完”的交互体验；1M 更应当理解为容量上限而非默认工作长度。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2. 首token等待时间与生成速度</a:t>
            </a:r>
          </a:p>
          <a:p/>
          <a:p>
            <a:r>
              <a:t>一次推理分为两个阶段：prefill处理输入token，decode逐步生成输出token。用户先等待输入处理完成，再看到模型开始输出；开始输出后的生成速度用token/s表示。</a:t>
            </a:r>
          </a:p>
          <a:p/>
          <a:p>
            <a:r>
              <a:t>朋友在单台Spark上的测试中，100K输入的首token等待时间约145秒，之后的生成速度约20 token/s；500K输入的首token等待时间约24.5分钟，之后约15 token/s。总上下文为1M的请求也完成了，首token等待时间约80分钟。</a:t>
            </a:r>
          </a:p>
          <a:p/>
          <a:p>
            <a:r>
              <a:t>这组测试使用FP8权重和FP8 KV Cache，开启MTP推测解码，每轮最多提出3个草稿token。输入为随机token；1M请求只生成64个token，用于验证容量。BF16 KV Cache的容量另作估算。</a:t>
            </a:r>
          </a:p>
          <a:p/>
          <a:p>
            <a:r>
              <a:t>长材料的首次prefill可以提前在后台完成，并保留生成的KV Cache。之后Agent把工具结果追加到原输入末尾；前缀缓存命中时，模型只需对新增输入做prefill，就能继续生成。</a:t>
            </a:r>
          </a:p>
          <a:p/>
          <a:p>
            <a:r>
              <a:t>### 3. 不同上下文长度下的速度</a:t>
            </a:r>
          </a:p>
          <a:p/>
          <a:p>
            <a:r>
              <a:t>根据这组Spark测试，估算单个请求在接近用满各档上下文时的表现。每档预留8K输出，表中首次prefill处理的是其余全部输入。</a:t>
            </a:r>
          </a:p>
          <a:p/>
          <a:p>
            <a:r>
              <a:t>| 总上下文 | 估算decode速度 | 估算首次prefill时间 | 前缀缓存命中时，新增1K输入的估算prefill时间 |</a:t>
            </a:r>
          </a:p>
          <a:p>
            <a:r>
              <a:t>|---|---:|---:|---:|</a:t>
            </a:r>
          </a:p>
          <a:p>
            <a:r>
              <a:t>| 131K | 约19.7 token/s | 约3.1分钟 | 约2秒 |</a:t>
            </a:r>
          </a:p>
          <a:p>
            <a:r>
              <a:t>| 262K | 约17.7 token/s | 约8.6分钟 | 约3秒 |</a:t>
            </a:r>
          </a:p>
          <a:p>
            <a:r>
              <a:t>| 512K | 约14.7 token/s | 约25.8分钟 | 约5秒 |</a:t>
            </a:r>
          </a:p>
          <a:p>
            <a:r>
              <a:t>| 1M | 约11.2 token/s，外推 | 约78.9分钟，外推 | 约9秒，外推 |</a:t>
            </a:r>
          </a:p>
          <a:p/>
          <a:p>
            <a:r>
              <a:t>最后一列假设原有输入的KV Cache和线性注意力状态都保留在GPU上，可以直接复用。</a:t>
            </a:r>
          </a:p>
          <a:p/>
          <a:p>
            <a:r>
              <a:t>以总上下文接近512K、预留8K输出的请求为例：本轮工具结果为1K token、其余输入已缓存时，这1K新增输入的prefill估算约需5秒；本轮工具结果为8K token、其余输入已缓存时，这8K输入的prefill估算约需40秒。两种请求完成prefill后的总输入长度相同。</a:t>
            </a:r>
          </a:p>
          <a:p/>
          <a:p>
            <a:r>
              <a:t>5秒和40秒是新增输入的prefill时间；实际首token等待还包括请求排队和第一步decode。</a:t>
            </a:r>
          </a:p>
          <a:p/>
          <a:p>
            <a:r>
              <a:t>前缀缓存命中后，旧输入不必重新做prefill，但decode仍然需要访问上下文对应的KV Cache。上下文越长，每生成一个token需要处理的KV越多，因此生成速度仍会下降。</a:t>
            </a:r>
          </a:p>
          <a:p/>
          <a:p>
            <a:r>
              <a:t>512K上下文可以同时容纳更多资料、代码和工具结果，估算生成速度约15 token/s，低于单人20 token/s的目标。1M估算约11 token/s，首次prefill接近80分钟。</a:t>
            </a:r>
          </a:p>
          <a:p/>
          <a:p/>
          <a:p>
            <a:r>
              <a:t>【补充数据／初版 Beamer PDF】</a:t>
            </a:r>
          </a:p>
          <a:p>
            <a:r>
              <a:t>图表均从零起算。四档 decode 为 19.7、17.7、14.7、11.2 token/s；首次 prefill 为 3.1、8.6、25.8、78.9 分钟。最后一档是外推，不是把仅输出 64 token 的容量测试当成长输出基准。</a:t>
            </a:r>
          </a:p>
          <a:p/>
          <a:p>
            <a:r>
              <a:t>【公开来源入口】</a:t>
            </a:r>
          </a:p>
          <a:p>
            <a:r>
              <a:t>qwen: https://huggingface.co/Qwen/Qwen3.8-27B-FP8/blob/main/README.md</a:t>
            </a:r>
          </a:p>
          <a:p>
            <a:r>
              <a:t>bench: https://docs.vllm.ai/en/latest/cli/bench/serve/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当前第6页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这一页解释为什么长上下文 Agent 仍有可能交互：可以预热材料，并保留缓存。但 5 秒、40 秒不是端到端 TTFT，模型仍然要排队并执行第一步 decode。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2. 首token等待时间与生成速度</a:t>
            </a:r>
          </a:p>
          <a:p/>
          <a:p>
            <a:r>
              <a:t>一次推理分为两个阶段：prefill处理输入token，decode逐步生成输出token。用户先等待输入处理完成，再看到模型开始输出；开始输出后的生成速度用token/s表示。</a:t>
            </a:r>
          </a:p>
          <a:p/>
          <a:p>
            <a:r>
              <a:t>朋友在单台Spark上的测试中，100K输入的首token等待时间约145秒，之后的生成速度约20 token/s；500K输入的首token等待时间约24.5分钟，之后约15 token/s。总上下文为1M的请求也完成了，首token等待时间约80分钟。</a:t>
            </a:r>
          </a:p>
          <a:p/>
          <a:p>
            <a:r>
              <a:t>这组测试使用FP8权重和FP8 KV Cache，开启MTP推测解码，每轮最多提出3个草稿token。输入为随机token；1M请求只生成64个token，用于验证容量。BF16 KV Cache的容量另作估算。</a:t>
            </a:r>
          </a:p>
          <a:p/>
          <a:p>
            <a:r>
              <a:t>长材料的首次prefill可以提前在后台完成，并保留生成的KV Cache。之后Agent把工具结果追加到原输入末尾；前缀缓存命中时，模型只需对新增输入做prefill，就能继续生成。</a:t>
            </a:r>
          </a:p>
          <a:p/>
          <a:p>
            <a:r>
              <a:t>### 3. 不同上下文长度下的速度</a:t>
            </a:r>
          </a:p>
          <a:p/>
          <a:p>
            <a:r>
              <a:t>根据这组Spark测试，估算单个请求在接近用满各档上下文时的表现。每档预留8K输出，表中首次prefill处理的是其余全部输入。</a:t>
            </a:r>
          </a:p>
          <a:p/>
          <a:p>
            <a:r>
              <a:t>| 总上下文 | 估算decode速度 | 估算首次prefill时间 | 前缀缓存命中时，新增1K输入的估算prefill时间 |</a:t>
            </a:r>
          </a:p>
          <a:p>
            <a:r>
              <a:t>|---|---:|---:|---:|</a:t>
            </a:r>
          </a:p>
          <a:p>
            <a:r>
              <a:t>| 131K | 约19.7 token/s | 约3.1分钟 | 约2秒 |</a:t>
            </a:r>
          </a:p>
          <a:p>
            <a:r>
              <a:t>| 262K | 约17.7 token/s | 约8.6分钟 | 约3秒 |</a:t>
            </a:r>
          </a:p>
          <a:p>
            <a:r>
              <a:t>| 512K | 约14.7 token/s | 约25.8分钟 | 约5秒 |</a:t>
            </a:r>
          </a:p>
          <a:p>
            <a:r>
              <a:t>| 1M | 约11.2 token/s，外推 | 约78.9分钟，外推 | 约9秒，外推 |</a:t>
            </a:r>
          </a:p>
          <a:p/>
          <a:p>
            <a:r>
              <a:t>最后一列假设原有输入的KV Cache和线性注意力状态都保留在GPU上，可以直接复用。</a:t>
            </a:r>
          </a:p>
          <a:p/>
          <a:p>
            <a:r>
              <a:t>以总上下文接近512K、预留8K输出的请求为例：本轮工具结果为1K token、其余输入已缓存时，这1K新增输入的prefill估算约需5秒；本轮工具结果为8K token、其余输入已缓存时，这8K输入的prefill估算约需40秒。两种请求完成prefill后的总输入长度相同。</a:t>
            </a:r>
          </a:p>
          <a:p/>
          <a:p>
            <a:r>
              <a:t>5秒和40秒是新增输入的prefill时间；实际首token等待还包括请求排队和第一步decode。</a:t>
            </a:r>
          </a:p>
          <a:p/>
          <a:p>
            <a:r>
              <a:t>前缀缓存命中后，旧输入不必重新做prefill，但decode仍然需要访问上下文对应的KV Cache。上下文越长，每生成一个token需要处理的KV越多，因此生成速度仍会下降。</a:t>
            </a:r>
          </a:p>
          <a:p/>
          <a:p>
            <a:r>
              <a:t>512K上下文可以同时容纳更多资料、代码和工具结果，估算生成速度约15 token/s，低于单人20 token/s的目标。1M估算约11 token/s，首次prefill接近80分钟。</a:t>
            </a:r>
          </a:p>
          <a:p/>
          <a:p>
            <a:r>
              <a:t>【公开来源入口】</a:t>
            </a:r>
          </a:p>
          <a:p>
            <a:r>
              <a:t>qwen: https://huggingface.co/Qwen/Qwen3.8-27B-FP8/blob/main/README.md</a:t>
            </a:r>
          </a:p>
          <a:p>
            <a:r>
              <a:t>bench: https://docs.vllm.ai/en/latest/cli/bench/serve/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当前第7页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三路请求均为100,000输入、各4,096输出。共同decode窗口每路平均17.47 token/s，页面四舍五入为17.5；从各自首token到输出结束的全段平均12.45，页面写12.5。左侧1.81M池及600K/1M分配仅说明容量，不是右侧速度对应的上下文长度。详细原始日志未随附件提供，数字沿用handoff和用户提供的汇总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这一页把容量和速度分开解释。17.5 与 12.5 的统计时段不同，不能把它们当作重复实验。长输入排队 prefill、交互请求优先、批量任务转到空闲时段。BF16 KV 的近似容量放在附录 B。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4. 三人共享KV Cache和计算资源</a:t>
            </a:r>
          </a:p>
          <a:p/>
          <a:p>
            <a:r>
              <a:t>这套FP8 KV Cache的总容量约1.81M token，三人均分时每人约600K；如果一人占用1M，其余两人就共用剩下的约810K。</a:t>
            </a:r>
          </a:p>
          <a:p/>
          <a:p>
            <a:r>
              <a:t>保存三个人的KV Cache占用内存，三个人同时生成还会共享GPU计算能力和内存带宽。三人各输入100K的测试中，只统计三路同时decode的时段，每路平均约17.5 token/s。</a:t>
            </a:r>
          </a:p>
          <a:p/>
          <a:p>
            <a:r>
              <a:t>如果从每个请求的首token统计到输出结束，每路平均约12.5 token/s；这个时段还包含其他请求做prefill时造成的等待。</a:t>
            </a:r>
          </a:p>
          <a:p/>
          <a:p>
            <a:r>
              <a:t>三人共享时，保留各自的会话缓存，优先处理正在交互的请求；长输入的prefill排队执行，批量任务放到空闲时段。如果改用BF16 KV Cache，同一内存预算下可保存的token数估算减半。预留10%容量余量后，可以容纳单人512K，或三人各262K。</a:t>
            </a:r>
          </a:p>
          <a:p/>
          <a:p>
            <a:r>
              <a:t>以下资料供讲者核对数据和回答技术问题。</a:t>
            </a:r>
          </a:p>
          <a:p/>
          <a:p>
            <a:r>
              <a:t>- [Spark详细方案](../../knowledge-base/infrastructure/scenario-1-personal-agent-2026-09-24.md)：四档上下文的计算、精度、共享KV Cache和费用；[朋友提供的测试](../../knowledge-base/infrastructure/dgx-spark-qwen27-external-benchmark-2026-10-12.md)。三人各约600K是1.81M缓存池直接均分的结果；预留10%容量后，每人约542K，仍可容纳三人各512K。</a:t>
            </a:r>
          </a:p>
          <a:p>
            <a:r>
              <a:t>- [DeepSeek详细方案](../../knowledge-base/infrastructure/scenario-3-company-agent-2026-09-23.md)：各卡的KV Cache、TP8与双TP4、公开AgentX测试及各档并发计算。正文表格中的H100和四卡H200采用CUDA Graph捕获后建议的较小KV预算；各配置的原始分配容量及计算方法见详细文档。</a:t>
            </a:r>
          </a:p>
          <a:p>
            <a:r>
              <a:t>- [整机预算与采购](../../knowledge-base/infrastructure/server-gpu-procurement-2026-10-12.md)：10月12日价格、汇率7.00假设、翻新与新机、NVL与SXM、交付条件。软件授权、机房改造和长期运行费用单独计算。</a:t>
            </a:r>
          </a:p>
          <a:p>
            <a:r>
              <a:t>- [A100完整分析](../../knowledge-base/infrastructure/deepseek-a100-project-review-2026-10-12.md)：项目架构、优化方法、modified vLLM性能对照、原生权重与缓存容量；附录包含具体执行过程和许可说明。</a:t>
            </a:r>
          </a:p>
          <a:p>
            <a:r>
              <a:t>- [AI Infra Book精读](../../knowledge-base/infrastructure/ai-infra-book-reading-2026-10-12.md)：公式、章节位置及Spark、DeepSeek算例；原书[GitHub仓库](https://github.com/bojieli/ai-infra-book)。</a:t>
            </a:r>
          </a:p>
          <a:p>
            <a:r>
              <a:t>- [公司知识库一页回顾](../../knowledge-base/infrastructure/scenario-2-enterprise-rag-2026-09-23.md)：Onyx与Milvus、NAS权限及通用检索接口。</a:t>
            </a:r>
          </a:p>
          <a:p>
            <a:r>
              <a:t>- [A100与modified vLLM对照来源](../../knowledge-base/sources/TECH-088/original.md)：作者文章公开部分、A100性能报告、A800测试方法与逐项优化对比，以及vLLM已有的后端功能。</a:t>
            </a:r>
          </a:p>
          <a:p/>
          <a:p>
            <a:r>
              <a:t>【公开来源入口】</a:t>
            </a:r>
          </a:p>
          <a:p>
            <a:r>
              <a:t>qwen: https://huggingface.co/Qwen/Qwen3.8-27B-FP8/blob/main/README.md</a:t>
            </a:r>
          </a:p>
          <a:p>
            <a:r>
              <a:t>bench: https://docs.vllm.ai/en/latest/cli/bench/serve/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当前第8页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个人与三人共享并不是采购三台 Spark。共享方案主要增加接入、隔离与测试工作。价格仍按原讲稿 10 月 12 日的预算口径。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5. 购置与部署费用</a:t>
            </a:r>
          </a:p>
          <a:p/>
          <a:p>
            <a:r>
              <a:t>单台Spark的国内交付预算约**5.8–6.2万元**，按10月12日美国官方标价6,950美元、假设汇率7.00换算，再计入估算的税费、运输和技术支持费用。</a:t>
            </a:r>
          </a:p>
          <a:p/>
          <a:p>
            <a:r>
              <a:t>再计入首次配置、工具接入和功能检查，个人方案的实施费用估算为1–2万元，连同硬件共约**6.8–8.2万元**。三人共享方案的硬件与实施合计约**7.8–9.9万元**。自行部署时，实施费用对应的是团队投入的工时。</a:t>
            </a:r>
          </a:p>
          <a:p/>
          <a:p/>
          <a:p>
            <a:r>
              <a:t>【补充数据／初版 Beamer PDF】</a:t>
            </a:r>
          </a:p>
          <a:p>
            <a:r>
              <a:t>初版 Beamer PDF 附录 D：个人实施 4–8 人天 × 2,500 元；三人实施 8–15 人天 × 2,500 元。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当前第9页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先画清边界：一个共享模型服务，对应多个独立任务环境。Skills 保存方法，MCP 连接工具，知识库负责解析、索引和权限同步。GPU 内的模型权重与 KV、主机内的 Engram 必须分开预算。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1. 模型与工具的部署方式</a:t>
            </a:r>
          </a:p>
          <a:p/>
          <a:p>
            <a:r>
              <a:t>公司方案暂定DeepSeek-V4.1-Flash，Agent采用Hermes，配合Skills和MCP。Skills保存工作步骤与模板，MCP连接资料检索和业务工具。每个员工或项目有独立的会话、文件目录和执行环境，共享模型服务器。</a:t>
            </a:r>
          </a:p>
          <a:p/>
          <a:p>
            <a:r>
              <a:t>公司知识库按员工权限检索NAS资料，并返回原文出处。平台方案采用Onyx Enterprise，自建方案以Milvus为核心；通用Agent调用知识库的检索接口。文件解析、权限同步和索引由知识库统一管理。</a:t>
            </a:r>
          </a:p>
          <a:p/>
          <a:p>
            <a:r>
              <a:t>公司方案的目标是同时运行20个任务，每个任务最多使用1M上下文，并提供131K、262K和512K三个较小档位。</a:t>
            </a:r>
          </a:p>
          <a:p/>
          <a:p>
            <a:r>
              <a:t>### 2. 模型服务器的内存分成三块</a:t>
            </a:r>
          </a:p>
          <a:p/>
          <a:p>
            <a:r>
              <a:t>模型服务主要占用三部分内存：GPU中的模型权重、主机内存中约203GB的Engram查找表，以及各会话的KV Cache。KV Cache随会话数和上下文长度增加。</a:t>
            </a:r>
          </a:p>
          <a:p/>
          <a:p>
            <a:r>
              <a:t>在当前H100／H200推理实现中，总上下文为1M的一个会话，全局KV Cache在每张参与推理的GPU上各占约**1.83GB**。20个这样的会话合计占约**36.5GB／卡**，局部状态、草稿模型和运行缓冲另占显存。</a:t>
            </a:r>
          </a:p>
          <a:p/>
          <a:p>
            <a:r>
              <a:t>在卡数和部署方式相同的情况下，H200的显存更大，装入模型后能给KV Cache留出更多空间。因此，相同上下文长度下，H200能容纳更多会话。</a:t>
            </a:r>
          </a:p>
          <a:p/>
          <a:p>
            <a:r>
              <a:t>【公开来源入口】</a:t>
            </a:r>
          </a:p>
          <a:p>
            <a:r>
              <a:t>deepseek: https://huggingface.co/deepseek-ai/DeepSeek-V4.1-Flash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当前第10页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先给出容量筛选：H100 20 路均分不到 262K；四卡 H200 到约 762K；八卡 H200 两种布局均可覆盖 20 路 1M。右侧 1.83GB 仅是全局 KV，不能当作全部显存需求。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2. 模型服务器的内存分成三块</a:t>
            </a:r>
          </a:p>
          <a:p/>
          <a:p>
            <a:r>
              <a:t>模型服务主要占用三部分内存：GPU中的模型权重、主机内存中约203GB的Engram查找表，以及各会话的KV Cache。KV Cache随会话数和上下文长度增加。</a:t>
            </a:r>
          </a:p>
          <a:p/>
          <a:p>
            <a:r>
              <a:t>在当前H100／H200推理实现中，总上下文为1M的一个会话，全局KV Cache在每张参与推理的GPU上各占约**1.83GB**。20个这样的会话合计占约**36.5GB／卡**，局部状态、草稿模型和运行缓冲另占显存。</a:t>
            </a:r>
          </a:p>
          <a:p/>
          <a:p>
            <a:r>
              <a:t>在卡数和部署方式相同的情况下，H200的显存更大，装入模型后能给KV Cache留出更多空间。因此，相同上下文长度下，H200能容纳更多会话。</a:t>
            </a:r>
          </a:p>
          <a:p/>
          <a:p>
            <a:r>
              <a:t>### 3. 四卡与八卡的上下文容量</a:t>
            </a:r>
          </a:p>
          <a:p/>
          <a:p>
            <a:r>
              <a:t>下表按公开启动日志中的可用KV Cache预算，估算20个会话均分后各自能使用多大的上下文，并预留10%的缓存容量。</a:t>
            </a:r>
          </a:p>
          <a:p/>
          <a:p>
            <a:r>
              <a:t>| 配置 | 20个会话均分时，每个会话可用的上下文 | 按缓存容量可容纳的会话 |</a:t>
            </a:r>
          </a:p>
          <a:p>
            <a:r>
              <a:t>|---|---:|---|</a:t>
            </a:r>
          </a:p>
          <a:p>
            <a:r>
              <a:t>| 8×H100 80GB | 约242K | 20个131K；20个262K需要更多KV Cache空间 |</a:t>
            </a:r>
          </a:p>
          <a:p>
            <a:r>
              <a:t>| 4×H200 141GB | 约762K | 20个512K，或更少的1M会话 |</a:t>
            </a:r>
          </a:p>
          <a:p>
            <a:r>
              <a:t>| 8×H200 141GB，一个TP8实例 | 可容纳1M | 一个实例容纳20个1M会话 |</a:t>
            </a:r>
          </a:p>
          <a:p>
            <a:r>
              <a:t>| 8×H200 141GB，两个TP4实例 | 可容纳1M | 每个实例容纳10个1M会话 |</a:t>
            </a:r>
          </a:p>
          <a:p/>
          <a:p>
            <a:r>
              <a:t>这里TP8指一个模型实例使用八张GPU；双TP4则是两个独立模型实例，各用四张卡。</a:t>
            </a:r>
          </a:p>
          <a:p/>
          <a:p>
            <a:r>
              <a:t>TP8由八张卡共同处理同一个实例中的请求，所有用户共用一个队列。双TP4把用户分到两个实例，各自排队；按这次公开日志，两组KV Cache的合计容量也更大。本预算按两个独立TP4服务各持有一份Engram，合计约406GB；采用支持共享机制的同机DP部署时，需按版本重新分配主存。</a:t>
            </a:r>
          </a:p>
          <a:p/>
          <a:p>
            <a:r>
              <a:t>两种方案使用同一台八卡H200服务器，硬件购置费相同；主要差别是请求如何分组，以及模型和KV Cache如何分配。</a:t>
            </a:r>
          </a:p>
          <a:p/>
          <a:p>
            <a:r>
              <a:t>【公开来源入口】</a:t>
            </a:r>
          </a:p>
          <a:p>
            <a:r>
              <a:t>deepseek: https://huggingface.co/deepseek-ai/DeepSeek-V4.1-Flash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当前第11页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【Engram主存条件】本页双TP4仍按两个独立服务进程、各持有一份Engram预算，合计约406GB。vLLM 0.31.0与PR57651已加入同机DP副本默认共享Engram host tables的机制；如果最终采用支持该共享机制的同机DP部署，应重新分配主存，不能继续机械相加两份。当前未提供最终启动拓扑，因此本次不把406GB无条件改为203GB。Engram是模型查找表，与会话KV及权重分别计账。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不要预设双 TP4 必然更快。两组池的合计容量更大，但性能仍受每个实例的负载和调度影响。本预算按两个独立TP4服务各持有一份Engram；同机DP共享机制另按版本核对。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3. 四卡与八卡的上下文容量</a:t>
            </a:r>
          </a:p>
          <a:p/>
          <a:p>
            <a:r>
              <a:t>下表按公开启动日志中的可用KV Cache预算，估算20个会话均分后各自能使用多大的上下文，并预留10%的缓存容量。</a:t>
            </a:r>
          </a:p>
          <a:p/>
          <a:p>
            <a:r>
              <a:t>| 配置 | 20个会话均分时，每个会话可用的上下文 | 按缓存容量可容纳的会话 |</a:t>
            </a:r>
          </a:p>
          <a:p>
            <a:r>
              <a:t>|---|---:|---|</a:t>
            </a:r>
          </a:p>
          <a:p>
            <a:r>
              <a:t>| 8×H100 80GB | 约242K | 20个131K；20个262K需要更多KV Cache空间 |</a:t>
            </a:r>
          </a:p>
          <a:p>
            <a:r>
              <a:t>| 4×H200 141GB | 约762K | 20个512K，或更少的1M会话 |</a:t>
            </a:r>
          </a:p>
          <a:p>
            <a:r>
              <a:t>| 8×H200 141GB，一个TP8实例 | 可容纳1M | 一个实例容纳20个1M会话 |</a:t>
            </a:r>
          </a:p>
          <a:p>
            <a:r>
              <a:t>| 8×H200 141GB，两个TP4实例 | 可容纳1M | 每个实例容纳10个1M会话 |</a:t>
            </a:r>
          </a:p>
          <a:p/>
          <a:p>
            <a:r>
              <a:t>这里TP8指一个模型实例使用八张GPU；双TP4则是两个独立模型实例，各用四张卡。</a:t>
            </a:r>
          </a:p>
          <a:p/>
          <a:p>
            <a:r>
              <a:t>TP8由八张卡共同处理同一个实例中的请求，所有用户共用一个队列。双TP4把用户分到两个实例，各自排队；按这次公开日志，两组KV Cache的合计容量也更大。本预算按两个独立TP4服务各持有一份Engram，合计约406GB；采用支持共享机制的同机DP部署时，需按版本重新分配主存。</a:t>
            </a:r>
          </a:p>
          <a:p/>
          <a:p>
            <a:r>
              <a:t>两种方案使用同一台八卡H200服务器，硬件购置费相同；主要差别是请求如何分组，以及模型和KV Cache如何分配。</a:t>
            </a:r>
          </a:p>
          <a:p/>
          <a:p>
            <a:r>
              <a:t>### 5. 并发生成速度与首token等待时间</a:t>
            </a:r>
          </a:p>
          <a:p/>
          <a:p>
            <a:r>
              <a:t>20个请求同时decode，每路20 token/s需要系统持续输出400 token/s；每路10 token/s则需要200 token/s。除了总吞吐，还要看新增输入的prefill是否拖慢其他请求的decode。</a:t>
            </a:r>
          </a:p>
          <a:p/>
          <a:p>
            <a:r>
              <a:t>DSpark通过先提出草稿token、再由主模型验证的方式加速decode。下面这组公开AgentX测试每轮提出5个草稿token，并将平均接受长度预设为3.51。</a:t>
            </a:r>
          </a:p>
          <a:p/>
          <a:p>
            <a:r>
              <a:t>这组测试的平均输入约140K–157K，前缀缓存命中率约95%。八卡H200同时回放32个会话时，总输出约1,052 token/s，约95%的请求在2.63秒内收到首token。这些数值对应高缓存命中和预设草稿接受行为；20个1M请求的实际生成速度尚无对应测量。</a:t>
            </a:r>
          </a:p>
          <a:p/>
          <a:p>
            <a:r>
              <a:t>八卡H200的缓存容量可以满足20个1M会话。选择TP8还是双TP4，要比较20个请求同时运行时的每路decode速度，以及在512K、1M上下文下，新增1K或8K工具结果后的首token等待时间。</a:t>
            </a:r>
          </a:p>
          <a:p/>
          <a:p>
            <a:r>
              <a:t>【公开来源入口】</a:t>
            </a:r>
          </a:p>
          <a:p>
            <a:r>
              <a:t>r31: https://github.com/vllm-project/vllm/releases/tag/v0.31.0</a:t>
            </a:r>
          </a:p>
          <a:p>
            <a:r>
              <a:t>engram: https://github.com/vllm-project/vllm/pull/57651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当前第12页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20+20=40是所有需要保留状态的会话数；并非要求40份状态都放在GPU。下一页说明GPU、DRAM、NVMe的分工。第10页20×1M仍是GPU缓存容量估算；添加CPU或SSD不能直接推导出更高的同时生成能力。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用 20+20=40 解释活跃并发与缓存驻留。工具等待不是无成本：GPU 可以让给其他请求，但旧会话状态仍需驻留或转移。20×20=400 只是吞吐目标的算术换算。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4. 等待工具的请求也占用KV Cache</a:t>
            </a:r>
          </a:p>
          <a:p/>
          <a:p>
            <a:r>
              <a:t>假设20个请求正在decode，另外20个请求正在等待Excel计算或资料检索。等待工具的请求虽然暂时不生成token，如果要在工具返回后直接继续推理，也需要保留各自的KV Cache。</a:t>
            </a:r>
          </a:p>
          <a:p/>
          <a:p>
            <a:r>
              <a:t>因此，20个正在生成、20个等待工具的请求，需要按40份上下文分配KV Cache。可以把长时间闲置会话的KV Cache从GPU移到CPU内存，让正在使用的会话获得更多显存；闲置任务继续时，再把缓存复制回GPU。</a:t>
            </a:r>
          </a:p>
          <a:p/>
          <a:p>
            <a:r>
              <a:t>将KV Cache从CPU内存复制回GPU也需要时间。当前TP4布局下，一个1M会话在四张GPU上的全局KV Cache合计约7.3GB，重新载入时要传输这些数据。等待时间取决于PCIe带宽，以及有多少会话同时载入缓存。</a:t>
            </a:r>
          </a:p>
          <a:p/>
          <a:p>
            <a:r>
              <a:t>### 5. 并发生成速度与首token等待时间</a:t>
            </a:r>
          </a:p>
          <a:p/>
          <a:p>
            <a:r>
              <a:t>20个请求同时decode，每路20 token/s需要系统持续输出400 token/s；每路10 token/s则需要200 token/s。除了总吞吐，还要看新增输入的prefill是否拖慢其他请求的decode。</a:t>
            </a:r>
          </a:p>
          <a:p/>
          <a:p>
            <a:r>
              <a:t>DSpark通过先提出草稿token、再由主模型验证的方式加速decode。下面这组公开AgentX测试每轮提出5个草稿token，并将平均接受长度预设为3.51。</a:t>
            </a:r>
          </a:p>
          <a:p/>
          <a:p>
            <a:r>
              <a:t>这组测试的平均输入约140K–157K，前缀缓存命中率约95%。八卡H200同时回放32个会话时，总输出约1,052 token/s，约95%的请求在2.63秒内收到首token。这些数值对应高缓存命中和预设草稿接受行为；20个1M请求的实际生成速度尚无对应测量。</a:t>
            </a:r>
          </a:p>
          <a:p/>
          <a:p>
            <a:r>
              <a:t>八卡H200的缓存容量可以满足20个1M会话。选择TP8还是双TP4，要比较20个请求同时运行时的每路decode速度，以及在512K、1M上下文下，新增1K或8K工具结果后的首token等待时间。</a:t>
            </a:r>
          </a:p>
          <a:p/>
          <a:p>
            <a:r>
              <a:t>【公开来源入口】</a:t>
            </a:r>
          </a:p>
          <a:p>
            <a:r>
              <a:t>native: https://docs.vllm.ai/en/stable/features/kv_offloading_usage/</a:t>
            </a:r>
          </a:p>
          <a:p>
            <a:r>
              <a:t>mp: https://docs.lmcache.ai/mp/l2_storage.html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当前第14页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这页的关键不是宣称 20 人满 1M 已经很快，而是把证据边界说清楚。公开回放条件是约 140K–157K 输入、95% 缓存命中以及预设草稿接受行为；32 个回放会话也不是 32 路始终同时 decode。右侧是原讲稿提出的验证项，没有填入未测量结果。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5. 并发生成速度与首token等待时间</a:t>
            </a:r>
          </a:p>
          <a:p/>
          <a:p>
            <a:r>
              <a:t>20个请求同时decode，每路20 token/s需要系统持续输出400 token/s；每路10 token/s则需要200 token/s。除了总吞吐，还要看新增输入的prefill是否拖慢其他请求的decode。</a:t>
            </a:r>
          </a:p>
          <a:p/>
          <a:p>
            <a:r>
              <a:t>DSpark通过先提出草稿token、再由主模型验证的方式加速decode。下面这组公开AgentX测试每轮提出5个草稿token，并将平均接受长度预设为3.51。</a:t>
            </a:r>
          </a:p>
          <a:p/>
          <a:p>
            <a:r>
              <a:t>这组测试的平均输入约140K–157K，前缀缓存命中率约95%。八卡H200同时回放32个会话时，总输出约1,052 token/s，约95%的请求在2.63秒内收到首token。这些数值对应高缓存命中和预设草稿接受行为；20个1M请求的实际生成速度尚无对应测量。</a:t>
            </a:r>
          </a:p>
          <a:p/>
          <a:p>
            <a:r>
              <a:t>八卡H200的缓存容量可以满足20个1M会话。选择TP8还是双TP4，要比较20个请求同时运行时的每路decode速度，以及在512K、1M上下文下，新增1K或8K工具结果后的首token等待时间。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当前第15页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【交付预算对应配置，沿用2026-10-12】</a:t>
            </a:r>
          </a:p>
          <a:p>
            <a:r>
              <a:t>8×A100 80GB SXM4，翻新：双EPYC 7V12，1TB DDR4，HGX/NVLink，91–102万元。</a:t>
            </a:r>
          </a:p>
          <a:p>
            <a:r>
              <a:t>8×H100 80GB SXM5：双EPYC 9454，1.5TB DDR5，NVSwitch，285–298万元。</a:t>
            </a:r>
          </a:p>
          <a:p>
            <a:r>
              <a:t>4×H200 NVL 141GB：双Xeon 6710E等级，1TB主存，四卡桥接/PCIe服务器，161–283万元。此项是组件估算，CPU是预算等级。</a:t>
            </a:r>
          </a:p>
          <a:p>
            <a:r>
              <a:t>8×H200 SXM 141GB：双EPYC 9454，1.5TB DDR5，NVSwitch，291–304万元。</a:t>
            </a:r>
          </a:p>
          <a:p>
            <a:r>
              <a:t>其余三项有完整服务器挂牌作为输入。汇率假设USD/CNY=7.00；人民币为含所列税费、运输和支持准备的预算估算，没有在本次修订中重新报价。工具CPU节点另计12–26万元。主机RAM还要容纳Engram、系统和工具等开销，剩余空间才可分配CPU KV池。具体SKU和交付条件需采购时再核对。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这不是单卡报价表，而是整机交付预算。突出 8×H200 作为公司主候选；已有 A100 按复用成本评估。不要拿四卡 NVL 的采购价格和另一套测试硬件的速度直接组合。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6. 服务器预算与引擎选择</a:t>
            </a:r>
          </a:p>
          <a:p/>
          <a:p>
            <a:r>
              <a:t>| 完整GPU服务器 | 人民币交付预算估算 |</a:t>
            </a:r>
          </a:p>
          <a:p>
            <a:r>
              <a:t>|---|---:|</a:t>
            </a:r>
          </a:p>
          <a:p>
            <a:r>
              <a:t>| 8×A100 80GB SXM，翻新 | 91–102万元 |</a:t>
            </a:r>
          </a:p>
          <a:p>
            <a:r>
              <a:t>| 8×H100 80GB SXM | 285–298万元 |</a:t>
            </a:r>
          </a:p>
          <a:p>
            <a:r>
              <a:t>| 4×H200 141GB NVL | 161–283万元 |</a:t>
            </a:r>
          </a:p>
          <a:p>
            <a:r>
              <a:t>| 8×H200 141GB SXM | 291–304万元 |</a:t>
            </a:r>
          </a:p>
          <a:p/>
          <a:p>
            <a:r>
              <a:t>上述预算按10月12日的境外挂牌价和组件预算估算，包含CPU、内存、GPU、机内互联，以及交付和支持费用。如果把工具统一放在服务器上运行，两台CPU服务器另需约12–26万元；工具在员工电脑上运行时，可以复用现有终端。</a:t>
            </a:r>
          </a:p>
          <a:p/>
          <a:p>
            <a:r>
              <a:t>本次同一供应商的八卡H100与H200挂牌价仅差约2%，因此优先考虑显存更大的H200，可以减少因KV Cache容量不足而增加服务器的需求。A100购置价格较低，已有A100设备可按复用成本评估，并采用modified vLLM部署。新增采购还需核对具体SKU、供货路线和许可文件。</a:t>
            </a:r>
          </a:p>
          <a:p/>
          <a:p>
            <a:r>
              <a:t>公司方案以**八卡H200**为主要候选，比较单TP8和双TP4两种部署方式。预算表中的四卡H200采用NVL卡，公开性能测试使用的是另一套硬件；A100报价对应八卡SXM服务器，下一部分介绍的shi3z项目则主要使用四卡PCIe。</a:t>
            </a:r>
          </a:p>
          <a:p/>
          <a:p>
            <a:r>
              <a:t>**如果公司采用A100，推理引擎选择modified vLLM。** 具体做法是固定经过验证的A100适配版本，维护必要补丁，沿用vLLM的调度、分页缓存、接口和监控。shi3z项目作为优化案例和代码参考。</a:t>
            </a:r>
          </a:p>
          <a:p/>
          <a:p/>
          <a:p>
            <a:r>
              <a:t>【补充数据／初版 Beamer PDF】</a:t>
            </a:r>
          </a:p>
          <a:p>
            <a:r>
              <a:t>区间图横轴从零起算，粗线仅标示预算下限至上限。8×A100 翻新：91–102 万；8×H100：285–298 万；4×H200 NVL：161–283 万；8×H200 SXM：291–304 万。</a:t>
            </a:r>
          </a:p>
          <a:p/>
          <a:p>
            <a:r>
              <a:t>【公开来源入口】</a:t>
            </a:r>
          </a:p>
          <a:p>
            <a:r>
              <a:t>a100: https://www.theserverstore.com/nvidia-hgx-8x-a100-80gb-sxm4-nvlink-gpu-server-zt-systems</a:t>
            </a:r>
          </a:p>
          <a:p>
            <a:r>
              <a:t>h100: https://configurator.exxactcorp.com/configure/TS4-193475697</a:t>
            </a:r>
          </a:p>
          <a:p>
            <a:r>
              <a:t>h200nvl: https://viperatech.com/product/nvidia-h200-nvl-graphic-card-141-gb-passive-pcie-900-21010-0040-000</a:t>
            </a:r>
          </a:p>
          <a:p>
            <a:r>
              <a:t>h200: https://configurator.exxactcorp.com/configure/TS4-118380266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当前第16页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页面中的“33→673 token/s，超过官方API”是作者用来介绍其自身实现迭代的宣传标题，交代本次研究该项目的缘起。已有材料没有给出673的完整测试条件，不将其补成与官方API或modified vLLM可直接比较的性能结果。性能对照仍采用现第18页列明硬件和负载的数据。只使用9月12日文章及9月17日续文公开部分；付费续文不作为已读取材料。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项目起初为同一 prompt 批量生成而优化 decode，接入 Coding Agent 后才集中处理长输入和多轮缓存。架构图只说明执行关系：每层的 owner 负责 attention 与路由，各卡计算本地专家。NVLink / PCIe 的布局决定通信路径。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1. 项目介绍与整体架构</a:t>
            </a:r>
          </a:p>
          <a:p/>
          <a:p>
            <a:r>
              <a:t>shi3z文章的标题是“A100从33提升到673 token/s，超过官方API”，介绍了他逐步优化自研推理引擎的过程。作者在续文中解释，最初的用途是让同一个prompt生成大量不同结果，因此先优化decode；接入Coding Agent后，才集中解决长输入的prefill，以及多轮请求如何复用此前计算好的缓存。</a:t>
            </a:r>
          </a:p>
          <a:p/>
          <a:p>
            <a:r>
              <a:t>批量生成主要看每秒输出多少token。长任务Agent还需要处理大量输入、在工具返回后及时继续生成，并容纳不断增长的上下文。</a:t>
            </a:r>
          </a:p>
          <a:p/>
          <a:p>
            <a:r>
              <a:t>项目用四张A100 80GB运行DeepSeek-V4.1-Flash，CPU内存存放Engram表。各层的专家权重分布在四张GPU上，attention和路由则由该层指定的一张GPU负责。执行每一层时，先由这张卡完成attention并选出专家，再由各卡计算自己存放的专家，汇总结果后进入下一层。</a:t>
            </a:r>
          </a:p>
          <a:p/>
          <a:p>
            <a:r>
              <a:t>作者的主要工程工作，是实现能在A100上运行的算子，并为这台四卡PCIe机器安排多卡计算与通信。</a:t>
            </a:r>
          </a:p>
          <a:p/>
          <a:p>
            <a:r>
              <a:t>### 2. 优化方法与性能对照</a:t>
            </a:r>
          </a:p>
          <a:p/>
          <a:p>
            <a:r>
              <a:t>FP4／FP8权重、共享KV、CED和DSpark都来自DeepSeek模型本身：CED为prefill与decode设计不同计算路径，DSpark负责推测解码。并行计算、CUDA Graph、算子融合、前缀缓存和分块prefill也是成熟引擎已有的技术。这个项目的工作，是在A100上实现并整合这些能力。</a:t>
            </a:r>
          </a:p>
          <a:p/>
          <a:p>
            <a:r>
              <a:t>它有三个值得学习的地方。</a:t>
            </a:r>
          </a:p>
          <a:p/>
          <a:p>
            <a:r>
              <a:t>**第一，先解决数据传输瓶颈。** 如果每生成一个token都要从主存搬运大量专家权重，主要耗时就在PCIe传输。这时应先调整权重存放位置，减少逐token搬运，再优化矩阵乘法内核。</a:t>
            </a:r>
          </a:p>
          <a:p/>
          <a:p>
            <a:r>
              <a:t>**第二，按GPU的连接方式安排通信。** 作者的四张卡分成两对，每对内部使用NVLink，两对之间通过PCIe连接。较大的消息先通过PCIe传到另一对中的一张卡，再经NVLink分发给同一对中的另一张卡；返回计算结果时，也先在卡对内部合并，减少PCIe上的重复传输。</a:t>
            </a:r>
          </a:p>
          <a:p/>
          <a:p>
            <a:r>
              <a:t>**第三，协调CUDA Graph与缓存管理。** CUDA Graph使用捕获时记录的显存地址，缓存扩容若改变地址，就要重新安排内存分配或重新捕获。多轮任务继续时，还要载入已保存的KV、索引和压缩器状态，让模型从已有计算结果接着运行。</a:t>
            </a:r>
          </a:p>
          <a:p/>
          <a:p>
            <a:r>
              <a:t>下面列出shi3z引擎与modified vLLM的公开速度，以及各自使用的硬件和测试负载。</a:t>
            </a:r>
          </a:p>
          <a:p/>
          <a:p>
            <a:r>
              <a:t>| 实现 | 硬件与负载 | 公开输出速度 |</a:t>
            </a:r>
          </a:p>
          <a:p>
            <a:r>
              <a:t>|---|---|---|</a:t>
            </a:r>
          </a:p>
          <a:p>
            <a:r>
              <a:t>| shi3z定制引擎 | 四卡A100 PCIe，短输入 | 代码生成请求约50–53 token/s；MTP实验约82–93 token/s |</a:t>
            </a:r>
          </a:p>
          <a:p>
            <a:r>
              <a:t>| modified vLLM历史TP8配置 | 八卡A100 SXM，DSpark5，短输入 | 单路约110–140 token/s；32并发总输出约1,040–1,379 token/s |</a:t>
            </a:r>
          </a:p>
          <a:p>
            <a:r>
              <a:t>| modified vLLM优化配置 | 八卡A800 SXM，输入78–90 token、输出1,024 token | 单客户端持续输出约115 token/s；128并发总输出约3,040 token/s |</a:t>
            </a:r>
          </a:p>
          <a:p/>
          <a:p>
            <a:r>
              <a:t>modified vLLM的公开结果已经达到单路每秒上百token、系统总输出每秒上千token。由于两套引擎尚无同机、同负载的直接测试，目前没有证据证明shi3z引擎比modified vLLM更快。</a:t>
            </a:r>
          </a:p>
          <a:p/>
          <a:p>
            <a:r>
              <a:t>要知道一项改动带来多少提速，可以逐项加入优化，比较前后吞吐。例如，同一台八卡A800、同一组128并发请求，vLLM适配版已经使用Marlin低位矩阵乘法算子、DSpark和CUDA Graph。在此基础上，batch较大时让稠密层矩阵乘改用BF16算子，两次测试的平均吞吐增加约2.94%；再加入定制EP通信，平均吞吐继续增加约1.52%。这样可以看清每项改动的增量收益。</a:t>
            </a:r>
          </a:p>
          <a:p/>
          <a:p>
            <a:r>
              <a:t>【公开来源入口】</a:t>
            </a:r>
          </a:p>
          <a:p>
            <a:r>
              <a:t>note1: https://note.com/shi3zblog/n/nd5fc5341b342</a:t>
            </a:r>
          </a:p>
          <a:p>
            <a:r>
              <a:t>note2: https://note.com/shi3zblog/n/n93b0161463b4</a:t>
            </a:r>
          </a:p>
          <a:p>
            <a:r>
              <a:t>shifixed: https://github.com/shi3z/deepseekv4.1-A100-custom/tree/580568edd6f84537ff042ded4ee842b892bf3ff4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当前第17页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把贡献归属讲清楚。DeepSeek 自带低精度权重、CED 与 DSpark；成熟引擎已有并行、CUDA Graph、算子融合、前缀缓存与分块 prefill。值得学习的是把这些能力落实到这台具体 A100 机器。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2. 优化方法与性能对照</a:t>
            </a:r>
          </a:p>
          <a:p/>
          <a:p>
            <a:r>
              <a:t>FP4／FP8权重、共享KV、CED和DSpark都来自DeepSeek模型本身：CED为prefill与decode设计不同计算路径，DSpark负责推测解码。并行计算、CUDA Graph、算子融合、前缀缓存和分块prefill也是成熟引擎已有的技术。这个项目的工作，是在A100上实现并整合这些能力。</a:t>
            </a:r>
          </a:p>
          <a:p/>
          <a:p>
            <a:r>
              <a:t>它有三个值得学习的地方。</a:t>
            </a:r>
          </a:p>
          <a:p/>
          <a:p>
            <a:r>
              <a:t>**第一，先解决数据传输瓶颈。** 如果每生成一个token都要从主存搬运大量专家权重，主要耗时就在PCIe传输。这时应先调整权重存放位置，减少逐token搬运，再优化矩阵乘法内核。</a:t>
            </a:r>
          </a:p>
          <a:p/>
          <a:p>
            <a:r>
              <a:t>**第二，按GPU的连接方式安排通信。** 作者的四张卡分成两对，每对内部使用NVLink，两对之间通过PCIe连接。较大的消息先通过PCIe传到另一对中的一张卡，再经NVLink分发给同一对中的另一张卡；返回计算结果时，也先在卡对内部合并，减少PCIe上的重复传输。</a:t>
            </a:r>
          </a:p>
          <a:p/>
          <a:p>
            <a:r>
              <a:t>**第三，协调CUDA Graph与缓存管理。** CUDA Graph使用捕获时记录的显存地址，缓存扩容若改变地址，就要重新安排内存分配或重新捕获。多轮任务继续时，还要载入已保存的KV、索引和压缩器状态，让模型从已有计算结果接着运行。</a:t>
            </a:r>
          </a:p>
          <a:p/>
          <a:p>
            <a:r>
              <a:t>下面列出shi3z引擎与modified vLLM的公开速度，以及各自使用的硬件和测试负载。</a:t>
            </a:r>
          </a:p>
          <a:p/>
          <a:p>
            <a:r>
              <a:t>| 实现 | 硬件与负载 | 公开输出速度 |</a:t>
            </a:r>
          </a:p>
          <a:p>
            <a:r>
              <a:t>|---|---|---|</a:t>
            </a:r>
          </a:p>
          <a:p>
            <a:r>
              <a:t>| shi3z定制引擎 | 四卡A100 PCIe，短输入 | 代码生成请求约50–53 token/s；MTP实验约82–93 token/s |</a:t>
            </a:r>
          </a:p>
          <a:p>
            <a:r>
              <a:t>| modified vLLM历史TP8配置 | 八卡A100 SXM，DSpark5，短输入 | 单路约110–140 token/s；32并发总输出约1,040–1,379 token/s |</a:t>
            </a:r>
          </a:p>
          <a:p>
            <a:r>
              <a:t>| modified vLLM优化配置 | 八卡A800 SXM，输入78–90 token、输出1,024 token | 单客户端持续输出约115 token/s；128并发总输出约3,040 token/s |</a:t>
            </a:r>
          </a:p>
          <a:p/>
          <a:p>
            <a:r>
              <a:t>modified vLLM的公开结果已经达到单路每秒上百token、系统总输出每秒上千token。由于两套引擎尚无同机、同负载的直接测试，目前没有证据证明shi3z引擎比modified vLLM更快。</a:t>
            </a:r>
          </a:p>
          <a:p/>
          <a:p>
            <a:r>
              <a:t>要知道一项改动带来多少提速，可以逐项加入优化，比较前后吞吐。例如，同一台八卡A800、同一组128并发请求，vLLM适配版已经使用Marlin低位矩阵乘法算子、DSpark和CUDA Graph。在此基础上，batch较大时让稠密层矩阵乘改用BF16算子，两次测试的平均吞吐增加约2.94%；再加入定制EP通信，平均吞吐继续增加约1.52%。这样可以看清每项改动的增量收益。</a:t>
            </a:r>
          </a:p>
          <a:p/>
          <a:p>
            <a:r>
              <a:t>### 4. 对项目的评价与我们的选择</a:t>
            </a:r>
          </a:p>
          <a:p/>
          <a:p>
            <a:r>
              <a:t>这个项目的价值主要在于**新模型的早期A100适配，以及针对具体机器实现和调试推理系统**。值得学习的是瓶颈定位、针对GPU连接方式的通信优化，以及CUDA Graph与会话缓存的协调。它采用的原理大多已成熟，特色在于硬件适配和具体实现。</a:t>
            </a:r>
          </a:p>
          <a:p/>
          <a:p>
            <a:r>
              <a:t>公司方案即使选择A100，也采用**固定版本的modified vLLM**。请求调度、分页缓存、接口和监控沿用vLLM，团队维护必要的A100适配补丁。新增优化先在目标机器和长上下文Agent任务上测试，再根据实际收益决定是否保留。</a:t>
            </a:r>
          </a:p>
          <a:p/>
          <a:p>
            <a:r>
              <a:t>【公开来源入口】</a:t>
            </a:r>
          </a:p>
          <a:p>
            <a:r>
              <a:t>shifixed: https://github.com/shi3z/deepseekv4.1-A100-custom/tree/580568edd6f84537ff042ded4ee842b892bf3ff4</a:t>
            </a:r>
          </a:p>
          <a:p>
            <a:r>
              <a:t>kepler: https://github.com/keplerzip/deepseek-v4.1-flash-a100/blob/main/docs/performance.md</a:t>
            </a:r>
          </a:p>
          <a:p>
            <a:r>
              <a:t>tokha: https://github.com/Tokha233/deepseek-v4.1-flash-a100-turbo/blob/main/docs/concurrency-and-short-requests.zh-CN.md</a:t>
            </a:r>
          </a:p>
          <a:p>
            <a:r>
              <a:t>deepseek: https://huggingface.co/deepseek-ai/DeepSeek-V4.1-Flash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当前第18页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避免把四卡 PCIe 的单路结果和八卡 SXM 的系统总吞吐比较。50–53 与 82–93 也分别是代码请求和 MTP 实验。公开数字说明 modified vLLM 已具备百 token 单路、千 token 系统吞吐能力，但这不是同机胜负结论。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2. 优化方法与性能对照</a:t>
            </a:r>
          </a:p>
          <a:p/>
          <a:p>
            <a:r>
              <a:t>FP4／FP8权重、共享KV、CED和DSpark都来自DeepSeek模型本身：CED为prefill与decode设计不同计算路径，DSpark负责推测解码。并行计算、CUDA Graph、算子融合、前缀缓存和分块prefill也是成熟引擎已有的技术。这个项目的工作，是在A100上实现并整合这些能力。</a:t>
            </a:r>
          </a:p>
          <a:p/>
          <a:p>
            <a:r>
              <a:t>它有三个值得学习的地方。</a:t>
            </a:r>
          </a:p>
          <a:p/>
          <a:p>
            <a:r>
              <a:t>**第一，先解决数据传输瓶颈。** 如果每生成一个token都要从主存搬运大量专家权重，主要耗时就在PCIe传输。这时应先调整权重存放位置，减少逐token搬运，再优化矩阵乘法内核。</a:t>
            </a:r>
          </a:p>
          <a:p/>
          <a:p>
            <a:r>
              <a:t>**第二，按GPU的连接方式安排通信。** 作者的四张卡分成两对，每对内部使用NVLink，两对之间通过PCIe连接。较大的消息先通过PCIe传到另一对中的一张卡，再经NVLink分发给同一对中的另一张卡；返回计算结果时，也先在卡对内部合并，减少PCIe上的重复传输。</a:t>
            </a:r>
          </a:p>
          <a:p/>
          <a:p>
            <a:r>
              <a:t>**第三，协调CUDA Graph与缓存管理。** CUDA Graph使用捕获时记录的显存地址，缓存扩容若改变地址，就要重新安排内存分配或重新捕获。多轮任务继续时，还要载入已保存的KV、索引和压缩器状态，让模型从已有计算结果接着运行。</a:t>
            </a:r>
          </a:p>
          <a:p/>
          <a:p>
            <a:r>
              <a:t>下面列出shi3z引擎与modified vLLM的公开速度，以及各自使用的硬件和测试负载。</a:t>
            </a:r>
          </a:p>
          <a:p/>
          <a:p>
            <a:r>
              <a:t>| 实现 | 硬件与负载 | 公开输出速度 |</a:t>
            </a:r>
          </a:p>
          <a:p>
            <a:r>
              <a:t>|---|---|---|</a:t>
            </a:r>
          </a:p>
          <a:p>
            <a:r>
              <a:t>| shi3z定制引擎 | 四卡A100 PCIe，短输入 | 代码生成请求约50–53 token/s；MTP实验约82–93 token/s |</a:t>
            </a:r>
          </a:p>
          <a:p>
            <a:r>
              <a:t>| modified vLLM历史TP8配置 | 八卡A100 SXM，DSpark5，短输入 | 单路约110–140 token/s；32并发总输出约1,040–1,379 token/s |</a:t>
            </a:r>
          </a:p>
          <a:p>
            <a:r>
              <a:t>| modified vLLM优化配置 | 八卡A800 SXM，输入78–90 token、输出1,024 token | 单客户端持续输出约115 token/s；128并发总输出约3,040 token/s |</a:t>
            </a:r>
          </a:p>
          <a:p/>
          <a:p>
            <a:r>
              <a:t>modified vLLM的公开结果已经达到单路每秒上百token、系统总输出每秒上千token。由于两套引擎尚无同机、同负载的直接测试，目前没有证据证明shi3z引擎比modified vLLM更快。</a:t>
            </a:r>
          </a:p>
          <a:p/>
          <a:p>
            <a:r>
              <a:t>要知道一项改动带来多少提速，可以逐项加入优化，比较前后吞吐。例如，同一台八卡A800、同一组128并发请求，vLLM适配版已经使用Marlin低位矩阵乘法算子、DSpark和CUDA Graph。在此基础上，batch较大时让稠密层矩阵乘改用BF16算子，两次测试的平均吞吐增加约2.94%；再加入定制EP通信，平均吞吐继续增加约1.52%。这样可以看清每项改动的增量收益。</a:t>
            </a:r>
          </a:p>
          <a:p/>
          <a:p/>
          <a:p>
            <a:r>
              <a:t>【补充数据／初版 Beamer PDF】</a:t>
            </a:r>
          </a:p>
          <a:p>
            <a:r>
              <a:t>初版 Beamer PDF 第 14 页给出 modified vLLM 历史 TP8 的短输入、输出 1,024 token 口径；第 15 页给出 A800 测试输入 78–90、输出 1,024 token。</a:t>
            </a:r>
          </a:p>
          <a:p/>
          <a:p>
            <a:r>
              <a:t>【公开来源入口】</a:t>
            </a:r>
          </a:p>
          <a:p>
            <a:r>
              <a:t>shifixed: https://github.com/shi3z/deepseekv4.1-A100-custom/tree/580568edd6f84537ff042ded4ee842b892bf3ff4</a:t>
            </a:r>
          </a:p>
          <a:p>
            <a:r>
              <a:t>kepler: https://github.com/keplerzip/deepseek-v4.1-flash-a100/blob/main/docs/performance.md</a:t>
            </a:r>
          </a:p>
          <a:p>
            <a:r>
              <a:t>tokha: https://github.com/Tokha233/deepseek-v4.1-flash-a100-turbo/blob/main/docs/concurrency-and-short-requests.zh-CN.md</a:t>
            </a:r>
          </a:p>
          <a:p>
            <a:r>
              <a:t>deepseek: https://huggingface.co/deepseek-ai/DeepSeek-V4.1-Flash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当前第19页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消融归属必须直接说清楚：Tokha233的modified vLLM，8×A800，同机128并发，每档两次。两次均值依次2842.48、2926.08、2970.50 token/s；相对上一档+2.94%、+1.52%，合计约4.5%。BF16指部分稠密层改走BF16执行算子，不是把官方checkpoint改为全BF16；原生制品仍是FP4/FP8。服务上限虽设1M，实际输入仍是78–90 token。数字沿用10月14日归档，未在本次修订中换成上游新结果。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同机消融的重点在增量，而不是只报一个最高吞吐。图条都从零起算，视觉上差异本来就不大。前一项 +2.94%，后一项再 +1.52%，两项合计约 4.5%。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2. 优化方法与性能对照</a:t>
            </a:r>
          </a:p>
          <a:p/>
          <a:p>
            <a:r>
              <a:t>FP4／FP8权重、共享KV、CED和DSpark都来自DeepSeek模型本身：CED为prefill与decode设计不同计算路径，DSpark负责推测解码。并行计算、CUDA Graph、算子融合、前缀缓存和分块prefill也是成熟引擎已有的技术。这个项目的工作，是在A100上实现并整合这些能力。</a:t>
            </a:r>
          </a:p>
          <a:p/>
          <a:p>
            <a:r>
              <a:t>它有三个值得学习的地方。</a:t>
            </a:r>
          </a:p>
          <a:p/>
          <a:p>
            <a:r>
              <a:t>**第一，先解决数据传输瓶颈。** 如果每生成一个token都要从主存搬运大量专家权重，主要耗时就在PCIe传输。这时应先调整权重存放位置，减少逐token搬运，再优化矩阵乘法内核。</a:t>
            </a:r>
          </a:p>
          <a:p/>
          <a:p>
            <a:r>
              <a:t>**第二，按GPU的连接方式安排通信。** 作者的四张卡分成两对，每对内部使用NVLink，两对之间通过PCIe连接。较大的消息先通过PCIe传到另一对中的一张卡，再经NVLink分发给同一对中的另一张卡；返回计算结果时，也先在卡对内部合并，减少PCIe上的重复传输。</a:t>
            </a:r>
          </a:p>
          <a:p/>
          <a:p>
            <a:r>
              <a:t>**第三，协调CUDA Graph与缓存管理。** CUDA Graph使用捕获时记录的显存地址，缓存扩容若改变地址，就要重新安排内存分配或重新捕获。多轮任务继续时，还要载入已保存的KV、索引和压缩器状态，让模型从已有计算结果接着运行。</a:t>
            </a:r>
          </a:p>
          <a:p/>
          <a:p>
            <a:r>
              <a:t>下面列出shi3z引擎与modified vLLM的公开速度，以及各自使用的硬件和测试负载。</a:t>
            </a:r>
          </a:p>
          <a:p/>
          <a:p>
            <a:r>
              <a:t>| 实现 | 硬件与负载 | 公开输出速度 |</a:t>
            </a:r>
          </a:p>
          <a:p>
            <a:r>
              <a:t>|---|---|---|</a:t>
            </a:r>
          </a:p>
          <a:p>
            <a:r>
              <a:t>| shi3z定制引擎 | 四卡A100 PCIe，短输入 | 代码生成请求约50–53 token/s；MTP实验约82–93 token/s |</a:t>
            </a:r>
          </a:p>
          <a:p>
            <a:r>
              <a:t>| modified vLLM历史TP8配置 | 八卡A100 SXM，DSpark5，短输入 | 单路约110–140 token/s；32并发总输出约1,040–1,379 token/s |</a:t>
            </a:r>
          </a:p>
          <a:p>
            <a:r>
              <a:t>| modified vLLM优化配置 | 八卡A800 SXM，输入78–90 token、输出1,024 token | 单客户端持续输出约115 token/s；128并发总输出约3,040 token/s |</a:t>
            </a:r>
          </a:p>
          <a:p/>
          <a:p>
            <a:r>
              <a:t>modified vLLM的公开结果已经达到单路每秒上百token、系统总输出每秒上千token。由于两套引擎尚无同机、同负载的直接测试，目前没有证据证明shi3z引擎比modified vLLM更快。</a:t>
            </a:r>
          </a:p>
          <a:p/>
          <a:p>
            <a:r>
              <a:t>要知道一项改动带来多少提速，可以逐项加入优化，比较前后吞吐。例如，同一台八卡A800、同一组128并发请求，vLLM适配版已经使用Marlin低位矩阵乘法算子、DSpark和CUDA Graph。在此基础上，batch较大时让稠密层矩阵乘改用BF16算子，两次测试的平均吞吐增加约2.94%；再加入定制EP通信，平均吞吐继续增加约1.52%。这样可以看清每项改动的增量收益。</a:t>
            </a:r>
          </a:p>
          <a:p/>
          <a:p/>
          <a:p>
            <a:r>
              <a:t>【补充数据／初版 Beamer PDF】</a:t>
            </a:r>
          </a:p>
          <a:p>
            <a:r>
              <a:t>初版 Beamer PDF 第 15 页：Marlin dense / NCCL EP8 2,842.48；BF16 dense 2,926.08；再加入定制 EP8 2,970.50。各档是两次测试均值。</a:t>
            </a:r>
          </a:p>
          <a:p/>
          <a:p>
            <a:r>
              <a:t>【公开来源入口】</a:t>
            </a:r>
          </a:p>
          <a:p>
            <a:r>
              <a:t>tokha: https://github.com/Tokha233/deepseek-v4.1-flash-a100-turbo/blob/main/docs/concurrency-and-short-requests.zh-CN.md</a:t>
            </a:r>
          </a:p>
          <a:p>
            <a:r>
              <a:t>tokha_methods: https://github.com/Tokha233/deepseek-v4.1-flash-a100-turbo/blob/main/benchmarks/README.md</a:t>
            </a:r>
          </a:p>
          <a:p>
            <a:r>
              <a:t>tokha_readme: https://github.com/Tokha233/deepseek-v4.1-flash-a100-turbo</a:t>
            </a:r>
          </a:p>
          <a:p>
            <a:r>
              <a:t>kepler: https://github.com/keplerzip/deepseek-v4.1-flash-a100/blob/main/docs/performance.md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当前第20页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权重能加载，不等于能服务大量超长会话。每卡平均 71.60GiB 只是权重理想均分，不是实际最紧张 GPU 的使用量。缓存按定制 BF16 布局计算，每会话 2.98GiB，20 份加一份临时槽约 62.6GiB / 卡。不要与前面 H100 / H200 的 1.83GB 全局 KV 数字混用。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3. 官方权重与运行显存</a:t>
            </a:r>
          </a:p>
          <a:p/>
          <a:p>
            <a:r>
              <a:t>DeepSeek-V4.1-Flash的官方checkpoint约510.29GB，其中Engram表约202.76GB。将Engram放在主机内存后，剩余权重约307.53GB，即286.41GiB；理想均分到四张GPU，每张约71.60GiB。</a:t>
            </a:r>
          </a:p>
          <a:p/>
          <a:p>
            <a:r>
              <a:t>四张A100能容纳这些权重，主要因为模型原生采用FP4／FP8存储，并将Engram卸载到主机内存；vLLM也支持这种卸载方式。定制项目在此基础上安排各卡的权重分片，控制加载缓冲和临时张量占用，为KV Cache留出显存。</a:t>
            </a:r>
          </a:p>
          <a:p/>
          <a:p>
            <a:r>
              <a:t>索引器有32个打分头，同时保留所有头的分数会产生较大的中间张量。改为逐头计算并累加，可以降低这一步的峰值显存。四张GPU中重复保存的全局KV和索引缓存，在保存会话时只需向CPU备份一份，从而减少主机内存占用。</a:t>
            </a:r>
          </a:p>
          <a:p/>
          <a:p>
            <a:r>
              <a:t>按这个定制实现的BF16缓存布局，每个1M会话的全局KV和索引缓存在每张GPU上约占2.98GiB。20个会话各用1M，再加一个同样大小的prefill临时槽，合计约62.6GiB／卡，模型权重和其他运行状态还要另外占用显存。</a:t>
            </a:r>
          </a:p>
          <a:p/>
          <a:p>
            <a:r>
              <a:t>【公开来源入口】</a:t>
            </a:r>
          </a:p>
          <a:p>
            <a:r>
              <a:t>shifixed: https://github.com/shi3z/deepseekv4.1-A100-custom/tree/580568edd6f84537ff042ded4ee842b892bf3ff4</a:t>
            </a:r>
          </a:p>
          <a:p>
            <a:r>
              <a:t>kepler: https://github.com/keplerzip/deepseek-v4.1-flash-a100/blob/main/docs/performance.md</a:t>
            </a:r>
          </a:p>
          <a:p>
            <a:r>
              <a:t>tokha: https://github.com/Tokha233/deepseek-v4.1-flash-a100-turbo/blob/main/docs/concurrency-and-short-requests.zh-CN.md</a:t>
            </a:r>
          </a:p>
          <a:p>
            <a:r>
              <a:t>deepseek: https://huggingface.co/deepseek-ai/DeepSeek-V4.1-Flash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当前第21页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结论直接落到公司选择：固定 modified vLLM 版本，保留成熟的调度、缓存、接口与监控。新增补丁先做长上下文 Agent 负载测试，再决定维护。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4. 对项目的评价与我们的选择</a:t>
            </a:r>
          </a:p>
          <a:p/>
          <a:p>
            <a:r>
              <a:t>这个项目的价值主要在于**新模型的早期A100适配，以及针对具体机器实现和调试推理系统**。值得学习的是瓶颈定位、针对GPU连接方式的通信优化，以及CUDA Graph与会话缓存的协调。它采用的原理大多已成熟，特色在于硬件适配和具体实现。</a:t>
            </a:r>
          </a:p>
          <a:p/>
          <a:p>
            <a:r>
              <a:t>公司方案即使选择A100，也采用**固定版本的modified vLLM**。请求调度、分页缓存、接口和监控沿用vLLM，团队维护必要的A100适配补丁。新增优化先在目标机器和长上下文Agent任务上测试，再根据实际收益决定是否保留。</a:t>
            </a:r>
          </a:p>
          <a:p/>
          <a:p>
            <a:r>
              <a:t>### 6. 服务器预算与引擎选择</a:t>
            </a:r>
          </a:p>
          <a:p/>
          <a:p>
            <a:r>
              <a:t>| 完整GPU服务器 | 人民币交付预算估算 |</a:t>
            </a:r>
          </a:p>
          <a:p>
            <a:r>
              <a:t>|---|---:|</a:t>
            </a:r>
          </a:p>
          <a:p>
            <a:r>
              <a:t>| 8×A100 80GB SXM，翻新 | 91–102万元 |</a:t>
            </a:r>
          </a:p>
          <a:p>
            <a:r>
              <a:t>| 8×H100 80GB SXM | 285–298万元 |</a:t>
            </a:r>
          </a:p>
          <a:p>
            <a:r>
              <a:t>| 4×H200 141GB NVL | 161–283万元 |</a:t>
            </a:r>
          </a:p>
          <a:p>
            <a:r>
              <a:t>| 8×H200 141GB SXM | 291–304万元 |</a:t>
            </a:r>
          </a:p>
          <a:p/>
          <a:p>
            <a:r>
              <a:t>上述预算按10月12日的境外挂牌价和组件预算估算，包含CPU、内存、GPU、机内互联，以及交付和支持费用。如果把工具统一放在服务器上运行，两台CPU服务器另需约12–26万元；工具在员工电脑上运行时，可以复用现有终端。</a:t>
            </a:r>
          </a:p>
          <a:p/>
          <a:p>
            <a:r>
              <a:t>本次同一供应商的八卡H100与H200挂牌价仅差约2%，因此优先考虑显存更大的H200，可以减少因KV Cache容量不足而增加服务器的需求。A100购置价格较低，已有A100设备可按复用成本评估，并采用modified vLLM部署。新增采购还需核对具体SKU、供货路线和许可文件。</a:t>
            </a:r>
          </a:p>
          <a:p/>
          <a:p>
            <a:r>
              <a:t>公司方案以**八卡H200**为主要候选，比较单TP8和双TP4两种部署方式。预算表中的四卡H200采用NVL卡，公开性能测试使用的是另一套硬件；A100报价对应八卡SXM服务器，下一部分介绍的shi3z项目则主要使用四卡PCIe。</a:t>
            </a:r>
          </a:p>
          <a:p/>
          <a:p>
            <a:r>
              <a:t>**如果公司采用A100，推理引擎选择modified vLLM。** 具体做法是固定经过验证的A100适配版本，维护必要补丁，沿用vLLM的调度、分页缓存、接口和监控。shi3z项目作为优化案例和代码参考。</a:t>
            </a:r>
          </a:p>
          <a:p/>
          <a:p>
            <a:r>
              <a:t>【公开来源入口】</a:t>
            </a:r>
          </a:p>
          <a:p>
            <a:r>
              <a:t>shifixed: https://github.com/shi3z/deepseekv4.1-A100-custom/tree/580568edd6f84537ff042ded4ee842b892bf3ff4</a:t>
            </a:r>
          </a:p>
          <a:p>
            <a:r>
              <a:t>kepler: https://github.com/keplerzip/deepseek-v4.1-flash-a100/blob/main/docs/performance.md</a:t>
            </a:r>
          </a:p>
          <a:p>
            <a:r>
              <a:t>tokha: https://github.com/Tokha233/deepseek-v4.1-flash-a100-turbo/blob/main/docs/concurrency-and-short-requests.zh-CN.md</a:t>
            </a:r>
          </a:p>
          <a:p>
            <a:r>
              <a:t>deepseek: https://huggingface.co/deepseek-ai/DeepSeek-V4.1-Flash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当前第22页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从用户任务出发，而不是只优化某个 kernel。逐阶段估算计算量和传输量，再与实际耗时对比，才能判断是计算、数据搬运还是等待拖慢了任务。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1. 一次Agent任务的耗时</a:t>
            </a:r>
          </a:p>
          <a:p/>
          <a:p>
            <a:r>
              <a:t>李博杰的AI Infra Book解释了这些部署选择背后的系统原理。本次主要采用第8章的推理优化、第9章的分布式推理，以及第11章的资源调度。</a:t>
            </a:r>
          </a:p>
          <a:p/>
          <a:p>
            <a:r>
              <a:t>以整理财报为例，一次任务会经历请求排队、输入prefill、生成工具调用、运行脚本、检查结果和撰写报告。用户等待的是这些阶段的总时间，decode速度只反映其中一部分。</a:t>
            </a:r>
          </a:p>
          <a:p/>
          <a:p>
            <a:r>
              <a:t>分析每个阶段时，可以先估算计算量和数据传输量。例如，读取100GB数据，实际带宽为1TB/s时，仅数据传输就需要约0.1秒。计算耗时则可用运算量除以有效算力估算。再与实际耗时比较，就能判断瓶颈主要在计算、传输，还是等待其他操作。</a:t>
            </a:r>
          </a:p>
          <a:p/>
          <a:p>
            <a:r>
              <a:t>【公开来源入口】</a:t>
            </a:r>
          </a:p>
          <a:p>
            <a:r>
              <a:t>book: https://github.com/bojieli/ai-infra-book</a:t>
            </a:r>
          </a:p>
          <a:p>
            <a:r>
              <a:t>book8: https://github.com/bojieli/ai-infra-book/blob/3bdcb4fcab73010eeaccf31cc10a8242a895d82e/manuscripts/08-推理优化.md</a:t>
            </a:r>
          </a:p>
          <a:p>
            <a:r>
              <a:t>book9: https://github.com/bojieli/ai-infra-book/blob/3bdcb4fcab73010eeaccf31cc10a8242a895d82e/manuscripts/09-分布式推理.md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当前第23页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公式刻意只解释读取量。合批能分摊每步权重读取，但每个请求自己的 KV 不能因为合批而消失。Qwen 从 512K 到 1M，容量约 1.9 倍，全注意力冷 prefill 的计算约 3.7 倍；缓存命中后处理新增输入也仍然需要访问旧 KV。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2. 批处理与长上下文的带宽需求</a:t>
            </a:r>
          </a:p>
          <a:p/>
          <a:p>
            <a:r>
              <a:t>稠密模型每一步decode都要读取模型权重和各请求的KV Cache。把多个请求合成一个batch，可以分摊权重读取开销；各请求独立的KV Cache仍需分别读取。</a:t>
            </a:r>
          </a:p>
          <a:p/>
          <a:p>
            <a:r>
              <a:t>每个输出token分摊的数据读取量，可以简化为：</a:t>
            </a:r>
          </a:p>
          <a:p/>
          <a:p>
            <a:r>
              <a:t>&gt; 每个输出token分摊的读取量 ≈ 权重读取量 ÷ batch内请求数 ＋ 该请求的KV Cache读取量。</a:t>
            </a:r>
          </a:p>
          <a:p/>
          <a:p>
            <a:r>
              <a:t>上下文较短时，权重读取占比较大，合批能明显分摊这部分开销。上下文接近1M时，每个请求都要读取较大的KV Cache，增加并发也会增加每一步decode的数据读取量。因此，系统总吞吐可能提高，而每个请求的生成速度反而下降。</a:t>
            </a:r>
          </a:p>
          <a:p/>
          <a:p>
            <a:r>
              <a:t>上下文从512K增加到1M，Qwen的KV Cache容量约增至1.9倍；首次prefill中，全注意力部分的计算量约增至3.7倍。前缀缓存命中后，只需对新增输入做prefill，但处理这些输入时，仍需读取已有的KV Cache。</a:t>
            </a:r>
          </a:p>
          <a:p/>
          <a:p>
            <a:r>
              <a:t>【公开来源入口】</a:t>
            </a:r>
          </a:p>
          <a:p>
            <a:r>
              <a:t>book: https://github.com/bojieli/ai-infra-book</a:t>
            </a:r>
          </a:p>
          <a:p>
            <a:r>
              <a:t>book8: https://github.com/bojieli/ai-infra-book/blob/3bdcb4fcab73010eeaccf31cc10a8242a895d82e/manuscripts/08-推理优化.md</a:t>
            </a:r>
          </a:p>
          <a:p>
            <a:r>
              <a:t>book9: https://github.com/bojieli/ai-infra-book/blob/3bdcb4fcab73010eeaccf31cc10a8242a895d82e/manuscripts/09-分布式推理.md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当前第24页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前缀缓存与分层KV卸载的关系：前者回答“计算结果能否复用”，后者回答“复用状态放在哪里、如何取回”。只打开GPU前缀缓存并不等于拥有CPU/SSD持久化。缓存读取算例紧接在下一页。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分块是在一个服务中交错调度；前缀缓存是避免重复工作；PD 分离则把两个阶段分到不同 GPU 组，需要缓存跨组传输和额外模型副本。是否采用 PD 分离，要看长 prefill 对 decode 的实际干扰。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3. 多卡部署与prefill／decode分离</a:t>
            </a:r>
          </a:p>
          <a:p/>
          <a:p>
            <a:r>
              <a:t>八张GPU可以组成一个TP8实例，也可以分成两个独立的TP4实例。TP8让单个请求使用八张卡；双TP4则让两组用户各用四张卡，并分别拥有请求队列和KV Cache。这就是公司方案比较的两种部署方式。</a:t>
            </a:r>
          </a:p>
          <a:p/>
          <a:p>
            <a:r>
              <a:t>如果长输入的prefill经常拖慢其他请求的decode，可以考虑PD分离：一组GPU专门做prefill，另一组专门做decode，两组之间传递KV Cache。这样能分别调度两个阶段，但需要额外的模型副本和缓存传输，并按实际负载分配两组GPU的数量。</a:t>
            </a:r>
          </a:p>
          <a:p/>
          <a:p>
            <a:r>
              <a:t>分块prefill把长输入分成若干批，让调度器可以在批次之间处理其他请求的decode。前缀缓存则复用已有输入的计算结果，避免每轮重新做完整prefill。</a:t>
            </a:r>
          </a:p>
          <a:p/>
          <a:p>
            <a:r>
              <a:t>【公开来源入口】</a:t>
            </a:r>
          </a:p>
          <a:p>
            <a:r>
              <a:t>book: https://github.com/bojieli/ai-infra-book</a:t>
            </a:r>
          </a:p>
          <a:p>
            <a:r>
              <a:t>book8: https://github.com/bojieli/ai-infra-book/blob/3bdcb4fcab73010eeaccf31cc10a8242a895d82e/manuscripts/08-推理优化.md</a:t>
            </a:r>
          </a:p>
          <a:p>
            <a:r>
              <a:t>book9: https://github.com/bojieli/ai-infra-book/blob/3bdcb4fcab73010eeaccf31cc10a8242a895d82e/manuscripts/09-分布式推理.md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当前第26页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这是一个占用量算例，不是建议采购只有 1.2 核的服务器。每个任务存活 210 秒，因此同时保留约 21 个环境；工具 CPU 真正忙的只有 12 核秒 / 任务，所以平均只需 1.2 核，但内存仍是 42GiB。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4. Agent等待时的内存占用</a:t>
            </a:r>
          </a:p>
          <a:p/>
          <a:p>
            <a:r>
              <a:t>工具运行时，模型可以处理其他请求，但这个任务的KV Cache仍可能留在GPU中。模型生成时，工具进程虽然暂时不用CPU，进程和执行环境仍可能占用主机内存。</a:t>
            </a:r>
          </a:p>
          <a:p/>
          <a:p>
            <a:r>
              <a:t>用一个教学算例说明：任务以每10秒一项的速度稳定到达，忽略排队；每项任务有三轮，每轮模型运行60秒、工具运行10秒。工具每轮实际消耗4核秒，例如一个CPU核忙4秒，其余时间等待I/O。每个任务的执行环境占2GiB内存，并保留到任务结束。</a:t>
            </a:r>
          </a:p>
          <a:p/>
          <a:p>
            <a:r>
              <a:t>| 资源 | 计算方法 | 平均需求 |</a:t>
            </a:r>
          </a:p>
          <a:p>
            <a:r>
              <a:t>|---|---|---:|</a:t>
            </a:r>
          </a:p>
          <a:p>
            <a:r>
              <a:t>| 尚未完成的任务 | 每项3×(60＋10)＝210秒，每10秒到达一项 | 21项 |</a:t>
            </a:r>
          </a:p>
          <a:p>
            <a:r>
              <a:t>| 处于模型阶段的任务 | 每项3×60＝180秒，每10秒到达一项 | 18项 |</a:t>
            </a:r>
          </a:p>
          <a:p>
            <a:r>
              <a:t>| 工具占用的CPU | 每项3×4＝12核秒，每10秒到达一项 | 1.2核 |</a:t>
            </a:r>
          </a:p>
          <a:p>
            <a:r>
              <a:t>| 工具执行环境的内存 | 21项×2GiB | 42GiB |</a:t>
            </a:r>
          </a:p>
          <a:p/>
          <a:p>
            <a:r>
              <a:t>这个例子中，工具平均只使用1.2个CPU核，却需要42GiB内存保留执行环境。因此，模型的KV Cache、工具CPU和执行环境内存应分别计算。</a:t>
            </a:r>
          </a:p>
          <a:p/>
          <a:p>
            <a:r>
              <a:t>经济性比较最终看**完成一项合格任务所需的时间和成本**。成本包括设备、电力、软件、工具调用、重试和人工复核；任务是否合格，则看产出是否完成要求并通过复核。</a:t>
            </a:r>
          </a:p>
          <a:p/>
          <a:p>
            <a:r>
              <a:t>【公开来源入口】</a:t>
            </a:r>
          </a:p>
          <a:p>
            <a:r>
              <a:t>book: https://github.com/bojieli/ai-infra-book</a:t>
            </a:r>
          </a:p>
          <a:p>
            <a:r>
              <a:t>book8: https://github.com/bojieli/ai-infra-book/blob/3bdcb4fcab73010eeaccf31cc10a8242a895d82e/manuscripts/08-推理优化.md</a:t>
            </a:r>
          </a:p>
          <a:p>
            <a:r>
              <a:t>book9: https://github.com/bojieli/ai-infra-book/blob/3bdcb4fcab73010eeaccf31cc10a8242a895d82e/manuscripts/09-分布式推理.md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当前第27页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新增的落地结论：公司采用GPU+DRAM+SSD分层，会话状态按活跃程度分配；Spark采用统一内存+SSD，不能把CPU缓存视为额外的独立128GB。GPU上活跃请求的并发能力和可持久保存的会话数量分别预算。512K约15 token/s及公司20路满1M需测量的口径保持不变。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收束到三个落地选择：Spark 个人方案、八卡 H200 公司方案、公司 A100 的 modified vLLM 路线。最终评估单位不是孤立 token，而是完成一项通过复核的任务的时间与全链路成本。成本包括设备、电力、软件、工具调用、重试和人工复核。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个人方案采用Spark运行Qwen3.8-27B，工具在员工电脑上执行。FP8 KV配置下，262K上下文估算约18 token/s，512K约15 token/s；共享KV Cache总容量约1.81M token。公司方案以八卡H200运行DeepSeek-V4.1-Flash为主要候选，TP8和双TP4的缓存容量都能容纳20个1M会话。</a:t>
            </a:r>
          </a:p>
          <a:p/>
          <a:p>
            <a:r>
              <a:t>A100项目用于学习硬件适配和具体优化，公司A100部署采用modified vLLM。AI Infra Book则帮助我们逐项分析计算量、数据传输、缓存和调度，再把这些因素换算成每个任务的响应时间与成本。</a:t>
            </a:r>
          </a:p>
          <a:p/>
          <a:p>
            <a:r>
              <a:t>### 4. Agent等待时的内存占用</a:t>
            </a:r>
          </a:p>
          <a:p/>
          <a:p>
            <a:r>
              <a:t>工具运行时，模型可以处理其他请求，但这个任务的KV Cache仍可能留在GPU中。模型生成时，工具进程虽然暂时不用CPU，进程和执行环境仍可能占用主机内存。</a:t>
            </a:r>
          </a:p>
          <a:p/>
          <a:p>
            <a:r>
              <a:t>用一个教学算例说明：任务以每10秒一项的速度稳定到达，忽略排队；每项任务有三轮，每轮模型运行60秒、工具运行10秒。工具每轮实际消耗4核秒，例如一个CPU核忙4秒，其余时间等待I/O。每个任务的执行环境占2GiB内存，并保留到任务结束。</a:t>
            </a:r>
          </a:p>
          <a:p/>
          <a:p>
            <a:r>
              <a:t>| 资源 | 计算方法 | 平均需求 |</a:t>
            </a:r>
          </a:p>
          <a:p>
            <a:r>
              <a:t>|---|---|---:|</a:t>
            </a:r>
          </a:p>
          <a:p>
            <a:r>
              <a:t>| 尚未完成的任务 | 每项3×(60＋10)＝210秒，每10秒到达一项 | 21项 |</a:t>
            </a:r>
          </a:p>
          <a:p>
            <a:r>
              <a:t>| 处于模型阶段的任务 | 每项3×60＝180秒，每10秒到达一项 | 18项 |</a:t>
            </a:r>
          </a:p>
          <a:p>
            <a:r>
              <a:t>| 工具占用的CPU | 每项3×4＝12核秒，每10秒到达一项 | 1.2核 |</a:t>
            </a:r>
          </a:p>
          <a:p>
            <a:r>
              <a:t>| 工具执行环境的内存 | 21项×2GiB | 42GiB |</a:t>
            </a:r>
          </a:p>
          <a:p/>
          <a:p>
            <a:r>
              <a:t>这个例子中，工具平均只使用1.2个CPU核，却需要42GiB内存保留执行环境。因此，模型的KV Cache、工具CPU和执行环境内存应分别计算。</a:t>
            </a:r>
          </a:p>
          <a:p/>
          <a:p>
            <a:r>
              <a:t>经济性比较最终看**完成一项合格任务所需的时间和成本**。成本包括设备、电力、软件、工具调用、重试和人工复核；任务是否合格，则看产出是否完成要求并通过复核。</a:t>
            </a:r>
          </a:p>
          <a:p/>
          <a:p>
            <a:r>
              <a:t>【公开来源入口】</a:t>
            </a:r>
          </a:p>
          <a:p>
            <a:r>
              <a:t>native: https://docs.vllm.ai/en/stable/features/kv_offloading_usage/</a:t>
            </a:r>
          </a:p>
          <a:p>
            <a:r>
              <a:t>mp: https://docs.lmcache.ai/mp/l2_storage.html</a:t>
            </a:r>
          </a:p>
          <a:p>
            <a:r>
              <a:t>sparkarch: https://docs.nvidia.com/dgx/dgx-spark-porting-guide/overview.html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当前第28页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【Spark启动配置补充】</a:t>
            </a:r>
          </a:p>
          <a:p>
            <a:r>
              <a:t>单GB10、TP1；FP8权重+FP8 KV、MTP3、FlashInfer；YaRN factor=4；主模型与MTP草稿max_model_len均显式设为1,000,000；本次容量/速度测试关闭前缀缓存。</a:t>
            </a:r>
          </a:p>
          <a:p>
            <a:r>
              <a:t>原生上限262,144。max_num_seqs=8；max_num_batched_tokens=16,384；GPU内存预算gpu_memory_utilization=0.80。</a:t>
            </a:r>
          </a:p>
          <a:p>
            <a:r>
              <a:t>主模型扩展至1M时，要显式设置草稿上限。朋友的300K诊断中，草稿仍受262K门限限制时测得5.80 token/s；修正后重测17.23 token/s。这个诊断解释配置问题，主表继续采用修正后的300K样本，不把两次配置混成重复测量。</a:t>
            </a:r>
          </a:p>
          <a:p>
            <a:r>
              <a:t>本页原始测试关闭前缀缓存；正文GPU缓存命中的新增prefill估算、以及新增CPU/SSD缓存方案，与这里的冷请求测试不是同一运行条件。FP8+FP8 KV+MTP3与LMCache混合状态组合还需单独验证，不能从该测试直接推出持久缓存已打通。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问到原始测试时用这一页。区分实际输入长度、输出长度与总上下文档位；尤其 1M 只验证能完成请求，不能把 64 token 的短段当作稳定长生成基准。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2. 首token等待时间与生成速度</a:t>
            </a:r>
          </a:p>
          <a:p/>
          <a:p>
            <a:r>
              <a:t>一次推理分为两个阶段：prefill处理输入token，decode逐步生成输出token。用户先等待输入处理完成，再看到模型开始输出；开始输出后的生成速度用token/s表示。</a:t>
            </a:r>
          </a:p>
          <a:p/>
          <a:p>
            <a:r>
              <a:t>朋友在单台Spark上的测试中，100K输入的首token等待时间约145秒，之后的生成速度约20 token/s；500K输入的首token等待时间约24.5分钟，之后约15 token/s。总上下文为1M的请求也完成了，首token等待时间约80分钟。</a:t>
            </a:r>
          </a:p>
          <a:p/>
          <a:p>
            <a:r>
              <a:t>这组测试使用FP8权重和FP8 KV Cache，开启MTP推测解码，每轮最多提出3个草稿token。输入为随机token；1M请求只生成64个token，用于验证容量。BF16 KV Cache的容量另作估算。</a:t>
            </a:r>
          </a:p>
          <a:p/>
          <a:p>
            <a:r>
              <a:t>长材料的首次prefill可以提前在后台完成，并保留生成的KV Cache。之后Agent把工具结果追加到原输入末尾；前缀缓存命中时，模型只需对新增输入做prefill，就能继续生成。</a:t>
            </a:r>
          </a:p>
          <a:p/>
          <a:p>
            <a:r>
              <a:t>### 3. 不同上下文长度下的速度</a:t>
            </a:r>
          </a:p>
          <a:p/>
          <a:p>
            <a:r>
              <a:t>根据这组Spark测试，估算单个请求在接近用满各档上下文时的表现。每档预留8K输出，表中首次prefill处理的是其余全部输入。</a:t>
            </a:r>
          </a:p>
          <a:p/>
          <a:p>
            <a:r>
              <a:t>| 总上下文 | 估算decode速度 | 估算首次prefill时间 | 前缀缓存命中时，新增1K输入的估算prefill时间 |</a:t>
            </a:r>
          </a:p>
          <a:p>
            <a:r>
              <a:t>|---|---:|---:|---:|</a:t>
            </a:r>
          </a:p>
          <a:p>
            <a:r>
              <a:t>| 131K | 约19.7 token/s | 约3.1分钟 | 约2秒 |</a:t>
            </a:r>
          </a:p>
          <a:p>
            <a:r>
              <a:t>| 262K | 约17.7 token/s | 约8.6分钟 | 约3秒 |</a:t>
            </a:r>
          </a:p>
          <a:p>
            <a:r>
              <a:t>| 512K | 约14.7 token/s | 约25.8分钟 | 约5秒 |</a:t>
            </a:r>
          </a:p>
          <a:p>
            <a:r>
              <a:t>| 1M | 约11.2 token/s，外推 | 约78.9分钟，外推 | 约9秒，外推 |</a:t>
            </a:r>
          </a:p>
          <a:p/>
          <a:p>
            <a:r>
              <a:t>最后一列假设原有输入的KV Cache和线性注意力状态都保留在GPU上，可以直接复用。</a:t>
            </a:r>
          </a:p>
          <a:p/>
          <a:p>
            <a:r>
              <a:t>以总上下文接近512K、预留8K输出的请求为例：本轮工具结果为1K token、其余输入已缓存时，这1K新增输入的prefill估算约需5秒；本轮工具结果为8K token、其余输入已缓存时，这8K输入的prefill估算约需40秒。两种请求完成prefill后的总输入长度相同。</a:t>
            </a:r>
          </a:p>
          <a:p/>
          <a:p>
            <a:r>
              <a:t>5秒和40秒是新增输入的prefill时间；实际首token等待还包括请求排队和第一步decode。</a:t>
            </a:r>
          </a:p>
          <a:p/>
          <a:p>
            <a:r>
              <a:t>前缀缓存命中后，旧输入不必重新做prefill，但decode仍然需要访问上下文对应的KV Cache。上下文越长，每生成一个token需要处理的KV越多，因此生成速度仍会下降。</a:t>
            </a:r>
          </a:p>
          <a:p/>
          <a:p>
            <a:r>
              <a:t>512K上下文可以同时容纳更多资料、代码和工具结果，估算生成速度约15 token/s，低于单人20 token/s的目标。1M估算约11 token/s，首次prefill接近80分钟。</a:t>
            </a:r>
          </a:p>
          <a:p/>
          <a:p/>
          <a:p>
            <a:r>
              <a:t>【补充数据／初版 Beamer PDF】</a:t>
            </a:r>
          </a:p>
          <a:p>
            <a:r>
              <a:t>初版 Beamer PDF 第 21 页完整表：1,024 / 2,048 / 0.6 / 20.53；50,000 / 2,048 / 63.1 / 21.01；100,000 / 2,048 / 144.8 / 20.11；300,000 / 2,048 / 658.9 / 17.23；500,000 / 2,048 / 1,470.1 / 14.82。容量验证：999,936 输入 + 64 输出，TTFT 4,815.8 秒，短段 decode 9.83。</a:t>
            </a:r>
          </a:p>
          <a:p/>
          <a:p>
            <a:r>
              <a:t>【公开来源入口】</a:t>
            </a:r>
          </a:p>
          <a:p>
            <a:r>
              <a:t>qwen: https://huggingface.co/Qwen/Qwen3.8-27B-FP8/blob/main/README.md</a:t>
            </a:r>
          </a:p>
          <a:p>
            <a:r>
              <a:t>draft: https://github.com/vllm-project/vllm/issues/58080</a:t>
            </a:r>
          </a:p>
          <a:p>
            <a:r>
              <a:t>bench: https://docs.vllm.ai/en/latest/cli/bench/serve/</a:t>
            </a:r>
          </a:p>
          <a:p>
            <a:r>
              <a:t>qrecipe: https://docs.lmcache.ai/recipes/qwen3_5.html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当前第29页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需要复算容量时，先把公开日志的原始池按 graph 后严格预算线性缩放，再留 10% 余量，最后按人数均分。8×H200 的模型单会话档位仍按 1M 封顶。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3. 四卡与八卡的上下文容量</a:t>
            </a:r>
          </a:p>
          <a:p/>
          <a:p>
            <a:r>
              <a:t>下表按公开启动日志中的可用KV Cache预算，估算20个会话均分后各自能使用多大的上下文，并预留10%的缓存容量。</a:t>
            </a:r>
          </a:p>
          <a:p/>
          <a:p>
            <a:r>
              <a:t>| 配置 | 20个会话均分时，每个会话可用的上下文 | 按缓存容量可容纳的会话 |</a:t>
            </a:r>
          </a:p>
          <a:p>
            <a:r>
              <a:t>|---|---:|---|</a:t>
            </a:r>
          </a:p>
          <a:p>
            <a:r>
              <a:t>| 8×H100 80GB | 约242K | 20个131K；20个262K需要更多KV Cache空间 |</a:t>
            </a:r>
          </a:p>
          <a:p>
            <a:r>
              <a:t>| 4×H200 141GB | 约762K | 20个512K，或更少的1M会话 |</a:t>
            </a:r>
          </a:p>
          <a:p>
            <a:r>
              <a:t>| 8×H200 141GB，一个TP8实例 | 可容纳1M | 一个实例容纳20个1M会话 |</a:t>
            </a:r>
          </a:p>
          <a:p>
            <a:r>
              <a:t>| 8×H200 141GB，两个TP4实例 | 可容纳1M | 每个实例容纳10个1M会话 |</a:t>
            </a:r>
          </a:p>
          <a:p/>
          <a:p>
            <a:r>
              <a:t>这里TP8指一个模型实例使用八张GPU；双TP4则是两个独立模型实例，各用四张卡。</a:t>
            </a:r>
          </a:p>
          <a:p/>
          <a:p>
            <a:r>
              <a:t>TP8由八张卡共同处理同一个实例中的请求，所有用户共用一个队列。双TP4把用户分到两个实例，各自排队；按这次公开日志，两组KV Cache的合计容量也更大。本预算按两个独立TP4服务各持有一份Engram，合计约406GB；采用支持共享机制的同机DP部署时，需按版本重新分配主存。</a:t>
            </a:r>
          </a:p>
          <a:p/>
          <a:p>
            <a:r>
              <a:t>两种方案使用同一台八卡H200服务器，硬件购置费相同；主要差别是请求如何分组，以及模型和KV Cache如何分配。</a:t>
            </a:r>
          </a:p>
          <a:p/>
          <a:p>
            <a:r>
              <a:t>### 4. 三人共享KV Cache和计算资源</a:t>
            </a:r>
          </a:p>
          <a:p/>
          <a:p>
            <a:r>
              <a:t>这套FP8 KV Cache的总容量约1.81M token，三人均分时每人约600K；如果一人占用1M，其余两人就共用剩下的约810K。</a:t>
            </a:r>
          </a:p>
          <a:p/>
          <a:p>
            <a:r>
              <a:t>保存三个人的KV Cache占用内存，三个人同时生成还会共享GPU计算能力和内存带宽。三人各输入100K的测试中，只统计三路同时decode的时段，每路平均约17.5 token/s。</a:t>
            </a:r>
          </a:p>
          <a:p/>
          <a:p>
            <a:r>
              <a:t>如果从每个请求的首token统计到输出结束，每路平均约12.5 token/s；这个时段还包含其他请求做prefill时造成的等待。</a:t>
            </a:r>
          </a:p>
          <a:p/>
          <a:p>
            <a:r>
              <a:t>三人共享时，保留各自的会话缓存，优先处理正在交互的请求；长输入的prefill排队执行，批量任务放到空闲时段。如果改用BF16 KV Cache，同一内存预算下可保存的token数估算减半。预留10%容量余量后，可以容纳单人512K，或三人各262K。</a:t>
            </a:r>
          </a:p>
          <a:p/>
          <a:p>
            <a:r>
              <a:t>以下资料供讲者核对数据和回答技术问题。</a:t>
            </a:r>
          </a:p>
          <a:p/>
          <a:p>
            <a:r>
              <a:t>- [Spark详细方案](../../knowledge-base/infrastructure/scenario-1-personal-agent-2026-09-24.md)：四档上下文的计算、精度、共享KV Cache和费用；[朋友提供的测试](../../knowledge-base/infrastructure/dgx-spark-qwen27-external-benchmark-2026-10-12.md)。三人各约600K是1.81M缓存池直接均分的结果；预留10%容量后，每人约542K，仍可容纳三人各512K。</a:t>
            </a:r>
          </a:p>
          <a:p>
            <a:r>
              <a:t>- [DeepSeek详细方案](../../knowledge-base/infrastructure/scenario-3-company-agent-2026-09-23.md)：各卡的KV Cache、TP8与双TP4、公开AgentX测试及各档并发计算。正文表格中的H100和四卡H200采用CUDA Graph捕获后建议的较小KV预算；各配置的原始分配容量及计算方法见详细文档。</a:t>
            </a:r>
          </a:p>
          <a:p>
            <a:r>
              <a:t>- [整机预算与采购](../../knowledge-base/infrastructure/server-gpu-procurement-2026-10-12.md)：10月12日价格、汇率7.00假设、翻新与新机、NVL与SXM、交付条件。软件授权、机房改造和长期运行费用单独计算。</a:t>
            </a:r>
          </a:p>
          <a:p>
            <a:r>
              <a:t>- [A100完整分析](../../knowledge-base/infrastructure/deepseek-a100-project-review-2026-10-12.md)：项目架构、优化方法、modified vLLM性能对照、原生权重与缓存容量；附录包含具体执行过程和许可说明。</a:t>
            </a:r>
          </a:p>
          <a:p>
            <a:r>
              <a:t>- [AI Infra Book精读](../../knowledge-base/infrastructure/ai-infra-book-reading-2026-10-12.md)：公式、章节位置及Spark、DeepSeek算例；原书[GitHub仓库](https://github.com/bojieli/ai-infra-book)。</a:t>
            </a:r>
          </a:p>
          <a:p>
            <a:r>
              <a:t>- [公司知识库一页回顾](../../knowledge-base/infrastructure/scenario-2-enterprise-rag-2026-09-23.md)：Onyx与Milvus、NAS权限及通用检索接口。</a:t>
            </a:r>
          </a:p>
          <a:p>
            <a:r>
              <a:t>- [A100与modified vLLM对照来源](../../knowledge-base/sources/TECH-088/original.md)：作者文章公开部分、A100性能报告、A800测试方法与逐项优化对比，以及vLLM已有的后端功能。</a:t>
            </a:r>
          </a:p>
          <a:p/>
          <a:p/>
          <a:p>
            <a:r>
              <a:t>【补充数据／初版 Beamer PDF】</a:t>
            </a:r>
          </a:p>
          <a:p>
            <a:r>
              <a:t>初版 Beamer PDF 第 22 页：H100 TP8 已分配 12.36GiB / 卡、实例池 6.435M、严格预算 10.34GiB；H200 TP4 为 35.16GiB、18.327M、32.49GiB；H200 TP8 为 62.86GiB、29.498M、60.20GiB。</a:t>
            </a:r>
          </a:p>
          <a:p/>
          <a:p>
            <a:r>
              <a:t>【公开来源入口】</a:t>
            </a:r>
          </a:p>
          <a:p>
            <a:r>
              <a:t>deepseek: https://huggingface.co/deepseek-ai/DeepSeek-V4.1-Flash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当前第30页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完整回放表只用作约 140K–157K 输入的多轮参照，端到端总输出包含输入处理和调度。平均接受长度是预设，不是本公司工作负载已经测得的草稿接受率。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5. 并发生成速度与首token等待时间</a:t>
            </a:r>
          </a:p>
          <a:p/>
          <a:p>
            <a:r>
              <a:t>20个请求同时decode，每路20 token/s需要系统持续输出400 token/s；每路10 token/s则需要200 token/s。除了总吞吐，还要看新增输入的prefill是否拖慢其他请求的decode。</a:t>
            </a:r>
          </a:p>
          <a:p/>
          <a:p>
            <a:r>
              <a:t>DSpark通过先提出草稿token、再由主模型验证的方式加速decode。下面这组公开AgentX测试每轮提出5个草稿token，并将平均接受长度预设为3.51。</a:t>
            </a:r>
          </a:p>
          <a:p/>
          <a:p>
            <a:r>
              <a:t>这组测试的平均输入约140K–157K，前缀缓存命中率约95%。八卡H200同时回放32个会话时，总输出约1,052 token/s，约95%的请求在2.63秒内收到首token。这些数值对应高缓存命中和预设草稿接受行为；20个1M请求的实际生成速度尚无对应测量。</a:t>
            </a:r>
          </a:p>
          <a:p/>
          <a:p>
            <a:r>
              <a:t>八卡H200的缓存容量可以满足20个1M会话。选择TP8还是双TP4，要比较20个请求同时运行时的每路decode速度，以及在512K、1M上下文下，新增1K或8K工具结果后的首token等待时间。</a:t>
            </a:r>
          </a:p>
          <a:p/>
          <a:p/>
          <a:p>
            <a:r>
              <a:t>【补充数据／初版 Beamer PDF】</a:t>
            </a:r>
          </a:p>
          <a:p>
            <a:r>
              <a:t>初版 Beamer PDF 第 23 页：H100 TP8 20 会话 718.48 token/s，TTFT 均值 2.05 秒、p95 6.98 秒；H200 TP4 16 会话 614.76，0.83 / 3.03；H200 TP4 32 会话 922.61，1.47 / 5.12；H200 TP8 16 会话 661.15，0.65 / 2.14；H200 TP8 32 会话 1,052.18，0.85 / 2.63。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当前第31页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【交付预算对应配置，沿用2026-10-12】</a:t>
            </a:r>
          </a:p>
          <a:p>
            <a:r>
              <a:t>8×A100 80GB SXM4，翻新：双EPYC 7V12，1TB DDR4，HGX/NVLink，91–102万元。</a:t>
            </a:r>
          </a:p>
          <a:p>
            <a:r>
              <a:t>8×H100 80GB SXM5：双EPYC 9454，1.5TB DDR5，NVSwitch，285–298万元。</a:t>
            </a:r>
          </a:p>
          <a:p>
            <a:r>
              <a:t>4×H200 NVL 141GB：双Xeon 6710E等级，1TB主存，四卡桥接/PCIe服务器，161–283万元。此项是组件估算，CPU是预算等级。</a:t>
            </a:r>
          </a:p>
          <a:p>
            <a:r>
              <a:t>8×H200 SXM 141GB：双EPYC 9454，1.5TB DDR5，NVSwitch，291–304万元。</a:t>
            </a:r>
          </a:p>
          <a:p>
            <a:r>
              <a:t>其余三项有完整服务器挂牌作为输入。汇率假设USD/CNY=7.00；人民币为含所列税费、运输和支持准备的预算估算，没有在本次修订中重新报价。工具CPU节点另计12–26万元。主机RAM还要容纳Engram、系统和工具等开销，剩余空间才可分配CPU KV池。具体SKU和交付条件需采购时再核对。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解释预算构成，避免把服务器、CPU、电源重复计算。13% 与 10% 是原材料中的预算准备假设，不是此处给出的采购税务判断。软件授权、机房改造、长期运维另算。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5. 购置与部署费用</a:t>
            </a:r>
          </a:p>
          <a:p/>
          <a:p>
            <a:r>
              <a:t>单台Spark的国内交付预算约**5.8–6.2万元**，按10月12日美国官方标价6,950美元、假设汇率7.00换算，再计入估算的税费、运输和技术支持费用。</a:t>
            </a:r>
          </a:p>
          <a:p/>
          <a:p>
            <a:r>
              <a:t>再计入首次配置、工具接入和功能检查，个人方案的实施费用估算为1–2万元，连同硬件共约**6.8–8.2万元**。三人共享方案的硬件与实施合计约**7.8–9.9万元**。自行部署时，实施费用对应的是团队投入的工时。</a:t>
            </a:r>
          </a:p>
          <a:p/>
          <a:p>
            <a:r>
              <a:t>### 6. 服务器预算与引擎选择</a:t>
            </a:r>
          </a:p>
          <a:p/>
          <a:p>
            <a:r>
              <a:t>| 完整GPU服务器 | 人民币交付预算估算 |</a:t>
            </a:r>
          </a:p>
          <a:p>
            <a:r>
              <a:t>|---|---:|</a:t>
            </a:r>
          </a:p>
          <a:p>
            <a:r>
              <a:t>| 8×A100 80GB SXM，翻新 | 91–102万元 |</a:t>
            </a:r>
          </a:p>
          <a:p>
            <a:r>
              <a:t>| 8×H100 80GB SXM | 285–298万元 |</a:t>
            </a:r>
          </a:p>
          <a:p>
            <a:r>
              <a:t>| 4×H200 141GB NVL | 161–283万元 |</a:t>
            </a:r>
          </a:p>
          <a:p>
            <a:r>
              <a:t>| 8×H200 141GB SXM | 291–304万元 |</a:t>
            </a:r>
          </a:p>
          <a:p/>
          <a:p>
            <a:r>
              <a:t>上述预算按10月12日的境外挂牌价和组件预算估算，包含CPU、内存、GPU、机内互联，以及交付和支持费用。如果把工具统一放在服务器上运行，两台CPU服务器另需约12–26万元；工具在员工电脑上运行时，可以复用现有终端。</a:t>
            </a:r>
          </a:p>
          <a:p/>
          <a:p>
            <a:r>
              <a:t>本次同一供应商的八卡H100与H200挂牌价仅差约2%，因此优先考虑显存更大的H200，可以减少因KV Cache容量不足而增加服务器的需求。A100购置价格较低，已有A100设备可按复用成本评估，并采用modified vLLM部署。新增采购还需核对具体SKU、供货路线和许可文件。</a:t>
            </a:r>
          </a:p>
          <a:p/>
          <a:p>
            <a:r>
              <a:t>公司方案以**八卡H200**为主要候选，比较单TP8和双TP4两种部署方式。预算表中的四卡H200采用NVL卡，公开性能测试使用的是另一套硬件；A100报价对应八卡SXM服务器，下一部分介绍的shi3z项目则主要使用四卡PCIe。</a:t>
            </a:r>
          </a:p>
          <a:p/>
          <a:p>
            <a:r>
              <a:t>**如果公司采用A100，推理引擎选择modified vLLM。** 具体做法是固定经过验证的A100适配版本，维护必要补丁，沿用vLLM的调度、分页缓存、接口和监控。shi3z项目作为优化案例和代码参考。</a:t>
            </a:r>
          </a:p>
          <a:p/>
          <a:p>
            <a:r>
              <a:t>以下资料供讲者核对数据和回答技术问题。</a:t>
            </a:r>
          </a:p>
          <a:p/>
          <a:p>
            <a:r>
              <a:t>- [Spark详细方案](../../knowledge-base/infrastructure/scenario-1-personal-agent-2026-09-24.md)：四档上下文的计算、精度、共享KV Cache和费用；[朋友提供的测试](../../knowledge-base/infrastructure/dgx-spark-qwen27-external-benchmark-2026-10-12.md)。三人各约600K是1.81M缓存池直接均分的结果；预留10%容量后，每人约542K，仍可容纳三人各512K。</a:t>
            </a:r>
          </a:p>
          <a:p>
            <a:r>
              <a:t>- [DeepSeek详细方案](../../knowledge-base/infrastructure/scenario-3-company-agent-2026-09-23.md)：各卡的KV Cache、TP8与双TP4、公开AgentX测试及各档并发计算。正文表格中的H100和四卡H200采用CUDA Graph捕获后建议的较小KV预算；各配置的原始分配容量及计算方法见详细文档。</a:t>
            </a:r>
          </a:p>
          <a:p>
            <a:r>
              <a:t>- [整机预算与采购](../../knowledge-base/infrastructure/server-gpu-procurement-2026-10-12.md)：10月12日价格、汇率7.00假设、翻新与新机、NVL与SXM、交付条件。软件授权、机房改造和长期运行费用单独计算。</a:t>
            </a:r>
          </a:p>
          <a:p>
            <a:r>
              <a:t>- [A100完整分析](../../knowledge-base/infrastructure/deepseek-a100-project-review-2026-10-12.md)：项目架构、优化方法、modified vLLM性能对照、原生权重与缓存容量；附录包含具体执行过程和许可说明。</a:t>
            </a:r>
          </a:p>
          <a:p>
            <a:r>
              <a:t>- [AI Infra Book精读](../../knowledge-base/infrastructure/ai-infra-book-reading-2026-10-12.md)：公式、章节位置及Spark、DeepSeek算例；原书[GitHub仓库](https://github.com/bojieli/ai-infra-book)。</a:t>
            </a:r>
          </a:p>
          <a:p>
            <a:r>
              <a:t>- [公司知识库一页回顾](../../knowledge-base/infrastructure/scenario-2-enterprise-rag-2026-09-23.md)：Onyx与Milvus、NAS权限及通用检索接口。</a:t>
            </a:r>
          </a:p>
          <a:p>
            <a:r>
              <a:t>- [A100与modified vLLM对照来源](../../knowledge-base/sources/TECH-088/original.md)：作者文章公开部分、A100性能报告、A800测试方法与逐项优化对比，以及vLLM已有的后端功能。</a:t>
            </a:r>
          </a:p>
          <a:p/>
          <a:p/>
          <a:p>
            <a:r>
              <a:t>【补充数据／初版 Beamer PDF】</a:t>
            </a:r>
          </a:p>
          <a:p>
            <a:r>
              <a:t>初版 Beamer PDF 第 24 页列明：个人实施 4–8 人天 × 2,500；三人实施 8–15 人天 × 2,500；完整 GPU 主机以整机挂牌或 BOM 为基础，增加预算准备与交付支持。</a:t>
            </a:r>
          </a:p>
          <a:p/>
          <a:p>
            <a:r>
              <a:t>【公开来源入口】</a:t>
            </a:r>
          </a:p>
          <a:p>
            <a:r>
              <a:t>a100: https://www.theserverstore.com/nvidia-hgx-8x-a100-80gb-sxm4-nvlink-gpu-server-zt-systems</a:t>
            </a:r>
          </a:p>
          <a:p>
            <a:r>
              <a:t>h100: https://configurator.exxactcorp.com/configure/TS4-193475697</a:t>
            </a:r>
          </a:p>
          <a:p>
            <a:r>
              <a:t>h200nvl: https://viperatech.com/product/nvidia-h200-nvl-graphic-card-141-gb-passive-pcie-900-21010-0040-000</a:t>
            </a:r>
          </a:p>
          <a:p>
            <a:r>
              <a:t>h200: https://configurator.exxactcorp.com/configure/TS4-118380266</a:t>
            </a:r>
          </a:p>
          <a:p>
            <a:r>
              <a:t>spark: https://marketplace.nvidia.com/en-us/enterprise/personal-ai-supercomputers/dgx-spark/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当前第32页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这一页用于澄清两个缓存数字为何不同：计量范围不同、格式不同、GB / GiB 不同，不能只比较 1.83 与 2.98 的大小。定制实现还通过逐头处理索引分数和 CPU 会话备份去重减少内存占用。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2. 模型服务器的内存分成三块</a:t>
            </a:r>
          </a:p>
          <a:p/>
          <a:p>
            <a:r>
              <a:t>模型服务主要占用三部分内存：GPU中的模型权重、主机内存中约203GB的Engram查找表，以及各会话的KV Cache。KV Cache随会话数和上下文长度增加。</a:t>
            </a:r>
          </a:p>
          <a:p/>
          <a:p>
            <a:r>
              <a:t>在当前H100／H200推理实现中，总上下文为1M的一个会话，全局KV Cache在每张参与推理的GPU上各占约**1.83GB**。20个这样的会话合计占约**36.5GB／卡**，局部状态、草稿模型和运行缓冲另占显存。</a:t>
            </a:r>
          </a:p>
          <a:p/>
          <a:p>
            <a:r>
              <a:t>在卡数和部署方式相同的情况下，H200的显存更大，装入模型后能给KV Cache留出更多空间。因此，相同上下文长度下，H200能容纳更多会话。</a:t>
            </a:r>
          </a:p>
          <a:p/>
          <a:p>
            <a:r>
              <a:t>### 3. 官方权重与运行显存</a:t>
            </a:r>
          </a:p>
          <a:p/>
          <a:p>
            <a:r>
              <a:t>DeepSeek-V4.1-Flash的官方checkpoint约510.29GB，其中Engram表约202.76GB。将Engram放在主机内存后，剩余权重约307.53GB，即286.41GiB；理想均分到四张GPU，每张约71.60GiB。</a:t>
            </a:r>
          </a:p>
          <a:p/>
          <a:p>
            <a:r>
              <a:t>四张A100能容纳这些权重，主要因为模型原生采用FP4／FP8存储，并将Engram卸载到主机内存；vLLM也支持这种卸载方式。定制项目在此基础上安排各卡的权重分片，控制加载缓冲和临时张量占用，为KV Cache留出显存。</a:t>
            </a:r>
          </a:p>
          <a:p/>
          <a:p>
            <a:r>
              <a:t>索引器有32个打分头，同时保留所有头的分数会产生较大的中间张量。改为逐头计算并累加，可以降低这一步的峰值显存。四张GPU中重复保存的全局KV和索引缓存，在保存会话时只需向CPU备份一份，从而减少主机内存占用。</a:t>
            </a:r>
          </a:p>
          <a:p/>
          <a:p>
            <a:r>
              <a:t>按这个定制实现的BF16缓存布局，每个1M会话的全局KV和索引缓存在每张GPU上约占2.98GiB。20个会话各用1M，再加一个同样大小的prefill临时槽，合计约62.6GiB／卡，模型权重和其他运行状态还要另外占用显存。</a:t>
            </a:r>
          </a:p>
          <a:p/>
          <a:p>
            <a:r>
              <a:t>【公开来源入口】</a:t>
            </a:r>
          </a:p>
          <a:p>
            <a:r>
              <a:t>shifixed: https://github.com/shi3z/deepseekv4.1-A100-custom/tree/580568edd6f84537ff042ded4ee842b892bf3ff4</a:t>
            </a:r>
          </a:p>
          <a:p>
            <a:r>
              <a:t>kepler: https://github.com/keplerzip/deepseek-v4.1-flash-a100/blob/main/docs/performance.md</a:t>
            </a:r>
          </a:p>
          <a:p>
            <a:r>
              <a:t>tokha: https://github.com/Tokha233/deepseek-v4.1-flash-a100-turbo/blob/main/docs/concurrency-and-short-requests.zh-CN.md</a:t>
            </a:r>
          </a:p>
          <a:p>
            <a:r>
              <a:t>deepseek: https://huggingface.co/deepseek-ai/DeepSeek-V4.1-Flash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当前第33页 / 共34页；修订日期2026-10-15。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这一页用于回顾上一轮公司知识库方案。平台和自建路线都必须处理权限同步和可追溯引用；员工问答与通用 Agent 共享同一个检索接口。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### 1. 模型与工具的部署方式</a:t>
            </a:r>
          </a:p>
          <a:p/>
          <a:p>
            <a:r>
              <a:t>公司方案暂定DeepSeek-V4.1-Flash，Agent采用Hermes，配合Skills和MCP。Skills保存工作步骤与模板，MCP连接资料检索和业务工具。每个员工或项目有独立的会话、文件目录和执行环境，共享模型服务器。</a:t>
            </a:r>
          </a:p>
          <a:p/>
          <a:p>
            <a:r>
              <a:t>公司知识库按员工权限检索NAS资料，并返回原文出处。平台方案采用Onyx Enterprise，自建方案以Milvus为核心；通用Agent调用知识库的检索接口。文件解析、权限同步和索引由知识库统一管理。</a:t>
            </a:r>
          </a:p>
          <a:p/>
          <a:p>
            <a:r>
              <a:t>公司方案的目标是同时运行20个任务，每个任务最多使用1M上下文，并提供131K、262K和512K三个较小档位。</a:t>
            </a:r>
          </a:p>
          <a:p/>
          <a:p/>
          <a:p>
            <a:r>
              <a:t>【补充数据／初版 Beamer PDF】</a:t>
            </a:r>
          </a:p>
          <a:p>
            <a:r>
              <a:t>初版 Beamer PDF 第 7 页注明：Word、PDF、PPT、Excel 共用入库流程；内容在进入重排与模型前完成权限过滤；原文入口复核权限。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当前第34页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【修订来源与索引】本次修改以32页Pro PPTX为基稿，依据上传pro-revision-brief-2026-10-15.md及speaker-notes.md；保留四部分结构，新增第13页和第25页。正文27页，附录A–G为28–34页。</a:t>
            </a:r>
          </a:p>
          <a:p>
            <a:r>
              <a:t>六组公开链接已放在可见页面并设置超链接。公开链接是追溯入口，不把模型卡当作私人测试或历史采购价的直接证据。外部Spark测试、预算估算、10月14日A800数据按handoff归档口径。</a:t>
            </a:r>
          </a:p>
          <a:p>
            <a:r>
              <a:t>本次仅对vLLM原生KV卸载、LMCache MP/模型recipe、vLLM0.30/0.31及Engram共享做了官方页面核对；没有重新测试模型，也没有重新报价。原始repo相对路径属于讲稿中的资料索引，未取得这些本地文件。</a:t>
            </a:r>
          </a:p>
          <a:p/>
          <a:p>
            <a:r>
              <a:t>【保留的逐页讲稿】</a:t>
            </a:r>
          </a:p>
          <a:p>
            <a:r>
              <a:t>【本页讲述重点】</a:t>
            </a:r>
          </a:p>
          <a:p/>
          <a:p>
            <a:r>
              <a:t>用于追溯数据和查找本地知识库记录。此处只列资料归属与口径，不额外增加未经本次材料支持的性能或采购信息。</a:t>
            </a:r>
          </a:p>
          <a:p/>
          <a:p/>
          <a:p/>
          <a:p>
            <a:r>
              <a:t>【原始讲稿】</a:t>
            </a:r>
          </a:p>
          <a:p/>
          <a:p>
            <a:r>
              <a:t>以下资料供讲者核对数据和回答技术问题。</a:t>
            </a:r>
          </a:p>
          <a:p/>
          <a:p>
            <a:r>
              <a:t>- [Spark详细方案](../../knowledge-base/infrastructure/scenario-1-personal-agent-2026-09-24.md)：四档上下文的计算、精度、共享KV Cache和费用；[朋友提供的测试](../../knowledge-base/infrastructure/dgx-spark-qwen27-external-benchmark-2026-10-12.md)。三人各约600K是1.81M缓存池直接均分的结果；预留10%容量后，每人约542K，仍可容纳三人各512K。</a:t>
            </a:r>
          </a:p>
          <a:p>
            <a:r>
              <a:t>- [DeepSeek详细方案](../../knowledge-base/infrastructure/scenario-3-company-agent-2026-09-23.md)：各卡的KV Cache、TP8与双TP4、公开AgentX测试及各档并发计算。正文表格中的H100和四卡H200采用CUDA Graph捕获后建议的较小KV预算；各配置的原始分配容量及计算方法见详细文档。</a:t>
            </a:r>
          </a:p>
          <a:p>
            <a:r>
              <a:t>- [整机预算与采购](../../knowledge-base/infrastructure/server-gpu-procurement-2026-10-12.md)：10月12日价格、汇率7.00假设、翻新与新机、NVL与SXM、交付条件。软件授权、机房改造和长期运行费用单独计算。</a:t>
            </a:r>
          </a:p>
          <a:p>
            <a:r>
              <a:t>- [A100完整分析](../../knowledge-base/infrastructure/deepseek-a100-project-review-2026-10-12.md)：项目架构、优化方法、modified vLLM性能对照、原生权重与缓存容量；附录包含具体执行过程和许可说明。</a:t>
            </a:r>
          </a:p>
          <a:p>
            <a:r>
              <a:t>- [AI Infra Book精读](../../knowledge-base/infrastructure/ai-infra-book-reading-2026-10-12.md)：公式、章节位置及Spark、DeepSeek算例；原书[GitHub仓库](https://github.com/bojieli/ai-infra-book)。</a:t>
            </a:r>
          </a:p>
          <a:p>
            <a:r>
              <a:t>- [公司知识库一页回顾](../../knowledge-base/infrastructure/scenario-2-enterprise-rag-2026-09-23.md)：Onyx与Milvus、NAS权限及通用检索接口。</a:t>
            </a:r>
          </a:p>
          <a:p>
            <a:r>
              <a:t>- [A100与modified vLLM对照来源](../../knowledge-base/sources/TECH-088/original.md)：作者文章公开部分、A100性能报告、A800测试方法与逐项优化对比，以及vLLM已有的后端功能。</a:t>
            </a:r>
          </a:p>
          <a:p/>
          <a:p/>
          <a:p>
            <a:r>
              <a:t>【补充数据／初版 Beamer PDF】</a:t>
            </a:r>
          </a:p>
          <a:p>
            <a:r>
              <a:t>初版重排依据 speaker-notes.md 与25页Beamer PDF；本次修订新增handoff及所列官方文档核对。原始外部设备日志和历史报价仍沿用附件归档，并未新增设备测试或重报价格。</a:t>
            </a:r>
          </a:p>
          <a:p/>
          <a:p>
            <a:r>
              <a:t>【公开来源入口】</a:t>
            </a:r>
          </a:p>
          <a:p>
            <a:r>
              <a:t>book: https://github.com/bojieli/ai-infra-book</a:t>
            </a:r>
          </a:p>
          <a:p>
            <a:r>
              <a:t>book8: https://github.com/bojieli/ai-infra-book/blob/3bdcb4fcab73010eeaccf31cc10a8242a895d82e/manuscripts/08-推理优化.md</a:t>
            </a:r>
          </a:p>
          <a:p>
            <a:r>
              <a:t>book9: https://github.com/bojieli/ai-infra-book/blob/3bdcb4fcab73010eeaccf31cc10a8242a895d82e/manuscripts/09-分布式推理.md</a:t>
            </a:r>
          </a:p>
          <a:p>
            <a:r>
              <a:t>shared: https://github.com/bojieli/ai-infra-book/blob/3bdcb4fcab73010eeaccf31cc10a8242a895d82e/experiments/ch09/09-07/shared-kv/README.md</a:t>
            </a:r>
          </a:p>
          <a:p>
            <a:r>
              <a:t>native: https://docs.vllm.ai/en/stable/features/kv_offloading_usage/</a:t>
            </a:r>
          </a:p>
          <a:p>
            <a:r>
              <a:t>mp: https://docs.lmcache.ai/mp/l2_storage.html</a:t>
            </a:r>
          </a:p>
          <a:p>
            <a:r>
              <a:t>legacy: https://docs.lmcache.ai/kv_cache/storage_backends/local_storage.html</a:t>
            </a:r>
          </a:p>
          <a:p>
            <a:r>
              <a:t>qrecipe: https://docs.lmcache.ai/recipes/qwen3_5.html</a:t>
            </a:r>
          </a:p>
          <a:p>
            <a:r>
              <a:t>drecipe: https://docs.lmcache.ai/recipes/deepseek_v41_flash.html</a:t>
            </a:r>
          </a:p>
          <a:p>
            <a:r>
              <a:t>qwen: https://huggingface.co/Qwen/Qwen3.8-27B-FP8/blob/main/README.md</a:t>
            </a:r>
          </a:p>
          <a:p>
            <a:r>
              <a:t>deepseek: https://huggingface.co/deepseek-ai/DeepSeek-V4.1-Flash</a:t>
            </a:r>
          </a:p>
          <a:p>
            <a:r>
              <a:t>shi: https://github.com/shi3z/deepseekv4.1-A100-custom</a:t>
            </a:r>
          </a:p>
          <a:p>
            <a:r>
              <a:t>shifixed: https://github.com/shi3z/deepseekv4.1-A100-custom/tree/580568edd6f84537ff042ded4ee842b892bf3ff4</a:t>
            </a:r>
          </a:p>
          <a:p>
            <a:r>
              <a:t>note1: https://note.com/shi3zblog/n/nd5fc5341b342</a:t>
            </a:r>
          </a:p>
          <a:p>
            <a:r>
              <a:t>note2: https://note.com/shi3zblog/n/n93b0161463b4</a:t>
            </a:r>
          </a:p>
          <a:p>
            <a:r>
              <a:t>tokha: https://github.com/Tokha233/deepseek-v4.1-flash-a100-turbo/blob/main/docs/concurrency-and-short-requests.zh-CN.md</a:t>
            </a:r>
          </a:p>
          <a:p>
            <a:r>
              <a:t>tokha_methods: https://github.com/Tokha233/deepseek-v4.1-flash-a100-turbo/blob/main/benchmarks/README.md</a:t>
            </a:r>
          </a:p>
          <a:p>
            <a:r>
              <a:t>tokha_readme: https://github.com/Tokha233/deepseek-v4.1-flash-a100-turbo</a:t>
            </a:r>
          </a:p>
          <a:p>
            <a:r>
              <a:t>kepler: https://github.com/keplerzip/deepseek-v4.1-flash-a100/blob/main/docs/performance.md</a:t>
            </a:r>
          </a:p>
          <a:p>
            <a:r>
              <a:t>r30: https://github.com/vllm-project/vllm/releases/tag/v0.30.0</a:t>
            </a:r>
          </a:p>
          <a:p>
            <a:r>
              <a:t>r31: https://github.com/vllm-project/vllm/releases/tag/v0.31.0</a:t>
            </a:r>
          </a:p>
          <a:p>
            <a:r>
              <a:t>engram: https://github.com/vllm-project/vllm/pull/57651</a:t>
            </a:r>
          </a:p>
          <a:p>
            <a:r>
              <a:t>draft: https://github.com/vllm-project/vllm/issues/58080</a:t>
            </a:r>
          </a:p>
          <a:p>
            <a:r>
              <a:t>bench: https://docs.vllm.ai/en/latest/cli/bench/serve/</a:t>
            </a:r>
          </a:p>
          <a:p>
            <a:r>
              <a:t>sparkarch: https://docs.nvidia.com/dgx/dgx-spark-porting-guide/overview.html</a:t>
            </a:r>
          </a:p>
          <a:p>
            <a:r>
              <a:t>spark: https://marketplace.nvidia.com/en-us/enterprise/personal-ai-supercomputers/dgx-spark/</a:t>
            </a:r>
          </a:p>
          <a:p>
            <a:r>
              <a:t>a100: https://www.theserverstore.com/nvidia-hgx-8x-a100-80gb-sxm4-nvlink-gpu-server-zt-systems</a:t>
            </a:r>
          </a:p>
          <a:p>
            <a:r>
              <a:t>h100: https://configurator.exxactcorp.com/configure/TS4-193475697</a:t>
            </a:r>
          </a:p>
          <a:p>
            <a:r>
              <a:t>h200: https://configurator.exxactcorp.com/configure/TS4-118380266</a:t>
            </a:r>
          </a:p>
          <a:p>
            <a:r>
              <a:t>h200nvl: https://viperatech.com/product/nvidia-h200-nvl-graphic-card-141-gb-passive-pcie-900-21010-0040-000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当前第13页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【讲述顺序】</a:t>
            </a:r>
          </a:p>
          <a:p>
            <a:r>
              <a:t>此前按20个生成、20个等待工具计算40份上下文，现在把它们放到不同层。GPU优先服务正在生成的会话；工具调用返回后，本轮模型请求结束，缓存可以异步保存并让出GPU逻辑块；工具在CPU或员工电脑运行。结果返回后，按前缀查找并取回缓存，只处理新增输入，然后继续生成。近期会话优先留在DRAM，较久闲置但值得复用的状态保留到NVMe。</a:t>
            </a:r>
          </a:p>
          <a:p>
            <a:r>
              <a:t>这里的缓存是KV及继续推理所需的其他模型状态，不是保存并直接返回完整答案的应用缓存。不同模型和引擎可能恢复部分状态、重建其他状态；具体以所用版本实现为准。</a:t>
            </a:r>
          </a:p>
          <a:p>
            <a:r>
              <a:t>【两套机器分别预算】</a:t>
            </a:r>
          </a:p>
          <a:p>
            <a:r>
              <a:t>公司服务器的GPU显存和主机DRAM是两类独立物理资源，卸载后GPU逻辑块可供其他请求使用。主机RAM先扣除Engram、系统、工具环境和其他运行开销，剩余才是CPU KV池。正在生成的请求、等待用户或工具的会话、大批会话同时恢复，分别看GPU计算/显存、DRAM/SSD容量、合计读取带宽/排队/新增prefill。</a:t>
            </a:r>
          </a:p>
          <a:p>
            <a:r>
              <a:t>Spark的CPU和GPU共用128GB LPDDR5x，CPU缓存副本仍占同一份物理内存，不能扩大总容量。优先在统一内存保留近期会话，在本地NVMe保留闲置长会话。分层缓存改善下一轮开始前的等待和可保存会话数，不改写512K持续生成约15 token/s的估算。</a:t>
            </a:r>
          </a:p>
          <a:p>
            <a:r>
              <a:t>【vLLM原生路径】</a:t>
            </a:r>
          </a:p>
          <a:p>
            <a:r>
              <a:t>OffloadingConnector + CPUOffloadingSpec把已完成块异步保存到主机内存；多级存储使用TieringOffloadingSpec及type=fs的文件系统层，目录可放本地NVMe。该路径读取通过SSD→CPU→GPU中转。简单CPU卸载可查--kv-offloading-size与--kv-offloading-backend native；多级路径查--kv-transfer-config。按2026-10-15所查官方文档，cpu_bytes_to_use统计全部workers的主机总预算，不是每张GPU都增加这么多容量。--cpu-offload-gb是权重卸载参数，不可替代KV配置。</a:t>
            </a:r>
          </a:p>
          <a:p>
            <a:r>
              <a:t>2026-10-15外部核对：原生卸载指南中offload_prompt_only默认true，表示只卸载prompt/prefill块而跳过decode块。Agent要复用上一轮生成的内容，应在目标版本核对并相应配置；不能只启用--enable-prefix-caching就声称已经启用磁盘持久化。</a:t>
            </a:r>
          </a:p>
          <a:p>
            <a:r>
              <a:t>【LMCache MP路径】</a:t>
            </a:r>
          </a:p>
          <a:p>
            <a:r>
              <a:t>采用独立缓存服务，CPU层之外配置L2存储adapter，支持异步写入及缺失时预取。进一步配置优先参考MP文档，旧进程内本地存储教程已弃用。单实例先比较原生卸载；需要独立缓存服务或多实例复用时再比较LMCache MP。这是本报告的实现选择，不是两者已经在本机跑分后的结论。</a:t>
            </a:r>
          </a:p>
          <a:p>
            <a:r>
              <a:t>双TP4或多个实例复用时，应统一可共享对象的标识、模型与后端、缓存dtype、分组和chunk大小；相同模型名不足以保证格式兼容。</a:t>
            </a:r>
          </a:p>
          <a:p>
            <a:r>
              <a:t>【模型支持与待核对组合】</a:t>
            </a:r>
          </a:p>
          <a:p>
            <a:r>
              <a:t>Qwen3.8-27B已有单GPU验证recipe，混合注意力需align模式、分组对象、匹配引擎的chunk大小；align前缀缓存仍属实验性。本项目FP8制品+FP8 KV+MTP3组合仍应单独验证。</a:t>
            </a:r>
          </a:p>
          <a:p>
            <a:r>
              <a:t>DeepSeek-V4.1-Flash已有八GPU验证recipe，多种缓存几何分别处理；需核对Hopper格式及缓存分组。该recipe明确标注MTP组合尚未验证。2026-10-15外部核对还指出：compressor scratch ring不缓存，按框架路径重新计算。不能把恢复缓存画成对全部模型状态零计算的无条件快照恢复。</a:t>
            </a:r>
          </a:p>
          <a:p>
            <a:r>
              <a:t>recipe里“无正式vLLM release”的提示已过时：v0.30.0已加入模型，v0.31.0于10月5日发布。模型进入release与KV缓存/MTP组合完成验证是两回事。</a:t>
            </a:r>
          </a:p>
          <a:p>
            <a:r>
              <a:t>【研究依据】</a:t>
            </a:r>
          </a:p>
          <a:p>
            <a:r>
              <a:t>AI Infra Book固定版本3bdcb4fcab73010eeaccf31cc10a8242a895d82e：8.3.3前缀与混合注意力状态；8.3.4准入、淘汰、换出与重算；9.5.2多层缓存和预取；9.5.3数据与索引持久化；9.5.4缓存亲和性路由。</a:t>
            </a:r>
          </a:p>
          <a:p>
            <a:r>
              <a:t>书中两个Qwen3-8B引擎在同一RTX PRO 6000 Blackwell共享CPU KV池：12次复用机会，4GiB完整命中5次，8GiB命中12次，输入约2K/8K。它说明容量影响复用，与本报告1M目标不是同一负载。</a:t>
            </a:r>
          </a:p>
          <a:p>
            <a:r>
              <a:t>缓存选择标准可写为：保存一次的时间 + k×读取时间 &lt; k×重新prefill时间。SSD长期写入需准入和淘汰，优先保留高复用、仍在进行的任务，并考虑写入寿命与异步写入。</a:t>
            </a:r>
          </a:p>
          <a:p>
            <a:r>
              <a:t>【来源口径】流程、数字与实施范围来自上传handoff。仅版本与接口细节查阅了下列官方来源；没有新增设备实测。</a:t>
            </a:r>
          </a:p>
          <a:p/>
          <a:p>
            <a:r>
              <a:t>【公开来源入口】</a:t>
            </a:r>
          </a:p>
          <a:p>
            <a:r>
              <a:t>native: https://docs.vllm.ai/en/stable/features/kv_offloading_usage/</a:t>
            </a:r>
          </a:p>
          <a:p>
            <a:r>
              <a:t>mp: https://docs.lmcache.ai/mp/l2_storage.html</a:t>
            </a:r>
          </a:p>
          <a:p>
            <a:r>
              <a:t>qrecipe: https://docs.lmcache.ai/recipes/qwen3_5.html</a:t>
            </a:r>
          </a:p>
          <a:p>
            <a:r>
              <a:t>drecipe: https://docs.lmcache.ai/recipes/deepseek_v41_flash.html</a:t>
            </a:r>
          </a:p>
          <a:p>
            <a:r>
              <a:t>sparkarch: https://docs.nvidia.com/dgx/dgx-spark-porting-guide/overview.html</a:t>
            </a:r>
          </a:p>
          <a:p>
            <a:r>
              <a:t>book8: https://github.com/bojieli/ai-infra-book/blob/3bdcb4fcab73010eeaccf31cc10a8242a895d82e/manuscripts/08-推理优化.md</a:t>
            </a:r>
          </a:p>
          <a:p>
            <a:r>
              <a:t>book9: https://github.com/bojieli/ai-infra-book/blob/3bdcb4fcab73010eeaccf31cc10a8242a895d82e/manuscripts/09-分布式推理.md</a:t>
            </a:r>
          </a:p>
          <a:p>
            <a:r>
              <a:t>shared: https://github.com/bojieli/ai-infra-book/blob/3bdcb4fcab73010eeaccf31cc10a8242a895d82e/experiments/ch09/09-07/shared-kv/README.md</a:t>
            </a:r>
          </a:p>
          <a:p>
            <a:r>
              <a:t>r30: https://github.com/vllm-project/vllm/releases/tag/v0.30.0</a:t>
            </a:r>
          </a:p>
          <a:p>
            <a:r>
              <a:t>r31: https://github.com/vllm-project/vllm/releases/tag/v0.31.0</a:t>
            </a:r>
          </a:p>
          <a:p>
            <a:r>
              <a:t>legacy: https://docs.lmcache.ai/kv_cache/storage_backends/local_storage.html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实习项目｜内部技术汇报</a:t>
            </a:r>
          </a:p>
          <a:p>
            <a:r>
              <a:t>当前第25页 / 共34页；修订日期2026-10-15。</a:t>
            </a:r>
          </a:p>
          <a:p/>
          <a:p>
            <a:r>
              <a:t>【本次修订与优先讲述口径】</a:t>
            </a:r>
          </a:p>
          <a:p>
            <a:r>
              <a:t>【本页讲法】</a:t>
            </a:r>
          </a:p>
          <a:p>
            <a:r>
              <a:t>这一页解释为什么Agentic workload需要保留长会话缓存。工具返回或用户继续操作时，读取已有缓存，通常比重做整个长前缀更值得考虑。这里不捏造DeepSeek完整1M冷prefill需要多久，也不把0.30秒写成端到端首token时间。</a:t>
            </a:r>
          </a:p>
          <a:p>
            <a:r>
              <a:t>【完整输入】</a:t>
            </a:r>
          </a:p>
          <a:p>
            <a:r>
              <a:t>会话总长度1,000,000 tokens。当前已归档Hopper布局为1,827 bytes/token/TP rank，包含页对齐；单rank全局KV1.827GB。TP4四份载荷相加为7.308GB，页面约写7.31GB。该值没有除以TP卡数。</a:t>
            </a:r>
          </a:p>
          <a:p>
            <a:r>
              <a:t>CPU到四GPU的合计有效带宽假设24GB/s；SSD有效读取带宽假设6GB/s。SSD路径先读CPU，再载入GPU，串行相加。GB为十进制单位。</a:t>
            </a:r>
          </a:p>
          <a:p>
            <a:r>
              <a:t>内存读取：7.308/24 = 0.3045秒，页面约0.30秒。</a:t>
            </a:r>
          </a:p>
          <a:p>
            <a:r>
              <a:t>SSD读取：7.308/6 + 7.308/24 = 1.5225秒，页面约1.52秒。</a:t>
            </a:r>
          </a:p>
          <a:p>
            <a:r>
              <a:t>20个会话：20×7.308 = 146.16GB；146.16/24 = 6.09秒，页面约6.1秒。</a:t>
            </a:r>
          </a:p>
          <a:p>
            <a:r>
              <a:t>20会话的6.1秒是共用24GB/s瓶颈下的总载荷预算，不是每个会话无排队的恢复承诺，也不是20个请求都能在6.1秒收到首token。</a:t>
            </a:r>
          </a:p>
          <a:p>
            <a:r>
              <a:t>【计量范围】</a:t>
            </a:r>
          </a:p>
          <a:p>
            <a:r>
              <a:t>只计算全局KV载荷读取，不含首次保存、其他所需模型状态、索引/控制元数据、排队、缓存查找、新增输入prefill或第一步生成。DeepSeek LMCache recipe中compressor scratch会按实现重算，而非全部从快照取回。实际首token时间仍需对整个流程测量。</a:t>
            </a:r>
          </a:p>
          <a:p>
            <a:r>
              <a:t>跨rank去重、广播、预取或流水化可能改变实际路径；本表固定四份载荷、不去重的预算。不要把shi3z定制实现“CPU只备份一份”的机制直接套到该TP4算例。</a:t>
            </a:r>
          </a:p>
          <a:p>
            <a:r>
              <a:t>【预取、准入与持久化】</a:t>
            </a:r>
          </a:p>
          <a:p>
            <a:r>
              <a:t>排队期间可预取、逐层加载；是否能隐藏读取等待取决于实现与负载。先按保存一次+k次读取 &lt; k次重算prefill评估，再考虑状态再次使用概率、SSD写入寿命及空间。优先保存仍在进行的多轮任务与高复用前缀。保留数据与索引后才有重启后找回可用状态的基础；GPU上的前缀缓存本身不等于磁盘持久化。</a:t>
            </a:r>
          </a:p>
          <a:p>
            <a:r>
              <a:t>【与Spark的区别】</a:t>
            </a:r>
          </a:p>
          <a:p>
            <a:r>
              <a:t>表内7.31GB是DeepSeek Hopper TP4布局，不用于估计Qwen27或Spark。Spark CPU/GPU同一128GB统一内存，其冷会话主要研究保存到NVMe。它改善重开任务等待和持久会话数，不直接提高既有持续decode速度。</a:t>
            </a:r>
          </a:p>
          <a:p>
            <a:r>
              <a:t>【输入可追溯性】</a:t>
            </a:r>
          </a:p>
          <a:p>
            <a:r>
              <a:t>计算直接采用上传handoff第六节列全的输入，原仓库的results.json及详细场景文件未单独取得；不将24GB/s或6GB/s标为任何设备实测。</a:t>
            </a:r>
          </a:p>
          <a:p/>
          <a:p>
            <a:r>
              <a:t>【公开来源入口】</a:t>
            </a:r>
          </a:p>
          <a:p>
            <a:r>
              <a:t>book8: https://github.com/bojieli/ai-infra-book/blob/3bdcb4fcab73010eeaccf31cc10a8242a895d82e/manuscripts/08-推理优化.md</a:t>
            </a:r>
          </a:p>
          <a:p>
            <a:r>
              <a:t>book9: https://github.com/bojieli/ai-infra-book/blob/3bdcb4fcab73010eeaccf31cc10a8242a895d82e/manuscripts/09-分布式推理.md</a:t>
            </a:r>
          </a:p>
          <a:p>
            <a:r>
              <a:t>native: https://docs.vllm.ai/en/stable/features/kv_offloading_usage/</a:t>
            </a:r>
          </a:p>
          <a:p>
            <a:r>
              <a:t>mp: https://docs.lmcache.ai/mp/l2_storage.html</a:t>
            </a:r>
          </a:p>
          <a:p>
            <a:r>
              <a:t>drecipe: https://docs.lmcache.ai/recipes/deepseek_v41_flash.html</a:t>
            </a:r>
          </a:p>
          <a:p>
            <a:r>
              <a:t>sparkarch: https://docs.nvidia.com/dgx/dgx-spark-porting-guide/overview.html</a:t>
            </a:r>
          </a:p>
          <a:p/>
          <a:p>
            <a:r>
              <a:t>【来源范围】基于32页Pro演示稿、speaker-notes.md及2026-10-15 handoff修订。私人测试与历史报价沿用附件归档；新增传输算例使用明确假设，不是新实测。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Tokha233/deepseek-v4.1-flash-a100-turbo/blob/main/docs/concurrency-and-short-requests.zh-CN.md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theserverstore.com/nvidia-hgx-8x-a100-80gb-sxm4-nvlink-gpu-server-zt-systems" TargetMode="External"/><Relationship Id="rId4" Type="http://schemas.openxmlformats.org/officeDocument/2006/relationships/hyperlink" Target="https://configurator.exxactcorp.com/configure/TS4-193475697" TargetMode="External"/><Relationship Id="rId5" Type="http://schemas.openxmlformats.org/officeDocument/2006/relationships/hyperlink" Target="https://viperatech.com/product/nvidia-h200-nvl-graphic-card-141-gb-passive-pcie-900-21010-0040-000" TargetMode="External"/><Relationship Id="rId6" Type="http://schemas.openxmlformats.org/officeDocument/2006/relationships/hyperlink" Target="https://configurator.exxactcorp.com/configure/TS4-118380266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github.com/bojieli/ai-infra-book" TargetMode="External"/><Relationship Id="rId4" Type="http://schemas.openxmlformats.org/officeDocument/2006/relationships/hyperlink" Target="https://docs.vllm.ai/en/stable/features/kv_offloading_usage/" TargetMode="External"/><Relationship Id="rId5" Type="http://schemas.openxmlformats.org/officeDocument/2006/relationships/hyperlink" Target="https://docs.lmcache.ai/mp/l2_storage.html" TargetMode="External"/><Relationship Id="rId6" Type="http://schemas.openxmlformats.org/officeDocument/2006/relationships/hyperlink" Target="https://github.com/shi3z/deepseekv4.1-A100-custom" TargetMode="External"/><Relationship Id="rId7" Type="http://schemas.openxmlformats.org/officeDocument/2006/relationships/hyperlink" Target="https://github.com/Tokha233/deepseek-v4.1-flash-a100-turbo/blob/main/docs/concurrency-and-short-requests.zh-CN.md" TargetMode="External"/><Relationship Id="rId8" Type="http://schemas.openxmlformats.org/officeDocument/2006/relationships/hyperlink" Target="https://huggingface.co/Qwen/Qwen3.8-27B-FP8/blob/main/README.md" TargetMode="External"/><Relationship Id="rId9" Type="http://schemas.openxmlformats.org/officeDocument/2006/relationships/hyperlink" Target="https://huggingface.co/deepseek-ai/DeepSeek-V4.1-Flash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vllm.ai/en/stable/features/kv_offloading_usage/" TargetMode="External"/><Relationship Id="rId3" Type="http://schemas.openxmlformats.org/officeDocument/2006/relationships/hyperlink" Target="https://docs.lmcache.ai/mp/l2_storage.html" TargetMode="External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1页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85216"/>
            <a:ext cx="59436" cy="356616"/>
          </a:xfrm>
          <a:prstGeom prst="rect">
            <a:avLst>
              <a:gd name="adj" fmla="val 184615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603504"/>
            <a:ext cx="5029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spc="140" kern="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实习项目 · 第七周技术汇报</a:t>
            </a:r>
            <a:endParaRPr lang="zh-CN" sz="1500" dirty="0"/>
          </a:p>
        </p:txBody>
      </p:sp>
      <p:sp>
        <p:nvSpPr>
          <p:cNvPr id="4" name="Text 2"/>
          <p:cNvSpPr/>
          <p:nvPr/>
        </p:nvSpPr>
        <p:spPr>
          <a:xfrm>
            <a:off x="667512" y="1572768"/>
            <a:ext cx="7589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本地长上下文 Agent</a:t>
            </a:r>
            <a:endParaRPr lang="zh-CN" sz="3700" dirty="0"/>
          </a:p>
        </p:txBody>
      </p:sp>
      <p:sp>
        <p:nvSpPr>
          <p:cNvPr id="5" name="Text 3"/>
          <p:cNvSpPr/>
          <p:nvPr/>
        </p:nvSpPr>
        <p:spPr>
          <a:xfrm>
            <a:off x="667512" y="2468880"/>
            <a:ext cx="7589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部署与推理优化</a:t>
            </a:r>
            <a:endParaRPr lang="zh-CN" sz="4500" dirty="0"/>
          </a:p>
        </p:txBody>
      </p:sp>
      <p:sp>
        <p:nvSpPr>
          <p:cNvPr id="6" name="Text 4"/>
          <p:cNvSpPr/>
          <p:nvPr/>
        </p:nvSpPr>
        <p:spPr>
          <a:xfrm>
            <a:off x="713232" y="3602736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 Spark 到公司级 DeepSeek 服务</a:t>
            </a:r>
            <a:endParaRPr lang="zh-CN" sz="1900" dirty="0"/>
          </a:p>
        </p:txBody>
      </p:sp>
      <p:sp>
        <p:nvSpPr>
          <p:cNvPr id="7" name="Text 5"/>
          <p:cNvSpPr/>
          <p:nvPr/>
        </p:nvSpPr>
        <p:spPr>
          <a:xfrm>
            <a:off x="713232" y="4773168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5257800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</a:t>
            </a:r>
            <a:endParaRPr lang="zh-CN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559612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个人方案</a:t>
            </a:r>
            <a:endParaRPr lang="zh-CN" sz="1600" dirty="0"/>
          </a:p>
        </p:txBody>
      </p:sp>
      <p:sp>
        <p:nvSpPr>
          <p:cNvPr id="10" name="Text 8"/>
          <p:cNvSpPr/>
          <p:nvPr/>
        </p:nvSpPr>
        <p:spPr>
          <a:xfrm>
            <a:off x="2542032" y="4773168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2542032" y="5257800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zh-CN" sz="1050" dirty="0"/>
          </a:p>
        </p:txBody>
      </p:sp>
      <p:sp>
        <p:nvSpPr>
          <p:cNvPr id="12" name="Text 10"/>
          <p:cNvSpPr/>
          <p:nvPr/>
        </p:nvSpPr>
        <p:spPr>
          <a:xfrm>
            <a:off x="2542032" y="559612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公司方案</a:t>
            </a:r>
            <a:endParaRPr lang="zh-CN" sz="1600" dirty="0"/>
          </a:p>
        </p:txBody>
      </p:sp>
      <p:sp>
        <p:nvSpPr>
          <p:cNvPr id="13" name="Text 11"/>
          <p:cNvSpPr/>
          <p:nvPr/>
        </p:nvSpPr>
        <p:spPr>
          <a:xfrm>
            <a:off x="4370832" y="4773168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800" dirty="0"/>
          </a:p>
        </p:txBody>
      </p:sp>
      <p:sp>
        <p:nvSpPr>
          <p:cNvPr id="14" name="Text 12"/>
          <p:cNvSpPr/>
          <p:nvPr/>
        </p:nvSpPr>
        <p:spPr>
          <a:xfrm>
            <a:off x="4370832" y="5257800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</a:t>
            </a:r>
            <a:endParaRPr lang="zh-CN" sz="1050" dirty="0"/>
          </a:p>
        </p:txBody>
      </p:sp>
      <p:sp>
        <p:nvSpPr>
          <p:cNvPr id="15" name="Text 13"/>
          <p:cNvSpPr/>
          <p:nvPr/>
        </p:nvSpPr>
        <p:spPr>
          <a:xfrm>
            <a:off x="4370832" y="559612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推理实现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6199632" y="4773168"/>
            <a:ext cx="475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6199632" y="5257800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</a:t>
            </a:r>
            <a:endParaRPr lang="zh-CN" sz="1050" dirty="0"/>
          </a:p>
        </p:txBody>
      </p:sp>
      <p:sp>
        <p:nvSpPr>
          <p:cNvPr id="18" name="Text 16"/>
          <p:cNvSpPr/>
          <p:nvPr/>
        </p:nvSpPr>
        <p:spPr>
          <a:xfrm>
            <a:off x="6199632" y="559612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系统方法</a:t>
            </a:r>
            <a:endParaRPr lang="zh-CN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335024"/>
            <a:ext cx="3017520" cy="4462272"/>
          </a:xfrm>
          <a:prstGeom prst="roundRect">
            <a:avLst>
              <a:gd name="adj" fmla="val 3636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22792" y="166420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00" b="1" spc="200" kern="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LONG-CONTEXT</a:t>
            </a:r>
            <a:endParaRPr lang="zh-CN" sz="1100" dirty="0"/>
          </a:p>
        </p:txBody>
      </p:sp>
      <p:sp>
        <p:nvSpPr>
          <p:cNvPr id="21" name="Text 19"/>
          <p:cNvSpPr/>
          <p:nvPr/>
        </p:nvSpPr>
        <p:spPr>
          <a:xfrm>
            <a:off x="8549640" y="2258568"/>
            <a:ext cx="2532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zh-CN" sz="10200" dirty="0"/>
          </a:p>
        </p:txBody>
      </p:sp>
      <p:sp>
        <p:nvSpPr>
          <p:cNvPr id="22" name="Text 20"/>
          <p:cNvSpPr/>
          <p:nvPr/>
        </p:nvSpPr>
        <p:spPr>
          <a:xfrm>
            <a:off x="8613648" y="37307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20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容量不是全部</a:t>
            </a:r>
            <a:endParaRPr lang="zh-CN" sz="2200" dirty="0"/>
          </a:p>
        </p:txBody>
      </p:sp>
      <p:sp>
        <p:nvSpPr>
          <p:cNvPr id="23" name="Shape 21"/>
          <p:cNvSpPr/>
          <p:nvPr/>
        </p:nvSpPr>
        <p:spPr>
          <a:xfrm>
            <a:off x="8604504" y="4590288"/>
            <a:ext cx="2468880" cy="73152"/>
          </a:xfrm>
          <a:prstGeom prst="rect">
            <a:avLst>
              <a:gd name="adj" fmla="val 150000"/>
            </a:avLst>
          </a:prstGeom>
          <a:solidFill>
            <a:srgbClr val="345064"/>
          </a:solidFill>
          <a:ln w="10160">
            <a:solidFill>
              <a:srgbClr val="34506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604504" y="4800600"/>
            <a:ext cx="2011680" cy="73152"/>
          </a:xfrm>
          <a:prstGeom prst="rect">
            <a:avLst>
              <a:gd name="adj" fmla="val 150000"/>
            </a:avLst>
          </a:prstGeom>
          <a:solidFill>
            <a:srgbClr val="345064"/>
          </a:solidFill>
          <a:ln w="10160">
            <a:solidFill>
              <a:srgbClr val="34506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604504" y="5010912"/>
            <a:ext cx="2267712" cy="73152"/>
          </a:xfrm>
          <a:prstGeom prst="rect">
            <a:avLst>
              <a:gd name="adj" fmla="val 150000"/>
            </a:avLst>
          </a:prstGeom>
          <a:solidFill>
            <a:srgbClr val="345064"/>
          </a:solidFill>
          <a:ln w="10160">
            <a:solidFill>
              <a:srgbClr val="34506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604504" y="5221224"/>
            <a:ext cx="1527048" cy="73152"/>
          </a:xfrm>
          <a:prstGeom prst="rect">
            <a:avLst>
              <a:gd name="adj" fmla="val 15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3232" y="64739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 / 响应 / 并发 / 成本</a:t>
            </a:r>
            <a:endParaRPr lang="zh-CN" sz="1050" dirty="0"/>
          </a:p>
        </p:txBody>
      </p:sp>
      <p:sp>
        <p:nvSpPr>
          <p:cNvPr id="28" name="Text 26"/>
          <p:cNvSpPr/>
          <p:nvPr/>
        </p:nvSpPr>
        <p:spPr>
          <a:xfrm>
            <a:off x="10003536" y="64739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2026.10.15</a:t>
            </a:r>
            <a:endParaRPr lang="zh-CN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2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汇报路线 / FOUR DEPLOYMENT QUESTIONS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选定模型之后，还要回答四个部署问题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四部分按“个人方案 → 公司方案 → 工程案例 → 分析方法”展开。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依据：讲稿「开场」及四部分结构。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39696"/>
            <a:ext cx="2615184" cy="2962656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139696"/>
            <a:ext cx="2615184" cy="50292"/>
          </a:xfrm>
          <a:prstGeom prst="rect">
            <a:avLst>
              <a:gd name="adj" fmla="val 218182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24048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2700" dirty="0"/>
          </a:p>
        </p:txBody>
      </p:sp>
      <p:sp>
        <p:nvSpPr>
          <p:cNvPr id="12" name="Text 10"/>
          <p:cNvSpPr/>
          <p:nvPr/>
        </p:nvSpPr>
        <p:spPr>
          <a:xfrm>
            <a:off x="758952" y="3099816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装得下？</a:t>
            </a:r>
            <a:endParaRPr lang="zh-CN" sz="2900" dirty="0"/>
          </a:p>
        </p:txBody>
      </p:sp>
      <p:sp>
        <p:nvSpPr>
          <p:cNvPr id="13" name="Text 11"/>
          <p:cNvSpPr/>
          <p:nvPr/>
        </p:nvSpPr>
        <p:spPr>
          <a:xfrm>
            <a:off x="758952" y="388620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上下文容量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758952" y="4407408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权重、KV Cache 与</a:t>
            </a:r>
            <a:endParaRPr lang="zh-CN" sz="137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每位用户的可用空间</a:t>
            </a:r>
            <a:endParaRPr lang="zh-CN" sz="1370" dirty="0"/>
          </a:p>
        </p:txBody>
      </p:sp>
      <p:sp>
        <p:nvSpPr>
          <p:cNvPr id="15" name="Shape 13"/>
          <p:cNvSpPr/>
          <p:nvPr/>
        </p:nvSpPr>
        <p:spPr>
          <a:xfrm>
            <a:off x="3387852" y="2139696"/>
            <a:ext cx="2615184" cy="2962656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87852" y="2139696"/>
            <a:ext cx="2615184" cy="50292"/>
          </a:xfrm>
          <a:prstGeom prst="rect">
            <a:avLst>
              <a:gd name="adj" fmla="val 218182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98164" y="24048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2700" dirty="0"/>
          </a:p>
        </p:txBody>
      </p:sp>
      <p:sp>
        <p:nvSpPr>
          <p:cNvPr id="18" name="Text 16"/>
          <p:cNvSpPr/>
          <p:nvPr/>
        </p:nvSpPr>
        <p:spPr>
          <a:xfrm>
            <a:off x="3598164" y="3099816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等多久？</a:t>
            </a:r>
            <a:endParaRPr lang="zh-CN" sz="2900" dirty="0"/>
          </a:p>
        </p:txBody>
      </p:sp>
      <p:sp>
        <p:nvSpPr>
          <p:cNvPr id="19" name="Text 17"/>
          <p:cNvSpPr/>
          <p:nvPr/>
        </p:nvSpPr>
        <p:spPr>
          <a:xfrm>
            <a:off x="3598164" y="388620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响应与生成</a:t>
            </a:r>
            <a:endParaRPr lang="zh-CN" sz="1700" dirty="0"/>
          </a:p>
        </p:txBody>
      </p:sp>
      <p:sp>
        <p:nvSpPr>
          <p:cNvPr id="20" name="Text 18"/>
          <p:cNvSpPr/>
          <p:nvPr/>
        </p:nvSpPr>
        <p:spPr>
          <a:xfrm>
            <a:off x="3598164" y="4407408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 prefill、缓存命中</a:t>
            </a:r>
            <a:endParaRPr lang="zh-CN" sz="137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 decode 速度</a:t>
            </a:r>
            <a:endParaRPr lang="zh-CN" sz="1370" dirty="0"/>
          </a:p>
        </p:txBody>
      </p:sp>
      <p:sp>
        <p:nvSpPr>
          <p:cNvPr id="21" name="Shape 19"/>
          <p:cNvSpPr/>
          <p:nvPr/>
        </p:nvSpPr>
        <p:spPr>
          <a:xfrm>
            <a:off x="6227064" y="2139696"/>
            <a:ext cx="2615184" cy="2962656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27064" y="2139696"/>
            <a:ext cx="2615184" cy="50292"/>
          </a:xfrm>
          <a:prstGeom prst="rect">
            <a:avLst>
              <a:gd name="adj" fmla="val 218182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37376" y="24048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695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2700" dirty="0"/>
          </a:p>
        </p:txBody>
      </p:sp>
      <p:sp>
        <p:nvSpPr>
          <p:cNvPr id="24" name="Text 22"/>
          <p:cNvSpPr/>
          <p:nvPr/>
        </p:nvSpPr>
        <p:spPr>
          <a:xfrm>
            <a:off x="6437376" y="3099816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能共享？</a:t>
            </a:r>
            <a:endParaRPr lang="zh-CN" sz="2900" dirty="0"/>
          </a:p>
        </p:txBody>
      </p:sp>
      <p:sp>
        <p:nvSpPr>
          <p:cNvPr id="25" name="Text 23"/>
          <p:cNvSpPr/>
          <p:nvPr/>
        </p:nvSpPr>
        <p:spPr>
          <a:xfrm>
            <a:off x="6437376" y="388620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并发与调度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6437376" y="4407408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同时生成的请求</a:t>
            </a:r>
            <a:endParaRPr lang="zh-CN" sz="137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与需要保留的会话</a:t>
            </a:r>
            <a:endParaRPr lang="zh-CN" sz="1370" dirty="0"/>
          </a:p>
        </p:txBody>
      </p:sp>
      <p:sp>
        <p:nvSpPr>
          <p:cNvPr id="27" name="Shape 25"/>
          <p:cNvSpPr/>
          <p:nvPr/>
        </p:nvSpPr>
        <p:spPr>
          <a:xfrm>
            <a:off x="9066276" y="2139696"/>
            <a:ext cx="2615184" cy="2962656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066276" y="2139696"/>
            <a:ext cx="2615184" cy="50292"/>
          </a:xfrm>
          <a:prstGeom prst="rect">
            <a:avLst>
              <a:gd name="adj" fmla="val 218182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276588" y="24048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2700" dirty="0"/>
          </a:p>
        </p:txBody>
      </p:sp>
      <p:sp>
        <p:nvSpPr>
          <p:cNvPr id="30" name="Text 28"/>
          <p:cNvSpPr/>
          <p:nvPr/>
        </p:nvSpPr>
        <p:spPr>
          <a:xfrm>
            <a:off x="9276588" y="3099816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花多少？</a:t>
            </a:r>
            <a:endParaRPr lang="zh-CN" sz="2900" dirty="0"/>
          </a:p>
        </p:txBody>
      </p:sp>
      <p:sp>
        <p:nvSpPr>
          <p:cNvPr id="31" name="Text 29"/>
          <p:cNvSpPr/>
          <p:nvPr/>
        </p:nvSpPr>
        <p:spPr>
          <a:xfrm>
            <a:off x="9276588" y="388620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部署与成本</a:t>
            </a:r>
            <a:endParaRPr lang="zh-CN" sz="1700" dirty="0"/>
          </a:p>
        </p:txBody>
      </p:sp>
      <p:sp>
        <p:nvSpPr>
          <p:cNvPr id="32" name="Text 30"/>
          <p:cNvSpPr/>
          <p:nvPr/>
        </p:nvSpPr>
        <p:spPr>
          <a:xfrm>
            <a:off x="9276588" y="4407408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硬件交付、实施</a:t>
            </a:r>
            <a:endParaRPr lang="zh-CN" sz="137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与真实任务的经济性</a:t>
            </a:r>
            <a:endParaRPr lang="zh-CN" sz="1370" dirty="0"/>
          </a:p>
        </p:txBody>
      </p:sp>
      <p:sp>
        <p:nvSpPr>
          <p:cNvPr id="33" name="Shape 31"/>
          <p:cNvSpPr/>
          <p:nvPr/>
        </p:nvSpPr>
        <p:spPr>
          <a:xfrm>
            <a:off x="548640" y="5468112"/>
            <a:ext cx="11137392" cy="512064"/>
          </a:xfrm>
          <a:prstGeom prst="roundRect">
            <a:avLst>
              <a:gd name="adj" fmla="val 21429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49808" y="5577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个人方案</a:t>
            </a:r>
            <a:endParaRPr lang="zh-CN" sz="1500" dirty="0"/>
          </a:p>
        </p:txBody>
      </p:sp>
      <p:sp>
        <p:nvSpPr>
          <p:cNvPr id="35" name="Text 33"/>
          <p:cNvSpPr/>
          <p:nvPr/>
        </p:nvSpPr>
        <p:spPr>
          <a:xfrm>
            <a:off x="3447288" y="5577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公司方案</a:t>
            </a:r>
            <a:endParaRPr lang="zh-CN" sz="1500" dirty="0"/>
          </a:p>
        </p:txBody>
      </p:sp>
      <p:sp>
        <p:nvSpPr>
          <p:cNvPr id="36" name="Text 34"/>
          <p:cNvSpPr/>
          <p:nvPr/>
        </p:nvSpPr>
        <p:spPr>
          <a:xfrm>
            <a:off x="6492240" y="5577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A100 优化案例</a:t>
            </a:r>
            <a:endParaRPr lang="zh-CN" sz="1500" dirty="0"/>
          </a:p>
        </p:txBody>
      </p:sp>
      <p:sp>
        <p:nvSpPr>
          <p:cNvPr id="37" name="Text 35"/>
          <p:cNvSpPr/>
          <p:nvPr/>
        </p:nvSpPr>
        <p:spPr>
          <a:xfrm>
            <a:off x="9217152" y="5577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Infra Book</a:t>
            </a:r>
            <a:endParaRPr lang="zh-CN" sz="1500" dirty="0"/>
          </a:p>
        </p:txBody>
      </p:sp>
      <p:sp>
        <p:nvSpPr>
          <p:cNvPr id="38" name="Revision text 38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3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范围与口径 / CONTEXT BUDGET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上下文是整个 Agent 请求的工作空间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不仅是上传的资料，也包括系统指令、历史对话、工具结果和本次输出。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依据：讲稿「开场」。示意图不按各组成部分的实际 token 比例绘制。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368296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系统指令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2258568" y="214884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331720" y="236829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资料与对话</a:t>
            </a:r>
            <a:endParaRPr lang="zh-CN" sz="1700" dirty="0"/>
          </a:p>
        </p:txBody>
      </p:sp>
      <p:sp>
        <p:nvSpPr>
          <p:cNvPr id="13" name="Shape 11"/>
          <p:cNvSpPr/>
          <p:nvPr/>
        </p:nvSpPr>
        <p:spPr>
          <a:xfrm>
            <a:off x="4837176" y="2148840"/>
            <a:ext cx="3291840" cy="822960"/>
          </a:xfrm>
          <a:prstGeom prst="roundRect">
            <a:avLst>
              <a:gd name="adj" fmla="val 13333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10328" y="2368296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代码与工具结果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8238744" y="2148840"/>
            <a:ext cx="1975104" cy="822960"/>
          </a:xfrm>
          <a:prstGeom prst="roundRect">
            <a:avLst>
              <a:gd name="adj" fmla="val 1333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11896" y="23682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本次输出</a:t>
            </a:r>
            <a:endParaRPr lang="zh-CN" sz="1700" dirty="0"/>
          </a:p>
        </p:txBody>
      </p:sp>
      <p:sp>
        <p:nvSpPr>
          <p:cNvPr id="17" name="Shape 15"/>
          <p:cNvSpPr/>
          <p:nvPr/>
        </p:nvSpPr>
        <p:spPr>
          <a:xfrm>
            <a:off x="731520" y="3310128"/>
            <a:ext cx="10808208" cy="0"/>
          </a:xfrm>
          <a:prstGeom prst="line">
            <a:avLst/>
          </a:prstGeom>
          <a:noFill/>
          <a:ln w="15240">
            <a:solidFill>
              <a:srgbClr val="A5B5B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218688"/>
            <a:ext cx="0" cy="182880"/>
          </a:xfrm>
          <a:prstGeom prst="line">
            <a:avLst/>
          </a:prstGeom>
          <a:noFill/>
          <a:ln w="15240">
            <a:solidFill>
              <a:srgbClr val="A5B5B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1539728" y="3218688"/>
            <a:ext cx="0" cy="182880"/>
          </a:xfrm>
          <a:prstGeom prst="line">
            <a:avLst/>
          </a:prstGeom>
          <a:noFill/>
          <a:ln w="15240">
            <a:solidFill>
              <a:srgbClr val="A5B5B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087368" y="3136392"/>
            <a:ext cx="4069080" cy="34747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总上下文 = 输入 + 输出</a:t>
            </a:r>
            <a:endParaRPr lang="zh-CN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767328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" y="3977640"/>
            <a:ext cx="2249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44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131K</a:t>
            </a:r>
            <a:endParaRPr lang="zh-CN" sz="4400" dirty="0"/>
          </a:p>
        </p:txBody>
      </p:sp>
      <p:sp>
        <p:nvSpPr>
          <p:cNvPr id="23" name="Text 21"/>
          <p:cNvSpPr/>
          <p:nvPr/>
        </p:nvSpPr>
        <p:spPr>
          <a:xfrm>
            <a:off x="731520" y="47000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基础要求</a:t>
            </a:r>
            <a:endParaRPr lang="zh-CN" sz="1400" dirty="0"/>
          </a:p>
        </p:txBody>
      </p:sp>
      <p:sp>
        <p:nvSpPr>
          <p:cNvPr id="24" name="Shape 22"/>
          <p:cNvSpPr/>
          <p:nvPr/>
        </p:nvSpPr>
        <p:spPr>
          <a:xfrm>
            <a:off x="3387852" y="3767328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570732" y="3977640"/>
            <a:ext cx="2249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44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262K</a:t>
            </a:r>
            <a:endParaRPr lang="zh-CN" sz="4400" dirty="0"/>
          </a:p>
        </p:txBody>
      </p:sp>
      <p:sp>
        <p:nvSpPr>
          <p:cNvPr id="26" name="Text 24"/>
          <p:cNvSpPr/>
          <p:nvPr/>
        </p:nvSpPr>
        <p:spPr>
          <a:xfrm>
            <a:off x="3570732" y="47000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基础要求</a:t>
            </a:r>
            <a:endParaRPr lang="zh-CN" sz="1400" dirty="0"/>
          </a:p>
        </p:txBody>
      </p:sp>
      <p:sp>
        <p:nvSpPr>
          <p:cNvPr id="27" name="Shape 25"/>
          <p:cNvSpPr/>
          <p:nvPr/>
        </p:nvSpPr>
        <p:spPr>
          <a:xfrm>
            <a:off x="6227064" y="3767328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9944" y="3977640"/>
            <a:ext cx="2249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</a:t>
            </a:r>
            <a:endParaRPr lang="zh-CN" sz="4400" dirty="0"/>
          </a:p>
        </p:txBody>
      </p:sp>
      <p:sp>
        <p:nvSpPr>
          <p:cNvPr id="29" name="Text 27"/>
          <p:cNvSpPr/>
          <p:nvPr/>
        </p:nvSpPr>
        <p:spPr>
          <a:xfrm>
            <a:off x="6409944" y="47000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长上下文档位</a:t>
            </a:r>
            <a:endParaRPr lang="zh-CN" sz="1400" dirty="0"/>
          </a:p>
        </p:txBody>
      </p:sp>
      <p:sp>
        <p:nvSpPr>
          <p:cNvPr id="30" name="Shape 28"/>
          <p:cNvSpPr/>
          <p:nvPr/>
        </p:nvSpPr>
        <p:spPr>
          <a:xfrm>
            <a:off x="9066276" y="3767328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249156" y="3977640"/>
            <a:ext cx="2249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zh-CN" sz="4400" dirty="0"/>
          </a:p>
        </p:txBody>
      </p:sp>
      <p:sp>
        <p:nvSpPr>
          <p:cNvPr id="32" name="Text 30"/>
          <p:cNvSpPr/>
          <p:nvPr/>
        </p:nvSpPr>
        <p:spPr>
          <a:xfrm>
            <a:off x="9249156" y="47000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长上下文档位</a:t>
            </a:r>
            <a:endParaRPr lang="zh-CN" sz="1400" dirty="0"/>
          </a:p>
        </p:txBody>
      </p:sp>
      <p:sp>
        <p:nvSpPr>
          <p:cNvPr id="33" name="Text 31"/>
          <p:cNvSpPr/>
          <p:nvPr/>
        </p:nvSpPr>
        <p:spPr>
          <a:xfrm>
            <a:off x="768096" y="56235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每档预留 8,192 token 用于输出</a:t>
            </a:r>
            <a:endParaRPr lang="zh-CN" sz="1900" dirty="0"/>
          </a:p>
        </p:txBody>
      </p:sp>
      <p:sp>
        <p:nvSpPr>
          <p:cNvPr id="34" name="Text 32"/>
          <p:cNvSpPr/>
          <p:nvPr/>
        </p:nvSpPr>
        <p:spPr>
          <a:xfrm>
            <a:off x="7635240" y="5660136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 = 524,288  ·  1M = 1,000,000</a:t>
            </a:r>
            <a:endParaRPr lang="zh-CN" sz="1170" dirty="0"/>
          </a:p>
        </p:txBody>
      </p:sp>
      <p:sp>
        <p:nvSpPr>
          <p:cNvPr id="35" name="Revision text 35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4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SPARK 个人方案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模型在 Spark，工具在员工电脑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 保留本地工作目录、身份和 NAS 权限；Spark 的内存优先留给模型与 KV Cache。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来源：speaker-notes.md 一.1；Qwen模型卡。个人方案暂定Qwen3.8-27B；模型与工具分开部署。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121408"/>
            <a:ext cx="3822192" cy="2532888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86384" y="2350008"/>
            <a:ext cx="996696" cy="274320"/>
          </a:xfrm>
          <a:prstGeom prst="roundRect">
            <a:avLst>
              <a:gd name="adj" fmla="val 40000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9536" y="2382012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员工电脑</a:t>
            </a:r>
            <a:endParaRPr lang="zh-CN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81635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</a:t>
            </a:r>
            <a:endParaRPr lang="zh-CN" sz="2700" dirty="0"/>
          </a:p>
        </p:txBody>
      </p:sp>
      <p:sp>
        <p:nvSpPr>
          <p:cNvPr id="13" name="Text 11"/>
          <p:cNvSpPr/>
          <p:nvPr/>
        </p:nvSpPr>
        <p:spPr>
          <a:xfrm>
            <a:off x="822960" y="3557016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文件读写  /  Python  /  Excel</a:t>
            </a:r>
            <a:endParaRPr lang="zh-CN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059936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本地身份与 NAS 访问权限</a:t>
            </a:r>
            <a:endParaRPr lang="zh-CN" sz="1600" dirty="0"/>
          </a:p>
        </p:txBody>
      </p:sp>
      <p:sp>
        <p:nvSpPr>
          <p:cNvPr id="15" name="Shape 13"/>
          <p:cNvSpPr/>
          <p:nvPr/>
        </p:nvSpPr>
        <p:spPr>
          <a:xfrm>
            <a:off x="7306056" y="2121408"/>
            <a:ext cx="4315968" cy="2532888"/>
          </a:xfrm>
          <a:prstGeom prst="roundRect">
            <a:avLst>
              <a:gd name="adj" fmla="val 4332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525512" y="2350008"/>
            <a:ext cx="1856232" cy="274320"/>
          </a:xfrm>
          <a:prstGeom prst="roundRect">
            <a:avLst>
              <a:gd name="adj" fmla="val 40000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598664" y="2382012"/>
            <a:ext cx="1709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 Spark · 128GB</a:t>
            </a:r>
            <a:endParaRPr lang="zh-CN" sz="1050" dirty="0"/>
          </a:p>
        </p:txBody>
      </p:sp>
      <p:sp>
        <p:nvSpPr>
          <p:cNvPr id="18" name="Text 16"/>
          <p:cNvSpPr/>
          <p:nvPr/>
        </p:nvSpPr>
        <p:spPr>
          <a:xfrm>
            <a:off x="7571232" y="2852928"/>
            <a:ext cx="3694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Qwen3.8-27B</a:t>
            </a:r>
            <a:endParaRPr lang="zh-CN" sz="2900" dirty="0"/>
          </a:p>
        </p:txBody>
      </p:sp>
      <p:sp>
        <p:nvSpPr>
          <p:cNvPr id="19" name="Text 17"/>
          <p:cNvSpPr/>
          <p:nvPr/>
        </p:nvSpPr>
        <p:spPr>
          <a:xfrm>
            <a:off x="7571232" y="3575304"/>
            <a:ext cx="3694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共享模型推理服务</a:t>
            </a:r>
            <a:endParaRPr lang="zh-CN" sz="1800" dirty="0"/>
          </a:p>
        </p:txBody>
      </p:sp>
      <p:sp>
        <p:nvSpPr>
          <p:cNvPr id="20" name="Text 18"/>
          <p:cNvSpPr/>
          <p:nvPr/>
        </p:nvSpPr>
        <p:spPr>
          <a:xfrm>
            <a:off x="7571232" y="4059936"/>
            <a:ext cx="3694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模型权重 + 各会话 KV Cache</a:t>
            </a:r>
            <a:endParaRPr lang="zh-CN" sz="1500" dirty="0"/>
          </a:p>
        </p:txBody>
      </p:sp>
      <p:sp>
        <p:nvSpPr>
          <p:cNvPr id="21" name="Text 19"/>
          <p:cNvSpPr/>
          <p:nvPr/>
        </p:nvSpPr>
        <p:spPr>
          <a:xfrm>
            <a:off x="4535424" y="2734056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9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 / 资料 / 工具结果</a:t>
            </a:r>
            <a:endParaRPr lang="zh-CN" sz="1290" dirty="0"/>
          </a:p>
        </p:txBody>
      </p:sp>
      <p:sp>
        <p:nvSpPr>
          <p:cNvPr id="22" name="Shape 20"/>
          <p:cNvSpPr/>
          <p:nvPr/>
        </p:nvSpPr>
        <p:spPr>
          <a:xfrm>
            <a:off x="4389120" y="3310128"/>
            <a:ext cx="2880360" cy="0"/>
          </a:xfrm>
          <a:prstGeom prst="line">
            <a:avLst/>
          </a:prstGeom>
          <a:noFill/>
          <a:ln w="25400">
            <a:solidFill>
              <a:srgbClr val="007F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99432" y="385876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4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 / 工具调用</a:t>
            </a:r>
            <a:endParaRPr lang="zh-CN" sz="1340" dirty="0"/>
          </a:p>
        </p:txBody>
      </p:sp>
      <p:sp>
        <p:nvSpPr>
          <p:cNvPr id="24" name="Shape 22"/>
          <p:cNvSpPr/>
          <p:nvPr/>
        </p:nvSpPr>
        <p:spPr>
          <a:xfrm>
            <a:off x="4389120" y="3685032"/>
            <a:ext cx="2880360" cy="0"/>
          </a:xfrm>
          <a:prstGeom prst="line">
            <a:avLst/>
          </a:prstGeom>
          <a:noFill/>
          <a:ln w="25400">
            <a:solidFill>
              <a:srgbClr val="2D62C5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3232" y="5285232"/>
            <a:ext cx="256032" cy="256032"/>
          </a:xfrm>
          <a:prstGeom prst="ellipse">
            <a:avLst/>
          </a:prstGeom>
          <a:solidFill>
            <a:srgbClr val="DCE5EA"/>
          </a:solidFill>
          <a:ln w="12700">
            <a:solidFill>
              <a:srgbClr val="DCE5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13232" y="5319065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9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zh-CN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5266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读两期财报</a:t>
            </a:r>
            <a:endParaRPr lang="zh-CN" sz="1350" dirty="0"/>
          </a:p>
        </p:txBody>
      </p:sp>
      <p:sp>
        <p:nvSpPr>
          <p:cNvPr id="28" name="Shape 26"/>
          <p:cNvSpPr/>
          <p:nvPr/>
        </p:nvSpPr>
        <p:spPr>
          <a:xfrm>
            <a:off x="2770632" y="5449824"/>
            <a:ext cx="146304" cy="0"/>
          </a:xfrm>
          <a:prstGeom prst="line">
            <a:avLst/>
          </a:prstGeom>
          <a:noFill/>
          <a:ln w="13970">
            <a:solidFill>
              <a:srgbClr val="A5B5B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971800" y="5285232"/>
            <a:ext cx="256032" cy="256032"/>
          </a:xfrm>
          <a:prstGeom prst="ellipse">
            <a:avLst/>
          </a:prstGeom>
          <a:solidFill>
            <a:srgbClr val="DCE5EA"/>
          </a:solidFill>
          <a:ln w="12700">
            <a:solidFill>
              <a:srgbClr val="DCE5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971800" y="5319065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9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zh-CN" sz="900" dirty="0"/>
          </a:p>
        </p:txBody>
      </p:sp>
      <p:sp>
        <p:nvSpPr>
          <p:cNvPr id="31" name="Text 29"/>
          <p:cNvSpPr/>
          <p:nvPr/>
        </p:nvSpPr>
        <p:spPr>
          <a:xfrm>
            <a:off x="3310128" y="5266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统一科目与单位</a:t>
            </a:r>
            <a:endParaRPr lang="zh-CN" sz="1350" dirty="0"/>
          </a:p>
        </p:txBody>
      </p:sp>
      <p:sp>
        <p:nvSpPr>
          <p:cNvPr id="32" name="Shape 30"/>
          <p:cNvSpPr/>
          <p:nvPr/>
        </p:nvSpPr>
        <p:spPr>
          <a:xfrm>
            <a:off x="5029200" y="5449824"/>
            <a:ext cx="146304" cy="0"/>
          </a:xfrm>
          <a:prstGeom prst="line">
            <a:avLst/>
          </a:prstGeom>
          <a:noFill/>
          <a:ln w="13970">
            <a:solidFill>
              <a:srgbClr val="A5B5B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230368" y="5285232"/>
            <a:ext cx="256032" cy="256032"/>
          </a:xfrm>
          <a:prstGeom prst="ellipse">
            <a:avLst/>
          </a:prstGeom>
          <a:solidFill>
            <a:srgbClr val="DCE5EA"/>
          </a:solidFill>
          <a:ln w="12700">
            <a:solidFill>
              <a:srgbClr val="DCE5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230368" y="5319065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9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zh-CN" sz="900" dirty="0"/>
          </a:p>
        </p:txBody>
      </p:sp>
      <p:sp>
        <p:nvSpPr>
          <p:cNvPr id="35" name="Text 33"/>
          <p:cNvSpPr/>
          <p:nvPr/>
        </p:nvSpPr>
        <p:spPr>
          <a:xfrm>
            <a:off x="5568696" y="5266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运行脚本计算</a:t>
            </a:r>
            <a:endParaRPr lang="zh-CN" sz="1350" dirty="0"/>
          </a:p>
        </p:txBody>
      </p:sp>
      <p:sp>
        <p:nvSpPr>
          <p:cNvPr id="36" name="Shape 34"/>
          <p:cNvSpPr/>
          <p:nvPr/>
        </p:nvSpPr>
        <p:spPr>
          <a:xfrm>
            <a:off x="7287768" y="5449824"/>
            <a:ext cx="146304" cy="0"/>
          </a:xfrm>
          <a:prstGeom prst="line">
            <a:avLst/>
          </a:prstGeom>
          <a:noFill/>
          <a:ln w="13970">
            <a:solidFill>
              <a:srgbClr val="A5B5B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488936" y="5285232"/>
            <a:ext cx="256032" cy="256032"/>
          </a:xfrm>
          <a:prstGeom prst="ellipse">
            <a:avLst/>
          </a:prstGeom>
          <a:solidFill>
            <a:srgbClr val="DCE5EA"/>
          </a:solidFill>
          <a:ln w="12700">
            <a:solidFill>
              <a:srgbClr val="DCE5E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488936" y="5319065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9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zh-CN" sz="900" dirty="0"/>
          </a:p>
        </p:txBody>
      </p:sp>
      <p:sp>
        <p:nvSpPr>
          <p:cNvPr id="39" name="Text 37"/>
          <p:cNvSpPr/>
          <p:nvPr/>
        </p:nvSpPr>
        <p:spPr>
          <a:xfrm>
            <a:off x="7827264" y="5266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回到原文核对</a:t>
            </a:r>
            <a:endParaRPr lang="zh-CN" sz="1350" dirty="0"/>
          </a:p>
        </p:txBody>
      </p:sp>
      <p:sp>
        <p:nvSpPr>
          <p:cNvPr id="40" name="Shape 38"/>
          <p:cNvSpPr/>
          <p:nvPr/>
        </p:nvSpPr>
        <p:spPr>
          <a:xfrm>
            <a:off x="9546336" y="5449824"/>
            <a:ext cx="146304" cy="0"/>
          </a:xfrm>
          <a:prstGeom prst="line">
            <a:avLst/>
          </a:prstGeom>
          <a:noFill/>
          <a:ln w="13970">
            <a:solidFill>
              <a:srgbClr val="A5B5B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747504" y="5285232"/>
            <a:ext cx="256032" cy="256032"/>
          </a:xfrm>
          <a:prstGeom prst="ellipse">
            <a:avLst/>
          </a:prstGeom>
          <a:solidFill>
            <a:srgbClr val="007F78"/>
          </a:solidFill>
          <a:ln w="1270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747504" y="5319065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zh-CN" sz="900" dirty="0"/>
          </a:p>
        </p:txBody>
      </p:sp>
      <p:sp>
        <p:nvSpPr>
          <p:cNvPr id="43" name="Text 41"/>
          <p:cNvSpPr/>
          <p:nvPr/>
        </p:nvSpPr>
        <p:spPr>
          <a:xfrm>
            <a:off x="10085832" y="5266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图表 / 说明</a:t>
            </a:r>
            <a:endParaRPr lang="zh-CN" sz="1350" dirty="0"/>
          </a:p>
        </p:txBody>
      </p:sp>
      <p:sp>
        <p:nvSpPr>
          <p:cNvPr id="44" name="Text 42"/>
          <p:cNvSpPr/>
          <p:nvPr/>
        </p:nvSpPr>
        <p:spPr>
          <a:xfrm>
            <a:off x="585216" y="5961888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模型可以共享；每个人的文件、账号和会话仍保持独立。</a:t>
            </a:r>
            <a:endParaRPr lang="zh-CN" sz="1050" dirty="0"/>
          </a:p>
        </p:txBody>
      </p:sp>
      <p:sp>
        <p:nvSpPr>
          <p:cNvPr id="45" name="Revision text 45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5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SPARK 性能估算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上下文拉长，首次等待比生成速度更快恶化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单请求接近用满各档上下文，均预留 8K 输出；FP8 权重 + FP8 KV Cache + MTP3。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来源：外部Spark测试汇总与讲稿一.2–3。四档为估算；1M为外推，完整样本见附录A（28页）。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34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020824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生成速度</a:t>
            </a:r>
            <a:endParaRPr lang="zh-CN" sz="1800" dirty="0"/>
          </a:p>
        </p:txBody>
      </p:sp>
      <p:sp>
        <p:nvSpPr>
          <p:cNvPr id="10" name="Text 8"/>
          <p:cNvSpPr/>
          <p:nvPr/>
        </p:nvSpPr>
        <p:spPr>
          <a:xfrm>
            <a:off x="4517136" y="204825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15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token/s</a:t>
            </a:r>
            <a:endParaRPr lang="zh-CN" sz="1150" dirty="0"/>
          </a:p>
        </p:txBody>
      </p:sp>
      <p:sp>
        <p:nvSpPr>
          <p:cNvPr id="11" name="Text 9"/>
          <p:cNvSpPr/>
          <p:nvPr/>
        </p:nvSpPr>
        <p:spPr>
          <a:xfrm>
            <a:off x="6409944" y="2020824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 prefill</a:t>
            </a:r>
            <a:endParaRPr lang="zh-CN" sz="1800" dirty="0"/>
          </a:p>
        </p:txBody>
      </p:sp>
      <p:sp>
        <p:nvSpPr>
          <p:cNvPr id="12" name="Text 10"/>
          <p:cNvSpPr/>
          <p:nvPr/>
        </p:nvSpPr>
        <p:spPr>
          <a:xfrm>
            <a:off x="10899648" y="20391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1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zh-CN" sz="1150" dirty="0"/>
          </a:p>
        </p:txBody>
      </p:sp>
      <p:sp>
        <p:nvSpPr>
          <p:cNvPr id="13" name="Shape 11"/>
          <p:cNvSpPr/>
          <p:nvPr/>
        </p:nvSpPr>
        <p:spPr>
          <a:xfrm>
            <a:off x="5980176" y="1965960"/>
            <a:ext cx="0" cy="3364992"/>
          </a:xfrm>
          <a:prstGeom prst="line">
            <a:avLst/>
          </a:prstGeom>
          <a:noFill/>
          <a:ln w="1397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47062" y="2578608"/>
            <a:ext cx="0" cy="2560320"/>
          </a:xfrm>
          <a:prstGeom prst="line">
            <a:avLst/>
          </a:prstGeom>
          <a:noFill/>
          <a:ln w="12700">
            <a:solidFill>
              <a:srgbClr val="A5B5BF"/>
            </a:solidFill>
            <a:prstDash val="dash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062430" y="2331720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20</a:t>
            </a:r>
            <a:endParaRPr lang="zh-CN" sz="1030" dirty="0"/>
          </a:p>
        </p:txBody>
      </p:sp>
      <p:sp>
        <p:nvSpPr>
          <p:cNvPr id="16" name="Text 14"/>
          <p:cNvSpPr/>
          <p:nvPr/>
        </p:nvSpPr>
        <p:spPr>
          <a:xfrm>
            <a:off x="640080" y="27340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131K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1371600" y="2715768"/>
            <a:ext cx="3127830" cy="338328"/>
          </a:xfrm>
          <a:prstGeom prst="roundRect">
            <a:avLst>
              <a:gd name="adj" fmla="val 32432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00014" y="26974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</a:t>
            </a:r>
            <a:endParaRPr lang="zh-CN" sz="2100" dirty="0"/>
          </a:p>
        </p:txBody>
      </p:sp>
      <p:sp>
        <p:nvSpPr>
          <p:cNvPr id="19" name="Text 17"/>
          <p:cNvSpPr/>
          <p:nvPr/>
        </p:nvSpPr>
        <p:spPr>
          <a:xfrm>
            <a:off x="6409944" y="2734056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131K</a:t>
            </a:r>
            <a:endParaRPr lang="zh-CN" sz="1500" dirty="0"/>
          </a:p>
        </p:txBody>
      </p:sp>
      <p:sp>
        <p:nvSpPr>
          <p:cNvPr id="20" name="Shape 18"/>
          <p:cNvSpPr/>
          <p:nvPr/>
        </p:nvSpPr>
        <p:spPr>
          <a:xfrm>
            <a:off x="7187184" y="2715768"/>
            <a:ext cx="119388" cy="338328"/>
          </a:xfrm>
          <a:prstGeom prst="roundRect">
            <a:avLst>
              <a:gd name="adj" fmla="val 91909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16300" y="26974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zh-CN" sz="2100" dirty="0"/>
          </a:p>
        </p:txBody>
      </p:sp>
      <p:sp>
        <p:nvSpPr>
          <p:cNvPr id="22" name="Text 20"/>
          <p:cNvSpPr/>
          <p:nvPr/>
        </p:nvSpPr>
        <p:spPr>
          <a:xfrm>
            <a:off x="640080" y="3355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262K</a:t>
            </a:r>
            <a:endParaRPr lang="zh-CN" sz="1500" dirty="0"/>
          </a:p>
        </p:txBody>
      </p:sp>
      <p:sp>
        <p:nvSpPr>
          <p:cNvPr id="23" name="Shape 21"/>
          <p:cNvSpPr/>
          <p:nvPr/>
        </p:nvSpPr>
        <p:spPr>
          <a:xfrm>
            <a:off x="1371600" y="3337560"/>
            <a:ext cx="2810284" cy="338328"/>
          </a:xfrm>
          <a:prstGeom prst="roundRect">
            <a:avLst>
              <a:gd name="adj" fmla="val 32432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282468" y="331927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</a:t>
            </a:r>
            <a:endParaRPr lang="zh-CN" sz="2100" dirty="0"/>
          </a:p>
        </p:txBody>
      </p:sp>
      <p:sp>
        <p:nvSpPr>
          <p:cNvPr id="25" name="Text 23"/>
          <p:cNvSpPr/>
          <p:nvPr/>
        </p:nvSpPr>
        <p:spPr>
          <a:xfrm>
            <a:off x="6409944" y="3355848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262K</a:t>
            </a:r>
            <a:endParaRPr lang="zh-CN" sz="1500" dirty="0"/>
          </a:p>
        </p:txBody>
      </p:sp>
      <p:sp>
        <p:nvSpPr>
          <p:cNvPr id="26" name="Shape 24"/>
          <p:cNvSpPr/>
          <p:nvPr/>
        </p:nvSpPr>
        <p:spPr>
          <a:xfrm>
            <a:off x="7187184" y="3337560"/>
            <a:ext cx="331206" cy="338328"/>
          </a:xfrm>
          <a:prstGeom prst="roundRect">
            <a:avLst>
              <a:gd name="adj" fmla="val 33130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628118" y="331927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zh-CN" sz="2100" dirty="0"/>
          </a:p>
        </p:txBody>
      </p:sp>
      <p:sp>
        <p:nvSpPr>
          <p:cNvPr id="28" name="Text 26"/>
          <p:cNvSpPr/>
          <p:nvPr/>
        </p:nvSpPr>
        <p:spPr>
          <a:xfrm>
            <a:off x="640080" y="39776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</a:t>
            </a:r>
            <a:endParaRPr lang="zh-CN" sz="1500" dirty="0"/>
          </a:p>
        </p:txBody>
      </p:sp>
      <p:sp>
        <p:nvSpPr>
          <p:cNvPr id="29" name="Shape 27"/>
          <p:cNvSpPr/>
          <p:nvPr/>
        </p:nvSpPr>
        <p:spPr>
          <a:xfrm>
            <a:off x="1371600" y="3959352"/>
            <a:ext cx="2333964" cy="338328"/>
          </a:xfrm>
          <a:prstGeom prst="roundRect">
            <a:avLst>
              <a:gd name="adj" fmla="val 32432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806148" y="394106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</a:t>
            </a:r>
            <a:endParaRPr lang="zh-CN" sz="2100" dirty="0"/>
          </a:p>
        </p:txBody>
      </p:sp>
      <p:sp>
        <p:nvSpPr>
          <p:cNvPr id="31" name="Text 29"/>
          <p:cNvSpPr/>
          <p:nvPr/>
        </p:nvSpPr>
        <p:spPr>
          <a:xfrm>
            <a:off x="6409944" y="39776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</a:t>
            </a:r>
            <a:endParaRPr lang="zh-CN" sz="1500" dirty="0"/>
          </a:p>
        </p:txBody>
      </p:sp>
      <p:sp>
        <p:nvSpPr>
          <p:cNvPr id="32" name="Shape 30"/>
          <p:cNvSpPr/>
          <p:nvPr/>
        </p:nvSpPr>
        <p:spPr>
          <a:xfrm>
            <a:off x="7187184" y="3959352"/>
            <a:ext cx="993619" cy="338328"/>
          </a:xfrm>
          <a:prstGeom prst="roundRect">
            <a:avLst>
              <a:gd name="adj" fmla="val 32432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290531" y="394106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</a:t>
            </a:r>
            <a:endParaRPr lang="zh-CN" sz="2100" dirty="0"/>
          </a:p>
        </p:txBody>
      </p:sp>
      <p:sp>
        <p:nvSpPr>
          <p:cNvPr id="34" name="Text 32"/>
          <p:cNvSpPr/>
          <p:nvPr/>
        </p:nvSpPr>
        <p:spPr>
          <a:xfrm>
            <a:off x="640080" y="45994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1M*</a:t>
            </a:r>
            <a:endParaRPr lang="zh-CN" sz="1500" dirty="0"/>
          </a:p>
        </p:txBody>
      </p:sp>
      <p:sp>
        <p:nvSpPr>
          <p:cNvPr id="35" name="Shape 33"/>
          <p:cNvSpPr/>
          <p:nvPr/>
        </p:nvSpPr>
        <p:spPr>
          <a:xfrm>
            <a:off x="1371600" y="4581144"/>
            <a:ext cx="1778259" cy="338328"/>
          </a:xfrm>
          <a:prstGeom prst="roundRect">
            <a:avLst>
              <a:gd name="adj" fmla="val 32432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250443" y="4562856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</a:t>
            </a:r>
            <a:endParaRPr lang="zh-CN" sz="2100" dirty="0"/>
          </a:p>
        </p:txBody>
      </p:sp>
      <p:sp>
        <p:nvSpPr>
          <p:cNvPr id="37" name="Text 35"/>
          <p:cNvSpPr/>
          <p:nvPr/>
        </p:nvSpPr>
        <p:spPr>
          <a:xfrm>
            <a:off x="6409944" y="4599432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1M*</a:t>
            </a:r>
            <a:endParaRPr lang="zh-CN" sz="1500" dirty="0"/>
          </a:p>
        </p:txBody>
      </p:sp>
      <p:sp>
        <p:nvSpPr>
          <p:cNvPr id="38" name="Shape 36"/>
          <p:cNvSpPr/>
          <p:nvPr/>
        </p:nvSpPr>
        <p:spPr>
          <a:xfrm>
            <a:off x="7187184" y="4581144"/>
            <a:ext cx="3038627" cy="338328"/>
          </a:xfrm>
          <a:prstGeom prst="roundRect">
            <a:avLst>
              <a:gd name="adj" fmla="val 32432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335539" y="4562856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78.9</a:t>
            </a:r>
            <a:endParaRPr lang="zh-CN" sz="2100" dirty="0"/>
          </a:p>
        </p:txBody>
      </p:sp>
      <p:sp>
        <p:nvSpPr>
          <p:cNvPr id="40" name="Text 38"/>
          <p:cNvSpPr/>
          <p:nvPr/>
        </p:nvSpPr>
        <p:spPr>
          <a:xfrm>
            <a:off x="1298448" y="5321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000" dirty="0"/>
          </a:p>
        </p:txBody>
      </p:sp>
      <p:sp>
        <p:nvSpPr>
          <p:cNvPr id="41" name="Text 39"/>
          <p:cNvSpPr/>
          <p:nvPr/>
        </p:nvSpPr>
        <p:spPr>
          <a:xfrm>
            <a:off x="7123176" y="5321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605272"/>
            <a:ext cx="11128248" cy="457200"/>
          </a:xfrm>
          <a:prstGeom prst="roundRect">
            <a:avLst>
              <a:gd name="adj" fmla="val 2400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68096" y="5692140"/>
            <a:ext cx="106710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512K ≈ 15 token/s，仍低于单人 20 token/s 的目标</a:t>
            </a:r>
            <a:endParaRPr lang="zh-CN" sz="1700" dirty="0"/>
          </a:p>
        </p:txBody>
      </p:sp>
      <p:sp>
        <p:nvSpPr>
          <p:cNvPr id="44" name="Revision text 44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6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SPARK 多轮 Agent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先缓存长材料，再处理本轮新增的工具结果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两种请求的总上下文都接近 512K；旧输入的 KV Cache 与线性注意力状态已保留在 GPU。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来源：讲稿一.2–3。5秒与40秒仅为新增prefill估算，假设旧KV与线性注意力状态已在GPU。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12648" y="2029968"/>
            <a:ext cx="1609344" cy="274320"/>
          </a:xfrm>
          <a:prstGeom prst="roundRect">
            <a:avLst>
              <a:gd name="adj" fmla="val 40000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0619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估算 · 缓存命中</a:t>
            </a:r>
            <a:endParaRPr lang="zh-CN" sz="1050" dirty="0"/>
          </a:p>
        </p:txBody>
      </p:sp>
      <p:sp>
        <p:nvSpPr>
          <p:cNvPr id="11" name="Text 9"/>
          <p:cNvSpPr/>
          <p:nvPr/>
        </p:nvSpPr>
        <p:spPr>
          <a:xfrm>
            <a:off x="7744968" y="2011680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首次读完整输入：约 25.8 分钟</a:t>
            </a:r>
            <a:endParaRPr lang="zh-CN" sz="1500" dirty="0"/>
          </a:p>
        </p:txBody>
      </p:sp>
      <p:sp>
        <p:nvSpPr>
          <p:cNvPr id="12" name="Shape 10"/>
          <p:cNvSpPr/>
          <p:nvPr/>
        </p:nvSpPr>
        <p:spPr>
          <a:xfrm>
            <a:off x="612648" y="2697480"/>
            <a:ext cx="5248656" cy="822960"/>
          </a:xfrm>
          <a:prstGeom prst="roundRect">
            <a:avLst>
              <a:gd name="adj" fmla="val 13333"/>
            </a:avLst>
          </a:prstGeom>
          <a:solidFill>
            <a:srgbClr val="E9EEF1"/>
          </a:solidFill>
          <a:ln w="10160">
            <a:solidFill>
              <a:srgbClr val="E9EEF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1248" y="2916936"/>
            <a:ext cx="4736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已有输入：直接复用缓存</a:t>
            </a:r>
            <a:endParaRPr lang="zh-CN" sz="1900" dirty="0"/>
          </a:p>
        </p:txBody>
      </p:sp>
      <p:sp>
        <p:nvSpPr>
          <p:cNvPr id="14" name="Shape 12"/>
          <p:cNvSpPr/>
          <p:nvPr/>
        </p:nvSpPr>
        <p:spPr>
          <a:xfrm>
            <a:off x="5916168" y="3108960"/>
            <a:ext cx="356616" cy="0"/>
          </a:xfrm>
          <a:prstGeom prst="line">
            <a:avLst/>
          </a:prstGeom>
          <a:noFill/>
          <a:ln w="20320">
            <a:solidFill>
              <a:srgbClr val="007F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45936" y="2697480"/>
            <a:ext cx="2542032" cy="822960"/>
          </a:xfrm>
          <a:prstGeom prst="roundRect">
            <a:avLst>
              <a:gd name="adj" fmla="val 13333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916936"/>
            <a:ext cx="2249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1K 工具结果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8988552" y="3108960"/>
            <a:ext cx="292608" cy="0"/>
          </a:xfrm>
          <a:prstGeom prst="line">
            <a:avLst/>
          </a:prstGeom>
          <a:noFill/>
          <a:ln w="20320">
            <a:solidFill>
              <a:srgbClr val="007F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473184" y="2660904"/>
            <a:ext cx="2002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5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 秒</a:t>
            </a:r>
            <a:endParaRPr lang="zh-CN" sz="3500" dirty="0"/>
          </a:p>
        </p:txBody>
      </p:sp>
      <p:sp>
        <p:nvSpPr>
          <p:cNvPr id="19" name="Text 17"/>
          <p:cNvSpPr/>
          <p:nvPr/>
        </p:nvSpPr>
        <p:spPr>
          <a:xfrm>
            <a:off x="9500616" y="332841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prefill</a:t>
            </a:r>
            <a:endParaRPr lang="zh-CN" sz="1220" dirty="0"/>
          </a:p>
        </p:txBody>
      </p:sp>
      <p:sp>
        <p:nvSpPr>
          <p:cNvPr id="20" name="Shape 18"/>
          <p:cNvSpPr/>
          <p:nvPr/>
        </p:nvSpPr>
        <p:spPr>
          <a:xfrm>
            <a:off x="612648" y="4005072"/>
            <a:ext cx="5248656" cy="822960"/>
          </a:xfrm>
          <a:prstGeom prst="roundRect">
            <a:avLst>
              <a:gd name="adj" fmla="val 13333"/>
            </a:avLst>
          </a:prstGeom>
          <a:solidFill>
            <a:srgbClr val="E9EEF1"/>
          </a:solidFill>
          <a:ln w="10160">
            <a:solidFill>
              <a:srgbClr val="E9EEF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1248" y="4224528"/>
            <a:ext cx="4736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已有输入：直接复用缓存</a:t>
            </a:r>
            <a:endParaRPr lang="zh-CN" sz="1900" dirty="0"/>
          </a:p>
        </p:txBody>
      </p:sp>
      <p:sp>
        <p:nvSpPr>
          <p:cNvPr id="22" name="Shape 20"/>
          <p:cNvSpPr/>
          <p:nvPr/>
        </p:nvSpPr>
        <p:spPr>
          <a:xfrm>
            <a:off x="5916168" y="4416552"/>
            <a:ext cx="356616" cy="0"/>
          </a:xfrm>
          <a:prstGeom prst="line">
            <a:avLst/>
          </a:prstGeom>
          <a:noFill/>
          <a:ln w="20320">
            <a:solidFill>
              <a:srgbClr val="AF742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45936" y="4005072"/>
            <a:ext cx="2542032" cy="822960"/>
          </a:xfrm>
          <a:prstGeom prst="roundRect">
            <a:avLst>
              <a:gd name="adj" fmla="val 1333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92240" y="4224528"/>
            <a:ext cx="2249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8K 工具结果</a:t>
            </a:r>
            <a:endParaRPr lang="zh-CN" sz="1800" dirty="0"/>
          </a:p>
        </p:txBody>
      </p:sp>
      <p:sp>
        <p:nvSpPr>
          <p:cNvPr id="25" name="Shape 23"/>
          <p:cNvSpPr/>
          <p:nvPr/>
        </p:nvSpPr>
        <p:spPr>
          <a:xfrm>
            <a:off x="8988552" y="4416552"/>
            <a:ext cx="292608" cy="0"/>
          </a:xfrm>
          <a:prstGeom prst="line">
            <a:avLst/>
          </a:prstGeom>
          <a:noFill/>
          <a:ln w="20320">
            <a:solidFill>
              <a:srgbClr val="AF742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473184" y="3968496"/>
            <a:ext cx="2002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5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40 秒</a:t>
            </a:r>
            <a:endParaRPr lang="zh-CN" sz="3500" dirty="0"/>
          </a:p>
        </p:txBody>
      </p:sp>
      <p:sp>
        <p:nvSpPr>
          <p:cNvPr id="27" name="Text 25"/>
          <p:cNvSpPr/>
          <p:nvPr/>
        </p:nvSpPr>
        <p:spPr>
          <a:xfrm>
            <a:off x="9500616" y="463600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prefill</a:t>
            </a:r>
            <a:endParaRPr lang="zh-CN" sz="1220" dirty="0"/>
          </a:p>
        </p:txBody>
      </p:sp>
      <p:sp>
        <p:nvSpPr>
          <p:cNvPr id="28" name="Shape 26"/>
          <p:cNvSpPr/>
          <p:nvPr/>
        </p:nvSpPr>
        <p:spPr>
          <a:xfrm>
            <a:off x="612648" y="5413248"/>
            <a:ext cx="109728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13816" y="5559552"/>
            <a:ext cx="10543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缓存命中省去重复 prefill，但 decode 仍要读取上下文对应的 KV。</a:t>
            </a:r>
            <a:endParaRPr lang="zh-CN" sz="1600" dirty="0"/>
          </a:p>
        </p:txBody>
      </p:sp>
      <p:sp>
        <p:nvSpPr>
          <p:cNvPr id="30" name="Text 28"/>
          <p:cNvSpPr/>
          <p:nvPr/>
        </p:nvSpPr>
        <p:spPr>
          <a:xfrm>
            <a:off x="585216" y="6071616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实际首 token 等待 = 请求排队 + 新增 prefill + 第一步 decode。</a:t>
            </a:r>
            <a:endParaRPr lang="zh-CN" sz="1050" dirty="0"/>
          </a:p>
        </p:txBody>
      </p:sp>
      <p:sp>
        <p:nvSpPr>
          <p:cNvPr id="31" name="Revision text 31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7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SPARK 三人共享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容量看会话总和，速度看谁在同时运行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的 CPU / GPU 共用 128GB；CPU 缓存副本不扩容，闲置长会话可保存到 NVMe。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来源：外部 Spark 测试汇总。左侧为容量；右侧为三路各 100K 输入、4,096 输出的实测。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093976"/>
            <a:ext cx="6583680" cy="3593592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3816" y="23134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7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1.81M</a:t>
            </a:r>
            <a:endParaRPr lang="zh-CN" sz="4700" dirty="0"/>
          </a:p>
        </p:txBody>
      </p:sp>
      <p:sp>
        <p:nvSpPr>
          <p:cNvPr id="11" name="Text 9"/>
          <p:cNvSpPr/>
          <p:nvPr/>
        </p:nvSpPr>
        <p:spPr>
          <a:xfrm>
            <a:off x="3602736" y="2651760"/>
            <a:ext cx="3255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· 共享 KV 池</a:t>
            </a:r>
            <a:endParaRPr lang="zh-CN" sz="1700" dirty="0"/>
          </a:p>
        </p:txBody>
      </p:sp>
      <p:sp>
        <p:nvSpPr>
          <p:cNvPr id="12" name="Text 10"/>
          <p:cNvSpPr/>
          <p:nvPr/>
        </p:nvSpPr>
        <p:spPr>
          <a:xfrm>
            <a:off x="813816" y="3264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三人均分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813816" y="3648456"/>
            <a:ext cx="1956816" cy="539496"/>
          </a:xfrm>
          <a:prstGeom prst="rect">
            <a:avLst>
              <a:gd name="adj" fmla="val 2033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3816" y="3794760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600K</a:t>
            </a:r>
            <a:endParaRPr lang="zh-CN" sz="1800" dirty="0"/>
          </a:p>
        </p:txBody>
      </p:sp>
      <p:sp>
        <p:nvSpPr>
          <p:cNvPr id="15" name="Shape 13"/>
          <p:cNvSpPr/>
          <p:nvPr/>
        </p:nvSpPr>
        <p:spPr>
          <a:xfrm>
            <a:off x="2798064" y="3648456"/>
            <a:ext cx="1956816" cy="539496"/>
          </a:xfrm>
          <a:prstGeom prst="rect">
            <a:avLst>
              <a:gd name="adj" fmla="val 2033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98064" y="3794760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600K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782312" y="3648456"/>
            <a:ext cx="1956816" cy="539496"/>
          </a:xfrm>
          <a:prstGeom prst="rect">
            <a:avLst>
              <a:gd name="adj" fmla="val 2033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82312" y="3794760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600K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813816" y="4462272"/>
            <a:ext cx="5897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一人使用 1M，其余两人共用约 810K</a:t>
            </a:r>
            <a:endParaRPr lang="zh-CN" sz="1400" dirty="0"/>
          </a:p>
        </p:txBody>
      </p:sp>
      <p:sp>
        <p:nvSpPr>
          <p:cNvPr id="20" name="Shape 18"/>
          <p:cNvSpPr/>
          <p:nvPr/>
        </p:nvSpPr>
        <p:spPr>
          <a:xfrm>
            <a:off x="813816" y="4864608"/>
            <a:ext cx="3282696" cy="466344"/>
          </a:xfrm>
          <a:prstGeom prst="rect">
            <a:avLst>
              <a:gd name="adj" fmla="val 235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105656" y="4864608"/>
            <a:ext cx="2651760" cy="466344"/>
          </a:xfrm>
          <a:prstGeom prst="rect">
            <a:avLst>
              <a:gd name="adj" fmla="val 23529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3816" y="4983480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zh-CN" sz="1600" dirty="0"/>
          </a:p>
        </p:txBody>
      </p:sp>
      <p:sp>
        <p:nvSpPr>
          <p:cNvPr id="23" name="Text 21"/>
          <p:cNvSpPr/>
          <p:nvPr/>
        </p:nvSpPr>
        <p:spPr>
          <a:xfrm>
            <a:off x="4105656" y="4983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5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其余两人共用 ≈ 810K</a:t>
            </a:r>
            <a:endParaRPr lang="zh-CN" sz="1250" dirty="0"/>
          </a:p>
        </p:txBody>
      </p:sp>
      <p:sp>
        <p:nvSpPr>
          <p:cNvPr id="24" name="Shape 22"/>
          <p:cNvSpPr/>
          <p:nvPr/>
        </p:nvSpPr>
        <p:spPr>
          <a:xfrm>
            <a:off x="7406640" y="2093976"/>
            <a:ext cx="4215384" cy="3593592"/>
          </a:xfrm>
          <a:prstGeom prst="roundRect">
            <a:avLst>
              <a:gd name="adj" fmla="val 3053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671816" y="2350008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三路实测，每路输入 100K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7653528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2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</a:t>
            </a:r>
            <a:endParaRPr lang="zh-CN" sz="4200" dirty="0"/>
          </a:p>
        </p:txBody>
      </p:sp>
      <p:sp>
        <p:nvSpPr>
          <p:cNvPr id="27" name="Text 25"/>
          <p:cNvSpPr/>
          <p:nvPr/>
        </p:nvSpPr>
        <p:spPr>
          <a:xfrm>
            <a:off x="9738360" y="321868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token/s</a:t>
            </a:r>
            <a:endParaRPr lang="zh-CN" sz="1200" dirty="0"/>
          </a:p>
        </p:txBody>
      </p:sp>
      <p:sp>
        <p:nvSpPr>
          <p:cNvPr id="28" name="Text 26"/>
          <p:cNvSpPr/>
          <p:nvPr/>
        </p:nvSpPr>
        <p:spPr>
          <a:xfrm>
            <a:off x="7690104" y="3611880"/>
            <a:ext cx="3602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 decode 窗口 · 每路平均</a:t>
            </a:r>
            <a:endParaRPr lang="zh-CN" sz="1400" dirty="0"/>
          </a:p>
        </p:txBody>
      </p:sp>
      <p:sp>
        <p:nvSpPr>
          <p:cNvPr id="29" name="Shape 27"/>
          <p:cNvSpPr/>
          <p:nvPr/>
        </p:nvSpPr>
        <p:spPr>
          <a:xfrm>
            <a:off x="7680960" y="4114800"/>
            <a:ext cx="3630168" cy="0"/>
          </a:xfrm>
          <a:prstGeom prst="line">
            <a:avLst/>
          </a:prstGeom>
          <a:noFill/>
          <a:ln w="10160">
            <a:solidFill>
              <a:srgbClr val="345064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653528" y="440740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</a:t>
            </a:r>
            <a:endParaRPr lang="zh-CN" sz="3700" dirty="0"/>
          </a:p>
        </p:txBody>
      </p:sp>
      <p:sp>
        <p:nvSpPr>
          <p:cNvPr id="31" name="Text 29"/>
          <p:cNvSpPr/>
          <p:nvPr/>
        </p:nvSpPr>
        <p:spPr>
          <a:xfrm>
            <a:off x="9738360" y="46817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token/s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7690104" y="5093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9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各自首 token 至结束 · 含干扰等待</a:t>
            </a:r>
            <a:endParaRPr lang="zh-CN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5907024"/>
            <a:ext cx="10533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FP8 KV 预留 10% 余量：三人仍可各配置 512K</a:t>
            </a:r>
            <a:endParaRPr lang="zh-CN" sz="1800" dirty="0"/>
          </a:p>
        </p:txBody>
      </p:sp>
      <p:sp>
        <p:nvSpPr>
          <p:cNvPr id="34" name="Revision text 34"/>
          <p:cNvSpPr txBox="1"/>
          <p:nvPr/>
        </p:nvSpPr>
        <p:spPr>
          <a:xfrm>
            <a:off x="7690104" y="2734056"/>
            <a:ext cx="363016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u="none" lang="zh-CN">
                <a:solidFill>
                  <a:srgbClr val="A7BCC9"/>
                </a:solidFill>
                <a:latin typeface="Microsoft YaHei"/>
                <a:ea typeface="Microsoft YaHei"/>
                <a:cs typeface="Microsoft YaHei"/>
              </a:rPr>
              <a:t>每路输出 4,096 token</a:t>
            </a:r>
          </a:p>
        </p:txBody>
      </p:sp>
      <p:sp>
        <p:nvSpPr>
          <p:cNvPr id="35" name="Revision text 35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8页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SPARK 购置与实施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 Spark：个人部署与三人共享的投入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同一台模型服务器；实施成本主要来自首次配置、工具接入与功能检查。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3450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一.5；原版 PDF 附录 D。预算观察日期 2026-10-12；人民币万元。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76272"/>
            <a:ext cx="5340096" cy="3127248"/>
          </a:xfrm>
          <a:prstGeom prst="roundRect">
            <a:avLst>
              <a:gd name="adj" fmla="val 3509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2176272"/>
            <a:ext cx="5340096" cy="3127248"/>
          </a:xfrm>
          <a:prstGeom prst="roundRect">
            <a:avLst>
              <a:gd name="adj" fmla="val 3509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59536" y="2441448"/>
            <a:ext cx="1124712" cy="274320"/>
          </a:xfrm>
          <a:prstGeom prst="roundRect">
            <a:avLst>
              <a:gd name="adj" fmla="val 4000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32688" y="2473452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个人使用</a:t>
            </a:r>
            <a:endParaRPr lang="zh-CN" sz="1050" dirty="0"/>
          </a:p>
        </p:txBody>
      </p:sp>
      <p:sp>
        <p:nvSpPr>
          <p:cNvPr id="13" name="Text 11"/>
          <p:cNvSpPr/>
          <p:nvPr/>
        </p:nvSpPr>
        <p:spPr>
          <a:xfrm>
            <a:off x="859536" y="3017520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6.8–8.2</a:t>
            </a:r>
            <a:endParaRPr lang="zh-CN" sz="5600" dirty="0"/>
          </a:p>
        </p:txBody>
      </p:sp>
      <p:sp>
        <p:nvSpPr>
          <p:cNvPr id="14" name="Text 12"/>
          <p:cNvSpPr/>
          <p:nvPr/>
        </p:nvSpPr>
        <p:spPr>
          <a:xfrm>
            <a:off x="914400" y="41239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 · 硬件与实施合计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718304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8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 5.8–6.2 万 + 实施 1–2 万</a:t>
            </a:r>
            <a:endParaRPr lang="zh-CN" sz="1480" dirty="0"/>
          </a:p>
        </p:txBody>
      </p:sp>
      <p:sp>
        <p:nvSpPr>
          <p:cNvPr id="16" name="Shape 14"/>
          <p:cNvSpPr/>
          <p:nvPr/>
        </p:nvSpPr>
        <p:spPr>
          <a:xfrm>
            <a:off x="6473952" y="2441448"/>
            <a:ext cx="1124712" cy="274320"/>
          </a:xfrm>
          <a:prstGeom prst="roundRect">
            <a:avLst>
              <a:gd name="adj" fmla="val 4000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47104" y="2473452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三人共享</a:t>
            </a:r>
            <a:endParaRPr lang="zh-CN" sz="1050" dirty="0"/>
          </a:p>
        </p:txBody>
      </p:sp>
      <p:sp>
        <p:nvSpPr>
          <p:cNvPr id="18" name="Text 16"/>
          <p:cNvSpPr/>
          <p:nvPr/>
        </p:nvSpPr>
        <p:spPr>
          <a:xfrm>
            <a:off x="6473952" y="3017520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7.8–9.9</a:t>
            </a:r>
            <a:endParaRPr lang="zh-CN" sz="5600" dirty="0"/>
          </a:p>
        </p:txBody>
      </p:sp>
      <p:sp>
        <p:nvSpPr>
          <p:cNvPr id="19" name="Text 17"/>
          <p:cNvSpPr/>
          <p:nvPr/>
        </p:nvSpPr>
        <p:spPr>
          <a:xfrm>
            <a:off x="6528816" y="41239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 · 硬件与实施合计</a:t>
            </a:r>
            <a:endParaRPr lang="zh-CN" sz="1800" dirty="0"/>
          </a:p>
        </p:txBody>
      </p:sp>
      <p:sp>
        <p:nvSpPr>
          <p:cNvPr id="20" name="Text 18"/>
          <p:cNvSpPr/>
          <p:nvPr/>
        </p:nvSpPr>
        <p:spPr>
          <a:xfrm>
            <a:off x="6528816" y="4718304"/>
            <a:ext cx="4572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8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 Spark，增加多用户接入工时</a:t>
            </a:r>
            <a:endParaRPr lang="zh-CN" sz="1480" dirty="0"/>
          </a:p>
        </p:txBody>
      </p:sp>
      <p:sp>
        <p:nvSpPr>
          <p:cNvPr id="21" name="Text 19"/>
          <p:cNvSpPr/>
          <p:nvPr/>
        </p:nvSpPr>
        <p:spPr>
          <a:xfrm>
            <a:off x="786384" y="5715000"/>
            <a:ext cx="10872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硬件预算：$6,950 × 假设汇率 7.00，再计税费、运输与支持准备。</a:t>
            </a:r>
            <a:endParaRPr lang="zh-CN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6099048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自行部署时，实施费用对应团队工时；此处是预算范围，不是境内成交报价。</a:t>
            </a:r>
            <a:endParaRPr lang="zh-CN" sz="1050" dirty="0"/>
          </a:p>
        </p:txBody>
      </p:sp>
      <p:sp>
        <p:nvSpPr>
          <p:cNvPr id="23" name="Revision text 23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9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公司方案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共享模型，隔离每个员工或项目的任务环境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目标：同时运行 20 个任务，每个最多 1M 上下文；另设 131K、262K、512K 档位。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来源：讲稿二.1–2。模型权重、Engram与会话KV分开计账；公司知识库简版见附录F（33页）。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85216" y="2157984"/>
            <a:ext cx="2990088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13816" y="2414016"/>
            <a:ext cx="1636776" cy="274320"/>
          </a:xfrm>
          <a:prstGeom prst="roundRect">
            <a:avLst>
              <a:gd name="adj" fmla="val 40000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86968" y="2446020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/ 项目独立</a:t>
            </a:r>
            <a:endParaRPr lang="zh-CN" sz="1050" dirty="0"/>
          </a:p>
        </p:txBody>
      </p:sp>
      <p:sp>
        <p:nvSpPr>
          <p:cNvPr id="12" name="Text 10"/>
          <p:cNvSpPr/>
          <p:nvPr/>
        </p:nvSpPr>
        <p:spPr>
          <a:xfrm>
            <a:off x="832104" y="2907792"/>
            <a:ext cx="25694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会话</a:t>
            </a:r>
            <a:endParaRPr lang="zh-CN" sz="2500" dirty="0"/>
          </a:p>
        </p:txBody>
      </p:sp>
      <p:sp>
        <p:nvSpPr>
          <p:cNvPr id="13" name="Text 11"/>
          <p:cNvSpPr/>
          <p:nvPr/>
        </p:nvSpPr>
        <p:spPr>
          <a:xfrm>
            <a:off x="832104" y="363931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独立文件目录与执行环境</a:t>
            </a:r>
            <a:endParaRPr lang="zh-CN" sz="1500" dirty="0"/>
          </a:p>
        </p:txBody>
      </p:sp>
      <p:sp>
        <p:nvSpPr>
          <p:cNvPr id="14" name="Text 12"/>
          <p:cNvSpPr/>
          <p:nvPr/>
        </p:nvSpPr>
        <p:spPr>
          <a:xfrm>
            <a:off x="832104" y="4023360"/>
            <a:ext cx="2569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Skills：步骤、模板与任务记录</a:t>
            </a:r>
            <a:endParaRPr lang="zh-CN" sz="1180" dirty="0"/>
          </a:p>
        </p:txBody>
      </p:sp>
      <p:sp>
        <p:nvSpPr>
          <p:cNvPr id="15" name="Text 13"/>
          <p:cNvSpPr/>
          <p:nvPr/>
        </p:nvSpPr>
        <p:spPr>
          <a:xfrm>
            <a:off x="3666744" y="26609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8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输入与结果</a:t>
            </a:r>
            <a:endParaRPr lang="zh-CN" sz="1080" dirty="0"/>
          </a:p>
        </p:txBody>
      </p:sp>
      <p:sp>
        <p:nvSpPr>
          <p:cNvPr id="16" name="Shape 14"/>
          <p:cNvSpPr/>
          <p:nvPr/>
        </p:nvSpPr>
        <p:spPr>
          <a:xfrm>
            <a:off x="3602736" y="3063240"/>
            <a:ext cx="978408" cy="0"/>
          </a:xfrm>
          <a:prstGeom prst="line">
            <a:avLst/>
          </a:prstGeom>
          <a:noFill/>
          <a:ln w="21590">
            <a:solidFill>
              <a:srgbClr val="2D62C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602736" y="3538728"/>
            <a:ext cx="978408" cy="0"/>
          </a:xfrm>
          <a:prstGeom prst="line">
            <a:avLst/>
          </a:prstGeom>
          <a:noFill/>
          <a:ln w="21590">
            <a:solidFill>
              <a:srgbClr val="007F78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66744" y="37216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8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答案与调用</a:t>
            </a:r>
            <a:endParaRPr lang="zh-CN" sz="1080" dirty="0"/>
          </a:p>
        </p:txBody>
      </p:sp>
      <p:sp>
        <p:nvSpPr>
          <p:cNvPr id="19" name="Shape 17"/>
          <p:cNvSpPr/>
          <p:nvPr/>
        </p:nvSpPr>
        <p:spPr>
          <a:xfrm>
            <a:off x="4636008" y="2157984"/>
            <a:ext cx="3666744" cy="2212848"/>
          </a:xfrm>
          <a:prstGeom prst="roundRect">
            <a:avLst>
              <a:gd name="adj" fmla="val 4959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10328" y="251460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共享模型服务</a:t>
            </a:r>
            <a:endParaRPr lang="zh-CN" sz="1700" dirty="0"/>
          </a:p>
        </p:txBody>
      </p:sp>
      <p:sp>
        <p:nvSpPr>
          <p:cNvPr id="21" name="Text 19"/>
          <p:cNvSpPr/>
          <p:nvPr/>
        </p:nvSpPr>
        <p:spPr>
          <a:xfrm>
            <a:off x="4910328" y="3026664"/>
            <a:ext cx="31181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zh-CN" sz="2900" dirty="0"/>
          </a:p>
        </p:txBody>
      </p:sp>
      <p:sp>
        <p:nvSpPr>
          <p:cNvPr id="22" name="Text 20"/>
          <p:cNvSpPr/>
          <p:nvPr/>
        </p:nvSpPr>
        <p:spPr>
          <a:xfrm>
            <a:off x="4910328" y="3611880"/>
            <a:ext cx="3118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V4.1-Flash</a:t>
            </a:r>
            <a:endParaRPr lang="zh-CN" sz="2200" dirty="0"/>
          </a:p>
        </p:txBody>
      </p:sp>
      <p:sp>
        <p:nvSpPr>
          <p:cNvPr id="23" name="Shape 21"/>
          <p:cNvSpPr/>
          <p:nvPr/>
        </p:nvSpPr>
        <p:spPr>
          <a:xfrm>
            <a:off x="8577072" y="2157984"/>
            <a:ext cx="3035808" cy="996696"/>
          </a:xfrm>
          <a:prstGeom prst="roundRect">
            <a:avLst>
              <a:gd name="adj" fmla="val 11009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787384" y="235000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zh-CN" sz="1300" dirty="0"/>
          </a:p>
        </p:txBody>
      </p:sp>
      <p:sp>
        <p:nvSpPr>
          <p:cNvPr id="25" name="Text 23"/>
          <p:cNvSpPr/>
          <p:nvPr/>
        </p:nvSpPr>
        <p:spPr>
          <a:xfrm>
            <a:off x="8787384" y="2734056"/>
            <a:ext cx="2624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模型权重 + 会话 KV</a:t>
            </a:r>
            <a:endParaRPr lang="zh-CN" sz="1600" dirty="0"/>
          </a:p>
        </p:txBody>
      </p:sp>
      <p:sp>
        <p:nvSpPr>
          <p:cNvPr id="26" name="Shape 24"/>
          <p:cNvSpPr/>
          <p:nvPr/>
        </p:nvSpPr>
        <p:spPr>
          <a:xfrm>
            <a:off x="8577072" y="3374136"/>
            <a:ext cx="3035808" cy="996696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787384" y="3575304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主机内存</a:t>
            </a:r>
            <a:endParaRPr lang="zh-CN" sz="1300" dirty="0"/>
          </a:p>
        </p:txBody>
      </p:sp>
      <p:sp>
        <p:nvSpPr>
          <p:cNvPr id="28" name="Text 26"/>
          <p:cNvSpPr/>
          <p:nvPr/>
        </p:nvSpPr>
        <p:spPr>
          <a:xfrm>
            <a:off x="8787384" y="3941064"/>
            <a:ext cx="2624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203GB Engram</a:t>
            </a:r>
            <a:endParaRPr lang="zh-CN" sz="1800" dirty="0"/>
          </a:p>
        </p:txBody>
      </p:sp>
      <p:sp>
        <p:nvSpPr>
          <p:cNvPr id="29" name="Shape 27"/>
          <p:cNvSpPr/>
          <p:nvPr/>
        </p:nvSpPr>
        <p:spPr>
          <a:xfrm>
            <a:off x="8311896" y="2761488"/>
            <a:ext cx="265176" cy="0"/>
          </a:xfrm>
          <a:prstGeom prst="line">
            <a:avLst/>
          </a:prstGeom>
          <a:noFill/>
          <a:ln w="17780">
            <a:solidFill>
              <a:srgbClr val="2D62C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311896" y="3849624"/>
            <a:ext cx="265176" cy="0"/>
          </a:xfrm>
          <a:prstGeom prst="line">
            <a:avLst/>
          </a:prstGeom>
          <a:noFill/>
          <a:ln w="17780">
            <a:solidFill>
              <a:srgbClr val="2D62C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85216" y="4718304"/>
            <a:ext cx="11027664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9536" y="5001768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zh-CN" sz="2400" dirty="0"/>
          </a:p>
        </p:txBody>
      </p:sp>
      <p:sp>
        <p:nvSpPr>
          <p:cNvPr id="33" name="Shape 31"/>
          <p:cNvSpPr/>
          <p:nvPr/>
        </p:nvSpPr>
        <p:spPr>
          <a:xfrm>
            <a:off x="1975104" y="5276088"/>
            <a:ext cx="429768" cy="0"/>
          </a:xfrm>
          <a:prstGeom prst="line">
            <a:avLst/>
          </a:prstGeom>
          <a:noFill/>
          <a:ln w="15240">
            <a:solidFill>
              <a:srgbClr val="A5B5B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51760" y="4937760"/>
            <a:ext cx="2340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业务工具</a:t>
            </a:r>
            <a:endParaRPr lang="zh-CN" sz="1700" dirty="0"/>
          </a:p>
        </p:txBody>
      </p:sp>
      <p:sp>
        <p:nvSpPr>
          <p:cNvPr id="35" name="Text 33"/>
          <p:cNvSpPr/>
          <p:nvPr/>
        </p:nvSpPr>
        <p:spPr>
          <a:xfrm>
            <a:off x="2651760" y="540410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员工电脑或 CPU 服务器执行</a:t>
            </a:r>
            <a:endParaRPr lang="zh-CN" sz="1220" dirty="0"/>
          </a:p>
        </p:txBody>
      </p:sp>
      <p:sp>
        <p:nvSpPr>
          <p:cNvPr id="36" name="Shape 34"/>
          <p:cNvSpPr/>
          <p:nvPr/>
        </p:nvSpPr>
        <p:spPr>
          <a:xfrm>
            <a:off x="5907024" y="4965192"/>
            <a:ext cx="0" cy="667512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227064" y="4937760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公司知识库</a:t>
            </a:r>
            <a:endParaRPr lang="zh-CN" sz="1700" dirty="0"/>
          </a:p>
        </p:txBody>
      </p:sp>
      <p:sp>
        <p:nvSpPr>
          <p:cNvPr id="38" name="Text 36"/>
          <p:cNvSpPr/>
          <p:nvPr/>
        </p:nvSpPr>
        <p:spPr>
          <a:xfrm>
            <a:off x="6227064" y="5404104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按身份检索 NAS，并返回原文出处</a:t>
            </a:r>
            <a:endParaRPr lang="zh-CN" sz="1220" dirty="0"/>
          </a:p>
        </p:txBody>
      </p:sp>
      <p:sp>
        <p:nvSpPr>
          <p:cNvPr id="39" name="Revision text 39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10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缓存容量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八卡 H200 的缓存容量可容纳 20 × 1M 会话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按公开启动日志的可用 KV 预算估算，20 个会话均分，并预留 10% 缓存容量。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来源：公开启动池汇总与讲稿二.2–3。仅估算GPU缓存容量；其他状态另计，详见附录B（29页）。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2093976"/>
            <a:ext cx="7845552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32104" y="2322576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每会话可用上下文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3246120" y="2834640"/>
            <a:ext cx="0" cy="239572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80944" y="5294376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4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040" dirty="0"/>
          </a:p>
        </p:txBody>
      </p:sp>
      <p:sp>
        <p:nvSpPr>
          <p:cNvPr id="13" name="Shape 11"/>
          <p:cNvSpPr/>
          <p:nvPr/>
        </p:nvSpPr>
        <p:spPr>
          <a:xfrm>
            <a:off x="4305032" y="2834640"/>
            <a:ext cx="0" cy="239572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039856" y="5294376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4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262K</a:t>
            </a:r>
            <a:endParaRPr lang="zh-CN" sz="1040" dirty="0"/>
          </a:p>
        </p:txBody>
      </p:sp>
      <p:sp>
        <p:nvSpPr>
          <p:cNvPr id="15" name="Shape 13"/>
          <p:cNvSpPr/>
          <p:nvPr/>
        </p:nvSpPr>
        <p:spPr>
          <a:xfrm>
            <a:off x="5315444" y="2834640"/>
            <a:ext cx="0" cy="239572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50268" y="5294376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4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</a:t>
            </a:r>
            <a:endParaRPr lang="zh-CN" sz="1040" dirty="0"/>
          </a:p>
        </p:txBody>
      </p:sp>
      <p:sp>
        <p:nvSpPr>
          <p:cNvPr id="17" name="Shape 15"/>
          <p:cNvSpPr/>
          <p:nvPr/>
        </p:nvSpPr>
        <p:spPr>
          <a:xfrm>
            <a:off x="7287768" y="2834640"/>
            <a:ext cx="0" cy="2395728"/>
          </a:xfrm>
          <a:prstGeom prst="line">
            <a:avLst/>
          </a:prstGeom>
          <a:noFill/>
          <a:ln w="10160">
            <a:solidFill>
              <a:srgbClr val="DCE5EA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22592" y="5294376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4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zh-CN" sz="1040" dirty="0"/>
          </a:p>
        </p:txBody>
      </p:sp>
      <p:sp>
        <p:nvSpPr>
          <p:cNvPr id="19" name="Text 17"/>
          <p:cNvSpPr/>
          <p:nvPr/>
        </p:nvSpPr>
        <p:spPr>
          <a:xfrm>
            <a:off x="868680" y="294436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8×H100</a:t>
            </a:r>
            <a:endParaRPr lang="zh-CN" sz="1900" dirty="0"/>
          </a:p>
        </p:txBody>
      </p:sp>
      <p:sp>
        <p:nvSpPr>
          <p:cNvPr id="20" name="Text 18"/>
          <p:cNvSpPr/>
          <p:nvPr/>
        </p:nvSpPr>
        <p:spPr>
          <a:xfrm>
            <a:off x="877824" y="3337560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80GB · TP8</a:t>
            </a:r>
            <a:endParaRPr lang="zh-CN" sz="113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978079" cy="374904"/>
          </a:xfrm>
          <a:prstGeom prst="roundRect">
            <a:avLst>
              <a:gd name="adj" fmla="val 29268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333927" y="2994660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242K</a:t>
            </a:r>
            <a:endParaRPr lang="zh-CN" sz="2100" dirty="0"/>
          </a:p>
        </p:txBody>
      </p:sp>
      <p:sp>
        <p:nvSpPr>
          <p:cNvPr id="23" name="Text 21"/>
          <p:cNvSpPr/>
          <p:nvPr/>
        </p:nvSpPr>
        <p:spPr>
          <a:xfrm>
            <a:off x="868680" y="3739896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4×H200</a:t>
            </a:r>
            <a:endParaRPr lang="zh-CN" sz="1900" dirty="0"/>
          </a:p>
        </p:txBody>
      </p:sp>
      <p:sp>
        <p:nvSpPr>
          <p:cNvPr id="24" name="Text 22"/>
          <p:cNvSpPr/>
          <p:nvPr/>
        </p:nvSpPr>
        <p:spPr>
          <a:xfrm>
            <a:off x="877824" y="4133088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141GB · TP4</a:t>
            </a:r>
            <a:endParaRPr lang="zh-CN" sz="1130" dirty="0"/>
          </a:p>
        </p:txBody>
      </p:sp>
      <p:sp>
        <p:nvSpPr>
          <p:cNvPr id="25" name="Shape 23"/>
          <p:cNvSpPr/>
          <p:nvPr/>
        </p:nvSpPr>
        <p:spPr>
          <a:xfrm>
            <a:off x="3246120" y="3813048"/>
            <a:ext cx="3079736" cy="374904"/>
          </a:xfrm>
          <a:prstGeom prst="roundRect">
            <a:avLst>
              <a:gd name="adj" fmla="val 29268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35584" y="3790188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762K</a:t>
            </a:r>
            <a:endParaRPr lang="zh-CN" sz="2100" dirty="0"/>
          </a:p>
        </p:txBody>
      </p:sp>
      <p:sp>
        <p:nvSpPr>
          <p:cNvPr id="27" name="Text 25"/>
          <p:cNvSpPr/>
          <p:nvPr/>
        </p:nvSpPr>
        <p:spPr>
          <a:xfrm>
            <a:off x="868680" y="4535424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8×H200</a:t>
            </a:r>
            <a:endParaRPr lang="zh-CN" sz="1900" dirty="0"/>
          </a:p>
        </p:txBody>
      </p:sp>
      <p:sp>
        <p:nvSpPr>
          <p:cNvPr id="28" name="Text 26"/>
          <p:cNvSpPr/>
          <p:nvPr/>
        </p:nvSpPr>
        <p:spPr>
          <a:xfrm>
            <a:off x="877824" y="4928616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TP8 或双 TP4</a:t>
            </a:r>
            <a:endParaRPr lang="zh-CN" sz="1130" dirty="0"/>
          </a:p>
        </p:txBody>
      </p:sp>
      <p:sp>
        <p:nvSpPr>
          <p:cNvPr id="29" name="Shape 27"/>
          <p:cNvSpPr/>
          <p:nvPr/>
        </p:nvSpPr>
        <p:spPr>
          <a:xfrm>
            <a:off x="3246120" y="4608576"/>
            <a:ext cx="4041648" cy="374904"/>
          </a:xfrm>
          <a:prstGeom prst="roundRect">
            <a:avLst>
              <a:gd name="adj" fmla="val 29268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97496" y="4585716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zh-CN" sz="2100" dirty="0"/>
          </a:p>
        </p:txBody>
      </p:sp>
      <p:sp>
        <p:nvSpPr>
          <p:cNvPr id="31" name="Shape 29"/>
          <p:cNvSpPr/>
          <p:nvPr/>
        </p:nvSpPr>
        <p:spPr>
          <a:xfrm>
            <a:off x="8668512" y="2093976"/>
            <a:ext cx="2935224" cy="3520440"/>
          </a:xfrm>
          <a:prstGeom prst="roundRect">
            <a:avLst>
              <a:gd name="adj" fmla="val 3738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78824" y="23682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60" b="1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H100 / H200 实现</a:t>
            </a:r>
            <a:endParaRPr lang="zh-CN" sz="1260" dirty="0"/>
          </a:p>
        </p:txBody>
      </p:sp>
      <p:sp>
        <p:nvSpPr>
          <p:cNvPr id="33" name="Text 31"/>
          <p:cNvSpPr/>
          <p:nvPr/>
        </p:nvSpPr>
        <p:spPr>
          <a:xfrm>
            <a:off x="8869680" y="288950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1.83</a:t>
            </a:r>
            <a:endParaRPr lang="zh-CN" sz="4300" dirty="0"/>
          </a:p>
        </p:txBody>
      </p:sp>
      <p:sp>
        <p:nvSpPr>
          <p:cNvPr id="34" name="Text 32"/>
          <p:cNvSpPr/>
          <p:nvPr/>
        </p:nvSpPr>
        <p:spPr>
          <a:xfrm>
            <a:off x="8897112" y="3675888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 / 卡 / 1M 会话</a:t>
            </a:r>
            <a:endParaRPr lang="zh-CN" sz="1450" dirty="0"/>
          </a:p>
        </p:txBody>
      </p:sp>
      <p:sp>
        <p:nvSpPr>
          <p:cNvPr id="35" name="Shape 33"/>
          <p:cNvSpPr/>
          <p:nvPr/>
        </p:nvSpPr>
        <p:spPr>
          <a:xfrm>
            <a:off x="8915400" y="4206240"/>
            <a:ext cx="2423160" cy="0"/>
          </a:xfrm>
          <a:prstGeom prst="line">
            <a:avLst/>
          </a:prstGeom>
          <a:noFill/>
          <a:ln w="11430">
            <a:solidFill>
              <a:srgbClr val="3450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897112" y="447141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 1M 会话</a:t>
            </a:r>
            <a:endParaRPr lang="zh-CN" sz="1400" dirty="0"/>
          </a:p>
        </p:txBody>
      </p:sp>
      <p:sp>
        <p:nvSpPr>
          <p:cNvPr id="37" name="Text 35"/>
          <p:cNvSpPr/>
          <p:nvPr/>
        </p:nvSpPr>
        <p:spPr>
          <a:xfrm>
            <a:off x="8897112" y="491032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36.5GB / 卡</a:t>
            </a:r>
            <a:endParaRPr lang="zh-CN" sz="1900" dirty="0"/>
          </a:p>
        </p:txBody>
      </p:sp>
      <p:sp>
        <p:nvSpPr>
          <p:cNvPr id="38" name="Text 36"/>
          <p:cNvSpPr/>
          <p:nvPr/>
        </p:nvSpPr>
        <p:spPr>
          <a:xfrm>
            <a:off x="795528" y="5833872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的约 242K 低于 262K；四卡 H200 可容纳 20 个 512K。</a:t>
            </a:r>
            <a:endParaRPr lang="zh-CN" sz="1700" dirty="0"/>
          </a:p>
        </p:txBody>
      </p:sp>
      <p:sp>
        <p:nvSpPr>
          <p:cNvPr id="39" name="Text 37"/>
          <p:cNvSpPr/>
          <p:nvPr/>
        </p:nvSpPr>
        <p:spPr>
          <a:xfrm>
            <a:off x="585216" y="6181344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图中八卡 H200 按 1M 档位封顶；局部状态、草稿模型与运行缓冲另占显存。</a:t>
            </a:r>
            <a:endParaRPr lang="zh-CN" sz="1050" dirty="0"/>
          </a:p>
        </p:txBody>
      </p:sp>
      <p:sp>
        <p:nvSpPr>
          <p:cNvPr id="40" name="Revision text 40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11页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实例布局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同一台八卡服务器，比较 TP8 与双 TP4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硬件购置费相同，差别在于请求分组、队列、模型副本与 KV Cache 的分配。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3450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19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两份预算对应独立服务；vLLM 0.31 同机 DP 可共享 Engram，需按最终部署核对。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30552"/>
            <a:ext cx="5340096" cy="3611880"/>
          </a:xfrm>
          <a:prstGeom prst="roundRect">
            <a:avLst>
              <a:gd name="adj" fmla="val 3038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17920" y="2130552"/>
            <a:ext cx="5340096" cy="3611880"/>
          </a:xfrm>
          <a:prstGeom prst="roundRect">
            <a:avLst>
              <a:gd name="adj" fmla="val 3038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9536" y="2404872"/>
            <a:ext cx="4764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TP8 实例</a:t>
            </a:r>
            <a:endParaRPr lang="zh-CN" sz="2500" dirty="0"/>
          </a:p>
        </p:txBody>
      </p:sp>
      <p:sp>
        <p:nvSpPr>
          <p:cNvPr id="12" name="Shape 10"/>
          <p:cNvSpPr/>
          <p:nvPr/>
        </p:nvSpPr>
        <p:spPr>
          <a:xfrm>
            <a:off x="877824" y="2990088"/>
            <a:ext cx="2542032" cy="274320"/>
          </a:xfrm>
          <a:prstGeom prst="roundRect">
            <a:avLst>
              <a:gd name="adj" fmla="val 4000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50976" y="3022092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人 · 一个共享队列</a:t>
            </a:r>
            <a:endParaRPr lang="zh-CN" sz="1050" dirty="0"/>
          </a:p>
        </p:txBody>
      </p:sp>
      <p:sp>
        <p:nvSpPr>
          <p:cNvPr id="14" name="Shape 12"/>
          <p:cNvSpPr/>
          <p:nvPr/>
        </p:nvSpPr>
        <p:spPr>
          <a:xfrm>
            <a:off x="932688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24128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24128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103376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103376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182624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182624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261872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261872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8408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100" dirty="0"/>
          </a:p>
        </p:txBody>
      </p:sp>
      <p:sp>
        <p:nvSpPr>
          <p:cNvPr id="24" name="Shape 22"/>
          <p:cNvSpPr/>
          <p:nvPr/>
        </p:nvSpPr>
        <p:spPr>
          <a:xfrm>
            <a:off x="1525219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616659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616659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95907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695907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775155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775155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854403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854403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570939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zh-CN" sz="1100" dirty="0"/>
          </a:p>
        </p:txBody>
      </p:sp>
      <p:sp>
        <p:nvSpPr>
          <p:cNvPr id="34" name="Shape 32"/>
          <p:cNvSpPr/>
          <p:nvPr/>
        </p:nvSpPr>
        <p:spPr>
          <a:xfrm>
            <a:off x="2117750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209190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2209190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288438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288438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367686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2367686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446934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2446934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163470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zh-CN" sz="1100" dirty="0"/>
          </a:p>
        </p:txBody>
      </p:sp>
      <p:sp>
        <p:nvSpPr>
          <p:cNvPr id="44" name="Shape 42"/>
          <p:cNvSpPr/>
          <p:nvPr/>
        </p:nvSpPr>
        <p:spPr>
          <a:xfrm>
            <a:off x="2710282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2801722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2801722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2880970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2880970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2960218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2960218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3039466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3039466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756002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zh-CN" sz="1100" dirty="0"/>
          </a:p>
        </p:txBody>
      </p:sp>
      <p:sp>
        <p:nvSpPr>
          <p:cNvPr id="54" name="Shape 52"/>
          <p:cNvSpPr/>
          <p:nvPr/>
        </p:nvSpPr>
        <p:spPr>
          <a:xfrm>
            <a:off x="3302813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3394253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3394253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3473501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3473501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3552749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3552749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3631997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3631997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348533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zh-CN" sz="1100" dirty="0"/>
          </a:p>
        </p:txBody>
      </p:sp>
      <p:sp>
        <p:nvSpPr>
          <p:cNvPr id="64" name="Shape 62"/>
          <p:cNvSpPr/>
          <p:nvPr/>
        </p:nvSpPr>
        <p:spPr>
          <a:xfrm>
            <a:off x="3895344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3986784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3986784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4066032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4066032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4145280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4145280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4224528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4224528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3941064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zh-CN" sz="1100" dirty="0"/>
          </a:p>
        </p:txBody>
      </p:sp>
      <p:sp>
        <p:nvSpPr>
          <p:cNvPr id="74" name="Shape 72"/>
          <p:cNvSpPr/>
          <p:nvPr/>
        </p:nvSpPr>
        <p:spPr>
          <a:xfrm>
            <a:off x="4487875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4579315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4579315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658563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658563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4737811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4737811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4817059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4817059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4533595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zh-CN" sz="1100" dirty="0"/>
          </a:p>
        </p:txBody>
      </p:sp>
      <p:sp>
        <p:nvSpPr>
          <p:cNvPr id="84" name="Shape 82"/>
          <p:cNvSpPr/>
          <p:nvPr/>
        </p:nvSpPr>
        <p:spPr>
          <a:xfrm>
            <a:off x="5080406" y="3758184"/>
            <a:ext cx="457200" cy="539496"/>
          </a:xfrm>
          <a:prstGeom prst="roundRect">
            <a:avLst>
              <a:gd name="adj" fmla="val 24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5171846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5171846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5251094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5251094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5330342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5330342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5409590" y="3717036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5409590" y="42976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5126126" y="38587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zh-CN" sz="1100" dirty="0"/>
          </a:p>
        </p:txBody>
      </p:sp>
      <p:sp>
        <p:nvSpPr>
          <p:cNvPr id="94" name="Shape 92"/>
          <p:cNvSpPr/>
          <p:nvPr/>
        </p:nvSpPr>
        <p:spPr>
          <a:xfrm>
            <a:off x="941832" y="4526280"/>
            <a:ext cx="4590288" cy="0"/>
          </a:xfrm>
          <a:prstGeom prst="line">
            <a:avLst/>
          </a:prstGeom>
          <a:noFill/>
          <a:ln w="15875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3236976" y="3419856"/>
            <a:ext cx="0" cy="256032"/>
          </a:xfrm>
          <a:prstGeom prst="line">
            <a:avLst/>
          </a:prstGeom>
          <a:noFill/>
          <a:ln w="16510">
            <a:solidFill>
              <a:srgbClr val="29B8A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932688" y="4782312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张卡协同处理同一实例的请求</a:t>
            </a:r>
            <a:endParaRPr lang="zh-CN" sz="1600" dirty="0"/>
          </a:p>
        </p:txBody>
      </p:sp>
      <p:sp>
        <p:nvSpPr>
          <p:cNvPr id="97" name="Text 95"/>
          <p:cNvSpPr/>
          <p:nvPr/>
        </p:nvSpPr>
        <p:spPr>
          <a:xfrm>
            <a:off x="932688" y="5340096"/>
            <a:ext cx="46451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8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份 Engram · 主机内存约 203GB</a:t>
            </a:r>
            <a:endParaRPr lang="zh-CN" sz="1480" dirty="0"/>
          </a:p>
        </p:txBody>
      </p:sp>
      <p:sp>
        <p:nvSpPr>
          <p:cNvPr id="98" name="Text 96"/>
          <p:cNvSpPr/>
          <p:nvPr/>
        </p:nvSpPr>
        <p:spPr>
          <a:xfrm>
            <a:off x="6492240" y="2404872"/>
            <a:ext cx="47731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TP4 实例</a:t>
            </a:r>
            <a:endParaRPr lang="zh-CN" sz="2500" dirty="0"/>
          </a:p>
        </p:txBody>
      </p:sp>
      <p:sp>
        <p:nvSpPr>
          <p:cNvPr id="99" name="Text 97"/>
          <p:cNvSpPr/>
          <p:nvPr/>
        </p:nvSpPr>
        <p:spPr>
          <a:xfrm>
            <a:off x="6492240" y="3355848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A · 10 人</a:t>
            </a:r>
            <a:endParaRPr lang="zh-CN" sz="1300" dirty="0"/>
          </a:p>
        </p:txBody>
      </p:sp>
      <p:sp>
        <p:nvSpPr>
          <p:cNvPr id="100" name="Shape 98"/>
          <p:cNvSpPr/>
          <p:nvPr/>
        </p:nvSpPr>
        <p:spPr>
          <a:xfrm>
            <a:off x="8348472" y="3246120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79A2F5"/>
            </a:solidFill>
            <a:prstDash val="solid"/>
          </a:ln>
        </p:spPr>
        <p:txBody>
          <a:bodyPr/>
          <a:p/>
        </p:txBody>
      </p:sp>
      <p:sp>
        <p:nvSpPr>
          <p:cNvPr id="101" name="Shape 99"/>
          <p:cNvSpPr/>
          <p:nvPr/>
        </p:nvSpPr>
        <p:spPr>
          <a:xfrm>
            <a:off x="8439912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8439912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8537448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" name="Shape 102"/>
          <p:cNvSpPr/>
          <p:nvPr/>
        </p:nvSpPr>
        <p:spPr>
          <a:xfrm>
            <a:off x="8537448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" name="Shape 103"/>
          <p:cNvSpPr/>
          <p:nvPr/>
        </p:nvSpPr>
        <p:spPr>
          <a:xfrm>
            <a:off x="8634984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" name="Shape 104"/>
          <p:cNvSpPr/>
          <p:nvPr/>
        </p:nvSpPr>
        <p:spPr>
          <a:xfrm>
            <a:off x="8634984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" name="Shape 105"/>
          <p:cNvSpPr/>
          <p:nvPr/>
        </p:nvSpPr>
        <p:spPr>
          <a:xfrm>
            <a:off x="8732520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8732520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8394192" y="3346704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100" dirty="0"/>
          </a:p>
        </p:txBody>
      </p:sp>
      <p:sp>
        <p:nvSpPr>
          <p:cNvPr id="110" name="Shape 108"/>
          <p:cNvSpPr/>
          <p:nvPr/>
        </p:nvSpPr>
        <p:spPr>
          <a:xfrm>
            <a:off x="9002268" y="3246120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79A2F5"/>
            </a:solidFill>
            <a:prstDash val="solid"/>
          </a:ln>
        </p:spPr>
        <p:txBody>
          <a:bodyPr/>
          <a:p/>
        </p:txBody>
      </p:sp>
      <p:sp>
        <p:nvSpPr>
          <p:cNvPr id="111" name="Shape 109"/>
          <p:cNvSpPr/>
          <p:nvPr/>
        </p:nvSpPr>
        <p:spPr>
          <a:xfrm>
            <a:off x="9093708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2" name="Shape 110"/>
          <p:cNvSpPr/>
          <p:nvPr/>
        </p:nvSpPr>
        <p:spPr>
          <a:xfrm>
            <a:off x="9093708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" name="Shape 111"/>
          <p:cNvSpPr/>
          <p:nvPr/>
        </p:nvSpPr>
        <p:spPr>
          <a:xfrm>
            <a:off x="9191244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4" name="Shape 112"/>
          <p:cNvSpPr/>
          <p:nvPr/>
        </p:nvSpPr>
        <p:spPr>
          <a:xfrm>
            <a:off x="9191244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5" name="Shape 113"/>
          <p:cNvSpPr/>
          <p:nvPr/>
        </p:nvSpPr>
        <p:spPr>
          <a:xfrm>
            <a:off x="9288780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6" name="Shape 114"/>
          <p:cNvSpPr/>
          <p:nvPr/>
        </p:nvSpPr>
        <p:spPr>
          <a:xfrm>
            <a:off x="9288780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" name="Shape 115"/>
          <p:cNvSpPr/>
          <p:nvPr/>
        </p:nvSpPr>
        <p:spPr>
          <a:xfrm>
            <a:off x="9386316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Shape 116"/>
          <p:cNvSpPr/>
          <p:nvPr/>
        </p:nvSpPr>
        <p:spPr>
          <a:xfrm>
            <a:off x="9386316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9" name="Text 117"/>
          <p:cNvSpPr/>
          <p:nvPr/>
        </p:nvSpPr>
        <p:spPr>
          <a:xfrm>
            <a:off x="9047988" y="3346704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zh-CN" sz="1100" dirty="0"/>
          </a:p>
        </p:txBody>
      </p:sp>
      <p:sp>
        <p:nvSpPr>
          <p:cNvPr id="120" name="Shape 118"/>
          <p:cNvSpPr/>
          <p:nvPr/>
        </p:nvSpPr>
        <p:spPr>
          <a:xfrm>
            <a:off x="9656064" y="3246120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79A2F5"/>
            </a:solidFill>
            <a:prstDash val="solid"/>
          </a:ln>
        </p:spPr>
        <p:txBody>
          <a:bodyPr/>
          <a:p/>
        </p:txBody>
      </p:sp>
      <p:sp>
        <p:nvSpPr>
          <p:cNvPr id="121" name="Shape 119"/>
          <p:cNvSpPr/>
          <p:nvPr/>
        </p:nvSpPr>
        <p:spPr>
          <a:xfrm>
            <a:off x="9747504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" name="Shape 120"/>
          <p:cNvSpPr/>
          <p:nvPr/>
        </p:nvSpPr>
        <p:spPr>
          <a:xfrm>
            <a:off x="9747504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" name="Shape 121"/>
          <p:cNvSpPr/>
          <p:nvPr/>
        </p:nvSpPr>
        <p:spPr>
          <a:xfrm>
            <a:off x="9845040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4" name="Shape 122"/>
          <p:cNvSpPr/>
          <p:nvPr/>
        </p:nvSpPr>
        <p:spPr>
          <a:xfrm>
            <a:off x="9845040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" name="Shape 123"/>
          <p:cNvSpPr/>
          <p:nvPr/>
        </p:nvSpPr>
        <p:spPr>
          <a:xfrm>
            <a:off x="9942576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6" name="Shape 124"/>
          <p:cNvSpPr/>
          <p:nvPr/>
        </p:nvSpPr>
        <p:spPr>
          <a:xfrm>
            <a:off x="9942576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7" name="Shape 125"/>
          <p:cNvSpPr/>
          <p:nvPr/>
        </p:nvSpPr>
        <p:spPr>
          <a:xfrm>
            <a:off x="10040112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8" name="Shape 126"/>
          <p:cNvSpPr/>
          <p:nvPr/>
        </p:nvSpPr>
        <p:spPr>
          <a:xfrm>
            <a:off x="10040112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9" name="Text 127"/>
          <p:cNvSpPr/>
          <p:nvPr/>
        </p:nvSpPr>
        <p:spPr>
          <a:xfrm>
            <a:off x="9701784" y="3346704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zh-CN" sz="1100" dirty="0"/>
          </a:p>
        </p:txBody>
      </p:sp>
      <p:sp>
        <p:nvSpPr>
          <p:cNvPr id="130" name="Shape 128"/>
          <p:cNvSpPr/>
          <p:nvPr/>
        </p:nvSpPr>
        <p:spPr>
          <a:xfrm>
            <a:off x="10309860" y="3246120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79A2F5"/>
            </a:solidFill>
            <a:prstDash val="solid"/>
          </a:ln>
        </p:spPr>
        <p:txBody>
          <a:bodyPr/>
          <a:p/>
        </p:txBody>
      </p:sp>
      <p:sp>
        <p:nvSpPr>
          <p:cNvPr id="131" name="Shape 129"/>
          <p:cNvSpPr/>
          <p:nvPr/>
        </p:nvSpPr>
        <p:spPr>
          <a:xfrm>
            <a:off x="10401300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2" name="Shape 130"/>
          <p:cNvSpPr/>
          <p:nvPr/>
        </p:nvSpPr>
        <p:spPr>
          <a:xfrm>
            <a:off x="10401300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3" name="Shape 131"/>
          <p:cNvSpPr/>
          <p:nvPr/>
        </p:nvSpPr>
        <p:spPr>
          <a:xfrm>
            <a:off x="10498836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4" name="Shape 132"/>
          <p:cNvSpPr/>
          <p:nvPr/>
        </p:nvSpPr>
        <p:spPr>
          <a:xfrm>
            <a:off x="10498836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5" name="Shape 133"/>
          <p:cNvSpPr/>
          <p:nvPr/>
        </p:nvSpPr>
        <p:spPr>
          <a:xfrm>
            <a:off x="10596372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6" name="Shape 134"/>
          <p:cNvSpPr/>
          <p:nvPr/>
        </p:nvSpPr>
        <p:spPr>
          <a:xfrm>
            <a:off x="10596372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7" name="Shape 135"/>
          <p:cNvSpPr/>
          <p:nvPr/>
        </p:nvSpPr>
        <p:spPr>
          <a:xfrm>
            <a:off x="10693908" y="3204972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8" name="Shape 136"/>
          <p:cNvSpPr/>
          <p:nvPr/>
        </p:nvSpPr>
        <p:spPr>
          <a:xfrm>
            <a:off x="10693908" y="3785616"/>
            <a:ext cx="36576" cy="41148"/>
          </a:xfrm>
          <a:prstGeom prst="rect">
            <a:avLst>
              <a:gd name="adj" fmla="val 300000"/>
            </a:avLst>
          </a:prstGeom>
          <a:solidFill>
            <a:srgbClr val="79A2F5"/>
          </a:solidFill>
          <a:ln w="10160">
            <a:solidFill>
              <a:srgbClr val="79A2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9" name="Text 137"/>
          <p:cNvSpPr/>
          <p:nvPr/>
        </p:nvSpPr>
        <p:spPr>
          <a:xfrm>
            <a:off x="10355580" y="3346704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zh-CN" sz="1100" dirty="0"/>
          </a:p>
        </p:txBody>
      </p:sp>
      <p:sp>
        <p:nvSpPr>
          <p:cNvPr id="140" name="Text 138"/>
          <p:cNvSpPr/>
          <p:nvPr/>
        </p:nvSpPr>
        <p:spPr>
          <a:xfrm>
            <a:off x="6492240" y="4288536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B · 10 人</a:t>
            </a:r>
            <a:endParaRPr lang="zh-CN" sz="1300" dirty="0"/>
          </a:p>
        </p:txBody>
      </p:sp>
      <p:sp>
        <p:nvSpPr>
          <p:cNvPr id="141" name="Shape 139"/>
          <p:cNvSpPr/>
          <p:nvPr/>
        </p:nvSpPr>
        <p:spPr>
          <a:xfrm>
            <a:off x="8348472" y="4178808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142" name="Shape 140"/>
          <p:cNvSpPr/>
          <p:nvPr/>
        </p:nvSpPr>
        <p:spPr>
          <a:xfrm>
            <a:off x="8439912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3" name="Shape 141"/>
          <p:cNvSpPr/>
          <p:nvPr/>
        </p:nvSpPr>
        <p:spPr>
          <a:xfrm>
            <a:off x="8439912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4" name="Shape 142"/>
          <p:cNvSpPr/>
          <p:nvPr/>
        </p:nvSpPr>
        <p:spPr>
          <a:xfrm>
            <a:off x="8537448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5" name="Shape 143"/>
          <p:cNvSpPr/>
          <p:nvPr/>
        </p:nvSpPr>
        <p:spPr>
          <a:xfrm>
            <a:off x="8537448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6" name="Shape 144"/>
          <p:cNvSpPr/>
          <p:nvPr/>
        </p:nvSpPr>
        <p:spPr>
          <a:xfrm>
            <a:off x="8634984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7" name="Shape 145"/>
          <p:cNvSpPr/>
          <p:nvPr/>
        </p:nvSpPr>
        <p:spPr>
          <a:xfrm>
            <a:off x="8634984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" name="Shape 146"/>
          <p:cNvSpPr/>
          <p:nvPr/>
        </p:nvSpPr>
        <p:spPr>
          <a:xfrm>
            <a:off x="8732520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9" name="Shape 147"/>
          <p:cNvSpPr/>
          <p:nvPr/>
        </p:nvSpPr>
        <p:spPr>
          <a:xfrm>
            <a:off x="8732520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" name="Text 148"/>
          <p:cNvSpPr/>
          <p:nvPr/>
        </p:nvSpPr>
        <p:spPr>
          <a:xfrm>
            <a:off x="8394192" y="4279392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zh-CN" sz="1100" dirty="0"/>
          </a:p>
        </p:txBody>
      </p:sp>
      <p:sp>
        <p:nvSpPr>
          <p:cNvPr id="151" name="Shape 149"/>
          <p:cNvSpPr/>
          <p:nvPr/>
        </p:nvSpPr>
        <p:spPr>
          <a:xfrm>
            <a:off x="9002268" y="4178808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152" name="Shape 150"/>
          <p:cNvSpPr/>
          <p:nvPr/>
        </p:nvSpPr>
        <p:spPr>
          <a:xfrm>
            <a:off x="9093708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" name="Shape 151"/>
          <p:cNvSpPr/>
          <p:nvPr/>
        </p:nvSpPr>
        <p:spPr>
          <a:xfrm>
            <a:off x="9093708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4" name="Shape 152"/>
          <p:cNvSpPr/>
          <p:nvPr/>
        </p:nvSpPr>
        <p:spPr>
          <a:xfrm>
            <a:off x="9191244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5" name="Shape 153"/>
          <p:cNvSpPr/>
          <p:nvPr/>
        </p:nvSpPr>
        <p:spPr>
          <a:xfrm>
            <a:off x="9191244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6" name="Shape 154"/>
          <p:cNvSpPr/>
          <p:nvPr/>
        </p:nvSpPr>
        <p:spPr>
          <a:xfrm>
            <a:off x="9288780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7" name="Shape 155"/>
          <p:cNvSpPr/>
          <p:nvPr/>
        </p:nvSpPr>
        <p:spPr>
          <a:xfrm>
            <a:off x="9288780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8" name="Shape 156"/>
          <p:cNvSpPr/>
          <p:nvPr/>
        </p:nvSpPr>
        <p:spPr>
          <a:xfrm>
            <a:off x="9386316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9" name="Shape 157"/>
          <p:cNvSpPr/>
          <p:nvPr/>
        </p:nvSpPr>
        <p:spPr>
          <a:xfrm>
            <a:off x="9386316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Text 158"/>
          <p:cNvSpPr/>
          <p:nvPr/>
        </p:nvSpPr>
        <p:spPr>
          <a:xfrm>
            <a:off x="9047988" y="4279392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zh-CN" sz="1100" dirty="0"/>
          </a:p>
        </p:txBody>
      </p:sp>
      <p:sp>
        <p:nvSpPr>
          <p:cNvPr id="161" name="Shape 159"/>
          <p:cNvSpPr/>
          <p:nvPr/>
        </p:nvSpPr>
        <p:spPr>
          <a:xfrm>
            <a:off x="9656064" y="4178808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162" name="Shape 160"/>
          <p:cNvSpPr/>
          <p:nvPr/>
        </p:nvSpPr>
        <p:spPr>
          <a:xfrm>
            <a:off x="9747504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Shape 161"/>
          <p:cNvSpPr/>
          <p:nvPr/>
        </p:nvSpPr>
        <p:spPr>
          <a:xfrm>
            <a:off x="9747504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4" name="Shape 162"/>
          <p:cNvSpPr/>
          <p:nvPr/>
        </p:nvSpPr>
        <p:spPr>
          <a:xfrm>
            <a:off x="9845040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5" name="Shape 163"/>
          <p:cNvSpPr/>
          <p:nvPr/>
        </p:nvSpPr>
        <p:spPr>
          <a:xfrm>
            <a:off x="9845040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Shape 164"/>
          <p:cNvSpPr/>
          <p:nvPr/>
        </p:nvSpPr>
        <p:spPr>
          <a:xfrm>
            <a:off x="9942576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7" name="Shape 165"/>
          <p:cNvSpPr/>
          <p:nvPr/>
        </p:nvSpPr>
        <p:spPr>
          <a:xfrm>
            <a:off x="9942576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8" name="Shape 166"/>
          <p:cNvSpPr/>
          <p:nvPr/>
        </p:nvSpPr>
        <p:spPr>
          <a:xfrm>
            <a:off x="10040112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9" name="Shape 167"/>
          <p:cNvSpPr/>
          <p:nvPr/>
        </p:nvSpPr>
        <p:spPr>
          <a:xfrm>
            <a:off x="10040112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0" name="Text 168"/>
          <p:cNvSpPr/>
          <p:nvPr/>
        </p:nvSpPr>
        <p:spPr>
          <a:xfrm>
            <a:off x="9701784" y="4279392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zh-CN" sz="1100" dirty="0"/>
          </a:p>
        </p:txBody>
      </p:sp>
      <p:sp>
        <p:nvSpPr>
          <p:cNvPr id="171" name="Shape 169"/>
          <p:cNvSpPr/>
          <p:nvPr/>
        </p:nvSpPr>
        <p:spPr>
          <a:xfrm>
            <a:off x="10309860" y="4178808"/>
            <a:ext cx="512064" cy="539496"/>
          </a:xfrm>
          <a:prstGeom prst="roundRect">
            <a:avLst>
              <a:gd name="adj" fmla="val 21429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172" name="Shape 170"/>
          <p:cNvSpPr/>
          <p:nvPr/>
        </p:nvSpPr>
        <p:spPr>
          <a:xfrm>
            <a:off x="10401300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3" name="Shape 171"/>
          <p:cNvSpPr/>
          <p:nvPr/>
        </p:nvSpPr>
        <p:spPr>
          <a:xfrm>
            <a:off x="10401300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4" name="Shape 172"/>
          <p:cNvSpPr/>
          <p:nvPr/>
        </p:nvSpPr>
        <p:spPr>
          <a:xfrm>
            <a:off x="10498836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5" name="Shape 173"/>
          <p:cNvSpPr/>
          <p:nvPr/>
        </p:nvSpPr>
        <p:spPr>
          <a:xfrm>
            <a:off x="10498836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6" name="Shape 174"/>
          <p:cNvSpPr/>
          <p:nvPr/>
        </p:nvSpPr>
        <p:spPr>
          <a:xfrm>
            <a:off x="10596372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7" name="Shape 175"/>
          <p:cNvSpPr/>
          <p:nvPr/>
        </p:nvSpPr>
        <p:spPr>
          <a:xfrm>
            <a:off x="10596372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8" name="Shape 176"/>
          <p:cNvSpPr/>
          <p:nvPr/>
        </p:nvSpPr>
        <p:spPr>
          <a:xfrm>
            <a:off x="10693908" y="413766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9" name="Shape 177"/>
          <p:cNvSpPr/>
          <p:nvPr/>
        </p:nvSpPr>
        <p:spPr>
          <a:xfrm>
            <a:off x="10693908" y="4718304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0" name="Text 178"/>
          <p:cNvSpPr/>
          <p:nvPr/>
        </p:nvSpPr>
        <p:spPr>
          <a:xfrm>
            <a:off x="10355580" y="4279392"/>
            <a:ext cx="420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zh-CN" sz="1100" dirty="0"/>
          </a:p>
        </p:txBody>
      </p:sp>
      <p:sp>
        <p:nvSpPr>
          <p:cNvPr id="181" name="Text 179"/>
          <p:cNvSpPr/>
          <p:nvPr/>
        </p:nvSpPr>
        <p:spPr>
          <a:xfrm>
            <a:off x="6510528" y="47823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两组队列，各自保留 KV Cache</a:t>
            </a:r>
            <a:endParaRPr lang="zh-CN" sz="1600" dirty="0"/>
          </a:p>
        </p:txBody>
      </p:sp>
      <p:sp>
        <p:nvSpPr>
          <p:cNvPr id="182" name="Text 180"/>
          <p:cNvSpPr/>
          <p:nvPr/>
        </p:nvSpPr>
        <p:spPr>
          <a:xfrm>
            <a:off x="6510528" y="53400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独立双服务：2 份 Engram，约 406GB</a:t>
            </a:r>
            <a:endParaRPr lang="zh-CN" sz="1480" dirty="0"/>
          </a:p>
        </p:txBody>
      </p:sp>
      <p:sp>
        <p:nvSpPr>
          <p:cNvPr id="183" name="Text 181"/>
          <p:cNvSpPr/>
          <p:nvPr/>
        </p:nvSpPr>
        <p:spPr>
          <a:xfrm>
            <a:off x="795528" y="6044184"/>
            <a:ext cx="10844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4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最终选择要看：20 路的每路速度，以及长上下文工具返回后的等待。</a:t>
            </a:r>
            <a:endParaRPr lang="zh-CN" sz="1540" dirty="0"/>
          </a:p>
        </p:txBody>
      </p:sp>
      <p:sp>
        <p:nvSpPr>
          <p:cNvPr id="184" name="Revision text 184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12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活跃与保留会话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路生成，不等于只保留 20 份上下文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Excel 计算或检索的任务，如果要直接继续推理，也需要保留各自缓存。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19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来源：讲稿 二.4–5；handoff 三、五。分层方案见下一页；缓存取回算例见第25页。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2157984"/>
            <a:ext cx="3145536" cy="2368296"/>
          </a:xfrm>
          <a:prstGeom prst="roundRect">
            <a:avLst>
              <a:gd name="adj" fmla="val 4633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386584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55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zh-CN" sz="5500" dirty="0"/>
          </a:p>
        </p:txBody>
      </p:sp>
      <p:sp>
        <p:nvSpPr>
          <p:cNvPr id="11" name="Text 9"/>
          <p:cNvSpPr/>
          <p:nvPr/>
        </p:nvSpPr>
        <p:spPr>
          <a:xfrm>
            <a:off x="777240" y="33009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 decode</a:t>
            </a:r>
            <a:endParaRPr lang="zh-CN" sz="1700" dirty="0"/>
          </a:p>
        </p:txBody>
      </p:sp>
      <p:sp>
        <p:nvSpPr>
          <p:cNvPr id="12" name="Shape 10"/>
          <p:cNvSpPr/>
          <p:nvPr/>
        </p:nvSpPr>
        <p:spPr>
          <a:xfrm>
            <a:off x="969264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216152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463040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709928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956816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203704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450592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697480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944368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191256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9264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216152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463040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709928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956816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2203704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450592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697480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944368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191256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489704" y="2157984"/>
            <a:ext cx="3145536" cy="2368296"/>
          </a:xfrm>
          <a:prstGeom prst="roundRect">
            <a:avLst>
              <a:gd name="adj" fmla="val 463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690872" y="2386584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55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zh-CN" sz="5500" dirty="0"/>
          </a:p>
        </p:txBody>
      </p:sp>
      <p:sp>
        <p:nvSpPr>
          <p:cNvPr id="34" name="Text 32"/>
          <p:cNvSpPr/>
          <p:nvPr/>
        </p:nvSpPr>
        <p:spPr>
          <a:xfrm>
            <a:off x="4645152" y="33009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正在等待工具</a:t>
            </a:r>
            <a:endParaRPr lang="zh-CN" sz="1700" dirty="0"/>
          </a:p>
        </p:txBody>
      </p:sp>
      <p:sp>
        <p:nvSpPr>
          <p:cNvPr id="35" name="Shape 33"/>
          <p:cNvSpPr/>
          <p:nvPr/>
        </p:nvSpPr>
        <p:spPr>
          <a:xfrm>
            <a:off x="4837176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084064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330952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577840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824728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071616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318504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565392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812280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059168" y="3840480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4837176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5084064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5330952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577840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5824728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6071616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318504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6565392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6812280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059168" y="4050792"/>
            <a:ext cx="155448" cy="109728"/>
          </a:xfrm>
          <a:prstGeom prst="rect">
            <a:avLst>
              <a:gd name="adj" fmla="val 100000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8375904" y="2157984"/>
            <a:ext cx="3145536" cy="2368296"/>
          </a:xfrm>
          <a:prstGeom prst="roundRect">
            <a:avLst>
              <a:gd name="adj" fmla="val 4633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577072" y="2386584"/>
            <a:ext cx="2743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55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zh-CN" sz="5500" dirty="0"/>
          </a:p>
        </p:txBody>
      </p:sp>
      <p:sp>
        <p:nvSpPr>
          <p:cNvPr id="57" name="Text 55"/>
          <p:cNvSpPr/>
          <p:nvPr/>
        </p:nvSpPr>
        <p:spPr>
          <a:xfrm>
            <a:off x="8531352" y="33009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需要保留的上下文</a:t>
            </a:r>
            <a:endParaRPr lang="zh-CN" sz="1700" dirty="0"/>
          </a:p>
        </p:txBody>
      </p:sp>
      <p:sp>
        <p:nvSpPr>
          <p:cNvPr id="58" name="Text 56"/>
          <p:cNvSpPr/>
          <p:nvPr/>
        </p:nvSpPr>
        <p:spPr>
          <a:xfrm>
            <a:off x="8604504" y="3950208"/>
            <a:ext cx="2688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按缓存容量分别预算</a:t>
            </a:r>
            <a:endParaRPr lang="zh-CN" sz="1300" dirty="0"/>
          </a:p>
        </p:txBody>
      </p:sp>
      <p:sp>
        <p:nvSpPr>
          <p:cNvPr id="59" name="Text 57"/>
          <p:cNvSpPr/>
          <p:nvPr/>
        </p:nvSpPr>
        <p:spPr>
          <a:xfrm>
            <a:off x="3877056" y="2971800"/>
            <a:ext cx="457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34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zh-CN" sz="3400" dirty="0"/>
          </a:p>
        </p:txBody>
      </p:sp>
      <p:sp>
        <p:nvSpPr>
          <p:cNvPr id="60" name="Text 58"/>
          <p:cNvSpPr/>
          <p:nvPr/>
        </p:nvSpPr>
        <p:spPr>
          <a:xfrm>
            <a:off x="7763256" y="2971800"/>
            <a:ext cx="457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34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zh-CN" sz="3400" dirty="0"/>
          </a:p>
        </p:txBody>
      </p:sp>
      <p:sp>
        <p:nvSpPr>
          <p:cNvPr id="61" name="Shape 59"/>
          <p:cNvSpPr/>
          <p:nvPr/>
        </p:nvSpPr>
        <p:spPr>
          <a:xfrm>
            <a:off x="621792" y="4828032"/>
            <a:ext cx="5340096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6217920" y="4828032"/>
            <a:ext cx="5303520" cy="1115568"/>
          </a:xfrm>
          <a:prstGeom prst="roundRect">
            <a:avLst>
              <a:gd name="adj" fmla="val 9836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68680" y="5056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优先运行任务，闲置状态分层保存</a:t>
            </a:r>
            <a:endParaRPr lang="zh-CN" sz="1470" dirty="0"/>
          </a:p>
        </p:txBody>
      </p:sp>
      <p:sp>
        <p:nvSpPr>
          <p:cNvPr id="64" name="Text 62"/>
          <p:cNvSpPr/>
          <p:nvPr/>
        </p:nvSpPr>
        <p:spPr>
          <a:xfrm>
            <a:off x="868680" y="5522976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个生成 + 20 个等待 = 40 份会话状态</a:t>
            </a:r>
            <a:endParaRPr lang="zh-CN" sz="1330" dirty="0"/>
          </a:p>
        </p:txBody>
      </p:sp>
      <p:sp>
        <p:nvSpPr>
          <p:cNvPr id="65" name="Text 63"/>
          <p:cNvSpPr/>
          <p:nvPr/>
        </p:nvSpPr>
        <p:spPr>
          <a:xfrm>
            <a:off x="6473952" y="5047488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路 × 20 token/s = 400 token/s</a:t>
            </a:r>
            <a:endParaRPr lang="zh-CN" sz="1900" dirty="0"/>
          </a:p>
        </p:txBody>
      </p:sp>
      <p:sp>
        <p:nvSpPr>
          <p:cNvPr id="66" name="Text 64"/>
          <p:cNvSpPr/>
          <p:nvPr/>
        </p:nvSpPr>
        <p:spPr>
          <a:xfrm>
            <a:off x="6473952" y="5532120"/>
            <a:ext cx="4745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这是系统持续输出目标，不是已验证结果</a:t>
            </a:r>
            <a:endParaRPr lang="zh-CN" sz="1320" dirty="0"/>
          </a:p>
        </p:txBody>
      </p:sp>
      <p:sp>
        <p:nvSpPr>
          <p:cNvPr id="67" name="Revision text 67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14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性能证据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公开回放很快，但还不能替代 20 路满 1M 的实测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容量通过筛选后，需要用真实长上下文与工具返回负载比较两种布局。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来源：AgentX公开回放汇总与讲稿二.5。高前缀命中、预设草稿接受行为；详见附录C（30页）。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39696"/>
            <a:ext cx="5541264" cy="3776472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32104" y="2395728"/>
            <a:ext cx="2185416" cy="274320"/>
          </a:xfrm>
          <a:prstGeom prst="roundRect">
            <a:avLst>
              <a:gd name="adj" fmla="val 40000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05256" y="2427732"/>
            <a:ext cx="2039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公开参照 · H200 TP8</a:t>
            </a:r>
            <a:endParaRPr lang="zh-CN" sz="1050" dirty="0"/>
          </a:p>
        </p:txBody>
      </p:sp>
      <p:sp>
        <p:nvSpPr>
          <p:cNvPr id="12" name="Text 10"/>
          <p:cNvSpPr/>
          <p:nvPr/>
        </p:nvSpPr>
        <p:spPr>
          <a:xfrm>
            <a:off x="3419856" y="24323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个回放会话</a:t>
            </a:r>
            <a:endParaRPr lang="zh-CN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2944368"/>
            <a:ext cx="2487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7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1,052</a:t>
            </a:r>
            <a:endParaRPr lang="zh-CN" sz="4700" dirty="0"/>
          </a:p>
        </p:txBody>
      </p:sp>
      <p:sp>
        <p:nvSpPr>
          <p:cNvPr id="14" name="Text 12"/>
          <p:cNvSpPr/>
          <p:nvPr/>
        </p:nvSpPr>
        <p:spPr>
          <a:xfrm>
            <a:off x="3730752" y="2944368"/>
            <a:ext cx="21122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7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2.63</a:t>
            </a:r>
            <a:endParaRPr lang="zh-CN" sz="4700" dirty="0"/>
          </a:p>
        </p:txBody>
      </p:sp>
      <p:sp>
        <p:nvSpPr>
          <p:cNvPr id="15" name="Text 13"/>
          <p:cNvSpPr/>
          <p:nvPr/>
        </p:nvSpPr>
        <p:spPr>
          <a:xfrm>
            <a:off x="896112" y="3739896"/>
            <a:ext cx="2487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token/s · 系统总输出</a:t>
            </a:r>
            <a:endParaRPr lang="zh-CN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3739896"/>
            <a:ext cx="2121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 · p95 首 token 等待</a:t>
            </a:r>
            <a:endParaRPr lang="zh-CN" sz="1280" dirty="0"/>
          </a:p>
        </p:txBody>
      </p:sp>
      <p:sp>
        <p:nvSpPr>
          <p:cNvPr id="17" name="Shape 15"/>
          <p:cNvSpPr/>
          <p:nvPr/>
        </p:nvSpPr>
        <p:spPr>
          <a:xfrm>
            <a:off x="905256" y="4279392"/>
            <a:ext cx="4901184" cy="0"/>
          </a:xfrm>
          <a:prstGeom prst="line">
            <a:avLst/>
          </a:prstGeom>
          <a:noFill/>
          <a:ln w="1143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5256" y="4590288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输入约 140K–157K，前缀命中约 95%</a:t>
            </a:r>
            <a:endParaRPr lang="zh-CN" sz="1500" dirty="0"/>
          </a:p>
        </p:txBody>
      </p:sp>
      <p:sp>
        <p:nvSpPr>
          <p:cNvPr id="19" name="Text 17"/>
          <p:cNvSpPr/>
          <p:nvPr/>
        </p:nvSpPr>
        <p:spPr>
          <a:xfrm>
            <a:off x="905256" y="5212080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DSpark5；平均接受长度预设为 3.51</a:t>
            </a:r>
            <a:endParaRPr lang="zh-CN" sz="1500" dirty="0"/>
          </a:p>
        </p:txBody>
      </p:sp>
      <p:sp>
        <p:nvSpPr>
          <p:cNvPr id="20" name="Shape 18"/>
          <p:cNvSpPr/>
          <p:nvPr/>
        </p:nvSpPr>
        <p:spPr>
          <a:xfrm>
            <a:off x="6382512" y="2139696"/>
            <a:ext cx="5221224" cy="3776472"/>
          </a:xfrm>
          <a:prstGeom prst="roundRect">
            <a:avLst>
              <a:gd name="adj" fmla="val 2906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638544" y="2395728"/>
            <a:ext cx="923544" cy="274320"/>
          </a:xfrm>
          <a:prstGeom prst="roundRect">
            <a:avLst>
              <a:gd name="adj" fmla="val 40000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11696" y="242773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b="1" dirty="0">
                <a:solidFill>
                  <a:srgbClr val="F1C7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待验证</a:t>
            </a:r>
            <a:endParaRPr lang="zh-CN" sz="1050" dirty="0"/>
          </a:p>
        </p:txBody>
      </p:sp>
      <p:sp>
        <p:nvSpPr>
          <p:cNvPr id="23" name="Text 21"/>
          <p:cNvSpPr/>
          <p:nvPr/>
        </p:nvSpPr>
        <p:spPr>
          <a:xfrm>
            <a:off x="6656832" y="2916936"/>
            <a:ext cx="4672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路 × 1M</a:t>
            </a:r>
            <a:endParaRPr lang="zh-CN" sz="3600" dirty="0"/>
          </a:p>
        </p:txBody>
      </p:sp>
      <p:sp>
        <p:nvSpPr>
          <p:cNvPr id="24" name="Text 22"/>
          <p:cNvSpPr/>
          <p:nvPr/>
        </p:nvSpPr>
        <p:spPr>
          <a:xfrm>
            <a:off x="6675120" y="3703320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</a:t>
            </a:r>
            <a:endParaRPr lang="zh-CN" sz="1350" dirty="0"/>
          </a:p>
        </p:txBody>
      </p:sp>
      <p:sp>
        <p:nvSpPr>
          <p:cNvPr id="25" name="Text 23"/>
          <p:cNvSpPr/>
          <p:nvPr/>
        </p:nvSpPr>
        <p:spPr>
          <a:xfrm>
            <a:off x="8138160" y="3703320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TP8  vs  双 TP4</a:t>
            </a:r>
            <a:endParaRPr lang="zh-CN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4261104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zh-CN" sz="1350" dirty="0"/>
          </a:p>
        </p:txBody>
      </p:sp>
      <p:sp>
        <p:nvSpPr>
          <p:cNvPr id="27" name="Text 25"/>
          <p:cNvSpPr/>
          <p:nvPr/>
        </p:nvSpPr>
        <p:spPr>
          <a:xfrm>
            <a:off x="8138160" y="4261104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512K  /  1M</a:t>
            </a:r>
            <a:endParaRPr lang="zh-CN" sz="1600" dirty="0"/>
          </a:p>
        </p:txBody>
      </p:sp>
      <p:sp>
        <p:nvSpPr>
          <p:cNvPr id="28" name="Text 26"/>
          <p:cNvSpPr/>
          <p:nvPr/>
        </p:nvSpPr>
        <p:spPr>
          <a:xfrm>
            <a:off x="6675120" y="4818888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工具返回</a:t>
            </a:r>
            <a:endParaRPr lang="zh-CN" sz="1350" dirty="0"/>
          </a:p>
        </p:txBody>
      </p:sp>
      <p:sp>
        <p:nvSpPr>
          <p:cNvPr id="29" name="Text 27"/>
          <p:cNvSpPr/>
          <p:nvPr/>
        </p:nvSpPr>
        <p:spPr>
          <a:xfrm>
            <a:off x="8138160" y="4818888"/>
            <a:ext cx="3035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1K  /  8K</a:t>
            </a:r>
            <a:endParaRPr lang="zh-CN" sz="1600" dirty="0"/>
          </a:p>
        </p:txBody>
      </p:sp>
      <p:sp>
        <p:nvSpPr>
          <p:cNvPr id="30" name="Text 28"/>
          <p:cNvSpPr/>
          <p:nvPr/>
        </p:nvSpPr>
        <p:spPr>
          <a:xfrm>
            <a:off x="6675120" y="5559552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5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比较每路 decode + 工具返回后的 TTFT</a:t>
            </a:r>
            <a:endParaRPr lang="zh-CN" sz="1250" dirty="0"/>
          </a:p>
        </p:txBody>
      </p:sp>
      <p:sp>
        <p:nvSpPr>
          <p:cNvPr id="31" name="Revision text 31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15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服务器预算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公司候选：八卡 H200；已有 A100 按复用成本评估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整机交付预算；CPU、主机内存与机内互联随下方列示，完整配置见附录 D（第31页）。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来源：handoff整机配置与报价入口；2026-10-12预算，假设 USD/CNY=7.00。详见第31页。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34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2103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完整服务器</a:t>
            </a:r>
            <a:endParaRPr lang="zh-CN" sz="1550" dirty="0"/>
          </a:p>
        </p:txBody>
      </p:sp>
      <p:sp>
        <p:nvSpPr>
          <p:cNvPr id="10" name="Text 8"/>
          <p:cNvSpPr/>
          <p:nvPr/>
        </p:nvSpPr>
        <p:spPr>
          <a:xfrm>
            <a:off x="3657600" y="2103120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交付预算范围</a:t>
            </a:r>
            <a:endParaRPr lang="zh-CN" sz="1550" dirty="0"/>
          </a:p>
        </p:txBody>
      </p:sp>
      <p:sp>
        <p:nvSpPr>
          <p:cNvPr id="11" name="Text 9"/>
          <p:cNvSpPr/>
          <p:nvPr/>
        </p:nvSpPr>
        <p:spPr>
          <a:xfrm>
            <a:off x="9473184" y="21031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人民币万元</a:t>
            </a:r>
            <a:endParaRPr lang="zh-CN" sz="1340" dirty="0"/>
          </a:p>
        </p:txBody>
      </p:sp>
      <p:sp>
        <p:nvSpPr>
          <p:cNvPr id="12" name="Shape 10"/>
          <p:cNvSpPr/>
          <p:nvPr/>
        </p:nvSpPr>
        <p:spPr>
          <a:xfrm>
            <a:off x="3749040" y="2596896"/>
            <a:ext cx="0" cy="251460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66160" y="51846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000" dirty="0"/>
          </a:p>
        </p:txBody>
      </p:sp>
      <p:sp>
        <p:nvSpPr>
          <p:cNvPr id="14" name="Shape 12"/>
          <p:cNvSpPr/>
          <p:nvPr/>
        </p:nvSpPr>
        <p:spPr>
          <a:xfrm>
            <a:off x="5361709" y="2596896"/>
            <a:ext cx="0" cy="251460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78829" y="51846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zh-CN" sz="1000" dirty="0"/>
          </a:p>
        </p:txBody>
      </p:sp>
      <p:sp>
        <p:nvSpPr>
          <p:cNvPr id="16" name="Shape 14"/>
          <p:cNvSpPr/>
          <p:nvPr/>
        </p:nvSpPr>
        <p:spPr>
          <a:xfrm>
            <a:off x="6974378" y="2596896"/>
            <a:ext cx="0" cy="251460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91498" y="51846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zh-CN" sz="1000" dirty="0"/>
          </a:p>
        </p:txBody>
      </p:sp>
      <p:sp>
        <p:nvSpPr>
          <p:cNvPr id="18" name="Shape 16"/>
          <p:cNvSpPr/>
          <p:nvPr/>
        </p:nvSpPr>
        <p:spPr>
          <a:xfrm>
            <a:off x="8587047" y="2596896"/>
            <a:ext cx="0" cy="251460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404167" y="51846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zh-CN" sz="1000" dirty="0"/>
          </a:p>
        </p:txBody>
      </p:sp>
      <p:sp>
        <p:nvSpPr>
          <p:cNvPr id="20" name="Text 18"/>
          <p:cNvSpPr/>
          <p:nvPr/>
        </p:nvSpPr>
        <p:spPr>
          <a:xfrm>
            <a:off x="795528" y="2706624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8×A100</a:t>
            </a:r>
            <a:endParaRPr lang="zh-CN" sz="1900" dirty="0"/>
          </a:p>
        </p:txBody>
      </p:sp>
      <p:sp>
        <p:nvSpPr>
          <p:cNvPr id="21" name="Text 19"/>
          <p:cNvSpPr/>
          <p:nvPr/>
        </p:nvSpPr>
        <p:spPr>
          <a:xfrm>
            <a:off x="2139696" y="27660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80GB SXM4 · 翻新</a:t>
            </a:r>
            <a:endParaRPr lang="zh-CN" sz="1050" dirty="0"/>
          </a:p>
        </p:txBody>
      </p:sp>
      <p:sp>
        <p:nvSpPr>
          <p:cNvPr id="22" name="Shape 20"/>
          <p:cNvSpPr/>
          <p:nvPr/>
        </p:nvSpPr>
        <p:spPr>
          <a:xfrm>
            <a:off x="3749040" y="2862072"/>
            <a:ext cx="1644922" cy="0"/>
          </a:xfrm>
          <a:prstGeom prst="line">
            <a:avLst/>
          </a:prstGeom>
          <a:noFill/>
          <a:ln w="2540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216569" y="2862072"/>
            <a:ext cx="177394" cy="0"/>
          </a:xfrm>
          <a:prstGeom prst="line">
            <a:avLst/>
          </a:prstGeom>
          <a:noFill/>
          <a:ln w="88900">
            <a:solidFill>
              <a:srgbClr val="A5B5B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173592" y="2819095"/>
            <a:ext cx="85954" cy="85954"/>
          </a:xfrm>
          <a:prstGeom prst="ellipse">
            <a:avLst/>
          </a:prstGeom>
          <a:solidFill>
            <a:srgbClr val="A5B5BF"/>
          </a:solidFill>
          <a:ln w="12700">
            <a:solidFill>
              <a:srgbClr val="A5B5B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350986" y="2819095"/>
            <a:ext cx="85954" cy="85954"/>
          </a:xfrm>
          <a:prstGeom prst="ellipse">
            <a:avLst/>
          </a:prstGeom>
          <a:solidFill>
            <a:srgbClr val="A5B5BF"/>
          </a:solidFill>
          <a:ln w="12700">
            <a:solidFill>
              <a:srgbClr val="A5B5B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26880" y="2660904"/>
            <a:ext cx="2130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91–102</a:t>
            </a:r>
            <a:endParaRPr lang="zh-CN" sz="2400" dirty="0"/>
          </a:p>
        </p:txBody>
      </p:sp>
      <p:sp>
        <p:nvSpPr>
          <p:cNvPr id="27" name="Text 25"/>
          <p:cNvSpPr/>
          <p:nvPr/>
        </p:nvSpPr>
        <p:spPr>
          <a:xfrm>
            <a:off x="795528" y="3328416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8×H100</a:t>
            </a:r>
            <a:endParaRPr lang="zh-CN" sz="1900" dirty="0"/>
          </a:p>
        </p:txBody>
      </p:sp>
      <p:sp>
        <p:nvSpPr>
          <p:cNvPr id="28" name="Text 26"/>
          <p:cNvSpPr/>
          <p:nvPr/>
        </p:nvSpPr>
        <p:spPr>
          <a:xfrm>
            <a:off x="2139696" y="33878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80GB SXM5</a:t>
            </a:r>
            <a:endParaRPr lang="zh-CN" sz="1050" dirty="0"/>
          </a:p>
        </p:txBody>
      </p:sp>
      <p:sp>
        <p:nvSpPr>
          <p:cNvPr id="29" name="Shape 27"/>
          <p:cNvSpPr/>
          <p:nvPr/>
        </p:nvSpPr>
        <p:spPr>
          <a:xfrm>
            <a:off x="3749040" y="3483864"/>
            <a:ext cx="4805754" cy="0"/>
          </a:xfrm>
          <a:prstGeom prst="line">
            <a:avLst/>
          </a:prstGeom>
          <a:noFill/>
          <a:ln w="2540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345147" y="3483864"/>
            <a:ext cx="209647" cy="0"/>
          </a:xfrm>
          <a:prstGeom prst="line">
            <a:avLst/>
          </a:prstGeom>
          <a:noFill/>
          <a:ln w="88900">
            <a:solidFill>
              <a:srgbClr val="A5B5B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302170" y="3440887"/>
            <a:ext cx="85954" cy="85954"/>
          </a:xfrm>
          <a:prstGeom prst="ellipse">
            <a:avLst/>
          </a:prstGeom>
          <a:solidFill>
            <a:srgbClr val="A5B5BF"/>
          </a:solidFill>
          <a:ln w="12700">
            <a:solidFill>
              <a:srgbClr val="A5B5B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511817" y="3440887"/>
            <a:ext cx="85954" cy="85954"/>
          </a:xfrm>
          <a:prstGeom prst="ellipse">
            <a:avLst/>
          </a:prstGeom>
          <a:solidFill>
            <a:srgbClr val="A5B5BF"/>
          </a:solidFill>
          <a:ln w="12700">
            <a:solidFill>
              <a:srgbClr val="A5B5B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326880" y="3282696"/>
            <a:ext cx="2130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285–298</a:t>
            </a:r>
            <a:endParaRPr lang="zh-CN" sz="2400" dirty="0"/>
          </a:p>
        </p:txBody>
      </p:sp>
      <p:sp>
        <p:nvSpPr>
          <p:cNvPr id="34" name="Text 32"/>
          <p:cNvSpPr/>
          <p:nvPr/>
        </p:nvSpPr>
        <p:spPr>
          <a:xfrm>
            <a:off x="795528" y="3950208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4×H200</a:t>
            </a:r>
            <a:endParaRPr lang="zh-CN" sz="1900" dirty="0"/>
          </a:p>
        </p:txBody>
      </p:sp>
      <p:sp>
        <p:nvSpPr>
          <p:cNvPr id="35" name="Text 33"/>
          <p:cNvSpPr/>
          <p:nvPr/>
        </p:nvSpPr>
        <p:spPr>
          <a:xfrm>
            <a:off x="2139696" y="40096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141GB NVL</a:t>
            </a:r>
            <a:endParaRPr lang="zh-CN" sz="1050" dirty="0"/>
          </a:p>
        </p:txBody>
      </p:sp>
      <p:sp>
        <p:nvSpPr>
          <p:cNvPr id="36" name="Shape 34"/>
          <p:cNvSpPr/>
          <p:nvPr/>
        </p:nvSpPr>
        <p:spPr>
          <a:xfrm>
            <a:off x="3749040" y="4105656"/>
            <a:ext cx="4563854" cy="0"/>
          </a:xfrm>
          <a:prstGeom prst="line">
            <a:avLst/>
          </a:prstGeom>
          <a:noFill/>
          <a:ln w="2540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345437" y="4105656"/>
            <a:ext cx="1967456" cy="0"/>
          </a:xfrm>
          <a:prstGeom prst="line">
            <a:avLst/>
          </a:prstGeom>
          <a:noFill/>
          <a:ln w="88900">
            <a:solidFill>
              <a:srgbClr val="2D62C5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302460" y="4062679"/>
            <a:ext cx="85954" cy="85954"/>
          </a:xfrm>
          <a:prstGeom prst="ellipse">
            <a:avLst/>
          </a:prstGeom>
          <a:solidFill>
            <a:srgbClr val="2D62C5"/>
          </a:solidFill>
          <a:ln w="1270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269917" y="4062679"/>
            <a:ext cx="85954" cy="85954"/>
          </a:xfrm>
          <a:prstGeom prst="ellipse">
            <a:avLst/>
          </a:prstGeom>
          <a:solidFill>
            <a:srgbClr val="2D62C5"/>
          </a:solidFill>
          <a:ln w="1270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326880" y="3904488"/>
            <a:ext cx="2130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161–283</a:t>
            </a:r>
            <a:endParaRPr lang="zh-CN" sz="2400" dirty="0"/>
          </a:p>
        </p:txBody>
      </p:sp>
      <p:sp>
        <p:nvSpPr>
          <p:cNvPr id="41" name="Shape 39"/>
          <p:cNvSpPr/>
          <p:nvPr/>
        </p:nvSpPr>
        <p:spPr>
          <a:xfrm>
            <a:off x="612648" y="4498848"/>
            <a:ext cx="10991088" cy="576072"/>
          </a:xfrm>
          <a:prstGeom prst="roundRect">
            <a:avLst>
              <a:gd name="adj" fmla="val 19048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95528" y="4572000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8×H200</a:t>
            </a:r>
            <a:endParaRPr lang="zh-CN" sz="1900" dirty="0"/>
          </a:p>
        </p:txBody>
      </p:sp>
      <p:sp>
        <p:nvSpPr>
          <p:cNvPr id="43" name="Text 41"/>
          <p:cNvSpPr/>
          <p:nvPr/>
        </p:nvSpPr>
        <p:spPr>
          <a:xfrm>
            <a:off x="2139696" y="46314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141GB SXM</a:t>
            </a:r>
            <a:endParaRPr lang="zh-CN" sz="1050" dirty="0"/>
          </a:p>
        </p:txBody>
      </p:sp>
      <p:sp>
        <p:nvSpPr>
          <p:cNvPr id="44" name="Shape 42"/>
          <p:cNvSpPr/>
          <p:nvPr/>
        </p:nvSpPr>
        <p:spPr>
          <a:xfrm>
            <a:off x="3749040" y="4727448"/>
            <a:ext cx="4902514" cy="0"/>
          </a:xfrm>
          <a:prstGeom prst="line">
            <a:avLst/>
          </a:prstGeom>
          <a:noFill/>
          <a:ln w="2540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8441907" y="4727448"/>
            <a:ext cx="209647" cy="0"/>
          </a:xfrm>
          <a:prstGeom prst="line">
            <a:avLst/>
          </a:prstGeom>
          <a:noFill/>
          <a:ln w="88900">
            <a:solidFill>
              <a:srgbClr val="007F78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8398930" y="4684471"/>
            <a:ext cx="85954" cy="85954"/>
          </a:xfrm>
          <a:prstGeom prst="ellipse">
            <a:avLst/>
          </a:prstGeom>
          <a:solidFill>
            <a:srgbClr val="007F78"/>
          </a:solidFill>
          <a:ln w="1270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8577" y="4684471"/>
            <a:ext cx="85954" cy="85954"/>
          </a:xfrm>
          <a:prstGeom prst="ellipse">
            <a:avLst/>
          </a:prstGeom>
          <a:solidFill>
            <a:srgbClr val="007F78"/>
          </a:solidFill>
          <a:ln w="1270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9326880" y="4526280"/>
            <a:ext cx="2130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291–304</a:t>
            </a:r>
            <a:endParaRPr lang="zh-CN" sz="2400" dirty="0"/>
          </a:p>
        </p:txBody>
      </p:sp>
      <p:sp>
        <p:nvSpPr>
          <p:cNvPr id="49" name="Shape 47"/>
          <p:cNvSpPr/>
          <p:nvPr/>
        </p:nvSpPr>
        <p:spPr>
          <a:xfrm>
            <a:off x="612648" y="5541264"/>
            <a:ext cx="7141464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13816" y="5678424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同一供应商的八卡 H100 / H200 挂牌价仅差约 2%</a:t>
            </a:r>
            <a:endParaRPr lang="zh-CN" sz="1400" dirty="0"/>
          </a:p>
        </p:txBody>
      </p:sp>
      <p:sp>
        <p:nvSpPr>
          <p:cNvPr id="51" name="Shape 49"/>
          <p:cNvSpPr/>
          <p:nvPr/>
        </p:nvSpPr>
        <p:spPr>
          <a:xfrm>
            <a:off x="7955280" y="5541264"/>
            <a:ext cx="3648456" cy="493776"/>
          </a:xfrm>
          <a:prstGeom prst="roundRect">
            <a:avLst>
              <a:gd name="adj" fmla="val 22222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138160" y="5678424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9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集中工具执行另加 12–26 万</a:t>
            </a:r>
            <a:endParaRPr lang="zh-CN" sz="1290" dirty="0"/>
          </a:p>
        </p:txBody>
      </p:sp>
      <p:sp>
        <p:nvSpPr>
          <p:cNvPr id="53" name="Text 51"/>
          <p:cNvSpPr/>
          <p:nvPr/>
        </p:nvSpPr>
        <p:spPr>
          <a:xfrm>
            <a:off x="585216" y="6181344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四卡 H200 为 NVL，不能直接套用其他硬件的性能；采购仍需核对 SKU、交付路线与许可。</a:t>
            </a:r>
            <a:endParaRPr lang="zh-CN" sz="1050" dirty="0"/>
          </a:p>
        </p:txBody>
      </p:sp>
      <p:sp>
        <p:nvSpPr>
          <p:cNvPr id="54" name="Revision text 54"/>
          <p:cNvSpPr txBox="1"/>
          <p:nvPr/>
        </p:nvSpPr>
        <p:spPr>
          <a:xfrm>
            <a:off x="813816" y="3017520"/>
            <a:ext cx="2916936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2×EPYC 7V12 · 1TB DDR4 · NVLink</a:t>
            </a:r>
          </a:p>
        </p:txBody>
      </p:sp>
      <p:sp>
        <p:nvSpPr>
          <p:cNvPr id="55" name="Revision text 55"/>
          <p:cNvSpPr txBox="1"/>
          <p:nvPr/>
        </p:nvSpPr>
        <p:spPr>
          <a:xfrm>
            <a:off x="813816" y="3639312"/>
            <a:ext cx="2916936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2×EPYC 9454 · 1.5TB DDR5 · NVSwitch</a:t>
            </a:r>
          </a:p>
        </p:txBody>
      </p:sp>
      <p:sp>
        <p:nvSpPr>
          <p:cNvPr id="56" name="Revision text 56"/>
          <p:cNvSpPr txBox="1"/>
          <p:nvPr/>
        </p:nvSpPr>
        <p:spPr>
          <a:xfrm>
            <a:off x="813816" y="4261104"/>
            <a:ext cx="2916936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2×Xeon 6710E等级 · 1TB · 四卡桥接</a:t>
            </a:r>
          </a:p>
        </p:txBody>
      </p:sp>
      <p:sp>
        <p:nvSpPr>
          <p:cNvPr id="57" name="Revision text 57"/>
          <p:cNvSpPr txBox="1"/>
          <p:nvPr/>
        </p:nvSpPr>
        <p:spPr>
          <a:xfrm>
            <a:off x="813816" y="4882896"/>
            <a:ext cx="2916936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2×EPYC 9454 · 1.5TB DDR5 · NVSwitch</a:t>
            </a:r>
          </a:p>
        </p:txBody>
      </p:sp>
      <p:sp>
        <p:nvSpPr>
          <p:cNvPr id="58" name="Revision text 58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16页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A100 工程案例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shi3z 的价值：把新模型适配到四卡 A100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作者文章标题：“A100 从 33 → 673 token/s，超过官方 API”。从批量生成转向 Coding Agent。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3450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来源：shi3z 9/12、9/17文章公开部分；固定源码580568e。硬件：4×A100 PCIe，两对NVLink。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34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2267712"/>
            <a:ext cx="2368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当前层 owner</a:t>
            </a:r>
            <a:endParaRPr lang="zh-CN" sz="1700" dirty="0"/>
          </a:p>
        </p:txBody>
      </p:sp>
      <p:sp>
        <p:nvSpPr>
          <p:cNvPr id="10" name="Shape 8"/>
          <p:cNvSpPr/>
          <p:nvPr/>
        </p:nvSpPr>
        <p:spPr>
          <a:xfrm>
            <a:off x="694944" y="2816352"/>
            <a:ext cx="2350008" cy="1325880"/>
          </a:xfrm>
          <a:prstGeom prst="roundRect">
            <a:avLst>
              <a:gd name="adj" fmla="val 8276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7824" y="3044952"/>
            <a:ext cx="198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zh-CN" sz="2200" dirty="0"/>
          </a:p>
        </p:txBody>
      </p:sp>
      <p:sp>
        <p:nvSpPr>
          <p:cNvPr id="12" name="Text 10"/>
          <p:cNvSpPr/>
          <p:nvPr/>
        </p:nvSpPr>
        <p:spPr>
          <a:xfrm>
            <a:off x="877824" y="3630168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与专家路由</a:t>
            </a:r>
            <a:endParaRPr lang="zh-CN" sz="1700" dirty="0"/>
          </a:p>
        </p:txBody>
      </p:sp>
      <p:sp>
        <p:nvSpPr>
          <p:cNvPr id="13" name="Shape 11"/>
          <p:cNvSpPr/>
          <p:nvPr/>
        </p:nvSpPr>
        <p:spPr>
          <a:xfrm>
            <a:off x="3063240" y="3447288"/>
            <a:ext cx="768096" cy="0"/>
          </a:xfrm>
          <a:prstGeom prst="line">
            <a:avLst/>
          </a:prstGeom>
          <a:noFill/>
          <a:ln w="22860">
            <a:solidFill>
              <a:srgbClr val="29B8A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941064" y="2267712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各卡计算本地专家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3886200" y="2770632"/>
            <a:ext cx="2212848" cy="1417320"/>
          </a:xfrm>
          <a:prstGeom prst="roundRect">
            <a:avLst>
              <a:gd name="adj" fmla="val 7742"/>
            </a:avLst>
          </a:prstGeom>
          <a:solidFill>
            <a:srgbClr val="1B374D"/>
          </a:solidFill>
          <a:ln w="10160">
            <a:solidFill>
              <a:srgbClr val="34506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519672" y="2770632"/>
            <a:ext cx="2212848" cy="1417320"/>
          </a:xfrm>
          <a:prstGeom prst="roundRect">
            <a:avLst>
              <a:gd name="adj" fmla="val 7742"/>
            </a:avLst>
          </a:prstGeom>
          <a:solidFill>
            <a:srgbClr val="1B374D"/>
          </a:solidFill>
          <a:ln w="10160">
            <a:solidFill>
              <a:srgbClr val="34506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096512" y="3063240"/>
            <a:ext cx="694944" cy="548640"/>
          </a:xfrm>
          <a:prstGeom prst="roundRect">
            <a:avLst>
              <a:gd name="adj" fmla="val 20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187952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187952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346448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46448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04944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04944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663440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663440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42232" y="3163824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0</a:t>
            </a:r>
            <a:endParaRPr lang="zh-CN" sz="1100" dirty="0"/>
          </a:p>
        </p:txBody>
      </p:sp>
      <p:sp>
        <p:nvSpPr>
          <p:cNvPr id="27" name="Shape 25"/>
          <p:cNvSpPr/>
          <p:nvPr/>
        </p:nvSpPr>
        <p:spPr>
          <a:xfrm>
            <a:off x="5166360" y="3063240"/>
            <a:ext cx="694944" cy="548640"/>
          </a:xfrm>
          <a:prstGeom prst="roundRect">
            <a:avLst>
              <a:gd name="adj" fmla="val 20000"/>
            </a:avLst>
          </a:prstGeom>
          <a:solidFill>
            <a:srgbClr val="1B374D"/>
          </a:solidFill>
          <a:ln w="101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257800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257800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416296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416296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574792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574792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733288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733288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12080" y="3163824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1</a:t>
            </a:r>
            <a:endParaRPr lang="zh-CN" sz="1100" dirty="0"/>
          </a:p>
        </p:txBody>
      </p:sp>
      <p:sp>
        <p:nvSpPr>
          <p:cNvPr id="37" name="Shape 35"/>
          <p:cNvSpPr/>
          <p:nvPr/>
        </p:nvSpPr>
        <p:spPr>
          <a:xfrm>
            <a:off x="6739128" y="3063240"/>
            <a:ext cx="694944" cy="548640"/>
          </a:xfrm>
          <a:prstGeom prst="roundRect">
            <a:avLst>
              <a:gd name="adj" fmla="val 20000"/>
            </a:avLst>
          </a:prstGeom>
          <a:solidFill>
            <a:srgbClr val="1B374D"/>
          </a:solidFill>
          <a:ln w="10160">
            <a:solidFill>
              <a:srgbClr val="E0AE62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830568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830568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989064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989064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147560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7147560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306056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306056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784848" y="3163824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2</a:t>
            </a:r>
            <a:endParaRPr lang="zh-CN" sz="1100" dirty="0"/>
          </a:p>
        </p:txBody>
      </p:sp>
      <p:sp>
        <p:nvSpPr>
          <p:cNvPr id="47" name="Shape 45"/>
          <p:cNvSpPr/>
          <p:nvPr/>
        </p:nvSpPr>
        <p:spPr>
          <a:xfrm>
            <a:off x="7808976" y="3063240"/>
            <a:ext cx="694944" cy="548640"/>
          </a:xfrm>
          <a:prstGeom prst="roundRect">
            <a:avLst>
              <a:gd name="adj" fmla="val 20000"/>
            </a:avLst>
          </a:prstGeom>
          <a:solidFill>
            <a:srgbClr val="1B374D"/>
          </a:solidFill>
          <a:ln w="10160">
            <a:solidFill>
              <a:srgbClr val="E0AE62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900416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900416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8058912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8058912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8217408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217408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8375904" y="3022092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8375904" y="3611880"/>
            <a:ext cx="36576" cy="41148"/>
          </a:xfrm>
          <a:prstGeom prst="rect">
            <a:avLst>
              <a:gd name="adj" fmla="val 300000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854696" y="3163824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3</a:t>
            </a:r>
            <a:endParaRPr lang="zh-CN" sz="1100" dirty="0"/>
          </a:p>
        </p:txBody>
      </p:sp>
      <p:sp>
        <p:nvSpPr>
          <p:cNvPr id="57" name="Shape 55"/>
          <p:cNvSpPr/>
          <p:nvPr/>
        </p:nvSpPr>
        <p:spPr>
          <a:xfrm>
            <a:off x="4800600" y="3355848"/>
            <a:ext cx="356616" cy="0"/>
          </a:xfrm>
          <a:prstGeom prst="line">
            <a:avLst/>
          </a:prstGeom>
          <a:noFill/>
          <a:ln w="35560">
            <a:solidFill>
              <a:srgbClr val="29B8A7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443216" y="3355848"/>
            <a:ext cx="356616" cy="0"/>
          </a:xfrm>
          <a:prstGeom prst="line">
            <a:avLst/>
          </a:prstGeom>
          <a:noFill/>
          <a:ln w="35560">
            <a:solidFill>
              <a:srgbClr val="E0AE62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325112" y="3803904"/>
            <a:ext cx="1344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5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NVLink</a:t>
            </a:r>
            <a:endParaRPr lang="zh-CN" sz="1150" dirty="0"/>
          </a:p>
        </p:txBody>
      </p:sp>
      <p:sp>
        <p:nvSpPr>
          <p:cNvPr id="60" name="Text 58"/>
          <p:cNvSpPr/>
          <p:nvPr/>
        </p:nvSpPr>
        <p:spPr>
          <a:xfrm>
            <a:off x="6967728" y="3803904"/>
            <a:ext cx="1344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5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NVLink</a:t>
            </a:r>
            <a:endParaRPr lang="zh-CN" sz="1150" dirty="0"/>
          </a:p>
        </p:txBody>
      </p:sp>
      <p:sp>
        <p:nvSpPr>
          <p:cNvPr id="61" name="Shape 59"/>
          <p:cNvSpPr/>
          <p:nvPr/>
        </p:nvSpPr>
        <p:spPr>
          <a:xfrm>
            <a:off x="6099048" y="3447288"/>
            <a:ext cx="420624" cy="0"/>
          </a:xfrm>
          <a:prstGeom prst="line">
            <a:avLst/>
          </a:prstGeom>
          <a:noFill/>
          <a:ln w="17780">
            <a:solidFill>
              <a:srgbClr val="A7BCC9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025896" y="2926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</a:t>
            </a:r>
            <a:endParaRPr lang="zh-CN" sz="1000" dirty="0"/>
          </a:p>
        </p:txBody>
      </p:sp>
      <p:sp>
        <p:nvSpPr>
          <p:cNvPr id="63" name="Shape 61"/>
          <p:cNvSpPr/>
          <p:nvPr/>
        </p:nvSpPr>
        <p:spPr>
          <a:xfrm>
            <a:off x="8759952" y="3447288"/>
            <a:ext cx="548640" cy="0"/>
          </a:xfrm>
          <a:prstGeom prst="line">
            <a:avLst/>
          </a:prstGeom>
          <a:noFill/>
          <a:ln w="22860">
            <a:solidFill>
              <a:srgbClr val="29B8A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9390888" y="2267712"/>
            <a:ext cx="2139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汇总并推进</a:t>
            </a:r>
            <a:endParaRPr lang="zh-CN" sz="1700" dirty="0"/>
          </a:p>
        </p:txBody>
      </p:sp>
      <p:sp>
        <p:nvSpPr>
          <p:cNvPr id="65" name="Shape 63"/>
          <p:cNvSpPr/>
          <p:nvPr/>
        </p:nvSpPr>
        <p:spPr>
          <a:xfrm>
            <a:off x="9363456" y="2816352"/>
            <a:ext cx="2167128" cy="1325880"/>
          </a:xfrm>
          <a:prstGeom prst="roundRect">
            <a:avLst>
              <a:gd name="adj" fmla="val 8276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9509760" y="31089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进入下一层</a:t>
            </a:r>
            <a:endParaRPr lang="zh-CN" sz="2000" dirty="0"/>
          </a:p>
        </p:txBody>
      </p:sp>
      <p:sp>
        <p:nvSpPr>
          <p:cNvPr id="67" name="Text 65"/>
          <p:cNvSpPr/>
          <p:nvPr/>
        </p:nvSpPr>
        <p:spPr>
          <a:xfrm>
            <a:off x="9509760" y="369417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8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必要时切换 owner</a:t>
            </a:r>
            <a:endParaRPr lang="zh-CN" sz="1180" dirty="0"/>
          </a:p>
        </p:txBody>
      </p:sp>
      <p:sp>
        <p:nvSpPr>
          <p:cNvPr id="68" name="Shape 66"/>
          <p:cNvSpPr/>
          <p:nvPr/>
        </p:nvSpPr>
        <p:spPr>
          <a:xfrm>
            <a:off x="10442448" y="4151376"/>
            <a:ext cx="0" cy="621792"/>
          </a:xfrm>
          <a:prstGeom prst="line">
            <a:avLst/>
          </a:prstGeom>
          <a:noFill/>
          <a:ln w="16510">
            <a:solidFill>
              <a:srgbClr val="A7BCC9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1837944" y="4773168"/>
            <a:ext cx="8604504" cy="0"/>
          </a:xfrm>
          <a:prstGeom prst="line">
            <a:avLst/>
          </a:prstGeom>
          <a:noFill/>
          <a:ln w="16510">
            <a:solidFill>
              <a:srgbClr val="A7BCC9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1837944" y="4178808"/>
            <a:ext cx="0" cy="594360"/>
          </a:xfrm>
          <a:prstGeom prst="line">
            <a:avLst/>
          </a:prstGeom>
          <a:noFill/>
          <a:ln w="16510">
            <a:solidFill>
              <a:srgbClr val="A7BCC9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739896" y="5038344"/>
            <a:ext cx="50657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2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逐层重复：attention → 专家计算 → 汇总</a:t>
            </a:r>
            <a:endParaRPr lang="zh-CN" sz="1520" dirty="0"/>
          </a:p>
        </p:txBody>
      </p:sp>
      <p:sp>
        <p:nvSpPr>
          <p:cNvPr id="72" name="Text 70"/>
          <p:cNvSpPr/>
          <p:nvPr/>
        </p:nvSpPr>
        <p:spPr>
          <a:xfrm>
            <a:off x="813816" y="5870448"/>
            <a:ext cx="1080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最初先优化批量 decode；接入 Coding Agent 后补长输入与多轮缓存。</a:t>
            </a:r>
            <a:endParaRPr lang="zh-CN" sz="1700" dirty="0"/>
          </a:p>
        </p:txBody>
      </p:sp>
      <p:sp>
        <p:nvSpPr>
          <p:cNvPr id="73" name="Revision text 73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17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A100 值得学习的实现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三项工程经验：先定位瓶颈，再整合优化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特色是 A100 适配、按硬件拓扑安排通信，以及 CUDA Graph 与会话缓存的协调。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三.2、三.4。模型能力、通用方法与本项目实现分开归属。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39696"/>
            <a:ext cx="3483864" cy="2724912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368296"/>
            <a:ext cx="704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1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31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3026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先减少逐 token 搬运</a:t>
            </a:r>
            <a:endParaRPr lang="zh-CN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66674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先调整专家权重的存放位置，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 PCIe 传输；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再优化矩阵乘法内核。</a:t>
            </a:r>
            <a:endParaRPr lang="zh-CN" sz="1410" dirty="0"/>
          </a:p>
        </p:txBody>
      </p:sp>
      <p:sp>
        <p:nvSpPr>
          <p:cNvPr id="13" name="Shape 11"/>
          <p:cNvSpPr/>
          <p:nvPr/>
        </p:nvSpPr>
        <p:spPr>
          <a:xfrm>
            <a:off x="4343400" y="2139696"/>
            <a:ext cx="3483864" cy="2724912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0" y="2368296"/>
            <a:ext cx="704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1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310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3026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NVLink 卡对通信</a:t>
            </a:r>
            <a:endParaRPr lang="zh-CN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66674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跨卡对先走一次 PCIe，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再在卡对内部经 NVLink 分发；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返回结果先在卡对内合并。</a:t>
            </a:r>
            <a:endParaRPr lang="zh-CN" sz="1410" dirty="0"/>
          </a:p>
        </p:txBody>
      </p:sp>
      <p:sp>
        <p:nvSpPr>
          <p:cNvPr id="17" name="Shape 15"/>
          <p:cNvSpPr/>
          <p:nvPr/>
        </p:nvSpPr>
        <p:spPr>
          <a:xfrm>
            <a:off x="8092440" y="2139696"/>
            <a:ext cx="3483864" cy="2724912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21040" y="2368296"/>
            <a:ext cx="704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1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3100" dirty="0"/>
          </a:p>
        </p:txBody>
      </p:sp>
      <p:sp>
        <p:nvSpPr>
          <p:cNvPr id="19" name="Text 17"/>
          <p:cNvSpPr/>
          <p:nvPr/>
        </p:nvSpPr>
        <p:spPr>
          <a:xfrm>
            <a:off x="8321040" y="3063240"/>
            <a:ext cx="30266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 Graph 与缓存</a:t>
            </a:r>
            <a:endParaRPr lang="zh-CN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66674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CUDA Graph 依赖固定地址。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缓存扩容、恢复 KV / 索引 /</a:t>
            </a:r>
            <a:endParaRPr lang="zh-CN" sz="14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1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压缩器状态需要一起设计。</a:t>
            </a:r>
            <a:endParaRPr lang="zh-CN" sz="1410" dirty="0"/>
          </a:p>
        </p:txBody>
      </p:sp>
      <p:sp>
        <p:nvSpPr>
          <p:cNvPr id="21" name="Shape 19"/>
          <p:cNvSpPr/>
          <p:nvPr/>
        </p:nvSpPr>
        <p:spPr>
          <a:xfrm>
            <a:off x="594360" y="5166360"/>
            <a:ext cx="10981944" cy="786384"/>
          </a:xfrm>
          <a:prstGeom prst="roundRect">
            <a:avLst>
              <a:gd name="adj" fmla="val 1395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04672" y="5349240"/>
            <a:ext cx="1106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模型已有</a:t>
            </a:r>
            <a:endParaRPr lang="zh-CN" sz="1280" dirty="0"/>
          </a:p>
        </p:txBody>
      </p:sp>
      <p:sp>
        <p:nvSpPr>
          <p:cNvPr id="23" name="Text 21"/>
          <p:cNvSpPr/>
          <p:nvPr/>
        </p:nvSpPr>
        <p:spPr>
          <a:xfrm>
            <a:off x="1947672" y="5349240"/>
            <a:ext cx="4553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FP4 / FP8、共享 KV、CED、DSpark</a:t>
            </a:r>
            <a:endParaRPr lang="zh-CN" sz="1310" dirty="0"/>
          </a:p>
        </p:txBody>
      </p:sp>
      <p:sp>
        <p:nvSpPr>
          <p:cNvPr id="24" name="Text 22"/>
          <p:cNvSpPr/>
          <p:nvPr/>
        </p:nvSpPr>
        <p:spPr>
          <a:xfrm>
            <a:off x="6547104" y="5349240"/>
            <a:ext cx="1106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引擎已有</a:t>
            </a:r>
            <a:endParaRPr lang="zh-CN" sz="1280" dirty="0"/>
          </a:p>
        </p:txBody>
      </p:sp>
      <p:sp>
        <p:nvSpPr>
          <p:cNvPr id="25" name="Text 23"/>
          <p:cNvSpPr/>
          <p:nvPr/>
        </p:nvSpPr>
        <p:spPr>
          <a:xfrm>
            <a:off x="7717536" y="5349240"/>
            <a:ext cx="3602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1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并行、Graph、融合、缓存与分块</a:t>
            </a:r>
            <a:endParaRPr lang="zh-CN" sz="1210" dirty="0"/>
          </a:p>
        </p:txBody>
      </p:sp>
      <p:sp>
        <p:nvSpPr>
          <p:cNvPr id="26" name="Text 24"/>
          <p:cNvSpPr/>
          <p:nvPr/>
        </p:nvSpPr>
        <p:spPr>
          <a:xfrm>
            <a:off x="832104" y="6099048"/>
            <a:ext cx="10707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8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本项目的贡献在实现与整合，不能把模型原生能力全部算成引擎创新。</a:t>
            </a:r>
            <a:endParaRPr lang="zh-CN" sz="1380" dirty="0"/>
          </a:p>
        </p:txBody>
      </p:sp>
      <p:sp>
        <p:nvSpPr>
          <p:cNvPr id="27" name="Revision text 27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18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A100 与 modified vLLM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不同硬件与负载，不能直接排出引擎快慢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以下保留每条结果的硬件和测试条件；单位均为 token/s。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来源：shi3z、keplerzip及Tokha233公开记录，沿用10/14归档。每行保留各自硬件与负载。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34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2157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实现与硬件</a:t>
            </a:r>
            <a:endParaRPr lang="zh-CN" sz="1450" dirty="0"/>
          </a:p>
        </p:txBody>
      </p:sp>
      <p:sp>
        <p:nvSpPr>
          <p:cNvPr id="10" name="Text 8"/>
          <p:cNvSpPr/>
          <p:nvPr/>
        </p:nvSpPr>
        <p:spPr>
          <a:xfrm>
            <a:off x="3703320" y="215798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单路输出</a:t>
            </a:r>
            <a:endParaRPr lang="zh-CN" sz="1450" dirty="0"/>
          </a:p>
        </p:txBody>
      </p:sp>
      <p:sp>
        <p:nvSpPr>
          <p:cNvPr id="11" name="Text 9"/>
          <p:cNvSpPr/>
          <p:nvPr/>
        </p:nvSpPr>
        <p:spPr>
          <a:xfrm>
            <a:off x="6071616" y="215798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系统总输出</a:t>
            </a:r>
            <a:endParaRPr lang="zh-CN" sz="1450" dirty="0"/>
          </a:p>
        </p:txBody>
      </p:sp>
      <p:sp>
        <p:nvSpPr>
          <p:cNvPr id="12" name="Text 10"/>
          <p:cNvSpPr/>
          <p:nvPr/>
        </p:nvSpPr>
        <p:spPr>
          <a:xfrm>
            <a:off x="8695944" y="215798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负载与统计条件</a:t>
            </a:r>
            <a:endParaRPr lang="zh-CN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927080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58952" y="2843784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shi3z 定制引擎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758952" y="32644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4×A100 80GB PCIe</a:t>
            </a:r>
            <a:endParaRPr lang="zh-CN" sz="1180" dirty="0"/>
          </a:p>
        </p:txBody>
      </p:sp>
      <p:sp>
        <p:nvSpPr>
          <p:cNvPr id="16" name="Text 14"/>
          <p:cNvSpPr/>
          <p:nvPr/>
        </p:nvSpPr>
        <p:spPr>
          <a:xfrm>
            <a:off x="3703320" y="2811780"/>
            <a:ext cx="2240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3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50–53 / 82–93</a:t>
            </a:r>
            <a:endParaRPr lang="zh-CN" sz="1830" dirty="0"/>
          </a:p>
        </p:txBody>
      </p:sp>
      <p:sp>
        <p:nvSpPr>
          <p:cNvPr id="17" name="Text 15"/>
          <p:cNvSpPr/>
          <p:nvPr/>
        </p:nvSpPr>
        <p:spPr>
          <a:xfrm>
            <a:off x="3703320" y="3282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代码请求 / MTP 实验</a:t>
            </a:r>
            <a:endParaRPr lang="zh-CN" sz="1140" dirty="0"/>
          </a:p>
        </p:txBody>
      </p:sp>
      <p:sp>
        <p:nvSpPr>
          <p:cNvPr id="18" name="Text 16"/>
          <p:cNvSpPr/>
          <p:nvPr/>
        </p:nvSpPr>
        <p:spPr>
          <a:xfrm>
            <a:off x="6071616" y="2811780"/>
            <a:ext cx="24323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zh-CN" sz="2400" dirty="0"/>
          </a:p>
        </p:txBody>
      </p:sp>
      <p:sp>
        <p:nvSpPr>
          <p:cNvPr id="19" name="Text 17"/>
          <p:cNvSpPr/>
          <p:nvPr/>
        </p:nvSpPr>
        <p:spPr>
          <a:xfrm>
            <a:off x="6071616" y="32826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讲稿未列同口径总吞吐</a:t>
            </a:r>
            <a:endParaRPr lang="zh-CN" sz="1130" dirty="0"/>
          </a:p>
        </p:txBody>
      </p:sp>
      <p:sp>
        <p:nvSpPr>
          <p:cNvPr id="20" name="Text 18"/>
          <p:cNvSpPr/>
          <p:nvPr/>
        </p:nvSpPr>
        <p:spPr>
          <a:xfrm>
            <a:off x="8695944" y="286207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4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短输入</a:t>
            </a:r>
            <a:endParaRPr lang="zh-CN" sz="1340" dirty="0"/>
          </a:p>
        </p:txBody>
      </p:sp>
      <p:sp>
        <p:nvSpPr>
          <p:cNvPr id="21" name="Text 19"/>
          <p:cNvSpPr/>
          <p:nvPr/>
        </p:nvSpPr>
        <p:spPr>
          <a:xfrm>
            <a:off x="8695944" y="328269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两个不同实验</a:t>
            </a:r>
            <a:endParaRPr lang="zh-CN" sz="1170" dirty="0"/>
          </a:p>
        </p:txBody>
      </p:sp>
      <p:sp>
        <p:nvSpPr>
          <p:cNvPr id="22" name="Shape 20"/>
          <p:cNvSpPr/>
          <p:nvPr/>
        </p:nvSpPr>
        <p:spPr>
          <a:xfrm>
            <a:off x="731520" y="3630168"/>
            <a:ext cx="10762488" cy="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58952" y="3758184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modified vLLM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758952" y="41788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8×A100 SXM · 历史 TP8</a:t>
            </a:r>
            <a:endParaRPr lang="zh-CN" sz="1180" dirty="0"/>
          </a:p>
        </p:txBody>
      </p:sp>
      <p:sp>
        <p:nvSpPr>
          <p:cNvPr id="25" name="Text 23"/>
          <p:cNvSpPr/>
          <p:nvPr/>
        </p:nvSpPr>
        <p:spPr>
          <a:xfrm>
            <a:off x="3703320" y="3726180"/>
            <a:ext cx="2240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110–140</a:t>
            </a:r>
            <a:endParaRPr lang="zh-CN" sz="2400" dirty="0"/>
          </a:p>
        </p:txBody>
      </p:sp>
      <p:sp>
        <p:nvSpPr>
          <p:cNvPr id="26" name="Text 24"/>
          <p:cNvSpPr/>
          <p:nvPr/>
        </p:nvSpPr>
        <p:spPr>
          <a:xfrm>
            <a:off x="3703320" y="41970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DSpark5 decode</a:t>
            </a:r>
            <a:endParaRPr lang="zh-CN" sz="1140" dirty="0"/>
          </a:p>
        </p:txBody>
      </p:sp>
      <p:sp>
        <p:nvSpPr>
          <p:cNvPr id="27" name="Text 25"/>
          <p:cNvSpPr/>
          <p:nvPr/>
        </p:nvSpPr>
        <p:spPr>
          <a:xfrm>
            <a:off x="6071616" y="3726180"/>
            <a:ext cx="24323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1,040–1,379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6071616" y="41970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并发</a:t>
            </a:r>
            <a:endParaRPr lang="zh-CN" sz="1130" dirty="0"/>
          </a:p>
        </p:txBody>
      </p:sp>
      <p:sp>
        <p:nvSpPr>
          <p:cNvPr id="29" name="Text 27"/>
          <p:cNvSpPr/>
          <p:nvPr/>
        </p:nvSpPr>
        <p:spPr>
          <a:xfrm>
            <a:off x="8695944" y="377647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4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短输入</a:t>
            </a:r>
            <a:endParaRPr lang="zh-CN" sz="1340" dirty="0"/>
          </a:p>
        </p:txBody>
      </p:sp>
      <p:sp>
        <p:nvSpPr>
          <p:cNvPr id="30" name="Text 28"/>
          <p:cNvSpPr/>
          <p:nvPr/>
        </p:nvSpPr>
        <p:spPr>
          <a:xfrm>
            <a:off x="8695944" y="419709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1,024 token</a:t>
            </a:r>
            <a:endParaRPr lang="zh-CN" sz="1170" dirty="0"/>
          </a:p>
        </p:txBody>
      </p:sp>
      <p:sp>
        <p:nvSpPr>
          <p:cNvPr id="31" name="Shape 29"/>
          <p:cNvSpPr/>
          <p:nvPr/>
        </p:nvSpPr>
        <p:spPr>
          <a:xfrm>
            <a:off x="731520" y="4544568"/>
            <a:ext cx="10762488" cy="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0080" y="4562856"/>
            <a:ext cx="10927080" cy="850392"/>
          </a:xfrm>
          <a:prstGeom prst="roundRect">
            <a:avLst>
              <a:gd name="adj" fmla="val 1290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58952" y="4672584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modified vLLM</a:t>
            </a:r>
            <a:endParaRPr lang="zh-CN" sz="1700" dirty="0"/>
          </a:p>
        </p:txBody>
      </p:sp>
      <p:sp>
        <p:nvSpPr>
          <p:cNvPr id="34" name="Text 32"/>
          <p:cNvSpPr/>
          <p:nvPr/>
        </p:nvSpPr>
        <p:spPr>
          <a:xfrm>
            <a:off x="758952" y="50932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8×A800 SXM · 优化配置</a:t>
            </a:r>
            <a:endParaRPr lang="zh-CN" sz="1180" dirty="0"/>
          </a:p>
        </p:txBody>
      </p:sp>
      <p:sp>
        <p:nvSpPr>
          <p:cNvPr id="35" name="Text 33"/>
          <p:cNvSpPr/>
          <p:nvPr/>
        </p:nvSpPr>
        <p:spPr>
          <a:xfrm>
            <a:off x="3703320" y="4640580"/>
            <a:ext cx="2240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115</a:t>
            </a:r>
            <a:endParaRPr lang="zh-CN" sz="2400" dirty="0"/>
          </a:p>
        </p:txBody>
      </p:sp>
      <p:sp>
        <p:nvSpPr>
          <p:cNvPr id="36" name="Text 34"/>
          <p:cNvSpPr/>
          <p:nvPr/>
        </p:nvSpPr>
        <p:spPr>
          <a:xfrm>
            <a:off x="3703320" y="5111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单客户端持续输出</a:t>
            </a:r>
            <a:endParaRPr lang="zh-CN" sz="1140" dirty="0"/>
          </a:p>
        </p:txBody>
      </p:sp>
      <p:sp>
        <p:nvSpPr>
          <p:cNvPr id="37" name="Text 35"/>
          <p:cNvSpPr/>
          <p:nvPr/>
        </p:nvSpPr>
        <p:spPr>
          <a:xfrm>
            <a:off x="6071616" y="4640580"/>
            <a:ext cx="24323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3,040</a:t>
            </a:r>
            <a:endParaRPr lang="zh-CN" sz="2400" dirty="0"/>
          </a:p>
        </p:txBody>
      </p:sp>
      <p:sp>
        <p:nvSpPr>
          <p:cNvPr id="38" name="Text 36"/>
          <p:cNvSpPr/>
          <p:nvPr/>
        </p:nvSpPr>
        <p:spPr>
          <a:xfrm>
            <a:off x="6071616" y="51114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并发</a:t>
            </a:r>
            <a:endParaRPr lang="zh-CN" sz="1130" dirty="0"/>
          </a:p>
        </p:txBody>
      </p:sp>
      <p:sp>
        <p:nvSpPr>
          <p:cNvPr id="39" name="Text 37"/>
          <p:cNvSpPr/>
          <p:nvPr/>
        </p:nvSpPr>
        <p:spPr>
          <a:xfrm>
            <a:off x="8695944" y="469087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4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78–90 token</a:t>
            </a:r>
            <a:endParaRPr lang="zh-CN" sz="1340" dirty="0"/>
          </a:p>
        </p:txBody>
      </p:sp>
      <p:sp>
        <p:nvSpPr>
          <p:cNvPr id="40" name="Text 38"/>
          <p:cNvSpPr/>
          <p:nvPr/>
        </p:nvSpPr>
        <p:spPr>
          <a:xfrm>
            <a:off x="8695944" y="511149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1,024 token</a:t>
            </a:r>
            <a:endParaRPr lang="zh-CN" sz="1170" dirty="0"/>
          </a:p>
        </p:txBody>
      </p:sp>
      <p:sp>
        <p:nvSpPr>
          <p:cNvPr id="41" name="Shape 39"/>
          <p:cNvSpPr/>
          <p:nvPr/>
        </p:nvSpPr>
        <p:spPr>
          <a:xfrm>
            <a:off x="630936" y="5806440"/>
            <a:ext cx="10936224" cy="429768"/>
          </a:xfrm>
          <a:prstGeom prst="roundRect">
            <a:avLst>
              <a:gd name="adj" fmla="val 25532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68680" y="591616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目前没有证据证明 shi3z 引擎比 modified vLLM 更快。</a:t>
            </a:r>
            <a:endParaRPr lang="zh-CN" sz="1650" dirty="0"/>
          </a:p>
        </p:txBody>
      </p:sp>
      <p:sp>
        <p:nvSpPr>
          <p:cNvPr id="43" name="Revision text 43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19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MODIFIED vLLM · 8×A800 同机消融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8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modified vLLM 同机消融：每项改动带来多少收益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Tokha233 · 8×A800 · 128并发；实际输入78–90 token、输出1,024 token；每档两次。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/>
              </a:rPr>
              <a:t>来源：Tokha233 消融明细与测试方法（10/14归档）。BF16指部分稠密层执行算子；条形从零起算。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34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2084832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两次平均总输出吞吐</a:t>
            </a:r>
            <a:endParaRPr lang="zh-CN" sz="1600" dirty="0"/>
          </a:p>
        </p:txBody>
      </p:sp>
      <p:sp>
        <p:nvSpPr>
          <p:cNvPr id="10" name="Text 8"/>
          <p:cNvSpPr/>
          <p:nvPr/>
        </p:nvSpPr>
        <p:spPr>
          <a:xfrm>
            <a:off x="7479792" y="2112264"/>
            <a:ext cx="405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基线含 DSpark、Marlin 与 CUDA Graph</a:t>
            </a:r>
            <a:endParaRPr lang="zh-CN" sz="1280" dirty="0"/>
          </a:p>
        </p:txBody>
      </p:sp>
      <p:sp>
        <p:nvSpPr>
          <p:cNvPr id="11" name="Shape 9"/>
          <p:cNvSpPr/>
          <p:nvPr/>
        </p:nvSpPr>
        <p:spPr>
          <a:xfrm>
            <a:off x="3895344" y="2679192"/>
            <a:ext cx="0" cy="248716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39312" y="52852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zh-CN" sz="1000" dirty="0"/>
          </a:p>
        </p:txBody>
      </p:sp>
      <p:sp>
        <p:nvSpPr>
          <p:cNvPr id="13" name="Shape 11"/>
          <p:cNvSpPr/>
          <p:nvPr/>
        </p:nvSpPr>
        <p:spPr>
          <a:xfrm>
            <a:off x="5586984" y="2679192"/>
            <a:ext cx="0" cy="248716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30952" y="52852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zh-CN" sz="1000" dirty="0"/>
          </a:p>
        </p:txBody>
      </p:sp>
      <p:sp>
        <p:nvSpPr>
          <p:cNvPr id="15" name="Shape 13"/>
          <p:cNvSpPr/>
          <p:nvPr/>
        </p:nvSpPr>
        <p:spPr>
          <a:xfrm>
            <a:off x="7278624" y="2679192"/>
            <a:ext cx="0" cy="248716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22592" y="52852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zh-CN" sz="1000" dirty="0"/>
          </a:p>
        </p:txBody>
      </p:sp>
      <p:sp>
        <p:nvSpPr>
          <p:cNvPr id="17" name="Shape 15"/>
          <p:cNvSpPr/>
          <p:nvPr/>
        </p:nvSpPr>
        <p:spPr>
          <a:xfrm>
            <a:off x="8970264" y="2679192"/>
            <a:ext cx="0" cy="2487168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714232" y="52852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zh-CN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275234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基线：Marlin dense</a:t>
            </a:r>
            <a:endParaRPr lang="zh-CN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315468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NCCL EP8</a:t>
            </a:r>
            <a:endParaRPr lang="zh-CN" sz="1280" dirty="0"/>
          </a:p>
        </p:txBody>
      </p:sp>
      <p:sp>
        <p:nvSpPr>
          <p:cNvPr id="21" name="Shape 19"/>
          <p:cNvSpPr/>
          <p:nvPr/>
        </p:nvSpPr>
        <p:spPr>
          <a:xfrm>
            <a:off x="3895344" y="2798064"/>
            <a:ext cx="4808453" cy="411480"/>
          </a:xfrm>
          <a:prstGeom prst="roundRect">
            <a:avLst>
              <a:gd name="adj" fmla="val 26667"/>
            </a:avLst>
          </a:prstGeom>
          <a:solidFill>
            <a:srgbClr val="A5B5BF"/>
          </a:solidFill>
          <a:ln w="10160">
            <a:solidFill>
              <a:srgbClr val="A5B5B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555480" y="2756916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2,842.48</a:t>
            </a:r>
            <a:endParaRPr lang="zh-CN" sz="2500" dirty="0"/>
          </a:p>
        </p:txBody>
      </p:sp>
      <p:sp>
        <p:nvSpPr>
          <p:cNvPr id="23" name="Text 21"/>
          <p:cNvSpPr/>
          <p:nvPr/>
        </p:nvSpPr>
        <p:spPr>
          <a:xfrm>
            <a:off x="841248" y="359359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batch 稠密层</a:t>
            </a:r>
            <a:endParaRPr lang="zh-CN" sz="1600" dirty="0"/>
          </a:p>
        </p:txBody>
      </p:sp>
      <p:sp>
        <p:nvSpPr>
          <p:cNvPr id="24" name="Text 22"/>
          <p:cNvSpPr/>
          <p:nvPr/>
        </p:nvSpPr>
        <p:spPr>
          <a:xfrm>
            <a:off x="841248" y="3995928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改走 BF16 算子</a:t>
            </a:r>
            <a:endParaRPr lang="zh-CN" sz="1280" dirty="0"/>
          </a:p>
        </p:txBody>
      </p:sp>
      <p:sp>
        <p:nvSpPr>
          <p:cNvPr id="25" name="Shape 23"/>
          <p:cNvSpPr/>
          <p:nvPr/>
        </p:nvSpPr>
        <p:spPr>
          <a:xfrm>
            <a:off x="3895344" y="3639312"/>
            <a:ext cx="4949874" cy="411480"/>
          </a:xfrm>
          <a:prstGeom prst="roundRect">
            <a:avLst>
              <a:gd name="adj" fmla="val 26667"/>
            </a:avLst>
          </a:prstGeom>
          <a:solidFill>
            <a:srgbClr val="D7B987"/>
          </a:solidFill>
          <a:ln w="10160">
            <a:solidFill>
              <a:srgbClr val="D7B98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555480" y="3598164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2,926.08</a:t>
            </a:r>
            <a:endParaRPr lang="zh-CN" sz="2500" dirty="0"/>
          </a:p>
        </p:txBody>
      </p:sp>
      <p:sp>
        <p:nvSpPr>
          <p:cNvPr id="27" name="Text 25"/>
          <p:cNvSpPr/>
          <p:nvPr/>
        </p:nvSpPr>
        <p:spPr>
          <a:xfrm>
            <a:off x="3968496" y="4105656"/>
            <a:ext cx="467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5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相对上一档 +2.94%</a:t>
            </a:r>
            <a:endParaRPr lang="zh-CN" sz="1250" dirty="0"/>
          </a:p>
        </p:txBody>
      </p:sp>
      <p:sp>
        <p:nvSpPr>
          <p:cNvPr id="28" name="Text 26"/>
          <p:cNvSpPr/>
          <p:nvPr/>
        </p:nvSpPr>
        <p:spPr>
          <a:xfrm>
            <a:off x="841248" y="443484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再加入</a:t>
            </a:r>
            <a:endParaRPr lang="zh-CN" sz="1600" dirty="0"/>
          </a:p>
        </p:txBody>
      </p:sp>
      <p:sp>
        <p:nvSpPr>
          <p:cNvPr id="29" name="Text 27"/>
          <p:cNvSpPr/>
          <p:nvPr/>
        </p:nvSpPr>
        <p:spPr>
          <a:xfrm>
            <a:off x="841248" y="4837176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 EP8 通信</a:t>
            </a:r>
            <a:endParaRPr lang="zh-CN" sz="1280" dirty="0"/>
          </a:p>
        </p:txBody>
      </p:sp>
      <p:sp>
        <p:nvSpPr>
          <p:cNvPr id="30" name="Shape 28"/>
          <p:cNvSpPr/>
          <p:nvPr/>
        </p:nvSpPr>
        <p:spPr>
          <a:xfrm>
            <a:off x="3895344" y="4480560"/>
            <a:ext cx="5025017" cy="411480"/>
          </a:xfrm>
          <a:prstGeom prst="roundRect">
            <a:avLst>
              <a:gd name="adj" fmla="val 26667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555480" y="4439412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2,970.50</a:t>
            </a:r>
            <a:endParaRPr lang="zh-CN" sz="2500" dirty="0"/>
          </a:p>
        </p:txBody>
      </p:sp>
      <p:sp>
        <p:nvSpPr>
          <p:cNvPr id="32" name="Text 30"/>
          <p:cNvSpPr/>
          <p:nvPr/>
        </p:nvSpPr>
        <p:spPr>
          <a:xfrm>
            <a:off x="3968496" y="4946904"/>
            <a:ext cx="467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5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相对上一档 +1.52%</a:t>
            </a:r>
            <a:endParaRPr lang="zh-CN" sz="1250" dirty="0"/>
          </a:p>
        </p:txBody>
      </p:sp>
      <p:sp>
        <p:nvSpPr>
          <p:cNvPr id="33" name="Shape 31"/>
          <p:cNvSpPr/>
          <p:nvPr/>
        </p:nvSpPr>
        <p:spPr>
          <a:xfrm>
            <a:off x="649224" y="5641848"/>
            <a:ext cx="10936224" cy="521208"/>
          </a:xfrm>
          <a:prstGeom prst="roundRect">
            <a:avLst>
              <a:gd name="adj" fmla="val 21053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77824" y="5779008"/>
            <a:ext cx="10451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4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两项合计约 +4.5%；这是 Tokha233 的 modified vLLM，不是 shi3z 的消融。</a:t>
            </a:r>
            <a:endParaRPr lang="zh-CN" sz="1670" dirty="0"/>
          </a:p>
        </p:txBody>
      </p:sp>
      <p:sp>
        <p:nvSpPr>
          <p:cNvPr id="35" name="Revision text 35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20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A100 权重与运行显存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放得下权重，不代表放得下 20 个 1M 会话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DeepSeek-V4.1-Flash 的官方 checkpoint 约 510.29GB，原生采用 FP4 / FP8 存储。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三.3。GB 与 GiB 分开保留；本页缓存为 shi3z 定制实现的 BF16 布局。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34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130552"/>
            <a:ext cx="1070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官方权重制品：510.29GB</a:t>
            </a:r>
            <a:endParaRPr lang="zh-CN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2779776"/>
            <a:ext cx="4261863" cy="832104"/>
          </a:xfrm>
          <a:prstGeom prst="rect">
            <a:avLst>
              <a:gd name="adj" fmla="val 13187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39103" y="2779776"/>
            <a:ext cx="6464049" cy="832104"/>
          </a:xfrm>
          <a:prstGeom prst="rect">
            <a:avLst>
              <a:gd name="adj" fmla="val 13187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3026664"/>
            <a:ext cx="38046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Engram 202.76GB</a:t>
            </a:r>
            <a:endParaRPr lang="zh-CN" sz="2100" dirty="0"/>
          </a:p>
        </p:txBody>
      </p:sp>
      <p:sp>
        <p:nvSpPr>
          <p:cNvPr id="13" name="Text 11"/>
          <p:cNvSpPr/>
          <p:nvPr/>
        </p:nvSpPr>
        <p:spPr>
          <a:xfrm>
            <a:off x="5267703" y="3026664"/>
            <a:ext cx="600684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其余权重 307.53GB</a:t>
            </a:r>
            <a:endParaRPr lang="zh-CN" sz="2100" dirty="0"/>
          </a:p>
        </p:txBody>
      </p:sp>
      <p:sp>
        <p:nvSpPr>
          <p:cNvPr id="14" name="Text 12"/>
          <p:cNvSpPr/>
          <p:nvPr/>
        </p:nvSpPr>
        <p:spPr>
          <a:xfrm>
            <a:off x="1005840" y="3785616"/>
            <a:ext cx="38046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放在主机内存</a:t>
            </a:r>
            <a:endParaRPr lang="zh-CN" sz="1550" dirty="0"/>
          </a:p>
        </p:txBody>
      </p:sp>
      <p:sp>
        <p:nvSpPr>
          <p:cNvPr id="15" name="Text 13"/>
          <p:cNvSpPr/>
          <p:nvPr/>
        </p:nvSpPr>
        <p:spPr>
          <a:xfrm>
            <a:off x="5267703" y="3785616"/>
            <a:ext cx="60068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286.41GiB，理想均分到四张 GPU</a:t>
            </a:r>
            <a:endParaRPr lang="zh-CN" sz="1550" dirty="0"/>
          </a:p>
        </p:txBody>
      </p:sp>
      <p:sp>
        <p:nvSpPr>
          <p:cNvPr id="16" name="Shape 14"/>
          <p:cNvSpPr/>
          <p:nvPr/>
        </p:nvSpPr>
        <p:spPr>
          <a:xfrm>
            <a:off x="758952" y="4498848"/>
            <a:ext cx="5221224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27064" y="4498848"/>
            <a:ext cx="5276088" cy="1353312"/>
          </a:xfrm>
          <a:prstGeom prst="roundRect">
            <a:avLst>
              <a:gd name="adj" fmla="val 8108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87552" y="4681728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9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71.60</a:t>
            </a:r>
            <a:endParaRPr lang="zh-CN" sz="3900" dirty="0"/>
          </a:p>
        </p:txBody>
      </p:sp>
      <p:sp>
        <p:nvSpPr>
          <p:cNvPr id="19" name="Text 17"/>
          <p:cNvSpPr/>
          <p:nvPr/>
        </p:nvSpPr>
        <p:spPr>
          <a:xfrm>
            <a:off x="3538728" y="495604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GiB / 卡</a:t>
            </a:r>
            <a:endParaRPr lang="zh-CN" sz="1500" dirty="0"/>
          </a:p>
        </p:txBody>
      </p:sp>
      <p:sp>
        <p:nvSpPr>
          <p:cNvPr id="20" name="Text 18"/>
          <p:cNvSpPr/>
          <p:nvPr/>
        </p:nvSpPr>
        <p:spPr>
          <a:xfrm>
            <a:off x="1014984" y="5477256"/>
            <a:ext cx="4562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仅其余权重的四卡平均值</a:t>
            </a:r>
            <a:endParaRPr lang="zh-CN" sz="1420" dirty="0"/>
          </a:p>
        </p:txBody>
      </p:sp>
      <p:sp>
        <p:nvSpPr>
          <p:cNvPr id="21" name="Text 19"/>
          <p:cNvSpPr/>
          <p:nvPr/>
        </p:nvSpPr>
        <p:spPr>
          <a:xfrm>
            <a:off x="6473952" y="4681728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9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62.6</a:t>
            </a:r>
            <a:endParaRPr lang="zh-CN" sz="3900" dirty="0"/>
          </a:p>
        </p:txBody>
      </p:sp>
      <p:sp>
        <p:nvSpPr>
          <p:cNvPr id="22" name="Text 20"/>
          <p:cNvSpPr/>
          <p:nvPr/>
        </p:nvSpPr>
        <p:spPr>
          <a:xfrm>
            <a:off x="9034272" y="495604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GiB / 卡</a:t>
            </a:r>
            <a:endParaRPr lang="zh-CN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5477256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 1M 缓存 + 1 个 prefill 临时槽</a:t>
            </a:r>
            <a:endParaRPr lang="zh-CN" sz="1370" dirty="0"/>
          </a:p>
        </p:txBody>
      </p:sp>
      <p:sp>
        <p:nvSpPr>
          <p:cNvPr id="24" name="Text 22"/>
          <p:cNvSpPr/>
          <p:nvPr/>
        </p:nvSpPr>
        <p:spPr>
          <a:xfrm>
            <a:off x="585216" y="6126480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右侧缓存另加到权重之上，其他运行状态还未计入；每个 1M 会话约 2.98GiB / 卡。</a:t>
            </a:r>
            <a:endParaRPr lang="zh-CN" sz="1050" dirty="0"/>
          </a:p>
        </p:txBody>
      </p:sp>
      <p:sp>
        <p:nvSpPr>
          <p:cNvPr id="25" name="Revision text 25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21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A100 部署选择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A100 部署：固定版本的 modified vLLM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shi3z 项目用于理解优化思路与参考实现；生产部署沿用可维护的服务基础。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二.6、三.4。此页保留原讲稿的部署选择。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03504" y="2148840"/>
            <a:ext cx="4690872" cy="3474720"/>
          </a:xfrm>
          <a:prstGeom prst="roundRect">
            <a:avLst>
              <a:gd name="adj" fmla="val 3158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05256" y="251460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modified vLLM</a:t>
            </a:r>
            <a:endParaRPr lang="zh-CN" sz="3100" dirty="0"/>
          </a:p>
        </p:txBody>
      </p:sp>
      <p:sp>
        <p:nvSpPr>
          <p:cNvPr id="11" name="Text 9"/>
          <p:cNvSpPr/>
          <p:nvPr/>
        </p:nvSpPr>
        <p:spPr>
          <a:xfrm>
            <a:off x="932688" y="3310128"/>
            <a:ext cx="4069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5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固定经过验证的 A100 适配版本</a:t>
            </a:r>
            <a:endParaRPr lang="zh-CN" sz="1650" dirty="0"/>
          </a:p>
        </p:txBody>
      </p:sp>
      <p:sp>
        <p:nvSpPr>
          <p:cNvPr id="12" name="Shape 10"/>
          <p:cNvSpPr/>
          <p:nvPr/>
        </p:nvSpPr>
        <p:spPr>
          <a:xfrm>
            <a:off x="923544" y="4005072"/>
            <a:ext cx="1700784" cy="411480"/>
          </a:xfrm>
          <a:prstGeom prst="roundRect">
            <a:avLst>
              <a:gd name="adj" fmla="val 26667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14984" y="410108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请求调度</a:t>
            </a:r>
            <a:endParaRPr lang="zh-CN" sz="1450" dirty="0"/>
          </a:p>
        </p:txBody>
      </p:sp>
      <p:sp>
        <p:nvSpPr>
          <p:cNvPr id="14" name="Shape 12"/>
          <p:cNvSpPr/>
          <p:nvPr/>
        </p:nvSpPr>
        <p:spPr>
          <a:xfrm>
            <a:off x="2862072" y="4005072"/>
            <a:ext cx="1700784" cy="411480"/>
          </a:xfrm>
          <a:prstGeom prst="roundRect">
            <a:avLst>
              <a:gd name="adj" fmla="val 26667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53512" y="410108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分页缓存</a:t>
            </a:r>
            <a:endParaRPr lang="zh-CN" sz="1450" dirty="0"/>
          </a:p>
        </p:txBody>
      </p:sp>
      <p:sp>
        <p:nvSpPr>
          <p:cNvPr id="16" name="Shape 14"/>
          <p:cNvSpPr/>
          <p:nvPr/>
        </p:nvSpPr>
        <p:spPr>
          <a:xfrm>
            <a:off x="923544" y="4645152"/>
            <a:ext cx="1700784" cy="411480"/>
          </a:xfrm>
          <a:prstGeom prst="roundRect">
            <a:avLst>
              <a:gd name="adj" fmla="val 26667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14984" y="474116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接口</a:t>
            </a:r>
            <a:endParaRPr lang="zh-CN" sz="1450" dirty="0"/>
          </a:p>
        </p:txBody>
      </p:sp>
      <p:sp>
        <p:nvSpPr>
          <p:cNvPr id="18" name="Shape 16"/>
          <p:cNvSpPr/>
          <p:nvPr/>
        </p:nvSpPr>
        <p:spPr>
          <a:xfrm>
            <a:off x="2862072" y="4645152"/>
            <a:ext cx="1700784" cy="411480"/>
          </a:xfrm>
          <a:prstGeom prst="roundRect">
            <a:avLst>
              <a:gd name="adj" fmla="val 26667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953512" y="474116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服务监控</a:t>
            </a:r>
            <a:endParaRPr lang="zh-CN" sz="1450" dirty="0"/>
          </a:p>
        </p:txBody>
      </p:sp>
      <p:sp>
        <p:nvSpPr>
          <p:cNvPr id="20" name="Text 18"/>
          <p:cNvSpPr/>
          <p:nvPr/>
        </p:nvSpPr>
        <p:spPr>
          <a:xfrm>
            <a:off x="5733288" y="232257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6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2600" dirty="0"/>
          </a:p>
        </p:txBody>
      </p:sp>
      <p:sp>
        <p:nvSpPr>
          <p:cNvPr id="21" name="Text 19"/>
          <p:cNvSpPr/>
          <p:nvPr/>
        </p:nvSpPr>
        <p:spPr>
          <a:xfrm>
            <a:off x="6327648" y="2322576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只维护必要的 A100 适配补丁</a:t>
            </a:r>
            <a:endParaRPr lang="zh-CN" sz="1900" dirty="0"/>
          </a:p>
        </p:txBody>
      </p:sp>
      <p:sp>
        <p:nvSpPr>
          <p:cNvPr id="22" name="Text 20"/>
          <p:cNvSpPr/>
          <p:nvPr/>
        </p:nvSpPr>
        <p:spPr>
          <a:xfrm>
            <a:off x="6327648" y="2889504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把硬件适配和稳定服务接口分开。</a:t>
            </a:r>
            <a:endParaRPr lang="zh-CN" sz="1400" dirty="0"/>
          </a:p>
        </p:txBody>
      </p:sp>
      <p:sp>
        <p:nvSpPr>
          <p:cNvPr id="23" name="Text 21"/>
          <p:cNvSpPr/>
          <p:nvPr/>
        </p:nvSpPr>
        <p:spPr>
          <a:xfrm>
            <a:off x="5733288" y="35295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6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2600" dirty="0"/>
          </a:p>
        </p:txBody>
      </p:sp>
      <p:sp>
        <p:nvSpPr>
          <p:cNvPr id="24" name="Text 22"/>
          <p:cNvSpPr/>
          <p:nvPr/>
        </p:nvSpPr>
        <p:spPr>
          <a:xfrm>
            <a:off x="6327648" y="3529584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在目标机器与真实 Agent 负载上测试</a:t>
            </a:r>
            <a:endParaRPr lang="zh-CN" sz="1900" dirty="0"/>
          </a:p>
        </p:txBody>
      </p:sp>
      <p:sp>
        <p:nvSpPr>
          <p:cNvPr id="25" name="Text 23"/>
          <p:cNvSpPr/>
          <p:nvPr/>
        </p:nvSpPr>
        <p:spPr>
          <a:xfrm>
            <a:off x="6327648" y="4096512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包含长输入、多轮工具返回和并发。</a:t>
            </a:r>
            <a:endParaRPr lang="zh-CN" sz="1400" dirty="0"/>
          </a:p>
        </p:txBody>
      </p:sp>
      <p:sp>
        <p:nvSpPr>
          <p:cNvPr id="26" name="Text 24"/>
          <p:cNvSpPr/>
          <p:nvPr/>
        </p:nvSpPr>
        <p:spPr>
          <a:xfrm>
            <a:off x="5733288" y="47365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6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2600" dirty="0"/>
          </a:p>
        </p:txBody>
      </p:sp>
      <p:sp>
        <p:nvSpPr>
          <p:cNvPr id="27" name="Text 25"/>
          <p:cNvSpPr/>
          <p:nvPr/>
        </p:nvSpPr>
        <p:spPr>
          <a:xfrm>
            <a:off x="6327648" y="4736592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根据增量收益决定是否保留优化</a:t>
            </a:r>
            <a:endParaRPr lang="zh-CN" sz="1900" dirty="0"/>
          </a:p>
        </p:txBody>
      </p:sp>
      <p:sp>
        <p:nvSpPr>
          <p:cNvPr id="28" name="Text 26"/>
          <p:cNvSpPr/>
          <p:nvPr/>
        </p:nvSpPr>
        <p:spPr>
          <a:xfrm>
            <a:off x="6327648" y="5303520"/>
            <a:ext cx="5047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不因演示吞吐很高就替换整个引擎。</a:t>
            </a:r>
            <a:endParaRPr lang="zh-CN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6062472"/>
            <a:ext cx="10616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2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学习工程方法；用同机、同负载测试决定上线内容。</a:t>
            </a:r>
            <a:endParaRPr lang="zh-CN" sz="1720" dirty="0"/>
          </a:p>
        </p:txBody>
      </p:sp>
      <p:sp>
        <p:nvSpPr>
          <p:cNvPr id="30" name="Revision text 30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22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AI INFRA BOOK · 第 8、9、11 章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用户感知的是完整任务耗时，不只是 token/s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以财报整理为例，生成工具调用、工具执行和结果检查都属于用户等待的一部分。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来源：AI Infra Book第8、9、11章与讲稿四.1。阶段流程示意，不代表各阶段实际耗时。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704088" y="2450592"/>
            <a:ext cx="1545336" cy="1115568"/>
          </a:xfrm>
          <a:prstGeom prst="roundRect">
            <a:avLst>
              <a:gd name="adj" fmla="val 9836"/>
            </a:avLst>
          </a:prstGeom>
          <a:solidFill>
            <a:srgbClr val="E9EEF1"/>
          </a:solidFill>
          <a:ln w="10160">
            <a:solidFill>
              <a:srgbClr val="E9EEF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3816" y="26974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请求排队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813816" y="32186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调度等待</a:t>
            </a:r>
            <a:endParaRPr lang="zh-CN" sz="1170" dirty="0"/>
          </a:p>
        </p:txBody>
      </p:sp>
      <p:sp>
        <p:nvSpPr>
          <p:cNvPr id="12" name="Shape 10"/>
          <p:cNvSpPr/>
          <p:nvPr/>
        </p:nvSpPr>
        <p:spPr>
          <a:xfrm>
            <a:off x="2290572" y="2999232"/>
            <a:ext cx="283464" cy="0"/>
          </a:xfrm>
          <a:prstGeom prst="line">
            <a:avLst/>
          </a:prstGeom>
          <a:noFill/>
          <a:ln w="19050">
            <a:solidFill>
              <a:srgbClr val="A5B5B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624328" y="2450592"/>
            <a:ext cx="2011680" cy="1115568"/>
          </a:xfrm>
          <a:prstGeom prst="roundRect">
            <a:avLst>
              <a:gd name="adj" fmla="val 9836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34056" y="2697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prefill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2734056" y="321868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处理本轮新增输入</a:t>
            </a:r>
            <a:endParaRPr lang="zh-CN" sz="1170" dirty="0"/>
          </a:p>
        </p:txBody>
      </p:sp>
      <p:sp>
        <p:nvSpPr>
          <p:cNvPr id="16" name="Shape 14"/>
          <p:cNvSpPr/>
          <p:nvPr/>
        </p:nvSpPr>
        <p:spPr>
          <a:xfrm>
            <a:off x="4677156" y="2999232"/>
            <a:ext cx="283464" cy="0"/>
          </a:xfrm>
          <a:prstGeom prst="line">
            <a:avLst/>
          </a:prstGeom>
          <a:noFill/>
          <a:ln w="19050">
            <a:solidFill>
              <a:srgbClr val="A5B5B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10912" y="2450592"/>
            <a:ext cx="2432304" cy="1115568"/>
          </a:xfrm>
          <a:prstGeom prst="roundRect">
            <a:avLst>
              <a:gd name="adj" fmla="val 9836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120640" y="269748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生成工具调用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321868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decode</a:t>
            </a:r>
            <a:endParaRPr lang="zh-CN" sz="1170" dirty="0"/>
          </a:p>
        </p:txBody>
      </p:sp>
      <p:sp>
        <p:nvSpPr>
          <p:cNvPr id="20" name="Shape 18"/>
          <p:cNvSpPr/>
          <p:nvPr/>
        </p:nvSpPr>
        <p:spPr>
          <a:xfrm>
            <a:off x="7484364" y="2999232"/>
            <a:ext cx="283464" cy="0"/>
          </a:xfrm>
          <a:prstGeom prst="line">
            <a:avLst/>
          </a:prstGeom>
          <a:noFill/>
          <a:ln w="19050">
            <a:solidFill>
              <a:srgbClr val="A5B5B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818120" y="2450592"/>
            <a:ext cx="3657600" cy="1115568"/>
          </a:xfrm>
          <a:prstGeom prst="roundRect">
            <a:avLst>
              <a:gd name="adj" fmla="val 9836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927848" y="2697480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Python / Excel 等工具</a:t>
            </a:r>
            <a:endParaRPr lang="zh-CN" sz="1700" dirty="0"/>
          </a:p>
        </p:txBody>
      </p:sp>
      <p:sp>
        <p:nvSpPr>
          <p:cNvPr id="23" name="Text 21"/>
          <p:cNvSpPr/>
          <p:nvPr/>
        </p:nvSpPr>
        <p:spPr>
          <a:xfrm>
            <a:off x="7927848" y="321868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外部计算与 I/O</a:t>
            </a:r>
            <a:endParaRPr lang="zh-CN" sz="1170" dirty="0"/>
          </a:p>
        </p:txBody>
      </p:sp>
      <p:sp>
        <p:nvSpPr>
          <p:cNvPr id="24" name="Shape 22"/>
          <p:cNvSpPr/>
          <p:nvPr/>
        </p:nvSpPr>
        <p:spPr>
          <a:xfrm>
            <a:off x="9601200" y="3584448"/>
            <a:ext cx="0" cy="484632"/>
          </a:xfrm>
          <a:prstGeom prst="line">
            <a:avLst/>
          </a:prstGeom>
          <a:noFill/>
          <a:ln w="19050">
            <a:solidFill>
              <a:srgbClr val="695AB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30168" y="4069080"/>
            <a:ext cx="5971032" cy="0"/>
          </a:xfrm>
          <a:prstGeom prst="line">
            <a:avLst/>
          </a:prstGeom>
          <a:noFill/>
          <a:ln w="19050">
            <a:solidFill>
              <a:srgbClr val="695AB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630168" y="3602736"/>
            <a:ext cx="0" cy="466344"/>
          </a:xfrm>
          <a:prstGeom prst="line">
            <a:avLst/>
          </a:prstGeom>
          <a:noFill/>
          <a:ln w="19050">
            <a:solidFill>
              <a:srgbClr val="695AB0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172968" y="4297680"/>
            <a:ext cx="7461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1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工具结果返回，进入下一轮；最后检查结果、撰写报告。</a:t>
            </a:r>
            <a:endParaRPr lang="zh-CN" sz="1510" dirty="0"/>
          </a:p>
        </p:txBody>
      </p:sp>
      <p:sp>
        <p:nvSpPr>
          <p:cNvPr id="28" name="Shape 26"/>
          <p:cNvSpPr/>
          <p:nvPr/>
        </p:nvSpPr>
        <p:spPr>
          <a:xfrm>
            <a:off x="658368" y="4974336"/>
            <a:ext cx="5312664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99632" y="4974336"/>
            <a:ext cx="5321808" cy="941832"/>
          </a:xfrm>
          <a:prstGeom prst="roundRect">
            <a:avLst>
              <a:gd name="adj" fmla="val 1165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05256" y="5193792"/>
            <a:ext cx="4818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计算时间 ≈ 运算量 ÷ 有效算力</a:t>
            </a:r>
            <a:endParaRPr lang="zh-CN" sz="1750" dirty="0"/>
          </a:p>
        </p:txBody>
      </p:sp>
      <p:sp>
        <p:nvSpPr>
          <p:cNvPr id="31" name="Text 29"/>
          <p:cNvSpPr/>
          <p:nvPr/>
        </p:nvSpPr>
        <p:spPr>
          <a:xfrm>
            <a:off x="905256" y="5632704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9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传输时间 ≈ 字节数 ÷ 有效带宽</a:t>
            </a:r>
            <a:endParaRPr lang="zh-CN" sz="1390" dirty="0"/>
          </a:p>
        </p:txBody>
      </p:sp>
      <p:sp>
        <p:nvSpPr>
          <p:cNvPr id="32" name="Text 30"/>
          <p:cNvSpPr/>
          <p:nvPr/>
        </p:nvSpPr>
        <p:spPr>
          <a:xfrm>
            <a:off x="6446520" y="5202936"/>
            <a:ext cx="4828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100GB ÷ 1TB/s ≈ 0.1 秒</a:t>
            </a:r>
            <a:endParaRPr lang="zh-CN" sz="2400" dirty="0"/>
          </a:p>
        </p:txBody>
      </p:sp>
      <p:sp>
        <p:nvSpPr>
          <p:cNvPr id="33" name="Text 31"/>
          <p:cNvSpPr/>
          <p:nvPr/>
        </p:nvSpPr>
        <p:spPr>
          <a:xfrm>
            <a:off x="6464808" y="5641848"/>
            <a:ext cx="4745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9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仅数据传输的教学算例，不包含其他阶段</a:t>
            </a:r>
            <a:endParaRPr lang="zh-CN" sz="1190" dirty="0"/>
          </a:p>
        </p:txBody>
      </p:sp>
      <p:sp>
        <p:nvSpPr>
          <p:cNvPr id="34" name="Revision text 34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23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AI INFRA BOOK · 带宽与上下文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合批分摊权重，但每一路 KV 仍需分别读取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稠密模型的简化读取量：按每个输出 token 计算，而不是按整个 batch 计算。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来源：AI Infra Book与讲稿四.2。1.9倍指KV容量，3.7倍指全注意力冷prefill计算量。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12648" y="2075688"/>
            <a:ext cx="1099108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523744"/>
            <a:ext cx="21671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每个输出 token</a:t>
            </a:r>
            <a:endParaRPr lang="zh-CN" sz="1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分摊的读取量</a:t>
            </a:r>
            <a:endParaRPr lang="zh-CN" sz="1700" dirty="0"/>
          </a:p>
        </p:txBody>
      </p:sp>
      <p:sp>
        <p:nvSpPr>
          <p:cNvPr id="11" name="Text 9"/>
          <p:cNvSpPr/>
          <p:nvPr/>
        </p:nvSpPr>
        <p:spPr>
          <a:xfrm>
            <a:off x="3182112" y="258775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zh-CN" sz="3200" dirty="0"/>
          </a:p>
        </p:txBody>
      </p:sp>
      <p:sp>
        <p:nvSpPr>
          <p:cNvPr id="12" name="Text 10"/>
          <p:cNvSpPr/>
          <p:nvPr/>
        </p:nvSpPr>
        <p:spPr>
          <a:xfrm>
            <a:off x="3813048" y="2368296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权重读取量</a:t>
            </a:r>
            <a:endParaRPr lang="zh-CN" sz="2000" dirty="0"/>
          </a:p>
        </p:txBody>
      </p:sp>
      <p:sp>
        <p:nvSpPr>
          <p:cNvPr id="13" name="Shape 11"/>
          <p:cNvSpPr/>
          <p:nvPr/>
        </p:nvSpPr>
        <p:spPr>
          <a:xfrm>
            <a:off x="3739896" y="2862072"/>
            <a:ext cx="2404872" cy="0"/>
          </a:xfrm>
          <a:prstGeom prst="line">
            <a:avLst/>
          </a:prstGeom>
          <a:noFill/>
          <a:ln w="16510">
            <a:solidFill>
              <a:srgbClr val="152D4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813048" y="303580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7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 内请求数</a:t>
            </a:r>
            <a:endParaRPr lang="zh-CN" sz="1750" dirty="0"/>
          </a:p>
        </p:txBody>
      </p:sp>
      <p:sp>
        <p:nvSpPr>
          <p:cNvPr id="15" name="Text 13"/>
          <p:cNvSpPr/>
          <p:nvPr/>
        </p:nvSpPr>
        <p:spPr>
          <a:xfrm>
            <a:off x="6528816" y="26243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zh-CN" sz="3200" dirty="0"/>
          </a:p>
        </p:txBody>
      </p:sp>
      <p:sp>
        <p:nvSpPr>
          <p:cNvPr id="16" name="Text 14"/>
          <p:cNvSpPr/>
          <p:nvPr/>
        </p:nvSpPr>
        <p:spPr>
          <a:xfrm>
            <a:off x="7434072" y="2468880"/>
            <a:ext cx="3694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该请求的 KV Cache</a:t>
            </a:r>
            <a:endParaRPr lang="zh-CN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读取量</a:t>
            </a:r>
            <a:endParaRPr lang="zh-CN" sz="2100" dirty="0"/>
          </a:p>
        </p:txBody>
      </p:sp>
      <p:sp>
        <p:nvSpPr>
          <p:cNvPr id="17" name="Text 15"/>
          <p:cNvSpPr/>
          <p:nvPr/>
        </p:nvSpPr>
        <p:spPr>
          <a:xfrm>
            <a:off x="832104" y="4087368"/>
            <a:ext cx="4855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上下文较短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859536" y="4590288"/>
            <a:ext cx="49286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权重读取占比较大，合批的摊销收益明显。</a:t>
            </a:r>
            <a:endParaRPr lang="zh-CN" sz="1600" dirty="0"/>
          </a:p>
        </p:txBody>
      </p:sp>
      <p:sp>
        <p:nvSpPr>
          <p:cNvPr id="19" name="Text 17"/>
          <p:cNvSpPr/>
          <p:nvPr/>
        </p:nvSpPr>
        <p:spPr>
          <a:xfrm>
            <a:off x="832104" y="5376672"/>
            <a:ext cx="4855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上下文较长</a:t>
            </a:r>
            <a:endParaRPr lang="zh-CN" sz="2000" dirty="0"/>
          </a:p>
        </p:txBody>
      </p:sp>
      <p:sp>
        <p:nvSpPr>
          <p:cNvPr id="20" name="Text 18"/>
          <p:cNvSpPr/>
          <p:nvPr/>
        </p:nvSpPr>
        <p:spPr>
          <a:xfrm>
            <a:off x="859536" y="586130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总吞吐可能提高，每路速度却可能下降。</a:t>
            </a:r>
            <a:endParaRPr lang="zh-CN" sz="1540" dirty="0"/>
          </a:p>
        </p:txBody>
      </p:sp>
      <p:sp>
        <p:nvSpPr>
          <p:cNvPr id="21" name="Shape 19"/>
          <p:cNvSpPr/>
          <p:nvPr/>
        </p:nvSpPr>
        <p:spPr>
          <a:xfrm>
            <a:off x="6355080" y="4005072"/>
            <a:ext cx="5111496" cy="2130552"/>
          </a:xfrm>
          <a:prstGeom prst="roundRect">
            <a:avLst>
              <a:gd name="adj" fmla="val 515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20256" y="423367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Qwen：512K → 1M</a:t>
            </a:r>
            <a:endParaRPr lang="zh-CN" sz="1800" dirty="0"/>
          </a:p>
        </p:txBody>
      </p:sp>
      <p:sp>
        <p:nvSpPr>
          <p:cNvPr id="23" name="Text 21"/>
          <p:cNvSpPr/>
          <p:nvPr/>
        </p:nvSpPr>
        <p:spPr>
          <a:xfrm>
            <a:off x="6638544" y="4782312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300" b="1" dirty="0">
                <a:solidFill>
                  <a:srgbClr val="29B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1.9×</a:t>
            </a:r>
            <a:endParaRPr lang="zh-CN" sz="4300" dirty="0"/>
          </a:p>
        </p:txBody>
      </p:sp>
      <p:sp>
        <p:nvSpPr>
          <p:cNvPr id="24" name="Text 22"/>
          <p:cNvSpPr/>
          <p:nvPr/>
        </p:nvSpPr>
        <p:spPr>
          <a:xfrm>
            <a:off x="9272016" y="4782312"/>
            <a:ext cx="1847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3.7×</a:t>
            </a:r>
            <a:endParaRPr lang="zh-CN" sz="4300" dirty="0"/>
          </a:p>
        </p:txBody>
      </p:sp>
      <p:sp>
        <p:nvSpPr>
          <p:cNvPr id="25" name="Text 23"/>
          <p:cNvSpPr/>
          <p:nvPr/>
        </p:nvSpPr>
        <p:spPr>
          <a:xfrm>
            <a:off x="6665976" y="5632704"/>
            <a:ext cx="1837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容量</a:t>
            </a:r>
            <a:endParaRPr lang="zh-CN" sz="1400" dirty="0"/>
          </a:p>
        </p:txBody>
      </p:sp>
      <p:sp>
        <p:nvSpPr>
          <p:cNvPr id="26" name="Text 24"/>
          <p:cNvSpPr/>
          <p:nvPr/>
        </p:nvSpPr>
        <p:spPr>
          <a:xfrm>
            <a:off x="9034272" y="5632704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17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全注意力 prefill 计算</a:t>
            </a:r>
            <a:endParaRPr lang="zh-CN" sz="1170" dirty="0"/>
          </a:p>
        </p:txBody>
      </p:sp>
      <p:sp>
        <p:nvSpPr>
          <p:cNvPr id="27" name="Revision text 27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24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AI INFRA BOOK · 推理调度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三种手段，分别解决不同的等待来源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 prefill、前缀缓存与 PD 分离不是同一个优化，也有不同的资源代价。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来源：AI Infra Book第8、9章与讲稿四.3。色块表示调度或状态，不表示实测运行时间。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03504" y="2130552"/>
            <a:ext cx="3493008" cy="3858768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41248" y="2441448"/>
            <a:ext cx="3008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3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 prefill</a:t>
            </a:r>
            <a:endParaRPr lang="zh-CN" sz="2300" dirty="0"/>
          </a:p>
        </p:txBody>
      </p:sp>
      <p:sp>
        <p:nvSpPr>
          <p:cNvPr id="11" name="Shape 9"/>
          <p:cNvSpPr/>
          <p:nvPr/>
        </p:nvSpPr>
        <p:spPr>
          <a:xfrm>
            <a:off x="4352544" y="2130552"/>
            <a:ext cx="3493008" cy="3858768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90288" y="2441448"/>
            <a:ext cx="3008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3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前缀缓存</a:t>
            </a:r>
            <a:endParaRPr lang="zh-CN" sz="2300" dirty="0"/>
          </a:p>
        </p:txBody>
      </p:sp>
      <p:sp>
        <p:nvSpPr>
          <p:cNvPr id="13" name="Shape 11"/>
          <p:cNvSpPr/>
          <p:nvPr/>
        </p:nvSpPr>
        <p:spPr>
          <a:xfrm>
            <a:off x="8101584" y="2130552"/>
            <a:ext cx="3493008" cy="3858768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39328" y="2441448"/>
            <a:ext cx="3008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30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 分离</a:t>
            </a:r>
            <a:endParaRPr lang="zh-CN" sz="2300" dirty="0"/>
          </a:p>
        </p:txBody>
      </p:sp>
      <p:sp>
        <p:nvSpPr>
          <p:cNvPr id="15" name="Shape 13"/>
          <p:cNvSpPr/>
          <p:nvPr/>
        </p:nvSpPr>
        <p:spPr>
          <a:xfrm>
            <a:off x="859536" y="3264408"/>
            <a:ext cx="612648" cy="475488"/>
          </a:xfrm>
          <a:prstGeom prst="roundRect">
            <a:avLst>
              <a:gd name="adj" fmla="val 23077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77824" y="3392424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zh-CN" sz="1200" dirty="0"/>
          </a:p>
        </p:txBody>
      </p:sp>
      <p:sp>
        <p:nvSpPr>
          <p:cNvPr id="17" name="Shape 15"/>
          <p:cNvSpPr/>
          <p:nvPr/>
        </p:nvSpPr>
        <p:spPr>
          <a:xfrm>
            <a:off x="1549908" y="3264408"/>
            <a:ext cx="356616" cy="475488"/>
          </a:xfrm>
          <a:prstGeom prst="roundRect">
            <a:avLst>
              <a:gd name="adj" fmla="val 30769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568196" y="33924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1984248" y="3264408"/>
            <a:ext cx="612648" cy="475488"/>
          </a:xfrm>
          <a:prstGeom prst="roundRect">
            <a:avLst>
              <a:gd name="adj" fmla="val 23077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02536" y="3392424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zh-CN" sz="1200" dirty="0"/>
          </a:p>
        </p:txBody>
      </p:sp>
      <p:sp>
        <p:nvSpPr>
          <p:cNvPr id="21" name="Shape 19"/>
          <p:cNvSpPr/>
          <p:nvPr/>
        </p:nvSpPr>
        <p:spPr>
          <a:xfrm>
            <a:off x="2674620" y="3264408"/>
            <a:ext cx="356616" cy="475488"/>
          </a:xfrm>
          <a:prstGeom prst="roundRect">
            <a:avLst>
              <a:gd name="adj" fmla="val 30769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692908" y="33924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zh-CN" sz="1200" dirty="0"/>
          </a:p>
        </p:txBody>
      </p:sp>
      <p:sp>
        <p:nvSpPr>
          <p:cNvPr id="23" name="Shape 21"/>
          <p:cNvSpPr/>
          <p:nvPr/>
        </p:nvSpPr>
        <p:spPr>
          <a:xfrm>
            <a:off x="3108960" y="3264408"/>
            <a:ext cx="612648" cy="475488"/>
          </a:xfrm>
          <a:prstGeom prst="roundRect">
            <a:avLst>
              <a:gd name="adj" fmla="val 23077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127248" y="3392424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4014216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把长输入拆成多批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877824" y="4562856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批次之间处理其他请求的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decode，减少长 prefill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对交互请求的阻塞。</a:t>
            </a:r>
            <a:endParaRPr lang="zh-CN" sz="1430" dirty="0"/>
          </a:p>
        </p:txBody>
      </p:sp>
      <p:sp>
        <p:nvSpPr>
          <p:cNvPr id="27" name="Shape 25"/>
          <p:cNvSpPr/>
          <p:nvPr/>
        </p:nvSpPr>
        <p:spPr>
          <a:xfrm>
            <a:off x="4599432" y="3264408"/>
            <a:ext cx="1627632" cy="475488"/>
          </a:xfrm>
          <a:prstGeom prst="roundRect">
            <a:avLst>
              <a:gd name="adj" fmla="val 23077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81728" y="33924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3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复用旧前缀</a:t>
            </a:r>
            <a:endParaRPr lang="zh-CN" sz="1230" dirty="0"/>
          </a:p>
        </p:txBody>
      </p:sp>
      <p:sp>
        <p:nvSpPr>
          <p:cNvPr id="29" name="Shape 27"/>
          <p:cNvSpPr/>
          <p:nvPr/>
        </p:nvSpPr>
        <p:spPr>
          <a:xfrm>
            <a:off x="6281928" y="3511296"/>
            <a:ext cx="246888" cy="0"/>
          </a:xfrm>
          <a:prstGeom prst="line">
            <a:avLst/>
          </a:prstGeom>
          <a:noFill/>
          <a:ln w="16510">
            <a:solidFill>
              <a:srgbClr val="2D62C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592824" y="3264408"/>
            <a:ext cx="969264" cy="475488"/>
          </a:xfrm>
          <a:prstGeom prst="roundRect">
            <a:avLst>
              <a:gd name="adj" fmla="val 23077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20256" y="3392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3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新输入</a:t>
            </a:r>
            <a:endParaRPr lang="zh-CN" sz="1230" dirty="0"/>
          </a:p>
        </p:txBody>
      </p:sp>
      <p:sp>
        <p:nvSpPr>
          <p:cNvPr id="32" name="Text 30"/>
          <p:cNvSpPr/>
          <p:nvPr/>
        </p:nvSpPr>
        <p:spPr>
          <a:xfrm>
            <a:off x="4626864" y="4014216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避免每轮完整重算</a:t>
            </a:r>
            <a:endParaRPr lang="zh-CN" sz="1700" dirty="0"/>
          </a:p>
        </p:txBody>
      </p:sp>
      <p:sp>
        <p:nvSpPr>
          <p:cNvPr id="33" name="Text 31"/>
          <p:cNvSpPr/>
          <p:nvPr/>
        </p:nvSpPr>
        <p:spPr>
          <a:xfrm>
            <a:off x="4626864" y="4562856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保留已有输入的计算状态，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只为新增输入做 prefill；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旧缓存仍然占用内存。</a:t>
            </a:r>
            <a:endParaRPr lang="zh-CN" sz="1430" dirty="0"/>
          </a:p>
        </p:txBody>
      </p:sp>
      <p:sp>
        <p:nvSpPr>
          <p:cNvPr id="34" name="Shape 32"/>
          <p:cNvSpPr/>
          <p:nvPr/>
        </p:nvSpPr>
        <p:spPr>
          <a:xfrm>
            <a:off x="8366760" y="3182112"/>
            <a:ext cx="987552" cy="676656"/>
          </a:xfrm>
          <a:prstGeom prst="roundRect">
            <a:avLst>
              <a:gd name="adj" fmla="val 16216"/>
            </a:avLst>
          </a:prstGeom>
          <a:solidFill>
            <a:srgbClr val="EEEBF8"/>
          </a:solidFill>
          <a:ln w="10160">
            <a:solidFill>
              <a:srgbClr val="EEEB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412480" y="341985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695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</a:t>
            </a:r>
            <a:endParaRPr lang="zh-CN" sz="1300" dirty="0"/>
          </a:p>
        </p:txBody>
      </p:sp>
      <p:sp>
        <p:nvSpPr>
          <p:cNvPr id="36" name="Shape 34"/>
          <p:cNvSpPr/>
          <p:nvPr/>
        </p:nvSpPr>
        <p:spPr>
          <a:xfrm>
            <a:off x="9418320" y="3520440"/>
            <a:ext cx="813816" cy="0"/>
          </a:xfrm>
          <a:prstGeom prst="line">
            <a:avLst/>
          </a:prstGeom>
          <a:noFill/>
          <a:ln w="17780">
            <a:solidFill>
              <a:srgbClr val="695AB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546336" y="3154680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95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</a:t>
            </a:r>
            <a:endParaRPr lang="zh-CN" sz="1050" dirty="0"/>
          </a:p>
        </p:txBody>
      </p:sp>
      <p:sp>
        <p:nvSpPr>
          <p:cNvPr id="38" name="Shape 36"/>
          <p:cNvSpPr/>
          <p:nvPr/>
        </p:nvSpPr>
        <p:spPr>
          <a:xfrm>
            <a:off x="10277856" y="3182112"/>
            <a:ext cx="987552" cy="676656"/>
          </a:xfrm>
          <a:prstGeom prst="roundRect">
            <a:avLst>
              <a:gd name="adj" fmla="val 16216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323576" y="341985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zh-CN" sz="1300" dirty="0"/>
          </a:p>
        </p:txBody>
      </p:sp>
      <p:sp>
        <p:nvSpPr>
          <p:cNvPr id="40" name="Text 38"/>
          <p:cNvSpPr/>
          <p:nvPr/>
        </p:nvSpPr>
        <p:spPr>
          <a:xfrm>
            <a:off x="8375904" y="4014216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 GPU 分别调度</a:t>
            </a:r>
            <a:endParaRPr lang="zh-CN" sz="1700" dirty="0"/>
          </a:p>
        </p:txBody>
      </p:sp>
      <p:sp>
        <p:nvSpPr>
          <p:cNvPr id="41" name="Text 39"/>
          <p:cNvSpPr/>
          <p:nvPr/>
        </p:nvSpPr>
        <p:spPr>
          <a:xfrm>
            <a:off x="8375904" y="4562856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需要额外的模型副本与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传输；两组卡数</a:t>
            </a:r>
            <a:endParaRPr lang="zh-CN" sz="143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4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应按实际负载分配。</a:t>
            </a:r>
            <a:endParaRPr lang="zh-CN" sz="1430" dirty="0"/>
          </a:p>
        </p:txBody>
      </p:sp>
      <p:sp>
        <p:nvSpPr>
          <p:cNvPr id="42" name="Revision text 42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26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AI INFRA BOOK · 资源调度算例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不忙，执行环境仍可能占用大量内存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10 秒到达 1 项任务；每项 3 轮，每轮模型运行 60 秒、工具运行 10 秒。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四.4。教学假设为稳定到达、忽略排队，非真实服务性能测量。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2075688"/>
            <a:ext cx="10972800" cy="539496"/>
          </a:xfrm>
          <a:prstGeom prst="roundRect">
            <a:avLst>
              <a:gd name="adj" fmla="val 20339"/>
            </a:avLst>
          </a:prstGeom>
          <a:solidFill>
            <a:srgbClr val="EEEBF8"/>
          </a:solidFill>
          <a:ln w="10160">
            <a:solidFill>
              <a:srgbClr val="EEEB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50392" y="2231136"/>
            <a:ext cx="10533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每轮工具实际用量：4 核秒     |     每个执行环境：2GiB，保留到任务结束</a:t>
            </a:r>
            <a:endParaRPr lang="zh-CN" sz="1500" dirty="0"/>
          </a:p>
        </p:txBody>
      </p:sp>
      <p:sp>
        <p:nvSpPr>
          <p:cNvPr id="11" name="Shape 9"/>
          <p:cNvSpPr/>
          <p:nvPr/>
        </p:nvSpPr>
        <p:spPr>
          <a:xfrm>
            <a:off x="621792" y="2889504"/>
            <a:ext cx="4151376" cy="290779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77824" y="315468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先算还没有结束的任务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877824" y="3721608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400" b="1" dirty="0">
                <a:solidFill>
                  <a:srgbClr val="695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zh-CN" sz="4400" dirty="0"/>
          </a:p>
        </p:txBody>
      </p:sp>
      <p:sp>
        <p:nvSpPr>
          <p:cNvPr id="14" name="Text 12"/>
          <p:cNvSpPr/>
          <p:nvPr/>
        </p:nvSpPr>
        <p:spPr>
          <a:xfrm>
            <a:off x="2167128" y="4005072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zh-CN" sz="1600" dirty="0"/>
          </a:p>
        </p:txBody>
      </p:sp>
      <p:sp>
        <p:nvSpPr>
          <p:cNvPr id="15" name="Text 13"/>
          <p:cNvSpPr/>
          <p:nvPr/>
        </p:nvSpPr>
        <p:spPr>
          <a:xfrm>
            <a:off x="905256" y="45354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(60 + 10) ÷ 10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905256" y="5202936"/>
            <a:ext cx="3621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其中平均 18 项处于模型阶段</a:t>
            </a:r>
            <a:endParaRPr lang="zh-CN" sz="1450" dirty="0"/>
          </a:p>
        </p:txBody>
      </p:sp>
      <p:sp>
        <p:nvSpPr>
          <p:cNvPr id="17" name="Shape 15"/>
          <p:cNvSpPr/>
          <p:nvPr/>
        </p:nvSpPr>
        <p:spPr>
          <a:xfrm>
            <a:off x="5010912" y="2889504"/>
            <a:ext cx="3163824" cy="2907792"/>
          </a:xfrm>
          <a:prstGeom prst="roundRect">
            <a:avLst>
              <a:gd name="adj" fmla="val 3774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403336" y="2889504"/>
            <a:ext cx="3191256" cy="2907792"/>
          </a:xfrm>
          <a:prstGeom prst="roundRect">
            <a:avLst>
              <a:gd name="adj" fmla="val 3774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57800" y="3163824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CPU</a:t>
            </a:r>
            <a:endParaRPr lang="zh-CN" sz="1800" dirty="0"/>
          </a:p>
        </p:txBody>
      </p:sp>
      <p:sp>
        <p:nvSpPr>
          <p:cNvPr id="20" name="Text 18"/>
          <p:cNvSpPr/>
          <p:nvPr/>
        </p:nvSpPr>
        <p:spPr>
          <a:xfrm>
            <a:off x="5248656" y="3776472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6000" b="1" dirty="0">
                <a:solidFill>
                  <a:srgbClr val="00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zh-CN" sz="6000" dirty="0"/>
          </a:p>
        </p:txBody>
      </p:sp>
      <p:sp>
        <p:nvSpPr>
          <p:cNvPr id="21" name="Text 19"/>
          <p:cNvSpPr/>
          <p:nvPr/>
        </p:nvSpPr>
        <p:spPr>
          <a:xfrm>
            <a:off x="5285232" y="4709160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 · 平均需求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5285232" y="531266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6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× 4 核秒 ÷ 10 秒</a:t>
            </a:r>
            <a:endParaRPr lang="zh-CN" sz="1360" dirty="0"/>
          </a:p>
        </p:txBody>
      </p:sp>
      <p:sp>
        <p:nvSpPr>
          <p:cNvPr id="23" name="Text 21"/>
          <p:cNvSpPr/>
          <p:nvPr/>
        </p:nvSpPr>
        <p:spPr>
          <a:xfrm>
            <a:off x="8650224" y="3163824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执行环境内存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8641080" y="3776472"/>
            <a:ext cx="2459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zh-CN" sz="6000" dirty="0"/>
          </a:p>
        </p:txBody>
      </p:sp>
      <p:sp>
        <p:nvSpPr>
          <p:cNvPr id="25" name="Text 23"/>
          <p:cNvSpPr/>
          <p:nvPr/>
        </p:nvSpPr>
        <p:spPr>
          <a:xfrm>
            <a:off x="8677656" y="4709160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GiB · 平均占用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8677656" y="531266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6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项 × 2GiB</a:t>
            </a:r>
            <a:endParaRPr lang="zh-CN" sz="1460" dirty="0"/>
          </a:p>
        </p:txBody>
      </p:sp>
      <p:sp>
        <p:nvSpPr>
          <p:cNvPr id="27" name="Text 25"/>
          <p:cNvSpPr/>
          <p:nvPr/>
        </p:nvSpPr>
        <p:spPr>
          <a:xfrm>
            <a:off x="841248" y="6053328"/>
            <a:ext cx="10506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KV、工具 CPU 与执行环境内存，要分别预算。</a:t>
            </a:r>
            <a:endParaRPr lang="zh-CN" sz="1800" dirty="0"/>
          </a:p>
        </p:txBody>
      </p:sp>
      <p:sp>
        <p:nvSpPr>
          <p:cNvPr id="28" name="Revision text 28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27页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汇报总结 / DEPLOYMENT DECISIONS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配置选择，最终落到合格任务的时间与成本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6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公司：GPU + DRAM + SSD 分层；Spark：CPU / GPU 共用 128GB，重点研究统一内存 + SSD。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3450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来源：本次讲稿与handoff。分层缓存改善会话复用，不直接改写GPU同时生成能力或持续decode速度。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A7B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49224" y="2221992"/>
            <a:ext cx="50292" cy="704088"/>
          </a:xfrm>
          <a:prstGeom prst="rect">
            <a:avLst>
              <a:gd name="adj" fmla="val 218182"/>
            </a:avLst>
          </a:prstGeom>
          <a:solidFill>
            <a:srgbClr val="29B8A7"/>
          </a:solidFill>
          <a:ln w="10160">
            <a:solidFill>
              <a:srgbClr val="29B8A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26771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9B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Spark</a:t>
            </a:r>
            <a:endParaRPr lang="zh-CN" sz="2000" dirty="0"/>
          </a:p>
        </p:txBody>
      </p:sp>
      <p:sp>
        <p:nvSpPr>
          <p:cNvPr id="11" name="Text 9"/>
          <p:cNvSpPr/>
          <p:nvPr/>
        </p:nvSpPr>
        <p:spPr>
          <a:xfrm>
            <a:off x="3191256" y="2231136"/>
            <a:ext cx="5239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Qwen3.8-27B + 本地工具</a:t>
            </a:r>
            <a:endParaRPr lang="zh-CN" sz="1830" dirty="0"/>
          </a:p>
        </p:txBody>
      </p:sp>
      <p:sp>
        <p:nvSpPr>
          <p:cNvPr id="12" name="Text 10"/>
          <p:cNvSpPr/>
          <p:nvPr/>
        </p:nvSpPr>
        <p:spPr>
          <a:xfrm>
            <a:off x="3209544" y="2724912"/>
            <a:ext cx="5221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6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262K ≈ 18 token/s；512K ≈ 15 token/s</a:t>
            </a:r>
            <a:endParaRPr lang="zh-CN" sz="1360" dirty="0"/>
          </a:p>
        </p:txBody>
      </p:sp>
      <p:sp>
        <p:nvSpPr>
          <p:cNvPr id="13" name="Text 11"/>
          <p:cNvSpPr/>
          <p:nvPr/>
        </p:nvSpPr>
        <p:spPr>
          <a:xfrm>
            <a:off x="8933688" y="2267712"/>
            <a:ext cx="25420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KV ≈ 1.81M</a:t>
            </a:r>
            <a:endParaRPr lang="zh-CN" sz="13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个人预算 6.8–8.2 万</a:t>
            </a:r>
            <a:endParaRPr lang="zh-CN" sz="1310" dirty="0"/>
          </a:p>
        </p:txBody>
      </p:sp>
      <p:sp>
        <p:nvSpPr>
          <p:cNvPr id="14" name="Shape 12"/>
          <p:cNvSpPr/>
          <p:nvPr/>
        </p:nvSpPr>
        <p:spPr>
          <a:xfrm>
            <a:off x="850392" y="3136392"/>
            <a:ext cx="10643616" cy="0"/>
          </a:xfrm>
          <a:prstGeom prst="line">
            <a:avLst/>
          </a:prstGeom>
          <a:noFill/>
          <a:ln w="10160">
            <a:solidFill>
              <a:srgbClr val="34506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9224" y="3310128"/>
            <a:ext cx="50292" cy="704088"/>
          </a:xfrm>
          <a:prstGeom prst="rect">
            <a:avLst>
              <a:gd name="adj" fmla="val 218182"/>
            </a:avLst>
          </a:prstGeom>
          <a:solidFill>
            <a:srgbClr val="83A8F6"/>
          </a:solidFill>
          <a:ln w="10160">
            <a:solidFill>
              <a:srgbClr val="83A8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355848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83A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DeepSeek</a:t>
            </a:r>
            <a:endParaRPr lang="zh-CN" sz="2000" dirty="0"/>
          </a:p>
        </p:txBody>
      </p:sp>
      <p:sp>
        <p:nvSpPr>
          <p:cNvPr id="17" name="Text 15"/>
          <p:cNvSpPr/>
          <p:nvPr/>
        </p:nvSpPr>
        <p:spPr>
          <a:xfrm>
            <a:off x="3191256" y="3319272"/>
            <a:ext cx="5239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八卡 H200；比较 TP8 / 双 TP4</a:t>
            </a:r>
            <a:endParaRPr lang="zh-CN" sz="1830" dirty="0"/>
          </a:p>
        </p:txBody>
      </p:sp>
      <p:sp>
        <p:nvSpPr>
          <p:cNvPr id="18" name="Text 16"/>
          <p:cNvSpPr/>
          <p:nvPr/>
        </p:nvSpPr>
        <p:spPr>
          <a:xfrm>
            <a:off x="3209544" y="3813048"/>
            <a:ext cx="5221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6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缓存可容纳 20 个 1M 会话</a:t>
            </a:r>
            <a:endParaRPr lang="zh-CN" sz="1360" dirty="0"/>
          </a:p>
        </p:txBody>
      </p:sp>
      <p:sp>
        <p:nvSpPr>
          <p:cNvPr id="19" name="Text 17"/>
          <p:cNvSpPr/>
          <p:nvPr/>
        </p:nvSpPr>
        <p:spPr>
          <a:xfrm>
            <a:off x="8933688" y="3355848"/>
            <a:ext cx="25420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路满 1M 速度</a:t>
            </a:r>
            <a:endParaRPr lang="zh-CN" sz="13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仍需对应负载测量</a:t>
            </a:r>
            <a:endParaRPr lang="zh-CN" sz="1310" dirty="0"/>
          </a:p>
        </p:txBody>
      </p:sp>
      <p:sp>
        <p:nvSpPr>
          <p:cNvPr id="20" name="Shape 18"/>
          <p:cNvSpPr/>
          <p:nvPr/>
        </p:nvSpPr>
        <p:spPr>
          <a:xfrm>
            <a:off x="850392" y="4224528"/>
            <a:ext cx="10643616" cy="0"/>
          </a:xfrm>
          <a:prstGeom prst="line">
            <a:avLst/>
          </a:prstGeom>
          <a:noFill/>
          <a:ln w="10160">
            <a:solidFill>
              <a:srgbClr val="34506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49224" y="4398264"/>
            <a:ext cx="50292" cy="704088"/>
          </a:xfrm>
          <a:prstGeom prst="rect">
            <a:avLst>
              <a:gd name="adj" fmla="val 218182"/>
            </a:avLst>
          </a:prstGeom>
          <a:solidFill>
            <a:srgbClr val="E0AE62"/>
          </a:solidFill>
          <a:ln w="10160">
            <a:solidFill>
              <a:srgbClr val="E0AE6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4443984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E0A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A100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3191256" y="4407408"/>
            <a:ext cx="5239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固定版本 modified vLLM</a:t>
            </a:r>
            <a:endParaRPr lang="zh-CN" sz="1830" dirty="0"/>
          </a:p>
        </p:txBody>
      </p:sp>
      <p:sp>
        <p:nvSpPr>
          <p:cNvPr id="24" name="Text 22"/>
          <p:cNvSpPr/>
          <p:nvPr/>
        </p:nvSpPr>
        <p:spPr>
          <a:xfrm>
            <a:off x="3209544" y="4901184"/>
            <a:ext cx="5221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6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保留服务基础，按同机测试选择必要补丁</a:t>
            </a:r>
            <a:endParaRPr lang="zh-CN" sz="1360" dirty="0"/>
          </a:p>
        </p:txBody>
      </p:sp>
      <p:sp>
        <p:nvSpPr>
          <p:cNvPr id="25" name="Text 23"/>
          <p:cNvSpPr/>
          <p:nvPr/>
        </p:nvSpPr>
        <p:spPr>
          <a:xfrm>
            <a:off x="8933688" y="4443984"/>
            <a:ext cx="25420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shi3z 项目用于学习</a:t>
            </a:r>
            <a:endParaRPr lang="zh-CN" sz="131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310" dirty="0">
                <a:solidFill>
                  <a:srgbClr val="A7BC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硬件适配与优化方法</a:t>
            </a:r>
            <a:endParaRPr lang="zh-CN" sz="1310" dirty="0"/>
          </a:p>
        </p:txBody>
      </p:sp>
      <p:sp>
        <p:nvSpPr>
          <p:cNvPr id="26" name="Shape 24"/>
          <p:cNvSpPr/>
          <p:nvPr/>
        </p:nvSpPr>
        <p:spPr>
          <a:xfrm>
            <a:off x="694944" y="5687568"/>
            <a:ext cx="10817352" cy="521208"/>
          </a:xfrm>
          <a:prstGeom prst="roundRect">
            <a:avLst>
              <a:gd name="adj" fmla="val 21053"/>
            </a:avLst>
          </a:prstGeom>
          <a:solidFill>
            <a:srgbClr val="1B374D"/>
          </a:solidFill>
          <a:ln w="10160">
            <a:solidFill>
              <a:srgbClr val="1B374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32688" y="5811012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完成一项合格任务：用了多久？花了多少？</a:t>
            </a:r>
            <a:endParaRPr lang="zh-CN" sz="2000" dirty="0"/>
          </a:p>
        </p:txBody>
      </p:sp>
      <p:sp>
        <p:nvSpPr>
          <p:cNvPr id="28" name="Revision text 28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28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007F78"/>
          </a:solidFill>
          <a:ln w="10160">
            <a:solidFill>
              <a:srgbClr val="007F7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/ SPARK 实测与估算口径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单请求实测，不与四档容量估算混为一谈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单GB10、TP1；FP8权重 + FP8 KV；MTP3、FlashInfer；随机token输入；本次实测关闭前缀缓存。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来源：外部 Spark 测试汇总；Qwen模型卡；vLLM草稿长度问题#58080。配置详见本页备注。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34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44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实际输入 token</a:t>
            </a:r>
            <a:endParaRPr lang="zh-CN" sz="1440" dirty="0"/>
          </a:p>
        </p:txBody>
      </p:sp>
      <p:sp>
        <p:nvSpPr>
          <p:cNvPr id="10" name="Text 8"/>
          <p:cNvSpPr/>
          <p:nvPr/>
        </p:nvSpPr>
        <p:spPr>
          <a:xfrm>
            <a:off x="2898648" y="21031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4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token</a:t>
            </a:r>
            <a:endParaRPr lang="zh-CN" sz="1440" dirty="0"/>
          </a:p>
        </p:txBody>
      </p:sp>
      <p:sp>
        <p:nvSpPr>
          <p:cNvPr id="11" name="Text 9"/>
          <p:cNvSpPr/>
          <p:nvPr/>
        </p:nvSpPr>
        <p:spPr>
          <a:xfrm>
            <a:off x="4919472" y="210312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4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TTFT / 秒</a:t>
            </a:r>
            <a:endParaRPr lang="zh-CN" sz="1440" dirty="0"/>
          </a:p>
        </p:txBody>
      </p:sp>
      <p:sp>
        <p:nvSpPr>
          <p:cNvPr id="12" name="Text 10"/>
          <p:cNvSpPr/>
          <p:nvPr/>
        </p:nvSpPr>
        <p:spPr>
          <a:xfrm>
            <a:off x="7360920" y="210312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3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/ token/s</a:t>
            </a:r>
            <a:endParaRPr lang="zh-CN" sz="1330" dirty="0"/>
          </a:p>
        </p:txBody>
      </p:sp>
      <p:sp>
        <p:nvSpPr>
          <p:cNvPr id="13" name="Text 11"/>
          <p:cNvSpPr/>
          <p:nvPr/>
        </p:nvSpPr>
        <p:spPr>
          <a:xfrm>
            <a:off x="9875520" y="21031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4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</a:t>
            </a:r>
            <a:endParaRPr lang="zh-CN" sz="1440" dirty="0"/>
          </a:p>
        </p:txBody>
      </p:sp>
      <p:sp>
        <p:nvSpPr>
          <p:cNvPr id="14" name="Shape 12"/>
          <p:cNvSpPr/>
          <p:nvPr/>
        </p:nvSpPr>
        <p:spPr>
          <a:xfrm>
            <a:off x="667512" y="2569464"/>
            <a:ext cx="10853928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2770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1,024</a:t>
            </a:r>
            <a:endParaRPr lang="zh-CN" sz="1800" dirty="0"/>
          </a:p>
        </p:txBody>
      </p:sp>
      <p:sp>
        <p:nvSpPr>
          <p:cNvPr id="16" name="Text 14"/>
          <p:cNvSpPr/>
          <p:nvPr/>
        </p:nvSpPr>
        <p:spPr>
          <a:xfrm>
            <a:off x="2898648" y="2770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4919472" y="27706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zh-CN" sz="1800" dirty="0"/>
          </a:p>
        </p:txBody>
      </p:sp>
      <p:sp>
        <p:nvSpPr>
          <p:cNvPr id="18" name="Text 16"/>
          <p:cNvSpPr/>
          <p:nvPr/>
        </p:nvSpPr>
        <p:spPr>
          <a:xfrm>
            <a:off x="7360920" y="277063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20.53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9875520" y="27706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zh-CN" sz="1230" dirty="0"/>
          </a:p>
        </p:txBody>
      </p:sp>
      <p:sp>
        <p:nvSpPr>
          <p:cNvPr id="20" name="Text 18"/>
          <p:cNvSpPr/>
          <p:nvPr/>
        </p:nvSpPr>
        <p:spPr>
          <a:xfrm>
            <a:off x="777240" y="31775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zh-CN" sz="1800" dirty="0"/>
          </a:p>
        </p:txBody>
      </p:sp>
      <p:sp>
        <p:nvSpPr>
          <p:cNvPr id="21" name="Text 19"/>
          <p:cNvSpPr/>
          <p:nvPr/>
        </p:nvSpPr>
        <p:spPr>
          <a:xfrm>
            <a:off x="2898648" y="31775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919472" y="31775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63.1</a:t>
            </a:r>
            <a:endParaRPr lang="zh-CN" sz="1800" dirty="0"/>
          </a:p>
        </p:txBody>
      </p:sp>
      <p:sp>
        <p:nvSpPr>
          <p:cNvPr id="23" name="Text 21"/>
          <p:cNvSpPr/>
          <p:nvPr/>
        </p:nvSpPr>
        <p:spPr>
          <a:xfrm>
            <a:off x="7360920" y="31775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21.01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9875520" y="31775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zh-CN" sz="1230" dirty="0"/>
          </a:p>
        </p:txBody>
      </p:sp>
      <p:sp>
        <p:nvSpPr>
          <p:cNvPr id="25" name="Text 23"/>
          <p:cNvSpPr/>
          <p:nvPr/>
        </p:nvSpPr>
        <p:spPr>
          <a:xfrm>
            <a:off x="777240" y="3584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zh-CN" sz="1800" dirty="0"/>
          </a:p>
        </p:txBody>
      </p:sp>
      <p:sp>
        <p:nvSpPr>
          <p:cNvPr id="26" name="Text 24"/>
          <p:cNvSpPr/>
          <p:nvPr/>
        </p:nvSpPr>
        <p:spPr>
          <a:xfrm>
            <a:off x="2898648" y="3584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</a:t>
            </a:r>
            <a:endParaRPr lang="zh-CN" sz="1800" dirty="0"/>
          </a:p>
        </p:txBody>
      </p:sp>
      <p:sp>
        <p:nvSpPr>
          <p:cNvPr id="27" name="Text 25"/>
          <p:cNvSpPr/>
          <p:nvPr/>
        </p:nvSpPr>
        <p:spPr>
          <a:xfrm>
            <a:off x="4919472" y="358444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144.8</a:t>
            </a:r>
            <a:endParaRPr lang="zh-CN" sz="1800" dirty="0"/>
          </a:p>
        </p:txBody>
      </p:sp>
      <p:sp>
        <p:nvSpPr>
          <p:cNvPr id="28" name="Text 26"/>
          <p:cNvSpPr/>
          <p:nvPr/>
        </p:nvSpPr>
        <p:spPr>
          <a:xfrm>
            <a:off x="7360920" y="358444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20.11</a:t>
            </a:r>
            <a:endParaRPr lang="zh-CN" sz="1800" dirty="0"/>
          </a:p>
        </p:txBody>
      </p:sp>
      <p:sp>
        <p:nvSpPr>
          <p:cNvPr id="29" name="Text 27"/>
          <p:cNvSpPr/>
          <p:nvPr/>
        </p:nvSpPr>
        <p:spPr>
          <a:xfrm>
            <a:off x="9875520" y="358444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zh-CN" sz="1230" dirty="0"/>
          </a:p>
        </p:txBody>
      </p:sp>
      <p:sp>
        <p:nvSpPr>
          <p:cNvPr id="30" name="Text 28"/>
          <p:cNvSpPr/>
          <p:nvPr/>
        </p:nvSpPr>
        <p:spPr>
          <a:xfrm>
            <a:off x="777240" y="39913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300,000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2898648" y="39913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</a:t>
            </a:r>
            <a:endParaRPr lang="zh-CN" sz="1800" dirty="0"/>
          </a:p>
        </p:txBody>
      </p:sp>
      <p:sp>
        <p:nvSpPr>
          <p:cNvPr id="32" name="Text 30"/>
          <p:cNvSpPr/>
          <p:nvPr/>
        </p:nvSpPr>
        <p:spPr>
          <a:xfrm>
            <a:off x="4919472" y="399135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658.9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7360920" y="39913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17.23</a:t>
            </a:r>
            <a:endParaRPr lang="zh-CN" sz="1800" dirty="0"/>
          </a:p>
        </p:txBody>
      </p:sp>
      <p:sp>
        <p:nvSpPr>
          <p:cNvPr id="34" name="Text 32"/>
          <p:cNvSpPr/>
          <p:nvPr/>
        </p:nvSpPr>
        <p:spPr>
          <a:xfrm>
            <a:off x="9875520" y="399135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zh-CN" sz="1230" dirty="0"/>
          </a:p>
        </p:txBody>
      </p:sp>
      <p:sp>
        <p:nvSpPr>
          <p:cNvPr id="35" name="Text 33"/>
          <p:cNvSpPr/>
          <p:nvPr/>
        </p:nvSpPr>
        <p:spPr>
          <a:xfrm>
            <a:off x="777240" y="43982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</a:t>
            </a:r>
            <a:endParaRPr lang="zh-CN" sz="1800" dirty="0"/>
          </a:p>
        </p:txBody>
      </p:sp>
      <p:sp>
        <p:nvSpPr>
          <p:cNvPr id="36" name="Text 34"/>
          <p:cNvSpPr/>
          <p:nvPr/>
        </p:nvSpPr>
        <p:spPr>
          <a:xfrm>
            <a:off x="2898648" y="43982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2,048</a:t>
            </a:r>
            <a:endParaRPr lang="zh-CN" sz="1800" dirty="0"/>
          </a:p>
        </p:txBody>
      </p:sp>
      <p:sp>
        <p:nvSpPr>
          <p:cNvPr id="37" name="Text 35"/>
          <p:cNvSpPr/>
          <p:nvPr/>
        </p:nvSpPr>
        <p:spPr>
          <a:xfrm>
            <a:off x="4919472" y="439826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1,470.1</a:t>
            </a:r>
            <a:endParaRPr lang="zh-CN" sz="1800" dirty="0"/>
          </a:p>
        </p:txBody>
      </p:sp>
      <p:sp>
        <p:nvSpPr>
          <p:cNvPr id="38" name="Text 36"/>
          <p:cNvSpPr/>
          <p:nvPr/>
        </p:nvSpPr>
        <p:spPr>
          <a:xfrm>
            <a:off x="7360920" y="439826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14.82</a:t>
            </a:r>
            <a:endParaRPr lang="zh-CN" sz="1800" dirty="0"/>
          </a:p>
        </p:txBody>
      </p:sp>
      <p:sp>
        <p:nvSpPr>
          <p:cNvPr id="39" name="Text 37"/>
          <p:cNvSpPr/>
          <p:nvPr/>
        </p:nvSpPr>
        <p:spPr>
          <a:xfrm>
            <a:off x="9875520" y="43982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zh-CN" sz="1230" dirty="0"/>
          </a:p>
        </p:txBody>
      </p:sp>
      <p:sp>
        <p:nvSpPr>
          <p:cNvPr id="40" name="Shape 38"/>
          <p:cNvSpPr/>
          <p:nvPr/>
        </p:nvSpPr>
        <p:spPr>
          <a:xfrm>
            <a:off x="667512" y="4764024"/>
            <a:ext cx="10853928" cy="393192"/>
          </a:xfrm>
          <a:prstGeom prst="roundRect">
            <a:avLst>
              <a:gd name="adj" fmla="val 27907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77240" y="48051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999,936</a:t>
            </a:r>
            <a:endParaRPr lang="zh-CN" sz="1800" dirty="0"/>
          </a:p>
        </p:txBody>
      </p:sp>
      <p:sp>
        <p:nvSpPr>
          <p:cNvPr id="42" name="Text 40"/>
          <p:cNvSpPr/>
          <p:nvPr/>
        </p:nvSpPr>
        <p:spPr>
          <a:xfrm>
            <a:off x="2898648" y="48051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zh-CN" sz="1800" dirty="0"/>
          </a:p>
        </p:txBody>
      </p:sp>
      <p:sp>
        <p:nvSpPr>
          <p:cNvPr id="43" name="Text 41"/>
          <p:cNvSpPr/>
          <p:nvPr/>
        </p:nvSpPr>
        <p:spPr>
          <a:xfrm>
            <a:off x="4919472" y="480517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4,815.8</a:t>
            </a:r>
            <a:endParaRPr lang="zh-CN" sz="1800" dirty="0"/>
          </a:p>
        </p:txBody>
      </p:sp>
      <p:sp>
        <p:nvSpPr>
          <p:cNvPr id="44" name="Text 42"/>
          <p:cNvSpPr/>
          <p:nvPr/>
        </p:nvSpPr>
        <p:spPr>
          <a:xfrm>
            <a:off x="7360920" y="480517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9.83*</a:t>
            </a:r>
            <a:endParaRPr lang="zh-CN" sz="1800" dirty="0"/>
          </a:p>
        </p:txBody>
      </p:sp>
      <p:sp>
        <p:nvSpPr>
          <p:cNvPr id="45" name="Text 43"/>
          <p:cNvSpPr/>
          <p:nvPr/>
        </p:nvSpPr>
        <p:spPr>
          <a:xfrm>
            <a:off x="9875520" y="48051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3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容量验证</a:t>
            </a:r>
            <a:endParaRPr lang="zh-CN" sz="1230" dirty="0"/>
          </a:p>
        </p:txBody>
      </p:sp>
      <p:sp>
        <p:nvSpPr>
          <p:cNvPr id="46" name="Shape 44"/>
          <p:cNvSpPr/>
          <p:nvPr/>
        </p:nvSpPr>
        <p:spPr>
          <a:xfrm>
            <a:off x="676656" y="5568696"/>
            <a:ext cx="10853928" cy="502920"/>
          </a:xfrm>
          <a:prstGeom prst="roundRect">
            <a:avLst>
              <a:gd name="adj" fmla="val 21818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77824" y="5705856"/>
            <a:ext cx="10442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5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缓存命中后新增 1K 输入的 prefill 估算：131K ≈ 2秒 · 262K ≈ 3秒 · 512K ≈ 5秒 · 1M ≈ 9秒（外推）</a:t>
            </a:r>
            <a:endParaRPr lang="zh-CN" sz="1250" dirty="0"/>
          </a:p>
        </p:txBody>
      </p:sp>
      <p:sp>
        <p:nvSpPr>
          <p:cNvPr id="48" name="Text 46"/>
          <p:cNvSpPr/>
          <p:nvPr/>
        </p:nvSpPr>
        <p:spPr>
          <a:xfrm>
            <a:off x="585216" y="6181344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仅 64 token 的短段 decode，不代表长输出稳态速度。四档估算均另留 8,192 token 输出空间。</a:t>
            </a:r>
            <a:endParaRPr lang="zh-CN" sz="1050" dirty="0"/>
          </a:p>
        </p:txBody>
      </p:sp>
      <p:sp>
        <p:nvSpPr>
          <p:cNvPr id="49" name="Revision text 49"/>
          <p:cNvSpPr txBox="1"/>
          <p:nvPr/>
        </p:nvSpPr>
        <p:spPr>
          <a:xfrm>
            <a:off x="813816" y="5285232"/>
            <a:ext cx="1057046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u="none" lang="zh-CN">
                <a:solidFill>
                  <a:srgbClr val="007F78"/>
                </a:solidFill>
                <a:latin typeface="Microsoft YaHei"/>
                <a:ea typeface="Microsoft YaHei"/>
                <a:cs typeface="Microsoft YaHei"/>
              </a:rPr>
              <a:t>长上下文配置：YaRN factor=4；主模型与 MTP 草稿上限均为 1,000,000。</a:t>
            </a:r>
          </a:p>
        </p:txBody>
      </p:sp>
      <p:sp>
        <p:nvSpPr>
          <p:cNvPr id="50" name="Revision text 50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29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 / 容量预算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从启动池预算换算到每会话可用上下文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公司主表按图捕获后建议预算作线性调整，再预留 10% token 余量。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来源：公开启动池汇总与讲稿技术附注。graph后预算线性调整，再预留10%；本表仍为GPU池。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34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21122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42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公开配置</a:t>
            </a:r>
            <a:endParaRPr lang="zh-CN" sz="1420" dirty="0"/>
          </a:p>
        </p:txBody>
      </p:sp>
      <p:sp>
        <p:nvSpPr>
          <p:cNvPr id="10" name="Text 8"/>
          <p:cNvSpPr/>
          <p:nvPr/>
        </p:nvSpPr>
        <p:spPr>
          <a:xfrm>
            <a:off x="3913632" y="211226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2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已分配 KV / 卡</a:t>
            </a:r>
            <a:endParaRPr lang="zh-CN" sz="1420" dirty="0"/>
          </a:p>
        </p:txBody>
      </p:sp>
      <p:sp>
        <p:nvSpPr>
          <p:cNvPr id="11" name="Text 9"/>
          <p:cNvSpPr/>
          <p:nvPr/>
        </p:nvSpPr>
        <p:spPr>
          <a:xfrm>
            <a:off x="6519672" y="211226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2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token 池</a:t>
            </a:r>
            <a:endParaRPr lang="zh-CN" sz="1420" dirty="0"/>
          </a:p>
        </p:txBody>
      </p:sp>
      <p:sp>
        <p:nvSpPr>
          <p:cNvPr id="12" name="Text 10"/>
          <p:cNvSpPr/>
          <p:nvPr/>
        </p:nvSpPr>
        <p:spPr>
          <a:xfrm>
            <a:off x="9244584" y="21122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42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严格预算 / 卡</a:t>
            </a:r>
            <a:endParaRPr lang="zh-CN" sz="1420" dirty="0"/>
          </a:p>
        </p:txBody>
      </p:sp>
      <p:sp>
        <p:nvSpPr>
          <p:cNvPr id="13" name="Shape 11"/>
          <p:cNvSpPr/>
          <p:nvPr/>
        </p:nvSpPr>
        <p:spPr>
          <a:xfrm>
            <a:off x="713232" y="2615184"/>
            <a:ext cx="10744200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28895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 TP8</a:t>
            </a:r>
            <a:endParaRPr lang="zh-CN" sz="2100" dirty="0"/>
          </a:p>
        </p:txBody>
      </p:sp>
      <p:sp>
        <p:nvSpPr>
          <p:cNvPr id="15" name="Text 13"/>
          <p:cNvSpPr/>
          <p:nvPr/>
        </p:nvSpPr>
        <p:spPr>
          <a:xfrm>
            <a:off x="3913632" y="288950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12.36GiB</a:t>
            </a:r>
            <a:endParaRPr lang="zh-CN" sz="2100" dirty="0"/>
          </a:p>
        </p:txBody>
      </p:sp>
      <p:sp>
        <p:nvSpPr>
          <p:cNvPr id="16" name="Text 14"/>
          <p:cNvSpPr/>
          <p:nvPr/>
        </p:nvSpPr>
        <p:spPr>
          <a:xfrm>
            <a:off x="6519672" y="2889504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6.435M</a:t>
            </a:r>
            <a:endParaRPr lang="zh-CN" sz="2100" dirty="0"/>
          </a:p>
        </p:txBody>
      </p:sp>
      <p:sp>
        <p:nvSpPr>
          <p:cNvPr id="17" name="Text 15"/>
          <p:cNvSpPr/>
          <p:nvPr/>
        </p:nvSpPr>
        <p:spPr>
          <a:xfrm>
            <a:off x="9244584" y="28895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10.34GiB</a:t>
            </a:r>
            <a:endParaRPr lang="zh-CN" sz="2100" dirty="0"/>
          </a:p>
        </p:txBody>
      </p:sp>
      <p:sp>
        <p:nvSpPr>
          <p:cNvPr id="18" name="Shape 16"/>
          <p:cNvSpPr/>
          <p:nvPr/>
        </p:nvSpPr>
        <p:spPr>
          <a:xfrm>
            <a:off x="822960" y="3346704"/>
            <a:ext cx="10506456" cy="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41248" y="3474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TP4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3913632" y="347472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35.16GiB</a:t>
            </a:r>
            <a:endParaRPr lang="zh-CN" sz="2100" dirty="0"/>
          </a:p>
        </p:txBody>
      </p:sp>
      <p:sp>
        <p:nvSpPr>
          <p:cNvPr id="21" name="Text 19"/>
          <p:cNvSpPr/>
          <p:nvPr/>
        </p:nvSpPr>
        <p:spPr>
          <a:xfrm>
            <a:off x="6519672" y="347472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18.327M</a:t>
            </a:r>
            <a:endParaRPr lang="zh-CN" sz="2100" dirty="0"/>
          </a:p>
        </p:txBody>
      </p:sp>
      <p:sp>
        <p:nvSpPr>
          <p:cNvPr id="22" name="Text 20"/>
          <p:cNvSpPr/>
          <p:nvPr/>
        </p:nvSpPr>
        <p:spPr>
          <a:xfrm>
            <a:off x="9244584" y="3474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32.49GiB</a:t>
            </a:r>
            <a:endParaRPr lang="zh-CN" sz="2100" dirty="0"/>
          </a:p>
        </p:txBody>
      </p:sp>
      <p:sp>
        <p:nvSpPr>
          <p:cNvPr id="23" name="Shape 21"/>
          <p:cNvSpPr/>
          <p:nvPr/>
        </p:nvSpPr>
        <p:spPr>
          <a:xfrm>
            <a:off x="822960" y="3931920"/>
            <a:ext cx="10506456" cy="0"/>
          </a:xfrm>
          <a:prstGeom prst="line">
            <a:avLst/>
          </a:prstGeom>
          <a:noFill/>
          <a:ln w="1016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41248" y="40599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TP8</a:t>
            </a:r>
            <a:endParaRPr lang="zh-CN" sz="2100" dirty="0"/>
          </a:p>
        </p:txBody>
      </p:sp>
      <p:sp>
        <p:nvSpPr>
          <p:cNvPr id="25" name="Text 23"/>
          <p:cNvSpPr/>
          <p:nvPr/>
        </p:nvSpPr>
        <p:spPr>
          <a:xfrm>
            <a:off x="3913632" y="405993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62.86GiB</a:t>
            </a:r>
            <a:endParaRPr lang="zh-CN" sz="2100" dirty="0"/>
          </a:p>
        </p:txBody>
      </p:sp>
      <p:sp>
        <p:nvSpPr>
          <p:cNvPr id="26" name="Text 24"/>
          <p:cNvSpPr/>
          <p:nvPr/>
        </p:nvSpPr>
        <p:spPr>
          <a:xfrm>
            <a:off x="6519672" y="405993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29.498M</a:t>
            </a:r>
            <a:endParaRPr lang="zh-CN" sz="2100" dirty="0"/>
          </a:p>
        </p:txBody>
      </p:sp>
      <p:sp>
        <p:nvSpPr>
          <p:cNvPr id="27" name="Text 25"/>
          <p:cNvSpPr/>
          <p:nvPr/>
        </p:nvSpPr>
        <p:spPr>
          <a:xfrm>
            <a:off x="9244584" y="40599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60.20GiB</a:t>
            </a:r>
            <a:endParaRPr lang="zh-CN" sz="2100" dirty="0"/>
          </a:p>
        </p:txBody>
      </p:sp>
      <p:sp>
        <p:nvSpPr>
          <p:cNvPr id="28" name="Shape 26"/>
          <p:cNvSpPr/>
          <p:nvPr/>
        </p:nvSpPr>
        <p:spPr>
          <a:xfrm>
            <a:off x="704088" y="4800600"/>
            <a:ext cx="10780776" cy="548640"/>
          </a:xfrm>
          <a:prstGeom prst="roundRect">
            <a:avLst>
              <a:gd name="adj" fmla="val 2000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32688" y="4965192"/>
            <a:ext cx="10341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每会话容量 ≈ 实例 token 池 ×（严格预算 ÷ 已分配 KV）× 90% ÷ 会话数</a:t>
            </a:r>
            <a:endParaRPr lang="zh-CN" sz="1500" dirty="0"/>
          </a:p>
        </p:txBody>
      </p:sp>
      <p:sp>
        <p:nvSpPr>
          <p:cNvPr id="30" name="Text 28"/>
          <p:cNvSpPr/>
          <p:nvPr/>
        </p:nvSpPr>
        <p:spPr>
          <a:xfrm>
            <a:off x="896112" y="5614416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2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FP8 池：1,806,907 token</a:t>
            </a:r>
            <a:endParaRPr lang="zh-CN" sz="1720" dirty="0"/>
          </a:p>
        </p:txBody>
      </p:sp>
      <p:sp>
        <p:nvSpPr>
          <p:cNvPr id="31" name="Text 29"/>
          <p:cNvSpPr/>
          <p:nvPr/>
        </p:nvSpPr>
        <p:spPr>
          <a:xfrm>
            <a:off x="5760720" y="5632704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近似减半：单人 512K，或三人各 262K</a:t>
            </a:r>
            <a:endParaRPr lang="zh-CN" sz="1370" dirty="0"/>
          </a:p>
        </p:txBody>
      </p:sp>
      <p:sp>
        <p:nvSpPr>
          <p:cNvPr id="32" name="Text 30"/>
          <p:cNvSpPr/>
          <p:nvPr/>
        </p:nvSpPr>
        <p:spPr>
          <a:xfrm>
            <a:off x="585216" y="6181344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BF16 为同内存池近似；预留空闲 token 不会释放已分配的物理内存。</a:t>
            </a:r>
            <a:endParaRPr lang="zh-CN" sz="1050" dirty="0"/>
          </a:p>
        </p:txBody>
      </p:sp>
      <p:sp>
        <p:nvSpPr>
          <p:cNvPr id="33" name="Revision text 33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30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C / AGENTX 公开回放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公司服务的多轮性能参照：完整公开结果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平均输入约 140K–157K；前缀命中约 95%；DSpark5，平均接受长度预设为 3.51。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来源：AgentX公开回放汇总与讲稿二.5。沿用原测量值，保留实际输入与回放条件。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34</a:t>
            </a:r>
            <a:endParaRPr lang="zh-CN" sz="1000" dirty="0"/>
          </a:p>
        </p:txBody>
      </p:sp>
      <p:sp>
        <p:nvSpPr>
          <p:cNvPr id="9" name="Text 7"/>
          <p:cNvSpPr/>
          <p:nvPr/>
        </p:nvSpPr>
        <p:spPr>
          <a:xfrm>
            <a:off x="786384" y="2148840"/>
            <a:ext cx="2258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13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zh-CN" sz="1350" dirty="0"/>
          </a:p>
        </p:txBody>
      </p:sp>
      <p:sp>
        <p:nvSpPr>
          <p:cNvPr id="10" name="Text 8"/>
          <p:cNvSpPr/>
          <p:nvPr/>
        </p:nvSpPr>
        <p:spPr>
          <a:xfrm>
            <a:off x="3419856" y="2148840"/>
            <a:ext cx="1298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回放会话数</a:t>
            </a:r>
            <a:endParaRPr lang="zh-CN" sz="1350" dirty="0"/>
          </a:p>
        </p:txBody>
      </p:sp>
      <p:sp>
        <p:nvSpPr>
          <p:cNvPr id="11" name="Text 9"/>
          <p:cNvSpPr/>
          <p:nvPr/>
        </p:nvSpPr>
        <p:spPr>
          <a:xfrm>
            <a:off x="5166360" y="214884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总输出 / token/s</a:t>
            </a:r>
            <a:endParaRPr lang="zh-CN" sz="1350" dirty="0"/>
          </a:p>
        </p:txBody>
      </p:sp>
      <p:sp>
        <p:nvSpPr>
          <p:cNvPr id="12" name="Text 10"/>
          <p:cNvSpPr/>
          <p:nvPr/>
        </p:nvSpPr>
        <p:spPr>
          <a:xfrm>
            <a:off x="7854696" y="2148840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24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TTFT 均值 / 秒</a:t>
            </a:r>
            <a:endParaRPr lang="zh-CN" sz="1240" dirty="0"/>
          </a:p>
        </p:txBody>
      </p:sp>
      <p:sp>
        <p:nvSpPr>
          <p:cNvPr id="13" name="Text 11"/>
          <p:cNvSpPr/>
          <p:nvPr/>
        </p:nvSpPr>
        <p:spPr>
          <a:xfrm>
            <a:off x="9848088" y="2148840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350" b="1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 / 秒</a:t>
            </a:r>
            <a:endParaRPr lang="zh-CN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2642616"/>
            <a:ext cx="10844784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86384" y="2852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 TP8</a:t>
            </a:r>
            <a:endParaRPr lang="zh-CN" sz="2000" dirty="0"/>
          </a:p>
        </p:txBody>
      </p:sp>
      <p:sp>
        <p:nvSpPr>
          <p:cNvPr id="16" name="Text 14"/>
          <p:cNvSpPr/>
          <p:nvPr/>
        </p:nvSpPr>
        <p:spPr>
          <a:xfrm>
            <a:off x="3419856" y="28529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zh-CN" sz="2000" dirty="0"/>
          </a:p>
        </p:txBody>
      </p:sp>
      <p:sp>
        <p:nvSpPr>
          <p:cNvPr id="17" name="Text 15"/>
          <p:cNvSpPr/>
          <p:nvPr/>
        </p:nvSpPr>
        <p:spPr>
          <a:xfrm>
            <a:off x="5166360" y="2852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718.48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7854696" y="28529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2.05</a:t>
            </a:r>
            <a:endParaRPr lang="zh-CN" sz="2000" dirty="0"/>
          </a:p>
        </p:txBody>
      </p:sp>
      <p:sp>
        <p:nvSpPr>
          <p:cNvPr id="19" name="Text 17"/>
          <p:cNvSpPr/>
          <p:nvPr/>
        </p:nvSpPr>
        <p:spPr>
          <a:xfrm>
            <a:off x="9848088" y="285292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6.98</a:t>
            </a:r>
            <a:endParaRPr lang="zh-CN" sz="2000" dirty="0"/>
          </a:p>
        </p:txBody>
      </p:sp>
      <p:sp>
        <p:nvSpPr>
          <p:cNvPr id="20" name="Text 18"/>
          <p:cNvSpPr/>
          <p:nvPr/>
        </p:nvSpPr>
        <p:spPr>
          <a:xfrm>
            <a:off x="786384" y="33467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TP4</a:t>
            </a:r>
            <a:endParaRPr lang="zh-CN" sz="2000" dirty="0"/>
          </a:p>
        </p:txBody>
      </p:sp>
      <p:sp>
        <p:nvSpPr>
          <p:cNvPr id="21" name="Text 19"/>
          <p:cNvSpPr/>
          <p:nvPr/>
        </p:nvSpPr>
        <p:spPr>
          <a:xfrm>
            <a:off x="3419856" y="3346704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5166360" y="3346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614.76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7854696" y="334670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zh-CN" sz="2000" dirty="0"/>
          </a:p>
        </p:txBody>
      </p:sp>
      <p:sp>
        <p:nvSpPr>
          <p:cNvPr id="24" name="Text 22"/>
          <p:cNvSpPr/>
          <p:nvPr/>
        </p:nvSpPr>
        <p:spPr>
          <a:xfrm>
            <a:off x="9848088" y="3346704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3.03</a:t>
            </a:r>
            <a:endParaRPr lang="zh-CN" sz="2000" dirty="0"/>
          </a:p>
        </p:txBody>
      </p:sp>
      <p:sp>
        <p:nvSpPr>
          <p:cNvPr id="25" name="Text 23"/>
          <p:cNvSpPr/>
          <p:nvPr/>
        </p:nvSpPr>
        <p:spPr>
          <a:xfrm>
            <a:off x="786384" y="38404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TP4</a:t>
            </a:r>
            <a:endParaRPr lang="zh-CN" sz="2000" dirty="0"/>
          </a:p>
        </p:txBody>
      </p:sp>
      <p:sp>
        <p:nvSpPr>
          <p:cNvPr id="26" name="Text 24"/>
          <p:cNvSpPr/>
          <p:nvPr/>
        </p:nvSpPr>
        <p:spPr>
          <a:xfrm>
            <a:off x="3419856" y="38404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zh-CN" sz="2000" dirty="0"/>
          </a:p>
        </p:txBody>
      </p:sp>
      <p:sp>
        <p:nvSpPr>
          <p:cNvPr id="27" name="Text 25"/>
          <p:cNvSpPr/>
          <p:nvPr/>
        </p:nvSpPr>
        <p:spPr>
          <a:xfrm>
            <a:off x="516636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922.61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7854696" y="38404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1.47</a:t>
            </a:r>
            <a:endParaRPr lang="zh-CN" sz="2000" dirty="0"/>
          </a:p>
        </p:txBody>
      </p:sp>
      <p:sp>
        <p:nvSpPr>
          <p:cNvPr id="29" name="Text 27"/>
          <p:cNvSpPr/>
          <p:nvPr/>
        </p:nvSpPr>
        <p:spPr>
          <a:xfrm>
            <a:off x="9848088" y="3840480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5.12</a:t>
            </a:r>
            <a:endParaRPr lang="zh-CN" sz="2000" dirty="0"/>
          </a:p>
        </p:txBody>
      </p:sp>
      <p:sp>
        <p:nvSpPr>
          <p:cNvPr id="30" name="Text 28"/>
          <p:cNvSpPr/>
          <p:nvPr/>
        </p:nvSpPr>
        <p:spPr>
          <a:xfrm>
            <a:off x="786384" y="433425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TP8</a:t>
            </a:r>
            <a:endParaRPr lang="zh-CN" sz="2000" dirty="0"/>
          </a:p>
        </p:txBody>
      </p:sp>
      <p:sp>
        <p:nvSpPr>
          <p:cNvPr id="31" name="Text 29"/>
          <p:cNvSpPr/>
          <p:nvPr/>
        </p:nvSpPr>
        <p:spPr>
          <a:xfrm>
            <a:off x="3419856" y="433425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zh-CN" sz="2000" dirty="0"/>
          </a:p>
        </p:txBody>
      </p:sp>
      <p:sp>
        <p:nvSpPr>
          <p:cNvPr id="32" name="Text 30"/>
          <p:cNvSpPr/>
          <p:nvPr/>
        </p:nvSpPr>
        <p:spPr>
          <a:xfrm>
            <a:off x="5166360" y="4334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661.15</a:t>
            </a:r>
            <a:endParaRPr lang="zh-CN" sz="2000" dirty="0"/>
          </a:p>
        </p:txBody>
      </p:sp>
      <p:sp>
        <p:nvSpPr>
          <p:cNvPr id="33" name="Text 31"/>
          <p:cNvSpPr/>
          <p:nvPr/>
        </p:nvSpPr>
        <p:spPr>
          <a:xfrm>
            <a:off x="7854696" y="43342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zh-CN" sz="2000" dirty="0"/>
          </a:p>
        </p:txBody>
      </p:sp>
      <p:sp>
        <p:nvSpPr>
          <p:cNvPr id="34" name="Text 32"/>
          <p:cNvSpPr/>
          <p:nvPr/>
        </p:nvSpPr>
        <p:spPr>
          <a:xfrm>
            <a:off x="9848088" y="4334256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152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2.14</a:t>
            </a:r>
            <a:endParaRPr lang="zh-CN" sz="2000" dirty="0"/>
          </a:p>
        </p:txBody>
      </p:sp>
      <p:sp>
        <p:nvSpPr>
          <p:cNvPr id="35" name="Shape 33"/>
          <p:cNvSpPr/>
          <p:nvPr/>
        </p:nvSpPr>
        <p:spPr>
          <a:xfrm>
            <a:off x="685800" y="4773168"/>
            <a:ext cx="10844784" cy="448056"/>
          </a:xfrm>
          <a:prstGeom prst="roundRect">
            <a:avLst>
              <a:gd name="adj" fmla="val 24490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86384" y="482803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TP8</a:t>
            </a:r>
            <a:endParaRPr lang="zh-CN" sz="2000" dirty="0"/>
          </a:p>
        </p:txBody>
      </p:sp>
      <p:sp>
        <p:nvSpPr>
          <p:cNvPr id="37" name="Text 35"/>
          <p:cNvSpPr/>
          <p:nvPr/>
        </p:nvSpPr>
        <p:spPr>
          <a:xfrm>
            <a:off x="3419856" y="48280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zh-CN" sz="2000" dirty="0"/>
          </a:p>
        </p:txBody>
      </p:sp>
      <p:sp>
        <p:nvSpPr>
          <p:cNvPr id="38" name="Text 36"/>
          <p:cNvSpPr/>
          <p:nvPr/>
        </p:nvSpPr>
        <p:spPr>
          <a:xfrm>
            <a:off x="5166360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1,052.18</a:t>
            </a:r>
            <a:endParaRPr lang="zh-CN" sz="2000" dirty="0"/>
          </a:p>
        </p:txBody>
      </p:sp>
      <p:sp>
        <p:nvSpPr>
          <p:cNvPr id="39" name="Text 37"/>
          <p:cNvSpPr/>
          <p:nvPr/>
        </p:nvSpPr>
        <p:spPr>
          <a:xfrm>
            <a:off x="7854696" y="482803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zh-CN" sz="2000" dirty="0"/>
          </a:p>
        </p:txBody>
      </p:sp>
      <p:sp>
        <p:nvSpPr>
          <p:cNvPr id="40" name="Text 38"/>
          <p:cNvSpPr/>
          <p:nvPr/>
        </p:nvSpPr>
        <p:spPr>
          <a:xfrm>
            <a:off x="9848088" y="4828032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20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2.63</a:t>
            </a:r>
            <a:endParaRPr lang="zh-CN" sz="2000" dirty="0"/>
          </a:p>
        </p:txBody>
      </p:sp>
      <p:sp>
        <p:nvSpPr>
          <p:cNvPr id="41" name="Shape 39"/>
          <p:cNvSpPr/>
          <p:nvPr/>
        </p:nvSpPr>
        <p:spPr>
          <a:xfrm>
            <a:off x="685800" y="5687568"/>
            <a:ext cx="10844784" cy="448056"/>
          </a:xfrm>
          <a:prstGeom prst="roundRect">
            <a:avLst>
              <a:gd name="adj" fmla="val 24490"/>
            </a:avLst>
          </a:prstGeom>
          <a:solidFill>
            <a:srgbClr val="11263A"/>
          </a:solidFill>
          <a:ln w="10160">
            <a:solidFill>
              <a:srgbClr val="11263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14400" y="5806440"/>
            <a:ext cx="10387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回放包含生成与等待工具两个阶段；不能据此直接推断 20 路满 1M 的每路速度。</a:t>
            </a:r>
            <a:endParaRPr lang="zh-CN" sz="1450" dirty="0"/>
          </a:p>
        </p:txBody>
      </p:sp>
      <p:sp>
        <p:nvSpPr>
          <p:cNvPr id="43" name="Revision text 43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31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D / 价格与交付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完整服务器配置与交付预算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 2026-10-12 预算，假设 USD/CNY=7.00；点击服务器名称可查看原始报价入口。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89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来源：handoff整机配置和报价入口；工具CPU节点另加12–26万元；具体SKU与交付条件采购时核对。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34</a:t>
            </a:r>
            <a:endParaRPr lang="zh-CN" sz="1000" dirty="0"/>
          </a:p>
        </p:txBody>
      </p:sp>
      <p:sp>
        <p:nvSpPr>
          <p:cNvPr id="9" name="Revision text 9"/>
          <p:cNvSpPr txBox="1"/>
          <p:nvPr/>
        </p:nvSpPr>
        <p:spPr>
          <a:xfrm>
            <a:off x="795528" y="2148840"/>
            <a:ext cx="2084831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GPU 服务器</a:t>
            </a:r>
          </a:p>
        </p:txBody>
      </p:sp>
      <p:sp>
        <p:nvSpPr>
          <p:cNvPr id="10" name="Revision text 10"/>
          <p:cNvSpPr txBox="1"/>
          <p:nvPr/>
        </p:nvSpPr>
        <p:spPr>
          <a:xfrm>
            <a:off x="3072384" y="2148840"/>
            <a:ext cx="2313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11" name="Revision text 11"/>
          <p:cNvSpPr txBox="1"/>
          <p:nvPr/>
        </p:nvSpPr>
        <p:spPr>
          <a:xfrm>
            <a:off x="5596128" y="214884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主机内存</a:t>
            </a:r>
          </a:p>
        </p:txBody>
      </p:sp>
      <p:sp>
        <p:nvSpPr>
          <p:cNvPr id="12" name="Revision text 12"/>
          <p:cNvSpPr txBox="1"/>
          <p:nvPr/>
        </p:nvSpPr>
        <p:spPr>
          <a:xfrm>
            <a:off x="7196328" y="2148840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机内互联</a:t>
            </a:r>
          </a:p>
        </p:txBody>
      </p:sp>
      <p:sp>
        <p:nvSpPr>
          <p:cNvPr id="13" name="Revision text 13"/>
          <p:cNvSpPr txBox="1"/>
          <p:nvPr/>
        </p:nvSpPr>
        <p:spPr>
          <a:xfrm>
            <a:off x="9921240" y="2148840"/>
            <a:ext cx="143560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预算 / 万元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2560320"/>
            <a:ext cx="10643616" cy="0"/>
          </a:xfrm>
          <a:prstGeom prst="line">
            <a:avLst/>
          </a:prstGeom>
          <a:ln w="12700">
            <a:solidFill>
              <a:srgbClr val="DF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vision panel 15"/>
          <p:cNvSpPr/>
          <p:nvPr/>
        </p:nvSpPr>
        <p:spPr>
          <a:xfrm>
            <a:off x="731520" y="2642616"/>
            <a:ext cx="10762488" cy="46634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sion text 16"/>
          <p:cNvSpPr txBox="1"/>
          <p:nvPr/>
        </p:nvSpPr>
        <p:spPr>
          <a:xfrm>
            <a:off x="795528" y="2688336"/>
            <a:ext cx="208483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  <a:hlinkClick r:id="rId3"/>
              </a:rPr>
              <a:t>8×A100 80GB SXM4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  <a:hlinkClick r:id="rId3"/>
              </a:rPr>
              <a:t>翻新</a:t>
            </a:r>
          </a:p>
        </p:txBody>
      </p:sp>
      <p:sp>
        <p:nvSpPr>
          <p:cNvPr id="17" name="Revision text 17"/>
          <p:cNvSpPr txBox="1"/>
          <p:nvPr/>
        </p:nvSpPr>
        <p:spPr>
          <a:xfrm>
            <a:off x="3072384" y="2688336"/>
            <a:ext cx="2313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双 EPYC 7V12</a:t>
            </a:r>
          </a:p>
        </p:txBody>
      </p:sp>
      <p:sp>
        <p:nvSpPr>
          <p:cNvPr id="18" name="Revision text 18"/>
          <p:cNvSpPr txBox="1"/>
          <p:nvPr/>
        </p:nvSpPr>
        <p:spPr>
          <a:xfrm>
            <a:off x="5596128" y="2688336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1TB DDR4</a:t>
            </a:r>
          </a:p>
        </p:txBody>
      </p:sp>
      <p:sp>
        <p:nvSpPr>
          <p:cNvPr id="19" name="Revision text 19"/>
          <p:cNvSpPr txBox="1"/>
          <p:nvPr/>
        </p:nvSpPr>
        <p:spPr>
          <a:xfrm>
            <a:off x="7196328" y="2688336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HGX / NVLink</a:t>
            </a:r>
          </a:p>
        </p:txBody>
      </p:sp>
      <p:sp>
        <p:nvSpPr>
          <p:cNvPr id="20" name="Revision text 20"/>
          <p:cNvSpPr txBox="1"/>
          <p:nvPr/>
        </p:nvSpPr>
        <p:spPr>
          <a:xfrm>
            <a:off x="9921240" y="2688336"/>
            <a:ext cx="143560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91–102</a:t>
            </a:r>
          </a:p>
        </p:txBody>
      </p:sp>
      <p:sp>
        <p:nvSpPr>
          <p:cNvPr id="21" name="Revision panel 21"/>
          <p:cNvSpPr/>
          <p:nvPr/>
        </p:nvSpPr>
        <p:spPr>
          <a:xfrm>
            <a:off x="731520" y="3145536"/>
            <a:ext cx="10762488" cy="466344"/>
          </a:xfrm>
          <a:prstGeom prst="roundRect">
            <a:avLst>
              <a:gd name="adj" fmla="val 13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vision text 22"/>
          <p:cNvSpPr txBox="1"/>
          <p:nvPr/>
        </p:nvSpPr>
        <p:spPr>
          <a:xfrm>
            <a:off x="795528" y="3191256"/>
            <a:ext cx="208483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  <a:hlinkClick r:id="rId4"/>
              </a:rPr>
              <a:t>8×H100 80GB SXM5</a:t>
            </a:r>
          </a:p>
        </p:txBody>
      </p:sp>
      <p:sp>
        <p:nvSpPr>
          <p:cNvPr id="23" name="Revision text 23"/>
          <p:cNvSpPr txBox="1"/>
          <p:nvPr/>
        </p:nvSpPr>
        <p:spPr>
          <a:xfrm>
            <a:off x="3072384" y="3191256"/>
            <a:ext cx="2313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双 EPYC 9454</a:t>
            </a:r>
          </a:p>
        </p:txBody>
      </p:sp>
      <p:sp>
        <p:nvSpPr>
          <p:cNvPr id="24" name="Revision text 24"/>
          <p:cNvSpPr txBox="1"/>
          <p:nvPr/>
        </p:nvSpPr>
        <p:spPr>
          <a:xfrm>
            <a:off x="5596128" y="3191256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1.5TB DDR5</a:t>
            </a:r>
          </a:p>
        </p:txBody>
      </p:sp>
      <p:sp>
        <p:nvSpPr>
          <p:cNvPr id="25" name="Revision text 25"/>
          <p:cNvSpPr txBox="1"/>
          <p:nvPr/>
        </p:nvSpPr>
        <p:spPr>
          <a:xfrm>
            <a:off x="7196328" y="3191256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NVSwitch</a:t>
            </a:r>
          </a:p>
        </p:txBody>
      </p:sp>
      <p:sp>
        <p:nvSpPr>
          <p:cNvPr id="26" name="Revision text 26"/>
          <p:cNvSpPr txBox="1"/>
          <p:nvPr/>
        </p:nvSpPr>
        <p:spPr>
          <a:xfrm>
            <a:off x="9921240" y="3191256"/>
            <a:ext cx="143560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285–298</a:t>
            </a:r>
          </a:p>
        </p:txBody>
      </p:sp>
      <p:sp>
        <p:nvSpPr>
          <p:cNvPr id="27" name="Revision panel 27"/>
          <p:cNvSpPr/>
          <p:nvPr/>
        </p:nvSpPr>
        <p:spPr>
          <a:xfrm>
            <a:off x="731520" y="3648456"/>
            <a:ext cx="10762488" cy="46634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vision text 28"/>
          <p:cNvSpPr txBox="1"/>
          <p:nvPr/>
        </p:nvSpPr>
        <p:spPr>
          <a:xfrm>
            <a:off x="795528" y="3694176"/>
            <a:ext cx="208483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  <a:hlinkClick r:id="rId5"/>
              </a:rPr>
              <a:t>4×H200 NVL 141GB</a:t>
            </a:r>
          </a:p>
        </p:txBody>
      </p:sp>
      <p:sp>
        <p:nvSpPr>
          <p:cNvPr id="29" name="Revision text 29"/>
          <p:cNvSpPr txBox="1"/>
          <p:nvPr/>
        </p:nvSpPr>
        <p:spPr>
          <a:xfrm>
            <a:off x="3072384" y="3694176"/>
            <a:ext cx="2313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双 Xeon 6710E 等级</a:t>
            </a:r>
          </a:p>
        </p:txBody>
      </p:sp>
      <p:sp>
        <p:nvSpPr>
          <p:cNvPr id="30" name="Revision text 30"/>
          <p:cNvSpPr txBox="1"/>
          <p:nvPr/>
        </p:nvSpPr>
        <p:spPr>
          <a:xfrm>
            <a:off x="5596128" y="3694176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1TB</a:t>
            </a:r>
          </a:p>
        </p:txBody>
      </p:sp>
      <p:sp>
        <p:nvSpPr>
          <p:cNvPr id="31" name="Revision text 31"/>
          <p:cNvSpPr txBox="1"/>
          <p:nvPr/>
        </p:nvSpPr>
        <p:spPr>
          <a:xfrm>
            <a:off x="7196328" y="3694176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四卡桥接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PCIe 服务器</a:t>
            </a:r>
          </a:p>
        </p:txBody>
      </p:sp>
      <p:sp>
        <p:nvSpPr>
          <p:cNvPr id="32" name="Revision text 32"/>
          <p:cNvSpPr txBox="1"/>
          <p:nvPr/>
        </p:nvSpPr>
        <p:spPr>
          <a:xfrm>
            <a:off x="9921240" y="3694176"/>
            <a:ext cx="143560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161–283</a:t>
            </a:r>
          </a:p>
        </p:txBody>
      </p:sp>
      <p:sp>
        <p:nvSpPr>
          <p:cNvPr id="33" name="Revision panel 33"/>
          <p:cNvSpPr/>
          <p:nvPr/>
        </p:nvSpPr>
        <p:spPr>
          <a:xfrm>
            <a:off x="731520" y="4151376"/>
            <a:ext cx="10762488" cy="466344"/>
          </a:xfrm>
          <a:prstGeom prst="roundRect">
            <a:avLst>
              <a:gd name="adj" fmla="val 13000"/>
            </a:avLst>
          </a:prstGeom>
          <a:solidFill>
            <a:srgbClr val="E9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sion text 34"/>
          <p:cNvSpPr txBox="1"/>
          <p:nvPr/>
        </p:nvSpPr>
        <p:spPr>
          <a:xfrm>
            <a:off x="795528" y="4197096"/>
            <a:ext cx="208483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  <a:hlinkClick r:id="rId6"/>
              </a:rPr>
              <a:t>8×H200 SXM 141GB</a:t>
            </a:r>
          </a:p>
        </p:txBody>
      </p:sp>
      <p:sp>
        <p:nvSpPr>
          <p:cNvPr id="35" name="Revision text 35"/>
          <p:cNvSpPr txBox="1"/>
          <p:nvPr/>
        </p:nvSpPr>
        <p:spPr>
          <a:xfrm>
            <a:off x="3072384" y="4197096"/>
            <a:ext cx="23134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</a:rPr>
              <a:t>双 EPYC 9454</a:t>
            </a:r>
          </a:p>
        </p:txBody>
      </p:sp>
      <p:sp>
        <p:nvSpPr>
          <p:cNvPr id="36" name="Revision text 36"/>
          <p:cNvSpPr txBox="1"/>
          <p:nvPr/>
        </p:nvSpPr>
        <p:spPr>
          <a:xfrm>
            <a:off x="5596128" y="4197096"/>
            <a:ext cx="13990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</a:rPr>
              <a:t>1.5TB DDR5</a:t>
            </a:r>
          </a:p>
        </p:txBody>
      </p:sp>
      <p:sp>
        <p:nvSpPr>
          <p:cNvPr id="37" name="Revision text 37"/>
          <p:cNvSpPr txBox="1"/>
          <p:nvPr/>
        </p:nvSpPr>
        <p:spPr>
          <a:xfrm>
            <a:off x="7196328" y="4197096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</a:rPr>
              <a:t>NVSwitch</a:t>
            </a:r>
          </a:p>
        </p:txBody>
      </p:sp>
      <p:sp>
        <p:nvSpPr>
          <p:cNvPr id="38" name="Revision text 38"/>
          <p:cNvSpPr txBox="1"/>
          <p:nvPr/>
        </p:nvSpPr>
        <p:spPr>
          <a:xfrm>
            <a:off x="9921240" y="4197096"/>
            <a:ext cx="143560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</a:rPr>
              <a:t>291–304</a:t>
            </a:r>
          </a:p>
        </p:txBody>
      </p:sp>
      <p:sp>
        <p:nvSpPr>
          <p:cNvPr id="39" name="Revision text 39"/>
          <p:cNvSpPr txBox="1"/>
          <p:nvPr/>
        </p:nvSpPr>
        <p:spPr>
          <a:xfrm>
            <a:off x="795528" y="4809744"/>
            <a:ext cx="10579608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四卡 H200 为组件估算，CPU 为预算等级；其余三项以完整服务器挂牌为输入。</a:t>
            </a:r>
          </a:p>
        </p:txBody>
      </p:sp>
      <p:sp>
        <p:nvSpPr>
          <p:cNvPr id="40" name="Revision panel 40"/>
          <p:cNvSpPr/>
          <p:nvPr/>
        </p:nvSpPr>
        <p:spPr>
          <a:xfrm>
            <a:off x="731520" y="5230368"/>
            <a:ext cx="5239512" cy="786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vision text 41"/>
          <p:cNvSpPr txBox="1"/>
          <p:nvPr/>
        </p:nvSpPr>
        <p:spPr>
          <a:xfrm>
            <a:off x="896112" y="5340096"/>
            <a:ext cx="491947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u="none" lang="zh-CN">
                <a:solidFill>
                  <a:srgbClr val="007F78"/>
                </a:solidFill>
                <a:latin typeface="Microsoft YaHei"/>
                <a:ea typeface="Microsoft YaHei"/>
                <a:cs typeface="Microsoft YaHei"/>
              </a:rPr>
              <a:t>Spark：$6,950；硬件交付 5.8–6.2 万元</a:t>
            </a:r>
          </a:p>
        </p:txBody>
      </p:sp>
      <p:sp>
        <p:nvSpPr>
          <p:cNvPr id="42" name="Revision text 42"/>
          <p:cNvSpPr txBox="1"/>
          <p:nvPr/>
        </p:nvSpPr>
        <p:spPr>
          <a:xfrm>
            <a:off x="896112" y="5669280"/>
            <a:ext cx="491947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实施：个人4–8人天 / 三人8–15人天，均按2,500元/人天</a:t>
            </a:r>
          </a:p>
        </p:txBody>
      </p:sp>
      <p:sp>
        <p:nvSpPr>
          <p:cNvPr id="43" name="Revision panel 43"/>
          <p:cNvSpPr/>
          <p:nvPr/>
        </p:nvSpPr>
        <p:spPr>
          <a:xfrm>
            <a:off x="6172200" y="5230368"/>
            <a:ext cx="5312664" cy="786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vision text 44"/>
          <p:cNvSpPr txBox="1"/>
          <p:nvPr/>
        </p:nvSpPr>
        <p:spPr>
          <a:xfrm>
            <a:off x="6345936" y="5340096"/>
            <a:ext cx="493776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</a:rPr>
              <a:t>整机：13% 税费准备 + 10% 价格预留</a:t>
            </a:r>
          </a:p>
        </p:txBody>
      </p:sp>
      <p:sp>
        <p:nvSpPr>
          <p:cNvPr id="45" name="Revision text 45"/>
          <p:cNvSpPr txBox="1"/>
          <p:nvPr/>
        </p:nvSpPr>
        <p:spPr>
          <a:xfrm>
            <a:off x="6345936" y="566928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交付支持另列；CPU、RAM、电源不重复计价；机房/软件/长期运维另计</a:t>
            </a:r>
          </a:p>
        </p:txBody>
      </p:sp>
      <p:sp>
        <p:nvSpPr>
          <p:cNvPr id="46" name="Revision text 46"/>
          <p:cNvSpPr txBox="1"/>
          <p:nvPr/>
        </p:nvSpPr>
        <p:spPr>
          <a:xfrm>
            <a:off x="786384" y="6181344"/>
            <a:ext cx="10616184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</a:rPr>
              <a:t>CPU KV 池只使用扣除 Engram、系统、工具环境和其他开销后的剩余主机内存。</a:t>
            </a:r>
          </a:p>
        </p:txBody>
      </p:sp>
      <p:sp>
        <p:nvSpPr>
          <p:cNvPr id="47" name="Revision text 47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32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AF7422"/>
          </a:solidFill>
          <a:ln w="10160">
            <a:solidFill>
              <a:srgbClr val="AF74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E / A100 显存与状态管理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缓存参数不可跨实现、跨计量范围直接混用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KV、索引缓存、局部状态与临时张量的范围不同，GB 和 GiB 也不同。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依据：讲稿 二.2、三.3。下方两项为 shi3z 定制实现的内存优化说明。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12264"/>
            <a:ext cx="5285232" cy="18288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199632" y="2112264"/>
            <a:ext cx="5294376" cy="1828800"/>
          </a:xfrm>
          <a:prstGeom prst="roundRect">
            <a:avLst>
              <a:gd name="adj" fmla="val 6000"/>
            </a:avLst>
          </a:prstGeom>
          <a:solidFill>
            <a:srgbClr val="F8EEDA"/>
          </a:solidFill>
          <a:ln w="10160">
            <a:solidFill>
              <a:srgbClr val="F8EED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2395728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H100 / H200 实现</a:t>
            </a:r>
            <a:endParaRPr lang="zh-CN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843784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1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1.83</a:t>
            </a:r>
            <a:endParaRPr lang="zh-CN" sz="4100" dirty="0"/>
          </a:p>
        </p:txBody>
      </p:sp>
      <p:sp>
        <p:nvSpPr>
          <p:cNvPr id="13" name="Text 11"/>
          <p:cNvSpPr/>
          <p:nvPr/>
        </p:nvSpPr>
        <p:spPr>
          <a:xfrm>
            <a:off x="3081528" y="31272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8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 / 卡 / 1M 会话</a:t>
            </a:r>
            <a:endParaRPr lang="zh-CN" sz="1380" dirty="0"/>
          </a:p>
        </p:txBody>
      </p:sp>
      <p:sp>
        <p:nvSpPr>
          <p:cNvPr id="14" name="Text 12"/>
          <p:cNvSpPr/>
          <p:nvPr/>
        </p:nvSpPr>
        <p:spPr>
          <a:xfrm>
            <a:off x="932688" y="36118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仅全局 KV；其他状态另占显存</a:t>
            </a:r>
            <a:endParaRPr lang="zh-CN" sz="1280" dirty="0"/>
          </a:p>
        </p:txBody>
      </p:sp>
      <p:sp>
        <p:nvSpPr>
          <p:cNvPr id="15" name="Text 13"/>
          <p:cNvSpPr/>
          <p:nvPr/>
        </p:nvSpPr>
        <p:spPr>
          <a:xfrm>
            <a:off x="6455664" y="2395728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shi3z 的 BF16 缓存布局</a:t>
            </a:r>
            <a:endParaRPr lang="zh-CN" sz="1700" dirty="0"/>
          </a:p>
        </p:txBody>
      </p:sp>
      <p:sp>
        <p:nvSpPr>
          <p:cNvPr id="16" name="Text 14"/>
          <p:cNvSpPr/>
          <p:nvPr/>
        </p:nvSpPr>
        <p:spPr>
          <a:xfrm>
            <a:off x="6473952" y="2843784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41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2.98</a:t>
            </a:r>
            <a:endParaRPr lang="zh-CN" sz="4100" dirty="0"/>
          </a:p>
        </p:txBody>
      </p:sp>
      <p:sp>
        <p:nvSpPr>
          <p:cNvPr id="17" name="Text 15"/>
          <p:cNvSpPr/>
          <p:nvPr/>
        </p:nvSpPr>
        <p:spPr>
          <a:xfrm>
            <a:off x="8631936" y="31272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70" b="1" dirty="0">
                <a:solidFill>
                  <a:srgbClr val="AF7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GiB / 卡 / 1M 会话</a:t>
            </a:r>
            <a:endParaRPr lang="zh-CN" sz="1370" dirty="0"/>
          </a:p>
        </p:txBody>
      </p:sp>
      <p:sp>
        <p:nvSpPr>
          <p:cNvPr id="18" name="Text 16"/>
          <p:cNvSpPr/>
          <p:nvPr/>
        </p:nvSpPr>
        <p:spPr>
          <a:xfrm>
            <a:off x="6492240" y="36118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8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KV + 索引缓存</a:t>
            </a:r>
            <a:endParaRPr lang="zh-CN" sz="1280" dirty="0"/>
          </a:p>
        </p:txBody>
      </p:sp>
      <p:sp>
        <p:nvSpPr>
          <p:cNvPr id="19" name="Text 17"/>
          <p:cNvSpPr/>
          <p:nvPr/>
        </p:nvSpPr>
        <p:spPr>
          <a:xfrm>
            <a:off x="786384" y="439826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6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2600" dirty="0"/>
          </a:p>
        </p:txBody>
      </p:sp>
      <p:sp>
        <p:nvSpPr>
          <p:cNvPr id="20" name="Text 18"/>
          <p:cNvSpPr/>
          <p:nvPr/>
        </p:nvSpPr>
        <p:spPr>
          <a:xfrm>
            <a:off x="1380744" y="4398264"/>
            <a:ext cx="4608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索引器逐头计算并累加</a:t>
            </a:r>
            <a:endParaRPr lang="zh-CN" sz="1900" dirty="0"/>
          </a:p>
        </p:txBody>
      </p:sp>
      <p:sp>
        <p:nvSpPr>
          <p:cNvPr id="21" name="Text 19"/>
          <p:cNvSpPr/>
          <p:nvPr/>
        </p:nvSpPr>
        <p:spPr>
          <a:xfrm>
            <a:off x="1380744" y="496519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个打分头不同时保留全部分数，降低中间张量的峰值显存。</a:t>
            </a:r>
            <a:endParaRPr lang="zh-CN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439826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600" b="1" dirty="0">
                <a:solidFill>
                  <a:srgbClr val="AF7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2600" dirty="0"/>
          </a:p>
        </p:txBody>
      </p:sp>
      <p:sp>
        <p:nvSpPr>
          <p:cNvPr id="23" name="Text 21"/>
          <p:cNvSpPr/>
          <p:nvPr/>
        </p:nvSpPr>
        <p:spPr>
          <a:xfrm>
            <a:off x="6949440" y="439826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会话备份时去掉跨卡重复</a:t>
            </a:r>
            <a:endParaRPr lang="zh-CN" sz="1900" dirty="0"/>
          </a:p>
        </p:txBody>
      </p:sp>
      <p:sp>
        <p:nvSpPr>
          <p:cNvPr id="24" name="Text 22"/>
          <p:cNvSpPr/>
          <p:nvPr/>
        </p:nvSpPr>
        <p:spPr>
          <a:xfrm>
            <a:off x="6949440" y="49651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四卡重复的全局 KV 与索引缓存，向 CPU 备份时只保留一份。</a:t>
            </a:r>
            <a:endParaRPr lang="zh-CN" sz="1400" dirty="0"/>
          </a:p>
        </p:txBody>
      </p:sp>
      <p:sp>
        <p:nvSpPr>
          <p:cNvPr id="25" name="Text 23"/>
          <p:cNvSpPr/>
          <p:nvPr/>
        </p:nvSpPr>
        <p:spPr>
          <a:xfrm>
            <a:off x="585216" y="6172200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加载缓冲、临时张量、草稿模型和 CUDA Graph 地址管理，仍需按实际运行实现核对。</a:t>
            </a:r>
            <a:endParaRPr lang="zh-CN" sz="1050" dirty="0"/>
          </a:p>
        </p:txBody>
      </p:sp>
      <p:sp>
        <p:nvSpPr>
          <p:cNvPr id="26" name="Revision text 26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33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F / 公司知识库回顾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员工问答与通用 Agent，共用按权限检索的资料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4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文件解析、权限同步与索引统一管理；检索结果携带原文出处。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来源：讲稿二.1；公司知识库简版回顾。Onyx与Milvus为原方案两条实施路线。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34</a:t>
            </a:r>
            <a:endParaRPr lang="zh-CN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2404872"/>
            <a:ext cx="2002536" cy="1124712"/>
          </a:xfrm>
          <a:prstGeom prst="roundRect">
            <a:avLst>
              <a:gd name="adj" fmla="val 9756"/>
            </a:avLst>
          </a:prstGeom>
          <a:solidFill>
            <a:srgbClr val="E8EFFB"/>
          </a:solidFill>
          <a:ln w="10160">
            <a:solidFill>
              <a:srgbClr val="E8EF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642616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NAS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804672" y="319125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文件与访问权限</a:t>
            </a:r>
            <a:endParaRPr lang="zh-CN" sz="1270" dirty="0"/>
          </a:p>
        </p:txBody>
      </p:sp>
      <p:sp>
        <p:nvSpPr>
          <p:cNvPr id="12" name="Shape 10"/>
          <p:cNvSpPr/>
          <p:nvPr/>
        </p:nvSpPr>
        <p:spPr>
          <a:xfrm>
            <a:off x="2747772" y="2953512"/>
            <a:ext cx="306324" cy="0"/>
          </a:xfrm>
          <a:prstGeom prst="line">
            <a:avLst/>
          </a:prstGeom>
          <a:noFill/>
          <a:ln w="19050">
            <a:solidFill>
              <a:srgbClr val="2D62C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108960" y="2404872"/>
            <a:ext cx="2359152" cy="112471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18688" y="2642616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入库与索引</a:t>
            </a:r>
            <a:endParaRPr lang="zh-CN" sz="2100" dirty="0"/>
          </a:p>
        </p:txBody>
      </p:sp>
      <p:sp>
        <p:nvSpPr>
          <p:cNvPr id="15" name="Text 13"/>
          <p:cNvSpPr/>
          <p:nvPr/>
        </p:nvSpPr>
        <p:spPr>
          <a:xfrm>
            <a:off x="3218688" y="319125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解析、向量与关键词</a:t>
            </a:r>
            <a:endParaRPr lang="zh-CN" sz="1270" dirty="0"/>
          </a:p>
        </p:txBody>
      </p:sp>
      <p:sp>
        <p:nvSpPr>
          <p:cNvPr id="16" name="Shape 14"/>
          <p:cNvSpPr/>
          <p:nvPr/>
        </p:nvSpPr>
        <p:spPr>
          <a:xfrm>
            <a:off x="5518404" y="2953512"/>
            <a:ext cx="288036" cy="0"/>
          </a:xfrm>
          <a:prstGeom prst="line">
            <a:avLst/>
          </a:prstGeom>
          <a:noFill/>
          <a:ln w="19050">
            <a:solidFill>
              <a:srgbClr val="2D62C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61304" y="2404872"/>
            <a:ext cx="2313432" cy="1124712"/>
          </a:xfrm>
          <a:prstGeom prst="roundRect">
            <a:avLst>
              <a:gd name="adj" fmla="val 9756"/>
            </a:avLst>
          </a:prstGeom>
          <a:solidFill>
            <a:srgbClr val="E0F2EE"/>
          </a:solidFill>
          <a:ln w="10160">
            <a:solidFill>
              <a:srgbClr val="E0F2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71032" y="2642616"/>
            <a:ext cx="2093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权限过滤</a:t>
            </a:r>
            <a:endParaRPr lang="zh-CN" sz="2100" dirty="0"/>
          </a:p>
        </p:txBody>
      </p:sp>
      <p:sp>
        <p:nvSpPr>
          <p:cNvPr id="19" name="Text 17"/>
          <p:cNvSpPr/>
          <p:nvPr/>
        </p:nvSpPr>
        <p:spPr>
          <a:xfrm>
            <a:off x="5971032" y="31912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按员工身份检索</a:t>
            </a:r>
            <a:endParaRPr lang="zh-CN" sz="1270" dirty="0"/>
          </a:p>
        </p:txBody>
      </p:sp>
      <p:sp>
        <p:nvSpPr>
          <p:cNvPr id="20" name="Shape 18"/>
          <p:cNvSpPr/>
          <p:nvPr/>
        </p:nvSpPr>
        <p:spPr>
          <a:xfrm>
            <a:off x="8225028" y="2953512"/>
            <a:ext cx="288036" cy="0"/>
          </a:xfrm>
          <a:prstGeom prst="line">
            <a:avLst/>
          </a:prstGeom>
          <a:noFill/>
          <a:ln w="19050">
            <a:solidFill>
              <a:srgbClr val="2D62C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567928" y="2404872"/>
            <a:ext cx="2907792" cy="112471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77656" y="2642616"/>
            <a:ext cx="2688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引用片段</a:t>
            </a:r>
            <a:endParaRPr lang="zh-CN" sz="2100" dirty="0"/>
          </a:p>
        </p:txBody>
      </p:sp>
      <p:sp>
        <p:nvSpPr>
          <p:cNvPr id="23" name="Text 21"/>
          <p:cNvSpPr/>
          <p:nvPr/>
        </p:nvSpPr>
        <p:spPr>
          <a:xfrm>
            <a:off x="8677656" y="319125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7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问答或 Agent 使用</a:t>
            </a:r>
            <a:endParaRPr lang="zh-CN" sz="1270" dirty="0"/>
          </a:p>
        </p:txBody>
      </p:sp>
      <p:sp>
        <p:nvSpPr>
          <p:cNvPr id="24" name="Shape 22"/>
          <p:cNvSpPr/>
          <p:nvPr/>
        </p:nvSpPr>
        <p:spPr>
          <a:xfrm>
            <a:off x="704088" y="4050792"/>
            <a:ext cx="5266944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08776" y="4050792"/>
            <a:ext cx="525780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50976" y="4334256"/>
            <a:ext cx="475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2D6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 Enterprise</a:t>
            </a:r>
            <a:endParaRPr lang="zh-CN" sz="2500" dirty="0"/>
          </a:p>
        </p:txBody>
      </p:sp>
      <p:sp>
        <p:nvSpPr>
          <p:cNvPr id="27" name="Text 25"/>
          <p:cNvSpPr/>
          <p:nvPr/>
        </p:nvSpPr>
        <p:spPr>
          <a:xfrm>
            <a:off x="978408" y="49834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平台、NAS 适配与交付支持</a:t>
            </a:r>
            <a:endParaRPr lang="zh-CN" sz="1600" dirty="0"/>
          </a:p>
        </p:txBody>
      </p:sp>
      <p:sp>
        <p:nvSpPr>
          <p:cNvPr id="28" name="Text 26"/>
          <p:cNvSpPr/>
          <p:nvPr/>
        </p:nvSpPr>
        <p:spPr>
          <a:xfrm>
            <a:off x="6464808" y="4334256"/>
            <a:ext cx="475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500" b="1" dirty="0">
                <a:solidFill>
                  <a:srgbClr val="007F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 + 自建 RAG</a:t>
            </a:r>
            <a:endParaRPr lang="zh-CN" sz="2500" dirty="0"/>
          </a:p>
        </p:txBody>
      </p:sp>
      <p:sp>
        <p:nvSpPr>
          <p:cNvPr id="29" name="Text 27"/>
          <p:cNvSpPr/>
          <p:nvPr/>
        </p:nvSpPr>
        <p:spPr>
          <a:xfrm>
            <a:off x="6492240" y="49834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3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团队维护权限同步、索引与管理接口</a:t>
            </a:r>
            <a:endParaRPr lang="zh-CN" sz="1530" dirty="0"/>
          </a:p>
        </p:txBody>
      </p:sp>
      <p:sp>
        <p:nvSpPr>
          <p:cNvPr id="30" name="Text 28"/>
          <p:cNvSpPr/>
          <p:nvPr/>
        </p:nvSpPr>
        <p:spPr>
          <a:xfrm>
            <a:off x="886968" y="589788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60" b="1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内容进入重排和模型前完成权限过滤；访问原文入口时再次复核权限。</a:t>
            </a:r>
            <a:endParaRPr lang="zh-CN" sz="1660" dirty="0"/>
          </a:p>
        </p:txBody>
      </p:sp>
      <p:sp>
        <p:nvSpPr>
          <p:cNvPr id="31" name="Text 29"/>
          <p:cNvSpPr/>
          <p:nvPr/>
        </p:nvSpPr>
        <p:spPr>
          <a:xfrm>
            <a:off x="585216" y="6199632"/>
            <a:ext cx="10991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Word、PDF、PPT、Excel 共用入库流程；用户身份随检索请求传递。</a:t>
            </a:r>
            <a:endParaRPr lang="zh-CN" sz="1050" dirty="0"/>
          </a:p>
        </p:txBody>
      </p:sp>
      <p:sp>
        <p:nvSpPr>
          <p:cNvPr id="32" name="Revision text 32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实习项目 第34页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G / 可点击的来源入口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300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原始来源与继续阅读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2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六组核心入口在 PPTX 和 PDF 中均可点击；固定版本、配置条件及其他链接保留在对应页讲者备注。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修订日期2026-10-15；性能沿用原测试与10/14归档；价格沿用10/12预算，不混入新报价。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34</a:t>
            </a:r>
            <a:endParaRPr lang="zh-CN" sz="1000" dirty="0"/>
          </a:p>
        </p:txBody>
      </p:sp>
      <p:sp>
        <p:nvSpPr>
          <p:cNvPr id="9" name="Revision panel 9"/>
          <p:cNvSpPr/>
          <p:nvPr/>
        </p:nvSpPr>
        <p:spPr>
          <a:xfrm>
            <a:off x="749808" y="2121408"/>
            <a:ext cx="5212080" cy="1161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vision text 10"/>
          <p:cNvSpPr txBox="1"/>
          <p:nvPr/>
        </p:nvSpPr>
        <p:spPr>
          <a:xfrm>
            <a:off x="914400" y="2258568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u="none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Revision text 11"/>
          <p:cNvSpPr txBox="1"/>
          <p:nvPr/>
        </p:nvSpPr>
        <p:spPr>
          <a:xfrm>
            <a:off x="1435607" y="2221991"/>
            <a:ext cx="4352544" cy="301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  <a:hlinkClick r:id="rId3"/>
              </a:rPr>
              <a:t>AI Infra Book</a:t>
            </a:r>
          </a:p>
        </p:txBody>
      </p:sp>
      <p:sp>
        <p:nvSpPr>
          <p:cNvPr id="12" name="Revision text 12"/>
          <p:cNvSpPr txBox="1"/>
          <p:nvPr/>
        </p:nvSpPr>
        <p:spPr>
          <a:xfrm>
            <a:off x="941832" y="2633472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u="sng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  <a:hlinkClick r:id="rId3"/>
              </a:rPr>
              <a:t>github.com/bojieli/ai-infra-book</a:t>
            </a:r>
          </a:p>
        </p:txBody>
      </p:sp>
      <p:sp>
        <p:nvSpPr>
          <p:cNvPr id="13" name="Revision text 13"/>
          <p:cNvSpPr txBox="1"/>
          <p:nvPr/>
        </p:nvSpPr>
        <p:spPr>
          <a:xfrm>
            <a:off x="941832" y="3035808"/>
            <a:ext cx="481888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前缀复用、分层缓存与资源调度</a:t>
            </a:r>
          </a:p>
        </p:txBody>
      </p:sp>
      <p:sp>
        <p:nvSpPr>
          <p:cNvPr id="14" name="Revision panel 14"/>
          <p:cNvSpPr/>
          <p:nvPr/>
        </p:nvSpPr>
        <p:spPr>
          <a:xfrm>
            <a:off x="6263640" y="2121408"/>
            <a:ext cx="5212080" cy="1161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vision text 15"/>
          <p:cNvSpPr txBox="1"/>
          <p:nvPr/>
        </p:nvSpPr>
        <p:spPr>
          <a:xfrm>
            <a:off x="6428231" y="2258568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u="none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vision text 16"/>
          <p:cNvSpPr txBox="1"/>
          <p:nvPr/>
        </p:nvSpPr>
        <p:spPr>
          <a:xfrm>
            <a:off x="6949440" y="2221991"/>
            <a:ext cx="4352544" cy="301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  <a:hlinkClick r:id="rId4"/>
              </a:rPr>
              <a:t>vLLM KV 卸载指南</a:t>
            </a:r>
          </a:p>
        </p:txBody>
      </p:sp>
      <p:sp>
        <p:nvSpPr>
          <p:cNvPr id="17" name="Revision text 17"/>
          <p:cNvSpPr txBox="1"/>
          <p:nvPr/>
        </p:nvSpPr>
        <p:spPr>
          <a:xfrm>
            <a:off x="6455664" y="2633472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u="sng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  <a:hlinkClick r:id="rId4"/>
              </a:rPr>
              <a:t>docs.vllm.ai/en/stable/features/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u="sng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  <a:hlinkClick r:id="rId4"/>
              </a:rPr>
              <a:t>kv_offloading_usage/</a:t>
            </a:r>
          </a:p>
        </p:txBody>
      </p:sp>
      <p:sp>
        <p:nvSpPr>
          <p:cNvPr id="18" name="Revision text 18"/>
          <p:cNvSpPr txBox="1"/>
          <p:nvPr/>
        </p:nvSpPr>
        <p:spPr>
          <a:xfrm>
            <a:off x="6455664" y="3035808"/>
            <a:ext cx="481888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CPU 与文件系统层、配置与数据流</a:t>
            </a:r>
          </a:p>
        </p:txBody>
      </p:sp>
      <p:sp>
        <p:nvSpPr>
          <p:cNvPr id="19" name="Revision panel 19"/>
          <p:cNvSpPr/>
          <p:nvPr/>
        </p:nvSpPr>
        <p:spPr>
          <a:xfrm>
            <a:off x="749808" y="3438144"/>
            <a:ext cx="5212080" cy="1161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sion text 20"/>
          <p:cNvSpPr txBox="1"/>
          <p:nvPr/>
        </p:nvSpPr>
        <p:spPr>
          <a:xfrm>
            <a:off x="914400" y="3575303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u="none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Revision text 21"/>
          <p:cNvSpPr txBox="1"/>
          <p:nvPr/>
        </p:nvSpPr>
        <p:spPr>
          <a:xfrm>
            <a:off x="1435607" y="3538727"/>
            <a:ext cx="4352544" cy="301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  <a:hlinkClick r:id="rId5"/>
              </a:rPr>
              <a:t>LMCache MP 多级存储</a:t>
            </a:r>
          </a:p>
        </p:txBody>
      </p:sp>
      <p:sp>
        <p:nvSpPr>
          <p:cNvPr id="22" name="Revision text 22"/>
          <p:cNvSpPr txBox="1"/>
          <p:nvPr/>
        </p:nvSpPr>
        <p:spPr>
          <a:xfrm>
            <a:off x="941832" y="395020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u="sng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  <a:hlinkClick r:id="rId5"/>
              </a:rPr>
              <a:t>docs.lmcache.ai/mp/l2_storage.html</a:t>
            </a:r>
          </a:p>
        </p:txBody>
      </p:sp>
      <p:sp>
        <p:nvSpPr>
          <p:cNvPr id="23" name="Revision text 23"/>
          <p:cNvSpPr txBox="1"/>
          <p:nvPr/>
        </p:nvSpPr>
        <p:spPr>
          <a:xfrm>
            <a:off x="941832" y="4352544"/>
            <a:ext cx="481888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L2 存储、异步写入与预取</a:t>
            </a:r>
          </a:p>
        </p:txBody>
      </p:sp>
      <p:sp>
        <p:nvSpPr>
          <p:cNvPr id="24" name="Revision panel 24"/>
          <p:cNvSpPr/>
          <p:nvPr/>
        </p:nvSpPr>
        <p:spPr>
          <a:xfrm>
            <a:off x="6263640" y="3438144"/>
            <a:ext cx="5212080" cy="1161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sion text 25"/>
          <p:cNvSpPr txBox="1"/>
          <p:nvPr/>
        </p:nvSpPr>
        <p:spPr>
          <a:xfrm>
            <a:off x="6428231" y="3575303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u="none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Revision text 26"/>
          <p:cNvSpPr txBox="1"/>
          <p:nvPr/>
        </p:nvSpPr>
        <p:spPr>
          <a:xfrm>
            <a:off x="6949440" y="3538727"/>
            <a:ext cx="4352544" cy="301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  <a:hlinkClick r:id="rId6"/>
              </a:rPr>
              <a:t>shi3z A100 项目</a:t>
            </a:r>
          </a:p>
        </p:txBody>
      </p:sp>
      <p:sp>
        <p:nvSpPr>
          <p:cNvPr id="27" name="Revision text 27"/>
          <p:cNvSpPr txBox="1"/>
          <p:nvPr/>
        </p:nvSpPr>
        <p:spPr>
          <a:xfrm>
            <a:off x="6455664" y="395020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u="sng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  <a:hlinkClick r:id="rId6"/>
              </a:rPr>
              <a:t>github.com/shi3z/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u="sng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  <a:hlinkClick r:id="rId6"/>
              </a:rPr>
              <a:t>deepseekv4.1-A100-custom</a:t>
            </a:r>
          </a:p>
        </p:txBody>
      </p:sp>
      <p:sp>
        <p:nvSpPr>
          <p:cNvPr id="28" name="Revision text 28"/>
          <p:cNvSpPr txBox="1"/>
          <p:nvPr/>
        </p:nvSpPr>
        <p:spPr>
          <a:xfrm>
            <a:off x="6455664" y="4352544"/>
            <a:ext cx="4818888" cy="155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实现参考；固定源码见第16页备注</a:t>
            </a:r>
          </a:p>
        </p:txBody>
      </p:sp>
      <p:sp>
        <p:nvSpPr>
          <p:cNvPr id="29" name="Revision panel 29"/>
          <p:cNvSpPr/>
          <p:nvPr/>
        </p:nvSpPr>
        <p:spPr>
          <a:xfrm>
            <a:off x="749808" y="4754880"/>
            <a:ext cx="5212080" cy="1161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vision text 30"/>
          <p:cNvSpPr txBox="1"/>
          <p:nvPr/>
        </p:nvSpPr>
        <p:spPr>
          <a:xfrm>
            <a:off x="914400" y="489204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u="none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Revision text 31"/>
          <p:cNvSpPr txBox="1"/>
          <p:nvPr/>
        </p:nvSpPr>
        <p:spPr>
          <a:xfrm>
            <a:off x="1435607" y="4855464"/>
            <a:ext cx="4352544" cy="301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  <a:hlinkClick r:id="rId7"/>
              </a:rPr>
              <a:t>modified vLLM · A800 消融</a:t>
            </a:r>
          </a:p>
        </p:txBody>
      </p:sp>
      <p:sp>
        <p:nvSpPr>
          <p:cNvPr id="32" name="Revision text 32"/>
          <p:cNvSpPr txBox="1"/>
          <p:nvPr/>
        </p:nvSpPr>
        <p:spPr>
          <a:xfrm>
            <a:off x="941832" y="5266944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5" b="0" u="sng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  <a:hlinkClick r:id="rId7"/>
              </a:rPr>
              <a:t>github.com/Tokha233/deepseek-v4.1-flash-a100-turbo/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5" b="0" u="sng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  <a:hlinkClick r:id="rId7"/>
              </a:rPr>
              <a:t>blob/main/docs/concurrency-and-short-requests.zh-CN.md</a:t>
            </a:r>
          </a:p>
        </p:txBody>
      </p:sp>
      <p:sp>
        <p:nvSpPr>
          <p:cNvPr id="33" name="Revision panel 33"/>
          <p:cNvSpPr/>
          <p:nvPr/>
        </p:nvSpPr>
        <p:spPr>
          <a:xfrm>
            <a:off x="6263640" y="4754880"/>
            <a:ext cx="5212080" cy="1161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sion text 34"/>
          <p:cNvSpPr txBox="1"/>
          <p:nvPr/>
        </p:nvSpPr>
        <p:spPr>
          <a:xfrm>
            <a:off x="6428231" y="489204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u="none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Revision text 35"/>
          <p:cNvSpPr txBox="1"/>
          <p:nvPr/>
        </p:nvSpPr>
        <p:spPr>
          <a:xfrm>
            <a:off x="6949440" y="4855464"/>
            <a:ext cx="4352544" cy="301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Qwen / DeepSeek 模型卡</a:t>
            </a:r>
          </a:p>
        </p:txBody>
      </p:sp>
      <p:sp>
        <p:nvSpPr>
          <p:cNvPr id="36" name="Revision text 36"/>
          <p:cNvSpPr txBox="1"/>
          <p:nvPr/>
        </p:nvSpPr>
        <p:spPr>
          <a:xfrm>
            <a:off x="6455664" y="5294376"/>
            <a:ext cx="481888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u="sng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  <a:hlinkClick r:id="rId8"/>
              </a:rPr>
              <a:t>huggingface.co/Qwen/Qwen3.8-27B-FP8</a:t>
            </a:r>
          </a:p>
        </p:txBody>
      </p:sp>
      <p:sp>
        <p:nvSpPr>
          <p:cNvPr id="37" name="Revision text 37"/>
          <p:cNvSpPr txBox="1"/>
          <p:nvPr/>
        </p:nvSpPr>
        <p:spPr>
          <a:xfrm>
            <a:off x="6455664" y="5632704"/>
            <a:ext cx="481888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u="sng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  <a:hlinkClick r:id="rId9"/>
              </a:rPr>
              <a:t>huggingface.co/deepseek-ai/DeepSeek-V4.1-Flash</a:t>
            </a:r>
          </a:p>
        </p:txBody>
      </p:sp>
      <p:sp>
        <p:nvSpPr>
          <p:cNvPr id="38" name="Revision text 38"/>
          <p:cNvSpPr txBox="1"/>
          <p:nvPr/>
        </p:nvSpPr>
        <p:spPr>
          <a:xfrm>
            <a:off x="841248" y="6144768"/>
            <a:ext cx="1055217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正文：Spark 4–8 页｜公司 9–15 页｜A100 16–21 页｜系统方法与总结 22–27 页；附录 28–34 页。</a:t>
            </a:r>
          </a:p>
        </p:txBody>
      </p:sp>
      <p:sp>
        <p:nvSpPr>
          <p:cNvPr id="39" name="Revision text 39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实习项目 第13页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2D62C5"/>
          </a:solidFill>
          <a:ln w="10160">
            <a:solidFill>
              <a:srgbClr val="2D62C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2D6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DEEPSEEK 分层会话缓存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8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运行当前任务，内存和 SSD 保留其他会话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公司服务器：GPU 显存与主机 DRAM 独立；工具执行期间，GPU 空间可供其他请求使用。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19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来源：AI Infra Book 8.3、9.5；vLLM KV 卸载指南；LMCache MP。缓存指推理状态，不是完整答案缓存。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34</a:t>
            </a:r>
            <a:endParaRPr lang="zh-CN" sz="1000" dirty="0"/>
          </a:p>
        </p:txBody>
      </p:sp>
      <p:sp>
        <p:nvSpPr>
          <p:cNvPr id="9" name="Revision panel 9"/>
          <p:cNvSpPr/>
          <p:nvPr/>
        </p:nvSpPr>
        <p:spPr>
          <a:xfrm>
            <a:off x="713232" y="2121408"/>
            <a:ext cx="4956048" cy="768096"/>
          </a:xfrm>
          <a:prstGeom prst="roundRect">
            <a:avLst>
              <a:gd name="adj" fmla="val 13000"/>
            </a:avLst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vision text 10"/>
          <p:cNvSpPr txBox="1"/>
          <p:nvPr/>
        </p:nvSpPr>
        <p:spPr>
          <a:xfrm>
            <a:off x="923544" y="223113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u="none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GPU 显存</a:t>
            </a:r>
          </a:p>
        </p:txBody>
      </p:sp>
      <p:sp>
        <p:nvSpPr>
          <p:cNvPr id="11" name="Revision text 11"/>
          <p:cNvSpPr txBox="1"/>
          <p:nvPr/>
        </p:nvSpPr>
        <p:spPr>
          <a:xfrm>
            <a:off x="2953512" y="2267712"/>
            <a:ext cx="2478024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u="none" lang="zh-CN">
                <a:solidFill>
                  <a:srgbClr val="A7BCC9"/>
                </a:solidFill>
                <a:latin typeface="Microsoft YaHei"/>
                <a:ea typeface="Microsoft YaHei"/>
                <a:cs typeface="Microsoft YaHei"/>
              </a:rPr>
              <a:t>正在生成的会话</a:t>
            </a:r>
          </a:p>
        </p:txBody>
      </p:sp>
      <p:sp>
        <p:nvSpPr>
          <p:cNvPr id="12" name="Revision panel 12"/>
          <p:cNvSpPr/>
          <p:nvPr/>
        </p:nvSpPr>
        <p:spPr>
          <a:xfrm>
            <a:off x="713232" y="3401568"/>
            <a:ext cx="4956048" cy="768096"/>
          </a:xfrm>
          <a:prstGeom prst="roundRect">
            <a:avLst>
              <a:gd name="adj" fmla="val 13000"/>
            </a:avLst>
          </a:prstGeom>
          <a:solidFill>
            <a:srgbClr val="E9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ision text 13"/>
          <p:cNvSpPr txBox="1"/>
          <p:nvPr/>
        </p:nvSpPr>
        <p:spPr>
          <a:xfrm>
            <a:off x="923544" y="351129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</a:rPr>
              <a:t>CPU 内存</a:t>
            </a:r>
          </a:p>
        </p:txBody>
      </p:sp>
      <p:sp>
        <p:nvSpPr>
          <p:cNvPr id="14" name="Revision text 14"/>
          <p:cNvSpPr txBox="1"/>
          <p:nvPr/>
        </p:nvSpPr>
        <p:spPr>
          <a:xfrm>
            <a:off x="2953512" y="3547872"/>
            <a:ext cx="2478024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近期会继续使用的缓存</a:t>
            </a:r>
          </a:p>
        </p:txBody>
      </p:sp>
      <p:sp>
        <p:nvSpPr>
          <p:cNvPr id="15" name="Revision panel 15"/>
          <p:cNvSpPr/>
          <p:nvPr/>
        </p:nvSpPr>
        <p:spPr>
          <a:xfrm>
            <a:off x="713232" y="4681728"/>
            <a:ext cx="4956048" cy="7680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F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sion text 16"/>
          <p:cNvSpPr txBox="1"/>
          <p:nvPr/>
        </p:nvSpPr>
        <p:spPr>
          <a:xfrm>
            <a:off x="923544" y="479145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NVMe SSD</a:t>
            </a:r>
          </a:p>
        </p:txBody>
      </p:sp>
      <p:sp>
        <p:nvSpPr>
          <p:cNvPr id="17" name="Revision text 17"/>
          <p:cNvSpPr txBox="1"/>
          <p:nvPr/>
        </p:nvSpPr>
        <p:spPr>
          <a:xfrm>
            <a:off x="2953512" y="4828032"/>
            <a:ext cx="2478024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较久未使用、仍值得保留的缓存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039112" y="2971800"/>
            <a:ext cx="210312" cy="329184"/>
          </a:xfrm>
          <a:prstGeom prst="downArrow">
            <a:avLst/>
          </a:prstGeom>
          <a:solidFill>
            <a:srgbClr val="2D6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vision text 19"/>
          <p:cNvSpPr txBox="1"/>
          <p:nvPr/>
        </p:nvSpPr>
        <p:spPr>
          <a:xfrm>
            <a:off x="941832" y="3022092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</a:rPr>
              <a:t>保存缓存</a:t>
            </a:r>
          </a:p>
        </p:txBody>
      </p:sp>
      <p:sp>
        <p:nvSpPr>
          <p:cNvPr id="20" name="Up Arrow 19"/>
          <p:cNvSpPr/>
          <p:nvPr/>
        </p:nvSpPr>
        <p:spPr>
          <a:xfrm>
            <a:off x="3785615" y="2971800"/>
            <a:ext cx="210312" cy="329184"/>
          </a:xfrm>
          <a:prstGeom prst="upArrow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sion text 21"/>
          <p:cNvSpPr txBox="1"/>
          <p:nvPr/>
        </p:nvSpPr>
        <p:spPr>
          <a:xfrm>
            <a:off x="4114800" y="302209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u="none" lang="zh-CN">
                <a:solidFill>
                  <a:srgbClr val="007F78"/>
                </a:solidFill>
                <a:latin typeface="Microsoft YaHei"/>
                <a:ea typeface="Microsoft YaHei"/>
                <a:cs typeface="Microsoft YaHei"/>
              </a:rPr>
              <a:t>读取缓存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039112" y="4251960"/>
            <a:ext cx="210312" cy="329184"/>
          </a:xfrm>
          <a:prstGeom prst="downArrow">
            <a:avLst/>
          </a:prstGeom>
          <a:solidFill>
            <a:srgbClr val="2D6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vision text 23"/>
          <p:cNvSpPr txBox="1"/>
          <p:nvPr/>
        </p:nvSpPr>
        <p:spPr>
          <a:xfrm>
            <a:off x="941832" y="4302252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</a:rPr>
              <a:t>保存缓存</a:t>
            </a:r>
          </a:p>
        </p:txBody>
      </p:sp>
      <p:sp>
        <p:nvSpPr>
          <p:cNvPr id="24" name="Up Arrow 23"/>
          <p:cNvSpPr/>
          <p:nvPr/>
        </p:nvSpPr>
        <p:spPr>
          <a:xfrm>
            <a:off x="3785615" y="4251960"/>
            <a:ext cx="210312" cy="329184"/>
          </a:xfrm>
          <a:prstGeom prst="upArrow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sion text 25"/>
          <p:cNvSpPr txBox="1"/>
          <p:nvPr/>
        </p:nvSpPr>
        <p:spPr>
          <a:xfrm>
            <a:off x="4114800" y="4302252"/>
            <a:ext cx="1033271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u="none" lang="zh-CN">
                <a:solidFill>
                  <a:srgbClr val="007F78"/>
                </a:solidFill>
                <a:latin typeface="Microsoft YaHei"/>
                <a:ea typeface="Microsoft YaHei"/>
                <a:cs typeface="Microsoft YaHei"/>
              </a:rPr>
              <a:t>读取缓存</a:t>
            </a:r>
          </a:p>
        </p:txBody>
      </p:sp>
      <p:sp>
        <p:nvSpPr>
          <p:cNvPr id="26" name="Revision panel 26"/>
          <p:cNvSpPr/>
          <p:nvPr/>
        </p:nvSpPr>
        <p:spPr>
          <a:xfrm>
            <a:off x="5934456" y="2121408"/>
            <a:ext cx="5541264" cy="33284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72200" y="2322576"/>
            <a:ext cx="320040" cy="320040"/>
          </a:xfrm>
          <a:prstGeom prst="ellipse">
            <a:avLst/>
          </a:prstGeom>
          <a:solidFill>
            <a:srgbClr val="E9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vision text 28"/>
          <p:cNvSpPr txBox="1"/>
          <p:nvPr/>
        </p:nvSpPr>
        <p:spPr>
          <a:xfrm>
            <a:off x="6172200" y="232257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9" name="Revision text 29"/>
          <p:cNvSpPr txBox="1"/>
          <p:nvPr/>
        </p:nvSpPr>
        <p:spPr>
          <a:xfrm>
            <a:off x="6647688" y="2286000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模型返回工具调用</a:t>
            </a:r>
          </a:p>
        </p:txBody>
      </p:sp>
      <p:sp>
        <p:nvSpPr>
          <p:cNvPr id="30" name="Revision text 30"/>
          <p:cNvSpPr txBox="1"/>
          <p:nvPr/>
        </p:nvSpPr>
        <p:spPr>
          <a:xfrm>
            <a:off x="6656832" y="2642616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本轮模型请求结束。</a:t>
            </a:r>
          </a:p>
        </p:txBody>
      </p:sp>
      <p:sp>
        <p:nvSpPr>
          <p:cNvPr id="31" name="Oval 30"/>
          <p:cNvSpPr/>
          <p:nvPr/>
        </p:nvSpPr>
        <p:spPr>
          <a:xfrm>
            <a:off x="6172200" y="3072384"/>
            <a:ext cx="320040" cy="320040"/>
          </a:xfrm>
          <a:prstGeom prst="ellipse">
            <a:avLst/>
          </a:prstGeom>
          <a:solidFill>
            <a:srgbClr val="E9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sion text 32"/>
          <p:cNvSpPr txBox="1"/>
          <p:nvPr/>
        </p:nvSpPr>
        <p:spPr>
          <a:xfrm>
            <a:off x="6172200" y="307238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3" name="Revision text 33"/>
          <p:cNvSpPr txBox="1"/>
          <p:nvPr/>
        </p:nvSpPr>
        <p:spPr>
          <a:xfrm>
            <a:off x="6647688" y="3035808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工具执行，GPU 服务其他任务</a:t>
            </a:r>
          </a:p>
        </p:txBody>
      </p:sp>
      <p:sp>
        <p:nvSpPr>
          <p:cNvPr id="34" name="Revision text 34"/>
          <p:cNvSpPr txBox="1"/>
          <p:nvPr/>
        </p:nvSpPr>
        <p:spPr>
          <a:xfrm>
            <a:off x="6656832" y="339242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状态保存在 CPU 内存或 SSD。</a:t>
            </a:r>
          </a:p>
        </p:txBody>
      </p:sp>
      <p:sp>
        <p:nvSpPr>
          <p:cNvPr id="35" name="Oval 34"/>
          <p:cNvSpPr/>
          <p:nvPr/>
        </p:nvSpPr>
        <p:spPr>
          <a:xfrm>
            <a:off x="6172200" y="3822191"/>
            <a:ext cx="320040" cy="320040"/>
          </a:xfrm>
          <a:prstGeom prst="ellipse">
            <a:avLst/>
          </a:prstGeom>
          <a:solidFill>
            <a:srgbClr val="E9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vision text 36"/>
          <p:cNvSpPr txBox="1"/>
          <p:nvPr/>
        </p:nvSpPr>
        <p:spPr>
          <a:xfrm>
            <a:off x="6172200" y="3822191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Revision text 37"/>
          <p:cNvSpPr txBox="1"/>
          <p:nvPr/>
        </p:nvSpPr>
        <p:spPr>
          <a:xfrm>
            <a:off x="6647688" y="3785615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工具结果返回，查找并读取缓存</a:t>
            </a:r>
          </a:p>
        </p:txBody>
      </p:sp>
      <p:sp>
        <p:nvSpPr>
          <p:cNvPr id="38" name="Revision text 38"/>
          <p:cNvSpPr txBox="1"/>
          <p:nvPr/>
        </p:nvSpPr>
        <p:spPr>
          <a:xfrm>
            <a:off x="6656832" y="4142231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把已有状态从内存复制回 GPU。</a:t>
            </a:r>
          </a:p>
        </p:txBody>
      </p:sp>
      <p:sp>
        <p:nvSpPr>
          <p:cNvPr id="39" name="Oval 38"/>
          <p:cNvSpPr/>
          <p:nvPr/>
        </p:nvSpPr>
        <p:spPr>
          <a:xfrm>
            <a:off x="6172200" y="4572000"/>
            <a:ext cx="320040" cy="320040"/>
          </a:xfrm>
          <a:prstGeom prst="ellipse">
            <a:avLst/>
          </a:prstGeom>
          <a:solidFill>
            <a:srgbClr val="E9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vision text 40"/>
          <p:cNvSpPr txBox="1"/>
          <p:nvPr/>
        </p:nvSpPr>
        <p:spPr>
          <a:xfrm>
            <a:off x="6172200" y="45720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 lang="zh-CN">
                <a:solidFill>
                  <a:srgbClr val="2D62C5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1" name="Revision text 41"/>
          <p:cNvSpPr txBox="1"/>
          <p:nvPr/>
        </p:nvSpPr>
        <p:spPr>
          <a:xfrm>
            <a:off x="6647688" y="4535424"/>
            <a:ext cx="455371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处理新增输入，再继续生成</a:t>
            </a:r>
          </a:p>
        </p:txBody>
      </p:sp>
      <p:sp>
        <p:nvSpPr>
          <p:cNvPr id="42" name="Revision text 42"/>
          <p:cNvSpPr txBox="1"/>
          <p:nvPr/>
        </p:nvSpPr>
        <p:spPr>
          <a:xfrm>
            <a:off x="6656832" y="48920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复用旧前缀，生成本轮的新回答。</a:t>
            </a:r>
          </a:p>
        </p:txBody>
      </p:sp>
      <p:sp>
        <p:nvSpPr>
          <p:cNvPr id="43" name="Revision text 43"/>
          <p:cNvSpPr txBox="1"/>
          <p:nvPr/>
        </p:nvSpPr>
        <p:spPr>
          <a:xfrm>
            <a:off x="777240" y="5632704"/>
            <a:ext cx="108356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</a:rPr>
              <a:t>同时运行的任务数看 GPU；可保留的会话数看整套缓存系统。</a:t>
            </a:r>
          </a:p>
        </p:txBody>
      </p:sp>
      <p:sp>
        <p:nvSpPr>
          <p:cNvPr id="44" name="Revision panel 44"/>
          <p:cNvSpPr/>
          <p:nvPr/>
        </p:nvSpPr>
        <p:spPr>
          <a:xfrm>
            <a:off x="749808" y="6099048"/>
            <a:ext cx="2971800" cy="265176"/>
          </a:xfrm>
          <a:prstGeom prst="roundRect">
            <a:avLst>
              <a:gd name="adj" fmla="val 13000"/>
            </a:avLst>
          </a:prstGeom>
          <a:solidFill>
            <a:srgbClr val="E9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sion text 45"/>
          <p:cNvSpPr txBox="1"/>
          <p:nvPr/>
        </p:nvSpPr>
        <p:spPr>
          <a:xfrm>
            <a:off x="850392" y="6117336"/>
            <a:ext cx="277063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  <a:hlinkClick r:id="rId2"/>
              </a:rPr>
              <a:t>实现路线 1：vLLM 原生 KV 卸载</a:t>
            </a:r>
          </a:p>
        </p:txBody>
      </p:sp>
      <p:sp>
        <p:nvSpPr>
          <p:cNvPr id="46" name="Revision panel 46"/>
          <p:cNvSpPr/>
          <p:nvPr/>
        </p:nvSpPr>
        <p:spPr>
          <a:xfrm>
            <a:off x="3904487" y="6099048"/>
            <a:ext cx="2990088" cy="265176"/>
          </a:xfrm>
          <a:prstGeom prst="roundRect">
            <a:avLst>
              <a:gd name="adj" fmla="val 13000"/>
            </a:avLst>
          </a:prstGeom>
          <a:solidFill>
            <a:srgbClr val="E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vision text 47"/>
          <p:cNvSpPr txBox="1"/>
          <p:nvPr/>
        </p:nvSpPr>
        <p:spPr>
          <a:xfrm>
            <a:off x="4014215" y="6117336"/>
            <a:ext cx="2779776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u="none" lang="zh-CN">
                <a:solidFill>
                  <a:srgbClr val="007F78"/>
                </a:solidFill>
                <a:latin typeface="Microsoft YaHei"/>
                <a:ea typeface="Microsoft YaHei"/>
                <a:cs typeface="Microsoft YaHei"/>
                <a:hlinkClick r:id="rId3"/>
              </a:rPr>
              <a:t>实现路线 2：vLLM + LMCache MP</a:t>
            </a:r>
          </a:p>
        </p:txBody>
      </p:sp>
      <p:sp>
        <p:nvSpPr>
          <p:cNvPr id="48" name="Revision text 48"/>
          <p:cNvSpPr txBox="1"/>
          <p:nvPr/>
        </p:nvSpPr>
        <p:spPr>
          <a:xfrm>
            <a:off x="7232904" y="6117336"/>
            <a:ext cx="40782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优先保留仍在进行、值得复用的会话</a:t>
            </a:r>
          </a:p>
        </p:txBody>
      </p:sp>
      <p:sp>
        <p:nvSpPr>
          <p:cNvPr id="49" name="Revision text 49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实习项目 第25页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>
              <a:gd name="adj" fmla="val 171429"/>
            </a:avLst>
          </a:prstGeom>
          <a:solidFill>
            <a:srgbClr val="695AB0"/>
          </a:solidFill>
          <a:ln w="10160">
            <a:solidFill>
              <a:srgbClr val="695AB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926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050" b="1" spc="100" kern="0" dirty="0">
                <a:solidFill>
                  <a:srgbClr val="695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AI INFRA BOOK · 缓存读取算例</a:t>
            </a:r>
            <a:endParaRPr lang="zh-CN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850" b="1" dirty="0">
                <a:solidFill>
                  <a:srgbClr val="15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取回已有缓存，省去长前缀的重复计算</a:t>
            </a:r>
            <a:endParaRPr lang="zh-CN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481328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传输估算：DeepSeek TP4、1M会话；当前 Hopper 全局 KV 布局，四个 rank 合计约 7.31GB。</a:t>
            </a:r>
            <a:endParaRPr lang="zh-CN" sz="1440" dirty="0"/>
          </a:p>
        </p:txBody>
      </p:sp>
      <p:sp>
        <p:nvSpPr>
          <p:cNvPr id="6" name="Shape 4"/>
          <p:cNvSpPr/>
          <p:nvPr/>
        </p:nvSpPr>
        <p:spPr>
          <a:xfrm>
            <a:off x="530352" y="6419088"/>
            <a:ext cx="11137392" cy="0"/>
          </a:xfrm>
          <a:prstGeom prst="line">
            <a:avLst/>
          </a:prstGeom>
          <a:noFill/>
          <a:ln w="8890">
            <a:solidFill>
              <a:srgbClr val="DCE5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6492240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19" dirty="0">
                <a:solidFill>
                  <a:srgbClr val="63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来源：handoff 六的完整输入与复算；AI Infra Book 9.5。带宽为假设，未计首次写入。</a:t>
            </a:r>
            <a:endParaRPr lang="zh-CN" sz="920" dirty="0"/>
          </a:p>
        </p:txBody>
      </p:sp>
      <p:sp>
        <p:nvSpPr>
          <p:cNvPr id="8" name="Text 6"/>
          <p:cNvSpPr/>
          <p:nvPr/>
        </p:nvSpPr>
        <p:spPr>
          <a:xfrm>
            <a:off x="10744200" y="6483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zh-CN" altLang="en-US" sz="1000" dirty="0">
                <a:solidFill>
                  <a:srgbClr val="63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34</a:t>
            </a:r>
            <a:endParaRPr lang="zh-CN" sz="1000" dirty="0"/>
          </a:p>
        </p:txBody>
      </p:sp>
      <p:sp>
        <p:nvSpPr>
          <p:cNvPr id="9" name="Revision panel 9"/>
          <p:cNvSpPr/>
          <p:nvPr/>
        </p:nvSpPr>
        <p:spPr>
          <a:xfrm>
            <a:off x="722376" y="2093976"/>
            <a:ext cx="10744200" cy="2450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vision text 10"/>
          <p:cNvSpPr txBox="1"/>
          <p:nvPr/>
        </p:nvSpPr>
        <p:spPr>
          <a:xfrm>
            <a:off x="886968" y="22402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读取路径</a:t>
            </a:r>
          </a:p>
        </p:txBody>
      </p:sp>
      <p:sp>
        <p:nvSpPr>
          <p:cNvPr id="11" name="Revision text 11"/>
          <p:cNvSpPr txBox="1"/>
          <p:nvPr/>
        </p:nvSpPr>
        <p:spPr>
          <a:xfrm>
            <a:off x="3840480" y="2240280"/>
            <a:ext cx="552297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假设条件与有效带宽</a:t>
            </a:r>
          </a:p>
        </p:txBody>
      </p:sp>
      <p:sp>
        <p:nvSpPr>
          <p:cNvPr id="12" name="Revision text 12"/>
          <p:cNvSpPr txBox="1"/>
          <p:nvPr/>
        </p:nvSpPr>
        <p:spPr>
          <a:xfrm>
            <a:off x="9637776" y="2240280"/>
            <a:ext cx="152704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载荷传输时间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" y="2615184"/>
            <a:ext cx="10360152" cy="0"/>
          </a:xfrm>
          <a:prstGeom prst="line">
            <a:avLst/>
          </a:prstGeom>
          <a:ln w="12700">
            <a:solidFill>
              <a:srgbClr val="DF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vision text 14"/>
          <p:cNvSpPr txBox="1"/>
          <p:nvPr/>
        </p:nvSpPr>
        <p:spPr>
          <a:xfrm>
            <a:off x="886968" y="2734056"/>
            <a:ext cx="286207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CPU 内存 → GPU</a:t>
            </a:r>
          </a:p>
        </p:txBody>
      </p:sp>
      <p:sp>
        <p:nvSpPr>
          <p:cNvPr id="15" name="Revision text 15"/>
          <p:cNvSpPr txBox="1"/>
          <p:nvPr/>
        </p:nvSpPr>
        <p:spPr>
          <a:xfrm>
            <a:off x="3840480" y="273405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7.31GB；四卡合计有效带宽 24GB/s</a:t>
            </a:r>
          </a:p>
        </p:txBody>
      </p:sp>
      <p:sp>
        <p:nvSpPr>
          <p:cNvPr id="16" name="Revision text 16"/>
          <p:cNvSpPr txBox="1"/>
          <p:nvPr/>
        </p:nvSpPr>
        <p:spPr>
          <a:xfrm>
            <a:off x="9528048" y="2706624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u="none" lang="zh-CN">
                <a:solidFill>
                  <a:srgbClr val="007F78"/>
                </a:solidFill>
                <a:latin typeface="Arial"/>
                <a:ea typeface="Microsoft YaHei"/>
                <a:cs typeface="Microsoft YaHei"/>
              </a:rPr>
              <a:t>≈ 0.30 秒</a:t>
            </a:r>
          </a:p>
        </p:txBody>
      </p:sp>
      <p:sp>
        <p:nvSpPr>
          <p:cNvPr id="17" name="Revision text 17"/>
          <p:cNvSpPr txBox="1"/>
          <p:nvPr/>
        </p:nvSpPr>
        <p:spPr>
          <a:xfrm>
            <a:off x="886968" y="3319272"/>
            <a:ext cx="286207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SSD → CPU 内存 → GPU</a:t>
            </a:r>
          </a:p>
        </p:txBody>
      </p:sp>
      <p:sp>
        <p:nvSpPr>
          <p:cNvPr id="18" name="Revision text 18"/>
          <p:cNvSpPr txBox="1"/>
          <p:nvPr/>
        </p:nvSpPr>
        <p:spPr>
          <a:xfrm>
            <a:off x="3840480" y="331927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SSD 6GB/s，再按 24GB/s 载入 GPU；串行相加</a:t>
            </a:r>
          </a:p>
        </p:txBody>
      </p:sp>
      <p:sp>
        <p:nvSpPr>
          <p:cNvPr id="19" name="Revision text 19"/>
          <p:cNvSpPr txBox="1"/>
          <p:nvPr/>
        </p:nvSpPr>
        <p:spPr>
          <a:xfrm>
            <a:off x="9528048" y="3291840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u="none" lang="zh-CN">
                <a:solidFill>
                  <a:srgbClr val="007F78"/>
                </a:solidFill>
                <a:latin typeface="Arial"/>
                <a:ea typeface="Microsoft YaHei"/>
                <a:cs typeface="Microsoft YaHei"/>
              </a:rPr>
              <a:t>≈ 1.52 秒</a:t>
            </a:r>
          </a:p>
        </p:txBody>
      </p:sp>
      <p:sp>
        <p:nvSpPr>
          <p:cNvPr id="20" name="Revision panel 20"/>
          <p:cNvSpPr/>
          <p:nvPr/>
        </p:nvSpPr>
        <p:spPr>
          <a:xfrm>
            <a:off x="841248" y="3849624"/>
            <a:ext cx="10488168" cy="530352"/>
          </a:xfrm>
          <a:prstGeom prst="roundRect">
            <a:avLst>
              <a:gd name="adj" fmla="val 13000"/>
            </a:avLst>
          </a:prstGeom>
          <a:solidFill>
            <a:srgbClr val="E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sion text 21"/>
          <p:cNvSpPr txBox="1"/>
          <p:nvPr/>
        </p:nvSpPr>
        <p:spPr>
          <a:xfrm>
            <a:off x="886968" y="3904488"/>
            <a:ext cx="286207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u="none" lang="zh-CN">
                <a:solidFill>
                  <a:srgbClr val="152D40"/>
                </a:solidFill>
                <a:latin typeface="Microsoft YaHei"/>
                <a:ea typeface="Microsoft YaHei"/>
                <a:cs typeface="Microsoft YaHei"/>
              </a:rPr>
              <a:t>20 个会话同时从内存载回</a:t>
            </a:r>
          </a:p>
        </p:txBody>
      </p:sp>
      <p:sp>
        <p:nvSpPr>
          <p:cNvPr id="22" name="Revision text 22"/>
          <p:cNvSpPr txBox="1"/>
          <p:nvPr/>
        </p:nvSpPr>
        <p:spPr>
          <a:xfrm>
            <a:off x="3840480" y="390448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共 146.16GB；四卡合计有效带宽 24GB/s</a:t>
            </a:r>
          </a:p>
        </p:txBody>
      </p:sp>
      <p:sp>
        <p:nvSpPr>
          <p:cNvPr id="23" name="Revision text 23"/>
          <p:cNvSpPr txBox="1"/>
          <p:nvPr/>
        </p:nvSpPr>
        <p:spPr>
          <a:xfrm>
            <a:off x="9528048" y="3877056"/>
            <a:ext cx="173736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u="none" lang="zh-CN">
                <a:solidFill>
                  <a:srgbClr val="007F78"/>
                </a:solidFill>
                <a:latin typeface="Arial"/>
                <a:ea typeface="Microsoft YaHei"/>
                <a:cs typeface="Microsoft YaHei"/>
              </a:rPr>
              <a:t>≈ 6.1 秒</a:t>
            </a:r>
          </a:p>
        </p:txBody>
      </p:sp>
      <p:sp>
        <p:nvSpPr>
          <p:cNvPr id="24" name="Revision panel 24"/>
          <p:cNvSpPr/>
          <p:nvPr/>
        </p:nvSpPr>
        <p:spPr>
          <a:xfrm>
            <a:off x="758952" y="4782312"/>
            <a:ext cx="3090672" cy="786384"/>
          </a:xfrm>
          <a:prstGeom prst="roundRect">
            <a:avLst>
              <a:gd name="adj" fmla="val 13000"/>
            </a:avLst>
          </a:prstGeom>
          <a:solidFill>
            <a:srgbClr val="E9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sion text 25"/>
          <p:cNvSpPr txBox="1"/>
          <p:nvPr/>
        </p:nvSpPr>
        <p:spPr>
          <a:xfrm>
            <a:off x="923544" y="4901184"/>
            <a:ext cx="2761488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u="none" lang="zh-CN">
                <a:solidFill>
                  <a:srgbClr val="2D62C5"/>
                </a:solidFill>
                <a:latin typeface="Microsoft YaHei"/>
                <a:ea typeface="Microsoft YaHei"/>
                <a:cs typeface="Microsoft YaHei"/>
              </a:rPr>
              <a:t>取回已有缓存</a:t>
            </a:r>
          </a:p>
        </p:txBody>
      </p:sp>
      <p:sp>
        <p:nvSpPr>
          <p:cNvPr id="26" name="Revision text 26"/>
          <p:cNvSpPr txBox="1"/>
          <p:nvPr/>
        </p:nvSpPr>
        <p:spPr>
          <a:xfrm>
            <a:off x="923544" y="5276088"/>
            <a:ext cx="2761488" cy="192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SSD 先读入内存，再复制到 GPU</a:t>
            </a:r>
          </a:p>
        </p:txBody>
      </p:sp>
      <p:sp>
        <p:nvSpPr>
          <p:cNvPr id="27" name="Revision panel 27"/>
          <p:cNvSpPr/>
          <p:nvPr/>
        </p:nvSpPr>
        <p:spPr>
          <a:xfrm>
            <a:off x="4544568" y="4782312"/>
            <a:ext cx="3090672" cy="786384"/>
          </a:xfrm>
          <a:prstGeom prst="roundRect">
            <a:avLst>
              <a:gd name="adj" fmla="val 13000"/>
            </a:avLst>
          </a:prstGeom>
          <a:solidFill>
            <a:srgbClr val="E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vision text 28"/>
          <p:cNvSpPr txBox="1"/>
          <p:nvPr/>
        </p:nvSpPr>
        <p:spPr>
          <a:xfrm>
            <a:off x="4709159" y="4901184"/>
            <a:ext cx="2761488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u="none" lang="zh-CN">
                <a:solidFill>
                  <a:srgbClr val="007F78"/>
                </a:solidFill>
                <a:latin typeface="Microsoft YaHei"/>
                <a:ea typeface="Microsoft YaHei"/>
                <a:cs typeface="Microsoft YaHei"/>
              </a:rPr>
              <a:t>只为新增输入做 prefill</a:t>
            </a:r>
          </a:p>
        </p:txBody>
      </p:sp>
      <p:sp>
        <p:nvSpPr>
          <p:cNvPr id="29" name="Revision text 29"/>
          <p:cNvSpPr txBox="1"/>
          <p:nvPr/>
        </p:nvSpPr>
        <p:spPr>
          <a:xfrm>
            <a:off x="4709159" y="5276088"/>
            <a:ext cx="2761488" cy="192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处理本轮工具返回结果</a:t>
            </a:r>
          </a:p>
        </p:txBody>
      </p:sp>
      <p:sp>
        <p:nvSpPr>
          <p:cNvPr id="30" name="Revision panel 30"/>
          <p:cNvSpPr/>
          <p:nvPr/>
        </p:nvSpPr>
        <p:spPr>
          <a:xfrm>
            <a:off x="8311896" y="4782312"/>
            <a:ext cx="3090672" cy="786384"/>
          </a:xfrm>
          <a:prstGeom prst="roundRect">
            <a:avLst>
              <a:gd name="adj" fmla="val 13000"/>
            </a:avLst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vision text 31"/>
          <p:cNvSpPr txBox="1"/>
          <p:nvPr/>
        </p:nvSpPr>
        <p:spPr>
          <a:xfrm>
            <a:off x="8476488" y="4901184"/>
            <a:ext cx="2761488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u="none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继续生成</a:t>
            </a:r>
          </a:p>
        </p:txBody>
      </p:sp>
      <p:sp>
        <p:nvSpPr>
          <p:cNvPr id="32" name="Revision text 32"/>
          <p:cNvSpPr txBox="1"/>
          <p:nvPr/>
        </p:nvSpPr>
        <p:spPr>
          <a:xfrm>
            <a:off x="8476488" y="5276088"/>
            <a:ext cx="2761488" cy="192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u="none" lang="zh-CN">
                <a:solidFill>
                  <a:srgbClr val="A7BCC9"/>
                </a:solidFill>
                <a:latin typeface="Microsoft YaHei"/>
                <a:ea typeface="Microsoft YaHei"/>
                <a:cs typeface="Microsoft YaHei"/>
              </a:rPr>
              <a:t>输出本轮回答或工具调用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041648" y="5074920"/>
            <a:ext cx="292608" cy="173736"/>
          </a:xfrm>
          <a:prstGeom prst="rightArrow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7827264" y="5074920"/>
            <a:ext cx="292608" cy="173736"/>
          </a:xfrm>
          <a:prstGeom prst="rightArrow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vision text 35"/>
          <p:cNvSpPr txBox="1"/>
          <p:nvPr/>
        </p:nvSpPr>
        <p:spPr>
          <a:xfrm>
            <a:off x="813816" y="57332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u="none" lang="zh-CN">
                <a:solidFill>
                  <a:srgbClr val="007F78"/>
                </a:solidFill>
                <a:latin typeface="Microsoft YaHei"/>
                <a:ea typeface="Microsoft YaHei"/>
                <a:cs typeface="Microsoft YaHei"/>
              </a:rPr>
              <a:t>前缀命中后不必重算完整长输入；排队期间还可以提前加载缓存。</a:t>
            </a:r>
          </a:p>
        </p:txBody>
      </p:sp>
      <p:sp>
        <p:nvSpPr>
          <p:cNvPr id="36" name="Revision text 36"/>
          <p:cNvSpPr txBox="1"/>
          <p:nvPr/>
        </p:nvSpPr>
        <p:spPr>
          <a:xfrm>
            <a:off x="768096" y="6144768"/>
            <a:ext cx="10872216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仅计全局KV载荷；实际首token等待另含其他状态、排队、新增输入prefill与第一步生成。流程框不表示时长。</a:t>
            </a:r>
          </a:p>
        </p:txBody>
      </p:sp>
      <p:sp>
        <p:nvSpPr>
          <p:cNvPr id="37" name="Revision text 37"/>
          <p:cNvSpPr txBox="1"/>
          <p:nvPr/>
        </p:nvSpPr>
        <p:spPr>
          <a:xfrm>
            <a:off x="10030968" y="2926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u="none" lang="zh-CN">
                <a:solidFill>
                  <a:srgbClr val="637786"/>
                </a:solidFill>
                <a:latin typeface="Microsoft YaHei"/>
                <a:ea typeface="Microsoft YaHei"/>
                <a:cs typeface="Microsoft YaHei"/>
              </a:rPr>
              <a:t>实习项目 · 内部汇报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实习项目</Company>
  <LinksUpToDate>false</LinksUpToDate>
  <SharedDoc>false</SharedDoc>
  <HyperlinksChanged>false</HyperlinksChanged>
  <AppVersion>16.0000</AppVersion>
  <Manager>实习项目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本地长上下文 Agent：部署与推理优化｜分层KV缓存修订版</dc:title>
  <dc:subject>实习项目｜第七周技术汇报</dc:subject>
  <dc:creator>实习项目</dc:creator>
  <cp:lastModifiedBy>实习项目</cp:lastModifiedBy>
  <cp:revision>1</cp:revision>
  <dcterms:created xsi:type="dcterms:W3CDTF">2026-10-14T18:28:16Z</dcterms:created>
  <dcterms:modified xsi:type="dcterms:W3CDTF">2026-10-15T00:00:00Z</dcterms:modified>
  <cp:keywords>长上下文, Agent, KV卸载, 分层缓存, Spark, DeepSeek</cp:keywords>
  <dc:description>基于上传handoff修订，27页正文、7页技术附录。</dc:description>
</cp:coreProperties>
</file>